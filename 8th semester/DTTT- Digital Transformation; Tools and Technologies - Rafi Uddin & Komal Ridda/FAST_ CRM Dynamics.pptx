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26" r:id="rId5"/>
    <p:sldId id="301" r:id="rId6"/>
    <p:sldId id="2076137098" r:id="rId7"/>
    <p:sldId id="321" r:id="rId8"/>
    <p:sldId id="2076137099" r:id="rId9"/>
    <p:sldId id="322" r:id="rId10"/>
    <p:sldId id="323" r:id="rId11"/>
    <p:sldId id="325" r:id="rId12"/>
    <p:sldId id="2076137097" r:id="rId13"/>
    <p:sldId id="329" r:id="rId14"/>
    <p:sldId id="328" r:id="rId15"/>
    <p:sldId id="327" r:id="rId16"/>
    <p:sldId id="2076137101" r:id="rId17"/>
    <p:sldId id="2076137100" r:id="rId18"/>
    <p:sldId id="2076137102" r:id="rId19"/>
    <p:sldId id="335" r:id="rId2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266D88-FA23-CAE1-0359-2F5E77A8314D}" name="Asim Afridi" initials="AA" userId="Asim Afridi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DDD9"/>
    <a:srgbClr val="3454E1"/>
    <a:srgbClr val="183347"/>
    <a:srgbClr val="8815F5"/>
    <a:srgbClr val="B4B4B4"/>
    <a:srgbClr val="404041"/>
    <a:srgbClr val="FF4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26" autoAdjust="0"/>
    <p:restoredTop sz="95226" autoAdjust="0"/>
  </p:normalViewPr>
  <p:slideViewPr>
    <p:cSldViewPr>
      <p:cViewPr varScale="1">
        <p:scale>
          <a:sx n="109" d="100"/>
          <a:sy n="109" d="100"/>
        </p:scale>
        <p:origin x="629" y="8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3154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7D75C6-0173-21B2-6F5B-3D5A7968D2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FFE93-5CF7-A810-C86B-F0B86EE84A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22CB6D-AFFB-4FDF-AFFB-BB79F91A4BCC}" type="datetimeFigureOut">
              <a:rPr lang="en-PK" smtClean="0"/>
              <a:t>18/11/2023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7A8F5-0764-7D5D-5A19-F476020D00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F500DA-7DCF-E095-F552-8DE4EB23C3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D60CE-F90E-4346-BC00-CADEFC5BDFE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4502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9EA25E-08F8-48F1-9945-12DC8826CCC4}" type="datetimeFigureOut">
              <a:rPr lang="LID4096" smtClean="0"/>
              <a:t>11/18/2023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B965E-0BC3-4561-A67C-ABE9FB2A03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8984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B965E-0BC3-4561-A67C-ABE9FB2A0329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96943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9837-BDFD-4774-9328-CA4CBC21124B}" type="datetimeFigureOut">
              <a:rPr lang="en-US" smtClean="0"/>
              <a:t>11/18/2023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C912-2DD3-45D5-9CB9-EE78CA1B2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26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9837-BDFD-4774-9328-CA4CBC21124B}" type="datetimeFigureOut">
              <a:rPr lang="en-US" smtClean="0"/>
              <a:t>11/18/2023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C912-2DD3-45D5-9CB9-EE78CA1B2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412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9837-BDFD-4774-9328-CA4CBC21124B}" type="datetimeFigureOut">
              <a:rPr lang="en-US" smtClean="0"/>
              <a:t>11/18/2023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C912-2DD3-45D5-9CB9-EE78CA1B2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762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9837-BDFD-4774-9328-CA4CBC21124B}" type="datetimeFigureOut">
              <a:rPr lang="en-US" smtClean="0"/>
              <a:t>11/18/2023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C912-2DD3-45D5-9CB9-EE78CA1B2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90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9837-BDFD-4774-9328-CA4CBC21124B}" type="datetimeFigureOut">
              <a:rPr lang="en-US" smtClean="0"/>
              <a:t>11/18/2023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C912-2DD3-45D5-9CB9-EE78CA1B2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54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9837-BDFD-4774-9328-CA4CBC21124B}" type="datetimeFigureOut">
              <a:rPr lang="en-US" smtClean="0"/>
              <a:t>11/18/2023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C912-2DD3-45D5-9CB9-EE78CA1B2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091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9837-BDFD-4774-9328-CA4CBC21124B}" type="datetimeFigureOut">
              <a:rPr lang="en-US" smtClean="0"/>
              <a:t>11/18/2023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C912-2DD3-45D5-9CB9-EE78CA1B2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26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9837-BDFD-4774-9328-CA4CBC21124B}" type="datetimeFigureOut">
              <a:rPr lang="en-US" smtClean="0"/>
              <a:t>11/18/2023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C912-2DD3-45D5-9CB9-EE78CA1B2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984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9837-BDFD-4774-9328-CA4CBC21124B}" type="datetimeFigureOut">
              <a:rPr lang="en-US" smtClean="0"/>
              <a:t>11/18/2023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C912-2DD3-45D5-9CB9-EE78CA1B2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479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9837-BDFD-4774-9328-CA4CBC21124B}" type="datetimeFigureOut">
              <a:rPr lang="en-US" smtClean="0"/>
              <a:t>11/18/2023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C912-2DD3-45D5-9CB9-EE78CA1B2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776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9837-BDFD-4774-9328-CA4CBC21124B}" type="datetimeFigureOut">
              <a:rPr lang="en-US" smtClean="0"/>
              <a:t>11/18/2023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C912-2DD3-45D5-9CB9-EE78CA1B2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74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F9837-BDFD-4774-9328-CA4CBC21124B}" type="datetimeFigureOut">
              <a:rPr lang="en-US" smtClean="0"/>
              <a:t>11/18/2023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5C912-2DD3-45D5-9CB9-EE78CA1B2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44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52400" y="1749579"/>
            <a:ext cx="5977969" cy="24160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B4B4B4"/>
              </a:solidFill>
              <a:effectLst/>
              <a:uLnTx/>
              <a:uFillTx/>
              <a:latin typeface="Conthrax Sb" pitchFamily="34" charset="0"/>
              <a:ea typeface="+mn-ea"/>
              <a:cs typeface="+mn-cs"/>
            </a:endParaRPr>
          </a:p>
          <a:p>
            <a:pPr>
              <a:defRPr/>
            </a:pPr>
            <a:r>
              <a:rPr lang="en-US" sz="2800" dirty="0">
                <a:solidFill>
                  <a:srgbClr val="46DDD9"/>
                </a:solidFill>
                <a:latin typeface="Conthrax Sb" pitchFamily="34" charset="0"/>
              </a:rPr>
              <a:t>Microsoft Dynamics 365 CE and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46DDD9"/>
              </a:solidFill>
              <a:effectLst/>
              <a:uLnTx/>
              <a:uFillTx/>
              <a:latin typeface="Conthrax Sb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>
                <a:solidFill>
                  <a:srgbClr val="46DDD9"/>
                </a:solidFill>
                <a:latin typeface="Conthrax Sb" pitchFamily="34" charset="0"/>
              </a:rPr>
              <a:t>Power Platform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46DDD9"/>
              </a:solidFill>
              <a:effectLst/>
              <a:uLnTx/>
              <a:uFillTx/>
              <a:latin typeface="Conthrax Sb" pitchFamily="34" charset="0"/>
              <a:ea typeface="+mn-ea"/>
              <a:cs typeface="+mn-cs"/>
            </a:endParaRPr>
          </a:p>
          <a:p>
            <a:pPr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thrax Sb"/>
                <a:ea typeface="+mn-ea"/>
                <a:cs typeface="+mn-cs"/>
              </a:rPr>
              <a:t>Trainer: Komal Ridda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thrax Sb"/>
                <a:ea typeface="+mn-ea"/>
                <a:cs typeface="+mn-cs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thrax Sb"/>
                <a:ea typeface="+mn-ea"/>
                <a:cs typeface="+mn-cs"/>
              </a:rPr>
              <a:t>Microsoft Certified Trainer/ Solution Architect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46DDD9"/>
              </a:solidFill>
              <a:effectLst/>
              <a:uLnTx/>
              <a:uFillTx/>
              <a:latin typeface="Conthrax Sb" pitchFamily="34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8E3B29-C426-6766-7DC8-F3BACA99AEAF}"/>
              </a:ext>
            </a:extLst>
          </p:cNvPr>
          <p:cNvSpPr txBox="1"/>
          <p:nvPr/>
        </p:nvSpPr>
        <p:spPr>
          <a:xfrm>
            <a:off x="4572000" y="238125"/>
            <a:ext cx="4295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6DDD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B4B4B4"/>
              </a:solidFill>
              <a:effectLst/>
              <a:uLnTx/>
              <a:uFillTx/>
              <a:latin typeface="Conthrax Sb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LID4096" sz="1800" b="0" i="0" u="none" strike="noStrike" kern="1200" cap="none" spc="0" normalizeH="0" baseline="0" noProof="0" dirty="0">
              <a:ln>
                <a:noFill/>
              </a:ln>
              <a:solidFill>
                <a:srgbClr val="46DDD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754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0FE27-306E-467D-929E-B291CA287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908" y="923987"/>
            <a:ext cx="8778240" cy="548640"/>
          </a:xfrm>
        </p:spPr>
        <p:txBody>
          <a:bodyPr>
            <a:noAutofit/>
          </a:bodyPr>
          <a:lstStyle/>
          <a:p>
            <a:pPr algn="l"/>
            <a:r>
              <a:rPr lang="en-US" sz="3200" u="sng" dirty="0"/>
              <a:t>Agenda</a:t>
            </a:r>
            <a:endParaRPr lang="en-PK" sz="32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5F612-D2B0-4053-9723-A7727F433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650" y="1526459"/>
            <a:ext cx="8778240" cy="3434786"/>
          </a:xfrm>
        </p:spPr>
        <p:txBody>
          <a:bodyPr>
            <a:normAutofit fontScale="62500" lnSpcReduction="20000"/>
          </a:bodyPr>
          <a:lstStyle/>
          <a:p>
            <a:pPr>
              <a:buFont typeface="+mj-lt"/>
              <a:buAutoNum type="arabicPeriod"/>
            </a:pPr>
            <a:r>
              <a:rPr lang="en-US" i="1" dirty="0"/>
              <a:t>Customizing Microsoft Dynamics CE </a:t>
            </a:r>
          </a:p>
          <a:p>
            <a:pPr>
              <a:buFont typeface="+mj-lt"/>
              <a:buAutoNum type="arabicPeriod"/>
            </a:pPr>
            <a:r>
              <a:rPr lang="en-US" i="1" dirty="0"/>
              <a:t>Solutions</a:t>
            </a:r>
          </a:p>
          <a:p>
            <a:pPr>
              <a:buFont typeface="+mj-lt"/>
              <a:buAutoNum type="arabicPeriod"/>
            </a:pPr>
            <a:r>
              <a:rPr lang="en-US" i="1" dirty="0"/>
              <a:t>Building Model-Driven Applications</a:t>
            </a:r>
          </a:p>
          <a:p>
            <a:pPr>
              <a:buFont typeface="+mj-lt"/>
              <a:buAutoNum type="arabicPeriod"/>
            </a:pPr>
            <a:r>
              <a:rPr lang="en-US" i="1" dirty="0"/>
              <a:t>Customizing Entities &amp; Fields </a:t>
            </a:r>
          </a:p>
          <a:p>
            <a:pPr>
              <a:buFont typeface="+mj-lt"/>
              <a:buAutoNum type="arabicPeriod"/>
            </a:pPr>
            <a:r>
              <a:rPr lang="en-US" i="1" dirty="0"/>
              <a:t>Managing Relationships </a:t>
            </a:r>
          </a:p>
          <a:p>
            <a:pPr>
              <a:buFont typeface="+mj-lt"/>
              <a:buAutoNum type="arabicPeriod"/>
            </a:pPr>
            <a:r>
              <a:rPr lang="en-US" i="1" dirty="0"/>
              <a:t>Customizing Forms </a:t>
            </a:r>
          </a:p>
          <a:p>
            <a:pPr>
              <a:buFont typeface="+mj-lt"/>
              <a:buAutoNum type="arabicPeriod"/>
            </a:pPr>
            <a:r>
              <a:rPr lang="en-US" i="1" dirty="0"/>
              <a:t>Configuring Business Rules </a:t>
            </a:r>
          </a:p>
          <a:p>
            <a:pPr>
              <a:buFont typeface="+mj-lt"/>
              <a:buAutoNum type="arabicPeriod"/>
            </a:pPr>
            <a:r>
              <a:rPr lang="en-US" i="1" dirty="0"/>
              <a:t>Customizing Views  </a:t>
            </a:r>
          </a:p>
          <a:p>
            <a:pPr>
              <a:buFont typeface="+mj-lt"/>
              <a:buAutoNum type="arabicPeriod"/>
            </a:pPr>
            <a:r>
              <a:rPr lang="en-US" i="1" dirty="0"/>
              <a:t>Customizing Charts and Dashboards</a:t>
            </a:r>
          </a:p>
          <a:p>
            <a:pPr>
              <a:buFont typeface="+mj-lt"/>
              <a:buAutoNum type="arabicPeriod"/>
            </a:pPr>
            <a:r>
              <a:rPr lang="en-US" i="1" dirty="0"/>
              <a:t>Workflows </a:t>
            </a:r>
          </a:p>
          <a:p>
            <a:pPr>
              <a:buFont typeface="+mj-lt"/>
              <a:buAutoNum type="arabicPeriod"/>
            </a:pPr>
            <a:r>
              <a:rPr lang="en-US" i="1" dirty="0"/>
              <a:t>OOB validations/Duplicate Detection</a:t>
            </a:r>
          </a:p>
          <a:p>
            <a:pPr marL="257175" indent="-25717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734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6E2F-B6EF-4FE3-AF39-35E8011B4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11" y="901865"/>
            <a:ext cx="8778240" cy="54864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F42E5-EBBE-4021-8000-445CD8F4F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405" y="1467464"/>
            <a:ext cx="8778240" cy="2018686"/>
          </a:xfrm>
        </p:spPr>
        <p:txBody>
          <a:bodyPr>
            <a:normAutofit fontScale="47500" lnSpcReduction="20000"/>
          </a:bodyPr>
          <a:lstStyle/>
          <a:p>
            <a:pPr algn="just"/>
            <a:endParaRPr lang="en-US" b="0" i="0" dirty="0">
              <a:solidFill>
                <a:srgbClr val="17494D"/>
              </a:solidFill>
              <a:effectLst/>
              <a:latin typeface="Proxima Nova"/>
            </a:endParaRPr>
          </a:p>
          <a:p>
            <a:pPr lvl="1">
              <a:buFont typeface="+mj-lt"/>
              <a:buAutoNum type="arabicPeriod"/>
            </a:pPr>
            <a:r>
              <a:rPr lang="en-US" sz="4000" b="0" i="0" dirty="0">
                <a:solidFill>
                  <a:srgbClr val="17494D"/>
                </a:solidFill>
                <a:effectLst/>
                <a:latin typeface="Proxima Nova"/>
              </a:rPr>
              <a:t>Manage Instances and Applications</a:t>
            </a:r>
          </a:p>
          <a:p>
            <a:pPr lvl="1">
              <a:buFont typeface="+mj-lt"/>
              <a:buAutoNum type="arabicPeriod"/>
            </a:pPr>
            <a:r>
              <a:rPr lang="en-US" sz="4000" b="0" i="0" dirty="0">
                <a:solidFill>
                  <a:srgbClr val="17494D"/>
                </a:solidFill>
                <a:effectLst/>
                <a:latin typeface="Proxima Nova"/>
              </a:rPr>
              <a:t>Introducing solutions </a:t>
            </a:r>
          </a:p>
          <a:p>
            <a:pPr lvl="1">
              <a:buFont typeface="+mj-lt"/>
              <a:buAutoNum type="arabicPeriod"/>
            </a:pPr>
            <a:r>
              <a:rPr lang="en-US" sz="4000" b="0" i="0" dirty="0">
                <a:solidFill>
                  <a:srgbClr val="17494D"/>
                </a:solidFill>
                <a:effectLst/>
                <a:latin typeface="Proxima Nova"/>
              </a:rPr>
              <a:t>Common Data Services Default solution</a:t>
            </a:r>
          </a:p>
          <a:p>
            <a:pPr lvl="1">
              <a:buFont typeface="+mj-lt"/>
              <a:buAutoNum type="arabicPeriod"/>
            </a:pPr>
            <a:r>
              <a:rPr lang="en-US" sz="4000" b="0" i="0" dirty="0">
                <a:solidFill>
                  <a:srgbClr val="17494D"/>
                </a:solidFill>
                <a:effectLst/>
                <a:latin typeface="Proxima Nova"/>
              </a:rPr>
              <a:t>Publishers and prefixes</a:t>
            </a:r>
          </a:p>
          <a:p>
            <a:pPr lvl="1">
              <a:buFont typeface="+mj-lt"/>
              <a:buAutoNum type="arabicPeriod"/>
            </a:pPr>
            <a:r>
              <a:rPr lang="en-US" sz="4000" b="0" i="0" dirty="0">
                <a:solidFill>
                  <a:srgbClr val="17494D"/>
                </a:solidFill>
                <a:effectLst/>
                <a:latin typeface="Proxima Nova"/>
              </a:rPr>
              <a:t>Creating solutions and Solution operations</a:t>
            </a:r>
          </a:p>
          <a:p>
            <a:pPr lvl="1">
              <a:buFont typeface="+mj-lt"/>
              <a:buAutoNum type="arabicPeriod"/>
            </a:pPr>
            <a:r>
              <a:rPr lang="en-US" sz="4000" b="0" i="0" dirty="0">
                <a:solidFill>
                  <a:srgbClr val="17494D"/>
                </a:solidFill>
                <a:effectLst/>
                <a:latin typeface="Proxima Nova"/>
              </a:rPr>
              <a:t>Power Platform Pipelines</a:t>
            </a:r>
          </a:p>
          <a:p>
            <a:pPr lvl="1">
              <a:buFont typeface="+mj-lt"/>
              <a:buAutoNum type="arabicPeriod"/>
            </a:pPr>
            <a:endParaRPr lang="en-US" sz="4000" b="0" i="0" dirty="0">
              <a:solidFill>
                <a:srgbClr val="17494D"/>
              </a:solidFill>
              <a:effectLst/>
              <a:latin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207229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6E2F-B6EF-4FE3-AF39-35E8011B4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11" y="901865"/>
            <a:ext cx="8778240" cy="54864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Building Model Driven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F42E5-EBBE-4021-8000-445CD8F4F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405" y="1467464"/>
            <a:ext cx="8778240" cy="2399685"/>
          </a:xfrm>
        </p:spPr>
        <p:txBody>
          <a:bodyPr>
            <a:normAutofit fontScale="85000" lnSpcReduction="20000"/>
          </a:bodyPr>
          <a:lstStyle/>
          <a:p>
            <a:pPr algn="just"/>
            <a:endParaRPr lang="en-US" b="0" i="0" dirty="0">
              <a:solidFill>
                <a:srgbClr val="17494D"/>
              </a:solidFill>
              <a:effectLst/>
              <a:latin typeface="Proxima Nova"/>
            </a:endParaRP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Creating a model-driven app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Configuring the App Designer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Configuring the site map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Selecting components for an app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Sharing a model-driven app</a:t>
            </a:r>
          </a:p>
        </p:txBody>
      </p:sp>
    </p:spTree>
    <p:extLst>
      <p:ext uri="{BB962C8B-B14F-4D97-AF65-F5344CB8AC3E}">
        <p14:creationId xmlns:p14="http://schemas.microsoft.com/office/powerpoint/2010/main" val="424079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6E2F-B6EF-4FE3-AF39-35E8011B4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11" y="901865"/>
            <a:ext cx="8778240" cy="54864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Customizing Entities &amp;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F42E5-EBBE-4021-8000-445CD8F4F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405" y="1467464"/>
            <a:ext cx="8778240" cy="3485570"/>
          </a:xfrm>
        </p:spPr>
        <p:txBody>
          <a:bodyPr>
            <a:normAutofit fontScale="92500" lnSpcReduction="20000"/>
          </a:bodyPr>
          <a:lstStyle/>
          <a:p>
            <a:pPr algn="just"/>
            <a:endParaRPr lang="en-US" b="0" i="0" dirty="0">
              <a:solidFill>
                <a:srgbClr val="17494D"/>
              </a:solidFill>
              <a:effectLst/>
              <a:latin typeface="Proxima Nova"/>
            </a:endParaRP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 Entity Types 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 Attributes</a:t>
            </a:r>
          </a:p>
          <a:p>
            <a:pPr marL="514343" lvl="1" indent="-2571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7494D"/>
                </a:solidFill>
                <a:latin typeface="Proxima Nova"/>
              </a:rPr>
              <a:t> Single Line of Text</a:t>
            </a:r>
          </a:p>
          <a:p>
            <a:pPr marL="514343" lvl="1" indent="-2571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7494D"/>
                </a:solidFill>
                <a:latin typeface="Proxima Nova"/>
              </a:rPr>
              <a:t> Option set</a:t>
            </a:r>
          </a:p>
          <a:p>
            <a:pPr marL="514343" lvl="1" indent="-2571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7494D"/>
                </a:solidFill>
                <a:latin typeface="Proxima Nova"/>
              </a:rPr>
              <a:t> </a:t>
            </a:r>
            <a:r>
              <a:rPr lang="en-US" sz="1050" dirty="0" err="1">
                <a:solidFill>
                  <a:srgbClr val="17494D"/>
                </a:solidFill>
                <a:latin typeface="Proxima Nova"/>
              </a:rPr>
              <a:t>MultiSelect</a:t>
            </a:r>
            <a:r>
              <a:rPr lang="en-US" sz="1050" dirty="0">
                <a:solidFill>
                  <a:srgbClr val="17494D"/>
                </a:solidFill>
                <a:latin typeface="Proxima Nova"/>
              </a:rPr>
              <a:t> Option set</a:t>
            </a:r>
          </a:p>
          <a:p>
            <a:pPr marL="514343" lvl="1" indent="-2571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7494D"/>
                </a:solidFill>
                <a:latin typeface="Proxima Nova"/>
              </a:rPr>
              <a:t> Two Options</a:t>
            </a:r>
          </a:p>
          <a:p>
            <a:pPr marL="514343" lvl="1" indent="-2571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7494D"/>
                </a:solidFill>
                <a:latin typeface="Proxima Nova"/>
              </a:rPr>
              <a:t> Image</a:t>
            </a:r>
          </a:p>
          <a:p>
            <a:pPr marL="514343" lvl="1" indent="-2571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7494D"/>
                </a:solidFill>
                <a:latin typeface="Proxima Nova"/>
              </a:rPr>
              <a:t> Whole Number</a:t>
            </a:r>
          </a:p>
          <a:p>
            <a:pPr marL="514343" lvl="1" indent="-2571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7494D"/>
                </a:solidFill>
                <a:latin typeface="Proxima Nova"/>
              </a:rPr>
              <a:t> Floating Point Number</a:t>
            </a:r>
          </a:p>
          <a:p>
            <a:pPr marL="514343" lvl="1" indent="-2571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7494D"/>
                </a:solidFill>
                <a:latin typeface="Proxima Nova"/>
              </a:rPr>
              <a:t> Decimal Number</a:t>
            </a:r>
          </a:p>
          <a:p>
            <a:pPr marL="514343" lvl="1" indent="-2571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7494D"/>
                </a:solidFill>
                <a:latin typeface="Proxima Nova"/>
              </a:rPr>
              <a:t> Currency</a:t>
            </a:r>
          </a:p>
          <a:p>
            <a:pPr marL="514343" lvl="1" indent="-2571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7494D"/>
                </a:solidFill>
                <a:latin typeface="Proxima Nova"/>
              </a:rPr>
              <a:t> Multiple Lines of Text</a:t>
            </a:r>
          </a:p>
          <a:p>
            <a:pPr marL="514343" lvl="1" indent="-2571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7494D"/>
                </a:solidFill>
                <a:latin typeface="Proxima Nova"/>
              </a:rPr>
              <a:t> Date and Time</a:t>
            </a:r>
          </a:p>
          <a:p>
            <a:pPr marL="514343" lvl="1" indent="-2571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7494D"/>
                </a:solidFill>
                <a:latin typeface="Proxima Nova"/>
              </a:rPr>
              <a:t> Lookup</a:t>
            </a:r>
          </a:p>
          <a:p>
            <a:pPr marL="514343" lvl="1" indent="-2571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7494D"/>
                </a:solidFill>
                <a:latin typeface="Proxima Nova"/>
              </a:rPr>
              <a:t> Customer</a:t>
            </a:r>
          </a:p>
          <a:p>
            <a:pPr marL="514343" lvl="1" indent="-257175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7494D"/>
                </a:solidFill>
                <a:latin typeface="Proxima Nova"/>
              </a:rPr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989284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6E2F-B6EF-4FE3-AF39-35E8011B4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11" y="901865"/>
            <a:ext cx="8778240" cy="54864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Customizing Entities &amp;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F42E5-EBBE-4021-8000-445CD8F4F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405" y="1467464"/>
            <a:ext cx="8778240" cy="3485570"/>
          </a:xfrm>
        </p:spPr>
        <p:txBody>
          <a:bodyPr>
            <a:normAutofit fontScale="40000" lnSpcReduction="20000"/>
          </a:bodyPr>
          <a:lstStyle/>
          <a:p>
            <a:pPr algn="just"/>
            <a:endParaRPr lang="en-US" b="0" i="0" dirty="0">
              <a:solidFill>
                <a:srgbClr val="17494D"/>
              </a:solidFill>
              <a:effectLst/>
              <a:latin typeface="Proxima Nova"/>
            </a:endParaRP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Configuring forms and controls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Understanding the form structure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Adding controls and fields to forms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Header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Body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Sections vs Tabs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Linked entity views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Display Names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Configuring </a:t>
            </a:r>
            <a:r>
              <a:rPr lang="en-US" b="0" i="0" dirty="0" err="1">
                <a:solidFill>
                  <a:srgbClr val="17494D"/>
                </a:solidFill>
                <a:effectLst/>
                <a:latin typeface="Proxima Nova"/>
              </a:rPr>
              <a:t>subgrids</a:t>
            </a:r>
            <a:endParaRPr lang="en-US" b="0" i="0" dirty="0">
              <a:solidFill>
                <a:srgbClr val="17494D"/>
              </a:solidFill>
              <a:effectLst/>
              <a:latin typeface="Proxima Nova"/>
            </a:endParaRP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Configuring the timeline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Using quick view forms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Using quick create forms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Using the card form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Using multiple main forms 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Creating entities and Entity types 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Activity entities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Entity ownership and entity properties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Behaviors and </a:t>
            </a:r>
            <a:r>
              <a:rPr lang="en-US" b="0" i="0">
                <a:solidFill>
                  <a:srgbClr val="17494D"/>
                </a:solidFill>
                <a:effectLst/>
                <a:latin typeface="Proxima Nova"/>
              </a:rPr>
              <a:t>cascading rules</a:t>
            </a:r>
            <a:endParaRPr lang="en-US" b="0" i="0" dirty="0">
              <a:solidFill>
                <a:srgbClr val="17494D"/>
              </a:solidFill>
              <a:effectLst/>
              <a:latin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105762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6E2F-B6EF-4FE3-AF39-35E8011B4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11" y="901865"/>
            <a:ext cx="8778240" cy="54864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Managing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F42E5-EBBE-4021-8000-445CD8F4F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405" y="1467465"/>
            <a:ext cx="8778240" cy="1606594"/>
          </a:xfrm>
        </p:spPr>
        <p:txBody>
          <a:bodyPr>
            <a:normAutofit fontScale="70000" lnSpcReduction="20000"/>
          </a:bodyPr>
          <a:lstStyle/>
          <a:p>
            <a:pPr algn="just"/>
            <a:endParaRPr lang="en-US" b="0" i="0" dirty="0">
              <a:solidFill>
                <a:srgbClr val="17494D"/>
              </a:solidFill>
              <a:effectLst/>
              <a:latin typeface="Proxima Nova"/>
            </a:endParaRP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 1:N (one-to-many) Relationship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 N:1 (many-to-one) Relationship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 N:N (many-to-many) Relationships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 Self-Referential Relationships</a:t>
            </a:r>
          </a:p>
        </p:txBody>
      </p:sp>
    </p:spTree>
    <p:extLst>
      <p:ext uri="{BB962C8B-B14F-4D97-AF65-F5344CB8AC3E}">
        <p14:creationId xmlns:p14="http://schemas.microsoft.com/office/powerpoint/2010/main" val="602530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6E2F-B6EF-4FE3-AF39-35E8011B4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11" y="901865"/>
            <a:ext cx="8778240" cy="54864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Configuring Business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F42E5-EBBE-4021-8000-445CD8F4F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405" y="1467464"/>
            <a:ext cx="8778240" cy="2520690"/>
          </a:xfrm>
        </p:spPr>
        <p:txBody>
          <a:bodyPr>
            <a:normAutofit fontScale="70000" lnSpcReduction="20000"/>
          </a:bodyPr>
          <a:lstStyle/>
          <a:p>
            <a:pPr algn="just"/>
            <a:endParaRPr lang="en-US" b="0" i="0" dirty="0">
              <a:solidFill>
                <a:srgbClr val="17494D"/>
              </a:solidFill>
              <a:effectLst/>
              <a:latin typeface="Proxima Nova"/>
            </a:endParaRP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 Set field values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 Clear field values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 Set field requirement levels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 Show or hide fields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 Enable or disable fields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 Validate data and show error messages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 Create business recommendations based on business intelligence.</a:t>
            </a:r>
          </a:p>
        </p:txBody>
      </p:sp>
    </p:spTree>
    <p:extLst>
      <p:ext uri="{BB962C8B-B14F-4D97-AF65-F5344CB8AC3E}">
        <p14:creationId xmlns:p14="http://schemas.microsoft.com/office/powerpoint/2010/main" val="529157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6E2F-B6EF-4FE3-AF39-35E8011B4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11" y="901865"/>
            <a:ext cx="8778240" cy="54864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Customizing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F42E5-EBBE-4021-8000-445CD8F4F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405" y="1467464"/>
            <a:ext cx="8778240" cy="2012859"/>
          </a:xfrm>
        </p:spPr>
        <p:txBody>
          <a:bodyPr>
            <a:normAutofit fontScale="85000" lnSpcReduction="20000"/>
          </a:bodyPr>
          <a:lstStyle/>
          <a:p>
            <a:pPr algn="just"/>
            <a:endParaRPr lang="en-US" b="0" i="0" dirty="0">
              <a:solidFill>
                <a:srgbClr val="17494D"/>
              </a:solidFill>
              <a:effectLst/>
              <a:latin typeface="Proxima Nova"/>
            </a:endParaRP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 System/Public Views</a:t>
            </a:r>
          </a:p>
          <a:p>
            <a:pPr marL="471481" lvl="1" indent="-214313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7494D"/>
                </a:solidFill>
                <a:latin typeface="Proxima Nova"/>
              </a:rPr>
              <a:t>Quick Find</a:t>
            </a:r>
          </a:p>
          <a:p>
            <a:pPr marL="471481" lvl="1" indent="-214313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7494D"/>
                </a:solidFill>
                <a:latin typeface="Proxima Nova"/>
              </a:rPr>
              <a:t>Advanced Find</a:t>
            </a:r>
          </a:p>
          <a:p>
            <a:pPr marL="471481" lvl="1" indent="-214313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7494D"/>
                </a:solidFill>
                <a:latin typeface="Proxima Nova"/>
              </a:rPr>
              <a:t>Associated</a:t>
            </a:r>
          </a:p>
          <a:p>
            <a:pPr marL="471481" lvl="1" indent="-214313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7494D"/>
                </a:solidFill>
                <a:latin typeface="Proxima Nova"/>
              </a:rPr>
              <a:t>Lookup</a:t>
            </a:r>
            <a:endParaRPr lang="en-US" sz="2400" dirty="0">
              <a:solidFill>
                <a:srgbClr val="17494D"/>
              </a:solidFill>
              <a:latin typeface="Proxima Nova"/>
            </a:endParaRPr>
          </a:p>
          <a:p>
            <a:pPr lvl="1"/>
            <a:r>
              <a:rPr lang="en-US" dirty="0">
                <a:solidFill>
                  <a:srgbClr val="17494D"/>
                </a:solidFill>
                <a:latin typeface="Proxima Nova"/>
              </a:rPr>
              <a:t>2. Personal Views</a:t>
            </a:r>
            <a:endParaRPr lang="en-US" b="0" i="0" dirty="0">
              <a:solidFill>
                <a:srgbClr val="17494D"/>
              </a:solidFill>
              <a:effectLst/>
              <a:latin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593135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6E2F-B6EF-4FE3-AF39-35E8011B4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11" y="901865"/>
            <a:ext cx="8778240" cy="54864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OOB Validations / Duplicate Detection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F42E5-EBBE-4021-8000-445CD8F4F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405" y="1467465"/>
            <a:ext cx="8778240" cy="1606594"/>
          </a:xfrm>
        </p:spPr>
        <p:txBody>
          <a:bodyPr>
            <a:normAutofit fontScale="25000" lnSpcReduction="20000"/>
          </a:bodyPr>
          <a:lstStyle/>
          <a:p>
            <a:pPr algn="just"/>
            <a:endParaRPr lang="en-US" sz="8000" b="0" i="0" dirty="0">
              <a:solidFill>
                <a:srgbClr val="17494D"/>
              </a:solidFill>
              <a:effectLst/>
              <a:latin typeface="Proxima Nova"/>
            </a:endParaRPr>
          </a:p>
          <a:p>
            <a:pPr lvl="1">
              <a:buFont typeface="+mj-lt"/>
              <a:buAutoNum type="arabicPeriod"/>
            </a:pPr>
            <a:r>
              <a:rPr lang="en-US" sz="7200" b="0" i="0" dirty="0">
                <a:solidFill>
                  <a:srgbClr val="17494D"/>
                </a:solidFill>
                <a:effectLst/>
                <a:latin typeface="Proxima Nova"/>
              </a:rPr>
              <a:t>  Data Management via DDR</a:t>
            </a:r>
            <a:endParaRPr lang="en-US" sz="5600" dirty="0">
              <a:solidFill>
                <a:srgbClr val="17494D"/>
              </a:solidFill>
              <a:latin typeface="Proxima Nova"/>
            </a:endParaRPr>
          </a:p>
          <a:p>
            <a:pPr marL="600068" lvl="1" indent="-342900">
              <a:buAutoNum type="arabicPeriod" startAt="2"/>
            </a:pPr>
            <a:r>
              <a:rPr lang="en-US" sz="7200" dirty="0">
                <a:solidFill>
                  <a:srgbClr val="17494D"/>
                </a:solidFill>
                <a:latin typeface="Proxima Nova"/>
              </a:rPr>
              <a:t>Types of Rules</a:t>
            </a:r>
          </a:p>
          <a:p>
            <a:pPr marL="600068" lvl="1" indent="-342900">
              <a:buAutoNum type="arabicPeriod" startAt="2"/>
            </a:pPr>
            <a:r>
              <a:rPr lang="en-US" sz="7200" dirty="0">
                <a:solidFill>
                  <a:srgbClr val="17494D"/>
                </a:solidFill>
                <a:latin typeface="Proxima Nova"/>
              </a:rPr>
              <a:t>Warnings with DDR</a:t>
            </a:r>
          </a:p>
          <a:p>
            <a:pPr marL="600068" lvl="1" indent="-342900">
              <a:buAutoNum type="arabicPeriod" startAt="2"/>
            </a:pPr>
            <a:r>
              <a:rPr lang="en-US" sz="7200" b="0" i="0" dirty="0">
                <a:solidFill>
                  <a:srgbClr val="17494D"/>
                </a:solidFill>
                <a:effectLst/>
                <a:latin typeface="Proxima Nova"/>
              </a:rPr>
              <a:t>Reports</a:t>
            </a:r>
          </a:p>
          <a:p>
            <a:pPr marL="600068" lvl="1" indent="-342900">
              <a:buAutoNum type="arabicPeriod" startAt="2"/>
            </a:pPr>
            <a:r>
              <a:rPr lang="en-US" sz="7200" b="0" i="0" dirty="0">
                <a:solidFill>
                  <a:srgbClr val="17494D"/>
                </a:solidFill>
                <a:effectLst/>
                <a:latin typeface="Proxima Nova"/>
              </a:rPr>
              <a:t>Using bulk delete</a:t>
            </a:r>
          </a:p>
          <a:p>
            <a:pPr marL="600068" lvl="1" indent="-342900">
              <a:buAutoNum type="arabicPeriod" startAt="2"/>
            </a:pPr>
            <a:r>
              <a:rPr lang="en-US" sz="7200" b="0" i="0" dirty="0">
                <a:solidFill>
                  <a:srgbClr val="17494D"/>
                </a:solidFill>
                <a:effectLst/>
                <a:latin typeface="Proxima Nova"/>
              </a:rPr>
              <a:t>Configuring auditing and Understanding how auditing works</a:t>
            </a:r>
          </a:p>
          <a:p>
            <a:pPr marL="600068" lvl="1" indent="-342900">
              <a:buAutoNum type="arabicPeriod" startAt="2"/>
            </a:pPr>
            <a:r>
              <a:rPr lang="en-US" sz="7200" b="0" i="0" dirty="0">
                <a:solidFill>
                  <a:srgbClr val="17494D"/>
                </a:solidFill>
                <a:effectLst/>
                <a:latin typeface="Proxima Nova"/>
              </a:rPr>
              <a:t>Viewing audit records</a:t>
            </a:r>
          </a:p>
          <a:p>
            <a:pPr marL="600068" lvl="1" indent="-342900">
              <a:buAutoNum type="arabicPeriod" startAt="2"/>
            </a:pPr>
            <a:endParaRPr lang="en-US" b="0" i="0" dirty="0">
              <a:solidFill>
                <a:srgbClr val="17494D"/>
              </a:solidFill>
              <a:effectLst/>
              <a:latin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293748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6E2F-B6EF-4FE3-AF39-35E8011B4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11" y="901865"/>
            <a:ext cx="8778240" cy="54864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Workflows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F42E5-EBBE-4021-8000-445CD8F4F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405" y="1467465"/>
            <a:ext cx="8778240" cy="997196"/>
          </a:xfrm>
        </p:spPr>
        <p:txBody>
          <a:bodyPr>
            <a:normAutofit fontScale="25000" lnSpcReduction="20000"/>
          </a:bodyPr>
          <a:lstStyle/>
          <a:p>
            <a:pPr algn="just"/>
            <a:endParaRPr lang="en-US" b="0" i="0" dirty="0">
              <a:solidFill>
                <a:srgbClr val="17494D"/>
              </a:solidFill>
              <a:effectLst/>
              <a:latin typeface="Proxima Nova"/>
            </a:endParaRPr>
          </a:p>
          <a:p>
            <a:pPr lvl="1">
              <a:buFont typeface="+mj-lt"/>
              <a:buAutoNum type="arabicPeriod"/>
            </a:pPr>
            <a:r>
              <a:rPr lang="en-US" sz="7200" b="0" i="0" dirty="0">
                <a:solidFill>
                  <a:srgbClr val="17494D"/>
                </a:solidFill>
                <a:effectLst/>
                <a:latin typeface="Proxima Nova"/>
              </a:rPr>
              <a:t>Real Time</a:t>
            </a:r>
          </a:p>
          <a:p>
            <a:pPr lvl="1">
              <a:buFont typeface="+mj-lt"/>
              <a:buAutoNum type="arabicPeriod"/>
            </a:pPr>
            <a:r>
              <a:rPr lang="en-US" sz="7200" dirty="0">
                <a:solidFill>
                  <a:srgbClr val="17494D"/>
                </a:solidFill>
                <a:latin typeface="Proxima Nova"/>
              </a:rPr>
              <a:t>Background</a:t>
            </a:r>
          </a:p>
          <a:p>
            <a:pPr lvl="1">
              <a:buFont typeface="+mj-lt"/>
              <a:buAutoNum type="arabicPeriod"/>
            </a:pPr>
            <a:r>
              <a:rPr lang="en-US" sz="7200" b="0" i="0" dirty="0">
                <a:solidFill>
                  <a:srgbClr val="17494D"/>
                </a:solidFill>
                <a:effectLst/>
                <a:latin typeface="Proxima Nova"/>
              </a:rPr>
              <a:t>Business Process Flow to guide users through a process</a:t>
            </a:r>
          </a:p>
        </p:txBody>
      </p:sp>
    </p:spTree>
    <p:extLst>
      <p:ext uri="{BB962C8B-B14F-4D97-AF65-F5344CB8AC3E}">
        <p14:creationId xmlns:p14="http://schemas.microsoft.com/office/powerpoint/2010/main" val="3268527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6E2F-B6EF-4FE3-AF39-35E8011B4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11" y="901865"/>
            <a:ext cx="8778240" cy="54864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Customizing Dashboards &amp; Charts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F42E5-EBBE-4021-8000-445CD8F4F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405" y="1467464"/>
            <a:ext cx="8778240" cy="2520690"/>
          </a:xfrm>
        </p:spPr>
        <p:txBody>
          <a:bodyPr>
            <a:normAutofit fontScale="77500" lnSpcReduction="20000"/>
          </a:bodyPr>
          <a:lstStyle/>
          <a:p>
            <a:pPr algn="just"/>
            <a:endParaRPr lang="en-US" b="0" i="0" dirty="0">
              <a:solidFill>
                <a:srgbClr val="17494D"/>
              </a:solidFill>
              <a:effectLst/>
              <a:latin typeface="Proxima Nova"/>
            </a:endParaRP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 Dashboards Layouts</a:t>
            </a:r>
          </a:p>
          <a:p>
            <a:pPr lvl="1">
              <a:buFont typeface="+mj-lt"/>
              <a:buAutoNum type="arabicPeriod"/>
            </a:pPr>
            <a:r>
              <a:rPr lang="en-US" dirty="0">
                <a:solidFill>
                  <a:srgbClr val="17494D"/>
                </a:solidFill>
                <a:latin typeface="Proxima Nova"/>
              </a:rPr>
              <a:t> Components</a:t>
            </a:r>
          </a:p>
          <a:p>
            <a:pPr marL="514343" lvl="1" indent="-257175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Charts</a:t>
            </a:r>
          </a:p>
          <a:p>
            <a:pPr marL="514343" lvl="1" indent="-257175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7494D"/>
                </a:solidFill>
                <a:latin typeface="Proxima Nova"/>
              </a:rPr>
              <a:t>Grids</a:t>
            </a:r>
          </a:p>
          <a:p>
            <a:pPr marL="514343" lvl="1" indent="-257175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17494D"/>
                </a:solidFill>
                <a:effectLst/>
                <a:latin typeface="Proxima Nova"/>
              </a:rPr>
              <a:t>Iframes</a:t>
            </a:r>
            <a:endParaRPr lang="en-US" b="0" i="0" dirty="0">
              <a:solidFill>
                <a:srgbClr val="17494D"/>
              </a:solidFill>
              <a:effectLst/>
              <a:latin typeface="Proxima Nova"/>
            </a:endParaRPr>
          </a:p>
          <a:p>
            <a:pPr marL="514343" lvl="1" indent="-257175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17494D"/>
                </a:solidFill>
                <a:latin typeface="Proxima Nova"/>
              </a:rPr>
              <a:t>Webresources</a:t>
            </a:r>
            <a:r>
              <a:rPr lang="en-US" b="0" i="0" dirty="0">
                <a:solidFill>
                  <a:srgbClr val="17494D"/>
                </a:solidFill>
                <a:effectLst/>
                <a:latin typeface="Proxima Nov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8193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6E2F-B6EF-4FE3-AF39-35E8011B4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11" y="901865"/>
            <a:ext cx="8778240" cy="54864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Securing Microsoft Dynamics 365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F42E5-EBBE-4021-8000-445CD8F4F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405" y="1467464"/>
            <a:ext cx="8778240" cy="2520690"/>
          </a:xfrm>
        </p:spPr>
        <p:txBody>
          <a:bodyPr>
            <a:normAutofit fontScale="77500" lnSpcReduction="20000"/>
          </a:bodyPr>
          <a:lstStyle/>
          <a:p>
            <a:pPr algn="just"/>
            <a:endParaRPr lang="en-US" sz="2000" b="0" i="0" dirty="0">
              <a:solidFill>
                <a:srgbClr val="17494D"/>
              </a:solidFill>
              <a:effectLst/>
              <a:latin typeface="Proxima Nova"/>
            </a:endParaRPr>
          </a:p>
          <a:p>
            <a:pPr lvl="1">
              <a:buFont typeface="+mj-lt"/>
              <a:buAutoNum type="arabicPeriod"/>
            </a:pPr>
            <a:r>
              <a:rPr lang="en-US" sz="1800" b="0" i="0" dirty="0">
                <a:solidFill>
                  <a:srgbClr val="17494D"/>
                </a:solidFill>
                <a:effectLst/>
                <a:latin typeface="Proxima Nova"/>
              </a:rPr>
              <a:t>Privileges</a:t>
            </a:r>
          </a:p>
          <a:p>
            <a:pPr lvl="1">
              <a:buFont typeface="+mj-lt"/>
              <a:buAutoNum type="arabicPeriod"/>
            </a:pPr>
            <a:r>
              <a:rPr lang="en-US" sz="1800" b="0" i="0" dirty="0">
                <a:solidFill>
                  <a:srgbClr val="17494D"/>
                </a:solidFill>
                <a:effectLst/>
                <a:latin typeface="Proxima Nova"/>
              </a:rPr>
              <a:t>Access Level</a:t>
            </a:r>
          </a:p>
          <a:p>
            <a:pPr lvl="1">
              <a:buFont typeface="+mj-lt"/>
              <a:buAutoNum type="arabicPeriod"/>
            </a:pPr>
            <a:r>
              <a:rPr lang="en-US" sz="1800" b="0" i="0" dirty="0">
                <a:solidFill>
                  <a:srgbClr val="17494D"/>
                </a:solidFill>
                <a:effectLst/>
                <a:latin typeface="Proxima Nova"/>
              </a:rPr>
              <a:t>Record level security/Record-based security</a:t>
            </a:r>
          </a:p>
          <a:p>
            <a:pPr lvl="1">
              <a:buFont typeface="+mj-lt"/>
              <a:buAutoNum type="arabicPeriod"/>
            </a:pPr>
            <a:r>
              <a:rPr lang="en-US" sz="1800" b="0" i="0" dirty="0">
                <a:solidFill>
                  <a:srgbClr val="17494D"/>
                </a:solidFill>
                <a:effectLst/>
                <a:latin typeface="Proxima Nova"/>
              </a:rPr>
              <a:t>Entity level security/Role-based security</a:t>
            </a:r>
          </a:p>
          <a:p>
            <a:pPr lvl="1">
              <a:buFont typeface="+mj-lt"/>
              <a:buAutoNum type="arabicPeriod"/>
            </a:pPr>
            <a:r>
              <a:rPr lang="en-US" sz="1800" b="0" i="0" dirty="0">
                <a:solidFill>
                  <a:srgbClr val="17494D"/>
                </a:solidFill>
                <a:effectLst/>
                <a:latin typeface="Proxima Nova"/>
              </a:rPr>
              <a:t>Form Security</a:t>
            </a:r>
          </a:p>
          <a:p>
            <a:pPr lvl="1">
              <a:buFont typeface="+mj-lt"/>
              <a:buAutoNum type="arabicPeriod"/>
            </a:pPr>
            <a:r>
              <a:rPr lang="en-US" sz="1800" b="0" i="0" dirty="0">
                <a:solidFill>
                  <a:srgbClr val="17494D"/>
                </a:solidFill>
                <a:effectLst/>
                <a:latin typeface="Proxima Nova"/>
              </a:rPr>
              <a:t>Teams</a:t>
            </a:r>
          </a:p>
          <a:p>
            <a:pPr lvl="1">
              <a:buFont typeface="+mj-lt"/>
              <a:buAutoNum type="arabicPeriod"/>
            </a:pPr>
            <a:r>
              <a:rPr lang="en-US" sz="1800" b="0" i="0" dirty="0">
                <a:solidFill>
                  <a:srgbClr val="17494D"/>
                </a:solidFill>
                <a:effectLst/>
                <a:latin typeface="Proxima Nova"/>
              </a:rPr>
              <a:t>Field level security/Field-level security</a:t>
            </a:r>
          </a:p>
          <a:p>
            <a:pPr lvl="1">
              <a:buFont typeface="+mj-lt"/>
              <a:buAutoNum type="arabicPeriod"/>
            </a:pPr>
            <a:r>
              <a:rPr lang="en-US" sz="1800" b="0" i="0" dirty="0">
                <a:solidFill>
                  <a:srgbClr val="17494D"/>
                </a:solidFill>
                <a:effectLst/>
                <a:latin typeface="Proxima Nova"/>
              </a:rPr>
              <a:t>Business Unit</a:t>
            </a:r>
          </a:p>
          <a:p>
            <a:pPr lvl="1">
              <a:buFont typeface="+mj-lt"/>
              <a:buAutoNum type="arabicPeriod"/>
            </a:pPr>
            <a:r>
              <a:rPr lang="en-US" sz="1800" b="0" i="0" dirty="0">
                <a:solidFill>
                  <a:srgbClr val="17494D"/>
                </a:solidFill>
                <a:effectLst/>
                <a:latin typeface="Proxima Nova"/>
              </a:rPr>
              <a:t>Security Roles</a:t>
            </a:r>
          </a:p>
          <a:p>
            <a:pPr lvl="1">
              <a:buFont typeface="+mj-lt"/>
              <a:buAutoNum type="arabicPeriod"/>
            </a:pPr>
            <a:r>
              <a:rPr lang="en-US" sz="1800" b="0" i="0" dirty="0">
                <a:solidFill>
                  <a:srgbClr val="17494D"/>
                </a:solidFill>
                <a:effectLst/>
                <a:latin typeface="Proxima Nova"/>
              </a:rPr>
              <a:t>Security Profiles</a:t>
            </a:r>
            <a:endParaRPr lang="en-US" sz="1800" dirty="0">
              <a:solidFill>
                <a:srgbClr val="17494D"/>
              </a:solidFill>
              <a:latin typeface="Proxima Nova"/>
            </a:endParaRPr>
          </a:p>
          <a:p>
            <a:pPr lvl="1">
              <a:buFont typeface="+mj-lt"/>
              <a:buAutoNum type="arabicPeriod"/>
            </a:pPr>
            <a:endParaRPr lang="en-US" sz="1800" dirty="0">
              <a:solidFill>
                <a:srgbClr val="17494D"/>
              </a:solidFill>
              <a:latin typeface="Proxima Nova"/>
            </a:endParaRPr>
          </a:p>
          <a:p>
            <a:pPr lvl="1">
              <a:buFont typeface="+mj-lt"/>
              <a:buAutoNum type="arabicPeriod"/>
            </a:pPr>
            <a:endParaRPr lang="en-US" b="0" i="0" dirty="0">
              <a:solidFill>
                <a:srgbClr val="17494D"/>
              </a:solidFill>
              <a:effectLst/>
              <a:latin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717843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6E2F-B6EF-4FE3-AF39-35E8011B4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11" y="901865"/>
            <a:ext cx="8778240" cy="54864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Extension with Jscript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F42E5-EBBE-4021-8000-445CD8F4F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405" y="1467464"/>
            <a:ext cx="8778240" cy="2520690"/>
          </a:xfrm>
        </p:spPr>
        <p:txBody>
          <a:bodyPr>
            <a:normAutofit/>
          </a:bodyPr>
          <a:lstStyle/>
          <a:p>
            <a:pPr algn="just"/>
            <a:endParaRPr lang="en-US" b="0" i="0" dirty="0">
              <a:solidFill>
                <a:srgbClr val="17494D"/>
              </a:solidFill>
              <a:effectLst/>
              <a:latin typeface="Proxima Nova"/>
            </a:endParaRPr>
          </a:p>
          <a:p>
            <a:pPr lvl="1">
              <a:buFont typeface="+mj-lt"/>
              <a:buAutoNum type="arabicPeriod"/>
            </a:pPr>
            <a:r>
              <a:rPr lang="en-US" sz="1800" b="0" i="0" dirty="0">
                <a:solidFill>
                  <a:srgbClr val="17494D"/>
                </a:solidFill>
                <a:effectLst/>
                <a:latin typeface="Proxima Nova"/>
              </a:rPr>
              <a:t>XRM Toolbox  </a:t>
            </a:r>
          </a:p>
          <a:p>
            <a:pPr lvl="1">
              <a:buFont typeface="+mj-lt"/>
              <a:buAutoNum type="arabicPeriod"/>
            </a:pPr>
            <a:r>
              <a:rPr lang="en-US" sz="1800" b="0" i="0" dirty="0">
                <a:solidFill>
                  <a:srgbClr val="17494D"/>
                </a:solidFill>
                <a:effectLst/>
                <a:latin typeface="Proxima Nova"/>
              </a:rPr>
              <a:t>Extension with Jscript</a:t>
            </a:r>
          </a:p>
          <a:p>
            <a:pPr lvl="1">
              <a:buFont typeface="+mj-lt"/>
              <a:buAutoNum type="arabicPeriod"/>
            </a:pPr>
            <a:r>
              <a:rPr lang="en-US" sz="1800" b="0" i="0" dirty="0">
                <a:solidFill>
                  <a:srgbClr val="17494D"/>
                </a:solidFill>
                <a:effectLst/>
                <a:latin typeface="Proxima Nova"/>
              </a:rPr>
              <a:t>Ribbon Workbench</a:t>
            </a:r>
          </a:p>
        </p:txBody>
      </p:sp>
    </p:spTree>
    <p:extLst>
      <p:ext uri="{BB962C8B-B14F-4D97-AF65-F5344CB8AC3E}">
        <p14:creationId xmlns:p14="http://schemas.microsoft.com/office/powerpoint/2010/main" val="563623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6E2F-B6EF-4FE3-AF39-35E8011B4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11" y="901865"/>
            <a:ext cx="8778240" cy="54864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Power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F42E5-EBBE-4021-8000-445CD8F4F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405" y="1467464"/>
            <a:ext cx="8778240" cy="2520690"/>
          </a:xfrm>
        </p:spPr>
        <p:txBody>
          <a:bodyPr>
            <a:normAutofit/>
          </a:bodyPr>
          <a:lstStyle/>
          <a:p>
            <a:pPr algn="just"/>
            <a:endParaRPr lang="en-US" b="0" i="0" dirty="0">
              <a:solidFill>
                <a:srgbClr val="17494D"/>
              </a:solidFill>
              <a:effectLst/>
              <a:latin typeface="Proxima Nova"/>
            </a:endParaRPr>
          </a:p>
          <a:p>
            <a:pPr lvl="1">
              <a:buFont typeface="+mj-lt"/>
              <a:buAutoNum type="arabicPeriod"/>
            </a:pPr>
            <a:r>
              <a:rPr lang="en-US" sz="1800" b="0" i="0" dirty="0">
                <a:solidFill>
                  <a:srgbClr val="17494D"/>
                </a:solidFill>
                <a:effectLst/>
                <a:latin typeface="Proxima Nova"/>
              </a:rPr>
              <a:t>Power Automate</a:t>
            </a:r>
          </a:p>
          <a:p>
            <a:pPr lvl="1">
              <a:buFont typeface="+mj-lt"/>
              <a:buAutoNum type="arabicPeriod"/>
            </a:pPr>
            <a:r>
              <a:rPr lang="en-US" sz="1800" dirty="0">
                <a:solidFill>
                  <a:srgbClr val="17494D"/>
                </a:solidFill>
                <a:latin typeface="Proxima Nova"/>
              </a:rPr>
              <a:t>Canvas App</a:t>
            </a:r>
            <a:endParaRPr lang="en-US" sz="1800" b="0" i="0" dirty="0">
              <a:solidFill>
                <a:srgbClr val="17494D"/>
              </a:solidFill>
              <a:effectLst/>
              <a:latin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512790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84953" y="2114550"/>
            <a:ext cx="1653017" cy="83099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6DDD9"/>
                </a:solidFill>
                <a:effectLst/>
                <a:uLnTx/>
                <a:uFillTx/>
                <a:latin typeface="Conthrax Sb"/>
                <a:ea typeface="+mn-ea"/>
                <a:cs typeface="+mn-cs"/>
              </a:rPr>
              <a:t>Q &amp; A</a:t>
            </a: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srgbClr val="46DDD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942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DDD38AD95F694AAE36D0B84ED09619" ma:contentTypeVersion="2" ma:contentTypeDescription="Create a new document." ma:contentTypeScope="" ma:versionID="5624890e90fb49eccdda15bfc1845b86">
  <xsd:schema xmlns:xsd="http://www.w3.org/2001/XMLSchema" xmlns:xs="http://www.w3.org/2001/XMLSchema" xmlns:p="http://schemas.microsoft.com/office/2006/metadata/properties" xmlns:ns2="06cdbe2c-c5c4-4a13-be93-b25c421b1525" targetNamespace="http://schemas.microsoft.com/office/2006/metadata/properties" ma:root="true" ma:fieldsID="a1fa8c5e6c354fcbf15eaa402b843f8c" ns2:_="">
    <xsd:import namespace="06cdbe2c-c5c4-4a13-be93-b25c421b15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dbe2c-c5c4-4a13-be93-b25c421b15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30E371-FEB2-493D-B7AC-FF2C74FEA72E}">
  <ds:schemaRefs>
    <ds:schemaRef ds:uri="http://schemas.microsoft.com/office/2006/metadata/properties"/>
    <ds:schemaRef ds:uri="6d75c14e-83e1-408a-927d-888e8a96bb8d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3D9F7D8-DAB0-4F3F-8F3B-DD7148D60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cdbe2c-c5c4-4a13-be93-b25c421b15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0DE3A63-EA63-4343-B06B-48EFC54B8DE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20677</TotalTime>
  <Words>416</Words>
  <Application>Microsoft Office PowerPoint</Application>
  <PresentationFormat>On-screen Show (16:9)</PresentationFormat>
  <Paragraphs>139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Conthrax Sb</vt:lpstr>
      <vt:lpstr>Proxima Nova</vt:lpstr>
      <vt:lpstr>Office Theme</vt:lpstr>
      <vt:lpstr>PowerPoint Presentation</vt:lpstr>
      <vt:lpstr>Agenda</vt:lpstr>
      <vt:lpstr>Solutions</vt:lpstr>
      <vt:lpstr>Building Model Driven Applications</vt:lpstr>
      <vt:lpstr>Customizing Entities &amp; Fields</vt:lpstr>
      <vt:lpstr>Customizing Entities &amp; Fields</vt:lpstr>
      <vt:lpstr>Managing Relationships</vt:lpstr>
      <vt:lpstr>Configuring Business Rules</vt:lpstr>
      <vt:lpstr>Customizing Views</vt:lpstr>
      <vt:lpstr>OOB Validations / Duplicate Detection Rules</vt:lpstr>
      <vt:lpstr>Workflows</vt:lpstr>
      <vt:lpstr>Customizing Dashboards &amp; Charts</vt:lpstr>
      <vt:lpstr>Securing Microsoft Dynamics 365</vt:lpstr>
      <vt:lpstr>Extension with Jscript</vt:lpstr>
      <vt:lpstr>Power Platform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Komal Ridda Malik</dc:creator>
  <cp:lastModifiedBy>Komal Ridda Malik</cp:lastModifiedBy>
  <cp:revision>592</cp:revision>
  <dcterms:created xsi:type="dcterms:W3CDTF">2022-09-10T16:00:14Z</dcterms:created>
  <dcterms:modified xsi:type="dcterms:W3CDTF">2023-11-18T05:15:46Z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0x01010076DDD38AD95F694AAE36D0B84ED09619</vt:lpwstr>
  </property>
</Properties>
</file>