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58" r:id="rId4"/>
    <p:sldId id="259" r:id="rId5"/>
    <p:sldId id="260" r:id="rId6"/>
    <p:sldId id="261" r:id="rId7"/>
    <p:sldId id="262" r:id="rId8"/>
    <p:sldId id="276" r:id="rId9"/>
    <p:sldId id="277" r:id="rId10"/>
    <p:sldId id="263" r:id="rId11"/>
    <p:sldId id="278" r:id="rId12"/>
    <p:sldId id="279" r:id="rId13"/>
    <p:sldId id="264" r:id="rId14"/>
    <p:sldId id="280" r:id="rId15"/>
    <p:sldId id="281" r:id="rId16"/>
    <p:sldId id="265" r:id="rId17"/>
    <p:sldId id="282" r:id="rId18"/>
    <p:sldId id="283" r:id="rId19"/>
    <p:sldId id="266" r:id="rId20"/>
    <p:sldId id="284" r:id="rId21"/>
    <p:sldId id="285" r:id="rId22"/>
    <p:sldId id="275" r:id="rId23"/>
    <p:sldId id="286" r:id="rId24"/>
    <p:sldId id="287" r:id="rId25"/>
    <p:sldId id="267" r:id="rId26"/>
    <p:sldId id="268" r:id="rId27"/>
    <p:sldId id="269" r:id="rId28"/>
    <p:sldId id="270" r:id="rId29"/>
    <p:sldId id="271" r:id="rId30"/>
    <p:sldId id="272" r:id="rId31"/>
    <p:sldId id="273" r:id="rId32"/>
    <p:sldId id="27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F5F867-4FB2-4379-AEAA-E6B02540D2B4}" v="332" dt="2026-03-02T18:00:36.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2" d="100"/>
          <a:sy n="72" d="100"/>
        </p:scale>
        <p:origin x="4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CAEE19-0512-40BD-8720-14D21CD96C9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EB158FF-8294-4233-83A0-E24BF9F099CF}">
      <dgm:prSet/>
      <dgm:spPr/>
      <dgm:t>
        <a:bodyPr/>
        <a:lstStyle/>
        <a:p>
          <a:pPr>
            <a:lnSpc>
              <a:spcPct val="100000"/>
            </a:lnSpc>
          </a:pPr>
          <a:r>
            <a:rPr lang="en-US" dirty="0"/>
            <a:t>The code should become cleaner.</a:t>
          </a:r>
        </a:p>
      </dgm:t>
    </dgm:pt>
    <dgm:pt modelId="{A80FAEF0-A637-489A-B6CC-3C9E005D4E79}" type="parTrans" cxnId="{B57A9BF4-BBA9-4521-A700-05E380917E41}">
      <dgm:prSet/>
      <dgm:spPr/>
      <dgm:t>
        <a:bodyPr/>
        <a:lstStyle/>
        <a:p>
          <a:endParaRPr lang="en-US"/>
        </a:p>
      </dgm:t>
    </dgm:pt>
    <dgm:pt modelId="{00A6BE4F-9E9A-47A9-AF43-094F46F50714}" type="sibTrans" cxnId="{B57A9BF4-BBA9-4521-A700-05E380917E41}">
      <dgm:prSet/>
      <dgm:spPr/>
      <dgm:t>
        <a:bodyPr/>
        <a:lstStyle/>
        <a:p>
          <a:endParaRPr lang="en-US"/>
        </a:p>
      </dgm:t>
    </dgm:pt>
    <dgm:pt modelId="{30B25936-2BB6-48EE-8184-068B6369354E}">
      <dgm:prSet/>
      <dgm:spPr/>
      <dgm:t>
        <a:bodyPr/>
        <a:lstStyle/>
        <a:p>
          <a:pPr>
            <a:lnSpc>
              <a:spcPct val="100000"/>
            </a:lnSpc>
          </a:pPr>
          <a:r>
            <a:rPr lang="en-US" dirty="0"/>
            <a:t>New functionality shouldn’t be created during refactoring.</a:t>
          </a:r>
        </a:p>
      </dgm:t>
    </dgm:pt>
    <dgm:pt modelId="{BC1AF8AF-7ED2-4983-8FBE-B05E7207D20E}" type="parTrans" cxnId="{8054D2DA-AC2F-4E87-A292-54C752E039A9}">
      <dgm:prSet/>
      <dgm:spPr/>
      <dgm:t>
        <a:bodyPr/>
        <a:lstStyle/>
        <a:p>
          <a:endParaRPr lang="en-US"/>
        </a:p>
      </dgm:t>
    </dgm:pt>
    <dgm:pt modelId="{5369A309-F817-4539-8E0C-405211EF13E4}" type="sibTrans" cxnId="{8054D2DA-AC2F-4E87-A292-54C752E039A9}">
      <dgm:prSet/>
      <dgm:spPr/>
      <dgm:t>
        <a:bodyPr/>
        <a:lstStyle/>
        <a:p>
          <a:endParaRPr lang="en-US"/>
        </a:p>
      </dgm:t>
    </dgm:pt>
    <dgm:pt modelId="{DA5D40FD-9AC9-4144-9A57-D972B09D1F9B}">
      <dgm:prSet/>
      <dgm:spPr/>
      <dgm:t>
        <a:bodyPr/>
        <a:lstStyle/>
        <a:p>
          <a:pPr>
            <a:lnSpc>
              <a:spcPct val="100000"/>
            </a:lnSpc>
          </a:pPr>
          <a:r>
            <a:rPr lang="en-US" dirty="0"/>
            <a:t>All existing tests must pass after refactoring.</a:t>
          </a:r>
        </a:p>
      </dgm:t>
    </dgm:pt>
    <dgm:pt modelId="{DBBFEF53-897A-416D-B576-F9096F0F33F0}" type="parTrans" cxnId="{9A0B9825-896D-4E3C-A6EC-216634C58FE2}">
      <dgm:prSet/>
      <dgm:spPr/>
      <dgm:t>
        <a:bodyPr/>
        <a:lstStyle/>
        <a:p>
          <a:endParaRPr lang="en-US"/>
        </a:p>
      </dgm:t>
    </dgm:pt>
    <dgm:pt modelId="{BC974324-AC6E-453E-B143-F7746D958319}" type="sibTrans" cxnId="{9A0B9825-896D-4E3C-A6EC-216634C58FE2}">
      <dgm:prSet/>
      <dgm:spPr/>
      <dgm:t>
        <a:bodyPr/>
        <a:lstStyle/>
        <a:p>
          <a:endParaRPr lang="en-US"/>
        </a:p>
      </dgm:t>
    </dgm:pt>
    <dgm:pt modelId="{BC45BC9E-3AB4-4F67-8365-0542009AB649}" type="pres">
      <dgm:prSet presAssocID="{D3CAEE19-0512-40BD-8720-14D21CD96C9F}" presName="root" presStyleCnt="0">
        <dgm:presLayoutVars>
          <dgm:dir/>
          <dgm:resizeHandles val="exact"/>
        </dgm:presLayoutVars>
      </dgm:prSet>
      <dgm:spPr/>
    </dgm:pt>
    <dgm:pt modelId="{4061DAEE-9AD9-4B50-AFEB-3549A8C7D6A4}" type="pres">
      <dgm:prSet presAssocID="{FEB158FF-8294-4233-83A0-E24BF9F099CF}" presName="compNode" presStyleCnt="0"/>
      <dgm:spPr/>
    </dgm:pt>
    <dgm:pt modelId="{02762197-F044-4B6F-9082-C97B83CC3FF6}" type="pres">
      <dgm:prSet presAssocID="{FEB158FF-8294-4233-83A0-E24BF9F099CF}" presName="bgRect" presStyleLbl="bgShp" presStyleIdx="0" presStyleCnt="3"/>
      <dgm:spPr/>
    </dgm:pt>
    <dgm:pt modelId="{ABA409D5-67FA-48E1-82F2-BBF542769B71}" type="pres">
      <dgm:prSet presAssocID="{FEB158FF-8294-4233-83A0-E24BF9F099C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9FB13562-6883-45BA-B393-B0C2A656BDCA}" type="pres">
      <dgm:prSet presAssocID="{FEB158FF-8294-4233-83A0-E24BF9F099CF}" presName="spaceRect" presStyleCnt="0"/>
      <dgm:spPr/>
    </dgm:pt>
    <dgm:pt modelId="{47441686-FF4F-45A6-8273-537B5F4EC605}" type="pres">
      <dgm:prSet presAssocID="{FEB158FF-8294-4233-83A0-E24BF9F099CF}" presName="parTx" presStyleLbl="revTx" presStyleIdx="0" presStyleCnt="3">
        <dgm:presLayoutVars>
          <dgm:chMax val="0"/>
          <dgm:chPref val="0"/>
        </dgm:presLayoutVars>
      </dgm:prSet>
      <dgm:spPr/>
    </dgm:pt>
    <dgm:pt modelId="{C5D48FE0-BB25-4359-B173-F05B36C5DCBA}" type="pres">
      <dgm:prSet presAssocID="{00A6BE4F-9E9A-47A9-AF43-094F46F50714}" presName="sibTrans" presStyleCnt="0"/>
      <dgm:spPr/>
    </dgm:pt>
    <dgm:pt modelId="{5C5AFF4D-4FD6-4C96-9228-730A3CCB9D7D}" type="pres">
      <dgm:prSet presAssocID="{30B25936-2BB6-48EE-8184-068B6369354E}" presName="compNode" presStyleCnt="0"/>
      <dgm:spPr/>
    </dgm:pt>
    <dgm:pt modelId="{F0E9BA21-4538-4239-96FA-37CEEC29797D}" type="pres">
      <dgm:prSet presAssocID="{30B25936-2BB6-48EE-8184-068B6369354E}" presName="bgRect" presStyleLbl="bgShp" presStyleIdx="1" presStyleCnt="3"/>
      <dgm:spPr/>
    </dgm:pt>
    <dgm:pt modelId="{093C35DD-A372-443E-A661-BE36493626B7}" type="pres">
      <dgm:prSet presAssocID="{30B25936-2BB6-48EE-8184-068B6369354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icopter"/>
        </a:ext>
      </dgm:extLst>
    </dgm:pt>
    <dgm:pt modelId="{E15A1A03-CEA5-4CA9-8DAD-4D1DC02C9497}" type="pres">
      <dgm:prSet presAssocID="{30B25936-2BB6-48EE-8184-068B6369354E}" presName="spaceRect" presStyleCnt="0"/>
      <dgm:spPr/>
    </dgm:pt>
    <dgm:pt modelId="{44E944D0-0C0C-47E1-85EA-3F3CE7307F7B}" type="pres">
      <dgm:prSet presAssocID="{30B25936-2BB6-48EE-8184-068B6369354E}" presName="parTx" presStyleLbl="revTx" presStyleIdx="1" presStyleCnt="3">
        <dgm:presLayoutVars>
          <dgm:chMax val="0"/>
          <dgm:chPref val="0"/>
        </dgm:presLayoutVars>
      </dgm:prSet>
      <dgm:spPr/>
    </dgm:pt>
    <dgm:pt modelId="{E476FEAB-9AF0-4A88-BC25-3B3F359A197E}" type="pres">
      <dgm:prSet presAssocID="{5369A309-F817-4539-8E0C-405211EF13E4}" presName="sibTrans" presStyleCnt="0"/>
      <dgm:spPr/>
    </dgm:pt>
    <dgm:pt modelId="{3937C3E4-BC87-4E7B-A86C-10A18540086C}" type="pres">
      <dgm:prSet presAssocID="{DA5D40FD-9AC9-4144-9A57-D972B09D1F9B}" presName="compNode" presStyleCnt="0"/>
      <dgm:spPr/>
    </dgm:pt>
    <dgm:pt modelId="{CE0C4388-E0E9-4BB9-A6CA-BB9066E0850B}" type="pres">
      <dgm:prSet presAssocID="{DA5D40FD-9AC9-4144-9A57-D972B09D1F9B}" presName="bgRect" presStyleLbl="bgShp" presStyleIdx="2" presStyleCnt="3"/>
      <dgm:spPr/>
    </dgm:pt>
    <dgm:pt modelId="{0F8AF1A0-1790-4E1F-A751-D034C636A091}" type="pres">
      <dgm:prSet presAssocID="{DA5D40FD-9AC9-4144-9A57-D972B09D1F9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lask"/>
        </a:ext>
      </dgm:extLst>
    </dgm:pt>
    <dgm:pt modelId="{5967C5ED-22EA-4C27-8050-9FA2FAAE7B49}" type="pres">
      <dgm:prSet presAssocID="{DA5D40FD-9AC9-4144-9A57-D972B09D1F9B}" presName="spaceRect" presStyleCnt="0"/>
      <dgm:spPr/>
    </dgm:pt>
    <dgm:pt modelId="{4D858066-0023-46F1-97EC-231046C88AFB}" type="pres">
      <dgm:prSet presAssocID="{DA5D40FD-9AC9-4144-9A57-D972B09D1F9B}" presName="parTx" presStyleLbl="revTx" presStyleIdx="2" presStyleCnt="3">
        <dgm:presLayoutVars>
          <dgm:chMax val="0"/>
          <dgm:chPref val="0"/>
        </dgm:presLayoutVars>
      </dgm:prSet>
      <dgm:spPr/>
    </dgm:pt>
  </dgm:ptLst>
  <dgm:cxnLst>
    <dgm:cxn modelId="{AC8F3B18-67CD-49CE-A515-CECE7A257681}" type="presOf" srcId="{D3CAEE19-0512-40BD-8720-14D21CD96C9F}" destId="{BC45BC9E-3AB4-4F67-8365-0542009AB649}" srcOrd="0" destOrd="0" presId="urn:microsoft.com/office/officeart/2018/2/layout/IconVerticalSolidList"/>
    <dgm:cxn modelId="{9A0B9825-896D-4E3C-A6EC-216634C58FE2}" srcId="{D3CAEE19-0512-40BD-8720-14D21CD96C9F}" destId="{DA5D40FD-9AC9-4144-9A57-D972B09D1F9B}" srcOrd="2" destOrd="0" parTransId="{DBBFEF53-897A-416D-B576-F9096F0F33F0}" sibTransId="{BC974324-AC6E-453E-B143-F7746D958319}"/>
    <dgm:cxn modelId="{49355C5E-0AE6-4701-8C1A-09C51A847F2A}" type="presOf" srcId="{30B25936-2BB6-48EE-8184-068B6369354E}" destId="{44E944D0-0C0C-47E1-85EA-3F3CE7307F7B}" srcOrd="0" destOrd="0" presId="urn:microsoft.com/office/officeart/2018/2/layout/IconVerticalSolidList"/>
    <dgm:cxn modelId="{BBBA9D7A-C6B9-4D81-853E-9C09FAA3C405}" type="presOf" srcId="{DA5D40FD-9AC9-4144-9A57-D972B09D1F9B}" destId="{4D858066-0023-46F1-97EC-231046C88AFB}" srcOrd="0" destOrd="0" presId="urn:microsoft.com/office/officeart/2018/2/layout/IconVerticalSolidList"/>
    <dgm:cxn modelId="{9EDB4FCE-A3CA-4BBF-82DE-F66FD2C5C8A7}" type="presOf" srcId="{FEB158FF-8294-4233-83A0-E24BF9F099CF}" destId="{47441686-FF4F-45A6-8273-537B5F4EC605}" srcOrd="0" destOrd="0" presId="urn:microsoft.com/office/officeart/2018/2/layout/IconVerticalSolidList"/>
    <dgm:cxn modelId="{8054D2DA-AC2F-4E87-A292-54C752E039A9}" srcId="{D3CAEE19-0512-40BD-8720-14D21CD96C9F}" destId="{30B25936-2BB6-48EE-8184-068B6369354E}" srcOrd="1" destOrd="0" parTransId="{BC1AF8AF-7ED2-4983-8FBE-B05E7207D20E}" sibTransId="{5369A309-F817-4539-8E0C-405211EF13E4}"/>
    <dgm:cxn modelId="{B57A9BF4-BBA9-4521-A700-05E380917E41}" srcId="{D3CAEE19-0512-40BD-8720-14D21CD96C9F}" destId="{FEB158FF-8294-4233-83A0-E24BF9F099CF}" srcOrd="0" destOrd="0" parTransId="{A80FAEF0-A637-489A-B6CC-3C9E005D4E79}" sibTransId="{00A6BE4F-9E9A-47A9-AF43-094F46F50714}"/>
    <dgm:cxn modelId="{D4CC0681-6091-4FC5-8B09-108D755A13D9}" type="presParOf" srcId="{BC45BC9E-3AB4-4F67-8365-0542009AB649}" destId="{4061DAEE-9AD9-4B50-AFEB-3549A8C7D6A4}" srcOrd="0" destOrd="0" presId="urn:microsoft.com/office/officeart/2018/2/layout/IconVerticalSolidList"/>
    <dgm:cxn modelId="{0D1C8BB8-D78E-4C8F-8F95-8EE9F4C0DBBE}" type="presParOf" srcId="{4061DAEE-9AD9-4B50-AFEB-3549A8C7D6A4}" destId="{02762197-F044-4B6F-9082-C97B83CC3FF6}" srcOrd="0" destOrd="0" presId="urn:microsoft.com/office/officeart/2018/2/layout/IconVerticalSolidList"/>
    <dgm:cxn modelId="{C1C2E21A-CABB-4488-B309-CE60AEFE9086}" type="presParOf" srcId="{4061DAEE-9AD9-4B50-AFEB-3549A8C7D6A4}" destId="{ABA409D5-67FA-48E1-82F2-BBF542769B71}" srcOrd="1" destOrd="0" presId="urn:microsoft.com/office/officeart/2018/2/layout/IconVerticalSolidList"/>
    <dgm:cxn modelId="{8D7445BD-CCE3-42F6-AF5A-9E9EF00C0A48}" type="presParOf" srcId="{4061DAEE-9AD9-4B50-AFEB-3549A8C7D6A4}" destId="{9FB13562-6883-45BA-B393-B0C2A656BDCA}" srcOrd="2" destOrd="0" presId="urn:microsoft.com/office/officeart/2018/2/layout/IconVerticalSolidList"/>
    <dgm:cxn modelId="{C4EE94E4-4726-4F94-967C-AFAF06A7D5A2}" type="presParOf" srcId="{4061DAEE-9AD9-4B50-AFEB-3549A8C7D6A4}" destId="{47441686-FF4F-45A6-8273-537B5F4EC605}" srcOrd="3" destOrd="0" presId="urn:microsoft.com/office/officeart/2018/2/layout/IconVerticalSolidList"/>
    <dgm:cxn modelId="{3711752D-2ADF-4AD8-A119-DA323AF275A6}" type="presParOf" srcId="{BC45BC9E-3AB4-4F67-8365-0542009AB649}" destId="{C5D48FE0-BB25-4359-B173-F05B36C5DCBA}" srcOrd="1" destOrd="0" presId="urn:microsoft.com/office/officeart/2018/2/layout/IconVerticalSolidList"/>
    <dgm:cxn modelId="{F79A5F93-4F2B-4D81-BF19-4245C662C3B5}" type="presParOf" srcId="{BC45BC9E-3AB4-4F67-8365-0542009AB649}" destId="{5C5AFF4D-4FD6-4C96-9228-730A3CCB9D7D}" srcOrd="2" destOrd="0" presId="urn:microsoft.com/office/officeart/2018/2/layout/IconVerticalSolidList"/>
    <dgm:cxn modelId="{40E35519-1C30-4D65-B1F6-6F1A32621407}" type="presParOf" srcId="{5C5AFF4D-4FD6-4C96-9228-730A3CCB9D7D}" destId="{F0E9BA21-4538-4239-96FA-37CEEC29797D}" srcOrd="0" destOrd="0" presId="urn:microsoft.com/office/officeart/2018/2/layout/IconVerticalSolidList"/>
    <dgm:cxn modelId="{B5753DC6-76E0-44E8-91BB-30BDE49D6FDC}" type="presParOf" srcId="{5C5AFF4D-4FD6-4C96-9228-730A3CCB9D7D}" destId="{093C35DD-A372-443E-A661-BE36493626B7}" srcOrd="1" destOrd="0" presId="urn:microsoft.com/office/officeart/2018/2/layout/IconVerticalSolidList"/>
    <dgm:cxn modelId="{5A584137-7A9D-4005-AD89-EA01F9F97D5B}" type="presParOf" srcId="{5C5AFF4D-4FD6-4C96-9228-730A3CCB9D7D}" destId="{E15A1A03-CEA5-4CA9-8DAD-4D1DC02C9497}" srcOrd="2" destOrd="0" presId="urn:microsoft.com/office/officeart/2018/2/layout/IconVerticalSolidList"/>
    <dgm:cxn modelId="{A89E3AEB-978F-405B-A7E5-F5405F8EC346}" type="presParOf" srcId="{5C5AFF4D-4FD6-4C96-9228-730A3CCB9D7D}" destId="{44E944D0-0C0C-47E1-85EA-3F3CE7307F7B}" srcOrd="3" destOrd="0" presId="urn:microsoft.com/office/officeart/2018/2/layout/IconVerticalSolidList"/>
    <dgm:cxn modelId="{FDD11463-3506-4E3C-A97C-268748455C4B}" type="presParOf" srcId="{BC45BC9E-3AB4-4F67-8365-0542009AB649}" destId="{E476FEAB-9AF0-4A88-BC25-3B3F359A197E}" srcOrd="3" destOrd="0" presId="urn:microsoft.com/office/officeart/2018/2/layout/IconVerticalSolidList"/>
    <dgm:cxn modelId="{636A471C-A115-418B-9BCF-8A68229AB2E7}" type="presParOf" srcId="{BC45BC9E-3AB4-4F67-8365-0542009AB649}" destId="{3937C3E4-BC87-4E7B-A86C-10A18540086C}" srcOrd="4" destOrd="0" presId="urn:microsoft.com/office/officeart/2018/2/layout/IconVerticalSolidList"/>
    <dgm:cxn modelId="{B5ECEA8D-F893-405A-B83D-4D3DA0FDD6EE}" type="presParOf" srcId="{3937C3E4-BC87-4E7B-A86C-10A18540086C}" destId="{CE0C4388-E0E9-4BB9-A6CA-BB9066E0850B}" srcOrd="0" destOrd="0" presId="urn:microsoft.com/office/officeart/2018/2/layout/IconVerticalSolidList"/>
    <dgm:cxn modelId="{7F5C935E-DE31-4789-8EAE-B62195534E9E}" type="presParOf" srcId="{3937C3E4-BC87-4E7B-A86C-10A18540086C}" destId="{0F8AF1A0-1790-4E1F-A751-D034C636A091}" srcOrd="1" destOrd="0" presId="urn:microsoft.com/office/officeart/2018/2/layout/IconVerticalSolidList"/>
    <dgm:cxn modelId="{7268D889-B1C7-4A3A-AAC6-F3557339C8A8}" type="presParOf" srcId="{3937C3E4-BC87-4E7B-A86C-10A18540086C}" destId="{5967C5ED-22EA-4C27-8050-9FA2FAAE7B49}" srcOrd="2" destOrd="0" presId="urn:microsoft.com/office/officeart/2018/2/layout/IconVerticalSolidList"/>
    <dgm:cxn modelId="{B049185E-0E58-4EDD-8A8E-3A22E8B5CC53}" type="presParOf" srcId="{3937C3E4-BC87-4E7B-A86C-10A18540086C}" destId="{4D858066-0023-46F1-97EC-231046C88AF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762197-F044-4B6F-9082-C97B83CC3FF6}">
      <dsp:nvSpPr>
        <dsp:cNvPr id="0" name=""/>
        <dsp:cNvSpPr/>
      </dsp:nvSpPr>
      <dsp:spPr>
        <a:xfrm>
          <a:off x="0" y="445"/>
          <a:ext cx="8770571" cy="10430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A409D5-67FA-48E1-82F2-BBF542769B71}">
      <dsp:nvSpPr>
        <dsp:cNvPr id="0" name=""/>
        <dsp:cNvSpPr/>
      </dsp:nvSpPr>
      <dsp:spPr>
        <a:xfrm>
          <a:off x="315517" y="235127"/>
          <a:ext cx="573667" cy="5736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441686-FF4F-45A6-8273-537B5F4EC605}">
      <dsp:nvSpPr>
        <dsp:cNvPr id="0" name=""/>
        <dsp:cNvSpPr/>
      </dsp:nvSpPr>
      <dsp:spPr>
        <a:xfrm>
          <a:off x="1204702" y="445"/>
          <a:ext cx="7565868"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889000">
            <a:lnSpc>
              <a:spcPct val="100000"/>
            </a:lnSpc>
            <a:spcBef>
              <a:spcPct val="0"/>
            </a:spcBef>
            <a:spcAft>
              <a:spcPct val="35000"/>
            </a:spcAft>
            <a:buNone/>
          </a:pPr>
          <a:r>
            <a:rPr lang="en-US" sz="2000" kern="1200" dirty="0"/>
            <a:t>The code should become cleaner.</a:t>
          </a:r>
        </a:p>
      </dsp:txBody>
      <dsp:txXfrm>
        <a:off x="1204702" y="445"/>
        <a:ext cx="7565868" cy="1043032"/>
      </dsp:txXfrm>
    </dsp:sp>
    <dsp:sp modelId="{F0E9BA21-4538-4239-96FA-37CEEC29797D}">
      <dsp:nvSpPr>
        <dsp:cNvPr id="0" name=""/>
        <dsp:cNvSpPr/>
      </dsp:nvSpPr>
      <dsp:spPr>
        <a:xfrm>
          <a:off x="0" y="1304235"/>
          <a:ext cx="8770571" cy="10430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3C35DD-A372-443E-A661-BE36493626B7}">
      <dsp:nvSpPr>
        <dsp:cNvPr id="0" name=""/>
        <dsp:cNvSpPr/>
      </dsp:nvSpPr>
      <dsp:spPr>
        <a:xfrm>
          <a:off x="315517" y="1538918"/>
          <a:ext cx="573667" cy="5736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E944D0-0C0C-47E1-85EA-3F3CE7307F7B}">
      <dsp:nvSpPr>
        <dsp:cNvPr id="0" name=""/>
        <dsp:cNvSpPr/>
      </dsp:nvSpPr>
      <dsp:spPr>
        <a:xfrm>
          <a:off x="1204702" y="1304235"/>
          <a:ext cx="7565868"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889000">
            <a:lnSpc>
              <a:spcPct val="100000"/>
            </a:lnSpc>
            <a:spcBef>
              <a:spcPct val="0"/>
            </a:spcBef>
            <a:spcAft>
              <a:spcPct val="35000"/>
            </a:spcAft>
            <a:buNone/>
          </a:pPr>
          <a:r>
            <a:rPr lang="en-US" sz="2000" kern="1200" dirty="0"/>
            <a:t>New functionality shouldn’t be created during refactoring.</a:t>
          </a:r>
        </a:p>
      </dsp:txBody>
      <dsp:txXfrm>
        <a:off x="1204702" y="1304235"/>
        <a:ext cx="7565868" cy="1043032"/>
      </dsp:txXfrm>
    </dsp:sp>
    <dsp:sp modelId="{CE0C4388-E0E9-4BB9-A6CA-BB9066E0850B}">
      <dsp:nvSpPr>
        <dsp:cNvPr id="0" name=""/>
        <dsp:cNvSpPr/>
      </dsp:nvSpPr>
      <dsp:spPr>
        <a:xfrm>
          <a:off x="0" y="2608026"/>
          <a:ext cx="8770571" cy="10430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8AF1A0-1790-4E1F-A751-D034C636A091}">
      <dsp:nvSpPr>
        <dsp:cNvPr id="0" name=""/>
        <dsp:cNvSpPr/>
      </dsp:nvSpPr>
      <dsp:spPr>
        <a:xfrm>
          <a:off x="315517" y="2842708"/>
          <a:ext cx="573667" cy="5736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858066-0023-46F1-97EC-231046C88AFB}">
      <dsp:nvSpPr>
        <dsp:cNvPr id="0" name=""/>
        <dsp:cNvSpPr/>
      </dsp:nvSpPr>
      <dsp:spPr>
        <a:xfrm>
          <a:off x="1204702" y="2608026"/>
          <a:ext cx="7565868"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889000">
            <a:lnSpc>
              <a:spcPct val="100000"/>
            </a:lnSpc>
            <a:spcBef>
              <a:spcPct val="0"/>
            </a:spcBef>
            <a:spcAft>
              <a:spcPct val="35000"/>
            </a:spcAft>
            <a:buNone/>
          </a:pPr>
          <a:r>
            <a:rPr lang="en-US" sz="2000" kern="1200" dirty="0"/>
            <a:t>All existing tests must pass after refactoring.</a:t>
          </a:r>
        </a:p>
      </dsp:txBody>
      <dsp:txXfrm>
        <a:off x="1204702" y="2608026"/>
        <a:ext cx="7565868" cy="104303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03-Mar-26</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3974789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03-Mar-26</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87842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03-Mar-26</a:t>
            </a:fld>
            <a:endParaRPr lang="en-US" dirty="0"/>
          </a:p>
        </p:txBody>
      </p:sp>
    </p:spTree>
    <p:extLst>
      <p:ext uri="{BB962C8B-B14F-4D97-AF65-F5344CB8AC3E}">
        <p14:creationId xmlns:p14="http://schemas.microsoft.com/office/powerpoint/2010/main" val="2710803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03-Mar-26</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989531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03-Mar-26</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5408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03-Mar-26</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555617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03-Mar-26</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97524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03-Mar-26</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011714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03-Mar-26</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4284537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03-Mar-26</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310536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03-Mar-26</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314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03-Mar-26</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061368"/>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2" r:id="rId6"/>
    <p:sldLayoutId id="2147483757" r:id="rId7"/>
    <p:sldLayoutId id="2147483753" r:id="rId8"/>
    <p:sldLayoutId id="2147483754" r:id="rId9"/>
    <p:sldLayoutId id="2147483755" r:id="rId10"/>
    <p:sldLayoutId id="2147483756"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54E5F18F-9D70-4BE5-8A38-603463EE84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6" y="0"/>
            <a:ext cx="10678291" cy="6858000"/>
            <a:chOff x="547626" y="0"/>
            <a:chExt cx="10678291" cy="6858000"/>
          </a:xfrm>
        </p:grpSpPr>
        <p:sp>
          <p:nvSpPr>
            <p:cNvPr id="11" name="Freeform: Shape 10">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0981015-32A2-4B76-9F2E-0A8D6EC8E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D38532F4-8B67-47B7-B58A-5DD3E1BE5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6092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2672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6E37E2DD-C7FE-4D6C-8F1D-5031E96A7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7618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778B68BA-AB87-4EB5-97C2-F1F304E1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449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p:cNvSpPr>
            <a:spLocks noGrp="1"/>
          </p:cNvSpPr>
          <p:nvPr>
            <p:ph type="ctrTitle"/>
          </p:nvPr>
        </p:nvSpPr>
        <p:spPr>
          <a:xfrm>
            <a:off x="2190750" y="1346268"/>
            <a:ext cx="7810500" cy="3125338"/>
          </a:xfrm>
        </p:spPr>
        <p:txBody>
          <a:bodyPr anchor="b">
            <a:normAutofit/>
          </a:bodyPr>
          <a:lstStyle/>
          <a:p>
            <a:pPr algn="ctr"/>
            <a:r>
              <a:rPr lang="en-US" sz="7200" dirty="0">
                <a:ea typeface="Meiryo"/>
              </a:rPr>
              <a:t>Software Re-Engineering</a:t>
            </a:r>
          </a:p>
        </p:txBody>
      </p:sp>
      <p:sp>
        <p:nvSpPr>
          <p:cNvPr id="3" name="Subtitle 2"/>
          <p:cNvSpPr>
            <a:spLocks noGrp="1"/>
          </p:cNvSpPr>
          <p:nvPr>
            <p:ph type="subTitle" idx="1"/>
          </p:nvPr>
        </p:nvSpPr>
        <p:spPr>
          <a:xfrm>
            <a:off x="2619375" y="4471607"/>
            <a:ext cx="6953250" cy="862394"/>
          </a:xfrm>
        </p:spPr>
        <p:txBody>
          <a:bodyPr anchor="t">
            <a:normAutofit fontScale="47500" lnSpcReduction="20000"/>
          </a:bodyPr>
          <a:lstStyle/>
          <a:p>
            <a:pPr algn="ctr"/>
            <a:r>
              <a:rPr lang="en-US" sz="7200" b="1" dirty="0">
                <a:ea typeface="Meiryo"/>
              </a:rPr>
              <a:t>Code refactoring </a:t>
            </a:r>
            <a:endParaRPr lang="en-US" sz="7200" dirty="0">
              <a:solidFill>
                <a:srgbClr val="000000"/>
              </a:solidFill>
              <a:ea typeface="Meiryo"/>
            </a:endParaRPr>
          </a:p>
          <a:p>
            <a:pPr algn="ctr"/>
            <a:endParaRPr lang="en-US" dirty="0">
              <a:ea typeface="Meiryo"/>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2F24225-0E3A-40A5-A927-CEFC14438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5B02B8FB-EF36-4677-B5B5-E9B989F25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83796" cy="6858000"/>
          </a:xfrm>
          <a:custGeom>
            <a:avLst/>
            <a:gdLst>
              <a:gd name="connsiteX0" fmla="*/ 0 w 4583796"/>
              <a:gd name="connsiteY0" fmla="*/ 0 h 6858000"/>
              <a:gd name="connsiteX1" fmla="*/ 1087374 w 4583796"/>
              <a:gd name="connsiteY1" fmla="*/ 0 h 6858000"/>
              <a:gd name="connsiteX2" fmla="*/ 1598212 w 4583796"/>
              <a:gd name="connsiteY2" fmla="*/ 0 h 6858000"/>
              <a:gd name="connsiteX3" fmla="*/ 2960773 w 4583796"/>
              <a:gd name="connsiteY3" fmla="*/ 0 h 6858000"/>
              <a:gd name="connsiteX4" fmla="*/ 2982897 w 4583796"/>
              <a:gd name="connsiteY4" fmla="*/ 14997 h 6858000"/>
              <a:gd name="connsiteX5" fmla="*/ 4583796 w 4583796"/>
              <a:gd name="connsiteY5" fmla="*/ 3621656 h 6858000"/>
              <a:gd name="connsiteX6" fmla="*/ 2709446 w 4583796"/>
              <a:gd name="connsiteY6" fmla="*/ 6374814 h 6858000"/>
              <a:gd name="connsiteX7" fmla="*/ 2192798 w 4583796"/>
              <a:gd name="connsiteY7" fmla="*/ 6780599 h 6858000"/>
              <a:gd name="connsiteX8" fmla="*/ 2081042 w 4583796"/>
              <a:gd name="connsiteY8" fmla="*/ 6858000 h 6858000"/>
              <a:gd name="connsiteX9" fmla="*/ 1598212 w 4583796"/>
              <a:gd name="connsiteY9" fmla="*/ 6858000 h 6858000"/>
              <a:gd name="connsiteX10" fmla="*/ 1087374 w 4583796"/>
              <a:gd name="connsiteY10" fmla="*/ 6858000 h 6858000"/>
              <a:gd name="connsiteX11" fmla="*/ 0 w 4583796"/>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3796" h="6858000">
                <a:moveTo>
                  <a:pt x="0" y="0"/>
                </a:moveTo>
                <a:lnTo>
                  <a:pt x="1087374" y="0"/>
                </a:lnTo>
                <a:lnTo>
                  <a:pt x="1598212" y="0"/>
                </a:lnTo>
                <a:lnTo>
                  <a:pt x="2960773" y="0"/>
                </a:lnTo>
                <a:lnTo>
                  <a:pt x="2982897" y="14997"/>
                </a:lnTo>
                <a:cubicBezTo>
                  <a:pt x="4010060" y="754641"/>
                  <a:pt x="4583796" y="2093192"/>
                  <a:pt x="4583796" y="3621656"/>
                </a:cubicBezTo>
                <a:cubicBezTo>
                  <a:pt x="4583796" y="4969131"/>
                  <a:pt x="3655071" y="5602839"/>
                  <a:pt x="2709446" y="6374814"/>
                </a:cubicBezTo>
                <a:cubicBezTo>
                  <a:pt x="2537243" y="6515397"/>
                  <a:pt x="2366616" y="6653108"/>
                  <a:pt x="2192798" y="6780599"/>
                </a:cubicBezTo>
                <a:lnTo>
                  <a:pt x="2081042" y="6858000"/>
                </a:lnTo>
                <a:lnTo>
                  <a:pt x="1598212" y="6858000"/>
                </a:lnTo>
                <a:lnTo>
                  <a:pt x="1087374"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BE30D5C6-EC5C-4D78-8689-1B6822BFF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01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12A73499-12A4-4080-B0DE-351867697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0113"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7" name="Freeform: Shape 26">
            <a:extLst>
              <a:ext uri="{FF2B5EF4-FFF2-40B4-BE49-F238E27FC236}">
                <a16:creationId xmlns:a16="http://schemas.microsoft.com/office/drawing/2014/main" id="{60A52FE6-BB17-4BE4-BFA1-8896FD7CF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8872"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A7BBF837-70DD-4FFD-A87C-FAD1F5D8A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01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CE5EB792-CB0B-44C0-9561-24A263D87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0113"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3" name="Freeform: Shape 32">
            <a:extLst>
              <a:ext uri="{FF2B5EF4-FFF2-40B4-BE49-F238E27FC236}">
                <a16:creationId xmlns:a16="http://schemas.microsoft.com/office/drawing/2014/main" id="{C0FB4A96-0FD5-4642-8CE2-57623A3A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8872"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9BCF8181-8A90-CD68-B682-1C8A328FEE83}"/>
              </a:ext>
            </a:extLst>
          </p:cNvPr>
          <p:cNvSpPr>
            <a:spLocks noGrp="1"/>
          </p:cNvSpPr>
          <p:nvPr>
            <p:ph type="title"/>
          </p:nvPr>
        </p:nvSpPr>
        <p:spPr>
          <a:xfrm>
            <a:off x="830218" y="1833229"/>
            <a:ext cx="3161338" cy="2934031"/>
          </a:xfrm>
        </p:spPr>
        <p:txBody>
          <a:bodyPr anchor="ctr">
            <a:normAutofit/>
          </a:bodyPr>
          <a:lstStyle/>
          <a:p>
            <a:r>
              <a:rPr lang="en-US" dirty="0">
                <a:latin typeface="PT Sans"/>
              </a:rPr>
              <a:t>Refactoring</a:t>
            </a:r>
            <a:endParaRPr lang="en-US">
              <a:ea typeface="Meiryo"/>
            </a:endParaRPr>
          </a:p>
          <a:p>
            <a:endParaRPr lang="en-US" dirty="0">
              <a:latin typeface="Meiryo"/>
              <a:ea typeface="Meiryo"/>
            </a:endParaRPr>
          </a:p>
        </p:txBody>
      </p:sp>
      <p:sp>
        <p:nvSpPr>
          <p:cNvPr id="3" name="Content Placeholder 2">
            <a:extLst>
              <a:ext uri="{FF2B5EF4-FFF2-40B4-BE49-F238E27FC236}">
                <a16:creationId xmlns:a16="http://schemas.microsoft.com/office/drawing/2014/main" id="{B7C07D79-6A99-3BE4-C88E-EFF760B51736}"/>
              </a:ext>
            </a:extLst>
          </p:cNvPr>
          <p:cNvSpPr>
            <a:spLocks noGrp="1"/>
          </p:cNvSpPr>
          <p:nvPr>
            <p:ph idx="1"/>
          </p:nvPr>
        </p:nvSpPr>
        <p:spPr>
          <a:xfrm>
            <a:off x="5394721" y="1105306"/>
            <a:ext cx="5672565" cy="4337435"/>
          </a:xfrm>
        </p:spPr>
        <p:txBody>
          <a:bodyPr vert="horz" lIns="109728" tIns="109728" rIns="109728" bIns="91440" rtlCol="0" anchor="ctr">
            <a:normAutofit/>
          </a:bodyPr>
          <a:lstStyle/>
          <a:p>
            <a:r>
              <a:rPr lang="en-US" sz="2400" dirty="0">
                <a:latin typeface="PT Sans"/>
                <a:ea typeface="Meiryo"/>
              </a:rPr>
              <a:t>Refactoring is a systematic process of improving code without creating new functionality that can transform a mess into clean code and a simple design.</a:t>
            </a:r>
            <a:endParaRPr lang="en-US" sz="2400">
              <a:ea typeface="Meiryo"/>
            </a:endParaRPr>
          </a:p>
        </p:txBody>
      </p:sp>
    </p:spTree>
    <p:extLst>
      <p:ext uri="{BB962C8B-B14F-4D97-AF65-F5344CB8AC3E}">
        <p14:creationId xmlns:p14="http://schemas.microsoft.com/office/powerpoint/2010/main" val="1106079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5A94582F-7228-A683-7119-73D8CEAA5065}"/>
              </a:ext>
            </a:extLst>
          </p:cNvPr>
          <p:cNvSpPr>
            <a:spLocks noGrp="1"/>
          </p:cNvSpPr>
          <p:nvPr>
            <p:ph type="title"/>
          </p:nvPr>
        </p:nvSpPr>
        <p:spPr>
          <a:xfrm>
            <a:off x="1920875" y="442913"/>
            <a:ext cx="6857365" cy="1344612"/>
          </a:xfrm>
        </p:spPr>
        <p:txBody>
          <a:bodyPr anchor="b">
            <a:normAutofit/>
          </a:bodyPr>
          <a:lstStyle/>
          <a:p>
            <a:r>
              <a:rPr lang="en-US" dirty="0">
                <a:ea typeface="Meiryo"/>
              </a:rPr>
              <a:t>Dirty Code</a:t>
            </a:r>
            <a:endParaRPr lang="en-US" dirty="0"/>
          </a:p>
        </p:txBody>
      </p:sp>
      <p:sp>
        <p:nvSpPr>
          <p:cNvPr id="3" name="Content Placeholder 2">
            <a:extLst>
              <a:ext uri="{FF2B5EF4-FFF2-40B4-BE49-F238E27FC236}">
                <a16:creationId xmlns:a16="http://schemas.microsoft.com/office/drawing/2014/main" id="{774FBD8B-5CFC-731F-7305-33C723CABAD5}"/>
              </a:ext>
            </a:extLst>
          </p:cNvPr>
          <p:cNvSpPr>
            <a:spLocks noGrp="1"/>
          </p:cNvSpPr>
          <p:nvPr>
            <p:ph idx="1"/>
          </p:nvPr>
        </p:nvSpPr>
        <p:spPr>
          <a:xfrm>
            <a:off x="1920875" y="2312988"/>
            <a:ext cx="6857365" cy="3651250"/>
          </a:xfrm>
        </p:spPr>
        <p:txBody>
          <a:bodyPr vert="horz" lIns="109728" tIns="109728" rIns="109728" bIns="91440" rtlCol="0">
            <a:normAutofit/>
          </a:bodyPr>
          <a:lstStyle/>
          <a:p>
            <a:r>
              <a:rPr lang="en-US" dirty="0">
                <a:ea typeface="Meiryo"/>
              </a:rPr>
              <a:t>Dirty code is result of inexperience multiplied by tight deadlines, mismanagement, and nasty shortcuts taken during the development process.</a:t>
            </a:r>
            <a:endParaRPr lang="en-US" dirty="0"/>
          </a:p>
        </p:txBody>
      </p:sp>
    </p:spTree>
    <p:extLst>
      <p:ext uri="{BB962C8B-B14F-4D97-AF65-F5344CB8AC3E}">
        <p14:creationId xmlns:p14="http://schemas.microsoft.com/office/powerpoint/2010/main" val="2287487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A5008AA8-1011-F483-A7A7-0AD6816901F2}"/>
              </a:ext>
            </a:extLst>
          </p:cNvPr>
          <p:cNvSpPr>
            <a:spLocks noGrp="1"/>
          </p:cNvSpPr>
          <p:nvPr>
            <p:ph type="title"/>
          </p:nvPr>
        </p:nvSpPr>
        <p:spPr>
          <a:xfrm>
            <a:off x="1920875" y="442913"/>
            <a:ext cx="6857365" cy="1344612"/>
          </a:xfrm>
        </p:spPr>
        <p:txBody>
          <a:bodyPr anchor="b">
            <a:normAutofit/>
          </a:bodyPr>
          <a:lstStyle/>
          <a:p>
            <a:r>
              <a:rPr lang="en-US" dirty="0">
                <a:ea typeface="Meiryo"/>
              </a:rPr>
              <a:t>Clean Code</a:t>
            </a:r>
            <a:endParaRPr lang="en-US" dirty="0"/>
          </a:p>
        </p:txBody>
      </p:sp>
      <p:sp>
        <p:nvSpPr>
          <p:cNvPr id="3" name="Content Placeholder 2">
            <a:extLst>
              <a:ext uri="{FF2B5EF4-FFF2-40B4-BE49-F238E27FC236}">
                <a16:creationId xmlns:a16="http://schemas.microsoft.com/office/drawing/2014/main" id="{B694D279-0395-935A-85B3-4B0133371797}"/>
              </a:ext>
            </a:extLst>
          </p:cNvPr>
          <p:cNvSpPr>
            <a:spLocks noGrp="1"/>
          </p:cNvSpPr>
          <p:nvPr>
            <p:ph idx="1"/>
          </p:nvPr>
        </p:nvSpPr>
        <p:spPr>
          <a:xfrm>
            <a:off x="1920875" y="2312988"/>
            <a:ext cx="6857365" cy="3651250"/>
          </a:xfrm>
        </p:spPr>
        <p:txBody>
          <a:bodyPr vert="horz" lIns="109728" tIns="109728" rIns="109728" bIns="91440" rtlCol="0">
            <a:normAutofit/>
          </a:bodyPr>
          <a:lstStyle/>
          <a:p>
            <a:r>
              <a:rPr lang="en-US" dirty="0">
                <a:ea typeface="Meiryo"/>
              </a:rPr>
              <a:t>Clean code is code that is easy to read, understand, and maintain. Clean code makes software development predictable and increases the quality of the resulting product.</a:t>
            </a:r>
            <a:endParaRPr lang="en-US" dirty="0"/>
          </a:p>
        </p:txBody>
      </p:sp>
    </p:spTree>
    <p:extLst>
      <p:ext uri="{BB962C8B-B14F-4D97-AF65-F5344CB8AC3E}">
        <p14:creationId xmlns:p14="http://schemas.microsoft.com/office/powerpoint/2010/main" val="2115751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20EA313-43B4-5F90-D6E2-D7C7675A8463}"/>
              </a:ext>
            </a:extLst>
          </p:cNvPr>
          <p:cNvSpPr>
            <a:spLocks noGrp="1"/>
          </p:cNvSpPr>
          <p:nvPr>
            <p:ph type="title"/>
          </p:nvPr>
        </p:nvSpPr>
        <p:spPr>
          <a:xfrm>
            <a:off x="1188340" y="1105232"/>
            <a:ext cx="3013545" cy="4277802"/>
          </a:xfrm>
        </p:spPr>
        <p:txBody>
          <a:bodyPr anchor="ctr">
            <a:normAutofit/>
          </a:bodyPr>
          <a:lstStyle/>
          <a:p>
            <a:r>
              <a:rPr lang="en-US" dirty="0">
                <a:ea typeface="Meiryo"/>
              </a:rPr>
              <a:t>Refactoring Process</a:t>
            </a:r>
            <a:endParaRPr lang="en-US" dirty="0"/>
          </a:p>
          <a:p>
            <a:endParaRPr lang="en-US" dirty="0">
              <a:ea typeface="Meiryo"/>
            </a:endParaRPr>
          </a:p>
        </p:txBody>
      </p:sp>
      <p:grpSp>
        <p:nvGrpSpPr>
          <p:cNvPr id="10" name="Group 9">
            <a:extLst>
              <a:ext uri="{FF2B5EF4-FFF2-40B4-BE49-F238E27FC236}">
                <a16:creationId xmlns:a16="http://schemas.microsoft.com/office/drawing/2014/main" id="{D4D684F8-91BF-481C-A965-722756A383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308533" y="0"/>
            <a:ext cx="7883467" cy="6858000"/>
            <a:chOff x="0" y="0"/>
            <a:chExt cx="7883467" cy="6858000"/>
          </a:xfrm>
        </p:grpSpPr>
        <p:sp>
          <p:nvSpPr>
            <p:cNvPr id="11" name="Freeform: Shape 10">
              <a:extLst>
                <a:ext uri="{FF2B5EF4-FFF2-40B4-BE49-F238E27FC236}">
                  <a16:creationId xmlns:a16="http://schemas.microsoft.com/office/drawing/2014/main" id="{05DF7B3C-29EF-4ADC-BFDC-C3A038AC43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7475746" cy="6858000"/>
            </a:xfrm>
            <a:custGeom>
              <a:avLst/>
              <a:gdLst>
                <a:gd name="connsiteX0" fmla="*/ 0 w 7475746"/>
                <a:gd name="connsiteY0" fmla="*/ 0 h 6858000"/>
                <a:gd name="connsiteX1" fmla="*/ 5859459 w 7475746"/>
                <a:gd name="connsiteY1" fmla="*/ 0 h 6858000"/>
                <a:gd name="connsiteX2" fmla="*/ 5874848 w 7475746"/>
                <a:gd name="connsiteY2" fmla="*/ 10445 h 6858000"/>
                <a:gd name="connsiteX3" fmla="*/ 7475746 w 7475746"/>
                <a:gd name="connsiteY3" fmla="*/ 3621913 h 6858000"/>
                <a:gd name="connsiteX4" fmla="*/ 5601397 w 7475746"/>
                <a:gd name="connsiteY4" fmla="*/ 6378742 h 6858000"/>
                <a:gd name="connsiteX5" fmla="*/ 5084748 w 7475746"/>
                <a:gd name="connsiteY5" fmla="*/ 6785068 h 6858000"/>
                <a:gd name="connsiteX6" fmla="*/ 4979585 w 7475746"/>
                <a:gd name="connsiteY6" fmla="*/ 6858000 h 6858000"/>
                <a:gd name="connsiteX7" fmla="*/ 0 w 747574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5746" h="6858000">
                  <a:moveTo>
                    <a:pt x="0" y="0"/>
                  </a:moveTo>
                  <a:lnTo>
                    <a:pt x="5859459" y="0"/>
                  </a:lnTo>
                  <a:lnTo>
                    <a:pt x="5874848" y="10445"/>
                  </a:lnTo>
                  <a:cubicBezTo>
                    <a:pt x="6902010" y="751075"/>
                    <a:pt x="7475746" y="2091411"/>
                    <a:pt x="7475746" y="3621913"/>
                  </a:cubicBezTo>
                  <a:cubicBezTo>
                    <a:pt x="7475746" y="4971185"/>
                    <a:pt x="6547021" y="5605738"/>
                    <a:pt x="5601397" y="6378742"/>
                  </a:cubicBezTo>
                  <a:cubicBezTo>
                    <a:pt x="5429193" y="6519512"/>
                    <a:pt x="5258566" y="6657407"/>
                    <a:pt x="5084748" y="6785068"/>
                  </a:cubicBezTo>
                  <a:lnTo>
                    <a:pt x="4979585"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20289037-6999-491E-AA63-CC1C3CBBF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5374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497CF6DF-9FF9-4D10-B338-0BEFC0AA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3" name="Content Placeholder 2">
            <a:extLst>
              <a:ext uri="{FF2B5EF4-FFF2-40B4-BE49-F238E27FC236}">
                <a16:creationId xmlns:a16="http://schemas.microsoft.com/office/drawing/2014/main" id="{A3046683-1A48-672E-CA55-A1B799B381E3}"/>
              </a:ext>
            </a:extLst>
          </p:cNvPr>
          <p:cNvSpPr>
            <a:spLocks noGrp="1"/>
          </p:cNvSpPr>
          <p:nvPr>
            <p:ph idx="1"/>
          </p:nvPr>
        </p:nvSpPr>
        <p:spPr>
          <a:xfrm>
            <a:off x="6096000" y="1105232"/>
            <a:ext cx="5176298" cy="4277802"/>
          </a:xfrm>
        </p:spPr>
        <p:txBody>
          <a:bodyPr vert="horz" lIns="109728" tIns="109728" rIns="109728" bIns="91440" rtlCol="0" anchor="ctr">
            <a:normAutofit/>
          </a:bodyPr>
          <a:lstStyle/>
          <a:p>
            <a:r>
              <a:rPr lang="en-US" dirty="0">
                <a:latin typeface="PT Sans"/>
              </a:rPr>
              <a:t>Performing refactoring step-by-step and running tests after each change are key elements of refactoring that make it predictable and safe.</a:t>
            </a:r>
            <a:endParaRPr lang="en-US" dirty="0">
              <a:ea typeface="Meiryo"/>
            </a:endParaRPr>
          </a:p>
        </p:txBody>
      </p:sp>
    </p:spTree>
    <p:extLst>
      <p:ext uri="{BB962C8B-B14F-4D97-AF65-F5344CB8AC3E}">
        <p14:creationId xmlns:p14="http://schemas.microsoft.com/office/powerpoint/2010/main" val="2861131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1"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EF044C2-8264-BEBB-8EA0-3DD2CCD97E45}"/>
              </a:ext>
            </a:extLst>
          </p:cNvPr>
          <p:cNvSpPr>
            <a:spLocks noGrp="1"/>
          </p:cNvSpPr>
          <p:nvPr>
            <p:ph type="title"/>
          </p:nvPr>
        </p:nvSpPr>
        <p:spPr>
          <a:xfrm>
            <a:off x="1920875" y="442913"/>
            <a:ext cx="6857365" cy="1344612"/>
          </a:xfrm>
        </p:spPr>
        <p:txBody>
          <a:bodyPr anchor="b">
            <a:normAutofit/>
          </a:bodyPr>
          <a:lstStyle/>
          <a:p>
            <a:r>
              <a:rPr lang="en-US" dirty="0">
                <a:ea typeface="Meiryo"/>
              </a:rPr>
              <a:t>Refactoring Techniques</a:t>
            </a:r>
            <a:endParaRPr lang="en-US" dirty="0"/>
          </a:p>
        </p:txBody>
      </p:sp>
      <p:sp>
        <p:nvSpPr>
          <p:cNvPr id="3" name="Content Placeholder 2">
            <a:extLst>
              <a:ext uri="{FF2B5EF4-FFF2-40B4-BE49-F238E27FC236}">
                <a16:creationId xmlns:a16="http://schemas.microsoft.com/office/drawing/2014/main" id="{8AF0C83C-8837-39C0-55DA-3E94D191F32B}"/>
              </a:ext>
            </a:extLst>
          </p:cNvPr>
          <p:cNvSpPr>
            <a:spLocks noGrp="1"/>
          </p:cNvSpPr>
          <p:nvPr>
            <p:ph idx="1"/>
          </p:nvPr>
        </p:nvSpPr>
        <p:spPr>
          <a:xfrm>
            <a:off x="1920875" y="2107096"/>
            <a:ext cx="8391967" cy="2846567"/>
          </a:xfrm>
        </p:spPr>
        <p:txBody>
          <a:bodyPr vert="horz" lIns="109728" tIns="109728" rIns="109728" bIns="91440" rtlCol="0" anchor="t">
            <a:normAutofit/>
          </a:bodyPr>
          <a:lstStyle/>
          <a:p>
            <a:r>
              <a:rPr lang="en-US" dirty="0">
                <a:ea typeface="Meiryo"/>
              </a:rPr>
              <a:t>Refactoring techniques describe actual refactoring steps. Most refactoring techniques have their pros and cons. Therefore, each refactoring should be properly motivated and applied with caution</a:t>
            </a:r>
          </a:p>
          <a:p>
            <a:endParaRPr lang="en-US" dirty="0">
              <a:ea typeface="Meiryo"/>
            </a:endParaRPr>
          </a:p>
        </p:txBody>
      </p:sp>
    </p:spTree>
    <p:extLst>
      <p:ext uri="{BB962C8B-B14F-4D97-AF65-F5344CB8AC3E}">
        <p14:creationId xmlns:p14="http://schemas.microsoft.com/office/powerpoint/2010/main" val="2992122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6" name="Freeform: Shape 25">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4FCA5663-14B7-ED36-3999-46B076DA785B}"/>
              </a:ext>
            </a:extLst>
          </p:cNvPr>
          <p:cNvSpPr>
            <a:spLocks noGrp="1"/>
          </p:cNvSpPr>
          <p:nvPr>
            <p:ph type="title"/>
          </p:nvPr>
        </p:nvSpPr>
        <p:spPr>
          <a:xfrm>
            <a:off x="992518" y="442913"/>
            <a:ext cx="5185645" cy="1639888"/>
          </a:xfrm>
        </p:spPr>
        <p:txBody>
          <a:bodyPr anchor="b">
            <a:normAutofit/>
          </a:bodyPr>
          <a:lstStyle/>
          <a:p>
            <a:br>
              <a:rPr lang="en-US" sz="3000" dirty="0"/>
            </a:br>
            <a:r>
              <a:rPr lang="en-US" sz="3000" dirty="0">
                <a:ea typeface="Meiryo"/>
              </a:rPr>
              <a:t>1.Composing Methods</a:t>
            </a:r>
            <a:endParaRPr lang="en-US" sz="3000" dirty="0"/>
          </a:p>
        </p:txBody>
      </p:sp>
      <p:sp>
        <p:nvSpPr>
          <p:cNvPr id="3" name="Content Placeholder 2">
            <a:extLst>
              <a:ext uri="{FF2B5EF4-FFF2-40B4-BE49-F238E27FC236}">
                <a16:creationId xmlns:a16="http://schemas.microsoft.com/office/drawing/2014/main" id="{A7164BDA-F48B-2093-7693-3F6602B5FF0E}"/>
              </a:ext>
            </a:extLst>
          </p:cNvPr>
          <p:cNvSpPr>
            <a:spLocks noGrp="1"/>
          </p:cNvSpPr>
          <p:nvPr>
            <p:ph idx="1"/>
          </p:nvPr>
        </p:nvSpPr>
        <p:spPr>
          <a:xfrm>
            <a:off x="992519" y="2312988"/>
            <a:ext cx="5296964" cy="3651250"/>
          </a:xfrm>
        </p:spPr>
        <p:txBody>
          <a:bodyPr vert="horz" lIns="109728" tIns="109728" rIns="109728" bIns="91440" rtlCol="0">
            <a:normAutofit/>
          </a:bodyPr>
          <a:lstStyle/>
          <a:p>
            <a:r>
              <a:rPr lang="en-US" dirty="0">
                <a:ea typeface="Meiryo"/>
              </a:rPr>
              <a:t>The refactoring techniques in this group streamline methods, remove code duplication, and pave the way for future improvements.</a:t>
            </a:r>
          </a:p>
          <a:p>
            <a:endParaRPr lang="en-US" dirty="0">
              <a:ea typeface="Meiryo"/>
            </a:endParaRPr>
          </a:p>
        </p:txBody>
      </p:sp>
      <p:pic>
        <p:nvPicPr>
          <p:cNvPr id="4" name="Picture 3" descr="A screenshot of a video game&#10;&#10;AI-generated content may be incorrect.">
            <a:extLst>
              <a:ext uri="{FF2B5EF4-FFF2-40B4-BE49-F238E27FC236}">
                <a16:creationId xmlns:a16="http://schemas.microsoft.com/office/drawing/2014/main" id="{48D8EC21-D8D5-91D3-A247-09A340084C95}"/>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378299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1D1438-C420-4D68-9104-E1BBD3C183C8}"/>
              </a:ext>
            </a:extLst>
          </p:cNvPr>
          <p:cNvSpPr>
            <a:spLocks noGrp="1"/>
          </p:cNvSpPr>
          <p:nvPr>
            <p:ph idx="1"/>
          </p:nvPr>
        </p:nvSpPr>
        <p:spPr>
          <a:xfrm>
            <a:off x="1007166" y="583096"/>
            <a:ext cx="10402956" cy="6003234"/>
          </a:xfrm>
        </p:spPr>
        <p:txBody>
          <a:bodyPr>
            <a:normAutofit lnSpcReduction="10000"/>
          </a:bodyPr>
          <a:lstStyle/>
          <a:p>
            <a:pPr rtl="0">
              <a:spcBef>
                <a:spcPts val="930"/>
              </a:spcBef>
              <a:spcAft>
                <a:spcPts val="0"/>
              </a:spcAft>
            </a:pPr>
            <a:r>
              <a:rPr lang="en-US" sz="2000" b="0" i="0" u="none" strike="noStrike" dirty="0">
                <a:solidFill>
                  <a:srgbClr val="3F3F3F"/>
                </a:solidFill>
                <a:effectLst/>
                <a:latin typeface="Meiryo" panose="020B0604030504040204" pitchFamily="34" charset="-128"/>
                <a:ea typeface="Meiryo" panose="020B0604030504040204" pitchFamily="34" charset="-128"/>
              </a:rPr>
              <a:t>void </a:t>
            </a:r>
            <a:r>
              <a:rPr lang="en-US" sz="2000" b="0" i="0" u="none" strike="noStrike" dirty="0" err="1">
                <a:solidFill>
                  <a:srgbClr val="3F3F3F"/>
                </a:solidFill>
                <a:effectLst/>
                <a:latin typeface="Meiryo" panose="020B0604030504040204" pitchFamily="34" charset="-128"/>
                <a:ea typeface="Meiryo" panose="020B0604030504040204" pitchFamily="34" charset="-128"/>
              </a:rPr>
              <a:t>printDebt</a:t>
            </a:r>
            <a:r>
              <a:rPr lang="en-US" sz="2000" b="0" i="0" u="none" strike="noStrike" dirty="0">
                <a:solidFill>
                  <a:srgbClr val="3F3F3F"/>
                </a:solidFill>
                <a:effectLst/>
                <a:latin typeface="Meiryo" panose="020B0604030504040204" pitchFamily="34" charset="-128"/>
                <a:ea typeface="Meiryo" panose="020B0604030504040204" pitchFamily="34" charset="-128"/>
              </a:rPr>
              <a:t>(double amount) {</a:t>
            </a:r>
            <a:endParaRPr lang="en-US" sz="2000" b="0" dirty="0">
              <a:effectLst/>
            </a:endParaRPr>
          </a:p>
          <a:p>
            <a:pPr rtl="0">
              <a:spcBef>
                <a:spcPts val="930"/>
              </a:spcBef>
              <a:spcAft>
                <a:spcPts val="0"/>
              </a:spcAft>
            </a:pPr>
            <a:r>
              <a:rPr lang="en-US" sz="2000" b="0" i="0" u="none" strike="noStrike" dirty="0">
                <a:solidFill>
                  <a:srgbClr val="3F3F3F"/>
                </a:solidFill>
                <a:effectLst/>
                <a:latin typeface="Meiryo" panose="020B0604030504040204" pitchFamily="34" charset="-128"/>
                <a:ea typeface="Meiryo" panose="020B0604030504040204" pitchFamily="34" charset="-128"/>
              </a:rPr>
              <a:t>    // Print Banner</a:t>
            </a:r>
            <a:endParaRPr lang="en-US" sz="2000" b="0" dirty="0">
              <a:effectLst/>
            </a:endParaRPr>
          </a:p>
          <a:p>
            <a:pPr rtl="0">
              <a:spcBef>
                <a:spcPts val="930"/>
              </a:spcBef>
              <a:spcAft>
                <a:spcPts val="0"/>
              </a:spcAft>
            </a:pPr>
            <a:r>
              <a:rPr lang="en-US" sz="2000" b="0" i="0" u="none" strike="noStrike" dirty="0">
                <a:solidFill>
                  <a:srgbClr val="3F3F3F"/>
                </a:solidFill>
                <a:effectLst/>
                <a:latin typeface="Meiryo" panose="020B0604030504040204" pitchFamily="34" charset="-128"/>
                <a:ea typeface="Meiryo" panose="020B0604030504040204" pitchFamily="34" charset="-128"/>
              </a:rPr>
              <a:t>    </a:t>
            </a:r>
            <a:r>
              <a:rPr lang="en-US" sz="2000" b="0" i="0" u="none" strike="noStrike" dirty="0" err="1">
                <a:solidFill>
                  <a:srgbClr val="3F3F3F"/>
                </a:solidFill>
                <a:effectLst/>
                <a:latin typeface="Meiryo" panose="020B0604030504040204" pitchFamily="34" charset="-128"/>
                <a:ea typeface="Meiryo" panose="020B0604030504040204" pitchFamily="34" charset="-128"/>
              </a:rPr>
              <a:t>System.out.println</a:t>
            </a:r>
            <a:r>
              <a:rPr lang="en-US" sz="2000" b="0" i="0" u="none" strike="noStrike" dirty="0">
                <a:solidFill>
                  <a:srgbClr val="3F3F3F"/>
                </a:solidFill>
                <a:effectLst/>
                <a:latin typeface="Meiryo" panose="020B0604030504040204" pitchFamily="34" charset="-128"/>
                <a:ea typeface="Meiryo" panose="020B0604030504040204" pitchFamily="34" charset="-128"/>
              </a:rPr>
              <a:t>("*****************");</a:t>
            </a:r>
            <a:endParaRPr lang="en-US" sz="2000" b="0" dirty="0">
              <a:effectLst/>
            </a:endParaRPr>
          </a:p>
          <a:p>
            <a:pPr rtl="0">
              <a:spcBef>
                <a:spcPts val="930"/>
              </a:spcBef>
              <a:spcAft>
                <a:spcPts val="0"/>
              </a:spcAft>
            </a:pPr>
            <a:r>
              <a:rPr lang="en-US" sz="2000" b="0" i="0" u="none" strike="noStrike" dirty="0">
                <a:solidFill>
                  <a:srgbClr val="3F3F3F"/>
                </a:solidFill>
                <a:effectLst/>
                <a:latin typeface="Meiryo" panose="020B0604030504040204" pitchFamily="34" charset="-128"/>
                <a:ea typeface="Meiryo" panose="020B0604030504040204" pitchFamily="34" charset="-128"/>
              </a:rPr>
              <a:t>    </a:t>
            </a:r>
            <a:r>
              <a:rPr lang="en-US" sz="2000" b="0" i="0" u="none" strike="noStrike" dirty="0" err="1">
                <a:solidFill>
                  <a:srgbClr val="3F3F3F"/>
                </a:solidFill>
                <a:effectLst/>
                <a:latin typeface="Meiryo" panose="020B0604030504040204" pitchFamily="34" charset="-128"/>
                <a:ea typeface="Meiryo" panose="020B0604030504040204" pitchFamily="34" charset="-128"/>
              </a:rPr>
              <a:t>System.out.println</a:t>
            </a:r>
            <a:r>
              <a:rPr lang="en-US" sz="2000" b="0" i="0" u="none" strike="noStrike" dirty="0">
                <a:solidFill>
                  <a:srgbClr val="3F3F3F"/>
                </a:solidFill>
                <a:effectLst/>
                <a:latin typeface="Meiryo" panose="020B0604030504040204" pitchFamily="34" charset="-128"/>
                <a:ea typeface="Meiryo" panose="020B0604030504040204" pitchFamily="34" charset="-128"/>
              </a:rPr>
              <a:t>("** Customer Debt **");</a:t>
            </a:r>
            <a:endParaRPr lang="en-US" sz="2000" b="0" dirty="0">
              <a:effectLst/>
            </a:endParaRPr>
          </a:p>
          <a:p>
            <a:pPr rtl="0">
              <a:spcBef>
                <a:spcPts val="930"/>
              </a:spcBef>
              <a:spcAft>
                <a:spcPts val="0"/>
              </a:spcAft>
            </a:pPr>
            <a:r>
              <a:rPr lang="en-US" sz="2000" b="0" i="0" u="none" strike="noStrike" dirty="0">
                <a:solidFill>
                  <a:srgbClr val="3F3F3F"/>
                </a:solidFill>
                <a:effectLst/>
                <a:latin typeface="Meiryo" panose="020B0604030504040204" pitchFamily="34" charset="-128"/>
                <a:ea typeface="Meiryo" panose="020B0604030504040204" pitchFamily="34" charset="-128"/>
              </a:rPr>
              <a:t>    </a:t>
            </a:r>
            <a:r>
              <a:rPr lang="en-US" sz="2000" b="0" i="0" u="none" strike="noStrike" dirty="0" err="1">
                <a:solidFill>
                  <a:srgbClr val="3F3F3F"/>
                </a:solidFill>
                <a:effectLst/>
                <a:latin typeface="Meiryo" panose="020B0604030504040204" pitchFamily="34" charset="-128"/>
                <a:ea typeface="Meiryo" panose="020B0604030504040204" pitchFamily="34" charset="-128"/>
              </a:rPr>
              <a:t>System.out.println</a:t>
            </a:r>
            <a:r>
              <a:rPr lang="en-US" sz="2000" b="0" i="0" u="none" strike="noStrike" dirty="0">
                <a:solidFill>
                  <a:srgbClr val="3F3F3F"/>
                </a:solidFill>
                <a:effectLst/>
                <a:latin typeface="Meiryo" panose="020B0604030504040204" pitchFamily="34" charset="-128"/>
                <a:ea typeface="Meiryo" panose="020B0604030504040204" pitchFamily="34" charset="-128"/>
              </a:rPr>
              <a:t>("*****************");</a:t>
            </a:r>
            <a:endParaRPr lang="en-US" sz="2000" b="0" dirty="0">
              <a:effectLst/>
            </a:endParaRPr>
          </a:p>
          <a:p>
            <a:pPr rtl="0">
              <a:spcBef>
                <a:spcPts val="930"/>
              </a:spcBef>
              <a:spcAft>
                <a:spcPts val="0"/>
              </a:spcAft>
            </a:pPr>
            <a:br>
              <a:rPr lang="en-US" sz="2000" b="0" dirty="0">
                <a:effectLst/>
              </a:rPr>
            </a:br>
            <a:r>
              <a:rPr lang="en-US" sz="2000" b="0" i="0" u="none" strike="noStrike" dirty="0">
                <a:solidFill>
                  <a:srgbClr val="3F3F3F"/>
                </a:solidFill>
                <a:effectLst/>
                <a:latin typeface="Meiryo" panose="020B0604030504040204" pitchFamily="34" charset="-128"/>
                <a:ea typeface="Meiryo" panose="020B0604030504040204" pitchFamily="34" charset="-128"/>
              </a:rPr>
              <a:t>    // Print Details</a:t>
            </a:r>
            <a:endParaRPr lang="en-US" sz="2000" b="0" dirty="0">
              <a:effectLst/>
            </a:endParaRPr>
          </a:p>
          <a:p>
            <a:pPr rtl="0">
              <a:spcBef>
                <a:spcPts val="930"/>
              </a:spcBef>
              <a:spcAft>
                <a:spcPts val="0"/>
              </a:spcAft>
            </a:pPr>
            <a:r>
              <a:rPr lang="en-US" sz="2000" b="0" i="0" u="none" strike="noStrike" dirty="0">
                <a:solidFill>
                  <a:srgbClr val="3F3F3F"/>
                </a:solidFill>
                <a:effectLst/>
                <a:latin typeface="Meiryo" panose="020B0604030504040204" pitchFamily="34" charset="-128"/>
                <a:ea typeface="Meiryo" panose="020B0604030504040204" pitchFamily="34" charset="-128"/>
              </a:rPr>
              <a:t>    </a:t>
            </a:r>
            <a:r>
              <a:rPr lang="en-US" sz="2000" b="0" i="0" u="none" strike="noStrike" dirty="0" err="1">
                <a:solidFill>
                  <a:srgbClr val="3F3F3F"/>
                </a:solidFill>
                <a:effectLst/>
                <a:latin typeface="Meiryo" panose="020B0604030504040204" pitchFamily="34" charset="-128"/>
                <a:ea typeface="Meiryo" panose="020B0604030504040204" pitchFamily="34" charset="-128"/>
              </a:rPr>
              <a:t>System.out.println</a:t>
            </a:r>
            <a:r>
              <a:rPr lang="en-US" sz="2000" b="0" i="0" u="none" strike="noStrike" dirty="0">
                <a:solidFill>
                  <a:srgbClr val="3F3F3F"/>
                </a:solidFill>
                <a:effectLst/>
                <a:latin typeface="Meiryo" panose="020B0604030504040204" pitchFamily="34" charset="-128"/>
                <a:ea typeface="Meiryo" panose="020B0604030504040204" pitchFamily="34" charset="-128"/>
              </a:rPr>
              <a:t>("name: " + name);</a:t>
            </a:r>
            <a:endParaRPr lang="en-US" sz="2000" b="0" dirty="0">
              <a:effectLst/>
            </a:endParaRPr>
          </a:p>
          <a:p>
            <a:pPr rtl="0">
              <a:spcBef>
                <a:spcPts val="930"/>
              </a:spcBef>
              <a:spcAft>
                <a:spcPts val="0"/>
              </a:spcAft>
            </a:pPr>
            <a:r>
              <a:rPr lang="en-US" sz="2000" b="0" i="0" u="none" strike="noStrike" dirty="0">
                <a:solidFill>
                  <a:srgbClr val="3F3F3F"/>
                </a:solidFill>
                <a:effectLst/>
                <a:latin typeface="Meiryo" panose="020B0604030504040204" pitchFamily="34" charset="-128"/>
                <a:ea typeface="Meiryo" panose="020B0604030504040204" pitchFamily="34" charset="-128"/>
              </a:rPr>
              <a:t>    </a:t>
            </a:r>
            <a:r>
              <a:rPr lang="en-US" sz="2000" b="0" i="0" u="none" strike="noStrike" dirty="0" err="1">
                <a:solidFill>
                  <a:srgbClr val="3F3F3F"/>
                </a:solidFill>
                <a:effectLst/>
                <a:latin typeface="Meiryo" panose="020B0604030504040204" pitchFamily="34" charset="-128"/>
                <a:ea typeface="Meiryo" panose="020B0604030504040204" pitchFamily="34" charset="-128"/>
              </a:rPr>
              <a:t>System.out.println</a:t>
            </a:r>
            <a:r>
              <a:rPr lang="en-US" sz="2000" b="0" i="0" u="none" strike="noStrike" dirty="0">
                <a:solidFill>
                  <a:srgbClr val="3F3F3F"/>
                </a:solidFill>
                <a:effectLst/>
                <a:latin typeface="Meiryo" panose="020B0604030504040204" pitchFamily="34" charset="-128"/>
                <a:ea typeface="Meiryo" panose="020B0604030504040204" pitchFamily="34" charset="-128"/>
              </a:rPr>
              <a:t>("amount: " + amount);</a:t>
            </a:r>
            <a:endParaRPr lang="en-US" sz="2000" b="0" dirty="0">
              <a:effectLst/>
            </a:endParaRPr>
          </a:p>
          <a:p>
            <a:pPr rtl="0">
              <a:spcBef>
                <a:spcPts val="930"/>
              </a:spcBef>
              <a:spcAft>
                <a:spcPts val="0"/>
              </a:spcAft>
            </a:pPr>
            <a:r>
              <a:rPr lang="en-US" sz="2000" b="0" i="0" u="none" strike="noStrike" dirty="0">
                <a:solidFill>
                  <a:srgbClr val="3F3F3F"/>
                </a:solidFill>
                <a:effectLst/>
                <a:latin typeface="Meiryo" panose="020B0604030504040204" pitchFamily="34" charset="-128"/>
                <a:ea typeface="Meiryo" panose="020B0604030504040204" pitchFamily="34" charset="-128"/>
              </a:rPr>
              <a:t>}</a:t>
            </a:r>
            <a:endParaRPr lang="en-US" sz="2000" b="0" dirty="0">
              <a:effectLst/>
            </a:endParaRPr>
          </a:p>
          <a:p>
            <a:br>
              <a:rPr lang="en-US" sz="2000" b="0" dirty="0">
                <a:effectLst/>
              </a:rPr>
            </a:br>
            <a:endParaRPr lang="en-US" sz="2000" b="0" dirty="0">
              <a:effectLst/>
            </a:endParaRPr>
          </a:p>
          <a:p>
            <a:endParaRPr lang="en-US" sz="2000" dirty="0"/>
          </a:p>
        </p:txBody>
      </p:sp>
    </p:spTree>
    <p:extLst>
      <p:ext uri="{BB962C8B-B14F-4D97-AF65-F5344CB8AC3E}">
        <p14:creationId xmlns:p14="http://schemas.microsoft.com/office/powerpoint/2010/main" val="1548335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364F-2069-48ED-B22C-2B047155CF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3665C9-92A3-4239-815E-CACD0CC55974}"/>
              </a:ext>
            </a:extLst>
          </p:cNvPr>
          <p:cNvSpPr>
            <a:spLocks noGrp="1"/>
          </p:cNvSpPr>
          <p:nvPr>
            <p:ph idx="1"/>
          </p:nvPr>
        </p:nvSpPr>
        <p:spPr/>
        <p:txBody>
          <a:bodyPr>
            <a:normAutofit lnSpcReduction="10000"/>
          </a:bodyPr>
          <a:lstStyle/>
          <a:p>
            <a:pPr rtl="0">
              <a:spcBef>
                <a:spcPts val="930"/>
              </a:spcBef>
              <a:spcAft>
                <a:spcPts val="0"/>
              </a:spcAft>
            </a:pPr>
            <a:r>
              <a:rPr lang="en-US" sz="1200" b="0" i="0" u="none" strike="noStrike" dirty="0">
                <a:solidFill>
                  <a:srgbClr val="3F3F3F"/>
                </a:solidFill>
                <a:effectLst/>
                <a:latin typeface="Meiryo" panose="020B0604030504040204" pitchFamily="34" charset="-128"/>
                <a:ea typeface="Meiryo" panose="020B0604030504040204" pitchFamily="34" charset="-128"/>
              </a:rPr>
              <a:t>void </a:t>
            </a:r>
            <a:r>
              <a:rPr lang="en-US" sz="1200" b="0" i="0" u="none" strike="noStrike" dirty="0" err="1">
                <a:solidFill>
                  <a:srgbClr val="3F3F3F"/>
                </a:solidFill>
                <a:effectLst/>
                <a:latin typeface="Meiryo" panose="020B0604030504040204" pitchFamily="34" charset="-128"/>
                <a:ea typeface="Meiryo" panose="020B0604030504040204" pitchFamily="34" charset="-128"/>
              </a:rPr>
              <a:t>printDebt</a:t>
            </a:r>
            <a:r>
              <a:rPr lang="en-US" sz="1200" b="0" i="0" u="none" strike="noStrike" dirty="0">
                <a:solidFill>
                  <a:srgbClr val="3F3F3F"/>
                </a:solidFill>
                <a:effectLst/>
                <a:latin typeface="Meiryo" panose="020B0604030504040204" pitchFamily="34" charset="-128"/>
                <a:ea typeface="Meiryo" panose="020B0604030504040204" pitchFamily="34" charset="-128"/>
              </a:rPr>
              <a:t>(double amount) {</a:t>
            </a:r>
            <a:endParaRPr lang="en-US" sz="1200" b="0" dirty="0">
              <a:effectLst/>
            </a:endParaRPr>
          </a:p>
          <a:p>
            <a:pPr rtl="0">
              <a:spcBef>
                <a:spcPts val="930"/>
              </a:spcBef>
              <a:spcAft>
                <a:spcPts val="0"/>
              </a:spcAft>
            </a:pPr>
            <a:r>
              <a:rPr lang="en-US" sz="1200" b="0" i="0" u="none" strike="noStrike" dirty="0">
                <a:solidFill>
                  <a:srgbClr val="3F3F3F"/>
                </a:solidFill>
                <a:effectLst/>
                <a:latin typeface="Meiryo" panose="020B0604030504040204" pitchFamily="34" charset="-128"/>
                <a:ea typeface="Meiryo" panose="020B0604030504040204" pitchFamily="34" charset="-128"/>
              </a:rPr>
              <a:t>    </a:t>
            </a:r>
            <a:r>
              <a:rPr lang="en-US" sz="1200" b="0" i="0" u="none" strike="noStrike" dirty="0" err="1">
                <a:solidFill>
                  <a:srgbClr val="3F3F3F"/>
                </a:solidFill>
                <a:effectLst/>
                <a:latin typeface="Meiryo" panose="020B0604030504040204" pitchFamily="34" charset="-128"/>
                <a:ea typeface="Meiryo" panose="020B0604030504040204" pitchFamily="34" charset="-128"/>
              </a:rPr>
              <a:t>printBanner</a:t>
            </a:r>
            <a:r>
              <a:rPr lang="en-US" sz="1200" b="0" i="0" u="none" strike="noStrike" dirty="0">
                <a:solidFill>
                  <a:srgbClr val="3F3F3F"/>
                </a:solidFill>
                <a:effectLst/>
                <a:latin typeface="Meiryo" panose="020B0604030504040204" pitchFamily="34" charset="-128"/>
                <a:ea typeface="Meiryo" panose="020B0604030504040204" pitchFamily="34" charset="-128"/>
              </a:rPr>
              <a:t>();</a:t>
            </a:r>
            <a:endParaRPr lang="en-US" sz="1200" b="0" dirty="0">
              <a:effectLst/>
            </a:endParaRPr>
          </a:p>
          <a:p>
            <a:pPr rtl="0">
              <a:spcBef>
                <a:spcPts val="930"/>
              </a:spcBef>
              <a:spcAft>
                <a:spcPts val="0"/>
              </a:spcAft>
            </a:pPr>
            <a:r>
              <a:rPr lang="en-US" sz="1200" b="0" i="0" u="none" strike="noStrike" dirty="0">
                <a:solidFill>
                  <a:srgbClr val="3F3F3F"/>
                </a:solidFill>
                <a:effectLst/>
                <a:latin typeface="Meiryo" panose="020B0604030504040204" pitchFamily="34" charset="-128"/>
                <a:ea typeface="Meiryo" panose="020B0604030504040204" pitchFamily="34" charset="-128"/>
              </a:rPr>
              <a:t>    </a:t>
            </a:r>
            <a:r>
              <a:rPr lang="en-US" sz="1200" b="0" i="0" u="none" strike="noStrike" dirty="0" err="1">
                <a:solidFill>
                  <a:srgbClr val="3F3F3F"/>
                </a:solidFill>
                <a:effectLst/>
                <a:latin typeface="Meiryo" panose="020B0604030504040204" pitchFamily="34" charset="-128"/>
                <a:ea typeface="Meiryo" panose="020B0604030504040204" pitchFamily="34" charset="-128"/>
              </a:rPr>
              <a:t>printDetails</a:t>
            </a:r>
            <a:r>
              <a:rPr lang="en-US" sz="1200" b="0" i="0" u="none" strike="noStrike" dirty="0">
                <a:solidFill>
                  <a:srgbClr val="3F3F3F"/>
                </a:solidFill>
                <a:effectLst/>
                <a:latin typeface="Meiryo" panose="020B0604030504040204" pitchFamily="34" charset="-128"/>
                <a:ea typeface="Meiryo" panose="020B0604030504040204" pitchFamily="34" charset="-128"/>
              </a:rPr>
              <a:t>(amount);</a:t>
            </a:r>
            <a:endParaRPr lang="en-US" sz="1200" b="0" dirty="0">
              <a:effectLst/>
            </a:endParaRPr>
          </a:p>
          <a:p>
            <a:pPr rtl="0">
              <a:spcBef>
                <a:spcPts val="930"/>
              </a:spcBef>
              <a:spcAft>
                <a:spcPts val="0"/>
              </a:spcAft>
            </a:pPr>
            <a:r>
              <a:rPr lang="en-US" sz="1200" b="0" i="0" u="none" strike="noStrike" dirty="0">
                <a:solidFill>
                  <a:srgbClr val="3F3F3F"/>
                </a:solidFill>
                <a:effectLst/>
                <a:latin typeface="Meiryo" panose="020B0604030504040204" pitchFamily="34" charset="-128"/>
                <a:ea typeface="Meiryo" panose="020B0604030504040204" pitchFamily="34" charset="-128"/>
              </a:rPr>
              <a:t>}</a:t>
            </a:r>
            <a:endParaRPr lang="en-US" sz="1200" b="0" dirty="0">
              <a:effectLst/>
            </a:endParaRPr>
          </a:p>
          <a:p>
            <a:pPr rtl="0">
              <a:spcBef>
                <a:spcPts val="930"/>
              </a:spcBef>
              <a:spcAft>
                <a:spcPts val="0"/>
              </a:spcAft>
            </a:pPr>
            <a:br>
              <a:rPr lang="en-US" sz="1200" b="0" dirty="0">
                <a:effectLst/>
              </a:rPr>
            </a:br>
            <a:r>
              <a:rPr lang="en-US" sz="1200" b="0" i="0" u="none" strike="noStrike" dirty="0">
                <a:solidFill>
                  <a:srgbClr val="3F3F3F"/>
                </a:solidFill>
                <a:effectLst/>
                <a:latin typeface="Meiryo" panose="020B0604030504040204" pitchFamily="34" charset="-128"/>
                <a:ea typeface="Meiryo" panose="020B0604030504040204" pitchFamily="34" charset="-128"/>
              </a:rPr>
              <a:t>void </a:t>
            </a:r>
            <a:r>
              <a:rPr lang="en-US" sz="1200" b="0" i="0" u="none" strike="noStrike" dirty="0" err="1">
                <a:solidFill>
                  <a:srgbClr val="3F3F3F"/>
                </a:solidFill>
                <a:effectLst/>
                <a:latin typeface="Meiryo" panose="020B0604030504040204" pitchFamily="34" charset="-128"/>
                <a:ea typeface="Meiryo" panose="020B0604030504040204" pitchFamily="34" charset="-128"/>
              </a:rPr>
              <a:t>printBanner</a:t>
            </a:r>
            <a:r>
              <a:rPr lang="en-US" sz="1200" b="0" i="0" u="none" strike="noStrike" dirty="0">
                <a:solidFill>
                  <a:srgbClr val="3F3F3F"/>
                </a:solidFill>
                <a:effectLst/>
                <a:latin typeface="Meiryo" panose="020B0604030504040204" pitchFamily="34" charset="-128"/>
                <a:ea typeface="Meiryo" panose="020B0604030504040204" pitchFamily="34" charset="-128"/>
              </a:rPr>
              <a:t>() {</a:t>
            </a:r>
            <a:endParaRPr lang="en-US" sz="1200" b="0" dirty="0">
              <a:effectLst/>
            </a:endParaRPr>
          </a:p>
          <a:p>
            <a:pPr rtl="0">
              <a:spcBef>
                <a:spcPts val="930"/>
              </a:spcBef>
              <a:spcAft>
                <a:spcPts val="0"/>
              </a:spcAft>
            </a:pPr>
            <a:r>
              <a:rPr lang="en-US" sz="1200" b="0" i="0" u="none" strike="noStrike" dirty="0">
                <a:solidFill>
                  <a:srgbClr val="3F3F3F"/>
                </a:solidFill>
                <a:effectLst/>
                <a:latin typeface="Meiryo" panose="020B0604030504040204" pitchFamily="34" charset="-128"/>
                <a:ea typeface="Meiryo" panose="020B0604030504040204" pitchFamily="34" charset="-128"/>
              </a:rPr>
              <a:t>    </a:t>
            </a:r>
            <a:r>
              <a:rPr lang="en-US" sz="1200" b="0" i="0" u="none" strike="noStrike" dirty="0" err="1">
                <a:solidFill>
                  <a:srgbClr val="3F3F3F"/>
                </a:solidFill>
                <a:effectLst/>
                <a:latin typeface="Meiryo" panose="020B0604030504040204" pitchFamily="34" charset="-128"/>
                <a:ea typeface="Meiryo" panose="020B0604030504040204" pitchFamily="34" charset="-128"/>
              </a:rPr>
              <a:t>System.out.println</a:t>
            </a:r>
            <a:r>
              <a:rPr lang="en-US" sz="1200" b="0" i="0" u="none" strike="noStrike" dirty="0">
                <a:solidFill>
                  <a:srgbClr val="3F3F3F"/>
                </a:solidFill>
                <a:effectLst/>
                <a:latin typeface="Meiryo" panose="020B0604030504040204" pitchFamily="34" charset="-128"/>
                <a:ea typeface="Meiryo" panose="020B0604030504040204" pitchFamily="34" charset="-128"/>
              </a:rPr>
              <a:t>("*****************");</a:t>
            </a:r>
            <a:endParaRPr lang="en-US" sz="1200" b="0" dirty="0">
              <a:effectLst/>
            </a:endParaRPr>
          </a:p>
          <a:p>
            <a:pPr rtl="0">
              <a:spcBef>
                <a:spcPts val="930"/>
              </a:spcBef>
              <a:spcAft>
                <a:spcPts val="0"/>
              </a:spcAft>
            </a:pPr>
            <a:r>
              <a:rPr lang="en-US" sz="1200" b="0" i="0" u="none" strike="noStrike" dirty="0">
                <a:solidFill>
                  <a:srgbClr val="3F3F3F"/>
                </a:solidFill>
                <a:effectLst/>
                <a:latin typeface="Meiryo" panose="020B0604030504040204" pitchFamily="34" charset="-128"/>
                <a:ea typeface="Meiryo" panose="020B0604030504040204" pitchFamily="34" charset="-128"/>
              </a:rPr>
              <a:t>    </a:t>
            </a:r>
            <a:r>
              <a:rPr lang="en-US" sz="1200" b="0" i="0" u="none" strike="noStrike" dirty="0" err="1">
                <a:solidFill>
                  <a:srgbClr val="3F3F3F"/>
                </a:solidFill>
                <a:effectLst/>
                <a:latin typeface="Meiryo" panose="020B0604030504040204" pitchFamily="34" charset="-128"/>
                <a:ea typeface="Meiryo" panose="020B0604030504040204" pitchFamily="34" charset="-128"/>
              </a:rPr>
              <a:t>System.out.println</a:t>
            </a:r>
            <a:r>
              <a:rPr lang="en-US" sz="1200" b="0" i="0" u="none" strike="noStrike" dirty="0">
                <a:solidFill>
                  <a:srgbClr val="3F3F3F"/>
                </a:solidFill>
                <a:effectLst/>
                <a:latin typeface="Meiryo" panose="020B0604030504040204" pitchFamily="34" charset="-128"/>
                <a:ea typeface="Meiryo" panose="020B0604030504040204" pitchFamily="34" charset="-128"/>
              </a:rPr>
              <a:t>("** Customer Debt **");</a:t>
            </a:r>
            <a:endParaRPr lang="en-US" sz="1200" b="0" dirty="0">
              <a:effectLst/>
            </a:endParaRPr>
          </a:p>
          <a:p>
            <a:pPr rtl="0">
              <a:spcBef>
                <a:spcPts val="930"/>
              </a:spcBef>
              <a:spcAft>
                <a:spcPts val="0"/>
              </a:spcAft>
            </a:pPr>
            <a:r>
              <a:rPr lang="en-US" sz="1200" b="0" i="0" u="none" strike="noStrike" dirty="0">
                <a:solidFill>
                  <a:srgbClr val="3F3F3F"/>
                </a:solidFill>
                <a:effectLst/>
                <a:latin typeface="Meiryo" panose="020B0604030504040204" pitchFamily="34" charset="-128"/>
                <a:ea typeface="Meiryo" panose="020B0604030504040204" pitchFamily="34" charset="-128"/>
              </a:rPr>
              <a:t>    </a:t>
            </a:r>
            <a:r>
              <a:rPr lang="en-US" sz="1200" b="0" i="0" u="none" strike="noStrike" dirty="0" err="1">
                <a:solidFill>
                  <a:srgbClr val="3F3F3F"/>
                </a:solidFill>
                <a:effectLst/>
                <a:latin typeface="Meiryo" panose="020B0604030504040204" pitchFamily="34" charset="-128"/>
                <a:ea typeface="Meiryo" panose="020B0604030504040204" pitchFamily="34" charset="-128"/>
              </a:rPr>
              <a:t>System.out.println</a:t>
            </a:r>
            <a:r>
              <a:rPr lang="en-US" sz="1200" b="0" i="0" u="none" strike="noStrike" dirty="0">
                <a:solidFill>
                  <a:srgbClr val="3F3F3F"/>
                </a:solidFill>
                <a:effectLst/>
                <a:latin typeface="Meiryo" panose="020B0604030504040204" pitchFamily="34" charset="-128"/>
                <a:ea typeface="Meiryo" panose="020B0604030504040204" pitchFamily="34" charset="-128"/>
              </a:rPr>
              <a:t>("*****************");</a:t>
            </a:r>
            <a:endParaRPr lang="en-US" sz="1200" b="0" dirty="0">
              <a:effectLst/>
            </a:endParaRPr>
          </a:p>
          <a:p>
            <a:pPr rtl="0">
              <a:spcBef>
                <a:spcPts val="930"/>
              </a:spcBef>
              <a:spcAft>
                <a:spcPts val="0"/>
              </a:spcAft>
            </a:pPr>
            <a:r>
              <a:rPr lang="en-US" sz="1200" b="0" i="0" u="none" strike="noStrike" dirty="0">
                <a:solidFill>
                  <a:srgbClr val="3F3F3F"/>
                </a:solidFill>
                <a:effectLst/>
                <a:latin typeface="Meiryo" panose="020B0604030504040204" pitchFamily="34" charset="-128"/>
                <a:ea typeface="Meiryo" panose="020B0604030504040204" pitchFamily="34" charset="-128"/>
              </a:rPr>
              <a:t>}</a:t>
            </a:r>
            <a:endParaRPr lang="en-US" sz="1200" b="0" dirty="0">
              <a:effectLst/>
            </a:endParaRPr>
          </a:p>
        </p:txBody>
      </p:sp>
    </p:spTree>
    <p:extLst>
      <p:ext uri="{BB962C8B-B14F-4D97-AF65-F5344CB8AC3E}">
        <p14:creationId xmlns:p14="http://schemas.microsoft.com/office/powerpoint/2010/main" val="198066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7" name="Freeform: Shape 26">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508CE59B-26C1-4BAE-D7D3-8E3BBA704F42}"/>
              </a:ext>
            </a:extLst>
          </p:cNvPr>
          <p:cNvSpPr>
            <a:spLocks noGrp="1"/>
          </p:cNvSpPr>
          <p:nvPr>
            <p:ph type="title"/>
          </p:nvPr>
        </p:nvSpPr>
        <p:spPr>
          <a:xfrm>
            <a:off x="992518" y="442913"/>
            <a:ext cx="5185645" cy="1639888"/>
          </a:xfrm>
        </p:spPr>
        <p:txBody>
          <a:bodyPr anchor="b">
            <a:normAutofit/>
          </a:bodyPr>
          <a:lstStyle/>
          <a:p>
            <a:pPr>
              <a:lnSpc>
                <a:spcPct val="120000"/>
              </a:lnSpc>
            </a:pPr>
            <a:br>
              <a:rPr lang="en-US" sz="2500"/>
            </a:br>
            <a:r>
              <a:rPr lang="en-US" sz="2500">
                <a:ea typeface="Meiryo"/>
              </a:rPr>
              <a:t>2. Moving Features between Objects</a:t>
            </a:r>
            <a:endParaRPr lang="en-US" sz="2500"/>
          </a:p>
        </p:txBody>
      </p:sp>
      <p:sp>
        <p:nvSpPr>
          <p:cNvPr id="3" name="Content Placeholder 2">
            <a:extLst>
              <a:ext uri="{FF2B5EF4-FFF2-40B4-BE49-F238E27FC236}">
                <a16:creationId xmlns:a16="http://schemas.microsoft.com/office/drawing/2014/main" id="{6D6218A2-CDC8-6389-DEAE-10A78A1628DF}"/>
              </a:ext>
            </a:extLst>
          </p:cNvPr>
          <p:cNvSpPr>
            <a:spLocks noGrp="1"/>
          </p:cNvSpPr>
          <p:nvPr>
            <p:ph idx="1"/>
          </p:nvPr>
        </p:nvSpPr>
        <p:spPr>
          <a:xfrm>
            <a:off x="992519" y="2312988"/>
            <a:ext cx="5296964" cy="3651250"/>
          </a:xfrm>
        </p:spPr>
        <p:txBody>
          <a:bodyPr vert="horz" lIns="109728" tIns="109728" rIns="109728" bIns="91440" rtlCol="0">
            <a:normAutofit/>
          </a:bodyPr>
          <a:lstStyle/>
          <a:p>
            <a:r>
              <a:rPr lang="en-US">
                <a:latin typeface="PT Sans"/>
                <a:ea typeface="Meiryo"/>
              </a:rPr>
              <a:t>Even if you have distributed functionality among different classes in a less-than-perfect way, there is still hope.</a:t>
            </a:r>
            <a:endParaRPr lang="en-US">
              <a:ea typeface="Meiryo"/>
            </a:endParaRPr>
          </a:p>
          <a:p>
            <a:r>
              <a:rPr lang="en-US">
                <a:latin typeface="PT Sans"/>
                <a:ea typeface="Meiryo"/>
              </a:rPr>
              <a:t>These refactoring techniques show how to safely move functionality between classes, create new classes, and hide implementation details from public access.</a:t>
            </a:r>
            <a:endParaRPr lang="en-US">
              <a:ea typeface="Meiryo"/>
            </a:endParaRPr>
          </a:p>
          <a:p>
            <a:endParaRPr lang="en-US">
              <a:ea typeface="Meiryo"/>
            </a:endParaRPr>
          </a:p>
        </p:txBody>
      </p:sp>
      <p:pic>
        <p:nvPicPr>
          <p:cNvPr id="4" name="Picture 3" descr="A cartoon of a road with trees and a car&#10;&#10;AI-generated content may be incorrect.">
            <a:extLst>
              <a:ext uri="{FF2B5EF4-FFF2-40B4-BE49-F238E27FC236}">
                <a16:creationId xmlns:a16="http://schemas.microsoft.com/office/drawing/2014/main" id="{35EC2124-6787-BE40-08AD-0A737A3D31BB}"/>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3101519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132158-B2AD-4020-9A80-4D459D8E267B}"/>
              </a:ext>
            </a:extLst>
          </p:cNvPr>
          <p:cNvSpPr>
            <a:spLocks noGrp="1"/>
          </p:cNvSpPr>
          <p:nvPr>
            <p:ph idx="1"/>
          </p:nvPr>
        </p:nvSpPr>
        <p:spPr/>
        <p:txBody>
          <a:bodyPr>
            <a:normAutofit fontScale="55000" lnSpcReduction="20000"/>
          </a:bodyPr>
          <a:lstStyle/>
          <a:p>
            <a:r>
              <a:rPr lang="en-US" dirty="0"/>
              <a:t>class Account {</a:t>
            </a:r>
          </a:p>
          <a:p>
            <a:r>
              <a:rPr lang="en-US" dirty="0"/>
              <a:t>    private </a:t>
            </a:r>
            <a:r>
              <a:rPr lang="en-US" dirty="0" err="1"/>
              <a:t>AccountType</a:t>
            </a:r>
            <a:r>
              <a:rPr lang="en-US" dirty="0"/>
              <a:t> type;</a:t>
            </a:r>
          </a:p>
          <a:p>
            <a:r>
              <a:rPr lang="en-US" dirty="0"/>
              <a:t>    private int </a:t>
            </a:r>
            <a:r>
              <a:rPr lang="en-US" dirty="0" err="1"/>
              <a:t>daysOverdrawn</a:t>
            </a:r>
            <a:r>
              <a:rPr lang="en-US" dirty="0"/>
              <a:t>;</a:t>
            </a:r>
          </a:p>
          <a:p>
            <a:endParaRPr lang="en-US" dirty="0"/>
          </a:p>
          <a:p>
            <a:r>
              <a:rPr lang="en-US" dirty="0"/>
              <a:t>    // This method belongs more to </a:t>
            </a:r>
            <a:r>
              <a:rPr lang="en-US" dirty="0" err="1"/>
              <a:t>AccountType</a:t>
            </a:r>
            <a:endParaRPr lang="en-US" dirty="0"/>
          </a:p>
          <a:p>
            <a:r>
              <a:rPr lang="en-US" dirty="0"/>
              <a:t>    double </a:t>
            </a:r>
            <a:r>
              <a:rPr lang="en-US" dirty="0" err="1"/>
              <a:t>overdraftCharge</a:t>
            </a:r>
            <a:r>
              <a:rPr lang="en-US" dirty="0"/>
              <a:t>() {</a:t>
            </a:r>
          </a:p>
          <a:p>
            <a:r>
              <a:rPr lang="en-US" dirty="0"/>
              <a:t>        if (</a:t>
            </a:r>
            <a:r>
              <a:rPr lang="en-US" dirty="0" err="1"/>
              <a:t>type.isPremium</a:t>
            </a:r>
            <a:r>
              <a:rPr lang="en-US" dirty="0"/>
              <a:t>()) {</a:t>
            </a:r>
          </a:p>
          <a:p>
            <a:r>
              <a:rPr lang="en-US" dirty="0"/>
              <a:t>            return </a:t>
            </a:r>
            <a:r>
              <a:rPr lang="en-US" dirty="0" err="1"/>
              <a:t>daysOverdrawn</a:t>
            </a:r>
            <a:r>
              <a:rPr lang="en-US" dirty="0"/>
              <a:t> * 1.75;</a:t>
            </a:r>
          </a:p>
          <a:p>
            <a:r>
              <a:rPr lang="en-US" dirty="0"/>
              <a:t>        }</a:t>
            </a:r>
          </a:p>
          <a:p>
            <a:r>
              <a:rPr lang="en-US" dirty="0"/>
              <a:t>        return </a:t>
            </a:r>
            <a:r>
              <a:rPr lang="en-US" dirty="0" err="1"/>
              <a:t>daysOverdrawn</a:t>
            </a:r>
            <a:r>
              <a:rPr lang="en-US" dirty="0"/>
              <a:t> * 0.5;</a:t>
            </a:r>
          </a:p>
          <a:p>
            <a:r>
              <a:rPr lang="en-US" dirty="0"/>
              <a:t>    }</a:t>
            </a:r>
          </a:p>
          <a:p>
            <a:r>
              <a:rPr lang="en-US" dirty="0"/>
              <a:t>}</a:t>
            </a:r>
          </a:p>
        </p:txBody>
      </p:sp>
      <p:sp>
        <p:nvSpPr>
          <p:cNvPr id="4" name="Rectangle 1">
            <a:extLst>
              <a:ext uri="{FF2B5EF4-FFF2-40B4-BE49-F238E27FC236}">
                <a16:creationId xmlns:a16="http://schemas.microsoft.com/office/drawing/2014/main" id="{D0DF612F-7A61-4323-B92E-467FF303D00D}"/>
              </a:ext>
            </a:extLst>
          </p:cNvPr>
          <p:cNvSpPr>
            <a:spLocks noGrp="1" noChangeArrowheads="1"/>
          </p:cNvSpPr>
          <p:nvPr>
            <p:ph type="title"/>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Technique:</a:t>
            </a:r>
            <a:r>
              <a:rPr kumimoji="0" lang="en-US" altLang="en-US" sz="1800" b="0" i="0" u="none" strike="noStrike" cap="none" normalizeH="0" baseline="0" dirty="0">
                <a:ln>
                  <a:noFill/>
                </a:ln>
                <a:solidFill>
                  <a:schemeClr val="tx1"/>
                </a:solidFill>
                <a:effectLst/>
                <a:latin typeface="Google Sans Text"/>
              </a:rPr>
              <a:t> Move Method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Dirty Code (Feature Envy):</a:t>
            </a:r>
            <a:r>
              <a:rPr kumimoji="0" lang="en-US" altLang="en-US" sz="1800" b="0" i="0" u="none" strike="noStrike" cap="none" normalizeH="0" baseline="0" dirty="0">
                <a:ln>
                  <a:noFill/>
                </a:ln>
                <a:solidFill>
                  <a:schemeClr val="tx1"/>
                </a:solidFill>
                <a:effectLst/>
                <a:latin typeface="Google Sans Text"/>
              </a:rPr>
              <a:t> A method uses the data of another class more than its own.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6077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E1095-F64E-47FC-AEDD-5F158FD69DC1}"/>
              </a:ext>
            </a:extLst>
          </p:cNvPr>
          <p:cNvSpPr>
            <a:spLocks noGrp="1"/>
          </p:cNvSpPr>
          <p:nvPr>
            <p:ph type="title"/>
          </p:nvPr>
        </p:nvSpPr>
        <p:spPr/>
        <p:txBody>
          <a:bodyPr>
            <a:normAutofit fontScale="90000"/>
          </a:bodyPr>
          <a:lstStyle/>
          <a:p>
            <a:r>
              <a:rPr lang="en-US" b="1" dirty="0"/>
              <a:t>Refactored:</a:t>
            </a:r>
            <a:r>
              <a:rPr lang="en-US" dirty="0"/>
              <a:t> Moves the logic to the class that actually owns the data.</a:t>
            </a:r>
          </a:p>
        </p:txBody>
      </p:sp>
      <p:sp>
        <p:nvSpPr>
          <p:cNvPr id="3" name="Content Placeholder 2">
            <a:extLst>
              <a:ext uri="{FF2B5EF4-FFF2-40B4-BE49-F238E27FC236}">
                <a16:creationId xmlns:a16="http://schemas.microsoft.com/office/drawing/2014/main" id="{6D464AAC-B9E5-4504-BE2A-95B6217BB5D1}"/>
              </a:ext>
            </a:extLst>
          </p:cNvPr>
          <p:cNvSpPr>
            <a:spLocks noGrp="1"/>
          </p:cNvSpPr>
          <p:nvPr>
            <p:ph idx="1"/>
          </p:nvPr>
        </p:nvSpPr>
        <p:spPr/>
        <p:txBody>
          <a:bodyPr/>
          <a:lstStyle/>
          <a:p>
            <a:r>
              <a:rPr lang="en-US" dirty="0"/>
              <a:t>class </a:t>
            </a:r>
            <a:r>
              <a:rPr lang="en-US" dirty="0" err="1"/>
              <a:t>AccountType</a:t>
            </a:r>
            <a:r>
              <a:rPr lang="en-US" dirty="0"/>
              <a:t> {</a:t>
            </a:r>
          </a:p>
          <a:p>
            <a:r>
              <a:rPr lang="en-US" dirty="0"/>
              <a:t>    double </a:t>
            </a:r>
            <a:r>
              <a:rPr lang="en-US" dirty="0" err="1"/>
              <a:t>overdraftCharge</a:t>
            </a:r>
            <a:r>
              <a:rPr lang="en-US" dirty="0"/>
              <a:t>(int </a:t>
            </a:r>
            <a:r>
              <a:rPr lang="en-US" dirty="0" err="1"/>
              <a:t>daysOverdrawn</a:t>
            </a:r>
            <a:r>
              <a:rPr lang="en-US" dirty="0"/>
              <a:t>) {</a:t>
            </a:r>
          </a:p>
          <a:p>
            <a:r>
              <a:rPr lang="en-US" dirty="0"/>
              <a:t>        if (</a:t>
            </a:r>
            <a:r>
              <a:rPr lang="en-US" dirty="0" err="1"/>
              <a:t>isPremium</a:t>
            </a:r>
            <a:r>
              <a:rPr lang="en-US" dirty="0"/>
              <a:t>()) return </a:t>
            </a:r>
            <a:r>
              <a:rPr lang="en-US" dirty="0" err="1"/>
              <a:t>daysOverdrawn</a:t>
            </a:r>
            <a:r>
              <a:rPr lang="en-US" dirty="0"/>
              <a:t> * 1.75;</a:t>
            </a:r>
          </a:p>
          <a:p>
            <a:r>
              <a:rPr lang="en-US" dirty="0"/>
              <a:t>        return </a:t>
            </a:r>
            <a:r>
              <a:rPr lang="en-US" dirty="0" err="1"/>
              <a:t>daysOverdrawn</a:t>
            </a:r>
            <a:r>
              <a:rPr lang="en-US" dirty="0"/>
              <a:t> * 0.5;</a:t>
            </a:r>
          </a:p>
          <a:p>
            <a:r>
              <a:rPr lang="en-US" dirty="0"/>
              <a:t>    }</a:t>
            </a:r>
          </a:p>
          <a:p>
            <a:r>
              <a:rPr lang="en-US" dirty="0"/>
              <a:t>}</a:t>
            </a:r>
          </a:p>
        </p:txBody>
      </p:sp>
    </p:spTree>
    <p:extLst>
      <p:ext uri="{BB962C8B-B14F-4D97-AF65-F5344CB8AC3E}">
        <p14:creationId xmlns:p14="http://schemas.microsoft.com/office/powerpoint/2010/main" val="2445268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9C919B91-DD54-AC94-582C-B498451A76FD}"/>
              </a:ext>
            </a:extLst>
          </p:cNvPr>
          <p:cNvSpPr>
            <a:spLocks noGrp="1"/>
          </p:cNvSpPr>
          <p:nvPr>
            <p:ph type="title"/>
          </p:nvPr>
        </p:nvSpPr>
        <p:spPr>
          <a:xfrm>
            <a:off x="992518" y="442913"/>
            <a:ext cx="5271804" cy="1639888"/>
          </a:xfrm>
        </p:spPr>
        <p:txBody>
          <a:bodyPr anchor="b">
            <a:normAutofit/>
          </a:bodyPr>
          <a:lstStyle/>
          <a:p>
            <a:br>
              <a:rPr lang="en-US" dirty="0"/>
            </a:br>
            <a:r>
              <a:rPr lang="en-US" dirty="0">
                <a:ea typeface="Meiryo"/>
              </a:rPr>
              <a:t>3.Organizing Data</a:t>
            </a:r>
            <a:endParaRPr lang="en-US" dirty="0"/>
          </a:p>
        </p:txBody>
      </p:sp>
      <p:sp>
        <p:nvSpPr>
          <p:cNvPr id="3" name="Content Placeholder 2">
            <a:extLst>
              <a:ext uri="{FF2B5EF4-FFF2-40B4-BE49-F238E27FC236}">
                <a16:creationId xmlns:a16="http://schemas.microsoft.com/office/drawing/2014/main" id="{928492BC-9009-B3BE-DDDA-BFC1214D5947}"/>
              </a:ext>
            </a:extLst>
          </p:cNvPr>
          <p:cNvSpPr>
            <a:spLocks noGrp="1"/>
          </p:cNvSpPr>
          <p:nvPr>
            <p:ph idx="1"/>
          </p:nvPr>
        </p:nvSpPr>
        <p:spPr>
          <a:xfrm>
            <a:off x="992519" y="2312988"/>
            <a:ext cx="5271804" cy="3651250"/>
          </a:xfrm>
        </p:spPr>
        <p:txBody>
          <a:bodyPr vert="horz" lIns="109728" tIns="109728" rIns="109728" bIns="91440" rtlCol="0">
            <a:normAutofit/>
          </a:bodyPr>
          <a:lstStyle/>
          <a:p>
            <a:r>
              <a:rPr lang="en-US" dirty="0">
                <a:ea typeface="Meiryo"/>
              </a:rPr>
              <a:t>These refactoring techniques help with data handling, replacing primitives with rich class functionality. Another important result is the untangling of class associations, which makes classes more portable and reusable.</a:t>
            </a:r>
          </a:p>
        </p:txBody>
      </p:sp>
      <p:sp>
        <p:nvSpPr>
          <p:cNvPr id="20" name="Freeform: Shape 19">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F87640F2-5290-D9A1-97AB-6CB199C7DDBC}"/>
              </a:ext>
            </a:extLst>
          </p:cNvPr>
          <p:cNvPicPr>
            <a:picLocks noChangeAspect="1"/>
          </p:cNvPicPr>
          <p:nvPr/>
        </p:nvPicPr>
        <p:blipFill>
          <a:blip r:embed="rId2"/>
          <a:srcRect t="6122" r="1" b="15315"/>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3643981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CDE9AA-1407-4A39-BB8B-C5A4D4AB0524}"/>
              </a:ext>
            </a:extLst>
          </p:cNvPr>
          <p:cNvSpPr>
            <a:spLocks noGrp="1"/>
          </p:cNvSpPr>
          <p:nvPr>
            <p:ph idx="1"/>
          </p:nvPr>
        </p:nvSpPr>
        <p:spPr/>
        <p:txBody>
          <a:bodyPr/>
          <a:lstStyle/>
          <a:p>
            <a:r>
              <a:rPr lang="en-US" dirty="0"/>
              <a:t>// Students often use simple Strings for complex things</a:t>
            </a:r>
          </a:p>
          <a:p>
            <a:r>
              <a:rPr lang="en-US" dirty="0"/>
              <a:t>String phone = "5550199";</a:t>
            </a:r>
          </a:p>
        </p:txBody>
      </p:sp>
      <p:sp>
        <p:nvSpPr>
          <p:cNvPr id="4" name="Rectangle 1">
            <a:extLst>
              <a:ext uri="{FF2B5EF4-FFF2-40B4-BE49-F238E27FC236}">
                <a16:creationId xmlns:a16="http://schemas.microsoft.com/office/drawing/2014/main" id="{C8C10B01-4644-4800-A354-29712393830A}"/>
              </a:ext>
            </a:extLst>
          </p:cNvPr>
          <p:cNvSpPr>
            <a:spLocks noGrp="1" noChangeArrowheads="1"/>
          </p:cNvSpPr>
          <p:nvPr>
            <p:ph type="title"/>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Replace Primitive with Object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Dirty Code (Primitive Obsession):</a:t>
            </a:r>
            <a:r>
              <a:rPr kumimoji="0" lang="en-US" altLang="en-US" sz="1800" b="0" i="0" u="none" strike="noStrike" cap="none" normalizeH="0" baseline="0" dirty="0">
                <a:ln>
                  <a:noFill/>
                </a:ln>
                <a:solidFill>
                  <a:schemeClr val="tx1"/>
                </a:solidFill>
                <a:effectLst/>
                <a:latin typeface="Arial" panose="020B0604020202020204" pitchFamily="34" charset="0"/>
              </a:rPr>
              <a:t> Using a primitive for a concept that has its own logic.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8530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A4B0-79FA-440F-8AB9-A0AEB8E36B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8EF359-7FA2-4BE8-A19D-24071DC712E9}"/>
              </a:ext>
            </a:extLst>
          </p:cNvPr>
          <p:cNvSpPr>
            <a:spLocks noGrp="1"/>
          </p:cNvSpPr>
          <p:nvPr>
            <p:ph idx="1"/>
          </p:nvPr>
        </p:nvSpPr>
        <p:spPr/>
        <p:txBody>
          <a:bodyPr>
            <a:normAutofit/>
          </a:bodyPr>
          <a:lstStyle/>
          <a:p>
            <a:r>
              <a:rPr lang="en-US" dirty="0"/>
              <a:t>class </a:t>
            </a:r>
            <a:r>
              <a:rPr lang="en-US" dirty="0" err="1"/>
              <a:t>PhoneNumber</a:t>
            </a:r>
            <a:r>
              <a:rPr lang="en-US" dirty="0"/>
              <a:t> {</a:t>
            </a:r>
          </a:p>
          <a:p>
            <a:r>
              <a:rPr lang="en-US" dirty="0"/>
              <a:t>    private String </a:t>
            </a:r>
            <a:r>
              <a:rPr lang="en-US" dirty="0" err="1"/>
              <a:t>areaCode</a:t>
            </a:r>
            <a:r>
              <a:rPr lang="en-US" dirty="0"/>
              <a:t>;</a:t>
            </a:r>
          </a:p>
          <a:p>
            <a:r>
              <a:rPr lang="en-US" dirty="0"/>
              <a:t>    private String number;</a:t>
            </a:r>
          </a:p>
          <a:p>
            <a:r>
              <a:rPr lang="en-US" dirty="0"/>
              <a:t>    // Allows for validation logic and formatting</a:t>
            </a:r>
          </a:p>
          <a:p>
            <a:r>
              <a:rPr lang="en-US" dirty="0"/>
              <a:t>    public String </a:t>
            </a:r>
            <a:r>
              <a:rPr lang="en-US" dirty="0" err="1"/>
              <a:t>getFormatted</a:t>
            </a:r>
            <a:r>
              <a:rPr lang="en-US" dirty="0"/>
              <a:t>() { return "(" + </a:t>
            </a:r>
            <a:r>
              <a:rPr lang="en-US" dirty="0" err="1"/>
              <a:t>areaCode</a:t>
            </a:r>
            <a:r>
              <a:rPr lang="en-US" dirty="0"/>
              <a:t> + ") " + number; }</a:t>
            </a:r>
          </a:p>
          <a:p>
            <a:r>
              <a:rPr lang="en-US" dirty="0"/>
              <a:t>}</a:t>
            </a:r>
          </a:p>
        </p:txBody>
      </p:sp>
    </p:spTree>
    <p:extLst>
      <p:ext uri="{BB962C8B-B14F-4D97-AF65-F5344CB8AC3E}">
        <p14:creationId xmlns:p14="http://schemas.microsoft.com/office/powerpoint/2010/main" val="2535097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79BE714-D196-C8EF-964E-AC47E19595E5}"/>
              </a:ext>
            </a:extLst>
          </p:cNvPr>
          <p:cNvSpPr>
            <a:spLocks noGrp="1"/>
          </p:cNvSpPr>
          <p:nvPr>
            <p:ph type="title"/>
          </p:nvPr>
        </p:nvSpPr>
        <p:spPr>
          <a:xfrm>
            <a:off x="992518" y="442913"/>
            <a:ext cx="5271804" cy="1639888"/>
          </a:xfrm>
        </p:spPr>
        <p:txBody>
          <a:bodyPr anchor="b">
            <a:normAutofit/>
          </a:bodyPr>
          <a:lstStyle/>
          <a:p>
            <a:pPr>
              <a:lnSpc>
                <a:spcPct val="120000"/>
              </a:lnSpc>
            </a:pPr>
            <a:br>
              <a:rPr lang="en-US" sz="2500"/>
            </a:br>
            <a:r>
              <a:rPr lang="en-US" sz="2500">
                <a:ea typeface="Meiryo"/>
              </a:rPr>
              <a:t>4.Simplifying Conditional Expressions</a:t>
            </a:r>
            <a:endParaRPr lang="en-US" sz="2500"/>
          </a:p>
        </p:txBody>
      </p:sp>
      <p:sp>
        <p:nvSpPr>
          <p:cNvPr id="3" name="Content Placeholder 2">
            <a:extLst>
              <a:ext uri="{FF2B5EF4-FFF2-40B4-BE49-F238E27FC236}">
                <a16:creationId xmlns:a16="http://schemas.microsoft.com/office/drawing/2014/main" id="{E2310D20-8532-B6B0-9566-2F261FE14F9E}"/>
              </a:ext>
            </a:extLst>
          </p:cNvPr>
          <p:cNvSpPr>
            <a:spLocks noGrp="1"/>
          </p:cNvSpPr>
          <p:nvPr>
            <p:ph idx="1"/>
          </p:nvPr>
        </p:nvSpPr>
        <p:spPr>
          <a:xfrm>
            <a:off x="992519" y="2312988"/>
            <a:ext cx="5271804" cy="3651250"/>
          </a:xfrm>
        </p:spPr>
        <p:txBody>
          <a:bodyPr vert="horz" lIns="109728" tIns="109728" rIns="109728" bIns="91440" rtlCol="0">
            <a:normAutofit/>
          </a:bodyPr>
          <a:lstStyle/>
          <a:p>
            <a:r>
              <a:rPr lang="en-US" dirty="0">
                <a:ea typeface="Meiryo"/>
              </a:rPr>
              <a:t>Conditionals tend to get more and more complicated in their logic over time, and there are yet more techniques to combat this as well.</a:t>
            </a:r>
          </a:p>
          <a:p>
            <a:endParaRPr lang="en-US" dirty="0">
              <a:ea typeface="Meiryo"/>
            </a:endParaRPr>
          </a:p>
        </p:txBody>
      </p:sp>
      <p:sp>
        <p:nvSpPr>
          <p:cNvPr id="20" name="Freeform: Shape 19">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descr="A cartoon car on a road&#10;&#10;AI-generated content may be incorrect.">
            <a:extLst>
              <a:ext uri="{FF2B5EF4-FFF2-40B4-BE49-F238E27FC236}">
                <a16:creationId xmlns:a16="http://schemas.microsoft.com/office/drawing/2014/main" id="{2025F907-191F-6E8E-F8C7-B87F14014F05}"/>
              </a:ext>
            </a:extLst>
          </p:cNvPr>
          <p:cNvPicPr>
            <a:picLocks noChangeAspect="1"/>
          </p:cNvPicPr>
          <p:nvPr/>
        </p:nvPicPr>
        <p:blipFill>
          <a:blip r:embed="rId2"/>
          <a:srcRect r="1" b="21437"/>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1470096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E4CE1-9EDF-45F2-B1C6-145D150182CC}"/>
              </a:ext>
            </a:extLst>
          </p:cNvPr>
          <p:cNvSpPr>
            <a:spLocks noGrp="1"/>
          </p:cNvSpPr>
          <p:nvPr>
            <p:ph idx="1"/>
          </p:nvPr>
        </p:nvSpPr>
        <p:spPr/>
        <p:txBody>
          <a:bodyPr/>
          <a:lstStyle/>
          <a:p>
            <a:r>
              <a:rPr lang="en-US" dirty="0"/>
              <a:t>if (</a:t>
            </a:r>
            <a:r>
              <a:rPr lang="en-US" dirty="0" err="1"/>
              <a:t>date.before</a:t>
            </a:r>
            <a:r>
              <a:rPr lang="en-US" dirty="0"/>
              <a:t>(SUMMER_START) || </a:t>
            </a:r>
            <a:r>
              <a:rPr lang="en-US" dirty="0" err="1"/>
              <a:t>date.after</a:t>
            </a:r>
            <a:r>
              <a:rPr lang="en-US" dirty="0"/>
              <a:t>(SUMMER_END)) {</a:t>
            </a:r>
          </a:p>
          <a:p>
            <a:r>
              <a:rPr lang="en-US" dirty="0"/>
              <a:t>    charge = quantity * </a:t>
            </a:r>
            <a:r>
              <a:rPr lang="en-US" dirty="0" err="1"/>
              <a:t>winterRate</a:t>
            </a:r>
            <a:r>
              <a:rPr lang="en-US" dirty="0"/>
              <a:t> + </a:t>
            </a:r>
            <a:r>
              <a:rPr lang="en-US" dirty="0" err="1"/>
              <a:t>winterServiceCharge</a:t>
            </a:r>
            <a:r>
              <a:rPr lang="en-US" dirty="0"/>
              <a:t>;</a:t>
            </a:r>
          </a:p>
          <a:p>
            <a:r>
              <a:rPr lang="en-US" dirty="0"/>
              <a:t>} else {</a:t>
            </a:r>
          </a:p>
          <a:p>
            <a:r>
              <a:rPr lang="en-US" dirty="0"/>
              <a:t>    charge = quantity * </a:t>
            </a:r>
            <a:r>
              <a:rPr lang="en-US" dirty="0" err="1"/>
              <a:t>summerRate</a:t>
            </a:r>
            <a:r>
              <a:rPr lang="en-US" dirty="0"/>
              <a:t>;</a:t>
            </a:r>
          </a:p>
          <a:p>
            <a:r>
              <a:rPr lang="en-US" dirty="0"/>
              <a:t>}</a:t>
            </a:r>
          </a:p>
        </p:txBody>
      </p:sp>
      <p:sp>
        <p:nvSpPr>
          <p:cNvPr id="4" name="Rectangle 1">
            <a:extLst>
              <a:ext uri="{FF2B5EF4-FFF2-40B4-BE49-F238E27FC236}">
                <a16:creationId xmlns:a16="http://schemas.microsoft.com/office/drawing/2014/main" id="{E175413D-EF67-4A77-9F5E-F258982D2658}"/>
              </a:ext>
            </a:extLst>
          </p:cNvPr>
          <p:cNvSpPr>
            <a:spLocks noGrp="1" noChangeArrowheads="1"/>
          </p:cNvSpPr>
          <p:nvPr>
            <p:ph type="title"/>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Decompose Conditional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Dirty Code:</a:t>
            </a:r>
            <a:r>
              <a:rPr kumimoji="0" lang="en-US" altLang="en-US" sz="1800" b="0" i="0" u="none" strike="noStrike" cap="none" normalizeH="0" baseline="0" dirty="0">
                <a:ln>
                  <a:noFill/>
                </a:ln>
                <a:solidFill>
                  <a:schemeClr val="tx1"/>
                </a:solidFill>
                <a:effectLst/>
                <a:latin typeface="Arial" panose="020B0604020202020204" pitchFamily="34" charset="0"/>
              </a:rPr>
              <a:t> Complicated "if" statements that become a "mess"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1811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CD40F-745F-4D3D-A586-4648EAAAD0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068004-74E2-40F4-9A82-919EC7D0F5E4}"/>
              </a:ext>
            </a:extLst>
          </p:cNvPr>
          <p:cNvSpPr>
            <a:spLocks noGrp="1"/>
          </p:cNvSpPr>
          <p:nvPr>
            <p:ph idx="1"/>
          </p:nvPr>
        </p:nvSpPr>
        <p:spPr/>
        <p:txBody>
          <a:bodyPr/>
          <a:lstStyle/>
          <a:p>
            <a:r>
              <a:rPr lang="en-US" dirty="0"/>
              <a:t>if (</a:t>
            </a:r>
            <a:r>
              <a:rPr lang="en-US" dirty="0" err="1"/>
              <a:t>isSummer</a:t>
            </a:r>
            <a:r>
              <a:rPr lang="en-US" dirty="0"/>
              <a:t>(date)) {</a:t>
            </a:r>
          </a:p>
          <a:p>
            <a:r>
              <a:rPr lang="en-US" dirty="0"/>
              <a:t>    charge = </a:t>
            </a:r>
            <a:r>
              <a:rPr lang="en-US" dirty="0" err="1"/>
              <a:t>summerCharge</a:t>
            </a:r>
            <a:r>
              <a:rPr lang="en-US" dirty="0"/>
              <a:t>(quantity);</a:t>
            </a:r>
          </a:p>
          <a:p>
            <a:r>
              <a:rPr lang="en-US" dirty="0"/>
              <a:t>} else {</a:t>
            </a:r>
          </a:p>
          <a:p>
            <a:r>
              <a:rPr lang="en-US" dirty="0"/>
              <a:t>    charge = </a:t>
            </a:r>
            <a:r>
              <a:rPr lang="en-US" dirty="0" err="1"/>
              <a:t>winterCharge</a:t>
            </a:r>
            <a:r>
              <a:rPr lang="en-US" dirty="0"/>
              <a:t>(quantity);</a:t>
            </a:r>
          </a:p>
          <a:p>
            <a:r>
              <a:rPr lang="en-US" dirty="0"/>
              <a:t>}</a:t>
            </a:r>
          </a:p>
        </p:txBody>
      </p:sp>
    </p:spTree>
    <p:extLst>
      <p:ext uri="{BB962C8B-B14F-4D97-AF65-F5344CB8AC3E}">
        <p14:creationId xmlns:p14="http://schemas.microsoft.com/office/powerpoint/2010/main" val="2939611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B40CA052-A654-AB1A-27C4-E50699B4B19E}"/>
              </a:ext>
            </a:extLst>
          </p:cNvPr>
          <p:cNvSpPr>
            <a:spLocks noGrp="1"/>
          </p:cNvSpPr>
          <p:nvPr>
            <p:ph type="title"/>
          </p:nvPr>
        </p:nvSpPr>
        <p:spPr>
          <a:xfrm>
            <a:off x="992518" y="442913"/>
            <a:ext cx="5185645" cy="1639888"/>
          </a:xfrm>
        </p:spPr>
        <p:txBody>
          <a:bodyPr anchor="b">
            <a:normAutofit/>
          </a:bodyPr>
          <a:lstStyle/>
          <a:p>
            <a:r>
              <a:rPr lang="en-US" dirty="0">
                <a:ea typeface="Meiryo"/>
              </a:rPr>
              <a:t>5. Simplifying Method Calls</a:t>
            </a:r>
            <a:endParaRPr lang="en-US" dirty="0"/>
          </a:p>
        </p:txBody>
      </p:sp>
      <p:sp>
        <p:nvSpPr>
          <p:cNvPr id="3" name="Content Placeholder 2">
            <a:extLst>
              <a:ext uri="{FF2B5EF4-FFF2-40B4-BE49-F238E27FC236}">
                <a16:creationId xmlns:a16="http://schemas.microsoft.com/office/drawing/2014/main" id="{DEC69E4A-CA6E-7D1C-AEA4-BA6AD91114C3}"/>
              </a:ext>
            </a:extLst>
          </p:cNvPr>
          <p:cNvSpPr>
            <a:spLocks noGrp="1"/>
          </p:cNvSpPr>
          <p:nvPr>
            <p:ph idx="1"/>
          </p:nvPr>
        </p:nvSpPr>
        <p:spPr>
          <a:xfrm>
            <a:off x="992519" y="2312988"/>
            <a:ext cx="5296964" cy="3651250"/>
          </a:xfrm>
        </p:spPr>
        <p:txBody>
          <a:bodyPr vert="horz" lIns="109728" tIns="109728" rIns="109728" bIns="91440" rtlCol="0">
            <a:normAutofit/>
          </a:bodyPr>
          <a:lstStyle/>
          <a:p>
            <a:r>
              <a:rPr lang="en-US" dirty="0">
                <a:ea typeface="Meiryo"/>
              </a:rPr>
              <a:t>These techniques make method calls simpler and easier to understand. This, in turn, simplifies the interfaces for interaction between classes.</a:t>
            </a:r>
            <a:endParaRPr lang="en-US" dirty="0"/>
          </a:p>
        </p:txBody>
      </p:sp>
      <p:pic>
        <p:nvPicPr>
          <p:cNvPr id="4" name="Picture 3">
            <a:extLst>
              <a:ext uri="{FF2B5EF4-FFF2-40B4-BE49-F238E27FC236}">
                <a16:creationId xmlns:a16="http://schemas.microsoft.com/office/drawing/2014/main" id="{F9242881-A814-36E8-F502-FCAEFAB10E3E}"/>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1039970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C7F505-8389-49A1-831F-5CAA13493F13}"/>
              </a:ext>
            </a:extLst>
          </p:cNvPr>
          <p:cNvSpPr>
            <a:spLocks noGrp="1"/>
          </p:cNvSpPr>
          <p:nvPr>
            <p:ph idx="1"/>
          </p:nvPr>
        </p:nvSpPr>
        <p:spPr>
          <a:xfrm>
            <a:off x="911749" y="2365284"/>
            <a:ext cx="8770571" cy="3651504"/>
          </a:xfrm>
        </p:spPr>
        <p:txBody>
          <a:bodyPr/>
          <a:lstStyle/>
          <a:p>
            <a:r>
              <a:rPr lang="en-US" dirty="0"/>
              <a:t>void </a:t>
            </a:r>
            <a:r>
              <a:rPr lang="en-US" dirty="0" err="1"/>
              <a:t>setValue</a:t>
            </a:r>
            <a:r>
              <a:rPr lang="en-US" dirty="0"/>
              <a:t>(String name, int value) {</a:t>
            </a:r>
          </a:p>
          <a:p>
            <a:r>
              <a:rPr lang="en-US" dirty="0"/>
              <a:t>    if (</a:t>
            </a:r>
            <a:r>
              <a:rPr lang="en-US" dirty="0" err="1"/>
              <a:t>name.equals</a:t>
            </a:r>
            <a:r>
              <a:rPr lang="en-US" dirty="0"/>
              <a:t>("height")) { height = value; return; }</a:t>
            </a:r>
          </a:p>
          <a:p>
            <a:r>
              <a:rPr lang="en-US" dirty="0"/>
              <a:t>    if (</a:t>
            </a:r>
            <a:r>
              <a:rPr lang="en-US" dirty="0" err="1"/>
              <a:t>name.equals</a:t>
            </a:r>
            <a:r>
              <a:rPr lang="en-US" dirty="0"/>
              <a:t>("width")) { width = value; return; }</a:t>
            </a:r>
          </a:p>
          <a:p>
            <a:r>
              <a:rPr lang="en-US" dirty="0"/>
              <a:t>}</a:t>
            </a:r>
          </a:p>
        </p:txBody>
      </p:sp>
      <p:sp>
        <p:nvSpPr>
          <p:cNvPr id="4" name="Rectangle 1">
            <a:extLst>
              <a:ext uri="{FF2B5EF4-FFF2-40B4-BE49-F238E27FC236}">
                <a16:creationId xmlns:a16="http://schemas.microsoft.com/office/drawing/2014/main" id="{3B318810-37A0-4597-A11C-47F3826C20FB}"/>
              </a:ext>
            </a:extLst>
          </p:cNvPr>
          <p:cNvSpPr>
            <a:spLocks noGrp="1" noChangeArrowheads="1"/>
          </p:cNvSpPr>
          <p:nvPr>
            <p:ph type="title"/>
          </p:nvPr>
        </p:nvSpPr>
        <p:spPr bwMode="auto">
          <a:xfrm>
            <a:off x="873318" y="666441"/>
            <a:ext cx="1090786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Replace Parameter with Explicit Methods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Dirty Code:</a:t>
            </a:r>
            <a:r>
              <a:rPr kumimoji="0" lang="en-US" altLang="en-US" sz="1800" b="0" i="0" u="none" strike="noStrike" cap="none" normalizeH="0" baseline="0" dirty="0">
                <a:ln>
                  <a:noFill/>
                </a:ln>
                <a:solidFill>
                  <a:schemeClr val="tx1"/>
                </a:solidFill>
                <a:effectLst/>
                <a:latin typeface="Arial" panose="020B0604020202020204" pitchFamily="34" charset="0"/>
              </a:rPr>
              <a:t> A single method that uses a flag to decide what to do (confusing interface).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8912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F4D91-6AF5-4D3A-993B-2B3CE2DFCC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1BA4D5-6B32-4AE6-A266-68116461C29E}"/>
              </a:ext>
            </a:extLst>
          </p:cNvPr>
          <p:cNvSpPr>
            <a:spLocks noGrp="1"/>
          </p:cNvSpPr>
          <p:nvPr>
            <p:ph idx="1"/>
          </p:nvPr>
        </p:nvSpPr>
        <p:spPr/>
        <p:txBody>
          <a:bodyPr/>
          <a:lstStyle/>
          <a:p>
            <a:r>
              <a:rPr lang="en-US" dirty="0"/>
              <a:t>void </a:t>
            </a:r>
            <a:r>
              <a:rPr lang="en-US" dirty="0" err="1"/>
              <a:t>setHeight</a:t>
            </a:r>
            <a:r>
              <a:rPr lang="en-US" dirty="0"/>
              <a:t>(int value) { height = value; }</a:t>
            </a:r>
          </a:p>
          <a:p>
            <a:r>
              <a:rPr lang="en-US" dirty="0"/>
              <a:t>void </a:t>
            </a:r>
            <a:r>
              <a:rPr lang="en-US" dirty="0" err="1"/>
              <a:t>setWidth</a:t>
            </a:r>
            <a:r>
              <a:rPr lang="en-US" dirty="0"/>
              <a:t>(int value) { width = value; }</a:t>
            </a:r>
          </a:p>
        </p:txBody>
      </p:sp>
    </p:spTree>
    <p:extLst>
      <p:ext uri="{BB962C8B-B14F-4D97-AF65-F5344CB8AC3E}">
        <p14:creationId xmlns:p14="http://schemas.microsoft.com/office/powerpoint/2010/main" val="2710350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67C113A-0C5F-8E8E-6A85-4F85B42C5FBE}"/>
              </a:ext>
            </a:extLst>
          </p:cNvPr>
          <p:cNvSpPr>
            <a:spLocks noGrp="1"/>
          </p:cNvSpPr>
          <p:nvPr>
            <p:ph type="title"/>
          </p:nvPr>
        </p:nvSpPr>
        <p:spPr>
          <a:xfrm>
            <a:off x="244895" y="140988"/>
            <a:ext cx="8305530" cy="1639888"/>
          </a:xfrm>
        </p:spPr>
        <p:txBody>
          <a:bodyPr vert="horz" lIns="109728" tIns="109728" rIns="109728" bIns="91440" rtlCol="0" anchor="b">
            <a:normAutofit/>
          </a:bodyPr>
          <a:lstStyle/>
          <a:p>
            <a:r>
              <a:rPr lang="en-US" dirty="0"/>
              <a:t>6. Dealing with Generalization</a:t>
            </a:r>
          </a:p>
        </p:txBody>
      </p:sp>
      <p:sp>
        <p:nvSpPr>
          <p:cNvPr id="5" name="TextBox 4">
            <a:extLst>
              <a:ext uri="{FF2B5EF4-FFF2-40B4-BE49-F238E27FC236}">
                <a16:creationId xmlns:a16="http://schemas.microsoft.com/office/drawing/2014/main" id="{F4011720-4E1D-B9D1-A8D6-CFBE89576E3A}"/>
              </a:ext>
            </a:extLst>
          </p:cNvPr>
          <p:cNvSpPr txBox="1"/>
          <p:nvPr/>
        </p:nvSpPr>
        <p:spPr>
          <a:xfrm>
            <a:off x="992519" y="2312988"/>
            <a:ext cx="5296964" cy="3651250"/>
          </a:xfrm>
          <a:prstGeom prst="rect">
            <a:avLst/>
          </a:prstGeom>
        </p:spPr>
        <p:txBody>
          <a:bodyPr rot="0" spcFirstLastPara="0" vertOverflow="overflow" horzOverflow="overflow" vert="horz" lIns="109728" tIns="109728" rIns="109728" bIns="91440" numCol="1" spcCol="0" rtlCol="0" fromWordArt="0" anchorCtr="0" forceAA="0" compatLnSpc="1">
            <a:prstTxWarp prst="textNoShape">
              <a:avLst/>
            </a:prstTxWarp>
            <a:normAutofit/>
          </a:bodyPr>
          <a:lstStyle/>
          <a:p>
            <a:pPr>
              <a:lnSpc>
                <a:spcPct val="140000"/>
              </a:lnSpc>
              <a:spcBef>
                <a:spcPts val="930"/>
              </a:spcBef>
              <a:buFont typeface="Corbel" panose="020B0503020204020204" pitchFamily="34" charset="0"/>
            </a:pPr>
            <a:r>
              <a:rPr lang="en-US" spc="150">
                <a:solidFill>
                  <a:schemeClr val="tx1">
                    <a:lumMod val="75000"/>
                    <a:lumOff val="25000"/>
                  </a:schemeClr>
                </a:solidFill>
              </a:rPr>
              <a:t>Abstraction has its own group of refactoring techniques, primarily associated with moving functionality along the class inheritance hierarchy, creating new classes and interfaces, and replacing inheritance with delegation and vice versa.</a:t>
            </a:r>
          </a:p>
          <a:p>
            <a:pPr>
              <a:lnSpc>
                <a:spcPct val="140000"/>
              </a:lnSpc>
              <a:spcBef>
                <a:spcPts val="930"/>
              </a:spcBef>
              <a:buFont typeface="Corbel" panose="020B0503020204020204" pitchFamily="34" charset="0"/>
            </a:pPr>
            <a:endParaRPr lang="en-US" spc="150">
              <a:solidFill>
                <a:schemeClr val="tx1">
                  <a:lumMod val="75000"/>
                  <a:lumOff val="25000"/>
                </a:schemeClr>
              </a:solidFill>
            </a:endParaRPr>
          </a:p>
        </p:txBody>
      </p:sp>
      <p:pic>
        <p:nvPicPr>
          <p:cNvPr id="4" name="Content Placeholder 3" descr="A screenshot of a cartoon&#10;&#10;AI-generated content may be incorrect.">
            <a:extLst>
              <a:ext uri="{FF2B5EF4-FFF2-40B4-BE49-F238E27FC236}">
                <a16:creationId xmlns:a16="http://schemas.microsoft.com/office/drawing/2014/main" id="{81E858F1-BBF1-FBE4-5A41-4E87F52784FD}"/>
              </a:ext>
            </a:extLst>
          </p:cNvPr>
          <p:cNvPicPr>
            <a:picLocks noGrp="1" noChangeAspect="1"/>
          </p:cNvPicPr>
          <p:nvPr>
            <p:ph idx="1"/>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1936614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6CEB06-CD2F-4925-B05B-4E761B66C27C}"/>
              </a:ext>
            </a:extLst>
          </p:cNvPr>
          <p:cNvSpPr>
            <a:spLocks noGrp="1"/>
          </p:cNvSpPr>
          <p:nvPr>
            <p:ph idx="1"/>
          </p:nvPr>
        </p:nvSpPr>
        <p:spPr/>
        <p:txBody>
          <a:bodyPr/>
          <a:lstStyle/>
          <a:p>
            <a:r>
              <a:rPr lang="en-US" dirty="0"/>
              <a:t>class Employee { }</a:t>
            </a:r>
          </a:p>
          <a:p>
            <a:r>
              <a:rPr lang="en-US" dirty="0"/>
              <a:t>class Salesman extends Employee { private String name; }</a:t>
            </a:r>
          </a:p>
          <a:p>
            <a:r>
              <a:rPr lang="en-US" dirty="0"/>
              <a:t>class Engineer extends Employee { private String name; }</a:t>
            </a:r>
          </a:p>
        </p:txBody>
      </p:sp>
      <p:sp>
        <p:nvSpPr>
          <p:cNvPr id="4" name="Rectangle 1">
            <a:extLst>
              <a:ext uri="{FF2B5EF4-FFF2-40B4-BE49-F238E27FC236}">
                <a16:creationId xmlns:a16="http://schemas.microsoft.com/office/drawing/2014/main" id="{6C1A729D-B58A-4231-80F0-718984B0C36A}"/>
              </a:ext>
            </a:extLst>
          </p:cNvPr>
          <p:cNvSpPr>
            <a:spLocks noGrp="1" noChangeArrowheads="1"/>
          </p:cNvSpPr>
          <p:nvPr>
            <p:ph type="title"/>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Technique:</a:t>
            </a:r>
            <a:r>
              <a:rPr kumimoji="0" lang="en-US" altLang="en-US" sz="1800" b="0" i="0" u="none" strike="noStrike" cap="none" normalizeH="0" baseline="0">
                <a:ln>
                  <a:noFill/>
                </a:ln>
                <a:solidFill>
                  <a:schemeClr val="tx1"/>
                </a:solidFill>
                <a:effectLst/>
                <a:latin typeface="Arial" panose="020B0604020202020204" pitchFamily="34" charset="0"/>
              </a:rPr>
              <a:t> Pull Up Field/Method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Dirty Code (Duplicate Code):</a:t>
            </a:r>
            <a:r>
              <a:rPr kumimoji="0" lang="en-US" altLang="en-US" sz="1800" b="0" i="0" u="none" strike="noStrike" cap="none" normalizeH="0" baseline="0">
                <a:ln>
                  <a:noFill/>
                </a:ln>
                <a:solidFill>
                  <a:schemeClr val="tx1"/>
                </a:solidFill>
                <a:effectLst/>
                <a:latin typeface="Arial" panose="020B0604020202020204" pitchFamily="34" charset="0"/>
              </a:rPr>
              <a:t> Two subclasses have the exact same field or method.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52638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50259-5BA9-4BE3-BD4C-3868FF4562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831C44-F9E0-4679-88E5-62B9CD75C4DC}"/>
              </a:ext>
            </a:extLst>
          </p:cNvPr>
          <p:cNvSpPr>
            <a:spLocks noGrp="1"/>
          </p:cNvSpPr>
          <p:nvPr>
            <p:ph idx="1"/>
          </p:nvPr>
        </p:nvSpPr>
        <p:spPr/>
        <p:txBody>
          <a:bodyPr/>
          <a:lstStyle/>
          <a:p>
            <a:r>
              <a:rPr lang="en-US" dirty="0"/>
              <a:t>class Employee { protected String name; }</a:t>
            </a:r>
          </a:p>
          <a:p>
            <a:r>
              <a:rPr lang="en-US" dirty="0"/>
              <a:t>class Salesman extends Employee { }</a:t>
            </a:r>
          </a:p>
          <a:p>
            <a:r>
              <a:rPr lang="en-US" dirty="0"/>
              <a:t>class Engineer extends Employee { }</a:t>
            </a:r>
          </a:p>
        </p:txBody>
      </p:sp>
    </p:spTree>
    <p:extLst>
      <p:ext uri="{BB962C8B-B14F-4D97-AF65-F5344CB8AC3E}">
        <p14:creationId xmlns:p14="http://schemas.microsoft.com/office/powerpoint/2010/main" val="884704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0577E-4783-9622-8426-A5AF3BDB99C2}"/>
              </a:ext>
            </a:extLst>
          </p:cNvPr>
          <p:cNvSpPr>
            <a:spLocks noGrp="1"/>
          </p:cNvSpPr>
          <p:nvPr>
            <p:ph type="title"/>
          </p:nvPr>
        </p:nvSpPr>
        <p:spPr/>
        <p:txBody>
          <a:bodyPr/>
          <a:lstStyle/>
          <a:p>
            <a:r>
              <a:rPr lang="en-US" dirty="0">
                <a:ea typeface="Meiryo"/>
              </a:rPr>
              <a:t>Code Smells</a:t>
            </a:r>
            <a:endParaRPr lang="en-US" dirty="0"/>
          </a:p>
          <a:p>
            <a:endParaRPr lang="en-US" dirty="0">
              <a:ea typeface="Meiryo"/>
            </a:endParaRPr>
          </a:p>
        </p:txBody>
      </p:sp>
      <p:sp>
        <p:nvSpPr>
          <p:cNvPr id="3" name="Content Placeholder 2">
            <a:extLst>
              <a:ext uri="{FF2B5EF4-FFF2-40B4-BE49-F238E27FC236}">
                <a16:creationId xmlns:a16="http://schemas.microsoft.com/office/drawing/2014/main" id="{14DAC174-1993-45EF-022F-6DC4AE1AAA7D}"/>
              </a:ext>
            </a:extLst>
          </p:cNvPr>
          <p:cNvSpPr>
            <a:spLocks noGrp="1"/>
          </p:cNvSpPr>
          <p:nvPr>
            <p:ph idx="1"/>
          </p:nvPr>
        </p:nvSpPr>
        <p:spPr/>
        <p:txBody>
          <a:bodyPr vert="horz" lIns="109728" tIns="109728" rIns="109728" bIns="91440" rtlCol="0" anchor="t">
            <a:normAutofit/>
          </a:bodyPr>
          <a:lstStyle/>
          <a:p>
            <a:r>
              <a:rPr lang="en-US" dirty="0">
                <a:ea typeface="Meiryo"/>
              </a:rPr>
              <a:t>— What? How can code "smell"??</a:t>
            </a:r>
            <a:br>
              <a:rPr lang="en-US" dirty="0">
                <a:ea typeface="Meiryo"/>
              </a:rPr>
            </a:br>
            <a:r>
              <a:rPr lang="en-US" dirty="0">
                <a:ea typeface="Meiryo"/>
              </a:rPr>
              <a:t>— Well, it doesn't have a nose... but it definitely can stink!</a:t>
            </a:r>
            <a:endParaRPr lang="en-US" dirty="0"/>
          </a:p>
        </p:txBody>
      </p:sp>
    </p:spTree>
    <p:extLst>
      <p:ext uri="{BB962C8B-B14F-4D97-AF65-F5344CB8AC3E}">
        <p14:creationId xmlns:p14="http://schemas.microsoft.com/office/powerpoint/2010/main" val="38366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343BDD9-8830-53FF-29A6-5F42C5602774}"/>
              </a:ext>
            </a:extLst>
          </p:cNvPr>
          <p:cNvSpPr>
            <a:spLocks noGrp="1"/>
          </p:cNvSpPr>
          <p:nvPr>
            <p:ph type="title"/>
          </p:nvPr>
        </p:nvSpPr>
        <p:spPr>
          <a:xfrm>
            <a:off x="992518" y="442913"/>
            <a:ext cx="5185645" cy="1639888"/>
          </a:xfrm>
        </p:spPr>
        <p:txBody>
          <a:bodyPr anchor="b">
            <a:normAutofit/>
          </a:bodyPr>
          <a:lstStyle/>
          <a:p>
            <a:br>
              <a:rPr lang="en-US" dirty="0"/>
            </a:br>
            <a:r>
              <a:rPr lang="en-US" dirty="0"/>
              <a:t>1. </a:t>
            </a:r>
            <a:r>
              <a:rPr lang="en-US" dirty="0">
                <a:ea typeface="Meiryo"/>
              </a:rPr>
              <a:t>Bloaters</a:t>
            </a:r>
            <a:endParaRPr lang="en-US" dirty="0"/>
          </a:p>
        </p:txBody>
      </p:sp>
      <p:sp>
        <p:nvSpPr>
          <p:cNvPr id="3" name="Content Placeholder 2">
            <a:extLst>
              <a:ext uri="{FF2B5EF4-FFF2-40B4-BE49-F238E27FC236}">
                <a16:creationId xmlns:a16="http://schemas.microsoft.com/office/drawing/2014/main" id="{F69389A8-43AE-9DE5-98FB-ED6437C8F4E3}"/>
              </a:ext>
            </a:extLst>
          </p:cNvPr>
          <p:cNvSpPr>
            <a:spLocks noGrp="1"/>
          </p:cNvSpPr>
          <p:nvPr>
            <p:ph idx="1"/>
          </p:nvPr>
        </p:nvSpPr>
        <p:spPr>
          <a:xfrm>
            <a:off x="992519" y="2312988"/>
            <a:ext cx="5296964" cy="3651250"/>
          </a:xfrm>
        </p:spPr>
        <p:txBody>
          <a:bodyPr vert="horz" lIns="109728" tIns="109728" rIns="109728" bIns="91440" rtlCol="0">
            <a:normAutofit/>
          </a:bodyPr>
          <a:lstStyle/>
          <a:p>
            <a:pPr>
              <a:lnSpc>
                <a:spcPct val="130000"/>
              </a:lnSpc>
            </a:pPr>
            <a:r>
              <a:rPr lang="en-US" sz="1300" dirty="0">
                <a:ea typeface="Meiryo"/>
              </a:rPr>
              <a:t>Bloaters are code, methods and classes that have increased to such gargantuan proportions that they are hard to work with. Usually these smells do not crop up right away, rather they accumulate over time as the program evolves (and especially when nobody makes an effort to eradicate them).</a:t>
            </a:r>
            <a:endParaRPr lang="en-US" sz="1300" dirty="0"/>
          </a:p>
          <a:p>
            <a:pPr marL="342900" indent="-342900">
              <a:lnSpc>
                <a:spcPct val="130000"/>
              </a:lnSpc>
              <a:buAutoNum type="arabicPeriod"/>
            </a:pPr>
            <a:r>
              <a:rPr lang="en-US" sz="1300" dirty="0">
                <a:ea typeface="Meiryo"/>
              </a:rPr>
              <a:t>Long Method</a:t>
            </a:r>
          </a:p>
          <a:p>
            <a:pPr marL="342900" indent="-342900">
              <a:lnSpc>
                <a:spcPct val="130000"/>
              </a:lnSpc>
              <a:buAutoNum type="arabicPeriod"/>
            </a:pPr>
            <a:r>
              <a:rPr lang="en-US" sz="1300" dirty="0">
                <a:ea typeface="Meiryo"/>
              </a:rPr>
              <a:t>Large Class</a:t>
            </a:r>
          </a:p>
          <a:p>
            <a:pPr marL="342900" indent="-342900">
              <a:lnSpc>
                <a:spcPct val="130000"/>
              </a:lnSpc>
              <a:buAutoNum type="arabicPeriod"/>
            </a:pPr>
            <a:r>
              <a:rPr lang="en-US" sz="1300" dirty="0">
                <a:ea typeface="Meiryo"/>
              </a:rPr>
              <a:t>Primitive Obsession</a:t>
            </a:r>
          </a:p>
          <a:p>
            <a:pPr marL="342900" indent="-342900">
              <a:lnSpc>
                <a:spcPct val="130000"/>
              </a:lnSpc>
              <a:buAutoNum type="arabicPeriod"/>
            </a:pPr>
            <a:r>
              <a:rPr lang="en-US" sz="1300" dirty="0">
                <a:ea typeface="Meiryo"/>
              </a:rPr>
              <a:t>Long Parameter List</a:t>
            </a:r>
          </a:p>
          <a:p>
            <a:pPr marL="342900" indent="-342900">
              <a:lnSpc>
                <a:spcPct val="130000"/>
              </a:lnSpc>
              <a:buAutoNum type="arabicPeriod"/>
            </a:pPr>
            <a:r>
              <a:rPr lang="en-US" sz="1300" dirty="0">
                <a:ea typeface="Meiryo"/>
              </a:rPr>
              <a:t>Data Clumps</a:t>
            </a:r>
          </a:p>
          <a:p>
            <a:pPr>
              <a:lnSpc>
                <a:spcPct val="130000"/>
              </a:lnSpc>
            </a:pPr>
            <a:endParaRPr lang="en-US" sz="1300" dirty="0">
              <a:ea typeface="Meiryo"/>
            </a:endParaRPr>
          </a:p>
        </p:txBody>
      </p:sp>
      <p:pic>
        <p:nvPicPr>
          <p:cNvPr id="4" name="Picture 3" descr="A cartoon of a monster and several tanks&#10;&#10;AI-generated content may be incorrect.">
            <a:extLst>
              <a:ext uri="{FF2B5EF4-FFF2-40B4-BE49-F238E27FC236}">
                <a16:creationId xmlns:a16="http://schemas.microsoft.com/office/drawing/2014/main" id="{1E973CC2-1E59-75AF-8E46-A2687E808D24}"/>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2511359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14D6F9F5-B4E2-4A57-D7D0-D845D23DDDD2}"/>
              </a:ext>
            </a:extLst>
          </p:cNvPr>
          <p:cNvSpPr>
            <a:spLocks noGrp="1"/>
          </p:cNvSpPr>
          <p:nvPr>
            <p:ph type="title"/>
          </p:nvPr>
        </p:nvSpPr>
        <p:spPr>
          <a:xfrm>
            <a:off x="992518" y="442913"/>
            <a:ext cx="5185645" cy="1639888"/>
          </a:xfrm>
        </p:spPr>
        <p:txBody>
          <a:bodyPr anchor="b">
            <a:normAutofit/>
          </a:bodyPr>
          <a:lstStyle/>
          <a:p>
            <a:pPr>
              <a:lnSpc>
                <a:spcPct val="120000"/>
              </a:lnSpc>
            </a:pPr>
            <a:br>
              <a:rPr lang="en-US" sz="2500" dirty="0"/>
            </a:br>
            <a:r>
              <a:rPr lang="en-US" sz="2500" dirty="0"/>
              <a:t>2. </a:t>
            </a:r>
            <a:r>
              <a:rPr lang="en-US" sz="2500" dirty="0">
                <a:ea typeface="Meiryo"/>
              </a:rPr>
              <a:t>Object-Orientation Abusers</a:t>
            </a:r>
            <a:endParaRPr lang="en-US" sz="2500" dirty="0"/>
          </a:p>
        </p:txBody>
      </p:sp>
      <p:sp>
        <p:nvSpPr>
          <p:cNvPr id="3" name="Content Placeholder 2">
            <a:extLst>
              <a:ext uri="{FF2B5EF4-FFF2-40B4-BE49-F238E27FC236}">
                <a16:creationId xmlns:a16="http://schemas.microsoft.com/office/drawing/2014/main" id="{2B5C5BE6-72F0-EC16-9BBE-BACA7528C209}"/>
              </a:ext>
            </a:extLst>
          </p:cNvPr>
          <p:cNvSpPr>
            <a:spLocks noGrp="1"/>
          </p:cNvSpPr>
          <p:nvPr>
            <p:ph idx="1"/>
          </p:nvPr>
        </p:nvSpPr>
        <p:spPr>
          <a:xfrm>
            <a:off x="992519" y="2312988"/>
            <a:ext cx="5296964" cy="3651250"/>
          </a:xfrm>
        </p:spPr>
        <p:txBody>
          <a:bodyPr vert="horz" lIns="109728" tIns="109728" rIns="109728" bIns="91440" rtlCol="0">
            <a:normAutofit/>
          </a:bodyPr>
          <a:lstStyle/>
          <a:p>
            <a:pPr>
              <a:lnSpc>
                <a:spcPct val="130000"/>
              </a:lnSpc>
            </a:pPr>
            <a:r>
              <a:rPr lang="en-US" dirty="0">
                <a:ea typeface="Meiryo"/>
              </a:rPr>
              <a:t>All these smells are incomplete or incorrect application of object-oriented programming principles.</a:t>
            </a:r>
            <a:endParaRPr lang="en-US" dirty="0"/>
          </a:p>
          <a:p>
            <a:pPr marL="342900" indent="-342900">
              <a:lnSpc>
                <a:spcPct val="130000"/>
              </a:lnSpc>
              <a:buAutoNum type="arabicPeriod"/>
            </a:pPr>
            <a:r>
              <a:rPr lang="en-US" dirty="0">
                <a:latin typeface="Meiryo"/>
                <a:ea typeface="Meiryo"/>
              </a:rPr>
              <a:t>Alternative Classes with Different Interfaces</a:t>
            </a:r>
          </a:p>
          <a:p>
            <a:pPr marL="342900" indent="-342900">
              <a:lnSpc>
                <a:spcPct val="130000"/>
              </a:lnSpc>
              <a:buAutoNum type="arabicPeriod"/>
            </a:pPr>
            <a:r>
              <a:rPr lang="en-US" dirty="0">
                <a:latin typeface="Meiryo"/>
                <a:ea typeface="Meiryo"/>
              </a:rPr>
              <a:t>Refused Request</a:t>
            </a:r>
          </a:p>
          <a:p>
            <a:pPr marL="342900" indent="-342900">
              <a:lnSpc>
                <a:spcPct val="130000"/>
              </a:lnSpc>
              <a:buAutoNum type="arabicPeriod"/>
            </a:pPr>
            <a:r>
              <a:rPr lang="en-US" dirty="0">
                <a:latin typeface="Meiryo"/>
                <a:ea typeface="Meiryo"/>
              </a:rPr>
              <a:t>Switch Statements</a:t>
            </a:r>
          </a:p>
          <a:p>
            <a:pPr marL="342900" indent="-342900">
              <a:lnSpc>
                <a:spcPct val="130000"/>
              </a:lnSpc>
              <a:buAutoNum type="arabicPeriod"/>
            </a:pPr>
            <a:r>
              <a:rPr lang="en-US" dirty="0">
                <a:latin typeface="Meiryo"/>
                <a:ea typeface="Meiryo"/>
              </a:rPr>
              <a:t>Temporary Field</a:t>
            </a:r>
          </a:p>
          <a:p>
            <a:pPr>
              <a:lnSpc>
                <a:spcPct val="130000"/>
              </a:lnSpc>
            </a:pPr>
            <a:endParaRPr lang="en-US" dirty="0">
              <a:ea typeface="Meiryo"/>
            </a:endParaRPr>
          </a:p>
        </p:txBody>
      </p:sp>
      <p:pic>
        <p:nvPicPr>
          <p:cNvPr id="4" name="Picture 3" descr="A black and white illustration of a computer network&#10;&#10;AI-generated content may be incorrect.">
            <a:extLst>
              <a:ext uri="{FF2B5EF4-FFF2-40B4-BE49-F238E27FC236}">
                <a16:creationId xmlns:a16="http://schemas.microsoft.com/office/drawing/2014/main" id="{B3DA319C-63E5-A2B5-C359-D4C71854EB86}"/>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3803362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31B143B7-5670-5616-8668-4E52C2DA7670}"/>
              </a:ext>
            </a:extLst>
          </p:cNvPr>
          <p:cNvSpPr>
            <a:spLocks noGrp="1"/>
          </p:cNvSpPr>
          <p:nvPr>
            <p:ph type="title"/>
          </p:nvPr>
        </p:nvSpPr>
        <p:spPr>
          <a:xfrm>
            <a:off x="992518" y="442913"/>
            <a:ext cx="5185645" cy="1639888"/>
          </a:xfrm>
        </p:spPr>
        <p:txBody>
          <a:bodyPr anchor="b">
            <a:normAutofit fontScale="90000"/>
          </a:bodyPr>
          <a:lstStyle/>
          <a:p>
            <a:br>
              <a:rPr lang="en-US" dirty="0"/>
            </a:br>
            <a:r>
              <a:rPr lang="en-US" dirty="0"/>
              <a:t>3. </a:t>
            </a:r>
            <a:r>
              <a:rPr lang="en-US" dirty="0">
                <a:ea typeface="Meiryo"/>
              </a:rPr>
              <a:t>Change Preventers</a:t>
            </a:r>
            <a:endParaRPr lang="en-US" dirty="0"/>
          </a:p>
        </p:txBody>
      </p:sp>
      <p:sp>
        <p:nvSpPr>
          <p:cNvPr id="3" name="Content Placeholder 2">
            <a:extLst>
              <a:ext uri="{FF2B5EF4-FFF2-40B4-BE49-F238E27FC236}">
                <a16:creationId xmlns:a16="http://schemas.microsoft.com/office/drawing/2014/main" id="{4C9C1D2D-DDB8-E156-2F20-6142CC93AC19}"/>
              </a:ext>
            </a:extLst>
          </p:cNvPr>
          <p:cNvSpPr>
            <a:spLocks noGrp="1"/>
          </p:cNvSpPr>
          <p:nvPr>
            <p:ph idx="1"/>
          </p:nvPr>
        </p:nvSpPr>
        <p:spPr>
          <a:xfrm>
            <a:off x="992519" y="2312988"/>
            <a:ext cx="5296964" cy="3651250"/>
          </a:xfrm>
        </p:spPr>
        <p:txBody>
          <a:bodyPr vert="horz" lIns="109728" tIns="109728" rIns="109728" bIns="91440" rtlCol="0">
            <a:normAutofit fontScale="92500"/>
          </a:bodyPr>
          <a:lstStyle/>
          <a:p>
            <a:pPr>
              <a:lnSpc>
                <a:spcPct val="130000"/>
              </a:lnSpc>
            </a:pPr>
            <a:r>
              <a:rPr lang="en-US" sz="1700" dirty="0">
                <a:ea typeface="Meiryo"/>
              </a:rPr>
              <a:t>These smells mean that if you need to change something in one place in your code, you have to make many changes in other places too. </a:t>
            </a:r>
          </a:p>
          <a:p>
            <a:pPr>
              <a:lnSpc>
                <a:spcPct val="130000"/>
              </a:lnSpc>
            </a:pPr>
            <a:r>
              <a:rPr lang="en-US" sz="1700" dirty="0">
                <a:ea typeface="Meiryo"/>
              </a:rPr>
              <a:t>Program development becomes much more complicated and expensive as a result.</a:t>
            </a:r>
            <a:endParaRPr lang="en-US" sz="1700" dirty="0"/>
          </a:p>
          <a:p>
            <a:pPr marL="342900" indent="-342900">
              <a:lnSpc>
                <a:spcPct val="130000"/>
              </a:lnSpc>
              <a:buAutoNum type="arabicPeriod"/>
            </a:pPr>
            <a:r>
              <a:rPr lang="en-US" sz="1700" dirty="0">
                <a:ea typeface="Meiryo"/>
              </a:rPr>
              <a:t>Divergent Change</a:t>
            </a:r>
          </a:p>
          <a:p>
            <a:pPr marL="342900" indent="-342900">
              <a:lnSpc>
                <a:spcPct val="130000"/>
              </a:lnSpc>
              <a:buAutoNum type="arabicPeriod"/>
            </a:pPr>
            <a:r>
              <a:rPr lang="en-US" sz="1700" dirty="0">
                <a:ea typeface="Meiryo"/>
              </a:rPr>
              <a:t>Parallel Inheritance Hierarchies</a:t>
            </a:r>
          </a:p>
          <a:p>
            <a:pPr marL="342900" indent="-342900">
              <a:lnSpc>
                <a:spcPct val="130000"/>
              </a:lnSpc>
              <a:buAutoNum type="arabicPeriod"/>
            </a:pPr>
            <a:r>
              <a:rPr lang="en-US" sz="1700" dirty="0">
                <a:ea typeface="Meiryo"/>
              </a:rPr>
              <a:t>Shotgun Surgery</a:t>
            </a:r>
          </a:p>
          <a:p>
            <a:pPr>
              <a:lnSpc>
                <a:spcPct val="130000"/>
              </a:lnSpc>
            </a:pPr>
            <a:endParaRPr lang="en-US" sz="1700" dirty="0">
              <a:ea typeface="Meiryo"/>
            </a:endParaRPr>
          </a:p>
        </p:txBody>
      </p:sp>
      <p:pic>
        <p:nvPicPr>
          <p:cNvPr id="4" name="Picture 3" descr="A cartoon rocket with arms and legs holding a rope&#10;&#10;AI-generated content may be incorrect.">
            <a:extLst>
              <a:ext uri="{FF2B5EF4-FFF2-40B4-BE49-F238E27FC236}">
                <a16:creationId xmlns:a16="http://schemas.microsoft.com/office/drawing/2014/main" id="{BF2A5418-84B1-7F4A-F64E-0A54BCB35DE8}"/>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466896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4A63382-316A-0C9F-8A9A-D70E5882606F}"/>
              </a:ext>
            </a:extLst>
          </p:cNvPr>
          <p:cNvSpPr>
            <a:spLocks noGrp="1"/>
          </p:cNvSpPr>
          <p:nvPr>
            <p:ph type="title"/>
          </p:nvPr>
        </p:nvSpPr>
        <p:spPr>
          <a:xfrm>
            <a:off x="992518" y="442913"/>
            <a:ext cx="5185645" cy="1639888"/>
          </a:xfrm>
        </p:spPr>
        <p:txBody>
          <a:bodyPr anchor="b">
            <a:normAutofit/>
          </a:bodyPr>
          <a:lstStyle/>
          <a:p>
            <a:r>
              <a:rPr lang="en-US" dirty="0">
                <a:ea typeface="Meiryo"/>
              </a:rPr>
              <a:t>4. Dispensable</a:t>
            </a:r>
            <a:endParaRPr lang="en-US" dirty="0"/>
          </a:p>
        </p:txBody>
      </p:sp>
      <p:sp>
        <p:nvSpPr>
          <p:cNvPr id="3" name="Content Placeholder 2">
            <a:extLst>
              <a:ext uri="{FF2B5EF4-FFF2-40B4-BE49-F238E27FC236}">
                <a16:creationId xmlns:a16="http://schemas.microsoft.com/office/drawing/2014/main" id="{AEB5DF83-8F46-071E-68F2-18E16BB98DA9}"/>
              </a:ext>
            </a:extLst>
          </p:cNvPr>
          <p:cNvSpPr>
            <a:spLocks noGrp="1"/>
          </p:cNvSpPr>
          <p:nvPr>
            <p:ph idx="1"/>
          </p:nvPr>
        </p:nvSpPr>
        <p:spPr>
          <a:xfrm>
            <a:off x="992519" y="2312988"/>
            <a:ext cx="5296964" cy="3651250"/>
          </a:xfrm>
        </p:spPr>
        <p:txBody>
          <a:bodyPr vert="horz" lIns="109728" tIns="109728" rIns="109728" bIns="91440" rtlCol="0">
            <a:normAutofit/>
          </a:bodyPr>
          <a:lstStyle/>
          <a:p>
            <a:pPr>
              <a:lnSpc>
                <a:spcPct val="130000"/>
              </a:lnSpc>
            </a:pPr>
            <a:r>
              <a:rPr lang="en-US" sz="1300" dirty="0">
                <a:ea typeface="Meiryo"/>
              </a:rPr>
              <a:t>A dispensable is something pointless and unneeded whose absence would make the code cleaner, more efficient and easier to understand.</a:t>
            </a:r>
            <a:endParaRPr lang="en-US" sz="1300" dirty="0"/>
          </a:p>
          <a:p>
            <a:pPr marL="342900" indent="-342900">
              <a:lnSpc>
                <a:spcPct val="130000"/>
              </a:lnSpc>
              <a:buAutoNum type="arabicPeriod"/>
            </a:pPr>
            <a:r>
              <a:rPr lang="en-US" sz="1300" dirty="0">
                <a:ea typeface="Meiryo"/>
              </a:rPr>
              <a:t>Comments</a:t>
            </a:r>
          </a:p>
          <a:p>
            <a:pPr marL="342900" indent="-342900">
              <a:lnSpc>
                <a:spcPct val="130000"/>
              </a:lnSpc>
              <a:buAutoNum type="arabicPeriod"/>
            </a:pPr>
            <a:r>
              <a:rPr lang="en-US" sz="1300" dirty="0">
                <a:ea typeface="Meiryo"/>
              </a:rPr>
              <a:t>Duplicate Code</a:t>
            </a:r>
          </a:p>
          <a:p>
            <a:pPr marL="342900" indent="-342900">
              <a:lnSpc>
                <a:spcPct val="130000"/>
              </a:lnSpc>
              <a:buAutoNum type="arabicPeriod"/>
            </a:pPr>
            <a:r>
              <a:rPr lang="en-US" sz="1300" dirty="0">
                <a:ea typeface="Meiryo"/>
              </a:rPr>
              <a:t>Data Class</a:t>
            </a:r>
          </a:p>
          <a:p>
            <a:pPr marL="342900" indent="-342900">
              <a:lnSpc>
                <a:spcPct val="130000"/>
              </a:lnSpc>
              <a:buAutoNum type="arabicPeriod"/>
            </a:pPr>
            <a:r>
              <a:rPr lang="en-US" sz="1300" dirty="0">
                <a:ea typeface="Meiryo"/>
              </a:rPr>
              <a:t>Dead Code</a:t>
            </a:r>
          </a:p>
          <a:p>
            <a:pPr marL="342900" indent="-342900">
              <a:lnSpc>
                <a:spcPct val="130000"/>
              </a:lnSpc>
              <a:buAutoNum type="arabicPeriod"/>
            </a:pPr>
            <a:r>
              <a:rPr lang="en-US" sz="1300" dirty="0">
                <a:ea typeface="Meiryo"/>
              </a:rPr>
              <a:t>Lazy Class</a:t>
            </a:r>
          </a:p>
          <a:p>
            <a:pPr marL="342900" indent="-342900">
              <a:lnSpc>
                <a:spcPct val="130000"/>
              </a:lnSpc>
              <a:buAutoNum type="arabicPeriod"/>
            </a:pPr>
            <a:r>
              <a:rPr lang="en-US" sz="1300" dirty="0">
                <a:ea typeface="Meiryo"/>
              </a:rPr>
              <a:t>Speculative Generality</a:t>
            </a:r>
          </a:p>
          <a:p>
            <a:pPr>
              <a:lnSpc>
                <a:spcPct val="130000"/>
              </a:lnSpc>
            </a:pPr>
            <a:endParaRPr lang="en-US" sz="1300" dirty="0">
              <a:ea typeface="Meiryo"/>
            </a:endParaRPr>
          </a:p>
        </p:txBody>
      </p:sp>
      <p:pic>
        <p:nvPicPr>
          <p:cNvPr id="4" name="Picture 3" descr="A cartoon of a person pouring water from a bucket&#10;&#10;AI-generated content may be incorrect.">
            <a:extLst>
              <a:ext uri="{FF2B5EF4-FFF2-40B4-BE49-F238E27FC236}">
                <a16:creationId xmlns:a16="http://schemas.microsoft.com/office/drawing/2014/main" id="{3995D147-107D-8225-5878-A98BD9B9A06B}"/>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13934847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341C7010-9050-E5D2-C031-8B262D7E78E9}"/>
              </a:ext>
            </a:extLst>
          </p:cNvPr>
          <p:cNvSpPr>
            <a:spLocks noGrp="1"/>
          </p:cNvSpPr>
          <p:nvPr>
            <p:ph type="title"/>
          </p:nvPr>
        </p:nvSpPr>
        <p:spPr>
          <a:xfrm>
            <a:off x="992518" y="442913"/>
            <a:ext cx="5271804" cy="1639888"/>
          </a:xfrm>
        </p:spPr>
        <p:txBody>
          <a:bodyPr anchor="b">
            <a:normAutofit/>
          </a:bodyPr>
          <a:lstStyle/>
          <a:p>
            <a:r>
              <a:rPr lang="en-US" dirty="0">
                <a:ea typeface="Meiryo"/>
              </a:rPr>
              <a:t>5. Couplers</a:t>
            </a:r>
            <a:endParaRPr lang="en-US" dirty="0"/>
          </a:p>
        </p:txBody>
      </p:sp>
      <p:sp>
        <p:nvSpPr>
          <p:cNvPr id="3" name="Content Placeholder 2">
            <a:extLst>
              <a:ext uri="{FF2B5EF4-FFF2-40B4-BE49-F238E27FC236}">
                <a16:creationId xmlns:a16="http://schemas.microsoft.com/office/drawing/2014/main" id="{904DCEA5-E58E-0A4E-14AF-219168B0B580}"/>
              </a:ext>
            </a:extLst>
          </p:cNvPr>
          <p:cNvSpPr>
            <a:spLocks noGrp="1"/>
          </p:cNvSpPr>
          <p:nvPr>
            <p:ph idx="1"/>
          </p:nvPr>
        </p:nvSpPr>
        <p:spPr>
          <a:xfrm>
            <a:off x="992519" y="2312988"/>
            <a:ext cx="5271804" cy="3651250"/>
          </a:xfrm>
        </p:spPr>
        <p:txBody>
          <a:bodyPr vert="horz" lIns="109728" tIns="109728" rIns="109728" bIns="91440" rtlCol="0">
            <a:normAutofit/>
          </a:bodyPr>
          <a:lstStyle/>
          <a:p>
            <a:pPr>
              <a:lnSpc>
                <a:spcPct val="130000"/>
              </a:lnSpc>
            </a:pPr>
            <a:r>
              <a:rPr lang="en-US" sz="1500" dirty="0">
                <a:ea typeface="Meiryo"/>
              </a:rPr>
              <a:t>All the smells in this group contribute to excessive coupling between classes or show what happens if coupling is replaced by excessive delegation.</a:t>
            </a:r>
            <a:endParaRPr lang="en-US" sz="1500" dirty="0"/>
          </a:p>
          <a:p>
            <a:pPr marL="342900" indent="-342900">
              <a:lnSpc>
                <a:spcPct val="130000"/>
              </a:lnSpc>
              <a:buAutoNum type="arabicPeriod"/>
            </a:pPr>
            <a:r>
              <a:rPr lang="en-US" sz="1500" dirty="0">
                <a:ea typeface="Meiryo"/>
              </a:rPr>
              <a:t>Feature Envy</a:t>
            </a:r>
          </a:p>
          <a:p>
            <a:pPr marL="342900" indent="-342900">
              <a:lnSpc>
                <a:spcPct val="130000"/>
              </a:lnSpc>
              <a:buAutoNum type="arabicPeriod"/>
            </a:pPr>
            <a:r>
              <a:rPr lang="en-US" sz="1500" dirty="0">
                <a:ea typeface="Meiryo"/>
              </a:rPr>
              <a:t>Inappropriate Intimacy</a:t>
            </a:r>
          </a:p>
          <a:p>
            <a:pPr marL="342900" indent="-342900">
              <a:lnSpc>
                <a:spcPct val="130000"/>
              </a:lnSpc>
              <a:buAutoNum type="arabicPeriod"/>
            </a:pPr>
            <a:r>
              <a:rPr lang="en-US" sz="1500" dirty="0">
                <a:ea typeface="Meiryo"/>
              </a:rPr>
              <a:t>Incomplete Library Class</a:t>
            </a:r>
          </a:p>
          <a:p>
            <a:pPr marL="342900" indent="-342900">
              <a:lnSpc>
                <a:spcPct val="130000"/>
              </a:lnSpc>
              <a:buAutoNum type="arabicPeriod"/>
            </a:pPr>
            <a:r>
              <a:rPr lang="en-US" sz="1500" dirty="0">
                <a:ea typeface="Meiryo"/>
              </a:rPr>
              <a:t>Message Chains</a:t>
            </a:r>
          </a:p>
          <a:p>
            <a:pPr marL="342900" indent="-342900">
              <a:lnSpc>
                <a:spcPct val="130000"/>
              </a:lnSpc>
              <a:buAutoNum type="arabicPeriod"/>
            </a:pPr>
            <a:r>
              <a:rPr lang="en-US" sz="1500" dirty="0">
                <a:ea typeface="Meiryo"/>
              </a:rPr>
              <a:t>Middle Man</a:t>
            </a:r>
          </a:p>
          <a:p>
            <a:pPr>
              <a:lnSpc>
                <a:spcPct val="130000"/>
              </a:lnSpc>
            </a:pPr>
            <a:endParaRPr lang="en-US" sz="1500" dirty="0">
              <a:ea typeface="Meiryo"/>
            </a:endParaRPr>
          </a:p>
        </p:txBody>
      </p:sp>
      <p:sp>
        <p:nvSpPr>
          <p:cNvPr id="21" name="Freeform: Shape 2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descr="A cartoon of a person tied to a piece of paper&#10;&#10;AI-generated content may be incorrect.">
            <a:extLst>
              <a:ext uri="{FF2B5EF4-FFF2-40B4-BE49-F238E27FC236}">
                <a16:creationId xmlns:a16="http://schemas.microsoft.com/office/drawing/2014/main" id="{B2DFCF7D-F28D-A188-5076-4C3095291A44}"/>
              </a:ext>
            </a:extLst>
          </p:cNvPr>
          <p:cNvPicPr>
            <a:picLocks noChangeAspect="1"/>
          </p:cNvPicPr>
          <p:nvPr/>
        </p:nvPicPr>
        <p:blipFill>
          <a:blip r:embed="rId2"/>
          <a:srcRect t="2274" r="1" b="19163"/>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3311237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572E366A-B6DD-4F06-A42A-FF634FDE1B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8839" y="970769"/>
            <a:ext cx="4936895" cy="4669465"/>
            <a:chOff x="648839" y="970769"/>
            <a:chExt cx="4936895" cy="4669465"/>
          </a:xfrm>
        </p:grpSpPr>
        <p:sp>
          <p:nvSpPr>
            <p:cNvPr id="11" name="Freeform: Shape 10">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43803" y="1124162"/>
              <a:ext cx="4691485"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2" y="1290468"/>
              <a:ext cx="438979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48839" y="970769"/>
              <a:ext cx="4936895" cy="466946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C0805A85-0F41-63F1-1CD7-2B11C98451E6}"/>
              </a:ext>
            </a:extLst>
          </p:cNvPr>
          <p:cNvSpPr>
            <a:spLocks noGrp="1"/>
          </p:cNvSpPr>
          <p:nvPr>
            <p:ph type="title"/>
          </p:nvPr>
        </p:nvSpPr>
        <p:spPr>
          <a:xfrm>
            <a:off x="1412543" y="1833229"/>
            <a:ext cx="3577022" cy="2934031"/>
          </a:xfrm>
        </p:spPr>
        <p:txBody>
          <a:bodyPr anchor="ctr">
            <a:normAutofit/>
          </a:bodyPr>
          <a:lstStyle/>
          <a:p>
            <a:r>
              <a:rPr lang="en-US" dirty="0">
                <a:ea typeface="Meiryo"/>
              </a:rPr>
              <a:t>How to refactor</a:t>
            </a:r>
            <a:endParaRPr lang="en-US" dirty="0"/>
          </a:p>
        </p:txBody>
      </p:sp>
      <p:sp>
        <p:nvSpPr>
          <p:cNvPr id="3" name="Content Placeholder 2">
            <a:extLst>
              <a:ext uri="{FF2B5EF4-FFF2-40B4-BE49-F238E27FC236}">
                <a16:creationId xmlns:a16="http://schemas.microsoft.com/office/drawing/2014/main" id="{8880F2F0-656F-3141-23AA-D2CDF6237DEE}"/>
              </a:ext>
            </a:extLst>
          </p:cNvPr>
          <p:cNvSpPr>
            <a:spLocks noGrp="1"/>
          </p:cNvSpPr>
          <p:nvPr>
            <p:ph idx="1"/>
          </p:nvPr>
        </p:nvSpPr>
        <p:spPr>
          <a:xfrm>
            <a:off x="6241774" y="1105306"/>
            <a:ext cx="5285587" cy="4998793"/>
          </a:xfrm>
        </p:spPr>
        <p:txBody>
          <a:bodyPr vert="horz" lIns="109728" tIns="109728" rIns="109728" bIns="91440" rtlCol="0" anchor="ctr">
            <a:normAutofit/>
          </a:bodyPr>
          <a:lstStyle/>
          <a:p>
            <a:r>
              <a:rPr lang="en-US" sz="2400" dirty="0">
                <a:ea typeface="Meiryo"/>
              </a:rPr>
              <a:t>Refactoring should be done as a series of small changes, each of which makes the existing code slightly better while still leaving the program in working order.</a:t>
            </a:r>
          </a:p>
        </p:txBody>
      </p:sp>
    </p:spTree>
    <p:extLst>
      <p:ext uri="{BB962C8B-B14F-4D97-AF65-F5344CB8AC3E}">
        <p14:creationId xmlns:p14="http://schemas.microsoft.com/office/powerpoint/2010/main" val="2439093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4A630-AC41-25F4-3F5F-D86778124C54}"/>
              </a:ext>
            </a:extLst>
          </p:cNvPr>
          <p:cNvSpPr>
            <a:spLocks noGrp="1"/>
          </p:cNvSpPr>
          <p:nvPr>
            <p:ph type="title"/>
          </p:nvPr>
        </p:nvSpPr>
        <p:spPr/>
        <p:txBody>
          <a:bodyPr>
            <a:normAutofit fontScale="90000"/>
          </a:bodyPr>
          <a:lstStyle/>
          <a:p>
            <a:r>
              <a:rPr lang="en-US" dirty="0">
                <a:ea typeface="Meiryo"/>
              </a:rPr>
              <a:t> Checklist of refactoring done right way</a:t>
            </a:r>
            <a:endParaRPr lang="en-US" dirty="0"/>
          </a:p>
          <a:p>
            <a:endParaRPr lang="en-US" dirty="0">
              <a:ea typeface="Meiryo"/>
            </a:endParaRPr>
          </a:p>
        </p:txBody>
      </p:sp>
      <p:graphicFrame>
        <p:nvGraphicFramePr>
          <p:cNvPr id="5" name="Content Placeholder 2">
            <a:extLst>
              <a:ext uri="{FF2B5EF4-FFF2-40B4-BE49-F238E27FC236}">
                <a16:creationId xmlns:a16="http://schemas.microsoft.com/office/drawing/2014/main" id="{5DD54FA1-97A6-B924-FAF3-BA714482F84E}"/>
              </a:ext>
            </a:extLst>
          </p:cNvPr>
          <p:cNvGraphicFramePr>
            <a:graphicFrameLocks noGrp="1"/>
          </p:cNvGraphicFramePr>
          <p:nvPr>
            <p:ph idx="1"/>
          </p:nvPr>
        </p:nvGraphicFramePr>
        <p:xfrm>
          <a:off x="1920240" y="2312276"/>
          <a:ext cx="8770571" cy="3651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7249742"/>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Props/app.xml><?xml version="1.0" encoding="utf-8"?>
<Properties xmlns="http://schemas.openxmlformats.org/officeDocument/2006/extended-properties" xmlns:vt="http://schemas.openxmlformats.org/officeDocument/2006/docPropsVTypes">
  <Template>office theme</Template>
  <TotalTime>8685</TotalTime>
  <Words>1223</Words>
  <Application>Microsoft Office PowerPoint</Application>
  <PresentationFormat>Widescreen</PresentationFormat>
  <Paragraphs>145</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Meiryo</vt:lpstr>
      <vt:lpstr>Arial</vt:lpstr>
      <vt:lpstr>Corbel</vt:lpstr>
      <vt:lpstr>Google Sans Text</vt:lpstr>
      <vt:lpstr>PT Sans</vt:lpstr>
      <vt:lpstr>SketchLinesVTI</vt:lpstr>
      <vt:lpstr>Software Re-Engineering</vt:lpstr>
      <vt:lpstr>Refactoring </vt:lpstr>
      <vt:lpstr>Dirty Code</vt:lpstr>
      <vt:lpstr>Clean Code</vt:lpstr>
      <vt:lpstr>Refactoring Process </vt:lpstr>
      <vt:lpstr>Refactoring Techniques</vt:lpstr>
      <vt:lpstr> 1.Composing Methods</vt:lpstr>
      <vt:lpstr>PowerPoint Presentation</vt:lpstr>
      <vt:lpstr>PowerPoint Presentation</vt:lpstr>
      <vt:lpstr> 2. Moving Features between Objects</vt:lpstr>
      <vt:lpstr>Technique: Move Method  Dirty Code (Feature Envy): A method uses the data of another class more than its own. </vt:lpstr>
      <vt:lpstr>Refactored: Moves the logic to the class that actually owns the data.</vt:lpstr>
      <vt:lpstr> 3.Organizing Data</vt:lpstr>
      <vt:lpstr>Technique: Replace Primitive with Object  Dirty Code (Primitive Obsession): Using a primitive for a concept that has its own logic. </vt:lpstr>
      <vt:lpstr>PowerPoint Presentation</vt:lpstr>
      <vt:lpstr> 4.Simplifying Conditional Expressions</vt:lpstr>
      <vt:lpstr>Technique: Decompose Conditional  Dirty Code: Complicated "if" statements that become a "mess" over time. </vt:lpstr>
      <vt:lpstr>PowerPoint Presentation</vt:lpstr>
      <vt:lpstr>5. Simplifying Method Calls</vt:lpstr>
      <vt:lpstr>Technique: Replace Parameter with Explicit Methods  Dirty Code: A single method that uses a flag to decide what to do (confusing interface). </vt:lpstr>
      <vt:lpstr>PowerPoint Presentation</vt:lpstr>
      <vt:lpstr>6. Dealing with Generalization</vt:lpstr>
      <vt:lpstr>Technique: Pull Up Field/Method  Dirty Code (Duplicate Code): Two subclasses have the exact same field or method. </vt:lpstr>
      <vt:lpstr>PowerPoint Presentation</vt:lpstr>
      <vt:lpstr>Code Smells </vt:lpstr>
      <vt:lpstr> 1. Bloaters</vt:lpstr>
      <vt:lpstr> 2. Object-Orientation Abusers</vt:lpstr>
      <vt:lpstr> 3. Change Preventers</vt:lpstr>
      <vt:lpstr>4. Dispensable</vt:lpstr>
      <vt:lpstr>5. Couplers</vt:lpstr>
      <vt:lpstr>How to refactor</vt:lpstr>
      <vt:lpstr> Checklist of refactoring done right way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Re-Engineering</dc:title>
  <dc:creator>Maqsood</dc:creator>
  <cp:lastModifiedBy>Maqsooda</cp:lastModifiedBy>
  <cp:revision>251</cp:revision>
  <dcterms:created xsi:type="dcterms:W3CDTF">2026-03-02T16:35:27Z</dcterms:created>
  <dcterms:modified xsi:type="dcterms:W3CDTF">2026-03-09T03:04:40Z</dcterms:modified>
</cp:coreProperties>
</file>