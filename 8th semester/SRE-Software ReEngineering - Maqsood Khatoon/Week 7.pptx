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5" r:id="rId13"/>
    <p:sldId id="267" r:id="rId14"/>
    <p:sldId id="268" r:id="rId15"/>
    <p:sldId id="269" r:id="rId16"/>
    <p:sldId id="270" r:id="rId17"/>
    <p:sldId id="271" r:id="rId18"/>
    <p:sldId id="272" r:id="rId19"/>
    <p:sldId id="273"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F5F867-4FB2-4379-AEAA-E6B02540D2B4}" v="332" dt="2026-03-02T18:00:36.9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CAEE19-0512-40BD-8720-14D21CD96C9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EB158FF-8294-4233-83A0-E24BF9F099CF}">
      <dgm:prSet/>
      <dgm:spPr/>
      <dgm:t>
        <a:bodyPr/>
        <a:lstStyle/>
        <a:p>
          <a:pPr>
            <a:lnSpc>
              <a:spcPct val="100000"/>
            </a:lnSpc>
          </a:pPr>
          <a:r>
            <a:rPr lang="en-US"/>
            <a:t>The code should become cleaner.</a:t>
          </a:r>
        </a:p>
      </dgm:t>
    </dgm:pt>
    <dgm:pt modelId="{A80FAEF0-A637-489A-B6CC-3C9E005D4E79}" type="parTrans" cxnId="{B57A9BF4-BBA9-4521-A700-05E380917E41}">
      <dgm:prSet/>
      <dgm:spPr/>
      <dgm:t>
        <a:bodyPr/>
        <a:lstStyle/>
        <a:p>
          <a:endParaRPr lang="en-US"/>
        </a:p>
      </dgm:t>
    </dgm:pt>
    <dgm:pt modelId="{00A6BE4F-9E9A-47A9-AF43-094F46F50714}" type="sibTrans" cxnId="{B57A9BF4-BBA9-4521-A700-05E380917E41}">
      <dgm:prSet/>
      <dgm:spPr/>
      <dgm:t>
        <a:bodyPr/>
        <a:lstStyle/>
        <a:p>
          <a:endParaRPr lang="en-US"/>
        </a:p>
      </dgm:t>
    </dgm:pt>
    <dgm:pt modelId="{30B25936-2BB6-48EE-8184-068B6369354E}">
      <dgm:prSet/>
      <dgm:spPr/>
      <dgm:t>
        <a:bodyPr/>
        <a:lstStyle/>
        <a:p>
          <a:pPr>
            <a:lnSpc>
              <a:spcPct val="100000"/>
            </a:lnSpc>
          </a:pPr>
          <a:r>
            <a:rPr lang="en-US"/>
            <a:t>New functionality shouldn’t be created during refactoring.</a:t>
          </a:r>
        </a:p>
      </dgm:t>
    </dgm:pt>
    <dgm:pt modelId="{BC1AF8AF-7ED2-4983-8FBE-B05E7207D20E}" type="parTrans" cxnId="{8054D2DA-AC2F-4E87-A292-54C752E039A9}">
      <dgm:prSet/>
      <dgm:spPr/>
      <dgm:t>
        <a:bodyPr/>
        <a:lstStyle/>
        <a:p>
          <a:endParaRPr lang="en-US"/>
        </a:p>
      </dgm:t>
    </dgm:pt>
    <dgm:pt modelId="{5369A309-F817-4539-8E0C-405211EF13E4}" type="sibTrans" cxnId="{8054D2DA-AC2F-4E87-A292-54C752E039A9}">
      <dgm:prSet/>
      <dgm:spPr/>
      <dgm:t>
        <a:bodyPr/>
        <a:lstStyle/>
        <a:p>
          <a:endParaRPr lang="en-US"/>
        </a:p>
      </dgm:t>
    </dgm:pt>
    <dgm:pt modelId="{DA5D40FD-9AC9-4144-9A57-D972B09D1F9B}">
      <dgm:prSet/>
      <dgm:spPr/>
      <dgm:t>
        <a:bodyPr/>
        <a:lstStyle/>
        <a:p>
          <a:pPr>
            <a:lnSpc>
              <a:spcPct val="100000"/>
            </a:lnSpc>
          </a:pPr>
          <a:r>
            <a:rPr lang="en-US"/>
            <a:t>All existing tests must pass after refactoring.</a:t>
          </a:r>
        </a:p>
      </dgm:t>
    </dgm:pt>
    <dgm:pt modelId="{DBBFEF53-897A-416D-B576-F9096F0F33F0}" type="parTrans" cxnId="{9A0B9825-896D-4E3C-A6EC-216634C58FE2}">
      <dgm:prSet/>
      <dgm:spPr/>
      <dgm:t>
        <a:bodyPr/>
        <a:lstStyle/>
        <a:p>
          <a:endParaRPr lang="en-US"/>
        </a:p>
      </dgm:t>
    </dgm:pt>
    <dgm:pt modelId="{BC974324-AC6E-453E-B143-F7746D958319}" type="sibTrans" cxnId="{9A0B9825-896D-4E3C-A6EC-216634C58FE2}">
      <dgm:prSet/>
      <dgm:spPr/>
      <dgm:t>
        <a:bodyPr/>
        <a:lstStyle/>
        <a:p>
          <a:endParaRPr lang="en-US"/>
        </a:p>
      </dgm:t>
    </dgm:pt>
    <dgm:pt modelId="{BC45BC9E-3AB4-4F67-8365-0542009AB649}" type="pres">
      <dgm:prSet presAssocID="{D3CAEE19-0512-40BD-8720-14D21CD96C9F}" presName="root" presStyleCnt="0">
        <dgm:presLayoutVars>
          <dgm:dir/>
          <dgm:resizeHandles val="exact"/>
        </dgm:presLayoutVars>
      </dgm:prSet>
      <dgm:spPr/>
    </dgm:pt>
    <dgm:pt modelId="{4061DAEE-9AD9-4B50-AFEB-3549A8C7D6A4}" type="pres">
      <dgm:prSet presAssocID="{FEB158FF-8294-4233-83A0-E24BF9F099CF}" presName="compNode" presStyleCnt="0"/>
      <dgm:spPr/>
    </dgm:pt>
    <dgm:pt modelId="{02762197-F044-4B6F-9082-C97B83CC3FF6}" type="pres">
      <dgm:prSet presAssocID="{FEB158FF-8294-4233-83A0-E24BF9F099CF}" presName="bgRect" presStyleLbl="bgShp" presStyleIdx="0" presStyleCnt="3"/>
      <dgm:spPr/>
    </dgm:pt>
    <dgm:pt modelId="{ABA409D5-67FA-48E1-82F2-BBF542769B71}" type="pres">
      <dgm:prSet presAssocID="{FEB158FF-8294-4233-83A0-E24BF9F099C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9FB13562-6883-45BA-B393-B0C2A656BDCA}" type="pres">
      <dgm:prSet presAssocID="{FEB158FF-8294-4233-83A0-E24BF9F099CF}" presName="spaceRect" presStyleCnt="0"/>
      <dgm:spPr/>
    </dgm:pt>
    <dgm:pt modelId="{47441686-FF4F-45A6-8273-537B5F4EC605}" type="pres">
      <dgm:prSet presAssocID="{FEB158FF-8294-4233-83A0-E24BF9F099CF}" presName="parTx" presStyleLbl="revTx" presStyleIdx="0" presStyleCnt="3">
        <dgm:presLayoutVars>
          <dgm:chMax val="0"/>
          <dgm:chPref val="0"/>
        </dgm:presLayoutVars>
      </dgm:prSet>
      <dgm:spPr/>
    </dgm:pt>
    <dgm:pt modelId="{C5D48FE0-BB25-4359-B173-F05B36C5DCBA}" type="pres">
      <dgm:prSet presAssocID="{00A6BE4F-9E9A-47A9-AF43-094F46F50714}" presName="sibTrans" presStyleCnt="0"/>
      <dgm:spPr/>
    </dgm:pt>
    <dgm:pt modelId="{5C5AFF4D-4FD6-4C96-9228-730A3CCB9D7D}" type="pres">
      <dgm:prSet presAssocID="{30B25936-2BB6-48EE-8184-068B6369354E}" presName="compNode" presStyleCnt="0"/>
      <dgm:spPr/>
    </dgm:pt>
    <dgm:pt modelId="{F0E9BA21-4538-4239-96FA-37CEEC29797D}" type="pres">
      <dgm:prSet presAssocID="{30B25936-2BB6-48EE-8184-068B6369354E}" presName="bgRect" presStyleLbl="bgShp" presStyleIdx="1" presStyleCnt="3"/>
      <dgm:spPr/>
    </dgm:pt>
    <dgm:pt modelId="{093C35DD-A372-443E-A661-BE36493626B7}" type="pres">
      <dgm:prSet presAssocID="{30B25936-2BB6-48EE-8184-068B6369354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licopter"/>
        </a:ext>
      </dgm:extLst>
    </dgm:pt>
    <dgm:pt modelId="{E15A1A03-CEA5-4CA9-8DAD-4D1DC02C9497}" type="pres">
      <dgm:prSet presAssocID="{30B25936-2BB6-48EE-8184-068B6369354E}" presName="spaceRect" presStyleCnt="0"/>
      <dgm:spPr/>
    </dgm:pt>
    <dgm:pt modelId="{44E944D0-0C0C-47E1-85EA-3F3CE7307F7B}" type="pres">
      <dgm:prSet presAssocID="{30B25936-2BB6-48EE-8184-068B6369354E}" presName="parTx" presStyleLbl="revTx" presStyleIdx="1" presStyleCnt="3">
        <dgm:presLayoutVars>
          <dgm:chMax val="0"/>
          <dgm:chPref val="0"/>
        </dgm:presLayoutVars>
      </dgm:prSet>
      <dgm:spPr/>
    </dgm:pt>
    <dgm:pt modelId="{E476FEAB-9AF0-4A88-BC25-3B3F359A197E}" type="pres">
      <dgm:prSet presAssocID="{5369A309-F817-4539-8E0C-405211EF13E4}" presName="sibTrans" presStyleCnt="0"/>
      <dgm:spPr/>
    </dgm:pt>
    <dgm:pt modelId="{3937C3E4-BC87-4E7B-A86C-10A18540086C}" type="pres">
      <dgm:prSet presAssocID="{DA5D40FD-9AC9-4144-9A57-D972B09D1F9B}" presName="compNode" presStyleCnt="0"/>
      <dgm:spPr/>
    </dgm:pt>
    <dgm:pt modelId="{CE0C4388-E0E9-4BB9-A6CA-BB9066E0850B}" type="pres">
      <dgm:prSet presAssocID="{DA5D40FD-9AC9-4144-9A57-D972B09D1F9B}" presName="bgRect" presStyleLbl="bgShp" presStyleIdx="2" presStyleCnt="3"/>
      <dgm:spPr/>
    </dgm:pt>
    <dgm:pt modelId="{0F8AF1A0-1790-4E1F-A751-D034C636A091}" type="pres">
      <dgm:prSet presAssocID="{DA5D40FD-9AC9-4144-9A57-D972B09D1F9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lask"/>
        </a:ext>
      </dgm:extLst>
    </dgm:pt>
    <dgm:pt modelId="{5967C5ED-22EA-4C27-8050-9FA2FAAE7B49}" type="pres">
      <dgm:prSet presAssocID="{DA5D40FD-9AC9-4144-9A57-D972B09D1F9B}" presName="spaceRect" presStyleCnt="0"/>
      <dgm:spPr/>
    </dgm:pt>
    <dgm:pt modelId="{4D858066-0023-46F1-97EC-231046C88AFB}" type="pres">
      <dgm:prSet presAssocID="{DA5D40FD-9AC9-4144-9A57-D972B09D1F9B}" presName="parTx" presStyleLbl="revTx" presStyleIdx="2" presStyleCnt="3">
        <dgm:presLayoutVars>
          <dgm:chMax val="0"/>
          <dgm:chPref val="0"/>
        </dgm:presLayoutVars>
      </dgm:prSet>
      <dgm:spPr/>
    </dgm:pt>
  </dgm:ptLst>
  <dgm:cxnLst>
    <dgm:cxn modelId="{AC8F3B18-67CD-49CE-A515-CECE7A257681}" type="presOf" srcId="{D3CAEE19-0512-40BD-8720-14D21CD96C9F}" destId="{BC45BC9E-3AB4-4F67-8365-0542009AB649}" srcOrd="0" destOrd="0" presId="urn:microsoft.com/office/officeart/2018/2/layout/IconVerticalSolidList"/>
    <dgm:cxn modelId="{9A0B9825-896D-4E3C-A6EC-216634C58FE2}" srcId="{D3CAEE19-0512-40BD-8720-14D21CD96C9F}" destId="{DA5D40FD-9AC9-4144-9A57-D972B09D1F9B}" srcOrd="2" destOrd="0" parTransId="{DBBFEF53-897A-416D-B576-F9096F0F33F0}" sibTransId="{BC974324-AC6E-453E-B143-F7746D958319}"/>
    <dgm:cxn modelId="{49355C5E-0AE6-4701-8C1A-09C51A847F2A}" type="presOf" srcId="{30B25936-2BB6-48EE-8184-068B6369354E}" destId="{44E944D0-0C0C-47E1-85EA-3F3CE7307F7B}" srcOrd="0" destOrd="0" presId="urn:microsoft.com/office/officeart/2018/2/layout/IconVerticalSolidList"/>
    <dgm:cxn modelId="{BBBA9D7A-C6B9-4D81-853E-9C09FAA3C405}" type="presOf" srcId="{DA5D40FD-9AC9-4144-9A57-D972B09D1F9B}" destId="{4D858066-0023-46F1-97EC-231046C88AFB}" srcOrd="0" destOrd="0" presId="urn:microsoft.com/office/officeart/2018/2/layout/IconVerticalSolidList"/>
    <dgm:cxn modelId="{9EDB4FCE-A3CA-4BBF-82DE-F66FD2C5C8A7}" type="presOf" srcId="{FEB158FF-8294-4233-83A0-E24BF9F099CF}" destId="{47441686-FF4F-45A6-8273-537B5F4EC605}" srcOrd="0" destOrd="0" presId="urn:microsoft.com/office/officeart/2018/2/layout/IconVerticalSolidList"/>
    <dgm:cxn modelId="{8054D2DA-AC2F-4E87-A292-54C752E039A9}" srcId="{D3CAEE19-0512-40BD-8720-14D21CD96C9F}" destId="{30B25936-2BB6-48EE-8184-068B6369354E}" srcOrd="1" destOrd="0" parTransId="{BC1AF8AF-7ED2-4983-8FBE-B05E7207D20E}" sibTransId="{5369A309-F817-4539-8E0C-405211EF13E4}"/>
    <dgm:cxn modelId="{B57A9BF4-BBA9-4521-A700-05E380917E41}" srcId="{D3CAEE19-0512-40BD-8720-14D21CD96C9F}" destId="{FEB158FF-8294-4233-83A0-E24BF9F099CF}" srcOrd="0" destOrd="0" parTransId="{A80FAEF0-A637-489A-B6CC-3C9E005D4E79}" sibTransId="{00A6BE4F-9E9A-47A9-AF43-094F46F50714}"/>
    <dgm:cxn modelId="{D4CC0681-6091-4FC5-8B09-108D755A13D9}" type="presParOf" srcId="{BC45BC9E-3AB4-4F67-8365-0542009AB649}" destId="{4061DAEE-9AD9-4B50-AFEB-3549A8C7D6A4}" srcOrd="0" destOrd="0" presId="urn:microsoft.com/office/officeart/2018/2/layout/IconVerticalSolidList"/>
    <dgm:cxn modelId="{0D1C8BB8-D78E-4C8F-8F95-8EE9F4C0DBBE}" type="presParOf" srcId="{4061DAEE-9AD9-4B50-AFEB-3549A8C7D6A4}" destId="{02762197-F044-4B6F-9082-C97B83CC3FF6}" srcOrd="0" destOrd="0" presId="urn:microsoft.com/office/officeart/2018/2/layout/IconVerticalSolidList"/>
    <dgm:cxn modelId="{C1C2E21A-CABB-4488-B309-CE60AEFE9086}" type="presParOf" srcId="{4061DAEE-9AD9-4B50-AFEB-3549A8C7D6A4}" destId="{ABA409D5-67FA-48E1-82F2-BBF542769B71}" srcOrd="1" destOrd="0" presId="urn:microsoft.com/office/officeart/2018/2/layout/IconVerticalSolidList"/>
    <dgm:cxn modelId="{8D7445BD-CCE3-42F6-AF5A-9E9EF00C0A48}" type="presParOf" srcId="{4061DAEE-9AD9-4B50-AFEB-3549A8C7D6A4}" destId="{9FB13562-6883-45BA-B393-B0C2A656BDCA}" srcOrd="2" destOrd="0" presId="urn:microsoft.com/office/officeart/2018/2/layout/IconVerticalSolidList"/>
    <dgm:cxn modelId="{C4EE94E4-4726-4F94-967C-AFAF06A7D5A2}" type="presParOf" srcId="{4061DAEE-9AD9-4B50-AFEB-3549A8C7D6A4}" destId="{47441686-FF4F-45A6-8273-537B5F4EC605}" srcOrd="3" destOrd="0" presId="urn:microsoft.com/office/officeart/2018/2/layout/IconVerticalSolidList"/>
    <dgm:cxn modelId="{3711752D-2ADF-4AD8-A119-DA323AF275A6}" type="presParOf" srcId="{BC45BC9E-3AB4-4F67-8365-0542009AB649}" destId="{C5D48FE0-BB25-4359-B173-F05B36C5DCBA}" srcOrd="1" destOrd="0" presId="urn:microsoft.com/office/officeart/2018/2/layout/IconVerticalSolidList"/>
    <dgm:cxn modelId="{F79A5F93-4F2B-4D81-BF19-4245C662C3B5}" type="presParOf" srcId="{BC45BC9E-3AB4-4F67-8365-0542009AB649}" destId="{5C5AFF4D-4FD6-4C96-9228-730A3CCB9D7D}" srcOrd="2" destOrd="0" presId="urn:microsoft.com/office/officeart/2018/2/layout/IconVerticalSolidList"/>
    <dgm:cxn modelId="{40E35519-1C30-4D65-B1F6-6F1A32621407}" type="presParOf" srcId="{5C5AFF4D-4FD6-4C96-9228-730A3CCB9D7D}" destId="{F0E9BA21-4538-4239-96FA-37CEEC29797D}" srcOrd="0" destOrd="0" presId="urn:microsoft.com/office/officeart/2018/2/layout/IconVerticalSolidList"/>
    <dgm:cxn modelId="{B5753DC6-76E0-44E8-91BB-30BDE49D6FDC}" type="presParOf" srcId="{5C5AFF4D-4FD6-4C96-9228-730A3CCB9D7D}" destId="{093C35DD-A372-443E-A661-BE36493626B7}" srcOrd="1" destOrd="0" presId="urn:microsoft.com/office/officeart/2018/2/layout/IconVerticalSolidList"/>
    <dgm:cxn modelId="{5A584137-7A9D-4005-AD89-EA01F9F97D5B}" type="presParOf" srcId="{5C5AFF4D-4FD6-4C96-9228-730A3CCB9D7D}" destId="{E15A1A03-CEA5-4CA9-8DAD-4D1DC02C9497}" srcOrd="2" destOrd="0" presId="urn:microsoft.com/office/officeart/2018/2/layout/IconVerticalSolidList"/>
    <dgm:cxn modelId="{A89E3AEB-978F-405B-A7E5-F5405F8EC346}" type="presParOf" srcId="{5C5AFF4D-4FD6-4C96-9228-730A3CCB9D7D}" destId="{44E944D0-0C0C-47E1-85EA-3F3CE7307F7B}" srcOrd="3" destOrd="0" presId="urn:microsoft.com/office/officeart/2018/2/layout/IconVerticalSolidList"/>
    <dgm:cxn modelId="{FDD11463-3506-4E3C-A97C-268748455C4B}" type="presParOf" srcId="{BC45BC9E-3AB4-4F67-8365-0542009AB649}" destId="{E476FEAB-9AF0-4A88-BC25-3B3F359A197E}" srcOrd="3" destOrd="0" presId="urn:microsoft.com/office/officeart/2018/2/layout/IconVerticalSolidList"/>
    <dgm:cxn modelId="{636A471C-A115-418B-9BCF-8A68229AB2E7}" type="presParOf" srcId="{BC45BC9E-3AB4-4F67-8365-0542009AB649}" destId="{3937C3E4-BC87-4E7B-A86C-10A18540086C}" srcOrd="4" destOrd="0" presId="urn:microsoft.com/office/officeart/2018/2/layout/IconVerticalSolidList"/>
    <dgm:cxn modelId="{B5ECEA8D-F893-405A-B83D-4D3DA0FDD6EE}" type="presParOf" srcId="{3937C3E4-BC87-4E7B-A86C-10A18540086C}" destId="{CE0C4388-E0E9-4BB9-A6CA-BB9066E0850B}" srcOrd="0" destOrd="0" presId="urn:microsoft.com/office/officeart/2018/2/layout/IconVerticalSolidList"/>
    <dgm:cxn modelId="{7F5C935E-DE31-4789-8EAE-B62195534E9E}" type="presParOf" srcId="{3937C3E4-BC87-4E7B-A86C-10A18540086C}" destId="{0F8AF1A0-1790-4E1F-A751-D034C636A091}" srcOrd="1" destOrd="0" presId="urn:microsoft.com/office/officeart/2018/2/layout/IconVerticalSolidList"/>
    <dgm:cxn modelId="{7268D889-B1C7-4A3A-AAC6-F3557339C8A8}" type="presParOf" srcId="{3937C3E4-BC87-4E7B-A86C-10A18540086C}" destId="{5967C5ED-22EA-4C27-8050-9FA2FAAE7B49}" srcOrd="2" destOrd="0" presId="urn:microsoft.com/office/officeart/2018/2/layout/IconVerticalSolidList"/>
    <dgm:cxn modelId="{B049185E-0E58-4EDD-8A8E-3A22E8B5CC53}" type="presParOf" srcId="{3937C3E4-BC87-4E7B-A86C-10A18540086C}" destId="{4D858066-0023-46F1-97EC-231046C88AF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762197-F044-4B6F-9082-C97B83CC3FF6}">
      <dsp:nvSpPr>
        <dsp:cNvPr id="0" name=""/>
        <dsp:cNvSpPr/>
      </dsp:nvSpPr>
      <dsp:spPr>
        <a:xfrm>
          <a:off x="0" y="445"/>
          <a:ext cx="8770571" cy="10430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A409D5-67FA-48E1-82F2-BBF542769B71}">
      <dsp:nvSpPr>
        <dsp:cNvPr id="0" name=""/>
        <dsp:cNvSpPr/>
      </dsp:nvSpPr>
      <dsp:spPr>
        <a:xfrm>
          <a:off x="315517" y="235127"/>
          <a:ext cx="573667" cy="5736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441686-FF4F-45A6-8273-537B5F4EC605}">
      <dsp:nvSpPr>
        <dsp:cNvPr id="0" name=""/>
        <dsp:cNvSpPr/>
      </dsp:nvSpPr>
      <dsp:spPr>
        <a:xfrm>
          <a:off x="1204702" y="445"/>
          <a:ext cx="7565868"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889000">
            <a:lnSpc>
              <a:spcPct val="100000"/>
            </a:lnSpc>
            <a:spcBef>
              <a:spcPct val="0"/>
            </a:spcBef>
            <a:spcAft>
              <a:spcPct val="35000"/>
            </a:spcAft>
            <a:buNone/>
          </a:pPr>
          <a:r>
            <a:rPr lang="en-US" sz="2000" kern="1200"/>
            <a:t>The code should become cleaner.</a:t>
          </a:r>
        </a:p>
      </dsp:txBody>
      <dsp:txXfrm>
        <a:off x="1204702" y="445"/>
        <a:ext cx="7565868" cy="1043032"/>
      </dsp:txXfrm>
    </dsp:sp>
    <dsp:sp modelId="{F0E9BA21-4538-4239-96FA-37CEEC29797D}">
      <dsp:nvSpPr>
        <dsp:cNvPr id="0" name=""/>
        <dsp:cNvSpPr/>
      </dsp:nvSpPr>
      <dsp:spPr>
        <a:xfrm>
          <a:off x="0" y="1304235"/>
          <a:ext cx="8770571" cy="10430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3C35DD-A372-443E-A661-BE36493626B7}">
      <dsp:nvSpPr>
        <dsp:cNvPr id="0" name=""/>
        <dsp:cNvSpPr/>
      </dsp:nvSpPr>
      <dsp:spPr>
        <a:xfrm>
          <a:off x="315517" y="1538918"/>
          <a:ext cx="573667" cy="5736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E944D0-0C0C-47E1-85EA-3F3CE7307F7B}">
      <dsp:nvSpPr>
        <dsp:cNvPr id="0" name=""/>
        <dsp:cNvSpPr/>
      </dsp:nvSpPr>
      <dsp:spPr>
        <a:xfrm>
          <a:off x="1204702" y="1304235"/>
          <a:ext cx="7565868"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889000">
            <a:lnSpc>
              <a:spcPct val="100000"/>
            </a:lnSpc>
            <a:spcBef>
              <a:spcPct val="0"/>
            </a:spcBef>
            <a:spcAft>
              <a:spcPct val="35000"/>
            </a:spcAft>
            <a:buNone/>
          </a:pPr>
          <a:r>
            <a:rPr lang="en-US" sz="2000" kern="1200"/>
            <a:t>New functionality shouldn’t be created during refactoring.</a:t>
          </a:r>
        </a:p>
      </dsp:txBody>
      <dsp:txXfrm>
        <a:off x="1204702" y="1304235"/>
        <a:ext cx="7565868" cy="1043032"/>
      </dsp:txXfrm>
    </dsp:sp>
    <dsp:sp modelId="{CE0C4388-E0E9-4BB9-A6CA-BB9066E0850B}">
      <dsp:nvSpPr>
        <dsp:cNvPr id="0" name=""/>
        <dsp:cNvSpPr/>
      </dsp:nvSpPr>
      <dsp:spPr>
        <a:xfrm>
          <a:off x="0" y="2608026"/>
          <a:ext cx="8770571" cy="10430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8AF1A0-1790-4E1F-A751-D034C636A091}">
      <dsp:nvSpPr>
        <dsp:cNvPr id="0" name=""/>
        <dsp:cNvSpPr/>
      </dsp:nvSpPr>
      <dsp:spPr>
        <a:xfrm>
          <a:off x="315517" y="2842708"/>
          <a:ext cx="573667" cy="5736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858066-0023-46F1-97EC-231046C88AFB}">
      <dsp:nvSpPr>
        <dsp:cNvPr id="0" name=""/>
        <dsp:cNvSpPr/>
      </dsp:nvSpPr>
      <dsp:spPr>
        <a:xfrm>
          <a:off x="1204702" y="2608026"/>
          <a:ext cx="7565868" cy="1043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88" tIns="110388" rIns="110388" bIns="110388" numCol="1" spcCol="1270" anchor="ctr" anchorCtr="0">
          <a:noAutofit/>
        </a:bodyPr>
        <a:lstStyle/>
        <a:p>
          <a:pPr marL="0" lvl="0" indent="0" algn="l" defTabSz="889000">
            <a:lnSpc>
              <a:spcPct val="100000"/>
            </a:lnSpc>
            <a:spcBef>
              <a:spcPct val="0"/>
            </a:spcBef>
            <a:spcAft>
              <a:spcPct val="35000"/>
            </a:spcAft>
            <a:buNone/>
          </a:pPr>
          <a:r>
            <a:rPr lang="en-US" sz="2000" kern="1200"/>
            <a:t>All existing tests must pass after refactoring.</a:t>
          </a:r>
        </a:p>
      </dsp:txBody>
      <dsp:txXfrm>
        <a:off x="1204702" y="2608026"/>
        <a:ext cx="7565868" cy="104303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9B0F7D69-D93C-4C38-A23D-76E000D691CD}"/>
              </a:ext>
            </a:extLst>
          </p:cNvPr>
          <p:cNvSpPr/>
          <p:nvPr/>
        </p:nvSpPr>
        <p:spPr>
          <a:xfrm>
            <a:off x="0" y="0"/>
            <a:ext cx="3496422" cy="6858000"/>
          </a:xfrm>
          <a:custGeom>
            <a:avLst/>
            <a:gdLst>
              <a:gd name="connsiteX0" fmla="*/ 0 w 3496422"/>
              <a:gd name="connsiteY0" fmla="*/ 0 h 6858000"/>
              <a:gd name="connsiteX1" fmla="*/ 1873399 w 3496422"/>
              <a:gd name="connsiteY1" fmla="*/ 0 h 6858000"/>
              <a:gd name="connsiteX2" fmla="*/ 1895523 w 3496422"/>
              <a:gd name="connsiteY2" fmla="*/ 14997 h 6858000"/>
              <a:gd name="connsiteX3" fmla="*/ 3496422 w 3496422"/>
              <a:gd name="connsiteY3" fmla="*/ 3621656 h 6858000"/>
              <a:gd name="connsiteX4" fmla="*/ 1622072 w 3496422"/>
              <a:gd name="connsiteY4" fmla="*/ 6374814 h 6858000"/>
              <a:gd name="connsiteX5" fmla="*/ 1105424 w 3496422"/>
              <a:gd name="connsiteY5" fmla="*/ 6780599 h 6858000"/>
              <a:gd name="connsiteX6" fmla="*/ 993668 w 3496422"/>
              <a:gd name="connsiteY6" fmla="*/ 6858000 h 6858000"/>
              <a:gd name="connsiteX7" fmla="*/ 0 w 349642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4654295" y="1346268"/>
            <a:ext cx="7060135" cy="3285207"/>
          </a:xfrm>
        </p:spPr>
        <p:txBody>
          <a:bodyPr anchor="b">
            <a:noAutofit/>
          </a:bodyPr>
          <a:lstStyle>
            <a:lvl1pPr algn="l">
              <a:lnSpc>
                <a:spcPct val="120000"/>
              </a:lnSpc>
              <a:defRPr sz="540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662312" y="4631475"/>
            <a:ext cx="7052117" cy="1150200"/>
          </a:xfrm>
        </p:spPr>
        <p:txBody>
          <a:bodyPr lIns="109728" tIns="109728" rIns="109728" bIns="91440" anchor="t">
            <a:normAutofit/>
          </a:bodyPr>
          <a:lstStyle>
            <a:lvl1pPr marL="0" indent="0" algn="l">
              <a:lnSpc>
                <a:spcPct val="130000"/>
              </a:lnSpc>
              <a:buNone/>
              <a:defRPr sz="2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Date Placeholder 9">
            <a:extLst>
              <a:ext uri="{FF2B5EF4-FFF2-40B4-BE49-F238E27FC236}">
                <a16:creationId xmlns:a16="http://schemas.microsoft.com/office/drawing/2014/main" id="{123E5C65-E22A-4865-9449-10140D62B655}"/>
              </a:ext>
            </a:extLst>
          </p:cNvPr>
          <p:cNvSpPr>
            <a:spLocks noGrp="1"/>
          </p:cNvSpPr>
          <p:nvPr>
            <p:ph type="dt" sz="half" idx="10"/>
          </p:nvPr>
        </p:nvSpPr>
        <p:spPr>
          <a:xfrm>
            <a:off x="4654295" y="617415"/>
            <a:ext cx="7123723" cy="457200"/>
          </a:xfrm>
        </p:spPr>
        <p:txBody>
          <a:bodyPr/>
          <a:lstStyle>
            <a:lvl1pPr algn="l">
              <a:defRPr/>
            </a:lvl1pPr>
          </a:lstStyle>
          <a:p>
            <a:fld id="{12241623-A064-4BED-B073-BA4D61433402}" type="datetime1">
              <a:rPr lang="en-US" smtClean="0"/>
              <a:t>3/2/2026</a:t>
            </a:fld>
            <a:endParaRPr lang="en-US" dirty="0"/>
          </a:p>
        </p:txBody>
      </p:sp>
      <p:sp>
        <p:nvSpPr>
          <p:cNvPr id="24" name="Footer Placeholder 23">
            <a:extLst>
              <a:ext uri="{FF2B5EF4-FFF2-40B4-BE49-F238E27FC236}">
                <a16:creationId xmlns:a16="http://schemas.microsoft.com/office/drawing/2014/main" id="{EF9C3DE0-E7F5-4B4D-B5AF-CDE724CE79A3}"/>
              </a:ext>
            </a:extLst>
          </p:cNvPr>
          <p:cNvSpPr>
            <a:spLocks noGrp="1"/>
          </p:cNvSpPr>
          <p:nvPr>
            <p:ph type="ftr" sz="quarter" idx="11"/>
          </p:nvPr>
        </p:nvSpPr>
        <p:spPr>
          <a:xfrm>
            <a:off x="4654295" y="6170490"/>
            <a:ext cx="5588349" cy="457200"/>
          </a:xfrm>
        </p:spPr>
        <p:txBody>
          <a:bodyPr/>
          <a:lstStyle/>
          <a:p>
            <a:endParaRPr lang="en-US" dirty="0"/>
          </a:p>
        </p:txBody>
      </p:sp>
      <p:sp>
        <p:nvSpPr>
          <p:cNvPr id="25" name="Slide Number Placeholder 24">
            <a:extLst>
              <a:ext uri="{FF2B5EF4-FFF2-40B4-BE49-F238E27FC236}">
                <a16:creationId xmlns:a16="http://schemas.microsoft.com/office/drawing/2014/main" id="{48C1E146-840A-4217-B63E-62E5CF8909C2}"/>
              </a:ext>
            </a:extLst>
          </p:cNvPr>
          <p:cNvSpPr>
            <a:spLocks noGrp="1"/>
          </p:cNvSpPr>
          <p:nvPr>
            <p:ph type="sldNum" sz="quarter" idx="12"/>
          </p:nvPr>
        </p:nvSpPr>
        <p:spPr>
          <a:xfrm>
            <a:off x="10515600" y="6170490"/>
            <a:ext cx="1198829" cy="457200"/>
          </a:xfrm>
        </p:spPr>
        <p:txBody>
          <a:bodyPr/>
          <a:lstStyle>
            <a:lvl1pPr algn="r">
              <a:defRPr/>
            </a:lvl1pPr>
          </a:lstStyle>
          <a:p>
            <a:fld id="{FAEF9944-A4F6-4C59-AEBD-678D6480B8EA}" type="slidenum">
              <a:rPr lang="en-US" smtClean="0"/>
              <a:pPr/>
              <a:t>‹#›</a:t>
            </a:fld>
            <a:endParaRPr lang="en-US" dirty="0"/>
          </a:p>
        </p:txBody>
      </p:sp>
      <p:sp>
        <p:nvSpPr>
          <p:cNvPr id="4" name="Freeform: Shape 3">
            <a:extLst>
              <a:ext uri="{FF2B5EF4-FFF2-40B4-BE49-F238E27FC236}">
                <a16:creationId xmlns:a16="http://schemas.microsoft.com/office/drawing/2014/main" id="{8CD419D4-EA9D-42D9-BF62-B07F0B7B672B}"/>
              </a:ext>
            </a:extLst>
          </p:cNvPr>
          <p:cNvSpPr/>
          <p:nvPr/>
        </p:nvSpPr>
        <p:spPr>
          <a:xfrm>
            <a:off x="1375409"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 name="Freeform: Shape 4">
            <a:extLst>
              <a:ext uri="{FF2B5EF4-FFF2-40B4-BE49-F238E27FC236}">
                <a16:creationId xmlns:a16="http://schemas.microsoft.com/office/drawing/2014/main" id="{1C6FEC9B-9608-4181-A9E5-A1B80E72021C}"/>
              </a:ext>
            </a:extLst>
          </p:cNvPr>
          <p:cNvSpPr/>
          <p:nvPr/>
        </p:nvSpPr>
        <p:spPr>
          <a:xfrm>
            <a:off x="115540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 name="Freeform: Shape 5">
            <a:extLst>
              <a:ext uri="{FF2B5EF4-FFF2-40B4-BE49-F238E27FC236}">
                <a16:creationId xmlns:a16="http://schemas.microsoft.com/office/drawing/2014/main" id="{AB1564ED-F26F-451D-97D6-A6EC3E83FD55}"/>
              </a:ext>
            </a:extLst>
          </p:cNvPr>
          <p:cNvSpPr/>
          <p:nvPr/>
        </p:nvSpPr>
        <p:spPr>
          <a:xfrm>
            <a:off x="924161"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3974789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6923EF53-7767-4C94-BEF6-D452927945DA}"/>
              </a:ext>
            </a:extLst>
          </p:cNvPr>
          <p:cNvSpPr>
            <a:spLocks noGrp="1"/>
          </p:cNvSpPr>
          <p:nvPr>
            <p:ph type="dt" sz="half" idx="10"/>
          </p:nvPr>
        </p:nvSpPr>
        <p:spPr/>
        <p:txBody>
          <a:bodyPr/>
          <a:lstStyle/>
          <a:p>
            <a:fld id="{22F3E5F3-28EE-488F-BD53-B744C06C3DEC}" type="datetime1">
              <a:rPr lang="en-US" smtClean="0"/>
              <a:t>3/2/2026</a:t>
            </a:fld>
            <a:endParaRPr lang="en-US" dirty="0"/>
          </a:p>
        </p:txBody>
      </p:sp>
      <p:sp>
        <p:nvSpPr>
          <p:cNvPr id="11" name="Footer Placeholder 10">
            <a:extLst>
              <a:ext uri="{FF2B5EF4-FFF2-40B4-BE49-F238E27FC236}">
                <a16:creationId xmlns:a16="http://schemas.microsoft.com/office/drawing/2014/main" id="{ACF12700-F905-4CFA-970C-C81E05A64D5B}"/>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DA1B1EE2-BCA3-432B-A32D-B04C7F1DD93F}"/>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87842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84A89F5-6982-40AE-8108-88B93E85C8FF}"/>
              </a:ext>
            </a:extLst>
          </p:cNvPr>
          <p:cNvGrpSpPr/>
          <p:nvPr/>
        </p:nvGrpSpPr>
        <p:grpSpPr>
          <a:xfrm>
            <a:off x="3124577" y="0"/>
            <a:ext cx="4389519" cy="2916937"/>
            <a:chOff x="3124577" y="0"/>
            <a:chExt cx="4389519" cy="2916937"/>
          </a:xfrm>
        </p:grpSpPr>
        <p:sp>
          <p:nvSpPr>
            <p:cNvPr id="49" name="Freeform: Shape 48">
              <a:extLst>
                <a:ext uri="{FF2B5EF4-FFF2-40B4-BE49-F238E27FC236}">
                  <a16:creationId xmlns:a16="http://schemas.microsoft.com/office/drawing/2014/main" id="{B80BED93-E30B-4492-A268-84C33CA4F067}"/>
                </a:ext>
              </a:extLst>
            </p:cNvPr>
            <p:cNvSpPr/>
            <p:nvPr/>
          </p:nvSpPr>
          <p:spPr>
            <a:xfrm>
              <a:off x="3320637" y="0"/>
              <a:ext cx="4013331" cy="2742133"/>
            </a:xfrm>
            <a:custGeom>
              <a:avLst/>
              <a:gdLst>
                <a:gd name="connsiteX0" fmla="*/ 294151 w 4013331"/>
                <a:gd name="connsiteY0" fmla="*/ 0 h 2742133"/>
                <a:gd name="connsiteX1" fmla="*/ 3844057 w 4013331"/>
                <a:gd name="connsiteY1" fmla="*/ 0 h 2742133"/>
                <a:gd name="connsiteX2" fmla="*/ 3892490 w 4013331"/>
                <a:gd name="connsiteY2" fmla="*/ 131440 h 2742133"/>
                <a:gd name="connsiteX3" fmla="*/ 4013331 w 4013331"/>
                <a:gd name="connsiteY3" fmla="*/ 941251 h 2742133"/>
                <a:gd name="connsiteX4" fmla="*/ 3804827 w 4013331"/>
                <a:gd name="connsiteY4" fmla="*/ 1540292 h 2742133"/>
                <a:gd name="connsiteX5" fmla="*/ 3187498 w 4013331"/>
                <a:gd name="connsiteY5" fmla="*/ 2098087 h 2742133"/>
                <a:gd name="connsiteX6" fmla="*/ 3051769 w 4013331"/>
                <a:gd name="connsiteY6" fmla="*/ 2204787 h 2742133"/>
                <a:gd name="connsiteX7" fmla="*/ 1936476 w 4013331"/>
                <a:gd name="connsiteY7" fmla="*/ 2742133 h 2742133"/>
                <a:gd name="connsiteX8" fmla="*/ 467303 w 4013331"/>
                <a:gd name="connsiteY8" fmla="*/ 1868695 h 2742133"/>
                <a:gd name="connsiteX9" fmla="*/ 310732 w 4013331"/>
                <a:gd name="connsiteY9" fmla="*/ 1645244 h 2742133"/>
                <a:gd name="connsiteX10" fmla="*/ 0 w 4013331"/>
                <a:gd name="connsiteY10" fmla="*/ 941251 h 2742133"/>
                <a:gd name="connsiteX11" fmla="*/ 187749 w 4013331"/>
                <a:gd name="connsiteY11" fmla="*/ 183076 h 2742133"/>
                <a:gd name="connsiteX12" fmla="*/ 288888 w 4013331"/>
                <a:gd name="connsiteY12" fmla="*/ 7329 h 274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13331" h="2742133">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0" name="Freeform: Shape 49">
              <a:extLst>
                <a:ext uri="{FF2B5EF4-FFF2-40B4-BE49-F238E27FC236}">
                  <a16:creationId xmlns:a16="http://schemas.microsoft.com/office/drawing/2014/main" id="{965F60C1-CD8B-4326-9B24-3D197CF382A6}"/>
                </a:ext>
              </a:extLst>
            </p:cNvPr>
            <p:cNvSpPr/>
            <p:nvPr/>
          </p:nvSpPr>
          <p:spPr>
            <a:xfrm>
              <a:off x="3566319" y="0"/>
              <a:ext cx="3401415" cy="2440484"/>
            </a:xfrm>
            <a:custGeom>
              <a:avLst/>
              <a:gdLst>
                <a:gd name="connsiteX0" fmla="*/ 332917 w 3401415"/>
                <a:gd name="connsiteY0" fmla="*/ 0 h 2440484"/>
                <a:gd name="connsiteX1" fmla="*/ 3207137 w 3401415"/>
                <a:gd name="connsiteY1" fmla="*/ 0 h 2440484"/>
                <a:gd name="connsiteX2" fmla="*/ 3242654 w 3401415"/>
                <a:gd name="connsiteY2" fmla="*/ 74937 h 2440484"/>
                <a:gd name="connsiteX3" fmla="*/ 3401415 w 3401415"/>
                <a:gd name="connsiteY3" fmla="*/ 914184 h 2440484"/>
                <a:gd name="connsiteX4" fmla="*/ 3224702 w 3401415"/>
                <a:gd name="connsiteY4" fmla="*/ 1421888 h 2440484"/>
                <a:gd name="connsiteX5" fmla="*/ 2701498 w 3401415"/>
                <a:gd name="connsiteY5" fmla="*/ 1894635 h 2440484"/>
                <a:gd name="connsiteX6" fmla="*/ 2586463 w 3401415"/>
                <a:gd name="connsiteY6" fmla="*/ 1985068 h 2440484"/>
                <a:gd name="connsiteX7" fmla="*/ 1641219 w 3401415"/>
                <a:gd name="connsiteY7" fmla="*/ 2440484 h 2440484"/>
                <a:gd name="connsiteX8" fmla="*/ 396053 w 3401415"/>
                <a:gd name="connsiteY8" fmla="*/ 1700219 h 2440484"/>
                <a:gd name="connsiteX9" fmla="*/ 263354 w 3401415"/>
                <a:gd name="connsiteY9" fmla="*/ 1510839 h 2440484"/>
                <a:gd name="connsiteX10" fmla="*/ 0 w 3401415"/>
                <a:gd name="connsiteY10" fmla="*/ 914184 h 2440484"/>
                <a:gd name="connsiteX11" fmla="*/ 159122 w 3401415"/>
                <a:gd name="connsiteY11" fmla="*/ 271610 h 2440484"/>
                <a:gd name="connsiteX12" fmla="*/ 244841 w 3401415"/>
                <a:gd name="connsiteY12" fmla="*/ 122658 h 244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1415" h="2440484">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1" name="Freeform: Shape 50">
              <a:extLst>
                <a:ext uri="{FF2B5EF4-FFF2-40B4-BE49-F238E27FC236}">
                  <a16:creationId xmlns:a16="http://schemas.microsoft.com/office/drawing/2014/main" id="{69511D06-104E-440E-8049-4CDCE4B87E96}"/>
                </a:ext>
              </a:extLst>
            </p:cNvPr>
            <p:cNvSpPr/>
            <p:nvPr/>
          </p:nvSpPr>
          <p:spPr>
            <a:xfrm>
              <a:off x="3232490" y="0"/>
              <a:ext cx="4164597" cy="2817185"/>
            </a:xfrm>
            <a:custGeom>
              <a:avLst/>
              <a:gdLst>
                <a:gd name="connsiteX0" fmla="*/ 237339 w 4130517"/>
                <a:gd name="connsiteY0" fmla="*/ 0 h 2806419"/>
                <a:gd name="connsiteX1" fmla="*/ 3997489 w 4130517"/>
                <a:gd name="connsiteY1" fmla="*/ 0 h 2806419"/>
                <a:gd name="connsiteX2" fmla="*/ 4006148 w 4130517"/>
                <a:gd name="connsiteY2" fmla="*/ 24333 h 2806419"/>
                <a:gd name="connsiteX3" fmla="*/ 4130517 w 4130517"/>
                <a:gd name="connsiteY3" fmla="*/ 887307 h 2806419"/>
                <a:gd name="connsiteX4" fmla="*/ 3915925 w 4130517"/>
                <a:gd name="connsiteY4" fmla="*/ 1525677 h 2806419"/>
                <a:gd name="connsiteX5" fmla="*/ 3280571 w 4130517"/>
                <a:gd name="connsiteY5" fmla="*/ 2120090 h 2806419"/>
                <a:gd name="connsiteX6" fmla="*/ 3140878 w 4130517"/>
                <a:gd name="connsiteY6" fmla="*/ 2233796 h 2806419"/>
                <a:gd name="connsiteX7" fmla="*/ 1993019 w 4130517"/>
                <a:gd name="connsiteY7" fmla="*/ 2806419 h 2806419"/>
                <a:gd name="connsiteX8" fmla="*/ 480948 w 4130517"/>
                <a:gd name="connsiteY8" fmla="*/ 1875638 h 2806419"/>
                <a:gd name="connsiteX9" fmla="*/ 319805 w 4130517"/>
                <a:gd name="connsiteY9" fmla="*/ 1637519 h 2806419"/>
                <a:gd name="connsiteX10" fmla="*/ 0 w 4130517"/>
                <a:gd name="connsiteY10" fmla="*/ 887307 h 2806419"/>
                <a:gd name="connsiteX11" fmla="*/ 193231 w 4130517"/>
                <a:gd name="connsiteY11" fmla="*/ 79360 h 2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2" name="Freeform: Shape 51">
              <a:extLst>
                <a:ext uri="{FF2B5EF4-FFF2-40B4-BE49-F238E27FC236}">
                  <a16:creationId xmlns:a16="http://schemas.microsoft.com/office/drawing/2014/main" id="{164F6B39-7B0A-4839-9F52-1FFA2044F248}"/>
                </a:ext>
              </a:extLst>
            </p:cNvPr>
            <p:cNvSpPr/>
            <p:nvPr/>
          </p:nvSpPr>
          <p:spPr>
            <a:xfrm>
              <a:off x="3124577" y="0"/>
              <a:ext cx="4389519" cy="2916937"/>
            </a:xfrm>
            <a:custGeom>
              <a:avLst/>
              <a:gdLst>
                <a:gd name="connsiteX0" fmla="*/ 208215 w 4389519"/>
                <a:gd name="connsiteY0" fmla="*/ 0 h 2916937"/>
                <a:gd name="connsiteX1" fmla="*/ 4284014 w 4389519"/>
                <a:gd name="connsiteY1" fmla="*/ 0 h 2916937"/>
                <a:gd name="connsiteX2" fmla="*/ 4335794 w 4389519"/>
                <a:gd name="connsiteY2" fmla="*/ 207911 h 2916937"/>
                <a:gd name="connsiteX3" fmla="*/ 4376420 w 4389519"/>
                <a:gd name="connsiteY3" fmla="*/ 1078865 h 2916937"/>
                <a:gd name="connsiteX4" fmla="*/ 4090147 w 4389519"/>
                <a:gd name="connsiteY4" fmla="*/ 1734728 h 2916937"/>
                <a:gd name="connsiteX5" fmla="*/ 3362552 w 4389519"/>
                <a:gd name="connsiteY5" fmla="*/ 2305097 h 2916937"/>
                <a:gd name="connsiteX6" fmla="*/ 3204152 w 4389519"/>
                <a:gd name="connsiteY6" fmla="*/ 2412521 h 2916937"/>
                <a:gd name="connsiteX7" fmla="*/ 1936072 w 4389519"/>
                <a:gd name="connsiteY7" fmla="*/ 2912360 h 2916937"/>
                <a:gd name="connsiteX8" fmla="*/ 421690 w 4389519"/>
                <a:gd name="connsiteY8" fmla="*/ 1787063 h 2916937"/>
                <a:gd name="connsiteX9" fmla="*/ 273167 w 4389519"/>
                <a:gd name="connsiteY9" fmla="*/ 1520080 h 2916937"/>
                <a:gd name="connsiteX10" fmla="*/ 4118 w 4389519"/>
                <a:gd name="connsiteY10" fmla="*/ 696338 h 2916937"/>
                <a:gd name="connsiteX11" fmla="*/ 175984 w 4389519"/>
                <a:gd name="connsiteY11" fmla="*/ 60381 h 291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9519" h="2916937">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8" name="Group 7">
            <a:extLst>
              <a:ext uri="{FF2B5EF4-FFF2-40B4-BE49-F238E27FC236}">
                <a16:creationId xmlns:a16="http://schemas.microsoft.com/office/drawing/2014/main" id="{03099122-D80B-4389-A1CF-52C635217F4B}"/>
              </a:ext>
            </a:extLst>
          </p:cNvPr>
          <p:cNvGrpSpPr/>
          <p:nvPr/>
        </p:nvGrpSpPr>
        <p:grpSpPr>
          <a:xfrm>
            <a:off x="8122942" y="0"/>
            <a:ext cx="4069058" cy="3547008"/>
            <a:chOff x="8122942" y="0"/>
            <a:chExt cx="4069058" cy="3547008"/>
          </a:xfrm>
        </p:grpSpPr>
        <p:sp>
          <p:nvSpPr>
            <p:cNvPr id="54" name="Freeform: Shape 53">
              <a:extLst>
                <a:ext uri="{FF2B5EF4-FFF2-40B4-BE49-F238E27FC236}">
                  <a16:creationId xmlns:a16="http://schemas.microsoft.com/office/drawing/2014/main" id="{CA535D59-CDAA-4AA9-84AC-A6142E857FE2}"/>
                </a:ext>
              </a:extLst>
            </p:cNvPr>
            <p:cNvSpPr/>
            <p:nvPr/>
          </p:nvSpPr>
          <p:spPr>
            <a:xfrm>
              <a:off x="8122942" y="0"/>
              <a:ext cx="4069058" cy="3547008"/>
            </a:xfrm>
            <a:custGeom>
              <a:avLst/>
              <a:gdLst>
                <a:gd name="connsiteX0" fmla="*/ 305212 w 4069058"/>
                <a:gd name="connsiteY0" fmla="*/ 0 h 3547008"/>
                <a:gd name="connsiteX1" fmla="*/ 4069058 w 4069058"/>
                <a:gd name="connsiteY1" fmla="*/ 0 h 3547008"/>
                <a:gd name="connsiteX2" fmla="*/ 4069058 w 4069058"/>
                <a:gd name="connsiteY2" fmla="*/ 2865785 h 3547008"/>
                <a:gd name="connsiteX3" fmla="*/ 3996814 w 4069058"/>
                <a:gd name="connsiteY3" fmla="*/ 2947457 h 3547008"/>
                <a:gd name="connsiteX4" fmla="*/ 2732780 w 4069058"/>
                <a:gd name="connsiteY4" fmla="*/ 3541640 h 3547008"/>
                <a:gd name="connsiteX5" fmla="*/ 1317550 w 4069058"/>
                <a:gd name="connsiteY5" fmla="*/ 3015110 h 3547008"/>
                <a:gd name="connsiteX6" fmla="*/ 1140977 w 4069058"/>
                <a:gd name="connsiteY6" fmla="*/ 2901419 h 3547008"/>
                <a:gd name="connsiteX7" fmla="*/ 330269 w 4069058"/>
                <a:gd name="connsiteY7" fmla="*/ 2297252 h 3547008"/>
                <a:gd name="connsiteX8" fmla="*/ 13299 w 4069058"/>
                <a:gd name="connsiteY8" fmla="*/ 1599966 h 3547008"/>
                <a:gd name="connsiteX9" fmla="*/ 217457 w 4069058"/>
                <a:gd name="connsiteY9" fmla="*/ 178659 h 35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5" name="Freeform: Shape 54">
              <a:extLst>
                <a:ext uri="{FF2B5EF4-FFF2-40B4-BE49-F238E27FC236}">
                  <a16:creationId xmlns:a16="http://schemas.microsoft.com/office/drawing/2014/main" id="{CD6948CC-6D51-4092-887C-B0664DC102C7}"/>
                </a:ext>
              </a:extLst>
            </p:cNvPr>
            <p:cNvSpPr/>
            <p:nvPr/>
          </p:nvSpPr>
          <p:spPr>
            <a:xfrm flipH="1">
              <a:off x="8319994" y="0"/>
              <a:ext cx="3872006" cy="3321595"/>
            </a:xfrm>
            <a:custGeom>
              <a:avLst/>
              <a:gdLst>
                <a:gd name="connsiteX0" fmla="*/ 3466434 w 3872006"/>
                <a:gd name="connsiteY0" fmla="*/ 0 h 3321595"/>
                <a:gd name="connsiteX1" fmla="*/ 65800 w 3872006"/>
                <a:gd name="connsiteY1" fmla="*/ 0 h 3321595"/>
                <a:gd name="connsiteX2" fmla="*/ 0 w 3872006"/>
                <a:gd name="connsiteY2" fmla="*/ 59511 h 3321595"/>
                <a:gd name="connsiteX3" fmla="*/ 0 w 3872006"/>
                <a:gd name="connsiteY3" fmla="*/ 2518435 h 3321595"/>
                <a:gd name="connsiteX4" fmla="*/ 80122 w 3872006"/>
                <a:gd name="connsiteY4" fmla="*/ 2618704 h 3321595"/>
                <a:gd name="connsiteX5" fmla="*/ 1549501 w 3872006"/>
                <a:gd name="connsiteY5" fmla="*/ 3321595 h 3321595"/>
                <a:gd name="connsiteX6" fmla="*/ 2796711 w 3872006"/>
                <a:gd name="connsiteY6" fmla="*/ 2749441 h 3321595"/>
                <a:gd name="connsiteX7" fmla="*/ 2948494 w 3872006"/>
                <a:gd name="connsiteY7" fmla="*/ 2635829 h 3321595"/>
                <a:gd name="connsiteX8" fmla="*/ 3638840 w 3872006"/>
                <a:gd name="connsiteY8" fmla="*/ 2041901 h 3321595"/>
                <a:gd name="connsiteX9" fmla="*/ 3872006 w 3872006"/>
                <a:gd name="connsiteY9" fmla="*/ 1404055 h 3321595"/>
                <a:gd name="connsiteX10" fmla="*/ 3467973 w 3872006"/>
                <a:gd name="connsiteY10" fmla="*/ 1974 h 332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2006" h="3321595">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Freeform: Shape 55">
              <a:extLst>
                <a:ext uri="{FF2B5EF4-FFF2-40B4-BE49-F238E27FC236}">
                  <a16:creationId xmlns:a16="http://schemas.microsoft.com/office/drawing/2014/main" id="{F5F9FD94-99CC-42AD-8E66-CF99E8FD5A94}"/>
                </a:ext>
              </a:extLst>
            </p:cNvPr>
            <p:cNvSpPr/>
            <p:nvPr/>
          </p:nvSpPr>
          <p:spPr>
            <a:xfrm flipH="1">
              <a:off x="8729240" y="9274"/>
              <a:ext cx="3462454" cy="3010961"/>
            </a:xfrm>
            <a:custGeom>
              <a:avLst/>
              <a:gdLst>
                <a:gd name="connsiteX0" fmla="*/ 2953507 w 3462454"/>
                <a:gd name="connsiteY0" fmla="*/ 0 h 3010961"/>
                <a:gd name="connsiteX1" fmla="*/ 477652 w 3462454"/>
                <a:gd name="connsiteY1" fmla="*/ 0 h 3010961"/>
                <a:gd name="connsiteX2" fmla="*/ 327396 w 3462454"/>
                <a:gd name="connsiteY2" fmla="*/ 113681 h 3010961"/>
                <a:gd name="connsiteX3" fmla="*/ 46554 w 3462454"/>
                <a:gd name="connsiteY3" fmla="*/ 391785 h 3010961"/>
                <a:gd name="connsiteX4" fmla="*/ 0 w 3462454"/>
                <a:gd name="connsiteY4" fmla="*/ 453516 h 3010961"/>
                <a:gd name="connsiteX5" fmla="*/ 0 w 3462454"/>
                <a:gd name="connsiteY5" fmla="*/ 2083461 h 3010961"/>
                <a:gd name="connsiteX6" fmla="*/ 26382 w 3462454"/>
                <a:gd name="connsiteY6" fmla="*/ 2118637 h 3010961"/>
                <a:gd name="connsiteX7" fmla="*/ 101620 w 3462454"/>
                <a:gd name="connsiteY7" fmla="*/ 2222744 h 3010961"/>
                <a:gd name="connsiteX8" fmla="*/ 1494064 w 3462454"/>
                <a:gd name="connsiteY8" fmla="*/ 3010961 h 3010961"/>
                <a:gd name="connsiteX9" fmla="*/ 2551110 w 3462454"/>
                <a:gd name="connsiteY9" fmla="*/ 2526044 h 3010961"/>
                <a:gd name="connsiteX10" fmla="*/ 2679751 w 3462454"/>
                <a:gd name="connsiteY10" fmla="*/ 2429754 h 3010961"/>
                <a:gd name="connsiteX11" fmla="*/ 3264840 w 3462454"/>
                <a:gd name="connsiteY11" fmla="*/ 1926383 h 3010961"/>
                <a:gd name="connsiteX12" fmla="*/ 3462454 w 3462454"/>
                <a:gd name="connsiteY12" fmla="*/ 1385790 h 3010961"/>
                <a:gd name="connsiteX13" fmla="*/ 3018820 w 3462454"/>
                <a:gd name="connsiteY13" fmla="*/ 67626 h 301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2454" h="3010961">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7" name="Freeform: Shape 56">
              <a:extLst>
                <a:ext uri="{FF2B5EF4-FFF2-40B4-BE49-F238E27FC236}">
                  <a16:creationId xmlns:a16="http://schemas.microsoft.com/office/drawing/2014/main" id="{F47D3E70-A759-410D-B5DB-855218E138C3}"/>
                </a:ext>
              </a:extLst>
            </p:cNvPr>
            <p:cNvSpPr/>
            <p:nvPr/>
          </p:nvSpPr>
          <p:spPr>
            <a:xfrm flipH="1">
              <a:off x="8243247" y="9274"/>
              <a:ext cx="3948447" cy="3411460"/>
            </a:xfrm>
            <a:custGeom>
              <a:avLst/>
              <a:gdLst>
                <a:gd name="connsiteX0" fmla="*/ 3564894 w 3904481"/>
                <a:gd name="connsiteY0" fmla="*/ 0 h 3411460"/>
                <a:gd name="connsiteX1" fmla="*/ 0 w 3904481"/>
                <a:gd name="connsiteY1" fmla="*/ 0 h 3411460"/>
                <a:gd name="connsiteX2" fmla="*/ 0 w 3904481"/>
                <a:gd name="connsiteY2" fmla="*/ 2659993 h 3411460"/>
                <a:gd name="connsiteX3" fmla="*/ 1876 w 3904481"/>
                <a:gd name="connsiteY3" fmla="*/ 2662425 h 3411460"/>
                <a:gd name="connsiteX4" fmla="*/ 1514161 w 3904481"/>
                <a:gd name="connsiteY4" fmla="*/ 3411460 h 3411460"/>
                <a:gd name="connsiteX5" fmla="*/ 2797788 w 3904481"/>
                <a:gd name="connsiteY5" fmla="*/ 2801744 h 3411460"/>
                <a:gd name="connsiteX6" fmla="*/ 2954004 w 3904481"/>
                <a:gd name="connsiteY6" fmla="*/ 2680673 h 3411460"/>
                <a:gd name="connsiteX7" fmla="*/ 3664508 w 3904481"/>
                <a:gd name="connsiteY7" fmla="*/ 2047754 h 3411460"/>
                <a:gd name="connsiteX8" fmla="*/ 3904481 w 3904481"/>
                <a:gd name="connsiteY8" fmla="*/ 1368033 h 3411460"/>
                <a:gd name="connsiteX9" fmla="*/ 3596499 w 3904481"/>
                <a:gd name="connsiteY9" fmla="*/ 52268 h 341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4481" h="341146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9" name="Group 8">
            <a:extLst>
              <a:ext uri="{FF2B5EF4-FFF2-40B4-BE49-F238E27FC236}">
                <a16:creationId xmlns:a16="http://schemas.microsoft.com/office/drawing/2014/main" id="{90302A25-2D4F-4AD5-B0E9-C12184C3599E}"/>
              </a:ext>
            </a:extLst>
          </p:cNvPr>
          <p:cNvGrpSpPr/>
          <p:nvPr/>
        </p:nvGrpSpPr>
        <p:grpSpPr>
          <a:xfrm>
            <a:off x="-1" y="1355238"/>
            <a:ext cx="4381339" cy="5510713"/>
            <a:chOff x="0" y="1347287"/>
            <a:chExt cx="4259808" cy="5510713"/>
          </a:xfrm>
        </p:grpSpPr>
        <p:sp>
          <p:nvSpPr>
            <p:cNvPr id="59" name="Freeform: Shape 58">
              <a:extLst>
                <a:ext uri="{FF2B5EF4-FFF2-40B4-BE49-F238E27FC236}">
                  <a16:creationId xmlns:a16="http://schemas.microsoft.com/office/drawing/2014/main" id="{E227AF03-773A-4B1E-8FED-67198038E60D}"/>
                </a:ext>
              </a:extLst>
            </p:cNvPr>
            <p:cNvSpPr/>
            <p:nvPr/>
          </p:nvSpPr>
          <p:spPr>
            <a:xfrm>
              <a:off x="0" y="1676545"/>
              <a:ext cx="4174269" cy="5181455"/>
            </a:xfrm>
            <a:custGeom>
              <a:avLst/>
              <a:gdLst>
                <a:gd name="connsiteX0" fmla="*/ 1155130 w 4174269"/>
                <a:gd name="connsiteY0" fmla="*/ 990 h 5181455"/>
                <a:gd name="connsiteX1" fmla="*/ 2396955 w 4174269"/>
                <a:gd name="connsiteY1" fmla="*/ 367328 h 5181455"/>
                <a:gd name="connsiteX2" fmla="*/ 3827960 w 4174269"/>
                <a:gd name="connsiteY2" fmla="*/ 4749328 h 5181455"/>
                <a:gd name="connsiteX3" fmla="*/ 3561502 w 4174269"/>
                <a:gd name="connsiteY3" fmla="*/ 5090948 h 5181455"/>
                <a:gd name="connsiteX4" fmla="*/ 3452726 w 4174269"/>
                <a:gd name="connsiteY4" fmla="*/ 5181455 h 5181455"/>
                <a:gd name="connsiteX5" fmla="*/ 0 w 4174269"/>
                <a:gd name="connsiteY5" fmla="*/ 5181455 h 5181455"/>
                <a:gd name="connsiteX6" fmla="*/ 0 w 4174269"/>
                <a:gd name="connsiteY6" fmla="*/ 251605 h 5181455"/>
                <a:gd name="connsiteX7" fmla="*/ 157396 w 4174269"/>
                <a:gd name="connsiteY7" fmla="*/ 182600 h 5181455"/>
                <a:gd name="connsiteX8" fmla="*/ 1155130 w 4174269"/>
                <a:gd name="connsiteY8" fmla="*/ 990 h 518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4269" h="5181455">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0" name="Freeform: Shape 59">
              <a:extLst>
                <a:ext uri="{FF2B5EF4-FFF2-40B4-BE49-F238E27FC236}">
                  <a16:creationId xmlns:a16="http://schemas.microsoft.com/office/drawing/2014/main" id="{D6FE8FAD-8A4A-49E1-AFAF-A074482295A9}"/>
                </a:ext>
              </a:extLst>
            </p:cNvPr>
            <p:cNvSpPr/>
            <p:nvPr/>
          </p:nvSpPr>
          <p:spPr>
            <a:xfrm>
              <a:off x="0" y="1347287"/>
              <a:ext cx="4259808" cy="5510713"/>
            </a:xfrm>
            <a:custGeom>
              <a:avLst/>
              <a:gdLst>
                <a:gd name="connsiteX0" fmla="*/ 948905 w 4259808"/>
                <a:gd name="connsiteY0" fmla="*/ 1556 h 5510713"/>
                <a:gd name="connsiteX1" fmla="*/ 2304106 w 4259808"/>
                <a:gd name="connsiteY1" fmla="*/ 405867 h 5510713"/>
                <a:gd name="connsiteX2" fmla="*/ 3890982 w 4259808"/>
                <a:gd name="connsiteY2" fmla="*/ 5156588 h 5510713"/>
                <a:gd name="connsiteX3" fmla="*/ 3680329 w 4259808"/>
                <a:gd name="connsiteY3" fmla="*/ 5445948 h 5510713"/>
                <a:gd name="connsiteX4" fmla="*/ 3616504 w 4259808"/>
                <a:gd name="connsiteY4" fmla="*/ 5510713 h 5510713"/>
                <a:gd name="connsiteX5" fmla="*/ 0 w 4259808"/>
                <a:gd name="connsiteY5" fmla="*/ 5510713 h 5510713"/>
                <a:gd name="connsiteX6" fmla="*/ 0 w 4259808"/>
                <a:gd name="connsiteY6" fmla="*/ 144797 h 5510713"/>
                <a:gd name="connsiteX7" fmla="*/ 164164 w 4259808"/>
                <a:gd name="connsiteY7" fmla="*/ 92266 h 5510713"/>
                <a:gd name="connsiteX8" fmla="*/ 948905 w 4259808"/>
                <a:gd name="connsiteY8" fmla="*/ 1556 h 55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9808" h="5510713">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1" name="Freeform: Shape 60">
              <a:extLst>
                <a:ext uri="{FF2B5EF4-FFF2-40B4-BE49-F238E27FC236}">
                  <a16:creationId xmlns:a16="http://schemas.microsoft.com/office/drawing/2014/main" id="{0A7C4DFB-FDFD-4F28-8B00-287EB75C79EB}"/>
                </a:ext>
              </a:extLst>
            </p:cNvPr>
            <p:cNvSpPr/>
            <p:nvPr/>
          </p:nvSpPr>
          <p:spPr>
            <a:xfrm>
              <a:off x="0" y="1592806"/>
              <a:ext cx="4029221" cy="5265194"/>
            </a:xfrm>
            <a:custGeom>
              <a:avLst/>
              <a:gdLst>
                <a:gd name="connsiteX0" fmla="*/ 812878 w 4029221"/>
                <a:gd name="connsiteY0" fmla="*/ 840 h 5265194"/>
                <a:gd name="connsiteX1" fmla="*/ 960980 w 4029221"/>
                <a:gd name="connsiteY1" fmla="*/ 1442 h 5265194"/>
                <a:gd name="connsiteX2" fmla="*/ 2216856 w 4029221"/>
                <a:gd name="connsiteY2" fmla="*/ 376120 h 5265194"/>
                <a:gd name="connsiteX3" fmla="*/ 3687427 w 4029221"/>
                <a:gd name="connsiteY3" fmla="*/ 4778650 h 5265194"/>
                <a:gd name="connsiteX4" fmla="*/ 3267677 w 4029221"/>
                <a:gd name="connsiteY4" fmla="*/ 5245601 h 5265194"/>
                <a:gd name="connsiteX5" fmla="*/ 3237167 w 4029221"/>
                <a:gd name="connsiteY5" fmla="*/ 5265194 h 5265194"/>
                <a:gd name="connsiteX6" fmla="*/ 0 w 4029221"/>
                <a:gd name="connsiteY6" fmla="*/ 5265194 h 5265194"/>
                <a:gd name="connsiteX7" fmla="*/ 0 w 4029221"/>
                <a:gd name="connsiteY7" fmla="*/ 162790 h 5265194"/>
                <a:gd name="connsiteX8" fmla="*/ 58408 w 4029221"/>
                <a:gd name="connsiteY8" fmla="*/ 139352 h 5265194"/>
                <a:gd name="connsiteX9" fmla="*/ 812878 w 4029221"/>
                <a:gd name="connsiteY9" fmla="*/ 840 h 52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9221" h="5265194">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2" name="Freeform: Shape 61">
              <a:extLst>
                <a:ext uri="{FF2B5EF4-FFF2-40B4-BE49-F238E27FC236}">
                  <a16:creationId xmlns:a16="http://schemas.microsoft.com/office/drawing/2014/main" id="{B6E867DF-0B62-429A-A554-CBE585048439}"/>
                </a:ext>
              </a:extLst>
            </p:cNvPr>
            <p:cNvSpPr/>
            <p:nvPr/>
          </p:nvSpPr>
          <p:spPr>
            <a:xfrm>
              <a:off x="0" y="2147333"/>
              <a:ext cx="3702048" cy="4710667"/>
            </a:xfrm>
            <a:custGeom>
              <a:avLst/>
              <a:gdLst>
                <a:gd name="connsiteX0" fmla="*/ 1057511 w 3702048"/>
                <a:gd name="connsiteY0" fmla="*/ 1243 h 4710667"/>
                <a:gd name="connsiteX1" fmla="*/ 2139959 w 3702048"/>
                <a:gd name="connsiteY1" fmla="*/ 324180 h 4710667"/>
                <a:gd name="connsiteX2" fmla="*/ 3407455 w 3702048"/>
                <a:gd name="connsiteY2" fmla="*/ 4118750 h 4710667"/>
                <a:gd name="connsiteX3" fmla="*/ 2754080 w 3702048"/>
                <a:gd name="connsiteY3" fmla="*/ 4690965 h 4710667"/>
                <a:gd name="connsiteX4" fmla="*/ 2711405 w 3702048"/>
                <a:gd name="connsiteY4" fmla="*/ 4710667 h 4710667"/>
                <a:gd name="connsiteX5" fmla="*/ 0 w 3702048"/>
                <a:gd name="connsiteY5" fmla="*/ 4710667 h 4710667"/>
                <a:gd name="connsiteX6" fmla="*/ 0 w 3702048"/>
                <a:gd name="connsiteY6" fmla="*/ 239601 h 4710667"/>
                <a:gd name="connsiteX7" fmla="*/ 72857 w 3702048"/>
                <a:gd name="connsiteY7" fmla="*/ 203063 h 4710667"/>
                <a:gd name="connsiteX8" fmla="*/ 1057511 w 3702048"/>
                <a:gd name="connsiteY8" fmla="*/ 1243 h 471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048" h="4710667">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2" name="Title 1"/>
          <p:cNvSpPr>
            <a:spLocks noGrp="1"/>
          </p:cNvSpPr>
          <p:nvPr>
            <p:ph type="title"/>
          </p:nvPr>
        </p:nvSpPr>
        <p:spPr>
          <a:xfrm>
            <a:off x="4654296" y="3420734"/>
            <a:ext cx="6665976" cy="2129674"/>
          </a:xfrm>
        </p:spPr>
        <p:txBody>
          <a:bodyPr anchor="b">
            <a:noAutofit/>
          </a:bodyPr>
          <a:lstStyle>
            <a:lvl1pPr algn="l">
              <a:lnSpc>
                <a:spcPct val="110000"/>
              </a:lnSpc>
              <a:defRPr sz="4800" cap="none" baseline="0">
                <a:solidFill>
                  <a:schemeClr val="tx1">
                    <a:lumMod val="75000"/>
                    <a:lumOff val="25000"/>
                  </a:schemeClr>
                </a:solidFill>
              </a:defRPr>
            </a:lvl1pPr>
          </a:lstStyle>
          <a:p>
            <a:r>
              <a:rPr lang="en-US"/>
              <a:t>Click to edit Master title style</a:t>
            </a:r>
            <a:endParaRPr lang="en-US" dirty="0"/>
          </a:p>
        </p:txBody>
      </p:sp>
      <p:sp>
        <p:nvSpPr>
          <p:cNvPr id="23" name="Footer Placeholder 22">
            <a:extLst>
              <a:ext uri="{FF2B5EF4-FFF2-40B4-BE49-F238E27FC236}">
                <a16:creationId xmlns:a16="http://schemas.microsoft.com/office/drawing/2014/main" id="{E197B67B-BA44-4D2A-B31D-35A89323C4B1}"/>
              </a:ext>
            </a:extLst>
          </p:cNvPr>
          <p:cNvSpPr>
            <a:spLocks noGrp="1"/>
          </p:cNvSpPr>
          <p:nvPr>
            <p:ph type="ftr" sz="quarter" idx="11"/>
          </p:nvPr>
        </p:nvSpPr>
        <p:spPr>
          <a:xfrm>
            <a:off x="4654296" y="6170490"/>
            <a:ext cx="5713314" cy="457200"/>
          </a:xfrm>
        </p:spPr>
        <p:txBody>
          <a:bodyPr/>
          <a:lstStyle/>
          <a:p>
            <a:endParaRPr lang="en-US" dirty="0"/>
          </a:p>
        </p:txBody>
      </p:sp>
      <p:sp>
        <p:nvSpPr>
          <p:cNvPr id="27" name="Slide Number Placeholder 26">
            <a:extLst>
              <a:ext uri="{FF2B5EF4-FFF2-40B4-BE49-F238E27FC236}">
                <a16:creationId xmlns:a16="http://schemas.microsoft.com/office/drawing/2014/main" id="{1D718595-24D3-4517-A62E-C1F493407AA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3" name="Text Placeholder 2"/>
          <p:cNvSpPr>
            <a:spLocks noGrp="1"/>
          </p:cNvSpPr>
          <p:nvPr>
            <p:ph type="body" idx="1"/>
          </p:nvPr>
        </p:nvSpPr>
        <p:spPr>
          <a:xfrm>
            <a:off x="4654295" y="5550408"/>
            <a:ext cx="6665975" cy="512064"/>
          </a:xfrm>
        </p:spPr>
        <p:txBody>
          <a:bodyPr>
            <a:normAutofit/>
          </a:bodyPr>
          <a:lstStyle>
            <a:lvl1pPr marL="0" indent="0" algn="l">
              <a:lnSpc>
                <a:spcPct val="130000"/>
              </a:lnSpc>
              <a:spcBef>
                <a:spcPts val="0"/>
              </a:spcBef>
              <a:buNone/>
              <a:defRPr sz="200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Date Placeholder 17">
            <a:extLst>
              <a:ext uri="{FF2B5EF4-FFF2-40B4-BE49-F238E27FC236}">
                <a16:creationId xmlns:a16="http://schemas.microsoft.com/office/drawing/2014/main" id="{3C6217BB-A228-414D-92D9-E1D1EFEB8BE6}"/>
              </a:ext>
            </a:extLst>
          </p:cNvPr>
          <p:cNvSpPr>
            <a:spLocks noGrp="1"/>
          </p:cNvSpPr>
          <p:nvPr>
            <p:ph type="dt" sz="half" idx="10"/>
          </p:nvPr>
        </p:nvSpPr>
        <p:spPr>
          <a:xfrm>
            <a:off x="640080" y="6170491"/>
            <a:ext cx="2840083" cy="457200"/>
          </a:xfrm>
        </p:spPr>
        <p:txBody>
          <a:bodyPr/>
          <a:lstStyle>
            <a:lvl1pPr algn="l">
              <a:defRPr/>
            </a:lvl1pPr>
          </a:lstStyle>
          <a:p>
            <a:fld id="{E72EB70D-CD01-44DA-83B3-8FEB3383D307}" type="datetime1">
              <a:rPr lang="en-US" smtClean="0"/>
              <a:t>3/2/2026</a:t>
            </a:fld>
            <a:endParaRPr lang="en-US" dirty="0"/>
          </a:p>
        </p:txBody>
      </p:sp>
    </p:spTree>
    <p:extLst>
      <p:ext uri="{BB962C8B-B14F-4D97-AF65-F5344CB8AC3E}">
        <p14:creationId xmlns:p14="http://schemas.microsoft.com/office/powerpoint/2010/main" val="2710803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2024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3029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C1D6427-F07F-4D50-B151-455100AF70FF}"/>
              </a:ext>
            </a:extLst>
          </p:cNvPr>
          <p:cNvSpPr>
            <a:spLocks noGrp="1"/>
          </p:cNvSpPr>
          <p:nvPr>
            <p:ph type="dt" sz="half" idx="10"/>
          </p:nvPr>
        </p:nvSpPr>
        <p:spPr/>
        <p:txBody>
          <a:bodyPr/>
          <a:lstStyle/>
          <a:p>
            <a:fld id="{D0158CFD-9357-46BE-A189-D637A67C8730}" type="datetime1">
              <a:rPr lang="en-US" smtClean="0"/>
              <a:t>3/2/2026</a:t>
            </a:fld>
            <a:endParaRPr lang="en-US" dirty="0"/>
          </a:p>
        </p:txBody>
      </p:sp>
      <p:sp>
        <p:nvSpPr>
          <p:cNvPr id="9" name="Footer Placeholder 8">
            <a:extLst>
              <a:ext uri="{FF2B5EF4-FFF2-40B4-BE49-F238E27FC236}">
                <a16:creationId xmlns:a16="http://schemas.microsoft.com/office/drawing/2014/main" id="{479EFBB2-C5E0-4D57-AB1D-3AA907ECFD7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7AE6B7E1-F60B-4D08-9052-423D6FBFAD6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989531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2456408"/>
            <a:ext cx="4160520" cy="823912"/>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24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30290" y="2456408"/>
            <a:ext cx="4160520" cy="823912"/>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6530290"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3771BF97-4D2A-43A4-8CDC-2250017EB045}"/>
              </a:ext>
            </a:extLst>
          </p:cNvPr>
          <p:cNvSpPr>
            <a:spLocks noGrp="1"/>
          </p:cNvSpPr>
          <p:nvPr>
            <p:ph type="dt" sz="half" idx="10"/>
          </p:nvPr>
        </p:nvSpPr>
        <p:spPr/>
        <p:txBody>
          <a:bodyPr/>
          <a:lstStyle/>
          <a:p>
            <a:fld id="{7B4742EE-B331-4632-BD10-A82FED6B6FC0}" type="datetime1">
              <a:rPr lang="en-US" smtClean="0"/>
              <a:t>3/2/2026</a:t>
            </a:fld>
            <a:endParaRPr lang="en-US" dirty="0"/>
          </a:p>
        </p:txBody>
      </p:sp>
      <p:sp>
        <p:nvSpPr>
          <p:cNvPr id="11" name="Footer Placeholder 10">
            <a:extLst>
              <a:ext uri="{FF2B5EF4-FFF2-40B4-BE49-F238E27FC236}">
                <a16:creationId xmlns:a16="http://schemas.microsoft.com/office/drawing/2014/main" id="{6020661A-DA07-4679-9226-945B5DD2480C}"/>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EEFCE38B-E087-4988-BC3A-FE3B55E70D7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13" name="Title 12">
            <a:extLst>
              <a:ext uri="{FF2B5EF4-FFF2-40B4-BE49-F238E27FC236}">
                <a16:creationId xmlns:a16="http://schemas.microsoft.com/office/drawing/2014/main" id="{D3BC439C-E995-4E1F-8DE9-75C32785E00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25408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F30096C-3491-4EF2-ABB2-D57F3F4B5BD5}"/>
              </a:ext>
            </a:extLst>
          </p:cNvPr>
          <p:cNvSpPr>
            <a:spLocks noGrp="1"/>
          </p:cNvSpPr>
          <p:nvPr>
            <p:ph type="dt" sz="half" idx="10"/>
          </p:nvPr>
        </p:nvSpPr>
        <p:spPr/>
        <p:txBody>
          <a:bodyPr/>
          <a:lstStyle/>
          <a:p>
            <a:fld id="{451BA835-D13F-49F4-8F11-5D576AC65FAD}" type="datetime1">
              <a:rPr lang="en-US" smtClean="0"/>
              <a:t>3/2/2026</a:t>
            </a:fld>
            <a:endParaRPr lang="en-US" dirty="0"/>
          </a:p>
        </p:txBody>
      </p:sp>
      <p:sp>
        <p:nvSpPr>
          <p:cNvPr id="7" name="Footer Placeholder 6">
            <a:extLst>
              <a:ext uri="{FF2B5EF4-FFF2-40B4-BE49-F238E27FC236}">
                <a16:creationId xmlns:a16="http://schemas.microsoft.com/office/drawing/2014/main" id="{79DA3A85-7147-4F32-944A-B079AF5147E2}"/>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EEDDF50D-95C0-4DA2-BBC6-41774FAC140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555617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09BEFCA-6D6F-4F26-823F-C86CA694B830}"/>
              </a:ext>
            </a:extLst>
          </p:cNvPr>
          <p:cNvSpPr>
            <a:spLocks noGrp="1"/>
          </p:cNvSpPr>
          <p:nvPr>
            <p:ph type="dt" sz="half" idx="10"/>
          </p:nvPr>
        </p:nvSpPr>
        <p:spPr/>
        <p:txBody>
          <a:bodyPr/>
          <a:lstStyle/>
          <a:p>
            <a:fld id="{ADBD1799-ACB5-4CB2-86A2-5C574F1C8706}" type="datetime1">
              <a:rPr lang="en-US" smtClean="0"/>
              <a:t>3/2/2026</a:t>
            </a:fld>
            <a:endParaRPr lang="en-US" dirty="0"/>
          </a:p>
        </p:txBody>
      </p:sp>
      <p:sp>
        <p:nvSpPr>
          <p:cNvPr id="6" name="Footer Placeholder 5">
            <a:extLst>
              <a:ext uri="{FF2B5EF4-FFF2-40B4-BE49-F238E27FC236}">
                <a16:creationId xmlns:a16="http://schemas.microsoft.com/office/drawing/2014/main" id="{BC2EE2C9-E87D-4495-9EDA-6BC0EDC270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E5557A9-903F-4B36-8B06-D9EADF230508}"/>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975247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76488" y="640080"/>
            <a:ext cx="3227715" cy="2551751"/>
          </a:xfrm>
        </p:spPr>
        <p:txBody>
          <a:bodyPr anchor="b">
            <a:normAutofit/>
          </a:bodyPr>
          <a:lstStyle>
            <a:lvl1pPr>
              <a:lnSpc>
                <a:spcPct val="104000"/>
              </a:lnSpc>
              <a:defRPr sz="3400"/>
            </a:lvl1pPr>
          </a:lstStyle>
          <a:p>
            <a:r>
              <a:rPr lang="en-US"/>
              <a:t>Click to edit Master title style</a:t>
            </a:r>
            <a:endParaRPr lang="en-US" dirty="0"/>
          </a:p>
        </p:txBody>
      </p:sp>
      <p:sp>
        <p:nvSpPr>
          <p:cNvPr id="3" name="Content Placeholder 2"/>
          <p:cNvSpPr>
            <a:spLocks noGrp="1"/>
          </p:cNvSpPr>
          <p:nvPr>
            <p:ph idx="1"/>
          </p:nvPr>
        </p:nvSpPr>
        <p:spPr>
          <a:xfrm>
            <a:off x="1280160" y="640080"/>
            <a:ext cx="6949440" cy="545591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BB904BE8-2080-4FFA-9239-A8929E28FAD9}"/>
              </a:ext>
            </a:extLst>
          </p:cNvPr>
          <p:cNvSpPr>
            <a:spLocks noGrp="1"/>
          </p:cNvSpPr>
          <p:nvPr>
            <p:ph type="dt" sz="half" idx="10"/>
          </p:nvPr>
        </p:nvSpPr>
        <p:spPr>
          <a:xfrm>
            <a:off x="8476488" y="6170491"/>
            <a:ext cx="2214322" cy="457200"/>
          </a:xfrm>
        </p:spPr>
        <p:txBody>
          <a:bodyPr/>
          <a:lstStyle/>
          <a:p>
            <a:fld id="{ED5DD0D6-7A82-473E-879B-C6ECD6CCCFEC}" type="datetime1">
              <a:rPr lang="en-US" smtClean="0"/>
              <a:t>3/2/2026</a:t>
            </a:fld>
            <a:endParaRPr lang="en-US" dirty="0"/>
          </a:p>
        </p:txBody>
      </p:sp>
      <p:sp>
        <p:nvSpPr>
          <p:cNvPr id="9" name="Footer Placeholder 8">
            <a:extLst>
              <a:ext uri="{FF2B5EF4-FFF2-40B4-BE49-F238E27FC236}">
                <a16:creationId xmlns:a16="http://schemas.microsoft.com/office/drawing/2014/main" id="{ED5580C6-5CD7-4CDD-977D-0533C84F2F45}"/>
              </a:ext>
            </a:extLst>
          </p:cNvPr>
          <p:cNvSpPr>
            <a:spLocks noGrp="1"/>
          </p:cNvSpPr>
          <p:nvPr>
            <p:ph type="ftr" sz="quarter" idx="11"/>
          </p:nvPr>
        </p:nvSpPr>
        <p:spPr>
          <a:xfrm>
            <a:off x="1280160" y="6170490"/>
            <a:ext cx="6949440" cy="457200"/>
          </a:xfrm>
        </p:spPr>
        <p:txBody>
          <a:bodyPr/>
          <a:lstStyle/>
          <a:p>
            <a:endParaRPr lang="en-US" dirty="0"/>
          </a:p>
        </p:txBody>
      </p:sp>
      <p:sp>
        <p:nvSpPr>
          <p:cNvPr id="10" name="Slide Number Placeholder 9">
            <a:extLst>
              <a:ext uri="{FF2B5EF4-FFF2-40B4-BE49-F238E27FC236}">
                <a16:creationId xmlns:a16="http://schemas.microsoft.com/office/drawing/2014/main" id="{518D0320-9B66-443F-8E28-8BCF07E082BD}"/>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011714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0" y="0"/>
            <a:ext cx="8102651"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Date Placeholder 10">
            <a:extLst>
              <a:ext uri="{FF2B5EF4-FFF2-40B4-BE49-F238E27FC236}">
                <a16:creationId xmlns:a16="http://schemas.microsoft.com/office/drawing/2014/main" id="{41C2A9DB-B176-4069-8734-5B4ED352BA2B}"/>
              </a:ext>
            </a:extLst>
          </p:cNvPr>
          <p:cNvSpPr>
            <a:spLocks noGrp="1"/>
          </p:cNvSpPr>
          <p:nvPr>
            <p:ph type="dt" sz="half" idx="10"/>
          </p:nvPr>
        </p:nvSpPr>
        <p:spPr>
          <a:xfrm>
            <a:off x="8476488" y="6170491"/>
            <a:ext cx="2214322" cy="457200"/>
          </a:xfrm>
        </p:spPr>
        <p:txBody>
          <a:bodyPr/>
          <a:lstStyle/>
          <a:p>
            <a:fld id="{D4605E03-BC17-41A7-854C-DFAB672737DC}" type="datetime1">
              <a:rPr lang="en-US" smtClean="0"/>
              <a:t>3/2/2026</a:t>
            </a:fld>
            <a:endParaRPr lang="en-US" dirty="0"/>
          </a:p>
        </p:txBody>
      </p:sp>
      <p:sp>
        <p:nvSpPr>
          <p:cNvPr id="12" name="Footer Placeholder 11">
            <a:extLst>
              <a:ext uri="{FF2B5EF4-FFF2-40B4-BE49-F238E27FC236}">
                <a16:creationId xmlns:a16="http://schemas.microsoft.com/office/drawing/2014/main" id="{430F9A2F-C2C4-4E1C-B4B3-07ED84F28CE8}"/>
              </a:ext>
            </a:extLst>
          </p:cNvPr>
          <p:cNvSpPr>
            <a:spLocks noGrp="1"/>
          </p:cNvSpPr>
          <p:nvPr>
            <p:ph type="ftr" sz="quarter" idx="11"/>
          </p:nvPr>
        </p:nvSpPr>
        <p:spPr>
          <a:xfrm>
            <a:off x="1280160" y="6170490"/>
            <a:ext cx="6464410" cy="457200"/>
          </a:xfrm>
        </p:spPr>
        <p:txBody>
          <a:bodyPr/>
          <a:lstStyle>
            <a:lvl1pPr>
              <a:defRPr b="1">
                <a:solidFill>
                  <a:srgbClr val="FFFFFF"/>
                </a:solidFill>
                <a:effectLst>
                  <a:outerShdw blurRad="50800" dist="38100" dir="2700000" algn="tl" rotWithShape="0">
                    <a:prstClr val="black">
                      <a:alpha val="43000"/>
                    </a:prstClr>
                  </a:outerShdw>
                </a:effectLst>
              </a:defRPr>
            </a:lvl1pPr>
          </a:lstStyle>
          <a:p>
            <a:endParaRPr lang="en-US" dirty="0"/>
          </a:p>
        </p:txBody>
      </p:sp>
      <p:sp>
        <p:nvSpPr>
          <p:cNvPr id="13" name="Slide Number Placeholder 12">
            <a:extLst>
              <a:ext uri="{FF2B5EF4-FFF2-40B4-BE49-F238E27FC236}">
                <a16:creationId xmlns:a16="http://schemas.microsoft.com/office/drawing/2014/main" id="{F9BFA0A0-2117-4A10-9DAA-080C21559CF3}"/>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4284537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6397E4A-EB6A-4FA6-AA4F-69EA0C70FDC9}"/>
              </a:ext>
            </a:extLst>
          </p:cNvPr>
          <p:cNvSpPr>
            <a:spLocks noGrp="1"/>
          </p:cNvSpPr>
          <p:nvPr>
            <p:ph type="dt" sz="half" idx="10"/>
          </p:nvPr>
        </p:nvSpPr>
        <p:spPr/>
        <p:txBody>
          <a:bodyPr/>
          <a:lstStyle/>
          <a:p>
            <a:fld id="{6F86ED0C-1DA7-41F0-94CF-6218B1FEDFF1}" type="datetime1">
              <a:rPr lang="en-US" smtClean="0"/>
              <a:t>3/2/2026</a:t>
            </a:fld>
            <a:endParaRPr lang="en-US" dirty="0"/>
          </a:p>
        </p:txBody>
      </p:sp>
      <p:sp>
        <p:nvSpPr>
          <p:cNvPr id="8" name="Footer Placeholder 7">
            <a:extLst>
              <a:ext uri="{FF2B5EF4-FFF2-40B4-BE49-F238E27FC236}">
                <a16:creationId xmlns:a16="http://schemas.microsoft.com/office/drawing/2014/main" id="{051A2F5D-7AC4-4F91-965A-7B6A45D6F41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6E8B86-CDB8-482F-9D9F-1BFDA3638B3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1310536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EECF02AB-6034-4B88-BC5A-7C17CB0EF809}" type="datetime1">
              <a:rPr lang="en-US" smtClean="0"/>
              <a:t>3/2/2026</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3314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0240" y="442220"/>
            <a:ext cx="8770571" cy="1345269"/>
          </a:xfrm>
          <a:prstGeom prst="rect">
            <a:avLst/>
          </a:prstGeom>
        </p:spPr>
        <p:txBody>
          <a:bodyPr vert="horz" lIns="109728" tIns="109728" rIns="109728" bIns="9144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920240" y="2312276"/>
            <a:ext cx="8770571" cy="3651504"/>
          </a:xfrm>
          <a:prstGeom prst="rect">
            <a:avLst/>
          </a:prstGeom>
        </p:spPr>
        <p:txBody>
          <a:bodyPr vert="horz" lIns="109728" tIns="109728" rIns="109728"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50727" y="6170491"/>
            <a:ext cx="2840083" cy="457200"/>
          </a:xfrm>
          <a:prstGeom prst="rect">
            <a:avLst/>
          </a:prstGeom>
        </p:spPr>
        <p:txBody>
          <a:bodyPr vert="horz" lIns="109728" tIns="109728" rIns="109728" bIns="91440" rtlCol="0" anchor="ctr"/>
          <a:lstStyle>
            <a:lvl1pPr algn="r">
              <a:defRPr sz="1100" spc="150" baseline="0">
                <a:solidFill>
                  <a:schemeClr val="tx1">
                    <a:lumMod val="75000"/>
                    <a:lumOff val="25000"/>
                  </a:schemeClr>
                </a:solidFill>
                <a:latin typeface="+mj-lt"/>
              </a:defRPr>
            </a:lvl1pPr>
          </a:lstStyle>
          <a:p>
            <a:fld id="{C4408324-A84C-4A45-93B6-78D079CCE772}" type="datetime1">
              <a:rPr lang="en-US" smtClean="0"/>
              <a:t>3/2/2026</a:t>
            </a:fld>
            <a:endParaRPr lang="en-US" dirty="0"/>
          </a:p>
        </p:txBody>
      </p:sp>
      <p:sp>
        <p:nvSpPr>
          <p:cNvPr id="5" name="Footer Placeholder 4"/>
          <p:cNvSpPr>
            <a:spLocks noGrp="1"/>
          </p:cNvSpPr>
          <p:nvPr>
            <p:ph type="ftr" sz="quarter" idx="3"/>
          </p:nvPr>
        </p:nvSpPr>
        <p:spPr>
          <a:xfrm>
            <a:off x="1920240" y="6170490"/>
            <a:ext cx="5667375" cy="457200"/>
          </a:xfrm>
          <a:prstGeom prst="rect">
            <a:avLst/>
          </a:prstGeom>
        </p:spPr>
        <p:txBody>
          <a:bodyPr vert="horz" lIns="109728" tIns="109728" rIns="109728" bIns="91440" rtlCol="0" anchor="ctr"/>
          <a:lstStyle>
            <a:lvl1pPr algn="l">
              <a:defRPr sz="11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853744" y="6170490"/>
            <a:ext cx="1188720" cy="457200"/>
          </a:xfrm>
          <a:prstGeom prst="rect">
            <a:avLst/>
          </a:prstGeom>
        </p:spPr>
        <p:txBody>
          <a:bodyPr vert="horz" lIns="109728" tIns="109728" rIns="109728" bIns="91440" rtlCol="0" anchor="b"/>
          <a:lstStyle>
            <a:lvl1pPr algn="r">
              <a:defRPr sz="1600" b="1" baseline="0">
                <a:solidFill>
                  <a:schemeClr val="tx1">
                    <a:lumMod val="75000"/>
                    <a:lumOff val="25000"/>
                  </a:schemeClr>
                </a:solidFill>
                <a:latin typeface="+mj-lt"/>
              </a:defRPr>
            </a:lvl1pPr>
          </a:lstStyle>
          <a:p>
            <a:pPr algn="l"/>
            <a:fld id="{FAEF9944-A4F6-4C59-AEBD-678D6480B8EA}" type="slidenum">
              <a:rPr lang="en-US" smtClean="0"/>
              <a:pPr algn="l"/>
              <a:t>‹#›</a:t>
            </a:fld>
            <a:endParaRPr lang="en-US" dirty="0"/>
          </a:p>
        </p:txBody>
      </p:sp>
      <p:cxnSp>
        <p:nvCxnSpPr>
          <p:cNvPr id="9" name="Straight Connector 8" title="Rule Line">
            <a:extLst>
              <a:ext uri="{FF2B5EF4-FFF2-40B4-BE49-F238E27FC236}">
                <a16:creationId xmlns:a16="http://schemas.microsoft.com/office/drawing/2014/main" id="{430127AE-B29E-4FDF-99D2-A2F1E7003F74}"/>
              </a:ext>
            </a:extLst>
          </p:cNvPr>
          <p:cNvCxnSpPr/>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6061368"/>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52" r:id="rId6"/>
    <p:sldLayoutId id="2147483757" r:id="rId7"/>
    <p:sldLayoutId id="2147483753" r:id="rId8"/>
    <p:sldLayoutId id="2147483754" r:id="rId9"/>
    <p:sldLayoutId id="2147483755" r:id="rId10"/>
    <p:sldLayoutId id="2147483756" r:id="rId11"/>
  </p:sldLayoutIdLst>
  <p:hf sldNum="0" hdr="0" ftr="0" dt="0"/>
  <p:txStyles>
    <p:title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54E5F18F-9D70-4BE5-8A38-603463EE84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6" y="0"/>
            <a:ext cx="10678291" cy="6858000"/>
            <a:chOff x="547626" y="0"/>
            <a:chExt cx="10678291" cy="6858000"/>
          </a:xfrm>
        </p:grpSpPr>
        <p:sp>
          <p:nvSpPr>
            <p:cNvPr id="11" name="Freeform: Shape 10">
              <a:extLst>
                <a:ext uri="{FF2B5EF4-FFF2-40B4-BE49-F238E27FC236}">
                  <a16:creationId xmlns:a16="http://schemas.microsoft.com/office/drawing/2014/main" id="{391F8D69-709A-4575-A393-B4C26481AF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66083" y="0"/>
              <a:ext cx="9841377" cy="6858000"/>
            </a:xfrm>
            <a:custGeom>
              <a:avLst/>
              <a:gdLst>
                <a:gd name="connsiteX0" fmla="*/ 8218354 w 9841377"/>
                <a:gd name="connsiteY0" fmla="*/ 0 h 6858000"/>
                <a:gd name="connsiteX1" fmla="*/ 5551962 w 9841377"/>
                <a:gd name="connsiteY1" fmla="*/ 0 h 6858000"/>
                <a:gd name="connsiteX2" fmla="*/ 5482342 w 9841377"/>
                <a:gd name="connsiteY2" fmla="*/ 0 h 6858000"/>
                <a:gd name="connsiteX3" fmla="*/ 4359035 w 9841377"/>
                <a:gd name="connsiteY3" fmla="*/ 0 h 6858000"/>
                <a:gd name="connsiteX4" fmla="*/ 4289415 w 9841377"/>
                <a:gd name="connsiteY4" fmla="*/ 0 h 6858000"/>
                <a:gd name="connsiteX5" fmla="*/ 1623023 w 9841377"/>
                <a:gd name="connsiteY5" fmla="*/ 0 h 6858000"/>
                <a:gd name="connsiteX6" fmla="*/ 1600899 w 9841377"/>
                <a:gd name="connsiteY6" fmla="*/ 14997 h 6858000"/>
                <a:gd name="connsiteX7" fmla="*/ 0 w 9841377"/>
                <a:gd name="connsiteY7" fmla="*/ 3621656 h 6858000"/>
                <a:gd name="connsiteX8" fmla="*/ 1874350 w 9841377"/>
                <a:gd name="connsiteY8" fmla="*/ 6374814 h 6858000"/>
                <a:gd name="connsiteX9" fmla="*/ 2390998 w 9841377"/>
                <a:gd name="connsiteY9" fmla="*/ 6780599 h 6858000"/>
                <a:gd name="connsiteX10" fmla="*/ 2502754 w 9841377"/>
                <a:gd name="connsiteY10" fmla="*/ 6858000 h 6858000"/>
                <a:gd name="connsiteX11" fmla="*/ 4289415 w 9841377"/>
                <a:gd name="connsiteY11" fmla="*/ 6858000 h 6858000"/>
                <a:gd name="connsiteX12" fmla="*/ 4359035 w 9841377"/>
                <a:gd name="connsiteY12" fmla="*/ 6858000 h 6858000"/>
                <a:gd name="connsiteX13" fmla="*/ 5482342 w 9841377"/>
                <a:gd name="connsiteY13" fmla="*/ 6858000 h 6858000"/>
                <a:gd name="connsiteX14" fmla="*/ 5551962 w 9841377"/>
                <a:gd name="connsiteY14" fmla="*/ 6858000 h 6858000"/>
                <a:gd name="connsiteX15" fmla="*/ 7338623 w 9841377"/>
                <a:gd name="connsiteY15" fmla="*/ 6858000 h 6858000"/>
                <a:gd name="connsiteX16" fmla="*/ 7450379 w 9841377"/>
                <a:gd name="connsiteY16" fmla="*/ 6780599 h 6858000"/>
                <a:gd name="connsiteX17" fmla="*/ 7967027 w 9841377"/>
                <a:gd name="connsiteY17" fmla="*/ 6374814 h 6858000"/>
                <a:gd name="connsiteX18" fmla="*/ 9841377 w 9841377"/>
                <a:gd name="connsiteY18" fmla="*/ 3621656 h 6858000"/>
                <a:gd name="connsiteX19" fmla="*/ 8240478 w 9841377"/>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41377" h="6858000">
                  <a:moveTo>
                    <a:pt x="8218354" y="0"/>
                  </a:moveTo>
                  <a:lnTo>
                    <a:pt x="5551962" y="0"/>
                  </a:lnTo>
                  <a:lnTo>
                    <a:pt x="5482342" y="0"/>
                  </a:lnTo>
                  <a:lnTo>
                    <a:pt x="4359035" y="0"/>
                  </a:lnTo>
                  <a:lnTo>
                    <a:pt x="4289415" y="0"/>
                  </a:lnTo>
                  <a:lnTo>
                    <a:pt x="1623023" y="0"/>
                  </a:lnTo>
                  <a:lnTo>
                    <a:pt x="1600899" y="14997"/>
                  </a:lnTo>
                  <a:cubicBezTo>
                    <a:pt x="573736" y="754641"/>
                    <a:pt x="0" y="2093192"/>
                    <a:pt x="0" y="3621656"/>
                  </a:cubicBezTo>
                  <a:cubicBezTo>
                    <a:pt x="0" y="4969131"/>
                    <a:pt x="928725" y="5602839"/>
                    <a:pt x="1874350" y="6374814"/>
                  </a:cubicBezTo>
                  <a:cubicBezTo>
                    <a:pt x="2046553" y="6515397"/>
                    <a:pt x="2217180" y="6653108"/>
                    <a:pt x="2390998" y="6780599"/>
                  </a:cubicBezTo>
                  <a:lnTo>
                    <a:pt x="2502754" y="6858000"/>
                  </a:lnTo>
                  <a:lnTo>
                    <a:pt x="4289415" y="6858000"/>
                  </a:lnTo>
                  <a:lnTo>
                    <a:pt x="4359035" y="6858000"/>
                  </a:lnTo>
                  <a:lnTo>
                    <a:pt x="5482342" y="6858000"/>
                  </a:lnTo>
                  <a:lnTo>
                    <a:pt x="5551962" y="6858000"/>
                  </a:lnTo>
                  <a:lnTo>
                    <a:pt x="7338623" y="6858000"/>
                  </a:lnTo>
                  <a:lnTo>
                    <a:pt x="7450379" y="6780599"/>
                  </a:lnTo>
                  <a:cubicBezTo>
                    <a:pt x="7624197" y="6653108"/>
                    <a:pt x="7794824" y="6515397"/>
                    <a:pt x="7967027" y="6374814"/>
                  </a:cubicBezTo>
                  <a:cubicBezTo>
                    <a:pt x="8912652" y="5602839"/>
                    <a:pt x="9841377" y="4969131"/>
                    <a:pt x="9841377" y="3621656"/>
                  </a:cubicBezTo>
                  <a:cubicBezTo>
                    <a:pt x="9841377" y="2093192"/>
                    <a:pt x="9267641" y="754641"/>
                    <a:pt x="8240478" y="14997"/>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00981015-32A2-4B76-9F2E-0A8D6EC8EC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6"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D38532F4-8B67-47B7-B58A-5DD3E1BE52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6092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BC87DA9F-8DB2-4D48-8716-A928FBB8A5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126724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195EA065-AC5D-431D-927E-87FF05884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9619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6E37E2DD-C7FE-4D6C-8F1D-5031E96A7F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7618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7" name="Freeform: Shape 16">
              <a:extLst>
                <a:ext uri="{FF2B5EF4-FFF2-40B4-BE49-F238E27FC236}">
                  <a16:creationId xmlns:a16="http://schemas.microsoft.com/office/drawing/2014/main" id="{778B68BA-AB87-4EB5-97C2-F1F304E193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4494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p:cNvSpPr>
            <a:spLocks noGrp="1"/>
          </p:cNvSpPr>
          <p:nvPr>
            <p:ph type="ctrTitle"/>
          </p:nvPr>
        </p:nvSpPr>
        <p:spPr>
          <a:xfrm>
            <a:off x="2190750" y="1346268"/>
            <a:ext cx="7810500" cy="3125338"/>
          </a:xfrm>
        </p:spPr>
        <p:txBody>
          <a:bodyPr anchor="b">
            <a:normAutofit/>
          </a:bodyPr>
          <a:lstStyle/>
          <a:p>
            <a:pPr algn="ctr"/>
            <a:r>
              <a:rPr lang="en-US" sz="7200" dirty="0">
                <a:ea typeface="Meiryo"/>
              </a:rPr>
              <a:t>Software Re-Engineering</a:t>
            </a:r>
          </a:p>
        </p:txBody>
      </p:sp>
      <p:sp>
        <p:nvSpPr>
          <p:cNvPr id="3" name="Subtitle 2"/>
          <p:cNvSpPr>
            <a:spLocks noGrp="1"/>
          </p:cNvSpPr>
          <p:nvPr>
            <p:ph type="subTitle" idx="1"/>
          </p:nvPr>
        </p:nvSpPr>
        <p:spPr>
          <a:xfrm>
            <a:off x="2619375" y="4471607"/>
            <a:ext cx="6953250" cy="862394"/>
          </a:xfrm>
        </p:spPr>
        <p:txBody>
          <a:bodyPr anchor="t">
            <a:normAutofit fontScale="47500" lnSpcReduction="20000"/>
          </a:bodyPr>
          <a:lstStyle/>
          <a:p>
            <a:pPr algn="ctr"/>
            <a:r>
              <a:rPr lang="en-US" sz="7200" b="1" dirty="0">
                <a:ea typeface="Meiryo"/>
              </a:rPr>
              <a:t>Code refactoring </a:t>
            </a:r>
            <a:endParaRPr lang="en-US" sz="7200" dirty="0">
              <a:solidFill>
                <a:srgbClr val="000000"/>
              </a:solidFill>
              <a:ea typeface="Meiryo"/>
            </a:endParaRPr>
          </a:p>
          <a:p>
            <a:pPr algn="ctr"/>
            <a:endParaRPr lang="en-US" dirty="0">
              <a:ea typeface="Meiryo"/>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2F24225-0E3A-40A5-A927-CEFC14438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5B02B8FB-EF36-4677-B5B5-E9B989F25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83796" cy="6858000"/>
          </a:xfrm>
          <a:custGeom>
            <a:avLst/>
            <a:gdLst>
              <a:gd name="connsiteX0" fmla="*/ 0 w 4583796"/>
              <a:gd name="connsiteY0" fmla="*/ 0 h 6858000"/>
              <a:gd name="connsiteX1" fmla="*/ 1087374 w 4583796"/>
              <a:gd name="connsiteY1" fmla="*/ 0 h 6858000"/>
              <a:gd name="connsiteX2" fmla="*/ 1598212 w 4583796"/>
              <a:gd name="connsiteY2" fmla="*/ 0 h 6858000"/>
              <a:gd name="connsiteX3" fmla="*/ 2960773 w 4583796"/>
              <a:gd name="connsiteY3" fmla="*/ 0 h 6858000"/>
              <a:gd name="connsiteX4" fmla="*/ 2982897 w 4583796"/>
              <a:gd name="connsiteY4" fmla="*/ 14997 h 6858000"/>
              <a:gd name="connsiteX5" fmla="*/ 4583796 w 4583796"/>
              <a:gd name="connsiteY5" fmla="*/ 3621656 h 6858000"/>
              <a:gd name="connsiteX6" fmla="*/ 2709446 w 4583796"/>
              <a:gd name="connsiteY6" fmla="*/ 6374814 h 6858000"/>
              <a:gd name="connsiteX7" fmla="*/ 2192798 w 4583796"/>
              <a:gd name="connsiteY7" fmla="*/ 6780599 h 6858000"/>
              <a:gd name="connsiteX8" fmla="*/ 2081042 w 4583796"/>
              <a:gd name="connsiteY8" fmla="*/ 6858000 h 6858000"/>
              <a:gd name="connsiteX9" fmla="*/ 1598212 w 4583796"/>
              <a:gd name="connsiteY9" fmla="*/ 6858000 h 6858000"/>
              <a:gd name="connsiteX10" fmla="*/ 1087374 w 4583796"/>
              <a:gd name="connsiteY10" fmla="*/ 6858000 h 6858000"/>
              <a:gd name="connsiteX11" fmla="*/ 0 w 4583796"/>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83796" h="6858000">
                <a:moveTo>
                  <a:pt x="0" y="0"/>
                </a:moveTo>
                <a:lnTo>
                  <a:pt x="1087374" y="0"/>
                </a:lnTo>
                <a:lnTo>
                  <a:pt x="1598212" y="0"/>
                </a:lnTo>
                <a:lnTo>
                  <a:pt x="2960773" y="0"/>
                </a:lnTo>
                <a:lnTo>
                  <a:pt x="2982897" y="14997"/>
                </a:lnTo>
                <a:cubicBezTo>
                  <a:pt x="4010060" y="754641"/>
                  <a:pt x="4583796" y="2093192"/>
                  <a:pt x="4583796" y="3621656"/>
                </a:cubicBezTo>
                <a:cubicBezTo>
                  <a:pt x="4583796" y="4969131"/>
                  <a:pt x="3655071" y="5602839"/>
                  <a:pt x="2709446" y="6374814"/>
                </a:cubicBezTo>
                <a:cubicBezTo>
                  <a:pt x="2537243" y="6515397"/>
                  <a:pt x="2366616" y="6653108"/>
                  <a:pt x="2192798" y="6780599"/>
                </a:cubicBezTo>
                <a:lnTo>
                  <a:pt x="2081042" y="6858000"/>
                </a:lnTo>
                <a:lnTo>
                  <a:pt x="1598212" y="6858000"/>
                </a:lnTo>
                <a:lnTo>
                  <a:pt x="1087374"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BE30D5C6-EC5C-4D78-8689-1B6822BFF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0120"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5" name="Freeform: Shape 24">
            <a:extLst>
              <a:ext uri="{FF2B5EF4-FFF2-40B4-BE49-F238E27FC236}">
                <a16:creationId xmlns:a16="http://schemas.microsoft.com/office/drawing/2014/main" id="{12A73499-12A4-4080-B0DE-351867697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0113"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7" name="Freeform: Shape 26">
            <a:extLst>
              <a:ext uri="{FF2B5EF4-FFF2-40B4-BE49-F238E27FC236}">
                <a16:creationId xmlns:a16="http://schemas.microsoft.com/office/drawing/2014/main" id="{60A52FE6-BB17-4BE4-BFA1-8896FD7CF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8872"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9" name="Freeform: Shape 28">
            <a:extLst>
              <a:ext uri="{FF2B5EF4-FFF2-40B4-BE49-F238E27FC236}">
                <a16:creationId xmlns:a16="http://schemas.microsoft.com/office/drawing/2014/main" id="{A7BBF837-70DD-4FFD-A87C-FAD1F5D8A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0120"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1" name="Freeform: Shape 30">
            <a:extLst>
              <a:ext uri="{FF2B5EF4-FFF2-40B4-BE49-F238E27FC236}">
                <a16:creationId xmlns:a16="http://schemas.microsoft.com/office/drawing/2014/main" id="{CE5EB792-CB0B-44C0-9561-24A263D874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0113"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3" name="Freeform: Shape 32">
            <a:extLst>
              <a:ext uri="{FF2B5EF4-FFF2-40B4-BE49-F238E27FC236}">
                <a16:creationId xmlns:a16="http://schemas.microsoft.com/office/drawing/2014/main" id="{C0FB4A96-0FD5-4642-8CE2-57623A3A4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8872"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9BCF8181-8A90-CD68-B682-1C8A328FEE83}"/>
              </a:ext>
            </a:extLst>
          </p:cNvPr>
          <p:cNvSpPr>
            <a:spLocks noGrp="1"/>
          </p:cNvSpPr>
          <p:nvPr>
            <p:ph type="title"/>
          </p:nvPr>
        </p:nvSpPr>
        <p:spPr>
          <a:xfrm>
            <a:off x="830218" y="1833229"/>
            <a:ext cx="3161338" cy="2934031"/>
          </a:xfrm>
        </p:spPr>
        <p:txBody>
          <a:bodyPr anchor="ctr">
            <a:normAutofit/>
          </a:bodyPr>
          <a:lstStyle/>
          <a:p>
            <a:r>
              <a:rPr lang="en-US" dirty="0">
                <a:latin typeface="PT Sans"/>
              </a:rPr>
              <a:t>Refactoring</a:t>
            </a:r>
            <a:endParaRPr lang="en-US">
              <a:ea typeface="Meiryo"/>
            </a:endParaRPr>
          </a:p>
          <a:p>
            <a:endParaRPr lang="en-US" dirty="0">
              <a:latin typeface="Meiryo"/>
              <a:ea typeface="Meiryo"/>
            </a:endParaRPr>
          </a:p>
        </p:txBody>
      </p:sp>
      <p:sp>
        <p:nvSpPr>
          <p:cNvPr id="3" name="Content Placeholder 2">
            <a:extLst>
              <a:ext uri="{FF2B5EF4-FFF2-40B4-BE49-F238E27FC236}">
                <a16:creationId xmlns:a16="http://schemas.microsoft.com/office/drawing/2014/main" id="{B7C07D79-6A99-3BE4-C88E-EFF760B51736}"/>
              </a:ext>
            </a:extLst>
          </p:cNvPr>
          <p:cNvSpPr>
            <a:spLocks noGrp="1"/>
          </p:cNvSpPr>
          <p:nvPr>
            <p:ph idx="1"/>
          </p:nvPr>
        </p:nvSpPr>
        <p:spPr>
          <a:xfrm>
            <a:off x="5394721" y="1105306"/>
            <a:ext cx="5672565" cy="4337435"/>
          </a:xfrm>
        </p:spPr>
        <p:txBody>
          <a:bodyPr vert="horz" lIns="109728" tIns="109728" rIns="109728" bIns="91440" rtlCol="0" anchor="ctr">
            <a:normAutofit/>
          </a:bodyPr>
          <a:lstStyle/>
          <a:p>
            <a:r>
              <a:rPr lang="en-US" sz="2400" dirty="0">
                <a:latin typeface="PT Sans"/>
                <a:ea typeface="Meiryo"/>
              </a:rPr>
              <a:t>Refactoring is a systematic process of improving code without creating new functionality that can transform a mess into clean code and a simple design.</a:t>
            </a:r>
            <a:endParaRPr lang="en-US" sz="2400">
              <a:ea typeface="Meiryo"/>
            </a:endParaRPr>
          </a:p>
        </p:txBody>
      </p:sp>
    </p:spTree>
    <p:extLst>
      <p:ext uri="{BB962C8B-B14F-4D97-AF65-F5344CB8AC3E}">
        <p14:creationId xmlns:p14="http://schemas.microsoft.com/office/powerpoint/2010/main" val="1106079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11" name="Freeform: Shape 10">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5A94582F-7228-A683-7119-73D8CEAA5065}"/>
              </a:ext>
            </a:extLst>
          </p:cNvPr>
          <p:cNvSpPr>
            <a:spLocks noGrp="1"/>
          </p:cNvSpPr>
          <p:nvPr>
            <p:ph type="title"/>
          </p:nvPr>
        </p:nvSpPr>
        <p:spPr>
          <a:xfrm>
            <a:off x="1920875" y="442913"/>
            <a:ext cx="6857365" cy="1344612"/>
          </a:xfrm>
        </p:spPr>
        <p:txBody>
          <a:bodyPr anchor="b">
            <a:normAutofit/>
          </a:bodyPr>
          <a:lstStyle/>
          <a:p>
            <a:r>
              <a:rPr lang="en-US" dirty="0">
                <a:ea typeface="Meiryo"/>
              </a:rPr>
              <a:t>Dirty Code</a:t>
            </a:r>
            <a:endParaRPr lang="en-US" dirty="0"/>
          </a:p>
        </p:txBody>
      </p:sp>
      <p:sp>
        <p:nvSpPr>
          <p:cNvPr id="3" name="Content Placeholder 2">
            <a:extLst>
              <a:ext uri="{FF2B5EF4-FFF2-40B4-BE49-F238E27FC236}">
                <a16:creationId xmlns:a16="http://schemas.microsoft.com/office/drawing/2014/main" id="{774FBD8B-5CFC-731F-7305-33C723CABAD5}"/>
              </a:ext>
            </a:extLst>
          </p:cNvPr>
          <p:cNvSpPr>
            <a:spLocks noGrp="1"/>
          </p:cNvSpPr>
          <p:nvPr>
            <p:ph idx="1"/>
          </p:nvPr>
        </p:nvSpPr>
        <p:spPr>
          <a:xfrm>
            <a:off x="1920875" y="2312988"/>
            <a:ext cx="6857365" cy="3651250"/>
          </a:xfrm>
        </p:spPr>
        <p:txBody>
          <a:bodyPr vert="horz" lIns="109728" tIns="109728" rIns="109728" bIns="91440" rtlCol="0">
            <a:normAutofit/>
          </a:bodyPr>
          <a:lstStyle/>
          <a:p>
            <a:r>
              <a:rPr lang="en-US" dirty="0">
                <a:ea typeface="Meiryo"/>
              </a:rPr>
              <a:t>Dirty code is result of inexperience multiplied by tight deadlines, mismanagement, and nasty shortcuts taken during the development process.</a:t>
            </a:r>
            <a:endParaRPr lang="en-US" dirty="0"/>
          </a:p>
        </p:txBody>
      </p:sp>
    </p:spTree>
    <p:extLst>
      <p:ext uri="{BB962C8B-B14F-4D97-AF65-F5344CB8AC3E}">
        <p14:creationId xmlns:p14="http://schemas.microsoft.com/office/powerpoint/2010/main" val="2287487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11" name="Freeform: Shape 10">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A5008AA8-1011-F483-A7A7-0AD6816901F2}"/>
              </a:ext>
            </a:extLst>
          </p:cNvPr>
          <p:cNvSpPr>
            <a:spLocks noGrp="1"/>
          </p:cNvSpPr>
          <p:nvPr>
            <p:ph type="title"/>
          </p:nvPr>
        </p:nvSpPr>
        <p:spPr>
          <a:xfrm>
            <a:off x="1920875" y="442913"/>
            <a:ext cx="6857365" cy="1344612"/>
          </a:xfrm>
        </p:spPr>
        <p:txBody>
          <a:bodyPr anchor="b">
            <a:normAutofit/>
          </a:bodyPr>
          <a:lstStyle/>
          <a:p>
            <a:r>
              <a:rPr lang="en-US" dirty="0">
                <a:ea typeface="Meiryo"/>
              </a:rPr>
              <a:t>Clean Code</a:t>
            </a:r>
            <a:endParaRPr lang="en-US" dirty="0"/>
          </a:p>
        </p:txBody>
      </p:sp>
      <p:sp>
        <p:nvSpPr>
          <p:cNvPr id="3" name="Content Placeholder 2">
            <a:extLst>
              <a:ext uri="{FF2B5EF4-FFF2-40B4-BE49-F238E27FC236}">
                <a16:creationId xmlns:a16="http://schemas.microsoft.com/office/drawing/2014/main" id="{B694D279-0395-935A-85B3-4B0133371797}"/>
              </a:ext>
            </a:extLst>
          </p:cNvPr>
          <p:cNvSpPr>
            <a:spLocks noGrp="1"/>
          </p:cNvSpPr>
          <p:nvPr>
            <p:ph idx="1"/>
          </p:nvPr>
        </p:nvSpPr>
        <p:spPr>
          <a:xfrm>
            <a:off x="1920875" y="2312988"/>
            <a:ext cx="6857365" cy="3651250"/>
          </a:xfrm>
        </p:spPr>
        <p:txBody>
          <a:bodyPr vert="horz" lIns="109728" tIns="109728" rIns="109728" bIns="91440" rtlCol="0">
            <a:normAutofit/>
          </a:bodyPr>
          <a:lstStyle/>
          <a:p>
            <a:r>
              <a:rPr lang="en-US" dirty="0">
                <a:ea typeface="Meiryo"/>
              </a:rPr>
              <a:t>Clean code is code that is easy to read, understand, and maintain. Clean code makes software development predictable and increases the quality of the resulting product.</a:t>
            </a:r>
            <a:endParaRPr lang="en-US" dirty="0"/>
          </a:p>
        </p:txBody>
      </p:sp>
    </p:spTree>
    <p:extLst>
      <p:ext uri="{BB962C8B-B14F-4D97-AF65-F5344CB8AC3E}">
        <p14:creationId xmlns:p14="http://schemas.microsoft.com/office/powerpoint/2010/main" val="2115751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7FC6A8B-34F9-40FB-AA2D-E34168F52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020EA313-43B4-5F90-D6E2-D7C7675A8463}"/>
              </a:ext>
            </a:extLst>
          </p:cNvPr>
          <p:cNvSpPr>
            <a:spLocks noGrp="1"/>
          </p:cNvSpPr>
          <p:nvPr>
            <p:ph type="title"/>
          </p:nvPr>
        </p:nvSpPr>
        <p:spPr>
          <a:xfrm>
            <a:off x="1188340" y="1105232"/>
            <a:ext cx="3013545" cy="4277802"/>
          </a:xfrm>
        </p:spPr>
        <p:txBody>
          <a:bodyPr anchor="ctr">
            <a:normAutofit/>
          </a:bodyPr>
          <a:lstStyle/>
          <a:p>
            <a:r>
              <a:rPr lang="en-US" dirty="0">
                <a:ea typeface="Meiryo"/>
              </a:rPr>
              <a:t>Refactoring Process</a:t>
            </a:r>
            <a:endParaRPr lang="en-US" dirty="0"/>
          </a:p>
          <a:p>
            <a:endParaRPr lang="en-US" dirty="0">
              <a:ea typeface="Meiryo"/>
            </a:endParaRPr>
          </a:p>
        </p:txBody>
      </p:sp>
      <p:grpSp>
        <p:nvGrpSpPr>
          <p:cNvPr id="10" name="Group 9">
            <a:extLst>
              <a:ext uri="{FF2B5EF4-FFF2-40B4-BE49-F238E27FC236}">
                <a16:creationId xmlns:a16="http://schemas.microsoft.com/office/drawing/2014/main" id="{D4D684F8-91BF-481C-A965-722756A383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308533" y="0"/>
            <a:ext cx="7883467" cy="6858000"/>
            <a:chOff x="0" y="0"/>
            <a:chExt cx="7883467" cy="6858000"/>
          </a:xfrm>
        </p:grpSpPr>
        <p:sp>
          <p:nvSpPr>
            <p:cNvPr id="11" name="Freeform: Shape 10">
              <a:extLst>
                <a:ext uri="{FF2B5EF4-FFF2-40B4-BE49-F238E27FC236}">
                  <a16:creationId xmlns:a16="http://schemas.microsoft.com/office/drawing/2014/main" id="{05DF7B3C-29EF-4ADC-BFDC-C3A038AC43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7475746" cy="6858000"/>
            </a:xfrm>
            <a:custGeom>
              <a:avLst/>
              <a:gdLst>
                <a:gd name="connsiteX0" fmla="*/ 0 w 7475746"/>
                <a:gd name="connsiteY0" fmla="*/ 0 h 6858000"/>
                <a:gd name="connsiteX1" fmla="*/ 5859459 w 7475746"/>
                <a:gd name="connsiteY1" fmla="*/ 0 h 6858000"/>
                <a:gd name="connsiteX2" fmla="*/ 5874848 w 7475746"/>
                <a:gd name="connsiteY2" fmla="*/ 10445 h 6858000"/>
                <a:gd name="connsiteX3" fmla="*/ 7475746 w 7475746"/>
                <a:gd name="connsiteY3" fmla="*/ 3621913 h 6858000"/>
                <a:gd name="connsiteX4" fmla="*/ 5601397 w 7475746"/>
                <a:gd name="connsiteY4" fmla="*/ 6378742 h 6858000"/>
                <a:gd name="connsiteX5" fmla="*/ 5084748 w 7475746"/>
                <a:gd name="connsiteY5" fmla="*/ 6785068 h 6858000"/>
                <a:gd name="connsiteX6" fmla="*/ 4979585 w 7475746"/>
                <a:gd name="connsiteY6" fmla="*/ 6858000 h 6858000"/>
                <a:gd name="connsiteX7" fmla="*/ 0 w 747574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5746" h="6858000">
                  <a:moveTo>
                    <a:pt x="0" y="0"/>
                  </a:moveTo>
                  <a:lnTo>
                    <a:pt x="5859459" y="0"/>
                  </a:lnTo>
                  <a:lnTo>
                    <a:pt x="5874848" y="10445"/>
                  </a:lnTo>
                  <a:cubicBezTo>
                    <a:pt x="6902010" y="751075"/>
                    <a:pt x="7475746" y="2091411"/>
                    <a:pt x="7475746" y="3621913"/>
                  </a:cubicBezTo>
                  <a:cubicBezTo>
                    <a:pt x="7475746" y="4971185"/>
                    <a:pt x="6547021" y="5605738"/>
                    <a:pt x="5601397" y="6378742"/>
                  </a:cubicBezTo>
                  <a:cubicBezTo>
                    <a:pt x="5429193" y="6519512"/>
                    <a:pt x="5258566" y="6657407"/>
                    <a:pt x="5084748" y="6785068"/>
                  </a:cubicBezTo>
                  <a:lnTo>
                    <a:pt x="4979585"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20289037-6999-491E-AA63-CC1C3CBBF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35374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497CF6DF-9FF9-4D10-B338-0BEFC0AA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3" name="Content Placeholder 2">
            <a:extLst>
              <a:ext uri="{FF2B5EF4-FFF2-40B4-BE49-F238E27FC236}">
                <a16:creationId xmlns:a16="http://schemas.microsoft.com/office/drawing/2014/main" id="{A3046683-1A48-672E-CA55-A1B799B381E3}"/>
              </a:ext>
            </a:extLst>
          </p:cNvPr>
          <p:cNvSpPr>
            <a:spLocks noGrp="1"/>
          </p:cNvSpPr>
          <p:nvPr>
            <p:ph idx="1"/>
          </p:nvPr>
        </p:nvSpPr>
        <p:spPr>
          <a:xfrm>
            <a:off x="6096000" y="1105232"/>
            <a:ext cx="5176298" cy="4277802"/>
          </a:xfrm>
        </p:spPr>
        <p:txBody>
          <a:bodyPr vert="horz" lIns="109728" tIns="109728" rIns="109728" bIns="91440" rtlCol="0" anchor="ctr">
            <a:normAutofit/>
          </a:bodyPr>
          <a:lstStyle/>
          <a:p>
            <a:r>
              <a:rPr lang="en-US" dirty="0">
                <a:latin typeface="PT Sans"/>
              </a:rPr>
              <a:t>Performing refactoring step-by-step and running tests after each change are key elements of refactoring that make it predictable and safe.</a:t>
            </a:r>
            <a:endParaRPr lang="en-US" dirty="0">
              <a:ea typeface="Meiryo"/>
            </a:endParaRPr>
          </a:p>
        </p:txBody>
      </p:sp>
    </p:spTree>
    <p:extLst>
      <p:ext uri="{BB962C8B-B14F-4D97-AF65-F5344CB8AC3E}">
        <p14:creationId xmlns:p14="http://schemas.microsoft.com/office/powerpoint/2010/main" val="2861131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93B4D24-F4A8-4141-A20A-E0575D1996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6CCEEF8A-4A3A-4B35-AA57-D804767F5A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0"/>
            <a:ext cx="12191696" cy="6170490"/>
            <a:chOff x="-2" y="0"/>
            <a:chExt cx="12191696" cy="6170490"/>
          </a:xfrm>
        </p:grpSpPr>
        <p:sp>
          <p:nvSpPr>
            <p:cNvPr id="11" name="Freeform: Shape 10">
              <a:extLst>
                <a:ext uri="{FF2B5EF4-FFF2-40B4-BE49-F238E27FC236}">
                  <a16:creationId xmlns:a16="http://schemas.microsoft.com/office/drawing/2014/main" id="{55A741C2-AB82-4BF5-9324-5D0B56A3D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DCD46807-BF17-4E5D-90A8-A062604C0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823926DB-76C8-474A-B5FB-F43C59E33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3C1F5347-E00A-4E12-AC11-18E0B1AF2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247015" y="-1314429"/>
              <a:ext cx="1697663" cy="12191695"/>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1EF044C2-8264-BEBB-8EA0-3DD2CCD97E45}"/>
              </a:ext>
            </a:extLst>
          </p:cNvPr>
          <p:cNvSpPr>
            <a:spLocks noGrp="1"/>
          </p:cNvSpPr>
          <p:nvPr>
            <p:ph type="title"/>
          </p:nvPr>
        </p:nvSpPr>
        <p:spPr>
          <a:xfrm>
            <a:off x="1920875" y="442913"/>
            <a:ext cx="6857365" cy="1344612"/>
          </a:xfrm>
        </p:spPr>
        <p:txBody>
          <a:bodyPr anchor="b">
            <a:normAutofit/>
          </a:bodyPr>
          <a:lstStyle/>
          <a:p>
            <a:r>
              <a:rPr lang="en-US" dirty="0">
                <a:ea typeface="Meiryo"/>
              </a:rPr>
              <a:t>Refactoring Techniques</a:t>
            </a:r>
            <a:endParaRPr lang="en-US" dirty="0"/>
          </a:p>
        </p:txBody>
      </p:sp>
      <p:sp>
        <p:nvSpPr>
          <p:cNvPr id="3" name="Content Placeholder 2">
            <a:extLst>
              <a:ext uri="{FF2B5EF4-FFF2-40B4-BE49-F238E27FC236}">
                <a16:creationId xmlns:a16="http://schemas.microsoft.com/office/drawing/2014/main" id="{8AF0C83C-8837-39C0-55DA-3E94D191F32B}"/>
              </a:ext>
            </a:extLst>
          </p:cNvPr>
          <p:cNvSpPr>
            <a:spLocks noGrp="1"/>
          </p:cNvSpPr>
          <p:nvPr>
            <p:ph idx="1"/>
          </p:nvPr>
        </p:nvSpPr>
        <p:spPr>
          <a:xfrm>
            <a:off x="1920875" y="2107096"/>
            <a:ext cx="8391967" cy="2846567"/>
          </a:xfrm>
        </p:spPr>
        <p:txBody>
          <a:bodyPr vert="horz" lIns="109728" tIns="109728" rIns="109728" bIns="91440" rtlCol="0" anchor="t">
            <a:normAutofit/>
          </a:bodyPr>
          <a:lstStyle/>
          <a:p>
            <a:r>
              <a:rPr lang="en-US" dirty="0">
                <a:ea typeface="Meiryo"/>
              </a:rPr>
              <a:t>Refactoring techniques describe actual refactoring steps. Most refactoring techniques have their pros and cons. Therefore, each refactoring should be properly motivated and applied with caution</a:t>
            </a:r>
          </a:p>
          <a:p>
            <a:endParaRPr lang="en-US" dirty="0">
              <a:ea typeface="Meiryo"/>
            </a:endParaRPr>
          </a:p>
        </p:txBody>
      </p:sp>
    </p:spTree>
    <p:extLst>
      <p:ext uri="{BB962C8B-B14F-4D97-AF65-F5344CB8AC3E}">
        <p14:creationId xmlns:p14="http://schemas.microsoft.com/office/powerpoint/2010/main" val="2992122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4" name="Freeform: Shape 23">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6" name="Freeform: Shape 25">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8" name="Freeform: Shape 27">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4FCA5663-14B7-ED36-3999-46B076DA785B}"/>
              </a:ext>
            </a:extLst>
          </p:cNvPr>
          <p:cNvSpPr>
            <a:spLocks noGrp="1"/>
          </p:cNvSpPr>
          <p:nvPr>
            <p:ph type="title"/>
          </p:nvPr>
        </p:nvSpPr>
        <p:spPr>
          <a:xfrm>
            <a:off x="992518" y="442913"/>
            <a:ext cx="5185645" cy="1639888"/>
          </a:xfrm>
        </p:spPr>
        <p:txBody>
          <a:bodyPr anchor="b">
            <a:normAutofit/>
          </a:bodyPr>
          <a:lstStyle/>
          <a:p>
            <a:br>
              <a:rPr lang="en-US" sz="3000"/>
            </a:br>
            <a:r>
              <a:rPr lang="en-US" sz="3000">
                <a:ea typeface="Meiryo"/>
              </a:rPr>
              <a:t>1.Composing Methods</a:t>
            </a:r>
            <a:endParaRPr lang="en-US" sz="3000"/>
          </a:p>
        </p:txBody>
      </p:sp>
      <p:sp>
        <p:nvSpPr>
          <p:cNvPr id="3" name="Content Placeholder 2">
            <a:extLst>
              <a:ext uri="{FF2B5EF4-FFF2-40B4-BE49-F238E27FC236}">
                <a16:creationId xmlns:a16="http://schemas.microsoft.com/office/drawing/2014/main" id="{A7164BDA-F48B-2093-7693-3F6602B5FF0E}"/>
              </a:ext>
            </a:extLst>
          </p:cNvPr>
          <p:cNvSpPr>
            <a:spLocks noGrp="1"/>
          </p:cNvSpPr>
          <p:nvPr>
            <p:ph idx="1"/>
          </p:nvPr>
        </p:nvSpPr>
        <p:spPr>
          <a:xfrm>
            <a:off x="992519" y="2312988"/>
            <a:ext cx="5296964" cy="3651250"/>
          </a:xfrm>
        </p:spPr>
        <p:txBody>
          <a:bodyPr vert="horz" lIns="109728" tIns="109728" rIns="109728" bIns="91440" rtlCol="0">
            <a:normAutofit/>
          </a:bodyPr>
          <a:lstStyle/>
          <a:p>
            <a:r>
              <a:rPr lang="en-US">
                <a:ea typeface="Meiryo"/>
              </a:rPr>
              <a:t>The refactoring techniques in this group streamline methods, remove code duplication, and pave the way for future improvements.</a:t>
            </a:r>
          </a:p>
          <a:p>
            <a:endParaRPr lang="en-US">
              <a:ea typeface="Meiryo"/>
            </a:endParaRPr>
          </a:p>
        </p:txBody>
      </p:sp>
      <p:pic>
        <p:nvPicPr>
          <p:cNvPr id="4" name="Picture 3" descr="A screenshot of a video game&#10;&#10;AI-generated content may be incorrect.">
            <a:extLst>
              <a:ext uri="{FF2B5EF4-FFF2-40B4-BE49-F238E27FC236}">
                <a16:creationId xmlns:a16="http://schemas.microsoft.com/office/drawing/2014/main" id="{48D8EC21-D8D5-91D3-A247-09A340084C95}"/>
              </a:ext>
            </a:extLst>
          </p:cNvPr>
          <p:cNvPicPr>
            <a:picLocks noChangeAspect="1"/>
          </p:cNvPicPr>
          <p:nvPr/>
        </p:nvPicPr>
        <p:blipFill>
          <a:blip r:embed="rId2"/>
          <a:stretch>
            <a:fillRect/>
          </a:stretch>
        </p:blipFill>
        <p:spPr>
          <a:xfrm>
            <a:off x="8324060" y="964568"/>
            <a:ext cx="2816493" cy="4928864"/>
          </a:xfrm>
          <a:prstGeom prst="rect">
            <a:avLst/>
          </a:prstGeom>
        </p:spPr>
      </p:pic>
    </p:spTree>
    <p:extLst>
      <p:ext uri="{BB962C8B-B14F-4D97-AF65-F5344CB8AC3E}">
        <p14:creationId xmlns:p14="http://schemas.microsoft.com/office/powerpoint/2010/main" val="378299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7" name="Freeform: Shape 26">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8" name="Freeform: Shape 27">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9" name="Freeform: Shape 28">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508CE59B-26C1-4BAE-D7D3-8E3BBA704F42}"/>
              </a:ext>
            </a:extLst>
          </p:cNvPr>
          <p:cNvSpPr>
            <a:spLocks noGrp="1"/>
          </p:cNvSpPr>
          <p:nvPr>
            <p:ph type="title"/>
          </p:nvPr>
        </p:nvSpPr>
        <p:spPr>
          <a:xfrm>
            <a:off x="992518" y="442913"/>
            <a:ext cx="5185645" cy="1639888"/>
          </a:xfrm>
        </p:spPr>
        <p:txBody>
          <a:bodyPr anchor="b">
            <a:normAutofit/>
          </a:bodyPr>
          <a:lstStyle/>
          <a:p>
            <a:pPr>
              <a:lnSpc>
                <a:spcPct val="120000"/>
              </a:lnSpc>
            </a:pPr>
            <a:br>
              <a:rPr lang="en-US" sz="2500"/>
            </a:br>
            <a:r>
              <a:rPr lang="en-US" sz="2500">
                <a:ea typeface="Meiryo"/>
              </a:rPr>
              <a:t>2. Moving Features between Objects</a:t>
            </a:r>
            <a:endParaRPr lang="en-US" sz="2500"/>
          </a:p>
        </p:txBody>
      </p:sp>
      <p:sp>
        <p:nvSpPr>
          <p:cNvPr id="3" name="Content Placeholder 2">
            <a:extLst>
              <a:ext uri="{FF2B5EF4-FFF2-40B4-BE49-F238E27FC236}">
                <a16:creationId xmlns:a16="http://schemas.microsoft.com/office/drawing/2014/main" id="{6D6218A2-CDC8-6389-DEAE-10A78A1628DF}"/>
              </a:ext>
            </a:extLst>
          </p:cNvPr>
          <p:cNvSpPr>
            <a:spLocks noGrp="1"/>
          </p:cNvSpPr>
          <p:nvPr>
            <p:ph idx="1"/>
          </p:nvPr>
        </p:nvSpPr>
        <p:spPr>
          <a:xfrm>
            <a:off x="992519" y="2312988"/>
            <a:ext cx="5296964" cy="3651250"/>
          </a:xfrm>
        </p:spPr>
        <p:txBody>
          <a:bodyPr vert="horz" lIns="109728" tIns="109728" rIns="109728" bIns="91440" rtlCol="0">
            <a:normAutofit/>
          </a:bodyPr>
          <a:lstStyle/>
          <a:p>
            <a:r>
              <a:rPr lang="en-US">
                <a:latin typeface="PT Sans"/>
                <a:ea typeface="Meiryo"/>
              </a:rPr>
              <a:t>Even if you have distributed functionality among different classes in a less-than-perfect way, there is still hope.</a:t>
            </a:r>
            <a:endParaRPr lang="en-US">
              <a:ea typeface="Meiryo"/>
            </a:endParaRPr>
          </a:p>
          <a:p>
            <a:r>
              <a:rPr lang="en-US">
                <a:latin typeface="PT Sans"/>
                <a:ea typeface="Meiryo"/>
              </a:rPr>
              <a:t>These refactoring techniques show how to safely move functionality between classes, create new classes, and hide implementation details from public access.</a:t>
            </a:r>
            <a:endParaRPr lang="en-US">
              <a:ea typeface="Meiryo"/>
            </a:endParaRPr>
          </a:p>
          <a:p>
            <a:endParaRPr lang="en-US">
              <a:ea typeface="Meiryo"/>
            </a:endParaRPr>
          </a:p>
        </p:txBody>
      </p:sp>
      <p:pic>
        <p:nvPicPr>
          <p:cNvPr id="4" name="Picture 3" descr="A cartoon of a road with trees and a car&#10;&#10;AI-generated content may be incorrect.">
            <a:extLst>
              <a:ext uri="{FF2B5EF4-FFF2-40B4-BE49-F238E27FC236}">
                <a16:creationId xmlns:a16="http://schemas.microsoft.com/office/drawing/2014/main" id="{35EC2124-6787-BE40-08AD-0A737A3D31BB}"/>
              </a:ext>
            </a:extLst>
          </p:cNvPr>
          <p:cNvPicPr>
            <a:picLocks noChangeAspect="1"/>
          </p:cNvPicPr>
          <p:nvPr/>
        </p:nvPicPr>
        <p:blipFill>
          <a:blip r:embed="rId2"/>
          <a:stretch>
            <a:fillRect/>
          </a:stretch>
        </p:blipFill>
        <p:spPr>
          <a:xfrm>
            <a:off x="8324060" y="964568"/>
            <a:ext cx="2816493" cy="4928864"/>
          </a:xfrm>
          <a:prstGeom prst="rect">
            <a:avLst/>
          </a:prstGeom>
        </p:spPr>
      </p:pic>
    </p:spTree>
    <p:extLst>
      <p:ext uri="{BB962C8B-B14F-4D97-AF65-F5344CB8AC3E}">
        <p14:creationId xmlns:p14="http://schemas.microsoft.com/office/powerpoint/2010/main" val="3101519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9C919B91-DD54-AC94-582C-B498451A76FD}"/>
              </a:ext>
            </a:extLst>
          </p:cNvPr>
          <p:cNvSpPr>
            <a:spLocks noGrp="1"/>
          </p:cNvSpPr>
          <p:nvPr>
            <p:ph type="title"/>
          </p:nvPr>
        </p:nvSpPr>
        <p:spPr>
          <a:xfrm>
            <a:off x="992518" y="442913"/>
            <a:ext cx="5271804" cy="1639888"/>
          </a:xfrm>
        </p:spPr>
        <p:txBody>
          <a:bodyPr anchor="b">
            <a:normAutofit/>
          </a:bodyPr>
          <a:lstStyle/>
          <a:p>
            <a:br>
              <a:rPr lang="en-US" dirty="0"/>
            </a:br>
            <a:r>
              <a:rPr lang="en-US" dirty="0">
                <a:ea typeface="Meiryo"/>
              </a:rPr>
              <a:t>3.Organizing Data</a:t>
            </a:r>
            <a:endParaRPr lang="en-US" dirty="0"/>
          </a:p>
        </p:txBody>
      </p:sp>
      <p:sp>
        <p:nvSpPr>
          <p:cNvPr id="3" name="Content Placeholder 2">
            <a:extLst>
              <a:ext uri="{FF2B5EF4-FFF2-40B4-BE49-F238E27FC236}">
                <a16:creationId xmlns:a16="http://schemas.microsoft.com/office/drawing/2014/main" id="{928492BC-9009-B3BE-DDDA-BFC1214D5947}"/>
              </a:ext>
            </a:extLst>
          </p:cNvPr>
          <p:cNvSpPr>
            <a:spLocks noGrp="1"/>
          </p:cNvSpPr>
          <p:nvPr>
            <p:ph idx="1"/>
          </p:nvPr>
        </p:nvSpPr>
        <p:spPr>
          <a:xfrm>
            <a:off x="992519" y="2312988"/>
            <a:ext cx="5271804" cy="3651250"/>
          </a:xfrm>
        </p:spPr>
        <p:txBody>
          <a:bodyPr vert="horz" lIns="109728" tIns="109728" rIns="109728" bIns="91440" rtlCol="0">
            <a:normAutofit/>
          </a:bodyPr>
          <a:lstStyle/>
          <a:p>
            <a:r>
              <a:rPr lang="en-US" dirty="0">
                <a:ea typeface="Meiryo"/>
              </a:rPr>
              <a:t>These refactoring techniques help with data handling, replacing primitives with rich class functionality. Another important result is the untangling of class associations, which makes classes more portable and reusable.</a:t>
            </a:r>
            <a:endParaRPr lang="en-US" dirty="0"/>
          </a:p>
        </p:txBody>
      </p:sp>
      <p:sp>
        <p:nvSpPr>
          <p:cNvPr id="20" name="Freeform: Shape 19">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4" name="Freeform: Shape 23">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Picture 3">
            <a:extLst>
              <a:ext uri="{FF2B5EF4-FFF2-40B4-BE49-F238E27FC236}">
                <a16:creationId xmlns:a16="http://schemas.microsoft.com/office/drawing/2014/main" id="{F87640F2-5290-D9A1-97AB-6CB199C7DDBC}"/>
              </a:ext>
            </a:extLst>
          </p:cNvPr>
          <p:cNvPicPr>
            <a:picLocks noChangeAspect="1"/>
          </p:cNvPicPr>
          <p:nvPr/>
        </p:nvPicPr>
        <p:blipFill>
          <a:blip r:embed="rId2"/>
          <a:srcRect t="6122" r="1" b="15315"/>
          <a:stretch>
            <a:fillRect/>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3643981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879BE714-D196-C8EF-964E-AC47E19595E5}"/>
              </a:ext>
            </a:extLst>
          </p:cNvPr>
          <p:cNvSpPr>
            <a:spLocks noGrp="1"/>
          </p:cNvSpPr>
          <p:nvPr>
            <p:ph type="title"/>
          </p:nvPr>
        </p:nvSpPr>
        <p:spPr>
          <a:xfrm>
            <a:off x="992518" y="442913"/>
            <a:ext cx="5271804" cy="1639888"/>
          </a:xfrm>
        </p:spPr>
        <p:txBody>
          <a:bodyPr anchor="b">
            <a:normAutofit/>
          </a:bodyPr>
          <a:lstStyle/>
          <a:p>
            <a:pPr>
              <a:lnSpc>
                <a:spcPct val="120000"/>
              </a:lnSpc>
            </a:pPr>
            <a:br>
              <a:rPr lang="en-US" sz="2500"/>
            </a:br>
            <a:r>
              <a:rPr lang="en-US" sz="2500">
                <a:ea typeface="Meiryo"/>
              </a:rPr>
              <a:t>4.Simplifying Conditional Expressions</a:t>
            </a:r>
            <a:endParaRPr lang="en-US" sz="2500"/>
          </a:p>
        </p:txBody>
      </p:sp>
      <p:sp>
        <p:nvSpPr>
          <p:cNvPr id="3" name="Content Placeholder 2">
            <a:extLst>
              <a:ext uri="{FF2B5EF4-FFF2-40B4-BE49-F238E27FC236}">
                <a16:creationId xmlns:a16="http://schemas.microsoft.com/office/drawing/2014/main" id="{E2310D20-8532-B6B0-9566-2F261FE14F9E}"/>
              </a:ext>
            </a:extLst>
          </p:cNvPr>
          <p:cNvSpPr>
            <a:spLocks noGrp="1"/>
          </p:cNvSpPr>
          <p:nvPr>
            <p:ph idx="1"/>
          </p:nvPr>
        </p:nvSpPr>
        <p:spPr>
          <a:xfrm>
            <a:off x="992519" y="2312988"/>
            <a:ext cx="5271804" cy="3651250"/>
          </a:xfrm>
        </p:spPr>
        <p:txBody>
          <a:bodyPr vert="horz" lIns="109728" tIns="109728" rIns="109728" bIns="91440" rtlCol="0">
            <a:normAutofit/>
          </a:bodyPr>
          <a:lstStyle/>
          <a:p>
            <a:r>
              <a:rPr lang="en-US" dirty="0">
                <a:ea typeface="Meiryo"/>
              </a:rPr>
              <a:t>Conditionals tend to get more and more complicated in their logic over time, and there are yet more techniques to combat this as well.</a:t>
            </a:r>
            <a:endParaRPr lang="en-US" dirty="0"/>
          </a:p>
        </p:txBody>
      </p:sp>
      <p:sp>
        <p:nvSpPr>
          <p:cNvPr id="20" name="Freeform: Shape 19">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4" name="Freeform: Shape 23">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Picture 3" descr="A cartoon car on a road&#10;&#10;AI-generated content may be incorrect.">
            <a:extLst>
              <a:ext uri="{FF2B5EF4-FFF2-40B4-BE49-F238E27FC236}">
                <a16:creationId xmlns:a16="http://schemas.microsoft.com/office/drawing/2014/main" id="{2025F907-191F-6E8E-F8C7-B87F14014F05}"/>
              </a:ext>
            </a:extLst>
          </p:cNvPr>
          <p:cNvPicPr>
            <a:picLocks noChangeAspect="1"/>
          </p:cNvPicPr>
          <p:nvPr/>
        </p:nvPicPr>
        <p:blipFill>
          <a:blip r:embed="rId2"/>
          <a:srcRect r="1" b="21437"/>
          <a:stretch>
            <a:fillRect/>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1470096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3" name="Freeform: Shape 22">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5" name="Freeform: Shape 24">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B40CA052-A654-AB1A-27C4-E50699B4B19E}"/>
              </a:ext>
            </a:extLst>
          </p:cNvPr>
          <p:cNvSpPr>
            <a:spLocks noGrp="1"/>
          </p:cNvSpPr>
          <p:nvPr>
            <p:ph type="title"/>
          </p:nvPr>
        </p:nvSpPr>
        <p:spPr>
          <a:xfrm>
            <a:off x="992518" y="442913"/>
            <a:ext cx="5185645" cy="1639888"/>
          </a:xfrm>
        </p:spPr>
        <p:txBody>
          <a:bodyPr anchor="b">
            <a:normAutofit/>
          </a:bodyPr>
          <a:lstStyle/>
          <a:p>
            <a:r>
              <a:rPr lang="en-US" dirty="0">
                <a:ea typeface="Meiryo"/>
              </a:rPr>
              <a:t>5. Simplifying Method Calls</a:t>
            </a:r>
            <a:endParaRPr lang="en-US" dirty="0"/>
          </a:p>
        </p:txBody>
      </p:sp>
      <p:sp>
        <p:nvSpPr>
          <p:cNvPr id="3" name="Content Placeholder 2">
            <a:extLst>
              <a:ext uri="{FF2B5EF4-FFF2-40B4-BE49-F238E27FC236}">
                <a16:creationId xmlns:a16="http://schemas.microsoft.com/office/drawing/2014/main" id="{DEC69E4A-CA6E-7D1C-AEA4-BA6AD91114C3}"/>
              </a:ext>
            </a:extLst>
          </p:cNvPr>
          <p:cNvSpPr>
            <a:spLocks noGrp="1"/>
          </p:cNvSpPr>
          <p:nvPr>
            <p:ph idx="1"/>
          </p:nvPr>
        </p:nvSpPr>
        <p:spPr>
          <a:xfrm>
            <a:off x="992519" y="2312988"/>
            <a:ext cx="5296964" cy="3651250"/>
          </a:xfrm>
        </p:spPr>
        <p:txBody>
          <a:bodyPr vert="horz" lIns="109728" tIns="109728" rIns="109728" bIns="91440" rtlCol="0">
            <a:normAutofit/>
          </a:bodyPr>
          <a:lstStyle/>
          <a:p>
            <a:r>
              <a:rPr lang="en-US" dirty="0">
                <a:ea typeface="Meiryo"/>
              </a:rPr>
              <a:t>These techniques make method calls simpler and easier to understand. This, in turn, simplifies the interfaces for interaction between classes.</a:t>
            </a:r>
            <a:endParaRPr lang="en-US" dirty="0"/>
          </a:p>
        </p:txBody>
      </p:sp>
      <p:pic>
        <p:nvPicPr>
          <p:cNvPr id="4" name="Picture 3">
            <a:extLst>
              <a:ext uri="{FF2B5EF4-FFF2-40B4-BE49-F238E27FC236}">
                <a16:creationId xmlns:a16="http://schemas.microsoft.com/office/drawing/2014/main" id="{F9242881-A814-36E8-F502-FCAEFAB10E3E}"/>
              </a:ext>
            </a:extLst>
          </p:cNvPr>
          <p:cNvPicPr>
            <a:picLocks noChangeAspect="1"/>
          </p:cNvPicPr>
          <p:nvPr/>
        </p:nvPicPr>
        <p:blipFill>
          <a:blip r:embed="rId2"/>
          <a:stretch>
            <a:fillRect/>
          </a:stretch>
        </p:blipFill>
        <p:spPr>
          <a:xfrm>
            <a:off x="8324060" y="964568"/>
            <a:ext cx="2816493" cy="4928864"/>
          </a:xfrm>
          <a:prstGeom prst="rect">
            <a:avLst/>
          </a:prstGeom>
        </p:spPr>
      </p:pic>
    </p:spTree>
    <p:extLst>
      <p:ext uri="{BB962C8B-B14F-4D97-AF65-F5344CB8AC3E}">
        <p14:creationId xmlns:p14="http://schemas.microsoft.com/office/powerpoint/2010/main" val="1039970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867C113A-0C5F-8E8E-6A85-4F85B42C5FBE}"/>
              </a:ext>
            </a:extLst>
          </p:cNvPr>
          <p:cNvSpPr>
            <a:spLocks noGrp="1"/>
          </p:cNvSpPr>
          <p:nvPr>
            <p:ph type="title"/>
          </p:nvPr>
        </p:nvSpPr>
        <p:spPr>
          <a:xfrm>
            <a:off x="244895" y="140988"/>
            <a:ext cx="8305530" cy="1639888"/>
          </a:xfrm>
        </p:spPr>
        <p:txBody>
          <a:bodyPr vert="horz" lIns="109728" tIns="109728" rIns="109728" bIns="91440" rtlCol="0" anchor="b">
            <a:normAutofit/>
          </a:bodyPr>
          <a:lstStyle/>
          <a:p>
            <a:r>
              <a:rPr lang="en-US" dirty="0"/>
              <a:t>6. Dealing with Generalization</a:t>
            </a:r>
          </a:p>
        </p:txBody>
      </p:sp>
      <p:sp>
        <p:nvSpPr>
          <p:cNvPr id="5" name="TextBox 4">
            <a:extLst>
              <a:ext uri="{FF2B5EF4-FFF2-40B4-BE49-F238E27FC236}">
                <a16:creationId xmlns:a16="http://schemas.microsoft.com/office/drawing/2014/main" id="{F4011720-4E1D-B9D1-A8D6-CFBE89576E3A}"/>
              </a:ext>
            </a:extLst>
          </p:cNvPr>
          <p:cNvSpPr txBox="1"/>
          <p:nvPr/>
        </p:nvSpPr>
        <p:spPr>
          <a:xfrm>
            <a:off x="992519" y="2312988"/>
            <a:ext cx="5296964" cy="3651250"/>
          </a:xfrm>
          <a:prstGeom prst="rect">
            <a:avLst/>
          </a:prstGeom>
        </p:spPr>
        <p:txBody>
          <a:bodyPr rot="0" spcFirstLastPara="0" vertOverflow="overflow" horzOverflow="overflow" vert="horz" lIns="109728" tIns="109728" rIns="109728" bIns="91440" numCol="1" spcCol="0" rtlCol="0" fromWordArt="0" anchorCtr="0" forceAA="0" compatLnSpc="1">
            <a:prstTxWarp prst="textNoShape">
              <a:avLst/>
            </a:prstTxWarp>
            <a:normAutofit/>
          </a:bodyPr>
          <a:lstStyle/>
          <a:p>
            <a:pPr>
              <a:lnSpc>
                <a:spcPct val="140000"/>
              </a:lnSpc>
              <a:spcBef>
                <a:spcPts val="930"/>
              </a:spcBef>
              <a:buFont typeface="Corbel" panose="020B0503020204020204" pitchFamily="34" charset="0"/>
            </a:pPr>
            <a:r>
              <a:rPr lang="en-US" spc="150">
                <a:solidFill>
                  <a:schemeClr val="tx1">
                    <a:lumMod val="75000"/>
                    <a:lumOff val="25000"/>
                  </a:schemeClr>
                </a:solidFill>
              </a:rPr>
              <a:t>Abstraction has its own group of refactoring techniques, primarily associated with moving functionality along the class inheritance hierarchy, creating new classes and interfaces, and replacing inheritance with delegation and vice versa.</a:t>
            </a:r>
          </a:p>
          <a:p>
            <a:pPr>
              <a:lnSpc>
                <a:spcPct val="140000"/>
              </a:lnSpc>
              <a:spcBef>
                <a:spcPts val="930"/>
              </a:spcBef>
              <a:buFont typeface="Corbel" panose="020B0503020204020204" pitchFamily="34" charset="0"/>
            </a:pPr>
            <a:endParaRPr lang="en-US" spc="150">
              <a:solidFill>
                <a:schemeClr val="tx1">
                  <a:lumMod val="75000"/>
                  <a:lumOff val="25000"/>
                </a:schemeClr>
              </a:solidFill>
            </a:endParaRPr>
          </a:p>
        </p:txBody>
      </p:sp>
      <p:pic>
        <p:nvPicPr>
          <p:cNvPr id="4" name="Content Placeholder 3" descr="A screenshot of a cartoon&#10;&#10;AI-generated content may be incorrect.">
            <a:extLst>
              <a:ext uri="{FF2B5EF4-FFF2-40B4-BE49-F238E27FC236}">
                <a16:creationId xmlns:a16="http://schemas.microsoft.com/office/drawing/2014/main" id="{81E858F1-BBF1-FBE4-5A41-4E87F52784FD}"/>
              </a:ext>
            </a:extLst>
          </p:cNvPr>
          <p:cNvPicPr>
            <a:picLocks noGrp="1" noChangeAspect="1"/>
          </p:cNvPicPr>
          <p:nvPr>
            <p:ph idx="1"/>
          </p:nvPr>
        </p:nvPicPr>
        <p:blipFill>
          <a:blip r:embed="rId2"/>
          <a:stretch>
            <a:fillRect/>
          </a:stretch>
        </p:blipFill>
        <p:spPr>
          <a:xfrm>
            <a:off x="8324060" y="964568"/>
            <a:ext cx="2816493" cy="4928864"/>
          </a:xfrm>
          <a:prstGeom prst="rect">
            <a:avLst/>
          </a:prstGeom>
        </p:spPr>
      </p:pic>
    </p:spTree>
    <p:extLst>
      <p:ext uri="{BB962C8B-B14F-4D97-AF65-F5344CB8AC3E}">
        <p14:creationId xmlns:p14="http://schemas.microsoft.com/office/powerpoint/2010/main" val="1936614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0577E-4783-9622-8426-A5AF3BDB99C2}"/>
              </a:ext>
            </a:extLst>
          </p:cNvPr>
          <p:cNvSpPr>
            <a:spLocks noGrp="1"/>
          </p:cNvSpPr>
          <p:nvPr>
            <p:ph type="title"/>
          </p:nvPr>
        </p:nvSpPr>
        <p:spPr/>
        <p:txBody>
          <a:bodyPr/>
          <a:lstStyle/>
          <a:p>
            <a:r>
              <a:rPr lang="en-US" dirty="0">
                <a:ea typeface="Meiryo"/>
              </a:rPr>
              <a:t>Code Smells</a:t>
            </a:r>
            <a:endParaRPr lang="en-US" dirty="0"/>
          </a:p>
          <a:p>
            <a:endParaRPr lang="en-US" dirty="0">
              <a:ea typeface="Meiryo"/>
            </a:endParaRPr>
          </a:p>
        </p:txBody>
      </p:sp>
      <p:sp>
        <p:nvSpPr>
          <p:cNvPr id="3" name="Content Placeholder 2">
            <a:extLst>
              <a:ext uri="{FF2B5EF4-FFF2-40B4-BE49-F238E27FC236}">
                <a16:creationId xmlns:a16="http://schemas.microsoft.com/office/drawing/2014/main" id="{14DAC174-1993-45EF-022F-6DC4AE1AAA7D}"/>
              </a:ext>
            </a:extLst>
          </p:cNvPr>
          <p:cNvSpPr>
            <a:spLocks noGrp="1"/>
          </p:cNvSpPr>
          <p:nvPr>
            <p:ph idx="1"/>
          </p:nvPr>
        </p:nvSpPr>
        <p:spPr/>
        <p:txBody>
          <a:bodyPr vert="horz" lIns="109728" tIns="109728" rIns="109728" bIns="91440" rtlCol="0" anchor="t">
            <a:normAutofit/>
          </a:bodyPr>
          <a:lstStyle/>
          <a:p>
            <a:r>
              <a:rPr lang="en-US" dirty="0">
                <a:ea typeface="Meiryo"/>
              </a:rPr>
              <a:t>— What? How can code "smell"??</a:t>
            </a:r>
            <a:br>
              <a:rPr lang="en-US" dirty="0">
                <a:ea typeface="Meiryo"/>
              </a:rPr>
            </a:br>
            <a:r>
              <a:rPr lang="en-US" dirty="0">
                <a:ea typeface="Meiryo"/>
              </a:rPr>
              <a:t>— Well, it doesn't have a nose... but it definitely can stink!</a:t>
            </a:r>
            <a:endParaRPr lang="en-US" dirty="0"/>
          </a:p>
        </p:txBody>
      </p:sp>
    </p:spTree>
    <p:extLst>
      <p:ext uri="{BB962C8B-B14F-4D97-AF65-F5344CB8AC3E}">
        <p14:creationId xmlns:p14="http://schemas.microsoft.com/office/powerpoint/2010/main" val="38366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3" name="Freeform: Shape 22">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5" name="Freeform: Shape 24">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8343BDD9-8830-53FF-29A6-5F42C5602774}"/>
              </a:ext>
            </a:extLst>
          </p:cNvPr>
          <p:cNvSpPr>
            <a:spLocks noGrp="1"/>
          </p:cNvSpPr>
          <p:nvPr>
            <p:ph type="title"/>
          </p:nvPr>
        </p:nvSpPr>
        <p:spPr>
          <a:xfrm>
            <a:off x="992518" y="442913"/>
            <a:ext cx="5185645" cy="1639888"/>
          </a:xfrm>
        </p:spPr>
        <p:txBody>
          <a:bodyPr anchor="b">
            <a:normAutofit/>
          </a:bodyPr>
          <a:lstStyle/>
          <a:p>
            <a:br>
              <a:rPr lang="en-US"/>
            </a:br>
            <a:r>
              <a:rPr lang="en-US">
                <a:ea typeface="Meiryo"/>
              </a:rPr>
              <a:t>Bloaters</a:t>
            </a:r>
            <a:endParaRPr lang="en-US"/>
          </a:p>
        </p:txBody>
      </p:sp>
      <p:sp>
        <p:nvSpPr>
          <p:cNvPr id="3" name="Content Placeholder 2">
            <a:extLst>
              <a:ext uri="{FF2B5EF4-FFF2-40B4-BE49-F238E27FC236}">
                <a16:creationId xmlns:a16="http://schemas.microsoft.com/office/drawing/2014/main" id="{F69389A8-43AE-9DE5-98FB-ED6437C8F4E3}"/>
              </a:ext>
            </a:extLst>
          </p:cNvPr>
          <p:cNvSpPr>
            <a:spLocks noGrp="1"/>
          </p:cNvSpPr>
          <p:nvPr>
            <p:ph idx="1"/>
          </p:nvPr>
        </p:nvSpPr>
        <p:spPr>
          <a:xfrm>
            <a:off x="992519" y="2312988"/>
            <a:ext cx="5296964" cy="3651250"/>
          </a:xfrm>
        </p:spPr>
        <p:txBody>
          <a:bodyPr vert="horz" lIns="109728" tIns="109728" rIns="109728" bIns="91440" rtlCol="0">
            <a:normAutofit/>
          </a:bodyPr>
          <a:lstStyle/>
          <a:p>
            <a:pPr>
              <a:lnSpc>
                <a:spcPct val="130000"/>
              </a:lnSpc>
            </a:pPr>
            <a:r>
              <a:rPr lang="en-US" sz="1300">
                <a:ea typeface="Meiryo"/>
              </a:rPr>
              <a:t>Bloaters are code, methods and classes that have increased to such gargantuan proportions that they are hard to work with. Usually these smells do not crop up right away, rather they accumulate over time as the program evolves (and especially when nobody makes an effort to eradicate them).</a:t>
            </a:r>
            <a:endParaRPr lang="en-US" sz="1300"/>
          </a:p>
          <a:p>
            <a:pPr marL="342900" indent="-342900">
              <a:lnSpc>
                <a:spcPct val="130000"/>
              </a:lnSpc>
              <a:buAutoNum type="arabicPeriod"/>
            </a:pPr>
            <a:r>
              <a:rPr lang="en-US" sz="1300">
                <a:ea typeface="Meiryo"/>
              </a:rPr>
              <a:t>Long Method</a:t>
            </a:r>
          </a:p>
          <a:p>
            <a:pPr marL="342900" indent="-342900">
              <a:lnSpc>
                <a:spcPct val="130000"/>
              </a:lnSpc>
              <a:buAutoNum type="arabicPeriod"/>
            </a:pPr>
            <a:r>
              <a:rPr lang="en-US" sz="1300">
                <a:ea typeface="Meiryo"/>
              </a:rPr>
              <a:t>Large Class</a:t>
            </a:r>
          </a:p>
          <a:p>
            <a:pPr marL="342900" indent="-342900">
              <a:lnSpc>
                <a:spcPct val="130000"/>
              </a:lnSpc>
              <a:buAutoNum type="arabicPeriod"/>
            </a:pPr>
            <a:r>
              <a:rPr lang="en-US" sz="1300">
                <a:ea typeface="Meiryo"/>
              </a:rPr>
              <a:t>Primitive Obsession</a:t>
            </a:r>
          </a:p>
          <a:p>
            <a:pPr marL="342900" indent="-342900">
              <a:lnSpc>
                <a:spcPct val="130000"/>
              </a:lnSpc>
              <a:buAutoNum type="arabicPeriod"/>
            </a:pPr>
            <a:r>
              <a:rPr lang="en-US" sz="1300">
                <a:ea typeface="Meiryo"/>
              </a:rPr>
              <a:t>Long Parameter List</a:t>
            </a:r>
          </a:p>
          <a:p>
            <a:pPr marL="342900" indent="-342900">
              <a:lnSpc>
                <a:spcPct val="130000"/>
              </a:lnSpc>
              <a:buAutoNum type="arabicPeriod"/>
            </a:pPr>
            <a:r>
              <a:rPr lang="en-US" sz="1300">
                <a:ea typeface="Meiryo"/>
              </a:rPr>
              <a:t>Data Clumps</a:t>
            </a:r>
          </a:p>
          <a:p>
            <a:pPr>
              <a:lnSpc>
                <a:spcPct val="130000"/>
              </a:lnSpc>
            </a:pPr>
            <a:endParaRPr lang="en-US" sz="1300">
              <a:ea typeface="Meiryo"/>
            </a:endParaRPr>
          </a:p>
        </p:txBody>
      </p:sp>
      <p:pic>
        <p:nvPicPr>
          <p:cNvPr id="4" name="Picture 3" descr="A cartoon of a monster and several tanks&#10;&#10;AI-generated content may be incorrect.">
            <a:extLst>
              <a:ext uri="{FF2B5EF4-FFF2-40B4-BE49-F238E27FC236}">
                <a16:creationId xmlns:a16="http://schemas.microsoft.com/office/drawing/2014/main" id="{1E973CC2-1E59-75AF-8E46-A2687E808D24}"/>
              </a:ext>
            </a:extLst>
          </p:cNvPr>
          <p:cNvPicPr>
            <a:picLocks noChangeAspect="1"/>
          </p:cNvPicPr>
          <p:nvPr/>
        </p:nvPicPr>
        <p:blipFill>
          <a:blip r:embed="rId2"/>
          <a:stretch>
            <a:fillRect/>
          </a:stretch>
        </p:blipFill>
        <p:spPr>
          <a:xfrm>
            <a:off x="8324060" y="964568"/>
            <a:ext cx="2816493" cy="4928864"/>
          </a:xfrm>
          <a:prstGeom prst="rect">
            <a:avLst/>
          </a:prstGeom>
        </p:spPr>
      </p:pic>
    </p:spTree>
    <p:extLst>
      <p:ext uri="{BB962C8B-B14F-4D97-AF65-F5344CB8AC3E}">
        <p14:creationId xmlns:p14="http://schemas.microsoft.com/office/powerpoint/2010/main" val="2511359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3" name="Freeform: Shape 22">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5" name="Freeform: Shape 24">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14D6F9F5-B4E2-4A57-D7D0-D845D23DDDD2}"/>
              </a:ext>
            </a:extLst>
          </p:cNvPr>
          <p:cNvSpPr>
            <a:spLocks noGrp="1"/>
          </p:cNvSpPr>
          <p:nvPr>
            <p:ph type="title"/>
          </p:nvPr>
        </p:nvSpPr>
        <p:spPr>
          <a:xfrm>
            <a:off x="992518" y="442913"/>
            <a:ext cx="5185645" cy="1639888"/>
          </a:xfrm>
        </p:spPr>
        <p:txBody>
          <a:bodyPr anchor="b">
            <a:normAutofit/>
          </a:bodyPr>
          <a:lstStyle/>
          <a:p>
            <a:pPr>
              <a:lnSpc>
                <a:spcPct val="120000"/>
              </a:lnSpc>
            </a:pPr>
            <a:br>
              <a:rPr lang="en-US" sz="2500"/>
            </a:br>
            <a:r>
              <a:rPr lang="en-US" sz="2500">
                <a:ea typeface="Meiryo"/>
              </a:rPr>
              <a:t>Object-Orientation Abusers</a:t>
            </a:r>
            <a:endParaRPr lang="en-US" sz="2500"/>
          </a:p>
        </p:txBody>
      </p:sp>
      <p:sp>
        <p:nvSpPr>
          <p:cNvPr id="3" name="Content Placeholder 2">
            <a:extLst>
              <a:ext uri="{FF2B5EF4-FFF2-40B4-BE49-F238E27FC236}">
                <a16:creationId xmlns:a16="http://schemas.microsoft.com/office/drawing/2014/main" id="{2B5C5BE6-72F0-EC16-9BBE-BACA7528C209}"/>
              </a:ext>
            </a:extLst>
          </p:cNvPr>
          <p:cNvSpPr>
            <a:spLocks noGrp="1"/>
          </p:cNvSpPr>
          <p:nvPr>
            <p:ph idx="1"/>
          </p:nvPr>
        </p:nvSpPr>
        <p:spPr>
          <a:xfrm>
            <a:off x="992519" y="2312988"/>
            <a:ext cx="5296964" cy="3651250"/>
          </a:xfrm>
        </p:spPr>
        <p:txBody>
          <a:bodyPr vert="horz" lIns="109728" tIns="109728" rIns="109728" bIns="91440" rtlCol="0">
            <a:normAutofit/>
          </a:bodyPr>
          <a:lstStyle/>
          <a:p>
            <a:pPr>
              <a:lnSpc>
                <a:spcPct val="130000"/>
              </a:lnSpc>
            </a:pPr>
            <a:r>
              <a:rPr lang="en-US" dirty="0">
                <a:ea typeface="Meiryo"/>
              </a:rPr>
              <a:t>All these smells are incomplete or incorrect application of object-oriented programming principles.</a:t>
            </a:r>
            <a:endParaRPr lang="en-US"/>
          </a:p>
          <a:p>
            <a:pPr marL="342900" indent="-342900">
              <a:lnSpc>
                <a:spcPct val="130000"/>
              </a:lnSpc>
              <a:buAutoNum type="arabicPeriod"/>
            </a:pPr>
            <a:r>
              <a:rPr lang="en-US">
                <a:latin typeface="Meiryo"/>
                <a:ea typeface="Meiryo"/>
              </a:rPr>
              <a:t>Alternative Classes with Different Interfaces</a:t>
            </a:r>
          </a:p>
          <a:p>
            <a:pPr marL="342900" indent="-342900">
              <a:lnSpc>
                <a:spcPct val="130000"/>
              </a:lnSpc>
              <a:buAutoNum type="arabicPeriod"/>
            </a:pPr>
            <a:r>
              <a:rPr lang="en-US">
                <a:latin typeface="Meiryo"/>
                <a:ea typeface="Meiryo"/>
              </a:rPr>
              <a:t>Refused Bequest</a:t>
            </a:r>
          </a:p>
          <a:p>
            <a:pPr marL="342900" indent="-342900">
              <a:lnSpc>
                <a:spcPct val="130000"/>
              </a:lnSpc>
              <a:buAutoNum type="arabicPeriod"/>
            </a:pPr>
            <a:r>
              <a:rPr lang="en-US">
                <a:latin typeface="Meiryo"/>
                <a:ea typeface="Meiryo"/>
              </a:rPr>
              <a:t>Switch Statements</a:t>
            </a:r>
          </a:p>
          <a:p>
            <a:pPr marL="342900" indent="-342900">
              <a:lnSpc>
                <a:spcPct val="130000"/>
              </a:lnSpc>
              <a:buAutoNum type="arabicPeriod"/>
            </a:pPr>
            <a:r>
              <a:rPr lang="en-US">
                <a:latin typeface="Meiryo"/>
                <a:ea typeface="Meiryo"/>
              </a:rPr>
              <a:t>Temporary Field</a:t>
            </a:r>
          </a:p>
          <a:p>
            <a:pPr>
              <a:lnSpc>
                <a:spcPct val="130000"/>
              </a:lnSpc>
            </a:pPr>
            <a:endParaRPr lang="en-US">
              <a:ea typeface="Meiryo"/>
            </a:endParaRPr>
          </a:p>
        </p:txBody>
      </p:sp>
      <p:pic>
        <p:nvPicPr>
          <p:cNvPr id="4" name="Picture 3" descr="A black and white illustration of a computer network&#10;&#10;AI-generated content may be incorrect.">
            <a:extLst>
              <a:ext uri="{FF2B5EF4-FFF2-40B4-BE49-F238E27FC236}">
                <a16:creationId xmlns:a16="http://schemas.microsoft.com/office/drawing/2014/main" id="{B3DA319C-63E5-A2B5-C359-D4C71854EB86}"/>
              </a:ext>
            </a:extLst>
          </p:cNvPr>
          <p:cNvPicPr>
            <a:picLocks noChangeAspect="1"/>
          </p:cNvPicPr>
          <p:nvPr/>
        </p:nvPicPr>
        <p:blipFill>
          <a:blip r:embed="rId2"/>
          <a:stretch>
            <a:fillRect/>
          </a:stretch>
        </p:blipFill>
        <p:spPr>
          <a:xfrm>
            <a:off x="8324060" y="964568"/>
            <a:ext cx="2816493" cy="4928864"/>
          </a:xfrm>
          <a:prstGeom prst="rect">
            <a:avLst/>
          </a:prstGeom>
        </p:spPr>
      </p:pic>
    </p:spTree>
    <p:extLst>
      <p:ext uri="{BB962C8B-B14F-4D97-AF65-F5344CB8AC3E}">
        <p14:creationId xmlns:p14="http://schemas.microsoft.com/office/powerpoint/2010/main" val="3803362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3" name="Freeform: Shape 22">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5" name="Freeform: Shape 24">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31B143B7-5670-5616-8668-4E52C2DA7670}"/>
              </a:ext>
            </a:extLst>
          </p:cNvPr>
          <p:cNvSpPr>
            <a:spLocks noGrp="1"/>
          </p:cNvSpPr>
          <p:nvPr>
            <p:ph type="title"/>
          </p:nvPr>
        </p:nvSpPr>
        <p:spPr>
          <a:xfrm>
            <a:off x="992518" y="442913"/>
            <a:ext cx="5185645" cy="1639888"/>
          </a:xfrm>
        </p:spPr>
        <p:txBody>
          <a:bodyPr anchor="b">
            <a:normAutofit/>
          </a:bodyPr>
          <a:lstStyle/>
          <a:p>
            <a:br>
              <a:rPr lang="en-US"/>
            </a:br>
            <a:r>
              <a:rPr lang="en-US">
                <a:ea typeface="Meiryo"/>
              </a:rPr>
              <a:t>Change Preventers</a:t>
            </a:r>
            <a:endParaRPr lang="en-US"/>
          </a:p>
        </p:txBody>
      </p:sp>
      <p:sp>
        <p:nvSpPr>
          <p:cNvPr id="3" name="Content Placeholder 2">
            <a:extLst>
              <a:ext uri="{FF2B5EF4-FFF2-40B4-BE49-F238E27FC236}">
                <a16:creationId xmlns:a16="http://schemas.microsoft.com/office/drawing/2014/main" id="{4C9C1D2D-DDB8-E156-2F20-6142CC93AC19}"/>
              </a:ext>
            </a:extLst>
          </p:cNvPr>
          <p:cNvSpPr>
            <a:spLocks noGrp="1"/>
          </p:cNvSpPr>
          <p:nvPr>
            <p:ph idx="1"/>
          </p:nvPr>
        </p:nvSpPr>
        <p:spPr>
          <a:xfrm>
            <a:off x="992519" y="2312988"/>
            <a:ext cx="5296964" cy="3651250"/>
          </a:xfrm>
        </p:spPr>
        <p:txBody>
          <a:bodyPr vert="horz" lIns="109728" tIns="109728" rIns="109728" bIns="91440" rtlCol="0">
            <a:normAutofit/>
          </a:bodyPr>
          <a:lstStyle/>
          <a:p>
            <a:pPr>
              <a:lnSpc>
                <a:spcPct val="130000"/>
              </a:lnSpc>
            </a:pPr>
            <a:r>
              <a:rPr lang="en-US" sz="1700">
                <a:ea typeface="Meiryo"/>
              </a:rPr>
              <a:t>These smells mean that if you need to change something in one place in your code, you have to make many changes in other places too. Program development becomes much more complicated and expensive as a result.</a:t>
            </a:r>
            <a:endParaRPr lang="en-US" sz="1700"/>
          </a:p>
          <a:p>
            <a:pPr marL="342900" indent="-342900">
              <a:lnSpc>
                <a:spcPct val="130000"/>
              </a:lnSpc>
              <a:buAutoNum type="arabicPeriod"/>
            </a:pPr>
            <a:r>
              <a:rPr lang="en-US" sz="1700">
                <a:ea typeface="Meiryo"/>
              </a:rPr>
              <a:t>Divergent Change</a:t>
            </a:r>
          </a:p>
          <a:p>
            <a:pPr marL="342900" indent="-342900">
              <a:lnSpc>
                <a:spcPct val="130000"/>
              </a:lnSpc>
              <a:buAutoNum type="arabicPeriod"/>
            </a:pPr>
            <a:r>
              <a:rPr lang="en-US" sz="1700">
                <a:ea typeface="Meiryo"/>
              </a:rPr>
              <a:t>Parallel Inheritance Hierarchies</a:t>
            </a:r>
          </a:p>
          <a:p>
            <a:pPr marL="342900" indent="-342900">
              <a:lnSpc>
                <a:spcPct val="130000"/>
              </a:lnSpc>
              <a:buAutoNum type="arabicPeriod"/>
            </a:pPr>
            <a:r>
              <a:rPr lang="en-US" sz="1700">
                <a:ea typeface="Meiryo"/>
              </a:rPr>
              <a:t>Shotgun Surgery</a:t>
            </a:r>
          </a:p>
          <a:p>
            <a:pPr>
              <a:lnSpc>
                <a:spcPct val="130000"/>
              </a:lnSpc>
            </a:pPr>
            <a:endParaRPr lang="en-US" sz="1700">
              <a:ea typeface="Meiryo"/>
            </a:endParaRPr>
          </a:p>
        </p:txBody>
      </p:sp>
      <p:pic>
        <p:nvPicPr>
          <p:cNvPr id="4" name="Picture 3" descr="A cartoon rocket with arms and legs holding a rope&#10;&#10;AI-generated content may be incorrect.">
            <a:extLst>
              <a:ext uri="{FF2B5EF4-FFF2-40B4-BE49-F238E27FC236}">
                <a16:creationId xmlns:a16="http://schemas.microsoft.com/office/drawing/2014/main" id="{BF2A5418-84B1-7F4A-F64E-0A54BCB35DE8}"/>
              </a:ext>
            </a:extLst>
          </p:cNvPr>
          <p:cNvPicPr>
            <a:picLocks noChangeAspect="1"/>
          </p:cNvPicPr>
          <p:nvPr/>
        </p:nvPicPr>
        <p:blipFill>
          <a:blip r:embed="rId2"/>
          <a:stretch>
            <a:fillRect/>
          </a:stretch>
        </p:blipFill>
        <p:spPr>
          <a:xfrm>
            <a:off x="8324060" y="964568"/>
            <a:ext cx="2816493" cy="4928864"/>
          </a:xfrm>
          <a:prstGeom prst="rect">
            <a:avLst/>
          </a:prstGeom>
        </p:spPr>
      </p:pic>
    </p:spTree>
    <p:extLst>
      <p:ext uri="{BB962C8B-B14F-4D97-AF65-F5344CB8AC3E}">
        <p14:creationId xmlns:p14="http://schemas.microsoft.com/office/powerpoint/2010/main" val="466896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3" name="Freeform: Shape 22">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5" name="Freeform: Shape 24">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04A63382-316A-0C9F-8A9A-D70E5882606F}"/>
              </a:ext>
            </a:extLst>
          </p:cNvPr>
          <p:cNvSpPr>
            <a:spLocks noGrp="1"/>
          </p:cNvSpPr>
          <p:nvPr>
            <p:ph type="title"/>
          </p:nvPr>
        </p:nvSpPr>
        <p:spPr>
          <a:xfrm>
            <a:off x="992518" y="442913"/>
            <a:ext cx="5185645" cy="1639888"/>
          </a:xfrm>
        </p:spPr>
        <p:txBody>
          <a:bodyPr anchor="b">
            <a:normAutofit/>
          </a:bodyPr>
          <a:lstStyle/>
          <a:p>
            <a:r>
              <a:rPr lang="en-US" dirty="0">
                <a:ea typeface="Meiryo"/>
              </a:rPr>
              <a:t>Dispensable</a:t>
            </a:r>
            <a:endParaRPr lang="en-US" dirty="0" err="1"/>
          </a:p>
        </p:txBody>
      </p:sp>
      <p:sp>
        <p:nvSpPr>
          <p:cNvPr id="3" name="Content Placeholder 2">
            <a:extLst>
              <a:ext uri="{FF2B5EF4-FFF2-40B4-BE49-F238E27FC236}">
                <a16:creationId xmlns:a16="http://schemas.microsoft.com/office/drawing/2014/main" id="{AEB5DF83-8F46-071E-68F2-18E16BB98DA9}"/>
              </a:ext>
            </a:extLst>
          </p:cNvPr>
          <p:cNvSpPr>
            <a:spLocks noGrp="1"/>
          </p:cNvSpPr>
          <p:nvPr>
            <p:ph idx="1"/>
          </p:nvPr>
        </p:nvSpPr>
        <p:spPr>
          <a:xfrm>
            <a:off x="992519" y="2312988"/>
            <a:ext cx="5296964" cy="3651250"/>
          </a:xfrm>
        </p:spPr>
        <p:txBody>
          <a:bodyPr vert="horz" lIns="109728" tIns="109728" rIns="109728" bIns="91440" rtlCol="0">
            <a:normAutofit/>
          </a:bodyPr>
          <a:lstStyle/>
          <a:p>
            <a:pPr>
              <a:lnSpc>
                <a:spcPct val="130000"/>
              </a:lnSpc>
            </a:pPr>
            <a:r>
              <a:rPr lang="en-US" sz="1300">
                <a:ea typeface="Meiryo"/>
              </a:rPr>
              <a:t>A dispensable is something pointless and unneeded whose absence would make the code cleaner, more efficient and easier to understand.</a:t>
            </a:r>
            <a:endParaRPr lang="en-US" sz="1300"/>
          </a:p>
          <a:p>
            <a:pPr marL="342900" indent="-342900">
              <a:lnSpc>
                <a:spcPct val="130000"/>
              </a:lnSpc>
              <a:buAutoNum type="arabicPeriod"/>
            </a:pPr>
            <a:r>
              <a:rPr lang="en-US" sz="1300">
                <a:ea typeface="Meiryo"/>
              </a:rPr>
              <a:t>Comments</a:t>
            </a:r>
          </a:p>
          <a:p>
            <a:pPr marL="342900" indent="-342900">
              <a:lnSpc>
                <a:spcPct val="130000"/>
              </a:lnSpc>
              <a:buAutoNum type="arabicPeriod"/>
            </a:pPr>
            <a:r>
              <a:rPr lang="en-US" sz="1300">
                <a:ea typeface="Meiryo"/>
              </a:rPr>
              <a:t>Duplicate Code</a:t>
            </a:r>
          </a:p>
          <a:p>
            <a:pPr marL="342900" indent="-342900">
              <a:lnSpc>
                <a:spcPct val="130000"/>
              </a:lnSpc>
              <a:buAutoNum type="arabicPeriod"/>
            </a:pPr>
            <a:r>
              <a:rPr lang="en-US" sz="1300">
                <a:ea typeface="Meiryo"/>
              </a:rPr>
              <a:t>Data Class</a:t>
            </a:r>
          </a:p>
          <a:p>
            <a:pPr marL="342900" indent="-342900">
              <a:lnSpc>
                <a:spcPct val="130000"/>
              </a:lnSpc>
              <a:buAutoNum type="arabicPeriod"/>
            </a:pPr>
            <a:r>
              <a:rPr lang="en-US" sz="1300">
                <a:ea typeface="Meiryo"/>
              </a:rPr>
              <a:t>Dead Code</a:t>
            </a:r>
          </a:p>
          <a:p>
            <a:pPr marL="342900" indent="-342900">
              <a:lnSpc>
                <a:spcPct val="130000"/>
              </a:lnSpc>
              <a:buAutoNum type="arabicPeriod"/>
            </a:pPr>
            <a:r>
              <a:rPr lang="en-US" sz="1300">
                <a:ea typeface="Meiryo"/>
              </a:rPr>
              <a:t>Lazy Class</a:t>
            </a:r>
          </a:p>
          <a:p>
            <a:pPr marL="342900" indent="-342900">
              <a:lnSpc>
                <a:spcPct val="130000"/>
              </a:lnSpc>
              <a:buAutoNum type="arabicPeriod"/>
            </a:pPr>
            <a:r>
              <a:rPr lang="en-US" sz="1300">
                <a:ea typeface="Meiryo"/>
              </a:rPr>
              <a:t>Speculative Generality</a:t>
            </a:r>
          </a:p>
          <a:p>
            <a:pPr>
              <a:lnSpc>
                <a:spcPct val="130000"/>
              </a:lnSpc>
            </a:pPr>
            <a:endParaRPr lang="en-US" sz="1300">
              <a:ea typeface="Meiryo"/>
            </a:endParaRPr>
          </a:p>
        </p:txBody>
      </p:sp>
      <p:pic>
        <p:nvPicPr>
          <p:cNvPr id="4" name="Picture 3" descr="A cartoon of a person pouring water from a bucket&#10;&#10;AI-generated content may be incorrect.">
            <a:extLst>
              <a:ext uri="{FF2B5EF4-FFF2-40B4-BE49-F238E27FC236}">
                <a16:creationId xmlns:a16="http://schemas.microsoft.com/office/drawing/2014/main" id="{3995D147-107D-8225-5878-A98BD9B9A06B}"/>
              </a:ext>
            </a:extLst>
          </p:cNvPr>
          <p:cNvPicPr>
            <a:picLocks noChangeAspect="1"/>
          </p:cNvPicPr>
          <p:nvPr/>
        </p:nvPicPr>
        <p:blipFill>
          <a:blip r:embed="rId2"/>
          <a:stretch>
            <a:fillRect/>
          </a:stretch>
        </p:blipFill>
        <p:spPr>
          <a:xfrm>
            <a:off x="8324060" y="964568"/>
            <a:ext cx="2816493" cy="4928864"/>
          </a:xfrm>
          <a:prstGeom prst="rect">
            <a:avLst/>
          </a:prstGeom>
        </p:spPr>
      </p:pic>
    </p:spTree>
    <p:extLst>
      <p:ext uri="{BB962C8B-B14F-4D97-AF65-F5344CB8AC3E}">
        <p14:creationId xmlns:p14="http://schemas.microsoft.com/office/powerpoint/2010/main" val="1393484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341C7010-9050-E5D2-C031-8B262D7E78E9}"/>
              </a:ext>
            </a:extLst>
          </p:cNvPr>
          <p:cNvSpPr>
            <a:spLocks noGrp="1"/>
          </p:cNvSpPr>
          <p:nvPr>
            <p:ph type="title"/>
          </p:nvPr>
        </p:nvSpPr>
        <p:spPr>
          <a:xfrm>
            <a:off x="992518" y="442913"/>
            <a:ext cx="5271804" cy="1639888"/>
          </a:xfrm>
        </p:spPr>
        <p:txBody>
          <a:bodyPr anchor="b">
            <a:normAutofit/>
          </a:bodyPr>
          <a:lstStyle/>
          <a:p>
            <a:r>
              <a:rPr lang="en-US" dirty="0">
                <a:ea typeface="Meiryo"/>
              </a:rPr>
              <a:t>Couplers</a:t>
            </a:r>
            <a:endParaRPr lang="en-US" dirty="0"/>
          </a:p>
        </p:txBody>
      </p:sp>
      <p:sp>
        <p:nvSpPr>
          <p:cNvPr id="3" name="Content Placeholder 2">
            <a:extLst>
              <a:ext uri="{FF2B5EF4-FFF2-40B4-BE49-F238E27FC236}">
                <a16:creationId xmlns:a16="http://schemas.microsoft.com/office/drawing/2014/main" id="{904DCEA5-E58E-0A4E-14AF-219168B0B580}"/>
              </a:ext>
            </a:extLst>
          </p:cNvPr>
          <p:cNvSpPr>
            <a:spLocks noGrp="1"/>
          </p:cNvSpPr>
          <p:nvPr>
            <p:ph idx="1"/>
          </p:nvPr>
        </p:nvSpPr>
        <p:spPr>
          <a:xfrm>
            <a:off x="992519" y="2312988"/>
            <a:ext cx="5271804" cy="3651250"/>
          </a:xfrm>
        </p:spPr>
        <p:txBody>
          <a:bodyPr vert="horz" lIns="109728" tIns="109728" rIns="109728" bIns="91440" rtlCol="0">
            <a:normAutofit/>
          </a:bodyPr>
          <a:lstStyle/>
          <a:p>
            <a:pPr>
              <a:lnSpc>
                <a:spcPct val="130000"/>
              </a:lnSpc>
            </a:pPr>
            <a:r>
              <a:rPr lang="en-US" sz="1500">
                <a:ea typeface="Meiryo"/>
              </a:rPr>
              <a:t>All the smells in this group contribute to excessive coupling between classes or show what happens if coupling is replaced by excessive delegation.</a:t>
            </a:r>
            <a:endParaRPr lang="en-US" sz="1500"/>
          </a:p>
          <a:p>
            <a:pPr marL="342900" indent="-342900">
              <a:lnSpc>
                <a:spcPct val="130000"/>
              </a:lnSpc>
              <a:buAutoNum type="arabicPeriod"/>
            </a:pPr>
            <a:r>
              <a:rPr lang="en-US" sz="1500">
                <a:ea typeface="Meiryo"/>
              </a:rPr>
              <a:t>Feature Envy</a:t>
            </a:r>
          </a:p>
          <a:p>
            <a:pPr marL="342900" indent="-342900">
              <a:lnSpc>
                <a:spcPct val="130000"/>
              </a:lnSpc>
              <a:buAutoNum type="arabicPeriod"/>
            </a:pPr>
            <a:r>
              <a:rPr lang="en-US" sz="1500">
                <a:ea typeface="Meiryo"/>
              </a:rPr>
              <a:t>Inappropriate Intimacy</a:t>
            </a:r>
          </a:p>
          <a:p>
            <a:pPr marL="342900" indent="-342900">
              <a:lnSpc>
                <a:spcPct val="130000"/>
              </a:lnSpc>
              <a:buAutoNum type="arabicPeriod"/>
            </a:pPr>
            <a:r>
              <a:rPr lang="en-US" sz="1500">
                <a:ea typeface="Meiryo"/>
              </a:rPr>
              <a:t>Incomplete Library Class</a:t>
            </a:r>
          </a:p>
          <a:p>
            <a:pPr marL="342900" indent="-342900">
              <a:lnSpc>
                <a:spcPct val="130000"/>
              </a:lnSpc>
              <a:buAutoNum type="arabicPeriod"/>
            </a:pPr>
            <a:r>
              <a:rPr lang="en-US" sz="1500">
                <a:ea typeface="Meiryo"/>
              </a:rPr>
              <a:t>Message Chains</a:t>
            </a:r>
          </a:p>
          <a:p>
            <a:pPr marL="342900" indent="-342900">
              <a:lnSpc>
                <a:spcPct val="130000"/>
              </a:lnSpc>
              <a:buAutoNum type="arabicPeriod"/>
            </a:pPr>
            <a:r>
              <a:rPr lang="en-US" sz="1500">
                <a:ea typeface="Meiryo"/>
              </a:rPr>
              <a:t>Middle Man</a:t>
            </a:r>
          </a:p>
          <a:p>
            <a:pPr>
              <a:lnSpc>
                <a:spcPct val="130000"/>
              </a:lnSpc>
            </a:pPr>
            <a:endParaRPr lang="en-US" sz="1500">
              <a:ea typeface="Meiryo"/>
            </a:endParaRPr>
          </a:p>
        </p:txBody>
      </p:sp>
      <p:sp>
        <p:nvSpPr>
          <p:cNvPr id="21" name="Freeform: Shape 20">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5" name="Freeform: Shape 24">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Picture 3" descr="A cartoon of a person tied to a piece of paper&#10;&#10;AI-generated content may be incorrect.">
            <a:extLst>
              <a:ext uri="{FF2B5EF4-FFF2-40B4-BE49-F238E27FC236}">
                <a16:creationId xmlns:a16="http://schemas.microsoft.com/office/drawing/2014/main" id="{B2DFCF7D-F28D-A188-5076-4C3095291A44}"/>
              </a:ext>
            </a:extLst>
          </p:cNvPr>
          <p:cNvPicPr>
            <a:picLocks noChangeAspect="1"/>
          </p:cNvPicPr>
          <p:nvPr/>
        </p:nvPicPr>
        <p:blipFill>
          <a:blip r:embed="rId2"/>
          <a:srcRect t="2274" r="1" b="19163"/>
          <a:stretch>
            <a:fillRect/>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3311237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4302F-E955-47D0-A56B-D1D1A6953B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3" y="-9274"/>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0" name="Group 9">
            <a:extLst>
              <a:ext uri="{FF2B5EF4-FFF2-40B4-BE49-F238E27FC236}">
                <a16:creationId xmlns:a16="http://schemas.microsoft.com/office/drawing/2014/main" id="{572E366A-B6DD-4F06-A42A-FF634FDE1B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8839" y="970769"/>
            <a:ext cx="4936895" cy="4669465"/>
            <a:chOff x="648839" y="970769"/>
            <a:chExt cx="4936895" cy="4669465"/>
          </a:xfrm>
        </p:grpSpPr>
        <p:sp>
          <p:nvSpPr>
            <p:cNvPr id="11" name="Freeform: Shape 10">
              <a:extLst>
                <a:ext uri="{FF2B5EF4-FFF2-40B4-BE49-F238E27FC236}">
                  <a16:creationId xmlns:a16="http://schemas.microsoft.com/office/drawing/2014/main" id="{6750E550-BE93-4743-8659-1531F86CB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43803" y="1124162"/>
              <a:ext cx="4691485" cy="4342182"/>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BE626DC7-F0FE-49A7-AA4C-A8DB1F7EB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64592" y="1290468"/>
              <a:ext cx="4389795" cy="4074679"/>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1EBB781F-78E5-4C66-811C-9FF8B5D501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1300000" flipH="1">
              <a:off x="648839" y="970769"/>
              <a:ext cx="4936895" cy="4669465"/>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C0805A85-0F41-63F1-1CD7-2B11C98451E6}"/>
              </a:ext>
            </a:extLst>
          </p:cNvPr>
          <p:cNvSpPr>
            <a:spLocks noGrp="1"/>
          </p:cNvSpPr>
          <p:nvPr>
            <p:ph type="title"/>
          </p:nvPr>
        </p:nvSpPr>
        <p:spPr>
          <a:xfrm>
            <a:off x="1412543" y="1833229"/>
            <a:ext cx="3577022" cy="2934031"/>
          </a:xfrm>
        </p:spPr>
        <p:txBody>
          <a:bodyPr anchor="ctr">
            <a:normAutofit/>
          </a:bodyPr>
          <a:lstStyle/>
          <a:p>
            <a:r>
              <a:rPr lang="en-US" dirty="0">
                <a:ea typeface="Meiryo"/>
              </a:rPr>
              <a:t>How to refactor</a:t>
            </a:r>
            <a:endParaRPr lang="en-US" dirty="0"/>
          </a:p>
        </p:txBody>
      </p:sp>
      <p:sp>
        <p:nvSpPr>
          <p:cNvPr id="3" name="Content Placeholder 2">
            <a:extLst>
              <a:ext uri="{FF2B5EF4-FFF2-40B4-BE49-F238E27FC236}">
                <a16:creationId xmlns:a16="http://schemas.microsoft.com/office/drawing/2014/main" id="{8880F2F0-656F-3141-23AA-D2CDF6237DEE}"/>
              </a:ext>
            </a:extLst>
          </p:cNvPr>
          <p:cNvSpPr>
            <a:spLocks noGrp="1"/>
          </p:cNvSpPr>
          <p:nvPr>
            <p:ph idx="1"/>
          </p:nvPr>
        </p:nvSpPr>
        <p:spPr>
          <a:xfrm>
            <a:off x="6241774" y="1105306"/>
            <a:ext cx="5285587" cy="4998793"/>
          </a:xfrm>
        </p:spPr>
        <p:txBody>
          <a:bodyPr vert="horz" lIns="109728" tIns="109728" rIns="109728" bIns="91440" rtlCol="0" anchor="ctr">
            <a:normAutofit/>
          </a:bodyPr>
          <a:lstStyle/>
          <a:p>
            <a:r>
              <a:rPr lang="en-US" sz="2400" dirty="0">
                <a:ea typeface="Meiryo"/>
              </a:rPr>
              <a:t>Refactoring should be done as a series of small changes, each of which makes the existing code slightly better while still leaving the program in working order.</a:t>
            </a:r>
          </a:p>
        </p:txBody>
      </p:sp>
    </p:spTree>
    <p:extLst>
      <p:ext uri="{BB962C8B-B14F-4D97-AF65-F5344CB8AC3E}">
        <p14:creationId xmlns:p14="http://schemas.microsoft.com/office/powerpoint/2010/main" val="2439093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4A630-AC41-25F4-3F5F-D86778124C54}"/>
              </a:ext>
            </a:extLst>
          </p:cNvPr>
          <p:cNvSpPr>
            <a:spLocks noGrp="1"/>
          </p:cNvSpPr>
          <p:nvPr>
            <p:ph type="title"/>
          </p:nvPr>
        </p:nvSpPr>
        <p:spPr/>
        <p:txBody>
          <a:bodyPr>
            <a:normAutofit fontScale="90000"/>
          </a:bodyPr>
          <a:lstStyle/>
          <a:p>
            <a:r>
              <a:rPr lang="en-US" dirty="0">
                <a:ea typeface="Meiryo"/>
              </a:rPr>
              <a:t> Checklist of refactoring done right way</a:t>
            </a:r>
            <a:endParaRPr lang="en-US" dirty="0"/>
          </a:p>
          <a:p>
            <a:endParaRPr lang="en-US" dirty="0">
              <a:ea typeface="Meiryo"/>
            </a:endParaRPr>
          </a:p>
        </p:txBody>
      </p:sp>
      <p:graphicFrame>
        <p:nvGraphicFramePr>
          <p:cNvPr id="5" name="Content Placeholder 2">
            <a:extLst>
              <a:ext uri="{FF2B5EF4-FFF2-40B4-BE49-F238E27FC236}">
                <a16:creationId xmlns:a16="http://schemas.microsoft.com/office/drawing/2014/main" id="{5DD54FA1-97A6-B924-FAF3-BA714482F84E}"/>
              </a:ext>
            </a:extLst>
          </p:cNvPr>
          <p:cNvGraphicFramePr>
            <a:graphicFrameLocks noGrp="1"/>
          </p:cNvGraphicFramePr>
          <p:nvPr>
            <p:ph idx="1"/>
          </p:nvPr>
        </p:nvGraphicFramePr>
        <p:xfrm>
          <a:off x="1920240" y="2312276"/>
          <a:ext cx="8770571" cy="3651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7249742"/>
      </p:ext>
    </p:extLst>
  </p:cSld>
  <p:clrMapOvr>
    <a:masterClrMapping/>
  </p:clrMapOvr>
</p:sld>
</file>

<file path=ppt/theme/theme1.xml><?xml version="1.0" encoding="utf-8"?>
<a:theme xmlns:a="http://schemas.openxmlformats.org/drawingml/2006/main" name="SketchLinesVTI">
  <a:themeElements>
    <a:clrScheme name="SketchLines">
      <a:dk1>
        <a:sysClr val="windowText" lastClr="000000"/>
      </a:dk1>
      <a:lt1>
        <a:sysClr val="window" lastClr="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LinesVTI" id="{8C0B0F05-C8D0-4078-9615-83E590287484}" vid="{43A7BC57-C1E3-4EE6-BDBC-5422DD574AF2}"/>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SketchLinesVTI</vt:lpstr>
      <vt:lpstr>Software Re-Engineering</vt:lpstr>
      <vt:lpstr>Refactoring </vt:lpstr>
      <vt:lpstr>Dirty Code</vt:lpstr>
      <vt:lpstr>Clean Code</vt:lpstr>
      <vt:lpstr>Refactoring Process </vt:lpstr>
      <vt:lpstr>Refactoring Techniques</vt:lpstr>
      <vt:lpstr> 1.Composing Methods</vt:lpstr>
      <vt:lpstr> 2. Moving Features between Objects</vt:lpstr>
      <vt:lpstr> 3.Organizing Data</vt:lpstr>
      <vt:lpstr> 4.Simplifying Conditional Expressions</vt:lpstr>
      <vt:lpstr>5. Simplifying Method Calls</vt:lpstr>
      <vt:lpstr>6. Dealing with Generalization</vt:lpstr>
      <vt:lpstr>Code Smells </vt:lpstr>
      <vt:lpstr> Bloaters</vt:lpstr>
      <vt:lpstr> Object-Orientation Abusers</vt:lpstr>
      <vt:lpstr> Change Preventers</vt:lpstr>
      <vt:lpstr>Dispensable</vt:lpstr>
      <vt:lpstr>Couplers</vt:lpstr>
      <vt:lpstr>How to refactor</vt:lpstr>
      <vt:lpstr> Checklist of refactoring done right way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250</cp:revision>
  <dcterms:created xsi:type="dcterms:W3CDTF">2026-03-02T16:35:27Z</dcterms:created>
  <dcterms:modified xsi:type="dcterms:W3CDTF">2026-03-02T18:02:38Z</dcterms:modified>
</cp:coreProperties>
</file>