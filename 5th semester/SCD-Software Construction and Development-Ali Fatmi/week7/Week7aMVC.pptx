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embeddings/oleObject1.bin" ContentType="application/vnd.openxmlformats-officedocument.oleObject"/>
  <Override PartName="/ppt/media/image1.png" ContentType="image/png"/>
  <Override PartName="/ppt/media/image2.wmf" ContentType="image/x-wmf"/>
  <Override PartName="/ppt/media/image3.wmf" ContentType="image/x-wmf"/>
  <Override PartName="/ppt/media/image4.png" ContentType="image/png"/>
  <Override PartName="/ppt/media/image5.png" ContentType="image/png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93B51B4-DABB-4042-B5FF-7B3C02688B9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F4B6C4-DB1A-435B-AFC1-89124567738B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97B75A-7746-466B-8105-CC210DAE825E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5800" cy="34156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1BCC46-9F6A-495C-8076-6C5B1C93FC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1E3C78-DBA8-42D3-95F6-606442D3DF29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07F8A6-3D76-40FF-998A-9F14DFFC06B1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3B8179-9CAF-4985-9AC7-D21C5C412673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4A8E05-F2F6-435E-968A-4A0D666288AA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5800" cy="341568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7"/>
          <p:cNvSpPr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79DBAA-0947-47E5-8736-CAC23C1005AC}" type="slidenum">
              <a:rPr b="0" lang="en-US" sz="12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5800" cy="341568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5680" cy="4114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79DD11-5DDD-48E8-A6EC-3795207E5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0D6A72-3773-4099-9FCE-F0F8952395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D48E04-EAC2-4F4A-8895-8F5392DBE9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84FD61-A0C9-4CA9-ABFC-89EF1D32B2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0D8D66-3CE3-442E-B6F0-4F974544F1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8C939E-E96A-48FB-8F8E-1BBD2339B7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CA4A0F-903D-45ED-A6F6-59DEE90231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5DBBC9-DD51-4BCC-895A-46C266BF45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579C42-B74F-4459-A575-0639A8694D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083D2C-8FB1-4F5E-B971-0034B4C860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D3341D-65B9-43DD-84DF-608F993562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CCB9D9-8E34-4F03-8C11-3258336D061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3126600" y="6247440"/>
            <a:ext cx="289800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6555240" y="6247440"/>
            <a:ext cx="212976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1125F9-9954-4EE6-92F3-71486045C9A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456840" y="6247440"/>
            <a:ext cx="2129760" cy="47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1599840"/>
            <a:ext cx="7772040" cy="19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100" spc="-1" strike="noStrike">
                <a:solidFill>
                  <a:srgbClr val="be480a"/>
                </a:solidFill>
                <a:latin typeface="Times New Roman"/>
              </a:rPr>
              <a:t>Model-View-Controller Architecture</a:t>
            </a:r>
            <a:endParaRPr b="0" lang="en-US" sz="5100" spc="-1" strike="noStrike">
              <a:solidFill>
                <a:srgbClr val="be480a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2"/>
          <p:cNvSpPr/>
          <p:nvPr/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97EC76-DFF9-453B-BE5C-CCF19B26C7AF}" type="slidenum">
              <a:rPr b="0" lang="en-US" sz="14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  <a:ea typeface="Arial"/>
              </a:rPr>
              <a:t>1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"/>
          <p:cNvSpPr/>
          <p:nvPr/>
        </p:nvSpPr>
        <p:spPr>
          <a:xfrm>
            <a:off x="1295280" y="1905120"/>
            <a:ext cx="7238880" cy="19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  <a:ea typeface="DejaVu Sans"/>
              </a:rPr>
              <a:t>Give someone a program, you frustrate them for a day; teach them how to program, you frustrate them for a lifetime.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  <a:ea typeface="DejaVu Sans"/>
              </a:rPr>
              <a:t>                                                        — </a:t>
            </a:r>
            <a:r>
              <a: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  <a:ea typeface="DejaVu Sans"/>
              </a:rPr>
              <a:t>David Leinweber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2"/>
          <p:cNvGrpSpPr/>
          <p:nvPr/>
        </p:nvGrpSpPr>
        <p:grpSpPr>
          <a:xfrm>
            <a:off x="1238400" y="3602160"/>
            <a:ext cx="7303680" cy="2908800"/>
            <a:chOff x="1238400" y="3602160"/>
            <a:chExt cx="7303680" cy="2908800"/>
          </a:xfrm>
        </p:grpSpPr>
        <p:pic>
          <p:nvPicPr>
            <p:cNvPr id="53" name="Object 2" descr=""/>
            <p:cNvPicPr/>
            <p:nvPr/>
          </p:nvPicPr>
          <p:blipFill>
            <a:blip r:embed="rId1"/>
            <a:stretch/>
          </p:blipFill>
          <p:spPr>
            <a:xfrm>
              <a:off x="6218280" y="3602160"/>
              <a:ext cx="958320" cy="9741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4" name="Group 4"/>
            <p:cNvGrpSpPr/>
            <p:nvPr/>
          </p:nvGrpSpPr>
          <p:grpSpPr>
            <a:xfrm>
              <a:off x="6175440" y="5359320"/>
              <a:ext cx="2366640" cy="974520"/>
              <a:chOff x="6175440" y="5359320"/>
              <a:chExt cx="2366640" cy="974520"/>
            </a:xfrm>
          </p:grpSpPr>
          <p:pic>
            <p:nvPicPr>
              <p:cNvPr id="55" name="Object 3" descr=""/>
              <p:cNvPicPr/>
              <p:nvPr/>
            </p:nvPicPr>
            <p:blipFill>
              <a:blip r:embed="rId2"/>
              <a:stretch/>
            </p:blipFill>
            <p:spPr>
              <a:xfrm flipH="1">
                <a:off x="7672320" y="5921280"/>
                <a:ext cx="869760" cy="348840"/>
              </a:xfrm>
              <a:prstGeom prst="rect">
                <a:avLst/>
              </a:prstGeom>
              <a:ln w="0">
                <a:noFill/>
              </a:ln>
            </p:spPr>
          </p:pic>
          <p:graphicFrame>
            <p:nvGraphicFramePr>
              <p:cNvPr id="56" name="Object 4"/>
              <p:cNvGraphicFramePr/>
              <p:nvPr/>
            </p:nvGraphicFramePr>
            <p:xfrm>
              <a:off x="6175440" y="5359320"/>
              <a:ext cx="1455480" cy="974520"/>
            </p:xfrm>
            <a:graphic>
              <a:graphicData uri="http://schemas.openxmlformats.org/presentationml/2006/ole">
                <p:oleObj r:id="rId3" spid="">
                  <p:embed/>
                  <p:pic>
                    <p:nvPicPr>
                      <p:cNvPr id="57" name="Object 4" descr="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6175440" y="5359320"/>
                        <a:ext cx="1455480" cy="97452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a:graphicData>
            </a:graphic>
          </p:graphicFrame>
        </p:grpSp>
        <p:grpSp>
          <p:nvGrpSpPr>
            <p:cNvPr id="58" name="Group 7"/>
            <p:cNvGrpSpPr/>
            <p:nvPr/>
          </p:nvGrpSpPr>
          <p:grpSpPr>
            <a:xfrm>
              <a:off x="1238400" y="4032360"/>
              <a:ext cx="4184280" cy="2478600"/>
              <a:chOff x="1238400" y="4032360"/>
              <a:chExt cx="4184280" cy="2478600"/>
            </a:xfrm>
          </p:grpSpPr>
          <p:sp>
            <p:nvSpPr>
              <p:cNvPr id="59" name="AutoShape 8"/>
              <p:cNvSpPr/>
              <p:nvPr/>
            </p:nvSpPr>
            <p:spPr>
              <a:xfrm>
                <a:off x="1238400" y="4761000"/>
                <a:ext cx="1828440" cy="1066320"/>
              </a:xfrm>
              <a:custGeom>
                <a:avLst/>
                <a:gdLst>
                  <a:gd name="textAreaLeft" fmla="*/ 0 w 1828440"/>
                  <a:gd name="textAreaRight" fmla="*/ 1829160 w 1828440"/>
                  <a:gd name="textAreaTop" fmla="*/ 138240 h 1066320"/>
                  <a:gd name="textAreaBottom" fmla="*/ 928440 h 1066320"/>
                </a:gdLst>
                <a:ahLst/>
                <a:rect l="textAreaLeft" t="textAreaTop" r="textAreaRight" b="textAreaBottom"/>
                <a:pathLst>
                  <a:path w="21600" h="21600">
                    <a:moveTo>
                      <a:pt x="0" y="1400"/>
                    </a:moveTo>
                    <a:cubicBezTo>
                      <a:pt x="3600" y="-3560"/>
                      <a:pt x="7200" y="6360"/>
                      <a:pt x="10800" y="1400"/>
                    </a:cubicBezTo>
                    <a:cubicBezTo>
                      <a:pt x="14400" y="-3560"/>
                      <a:pt x="18000" y="6360"/>
                      <a:pt x="21600" y="1400"/>
                    </a:cubicBezTo>
                    <a:lnTo>
                      <a:pt x="21600" y="20200"/>
                    </a:lnTo>
                    <a:cubicBezTo>
                      <a:pt x="18000" y="25160"/>
                      <a:pt x="14400" y="15240"/>
                      <a:pt x="10800" y="20200"/>
                    </a:cubicBezTo>
                    <a:cubicBezTo>
                      <a:pt x="7200" y="25160"/>
                      <a:pt x="3600" y="15240"/>
                      <a:pt x="0" y="20200"/>
                    </a:cubicBezTo>
                    <a:close/>
                  </a:path>
                </a:pathLst>
              </a:custGeom>
              <a:solidFill>
                <a:srgbClr val="9ac2c0"/>
              </a:solidFill>
              <a:ln w="126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28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Times New Roman"/>
                    <a:ea typeface="DejaVu Sans"/>
                  </a:rPr>
                  <a:t>Model</a:t>
                </a:r>
                <a:endParaRPr b="0" lang="en-US" sz="2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60" name="Group 9"/>
              <p:cNvGrpSpPr/>
              <p:nvPr/>
            </p:nvGrpSpPr>
            <p:grpSpPr>
              <a:xfrm>
                <a:off x="3779280" y="4032360"/>
                <a:ext cx="1643400" cy="2478600"/>
                <a:chOff x="3779280" y="4032360"/>
                <a:chExt cx="1643400" cy="2478600"/>
              </a:xfrm>
            </p:grpSpPr>
            <p:grpSp>
              <p:nvGrpSpPr>
                <p:cNvPr id="61" name="Group 10"/>
                <p:cNvGrpSpPr/>
                <p:nvPr/>
              </p:nvGrpSpPr>
              <p:grpSpPr>
                <a:xfrm>
                  <a:off x="3814920" y="4032360"/>
                  <a:ext cx="1585080" cy="2478600"/>
                  <a:chOff x="3814920" y="4032360"/>
                  <a:chExt cx="1585080" cy="2478600"/>
                </a:xfrm>
              </p:grpSpPr>
              <p:sp>
                <p:nvSpPr>
                  <p:cNvPr id="62" name="AutoShape 11"/>
                  <p:cNvSpPr/>
                  <p:nvPr/>
                </p:nvSpPr>
                <p:spPr>
                  <a:xfrm flipV="1" rot="5400000">
                    <a:off x="4075200" y="5186160"/>
                    <a:ext cx="1066320" cy="1582920"/>
                  </a:xfrm>
                  <a:prstGeom prst="flowChartDelay">
                    <a:avLst/>
                  </a:prstGeom>
                  <a:solidFill>
                    <a:srgbClr val="9ac2c0"/>
                  </a:solidFill>
                  <a:ln w="12600">
                    <a:solidFill>
                      <a:srgbClr val="ffffff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6800" bIns="4680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US" sz="2400" spc="-1" strike="noStrike">
                      <a:solidFill>
                        <a:srgbClr val="ffffff"/>
                      </a:solidFill>
                      <a:highlight>
                        <a:srgbClr val="800080"/>
                      </a:highlight>
                      <a:latin typeface="Verdana"/>
                      <a:ea typeface="DejaVu Sans"/>
                    </a:endParaRPr>
                  </a:p>
                </p:txBody>
              </p:sp>
              <p:sp>
                <p:nvSpPr>
                  <p:cNvPr id="63" name="AutoShape 12"/>
                  <p:cNvSpPr/>
                  <p:nvPr/>
                </p:nvSpPr>
                <p:spPr>
                  <a:xfrm rot="16200000">
                    <a:off x="4073040" y="3773880"/>
                    <a:ext cx="1066320" cy="1582920"/>
                  </a:xfrm>
                  <a:prstGeom prst="flowChartDelay">
                    <a:avLst/>
                  </a:prstGeom>
                  <a:solidFill>
                    <a:srgbClr val="9ac2c0"/>
                  </a:solidFill>
                  <a:ln w="12600">
                    <a:solidFill>
                      <a:srgbClr val="ffffff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6800" bIns="4680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US" sz="2400" spc="-1" strike="noStrike">
                      <a:solidFill>
                        <a:srgbClr val="ffffff"/>
                      </a:solidFill>
                      <a:highlight>
                        <a:srgbClr val="800080"/>
                      </a:highlight>
                      <a:latin typeface="Verdana"/>
                      <a:ea typeface="DejaVu Sans"/>
                    </a:endParaRPr>
                  </a:p>
                </p:txBody>
              </p:sp>
            </p:grpSp>
            <p:sp>
              <p:nvSpPr>
                <p:cNvPr id="64" name="Text Box 13"/>
                <p:cNvSpPr/>
                <p:nvPr/>
              </p:nvSpPr>
              <p:spPr>
                <a:xfrm>
                  <a:off x="4148280" y="4435560"/>
                  <a:ext cx="927720" cy="520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US" sz="2800" spc="-1" strike="noStrike">
                      <a:solidFill>
                        <a:srgbClr val="ffffff"/>
                      </a:solidFill>
                      <a:highlight>
                        <a:srgbClr val="800080"/>
                      </a:highlight>
                      <a:latin typeface="Times New Roman"/>
                      <a:ea typeface="DejaVu Sans"/>
                    </a:rPr>
                    <a:t>View</a:t>
                  </a:r>
                  <a:endParaRPr b="0" lang="en-US" sz="2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65" name="Text Box 14"/>
                <p:cNvSpPr/>
                <p:nvPr/>
              </p:nvSpPr>
              <p:spPr>
                <a:xfrm>
                  <a:off x="3779280" y="5665680"/>
                  <a:ext cx="1643400" cy="5202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US" sz="2800" spc="-1" strike="noStrike">
                      <a:solidFill>
                        <a:srgbClr val="ffffff"/>
                      </a:solidFill>
                      <a:highlight>
                        <a:srgbClr val="800080"/>
                      </a:highlight>
                      <a:latin typeface="Times New Roman"/>
                      <a:ea typeface="DejaVu Sans"/>
                    </a:rPr>
                    <a:t>Controller</a:t>
                  </a:r>
                  <a:endParaRPr b="0" lang="en-US" sz="2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66" name="Line 15"/>
                <p:cNvSpPr/>
                <p:nvPr/>
              </p:nvSpPr>
              <p:spPr>
                <a:xfrm>
                  <a:off x="4186080" y="5100480"/>
                  <a:ext cx="360" cy="344520"/>
                </a:xfrm>
                <a:prstGeom prst="line">
                  <a:avLst/>
                </a:prstGeom>
                <a:ln w="38160">
                  <a:solidFill>
                    <a:srgbClr val="ffffff"/>
                  </a:solidFill>
                  <a:miter/>
                  <a:tailEnd len="sm" type="triangle" w="sm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endParaRPr b="0" lang="en-US" sz="24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Verdana"/>
                    <a:ea typeface="DejaVu Sans"/>
                  </a:endParaRPr>
                </a:p>
              </p:txBody>
            </p:sp>
            <p:sp>
              <p:nvSpPr>
                <p:cNvPr id="67" name="Line 16"/>
                <p:cNvSpPr/>
                <p:nvPr/>
              </p:nvSpPr>
              <p:spPr>
                <a:xfrm flipV="1">
                  <a:off x="4978440" y="5100120"/>
                  <a:ext cx="360" cy="335160"/>
                </a:xfrm>
                <a:prstGeom prst="line">
                  <a:avLst/>
                </a:prstGeom>
                <a:ln w="38160">
                  <a:solidFill>
                    <a:srgbClr val="ffffff"/>
                  </a:solidFill>
                  <a:miter/>
                  <a:tailEnd len="sm" type="triangle" w="sm"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endParaRPr b="0" lang="en-US" sz="24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Verdana"/>
                    <a:ea typeface="DejaVu Sans"/>
                  </a:endParaRPr>
                </a:p>
              </p:txBody>
            </p:sp>
          </p:grpSp>
          <p:sp>
            <p:nvSpPr>
              <p:cNvPr id="68" name="Line 17"/>
              <p:cNvSpPr/>
              <p:nvPr/>
            </p:nvSpPr>
            <p:spPr>
              <a:xfrm flipV="1">
                <a:off x="3068640" y="4816080"/>
                <a:ext cx="731880" cy="141480"/>
              </a:xfrm>
              <a:prstGeom prst="line">
                <a:avLst/>
              </a:prstGeom>
              <a:ln w="38160">
                <a:solidFill>
                  <a:srgbClr val="ffffff"/>
                </a:solidFill>
                <a:miter/>
                <a:tailEnd len="sm" type="triangle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  <p:sp>
            <p:nvSpPr>
              <p:cNvPr id="69" name="Line 18"/>
              <p:cNvSpPr/>
              <p:nvPr/>
            </p:nvSpPr>
            <p:spPr>
              <a:xfrm flipH="1" flipV="1">
                <a:off x="3078000" y="5587920"/>
                <a:ext cx="741600" cy="152640"/>
              </a:xfrm>
              <a:prstGeom prst="line">
                <a:avLst/>
              </a:prstGeom>
              <a:ln w="38160">
                <a:solidFill>
                  <a:srgbClr val="ffffff"/>
                </a:solidFill>
                <a:miter/>
                <a:headEnd len="sm" type="triangle" w="sm"/>
                <a:tailEnd len="sm" type="triangle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</p:grpSp>
        <p:sp>
          <p:nvSpPr>
            <p:cNvPr id="70" name="Line 19"/>
            <p:cNvSpPr/>
            <p:nvPr/>
          </p:nvSpPr>
          <p:spPr>
            <a:xfrm flipH="1" flipV="1">
              <a:off x="5405040" y="5862240"/>
              <a:ext cx="762120" cy="1414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71" name="Line 20"/>
            <p:cNvSpPr/>
            <p:nvPr/>
          </p:nvSpPr>
          <p:spPr>
            <a:xfrm flipV="1">
              <a:off x="5394240" y="4186080"/>
              <a:ext cx="824040" cy="4874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Model-View-Controller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240" cy="453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Architecture for interactive apps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algn="ctr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introduced by Smalltalk developers at PARC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Partitions application so that it 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algn="ctr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00"/>
                </a:highlight>
                <a:latin typeface="Comic Sans MS"/>
                <a:ea typeface="ＭＳ Ｐゴシック"/>
              </a:rPr>
              <a:t>scalable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algn="ctr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00"/>
                </a:highlight>
                <a:latin typeface="Comic Sans MS"/>
                <a:ea typeface="ＭＳ Ｐゴシック"/>
              </a:rPr>
              <a:t>maintainable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dissolv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MVC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04920" y="1554120"/>
            <a:ext cx="86860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The classic design pattern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Used for </a:t>
            </a:r>
            <a:r>
              <a:rPr b="0" lang="en-US" sz="32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data-driven</a:t>
            </a: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 user applications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Such apps juggle several tasks: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Loading and storing the data – getting it in/out of storage on request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Constructing the user interface – what the user sees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Interpreting user actions – deciding whether to modify the UI or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These tasks are </a:t>
            </a:r>
            <a:r>
              <a:rPr b="0" lang="en-US" sz="32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largely independent</a:t>
            </a: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 of each other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Model, view, and controller each get one task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What is MVC?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4" descr="gen-interactions"/>
          <p:cNvPicPr/>
          <p:nvPr/>
        </p:nvPicPr>
        <p:blipFill>
          <a:blip r:embed="rId1"/>
          <a:stretch/>
        </p:blipFill>
        <p:spPr>
          <a:xfrm>
            <a:off x="838080" y="1295280"/>
            <a:ext cx="7543440" cy="527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Number Placeholder 3"/>
          <p:cNvSpPr/>
          <p:nvPr/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5E929A-2C87-47FF-AC14-600DC1875717}" type="slidenum">
              <a:rPr b="0" lang="en-US" sz="14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  <a:ea typeface="Arial"/>
              </a:rPr>
              <a:t>5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37335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The Model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33520" y="2209320"/>
            <a:ext cx="8076600" cy="403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Most programs are supposed to do work, not just be 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“another pretty face”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but there are some exceptions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useful programs existed long before GUIs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</a:t>
            </a:r>
            <a:r>
              <a:rPr b="0" lang="en-US" sz="2800" spc="-1" strike="noStrike">
                <a:solidFill>
                  <a:srgbClr val="c4c3aa"/>
                </a:solidFill>
                <a:latin typeface="Times New Roman"/>
              </a:rPr>
              <a:t>Model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 is the part that does the work--it </a:t>
            </a:r>
            <a:r>
              <a:rPr b="0" i="1" lang="en-US" sz="2800" spc="-1" strike="noStrike">
                <a:solidFill>
                  <a:srgbClr val="000000"/>
                </a:solidFill>
                <a:latin typeface="Times New Roman"/>
              </a:rPr>
              <a:t>models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 the actual problem being solved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The Model should be independent of both the Controller and the 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But it provides services (methods) for them to use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Independence gives flexibility, robustness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Group 2"/>
          <p:cNvGrpSpPr/>
          <p:nvPr/>
        </p:nvGrpSpPr>
        <p:grpSpPr>
          <a:xfrm>
            <a:off x="4038480" y="380880"/>
            <a:ext cx="4816080" cy="1783800"/>
            <a:chOff x="4038480" y="380880"/>
            <a:chExt cx="4816080" cy="1783800"/>
          </a:xfrm>
        </p:grpSpPr>
        <p:pic>
          <p:nvPicPr>
            <p:cNvPr id="82" name="Object 2" descr=""/>
            <p:cNvPicPr/>
            <p:nvPr/>
          </p:nvPicPr>
          <p:blipFill>
            <a:blip r:embed="rId1"/>
            <a:stretch/>
          </p:blipFill>
          <p:spPr>
            <a:xfrm>
              <a:off x="7322400" y="380880"/>
              <a:ext cx="632160" cy="59724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83" name="Group 4"/>
            <p:cNvGrpSpPr/>
            <p:nvPr/>
          </p:nvGrpSpPr>
          <p:grpSpPr>
            <a:xfrm>
              <a:off x="7293600" y="1457640"/>
              <a:ext cx="1560960" cy="597240"/>
              <a:chOff x="7293600" y="1457640"/>
              <a:chExt cx="1560960" cy="597240"/>
            </a:xfrm>
          </p:grpSpPr>
          <p:pic>
            <p:nvPicPr>
              <p:cNvPr id="84" name="Object 3" descr=""/>
              <p:cNvPicPr/>
              <p:nvPr/>
            </p:nvPicPr>
            <p:blipFill>
              <a:blip r:embed="rId2"/>
              <a:stretch/>
            </p:blipFill>
            <p:spPr>
              <a:xfrm flipH="1">
                <a:off x="8281080" y="1802160"/>
                <a:ext cx="573480" cy="213480"/>
              </a:xfrm>
              <a:prstGeom prst="rect">
                <a:avLst/>
              </a:prstGeom>
              <a:ln w="0">
                <a:noFill/>
              </a:ln>
            </p:spPr>
          </p:pic>
          <p:graphicFrame>
            <p:nvGraphicFramePr>
              <p:cNvPr id="85" name="Object 4"/>
              <p:cNvGraphicFramePr/>
              <p:nvPr/>
            </p:nvGraphicFramePr>
            <p:xfrm>
              <a:off x="7293600" y="1457640"/>
              <a:ext cx="959760" cy="597240"/>
            </p:xfrm>
            <a:graphic>
              <a:graphicData uri="http://schemas.openxmlformats.org/presentationml/2006/ole">
                <p:oleObj r:id="rId3" spid="">
                  <p:embed/>
                  <p:pic>
                    <p:nvPicPr>
                      <p:cNvPr id="86" name="Object 4" descr="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7293600" y="1457640"/>
                        <a:ext cx="959760" cy="59724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a:graphicData>
            </a:graphic>
          </p:graphicFrame>
        </p:grpSp>
        <p:sp>
          <p:nvSpPr>
            <p:cNvPr id="87" name="AutoShape 7"/>
            <p:cNvSpPr/>
            <p:nvPr/>
          </p:nvSpPr>
          <p:spPr>
            <a:xfrm>
              <a:off x="4038480" y="1091880"/>
              <a:ext cx="1205280" cy="653400"/>
            </a:xfrm>
            <a:custGeom>
              <a:avLst/>
              <a:gdLst>
                <a:gd name="textAreaLeft" fmla="*/ 0 w 1205280"/>
                <a:gd name="textAreaRight" fmla="*/ 1206000 w 1205280"/>
                <a:gd name="textAreaTop" fmla="*/ 84600 h 653400"/>
                <a:gd name="textAreaBottom" fmla="*/ 569160 h 65340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1400"/>
                  </a:moveTo>
                  <a:cubicBezTo>
                    <a:pt x="3600" y="-3560"/>
                    <a:pt x="7200" y="6360"/>
                    <a:pt x="10800" y="1400"/>
                  </a:cubicBezTo>
                  <a:cubicBezTo>
                    <a:pt x="14400" y="-3560"/>
                    <a:pt x="18000" y="6360"/>
                    <a:pt x="21600" y="1400"/>
                  </a:cubicBezTo>
                  <a:lnTo>
                    <a:pt x="21600" y="20200"/>
                  </a:lnTo>
                  <a:cubicBezTo>
                    <a:pt x="18000" y="25160"/>
                    <a:pt x="14400" y="15240"/>
                    <a:pt x="10800" y="20200"/>
                  </a:cubicBezTo>
                  <a:cubicBezTo>
                    <a:pt x="7200" y="25160"/>
                    <a:pt x="3600" y="15240"/>
                    <a:pt x="0" y="20200"/>
                  </a:cubicBezTo>
                  <a:close/>
                </a:path>
              </a:pathLst>
            </a:custGeom>
            <a:solidFill>
              <a:srgbClr val="757868"/>
            </a:solidFill>
            <a:ln w="38160">
              <a:solidFill>
                <a:srgbClr val="4d4f4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Model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88" name="Group 8"/>
            <p:cNvGrpSpPr/>
            <p:nvPr/>
          </p:nvGrpSpPr>
          <p:grpSpPr>
            <a:xfrm>
              <a:off x="5715000" y="645480"/>
              <a:ext cx="1122120" cy="1519200"/>
              <a:chOff x="5715000" y="645480"/>
              <a:chExt cx="1122120" cy="1519200"/>
            </a:xfrm>
          </p:grpSpPr>
          <p:grpSp>
            <p:nvGrpSpPr>
              <p:cNvPr id="89" name="Group 9"/>
              <p:cNvGrpSpPr/>
              <p:nvPr/>
            </p:nvGrpSpPr>
            <p:grpSpPr>
              <a:xfrm>
                <a:off x="5736960" y="645480"/>
                <a:ext cx="1045440" cy="1519200"/>
                <a:chOff x="5736960" y="645480"/>
                <a:chExt cx="1045440" cy="1519200"/>
              </a:xfrm>
            </p:grpSpPr>
            <p:sp>
              <p:nvSpPr>
                <p:cNvPr id="90" name="AutoShape 10"/>
                <p:cNvSpPr/>
                <p:nvPr/>
              </p:nvSpPr>
              <p:spPr>
                <a:xfrm flipV="1" rot="5400000">
                  <a:off x="5933520" y="1315440"/>
                  <a:ext cx="653400" cy="1044000"/>
                </a:xfrm>
                <a:prstGeom prst="flowChartDelay">
                  <a:avLst/>
                </a:prstGeom>
                <a:solidFill>
                  <a:srgbClr val="9ac2c0"/>
                </a:solidFill>
                <a:ln w="1260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24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Verdana"/>
                    <a:ea typeface="DejaVu Sans"/>
                  </a:endParaRPr>
                </a:p>
              </p:txBody>
            </p:sp>
            <p:sp>
              <p:nvSpPr>
                <p:cNvPr id="91" name="AutoShape 11"/>
                <p:cNvSpPr/>
                <p:nvPr/>
              </p:nvSpPr>
              <p:spPr>
                <a:xfrm rot="16200000">
                  <a:off x="5932080" y="450000"/>
                  <a:ext cx="653400" cy="1044000"/>
                </a:xfrm>
                <a:prstGeom prst="flowChartDelay">
                  <a:avLst/>
                </a:prstGeom>
                <a:solidFill>
                  <a:srgbClr val="9ac2c0"/>
                </a:solidFill>
                <a:ln w="12600">
                  <a:solidFill>
                    <a:srgbClr val="ffffff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24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Verdana"/>
                    <a:ea typeface="DejaVu Sans"/>
                  </a:endParaRPr>
                </a:p>
              </p:txBody>
            </p:sp>
          </p:grpSp>
          <p:sp>
            <p:nvSpPr>
              <p:cNvPr id="92" name="Text Box 12"/>
              <p:cNvSpPr/>
              <p:nvPr/>
            </p:nvSpPr>
            <p:spPr>
              <a:xfrm>
                <a:off x="5957640" y="999000"/>
                <a:ext cx="662760" cy="36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8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Times New Roman"/>
                    <a:ea typeface="DejaVu Sans"/>
                  </a:rPr>
                  <a:t>View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" name="Text Box 13"/>
              <p:cNvSpPr/>
              <p:nvPr/>
            </p:nvSpPr>
            <p:spPr>
              <a:xfrm>
                <a:off x="5715000" y="1750320"/>
                <a:ext cx="1122120" cy="367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800" spc="-1" strike="noStrike">
                    <a:solidFill>
                      <a:srgbClr val="ffffff"/>
                    </a:solidFill>
                    <a:highlight>
                      <a:srgbClr val="800080"/>
                    </a:highlight>
                    <a:latin typeface="Times New Roman"/>
                    <a:ea typeface="DejaVu Sans"/>
                  </a:rPr>
                  <a:t>Controller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" name="Line 14"/>
              <p:cNvSpPr/>
              <p:nvPr/>
            </p:nvSpPr>
            <p:spPr>
              <a:xfrm>
                <a:off x="5981760" y="1299600"/>
                <a:ext cx="360" cy="210960"/>
              </a:xfrm>
              <a:prstGeom prst="line">
                <a:avLst/>
              </a:prstGeom>
              <a:ln w="38160">
                <a:solidFill>
                  <a:srgbClr val="ffffff"/>
                </a:solidFill>
                <a:miter/>
                <a:tailEnd len="sm" type="triangle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  <p:sp>
            <p:nvSpPr>
              <p:cNvPr id="95" name="Line 15"/>
              <p:cNvSpPr/>
              <p:nvPr/>
            </p:nvSpPr>
            <p:spPr>
              <a:xfrm flipV="1">
                <a:off x="6504480" y="1299600"/>
                <a:ext cx="360" cy="205200"/>
              </a:xfrm>
              <a:prstGeom prst="line">
                <a:avLst/>
              </a:prstGeom>
              <a:ln w="38160">
                <a:solidFill>
                  <a:srgbClr val="ffffff"/>
                </a:solidFill>
                <a:miter/>
                <a:tailEnd len="sm" type="triangle" w="sm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</p:grpSp>
        <p:sp>
          <p:nvSpPr>
            <p:cNvPr id="96" name="Line 16"/>
            <p:cNvSpPr/>
            <p:nvPr/>
          </p:nvSpPr>
          <p:spPr>
            <a:xfrm flipV="1">
              <a:off x="5245560" y="1125720"/>
              <a:ext cx="482760" cy="871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97" name="Line 17"/>
            <p:cNvSpPr/>
            <p:nvPr/>
          </p:nvSpPr>
          <p:spPr>
            <a:xfrm flipH="1" flipV="1">
              <a:off x="5251680" y="1598760"/>
              <a:ext cx="487800" cy="9360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98" name="Line 18"/>
            <p:cNvSpPr/>
            <p:nvPr/>
          </p:nvSpPr>
          <p:spPr>
            <a:xfrm flipH="1" flipV="1">
              <a:off x="6785640" y="1766880"/>
              <a:ext cx="502560" cy="871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99" name="Line 19"/>
            <p:cNvSpPr/>
            <p:nvPr/>
          </p:nvSpPr>
          <p:spPr>
            <a:xfrm flipV="1">
              <a:off x="6779160" y="738720"/>
              <a:ext cx="542880" cy="2995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Model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80880" y="1768680"/>
            <a:ext cx="38854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9996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talks to data source to retrieve and store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1" descr="C:\Users\Krysta\AppData\Local\Microsoft\Windows\Temporary Internet Files\Content.IE5\S4HL8IL9\MC900251695[1].wmf"/>
          <p:cNvPicPr/>
          <p:nvPr/>
        </p:nvPicPr>
        <p:blipFill>
          <a:blip r:embed="rId1"/>
          <a:stretch/>
        </p:blipFill>
        <p:spPr>
          <a:xfrm flipH="1">
            <a:off x="778320" y="3733920"/>
            <a:ext cx="3184200" cy="2521440"/>
          </a:xfrm>
          <a:prstGeom prst="rect">
            <a:avLst/>
          </a:prstGeom>
          <a:ln w="0">
            <a:noFill/>
          </a:ln>
        </p:spPr>
      </p:pic>
      <p:grpSp>
        <p:nvGrpSpPr>
          <p:cNvPr id="103" name="Group 1"/>
          <p:cNvGrpSpPr/>
          <p:nvPr/>
        </p:nvGrpSpPr>
        <p:grpSpPr>
          <a:xfrm>
            <a:off x="4419720" y="1698120"/>
            <a:ext cx="3351960" cy="1829880"/>
            <a:chOff x="4419720" y="1698120"/>
            <a:chExt cx="3351960" cy="1829880"/>
          </a:xfrm>
        </p:grpSpPr>
        <p:sp>
          <p:nvSpPr>
            <p:cNvPr id="104" name="Cloud Callout 1"/>
            <p:cNvSpPr/>
            <p:nvPr/>
          </p:nvSpPr>
          <p:spPr>
            <a:xfrm>
              <a:off x="4419720" y="1698120"/>
              <a:ext cx="3351960" cy="1829880"/>
            </a:xfrm>
            <a:prstGeom prst="cloudCallout">
              <a:avLst>
                <a:gd name="adj1" fmla="val -41081"/>
                <a:gd name="adj2" fmla="val 75366"/>
              </a:avLst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105" name="TextBox 3"/>
            <p:cNvSpPr/>
            <p:nvPr/>
          </p:nvSpPr>
          <p:spPr>
            <a:xfrm>
              <a:off x="4734720" y="2079360"/>
              <a:ext cx="27216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Which database table is the requested data stored in?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" name="Group 3"/>
          <p:cNvGrpSpPr/>
          <p:nvPr/>
        </p:nvGrpSpPr>
        <p:grpSpPr>
          <a:xfrm>
            <a:off x="4748760" y="3837960"/>
            <a:ext cx="3351960" cy="1829880"/>
            <a:chOff x="4748760" y="3837960"/>
            <a:chExt cx="3351960" cy="1829880"/>
          </a:xfrm>
        </p:grpSpPr>
        <p:sp>
          <p:nvSpPr>
            <p:cNvPr id="107" name="Cloud Callout 2"/>
            <p:cNvSpPr/>
            <p:nvPr/>
          </p:nvSpPr>
          <p:spPr>
            <a:xfrm>
              <a:off x="4748760" y="3837960"/>
              <a:ext cx="3351960" cy="1829880"/>
            </a:xfrm>
            <a:prstGeom prst="cloudCallout">
              <a:avLst>
                <a:gd name="adj1" fmla="val -41081"/>
                <a:gd name="adj2" fmla="val 75366"/>
              </a:avLst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108" name="TextBox 4"/>
            <p:cNvSpPr/>
            <p:nvPr/>
          </p:nvSpPr>
          <p:spPr>
            <a:xfrm>
              <a:off x="4949640" y="4291560"/>
              <a:ext cx="27288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What SQL query will get me the data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I need?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 Placeholder 3"/>
          <p:cNvSpPr/>
          <p:nvPr/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0E169E-9BBA-43DB-9A02-4460F6612490}" type="slidenum">
              <a:rPr b="0" lang="en-US" sz="14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419076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The View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85440" y="2209320"/>
            <a:ext cx="7924320" cy="350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Typically, the user has to be able to see, or </a:t>
            </a:r>
            <a:r>
              <a:rPr b="0" i="1" lang="en-US" sz="2800" spc="-1" strike="noStrike">
                <a:solidFill>
                  <a:srgbClr val="000000"/>
                </a:solidFill>
                <a:latin typeface="Times New Roman"/>
              </a:rPr>
              <a:t>view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, what the program is doing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View shows what the Model is doing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The View is a </a:t>
            </a:r>
            <a:r>
              <a:rPr b="0" lang="en-US" sz="24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passive observer;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it should not affect the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Model should be independent of the View, but (but it can provide access methods)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The View should </a:t>
            </a:r>
            <a:r>
              <a:rPr b="1" i="1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not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 display what the Controller </a:t>
            </a:r>
            <a:r>
              <a:rPr b="1" i="1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thinks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 is happening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" name="Group 4"/>
          <p:cNvGrpSpPr/>
          <p:nvPr/>
        </p:nvGrpSpPr>
        <p:grpSpPr>
          <a:xfrm>
            <a:off x="4191120" y="380880"/>
            <a:ext cx="4815720" cy="1783800"/>
            <a:chOff x="4191120" y="380880"/>
            <a:chExt cx="4815720" cy="1783800"/>
          </a:xfrm>
        </p:grpSpPr>
        <p:pic>
          <p:nvPicPr>
            <p:cNvPr id="113" name="Object 2" descr=""/>
            <p:cNvPicPr/>
            <p:nvPr/>
          </p:nvPicPr>
          <p:blipFill>
            <a:blip r:embed="rId1"/>
            <a:stretch/>
          </p:blipFill>
          <p:spPr>
            <a:xfrm>
              <a:off x="7475400" y="380880"/>
              <a:ext cx="631080" cy="597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14" name="Group 6"/>
            <p:cNvGrpSpPr/>
            <p:nvPr/>
          </p:nvGrpSpPr>
          <p:grpSpPr>
            <a:xfrm>
              <a:off x="7446960" y="1458720"/>
              <a:ext cx="1559880" cy="596520"/>
              <a:chOff x="7446960" y="1458720"/>
              <a:chExt cx="1559880" cy="596520"/>
            </a:xfrm>
          </p:grpSpPr>
          <p:pic>
            <p:nvPicPr>
              <p:cNvPr id="115" name="Object 3" descr=""/>
              <p:cNvPicPr/>
              <p:nvPr/>
            </p:nvPicPr>
            <p:blipFill>
              <a:blip r:embed="rId2"/>
              <a:stretch/>
            </p:blipFill>
            <p:spPr>
              <a:xfrm flipH="1">
                <a:off x="8433720" y="1802520"/>
                <a:ext cx="573120" cy="213480"/>
              </a:xfrm>
              <a:prstGeom prst="rect">
                <a:avLst/>
              </a:prstGeom>
              <a:ln w="0">
                <a:noFill/>
              </a:ln>
            </p:spPr>
          </p:pic>
          <p:graphicFrame>
            <p:nvGraphicFramePr>
              <p:cNvPr id="116" name="Object 4"/>
              <p:cNvGraphicFramePr/>
              <p:nvPr/>
            </p:nvGraphicFramePr>
            <p:xfrm>
              <a:off x="7446960" y="1458720"/>
              <a:ext cx="959040" cy="596520"/>
            </p:xfrm>
            <a:graphic>
              <a:graphicData uri="http://schemas.openxmlformats.org/presentationml/2006/ole">
                <p:oleObj r:id="rId3" spid="">
                  <p:embed/>
                  <p:pic>
                    <p:nvPicPr>
                      <p:cNvPr id="117" name="Object 4" descr="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7446960" y="1458720"/>
                        <a:ext cx="959040" cy="59652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a:graphicData>
            </a:graphic>
          </p:graphicFrame>
        </p:grpSp>
        <p:sp>
          <p:nvSpPr>
            <p:cNvPr id="118" name="AutoShape 9"/>
            <p:cNvSpPr/>
            <p:nvPr/>
          </p:nvSpPr>
          <p:spPr>
            <a:xfrm>
              <a:off x="4191120" y="1091880"/>
              <a:ext cx="1206000" cy="653760"/>
            </a:xfrm>
            <a:custGeom>
              <a:avLst/>
              <a:gdLst>
                <a:gd name="textAreaLeft" fmla="*/ 0 w 1206000"/>
                <a:gd name="textAreaRight" fmla="*/ 1206720 w 1206000"/>
                <a:gd name="textAreaTop" fmla="*/ 84600 h 653760"/>
                <a:gd name="textAreaBottom" fmla="*/ 569520 h 6537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1400"/>
                  </a:moveTo>
                  <a:cubicBezTo>
                    <a:pt x="3600" y="-3560"/>
                    <a:pt x="7200" y="6360"/>
                    <a:pt x="10800" y="1400"/>
                  </a:cubicBezTo>
                  <a:cubicBezTo>
                    <a:pt x="14400" y="-3560"/>
                    <a:pt x="18000" y="6360"/>
                    <a:pt x="21600" y="1400"/>
                  </a:cubicBezTo>
                  <a:lnTo>
                    <a:pt x="21600" y="20200"/>
                  </a:lnTo>
                  <a:cubicBezTo>
                    <a:pt x="18000" y="25160"/>
                    <a:pt x="14400" y="15240"/>
                    <a:pt x="10800" y="20200"/>
                  </a:cubicBezTo>
                  <a:cubicBezTo>
                    <a:pt x="7200" y="25160"/>
                    <a:pt x="3600" y="15240"/>
                    <a:pt x="0" y="20200"/>
                  </a:cubicBezTo>
                  <a:close/>
                </a:path>
              </a:pathLst>
            </a:custGeom>
            <a:solidFill>
              <a:srgbClr val="9ac2c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Model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AutoShape 10"/>
            <p:cNvSpPr/>
            <p:nvPr/>
          </p:nvSpPr>
          <p:spPr>
            <a:xfrm flipV="1" rot="5400000">
              <a:off x="6066360" y="1316160"/>
              <a:ext cx="653400" cy="1042560"/>
            </a:xfrm>
            <a:prstGeom prst="flowChartDelay">
              <a:avLst/>
            </a:prstGeom>
            <a:solidFill>
              <a:srgbClr val="9ac2c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0" name="AutoShape 11"/>
            <p:cNvSpPr/>
            <p:nvPr/>
          </p:nvSpPr>
          <p:spPr>
            <a:xfrm rot="16200000">
              <a:off x="6064560" y="451440"/>
              <a:ext cx="653760" cy="1042200"/>
            </a:xfrm>
            <a:prstGeom prst="flowChartDelay">
              <a:avLst/>
            </a:prstGeom>
            <a:solidFill>
              <a:srgbClr val="757868"/>
            </a:solidFill>
            <a:ln w="38160">
              <a:solidFill>
                <a:srgbClr val="4d4f4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1" name="Text Box 12"/>
            <p:cNvSpPr/>
            <p:nvPr/>
          </p:nvSpPr>
          <p:spPr>
            <a:xfrm>
              <a:off x="5972040" y="795240"/>
              <a:ext cx="927720" cy="52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View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Text Box 13"/>
            <p:cNvSpPr/>
            <p:nvPr/>
          </p:nvSpPr>
          <p:spPr>
            <a:xfrm>
              <a:off x="5847120" y="1751040"/>
              <a:ext cx="112212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Controller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Line 14"/>
            <p:cNvSpPr/>
            <p:nvPr/>
          </p:nvSpPr>
          <p:spPr>
            <a:xfrm>
              <a:off x="6114960" y="1299960"/>
              <a:ext cx="360" cy="2113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4" name="Line 15"/>
            <p:cNvSpPr/>
            <p:nvPr/>
          </p:nvSpPr>
          <p:spPr>
            <a:xfrm flipV="1">
              <a:off x="6637320" y="1299600"/>
              <a:ext cx="360" cy="206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5" name="Line 16"/>
            <p:cNvSpPr/>
            <p:nvPr/>
          </p:nvSpPr>
          <p:spPr>
            <a:xfrm flipV="1">
              <a:off x="5397480" y="1125000"/>
              <a:ext cx="483840" cy="874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6" name="Line 17"/>
            <p:cNvSpPr/>
            <p:nvPr/>
          </p:nvSpPr>
          <p:spPr>
            <a:xfrm flipH="1" flipV="1">
              <a:off x="5403600" y="1598400"/>
              <a:ext cx="488880" cy="9360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7" name="Line 18"/>
            <p:cNvSpPr/>
            <p:nvPr/>
          </p:nvSpPr>
          <p:spPr>
            <a:xfrm flipH="1" flipV="1">
              <a:off x="6939000" y="1766880"/>
              <a:ext cx="501120" cy="871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28" name="Line 19"/>
            <p:cNvSpPr/>
            <p:nvPr/>
          </p:nvSpPr>
          <p:spPr>
            <a:xfrm flipV="1">
              <a:off x="6932520" y="739440"/>
              <a:ext cx="542520" cy="2984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View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80880" y="1768680"/>
            <a:ext cx="38854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9996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asks model for data and presents it in a user-friendly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" name="Group 5"/>
          <p:cNvGrpSpPr/>
          <p:nvPr/>
        </p:nvGrpSpPr>
        <p:grpSpPr>
          <a:xfrm>
            <a:off x="4419720" y="1698120"/>
            <a:ext cx="3351960" cy="1829880"/>
            <a:chOff x="4419720" y="1698120"/>
            <a:chExt cx="3351960" cy="1829880"/>
          </a:xfrm>
        </p:grpSpPr>
        <p:sp>
          <p:nvSpPr>
            <p:cNvPr id="132" name="Cloud Callout 3"/>
            <p:cNvSpPr/>
            <p:nvPr/>
          </p:nvSpPr>
          <p:spPr>
            <a:xfrm>
              <a:off x="4419720" y="1698120"/>
              <a:ext cx="3351960" cy="1829880"/>
            </a:xfrm>
            <a:prstGeom prst="cloudCallout">
              <a:avLst>
                <a:gd name="adj1" fmla="val -41081"/>
                <a:gd name="adj2" fmla="val 75366"/>
              </a:avLst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133" name="TextBox 5"/>
            <p:cNvSpPr/>
            <p:nvPr/>
          </p:nvSpPr>
          <p:spPr>
            <a:xfrm>
              <a:off x="4843800" y="2013480"/>
              <a:ext cx="250344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6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Would this text look better blue or red? In the bottom corner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0" lang="en-US" sz="16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or front and center?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" name="Group 11"/>
          <p:cNvGrpSpPr/>
          <p:nvPr/>
        </p:nvGrpSpPr>
        <p:grpSpPr>
          <a:xfrm>
            <a:off x="4748760" y="3837960"/>
            <a:ext cx="3351960" cy="1829880"/>
            <a:chOff x="4748760" y="3837960"/>
            <a:chExt cx="3351960" cy="1829880"/>
          </a:xfrm>
        </p:grpSpPr>
        <p:sp>
          <p:nvSpPr>
            <p:cNvPr id="135" name="Cloud Callout 4"/>
            <p:cNvSpPr/>
            <p:nvPr/>
          </p:nvSpPr>
          <p:spPr>
            <a:xfrm>
              <a:off x="4748760" y="3837960"/>
              <a:ext cx="3351960" cy="1829880"/>
            </a:xfrm>
            <a:prstGeom prst="cloudCallout">
              <a:avLst>
                <a:gd name="adj1" fmla="val -41081"/>
                <a:gd name="adj2" fmla="val 75366"/>
              </a:avLst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136" name="TextBox 6"/>
            <p:cNvSpPr/>
            <p:nvPr/>
          </p:nvSpPr>
          <p:spPr>
            <a:xfrm>
              <a:off x="4949640" y="4291560"/>
              <a:ext cx="2728800" cy="82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6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Should these items go in a dropdown list or radio buttons?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37" name="Picture 2" descr="C:\Users\Krysta\AppData\Local\Microsoft\Windows\Temporary Internet Files\Content.IE5\CNGTQUGR\MC900250429[1].wmf"/>
          <p:cNvPicPr/>
          <p:nvPr/>
        </p:nvPicPr>
        <p:blipFill>
          <a:blip r:embed="rId1"/>
          <a:stretch/>
        </p:blipFill>
        <p:spPr>
          <a:xfrm>
            <a:off x="1371600" y="3657600"/>
            <a:ext cx="2604600" cy="286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lide Number Placeholder 3"/>
          <p:cNvSpPr/>
          <p:nvPr/>
        </p:nvSpPr>
        <p:spPr>
          <a:xfrm>
            <a:off x="457200" y="6243480"/>
            <a:ext cx="213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269937-1306-4C5D-86A2-69EC48999A7C}" type="slidenum">
              <a:rPr b="0" lang="en-US" sz="1400" spc="-1" strike="noStrike">
                <a:solidFill>
                  <a:srgbClr val="ffffff"/>
                </a:solidFill>
                <a:highlight>
                  <a:srgbClr val="800080"/>
                </a:highlight>
                <a:latin typeface="Arial"/>
                <a:ea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6840" y="277920"/>
            <a:ext cx="380952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The Controller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2361960"/>
            <a:ext cx="8305560" cy="34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The </a:t>
            </a:r>
            <a:r>
              <a:rPr b="0" lang="en-US" sz="2800" spc="-1" strike="noStrike">
                <a:solidFill>
                  <a:srgbClr val="c4c3aa"/>
                </a:solidFill>
                <a:highlight>
                  <a:srgbClr val="ffff00"/>
                </a:highlight>
                <a:latin typeface="Times New Roman"/>
              </a:rPr>
              <a:t>Controller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 decides what the model is to do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Often, the user is put in control by means of a GUI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in this case, the GUI and the Controller are often the same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Controller and the Model can almost always be separated 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(what to do versus how to do it)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design of the Controller depends on the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The Model 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should </a:t>
            </a:r>
            <a:r>
              <a:rPr b="0" i="1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not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</a:rPr>
              <a:t> depend on the Controller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1" name="Group 4"/>
          <p:cNvGrpSpPr/>
          <p:nvPr/>
        </p:nvGrpSpPr>
        <p:grpSpPr>
          <a:xfrm>
            <a:off x="4327560" y="457200"/>
            <a:ext cx="4815720" cy="1783800"/>
            <a:chOff x="4327560" y="457200"/>
            <a:chExt cx="4815720" cy="1783800"/>
          </a:xfrm>
        </p:grpSpPr>
        <p:pic>
          <p:nvPicPr>
            <p:cNvPr id="142" name="Object 2" descr=""/>
            <p:cNvPicPr/>
            <p:nvPr/>
          </p:nvPicPr>
          <p:blipFill>
            <a:blip r:embed="rId1"/>
            <a:stretch/>
          </p:blipFill>
          <p:spPr>
            <a:xfrm>
              <a:off x="7611840" y="457200"/>
              <a:ext cx="631080" cy="597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43" name="Group 6"/>
            <p:cNvGrpSpPr/>
            <p:nvPr/>
          </p:nvGrpSpPr>
          <p:grpSpPr>
            <a:xfrm>
              <a:off x="7583400" y="1535040"/>
              <a:ext cx="1559880" cy="596520"/>
              <a:chOff x="7583400" y="1535040"/>
              <a:chExt cx="1559880" cy="596520"/>
            </a:xfrm>
          </p:grpSpPr>
          <p:pic>
            <p:nvPicPr>
              <p:cNvPr id="144" name="Object 3" descr=""/>
              <p:cNvPicPr/>
              <p:nvPr/>
            </p:nvPicPr>
            <p:blipFill>
              <a:blip r:embed="rId2"/>
              <a:stretch/>
            </p:blipFill>
            <p:spPr>
              <a:xfrm flipH="1">
                <a:off x="8570160" y="1878840"/>
                <a:ext cx="573120" cy="213480"/>
              </a:xfrm>
              <a:prstGeom prst="rect">
                <a:avLst/>
              </a:prstGeom>
              <a:ln w="0">
                <a:noFill/>
              </a:ln>
            </p:spPr>
          </p:pic>
          <p:graphicFrame>
            <p:nvGraphicFramePr>
              <p:cNvPr id="145" name="Object 4"/>
              <p:cNvGraphicFramePr/>
              <p:nvPr/>
            </p:nvGraphicFramePr>
            <p:xfrm>
              <a:off x="7583400" y="1535040"/>
              <a:ext cx="959040" cy="596520"/>
            </p:xfrm>
            <a:graphic>
              <a:graphicData uri="http://schemas.openxmlformats.org/presentationml/2006/ole">
                <p:oleObj r:id="rId3" spid="">
                  <p:embed/>
                  <p:pic>
                    <p:nvPicPr>
                      <p:cNvPr id="146" name="Object 4" descr="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7583400" y="1535040"/>
                        <a:ext cx="959040" cy="59652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a:graphicData>
            </a:graphic>
          </p:graphicFrame>
        </p:grpSp>
        <p:sp>
          <p:nvSpPr>
            <p:cNvPr id="147" name="AutoShape 9"/>
            <p:cNvSpPr/>
            <p:nvPr/>
          </p:nvSpPr>
          <p:spPr>
            <a:xfrm>
              <a:off x="4327560" y="1168200"/>
              <a:ext cx="1206000" cy="653760"/>
            </a:xfrm>
            <a:custGeom>
              <a:avLst/>
              <a:gdLst>
                <a:gd name="textAreaLeft" fmla="*/ 0 w 1206000"/>
                <a:gd name="textAreaRight" fmla="*/ 1206720 w 1206000"/>
                <a:gd name="textAreaTop" fmla="*/ 84600 h 653760"/>
                <a:gd name="textAreaBottom" fmla="*/ 569520 h 6537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1400"/>
                  </a:moveTo>
                  <a:cubicBezTo>
                    <a:pt x="3600" y="-3560"/>
                    <a:pt x="7200" y="6360"/>
                    <a:pt x="10800" y="1400"/>
                  </a:cubicBezTo>
                  <a:cubicBezTo>
                    <a:pt x="14400" y="-3560"/>
                    <a:pt x="18000" y="6360"/>
                    <a:pt x="21600" y="1400"/>
                  </a:cubicBezTo>
                  <a:lnTo>
                    <a:pt x="21600" y="20200"/>
                  </a:lnTo>
                  <a:cubicBezTo>
                    <a:pt x="18000" y="25160"/>
                    <a:pt x="14400" y="15240"/>
                    <a:pt x="10800" y="20200"/>
                  </a:cubicBezTo>
                  <a:cubicBezTo>
                    <a:pt x="7200" y="25160"/>
                    <a:pt x="3600" y="15240"/>
                    <a:pt x="0" y="20200"/>
                  </a:cubicBezTo>
                  <a:close/>
                </a:path>
              </a:pathLst>
            </a:custGeom>
            <a:solidFill>
              <a:srgbClr val="9ac2c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Model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" name="AutoShape 10"/>
            <p:cNvSpPr/>
            <p:nvPr/>
          </p:nvSpPr>
          <p:spPr>
            <a:xfrm flipV="1" rot="5400000">
              <a:off x="6202800" y="1392480"/>
              <a:ext cx="653400" cy="1042560"/>
            </a:xfrm>
            <a:prstGeom prst="flowChartDelay">
              <a:avLst/>
            </a:prstGeom>
            <a:solidFill>
              <a:srgbClr val="757868"/>
            </a:solidFill>
            <a:ln w="38160">
              <a:solidFill>
                <a:srgbClr val="4d4f4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49" name="AutoShape 11"/>
            <p:cNvSpPr/>
            <p:nvPr/>
          </p:nvSpPr>
          <p:spPr>
            <a:xfrm rot="16200000">
              <a:off x="6201000" y="527760"/>
              <a:ext cx="653760" cy="1042200"/>
            </a:xfrm>
            <a:prstGeom prst="flowChartDelay">
              <a:avLst/>
            </a:prstGeom>
            <a:solidFill>
              <a:srgbClr val="9ac2c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50" name="Text Box 12"/>
            <p:cNvSpPr/>
            <p:nvPr/>
          </p:nvSpPr>
          <p:spPr>
            <a:xfrm>
              <a:off x="6216480" y="1004760"/>
              <a:ext cx="6627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View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Text Box 13"/>
            <p:cNvSpPr/>
            <p:nvPr/>
          </p:nvSpPr>
          <p:spPr>
            <a:xfrm>
              <a:off x="5973840" y="1716120"/>
              <a:ext cx="112212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Controller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Line 14"/>
            <p:cNvSpPr/>
            <p:nvPr/>
          </p:nvSpPr>
          <p:spPr>
            <a:xfrm>
              <a:off x="6251400" y="1376280"/>
              <a:ext cx="360" cy="2113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53" name="Line 15"/>
            <p:cNvSpPr/>
            <p:nvPr/>
          </p:nvSpPr>
          <p:spPr>
            <a:xfrm flipV="1">
              <a:off x="6773760" y="1375920"/>
              <a:ext cx="360" cy="206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54" name="Line 16"/>
            <p:cNvSpPr/>
            <p:nvPr/>
          </p:nvSpPr>
          <p:spPr>
            <a:xfrm flipV="1">
              <a:off x="5533920" y="1201320"/>
              <a:ext cx="483840" cy="874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55" name="Line 17"/>
            <p:cNvSpPr/>
            <p:nvPr/>
          </p:nvSpPr>
          <p:spPr>
            <a:xfrm flipH="1" flipV="1">
              <a:off x="5540040" y="1674720"/>
              <a:ext cx="488880" cy="9360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56" name="Line 18"/>
            <p:cNvSpPr/>
            <p:nvPr/>
          </p:nvSpPr>
          <p:spPr>
            <a:xfrm flipH="1" flipV="1">
              <a:off x="7075440" y="1843200"/>
              <a:ext cx="501120" cy="871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57" name="Line 19"/>
            <p:cNvSpPr/>
            <p:nvPr/>
          </p:nvSpPr>
          <p:spPr>
            <a:xfrm flipV="1">
              <a:off x="7068960" y="815760"/>
              <a:ext cx="542520" cy="2984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Controller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380880" y="1698120"/>
            <a:ext cx="38854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9996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listens for the user to change data or state in the UI, notifying the model or view accordingly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0" name="Group 12"/>
          <p:cNvGrpSpPr/>
          <p:nvPr/>
        </p:nvGrpSpPr>
        <p:grpSpPr>
          <a:xfrm>
            <a:off x="4419720" y="1698120"/>
            <a:ext cx="3351960" cy="1829880"/>
            <a:chOff x="4419720" y="1698120"/>
            <a:chExt cx="3351960" cy="1829880"/>
          </a:xfrm>
        </p:grpSpPr>
        <p:sp>
          <p:nvSpPr>
            <p:cNvPr id="161" name="Cloud Callout 5"/>
            <p:cNvSpPr/>
            <p:nvPr/>
          </p:nvSpPr>
          <p:spPr>
            <a:xfrm>
              <a:off x="4419720" y="1698120"/>
              <a:ext cx="3351960" cy="1829880"/>
            </a:xfrm>
            <a:prstGeom prst="cloudCallout">
              <a:avLst>
                <a:gd name="adj1" fmla="val -41081"/>
                <a:gd name="adj2" fmla="val 75366"/>
              </a:avLst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162" name="TextBox 7"/>
            <p:cNvSpPr/>
            <p:nvPr/>
          </p:nvSpPr>
          <p:spPr>
            <a:xfrm>
              <a:off x="4843800" y="2013480"/>
              <a:ext cx="2503440" cy="82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6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The user just clicked the “hide details” button. I better tell the view.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" name="Group 14"/>
          <p:cNvGrpSpPr/>
          <p:nvPr/>
        </p:nvGrpSpPr>
        <p:grpSpPr>
          <a:xfrm>
            <a:off x="4748760" y="3837960"/>
            <a:ext cx="3351960" cy="1829880"/>
            <a:chOff x="4748760" y="3837960"/>
            <a:chExt cx="3351960" cy="1829880"/>
          </a:xfrm>
        </p:grpSpPr>
        <p:sp>
          <p:nvSpPr>
            <p:cNvPr id="164" name="Cloud Callout 7"/>
            <p:cNvSpPr/>
            <p:nvPr/>
          </p:nvSpPr>
          <p:spPr>
            <a:xfrm>
              <a:off x="4748760" y="3837960"/>
              <a:ext cx="3351960" cy="1829880"/>
            </a:xfrm>
            <a:prstGeom prst="cloudCallout">
              <a:avLst>
                <a:gd name="adj1" fmla="val -41081"/>
                <a:gd name="adj2" fmla="val 75366"/>
              </a:avLst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165" name="TextBox 8"/>
            <p:cNvSpPr/>
            <p:nvPr/>
          </p:nvSpPr>
          <p:spPr>
            <a:xfrm>
              <a:off x="5042880" y="4214520"/>
              <a:ext cx="272880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600" spc="-1" strike="noStrike">
                  <a:solidFill>
                    <a:schemeClr val="accent1">
                      <a:lumMod val="50000"/>
                    </a:schemeClr>
                  </a:solidFill>
                  <a:latin typeface="Franklin Gothic Medium"/>
                  <a:ea typeface="DejaVu Sans"/>
                </a:rPr>
                <a:t>The user just changed the event details. I better let the model know to update the data.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66" name="Picture 3" descr="C:\Users\Krysta\AppData\Local\Microsoft\Windows\Temporary Internet Files\Content.IE5\QEV7LSE9\MC900187159[1].wmf"/>
          <p:cNvPicPr/>
          <p:nvPr/>
        </p:nvPicPr>
        <p:blipFill>
          <a:blip r:embed="rId1"/>
          <a:stretch/>
        </p:blipFill>
        <p:spPr>
          <a:xfrm>
            <a:off x="1676520" y="4542480"/>
            <a:ext cx="2208960" cy="181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Controller Communication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655560" y="3596760"/>
            <a:ext cx="8289720" cy="259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Communicates with view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determines which objects are being manipulated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085760" indent="-228600">
              <a:lnSpc>
                <a:spcPct val="90000"/>
              </a:lnSpc>
              <a:spcBef>
                <a:spcPts val="499"/>
              </a:spcBef>
              <a:buClr>
                <a:srgbClr val="009999"/>
              </a:buClr>
              <a:buSzPct val="60000"/>
              <a:buFont typeface="Wingdings" charset="2"/>
              <a:buChar char="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e.g., which object was selected with mouse click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Calls model methods to make changes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model makes change and notifies views to update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9" name="Group 4"/>
          <p:cNvGrpSpPr/>
          <p:nvPr/>
        </p:nvGrpSpPr>
        <p:grpSpPr>
          <a:xfrm>
            <a:off x="2392200" y="1654200"/>
            <a:ext cx="4816080" cy="1783800"/>
            <a:chOff x="2392200" y="1654200"/>
            <a:chExt cx="4816080" cy="1783800"/>
          </a:xfrm>
        </p:grpSpPr>
        <p:pic>
          <p:nvPicPr>
            <p:cNvPr id="170" name="Object 2" descr=""/>
            <p:cNvPicPr/>
            <p:nvPr/>
          </p:nvPicPr>
          <p:blipFill>
            <a:blip r:embed="rId1"/>
            <a:stretch/>
          </p:blipFill>
          <p:spPr>
            <a:xfrm>
              <a:off x="5676840" y="1654200"/>
              <a:ext cx="631440" cy="597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1" name="Group 6"/>
            <p:cNvGrpSpPr/>
            <p:nvPr/>
          </p:nvGrpSpPr>
          <p:grpSpPr>
            <a:xfrm>
              <a:off x="5648400" y="2732040"/>
              <a:ext cx="1559880" cy="596520"/>
              <a:chOff x="5648400" y="2732040"/>
              <a:chExt cx="1559880" cy="596520"/>
            </a:xfrm>
          </p:grpSpPr>
          <p:pic>
            <p:nvPicPr>
              <p:cNvPr id="172" name="Object 3" descr=""/>
              <p:cNvPicPr/>
              <p:nvPr/>
            </p:nvPicPr>
            <p:blipFill>
              <a:blip r:embed="rId2"/>
              <a:stretch/>
            </p:blipFill>
            <p:spPr>
              <a:xfrm flipH="1">
                <a:off x="6635160" y="3075840"/>
                <a:ext cx="573120" cy="213480"/>
              </a:xfrm>
              <a:prstGeom prst="rect">
                <a:avLst/>
              </a:prstGeom>
              <a:ln w="0">
                <a:noFill/>
              </a:ln>
            </p:spPr>
          </p:pic>
          <p:graphicFrame>
            <p:nvGraphicFramePr>
              <p:cNvPr id="173" name="Object 4"/>
              <p:cNvGraphicFramePr/>
              <p:nvPr/>
            </p:nvGraphicFramePr>
            <p:xfrm>
              <a:off x="5648400" y="2732040"/>
              <a:ext cx="959400" cy="596520"/>
            </p:xfrm>
            <a:graphic>
              <a:graphicData uri="http://schemas.openxmlformats.org/presentationml/2006/ole">
                <p:oleObj r:id="rId3" spid="">
                  <p:embed/>
                  <p:pic>
                    <p:nvPicPr>
                      <p:cNvPr id="174" name="Object 4" descr=""/>
                      <p:cNvPicPr/>
                      <p:nvPr/>
                    </p:nvPicPr>
                    <p:blipFill>
                      <a:blip r:embed="rId4"/>
                      <a:stretch/>
                    </p:blipFill>
                    <p:spPr>
                      <a:xfrm>
                        <a:off x="5648400" y="2732040"/>
                        <a:ext cx="959400" cy="596520"/>
                      </a:xfrm>
                      <a:prstGeom prst="rect">
                        <a:avLst/>
                      </a:prstGeom>
                      <a:ln w="0">
                        <a:noFill/>
                      </a:ln>
                    </p:spPr>
                  </p:pic>
                </p:oleObj>
              </a:graphicData>
            </a:graphic>
          </p:graphicFrame>
        </p:grpSp>
        <p:sp>
          <p:nvSpPr>
            <p:cNvPr id="175" name="AutoShape 9"/>
            <p:cNvSpPr/>
            <p:nvPr/>
          </p:nvSpPr>
          <p:spPr>
            <a:xfrm>
              <a:off x="2392200" y="2365200"/>
              <a:ext cx="1206360" cy="653760"/>
            </a:xfrm>
            <a:custGeom>
              <a:avLst/>
              <a:gdLst>
                <a:gd name="textAreaLeft" fmla="*/ 0 w 1206360"/>
                <a:gd name="textAreaRight" fmla="*/ 1206720 w 1206360"/>
                <a:gd name="textAreaTop" fmla="*/ 84600 h 653760"/>
                <a:gd name="textAreaBottom" fmla="*/ 569520 h 653760"/>
              </a:gdLst>
              <a:ahLst/>
              <a:rect l="textAreaLeft" t="textAreaTop" r="textAreaRight" b="textAreaBottom"/>
              <a:pathLst>
                <a:path w="21600" h="21600">
                  <a:moveTo>
                    <a:pt x="0" y="1400"/>
                  </a:moveTo>
                  <a:cubicBezTo>
                    <a:pt x="3600" y="-3560"/>
                    <a:pt x="7200" y="6360"/>
                    <a:pt x="10800" y="1400"/>
                  </a:cubicBezTo>
                  <a:cubicBezTo>
                    <a:pt x="14400" y="-3560"/>
                    <a:pt x="18000" y="6360"/>
                    <a:pt x="21600" y="1400"/>
                  </a:cubicBezTo>
                  <a:lnTo>
                    <a:pt x="21600" y="20200"/>
                  </a:lnTo>
                  <a:cubicBezTo>
                    <a:pt x="18000" y="25160"/>
                    <a:pt x="14400" y="15240"/>
                    <a:pt x="10800" y="20200"/>
                  </a:cubicBezTo>
                  <a:cubicBezTo>
                    <a:pt x="7200" y="25160"/>
                    <a:pt x="3600" y="15240"/>
                    <a:pt x="0" y="20200"/>
                  </a:cubicBezTo>
                  <a:close/>
                </a:path>
              </a:pathLst>
            </a:custGeom>
            <a:solidFill>
              <a:srgbClr val="9ac2c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Model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AutoShape 10"/>
            <p:cNvSpPr/>
            <p:nvPr/>
          </p:nvSpPr>
          <p:spPr>
            <a:xfrm flipV="1" rot="5400000">
              <a:off x="4268160" y="2589480"/>
              <a:ext cx="653400" cy="1042920"/>
            </a:xfrm>
            <a:prstGeom prst="flowChartDelay">
              <a:avLst/>
            </a:prstGeom>
            <a:solidFill>
              <a:srgbClr val="757868"/>
            </a:solidFill>
            <a:ln w="38160">
              <a:solidFill>
                <a:srgbClr val="4d4f4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77" name="AutoShape 11"/>
            <p:cNvSpPr/>
            <p:nvPr/>
          </p:nvSpPr>
          <p:spPr>
            <a:xfrm rot="16200000">
              <a:off x="4266360" y="1724760"/>
              <a:ext cx="653760" cy="1042560"/>
            </a:xfrm>
            <a:prstGeom prst="flowChartDelay">
              <a:avLst/>
            </a:prstGeom>
            <a:solidFill>
              <a:srgbClr val="9ac2c0"/>
            </a:solidFill>
            <a:ln w="1260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6800" rIns="46800" tIns="90000" bIns="90000" anchor="ctr" anchorCtr="1" vert="eaVer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78" name="Text Box 12"/>
            <p:cNvSpPr/>
            <p:nvPr/>
          </p:nvSpPr>
          <p:spPr>
            <a:xfrm>
              <a:off x="4281480" y="2201760"/>
              <a:ext cx="66276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View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Text Box 13"/>
            <p:cNvSpPr/>
            <p:nvPr/>
          </p:nvSpPr>
          <p:spPr>
            <a:xfrm>
              <a:off x="4039200" y="2913120"/>
              <a:ext cx="112212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Controller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Line 14"/>
            <p:cNvSpPr/>
            <p:nvPr/>
          </p:nvSpPr>
          <p:spPr>
            <a:xfrm>
              <a:off x="4316400" y="2573280"/>
              <a:ext cx="360" cy="2113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81" name="Line 15"/>
            <p:cNvSpPr/>
            <p:nvPr/>
          </p:nvSpPr>
          <p:spPr>
            <a:xfrm flipV="1">
              <a:off x="4838760" y="2572920"/>
              <a:ext cx="360" cy="2062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82" name="Line 16"/>
            <p:cNvSpPr/>
            <p:nvPr/>
          </p:nvSpPr>
          <p:spPr>
            <a:xfrm flipV="1">
              <a:off x="3598920" y="2398320"/>
              <a:ext cx="484200" cy="8748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680" bIns="4068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83" name="Line 17"/>
            <p:cNvSpPr/>
            <p:nvPr/>
          </p:nvSpPr>
          <p:spPr>
            <a:xfrm flipH="1" flipV="1">
              <a:off x="3604680" y="2871720"/>
              <a:ext cx="489240" cy="9360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84" name="Line 18"/>
            <p:cNvSpPr/>
            <p:nvPr/>
          </p:nvSpPr>
          <p:spPr>
            <a:xfrm flipH="1" flipV="1">
              <a:off x="5140080" y="3040200"/>
              <a:ext cx="501480" cy="871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0320" bIns="4032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185" name="Line 19"/>
            <p:cNvSpPr/>
            <p:nvPr/>
          </p:nvSpPr>
          <p:spPr>
            <a:xfrm flipV="1">
              <a:off x="5133960" y="2012760"/>
              <a:ext cx="542880" cy="29844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headEnd len="sm" type="triangle" w="sm"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</p:grpSp>
    </p:spTree>
  </p:cSld>
  <p:transition>
    <p:dissolv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Advantages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228600" y="1523880"/>
            <a:ext cx="86864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Input processing is separated from output processing.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Controllers can be interchanged, allowing different user interaction modes.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Multiple views of the model can be supported easily.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4" descr=""/>
          <p:cNvPicPr/>
          <p:nvPr/>
        </p:nvPicPr>
        <p:blipFill>
          <a:blip r:embed="rId1"/>
          <a:srcRect l="13282" t="29570" r="14065" b="9140"/>
          <a:stretch/>
        </p:blipFill>
        <p:spPr>
          <a:xfrm>
            <a:off x="1295280" y="3809880"/>
            <a:ext cx="6476760" cy="280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Benefits of MVC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304920" y="1554120"/>
            <a:ext cx="86860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Organization of code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Maintainable,</a:t>
            </a: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 easy to find what you need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Ease of development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Build and test</a:t>
            </a: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 components independently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Flexibility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Swap out views</a:t>
            </a: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 for different presentations of the same data (ex: calendar daily, weekly, or monthly view)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Swap out models </a:t>
            </a: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to change data storage without affecting user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Other ways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457200" y="1599840"/>
            <a:ext cx="8229240" cy="45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</a:rPr>
              <a:t>Combining Controller and View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marL="864000" indent="-3240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2540" spc="-1" strike="noStrike">
                <a:solidFill>
                  <a:srgbClr val="000000"/>
                </a:solidFill>
                <a:latin typeface="Times New Roman"/>
              </a:rPr>
              <a:t>Small programs</a:t>
            </a:r>
            <a:endParaRPr b="0" lang="en-US" sz="2540" spc="-1" strike="noStrike">
              <a:solidFill>
                <a:srgbClr val="000000"/>
              </a:solidFill>
              <a:latin typeface="Arial"/>
            </a:endParaRPr>
          </a:p>
          <a:p>
            <a:pPr marL="864000" indent="-3240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2540" spc="-1" strike="noStrike">
                <a:solidFill>
                  <a:srgbClr val="000000"/>
                </a:solidFill>
                <a:latin typeface="Times New Roman"/>
              </a:rPr>
              <a:t>May be highly interdependent</a:t>
            </a:r>
            <a:endParaRPr b="0" lang="en-US" sz="2540" spc="-1" strike="noStrike">
              <a:solidFill>
                <a:srgbClr val="000000"/>
              </a:solidFill>
              <a:latin typeface="Arial"/>
            </a:endParaRPr>
          </a:p>
          <a:p>
            <a:pPr marL="864000" indent="-3240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2540" spc="-1" strike="noStrike">
                <a:solidFill>
                  <a:srgbClr val="000000"/>
                </a:solidFill>
                <a:latin typeface="Times New Roman"/>
              </a:rPr>
              <a:t>Never mix model</a:t>
            </a:r>
            <a:endParaRPr b="0" lang="en-US" sz="25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Object 2" descr=""/>
          <p:cNvPicPr/>
          <p:nvPr/>
        </p:nvPicPr>
        <p:blipFill>
          <a:blip r:embed="rId1"/>
          <a:stretch/>
        </p:blipFill>
        <p:spPr>
          <a:xfrm>
            <a:off x="6218280" y="3602160"/>
            <a:ext cx="958320" cy="974160"/>
          </a:xfrm>
          <a:prstGeom prst="rect">
            <a:avLst/>
          </a:prstGeom>
          <a:ln w="0">
            <a:noFill/>
          </a:ln>
        </p:spPr>
      </p:pic>
      <p:grpSp>
        <p:nvGrpSpPr>
          <p:cNvPr id="194" name="Group 4"/>
          <p:cNvGrpSpPr/>
          <p:nvPr/>
        </p:nvGrpSpPr>
        <p:grpSpPr>
          <a:xfrm>
            <a:off x="6175440" y="5359320"/>
            <a:ext cx="2366640" cy="974520"/>
            <a:chOff x="6175440" y="5359320"/>
            <a:chExt cx="2366640" cy="974520"/>
          </a:xfrm>
        </p:grpSpPr>
        <p:pic>
          <p:nvPicPr>
            <p:cNvPr id="195" name="Object 3" descr=""/>
            <p:cNvPicPr/>
            <p:nvPr/>
          </p:nvPicPr>
          <p:blipFill>
            <a:blip r:embed="rId2"/>
            <a:stretch/>
          </p:blipFill>
          <p:spPr>
            <a:xfrm flipH="1">
              <a:off x="7672320" y="5921280"/>
              <a:ext cx="869760" cy="348840"/>
            </a:xfrm>
            <a:prstGeom prst="rect">
              <a:avLst/>
            </a:prstGeom>
            <a:ln w="0">
              <a:noFill/>
            </a:ln>
          </p:spPr>
        </p:pic>
        <p:graphicFrame>
          <p:nvGraphicFramePr>
            <p:cNvPr id="196" name="Object 4"/>
            <p:cNvGraphicFramePr/>
            <p:nvPr/>
          </p:nvGraphicFramePr>
          <p:xfrm>
            <a:off x="6175440" y="5359320"/>
            <a:ext cx="1455480" cy="974520"/>
          </p:xfrm>
          <a:graphic>
            <a:graphicData uri="http://schemas.openxmlformats.org/presentationml/2006/ole">
              <p:oleObj r:id="rId3" spid="">
                <p:embed/>
                <p:pic>
                  <p:nvPicPr>
                    <p:cNvPr id="197" name="Object 4" descr=""/>
                    <p:cNvPicPr/>
                    <p:nvPr/>
                  </p:nvPicPr>
                  <p:blipFill>
                    <a:blip r:embed="rId4"/>
                    <a:stretch/>
                  </p:blipFill>
                  <p:spPr>
                    <a:xfrm>
                      <a:off x="6175440" y="5359320"/>
                      <a:ext cx="1455480" cy="974520"/>
                    </a:xfrm>
                    <a:prstGeom prst="rect">
                      <a:avLst/>
                    </a:prstGeom>
                    <a:ln w="0">
                      <a:noFill/>
                    </a:ln>
                  </p:spPr>
                </p:pic>
              </p:oleObj>
            </a:graphicData>
          </a:graphic>
        </p:graphicFrame>
      </p:grpSp>
      <p:sp>
        <p:nvSpPr>
          <p:cNvPr id="198" name="AutoShape 7"/>
          <p:cNvSpPr/>
          <p:nvPr/>
        </p:nvSpPr>
        <p:spPr>
          <a:xfrm>
            <a:off x="1238400" y="4761000"/>
            <a:ext cx="1828440" cy="1066320"/>
          </a:xfrm>
          <a:custGeom>
            <a:avLst/>
            <a:gdLst>
              <a:gd name="textAreaLeft" fmla="*/ 0 w 1828440"/>
              <a:gd name="textAreaRight" fmla="*/ 1829160 w 1828440"/>
              <a:gd name="textAreaTop" fmla="*/ 138240 h 1066320"/>
              <a:gd name="textAreaBottom" fmla="*/ 928440 h 1066320"/>
            </a:gdLst>
            <a:ahLst/>
            <a:rect l="textAreaLeft" t="textAreaTop" r="textAreaRight" b="textAreaBottom"/>
            <a:pathLst>
              <a:path w="21600" h="21600">
                <a:moveTo>
                  <a:pt x="0" y="1400"/>
                </a:moveTo>
                <a:cubicBezTo>
                  <a:pt x="3600" y="-3560"/>
                  <a:pt x="7200" y="6360"/>
                  <a:pt x="10800" y="1400"/>
                </a:cubicBezTo>
                <a:cubicBezTo>
                  <a:pt x="14400" y="-3560"/>
                  <a:pt x="18000" y="6360"/>
                  <a:pt x="21600" y="1400"/>
                </a:cubicBezTo>
                <a:lnTo>
                  <a:pt x="21600" y="20200"/>
                </a:lnTo>
                <a:cubicBezTo>
                  <a:pt x="18000" y="25160"/>
                  <a:pt x="14400" y="15240"/>
                  <a:pt x="10800" y="20200"/>
                </a:cubicBezTo>
                <a:cubicBezTo>
                  <a:pt x="7200" y="25160"/>
                  <a:pt x="3600" y="15240"/>
                  <a:pt x="0" y="20200"/>
                </a:cubicBezTo>
                <a:close/>
              </a:path>
            </a:pathLst>
          </a:custGeom>
          <a:solidFill>
            <a:srgbClr val="9ac2c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  <a:ea typeface="DejaVu Sans"/>
              </a:rPr>
              <a:t>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9" name="Group 8"/>
          <p:cNvGrpSpPr/>
          <p:nvPr/>
        </p:nvGrpSpPr>
        <p:grpSpPr>
          <a:xfrm>
            <a:off x="3779280" y="4191480"/>
            <a:ext cx="1643400" cy="2131560"/>
            <a:chOff x="3779280" y="4191480"/>
            <a:chExt cx="1643400" cy="2131560"/>
          </a:xfrm>
        </p:grpSpPr>
        <p:grpSp>
          <p:nvGrpSpPr>
            <p:cNvPr id="200" name="Group 9"/>
            <p:cNvGrpSpPr/>
            <p:nvPr/>
          </p:nvGrpSpPr>
          <p:grpSpPr>
            <a:xfrm>
              <a:off x="3814920" y="4191480"/>
              <a:ext cx="1585080" cy="2131560"/>
              <a:chOff x="3814920" y="4191480"/>
              <a:chExt cx="1585080" cy="2131560"/>
            </a:xfrm>
          </p:grpSpPr>
          <p:sp>
            <p:nvSpPr>
              <p:cNvPr id="201" name="AutoShape 10"/>
              <p:cNvSpPr/>
              <p:nvPr/>
            </p:nvSpPr>
            <p:spPr>
              <a:xfrm flipV="1" rot="5400000">
                <a:off x="4075200" y="4998240"/>
                <a:ext cx="1066320" cy="1582920"/>
              </a:xfrm>
              <a:prstGeom prst="flowChartDelay">
                <a:avLst/>
              </a:prstGeom>
              <a:solidFill>
                <a:srgbClr val="9ac2c0"/>
              </a:solidFill>
              <a:ln w="126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  <p:sp>
            <p:nvSpPr>
              <p:cNvPr id="202" name="AutoShape 11"/>
              <p:cNvSpPr/>
              <p:nvPr/>
            </p:nvSpPr>
            <p:spPr>
              <a:xfrm rot="16200000">
                <a:off x="4073400" y="3933000"/>
                <a:ext cx="1065960" cy="1582920"/>
              </a:xfrm>
              <a:prstGeom prst="flowChartDelay">
                <a:avLst/>
              </a:prstGeom>
              <a:solidFill>
                <a:srgbClr val="9ac2c0"/>
              </a:solidFill>
              <a:ln w="126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</p:grpSp>
        <p:sp>
          <p:nvSpPr>
            <p:cNvPr id="203" name="Text Box 12"/>
            <p:cNvSpPr/>
            <p:nvPr/>
          </p:nvSpPr>
          <p:spPr>
            <a:xfrm>
              <a:off x="4148280" y="4738680"/>
              <a:ext cx="927720" cy="52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View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Text Box 13"/>
            <p:cNvSpPr/>
            <p:nvPr/>
          </p:nvSpPr>
          <p:spPr>
            <a:xfrm>
              <a:off x="3779280" y="5181480"/>
              <a:ext cx="1643400" cy="52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Controller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5" name="Line 16"/>
          <p:cNvSpPr/>
          <p:nvPr/>
        </p:nvSpPr>
        <p:spPr>
          <a:xfrm flipV="1">
            <a:off x="3068640" y="4816080"/>
            <a:ext cx="731880" cy="141480"/>
          </a:xfrm>
          <a:prstGeom prst="line">
            <a:avLst/>
          </a:prstGeom>
          <a:ln w="381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06" name="Line 17"/>
          <p:cNvSpPr/>
          <p:nvPr/>
        </p:nvSpPr>
        <p:spPr>
          <a:xfrm flipH="1" flipV="1">
            <a:off x="3078000" y="5587920"/>
            <a:ext cx="741600" cy="152640"/>
          </a:xfrm>
          <a:prstGeom prst="line">
            <a:avLst/>
          </a:prstGeom>
          <a:ln w="38160">
            <a:solidFill>
              <a:srgbClr val="ffffff"/>
            </a:solidFill>
            <a:miter/>
            <a:headEnd len="sm" type="triangle" w="sm"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07" name="Line 18"/>
          <p:cNvSpPr/>
          <p:nvPr/>
        </p:nvSpPr>
        <p:spPr>
          <a:xfrm flipH="1" flipV="1">
            <a:off x="5405040" y="5862240"/>
            <a:ext cx="762120" cy="141480"/>
          </a:xfrm>
          <a:prstGeom prst="line">
            <a:avLst/>
          </a:prstGeom>
          <a:ln w="381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08" name="Line 19"/>
          <p:cNvSpPr/>
          <p:nvPr/>
        </p:nvSpPr>
        <p:spPr>
          <a:xfrm flipV="1">
            <a:off x="5394240" y="4186080"/>
            <a:ext cx="824040" cy="487440"/>
          </a:xfrm>
          <a:prstGeom prst="line">
            <a:avLst/>
          </a:prstGeom>
          <a:ln w="38160">
            <a:solidFill>
              <a:srgbClr val="ffffff"/>
            </a:solidFill>
            <a:miter/>
            <a:headEnd len="sm" type="triangle" w="sm"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MVC Flow in Theory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0" name="Group 13"/>
          <p:cNvGrpSpPr/>
          <p:nvPr/>
        </p:nvGrpSpPr>
        <p:grpSpPr>
          <a:xfrm>
            <a:off x="978480" y="3602160"/>
            <a:ext cx="2133000" cy="913680"/>
            <a:chOff x="978480" y="3602160"/>
            <a:chExt cx="2133000" cy="913680"/>
          </a:xfrm>
        </p:grpSpPr>
        <p:sp>
          <p:nvSpPr>
            <p:cNvPr id="211" name="Rectangle 1"/>
            <p:cNvSpPr/>
            <p:nvPr/>
          </p:nvSpPr>
          <p:spPr>
            <a:xfrm>
              <a:off x="978480" y="360216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12" name="TextBox 2"/>
            <p:cNvSpPr/>
            <p:nvPr/>
          </p:nvSpPr>
          <p:spPr>
            <a:xfrm>
              <a:off x="978480" y="382032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Model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3" name="Group 15"/>
          <p:cNvGrpSpPr/>
          <p:nvPr/>
        </p:nvGrpSpPr>
        <p:grpSpPr>
          <a:xfrm>
            <a:off x="5105520" y="2057400"/>
            <a:ext cx="2133000" cy="913680"/>
            <a:chOff x="5105520" y="2057400"/>
            <a:chExt cx="2133000" cy="913680"/>
          </a:xfrm>
        </p:grpSpPr>
        <p:sp>
          <p:nvSpPr>
            <p:cNvPr id="214" name="Rectangle 2"/>
            <p:cNvSpPr/>
            <p:nvPr/>
          </p:nvSpPr>
          <p:spPr>
            <a:xfrm>
              <a:off x="5105520" y="205740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15" name="TextBox 10"/>
            <p:cNvSpPr/>
            <p:nvPr/>
          </p:nvSpPr>
          <p:spPr>
            <a:xfrm>
              <a:off x="5105520" y="227556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View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6" name="Group 16"/>
          <p:cNvGrpSpPr/>
          <p:nvPr/>
        </p:nvGrpSpPr>
        <p:grpSpPr>
          <a:xfrm>
            <a:off x="5105520" y="5105520"/>
            <a:ext cx="2133000" cy="913680"/>
            <a:chOff x="5105520" y="5105520"/>
            <a:chExt cx="2133000" cy="913680"/>
          </a:xfrm>
        </p:grpSpPr>
        <p:sp>
          <p:nvSpPr>
            <p:cNvPr id="217" name="Rectangle 4"/>
            <p:cNvSpPr/>
            <p:nvPr/>
          </p:nvSpPr>
          <p:spPr>
            <a:xfrm>
              <a:off x="5105520" y="510552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18" name="TextBox 11"/>
            <p:cNvSpPr/>
            <p:nvPr/>
          </p:nvSpPr>
          <p:spPr>
            <a:xfrm>
              <a:off x="5105520" y="532332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Controller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19" name="Straight Arrow Connector 1"/>
          <p:cNvCxnSpPr>
            <a:endCxn id="215" idx="1"/>
          </p:cNvCxnSpPr>
          <p:nvPr/>
        </p:nvCxnSpPr>
        <p:spPr>
          <a:xfrm flipV="1">
            <a:off x="3111840" y="2533680"/>
            <a:ext cx="1994040" cy="1287000"/>
          </a:xfrm>
          <a:prstGeom prst="straightConnector1">
            <a:avLst/>
          </a:prstGeom>
          <a:ln w="69850">
            <a:solidFill>
              <a:srgbClr val="f0a22e"/>
            </a:solidFill>
            <a:round/>
            <a:tailEnd len="med" type="triangle" w="lg"/>
          </a:ln>
        </p:spPr>
      </p:cxnSp>
      <p:cxnSp>
        <p:nvCxnSpPr>
          <p:cNvPr id="220" name="Straight Arrow Connector 2"/>
          <p:cNvCxnSpPr>
            <a:stCxn id="218" idx="1"/>
          </p:cNvCxnSpPr>
          <p:nvPr/>
        </p:nvCxnSpPr>
        <p:spPr>
          <a:xfrm flipH="1" flipV="1">
            <a:off x="3111840" y="4343400"/>
            <a:ext cx="1994040" cy="1238400"/>
          </a:xfrm>
          <a:prstGeom prst="straightConnector1">
            <a:avLst/>
          </a:prstGeom>
          <a:ln w="69850">
            <a:solidFill>
              <a:srgbClr val="f0a22e"/>
            </a:solidFill>
            <a:round/>
            <a:headEnd len="med" type="triangle" w="lg"/>
            <a:tailEnd len="med" type="triangle" w="lg"/>
          </a:ln>
        </p:spPr>
      </p:cxnSp>
      <p:cxnSp>
        <p:nvCxnSpPr>
          <p:cNvPr id="221" name="Straight Arrow Connector 3"/>
          <p:cNvCxnSpPr>
            <a:stCxn id="217" idx="0"/>
            <a:endCxn id="214" idx="2"/>
          </p:cNvCxnSpPr>
          <p:nvPr/>
        </p:nvCxnSpPr>
        <p:spPr>
          <a:xfrm flipV="1">
            <a:off x="6171840" y="2971080"/>
            <a:ext cx="360" cy="2134800"/>
          </a:xfrm>
          <a:prstGeom prst="straightConnector1">
            <a:avLst/>
          </a:prstGeom>
          <a:ln w="69850">
            <a:solidFill>
              <a:srgbClr val="f0a22e"/>
            </a:solidFill>
            <a:round/>
            <a:headEnd len="med" type="triangle" w="lg"/>
            <a:tailEnd len="med" type="triangle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MVC Flow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304920" y="1554120"/>
            <a:ext cx="86860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latin typeface="Franklin Gothic Book"/>
              </a:rPr>
              <a:t>In theory…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Pattern of behavior in response to inputs (controller) are independent of visual geometry (view)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latin typeface="Franklin Gothic Book"/>
              </a:rPr>
              <a:t>Controller contacts view to interpret what input events should mean in the context of the view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24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In practice…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18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View and controller are so intertwined that they almost always occur in matched pairs (ex: command line interface)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28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Many architectures combine the two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MVC Flow in Practice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5" name="Group 17"/>
          <p:cNvGrpSpPr/>
          <p:nvPr/>
        </p:nvGrpSpPr>
        <p:grpSpPr>
          <a:xfrm>
            <a:off x="978480" y="3602160"/>
            <a:ext cx="2133000" cy="913680"/>
            <a:chOff x="978480" y="3602160"/>
            <a:chExt cx="2133000" cy="913680"/>
          </a:xfrm>
        </p:grpSpPr>
        <p:sp>
          <p:nvSpPr>
            <p:cNvPr id="226" name="Rectangle 5"/>
            <p:cNvSpPr/>
            <p:nvPr/>
          </p:nvSpPr>
          <p:spPr>
            <a:xfrm>
              <a:off x="978480" y="360216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27" name="TextBox 13"/>
            <p:cNvSpPr/>
            <p:nvPr/>
          </p:nvSpPr>
          <p:spPr>
            <a:xfrm>
              <a:off x="978480" y="382032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Model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" name="Group 18"/>
          <p:cNvGrpSpPr/>
          <p:nvPr/>
        </p:nvGrpSpPr>
        <p:grpSpPr>
          <a:xfrm>
            <a:off x="5105520" y="3124080"/>
            <a:ext cx="2133000" cy="913680"/>
            <a:chOff x="5105520" y="3124080"/>
            <a:chExt cx="2133000" cy="913680"/>
          </a:xfrm>
        </p:grpSpPr>
        <p:sp>
          <p:nvSpPr>
            <p:cNvPr id="229" name="Rectangle 6"/>
            <p:cNvSpPr/>
            <p:nvPr/>
          </p:nvSpPr>
          <p:spPr>
            <a:xfrm>
              <a:off x="5105520" y="312408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30" name="TextBox 14"/>
            <p:cNvSpPr/>
            <p:nvPr/>
          </p:nvSpPr>
          <p:spPr>
            <a:xfrm>
              <a:off x="5105520" y="334224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View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1" name="Group 19"/>
          <p:cNvGrpSpPr/>
          <p:nvPr/>
        </p:nvGrpSpPr>
        <p:grpSpPr>
          <a:xfrm>
            <a:off x="5105520" y="4038480"/>
            <a:ext cx="2133000" cy="913680"/>
            <a:chOff x="5105520" y="4038480"/>
            <a:chExt cx="2133000" cy="913680"/>
          </a:xfrm>
        </p:grpSpPr>
        <p:sp>
          <p:nvSpPr>
            <p:cNvPr id="232" name="Rectangle 9"/>
            <p:cNvSpPr/>
            <p:nvPr/>
          </p:nvSpPr>
          <p:spPr>
            <a:xfrm>
              <a:off x="5105520" y="403848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33" name="TextBox 15"/>
            <p:cNvSpPr/>
            <p:nvPr/>
          </p:nvSpPr>
          <p:spPr>
            <a:xfrm>
              <a:off x="5105520" y="425664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Controller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34" name="Straight Arrow Connector 4"/>
          <p:cNvCxnSpPr>
            <a:endCxn id="230" idx="1"/>
          </p:cNvCxnSpPr>
          <p:nvPr/>
        </p:nvCxnSpPr>
        <p:spPr>
          <a:xfrm flipV="1">
            <a:off x="3111840" y="3600360"/>
            <a:ext cx="1994040" cy="265680"/>
          </a:xfrm>
          <a:prstGeom prst="straightConnector1">
            <a:avLst/>
          </a:prstGeom>
          <a:ln w="69850">
            <a:solidFill>
              <a:srgbClr val="f0a22e"/>
            </a:solidFill>
            <a:round/>
            <a:tailEnd len="med" type="triangle" w="lg"/>
          </a:ln>
        </p:spPr>
      </p:cxnSp>
      <p:cxnSp>
        <p:nvCxnSpPr>
          <p:cNvPr id="235" name="Straight Arrow Connector 5"/>
          <p:cNvCxnSpPr>
            <a:stCxn id="233" idx="1"/>
          </p:cNvCxnSpPr>
          <p:nvPr/>
        </p:nvCxnSpPr>
        <p:spPr>
          <a:xfrm flipH="1" flipV="1">
            <a:off x="3111840" y="4256280"/>
            <a:ext cx="1994040" cy="258840"/>
          </a:xfrm>
          <a:prstGeom prst="straightConnector1">
            <a:avLst/>
          </a:prstGeom>
          <a:ln w="69850">
            <a:solidFill>
              <a:srgbClr val="f0a22e"/>
            </a:solidFill>
            <a:round/>
            <a:headEnd len="med" type="triangle" w="lg"/>
            <a:tailEnd len="med" type="triangle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Other Ways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57200" y="1599840"/>
            <a:ext cx="8229240" cy="45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No Model-View interaction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All interaction happens through controller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Controller talks to Model and 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Your project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Object 2" descr=""/>
          <p:cNvPicPr/>
          <p:nvPr/>
        </p:nvPicPr>
        <p:blipFill>
          <a:blip r:embed="rId1"/>
          <a:stretch/>
        </p:blipFill>
        <p:spPr>
          <a:xfrm>
            <a:off x="6218280" y="3602160"/>
            <a:ext cx="958320" cy="974160"/>
          </a:xfrm>
          <a:prstGeom prst="rect">
            <a:avLst/>
          </a:prstGeom>
          <a:ln w="0">
            <a:noFill/>
          </a:ln>
        </p:spPr>
      </p:pic>
      <p:grpSp>
        <p:nvGrpSpPr>
          <p:cNvPr id="239" name="Group 4"/>
          <p:cNvGrpSpPr/>
          <p:nvPr/>
        </p:nvGrpSpPr>
        <p:grpSpPr>
          <a:xfrm>
            <a:off x="6175440" y="5359320"/>
            <a:ext cx="2366640" cy="974520"/>
            <a:chOff x="6175440" y="5359320"/>
            <a:chExt cx="2366640" cy="974520"/>
          </a:xfrm>
        </p:grpSpPr>
        <p:pic>
          <p:nvPicPr>
            <p:cNvPr id="240" name="Object 3" descr=""/>
            <p:cNvPicPr/>
            <p:nvPr/>
          </p:nvPicPr>
          <p:blipFill>
            <a:blip r:embed="rId2"/>
            <a:stretch/>
          </p:blipFill>
          <p:spPr>
            <a:xfrm flipH="1">
              <a:off x="7672320" y="5921280"/>
              <a:ext cx="869760" cy="348840"/>
            </a:xfrm>
            <a:prstGeom prst="rect">
              <a:avLst/>
            </a:prstGeom>
            <a:ln w="0">
              <a:noFill/>
            </a:ln>
          </p:spPr>
        </p:pic>
        <p:graphicFrame>
          <p:nvGraphicFramePr>
            <p:cNvPr id="241" name="Object 4"/>
            <p:cNvGraphicFramePr/>
            <p:nvPr/>
          </p:nvGraphicFramePr>
          <p:xfrm>
            <a:off x="6175440" y="5359320"/>
            <a:ext cx="1455480" cy="974520"/>
          </p:xfrm>
          <a:graphic>
            <a:graphicData uri="http://schemas.openxmlformats.org/presentationml/2006/ole">
              <p:oleObj r:id="rId3" spid="">
                <p:embed/>
                <p:pic>
                  <p:nvPicPr>
                    <p:cNvPr id="242" name="Object 4" descr=""/>
                    <p:cNvPicPr/>
                    <p:nvPr/>
                  </p:nvPicPr>
                  <p:blipFill>
                    <a:blip r:embed="rId4"/>
                    <a:stretch/>
                  </p:blipFill>
                  <p:spPr>
                    <a:xfrm>
                      <a:off x="6175440" y="5359320"/>
                      <a:ext cx="1455480" cy="974520"/>
                    </a:xfrm>
                    <a:prstGeom prst="rect">
                      <a:avLst/>
                    </a:prstGeom>
                    <a:ln w="0">
                      <a:noFill/>
                    </a:ln>
                  </p:spPr>
                </p:pic>
              </p:oleObj>
            </a:graphicData>
          </a:graphic>
        </p:graphicFrame>
      </p:grpSp>
      <p:sp>
        <p:nvSpPr>
          <p:cNvPr id="243" name="AutoShape 7"/>
          <p:cNvSpPr/>
          <p:nvPr/>
        </p:nvSpPr>
        <p:spPr>
          <a:xfrm>
            <a:off x="1238400" y="4761000"/>
            <a:ext cx="1828440" cy="1066320"/>
          </a:xfrm>
          <a:custGeom>
            <a:avLst/>
            <a:gdLst>
              <a:gd name="textAreaLeft" fmla="*/ 0 w 1828440"/>
              <a:gd name="textAreaRight" fmla="*/ 1829160 w 1828440"/>
              <a:gd name="textAreaTop" fmla="*/ 138240 h 1066320"/>
              <a:gd name="textAreaBottom" fmla="*/ 928440 h 1066320"/>
            </a:gdLst>
            <a:ahLst/>
            <a:rect l="textAreaLeft" t="textAreaTop" r="textAreaRight" b="textAreaBottom"/>
            <a:pathLst>
              <a:path w="21600" h="21600">
                <a:moveTo>
                  <a:pt x="0" y="1400"/>
                </a:moveTo>
                <a:cubicBezTo>
                  <a:pt x="3600" y="-3560"/>
                  <a:pt x="7200" y="6360"/>
                  <a:pt x="10800" y="1400"/>
                </a:cubicBezTo>
                <a:cubicBezTo>
                  <a:pt x="14400" y="-3560"/>
                  <a:pt x="18000" y="6360"/>
                  <a:pt x="21600" y="1400"/>
                </a:cubicBezTo>
                <a:lnTo>
                  <a:pt x="21600" y="20200"/>
                </a:lnTo>
                <a:cubicBezTo>
                  <a:pt x="18000" y="25160"/>
                  <a:pt x="14400" y="15240"/>
                  <a:pt x="10800" y="20200"/>
                </a:cubicBezTo>
                <a:cubicBezTo>
                  <a:pt x="7200" y="25160"/>
                  <a:pt x="3600" y="15240"/>
                  <a:pt x="0" y="20200"/>
                </a:cubicBezTo>
                <a:close/>
              </a:path>
            </a:pathLst>
          </a:custGeom>
          <a:solidFill>
            <a:srgbClr val="9ac2c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highlight>
                  <a:srgbClr val="800080"/>
                </a:highlight>
                <a:latin typeface="Times New Roman"/>
                <a:ea typeface="DejaVu Sans"/>
              </a:rPr>
              <a:t>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4" name="Group 8"/>
          <p:cNvGrpSpPr/>
          <p:nvPr/>
        </p:nvGrpSpPr>
        <p:grpSpPr>
          <a:xfrm>
            <a:off x="3779280" y="4032360"/>
            <a:ext cx="1643400" cy="2478600"/>
            <a:chOff x="3779280" y="4032360"/>
            <a:chExt cx="1643400" cy="2478600"/>
          </a:xfrm>
        </p:grpSpPr>
        <p:grpSp>
          <p:nvGrpSpPr>
            <p:cNvPr id="245" name="Group 9"/>
            <p:cNvGrpSpPr/>
            <p:nvPr/>
          </p:nvGrpSpPr>
          <p:grpSpPr>
            <a:xfrm>
              <a:off x="3814920" y="4032360"/>
              <a:ext cx="1585080" cy="2478600"/>
              <a:chOff x="3814920" y="4032360"/>
              <a:chExt cx="1585080" cy="2478600"/>
            </a:xfrm>
          </p:grpSpPr>
          <p:sp>
            <p:nvSpPr>
              <p:cNvPr id="246" name="AutoShape 10"/>
              <p:cNvSpPr/>
              <p:nvPr/>
            </p:nvSpPr>
            <p:spPr>
              <a:xfrm flipV="1" rot="5400000">
                <a:off x="4075200" y="5186160"/>
                <a:ext cx="1066320" cy="1582920"/>
              </a:xfrm>
              <a:prstGeom prst="flowChartDelay">
                <a:avLst/>
              </a:prstGeom>
              <a:solidFill>
                <a:srgbClr val="9ac2c0"/>
              </a:solidFill>
              <a:ln w="126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  <p:sp>
            <p:nvSpPr>
              <p:cNvPr id="247" name="AutoShape 11"/>
              <p:cNvSpPr/>
              <p:nvPr/>
            </p:nvSpPr>
            <p:spPr>
              <a:xfrm rot="16200000">
                <a:off x="4073040" y="3773880"/>
                <a:ext cx="1066320" cy="1582920"/>
              </a:xfrm>
              <a:prstGeom prst="flowChartDelay">
                <a:avLst/>
              </a:prstGeom>
              <a:solidFill>
                <a:srgbClr val="9ac2c0"/>
              </a:solidFill>
              <a:ln w="126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24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Verdana"/>
                  <a:ea typeface="DejaVu Sans"/>
                </a:endParaRPr>
              </a:p>
            </p:txBody>
          </p:sp>
        </p:grpSp>
        <p:sp>
          <p:nvSpPr>
            <p:cNvPr id="248" name="Text Box 12"/>
            <p:cNvSpPr/>
            <p:nvPr/>
          </p:nvSpPr>
          <p:spPr>
            <a:xfrm>
              <a:off x="4148280" y="4435560"/>
              <a:ext cx="927720" cy="52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View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Text Box 13"/>
            <p:cNvSpPr/>
            <p:nvPr/>
          </p:nvSpPr>
          <p:spPr>
            <a:xfrm>
              <a:off x="3779280" y="5665680"/>
              <a:ext cx="1643400" cy="52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800" spc="-1" strike="noStrike">
                  <a:solidFill>
                    <a:srgbClr val="ffffff"/>
                  </a:solidFill>
                  <a:highlight>
                    <a:srgbClr val="800080"/>
                  </a:highlight>
                  <a:latin typeface="Times New Roman"/>
                  <a:ea typeface="DejaVu Sans"/>
                </a:rPr>
                <a:t>Controller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Line 14"/>
            <p:cNvSpPr/>
            <p:nvPr/>
          </p:nvSpPr>
          <p:spPr>
            <a:xfrm>
              <a:off x="4186080" y="5100480"/>
              <a:ext cx="360" cy="34452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  <p:sp>
          <p:nvSpPr>
            <p:cNvPr id="251" name="Line 15"/>
            <p:cNvSpPr/>
            <p:nvPr/>
          </p:nvSpPr>
          <p:spPr>
            <a:xfrm flipV="1">
              <a:off x="4978440" y="5100120"/>
              <a:ext cx="360" cy="33516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  <a:tailEnd len="sm" type="triangle" w="sm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2400" spc="-1" strike="noStrike">
                <a:solidFill>
                  <a:srgbClr val="ffffff"/>
                </a:solidFill>
                <a:highlight>
                  <a:srgbClr val="800080"/>
                </a:highlight>
                <a:latin typeface="Verdana"/>
                <a:ea typeface="DejaVu Sans"/>
              </a:endParaRPr>
            </a:p>
          </p:txBody>
        </p:sp>
      </p:grpSp>
      <p:sp>
        <p:nvSpPr>
          <p:cNvPr id="252" name="Line 16"/>
          <p:cNvSpPr/>
          <p:nvPr/>
        </p:nvSpPr>
        <p:spPr>
          <a:xfrm flipV="1">
            <a:off x="3068640" y="4816080"/>
            <a:ext cx="731880" cy="141480"/>
          </a:xfrm>
          <a:prstGeom prst="line">
            <a:avLst/>
          </a:prstGeom>
          <a:ln w="381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53" name="Line 17"/>
          <p:cNvSpPr/>
          <p:nvPr/>
        </p:nvSpPr>
        <p:spPr>
          <a:xfrm flipH="1" flipV="1">
            <a:off x="3078000" y="5587920"/>
            <a:ext cx="741600" cy="152640"/>
          </a:xfrm>
          <a:prstGeom prst="line">
            <a:avLst/>
          </a:prstGeom>
          <a:ln w="38160">
            <a:solidFill>
              <a:srgbClr val="ffffff"/>
            </a:solidFill>
            <a:miter/>
            <a:headEnd len="sm" type="triangle" w="sm"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54" name="Line 18"/>
          <p:cNvSpPr/>
          <p:nvPr/>
        </p:nvSpPr>
        <p:spPr>
          <a:xfrm flipH="1" flipV="1">
            <a:off x="5405040" y="5862240"/>
            <a:ext cx="762120" cy="141480"/>
          </a:xfrm>
          <a:prstGeom prst="line">
            <a:avLst/>
          </a:prstGeom>
          <a:ln w="381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55" name="Line 19"/>
          <p:cNvSpPr/>
          <p:nvPr/>
        </p:nvSpPr>
        <p:spPr>
          <a:xfrm flipV="1">
            <a:off x="5394240" y="4186080"/>
            <a:ext cx="824040" cy="487440"/>
          </a:xfrm>
          <a:prstGeom prst="line">
            <a:avLst/>
          </a:prstGeom>
          <a:ln w="38160">
            <a:solidFill>
              <a:srgbClr val="ffffff"/>
            </a:solidFill>
            <a:miter/>
            <a:headEnd len="sm" type="triangle" w="sm"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56" name="Line 27"/>
          <p:cNvSpPr/>
          <p:nvPr/>
        </p:nvSpPr>
        <p:spPr>
          <a:xfrm>
            <a:off x="3200400" y="4724280"/>
            <a:ext cx="304920" cy="381240"/>
          </a:xfrm>
          <a:prstGeom prst="line">
            <a:avLst/>
          </a:prstGeom>
          <a:ln w="507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  <p:sp>
        <p:nvSpPr>
          <p:cNvPr id="257" name="Line 28"/>
          <p:cNvSpPr/>
          <p:nvPr/>
        </p:nvSpPr>
        <p:spPr>
          <a:xfrm flipH="1">
            <a:off x="3200040" y="4724280"/>
            <a:ext cx="228600" cy="381240"/>
          </a:xfrm>
          <a:prstGeom prst="line">
            <a:avLst/>
          </a:prstGeom>
          <a:ln w="507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highlight>
                <a:srgbClr val="800080"/>
              </a:highlight>
              <a:latin typeface="Verdana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Why MVC?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240" cy="453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</a:rPr>
              <a:t>Provides a logical structure for heavily interactive system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900" spc="-1" strike="noStrike">
                <a:solidFill>
                  <a:srgbClr val="000000"/>
                </a:solidFill>
                <a:latin typeface="Times New Roman"/>
              </a:rPr>
              <a:t>Adheres to good engineering design principles and practices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540" spc="-1" strike="noStrike">
                <a:solidFill>
                  <a:srgbClr val="000000"/>
                </a:solidFill>
                <a:latin typeface="Times New Roman"/>
              </a:rPr>
              <a:t>Information hiding, less coupling, simplicity, etc.</a:t>
            </a:r>
            <a:endParaRPr b="0" lang="en-US" sz="254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540" spc="-1" strike="noStrike">
                <a:solidFill>
                  <a:srgbClr val="000000"/>
                </a:solidFill>
                <a:latin typeface="Times New Roman"/>
              </a:rPr>
              <a:t>Delegated control style</a:t>
            </a:r>
            <a:endParaRPr b="0" lang="en-US" sz="25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Why MVC?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62120" y="1828800"/>
            <a:ext cx="815292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omic Sans MS"/>
                <a:ea typeface="ＭＳ Ｐゴシック"/>
              </a:rPr>
              <a:t>Combining MVC into one class or using global variables will </a:t>
            </a:r>
            <a:r>
              <a:rPr b="0" lang="en-US" sz="2800" spc="-1" strike="noStrike">
                <a:solidFill>
                  <a:srgbClr val="9ac2c0"/>
                </a:solidFill>
                <a:highlight>
                  <a:srgbClr val="ffff00"/>
                </a:highlight>
                <a:latin typeface="Comic Sans MS"/>
                <a:ea typeface="ＭＳ Ｐゴシック"/>
              </a:rPr>
              <a:t>not 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omic Sans MS"/>
                <a:ea typeface="ＭＳ Ｐゴシック"/>
              </a:rPr>
              <a:t>scale. 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model may have more than one view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each different &amp; needing update on model changes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omic Sans MS"/>
                <a:ea typeface="ＭＳ Ｐゴシック"/>
              </a:rPr>
              <a:t>Separation eases maintenance. Why?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easy to add a new view later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may need new model info, but old views still 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can change a view later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e.g., draw shapes in 3-d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51"/>
              </a:spcBef>
              <a:buClr>
                <a:srgbClr val="ffffff"/>
              </a:buClr>
              <a:buFont typeface="Comic Sans MS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mic Sans MS"/>
                <a:ea typeface="ＭＳ Ｐゴシック"/>
              </a:rPr>
              <a:t>recall that the view handles selection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dissolve/>
  </p:transition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nodeType="clickEffect" fill="hold">
                      <p:stCondLst>
                        <p:cond delay="indefinite"/>
                      </p:stCondLst>
                      <p:childTnLst>
                        <p:par>
                          <p:cTn id="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" dur="5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nodeType="clickEffect" fill="hold">
                      <p:stCondLst>
                        <p:cond delay="indefinite"/>
                      </p:stCondLst>
                      <p:childTnLst>
                        <p:par>
                          <p:cTn id="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" dur="500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" dur="500"/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nodeType="clickEffect" fill="hold">
                      <p:stCondLst>
                        <p:cond delay="indefinite"/>
                      </p:stCondLst>
                      <p:childTnLst>
                        <p:par>
                          <p:cTn id="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" dur="500"/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nodeType="clickEffect" fill="hold">
                      <p:stCondLst>
                        <p:cond delay="indefinite"/>
                      </p:stCondLst>
                      <p:childTnLst>
                        <p:par>
                          <p:cTn id="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" dur="500"/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" dur="500"/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nodeType="clickEffect" fill="hold">
                      <p:stCondLst>
                        <p:cond delay="indefinite"/>
                      </p:stCondLst>
                      <p:childTnLst>
                        <p:par>
                          <p:cTn id="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" dur="500"/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" dur="500"/>
                                        <p:tgtEl>
                                          <p:spTgt spid="2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2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What</a:t>
            </a:r>
            <a:r>
              <a:rPr b="0" lang="en-US" sz="3409" spc="-1" strike="noStrike">
                <a:solidFill>
                  <a:srgbClr val="000000"/>
                </a:solidFill>
                <a:latin typeface="Times New Roman"/>
              </a:rPr>
              <a:t>’s the point?</a:t>
            </a:r>
            <a:endParaRPr b="0" lang="en-US" sz="340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240" cy="453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609480" indent="-6094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It’s just plain easier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1009800" indent="-60984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Verdan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(even if it doesn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’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t look it)!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Studies show that most introductory CS college students tend to clump a UI program into one big monolithic main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609480" indent="-609480">
              <a:lnSpc>
                <a:spcPct val="100000"/>
              </a:lnSpc>
              <a:spcBef>
                <a:spcPts val="700"/>
              </a:spcBef>
              <a:buClr>
                <a:srgbClr val="c4c3aa"/>
              </a:buClr>
              <a:buSzPct val="6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Unfamiliarity stems from student tendency to program according to styles presented in textbooks and not being introduced to design principles early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Push vs. Pull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5" name="Group 20"/>
          <p:cNvGrpSpPr/>
          <p:nvPr/>
        </p:nvGrpSpPr>
        <p:grpSpPr>
          <a:xfrm>
            <a:off x="978480" y="3602160"/>
            <a:ext cx="2133000" cy="913680"/>
            <a:chOff x="978480" y="3602160"/>
            <a:chExt cx="2133000" cy="913680"/>
          </a:xfrm>
        </p:grpSpPr>
        <p:sp>
          <p:nvSpPr>
            <p:cNvPr id="266" name="Rectangle 3"/>
            <p:cNvSpPr/>
            <p:nvPr/>
          </p:nvSpPr>
          <p:spPr>
            <a:xfrm>
              <a:off x="978480" y="360216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67" name="TextBox 9"/>
            <p:cNvSpPr/>
            <p:nvPr/>
          </p:nvSpPr>
          <p:spPr>
            <a:xfrm>
              <a:off x="978480" y="382032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Model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8" name="Group 21"/>
          <p:cNvGrpSpPr/>
          <p:nvPr/>
        </p:nvGrpSpPr>
        <p:grpSpPr>
          <a:xfrm>
            <a:off x="5105520" y="2057400"/>
            <a:ext cx="2133000" cy="913680"/>
            <a:chOff x="5105520" y="2057400"/>
            <a:chExt cx="2133000" cy="913680"/>
          </a:xfrm>
        </p:grpSpPr>
        <p:sp>
          <p:nvSpPr>
            <p:cNvPr id="269" name="Rectangle 8"/>
            <p:cNvSpPr/>
            <p:nvPr/>
          </p:nvSpPr>
          <p:spPr>
            <a:xfrm>
              <a:off x="5105520" y="205740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70" name="TextBox 12"/>
            <p:cNvSpPr/>
            <p:nvPr/>
          </p:nvSpPr>
          <p:spPr>
            <a:xfrm>
              <a:off x="5105520" y="227556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View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" name="Group 22"/>
          <p:cNvGrpSpPr/>
          <p:nvPr/>
        </p:nvGrpSpPr>
        <p:grpSpPr>
          <a:xfrm>
            <a:off x="5105520" y="5105520"/>
            <a:ext cx="2133000" cy="913680"/>
            <a:chOff x="5105520" y="5105520"/>
            <a:chExt cx="2133000" cy="913680"/>
          </a:xfrm>
        </p:grpSpPr>
        <p:sp>
          <p:nvSpPr>
            <p:cNvPr id="272" name="Rectangle 10"/>
            <p:cNvSpPr/>
            <p:nvPr/>
          </p:nvSpPr>
          <p:spPr>
            <a:xfrm>
              <a:off x="5105520" y="5105520"/>
              <a:ext cx="2133000" cy="913680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f0a22e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Franklin Gothic Book"/>
                <a:ea typeface="DejaVu Sans"/>
              </a:endParaRPr>
            </a:p>
          </p:txBody>
        </p:sp>
        <p:sp>
          <p:nvSpPr>
            <p:cNvPr id="273" name="TextBox 16"/>
            <p:cNvSpPr/>
            <p:nvPr/>
          </p:nvSpPr>
          <p:spPr>
            <a:xfrm>
              <a:off x="5105520" y="5323320"/>
              <a:ext cx="2133000" cy="5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2800" spc="-1" strike="noStrike">
                  <a:solidFill>
                    <a:schemeClr val="accent1">
                      <a:lumMod val="50000"/>
                    </a:schemeClr>
                  </a:solidFill>
                  <a:latin typeface="Franklin Gothic Book"/>
                  <a:ea typeface="DejaVu Sans"/>
                </a:rPr>
                <a:t>Controller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74" name="Straight Arrow Connector 6"/>
          <p:cNvCxnSpPr>
            <a:endCxn id="270" idx="1"/>
          </p:cNvCxnSpPr>
          <p:nvPr/>
        </p:nvCxnSpPr>
        <p:spPr>
          <a:xfrm flipV="1">
            <a:off x="3111840" y="2533680"/>
            <a:ext cx="1994040" cy="1287000"/>
          </a:xfrm>
          <a:prstGeom prst="straightConnector1">
            <a:avLst/>
          </a:prstGeom>
          <a:ln w="69850">
            <a:solidFill>
              <a:srgbClr val="f0a22e"/>
            </a:solidFill>
            <a:round/>
            <a:tailEnd len="med" type="triangle" w="lg"/>
          </a:ln>
        </p:spPr>
      </p:cxnSp>
      <p:cxnSp>
        <p:nvCxnSpPr>
          <p:cNvPr id="275" name="Straight Arrow Connector 7"/>
          <p:cNvCxnSpPr>
            <a:stCxn id="273" idx="1"/>
          </p:cNvCxnSpPr>
          <p:nvPr/>
        </p:nvCxnSpPr>
        <p:spPr>
          <a:xfrm flipH="1" flipV="1">
            <a:off x="3111840" y="4343400"/>
            <a:ext cx="1994040" cy="1238400"/>
          </a:xfrm>
          <a:prstGeom prst="straightConnector1">
            <a:avLst/>
          </a:prstGeom>
          <a:ln w="69850">
            <a:solidFill>
              <a:srgbClr val="f0a22e"/>
            </a:solidFill>
            <a:round/>
            <a:headEnd len="med" type="triangle" w="lg"/>
            <a:tailEnd len="med" type="triangle" w="lg"/>
          </a:ln>
        </p:spPr>
      </p:cxnSp>
      <p:cxnSp>
        <p:nvCxnSpPr>
          <p:cNvPr id="276" name="Straight Arrow Connector 8"/>
          <p:cNvCxnSpPr>
            <a:stCxn id="272" idx="0"/>
            <a:endCxn id="269" idx="2"/>
          </p:cNvCxnSpPr>
          <p:nvPr/>
        </p:nvCxnSpPr>
        <p:spPr>
          <a:xfrm flipV="1">
            <a:off x="6171840" y="2971080"/>
            <a:ext cx="360" cy="2134800"/>
          </a:xfrm>
          <a:prstGeom prst="straightConnector1">
            <a:avLst/>
          </a:prstGeom>
          <a:ln w="69850">
            <a:solidFill>
              <a:srgbClr val="f0a22e"/>
            </a:solidFill>
            <a:round/>
            <a:headEnd len="med" type="triangle" w="lg"/>
            <a:tailEnd len="med" type="triangle" w="lg"/>
          </a:ln>
        </p:spPr>
      </p:cxnSp>
      <p:sp>
        <p:nvSpPr>
          <p:cNvPr id="277" name="Oval 2"/>
          <p:cNvSpPr/>
          <p:nvPr/>
        </p:nvSpPr>
        <p:spPr>
          <a:xfrm rot="3357000">
            <a:off x="3323880" y="1913040"/>
            <a:ext cx="1550160" cy="2579400"/>
          </a:xfrm>
          <a:prstGeom prst="ellipse">
            <a:avLst/>
          </a:prstGeom>
          <a:noFill/>
          <a:ln w="73025">
            <a:solidFill>
              <a:srgbClr val="a5644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Franklin Gothic Book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" dur="indefinite" restart="never" nodeType="tmRoot">
          <p:childTnLst>
            <p:seq>
              <p:cTn id="59" dur="indefinite" nodeType="mainSeq">
                <p:childTnLst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Push vs. Pull Architecture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304920" y="1554120"/>
            <a:ext cx="86860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Push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As soon as the model changes, it notifies all of the views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Pull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When a view needs to be updated, it asks the model for new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" dur="indefinite" restart="never" nodeType="tmRoot">
          <p:childTnLst>
            <p:seq>
              <p:cTn id="65" dur="indefinite" nodeType="mainSeq"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Push vs. Pull Architecture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304920" y="1554120"/>
            <a:ext cx="86860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0" lang="en-US" sz="32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Advantages for push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Guaranteed to have latest data in case something goes wrong later 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2"/>
                </a:solidFill>
                <a:highlight>
                  <a:srgbClr val="ffff00"/>
                </a:highlight>
                <a:latin typeface="Franklin Gothic Book"/>
              </a:rPr>
              <a:t>Advantages for pull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Avoid unnecessary updates, not nearly as intensive on the 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MVC Example – Traffic Signal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Picture 5" descr="http://upload.wikimedia.org/wikipedia/commons/7/75/Makati_intersection.jpg"/>
          <p:cNvPicPr/>
          <p:nvPr/>
        </p:nvPicPr>
        <p:blipFill>
          <a:blip r:embed="rId1"/>
          <a:stretch/>
        </p:blipFill>
        <p:spPr>
          <a:xfrm>
            <a:off x="1295280" y="1676520"/>
            <a:ext cx="6400080" cy="479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Traffic Signal – MVC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5" name="Content Placeholder 9"/>
          <p:cNvGraphicFramePr/>
          <p:nvPr/>
        </p:nvGraphicFramePr>
        <p:xfrm>
          <a:off x="304920" y="1554120"/>
          <a:ext cx="8686080" cy="3445200"/>
        </p:xfrm>
        <a:graphic>
          <a:graphicData uri="http://schemas.openxmlformats.org/drawingml/2006/table">
            <a:tbl>
              <a:tblPr/>
              <a:tblGrid>
                <a:gridCol w="4021560"/>
                <a:gridCol w="1528200"/>
                <a:gridCol w="1608480"/>
                <a:gridCol w="1528200"/>
              </a:tblGrid>
              <a:tr h="370800">
                <a:tc>
                  <a:txBody>
                    <a:bodyPr lIns="96480" rIns="964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Franklin Gothic Book"/>
                        </a:rPr>
                        <a:t>Component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Franklin Gothic Book"/>
                        </a:rPr>
                        <a:t>Model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Franklin Gothic Book"/>
                        </a:rPr>
                        <a:t>View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Franklin Gothic Book"/>
                        </a:rPr>
                        <a:t>Controller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Detect cars waiting to enter intersection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Traffic lights to direct car traffic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Regulate valid traffic movements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Manual override for particular lights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Detect pedestrians waiting to cross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Pedestrian signals to direct pedestrians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lIns="96480" rIns="964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Franklin Gothic Book"/>
                        </a:rPr>
                        <a:t>External timer which triggers changes at set interval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96480" rIns="96480" anchor="t">
                      <a:noAutofit/>
                    </a:bodyPr>
                    <a:p>
                      <a:endParaRPr b="1" lang="en-US" sz="1800" spc="-1" strike="noStrike">
                        <a:solidFill>
                          <a:schemeClr val="accent2"/>
                        </a:solidFill>
                        <a:latin typeface="Franklin Gothic Book"/>
                      </a:endParaRPr>
                    </a:p>
                  </a:txBody>
                  <a:tcPr anchor="t" marL="96480" marR="964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6" name="Rectangle 16"/>
          <p:cNvSpPr/>
          <p:nvPr/>
        </p:nvSpPr>
        <p:spPr>
          <a:xfrm>
            <a:off x="8037000" y="205740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ectangle 17"/>
          <p:cNvSpPr/>
          <p:nvPr/>
        </p:nvSpPr>
        <p:spPr>
          <a:xfrm>
            <a:off x="6343560" y="255708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 18"/>
          <p:cNvSpPr/>
          <p:nvPr/>
        </p:nvSpPr>
        <p:spPr>
          <a:xfrm>
            <a:off x="4819680" y="292644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19"/>
          <p:cNvSpPr/>
          <p:nvPr/>
        </p:nvSpPr>
        <p:spPr>
          <a:xfrm>
            <a:off x="8037000" y="329580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 20"/>
          <p:cNvSpPr/>
          <p:nvPr/>
        </p:nvSpPr>
        <p:spPr>
          <a:xfrm>
            <a:off x="8037000" y="366480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 21"/>
          <p:cNvSpPr/>
          <p:nvPr/>
        </p:nvSpPr>
        <p:spPr>
          <a:xfrm>
            <a:off x="6343560" y="419148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22"/>
          <p:cNvSpPr/>
          <p:nvPr/>
        </p:nvSpPr>
        <p:spPr>
          <a:xfrm>
            <a:off x="8037000" y="4800600"/>
            <a:ext cx="29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2"/>
                </a:solidFill>
                <a:latin typeface="Franklin Gothic Book"/>
                <a:ea typeface="DejaVu Sans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" dur="indefinite" restart="never" nodeType="tmRoot">
          <p:childTnLst>
            <p:seq>
              <p:cTn id="77" dur="indefinite" nodeType="mainSeq">
                <p:childTnLst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Traffic Signal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0520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5000" lnSpcReduction="10000"/>
          </a:bodyPr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1" lang="en-US" sz="2600" spc="-1" strike="noStrike">
                <a:solidFill>
                  <a:schemeClr val="dk2"/>
                </a:solidFill>
                <a:latin typeface="Franklin Gothic Book"/>
              </a:rPr>
              <a:t>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Stores current state of traffic flow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20"/>
              </a:spcBef>
              <a:buClr>
                <a:srgbClr val="f0a22e"/>
              </a:buClr>
              <a:buSzPct val="70000"/>
              <a:buFont typeface="Wingdings 2" charset="2"/>
              <a:buChar char="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Knows current direction of traffic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20"/>
              </a:spcBef>
              <a:buClr>
                <a:srgbClr val="f0a22e"/>
              </a:buClr>
              <a:buSzPct val="70000"/>
              <a:buFont typeface="Wingdings 2" charset="2"/>
              <a:buChar char=""/>
            </a:pPr>
            <a:r>
              <a:rPr b="0" lang="en-US" sz="1600" spc="-1" strike="noStrike">
                <a:solidFill>
                  <a:schemeClr val="dk2"/>
                </a:solidFill>
                <a:latin typeface="Franklin Gothic Book"/>
              </a:rPr>
              <a:t>Capable of skipping a light cycle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Stores whether there are cars and/or pedestrians waiting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Franklin Gothic Book"/>
              </a:rPr>
              <a:t>View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Conveys information to cars and pedestrians in a specific direction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Franklin Gothic Book"/>
              </a:rPr>
              <a:t>Controller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Aware of model’s current direction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Triggers methods to notify model that state should change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304920" y="457200"/>
            <a:ext cx="8686080" cy="83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 cap="all">
                <a:solidFill>
                  <a:schemeClr val="dk2"/>
                </a:solidFill>
                <a:latin typeface="Franklin Gothic Medium"/>
              </a:rPr>
              <a:t>Traffic Signal Code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0520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111"/>
          </a:bodyPr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f0a22e"/>
              </a:buClr>
              <a:buSzPct val="70000"/>
              <a:buFont typeface="Wingdings 2" charset="2"/>
              <a:buChar char=""/>
            </a:pPr>
            <a:r>
              <a:rPr b="1" lang="en-US" sz="2600" spc="-1" strike="noStrike">
                <a:solidFill>
                  <a:schemeClr val="dk2"/>
                </a:solidFill>
                <a:latin typeface="Franklin Gothic Book"/>
              </a:rPr>
              <a:t>Model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TrafficModel – keeps track of which lights should be on and off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Franklin Gothic Book"/>
              </a:rPr>
              <a:t>View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CarLight – shows relevant state of TrafficModel to cars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PedestrianLight – shows relevant state of TrafficModel to pedestrians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f0a22e"/>
              </a:buClr>
              <a:buSzPct val="70000"/>
              <a:buFont typeface="Wingdings 2" charset="2"/>
              <a:buChar char=""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Franklin Gothic Book"/>
              </a:rPr>
              <a:t>Controller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PedestrianButton – notifies TrafficModel that there is a pedestrian waiting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CarDetector – notifies TrafficModel that there is a car waiting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LightSwitch – enables or disables the light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f0a22e"/>
              </a:buClr>
              <a:buSzPct val="70000"/>
              <a:buFont typeface="Wingdings 2" charset="2"/>
              <a:buChar char="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2"/>
                </a:solidFill>
                <a:latin typeface="Franklin Gothic Book"/>
              </a:rPr>
              <a:t>Timer – regulates time in some way, possibly to skip cycles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</TotalTime>
  <Application>LibreOffice/7.6.0.3$Windows_X86_64 LibreOffice_project/69edd8b8ebc41d00b4de3915dc82f8f0fc3b6265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2007-04-18T18:16:12Z</dcterms:created>
  <dc:creator>Cofc</dc:creator>
  <dc:description/>
  <dc:language>en-US</dc:language>
  <cp:lastModifiedBy/>
  <dcterms:modified xsi:type="dcterms:W3CDTF">2023-10-02T08:00:24Z</dcterms:modified>
  <cp:revision>36</cp:revision>
  <dc:subject/>
  <dc:title>Model-View-Controller Architecture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