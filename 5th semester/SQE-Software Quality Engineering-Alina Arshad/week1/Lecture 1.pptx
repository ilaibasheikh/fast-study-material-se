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62" r:id="rId3"/>
    <p:sldId id="263" r:id="rId4"/>
    <p:sldId id="261" r:id="rId5"/>
    <p:sldId id="260" r:id="rId6"/>
    <p:sldId id="259" r:id="rId7"/>
    <p:sldId id="266" r:id="rId8"/>
    <p:sldId id="267" r:id="rId9"/>
    <p:sldId id="268" r:id="rId10"/>
    <p:sldId id="269" r:id="rId11"/>
    <p:sldId id="270" r:id="rId12"/>
    <p:sldId id="265" r:id="rId13"/>
    <p:sldId id="355" r:id="rId14"/>
    <p:sldId id="280" r:id="rId15"/>
    <p:sldId id="281" r:id="rId16"/>
    <p:sldId id="282" r:id="rId17"/>
    <p:sldId id="283" r:id="rId18"/>
    <p:sldId id="271" r:id="rId19"/>
    <p:sldId id="272" r:id="rId20"/>
    <p:sldId id="273" r:id="rId21"/>
    <p:sldId id="324" r:id="rId22"/>
    <p:sldId id="274" r:id="rId23"/>
    <p:sldId id="279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39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1B90151-A221-46B3-A769-373FDD9A38FB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BEA5B-0F90-491B-8570-2B39109890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613519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013760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732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41498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414131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C4BEA5B-0F90-491B-8570-2B3910989086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04791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515440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3694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07025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86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7107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11842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770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6847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84185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1544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26627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69B51B5-5729-4227-8149-0FFB0D6660E2}" type="datetimeFigureOut">
              <a:rPr lang="en-US" smtClean="0"/>
              <a:t>8/23/2024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147AE719-0370-4FEF-9E76-542079ADE76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0009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74B019-E1ED-7643-5A50-74CEA7F41E8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0535" y="116380"/>
            <a:ext cx="11588435" cy="3065732"/>
          </a:xfrm>
        </p:spPr>
        <p:txBody>
          <a:bodyPr/>
          <a:lstStyle/>
          <a:p>
            <a:pPr algn="ctr"/>
            <a:r>
              <a:rPr lang="en-US" b="1" dirty="0">
                <a:solidFill>
                  <a:schemeClr val="tx1"/>
                </a:solidFill>
              </a:rPr>
              <a:t>SE-3002</a:t>
            </a:r>
            <a:br>
              <a:rPr lang="en-US" b="1" dirty="0">
                <a:solidFill>
                  <a:schemeClr val="tx1"/>
                </a:solidFill>
              </a:rPr>
            </a:br>
            <a:r>
              <a:rPr lang="en-US" sz="7200" b="1" dirty="0">
                <a:solidFill>
                  <a:schemeClr val="tx1"/>
                </a:solidFill>
              </a:rPr>
              <a:t>Software Quality Engineering</a:t>
            </a:r>
            <a:endParaRPr lang="en-US" sz="72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4E9F82C-BBA7-3495-1097-BEDB54FFFDF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66800" y="3675889"/>
            <a:ext cx="10058400" cy="1922731"/>
          </a:xfrm>
        </p:spPr>
        <p:txBody>
          <a:bodyPr>
            <a:normAutofit/>
          </a:bodyPr>
          <a:lstStyle/>
          <a:p>
            <a:pPr algn="ctr"/>
            <a:r>
              <a:rPr lang="en-US" sz="4400" b="1" dirty="0">
                <a:solidFill>
                  <a:schemeClr val="tx1"/>
                </a:solidFill>
                <a:cs typeface="Times New Roman" panose="02020603050405020304" pitchFamily="18" charset="0"/>
              </a:rPr>
              <a:t>Lecture 1-Chapter 1</a:t>
            </a:r>
          </a:p>
          <a:p>
            <a:pPr algn="ctr"/>
            <a:r>
              <a:rPr lang="en-US" sz="4400" dirty="0">
                <a:solidFill>
                  <a:schemeClr val="tx1"/>
                </a:solidFill>
                <a:cs typeface="Times New Roman" panose="02020603050405020304" pitchFamily="18" charset="0"/>
              </a:rPr>
              <a:t>Overview and Basics</a:t>
            </a:r>
          </a:p>
          <a:p>
            <a:endParaRPr lang="en-US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DE143E-53E3-798D-07E7-8D85DD770A95}"/>
              </a:ext>
            </a:extLst>
          </p:cNvPr>
          <p:cNvSpPr txBox="1"/>
          <p:nvPr/>
        </p:nvSpPr>
        <p:spPr>
          <a:xfrm>
            <a:off x="8005526" y="5275523"/>
            <a:ext cx="4397722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dirty="0">
                <a:solidFill>
                  <a:schemeClr val="tx1"/>
                </a:solidFill>
                <a:cs typeface="Times New Roman" panose="02020603050405020304" pitchFamily="18" charset="0"/>
              </a:rPr>
              <a:t>Alina Arshad</a:t>
            </a:r>
          </a:p>
          <a:p>
            <a:pPr algn="ctr"/>
            <a:r>
              <a:rPr lang="en-US" sz="2800" dirty="0">
                <a:cs typeface="Times New Roman" panose="02020603050405020304" pitchFamily="18" charset="0"/>
              </a:rPr>
              <a:t>alina.arshad@nu.edu.pk</a:t>
            </a:r>
            <a:endParaRPr lang="en-US" sz="2800" dirty="0">
              <a:solidFill>
                <a:schemeClr val="tx1"/>
              </a:solidFill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2361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9FA3A-0A94-C207-0543-C79E542F4F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Tentative Mark Distribution and Grading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47B9F-2D34-7758-C105-CCC586B9FC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621983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tx1"/>
                </a:solidFill>
              </a:rPr>
              <a:t>     </a:t>
            </a:r>
            <a:r>
              <a:rPr lang="en-US" sz="2400" dirty="0">
                <a:solidFill>
                  <a:schemeClr val="tx1"/>
                </a:solidFill>
              </a:rPr>
              <a:t>Assignments/Class Participation: 6 %</a:t>
            </a:r>
          </a:p>
          <a:p>
            <a:pPr marL="621983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  Mid Exams: 25 %</a:t>
            </a:r>
          </a:p>
          <a:p>
            <a:pPr marL="621983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  Final: 50%</a:t>
            </a:r>
          </a:p>
          <a:p>
            <a:pPr marL="621983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  Presentations + Projects: 10%</a:t>
            </a:r>
          </a:p>
          <a:p>
            <a:pPr marL="621983" lvl="1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  Quiz’s: 9%</a:t>
            </a:r>
          </a:p>
        </p:txBody>
      </p:sp>
    </p:spTree>
    <p:extLst>
      <p:ext uri="{BB962C8B-B14F-4D97-AF65-F5344CB8AC3E}">
        <p14:creationId xmlns:p14="http://schemas.microsoft.com/office/powerpoint/2010/main" val="30967149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48D189-FA16-524A-36D2-A763258FF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spc="115" dirty="0">
                <a:solidFill>
                  <a:schemeClr val="tx1"/>
                </a:solidFill>
                <a:cs typeface="Arial" pitchFamily="34" charset="0"/>
              </a:rPr>
              <a:t>Course Ethics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3AEF3-5035-3B18-8494-6F43B659AD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00735"/>
            <a:ext cx="10058400" cy="3741530"/>
          </a:xfrm>
        </p:spPr>
        <p:txBody>
          <a:bodyPr>
            <a:normAutofit lnSpcReduction="10000"/>
          </a:bodyPr>
          <a:lstStyle/>
          <a:p>
            <a:pPr marL="0" indent="0">
              <a:lnSpc>
                <a:spcPct val="80000"/>
              </a:lnSpc>
              <a:buNone/>
            </a:pPr>
            <a:endParaRPr lang="en-US" sz="3000" spc="35" dirty="0">
              <a:solidFill>
                <a:schemeClr val="tx1"/>
              </a:solidFill>
              <a:cs typeface="Arial" pitchFamily="34" charset="0"/>
            </a:endParaRPr>
          </a:p>
          <a:p>
            <a:pPr marL="0" indent="0">
              <a:lnSpc>
                <a:spcPct val="80000"/>
              </a:lnSpc>
              <a:buNone/>
            </a:pPr>
            <a:r>
              <a:rPr lang="en-US" sz="3000" spc="35" dirty="0">
                <a:solidFill>
                  <a:schemeClr val="tx1"/>
                </a:solidFill>
                <a:cs typeface="Arial" pitchFamily="34" charset="0"/>
              </a:rPr>
              <a:t>Projects/Assignments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Deadlines are always final</a:t>
            </a:r>
          </a:p>
          <a:p>
            <a:pPr lvl="1">
              <a:lnSpc>
                <a:spcPct val="8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No credit for late submissions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Project Proposal Submission : 3rd  Week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Project Presentation : Last week</a:t>
            </a:r>
          </a:p>
          <a:p>
            <a:pPr marL="0" indent="0">
              <a:buNone/>
            </a:pPr>
            <a:r>
              <a:rPr lang="en-US" sz="3000" spc="35" dirty="0">
                <a:solidFill>
                  <a:schemeClr val="tx1"/>
                </a:solidFill>
                <a:cs typeface="Arial" pitchFamily="34" charset="0"/>
              </a:rPr>
              <a:t>Quizzes</a:t>
            </a:r>
            <a:endParaRPr lang="en-US" sz="3200" spc="35" dirty="0">
              <a:solidFill>
                <a:schemeClr val="tx1"/>
              </a:solidFill>
              <a:cs typeface="Arial" pitchFamily="34" charset="0"/>
            </a:endParaRP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Announced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tx1"/>
                </a:solidFill>
                <a:cs typeface="Arial" pitchFamily="34" charset="0"/>
              </a:rPr>
              <a:t>Unannounced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9910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0094-3DF6-69D2-6467-40A3729B3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Pre-</a:t>
            </a:r>
            <a:r>
              <a:rPr lang="en-US" dirty="0">
                <a:solidFill>
                  <a:schemeClr val="tx1"/>
                </a:solidFill>
              </a:rPr>
              <a:t>r</a:t>
            </a:r>
            <a:r>
              <a:rPr lang="en-US" sz="4800" dirty="0">
                <a:solidFill>
                  <a:schemeClr val="tx1"/>
                </a:solidFill>
              </a:rPr>
              <a:t>equisites/Knowledge assumed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3CD5E1-0F66-1961-4425-D8688C3CAE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65014"/>
            <a:ext cx="10058400" cy="4004079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Software Engineering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Software Analysis and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Programming language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Data structure concepts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Database system concepts</a:t>
            </a:r>
          </a:p>
        </p:txBody>
      </p:sp>
    </p:spTree>
    <p:extLst>
      <p:ext uri="{BB962C8B-B14F-4D97-AF65-F5344CB8AC3E}">
        <p14:creationId xmlns:p14="http://schemas.microsoft.com/office/powerpoint/2010/main" val="14447776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00B4D-AF9D-1B1A-77B4-CBCFCC1C97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331" y="286603"/>
            <a:ext cx="10422349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Course Outline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80D29C-D87C-7EEC-858A-C479E3BB3E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3660" y="1918162"/>
            <a:ext cx="10862347" cy="4023360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Basic concept of software quality and Importance of software quality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Software Quality Standards e.g. ISO 9126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Software Quality attributes and 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Software Quality Assurance  (SQA) techniques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Software Quality Control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Static Testing Techniques types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Dynamic Testing levels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Software Quality Measurement Model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720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1419-9E6B-FDB8-9A85-294C11D0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9715" y="254474"/>
            <a:ext cx="10552569" cy="1450757"/>
          </a:xfrm>
        </p:spPr>
        <p:txBody>
          <a:bodyPr/>
          <a:lstStyle/>
          <a:p>
            <a:r>
              <a:rPr lang="en-US" sz="4800" dirty="0">
                <a:solidFill>
                  <a:schemeClr val="tx1"/>
                </a:solidFill>
              </a:rPr>
              <a:t>Major Topics of the course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5B039-FC3E-419E-6577-3EB9AB348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21" y="1705231"/>
            <a:ext cx="11175748" cy="4094614"/>
          </a:xfrm>
        </p:spPr>
        <p:txBody>
          <a:bodyPr>
            <a:noAutofit/>
          </a:bodyPr>
          <a:lstStyle/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   Software Quality, Software Quality Attributes, Quality Engineering,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   Testing Concepts, Issues, Software testing lifecycle. Testing Scopes, Testing Approaches,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   Requirement of software test planning, Testing documentation, Software testing techniques, Testing    philosophies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  Testing strategies, Software inspections, Software reviews, Inspection checks and metrics,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    From functional to system aspects of testing, System testing, Scenarios development, Use-cases for  testing, Specification-based testing, Open issues on software testing,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800" dirty="0">
                <a:solidFill>
                  <a:schemeClr val="tx1"/>
                </a:solidFill>
              </a:rPr>
              <a:t>    Quality Models, Models for quality assessment, Product quality metrics, Quality Measurements, Quality improvement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44034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FBD3E7-F1E8-4630-F0FF-7CCCE4BBCA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How this course will run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45B385-4191-3B0B-A3D4-943C863D611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solidFill>
                  <a:schemeClr val="tx1"/>
                </a:solidFill>
              </a:rPr>
              <a:t>The course is divided into four parts</a:t>
            </a:r>
          </a:p>
          <a:p>
            <a:endParaRPr lang="en-US" sz="2400" dirty="0">
              <a:solidFill>
                <a:schemeClr val="tx1"/>
              </a:solidFill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Part I (Chapters 1-5). Overview and Basics: 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Part II (Chapters 6-12). Software Testing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dirty="0">
                <a:solidFill>
                  <a:schemeClr val="tx1"/>
                </a:solidFill>
              </a:rPr>
              <a:t>Part III (Chapters 13-17). Other Quality Assurance Techniques</a:t>
            </a:r>
          </a:p>
          <a:p>
            <a:pPr marL="457200" indent="-457200">
              <a:buFont typeface="+mj-lt"/>
              <a:buAutoNum type="arabicPeriod"/>
            </a:pPr>
            <a:r>
              <a:rPr lang="fr-FR" sz="2400" dirty="0">
                <a:solidFill>
                  <a:schemeClr val="tx1"/>
                </a:solidFill>
              </a:rPr>
              <a:t>Part IV (</a:t>
            </a:r>
            <a:r>
              <a:rPr lang="fr-FR" sz="2400" dirty="0" err="1">
                <a:solidFill>
                  <a:schemeClr val="tx1"/>
                </a:solidFill>
              </a:rPr>
              <a:t>Chapters</a:t>
            </a:r>
            <a:r>
              <a:rPr lang="fr-FR" sz="2400" dirty="0">
                <a:solidFill>
                  <a:schemeClr val="tx1"/>
                </a:solidFill>
              </a:rPr>
              <a:t> 18-22). Quantifiable </a:t>
            </a:r>
            <a:r>
              <a:rPr lang="fr-FR" sz="2400" dirty="0" err="1">
                <a:solidFill>
                  <a:schemeClr val="tx1"/>
                </a:solidFill>
              </a:rPr>
              <a:t>Quality</a:t>
            </a:r>
            <a:r>
              <a:rPr lang="fr-FR" sz="2400" dirty="0">
                <a:solidFill>
                  <a:schemeClr val="tx1"/>
                </a:solidFill>
              </a:rPr>
              <a:t> </a:t>
            </a:r>
            <a:r>
              <a:rPr lang="fr-FR" sz="2400" dirty="0" err="1">
                <a:solidFill>
                  <a:schemeClr val="tx1"/>
                </a:solidFill>
              </a:rPr>
              <a:t>Improvement</a:t>
            </a:r>
            <a:endParaRPr lang="en-US" sz="2400" dirty="0">
              <a:solidFill>
                <a:schemeClr val="tx1"/>
              </a:solidFill>
            </a:endParaRP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9301565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AEC8-BB8E-3338-6A60-1ADA1BF8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E4D40-68E4-22AB-927F-CC92F885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algn="ctr"/>
            <a:endParaRPr lang="en-US" sz="3200" dirty="0">
              <a:solidFill>
                <a:schemeClr val="tx1"/>
              </a:solidFill>
            </a:endParaRPr>
          </a:p>
          <a:p>
            <a:pPr marL="0" indent="0" algn="ctr">
              <a:buNone/>
            </a:pPr>
            <a:r>
              <a:rPr lang="en-US" sz="4400" dirty="0">
                <a:solidFill>
                  <a:schemeClr val="tx1"/>
                </a:solidFill>
              </a:rPr>
              <a:t>PART I</a:t>
            </a:r>
          </a:p>
          <a:p>
            <a:pPr algn="ctr"/>
            <a:r>
              <a:rPr lang="en-US" sz="4400" dirty="0">
                <a:solidFill>
                  <a:schemeClr val="tx1"/>
                </a:solidFill>
              </a:rPr>
              <a:t>Overview and Basics</a:t>
            </a: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What is Quality?, Quality Assurance, QA in Context, Quality Engineering and Quality Challenge</a:t>
            </a:r>
          </a:p>
          <a:p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83454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AEC8-BB8E-3338-6A60-1ADA1BF8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E4D40-68E4-22AB-927F-CC92F885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4400" dirty="0"/>
          </a:p>
          <a:p>
            <a:pPr marL="0" indent="0" algn="ctr">
              <a:buNone/>
            </a:pPr>
            <a:r>
              <a:rPr lang="en-US" sz="4400" dirty="0">
                <a:solidFill>
                  <a:schemeClr val="tx1"/>
                </a:solidFill>
              </a:rPr>
              <a:t>PART II</a:t>
            </a:r>
          </a:p>
          <a:p>
            <a:pPr algn="ctr"/>
            <a:r>
              <a:rPr lang="en-US" sz="4400" dirty="0">
                <a:solidFill>
                  <a:schemeClr val="tx1"/>
                </a:solidFill>
              </a:rPr>
              <a:t>Software Testing: </a:t>
            </a: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Models &amp; techniques, management, automation, and integration</a:t>
            </a:r>
            <a:endParaRPr lang="en-US" sz="4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525797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AEC8-BB8E-3338-6A60-1ADA1BF8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E4D40-68E4-22AB-927F-CC92F885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4400" dirty="0"/>
          </a:p>
          <a:p>
            <a:pPr algn="ctr"/>
            <a:r>
              <a:rPr lang="en-US" sz="4400" dirty="0">
                <a:solidFill>
                  <a:schemeClr val="tx1"/>
                </a:solidFill>
              </a:rPr>
              <a:t>PART III</a:t>
            </a:r>
          </a:p>
          <a:p>
            <a:pPr algn="ctr"/>
            <a:r>
              <a:rPr lang="en-US" sz="4400" dirty="0">
                <a:solidFill>
                  <a:schemeClr val="tx1"/>
                </a:solidFill>
              </a:rPr>
              <a:t>Other Quality Assurance Techniques</a:t>
            </a:r>
          </a:p>
          <a:p>
            <a:r>
              <a:rPr lang="en-US" sz="3200" dirty="0">
                <a:solidFill>
                  <a:schemeClr val="tx1"/>
                </a:solidFill>
              </a:rPr>
              <a:t>Defect prevention, process improvement, inspection, formal verification, fault tolerance, accident prevention, and safety assurance.</a:t>
            </a:r>
          </a:p>
          <a:p>
            <a:pPr algn="ctr"/>
            <a:endParaRPr lang="en-US" sz="6000" dirty="0"/>
          </a:p>
        </p:txBody>
      </p:sp>
    </p:spTree>
    <p:extLst>
      <p:ext uri="{BB962C8B-B14F-4D97-AF65-F5344CB8AC3E}">
        <p14:creationId xmlns:p14="http://schemas.microsoft.com/office/powerpoint/2010/main" val="40158331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A6AEC8-BB8E-3338-6A60-1ADA1BF8E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Software quality engineering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52E4D40-68E4-22AB-927F-CC92F885E4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/>
            <a:endParaRPr lang="en-US" sz="4400" dirty="0">
              <a:solidFill>
                <a:schemeClr val="tx1"/>
              </a:solidFill>
            </a:endParaRPr>
          </a:p>
          <a:p>
            <a:pPr algn="ctr"/>
            <a:r>
              <a:rPr lang="en-US" sz="4400" dirty="0">
                <a:solidFill>
                  <a:schemeClr val="tx1"/>
                </a:solidFill>
              </a:rPr>
              <a:t>PART IV</a:t>
            </a:r>
          </a:p>
          <a:p>
            <a:pPr algn="ctr"/>
            <a:r>
              <a:rPr lang="fr-FR" sz="4400" dirty="0">
                <a:solidFill>
                  <a:schemeClr val="tx1"/>
                </a:solidFill>
              </a:rPr>
              <a:t>Quantifiable </a:t>
            </a:r>
            <a:r>
              <a:rPr lang="fr-FR" sz="4400" dirty="0" err="1">
                <a:solidFill>
                  <a:schemeClr val="tx1"/>
                </a:solidFill>
              </a:rPr>
              <a:t>Quality</a:t>
            </a:r>
            <a:r>
              <a:rPr lang="fr-FR" sz="4400" dirty="0">
                <a:solidFill>
                  <a:schemeClr val="tx1"/>
                </a:solidFill>
              </a:rPr>
              <a:t> </a:t>
            </a:r>
            <a:r>
              <a:rPr lang="fr-FR" sz="4400" dirty="0" err="1">
                <a:solidFill>
                  <a:schemeClr val="tx1"/>
                </a:solidFill>
              </a:rPr>
              <a:t>Improvement</a:t>
            </a:r>
            <a:endParaRPr lang="en-US" sz="4400" dirty="0">
              <a:solidFill>
                <a:schemeClr val="tx1"/>
              </a:solidFill>
            </a:endParaRPr>
          </a:p>
          <a:p>
            <a:pPr algn="ctr"/>
            <a:r>
              <a:rPr lang="en-US" sz="3200" dirty="0">
                <a:solidFill>
                  <a:schemeClr val="tx1"/>
                </a:solidFill>
              </a:rPr>
              <a:t>Analysis and feedback, measurements and models, defect analysis, risk identification, and software reliability engineering.</a:t>
            </a:r>
          </a:p>
        </p:txBody>
      </p:sp>
    </p:spTree>
    <p:extLst>
      <p:ext uri="{BB962C8B-B14F-4D97-AF65-F5344CB8AC3E}">
        <p14:creationId xmlns:p14="http://schemas.microsoft.com/office/powerpoint/2010/main" val="11744466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F371A-33DF-F529-7B41-ABC2A64F8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4800" dirty="0"/>
              <a:t>Course Material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DFFA81-02CF-2B8D-515A-5E1053A4B6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algn="just"/>
            <a:r>
              <a:rPr lang="en-US" sz="3200" dirty="0">
                <a:solidFill>
                  <a:schemeClr val="tx1"/>
                </a:solidFill>
              </a:rPr>
              <a:t>You will have </a:t>
            </a:r>
            <a:r>
              <a:rPr lang="en-US" sz="3200" dirty="0">
                <a:solidFill>
                  <a:srgbClr val="FF0000"/>
                </a:solidFill>
              </a:rPr>
              <a:t>Presentations</a:t>
            </a:r>
            <a:r>
              <a:rPr lang="en-US" sz="3200" dirty="0"/>
              <a:t> </a:t>
            </a:r>
            <a:r>
              <a:rPr lang="en-US" sz="3200" dirty="0">
                <a:solidFill>
                  <a:schemeClr val="tx1"/>
                </a:solidFill>
              </a:rPr>
              <a:t>of each topic and </a:t>
            </a:r>
            <a:r>
              <a:rPr lang="en-US" sz="3200" b="1" i="1" dirty="0">
                <a:solidFill>
                  <a:srgbClr val="0070C0"/>
                </a:solidFill>
              </a:rPr>
              <a:t>reference </a:t>
            </a:r>
            <a:r>
              <a:rPr lang="en-US" sz="3200" b="1" i="1" dirty="0">
                <a:solidFill>
                  <a:schemeClr val="tx1"/>
                </a:solidFill>
              </a:rPr>
              <a:t>books </a:t>
            </a:r>
            <a:r>
              <a:rPr lang="en-US" sz="3200" dirty="0">
                <a:solidFill>
                  <a:schemeClr val="tx1"/>
                </a:solidFill>
              </a:rPr>
              <a:t>in PDF format will be available </a:t>
            </a:r>
            <a:r>
              <a:rPr lang="en-US" sz="3200" dirty="0"/>
              <a:t>on</a:t>
            </a:r>
            <a:r>
              <a:rPr lang="en-US" sz="3200" dirty="0">
                <a:solidFill>
                  <a:schemeClr val="tx1"/>
                </a:solidFill>
              </a:rPr>
              <a:t> GCR. </a:t>
            </a:r>
          </a:p>
          <a:p>
            <a:pPr algn="just"/>
            <a:endParaRPr lang="en-US" dirty="0">
              <a:solidFill>
                <a:schemeClr val="tx1"/>
              </a:solidFill>
            </a:endParaRPr>
          </a:p>
          <a:p>
            <a:pPr lvl="1">
              <a:buNone/>
            </a:pPr>
            <a:r>
              <a:rPr lang="en-US" sz="3200" b="1" dirty="0">
                <a:solidFill>
                  <a:schemeClr val="accent1"/>
                </a:solidFill>
              </a:rPr>
              <a:t>Text Books</a:t>
            </a:r>
          </a:p>
          <a:p>
            <a:pPr marL="838350" lvl="1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Software Quality Engineering Testing, Quality Assurance, and Quantifiable Improvement, Jeff Tian, Wiley,  2005</a:t>
            </a:r>
          </a:p>
          <a:p>
            <a:pPr marL="838350" lvl="1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Software Testing, Principles and Practices, 2nd edition, Naresh Chauhan, Oxford publisher, 2016</a:t>
            </a:r>
          </a:p>
          <a:p>
            <a:pPr lvl="1">
              <a:buNone/>
            </a:pPr>
            <a:endParaRPr lang="en-US" sz="3200" b="1" dirty="0">
              <a:solidFill>
                <a:srgbClr val="FFFF00"/>
              </a:solidFill>
            </a:endParaRPr>
          </a:p>
          <a:p>
            <a:pPr lvl="1">
              <a:buNone/>
            </a:pPr>
            <a:r>
              <a:rPr lang="en-US" sz="3200" b="1" dirty="0">
                <a:solidFill>
                  <a:schemeClr val="accent1"/>
                </a:solidFill>
              </a:rPr>
              <a:t>Reference Books </a:t>
            </a:r>
          </a:p>
          <a:p>
            <a:pPr marL="971550" lvl="1" indent="-514350">
              <a:buAutoNum type="arabicPeriod"/>
            </a:pPr>
            <a:r>
              <a:rPr lang="en-US" sz="2800" dirty="0">
                <a:solidFill>
                  <a:schemeClr val="tx1"/>
                </a:solidFill>
              </a:rPr>
              <a:t>Software Quality Engineering, A Practitioner’s Approach, Witold </a:t>
            </a:r>
            <a:r>
              <a:rPr lang="en-US" sz="2800" dirty="0" err="1">
                <a:solidFill>
                  <a:schemeClr val="tx1"/>
                </a:solidFill>
              </a:rPr>
              <a:t>Suryn</a:t>
            </a:r>
            <a:r>
              <a:rPr lang="en-US" sz="2800" dirty="0">
                <a:solidFill>
                  <a:schemeClr val="tx1"/>
                </a:solidFill>
              </a:rPr>
              <a:t>, Wiley, 2014</a:t>
            </a:r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pPr algn="just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6474797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11419-9E6B-FDB8-9A85-294C11D0B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2631" y="254474"/>
            <a:ext cx="10552569" cy="1450757"/>
          </a:xfrm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Overview of SQE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A5B039-FC3E-419E-6577-3EB9AB348C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621" y="1705231"/>
            <a:ext cx="11175748" cy="4094614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To discover and learn various concepts and techniques related to software quality assurance.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Comprehension of why do we have to engineer quality into software/static and dynamic testing techniques for Quality Control (QC) / Software Quality Assurance Plan (SQAP) and Software Quality Measurement using Models (QMM).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To learn to apply these techniques.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To develop critical thinking skills.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Defining quality assurance plans.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Applying quality assurance tools &amp; techniques, etc.</a:t>
            </a:r>
          </a:p>
        </p:txBody>
      </p:sp>
    </p:spTree>
    <p:extLst>
      <p:ext uri="{BB962C8B-B14F-4D97-AF65-F5344CB8AC3E}">
        <p14:creationId xmlns:p14="http://schemas.microsoft.com/office/powerpoint/2010/main" val="424757619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C07D-39ED-4A0F-1642-EEB3FB5667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What is Software?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E5644C-A5E3-E906-47CD-289EAC3D5F4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en-US" sz="2400" dirty="0">
                <a:solidFill>
                  <a:schemeClr val="accent2"/>
                </a:solidFill>
              </a:rPr>
              <a:t>Software</a:t>
            </a:r>
            <a:r>
              <a:rPr lang="en-US" altLang="en-US" sz="2400" dirty="0"/>
              <a:t> </a:t>
            </a:r>
            <a:r>
              <a:rPr lang="en-US" altLang="en-US" sz="2400" dirty="0">
                <a:solidFill>
                  <a:schemeClr val="tx1"/>
                </a:solidFill>
              </a:rPr>
              <a:t>– IEEE definition :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computer programs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procedures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possibly associated documentation</a:t>
            </a:r>
          </a:p>
          <a:p>
            <a:pPr lvl="1"/>
            <a:r>
              <a:rPr lang="en-US" altLang="en-US" sz="2400" dirty="0">
                <a:solidFill>
                  <a:schemeClr val="tx1"/>
                </a:solidFill>
              </a:rPr>
              <a:t>data pertaining to the operation of computer system.</a:t>
            </a:r>
          </a:p>
          <a:p>
            <a:pPr lvl="1"/>
            <a:endParaRPr lang="en-US" altLang="en-US" sz="2400" dirty="0">
              <a:solidFill>
                <a:schemeClr val="tx1"/>
              </a:solidFill>
            </a:endParaRPr>
          </a:p>
          <a:p>
            <a:r>
              <a:rPr lang="en-US" altLang="en-US" sz="2400" dirty="0">
                <a:solidFill>
                  <a:schemeClr val="tx1"/>
                </a:solidFill>
              </a:rPr>
              <a:t>All four components are needed in order to assure the quality of the software development process.</a:t>
            </a:r>
          </a:p>
        </p:txBody>
      </p:sp>
    </p:spTree>
    <p:extLst>
      <p:ext uri="{BB962C8B-B14F-4D97-AF65-F5344CB8AC3E}">
        <p14:creationId xmlns:p14="http://schemas.microsoft.com/office/powerpoint/2010/main" val="66902956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4A2072-D1E8-5B55-72CE-F21174AB3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Quality - Definitions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9BD022-A700-3AB4-96B6-AE7F2E0DD2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   Quality is the degree to which an object satisfies a specified set of attributes or requirements.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   Attributes and degree of conformance.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  “How good or bad something is”</a:t>
            </a:r>
            <a:r>
              <a:rPr lang="en-US" altLang="en-US" sz="2400" i="1" dirty="0">
                <a:solidFill>
                  <a:schemeClr val="tx1"/>
                </a:solidFill>
              </a:rPr>
              <a:t> </a:t>
            </a:r>
            <a:r>
              <a:rPr lang="en-US" altLang="en-US" sz="2400" i="1" dirty="0">
                <a:solidFill>
                  <a:schemeClr val="accent2"/>
                </a:solidFill>
              </a:rPr>
              <a:t>Merriam-Webster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  “Level of excellence” </a:t>
            </a:r>
            <a:r>
              <a:rPr lang="en-US" altLang="en-US" sz="2400" i="1" dirty="0">
                <a:solidFill>
                  <a:schemeClr val="accent2"/>
                </a:solidFill>
              </a:rPr>
              <a:t>Wiktionary</a:t>
            </a:r>
          </a:p>
          <a:p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410706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3FC88-EDB5-80D8-E617-6447585DC0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Quality – Simple sense</a:t>
            </a:r>
            <a:endParaRPr lang="en-US" dirty="0">
              <a:solidFill>
                <a:schemeClr val="tx1"/>
              </a:solidFill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30B43CD-B6CF-540D-2F7E-F67A364826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06734" y="1809787"/>
            <a:ext cx="8039492" cy="4010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5595145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8ECE5-CC87-D68F-CE71-05F253F5D2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>
                <a:solidFill>
                  <a:schemeClr val="tx1"/>
                </a:solidFill>
              </a:rPr>
              <a:t>What is Quality Assurance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00A14F-5F8F-B743-1177-D5A81D6F5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79" y="1845734"/>
            <a:ext cx="10473049" cy="4023360"/>
          </a:xfrm>
        </p:spPr>
        <p:txBody>
          <a:bodyPr>
            <a:normAutofit/>
          </a:bodyPr>
          <a:lstStyle/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   It is a system of activities designed to ensure production that meets pre-established requirements and standards.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  It monitors and tries to improve the development process from the beginning of the project.</a:t>
            </a:r>
          </a:p>
          <a:p>
            <a:pPr algn="just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 It makes sure that the project will be completed based on the previously agreed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specifications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standards and </a:t>
            </a:r>
          </a:p>
          <a:p>
            <a:pPr lvl="1" eaLnBrk="1" hangingPunct="1"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functionality required </a:t>
            </a:r>
          </a:p>
          <a:p>
            <a:pPr eaLnBrk="1" hangingPunct="1">
              <a:buFont typeface="Wingdings 2" panose="05020102010507070707" pitchFamily="18" charset="2"/>
              <a:buNone/>
            </a:pPr>
            <a:r>
              <a:rPr lang="en-US" altLang="en-US" sz="2400" dirty="0">
                <a:solidFill>
                  <a:schemeClr val="tx1"/>
                </a:solidFill>
              </a:rPr>
              <a:t>    without defects and possible problems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877370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E000C5-F1E0-878D-FEF7-7B1817B242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Software Quality?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390B4C-5DA8-B43A-3DEE-8DAD14B11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>
                <a:solidFill>
                  <a:schemeClr val="tx1"/>
                </a:solidFill>
              </a:rPr>
              <a:t>No commonly agreed definition </a:t>
            </a:r>
          </a:p>
          <a:p>
            <a:r>
              <a:rPr lang="en-US" sz="2000" dirty="0">
                <a:solidFill>
                  <a:schemeClr val="tx1"/>
                </a:solidFill>
              </a:rPr>
              <a:t>IEEE definition</a:t>
            </a:r>
          </a:p>
          <a:p>
            <a:pPr marL="457200" lvl="1" indent="0" algn="ctr">
              <a:buNone/>
            </a:pPr>
            <a:r>
              <a:rPr lang="en-US" sz="2400" i="1" dirty="0">
                <a:solidFill>
                  <a:schemeClr val="accent2"/>
                </a:solidFill>
              </a:rPr>
              <a:t>“The degree to which a system, component, or process meets specified requirements (Philip Crosby)”</a:t>
            </a:r>
          </a:p>
          <a:p>
            <a:pPr marL="457200" lvl="1" indent="0" algn="ctr">
              <a:buNone/>
            </a:pPr>
            <a:endParaRPr lang="en-US" sz="2400" i="1" dirty="0">
              <a:solidFill>
                <a:schemeClr val="accent2"/>
              </a:solidFill>
            </a:endParaRPr>
          </a:p>
          <a:p>
            <a:pPr marL="457200" lvl="1" indent="0" algn="ctr">
              <a:buNone/>
            </a:pPr>
            <a:r>
              <a:rPr lang="en-US" sz="2400" i="1" dirty="0">
                <a:solidFill>
                  <a:schemeClr val="accent2"/>
                </a:solidFill>
              </a:rPr>
              <a:t>“The degree to which a system, component, or process meets customer or user needs or expectations (Joseph M. </a:t>
            </a:r>
            <a:r>
              <a:rPr lang="en-US" sz="2400" i="1" dirty="0" err="1">
                <a:solidFill>
                  <a:schemeClr val="accent2"/>
                </a:solidFill>
              </a:rPr>
              <a:t>Juran</a:t>
            </a:r>
            <a:r>
              <a:rPr lang="en-US" sz="2400" i="1" dirty="0">
                <a:solidFill>
                  <a:schemeClr val="accent2"/>
                </a:solidFill>
              </a:rPr>
              <a:t>)”</a:t>
            </a:r>
          </a:p>
          <a:p>
            <a:pPr marL="457200" lvl="1" indent="0" algn="ctr">
              <a:buNone/>
            </a:pPr>
            <a:endParaRPr lang="en-US" sz="2000" i="1" dirty="0">
              <a:solidFill>
                <a:srgbClr val="00B050"/>
              </a:solidFill>
            </a:endParaRPr>
          </a:p>
          <a:p>
            <a:pPr lvl="1"/>
            <a:endParaRPr lang="en-US" sz="20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20501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4F32A4-9F2E-1FF4-0C01-6F094CCB97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What is Software Quality?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7E3328-9F2C-F232-3F4F-F47EDA346E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872895"/>
            <a:ext cx="10058400" cy="4023360"/>
          </a:xfrm>
        </p:spPr>
        <p:txBody>
          <a:bodyPr>
            <a:normAutofit/>
          </a:bodyPr>
          <a:lstStyle/>
          <a:p>
            <a:pPr marL="0" indent="0">
              <a:buNone/>
              <a:defRPr/>
            </a:pPr>
            <a:r>
              <a:rPr lang="en-US" sz="2400" dirty="0">
                <a:solidFill>
                  <a:schemeClr val="accent2"/>
                </a:solidFill>
              </a:rPr>
              <a:t>Pressman believes that Software quality is:</a:t>
            </a:r>
          </a:p>
          <a:p>
            <a:pPr>
              <a:buFont typeface="Helvetica CE" pitchFamily="-12" charset="-18"/>
              <a:buNone/>
              <a:defRPr/>
            </a:pPr>
            <a:r>
              <a:rPr lang="en-US" sz="2400" dirty="0">
                <a:solidFill>
                  <a:schemeClr val="tx1"/>
                </a:solidFill>
              </a:rPr>
              <a:t>Software Quality is conformance to: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    Explicitly stated functional and performance requirements,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    Explicitly documented development standards,</a:t>
            </a:r>
          </a:p>
          <a:p>
            <a:pPr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tx1"/>
                </a:solidFill>
              </a:rPr>
              <a:t>    Implicit characteristics that are expected of all professionally developed software.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966578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816CE8-3856-309E-A812-961326DDC0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People’s Quality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B3823E-2C73-CF53-968C-5BDE1B5223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1026" y="1737360"/>
            <a:ext cx="10304654" cy="4131734"/>
          </a:xfrm>
        </p:spPr>
        <p:txBody>
          <a:bodyPr/>
          <a:lstStyle/>
          <a:p>
            <a:pPr algn="just"/>
            <a:endParaRPr lang="en-US" sz="2000" dirty="0"/>
          </a:p>
          <a:p>
            <a:pPr algn="just"/>
            <a:r>
              <a:rPr lang="en-US" sz="2400" dirty="0">
                <a:solidFill>
                  <a:schemeClr val="tx1"/>
                </a:solidFill>
              </a:rPr>
              <a:t>In general, people’s quality expectations for software systems they use and rely upon are two-fold:</a:t>
            </a:r>
          </a:p>
          <a:p>
            <a:pPr algn="just"/>
            <a:endParaRPr lang="en-US" sz="2000" dirty="0"/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The software systems must do what they are supposed to do. In other words, they must </a:t>
            </a:r>
            <a:r>
              <a:rPr lang="en-US" sz="2400" i="1" dirty="0">
                <a:solidFill>
                  <a:schemeClr val="accent2"/>
                </a:solidFill>
              </a:rPr>
              <a:t>do </a:t>
            </a:r>
            <a:r>
              <a:rPr lang="en-US" sz="2400" b="1" i="1" dirty="0">
                <a:solidFill>
                  <a:schemeClr val="accent2"/>
                </a:solidFill>
              </a:rPr>
              <a:t>the right things.</a:t>
            </a:r>
          </a:p>
          <a:p>
            <a:pPr lvl="1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2"/>
                </a:solidFill>
              </a:rPr>
              <a:t>They must perform these specific tasks correctly or satisfactorily. In other words, they must </a:t>
            </a:r>
            <a:r>
              <a:rPr lang="en-US" sz="2400" i="1" dirty="0">
                <a:solidFill>
                  <a:schemeClr val="accent2"/>
                </a:solidFill>
              </a:rPr>
              <a:t>do </a:t>
            </a:r>
            <a:r>
              <a:rPr lang="en-US" sz="2400" b="1" i="1" dirty="0">
                <a:solidFill>
                  <a:schemeClr val="accent2"/>
                </a:solidFill>
              </a:rPr>
              <a:t>the things right.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40142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440CDB08-DA7F-3B8D-BC72-609ACC377A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864" y="750682"/>
            <a:ext cx="7691831" cy="990600"/>
          </a:xfrm>
        </p:spPr>
        <p:txBody>
          <a:bodyPr>
            <a:normAutofit fontScale="90000"/>
          </a:bodyPr>
          <a:lstStyle/>
          <a:p>
            <a:r>
              <a:rPr lang="en-US" altLang="en-US" dirty="0">
                <a:solidFill>
                  <a:schemeClr val="tx1"/>
                </a:solidFill>
              </a:rPr>
              <a:t>Why should we strive for Quality?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002F0C2-50B7-6226-F758-2F6CE1BECB4E}"/>
              </a:ext>
            </a:extLst>
          </p:cNvPr>
          <p:cNvSpPr>
            <a:spLocks noGrp="1"/>
          </p:cNvSpPr>
          <p:nvPr>
            <p:ph sz="quarter" idx="1"/>
          </p:nvPr>
        </p:nvSpPr>
        <p:spPr>
          <a:xfrm>
            <a:off x="561316" y="1756372"/>
            <a:ext cx="11253456" cy="4555403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Historical software failures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altLang="en-US" sz="2200" dirty="0">
                <a:solidFill>
                  <a:schemeClr val="tx1"/>
                </a:solidFill>
              </a:rPr>
              <a:t>First launch of space shuttle/Airbus 320/Y2K/AT&amp;T telephone network etc.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600" dirty="0">
                <a:solidFill>
                  <a:schemeClr val="tx1"/>
                </a:solidFill>
              </a:rPr>
              <a:t>Have you ever strived for Quality?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How do you perceive Quality?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altLang="en-US" sz="2400" dirty="0">
                <a:solidFill>
                  <a:schemeClr val="tx1"/>
                </a:solidFill>
              </a:rPr>
              <a:t>  Who should be responsible for the Quality?</a:t>
            </a:r>
            <a:endParaRPr lang="en-US" altLang="en-US" sz="800" dirty="0"/>
          </a:p>
          <a:p>
            <a:pPr algn="ctr">
              <a:buFont typeface="Wingdings" panose="05000000000000000000" pitchFamily="2" charset="2"/>
              <a:buNone/>
            </a:pPr>
            <a:r>
              <a:rPr lang="en-US" altLang="en-US" sz="2100" dirty="0"/>
              <a:t>	</a:t>
            </a:r>
            <a:r>
              <a:rPr lang="en-US" altLang="en-US" sz="2600" i="1" dirty="0">
                <a:solidFill>
                  <a:schemeClr val="accent2"/>
                </a:solidFill>
              </a:rPr>
              <a:t>Quality is everybody’s job, but because it is everybody’s job, it can become nobody’s job</a:t>
            </a:r>
          </a:p>
          <a:p>
            <a:pPr algn="ctr">
              <a:buNone/>
            </a:pPr>
            <a:r>
              <a:rPr lang="en-US" sz="2600" dirty="0">
                <a:solidFill>
                  <a:schemeClr val="accent2"/>
                </a:solidFill>
              </a:rPr>
              <a:t>A study commissioned by the National Institute of Standards and Technology found that software bugs cost the U.S. economy about $59.5 billion per year</a:t>
            </a:r>
            <a:endParaRPr lang="en-US" altLang="en-US" sz="2600" dirty="0">
              <a:solidFill>
                <a:schemeClr val="tx1"/>
              </a:solidFill>
            </a:endParaRPr>
          </a:p>
          <a:p>
            <a:pPr algn="ctr">
              <a:buFont typeface="Wingdings" panose="05000000000000000000" pitchFamily="2" charset="2"/>
              <a:buNone/>
            </a:pPr>
            <a:endParaRPr lang="en-US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FBD286-69BA-61B7-F3F9-18FDB6ED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Reasons Software Quality is Important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967914-BE07-93FD-1A50-1A64F2062C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10281"/>
            <a:ext cx="10058400" cy="3859225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 Safety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 Cost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 Customer satisfaction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</a:rPr>
              <a:t>     Future value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62203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A5257F-9A6D-150C-68F5-76BCDFF181B8}"/>
              </a:ext>
            </a:extLst>
          </p:cNvPr>
          <p:cNvSpPr txBox="1"/>
          <p:nvPr/>
        </p:nvSpPr>
        <p:spPr>
          <a:xfrm>
            <a:off x="3382224" y="2598003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accent2"/>
                </a:solidFill>
              </a:rPr>
              <a:t>Any question????</a:t>
            </a:r>
          </a:p>
        </p:txBody>
      </p:sp>
    </p:spTree>
    <p:extLst>
      <p:ext uri="{BB962C8B-B14F-4D97-AF65-F5344CB8AC3E}">
        <p14:creationId xmlns:p14="http://schemas.microsoft.com/office/powerpoint/2010/main" val="1325985888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438</TotalTime>
  <Words>1020</Words>
  <Application>Microsoft Office PowerPoint</Application>
  <PresentationFormat>Widescreen</PresentationFormat>
  <Paragraphs>149</Paragraphs>
  <Slides>23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2" baseType="lpstr">
      <vt:lpstr>Aptos</vt:lpstr>
      <vt:lpstr>Arial</vt:lpstr>
      <vt:lpstr>Calibri</vt:lpstr>
      <vt:lpstr>Calibri Light</vt:lpstr>
      <vt:lpstr>Helvetica CE</vt:lpstr>
      <vt:lpstr>Times New Roman</vt:lpstr>
      <vt:lpstr>Wingdings</vt:lpstr>
      <vt:lpstr>Wingdings 2</vt:lpstr>
      <vt:lpstr>Retrospect</vt:lpstr>
      <vt:lpstr>SE-3002 Software Quality Engineering</vt:lpstr>
      <vt:lpstr>Tentative Mark Distribution and Grading Policy</vt:lpstr>
      <vt:lpstr>Course Ethics</vt:lpstr>
      <vt:lpstr>Pre-requisites/Knowledge assumed</vt:lpstr>
      <vt:lpstr>Course Outline</vt:lpstr>
      <vt:lpstr>Major Topics of the course</vt:lpstr>
      <vt:lpstr>How this course will run</vt:lpstr>
      <vt:lpstr>Software quality engineering</vt:lpstr>
      <vt:lpstr>Software quality engineering</vt:lpstr>
      <vt:lpstr>Software quality engineering</vt:lpstr>
      <vt:lpstr>Software quality engineering</vt:lpstr>
      <vt:lpstr>Course Material</vt:lpstr>
      <vt:lpstr>Overview of SQE</vt:lpstr>
      <vt:lpstr>What is Software?</vt:lpstr>
      <vt:lpstr>Quality - Definitions</vt:lpstr>
      <vt:lpstr>Quality – Simple sense</vt:lpstr>
      <vt:lpstr>What is Quality Assurance</vt:lpstr>
      <vt:lpstr>What is Software Quality?</vt:lpstr>
      <vt:lpstr>What is Software Quality?</vt:lpstr>
      <vt:lpstr>People’s Quality Expectations</vt:lpstr>
      <vt:lpstr>Why should we strive for Quality?</vt:lpstr>
      <vt:lpstr>Reasons Software Quality is Important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Alina Arshad</dc:creator>
  <cp:lastModifiedBy>Ms Alina Arshad</cp:lastModifiedBy>
  <cp:revision>22</cp:revision>
  <dcterms:created xsi:type="dcterms:W3CDTF">2024-08-09T06:58:16Z</dcterms:created>
  <dcterms:modified xsi:type="dcterms:W3CDTF">2024-08-23T14:47:54Z</dcterms:modified>
</cp:coreProperties>
</file>