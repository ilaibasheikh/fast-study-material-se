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25" r:id="rId3"/>
    <p:sldId id="368" r:id="rId4"/>
    <p:sldId id="301" r:id="rId5"/>
    <p:sldId id="302" r:id="rId6"/>
    <p:sldId id="380" r:id="rId7"/>
    <p:sldId id="381" r:id="rId8"/>
    <p:sldId id="361" r:id="rId9"/>
    <p:sldId id="332" r:id="rId10"/>
    <p:sldId id="382" r:id="rId11"/>
    <p:sldId id="308" r:id="rId12"/>
    <p:sldId id="324" r:id="rId13"/>
    <p:sldId id="310" r:id="rId14"/>
    <p:sldId id="334" r:id="rId15"/>
    <p:sldId id="335" r:id="rId16"/>
    <p:sldId id="336" r:id="rId17"/>
    <p:sldId id="337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5398-0035-40D4-80A2-48A755B7795E}" v="1" dt="2024-08-25T16:00:2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4" autoAdjust="0"/>
    <p:restoredTop sz="92529" autoAdjust="0"/>
  </p:normalViewPr>
  <p:slideViewPr>
    <p:cSldViewPr snapToGrid="0">
      <p:cViewPr varScale="1">
        <p:scale>
          <a:sx n="64" d="100"/>
          <a:sy n="64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DA0C2BC-5079-D4E4-39EE-FF23ECFCC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86C6D52-E5D5-4BF4-8AB1-38C47D7EA16A}" type="slidenum">
              <a:rPr lang="en-CA" altLang="en-US" sz="1200">
                <a:latin typeface="Tahoma" panose="020B0604030504040204" pitchFamily="34" charset="0"/>
              </a:rPr>
              <a:pPr/>
              <a:t>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C64BC57-D6DD-A8F1-F9CB-3BE0AD539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993ED48-35F9-D959-A28F-9F10861229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DDE522B6-A985-B0D7-177F-FA9728059C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1C9A045-E4CA-4892-BCF3-F0205916B021}" type="slidenum">
              <a:rPr lang="en-CA" altLang="en-US" sz="1200">
                <a:latin typeface="Tahoma" panose="020B0604030504040204" pitchFamily="34" charset="0"/>
              </a:rPr>
              <a:pPr/>
              <a:t>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2291" name="Rectangle 1026">
            <a:extLst>
              <a:ext uri="{FF2B5EF4-FFF2-40B4-BE49-F238E27FC236}">
                <a16:creationId xmlns:a16="http://schemas.microsoft.com/office/drawing/2014/main" id="{F3D8825A-B1EA-DFB7-DA9A-3432883D6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1027">
            <a:extLst>
              <a:ext uri="{FF2B5EF4-FFF2-40B4-BE49-F238E27FC236}">
                <a16:creationId xmlns:a16="http://schemas.microsoft.com/office/drawing/2014/main" id="{6AA9FEFD-3410-7019-C2D6-37AF73574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The Entity-Relationship (ER) model is a popular conceptual data model that uses entities, attributes, and relationships to describe the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5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FA4D88B-CDBB-87A5-1B57-D43206F3E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742A98-1A1E-48E1-9079-558AB1DC1A2E}" type="slidenum">
              <a:rPr lang="en-CA" altLang="en-US" sz="1200">
                <a:latin typeface="Tahoma" panose="020B0604030504040204" pitchFamily="34" charset="0"/>
              </a:rPr>
              <a:pPr/>
              <a:t>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E6398EC4-B66F-5FDB-8E3E-5B305B483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F561F92-67B8-51C3-AF5E-BC33A3BC5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313111F-1B71-53BD-6550-16613A5A67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CDF34D-7725-4587-A372-923590B9B34C}" type="slidenum">
              <a:rPr lang="en-CA" altLang="en-US" sz="1200">
                <a:latin typeface="Tahoma" panose="020B0604030504040204" pitchFamily="34" charset="0"/>
              </a:rPr>
              <a:pPr/>
              <a:t>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0483" name="Rectangle 1026">
            <a:extLst>
              <a:ext uri="{FF2B5EF4-FFF2-40B4-BE49-F238E27FC236}">
                <a16:creationId xmlns:a16="http://schemas.microsoft.com/office/drawing/2014/main" id="{CEDC2B68-2297-2999-F2E9-DFCF0B6EA8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1027">
            <a:extLst>
              <a:ext uri="{FF2B5EF4-FFF2-40B4-BE49-F238E27FC236}">
                <a16:creationId xmlns:a16="http://schemas.microsoft.com/office/drawing/2014/main" id="{17D33741-4555-B638-CE5A-1287E7C9C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ANSI/SPARC (American National Standards Institute/ Standards Planning</a:t>
            </a:r>
            <a:r>
              <a:rPr lang="en-US" baseline="0" dirty="0"/>
              <a:t> </a:t>
            </a:r>
            <a:r>
              <a:rPr lang="en-US" dirty="0"/>
              <a:t>And Requirements Committee architecture,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8FAB8-D027-483B-9A12-654DDCA05D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9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Mappings among schema levels are needed to transform requests and data. </a:t>
            </a:r>
          </a:p>
          <a:p>
            <a:r>
              <a:rPr lang="en-US" dirty="0"/>
              <a:t>Programs refer to an external schema, and are mapped by the DBMS to the internal schema for execution.</a:t>
            </a:r>
          </a:p>
          <a:p>
            <a:r>
              <a:rPr lang="en-US" dirty="0"/>
              <a:t>Data extracted from the internal DBMS level is reformatted to match the user’s external view (e.g. formatting the results of an SQL query for display in a Web page)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8FAB8-D027-483B-9A12-654DDCA05D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15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FD64422-141A-4F0C-D264-F92971C42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9821C60-A99A-4A5E-A690-CDBD439AE958}" type="slidenum">
              <a:rPr lang="en-CA" altLang="en-US" sz="1200">
                <a:latin typeface="Tahoma" panose="020B0604030504040204" pitchFamily="34" charset="0"/>
              </a:rPr>
              <a:pPr/>
              <a:t>14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B7378A7-8435-8CF1-B397-E155EB6B11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F2E61BC-48AA-F9AA-052F-834D5EC99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7DCCCB0-ABBB-4EE9-D53F-ACCFF3502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058BAC-FDCA-468C-9A2D-ED03D55221A6}" type="slidenum">
              <a:rPr lang="en-CA" altLang="en-US" sz="1200">
                <a:latin typeface="Tahoma" panose="020B0604030504040204" pitchFamily="34" charset="0"/>
              </a:rPr>
              <a:pPr/>
              <a:t>15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1747" name="Rectangle 1026">
            <a:extLst>
              <a:ext uri="{FF2B5EF4-FFF2-40B4-BE49-F238E27FC236}">
                <a16:creationId xmlns:a16="http://schemas.microsoft.com/office/drawing/2014/main" id="{CE121248-AE53-180E-D014-7B5F0A424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1027">
            <a:extLst>
              <a:ext uri="{FF2B5EF4-FFF2-40B4-BE49-F238E27FC236}">
                <a16:creationId xmlns:a16="http://schemas.microsoft.com/office/drawing/2014/main" id="{008F2CD3-350D-B325-7E4A-C9338E301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219E8F5C-E7EC-C07A-321D-368E4253D3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E8A351-4064-4030-9EFB-5383BEB9CE17}" type="slidenum">
              <a:rPr lang="en-CA" altLang="en-US" sz="1200">
                <a:latin typeface="Tahoma" panose="020B0604030504040204" pitchFamily="34" charset="0"/>
              </a:rPr>
              <a:pPr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DDC5C82-6F5B-6DF0-8E3E-E3EC32109D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87F488B-7E4B-B609-D9CA-14E66643E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4779E78-AF06-16CE-C0E6-DE9C53AE8F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CFF2F1-446B-4426-B811-AB158B437107}" type="slidenum">
              <a:rPr lang="en-CA" altLang="en-US" sz="1200">
                <a:latin typeface="Tahoma" panose="020B0604030504040204" pitchFamily="34" charset="0"/>
              </a:rPr>
              <a:pPr/>
              <a:t>17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5843" name="Rectangle 1026">
            <a:extLst>
              <a:ext uri="{FF2B5EF4-FFF2-40B4-BE49-F238E27FC236}">
                <a16:creationId xmlns:a16="http://schemas.microsoft.com/office/drawing/2014/main" id="{D14C18BD-F41C-5CAB-EF48-E119DBE055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1027">
            <a:extLst>
              <a:ext uri="{FF2B5EF4-FFF2-40B4-BE49-F238E27FC236}">
                <a16:creationId xmlns:a16="http://schemas.microsoft.com/office/drawing/2014/main" id="{CBBBAEFA-459F-617F-3934-D9E436553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Database System Concepts and Architecture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Chapter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>
            <a:extLst>
              <a:ext uri="{FF2B5EF4-FFF2-40B4-BE49-F238E27FC236}">
                <a16:creationId xmlns:a16="http://schemas.microsoft.com/office/drawing/2014/main" id="{25AF637A-F65A-388F-4C5D-65F8A8585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907019"/>
            <a:ext cx="10058400" cy="83034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Models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735865A-AAD6-A4BB-5949-8B5DE06F4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5639" y="1927621"/>
            <a:ext cx="1072168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Model: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set of concepts to describe the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structure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a database, the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operations 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manipulating these structures, and certain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constraints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that the database should obey.</a:t>
            </a:r>
          </a:p>
          <a:p>
            <a:pPr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Model Structure and Constraints: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Constructs are used to define the database structure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Constructs typically include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elements 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(and their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types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 as well as groups of elements (e.g.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entity, record, table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), and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relationships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among such groups.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Constraints specify some restrictions on valid data; these constraints must be always enforced.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737509D6-C144-45E0-B9B9-E26D80339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Models (continued)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DBFB885D-698A-3553-E991-BBF2C9344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8048" y="1937982"/>
            <a:ext cx="10522424" cy="393111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Model Operations: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These operations are used for specifying database </a:t>
            </a:r>
            <a:r>
              <a:rPr lang="en-US" altLang="en-US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retrievals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US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updates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by referring to the constructs of the data model.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Operations on the data model may include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basic model operations 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(e.g. generic insert, delete, update) and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user-defined operations 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(e.g. </a:t>
            </a:r>
            <a:r>
              <a:rPr lang="en-US" altLang="en-US" sz="24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compute_student_gpa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en-US" sz="24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update_inventory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</a:t>
            </a:r>
            <a:endParaRPr lang="en-US" altLang="en-US" sz="2400" b="1" i="1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797" y="796347"/>
            <a:ext cx="10058400" cy="85025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Categories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797" y="1845734"/>
            <a:ext cx="11081981" cy="37907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1) Conceptual Data Model (High-level):</a:t>
            </a:r>
            <a:r>
              <a:rPr lang="en-US" sz="2400" dirty="0">
                <a:solidFill>
                  <a:schemeClr val="tx1"/>
                </a:solidFill>
              </a:rPr>
              <a:t>  Provide concepts that are close to the way many users perceive data. (Also called entity-based or object-based data models.) it have three main concepts: entities, attributes, and relationships.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Entity:</a:t>
            </a:r>
            <a:r>
              <a:rPr lang="en-US" sz="2400" dirty="0">
                <a:solidFill>
                  <a:schemeClr val="tx1"/>
                </a:solidFill>
              </a:rPr>
              <a:t> real-world object or concept i.e. employee or a project. 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Attribute: </a:t>
            </a:r>
            <a:r>
              <a:rPr lang="en-US" sz="2400" dirty="0">
                <a:solidFill>
                  <a:schemeClr val="tx1"/>
                </a:solidFill>
              </a:rPr>
              <a:t>describes an entity i.e. employee’s name or salary.</a:t>
            </a:r>
          </a:p>
          <a:p>
            <a:pPr lvl="1"/>
            <a:r>
              <a:rPr lang="en-US" sz="2400" b="1" dirty="0">
                <a:solidFill>
                  <a:schemeClr val="tx1"/>
                </a:solidFill>
              </a:rPr>
              <a:t>Relationship: </a:t>
            </a:r>
            <a:r>
              <a:rPr lang="en-US" sz="2400" dirty="0">
                <a:solidFill>
                  <a:schemeClr val="tx1"/>
                </a:solidFill>
              </a:rPr>
              <a:t>association among the entities, for example, a works-on relationship between an employee and a project.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pPr marL="201168" lvl="1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2) Implementation or (Representational) data models:</a:t>
            </a:r>
            <a:r>
              <a:rPr lang="en-US" sz="2400" dirty="0">
                <a:solidFill>
                  <a:schemeClr val="tx1"/>
                </a:solidFill>
              </a:rPr>
              <a:t> represent data by using record structures and hence are sometimes called record-based data models.</a:t>
            </a:r>
          </a:p>
          <a:p>
            <a:pPr marL="201168" lvl="1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38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96036" y="818866"/>
            <a:ext cx="10058400" cy="8775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Categories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036" y="1845734"/>
            <a:ext cx="10459644" cy="402336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3) Physical data models: </a:t>
            </a:r>
            <a:r>
              <a:rPr lang="en-US" sz="2400" dirty="0">
                <a:solidFill>
                  <a:schemeClr val="tx1"/>
                </a:solidFill>
              </a:rPr>
              <a:t>describe how data is stored as files in the computer by representing information such as record formats, record orderings, and access paths. 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Access path: search structure that makes the search for particular database records efficient, such as indexing or hashing.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400" b="1" dirty="0">
                <a:solidFill>
                  <a:schemeClr val="tx1"/>
                </a:solidFill>
              </a:rPr>
              <a:t> 4) Self-Describing Data Models: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Combine the description of data with the data values. Examples include XML, key-value stores and some NOSQL systems.</a:t>
            </a:r>
          </a:p>
        </p:txBody>
      </p:sp>
    </p:spTree>
    <p:extLst>
      <p:ext uri="{BB962C8B-B14F-4D97-AF65-F5344CB8AC3E}">
        <p14:creationId xmlns:p14="http://schemas.microsoft.com/office/powerpoint/2010/main" val="120334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Schemas versus Instances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Database Schema:</a:t>
            </a:r>
            <a:r>
              <a:rPr lang="en-US" sz="2400" dirty="0">
                <a:solidFill>
                  <a:schemeClr val="tx1"/>
                </a:solidFill>
              </a:rPr>
              <a:t> The description of a database is called the database schema, which is specified during database design and is not expected to change frequently.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Includes descriptions of the database structure and the constraints that should hold on the database.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Schema Diagram: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illustrative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display of (most aspects of) a database schema.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Schema Construct: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component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the schema or an object within the schema, e.g., STUDENT, COURSE.</a:t>
            </a:r>
          </a:p>
        </p:txBody>
      </p:sp>
    </p:spTree>
    <p:extLst>
      <p:ext uri="{BB962C8B-B14F-4D97-AF65-F5344CB8AC3E}">
        <p14:creationId xmlns:p14="http://schemas.microsoft.com/office/powerpoint/2010/main" val="209244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Schema diagram for the database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788" y="1846796"/>
            <a:ext cx="5750753" cy="38817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06515" y="5892997"/>
            <a:ext cx="73943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Schema Construct: Each object in the schema i.e. STUDENT or COURSE</a:t>
            </a:r>
          </a:p>
        </p:txBody>
      </p:sp>
    </p:spTree>
    <p:extLst>
      <p:ext uri="{BB962C8B-B14F-4D97-AF65-F5344CB8AC3E}">
        <p14:creationId xmlns:p14="http://schemas.microsoft.com/office/powerpoint/2010/main" val="8073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4">
            <a:extLst>
              <a:ext uri="{FF2B5EF4-FFF2-40B4-BE49-F238E27FC236}">
                <a16:creationId xmlns:a16="http://schemas.microsoft.com/office/drawing/2014/main" id="{3C489664-14E2-8B44-5A31-9A393AC23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Schemas versus Instances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3C609AB8-32A3-914D-8094-D333BF725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Database State: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actual data stored in a database at a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particular moment in time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 This includes the collection of all the data in the database.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Also called database instance (or occurrence or snapshot).</a:t>
            </a:r>
          </a:p>
          <a:p>
            <a:pPr lvl="2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term </a:t>
            </a:r>
            <a:r>
              <a:rPr lang="en-US" altLang="en-US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instance 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is also applied to individual database components, e.g. </a:t>
            </a:r>
            <a:r>
              <a:rPr lang="en-US" altLang="en-US" sz="2400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record instance, table instance, entity instance</a:t>
            </a:r>
            <a:endParaRPr lang="en-US" altLang="en-US" sz="24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>
            <a:extLst>
              <a:ext uri="{FF2B5EF4-FFF2-40B4-BE49-F238E27FC236}">
                <a16:creationId xmlns:a16="http://schemas.microsoft.com/office/drawing/2014/main" id="{65B24BEE-5D4B-9D38-5A6C-9EE16A412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Database Schema vs. Database State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F16E5DDC-5BB4-5C48-F89B-9A3BE1635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Initial Database State: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Refers to the database state when it is initially loaded into the system.</a:t>
            </a:r>
          </a:p>
          <a:p>
            <a:pPr marL="0" indent="0" eaLnBrk="1" hangingPunct="1">
              <a:buNone/>
            </a:pP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Valid State: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 state that satisfies the structure and constraints of the database.</a:t>
            </a:r>
            <a:endParaRPr lang="en-US" sz="2400" b="1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marL="201168" lvl="1" indent="0" eaLnBrk="1" hangingPunct="1">
              <a:buNone/>
            </a:pPr>
            <a:r>
              <a:rPr lang="en-US" sz="2400" b="1" dirty="0">
                <a:solidFill>
                  <a:schemeClr val="tx1"/>
                </a:solidFill>
              </a:rPr>
              <a:t>Distinction: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database schema changes very infrequently. The database state changes every time the database is updated, or any insertion or deletion is made.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Schema is also called intension, whereas state is called extension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altLang="en-US" sz="24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8" name="Rectangle 2459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599" name="Rectangle 24598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4600" name="Straight Connector 2459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601" name="Rectangle 24600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36FF1FE-89EA-D575-EF16-DD007D107B0B}"/>
              </a:ext>
            </a:extLst>
          </p:cNvPr>
          <p:cNvSpPr txBox="1">
            <a:spLocks noChangeArrowheads="1"/>
          </p:cNvSpPr>
          <p:nvPr/>
        </p:nvSpPr>
        <p:spPr>
          <a:xfrm>
            <a:off x="8141110" y="639097"/>
            <a:ext cx="3401961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of a database state</a:t>
            </a:r>
          </a:p>
        </p:txBody>
      </p:sp>
      <p:pic>
        <p:nvPicPr>
          <p:cNvPr id="24580" name="Picture 4" descr="fig01_02">
            <a:extLst>
              <a:ext uri="{FF2B5EF4-FFF2-40B4-BE49-F238E27FC236}">
                <a16:creationId xmlns:a16="http://schemas.microsoft.com/office/drawing/2014/main" id="{9F2E6FCF-4102-3152-067F-A892B1AC7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3733" y="640081"/>
            <a:ext cx="4392748" cy="50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602" name="Straight Connector 24601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3" name="Rectangle 2460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597" name="Rectangle 24596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5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The Three-Schema Architecture/ ANSI/SPARC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goal of the three-schema architecture is to separate the user applications from the physical database.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Proposed to support and visualize DBMS characteristics of: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Use of a catalog to store the database description (schema) so as to make it self-describing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</a:rPr>
              <a:t>Program-data independence.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Support of </a:t>
            </a:r>
            <a:r>
              <a:rPr lang="en-US" altLang="en-US" sz="2400" b="1" dirty="0">
                <a:solidFill>
                  <a:schemeClr val="tx1"/>
                </a:solidFill>
              </a:rPr>
              <a:t>multiple views</a:t>
            </a:r>
            <a:r>
              <a:rPr lang="en-US" altLang="en-US" sz="2400" dirty="0">
                <a:solidFill>
                  <a:schemeClr val="tx1"/>
                </a:solidFill>
              </a:rPr>
              <a:t> of the data.</a:t>
            </a:r>
          </a:p>
        </p:txBody>
      </p:sp>
    </p:spTree>
    <p:extLst>
      <p:ext uri="{BB962C8B-B14F-4D97-AF65-F5344CB8AC3E}">
        <p14:creationId xmlns:p14="http://schemas.microsoft.com/office/powerpoint/2010/main" val="1723003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026">
            <a:extLst>
              <a:ext uri="{FF2B5EF4-FFF2-40B4-BE49-F238E27FC236}">
                <a16:creationId xmlns:a16="http://schemas.microsoft.com/office/drawing/2014/main" id="{BC7ACC91-16AA-5D67-B935-92EE00D4568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89194" y="687387"/>
            <a:ext cx="10673153" cy="72548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altLang="en-US" b="1" dirty="0">
                <a:solidFill>
                  <a:schemeClr val="tx1"/>
                </a:solidFill>
              </a:rPr>
              <a:t>Differences between Three Levels of ANSI-SPARC Architecture</a:t>
            </a:r>
          </a:p>
        </p:txBody>
      </p:sp>
      <p:pic>
        <p:nvPicPr>
          <p:cNvPr id="2" name="Picture 1030" descr="C02NF02">
            <a:extLst>
              <a:ext uri="{FF2B5EF4-FFF2-40B4-BE49-F238E27FC236}">
                <a16:creationId xmlns:a16="http://schemas.microsoft.com/office/drawing/2014/main" id="{F2AB3745-CEFD-E2CF-35CC-20E6F3418BBB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95550" y="1412875"/>
            <a:ext cx="7416800" cy="4559300"/>
          </a:xfrm>
          <a:noFill/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7280" y="634620"/>
            <a:ext cx="9997440" cy="76836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Three-Schema Architecture</a:t>
            </a:r>
            <a:r>
              <a:rPr lang="en-US" b="1" dirty="0">
                <a:solidFill>
                  <a:schemeClr val="tx1"/>
                </a:solidFill>
              </a:rPr>
              <a:t>/ ANSI/SPARC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7280" y="1737360"/>
            <a:ext cx="9997440" cy="448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>
            <a:extLst>
              <a:ext uri="{FF2B5EF4-FFF2-40B4-BE49-F238E27FC236}">
                <a16:creationId xmlns:a16="http://schemas.microsoft.com/office/drawing/2014/main" id="{F9206059-334B-C63E-D8BA-8079DF0E2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Three-Schema Architecture</a:t>
            </a:r>
            <a:r>
              <a:rPr lang="en-US" b="1" dirty="0">
                <a:solidFill>
                  <a:schemeClr val="tx1"/>
                </a:solidFill>
              </a:rPr>
              <a:t>/ANSI/SPARC</a:t>
            </a:r>
            <a:endParaRPr lang="en-US" altLang="en-US" b="1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BC3E1FC6-B7AB-3EF9-0A36-3861488C9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4275" y="1897038"/>
            <a:ext cx="10918209" cy="450376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Defines DBMS schemas at </a:t>
            </a:r>
            <a:r>
              <a:rPr lang="en-US" altLang="en-US" sz="2400" b="1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three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levels:</a:t>
            </a:r>
          </a:p>
          <a:p>
            <a:pPr lvl="1"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Internal schema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at the internal level to describe physical storage structures and access paths (</a:t>
            </a:r>
            <a:r>
              <a:rPr lang="en-US" altLang="en-US" sz="24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e.g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indexes). </a:t>
            </a:r>
          </a:p>
          <a:p>
            <a:pPr lvl="2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Typically uses a </a:t>
            </a: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physical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data model.</a:t>
            </a:r>
          </a:p>
          <a:p>
            <a:pPr lvl="1"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Conceptual schema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at the conceptual level to describe the structure and constraints for the whole database for a community of users. </a:t>
            </a:r>
          </a:p>
          <a:p>
            <a:pPr lvl="2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Uses a </a:t>
            </a: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conceptual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or an </a:t>
            </a: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implementation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data model.</a:t>
            </a:r>
          </a:p>
          <a:p>
            <a:pPr lvl="1" eaLnBrk="1" hangingPunct="1"/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External schemas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at the external level to describe the various user views. </a:t>
            </a:r>
          </a:p>
          <a:p>
            <a:pPr lvl="2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Usually uses the same data model as the conceptual schema.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4">
            <a:extLst>
              <a:ext uri="{FF2B5EF4-FFF2-40B4-BE49-F238E27FC236}">
                <a16:creationId xmlns:a16="http://schemas.microsoft.com/office/drawing/2014/main" id="{74308B8B-A766-ECD2-6B2E-DE52AC614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Three-Schema Architecture</a:t>
            </a:r>
            <a:r>
              <a:rPr lang="en-US" b="1" dirty="0">
                <a:solidFill>
                  <a:schemeClr val="tx1"/>
                </a:solidFill>
              </a:rPr>
              <a:t>/ ANSI/SPARC</a:t>
            </a:r>
            <a:endParaRPr lang="en-US" altLang="en-US" b="1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A0D6A1E0-231E-B445-7084-03C8250D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Mappings among schema levels are needed to transform requests and data. 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Programs refer to an external schema and are mapped by the DBMS to the internal schema for execution.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extracted from the internal DBMS level is reformatted to match the user’s external view (e.g. formatting the results of an SQL query for display in a Web page)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4">
            <a:extLst>
              <a:ext uri="{FF2B5EF4-FFF2-40B4-BE49-F238E27FC236}">
                <a16:creationId xmlns:a16="http://schemas.microsoft.com/office/drawing/2014/main" id="{AEC727F9-3C6C-0426-EF6B-FAAC33725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Independence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368E386-29BB-F1A9-10C1-01A4E0CBD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Logical Data Independence: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capacity to change the conceptual schema without having to change the external schemas and their associated application programs.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Physical Data Independence: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capacity to change the internal schema without having to change the conceptual schema.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For example, the internal schema may be changed when certain file structures are reorganized, or new indexes are created to improve database performance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If the same data as before remains in the database, we should not have to change the conceptual schema.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4">
            <a:extLst>
              <a:ext uri="{FF2B5EF4-FFF2-40B4-BE49-F238E27FC236}">
                <a16:creationId xmlns:a16="http://schemas.microsoft.com/office/drawing/2014/main" id="{3FDF9333-61B7-27DC-DD29-CB2690B8A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Data Independence (continued)</a:t>
            </a:r>
          </a:p>
        </p:txBody>
      </p:sp>
      <p:sp>
        <p:nvSpPr>
          <p:cNvPr id="34820" name="Rectangle 5">
            <a:extLst>
              <a:ext uri="{FF2B5EF4-FFF2-40B4-BE49-F238E27FC236}">
                <a16:creationId xmlns:a16="http://schemas.microsoft.com/office/drawing/2014/main" id="{DB49E869-398D-7A6A-7180-C926CEBBE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When a schema at a lower level is changed, only the </a:t>
            </a: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mappings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between this schema and higher-level schemas need to be changed in a DBMS that fully supports data independence.</a:t>
            </a:r>
          </a:p>
          <a:p>
            <a:pPr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The higher-level schemas themselves are </a:t>
            </a:r>
            <a:r>
              <a:rPr lang="en-US" altLang="en-US" sz="24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unchanged</a:t>
            </a:r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eaLnBrk="1" hangingPunct="1"/>
            <a:r>
              <a:rPr lang="en-US" altLang="en-US" sz="2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Hence, the application programs need not be changed since they refer to the external schemas.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676</TotalTime>
  <Words>1166</Words>
  <Application>Microsoft Office PowerPoint</Application>
  <PresentationFormat>Widescreen</PresentationFormat>
  <Paragraphs>100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ＭＳ Ｐゴシック</vt:lpstr>
      <vt:lpstr>Aptos</vt:lpstr>
      <vt:lpstr>Arial</vt:lpstr>
      <vt:lpstr>Calibri</vt:lpstr>
      <vt:lpstr>Calibri Light</vt:lpstr>
      <vt:lpstr>Tahoma</vt:lpstr>
      <vt:lpstr>Times New Roman</vt:lpstr>
      <vt:lpstr>Retrospect</vt:lpstr>
      <vt:lpstr> Database Systems</vt:lpstr>
      <vt:lpstr>Data Models</vt:lpstr>
      <vt:lpstr>Data Models (continued)</vt:lpstr>
      <vt:lpstr>Categories of Data Models</vt:lpstr>
      <vt:lpstr>Categories of Data Models</vt:lpstr>
      <vt:lpstr>Schemas versus Instances</vt:lpstr>
      <vt:lpstr>Schema diagram for the database</vt:lpstr>
      <vt:lpstr>Schemas versus Instances</vt:lpstr>
      <vt:lpstr>Database Schema vs. Database State</vt:lpstr>
      <vt:lpstr>PowerPoint Presentation</vt:lpstr>
      <vt:lpstr>The Three-Schema Architecture/ ANSI/SPARC</vt:lpstr>
      <vt:lpstr>Differences between Three Levels of ANSI-SPARC Architecture</vt:lpstr>
      <vt:lpstr>The Three-Schema Architecture/ ANSI/SPARC</vt:lpstr>
      <vt:lpstr>Three-Schema Architecture/ANSI/SPARC</vt:lpstr>
      <vt:lpstr>Three-Schema Architecture/ ANSI/SPARC</vt:lpstr>
      <vt:lpstr>Data Independence</vt:lpstr>
      <vt:lpstr>Data Independence (continued)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45</cp:revision>
  <dcterms:created xsi:type="dcterms:W3CDTF">2024-08-09T06:58:16Z</dcterms:created>
  <dcterms:modified xsi:type="dcterms:W3CDTF">2024-08-25T16:00:47Z</dcterms:modified>
</cp:coreProperties>
</file>