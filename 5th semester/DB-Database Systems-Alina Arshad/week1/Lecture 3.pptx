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56" r:id="rId2"/>
    <p:sldId id="326" r:id="rId3"/>
    <p:sldId id="268" r:id="rId4"/>
    <p:sldId id="269" r:id="rId5"/>
    <p:sldId id="270" r:id="rId6"/>
    <p:sldId id="271" r:id="rId7"/>
    <p:sldId id="290" r:id="rId8"/>
    <p:sldId id="291" r:id="rId9"/>
    <p:sldId id="516" r:id="rId10"/>
    <p:sldId id="517" r:id="rId11"/>
    <p:sldId id="518" r:id="rId12"/>
    <p:sldId id="519" r:id="rId13"/>
    <p:sldId id="523" r:id="rId14"/>
    <p:sldId id="521" r:id="rId15"/>
    <p:sldId id="520" r:id="rId16"/>
    <p:sldId id="525" r:id="rId17"/>
    <p:sldId id="522" r:id="rId18"/>
    <p:sldId id="279"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061" autoAdjust="0"/>
  </p:normalViewPr>
  <p:slideViewPr>
    <p:cSldViewPr snapToGrid="0">
      <p:cViewPr varScale="1">
        <p:scale>
          <a:sx n="70" d="100"/>
          <a:sy n="70" d="100"/>
        </p:scale>
        <p:origin x="71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B90151-A221-46B3-A769-373FDD9A38FB}" type="datetimeFigureOut">
              <a:rPr lang="en-US" smtClean="0"/>
              <a:t>8/25/2024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4BEA5B-0F90-491B-8570-2B3910989086}" type="slidenum">
              <a:rPr lang="en-US" smtClean="0"/>
              <a:t>‹#›</a:t>
            </a:fld>
            <a:endParaRPr lang="en-US"/>
          </a:p>
        </p:txBody>
      </p:sp>
    </p:spTree>
    <p:extLst>
      <p:ext uri="{BB962C8B-B14F-4D97-AF65-F5344CB8AC3E}">
        <p14:creationId xmlns:p14="http://schemas.microsoft.com/office/powerpoint/2010/main" val="3016135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4BEA5B-0F90-491B-8570-2B3910989086}" type="slidenum">
              <a:rPr lang="en-US" smtClean="0"/>
              <a:t>1</a:t>
            </a:fld>
            <a:endParaRPr lang="en-US"/>
          </a:p>
        </p:txBody>
      </p:sp>
    </p:spTree>
    <p:extLst>
      <p:ext uri="{BB962C8B-B14F-4D97-AF65-F5344CB8AC3E}">
        <p14:creationId xmlns:p14="http://schemas.microsoft.com/office/powerpoint/2010/main" val="2600137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554C82F9-B6AE-0D68-FA19-5DAFA83F71A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29119CD5-0B19-4015-AFB1-E9D2475E4C8A}" type="slidenum">
              <a:rPr lang="en-CA" altLang="en-US" sz="1200">
                <a:latin typeface="Tahoma" panose="020B0604030504040204" pitchFamily="34" charset="0"/>
              </a:rPr>
              <a:pPr/>
              <a:t>3</a:t>
            </a:fld>
            <a:endParaRPr lang="en-CA" altLang="en-US" sz="1200">
              <a:latin typeface="Tahoma" panose="020B0604030504040204" pitchFamily="34" charset="0"/>
            </a:endParaRPr>
          </a:p>
        </p:txBody>
      </p:sp>
      <p:sp>
        <p:nvSpPr>
          <p:cNvPr id="49155" name="Rectangle 2">
            <a:extLst>
              <a:ext uri="{FF2B5EF4-FFF2-40B4-BE49-F238E27FC236}">
                <a16:creationId xmlns:a16="http://schemas.microsoft.com/office/drawing/2014/main" id="{C96D8F0B-D3C0-0AF9-4F22-9774495E75B4}"/>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C1444F3E-250E-8B0F-A55F-3CD4AAABD33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D66E2B76-49EA-E567-5CD6-A822CC5C02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457F897C-8C26-48BD-AAB0-4C30481E7EFD}" type="slidenum">
              <a:rPr lang="en-CA" altLang="en-US" sz="1200">
                <a:latin typeface="Tahoma" panose="020B0604030504040204" pitchFamily="34" charset="0"/>
              </a:rPr>
              <a:pPr/>
              <a:t>4</a:t>
            </a:fld>
            <a:endParaRPr lang="en-CA" altLang="en-US" sz="1200">
              <a:latin typeface="Tahoma" panose="020B0604030504040204" pitchFamily="34" charset="0"/>
            </a:endParaRPr>
          </a:p>
        </p:txBody>
      </p:sp>
      <p:sp>
        <p:nvSpPr>
          <p:cNvPr id="51203" name="Rectangle 1026">
            <a:extLst>
              <a:ext uri="{FF2B5EF4-FFF2-40B4-BE49-F238E27FC236}">
                <a16:creationId xmlns:a16="http://schemas.microsoft.com/office/drawing/2014/main" id="{F1B6A331-1E0B-6ADC-A2D3-D57756124FF6}"/>
              </a:ext>
            </a:extLst>
          </p:cNvPr>
          <p:cNvSpPr>
            <a:spLocks noGrp="1" noRot="1" noChangeAspect="1" noChangeArrowheads="1" noTextEdit="1"/>
          </p:cNvSpPr>
          <p:nvPr>
            <p:ph type="sldImg"/>
          </p:nvPr>
        </p:nvSpPr>
        <p:spPr>
          <a:ln/>
        </p:spPr>
      </p:sp>
      <p:sp>
        <p:nvSpPr>
          <p:cNvPr id="51204" name="Rectangle 1027">
            <a:extLst>
              <a:ext uri="{FF2B5EF4-FFF2-40B4-BE49-F238E27FC236}">
                <a16:creationId xmlns:a16="http://schemas.microsoft.com/office/drawing/2014/main" id="{95B6BE03-99A4-B24A-BEDE-275324B5EF2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540EF0FF-2498-061F-CE59-B896513D09A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DC0625C1-7CDF-4386-B97E-915BA6472B91}" type="slidenum">
              <a:rPr lang="en-CA" altLang="en-US" sz="1200">
                <a:latin typeface="Tahoma" panose="020B0604030504040204" pitchFamily="34" charset="0"/>
              </a:rPr>
              <a:pPr/>
              <a:t>5</a:t>
            </a:fld>
            <a:endParaRPr lang="en-CA" altLang="en-US" sz="1200">
              <a:latin typeface="Tahoma" panose="020B0604030504040204" pitchFamily="34" charset="0"/>
            </a:endParaRPr>
          </a:p>
        </p:txBody>
      </p:sp>
      <p:sp>
        <p:nvSpPr>
          <p:cNvPr id="53251" name="Rectangle 2">
            <a:extLst>
              <a:ext uri="{FF2B5EF4-FFF2-40B4-BE49-F238E27FC236}">
                <a16:creationId xmlns:a16="http://schemas.microsoft.com/office/drawing/2014/main" id="{DFBA76C0-7EC5-7CC7-FB29-FD2F4F3BBA67}"/>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A07E8B60-A479-AE2F-A53E-357AAB3FBC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B9677A9F-BBCA-A993-A74C-AEAEDAE243F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2963039E-5379-4E4C-86D7-7AA65832A5DB}" type="slidenum">
              <a:rPr lang="en-CA" altLang="en-US" sz="1200">
                <a:latin typeface="Tahoma" panose="020B0604030504040204" pitchFamily="34" charset="0"/>
              </a:rPr>
              <a:pPr/>
              <a:t>6</a:t>
            </a:fld>
            <a:endParaRPr lang="en-CA" altLang="en-US" sz="1200">
              <a:latin typeface="Tahoma" panose="020B0604030504040204" pitchFamily="34" charset="0"/>
            </a:endParaRPr>
          </a:p>
        </p:txBody>
      </p:sp>
      <p:sp>
        <p:nvSpPr>
          <p:cNvPr id="55299" name="Rectangle 1026">
            <a:extLst>
              <a:ext uri="{FF2B5EF4-FFF2-40B4-BE49-F238E27FC236}">
                <a16:creationId xmlns:a16="http://schemas.microsoft.com/office/drawing/2014/main" id="{31082320-B20B-F42E-E899-91534F927906}"/>
              </a:ext>
            </a:extLst>
          </p:cNvPr>
          <p:cNvSpPr>
            <a:spLocks noGrp="1" noRot="1" noChangeAspect="1" noChangeArrowheads="1" noTextEdit="1"/>
          </p:cNvSpPr>
          <p:nvPr>
            <p:ph type="sldImg"/>
          </p:nvPr>
        </p:nvSpPr>
        <p:spPr>
          <a:ln/>
        </p:spPr>
      </p:sp>
      <p:sp>
        <p:nvSpPr>
          <p:cNvPr id="55300" name="Rectangle 1027">
            <a:extLst>
              <a:ext uri="{FF2B5EF4-FFF2-40B4-BE49-F238E27FC236}">
                <a16:creationId xmlns:a16="http://schemas.microsoft.com/office/drawing/2014/main" id="{BA42236C-06DC-C308-6C30-52DD2829064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26338DC3-45E9-F830-612C-C8200E4013E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E33A9A6C-F128-42ED-9A00-C5ABF4BD9375}" type="slidenum">
              <a:rPr lang="en-CA" altLang="en-US" sz="1200">
                <a:latin typeface="Tahoma" panose="020B0604030504040204" pitchFamily="34" charset="0"/>
              </a:rPr>
              <a:pPr/>
              <a:t>7</a:t>
            </a:fld>
            <a:endParaRPr lang="en-CA" altLang="en-US" sz="1200">
              <a:latin typeface="Tahoma" panose="020B0604030504040204" pitchFamily="34" charset="0"/>
            </a:endParaRPr>
          </a:p>
        </p:txBody>
      </p:sp>
      <p:sp>
        <p:nvSpPr>
          <p:cNvPr id="57347" name="Rectangle 1026">
            <a:extLst>
              <a:ext uri="{FF2B5EF4-FFF2-40B4-BE49-F238E27FC236}">
                <a16:creationId xmlns:a16="http://schemas.microsoft.com/office/drawing/2014/main" id="{DD28B18C-0E79-C56A-AEF5-7796E7B4C6DA}"/>
              </a:ext>
            </a:extLst>
          </p:cNvPr>
          <p:cNvSpPr>
            <a:spLocks noGrp="1" noRot="1" noChangeAspect="1" noChangeArrowheads="1" noTextEdit="1"/>
          </p:cNvSpPr>
          <p:nvPr>
            <p:ph type="sldImg"/>
          </p:nvPr>
        </p:nvSpPr>
        <p:spPr>
          <a:ln/>
        </p:spPr>
      </p:sp>
      <p:sp>
        <p:nvSpPr>
          <p:cNvPr id="57348" name="Rectangle 1027">
            <a:extLst>
              <a:ext uri="{FF2B5EF4-FFF2-40B4-BE49-F238E27FC236}">
                <a16:creationId xmlns:a16="http://schemas.microsoft.com/office/drawing/2014/main" id="{BA951923-7E15-A246-1AE8-333053EA40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D6FDAF20-DC36-DD44-50CB-039EAA64A1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6AF832FA-5790-42C6-B223-7B33931F73CA}" type="slidenum">
              <a:rPr lang="en-CA" altLang="en-US" sz="1200">
                <a:latin typeface="Tahoma" panose="020B0604030504040204" pitchFamily="34" charset="0"/>
              </a:rPr>
              <a:pPr/>
              <a:t>8</a:t>
            </a:fld>
            <a:endParaRPr lang="en-CA" altLang="en-US" sz="1200">
              <a:latin typeface="Tahoma" panose="020B0604030504040204" pitchFamily="34" charset="0"/>
            </a:endParaRPr>
          </a:p>
        </p:txBody>
      </p:sp>
      <p:sp>
        <p:nvSpPr>
          <p:cNvPr id="59395" name="Rectangle 1026">
            <a:extLst>
              <a:ext uri="{FF2B5EF4-FFF2-40B4-BE49-F238E27FC236}">
                <a16:creationId xmlns:a16="http://schemas.microsoft.com/office/drawing/2014/main" id="{DAA58951-D13C-645F-C9A2-CF370B6AE230}"/>
              </a:ext>
            </a:extLst>
          </p:cNvPr>
          <p:cNvSpPr>
            <a:spLocks noGrp="1" noRot="1" noChangeAspect="1" noChangeArrowheads="1" noTextEdit="1"/>
          </p:cNvSpPr>
          <p:nvPr>
            <p:ph type="sldImg"/>
          </p:nvPr>
        </p:nvSpPr>
        <p:spPr>
          <a:ln/>
        </p:spPr>
      </p:sp>
      <p:sp>
        <p:nvSpPr>
          <p:cNvPr id="59396" name="Rectangle 1027">
            <a:extLst>
              <a:ext uri="{FF2B5EF4-FFF2-40B4-BE49-F238E27FC236}">
                <a16:creationId xmlns:a16="http://schemas.microsoft.com/office/drawing/2014/main" id="{14F5337F-A0E2-1F35-F9B4-D47D3F64D30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multiple users share a large database, it is likely that most users will not </a:t>
            </a:r>
            <a:r>
              <a:rPr lang="en-US" dirty="0" err="1"/>
              <a:t>beauthorized</a:t>
            </a:r>
            <a:r>
              <a:rPr lang="en-US" dirty="0"/>
              <a:t> to access all information in the database. </a:t>
            </a:r>
          </a:p>
        </p:txBody>
      </p:sp>
      <p:sp>
        <p:nvSpPr>
          <p:cNvPr id="4" name="Slide Number Placeholder 3"/>
          <p:cNvSpPr>
            <a:spLocks noGrp="1"/>
          </p:cNvSpPr>
          <p:nvPr>
            <p:ph type="sldNum" sz="quarter" idx="10"/>
          </p:nvPr>
        </p:nvSpPr>
        <p:spPr/>
        <p:txBody>
          <a:bodyPr/>
          <a:lstStyle/>
          <a:p>
            <a:fld id="{59C60BA7-1DBA-4DDA-BCCB-6F5B4774994B}" type="slidenum">
              <a:rPr lang="en-US" smtClean="0"/>
              <a:t>9</a:t>
            </a:fld>
            <a:endParaRPr lang="en-US"/>
          </a:p>
        </p:txBody>
      </p:sp>
    </p:spTree>
    <p:extLst>
      <p:ext uri="{BB962C8B-B14F-4D97-AF65-F5344CB8AC3E}">
        <p14:creationId xmlns:p14="http://schemas.microsoft.com/office/powerpoint/2010/main" val="39553627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C60BA7-1DBA-4DDA-BCCB-6F5B4774994B}" type="slidenum">
              <a:rPr lang="en-US" smtClean="0"/>
              <a:t>10</a:t>
            </a:fld>
            <a:endParaRPr lang="en-US"/>
          </a:p>
        </p:txBody>
      </p:sp>
    </p:spTree>
    <p:extLst>
      <p:ext uri="{BB962C8B-B14F-4D97-AF65-F5344CB8AC3E}">
        <p14:creationId xmlns:p14="http://schemas.microsoft.com/office/powerpoint/2010/main" val="39482390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a:t>
            </a:r>
            <a:r>
              <a:rPr lang="en-US" baseline="0" dirty="0"/>
              <a:t> </a:t>
            </a:r>
            <a:r>
              <a:rPr lang="en-US" dirty="0"/>
              <a:t>example, if the computer system fails in the middle of a complex update transaction,</a:t>
            </a:r>
            <a:r>
              <a:rPr lang="en-US" baseline="0" dirty="0"/>
              <a:t> </a:t>
            </a:r>
            <a:r>
              <a:rPr lang="en-US" dirty="0"/>
              <a:t>the recovery subsystem is responsible for making sure that the database is</a:t>
            </a:r>
          </a:p>
          <a:p>
            <a:r>
              <a:rPr lang="en-US" dirty="0"/>
              <a:t>restored to the state it was in before the transaction started executing. Disk backup</a:t>
            </a:r>
            <a:r>
              <a:rPr lang="en-US" baseline="0" dirty="0"/>
              <a:t> </a:t>
            </a:r>
            <a:r>
              <a:rPr lang="en-US" dirty="0"/>
              <a:t>is also necessary in case of a catastrophic disk failure.</a:t>
            </a:r>
          </a:p>
        </p:txBody>
      </p:sp>
      <p:sp>
        <p:nvSpPr>
          <p:cNvPr id="4" name="Slide Number Placeholder 3"/>
          <p:cNvSpPr>
            <a:spLocks noGrp="1"/>
          </p:cNvSpPr>
          <p:nvPr>
            <p:ph type="sldNum" sz="quarter" idx="10"/>
          </p:nvPr>
        </p:nvSpPr>
        <p:spPr/>
        <p:txBody>
          <a:bodyPr/>
          <a:lstStyle/>
          <a:p>
            <a:fld id="{59C60BA7-1DBA-4DDA-BCCB-6F5B4774994B}" type="slidenum">
              <a:rPr lang="en-US" smtClean="0"/>
              <a:t>11</a:t>
            </a:fld>
            <a:endParaRPr lang="en-US"/>
          </a:p>
        </p:txBody>
      </p:sp>
    </p:spTree>
    <p:extLst>
      <p:ext uri="{BB962C8B-B14F-4D97-AF65-F5344CB8AC3E}">
        <p14:creationId xmlns:p14="http://schemas.microsoft.com/office/powerpoint/2010/main" val="8957327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t>Names and Formats of Data Elements:</a:t>
            </a:r>
            <a:r>
              <a:rPr lang="en-US" dirty="0"/>
              <a:t> For instance, ensuring that all customer names follow the same format (e.g., first name followed by last name) or that dates are consistently formatted (e.g., DD/MM/YYYY).</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a:t>Display Formats:</a:t>
            </a:r>
            <a:r>
              <a:rPr lang="en-US" dirty="0"/>
              <a:t> Ensuring that data is presented in a uniform way across all applications, such as consistent currency symbols or decimal places in financial reports.</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a:t>Report Structures:</a:t>
            </a:r>
            <a:r>
              <a:rPr lang="en-US" dirty="0"/>
              <a:t> Standardizing how information is organized and presented in reports, making it easier to compare and analyze data across different parts of the organization</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a:t>Terminology:</a:t>
            </a:r>
            <a:r>
              <a:rPr lang="en-US" dirty="0"/>
              <a:t> Ensuring that all departments use the same terms and definitions for key data elements. For example, "client" vs. "customer" should be consistently used across the board.</a:t>
            </a:r>
          </a:p>
        </p:txBody>
      </p:sp>
      <p:sp>
        <p:nvSpPr>
          <p:cNvPr id="4" name="Slide Number Placeholder 3"/>
          <p:cNvSpPr>
            <a:spLocks noGrp="1"/>
          </p:cNvSpPr>
          <p:nvPr>
            <p:ph type="sldNum" sz="quarter" idx="10"/>
          </p:nvPr>
        </p:nvSpPr>
        <p:spPr/>
        <p:txBody>
          <a:bodyPr/>
          <a:lstStyle/>
          <a:p>
            <a:fld id="{59C60BA7-1DBA-4DDA-BCCB-6F5B4774994B}" type="slidenum">
              <a:rPr lang="en-US" smtClean="0"/>
              <a:t>12</a:t>
            </a:fld>
            <a:endParaRPr lang="en-US"/>
          </a:p>
        </p:txBody>
      </p:sp>
    </p:spTree>
    <p:extLst>
      <p:ext uri="{BB962C8B-B14F-4D97-AF65-F5344CB8AC3E}">
        <p14:creationId xmlns:p14="http://schemas.microsoft.com/office/powerpoint/2010/main" val="19049341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202124"/>
                </a:solidFill>
                <a:effectLst/>
                <a:latin typeface="arial" panose="020B0604020202020204" pitchFamily="34" charset="0"/>
              </a:rPr>
              <a:t>An embedded system is </a:t>
            </a:r>
            <a:r>
              <a:rPr lang="en-US" b="1" i="0" dirty="0">
                <a:solidFill>
                  <a:srgbClr val="202124"/>
                </a:solidFill>
                <a:effectLst/>
                <a:latin typeface="arial" panose="020B0604020202020204" pitchFamily="34" charset="0"/>
              </a:rPr>
              <a:t>a microprocessor-based computer hardware system with software</a:t>
            </a:r>
            <a:r>
              <a:rPr lang="en-US" b="0" i="0" dirty="0">
                <a:solidFill>
                  <a:srgbClr val="202124"/>
                </a:solidFill>
                <a:effectLst/>
                <a:latin typeface="arial" panose="020B0604020202020204" pitchFamily="34" charset="0"/>
              </a:rPr>
              <a:t> that is designed to perform a dedicated function, either as an independent system or as a part of a large system. ... Embedded system applications range from digital watches and microwaves to hybrid vehicles and avionics.</a:t>
            </a:r>
            <a:endParaRPr lang="en-US" b="0" i="0" dirty="0">
              <a:solidFill>
                <a:srgbClr val="000000"/>
              </a:solidFill>
              <a:effectLst/>
              <a:latin typeface="segoe ui" panose="020B0502040204020203" pitchFamily="34" charset="0"/>
            </a:endParaRPr>
          </a:p>
          <a:p>
            <a:pPr algn="l"/>
            <a:r>
              <a:rPr lang="en-US" b="0" i="0" dirty="0">
                <a:solidFill>
                  <a:srgbClr val="000000"/>
                </a:solidFill>
                <a:effectLst/>
                <a:latin typeface="segoe ui" panose="020B0502040204020203" pitchFamily="34" charset="0"/>
              </a:rPr>
              <a:t>Certain industries and application have elected not to use general purpose DBMSs.</a:t>
            </a:r>
          </a:p>
          <a:p>
            <a:pPr algn="l"/>
            <a:endParaRPr lang="en-US" b="1" i="0" dirty="0">
              <a:solidFill>
                <a:srgbClr val="000000"/>
              </a:solidFill>
              <a:effectLst/>
              <a:latin typeface="segoe ui" panose="020B0502040204020203" pitchFamily="34" charset="0"/>
            </a:endParaRPr>
          </a:p>
          <a:p>
            <a:pPr algn="l"/>
            <a:r>
              <a:rPr lang="en-US" b="1" i="0" dirty="0">
                <a:solidFill>
                  <a:srgbClr val="000000"/>
                </a:solidFill>
                <a:effectLst/>
                <a:latin typeface="segoe ui" panose="020B0502040204020203" pitchFamily="34" charset="0"/>
              </a:rPr>
              <a:t>For example:</a:t>
            </a:r>
            <a:endParaRPr lang="en-US" b="0" i="0" dirty="0">
              <a:solidFill>
                <a:srgbClr val="000000"/>
              </a:solidFill>
              <a:effectLst/>
              <a:latin typeface="segoe ui" panose="020B0502040204020203" pitchFamily="34" charset="0"/>
            </a:endParaRPr>
          </a:p>
          <a:p>
            <a:pPr algn="l">
              <a:buFont typeface="+mj-lt"/>
              <a:buAutoNum type="arabicPeriod"/>
            </a:pPr>
            <a:r>
              <a:rPr lang="en-US" b="0" i="0" dirty="0">
                <a:solidFill>
                  <a:srgbClr val="000000"/>
                </a:solidFill>
                <a:effectLst/>
                <a:latin typeface="segoe ui" panose="020B0502040204020203" pitchFamily="34" charset="0"/>
              </a:rPr>
              <a:t>Many computer-aided design tools (CAD) used by students of the mechanical and civil department have proprietary file and data management software that is geared for the internal manipulation of drawing and 3D objects.</a:t>
            </a:r>
          </a:p>
          <a:p>
            <a:pPr algn="l">
              <a:buFont typeface="+mj-lt"/>
              <a:buAutoNum type="arabicPeriod"/>
            </a:pPr>
            <a:r>
              <a:rPr lang="en-US" b="0" i="0" dirty="0">
                <a:solidFill>
                  <a:srgbClr val="000000"/>
                </a:solidFill>
                <a:effectLst/>
                <a:latin typeface="segoe ui" panose="020B0502040204020203" pitchFamily="34" charset="0"/>
              </a:rPr>
              <a:t>Communication and switching systems which are basically designed by companies like AT&amp;T were early manifestations of database software that was used because they are made to run very fast with hierarchically organized data and to access and routing of calls quickly.</a:t>
            </a:r>
          </a:p>
          <a:p>
            <a:pPr algn="l">
              <a:buFont typeface="+mj-lt"/>
              <a:buAutoNum type="arabicPeriod"/>
            </a:pPr>
            <a:r>
              <a:rPr lang="en-US" b="0" i="0" dirty="0">
                <a:solidFill>
                  <a:srgbClr val="000000"/>
                </a:solidFill>
                <a:effectLst/>
                <a:latin typeface="segoe ui" panose="020B0502040204020203" pitchFamily="34" charset="0"/>
              </a:rPr>
              <a:t>Similarly, GIS implementation often implements their own data organization schemes for efficiently implementing function related to processing maps, physical contours, lines, polygons, and so on and General purpose DBMS are inadequate for their purpose.</a:t>
            </a:r>
          </a:p>
          <a:p>
            <a:br>
              <a:rPr lang="en-US" dirty="0"/>
            </a:br>
            <a:endParaRPr lang="en-US" dirty="0"/>
          </a:p>
          <a:p>
            <a:r>
              <a:rPr lang="en-US" dirty="0"/>
              <a:t>If the database system is not able to handle the complexity of data because of modeling limitations (e.g., in complex genome and protein databases)</a:t>
            </a:r>
          </a:p>
          <a:p>
            <a:r>
              <a:rPr lang="en-US" dirty="0"/>
              <a:t>If the database users need special operations not supported by the DBMS (e.g., GIS and location-based services).</a:t>
            </a:r>
          </a:p>
          <a:p>
            <a:endParaRPr lang="en-US" dirty="0"/>
          </a:p>
        </p:txBody>
      </p:sp>
      <p:sp>
        <p:nvSpPr>
          <p:cNvPr id="4" name="Slide Number Placeholder 3"/>
          <p:cNvSpPr>
            <a:spLocks noGrp="1"/>
          </p:cNvSpPr>
          <p:nvPr>
            <p:ph type="sldNum" sz="quarter" idx="10"/>
          </p:nvPr>
        </p:nvSpPr>
        <p:spPr/>
        <p:txBody>
          <a:bodyPr/>
          <a:lstStyle/>
          <a:p>
            <a:fld id="{59C60BA7-1DBA-4DDA-BCCB-6F5B4774994B}" type="slidenum">
              <a:rPr lang="en-US" smtClean="0"/>
              <a:t>14</a:t>
            </a:fld>
            <a:endParaRPr lang="en-US"/>
          </a:p>
        </p:txBody>
      </p:sp>
    </p:spTree>
    <p:extLst>
      <p:ext uri="{BB962C8B-B14F-4D97-AF65-F5344CB8AC3E}">
        <p14:creationId xmlns:p14="http://schemas.microsoft.com/office/powerpoint/2010/main" val="41187482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8/25/2024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1544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8/25/2024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573694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9B51B5-5729-4227-8149-0FFB0D6660E2}" type="datetimeFigureOut">
              <a:rPr lang="en-US" smtClean="0"/>
              <a:t>8/25/2024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0702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9B51B5-5729-4227-8149-0FFB0D6660E2}" type="datetimeFigureOut">
              <a:rPr lang="en-US" smtClean="0"/>
              <a:t>8/25/2024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65086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9B51B5-5729-4227-8149-0FFB0D6660E2}" type="datetimeFigureOut">
              <a:rPr lang="en-US" smtClean="0"/>
              <a:t>8/25/2024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39710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9B51B5-5729-4227-8149-0FFB0D6660E2}" type="datetimeFigureOut">
              <a:rPr lang="en-US" smtClean="0"/>
              <a:t>8/25/2024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341184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69B51B5-5729-4227-8149-0FFB0D6660E2}" type="datetimeFigureOut">
              <a:rPr lang="en-US" smtClean="0"/>
              <a:t>8/25/2024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194977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69B51B5-5729-4227-8149-0FFB0D6660E2}" type="datetimeFigureOut">
              <a:rPr lang="en-US" smtClean="0"/>
              <a:t>8/25/2024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47AE719-0370-4FEF-9E76-542079ADE761}" type="slidenum">
              <a:rPr lang="en-US" smtClean="0"/>
              <a:t>‹#›</a:t>
            </a:fld>
            <a:endParaRPr lang="en-US"/>
          </a:p>
        </p:txBody>
      </p:sp>
    </p:spTree>
    <p:extLst>
      <p:ext uri="{BB962C8B-B14F-4D97-AF65-F5344CB8AC3E}">
        <p14:creationId xmlns:p14="http://schemas.microsoft.com/office/powerpoint/2010/main" val="3396684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9B51B5-5729-4227-8149-0FFB0D6660E2}" type="datetimeFigureOut">
              <a:rPr lang="en-US" smtClean="0"/>
              <a:t>8/25/2024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48418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8/25/2024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421544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8/25/2024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402662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69B51B5-5729-4227-8149-0FFB0D6660E2}" type="datetimeFigureOut">
              <a:rPr lang="en-US" smtClean="0"/>
              <a:t>8/25/2024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47AE719-0370-4FEF-9E76-542079ADE76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0099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lina.arshad@nu.edu.p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4B019-E1ED-7643-5A50-74CEA7F41E88}"/>
              </a:ext>
            </a:extLst>
          </p:cNvPr>
          <p:cNvSpPr>
            <a:spLocks noGrp="1"/>
          </p:cNvSpPr>
          <p:nvPr>
            <p:ph type="ctrTitle"/>
          </p:nvPr>
        </p:nvSpPr>
        <p:spPr>
          <a:xfrm>
            <a:off x="90535" y="116380"/>
            <a:ext cx="11588435" cy="3065732"/>
          </a:xfrm>
        </p:spPr>
        <p:txBody>
          <a:bodyPr/>
          <a:lstStyle/>
          <a:p>
            <a:pPr algn="ctr"/>
            <a:br>
              <a:rPr lang="en-US" b="1" dirty="0">
                <a:solidFill>
                  <a:schemeClr val="tx1"/>
                </a:solidFill>
              </a:rPr>
            </a:br>
            <a:r>
              <a:rPr lang="en-US" b="1" dirty="0">
                <a:solidFill>
                  <a:schemeClr val="tx1"/>
                </a:solidFill>
              </a:rPr>
              <a:t>Database System</a:t>
            </a:r>
            <a:endParaRPr lang="en-US" sz="7200" dirty="0"/>
          </a:p>
        </p:txBody>
      </p:sp>
      <p:sp>
        <p:nvSpPr>
          <p:cNvPr id="3" name="Subtitle 2">
            <a:extLst>
              <a:ext uri="{FF2B5EF4-FFF2-40B4-BE49-F238E27FC236}">
                <a16:creationId xmlns:a16="http://schemas.microsoft.com/office/drawing/2014/main" id="{44E9F82C-BBA7-3495-1097-BEDB54FFFDF4}"/>
              </a:ext>
            </a:extLst>
          </p:cNvPr>
          <p:cNvSpPr>
            <a:spLocks noGrp="1"/>
          </p:cNvSpPr>
          <p:nvPr>
            <p:ph type="subTitle" idx="1"/>
          </p:nvPr>
        </p:nvSpPr>
        <p:spPr>
          <a:xfrm>
            <a:off x="1066800" y="3675889"/>
            <a:ext cx="10058400" cy="1922731"/>
          </a:xfrm>
        </p:spPr>
        <p:txBody>
          <a:bodyPr>
            <a:normAutofit/>
          </a:bodyPr>
          <a:lstStyle/>
          <a:p>
            <a:pPr algn="ctr"/>
            <a:r>
              <a:rPr lang="en-US" sz="4400" b="1" dirty="0">
                <a:solidFill>
                  <a:schemeClr val="tx1"/>
                </a:solidFill>
                <a:cs typeface="Times New Roman" panose="02020603050405020304" pitchFamily="18" charset="0"/>
              </a:rPr>
              <a:t>Lecture 3</a:t>
            </a:r>
          </a:p>
          <a:p>
            <a:pPr algn="ctr"/>
            <a:r>
              <a:rPr lang="en-US" dirty="0">
                <a:solidFill>
                  <a:schemeClr val="tx1"/>
                </a:solidFill>
                <a:latin typeface="Times New Roman" panose="02020603050405020304" pitchFamily="18" charset="0"/>
                <a:cs typeface="Times New Roman" panose="02020603050405020304" pitchFamily="18" charset="0"/>
              </a:rPr>
              <a:t>Introduction</a:t>
            </a:r>
          </a:p>
        </p:txBody>
      </p:sp>
      <p:sp>
        <p:nvSpPr>
          <p:cNvPr id="5" name="TextBox 4">
            <a:extLst>
              <a:ext uri="{FF2B5EF4-FFF2-40B4-BE49-F238E27FC236}">
                <a16:creationId xmlns:a16="http://schemas.microsoft.com/office/drawing/2014/main" id="{75DE143E-53E3-798D-07E7-8D85DD770A95}"/>
              </a:ext>
            </a:extLst>
          </p:cNvPr>
          <p:cNvSpPr txBox="1"/>
          <p:nvPr/>
        </p:nvSpPr>
        <p:spPr>
          <a:xfrm>
            <a:off x="7794278" y="4637254"/>
            <a:ext cx="4397722" cy="1384995"/>
          </a:xfrm>
          <a:prstGeom prst="rect">
            <a:avLst/>
          </a:prstGeom>
          <a:noFill/>
        </p:spPr>
        <p:txBody>
          <a:bodyPr wrap="square">
            <a:spAutoFit/>
          </a:bodyPr>
          <a:lstStyle/>
          <a:p>
            <a:pPr algn="ctr"/>
            <a:r>
              <a:rPr lang="en-US" sz="2800" dirty="0">
                <a:solidFill>
                  <a:schemeClr val="tx1"/>
                </a:solidFill>
                <a:cs typeface="Times New Roman" panose="02020603050405020304" pitchFamily="18" charset="0"/>
              </a:rPr>
              <a:t>Alina Arshad</a:t>
            </a:r>
          </a:p>
          <a:p>
            <a:pPr algn="ctr"/>
            <a:r>
              <a:rPr lang="en-US" sz="2800" dirty="0">
                <a:cs typeface="Times New Roman" panose="02020603050405020304" pitchFamily="18" charset="0"/>
                <a:hlinkClick r:id="rId3"/>
              </a:rPr>
              <a:t>alina.arshad@nu.edu.pk</a:t>
            </a:r>
            <a:endParaRPr lang="en-US" sz="2800" dirty="0">
              <a:cs typeface="Times New Roman" panose="02020603050405020304" pitchFamily="18" charset="0"/>
            </a:endParaRPr>
          </a:p>
          <a:p>
            <a:pPr algn="ctr"/>
            <a:r>
              <a:rPr lang="en-US" sz="2800" dirty="0">
                <a:solidFill>
                  <a:schemeClr val="tx1"/>
                </a:solidFill>
                <a:cs typeface="Times New Roman" panose="02020603050405020304" pitchFamily="18" charset="0"/>
              </a:rPr>
              <a:t>Basement 2 Ro</a:t>
            </a:r>
            <a:r>
              <a:rPr lang="en-US" sz="2800" dirty="0">
                <a:cs typeface="Times New Roman" panose="02020603050405020304" pitchFamily="18" charset="0"/>
              </a:rPr>
              <a:t>om#4</a:t>
            </a:r>
            <a:endParaRPr lang="en-US" sz="2800" dirty="0">
              <a:solidFill>
                <a:schemeClr val="tx1"/>
              </a:solidFill>
              <a:cs typeface="Times New Roman" panose="02020603050405020304" pitchFamily="18" charset="0"/>
            </a:endParaRPr>
          </a:p>
        </p:txBody>
      </p:sp>
    </p:spTree>
    <p:extLst>
      <p:ext uri="{BB962C8B-B14F-4D97-AF65-F5344CB8AC3E}">
        <p14:creationId xmlns:p14="http://schemas.microsoft.com/office/powerpoint/2010/main" val="3322361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3">
            <a:extLst>
              <a:ext uri="{FF2B5EF4-FFF2-40B4-BE49-F238E27FC236}">
                <a16:creationId xmlns:a16="http://schemas.microsoft.com/office/drawing/2014/main" id="{B6115720-8BC6-487B-8DD2-6C9C9C908838}"/>
              </a:ext>
            </a:extLst>
          </p:cNvPr>
          <p:cNvSpPr>
            <a:spLocks noGrp="1" noChangeArrowheads="1"/>
          </p:cNvSpPr>
          <p:nvPr>
            <p:ph type="title"/>
          </p:nvPr>
        </p:nvSpPr>
        <p:spPr/>
        <p:txBody>
          <a:bodyPr/>
          <a:lstStyle/>
          <a:p>
            <a:r>
              <a:rPr lang="en-US" altLang="en-US" dirty="0">
                <a:solidFill>
                  <a:schemeClr val="tx1"/>
                </a:solidFill>
              </a:rPr>
              <a:t>Users</a:t>
            </a:r>
            <a:endParaRPr lang="en-IN" altLang="en-US" dirty="0">
              <a:solidFill>
                <a:schemeClr val="tx1"/>
              </a:solidFill>
            </a:endParaRPr>
          </a:p>
        </p:txBody>
      </p:sp>
      <p:sp>
        <p:nvSpPr>
          <p:cNvPr id="22531" name="Text Placeholder 4">
            <a:extLst>
              <a:ext uri="{FF2B5EF4-FFF2-40B4-BE49-F238E27FC236}">
                <a16:creationId xmlns:a16="http://schemas.microsoft.com/office/drawing/2014/main" id="{C672D55F-09FA-9956-EFC0-6EF8B502A16F}"/>
              </a:ext>
            </a:extLst>
          </p:cNvPr>
          <p:cNvSpPr>
            <a:spLocks noGrp="1" noChangeArrowheads="1"/>
          </p:cNvSpPr>
          <p:nvPr>
            <p:ph type="body" idx="1"/>
          </p:nvPr>
        </p:nvSpPr>
        <p:spPr/>
        <p:txBody>
          <a:bodyPr/>
          <a:lstStyle/>
          <a:p>
            <a:pPr marL="0" indent="0">
              <a:buNone/>
            </a:pPr>
            <a:r>
              <a:rPr lang="en-US" altLang="en-US" sz="2400" dirty="0">
                <a:solidFill>
                  <a:schemeClr val="tx1"/>
                </a:solidFill>
              </a:rPr>
              <a:t>A </a:t>
            </a:r>
            <a:r>
              <a:rPr lang="en-US" altLang="en-US" sz="2400" b="1" dirty="0">
                <a:solidFill>
                  <a:schemeClr val="tx1"/>
                </a:solidFill>
              </a:rPr>
              <a:t>user</a:t>
            </a:r>
            <a:r>
              <a:rPr lang="en-US" altLang="en-US" sz="2400" dirty="0">
                <a:solidFill>
                  <a:schemeClr val="tx1"/>
                </a:solidFill>
              </a:rPr>
              <a:t> of a database system will:</a:t>
            </a:r>
          </a:p>
          <a:p>
            <a:pPr lvl="1">
              <a:buFont typeface="Arial" panose="020B0604020202020204" pitchFamily="34" charset="0"/>
              <a:buChar char="•"/>
            </a:pPr>
            <a:r>
              <a:rPr lang="en-US" altLang="en-US" sz="2400" dirty="0">
                <a:solidFill>
                  <a:schemeClr val="tx1"/>
                </a:solidFill>
              </a:rPr>
              <a:t>Use a database application to track things</a:t>
            </a:r>
          </a:p>
          <a:p>
            <a:pPr lvl="1">
              <a:buFont typeface="Arial" panose="020B0604020202020204" pitchFamily="34" charset="0"/>
              <a:buChar char="•"/>
            </a:pPr>
            <a:r>
              <a:rPr lang="en-US" altLang="en-US" sz="2400" dirty="0">
                <a:solidFill>
                  <a:schemeClr val="tx1"/>
                </a:solidFill>
              </a:rPr>
              <a:t>Use forms to enter, read, delete, and query data</a:t>
            </a:r>
          </a:p>
          <a:p>
            <a:pPr lvl="1">
              <a:buFont typeface="Arial" panose="020B0604020202020204" pitchFamily="34" charset="0"/>
              <a:buChar char="•"/>
            </a:pPr>
            <a:r>
              <a:rPr lang="en-US" altLang="en-US" sz="2400" dirty="0">
                <a:solidFill>
                  <a:schemeClr val="tx1"/>
                </a:solidFill>
              </a:rPr>
              <a:t>Produce reports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4">
            <a:extLst>
              <a:ext uri="{FF2B5EF4-FFF2-40B4-BE49-F238E27FC236}">
                <a16:creationId xmlns:a16="http://schemas.microsoft.com/office/drawing/2014/main" id="{243AD0FF-8DD7-73FF-E93B-082E5FE81238}"/>
              </a:ext>
            </a:extLst>
          </p:cNvPr>
          <p:cNvSpPr>
            <a:spLocks noGrp="1" noChangeArrowheads="1"/>
          </p:cNvSpPr>
          <p:nvPr>
            <p:ph type="title"/>
          </p:nvPr>
        </p:nvSpPr>
        <p:spPr/>
        <p:txBody>
          <a:bodyPr/>
          <a:lstStyle/>
          <a:p>
            <a:pPr eaLnBrk="1" hangingPunct="1"/>
            <a:r>
              <a:rPr lang="en-US" altLang="en-US" dirty="0">
                <a:solidFill>
                  <a:schemeClr val="tx1"/>
                </a:solidFill>
              </a:rPr>
              <a:t>Database Users</a:t>
            </a:r>
          </a:p>
        </p:txBody>
      </p:sp>
      <p:sp>
        <p:nvSpPr>
          <p:cNvPr id="48132" name="Rectangle 5">
            <a:extLst>
              <a:ext uri="{FF2B5EF4-FFF2-40B4-BE49-F238E27FC236}">
                <a16:creationId xmlns:a16="http://schemas.microsoft.com/office/drawing/2014/main" id="{E257AF1D-AD68-1AD7-9126-2D8C04C1FF74}"/>
              </a:ext>
            </a:extLst>
          </p:cNvPr>
          <p:cNvSpPr>
            <a:spLocks noGrp="1" noChangeArrowheads="1"/>
          </p:cNvSpPr>
          <p:nvPr>
            <p:ph type="body" idx="1"/>
          </p:nvPr>
        </p:nvSpPr>
        <p:spPr/>
        <p:txBody>
          <a:bodyPr>
            <a:normAutofit/>
          </a:bodyPr>
          <a:lstStyle/>
          <a:p>
            <a:pPr eaLnBrk="1" hangingPunct="1"/>
            <a:r>
              <a:rPr lang="en-US" altLang="en-US" sz="2800" dirty="0">
                <a:solidFill>
                  <a:schemeClr val="tx1"/>
                </a:solidFill>
              </a:rPr>
              <a:t>Users may be divided into</a:t>
            </a:r>
          </a:p>
          <a:p>
            <a:pPr lvl="1" eaLnBrk="1" hangingPunct="1"/>
            <a:r>
              <a:rPr lang="en-US" altLang="en-US" sz="2400" dirty="0">
                <a:solidFill>
                  <a:schemeClr val="tx1"/>
                </a:solidFill>
              </a:rPr>
              <a:t>Those who actually use and control the database content, and those who design, develop and maintain database applications (called “Actors on the Scene”), and</a:t>
            </a:r>
          </a:p>
          <a:p>
            <a:pPr lvl="1" eaLnBrk="1" hangingPunct="1"/>
            <a:r>
              <a:rPr lang="en-US" altLang="en-US" sz="2400" dirty="0">
                <a:solidFill>
                  <a:schemeClr val="tx1"/>
                </a:solidFill>
              </a:rPr>
              <a:t>Those who design and develop the DBMS software and related tools, and the computer systems operators (called “Workers Behind the Scene”).</a:t>
            </a:r>
          </a:p>
          <a:p>
            <a:pPr eaLnBrk="1" hangingPunct="1"/>
            <a:endParaRPr lang="en-US" altLang="en-US" sz="2800" dirty="0">
              <a:solidFill>
                <a:schemeClr val="tx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4">
            <a:extLst>
              <a:ext uri="{FF2B5EF4-FFF2-40B4-BE49-F238E27FC236}">
                <a16:creationId xmlns:a16="http://schemas.microsoft.com/office/drawing/2014/main" id="{F70C6DF0-4353-AE29-1E82-357EB4BB0E0D}"/>
              </a:ext>
            </a:extLst>
          </p:cNvPr>
          <p:cNvSpPr>
            <a:spLocks noGrp="1" noChangeArrowheads="1"/>
          </p:cNvSpPr>
          <p:nvPr>
            <p:ph type="title"/>
          </p:nvPr>
        </p:nvSpPr>
        <p:spPr>
          <a:xfrm>
            <a:off x="1097280" y="758949"/>
            <a:ext cx="10058400" cy="992187"/>
          </a:xfrm>
        </p:spPr>
        <p:txBody>
          <a:bodyPr>
            <a:noAutofit/>
          </a:bodyPr>
          <a:lstStyle/>
          <a:p>
            <a:pPr eaLnBrk="1" hangingPunct="1"/>
            <a:r>
              <a:rPr lang="en-US" altLang="en-US" dirty="0">
                <a:solidFill>
                  <a:schemeClr val="tx1"/>
                </a:solidFill>
              </a:rPr>
              <a:t>Database Users – Actors on the Scene </a:t>
            </a:r>
          </a:p>
        </p:txBody>
      </p:sp>
      <p:sp>
        <p:nvSpPr>
          <p:cNvPr id="50180" name="Rectangle 5">
            <a:extLst>
              <a:ext uri="{FF2B5EF4-FFF2-40B4-BE49-F238E27FC236}">
                <a16:creationId xmlns:a16="http://schemas.microsoft.com/office/drawing/2014/main" id="{93B93DB9-27AC-3502-1982-1DE9859578C9}"/>
              </a:ext>
            </a:extLst>
          </p:cNvPr>
          <p:cNvSpPr>
            <a:spLocks noGrp="1" noChangeArrowheads="1"/>
          </p:cNvSpPr>
          <p:nvPr>
            <p:ph type="body" idx="1"/>
          </p:nvPr>
        </p:nvSpPr>
        <p:spPr/>
        <p:txBody>
          <a:bodyPr>
            <a:normAutofit/>
          </a:bodyPr>
          <a:lstStyle/>
          <a:p>
            <a:pPr eaLnBrk="1" hangingPunct="1"/>
            <a:r>
              <a:rPr lang="en-US" altLang="en-US" sz="2400" dirty="0">
                <a:solidFill>
                  <a:schemeClr val="tx1"/>
                </a:solidFill>
              </a:rPr>
              <a:t>Actors on the scene</a:t>
            </a:r>
          </a:p>
          <a:p>
            <a:pPr lvl="1" eaLnBrk="1" hangingPunct="1"/>
            <a:r>
              <a:rPr lang="en-US" altLang="en-US" sz="2400" b="1" dirty="0">
                <a:solidFill>
                  <a:schemeClr val="tx1"/>
                </a:solidFill>
              </a:rPr>
              <a:t>Database administrators:</a:t>
            </a:r>
          </a:p>
          <a:p>
            <a:pPr lvl="2" eaLnBrk="1" hangingPunct="1"/>
            <a:r>
              <a:rPr lang="en-US" altLang="en-US" sz="2400" dirty="0">
                <a:solidFill>
                  <a:schemeClr val="tx1"/>
                </a:solidFill>
              </a:rPr>
              <a:t>Responsible for authorizing access to the database, for coordinating and monitoring its use, acquiring software and hardware resources, controlling its use and monitoring efficiency of operations.</a:t>
            </a:r>
          </a:p>
          <a:p>
            <a:pPr lvl="1" eaLnBrk="1" hangingPunct="1"/>
            <a:r>
              <a:rPr lang="en-US" altLang="en-US" sz="2400" b="1" dirty="0">
                <a:solidFill>
                  <a:schemeClr val="tx1"/>
                </a:solidFill>
              </a:rPr>
              <a:t>Database Designers:</a:t>
            </a:r>
          </a:p>
          <a:p>
            <a:pPr lvl="2" eaLnBrk="1" hangingPunct="1"/>
            <a:r>
              <a:rPr lang="en-US" altLang="en-US" sz="2400" dirty="0">
                <a:solidFill>
                  <a:schemeClr val="tx1"/>
                </a:solidFill>
              </a:rPr>
              <a:t>Responsible to define the content, the structure, the constraints, and functions or transactions against the database. They must communicate with the end-users and understand their needs.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4">
            <a:extLst>
              <a:ext uri="{FF2B5EF4-FFF2-40B4-BE49-F238E27FC236}">
                <a16:creationId xmlns:a16="http://schemas.microsoft.com/office/drawing/2014/main" id="{9A62567B-9096-AFD3-D37C-67FAC6C4854D}"/>
              </a:ext>
            </a:extLst>
          </p:cNvPr>
          <p:cNvSpPr>
            <a:spLocks noGrp="1" noChangeArrowheads="1"/>
          </p:cNvSpPr>
          <p:nvPr>
            <p:ph type="title"/>
          </p:nvPr>
        </p:nvSpPr>
        <p:spPr/>
        <p:txBody>
          <a:bodyPr/>
          <a:lstStyle/>
          <a:p>
            <a:pPr eaLnBrk="1" hangingPunct="1"/>
            <a:r>
              <a:rPr lang="en-US" altLang="en-US" dirty="0">
                <a:solidFill>
                  <a:schemeClr val="tx1"/>
                </a:solidFill>
              </a:rPr>
              <a:t>Database End Users</a:t>
            </a:r>
          </a:p>
        </p:txBody>
      </p:sp>
      <p:sp>
        <p:nvSpPr>
          <p:cNvPr id="52228" name="Rectangle 5">
            <a:extLst>
              <a:ext uri="{FF2B5EF4-FFF2-40B4-BE49-F238E27FC236}">
                <a16:creationId xmlns:a16="http://schemas.microsoft.com/office/drawing/2014/main" id="{211EB665-4CF3-2C1B-92C8-B188F0B2CF6C}"/>
              </a:ext>
            </a:extLst>
          </p:cNvPr>
          <p:cNvSpPr>
            <a:spLocks noGrp="1" noChangeArrowheads="1"/>
          </p:cNvSpPr>
          <p:nvPr>
            <p:ph type="body" idx="1"/>
          </p:nvPr>
        </p:nvSpPr>
        <p:spPr>
          <a:xfrm>
            <a:off x="731520" y="1845733"/>
            <a:ext cx="11277600" cy="4514123"/>
          </a:xfrm>
        </p:spPr>
        <p:txBody>
          <a:bodyPr>
            <a:noAutofit/>
          </a:bodyPr>
          <a:lstStyle/>
          <a:p>
            <a:pPr eaLnBrk="1" hangingPunct="1">
              <a:lnSpc>
                <a:spcPct val="90000"/>
              </a:lnSpc>
            </a:pPr>
            <a:r>
              <a:rPr lang="en-US" altLang="en-US" sz="2400" dirty="0">
                <a:solidFill>
                  <a:schemeClr val="tx1"/>
                </a:solidFill>
              </a:rPr>
              <a:t>Actors on the scene (continued)</a:t>
            </a:r>
          </a:p>
          <a:p>
            <a:pPr lvl="1" eaLnBrk="1" hangingPunct="1">
              <a:lnSpc>
                <a:spcPct val="90000"/>
              </a:lnSpc>
            </a:pPr>
            <a:r>
              <a:rPr lang="en-US" altLang="en-US" sz="2400" b="1" dirty="0">
                <a:solidFill>
                  <a:schemeClr val="tx1"/>
                </a:solidFill>
              </a:rPr>
              <a:t>End-users: </a:t>
            </a:r>
            <a:r>
              <a:rPr lang="en-US" altLang="en-US" sz="2400" dirty="0">
                <a:solidFill>
                  <a:schemeClr val="tx1"/>
                </a:solidFill>
              </a:rPr>
              <a:t>They use the data for queries, reports and some of them update the database content. End-users can be categorized into:</a:t>
            </a:r>
          </a:p>
          <a:p>
            <a:pPr lvl="2" eaLnBrk="1" hangingPunct="1">
              <a:lnSpc>
                <a:spcPct val="90000"/>
              </a:lnSpc>
            </a:pPr>
            <a:r>
              <a:rPr lang="en-US" altLang="en-US" sz="2400" b="1" dirty="0">
                <a:solidFill>
                  <a:schemeClr val="tx1"/>
                </a:solidFill>
              </a:rPr>
              <a:t>Naïve or Parametric</a:t>
            </a:r>
            <a:r>
              <a:rPr lang="en-US" altLang="en-US" sz="2400" dirty="0">
                <a:solidFill>
                  <a:schemeClr val="tx1"/>
                </a:solidFill>
              </a:rPr>
              <a:t>: they make up a large section of the end-user population.</a:t>
            </a:r>
          </a:p>
          <a:p>
            <a:pPr lvl="3" eaLnBrk="1" hangingPunct="1">
              <a:lnSpc>
                <a:spcPct val="90000"/>
              </a:lnSpc>
            </a:pPr>
            <a:r>
              <a:rPr lang="en-US" altLang="en-US" sz="2400" dirty="0">
                <a:solidFill>
                  <a:schemeClr val="tx1"/>
                </a:solidFill>
              </a:rPr>
              <a:t>They use previously well-defined functions in the form of  “canned transactions” against the database.</a:t>
            </a:r>
          </a:p>
          <a:p>
            <a:pPr lvl="3" eaLnBrk="1" hangingPunct="1">
              <a:lnSpc>
                <a:spcPct val="90000"/>
              </a:lnSpc>
            </a:pPr>
            <a:r>
              <a:rPr lang="en-US" altLang="en-US" sz="2400" dirty="0">
                <a:solidFill>
                  <a:schemeClr val="tx1"/>
                </a:solidFill>
              </a:rPr>
              <a:t>Users of Mobile Apps mostly fall in this category</a:t>
            </a:r>
          </a:p>
          <a:p>
            <a:pPr lvl="3" eaLnBrk="1" hangingPunct="1">
              <a:lnSpc>
                <a:spcPct val="90000"/>
              </a:lnSpc>
            </a:pPr>
            <a:r>
              <a:rPr lang="en-US" altLang="en-US" sz="2400" dirty="0">
                <a:solidFill>
                  <a:schemeClr val="tx1"/>
                </a:solidFill>
              </a:rPr>
              <a:t>Bank-tellers or reservation clerks are parametric users who do this activity for an entire shift of operations.</a:t>
            </a:r>
          </a:p>
          <a:p>
            <a:pPr lvl="3" eaLnBrk="1" hangingPunct="1">
              <a:lnSpc>
                <a:spcPct val="90000"/>
              </a:lnSpc>
            </a:pPr>
            <a:r>
              <a:rPr lang="en-US" altLang="en-US" sz="2400" dirty="0">
                <a:solidFill>
                  <a:schemeClr val="tx1"/>
                </a:solidFill>
              </a:rPr>
              <a:t>Social Media Users post and read information from websites</a:t>
            </a:r>
          </a:p>
          <a:p>
            <a:pPr lvl="2" eaLnBrk="1" hangingPunct="1">
              <a:lnSpc>
                <a:spcPct val="90000"/>
              </a:lnSpc>
            </a:pPr>
            <a:r>
              <a:rPr lang="en-US" altLang="en-US" sz="2400" b="1" dirty="0">
                <a:solidFill>
                  <a:schemeClr val="tx1"/>
                </a:solidFill>
              </a:rPr>
              <a:t>Casual</a:t>
            </a:r>
            <a:r>
              <a:rPr lang="en-US" altLang="en-US" sz="2400" dirty="0">
                <a:solidFill>
                  <a:schemeClr val="tx1"/>
                </a:solidFill>
              </a:rPr>
              <a:t>: access database occasionally when needed.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4">
            <a:extLst>
              <a:ext uri="{FF2B5EF4-FFF2-40B4-BE49-F238E27FC236}">
                <a16:creationId xmlns:a16="http://schemas.microsoft.com/office/drawing/2014/main" id="{840BFCA5-4344-1482-79B3-46408EAB7FF0}"/>
              </a:ext>
            </a:extLst>
          </p:cNvPr>
          <p:cNvSpPr>
            <a:spLocks noGrp="1" noChangeArrowheads="1"/>
          </p:cNvSpPr>
          <p:nvPr>
            <p:ph type="title"/>
          </p:nvPr>
        </p:nvSpPr>
        <p:spPr/>
        <p:txBody>
          <a:bodyPr/>
          <a:lstStyle/>
          <a:p>
            <a:pPr eaLnBrk="1" hangingPunct="1"/>
            <a:r>
              <a:rPr lang="en-US" altLang="en-US" dirty="0">
                <a:solidFill>
                  <a:schemeClr val="tx1"/>
                </a:solidFill>
              </a:rPr>
              <a:t>Database End Users (continued)</a:t>
            </a:r>
          </a:p>
        </p:txBody>
      </p:sp>
      <p:sp>
        <p:nvSpPr>
          <p:cNvPr id="54276" name="Rectangle 5">
            <a:extLst>
              <a:ext uri="{FF2B5EF4-FFF2-40B4-BE49-F238E27FC236}">
                <a16:creationId xmlns:a16="http://schemas.microsoft.com/office/drawing/2014/main" id="{DBE463CB-2844-D905-EBD8-3B64EA1AF585}"/>
              </a:ext>
            </a:extLst>
          </p:cNvPr>
          <p:cNvSpPr>
            <a:spLocks noGrp="1" noChangeArrowheads="1"/>
          </p:cNvSpPr>
          <p:nvPr>
            <p:ph type="body" idx="1"/>
          </p:nvPr>
        </p:nvSpPr>
        <p:spPr>
          <a:xfrm>
            <a:off x="762000" y="1906694"/>
            <a:ext cx="10759440" cy="4023360"/>
          </a:xfrm>
        </p:spPr>
        <p:txBody>
          <a:bodyPr>
            <a:normAutofit/>
          </a:bodyPr>
          <a:lstStyle/>
          <a:p>
            <a:pPr lvl="2" eaLnBrk="1" hangingPunct="1"/>
            <a:r>
              <a:rPr lang="en-US" altLang="en-US" sz="2400" b="1" dirty="0">
                <a:solidFill>
                  <a:schemeClr val="tx1"/>
                </a:solidFill>
              </a:rPr>
              <a:t>Sophisticated:</a:t>
            </a:r>
          </a:p>
          <a:p>
            <a:pPr lvl="3" eaLnBrk="1" hangingPunct="1"/>
            <a:r>
              <a:rPr lang="en-US" altLang="en-US" sz="2400" dirty="0">
                <a:solidFill>
                  <a:schemeClr val="tx1"/>
                </a:solidFill>
              </a:rPr>
              <a:t>These include business analysts, scientists, engineers, others thoroughly familiar with the system capabilities.</a:t>
            </a:r>
          </a:p>
          <a:p>
            <a:pPr lvl="3" eaLnBrk="1" hangingPunct="1"/>
            <a:r>
              <a:rPr lang="en-US" altLang="en-US" sz="2400" dirty="0">
                <a:solidFill>
                  <a:schemeClr val="tx1"/>
                </a:solidFill>
              </a:rPr>
              <a:t>Many use tools in the form of software packages that work closely with the stored database.</a:t>
            </a:r>
          </a:p>
          <a:p>
            <a:pPr lvl="2" eaLnBrk="1" hangingPunct="1"/>
            <a:r>
              <a:rPr lang="en-US" altLang="en-US" sz="2400" b="1" dirty="0">
                <a:solidFill>
                  <a:schemeClr val="tx1"/>
                </a:solidFill>
              </a:rPr>
              <a:t>Stand-alone:</a:t>
            </a:r>
          </a:p>
          <a:p>
            <a:pPr lvl="3" eaLnBrk="1" hangingPunct="1"/>
            <a:r>
              <a:rPr lang="en-US" altLang="en-US" sz="2400" dirty="0">
                <a:solidFill>
                  <a:schemeClr val="tx1"/>
                </a:solidFill>
              </a:rPr>
              <a:t>Mostly maintain personal databases using ready-to-use packaged applications.</a:t>
            </a:r>
          </a:p>
          <a:p>
            <a:pPr lvl="3" eaLnBrk="1" hangingPunct="1"/>
            <a:r>
              <a:rPr lang="en-US" altLang="en-US" sz="2400" dirty="0">
                <a:solidFill>
                  <a:schemeClr val="tx1"/>
                </a:solidFill>
              </a:rPr>
              <a:t>An example is the user of a tax program that creates its own internal database.</a:t>
            </a:r>
          </a:p>
          <a:p>
            <a:pPr lvl="3" eaLnBrk="1" hangingPunct="1"/>
            <a:r>
              <a:rPr lang="en-US" altLang="en-US" sz="2400" dirty="0">
                <a:solidFill>
                  <a:schemeClr val="tx1"/>
                </a:solidFill>
              </a:rPr>
              <a:t>Another example is a user that maintains a database of personal photos and videos.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4">
            <a:extLst>
              <a:ext uri="{FF2B5EF4-FFF2-40B4-BE49-F238E27FC236}">
                <a16:creationId xmlns:a16="http://schemas.microsoft.com/office/drawing/2014/main" id="{99D7502D-40C3-C10C-67B3-36B4780E2119}"/>
              </a:ext>
            </a:extLst>
          </p:cNvPr>
          <p:cNvSpPr>
            <a:spLocks noGrp="1" noChangeArrowheads="1"/>
          </p:cNvSpPr>
          <p:nvPr>
            <p:ph type="title"/>
          </p:nvPr>
        </p:nvSpPr>
        <p:spPr>
          <a:xfrm>
            <a:off x="1097280" y="286603"/>
            <a:ext cx="10957560" cy="1450757"/>
          </a:xfrm>
        </p:spPr>
        <p:txBody>
          <a:bodyPr/>
          <a:lstStyle/>
          <a:p>
            <a:pPr eaLnBrk="1" hangingPunct="1"/>
            <a:r>
              <a:rPr lang="en-US" altLang="en-US" dirty="0">
                <a:solidFill>
                  <a:schemeClr val="tx1"/>
                </a:solidFill>
              </a:rPr>
              <a:t>Database Users – Actors on the Scene (continued)</a:t>
            </a:r>
          </a:p>
        </p:txBody>
      </p:sp>
      <p:sp>
        <p:nvSpPr>
          <p:cNvPr id="56324" name="Rectangle 5">
            <a:extLst>
              <a:ext uri="{FF2B5EF4-FFF2-40B4-BE49-F238E27FC236}">
                <a16:creationId xmlns:a16="http://schemas.microsoft.com/office/drawing/2014/main" id="{BCB38A2B-8030-53CF-355B-CCE2AA2D0F04}"/>
              </a:ext>
            </a:extLst>
          </p:cNvPr>
          <p:cNvSpPr>
            <a:spLocks noGrp="1" noChangeArrowheads="1"/>
          </p:cNvSpPr>
          <p:nvPr>
            <p:ph type="body" idx="1"/>
          </p:nvPr>
        </p:nvSpPr>
        <p:spPr>
          <a:xfrm>
            <a:off x="655320" y="1999397"/>
            <a:ext cx="11247120" cy="4572000"/>
          </a:xfrm>
        </p:spPr>
        <p:txBody>
          <a:bodyPr>
            <a:normAutofit/>
          </a:bodyPr>
          <a:lstStyle/>
          <a:p>
            <a:pPr lvl="2" eaLnBrk="1" hangingPunct="1"/>
            <a:r>
              <a:rPr lang="en-US" altLang="en-US" sz="2400" b="1" dirty="0">
                <a:solidFill>
                  <a:schemeClr val="tx1"/>
                </a:solidFill>
              </a:rPr>
              <a:t>System Analysts and Application Developers</a:t>
            </a:r>
          </a:p>
          <a:p>
            <a:pPr lvl="2" eaLnBrk="1" hangingPunct="1">
              <a:buFont typeface="Wingdings" panose="05000000000000000000" pitchFamily="2" charset="2"/>
              <a:buNone/>
            </a:pPr>
            <a:r>
              <a:rPr lang="en-US" altLang="en-US" sz="2400" b="1" dirty="0">
                <a:solidFill>
                  <a:schemeClr val="tx1"/>
                </a:solidFill>
              </a:rPr>
              <a:t>      </a:t>
            </a:r>
            <a:r>
              <a:rPr lang="en-US" altLang="en-US" sz="2400" dirty="0">
                <a:solidFill>
                  <a:schemeClr val="tx1"/>
                </a:solidFill>
              </a:rPr>
              <a:t>This category currently accounts for a very large proportion of the IT work force.</a:t>
            </a:r>
          </a:p>
          <a:p>
            <a:pPr lvl="3" eaLnBrk="1" hangingPunct="1"/>
            <a:r>
              <a:rPr lang="en-US" altLang="en-US" sz="2400" b="1" dirty="0">
                <a:solidFill>
                  <a:schemeClr val="tx1"/>
                </a:solidFill>
              </a:rPr>
              <a:t>System Analysts</a:t>
            </a:r>
            <a:r>
              <a:rPr lang="en-US" altLang="en-US" sz="2400" dirty="0">
                <a:solidFill>
                  <a:schemeClr val="tx1"/>
                </a:solidFill>
              </a:rPr>
              <a:t>: They understand the user requirements of naïve and sophisticated users and design applications including canned  transactions to meet those requirements. </a:t>
            </a:r>
          </a:p>
          <a:p>
            <a:pPr lvl="3" eaLnBrk="1" hangingPunct="1"/>
            <a:r>
              <a:rPr lang="en-US" altLang="en-US" sz="2400" b="1" dirty="0">
                <a:solidFill>
                  <a:schemeClr val="tx1"/>
                </a:solidFill>
              </a:rPr>
              <a:t>Application Programmers: </a:t>
            </a:r>
            <a:r>
              <a:rPr lang="en-US" altLang="en-US" sz="2400" dirty="0">
                <a:solidFill>
                  <a:schemeClr val="tx1"/>
                </a:solidFill>
              </a:rPr>
              <a:t>Implement the specifications developed by analysts and test and debug them before deployment.</a:t>
            </a:r>
          </a:p>
          <a:p>
            <a:pPr lvl="3" eaLnBrk="1" hangingPunct="1"/>
            <a:r>
              <a:rPr lang="en-US" altLang="en-US" sz="2400" b="1" dirty="0">
                <a:solidFill>
                  <a:schemeClr val="tx1"/>
                </a:solidFill>
              </a:rPr>
              <a:t>Business Analysts</a:t>
            </a:r>
            <a:r>
              <a:rPr lang="en-US" altLang="en-US" sz="2400" dirty="0">
                <a:solidFill>
                  <a:schemeClr val="tx1"/>
                </a:solidFill>
              </a:rPr>
              <a:t>: There is an increasing need for such people who can analyze vast amounts of business data and real-time data (“Big Data”) for better decision making related to planning, advertising, marketing etc.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4">
            <a:extLst>
              <a:ext uri="{FF2B5EF4-FFF2-40B4-BE49-F238E27FC236}">
                <a16:creationId xmlns:a16="http://schemas.microsoft.com/office/drawing/2014/main" id="{C4439875-5893-9A63-647A-73CD3BAF0562}"/>
              </a:ext>
            </a:extLst>
          </p:cNvPr>
          <p:cNvSpPr>
            <a:spLocks noGrp="1" noChangeArrowheads="1"/>
          </p:cNvSpPr>
          <p:nvPr>
            <p:ph type="title"/>
          </p:nvPr>
        </p:nvSpPr>
        <p:spPr>
          <a:xfrm>
            <a:off x="829173" y="792480"/>
            <a:ext cx="11362827" cy="929640"/>
          </a:xfrm>
        </p:spPr>
        <p:txBody>
          <a:bodyPr/>
          <a:lstStyle/>
          <a:p>
            <a:pPr eaLnBrk="1" hangingPunct="1"/>
            <a:r>
              <a:rPr lang="en-US" altLang="en-US" dirty="0">
                <a:solidFill>
                  <a:schemeClr val="tx1"/>
                </a:solidFill>
              </a:rPr>
              <a:t>Database Users – Actors behind the Scene </a:t>
            </a:r>
          </a:p>
        </p:txBody>
      </p:sp>
      <p:sp>
        <p:nvSpPr>
          <p:cNvPr id="58372" name="Rectangle 5">
            <a:extLst>
              <a:ext uri="{FF2B5EF4-FFF2-40B4-BE49-F238E27FC236}">
                <a16:creationId xmlns:a16="http://schemas.microsoft.com/office/drawing/2014/main" id="{1F480FEE-1A5D-E69A-B292-CF424F2C4AFC}"/>
              </a:ext>
            </a:extLst>
          </p:cNvPr>
          <p:cNvSpPr>
            <a:spLocks noGrp="1" noChangeArrowheads="1"/>
          </p:cNvSpPr>
          <p:nvPr>
            <p:ph type="body" idx="1"/>
          </p:nvPr>
        </p:nvSpPr>
        <p:spPr>
          <a:xfrm>
            <a:off x="589845" y="2019300"/>
            <a:ext cx="11362827" cy="4488180"/>
          </a:xfrm>
        </p:spPr>
        <p:txBody>
          <a:bodyPr>
            <a:normAutofit/>
          </a:bodyPr>
          <a:lstStyle/>
          <a:p>
            <a:pPr lvl="2" eaLnBrk="1" hangingPunct="1"/>
            <a:r>
              <a:rPr lang="en-US" altLang="en-US" sz="2400" b="1" dirty="0">
                <a:solidFill>
                  <a:schemeClr val="tx1"/>
                </a:solidFill>
              </a:rPr>
              <a:t>System Designers and Implementors: </a:t>
            </a:r>
            <a:r>
              <a:rPr lang="en-US" altLang="en-US" sz="2400" dirty="0">
                <a:solidFill>
                  <a:schemeClr val="tx1"/>
                </a:solidFill>
              </a:rPr>
              <a:t>Design and implement DBMS packages in the form of modules and interfaces and test and debug them. The DBMS must interface with applications, language compilers, operating system components, etc.</a:t>
            </a:r>
          </a:p>
          <a:p>
            <a:pPr lvl="2" eaLnBrk="1" hangingPunct="1"/>
            <a:r>
              <a:rPr lang="en-US" altLang="en-US" sz="2400" b="1" dirty="0">
                <a:solidFill>
                  <a:schemeClr val="tx1"/>
                </a:solidFill>
              </a:rPr>
              <a:t>Tool Developers</a:t>
            </a:r>
            <a:r>
              <a:rPr lang="en-US" altLang="en-US" sz="2400" dirty="0">
                <a:solidFill>
                  <a:schemeClr val="tx1"/>
                </a:solidFill>
              </a:rPr>
              <a:t>: Design and implement software systems called  tools for modeling and designing databases, performance monitoring, prototyping, test data generation, user interface creation, simulation etc. that facilitate building of applications and allow using database effectively.  </a:t>
            </a:r>
          </a:p>
          <a:p>
            <a:pPr lvl="2" eaLnBrk="1" hangingPunct="1"/>
            <a:r>
              <a:rPr lang="en-US" altLang="en-US" sz="2400" b="1" dirty="0">
                <a:solidFill>
                  <a:schemeClr val="tx1"/>
                </a:solidFill>
              </a:rPr>
              <a:t>Operators and Maintenance Personnel: </a:t>
            </a:r>
            <a:r>
              <a:rPr lang="en-US" altLang="en-US" sz="2400" dirty="0">
                <a:solidFill>
                  <a:schemeClr val="tx1"/>
                </a:solidFill>
              </a:rPr>
              <a:t>They manage the actual running and maintenance of the database system hardware and software environment.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88906"/>
            <a:ext cx="10058400" cy="748454"/>
          </a:xfrm>
        </p:spPr>
        <p:txBody>
          <a:bodyPr>
            <a:normAutofit/>
          </a:bodyPr>
          <a:lstStyle/>
          <a:p>
            <a:r>
              <a:rPr lang="en-US" sz="3600" b="1" dirty="0"/>
              <a:t>Advantages of using DBMS</a:t>
            </a:r>
          </a:p>
        </p:txBody>
      </p:sp>
      <p:sp>
        <p:nvSpPr>
          <p:cNvPr id="3" name="Content Placeholder 2"/>
          <p:cNvSpPr>
            <a:spLocks noGrp="1"/>
          </p:cNvSpPr>
          <p:nvPr>
            <p:ph idx="1"/>
          </p:nvPr>
        </p:nvSpPr>
        <p:spPr>
          <a:xfrm>
            <a:off x="1097280" y="1845733"/>
            <a:ext cx="10058400" cy="4584563"/>
          </a:xfrm>
        </p:spPr>
        <p:txBody>
          <a:bodyPr>
            <a:normAutofit/>
          </a:bodyPr>
          <a:lstStyle/>
          <a:p>
            <a:pPr>
              <a:buFont typeface="Arial" panose="020B0604020202020204" pitchFamily="34" charset="0"/>
              <a:buChar char="•"/>
            </a:pPr>
            <a:r>
              <a:rPr lang="en-US" sz="2400" b="1" dirty="0">
                <a:solidFill>
                  <a:schemeClr val="tx1"/>
                </a:solidFill>
              </a:rPr>
              <a:t>   Controlling Redundancy</a:t>
            </a:r>
          </a:p>
          <a:p>
            <a:pPr lvl="1">
              <a:buFont typeface="Arial" panose="020B0604020202020204" pitchFamily="34" charset="0"/>
              <a:buChar char="•"/>
            </a:pPr>
            <a:r>
              <a:rPr lang="en-US" sz="2400" dirty="0">
                <a:solidFill>
                  <a:schemeClr val="tx1"/>
                </a:solidFill>
              </a:rPr>
              <a:t>Duplication of efforts.</a:t>
            </a:r>
          </a:p>
          <a:p>
            <a:pPr lvl="1">
              <a:buFont typeface="Arial" panose="020B0604020202020204" pitchFamily="34" charset="0"/>
              <a:buChar char="•"/>
            </a:pPr>
            <a:r>
              <a:rPr lang="en-US" sz="2400" dirty="0">
                <a:solidFill>
                  <a:schemeClr val="tx1"/>
                </a:solidFill>
              </a:rPr>
              <a:t>Storage space is wasted when the same data is stored repeatedly.</a:t>
            </a:r>
          </a:p>
          <a:p>
            <a:pPr lvl="1">
              <a:buFont typeface="Arial" panose="020B0604020202020204" pitchFamily="34" charset="0"/>
              <a:buChar char="•"/>
            </a:pPr>
            <a:r>
              <a:rPr lang="en-US" sz="2400" b="1" dirty="0">
                <a:solidFill>
                  <a:schemeClr val="tx1"/>
                </a:solidFill>
              </a:rPr>
              <a:t>Inconsistency:</a:t>
            </a:r>
            <a:r>
              <a:rPr lang="en-US" sz="2400" dirty="0">
                <a:solidFill>
                  <a:schemeClr val="tx1"/>
                </a:solidFill>
              </a:rPr>
              <a:t> files that represent the same data may become inconsistent. This may happen because an update is applied to some of the files but not to others</a:t>
            </a:r>
          </a:p>
          <a:p>
            <a:pPr>
              <a:buFont typeface="Arial" panose="020B0604020202020204" pitchFamily="34" charset="0"/>
              <a:buChar char="•"/>
            </a:pPr>
            <a:r>
              <a:rPr lang="en-US" sz="2400" b="1" dirty="0">
                <a:solidFill>
                  <a:schemeClr val="tx1"/>
                </a:solidFill>
              </a:rPr>
              <a:t>   Restricting Unauthorized Access</a:t>
            </a:r>
          </a:p>
          <a:p>
            <a:pPr lvl="1">
              <a:buFont typeface="Arial" panose="020B0604020202020204" pitchFamily="34" charset="0"/>
              <a:buChar char="•"/>
            </a:pPr>
            <a:r>
              <a:rPr lang="en-US" sz="2400" dirty="0">
                <a:solidFill>
                  <a:schemeClr val="tx1"/>
                </a:solidFill>
              </a:rPr>
              <a:t>Using particular accounts protected by password</a:t>
            </a:r>
          </a:p>
          <a:p>
            <a:pPr lvl="1">
              <a:buFont typeface="Arial" panose="020B0604020202020204" pitchFamily="34" charset="0"/>
              <a:buChar char="•"/>
            </a:pPr>
            <a:r>
              <a:rPr lang="en-US" sz="2400" dirty="0">
                <a:solidFill>
                  <a:schemeClr val="tx1"/>
                </a:solidFill>
              </a:rPr>
              <a:t>For example, financial data such as salaries and bonuses is often considered confidential, and only authorized persons are allowed to access such data.</a:t>
            </a:r>
          </a:p>
        </p:txBody>
      </p:sp>
    </p:spTree>
    <p:extLst>
      <p:ext uri="{BB962C8B-B14F-4D97-AF65-F5344CB8AC3E}">
        <p14:creationId xmlns:p14="http://schemas.microsoft.com/office/powerpoint/2010/main" val="4144435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400" b="1" dirty="0"/>
              <a:t>Providing Persistent Storage for Program Objects.</a:t>
            </a:r>
          </a:p>
          <a:p>
            <a:r>
              <a:rPr lang="en-US" sz="2400" b="1" dirty="0"/>
              <a:t>Providing Storage Structures and Search Techniques for Efficient Query Processing.</a:t>
            </a:r>
          </a:p>
          <a:p>
            <a:pPr lvl="1"/>
            <a:r>
              <a:rPr lang="en-US" sz="2400" b="1" dirty="0"/>
              <a:t>Data buffering or caching:</a:t>
            </a:r>
            <a:r>
              <a:rPr lang="en-US" sz="2400" dirty="0"/>
              <a:t> DBMSs do their own data buffering.</a:t>
            </a:r>
          </a:p>
          <a:p>
            <a:pPr lvl="1"/>
            <a:r>
              <a:rPr lang="en-US" sz="2400" b="1" dirty="0"/>
              <a:t>Query processing and optimization module:</a:t>
            </a:r>
            <a:r>
              <a:rPr lang="en-US" sz="2400" dirty="0"/>
              <a:t>  responsible for choosing an efficient query execution plan for each query based on the existing storage structures.</a:t>
            </a:r>
          </a:p>
        </p:txBody>
      </p:sp>
      <p:sp>
        <p:nvSpPr>
          <p:cNvPr id="4" name="Title 1"/>
          <p:cNvSpPr>
            <a:spLocks noGrp="1"/>
          </p:cNvSpPr>
          <p:nvPr>
            <p:ph type="title"/>
          </p:nvPr>
        </p:nvSpPr>
        <p:spPr>
          <a:xfrm>
            <a:off x="1097280" y="1119844"/>
            <a:ext cx="7886700" cy="701784"/>
          </a:xfrm>
        </p:spPr>
        <p:txBody>
          <a:bodyPr>
            <a:normAutofit/>
          </a:bodyPr>
          <a:lstStyle/>
          <a:p>
            <a:r>
              <a:rPr lang="en-US" sz="3600" b="1" dirty="0"/>
              <a:t>Advantages of using DBMS</a:t>
            </a:r>
          </a:p>
        </p:txBody>
      </p:sp>
    </p:spTree>
    <p:extLst>
      <p:ext uri="{BB962C8B-B14F-4D97-AF65-F5344CB8AC3E}">
        <p14:creationId xmlns:p14="http://schemas.microsoft.com/office/powerpoint/2010/main" val="13392655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400" b="1" dirty="0">
                <a:solidFill>
                  <a:schemeClr val="tx1"/>
                </a:solidFill>
              </a:rPr>
              <a:t>Providing Backup and Recovery</a:t>
            </a:r>
          </a:p>
          <a:p>
            <a:r>
              <a:rPr lang="en-US" sz="2400" b="1" dirty="0">
                <a:solidFill>
                  <a:schemeClr val="tx1"/>
                </a:solidFill>
              </a:rPr>
              <a:t>Providing Multiple User Interfaces</a:t>
            </a:r>
          </a:p>
          <a:p>
            <a:pPr lvl="1">
              <a:buFont typeface="Arial" panose="020B0604020202020204" pitchFamily="34" charset="0"/>
              <a:buChar char="•"/>
            </a:pPr>
            <a:r>
              <a:rPr lang="en-US" sz="2400" dirty="0">
                <a:solidFill>
                  <a:schemeClr val="tx1"/>
                </a:solidFill>
              </a:rPr>
              <a:t>Query languages for casual users</a:t>
            </a:r>
          </a:p>
          <a:p>
            <a:pPr lvl="1">
              <a:buFont typeface="Arial" panose="020B0604020202020204" pitchFamily="34" charset="0"/>
              <a:buChar char="•"/>
            </a:pPr>
            <a:r>
              <a:rPr lang="en-US" sz="2400" dirty="0">
                <a:solidFill>
                  <a:schemeClr val="tx1"/>
                </a:solidFill>
              </a:rPr>
              <a:t>Programming language interfaces for application programmers</a:t>
            </a:r>
          </a:p>
          <a:p>
            <a:pPr lvl="1">
              <a:buFont typeface="Arial" panose="020B0604020202020204" pitchFamily="34" charset="0"/>
              <a:buChar char="•"/>
            </a:pPr>
            <a:r>
              <a:rPr lang="en-US" sz="2400" dirty="0">
                <a:solidFill>
                  <a:schemeClr val="tx1"/>
                </a:solidFill>
              </a:rPr>
              <a:t>Forms and command codes for parametric users</a:t>
            </a:r>
          </a:p>
          <a:p>
            <a:pPr lvl="1">
              <a:buFont typeface="Arial" panose="020B0604020202020204" pitchFamily="34" charset="0"/>
              <a:buChar char="•"/>
            </a:pPr>
            <a:r>
              <a:rPr lang="en-US" sz="2400" dirty="0">
                <a:solidFill>
                  <a:schemeClr val="tx1"/>
                </a:solidFill>
              </a:rPr>
              <a:t>Menu-driven interfaces </a:t>
            </a:r>
          </a:p>
          <a:p>
            <a:pPr lvl="1">
              <a:buFont typeface="Arial" panose="020B0604020202020204" pitchFamily="34" charset="0"/>
              <a:buChar char="•"/>
            </a:pPr>
            <a:r>
              <a:rPr lang="en-US" sz="2400" dirty="0">
                <a:solidFill>
                  <a:schemeClr val="tx1"/>
                </a:solidFill>
              </a:rPr>
              <a:t>Natural language interfaces for standalone users.</a:t>
            </a:r>
          </a:p>
          <a:p>
            <a:r>
              <a:rPr lang="en-US" sz="2400" b="1" dirty="0">
                <a:solidFill>
                  <a:schemeClr val="tx1"/>
                </a:solidFill>
              </a:rPr>
              <a:t>Representing Complex Relationships among Data</a:t>
            </a:r>
          </a:p>
          <a:p>
            <a:r>
              <a:rPr lang="en-US" sz="2400" b="1" dirty="0">
                <a:solidFill>
                  <a:schemeClr val="tx1"/>
                </a:solidFill>
              </a:rPr>
              <a:t>Enforcing Integrity Constraints.</a:t>
            </a:r>
          </a:p>
        </p:txBody>
      </p:sp>
      <p:sp>
        <p:nvSpPr>
          <p:cNvPr id="4" name="Title 1"/>
          <p:cNvSpPr>
            <a:spLocks noGrp="1"/>
          </p:cNvSpPr>
          <p:nvPr>
            <p:ph type="title"/>
          </p:nvPr>
        </p:nvSpPr>
        <p:spPr>
          <a:xfrm>
            <a:off x="1097280" y="1036518"/>
            <a:ext cx="7886700" cy="701784"/>
          </a:xfrm>
        </p:spPr>
        <p:txBody>
          <a:bodyPr>
            <a:normAutofit/>
          </a:bodyPr>
          <a:lstStyle/>
          <a:p>
            <a:r>
              <a:rPr lang="en-US" sz="3600" b="1" dirty="0"/>
              <a:t>Advantages of using DBMS</a:t>
            </a:r>
          </a:p>
        </p:txBody>
      </p:sp>
    </p:spTree>
    <p:extLst>
      <p:ext uri="{BB962C8B-B14F-4D97-AF65-F5344CB8AC3E}">
        <p14:creationId xmlns:p14="http://schemas.microsoft.com/office/powerpoint/2010/main" val="3527751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b="1" dirty="0"/>
              <a:t>Additional Implications of Using the Database Approach</a:t>
            </a:r>
          </a:p>
        </p:txBody>
      </p:sp>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sz="2800" b="1" dirty="0">
                <a:solidFill>
                  <a:schemeClr val="tx1"/>
                </a:solidFill>
              </a:rPr>
              <a:t>Potential for Enforcing Standards.</a:t>
            </a:r>
          </a:p>
          <a:p>
            <a:pPr lvl="1">
              <a:buFont typeface="Arial" panose="020B0604020202020204" pitchFamily="34" charset="0"/>
              <a:buChar char="•"/>
            </a:pPr>
            <a:r>
              <a:rPr lang="en-US" sz="2400" dirty="0">
                <a:solidFill>
                  <a:schemeClr val="tx1"/>
                </a:solidFill>
              </a:rPr>
              <a:t>Standards can be defined for names and formats of data elements, display formats, report structures, terminology, and so on.</a:t>
            </a:r>
          </a:p>
          <a:p>
            <a:pPr>
              <a:buFont typeface="Arial" panose="020B0604020202020204" pitchFamily="34" charset="0"/>
              <a:buChar char="•"/>
            </a:pPr>
            <a:r>
              <a:rPr lang="en-US" sz="2800" b="1" dirty="0">
                <a:solidFill>
                  <a:schemeClr val="tx1"/>
                </a:solidFill>
              </a:rPr>
              <a:t>Reduced Application Development Time</a:t>
            </a:r>
          </a:p>
          <a:p>
            <a:pPr lvl="1">
              <a:buFont typeface="Arial" panose="020B0604020202020204" pitchFamily="34" charset="0"/>
              <a:buChar char="•"/>
            </a:pPr>
            <a:r>
              <a:rPr lang="en-US" sz="2400" dirty="0">
                <a:solidFill>
                  <a:schemeClr val="tx1"/>
                </a:solidFill>
              </a:rPr>
              <a:t>once a database is up and running, substantially less time is generally required to create new applications.</a:t>
            </a:r>
          </a:p>
          <a:p>
            <a:pPr>
              <a:buFont typeface="Arial" panose="020B0604020202020204" pitchFamily="34" charset="0"/>
              <a:buChar char="•"/>
            </a:pPr>
            <a:r>
              <a:rPr lang="en-US" sz="2800" b="1" dirty="0">
                <a:solidFill>
                  <a:schemeClr val="tx1"/>
                </a:solidFill>
              </a:rPr>
              <a:t>Flexibility to change the structure of a database as requirements change.</a:t>
            </a:r>
          </a:p>
        </p:txBody>
      </p:sp>
    </p:spTree>
    <p:extLst>
      <p:ext uri="{BB962C8B-B14F-4D97-AF65-F5344CB8AC3E}">
        <p14:creationId xmlns:p14="http://schemas.microsoft.com/office/powerpoint/2010/main" val="27916292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1710B-2F03-F133-A17F-82270D7B2BC5}"/>
              </a:ext>
            </a:extLst>
          </p:cNvPr>
          <p:cNvSpPr>
            <a:spLocks noGrp="1"/>
          </p:cNvSpPr>
          <p:nvPr>
            <p:ph type="title"/>
          </p:nvPr>
        </p:nvSpPr>
        <p:spPr/>
        <p:txBody>
          <a:bodyPr/>
          <a:lstStyle/>
          <a:p>
            <a:r>
              <a:rPr lang="en-US" sz="4800" b="1" dirty="0"/>
              <a:t>Additional Implications of Using the Database Approach</a:t>
            </a:r>
            <a:endParaRPr lang="en-US" dirty="0"/>
          </a:p>
        </p:txBody>
      </p:sp>
      <p:sp>
        <p:nvSpPr>
          <p:cNvPr id="3" name="Content Placeholder 2">
            <a:extLst>
              <a:ext uri="{FF2B5EF4-FFF2-40B4-BE49-F238E27FC236}">
                <a16:creationId xmlns:a16="http://schemas.microsoft.com/office/drawing/2014/main" id="{648E543D-E842-0F0E-5F33-3DD5E979370D}"/>
              </a:ext>
            </a:extLst>
          </p:cNvPr>
          <p:cNvSpPr>
            <a:spLocks noGrp="1"/>
          </p:cNvSpPr>
          <p:nvPr>
            <p:ph idx="1"/>
          </p:nvPr>
        </p:nvSpPr>
        <p:spPr/>
        <p:txBody>
          <a:bodyPr>
            <a:normAutofit/>
          </a:bodyPr>
          <a:lstStyle/>
          <a:p>
            <a:pPr>
              <a:buFont typeface="Arial" panose="020B0604020202020204" pitchFamily="34" charset="0"/>
              <a:buChar char="•"/>
            </a:pPr>
            <a:r>
              <a:rPr lang="en-US" sz="2800" b="1" dirty="0"/>
              <a:t>Availability of Up-to-Date Information</a:t>
            </a:r>
          </a:p>
          <a:p>
            <a:pPr lvl="1">
              <a:buFont typeface="Arial" panose="020B0604020202020204" pitchFamily="34" charset="0"/>
              <a:buChar char="•"/>
            </a:pPr>
            <a:r>
              <a:rPr lang="en-US" sz="2400" dirty="0"/>
              <a:t>Reservation systems</a:t>
            </a:r>
          </a:p>
          <a:p>
            <a:pPr lvl="1">
              <a:buFont typeface="Arial" panose="020B0604020202020204" pitchFamily="34" charset="0"/>
              <a:buChar char="•"/>
            </a:pPr>
            <a:r>
              <a:rPr lang="en-US" sz="2400" dirty="0"/>
              <a:t>Banking databases, and it is made possible by the concurrency control and recovery subsystems of a DBMS</a:t>
            </a:r>
          </a:p>
          <a:p>
            <a:pPr>
              <a:buFont typeface="Arial" panose="020B0604020202020204" pitchFamily="34" charset="0"/>
              <a:buChar char="•"/>
            </a:pPr>
            <a:r>
              <a:rPr lang="en-US" sz="2800" b="1" dirty="0"/>
              <a:t>Economies of Scale</a:t>
            </a:r>
          </a:p>
          <a:p>
            <a:pPr lvl="1">
              <a:buFont typeface="Arial" panose="020B0604020202020204" pitchFamily="34" charset="0"/>
              <a:buChar char="•"/>
            </a:pPr>
            <a:r>
              <a:rPr lang="en-US" sz="2400" dirty="0"/>
              <a:t>Combining all the organization’s operational data into one database and creating a set of applications that work on this one source of data can result in cost savings.</a:t>
            </a:r>
          </a:p>
        </p:txBody>
      </p:sp>
    </p:spTree>
    <p:extLst>
      <p:ext uri="{BB962C8B-B14F-4D97-AF65-F5344CB8AC3E}">
        <p14:creationId xmlns:p14="http://schemas.microsoft.com/office/powerpoint/2010/main" val="19930712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When Not To Use DBMS</a:t>
            </a:r>
          </a:p>
        </p:txBody>
      </p:sp>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sz="2400" dirty="0">
                <a:solidFill>
                  <a:schemeClr val="tx1"/>
                </a:solidFill>
              </a:rPr>
              <a:t>No multiple-user access to data.</a:t>
            </a:r>
          </a:p>
          <a:p>
            <a:pPr>
              <a:buFont typeface="Arial" panose="020B0604020202020204" pitchFamily="34" charset="0"/>
              <a:buChar char="•"/>
            </a:pPr>
            <a:r>
              <a:rPr lang="en-US" sz="2400" dirty="0">
                <a:solidFill>
                  <a:schemeClr val="tx1"/>
                </a:solidFill>
              </a:rPr>
              <a:t>Embedded systems with limited storage capacity, where a general-purpose DBMS would not fit.</a:t>
            </a:r>
          </a:p>
          <a:p>
            <a:pPr>
              <a:buFont typeface="Arial" panose="020B0604020202020204" pitchFamily="34" charset="0"/>
              <a:buChar char="•"/>
            </a:pPr>
            <a:r>
              <a:rPr lang="en-US" sz="2400" dirty="0">
                <a:solidFill>
                  <a:schemeClr val="tx1"/>
                </a:solidFill>
              </a:rPr>
              <a:t>Stringent, real-time requirements for some application programs that may not be met because of DBMS overhead.</a:t>
            </a:r>
          </a:p>
          <a:p>
            <a:pPr lvl="1">
              <a:buFont typeface="Arial" panose="020B0604020202020204" pitchFamily="34" charset="0"/>
              <a:buChar char="•"/>
            </a:pPr>
            <a:r>
              <a:rPr lang="en-US" sz="2400" dirty="0">
                <a:solidFill>
                  <a:schemeClr val="tx1"/>
                </a:solidFill>
              </a:rPr>
              <a:t>i.e., telephone switching systems</a:t>
            </a:r>
          </a:p>
          <a:p>
            <a:pPr>
              <a:buFont typeface="Arial" panose="020B0604020202020204" pitchFamily="34" charset="0"/>
              <a:buChar char="•"/>
            </a:pPr>
            <a:r>
              <a:rPr lang="en-US" sz="2400" dirty="0">
                <a:solidFill>
                  <a:schemeClr val="tx1"/>
                </a:solidFill>
              </a:rPr>
              <a:t>Simple, well-defined database applications that are not expected to change at all.</a:t>
            </a:r>
          </a:p>
        </p:txBody>
      </p:sp>
    </p:spTree>
    <p:extLst>
      <p:ext uri="{BB962C8B-B14F-4D97-AF65-F5344CB8AC3E}">
        <p14:creationId xmlns:p14="http://schemas.microsoft.com/office/powerpoint/2010/main" val="3934097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sz="2400" dirty="0">
                <a:solidFill>
                  <a:schemeClr val="tx1"/>
                </a:solidFill>
              </a:rPr>
              <a:t>Situations in which a DBMS may involve unnecessary overhead costs.</a:t>
            </a:r>
          </a:p>
          <a:p>
            <a:pPr>
              <a:buFont typeface="Arial" panose="020B0604020202020204" pitchFamily="34" charset="0"/>
              <a:buChar char="•"/>
            </a:pPr>
            <a:r>
              <a:rPr lang="en-US" sz="2400" dirty="0">
                <a:solidFill>
                  <a:schemeClr val="tx1"/>
                </a:solidFill>
              </a:rPr>
              <a:t>High initial investment in hardware, software, and training.</a:t>
            </a:r>
          </a:p>
          <a:p>
            <a:pPr>
              <a:buFont typeface="Arial" panose="020B0604020202020204" pitchFamily="34" charset="0"/>
              <a:buChar char="•"/>
            </a:pPr>
            <a:r>
              <a:rPr lang="en-US" sz="2400" dirty="0">
                <a:solidFill>
                  <a:schemeClr val="tx1"/>
                </a:solidFill>
              </a:rPr>
              <a:t>The basic properties that a DBMS provides for defining and processing data</a:t>
            </a:r>
          </a:p>
          <a:p>
            <a:pPr>
              <a:buFont typeface="Arial" panose="020B0604020202020204" pitchFamily="34" charset="0"/>
              <a:buChar char="•"/>
            </a:pPr>
            <a:r>
              <a:rPr lang="en-US" sz="2400" dirty="0">
                <a:solidFill>
                  <a:schemeClr val="tx1"/>
                </a:solidFill>
              </a:rPr>
              <a:t>Overhead for providing security, concurrency control, recovery, and integrity functions.</a:t>
            </a:r>
          </a:p>
        </p:txBody>
      </p:sp>
      <p:sp>
        <p:nvSpPr>
          <p:cNvPr id="4" name="Title 1"/>
          <p:cNvSpPr>
            <a:spLocks noGrp="1"/>
          </p:cNvSpPr>
          <p:nvPr>
            <p:ph type="title"/>
          </p:nvPr>
        </p:nvSpPr>
        <p:spPr>
          <a:xfrm>
            <a:off x="1097280" y="988906"/>
            <a:ext cx="10058400" cy="748454"/>
          </a:xfrm>
        </p:spPr>
        <p:txBody>
          <a:bodyPr>
            <a:normAutofit/>
          </a:bodyPr>
          <a:lstStyle/>
          <a:p>
            <a:r>
              <a:rPr lang="en-US" b="1" dirty="0"/>
              <a:t>When Not To Use DBMS</a:t>
            </a:r>
          </a:p>
        </p:txBody>
      </p:sp>
    </p:spTree>
    <p:extLst>
      <p:ext uri="{BB962C8B-B14F-4D97-AF65-F5344CB8AC3E}">
        <p14:creationId xmlns:p14="http://schemas.microsoft.com/office/powerpoint/2010/main" val="14234096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2D730877-26B1-EE58-4D62-2E946A5EE456}"/>
              </a:ext>
            </a:extLst>
          </p:cNvPr>
          <p:cNvSpPr txBox="1">
            <a:spLocks noChangeArrowheads="1"/>
          </p:cNvSpPr>
          <p:nvPr/>
        </p:nvSpPr>
        <p:spPr>
          <a:xfrm>
            <a:off x="1112793" y="1077693"/>
            <a:ext cx="7467600" cy="652463"/>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defRPr/>
            </a:pPr>
            <a:r>
              <a:rPr lang="en-GB" altLang="en-US" dirty="0">
                <a:solidFill>
                  <a:schemeClr val="tx1"/>
                </a:solidFill>
              </a:rPr>
              <a:t>History of DBMS</a:t>
            </a:r>
          </a:p>
        </p:txBody>
      </p:sp>
      <p:sp>
        <p:nvSpPr>
          <p:cNvPr id="7" name="Rectangle 3">
            <a:extLst>
              <a:ext uri="{FF2B5EF4-FFF2-40B4-BE49-F238E27FC236}">
                <a16:creationId xmlns:a16="http://schemas.microsoft.com/office/drawing/2014/main" id="{F26EEDC1-CD23-A0EE-E1D6-F1177944DE38}"/>
              </a:ext>
            </a:extLst>
          </p:cNvPr>
          <p:cNvSpPr txBox="1">
            <a:spLocks noChangeArrowheads="1"/>
          </p:cNvSpPr>
          <p:nvPr/>
        </p:nvSpPr>
        <p:spPr>
          <a:xfrm>
            <a:off x="1112792" y="1978024"/>
            <a:ext cx="9894731" cy="41148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charset="0"/>
              <a:buChar char="•"/>
              <a:defRPr/>
            </a:pPr>
            <a:r>
              <a:rPr lang="en-GB" altLang="en-US" sz="2400" dirty="0">
                <a:solidFill>
                  <a:schemeClr val="tx1"/>
                </a:solidFill>
              </a:rPr>
              <a:t>First-generation </a:t>
            </a:r>
          </a:p>
          <a:p>
            <a:pPr lvl="1">
              <a:buFont typeface="Arial" charset="0"/>
              <a:buChar char="–"/>
              <a:defRPr/>
            </a:pPr>
            <a:r>
              <a:rPr lang="en-GB" altLang="en-US" sz="2400" dirty="0">
                <a:solidFill>
                  <a:schemeClr val="tx1"/>
                </a:solidFill>
              </a:rPr>
              <a:t>Hierarchical and Network</a:t>
            </a:r>
          </a:p>
          <a:p>
            <a:pPr lvl="1">
              <a:buFont typeface="Arial" charset="0"/>
              <a:buChar char="–"/>
              <a:defRPr/>
            </a:pPr>
            <a:endParaRPr lang="en-GB" altLang="en-US" sz="2400" dirty="0">
              <a:solidFill>
                <a:schemeClr val="tx1"/>
              </a:solidFill>
            </a:endParaRPr>
          </a:p>
          <a:p>
            <a:pPr>
              <a:buFont typeface="Arial" charset="0"/>
              <a:buChar char="•"/>
              <a:defRPr/>
            </a:pPr>
            <a:r>
              <a:rPr lang="en-GB" altLang="en-US" sz="2400" dirty="0">
                <a:solidFill>
                  <a:schemeClr val="tx1"/>
                </a:solidFill>
              </a:rPr>
              <a:t>Second generation</a:t>
            </a:r>
          </a:p>
          <a:p>
            <a:pPr lvl="1">
              <a:buFont typeface="Arial" charset="0"/>
              <a:buChar char="–"/>
              <a:defRPr/>
            </a:pPr>
            <a:r>
              <a:rPr lang="en-GB" altLang="en-US" sz="2400" dirty="0">
                <a:solidFill>
                  <a:schemeClr val="tx1"/>
                </a:solidFill>
              </a:rPr>
              <a:t>Relational</a:t>
            </a:r>
          </a:p>
          <a:p>
            <a:pPr lvl="1">
              <a:buFont typeface="Arial" charset="0"/>
              <a:buChar char="–"/>
              <a:defRPr/>
            </a:pPr>
            <a:endParaRPr lang="en-GB" altLang="en-US" sz="2400" dirty="0">
              <a:solidFill>
                <a:schemeClr val="tx1"/>
              </a:solidFill>
            </a:endParaRPr>
          </a:p>
          <a:p>
            <a:pPr>
              <a:buFont typeface="Arial" charset="0"/>
              <a:buChar char="•"/>
              <a:defRPr/>
            </a:pPr>
            <a:r>
              <a:rPr lang="en-GB" altLang="en-US" sz="2400" dirty="0">
                <a:solidFill>
                  <a:schemeClr val="tx1"/>
                </a:solidFill>
              </a:rPr>
              <a:t>Third generation</a:t>
            </a:r>
          </a:p>
          <a:p>
            <a:pPr lvl="1">
              <a:buFont typeface="Arial" charset="0"/>
              <a:buChar char="–"/>
              <a:defRPr/>
            </a:pPr>
            <a:r>
              <a:rPr lang="en-GB" altLang="en-US" sz="2400" dirty="0">
                <a:solidFill>
                  <a:schemeClr val="tx1"/>
                </a:solidFill>
              </a:rPr>
              <a:t>Object-Relational</a:t>
            </a:r>
          </a:p>
          <a:p>
            <a:pPr lvl="1">
              <a:buFont typeface="Arial" charset="0"/>
              <a:buChar char="–"/>
              <a:defRPr/>
            </a:pPr>
            <a:r>
              <a:rPr lang="en-GB" altLang="en-US" sz="2400" dirty="0">
                <a:solidFill>
                  <a:schemeClr val="tx1"/>
                </a:solidFill>
              </a:rPr>
              <a:t>Object-Oriented</a:t>
            </a:r>
          </a:p>
        </p:txBody>
      </p:sp>
    </p:spTree>
    <p:extLst>
      <p:ext uri="{BB962C8B-B14F-4D97-AF65-F5344CB8AC3E}">
        <p14:creationId xmlns:p14="http://schemas.microsoft.com/office/powerpoint/2010/main" val="10717416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F8AFB-6F6E-FA16-5EEA-BA792E21EBBD}"/>
              </a:ext>
            </a:extLst>
          </p:cNvPr>
          <p:cNvSpPr txBox="1">
            <a:spLocks noChangeArrowheads="1"/>
          </p:cNvSpPr>
          <p:nvPr/>
        </p:nvSpPr>
        <p:spPr>
          <a:xfrm>
            <a:off x="4832188" y="211318"/>
            <a:ext cx="6291442" cy="533400"/>
          </a:xfrm>
          <a:prstGeom prst="rect">
            <a:avLst/>
          </a:prstGeom>
        </p:spPr>
        <p:txBody>
          <a:bodyPr>
            <a:normAutofit fontScale="82500" lnSpcReduction="2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altLang="en-US" dirty="0">
                <a:solidFill>
                  <a:schemeClr val="tx1"/>
                </a:solidFill>
              </a:rPr>
              <a:t>Summary</a:t>
            </a:r>
          </a:p>
        </p:txBody>
      </p:sp>
      <p:sp>
        <p:nvSpPr>
          <p:cNvPr id="3" name="Content Placeholder 2">
            <a:extLst>
              <a:ext uri="{FF2B5EF4-FFF2-40B4-BE49-F238E27FC236}">
                <a16:creationId xmlns:a16="http://schemas.microsoft.com/office/drawing/2014/main" id="{32A9C898-0B38-F0B8-488F-B08BC76622B6}"/>
              </a:ext>
            </a:extLst>
          </p:cNvPr>
          <p:cNvSpPr txBox="1">
            <a:spLocks/>
          </p:cNvSpPr>
          <p:nvPr/>
        </p:nvSpPr>
        <p:spPr>
          <a:xfrm>
            <a:off x="329938" y="630418"/>
            <a:ext cx="9323109" cy="6016264"/>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defRPr/>
            </a:pPr>
            <a:r>
              <a:rPr lang="en-US" sz="1600" dirty="0">
                <a:solidFill>
                  <a:schemeClr val="tx1"/>
                </a:solidFill>
              </a:rPr>
              <a:t>Database &amp; Database Users</a:t>
            </a:r>
          </a:p>
          <a:p>
            <a:pPr>
              <a:defRPr/>
            </a:pPr>
            <a:r>
              <a:rPr lang="en-US" sz="1600" dirty="0">
                <a:solidFill>
                  <a:schemeClr val="tx1"/>
                </a:solidFill>
              </a:rPr>
              <a:t>Characteristics of DB Approach</a:t>
            </a:r>
          </a:p>
          <a:p>
            <a:pPr marL="233363" lvl="1" indent="-168275">
              <a:defRPr/>
            </a:pPr>
            <a:r>
              <a:rPr lang="en-US" sz="1600" dirty="0">
                <a:solidFill>
                  <a:schemeClr val="tx1"/>
                </a:solidFill>
              </a:rPr>
              <a:t>Self-describing</a:t>
            </a:r>
          </a:p>
          <a:p>
            <a:pPr marL="233363" lvl="1" indent="-168275">
              <a:defRPr/>
            </a:pPr>
            <a:r>
              <a:rPr lang="en-US" sz="1600" dirty="0">
                <a:solidFill>
                  <a:schemeClr val="tx1"/>
                </a:solidFill>
              </a:rPr>
              <a:t>Data Abstraction (insulation between program &amp; Data)</a:t>
            </a:r>
          </a:p>
          <a:p>
            <a:pPr marL="233363" lvl="1" indent="-168275">
              <a:defRPr/>
            </a:pPr>
            <a:r>
              <a:rPr lang="en-US" sz="1600" dirty="0">
                <a:solidFill>
                  <a:schemeClr val="tx1"/>
                </a:solidFill>
              </a:rPr>
              <a:t>Support of Multiple Views of Data</a:t>
            </a:r>
          </a:p>
          <a:p>
            <a:pPr marL="233363" lvl="1" indent="-168275">
              <a:defRPr/>
            </a:pPr>
            <a:r>
              <a:rPr lang="en-US" sz="1600" dirty="0">
                <a:solidFill>
                  <a:schemeClr val="tx1"/>
                </a:solidFill>
              </a:rPr>
              <a:t>Sharing of Data and Multiuser transaction processing (OLTP)</a:t>
            </a:r>
          </a:p>
          <a:p>
            <a:pPr>
              <a:defRPr/>
            </a:pPr>
            <a:r>
              <a:rPr lang="en-US" sz="1600" dirty="0">
                <a:solidFill>
                  <a:schemeClr val="tx1"/>
                </a:solidFill>
              </a:rPr>
              <a:t>Actors on the Scene</a:t>
            </a:r>
          </a:p>
          <a:p>
            <a:pPr lvl="1">
              <a:defRPr/>
            </a:pPr>
            <a:r>
              <a:rPr lang="en-US" sz="1600" dirty="0">
                <a:solidFill>
                  <a:schemeClr val="tx1"/>
                </a:solidFill>
              </a:rPr>
              <a:t>Database Administrator/Database Designer/End Users/Software Analysts and </a:t>
            </a:r>
          </a:p>
          <a:p>
            <a:pPr marL="201168" lvl="1" indent="0">
              <a:buNone/>
              <a:defRPr/>
            </a:pPr>
            <a:r>
              <a:rPr lang="en-US" sz="1600" dirty="0">
                <a:solidFill>
                  <a:schemeClr val="tx1"/>
                </a:solidFill>
              </a:rPr>
              <a:t>    Application Programmers</a:t>
            </a:r>
          </a:p>
          <a:p>
            <a:pPr>
              <a:defRPr/>
            </a:pPr>
            <a:r>
              <a:rPr lang="en-US" sz="1600" dirty="0">
                <a:solidFill>
                  <a:schemeClr val="tx1"/>
                </a:solidFill>
              </a:rPr>
              <a:t>Advantages of DB Approach</a:t>
            </a:r>
          </a:p>
          <a:p>
            <a:pPr lvl="1">
              <a:defRPr/>
            </a:pPr>
            <a:r>
              <a:rPr lang="en-US" sz="1600" dirty="0">
                <a:solidFill>
                  <a:schemeClr val="tx1"/>
                </a:solidFill>
              </a:rPr>
              <a:t>Controlling Redundancy</a:t>
            </a:r>
          </a:p>
          <a:p>
            <a:pPr lvl="1">
              <a:defRPr/>
            </a:pPr>
            <a:r>
              <a:rPr lang="en-US" sz="1600" dirty="0">
                <a:solidFill>
                  <a:schemeClr val="tx1"/>
                </a:solidFill>
              </a:rPr>
              <a:t>Restricting Unauthorized Access</a:t>
            </a:r>
          </a:p>
          <a:p>
            <a:pPr lvl="1">
              <a:defRPr/>
            </a:pPr>
            <a:r>
              <a:rPr lang="en-US" sz="1600" dirty="0">
                <a:solidFill>
                  <a:schemeClr val="tx1"/>
                </a:solidFill>
              </a:rPr>
              <a:t>Providing Persistent Storage for Program Objects</a:t>
            </a:r>
          </a:p>
          <a:p>
            <a:pPr lvl="1">
              <a:defRPr/>
            </a:pPr>
            <a:r>
              <a:rPr lang="en-US" sz="1600" dirty="0">
                <a:solidFill>
                  <a:schemeClr val="tx1"/>
                </a:solidFill>
              </a:rPr>
              <a:t>Efficient Storage and Query Processing</a:t>
            </a:r>
          </a:p>
          <a:p>
            <a:pPr lvl="1">
              <a:defRPr/>
            </a:pPr>
            <a:r>
              <a:rPr lang="en-US" sz="1600" dirty="0">
                <a:solidFill>
                  <a:schemeClr val="tx1"/>
                </a:solidFill>
              </a:rPr>
              <a:t>Providing Backup &amp; Recovery</a:t>
            </a:r>
          </a:p>
          <a:p>
            <a:pPr lvl="1">
              <a:defRPr/>
            </a:pPr>
            <a:r>
              <a:rPr lang="en-US" sz="1600" dirty="0">
                <a:solidFill>
                  <a:schemeClr val="tx1"/>
                </a:solidFill>
              </a:rPr>
              <a:t>Providing Multiple User Interface</a:t>
            </a:r>
          </a:p>
          <a:p>
            <a:pPr lvl="1">
              <a:defRPr/>
            </a:pPr>
            <a:r>
              <a:rPr lang="en-US" sz="1600" dirty="0">
                <a:solidFill>
                  <a:schemeClr val="tx1"/>
                </a:solidFill>
              </a:rPr>
              <a:t>Representing Complex Relationships among data</a:t>
            </a:r>
          </a:p>
          <a:p>
            <a:pPr lvl="1">
              <a:defRPr/>
            </a:pPr>
            <a:r>
              <a:rPr lang="en-US" sz="1600" dirty="0">
                <a:solidFill>
                  <a:schemeClr val="tx1"/>
                </a:solidFill>
              </a:rPr>
              <a:t>Enforcing Integrity Constraints</a:t>
            </a:r>
          </a:p>
          <a:p>
            <a:pPr lvl="1">
              <a:defRPr/>
            </a:pPr>
            <a:r>
              <a:rPr lang="en-US" sz="1600" dirty="0">
                <a:solidFill>
                  <a:schemeClr val="tx1"/>
                </a:solidFill>
              </a:rPr>
              <a:t>Economies of Scale</a:t>
            </a:r>
          </a:p>
        </p:txBody>
      </p:sp>
      <p:pic>
        <p:nvPicPr>
          <p:cNvPr id="5" name="Picture 4" descr="fig01_01">
            <a:extLst>
              <a:ext uri="{FF2B5EF4-FFF2-40B4-BE49-F238E27FC236}">
                <a16:creationId xmlns:a16="http://schemas.microsoft.com/office/drawing/2014/main" id="{C7324184-A1ED-A27D-204E-0E93227057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23880"/>
          <a:stretch>
            <a:fillRect/>
          </a:stretch>
        </p:blipFill>
        <p:spPr bwMode="auto">
          <a:xfrm>
            <a:off x="8152863" y="630418"/>
            <a:ext cx="3709199" cy="503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067311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A5257F-9A6D-150C-68F5-76BCDFF181B8}"/>
              </a:ext>
            </a:extLst>
          </p:cNvPr>
          <p:cNvSpPr txBox="1"/>
          <p:nvPr/>
        </p:nvSpPr>
        <p:spPr>
          <a:xfrm>
            <a:off x="3382224" y="2598003"/>
            <a:ext cx="6097508" cy="830997"/>
          </a:xfrm>
          <a:prstGeom prst="rect">
            <a:avLst/>
          </a:prstGeom>
          <a:noFill/>
        </p:spPr>
        <p:txBody>
          <a:bodyPr wrap="square">
            <a:spAutoFit/>
          </a:bodyPr>
          <a:lstStyle/>
          <a:p>
            <a:pPr algn="ctr"/>
            <a:r>
              <a:rPr lang="en-US" sz="4800" dirty="0">
                <a:solidFill>
                  <a:schemeClr val="accent2"/>
                </a:solidFill>
              </a:rPr>
              <a:t>Any question????</a:t>
            </a:r>
          </a:p>
        </p:txBody>
      </p:sp>
    </p:spTree>
    <p:extLst>
      <p:ext uri="{BB962C8B-B14F-4D97-AF65-F5344CB8AC3E}">
        <p14:creationId xmlns:p14="http://schemas.microsoft.com/office/powerpoint/2010/main" val="132598588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647</TotalTime>
  <Words>1632</Words>
  <Application>Microsoft Office PowerPoint</Application>
  <PresentationFormat>Widescreen</PresentationFormat>
  <Paragraphs>154</Paragraphs>
  <Slides>18</Slides>
  <Notes>12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Aptos</vt:lpstr>
      <vt:lpstr>Arial</vt:lpstr>
      <vt:lpstr>Arial</vt:lpstr>
      <vt:lpstr>Calibri</vt:lpstr>
      <vt:lpstr>Calibri Light</vt:lpstr>
      <vt:lpstr>segoe ui</vt:lpstr>
      <vt:lpstr>Tahoma</vt:lpstr>
      <vt:lpstr>Times New Roman</vt:lpstr>
      <vt:lpstr>Wingdings</vt:lpstr>
      <vt:lpstr>Retrospect</vt:lpstr>
      <vt:lpstr> Database System</vt:lpstr>
      <vt:lpstr>Users</vt:lpstr>
      <vt:lpstr>Database Users</vt:lpstr>
      <vt:lpstr>Database Users – Actors on the Scene </vt:lpstr>
      <vt:lpstr>Database End Users</vt:lpstr>
      <vt:lpstr>Database End Users (continued)</vt:lpstr>
      <vt:lpstr>Database Users – Actors on the Scene (continued)</vt:lpstr>
      <vt:lpstr>Database Users – Actors behind the Scene </vt:lpstr>
      <vt:lpstr>Advantages of using DBMS</vt:lpstr>
      <vt:lpstr>Advantages of using DBMS</vt:lpstr>
      <vt:lpstr>Advantages of using DBMS</vt:lpstr>
      <vt:lpstr>Additional Implications of Using the Database Approach</vt:lpstr>
      <vt:lpstr>Additional Implications of Using the Database Approach</vt:lpstr>
      <vt:lpstr>When Not To Use DBMS</vt:lpstr>
      <vt:lpstr>When Not To Use DBMS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Alina Arshad</dc:creator>
  <cp:lastModifiedBy>Ms Alina Arshad</cp:lastModifiedBy>
  <cp:revision>38</cp:revision>
  <dcterms:created xsi:type="dcterms:W3CDTF">2024-08-09T06:58:16Z</dcterms:created>
  <dcterms:modified xsi:type="dcterms:W3CDTF">2024-08-24T19:31:33Z</dcterms:modified>
</cp:coreProperties>
</file>