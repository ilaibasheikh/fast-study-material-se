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262" r:id="rId3"/>
    <p:sldId id="263" r:id="rId4"/>
    <p:sldId id="261" r:id="rId5"/>
    <p:sldId id="260" r:id="rId6"/>
    <p:sldId id="487" r:id="rId7"/>
    <p:sldId id="267" r:id="rId8"/>
    <p:sldId id="259" r:id="rId9"/>
    <p:sldId id="266" r:id="rId10"/>
    <p:sldId id="268" r:id="rId11"/>
    <p:sldId id="490" r:id="rId12"/>
    <p:sldId id="489" r:id="rId13"/>
    <p:sldId id="264" r:id="rId14"/>
    <p:sldId id="265" r:id="rId15"/>
    <p:sldId id="497" r:id="rId16"/>
    <p:sldId id="491" r:id="rId17"/>
    <p:sldId id="502" r:id="rId18"/>
    <p:sldId id="492" r:id="rId19"/>
    <p:sldId id="279"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88123" autoAdjust="0"/>
  </p:normalViewPr>
  <p:slideViewPr>
    <p:cSldViewPr snapToGrid="0">
      <p:cViewPr varScale="1">
        <p:scale>
          <a:sx n="70" d="100"/>
          <a:sy n="70" d="100"/>
        </p:scale>
        <p:origin x="71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90151-A221-46B3-A769-373FDD9A38FB}" type="datetimeFigureOut">
              <a:rPr lang="en-US" smtClean="0"/>
              <a:t>8/25/2024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BEA5B-0F90-491B-8570-2B3910989086}" type="slidenum">
              <a:rPr lang="en-US" smtClean="0"/>
              <a:t>‹#›</a:t>
            </a:fld>
            <a:endParaRPr lang="en-US"/>
          </a:p>
        </p:txBody>
      </p:sp>
    </p:spTree>
    <p:extLst>
      <p:ext uri="{BB962C8B-B14F-4D97-AF65-F5344CB8AC3E}">
        <p14:creationId xmlns:p14="http://schemas.microsoft.com/office/powerpoint/2010/main" val="3016135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a:t>
            </a:fld>
            <a:endParaRPr lang="en-US"/>
          </a:p>
        </p:txBody>
      </p:sp>
    </p:spTree>
    <p:extLst>
      <p:ext uri="{BB962C8B-B14F-4D97-AF65-F5344CB8AC3E}">
        <p14:creationId xmlns:p14="http://schemas.microsoft.com/office/powerpoint/2010/main" val="2600137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7</a:t>
            </a:fld>
            <a:endParaRPr lang="en-US"/>
          </a:p>
        </p:txBody>
      </p:sp>
    </p:spTree>
    <p:extLst>
      <p:ext uri="{BB962C8B-B14F-4D97-AF65-F5344CB8AC3E}">
        <p14:creationId xmlns:p14="http://schemas.microsoft.com/office/powerpoint/2010/main" val="3455732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10</a:t>
            </a:fld>
            <a:endParaRPr lang="en-US"/>
          </a:p>
        </p:txBody>
      </p:sp>
    </p:spTree>
    <p:extLst>
      <p:ext uri="{BB962C8B-B14F-4D97-AF65-F5344CB8AC3E}">
        <p14:creationId xmlns:p14="http://schemas.microsoft.com/office/powerpoint/2010/main" val="17041498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12</a:t>
            </a:fld>
            <a:endParaRPr lang="en-US"/>
          </a:p>
        </p:txBody>
      </p:sp>
    </p:spTree>
    <p:extLst>
      <p:ext uri="{BB962C8B-B14F-4D97-AF65-F5344CB8AC3E}">
        <p14:creationId xmlns:p14="http://schemas.microsoft.com/office/powerpoint/2010/main" val="12245291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solidFill>
                  <a:schemeClr val="tx1"/>
                </a:solidFill>
              </a:rPr>
              <a:t>DBMS (Database Management System):</a:t>
            </a:r>
            <a:r>
              <a:rPr lang="en-US" dirty="0">
                <a:solidFill>
                  <a:schemeClr val="tx1"/>
                </a:solidFill>
              </a:rPr>
              <a:t> Think of a DBMS as a software tool that acts as a bridge between the data stored in a database and the people or programs that need to use it</a:t>
            </a:r>
          </a:p>
        </p:txBody>
      </p:sp>
      <p:sp>
        <p:nvSpPr>
          <p:cNvPr id="4" name="Slide Number Placeholder 3"/>
          <p:cNvSpPr>
            <a:spLocks noGrp="1"/>
          </p:cNvSpPr>
          <p:nvPr>
            <p:ph type="sldNum" sz="quarter" idx="5"/>
          </p:nvPr>
        </p:nvSpPr>
        <p:spPr/>
        <p:txBody>
          <a:bodyPr/>
          <a:lstStyle/>
          <a:p>
            <a:fld id="{DC4BEA5B-0F90-491B-8570-2B3910989086}" type="slidenum">
              <a:rPr lang="en-US" smtClean="0"/>
              <a:t>16</a:t>
            </a:fld>
            <a:endParaRPr lang="en-US"/>
          </a:p>
        </p:txBody>
      </p:sp>
    </p:spTree>
    <p:extLst>
      <p:ext uri="{BB962C8B-B14F-4D97-AF65-F5344CB8AC3E}">
        <p14:creationId xmlns:p14="http://schemas.microsoft.com/office/powerpoint/2010/main" val="31317888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Distributed dataset such as google search engine </a:t>
            </a:r>
          </a:p>
        </p:txBody>
      </p:sp>
      <p:sp>
        <p:nvSpPr>
          <p:cNvPr id="4" name="Slide Number Placeholder 3"/>
          <p:cNvSpPr>
            <a:spLocks noGrp="1"/>
          </p:cNvSpPr>
          <p:nvPr>
            <p:ph type="sldNum" sz="quarter" idx="5"/>
          </p:nvPr>
        </p:nvSpPr>
        <p:spPr/>
        <p:txBody>
          <a:bodyPr/>
          <a:lstStyle/>
          <a:p>
            <a:fld id="{DC4BEA5B-0F90-491B-8570-2B3910989086}" type="slidenum">
              <a:rPr lang="en-US" smtClean="0"/>
              <a:t>17</a:t>
            </a:fld>
            <a:endParaRPr lang="en-US"/>
          </a:p>
        </p:txBody>
      </p:sp>
    </p:spTree>
    <p:extLst>
      <p:ext uri="{BB962C8B-B14F-4D97-AF65-F5344CB8AC3E}">
        <p14:creationId xmlns:p14="http://schemas.microsoft.com/office/powerpoint/2010/main" val="1036277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54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573694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9B51B5-5729-4227-8149-0FFB0D6660E2}" type="datetimeFigureOut">
              <a:rPr lang="en-US" smtClean="0"/>
              <a:t>8/25/2024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70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9B51B5-5729-4227-8149-0FFB0D6660E2}" type="datetimeFigureOut">
              <a:rPr lang="en-US" smtClean="0"/>
              <a:t>8/25/2024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65086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9B51B5-5729-4227-8149-0FFB0D6660E2}" type="datetimeFigureOut">
              <a:rPr lang="en-US" smtClean="0"/>
              <a:t>8/25/2024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3971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9B51B5-5729-4227-8149-0FFB0D6660E2}" type="datetimeFigureOut">
              <a:rPr lang="en-US" smtClean="0"/>
              <a:t>8/25/2024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34118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9B51B5-5729-4227-8149-0FFB0D6660E2}" type="datetimeFigureOut">
              <a:rPr lang="en-US" smtClean="0"/>
              <a:t>8/25/2024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194977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69B51B5-5729-4227-8149-0FFB0D6660E2}" type="datetimeFigureOut">
              <a:rPr lang="en-US" smtClean="0"/>
              <a:t>8/25/2024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47AE719-0370-4FEF-9E76-542079ADE761}" type="slidenum">
              <a:rPr lang="en-US" smtClean="0"/>
              <a:t>‹#›</a:t>
            </a:fld>
            <a:endParaRPr lang="en-US"/>
          </a:p>
        </p:txBody>
      </p:sp>
    </p:spTree>
    <p:extLst>
      <p:ext uri="{BB962C8B-B14F-4D97-AF65-F5344CB8AC3E}">
        <p14:creationId xmlns:p14="http://schemas.microsoft.com/office/powerpoint/2010/main" val="339668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9B51B5-5729-4227-8149-0FFB0D6660E2}" type="datetimeFigureOut">
              <a:rPr lang="en-US" smtClean="0"/>
              <a:t>8/25/2024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4841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42154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402662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9B51B5-5729-4227-8149-0FFB0D6660E2}" type="datetimeFigureOut">
              <a:rPr lang="en-US" smtClean="0"/>
              <a:t>8/25/2024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47AE719-0370-4FEF-9E76-542079ADE76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009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lina.arshad@nu.edu.p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B019-E1ED-7643-5A50-74CEA7F41E88}"/>
              </a:ext>
            </a:extLst>
          </p:cNvPr>
          <p:cNvSpPr>
            <a:spLocks noGrp="1"/>
          </p:cNvSpPr>
          <p:nvPr>
            <p:ph type="ctrTitle"/>
          </p:nvPr>
        </p:nvSpPr>
        <p:spPr>
          <a:xfrm>
            <a:off x="90535" y="116380"/>
            <a:ext cx="11588435" cy="3065732"/>
          </a:xfrm>
        </p:spPr>
        <p:txBody>
          <a:bodyPr/>
          <a:lstStyle/>
          <a:p>
            <a:pPr algn="ctr"/>
            <a:br>
              <a:rPr lang="en-US" b="1" dirty="0">
                <a:solidFill>
                  <a:schemeClr val="tx1"/>
                </a:solidFill>
              </a:rPr>
            </a:br>
            <a:r>
              <a:rPr lang="en-US" b="1">
                <a:solidFill>
                  <a:schemeClr val="tx1"/>
                </a:solidFill>
              </a:rPr>
              <a:t>Database Systems</a:t>
            </a:r>
            <a:endParaRPr lang="en-US" sz="7200" dirty="0"/>
          </a:p>
        </p:txBody>
      </p:sp>
      <p:sp>
        <p:nvSpPr>
          <p:cNvPr id="3" name="Subtitle 2">
            <a:extLst>
              <a:ext uri="{FF2B5EF4-FFF2-40B4-BE49-F238E27FC236}">
                <a16:creationId xmlns:a16="http://schemas.microsoft.com/office/drawing/2014/main" id="{44E9F82C-BBA7-3495-1097-BEDB54FFFDF4}"/>
              </a:ext>
            </a:extLst>
          </p:cNvPr>
          <p:cNvSpPr>
            <a:spLocks noGrp="1"/>
          </p:cNvSpPr>
          <p:nvPr>
            <p:ph type="subTitle" idx="1"/>
          </p:nvPr>
        </p:nvSpPr>
        <p:spPr>
          <a:xfrm>
            <a:off x="1066800" y="3675889"/>
            <a:ext cx="10058400" cy="1922731"/>
          </a:xfrm>
        </p:spPr>
        <p:txBody>
          <a:bodyPr>
            <a:normAutofit/>
          </a:bodyPr>
          <a:lstStyle/>
          <a:p>
            <a:pPr algn="ctr"/>
            <a:r>
              <a:rPr lang="en-US" sz="4400" b="1" dirty="0">
                <a:solidFill>
                  <a:schemeClr val="tx1"/>
                </a:solidFill>
                <a:cs typeface="Times New Roman" panose="02020603050405020304" pitchFamily="18" charset="0"/>
              </a:rPr>
              <a:t>Lecture 1</a:t>
            </a:r>
          </a:p>
          <a:p>
            <a:pPr algn="ctr"/>
            <a:r>
              <a:rPr lang="en-US" dirty="0">
                <a:solidFill>
                  <a:schemeClr val="tx1"/>
                </a:solidFill>
                <a:latin typeface="Times New Roman" panose="02020603050405020304" pitchFamily="18" charset="0"/>
                <a:cs typeface="Times New Roman" panose="02020603050405020304" pitchFamily="18" charset="0"/>
              </a:rPr>
              <a:t>Introduction</a:t>
            </a:r>
          </a:p>
        </p:txBody>
      </p:sp>
      <p:sp>
        <p:nvSpPr>
          <p:cNvPr id="5" name="TextBox 4">
            <a:extLst>
              <a:ext uri="{FF2B5EF4-FFF2-40B4-BE49-F238E27FC236}">
                <a16:creationId xmlns:a16="http://schemas.microsoft.com/office/drawing/2014/main" id="{75DE143E-53E3-798D-07E7-8D85DD770A95}"/>
              </a:ext>
            </a:extLst>
          </p:cNvPr>
          <p:cNvSpPr txBox="1"/>
          <p:nvPr/>
        </p:nvSpPr>
        <p:spPr>
          <a:xfrm>
            <a:off x="7794278" y="4637254"/>
            <a:ext cx="4397722" cy="1384995"/>
          </a:xfrm>
          <a:prstGeom prst="rect">
            <a:avLst/>
          </a:prstGeom>
          <a:noFill/>
        </p:spPr>
        <p:txBody>
          <a:bodyPr wrap="square">
            <a:spAutoFit/>
          </a:bodyPr>
          <a:lstStyle/>
          <a:p>
            <a:pPr algn="ctr"/>
            <a:r>
              <a:rPr lang="en-US" sz="2800" dirty="0">
                <a:solidFill>
                  <a:schemeClr val="tx1"/>
                </a:solidFill>
                <a:cs typeface="Times New Roman" panose="02020603050405020304" pitchFamily="18" charset="0"/>
              </a:rPr>
              <a:t>Alina Arshad</a:t>
            </a:r>
          </a:p>
          <a:p>
            <a:pPr algn="ctr"/>
            <a:r>
              <a:rPr lang="en-US" sz="2800" dirty="0">
                <a:cs typeface="Times New Roman" panose="02020603050405020304" pitchFamily="18" charset="0"/>
                <a:hlinkClick r:id="rId3"/>
              </a:rPr>
              <a:t>alina.arshad@nu.edu.pk</a:t>
            </a:r>
            <a:endParaRPr lang="en-US" sz="2800" dirty="0">
              <a:cs typeface="Times New Roman" panose="02020603050405020304" pitchFamily="18" charset="0"/>
            </a:endParaRPr>
          </a:p>
          <a:p>
            <a:pPr algn="ctr"/>
            <a:r>
              <a:rPr lang="en-US" sz="2800" dirty="0">
                <a:solidFill>
                  <a:schemeClr val="tx1"/>
                </a:solidFill>
                <a:cs typeface="Times New Roman" panose="02020603050405020304" pitchFamily="18" charset="0"/>
              </a:rPr>
              <a:t>Basement 2 Ro</a:t>
            </a:r>
            <a:r>
              <a:rPr lang="en-US" sz="2800" dirty="0">
                <a:cs typeface="Times New Roman" panose="02020603050405020304" pitchFamily="18" charset="0"/>
              </a:rPr>
              <a:t>om#4</a:t>
            </a:r>
            <a:endParaRPr lang="en-US" sz="28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3322361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9FA3A-0A94-C207-0543-C79E542F4FD4}"/>
              </a:ext>
            </a:extLst>
          </p:cNvPr>
          <p:cNvSpPr>
            <a:spLocks noGrp="1"/>
          </p:cNvSpPr>
          <p:nvPr>
            <p:ph type="title"/>
          </p:nvPr>
        </p:nvSpPr>
        <p:spPr/>
        <p:txBody>
          <a:bodyPr>
            <a:normAutofit/>
          </a:bodyPr>
          <a:lstStyle/>
          <a:p>
            <a:r>
              <a:rPr lang="en-US" dirty="0">
                <a:solidFill>
                  <a:schemeClr val="tx1"/>
                </a:solidFill>
              </a:rPr>
              <a:t>Tentative Mark Distribution and Grading Policy</a:t>
            </a:r>
          </a:p>
        </p:txBody>
      </p:sp>
      <p:sp>
        <p:nvSpPr>
          <p:cNvPr id="3" name="Content Placeholder 2">
            <a:extLst>
              <a:ext uri="{FF2B5EF4-FFF2-40B4-BE49-F238E27FC236}">
                <a16:creationId xmlns:a16="http://schemas.microsoft.com/office/drawing/2014/main" id="{A4747B9F-2D34-7758-C105-CCC586B9FC9A}"/>
              </a:ext>
            </a:extLst>
          </p:cNvPr>
          <p:cNvSpPr>
            <a:spLocks noGrp="1"/>
          </p:cNvSpPr>
          <p:nvPr>
            <p:ph idx="1"/>
          </p:nvPr>
        </p:nvSpPr>
        <p:spPr/>
        <p:txBody>
          <a:bodyPr>
            <a:normAutofit/>
          </a:bodyPr>
          <a:lstStyle/>
          <a:p>
            <a:pPr marL="621983" lvl="1" indent="-342900">
              <a:buFont typeface="Arial" panose="020B0604020202020204" pitchFamily="34" charset="0"/>
              <a:buChar char="•"/>
            </a:pPr>
            <a:r>
              <a:rPr lang="en-US" sz="2400" b="1" dirty="0">
                <a:solidFill>
                  <a:schemeClr val="tx1"/>
                </a:solidFill>
              </a:rPr>
              <a:t>     </a:t>
            </a:r>
            <a:r>
              <a:rPr lang="en-US" sz="2400" dirty="0">
                <a:solidFill>
                  <a:schemeClr val="tx1"/>
                </a:solidFill>
              </a:rPr>
              <a:t>Assignments: 10 %</a:t>
            </a:r>
          </a:p>
          <a:p>
            <a:pPr marL="621983" lvl="1" indent="-342900">
              <a:buFont typeface="Arial" panose="020B0604020202020204" pitchFamily="34" charset="0"/>
              <a:buChar char="•"/>
            </a:pPr>
            <a:r>
              <a:rPr lang="en-US" sz="2400" dirty="0">
                <a:solidFill>
                  <a:schemeClr val="tx1"/>
                </a:solidFill>
              </a:rPr>
              <a:t>     Mid Exams: 30 %</a:t>
            </a:r>
          </a:p>
          <a:p>
            <a:pPr marL="621983" lvl="1" indent="-342900">
              <a:buFont typeface="Arial" panose="020B0604020202020204" pitchFamily="34" charset="0"/>
              <a:buChar char="•"/>
            </a:pPr>
            <a:r>
              <a:rPr lang="en-US" sz="2400" dirty="0">
                <a:solidFill>
                  <a:schemeClr val="tx1"/>
                </a:solidFill>
              </a:rPr>
              <a:t>     Final: 50%</a:t>
            </a:r>
          </a:p>
          <a:p>
            <a:pPr marL="621983" lvl="1" indent="-342900">
              <a:buFont typeface="Arial" panose="020B0604020202020204" pitchFamily="34" charset="0"/>
              <a:buChar char="•"/>
            </a:pPr>
            <a:r>
              <a:rPr lang="en-US" sz="2400" dirty="0">
                <a:solidFill>
                  <a:schemeClr val="tx1"/>
                </a:solidFill>
              </a:rPr>
              <a:t>     Presentations + Projects: 10%</a:t>
            </a:r>
          </a:p>
        </p:txBody>
      </p:sp>
    </p:spTree>
    <p:extLst>
      <p:ext uri="{BB962C8B-B14F-4D97-AF65-F5344CB8AC3E}">
        <p14:creationId xmlns:p14="http://schemas.microsoft.com/office/powerpoint/2010/main" val="30967149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8D189-FA16-524A-36D2-A763258FF553}"/>
              </a:ext>
            </a:extLst>
          </p:cNvPr>
          <p:cNvSpPr>
            <a:spLocks noGrp="1"/>
          </p:cNvSpPr>
          <p:nvPr>
            <p:ph type="title"/>
          </p:nvPr>
        </p:nvSpPr>
        <p:spPr/>
        <p:txBody>
          <a:bodyPr/>
          <a:lstStyle/>
          <a:p>
            <a:r>
              <a:rPr lang="en-US" sz="4800" spc="115" dirty="0">
                <a:solidFill>
                  <a:schemeClr val="tx1"/>
                </a:solidFill>
                <a:cs typeface="Arial" pitchFamily="34" charset="0"/>
              </a:rPr>
              <a:t>Course Ethics</a:t>
            </a:r>
            <a:endParaRPr lang="en-US" dirty="0">
              <a:solidFill>
                <a:schemeClr val="tx1"/>
              </a:solidFill>
            </a:endParaRPr>
          </a:p>
        </p:txBody>
      </p:sp>
      <p:sp>
        <p:nvSpPr>
          <p:cNvPr id="3" name="Content Placeholder 2">
            <a:extLst>
              <a:ext uri="{FF2B5EF4-FFF2-40B4-BE49-F238E27FC236}">
                <a16:creationId xmlns:a16="http://schemas.microsoft.com/office/drawing/2014/main" id="{B123AEF3-5035-3B18-8494-6F43B659ADAA}"/>
              </a:ext>
            </a:extLst>
          </p:cNvPr>
          <p:cNvSpPr>
            <a:spLocks noGrp="1"/>
          </p:cNvSpPr>
          <p:nvPr>
            <p:ph idx="1"/>
          </p:nvPr>
        </p:nvSpPr>
        <p:spPr>
          <a:xfrm>
            <a:off x="1097280" y="1800735"/>
            <a:ext cx="10058400" cy="3741530"/>
          </a:xfrm>
        </p:spPr>
        <p:txBody>
          <a:bodyPr>
            <a:normAutofit/>
          </a:bodyPr>
          <a:lstStyle/>
          <a:p>
            <a:pPr marL="0" indent="0">
              <a:lnSpc>
                <a:spcPct val="80000"/>
              </a:lnSpc>
              <a:buNone/>
            </a:pPr>
            <a:endParaRPr lang="en-US" sz="3000" spc="35" dirty="0">
              <a:solidFill>
                <a:schemeClr val="tx1"/>
              </a:solidFill>
              <a:cs typeface="Arial" pitchFamily="34" charset="0"/>
            </a:endParaRPr>
          </a:p>
          <a:p>
            <a:pPr marL="0" indent="0">
              <a:lnSpc>
                <a:spcPct val="80000"/>
              </a:lnSpc>
              <a:buNone/>
            </a:pPr>
            <a:r>
              <a:rPr lang="en-US" sz="3000" spc="35" dirty="0">
                <a:solidFill>
                  <a:schemeClr val="tx1"/>
                </a:solidFill>
                <a:cs typeface="Arial" pitchFamily="34" charset="0"/>
              </a:rPr>
              <a:t>Projects/Assignments</a:t>
            </a:r>
          </a:p>
          <a:p>
            <a:pPr lvl="1">
              <a:lnSpc>
                <a:spcPct val="80000"/>
              </a:lnSpc>
              <a:buFont typeface="Arial" panose="020B0604020202020204" pitchFamily="34" charset="0"/>
              <a:buChar char="•"/>
            </a:pPr>
            <a:r>
              <a:rPr lang="en-US" sz="2200" dirty="0">
                <a:solidFill>
                  <a:schemeClr val="tx1"/>
                </a:solidFill>
                <a:cs typeface="Arial" pitchFamily="34" charset="0"/>
              </a:rPr>
              <a:t>Deadlines are always final</a:t>
            </a:r>
          </a:p>
          <a:p>
            <a:pPr lvl="1">
              <a:lnSpc>
                <a:spcPct val="80000"/>
              </a:lnSpc>
              <a:buFont typeface="Arial" panose="020B0604020202020204" pitchFamily="34" charset="0"/>
              <a:buChar char="•"/>
            </a:pPr>
            <a:r>
              <a:rPr lang="en-US" sz="2200" dirty="0">
                <a:solidFill>
                  <a:schemeClr val="tx1"/>
                </a:solidFill>
                <a:cs typeface="Arial" pitchFamily="34" charset="0"/>
              </a:rPr>
              <a:t>No credit for late submissions</a:t>
            </a:r>
          </a:p>
          <a:p>
            <a:pPr lvl="1">
              <a:buFont typeface="Arial" panose="020B0604020202020204" pitchFamily="34" charset="0"/>
              <a:buChar char="•"/>
            </a:pPr>
            <a:r>
              <a:rPr lang="en-US" sz="2200" dirty="0">
                <a:solidFill>
                  <a:schemeClr val="tx1"/>
                </a:solidFill>
                <a:cs typeface="Arial" pitchFamily="34" charset="0"/>
              </a:rPr>
              <a:t>Project Proposal Submission : 3rd  Week </a:t>
            </a:r>
          </a:p>
          <a:p>
            <a:pPr lvl="1">
              <a:buFont typeface="Arial" panose="020B0604020202020204" pitchFamily="34" charset="0"/>
              <a:buChar char="•"/>
            </a:pPr>
            <a:r>
              <a:rPr lang="en-US" sz="2200" dirty="0">
                <a:solidFill>
                  <a:schemeClr val="tx1"/>
                </a:solidFill>
                <a:cs typeface="Arial" pitchFamily="34" charset="0"/>
              </a:rPr>
              <a:t>Project Presentation : Last week</a:t>
            </a:r>
          </a:p>
          <a:p>
            <a:pPr marL="0" indent="0">
              <a:buNone/>
            </a:pPr>
            <a:endParaRPr lang="en-US" dirty="0">
              <a:solidFill>
                <a:schemeClr val="tx1"/>
              </a:solidFill>
            </a:endParaRPr>
          </a:p>
          <a:p>
            <a:endParaRPr lang="en-US" dirty="0"/>
          </a:p>
        </p:txBody>
      </p:sp>
    </p:spTree>
    <p:extLst>
      <p:ext uri="{BB962C8B-B14F-4D97-AF65-F5344CB8AC3E}">
        <p14:creationId xmlns:p14="http://schemas.microsoft.com/office/powerpoint/2010/main" val="1199101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4DCBD144-C7D6-10E1-B2AD-1EBDCA33EEC5}"/>
              </a:ext>
            </a:extLst>
          </p:cNvPr>
          <p:cNvSpPr txBox="1"/>
          <p:nvPr/>
        </p:nvSpPr>
        <p:spPr>
          <a:xfrm>
            <a:off x="995881" y="2131842"/>
            <a:ext cx="10574448" cy="2308324"/>
          </a:xfrm>
          <a:prstGeom prst="rect">
            <a:avLst/>
          </a:prstGeom>
          <a:noFill/>
        </p:spPr>
        <p:txBody>
          <a:bodyPr wrap="square">
            <a:spAutoFit/>
          </a:bodyPr>
          <a:lstStyle/>
          <a:p>
            <a:r>
              <a:rPr lang="en-US" sz="2400" dirty="0"/>
              <a:t>To Understand the basic concepts and the applications of database systems </a:t>
            </a:r>
          </a:p>
          <a:p>
            <a:r>
              <a:rPr lang="en-US" sz="2400" dirty="0"/>
              <a:t>To Master the basics of SQL and construct queries using SQL </a:t>
            </a:r>
          </a:p>
          <a:p>
            <a:r>
              <a:rPr lang="en-US" sz="2400" dirty="0"/>
              <a:t>To understand the relational database design principles </a:t>
            </a:r>
          </a:p>
          <a:p>
            <a:r>
              <a:rPr lang="en-US" sz="2400" dirty="0"/>
              <a:t>To become familiar with the basic issues of transaction processing and concurrency control </a:t>
            </a:r>
          </a:p>
          <a:p>
            <a:r>
              <a:rPr lang="en-US" sz="2400" dirty="0"/>
              <a:t>To become familiar with database storage structures and access techniques </a:t>
            </a:r>
          </a:p>
        </p:txBody>
      </p:sp>
      <p:sp>
        <p:nvSpPr>
          <p:cNvPr id="11" name="TextBox 10">
            <a:extLst>
              <a:ext uri="{FF2B5EF4-FFF2-40B4-BE49-F238E27FC236}">
                <a16:creationId xmlns:a16="http://schemas.microsoft.com/office/drawing/2014/main" id="{21C0E943-08AF-2820-4E69-62646104A7DF}"/>
              </a:ext>
            </a:extLst>
          </p:cNvPr>
          <p:cNvSpPr txBox="1"/>
          <p:nvPr/>
        </p:nvSpPr>
        <p:spPr>
          <a:xfrm>
            <a:off x="995881" y="956070"/>
            <a:ext cx="6097508" cy="830997"/>
          </a:xfrm>
          <a:prstGeom prst="rect">
            <a:avLst/>
          </a:prstGeom>
          <a:noFill/>
        </p:spPr>
        <p:txBody>
          <a:bodyPr wrap="square">
            <a:spAutoFit/>
          </a:bodyPr>
          <a:lstStyle/>
          <a:p>
            <a:r>
              <a:rPr lang="en-US" sz="4800" b="1" dirty="0">
                <a:latin typeface="+mj-lt"/>
              </a:rPr>
              <a:t>Course Objective:</a:t>
            </a:r>
            <a:endParaRPr lang="en-US" sz="4800" dirty="0">
              <a:latin typeface="+mj-lt"/>
            </a:endParaRPr>
          </a:p>
        </p:txBody>
      </p:sp>
    </p:spTree>
    <p:extLst>
      <p:ext uri="{BB962C8B-B14F-4D97-AF65-F5344CB8AC3E}">
        <p14:creationId xmlns:p14="http://schemas.microsoft.com/office/powerpoint/2010/main" val="14447776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00B4D-AF9D-1B1A-77B4-CBCFCC1C97FA}"/>
              </a:ext>
            </a:extLst>
          </p:cNvPr>
          <p:cNvSpPr>
            <a:spLocks noGrp="1"/>
          </p:cNvSpPr>
          <p:nvPr>
            <p:ph type="title"/>
          </p:nvPr>
        </p:nvSpPr>
        <p:spPr>
          <a:xfrm>
            <a:off x="733331" y="286603"/>
            <a:ext cx="10422349" cy="1450757"/>
          </a:xfrm>
        </p:spPr>
        <p:txBody>
          <a:bodyPr/>
          <a:lstStyle/>
          <a:p>
            <a:r>
              <a:rPr lang="en-US" b="1" dirty="0">
                <a:solidFill>
                  <a:schemeClr val="tx1"/>
                </a:solidFill>
              </a:rPr>
              <a:t>Course Outcomes:</a:t>
            </a:r>
            <a:endParaRPr lang="en-US" dirty="0">
              <a:solidFill>
                <a:schemeClr val="tx1"/>
              </a:solidFill>
            </a:endParaRPr>
          </a:p>
        </p:txBody>
      </p:sp>
      <p:sp>
        <p:nvSpPr>
          <p:cNvPr id="3" name="Content Placeholder 2">
            <a:extLst>
              <a:ext uri="{FF2B5EF4-FFF2-40B4-BE49-F238E27FC236}">
                <a16:creationId xmlns:a16="http://schemas.microsoft.com/office/drawing/2014/main" id="{5680D29C-D87C-7EEC-858A-C479E3BB3EA0}"/>
              </a:ext>
            </a:extLst>
          </p:cNvPr>
          <p:cNvSpPr>
            <a:spLocks noGrp="1"/>
          </p:cNvSpPr>
          <p:nvPr>
            <p:ph idx="1"/>
          </p:nvPr>
        </p:nvSpPr>
        <p:spPr>
          <a:xfrm>
            <a:off x="653660" y="1918162"/>
            <a:ext cx="10862347" cy="4023360"/>
          </a:xfrm>
        </p:spPr>
        <p:txBody>
          <a:bodyPr/>
          <a:lstStyle/>
          <a:p>
            <a:pPr>
              <a:buFont typeface="Arial" panose="020B0604020202020204" pitchFamily="34" charset="0"/>
              <a:buChar char="•"/>
            </a:pPr>
            <a:r>
              <a:rPr lang="en-US" sz="2400" dirty="0">
                <a:solidFill>
                  <a:schemeClr val="tx1"/>
                </a:solidFill>
              </a:rPr>
              <a:t>By the end of the course, the student will be able to </a:t>
            </a:r>
          </a:p>
          <a:p>
            <a:pPr>
              <a:buFont typeface="Arial" panose="020B0604020202020204" pitchFamily="34" charset="0"/>
              <a:buChar char="•"/>
            </a:pPr>
            <a:r>
              <a:rPr lang="en-US" sz="2400" dirty="0">
                <a:solidFill>
                  <a:schemeClr val="tx1"/>
                </a:solidFill>
              </a:rPr>
              <a:t>Describe a relational database and object-oriented database</a:t>
            </a:r>
          </a:p>
          <a:p>
            <a:pPr>
              <a:buFont typeface="Arial" panose="020B0604020202020204" pitchFamily="34" charset="0"/>
              <a:buChar char="•"/>
            </a:pPr>
            <a:r>
              <a:rPr lang="en-US" sz="2400" dirty="0">
                <a:solidFill>
                  <a:schemeClr val="tx1"/>
                </a:solidFill>
              </a:rPr>
              <a:t>Create, maintain and manipulate a relational database using SQL</a:t>
            </a:r>
          </a:p>
          <a:p>
            <a:pPr>
              <a:buFont typeface="Arial" panose="020B0604020202020204" pitchFamily="34" charset="0"/>
              <a:buChar char="•"/>
            </a:pPr>
            <a:r>
              <a:rPr lang="en-US" sz="2400" dirty="0">
                <a:solidFill>
                  <a:schemeClr val="tx1"/>
                </a:solidFill>
              </a:rPr>
              <a:t>Describe ER model and normalization for database design </a:t>
            </a:r>
          </a:p>
          <a:p>
            <a:pPr>
              <a:buFont typeface="Arial" panose="020B0604020202020204" pitchFamily="34" charset="0"/>
              <a:buChar char="•"/>
            </a:pPr>
            <a:r>
              <a:rPr lang="en-US" sz="2400" dirty="0">
                <a:solidFill>
                  <a:schemeClr val="tx1"/>
                </a:solidFill>
              </a:rPr>
              <a:t>Examine issues in data storage and query processing and can formulate appropriate solutions</a:t>
            </a:r>
          </a:p>
          <a:p>
            <a:pPr>
              <a:buFont typeface="Arial" panose="020B0604020202020204" pitchFamily="34" charset="0"/>
              <a:buChar char="•"/>
            </a:pPr>
            <a:r>
              <a:rPr lang="en-US" sz="2400" dirty="0">
                <a:solidFill>
                  <a:schemeClr val="tx1"/>
                </a:solidFill>
              </a:rPr>
              <a:t>Outline the role and issues in management of data such as efficiency, privacy, security, ethical responsibility, and strategic advantage </a:t>
            </a:r>
          </a:p>
        </p:txBody>
      </p:sp>
    </p:spTree>
    <p:extLst>
      <p:ext uri="{BB962C8B-B14F-4D97-AF65-F5344CB8AC3E}">
        <p14:creationId xmlns:p14="http://schemas.microsoft.com/office/powerpoint/2010/main" val="25957202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AA438-818F-4DB8-8EBF-347DF81E1DC7}"/>
              </a:ext>
            </a:extLst>
          </p:cNvPr>
          <p:cNvSpPr>
            <a:spLocks noGrp="1"/>
          </p:cNvSpPr>
          <p:nvPr>
            <p:ph type="title"/>
          </p:nvPr>
        </p:nvSpPr>
        <p:spPr>
          <a:xfrm>
            <a:off x="1080677" y="892184"/>
            <a:ext cx="9404723" cy="878932"/>
          </a:xfrm>
        </p:spPr>
        <p:txBody>
          <a:bodyPr/>
          <a:lstStyle/>
          <a:p>
            <a:r>
              <a:rPr lang="en-US" b="1" dirty="0">
                <a:solidFill>
                  <a:schemeClr val="tx1"/>
                </a:solidFill>
              </a:rPr>
              <a:t>Data VS Information</a:t>
            </a:r>
            <a:endParaRPr lang="x-none" b="1" dirty="0">
              <a:solidFill>
                <a:schemeClr val="tx1"/>
              </a:solidFill>
            </a:endParaRPr>
          </a:p>
        </p:txBody>
      </p:sp>
      <p:sp>
        <p:nvSpPr>
          <p:cNvPr id="3" name="TextBox 2">
            <a:extLst>
              <a:ext uri="{FF2B5EF4-FFF2-40B4-BE49-F238E27FC236}">
                <a16:creationId xmlns:a16="http://schemas.microsoft.com/office/drawing/2014/main" id="{03ED3470-A3FB-4E48-9937-6B77807B6868}"/>
              </a:ext>
            </a:extLst>
          </p:cNvPr>
          <p:cNvSpPr txBox="1"/>
          <p:nvPr/>
        </p:nvSpPr>
        <p:spPr>
          <a:xfrm>
            <a:off x="1080677" y="2021988"/>
            <a:ext cx="2610035" cy="523220"/>
          </a:xfrm>
          <a:prstGeom prst="rect">
            <a:avLst/>
          </a:prstGeom>
          <a:noFill/>
        </p:spPr>
        <p:txBody>
          <a:bodyPr wrap="square" rtlCol="0">
            <a:spAutoFit/>
          </a:bodyPr>
          <a:lstStyle/>
          <a:p>
            <a:pPr algn="ctr"/>
            <a:r>
              <a:rPr lang="en-US" sz="2800" dirty="0"/>
              <a:t>Data</a:t>
            </a:r>
          </a:p>
        </p:txBody>
      </p:sp>
      <p:sp>
        <p:nvSpPr>
          <p:cNvPr id="11" name="TextBox 10">
            <a:extLst>
              <a:ext uri="{FF2B5EF4-FFF2-40B4-BE49-F238E27FC236}">
                <a16:creationId xmlns:a16="http://schemas.microsoft.com/office/drawing/2014/main" id="{21BD29F3-35DB-4D93-8401-11F6AF68A2C2}"/>
              </a:ext>
            </a:extLst>
          </p:cNvPr>
          <p:cNvSpPr txBox="1"/>
          <p:nvPr/>
        </p:nvSpPr>
        <p:spPr>
          <a:xfrm>
            <a:off x="7475869" y="2035918"/>
            <a:ext cx="2610035" cy="523220"/>
          </a:xfrm>
          <a:prstGeom prst="rect">
            <a:avLst/>
          </a:prstGeom>
          <a:noFill/>
        </p:spPr>
        <p:txBody>
          <a:bodyPr wrap="square" rtlCol="0">
            <a:spAutoFit/>
          </a:bodyPr>
          <a:lstStyle/>
          <a:p>
            <a:pPr algn="ctr"/>
            <a:r>
              <a:rPr lang="en-US" sz="2800" dirty="0"/>
              <a:t>Information</a:t>
            </a:r>
          </a:p>
        </p:txBody>
      </p:sp>
      <p:graphicFrame>
        <p:nvGraphicFramePr>
          <p:cNvPr id="12" name="Table 12">
            <a:extLst>
              <a:ext uri="{FF2B5EF4-FFF2-40B4-BE49-F238E27FC236}">
                <a16:creationId xmlns:a16="http://schemas.microsoft.com/office/drawing/2014/main" id="{3C16FE9B-E218-4737-A2BE-EE111CE0E916}"/>
              </a:ext>
            </a:extLst>
          </p:cNvPr>
          <p:cNvGraphicFramePr>
            <a:graphicFrameLocks noGrp="1"/>
          </p:cNvGraphicFramePr>
          <p:nvPr/>
        </p:nvGraphicFramePr>
        <p:xfrm>
          <a:off x="646113" y="2559138"/>
          <a:ext cx="4547325" cy="1112520"/>
        </p:xfrm>
        <a:graphic>
          <a:graphicData uri="http://schemas.openxmlformats.org/drawingml/2006/table">
            <a:tbl>
              <a:tblPr firstRow="1" bandRow="1">
                <a:tableStyleId>{69CF1AB2-1976-4502-BF36-3FF5EA218861}</a:tableStyleId>
              </a:tblPr>
              <a:tblGrid>
                <a:gridCol w="1515775">
                  <a:extLst>
                    <a:ext uri="{9D8B030D-6E8A-4147-A177-3AD203B41FA5}">
                      <a16:colId xmlns:a16="http://schemas.microsoft.com/office/drawing/2014/main" val="3995724289"/>
                    </a:ext>
                  </a:extLst>
                </a:gridCol>
                <a:gridCol w="1515775">
                  <a:extLst>
                    <a:ext uri="{9D8B030D-6E8A-4147-A177-3AD203B41FA5}">
                      <a16:colId xmlns:a16="http://schemas.microsoft.com/office/drawing/2014/main" val="2967120658"/>
                    </a:ext>
                  </a:extLst>
                </a:gridCol>
                <a:gridCol w="1515775">
                  <a:extLst>
                    <a:ext uri="{9D8B030D-6E8A-4147-A177-3AD203B41FA5}">
                      <a16:colId xmlns:a16="http://schemas.microsoft.com/office/drawing/2014/main" val="2055563950"/>
                    </a:ext>
                  </a:extLst>
                </a:gridCol>
              </a:tblGrid>
              <a:tr h="370840">
                <a:tc>
                  <a:txBody>
                    <a:bodyPr/>
                    <a:lstStyle/>
                    <a:p>
                      <a:r>
                        <a:rPr lang="en-US" b="0" dirty="0"/>
                        <a:t>Khi</a:t>
                      </a:r>
                    </a:p>
                  </a:txBody>
                  <a:tcPr/>
                </a:tc>
                <a:tc>
                  <a:txBody>
                    <a:bodyPr/>
                    <a:lstStyle/>
                    <a:p>
                      <a:r>
                        <a:rPr lang="en-US" b="0" dirty="0"/>
                        <a:t>Sales</a:t>
                      </a:r>
                    </a:p>
                  </a:txBody>
                  <a:tcPr/>
                </a:tc>
                <a:tc>
                  <a:txBody>
                    <a:bodyPr/>
                    <a:lstStyle/>
                    <a:p>
                      <a:r>
                        <a:rPr lang="en-US" b="0" dirty="0" err="1"/>
                        <a:t>Isb</a:t>
                      </a:r>
                      <a:endParaRPr lang="en-US" b="0" dirty="0"/>
                    </a:p>
                  </a:txBody>
                  <a:tcPr/>
                </a:tc>
                <a:extLst>
                  <a:ext uri="{0D108BD9-81ED-4DB2-BD59-A6C34878D82A}">
                    <a16:rowId xmlns:a16="http://schemas.microsoft.com/office/drawing/2014/main" val="689405636"/>
                  </a:ext>
                </a:extLst>
              </a:tr>
              <a:tr h="370840">
                <a:tc>
                  <a:txBody>
                    <a:bodyPr/>
                    <a:lstStyle/>
                    <a:p>
                      <a:r>
                        <a:rPr lang="en-US" dirty="0"/>
                        <a:t>10</a:t>
                      </a:r>
                    </a:p>
                  </a:txBody>
                  <a:tcPr/>
                </a:tc>
                <a:tc>
                  <a:txBody>
                    <a:bodyPr/>
                    <a:lstStyle/>
                    <a:p>
                      <a:r>
                        <a:rPr lang="en-US" dirty="0" err="1"/>
                        <a:t>Lhr</a:t>
                      </a:r>
                      <a:endParaRPr lang="en-US" dirty="0"/>
                    </a:p>
                  </a:txBody>
                  <a:tcPr/>
                </a:tc>
                <a:tc>
                  <a:txBody>
                    <a:bodyPr/>
                    <a:lstStyle/>
                    <a:p>
                      <a:r>
                        <a:rPr lang="en-US" dirty="0"/>
                        <a:t>20</a:t>
                      </a:r>
                    </a:p>
                  </a:txBody>
                  <a:tcPr/>
                </a:tc>
                <a:extLst>
                  <a:ext uri="{0D108BD9-81ED-4DB2-BD59-A6C34878D82A}">
                    <a16:rowId xmlns:a16="http://schemas.microsoft.com/office/drawing/2014/main" val="2430768099"/>
                  </a:ext>
                </a:extLst>
              </a:tr>
              <a:tr h="370840">
                <a:tc>
                  <a:txBody>
                    <a:bodyPr/>
                    <a:lstStyle/>
                    <a:p>
                      <a:r>
                        <a:rPr lang="en-US" dirty="0"/>
                        <a:t>Marketing</a:t>
                      </a:r>
                    </a:p>
                  </a:txBody>
                  <a:tcPr/>
                </a:tc>
                <a:tc>
                  <a:txBody>
                    <a:bodyPr/>
                    <a:lstStyle/>
                    <a:p>
                      <a:r>
                        <a:rPr lang="en-US" dirty="0"/>
                        <a:t>30</a:t>
                      </a:r>
                    </a:p>
                  </a:txBody>
                  <a:tcPr/>
                </a:tc>
                <a:tc>
                  <a:txBody>
                    <a:bodyPr/>
                    <a:lstStyle/>
                    <a:p>
                      <a:r>
                        <a:rPr lang="en-US" dirty="0"/>
                        <a:t>Production</a:t>
                      </a:r>
                    </a:p>
                  </a:txBody>
                  <a:tcPr/>
                </a:tc>
                <a:extLst>
                  <a:ext uri="{0D108BD9-81ED-4DB2-BD59-A6C34878D82A}">
                    <a16:rowId xmlns:a16="http://schemas.microsoft.com/office/drawing/2014/main" val="1587064157"/>
                  </a:ext>
                </a:extLst>
              </a:tr>
            </a:tbl>
          </a:graphicData>
        </a:graphic>
      </p:graphicFrame>
      <p:graphicFrame>
        <p:nvGraphicFramePr>
          <p:cNvPr id="13" name="Table 13">
            <a:extLst>
              <a:ext uri="{FF2B5EF4-FFF2-40B4-BE49-F238E27FC236}">
                <a16:creationId xmlns:a16="http://schemas.microsoft.com/office/drawing/2014/main" id="{DF972B8E-2599-461B-AFA5-0E69D1702EB8}"/>
              </a:ext>
            </a:extLst>
          </p:cNvPr>
          <p:cNvGraphicFramePr>
            <a:graphicFrameLocks noGrp="1"/>
          </p:cNvGraphicFramePr>
          <p:nvPr/>
        </p:nvGraphicFramePr>
        <p:xfrm>
          <a:off x="6096000" y="2549706"/>
          <a:ext cx="5533749" cy="1341120"/>
        </p:xfrm>
        <a:graphic>
          <a:graphicData uri="http://schemas.openxmlformats.org/drawingml/2006/table">
            <a:tbl>
              <a:tblPr firstRow="1" bandRow="1">
                <a:tableStyleId>{5C22544A-7EE6-4342-B048-85BDC9FD1C3A}</a:tableStyleId>
              </a:tblPr>
              <a:tblGrid>
                <a:gridCol w="1844583">
                  <a:extLst>
                    <a:ext uri="{9D8B030D-6E8A-4147-A177-3AD203B41FA5}">
                      <a16:colId xmlns:a16="http://schemas.microsoft.com/office/drawing/2014/main" val="1872335874"/>
                    </a:ext>
                  </a:extLst>
                </a:gridCol>
                <a:gridCol w="1844583">
                  <a:extLst>
                    <a:ext uri="{9D8B030D-6E8A-4147-A177-3AD203B41FA5}">
                      <a16:colId xmlns:a16="http://schemas.microsoft.com/office/drawing/2014/main" val="3259339052"/>
                    </a:ext>
                  </a:extLst>
                </a:gridCol>
                <a:gridCol w="1844583">
                  <a:extLst>
                    <a:ext uri="{9D8B030D-6E8A-4147-A177-3AD203B41FA5}">
                      <a16:colId xmlns:a16="http://schemas.microsoft.com/office/drawing/2014/main" val="2172411979"/>
                    </a:ext>
                  </a:extLst>
                </a:gridCol>
              </a:tblGrid>
              <a:tr h="281977">
                <a:tc>
                  <a:txBody>
                    <a:bodyPr/>
                    <a:lstStyle/>
                    <a:p>
                      <a:r>
                        <a:rPr lang="en-US" sz="1600" dirty="0" err="1"/>
                        <a:t>DEPT_No</a:t>
                      </a:r>
                      <a:endParaRPr lang="en-US" sz="1600" dirty="0"/>
                    </a:p>
                  </a:txBody>
                  <a:tcPr/>
                </a:tc>
                <a:tc>
                  <a:txBody>
                    <a:bodyPr/>
                    <a:lstStyle/>
                    <a:p>
                      <a:r>
                        <a:rPr lang="en-US" sz="1600" dirty="0" err="1"/>
                        <a:t>DEPT_Name</a:t>
                      </a:r>
                      <a:endParaRPr lang="en-US" sz="1600" dirty="0"/>
                    </a:p>
                  </a:txBody>
                  <a:tcPr/>
                </a:tc>
                <a:tc>
                  <a:txBody>
                    <a:bodyPr/>
                    <a:lstStyle/>
                    <a:p>
                      <a:r>
                        <a:rPr lang="en-US" sz="1600" dirty="0" err="1"/>
                        <a:t>DEPT_Location</a:t>
                      </a:r>
                      <a:endParaRPr lang="en-US" sz="1600" dirty="0"/>
                    </a:p>
                  </a:txBody>
                  <a:tcPr/>
                </a:tc>
                <a:extLst>
                  <a:ext uri="{0D108BD9-81ED-4DB2-BD59-A6C34878D82A}">
                    <a16:rowId xmlns:a16="http://schemas.microsoft.com/office/drawing/2014/main" val="2521588099"/>
                  </a:ext>
                </a:extLst>
              </a:tr>
              <a:tr h="281977">
                <a:tc>
                  <a:txBody>
                    <a:bodyPr/>
                    <a:lstStyle/>
                    <a:p>
                      <a:r>
                        <a:rPr lang="en-US" sz="1600" dirty="0"/>
                        <a:t>10</a:t>
                      </a:r>
                    </a:p>
                  </a:txBody>
                  <a:tcPr/>
                </a:tc>
                <a:tc>
                  <a:txBody>
                    <a:bodyPr/>
                    <a:lstStyle/>
                    <a:p>
                      <a:r>
                        <a:rPr lang="en-US" sz="1600" dirty="0"/>
                        <a:t>Sales</a:t>
                      </a:r>
                    </a:p>
                  </a:txBody>
                  <a:tcPr/>
                </a:tc>
                <a:tc>
                  <a:txBody>
                    <a:bodyPr/>
                    <a:lstStyle/>
                    <a:p>
                      <a:r>
                        <a:rPr lang="en-US" sz="1600" dirty="0"/>
                        <a:t>Khi</a:t>
                      </a:r>
                    </a:p>
                  </a:txBody>
                  <a:tcPr/>
                </a:tc>
                <a:extLst>
                  <a:ext uri="{0D108BD9-81ED-4DB2-BD59-A6C34878D82A}">
                    <a16:rowId xmlns:a16="http://schemas.microsoft.com/office/drawing/2014/main" val="88948119"/>
                  </a:ext>
                </a:extLst>
              </a:tr>
              <a:tr h="281977">
                <a:tc>
                  <a:txBody>
                    <a:bodyPr/>
                    <a:lstStyle/>
                    <a:p>
                      <a:r>
                        <a:rPr lang="en-US" sz="1600" dirty="0"/>
                        <a:t>20</a:t>
                      </a:r>
                    </a:p>
                  </a:txBody>
                  <a:tcPr/>
                </a:tc>
                <a:tc>
                  <a:txBody>
                    <a:bodyPr/>
                    <a:lstStyle/>
                    <a:p>
                      <a:r>
                        <a:rPr lang="en-US" sz="1600" dirty="0"/>
                        <a:t>Marketing</a:t>
                      </a:r>
                    </a:p>
                  </a:txBody>
                  <a:tcPr/>
                </a:tc>
                <a:tc>
                  <a:txBody>
                    <a:bodyPr/>
                    <a:lstStyle/>
                    <a:p>
                      <a:r>
                        <a:rPr lang="en-US" sz="1600" dirty="0" err="1"/>
                        <a:t>Lhr</a:t>
                      </a:r>
                      <a:endParaRPr lang="en-US" sz="1600" dirty="0"/>
                    </a:p>
                  </a:txBody>
                  <a:tcPr/>
                </a:tc>
                <a:extLst>
                  <a:ext uri="{0D108BD9-81ED-4DB2-BD59-A6C34878D82A}">
                    <a16:rowId xmlns:a16="http://schemas.microsoft.com/office/drawing/2014/main" val="1754294647"/>
                  </a:ext>
                </a:extLst>
              </a:tr>
              <a:tr h="281977">
                <a:tc>
                  <a:txBody>
                    <a:bodyPr/>
                    <a:lstStyle/>
                    <a:p>
                      <a:r>
                        <a:rPr lang="en-US" sz="1600" dirty="0"/>
                        <a:t>30 </a:t>
                      </a:r>
                    </a:p>
                  </a:txBody>
                  <a:tcPr/>
                </a:tc>
                <a:tc>
                  <a:txBody>
                    <a:bodyPr/>
                    <a:lstStyle/>
                    <a:p>
                      <a:r>
                        <a:rPr lang="en-US" sz="1600" dirty="0"/>
                        <a:t>Production</a:t>
                      </a:r>
                    </a:p>
                  </a:txBody>
                  <a:tcPr/>
                </a:tc>
                <a:tc>
                  <a:txBody>
                    <a:bodyPr/>
                    <a:lstStyle/>
                    <a:p>
                      <a:r>
                        <a:rPr lang="en-US" sz="1600" dirty="0" err="1"/>
                        <a:t>Isl</a:t>
                      </a:r>
                      <a:endParaRPr lang="en-US" sz="1600" dirty="0"/>
                    </a:p>
                  </a:txBody>
                  <a:tcPr/>
                </a:tc>
                <a:extLst>
                  <a:ext uri="{0D108BD9-81ED-4DB2-BD59-A6C34878D82A}">
                    <a16:rowId xmlns:a16="http://schemas.microsoft.com/office/drawing/2014/main" val="3698992338"/>
                  </a:ext>
                </a:extLst>
              </a:tr>
            </a:tbl>
          </a:graphicData>
        </a:graphic>
      </p:graphicFrame>
      <p:sp>
        <p:nvSpPr>
          <p:cNvPr id="4" name="TextBox 3"/>
          <p:cNvSpPr txBox="1"/>
          <p:nvPr/>
        </p:nvSpPr>
        <p:spPr>
          <a:xfrm>
            <a:off x="646111" y="4172989"/>
            <a:ext cx="4547327" cy="1569660"/>
          </a:xfrm>
          <a:prstGeom prst="rect">
            <a:avLst/>
          </a:prstGeom>
          <a:noFill/>
        </p:spPr>
        <p:txBody>
          <a:bodyPr wrap="square" rtlCol="0">
            <a:spAutoFit/>
          </a:bodyPr>
          <a:lstStyle/>
          <a:p>
            <a:pPr marL="285750" indent="-285750">
              <a:buFont typeface="Arial" panose="020B0604020202020204" pitchFamily="34" charset="0"/>
              <a:buChar char="•"/>
            </a:pPr>
            <a:r>
              <a:rPr lang="en-US" sz="2400" dirty="0"/>
              <a:t>Unsorted </a:t>
            </a:r>
          </a:p>
          <a:p>
            <a:pPr marL="285750" indent="-285750">
              <a:buFont typeface="Arial" panose="020B0604020202020204" pitchFamily="34" charset="0"/>
              <a:buChar char="•"/>
            </a:pPr>
            <a:r>
              <a:rPr lang="en-US" sz="2400" dirty="0"/>
              <a:t>Meaningless</a:t>
            </a:r>
          </a:p>
          <a:p>
            <a:pPr marL="285750" indent="-285750">
              <a:buFont typeface="Arial" panose="020B0604020202020204" pitchFamily="34" charset="0"/>
              <a:buChar char="•"/>
            </a:pPr>
            <a:r>
              <a:rPr lang="en-US" sz="2400" dirty="0"/>
              <a:t>Cannot use such type of data/info in any useful purpose.</a:t>
            </a:r>
          </a:p>
        </p:txBody>
      </p:sp>
      <p:sp>
        <p:nvSpPr>
          <p:cNvPr id="8" name="TextBox 7"/>
          <p:cNvSpPr txBox="1"/>
          <p:nvPr/>
        </p:nvSpPr>
        <p:spPr>
          <a:xfrm>
            <a:off x="6096000" y="4238244"/>
            <a:ext cx="4547327" cy="1569660"/>
          </a:xfrm>
          <a:prstGeom prst="rect">
            <a:avLst/>
          </a:prstGeom>
          <a:noFill/>
        </p:spPr>
        <p:txBody>
          <a:bodyPr wrap="square" rtlCol="0">
            <a:spAutoFit/>
          </a:bodyPr>
          <a:lstStyle/>
          <a:p>
            <a:pPr marL="285750" indent="-285750">
              <a:buFont typeface="Arial" panose="020B0604020202020204" pitchFamily="34" charset="0"/>
              <a:buChar char="•"/>
            </a:pPr>
            <a:r>
              <a:rPr lang="en-US" sz="2400" dirty="0"/>
              <a:t>Sorted </a:t>
            </a:r>
          </a:p>
          <a:p>
            <a:pPr marL="285750" indent="-285750">
              <a:buFont typeface="Arial" panose="020B0604020202020204" pitchFamily="34" charset="0"/>
              <a:buChar char="•"/>
            </a:pPr>
            <a:r>
              <a:rPr lang="en-US" sz="2400" dirty="0"/>
              <a:t>Meaningful &amp; understandable</a:t>
            </a:r>
          </a:p>
          <a:p>
            <a:pPr marL="285750" indent="-285750">
              <a:buFont typeface="Arial" panose="020B0604020202020204" pitchFamily="34" charset="0"/>
              <a:buChar char="•"/>
            </a:pPr>
            <a:r>
              <a:rPr lang="en-US" sz="2400" dirty="0"/>
              <a:t>Can use this data/info for extracting useful information.</a:t>
            </a:r>
          </a:p>
        </p:txBody>
      </p:sp>
    </p:spTree>
    <p:extLst>
      <p:ext uri="{BB962C8B-B14F-4D97-AF65-F5344CB8AC3E}">
        <p14:creationId xmlns:p14="http://schemas.microsoft.com/office/powerpoint/2010/main" val="28299538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6AEC8-BB8E-3338-6A60-1ADA1BF8E699}"/>
              </a:ext>
            </a:extLst>
          </p:cNvPr>
          <p:cNvSpPr>
            <a:spLocks noGrp="1"/>
          </p:cNvSpPr>
          <p:nvPr>
            <p:ph type="title"/>
          </p:nvPr>
        </p:nvSpPr>
        <p:spPr/>
        <p:txBody>
          <a:bodyPr/>
          <a:lstStyle/>
          <a:p>
            <a:r>
              <a:rPr lang="en-US" sz="4800" b="1" dirty="0">
                <a:solidFill>
                  <a:schemeClr val="tx1"/>
                </a:solidFill>
              </a:rPr>
              <a:t>Introduction</a:t>
            </a:r>
            <a:endParaRPr lang="en-US" dirty="0">
              <a:solidFill>
                <a:schemeClr val="tx1"/>
              </a:solidFill>
            </a:endParaRPr>
          </a:p>
        </p:txBody>
      </p:sp>
      <p:sp>
        <p:nvSpPr>
          <p:cNvPr id="3" name="Content Placeholder 2">
            <a:extLst>
              <a:ext uri="{FF2B5EF4-FFF2-40B4-BE49-F238E27FC236}">
                <a16:creationId xmlns:a16="http://schemas.microsoft.com/office/drawing/2014/main" id="{F52E4D40-68E4-22AB-927F-CC92F885E449}"/>
              </a:ext>
            </a:extLst>
          </p:cNvPr>
          <p:cNvSpPr>
            <a:spLocks noGrp="1"/>
          </p:cNvSpPr>
          <p:nvPr>
            <p:ph idx="1"/>
          </p:nvPr>
        </p:nvSpPr>
        <p:spPr/>
        <p:txBody>
          <a:bodyPr>
            <a:normAutofit/>
          </a:bodyPr>
          <a:lstStyle/>
          <a:p>
            <a:endParaRPr lang="en-US" sz="2400" b="1" dirty="0">
              <a:solidFill>
                <a:schemeClr val="tx1"/>
              </a:solidFill>
            </a:endParaRPr>
          </a:p>
          <a:p>
            <a:r>
              <a:rPr lang="en-US" sz="2400" b="1" dirty="0">
                <a:solidFill>
                  <a:schemeClr val="tx1"/>
                </a:solidFill>
              </a:rPr>
              <a:t>Data:</a:t>
            </a:r>
            <a:r>
              <a:rPr lang="en-US" sz="2400" dirty="0">
                <a:solidFill>
                  <a:schemeClr val="tx1"/>
                </a:solidFill>
              </a:rPr>
              <a:t> Known facts that can be recorded and have an implicit meaning. </a:t>
            </a:r>
          </a:p>
          <a:p>
            <a:endParaRPr lang="en-US" sz="2400" dirty="0">
              <a:solidFill>
                <a:schemeClr val="tx1"/>
              </a:solidFill>
            </a:endParaRPr>
          </a:p>
          <a:p>
            <a:r>
              <a:rPr lang="en-US" altLang="en-US" sz="2400" b="1" dirty="0">
                <a:solidFill>
                  <a:schemeClr val="tx1"/>
                </a:solidFill>
              </a:rPr>
              <a:t>Database:</a:t>
            </a:r>
            <a:r>
              <a:rPr lang="en-US" altLang="en-US" sz="2400" dirty="0">
                <a:solidFill>
                  <a:schemeClr val="tx1"/>
                </a:solidFill>
              </a:rPr>
              <a:t> a highly organized, interrelated, and structured set of data. </a:t>
            </a:r>
          </a:p>
        </p:txBody>
      </p:sp>
    </p:spTree>
    <p:extLst>
      <p:ext uri="{BB962C8B-B14F-4D97-AF65-F5344CB8AC3E}">
        <p14:creationId xmlns:p14="http://schemas.microsoft.com/office/powerpoint/2010/main" val="2408345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11419-9E6B-FDB8-9A85-294C11D0B49A}"/>
              </a:ext>
            </a:extLst>
          </p:cNvPr>
          <p:cNvSpPr>
            <a:spLocks noGrp="1"/>
          </p:cNvSpPr>
          <p:nvPr>
            <p:ph type="title"/>
          </p:nvPr>
        </p:nvSpPr>
        <p:spPr>
          <a:xfrm>
            <a:off x="819715" y="254474"/>
            <a:ext cx="10552569" cy="1450757"/>
          </a:xfrm>
        </p:spPr>
        <p:txBody>
          <a:bodyPr/>
          <a:lstStyle/>
          <a:p>
            <a:r>
              <a:rPr lang="en-US" sz="4800" b="1" dirty="0"/>
              <a:t>General Idea:</a:t>
            </a:r>
            <a:endParaRPr lang="en-US" dirty="0">
              <a:solidFill>
                <a:schemeClr val="tx1"/>
              </a:solidFill>
            </a:endParaRPr>
          </a:p>
        </p:txBody>
      </p:sp>
      <p:sp>
        <p:nvSpPr>
          <p:cNvPr id="3" name="Content Placeholder 2">
            <a:extLst>
              <a:ext uri="{FF2B5EF4-FFF2-40B4-BE49-F238E27FC236}">
                <a16:creationId xmlns:a16="http://schemas.microsoft.com/office/drawing/2014/main" id="{5AA5B039-FC3E-419E-6577-3EB9AB348C77}"/>
              </a:ext>
            </a:extLst>
          </p:cNvPr>
          <p:cNvSpPr>
            <a:spLocks noGrp="1"/>
          </p:cNvSpPr>
          <p:nvPr>
            <p:ph idx="1"/>
          </p:nvPr>
        </p:nvSpPr>
        <p:spPr>
          <a:xfrm>
            <a:off x="679011" y="1958728"/>
            <a:ext cx="11175748" cy="4094614"/>
          </a:xfrm>
        </p:spPr>
        <p:txBody>
          <a:bodyPr>
            <a:noAutofit/>
          </a:bodyPr>
          <a:lstStyle/>
          <a:p>
            <a:r>
              <a:rPr lang="en-US" sz="2400" b="1" dirty="0">
                <a:solidFill>
                  <a:schemeClr val="tx1"/>
                </a:solidFill>
              </a:rPr>
              <a:t>Essential component of life: </a:t>
            </a:r>
            <a:r>
              <a:rPr lang="en-US" sz="2400" dirty="0">
                <a:solidFill>
                  <a:schemeClr val="tx1"/>
                </a:solidFill>
              </a:rPr>
              <a:t>most of us encounter several activities every day that involve some interaction with a database.</a:t>
            </a:r>
          </a:p>
          <a:p>
            <a:pPr lvl="1"/>
            <a:r>
              <a:rPr lang="en-US" sz="2400" dirty="0">
                <a:solidFill>
                  <a:schemeClr val="tx1"/>
                </a:solidFill>
              </a:rPr>
              <a:t>Banking(money deposit and withdraw)</a:t>
            </a:r>
          </a:p>
          <a:p>
            <a:pPr lvl="1"/>
            <a:r>
              <a:rPr lang="en-US" sz="2400" dirty="0">
                <a:solidFill>
                  <a:schemeClr val="tx1"/>
                </a:solidFill>
              </a:rPr>
              <a:t>Hotel Reservation</a:t>
            </a:r>
          </a:p>
          <a:p>
            <a:pPr lvl="1"/>
            <a:r>
              <a:rPr lang="en-US" sz="2400" dirty="0">
                <a:solidFill>
                  <a:schemeClr val="tx1"/>
                </a:solidFill>
              </a:rPr>
              <a:t>Airline Reservation</a:t>
            </a:r>
          </a:p>
          <a:p>
            <a:pPr lvl="1"/>
            <a:r>
              <a:rPr lang="en-US" sz="2400" dirty="0">
                <a:solidFill>
                  <a:schemeClr val="tx1"/>
                </a:solidFill>
              </a:rPr>
              <a:t>Accessing online Library</a:t>
            </a:r>
          </a:p>
          <a:p>
            <a:pPr lvl="1"/>
            <a:r>
              <a:rPr lang="en-US" sz="2400" dirty="0">
                <a:solidFill>
                  <a:schemeClr val="tx1"/>
                </a:solidFill>
              </a:rPr>
              <a:t>Shopping (</a:t>
            </a:r>
            <a:r>
              <a:rPr lang="en-US" sz="2400" dirty="0" err="1">
                <a:solidFill>
                  <a:schemeClr val="tx1"/>
                </a:solidFill>
              </a:rPr>
              <a:t>Daraz</a:t>
            </a:r>
            <a:r>
              <a:rPr lang="en-US" sz="2400" dirty="0">
                <a:solidFill>
                  <a:schemeClr val="tx1"/>
                </a:solidFill>
              </a:rPr>
              <a:t>, AliExpress, Amazon etc.)</a:t>
            </a:r>
          </a:p>
          <a:p>
            <a:pPr lvl="1"/>
            <a:r>
              <a:rPr lang="en-US" sz="2400" dirty="0">
                <a:solidFill>
                  <a:schemeClr val="tx1"/>
                </a:solidFill>
              </a:rPr>
              <a:t>Car Booking (Careem, Uber etc.)</a:t>
            </a:r>
          </a:p>
        </p:txBody>
      </p:sp>
    </p:spTree>
    <p:extLst>
      <p:ext uri="{BB962C8B-B14F-4D97-AF65-F5344CB8AC3E}">
        <p14:creationId xmlns:p14="http://schemas.microsoft.com/office/powerpoint/2010/main" val="1644403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BD3E7-F1E8-4630-F0FF-7CCCE4BBCAE1}"/>
              </a:ext>
            </a:extLst>
          </p:cNvPr>
          <p:cNvSpPr>
            <a:spLocks noGrp="1"/>
          </p:cNvSpPr>
          <p:nvPr>
            <p:ph type="title"/>
          </p:nvPr>
        </p:nvSpPr>
        <p:spPr/>
        <p:txBody>
          <a:bodyPr/>
          <a:lstStyle/>
          <a:p>
            <a:r>
              <a:rPr lang="en-US" sz="4800" b="1" dirty="0"/>
              <a:t>General Idea:</a:t>
            </a:r>
            <a:endParaRPr lang="en-US" dirty="0">
              <a:solidFill>
                <a:schemeClr val="tx1"/>
              </a:solidFill>
            </a:endParaRPr>
          </a:p>
        </p:txBody>
      </p:sp>
      <p:sp>
        <p:nvSpPr>
          <p:cNvPr id="3" name="Content Placeholder 2">
            <a:extLst>
              <a:ext uri="{FF2B5EF4-FFF2-40B4-BE49-F238E27FC236}">
                <a16:creationId xmlns:a16="http://schemas.microsoft.com/office/drawing/2014/main" id="{6E45B385-4191-3B0B-A3D4-943C863D611C}"/>
              </a:ext>
            </a:extLst>
          </p:cNvPr>
          <p:cNvSpPr>
            <a:spLocks noGrp="1"/>
          </p:cNvSpPr>
          <p:nvPr>
            <p:ph idx="1"/>
          </p:nvPr>
        </p:nvSpPr>
        <p:spPr>
          <a:xfrm>
            <a:off x="1097279" y="1845734"/>
            <a:ext cx="10844241" cy="4310622"/>
          </a:xfrm>
        </p:spPr>
        <p:txBody>
          <a:bodyPr>
            <a:normAutofit lnSpcReduction="10000"/>
          </a:bodyPr>
          <a:lstStyle/>
          <a:p>
            <a:r>
              <a:rPr lang="en-US" sz="2400" dirty="0">
                <a:solidFill>
                  <a:schemeClr val="accent2"/>
                </a:solidFill>
              </a:rPr>
              <a:t>Traditional databases</a:t>
            </a:r>
            <a:r>
              <a:rPr lang="en-US" sz="2400" dirty="0">
                <a:solidFill>
                  <a:schemeClr val="tx1"/>
                </a:solidFill>
              </a:rPr>
              <a:t>: Most of the information that is stored and accessed is either textual or numeric. </a:t>
            </a:r>
          </a:p>
          <a:p>
            <a:r>
              <a:rPr lang="en-US" sz="2400" dirty="0">
                <a:solidFill>
                  <a:schemeClr val="accent2"/>
                </a:solidFill>
              </a:rPr>
              <a:t>Non-traditional databases/Bigdata storage systems/ NOSQL systems: </a:t>
            </a:r>
            <a:r>
              <a:rPr lang="en-US" sz="2400" dirty="0">
                <a:solidFill>
                  <a:schemeClr val="tx1"/>
                </a:solidFill>
              </a:rPr>
              <a:t>created to manage data for social media applications.</a:t>
            </a:r>
          </a:p>
          <a:p>
            <a:pPr lvl="1"/>
            <a:r>
              <a:rPr lang="en-US" sz="2400" dirty="0">
                <a:solidFill>
                  <a:schemeClr val="tx1"/>
                </a:solidFill>
              </a:rPr>
              <a:t>Facebook (Posts, images and video clips)</a:t>
            </a:r>
          </a:p>
          <a:p>
            <a:pPr lvl="1"/>
            <a:r>
              <a:rPr lang="en-US" sz="2400" dirty="0">
                <a:solidFill>
                  <a:schemeClr val="tx1"/>
                </a:solidFill>
              </a:rPr>
              <a:t>Twitter (Tweets, images and video clips)</a:t>
            </a:r>
          </a:p>
          <a:p>
            <a:pPr lvl="1"/>
            <a:r>
              <a:rPr lang="en-US" sz="2400" dirty="0">
                <a:solidFill>
                  <a:schemeClr val="tx1"/>
                </a:solidFill>
              </a:rPr>
              <a:t>Google</a:t>
            </a:r>
          </a:p>
          <a:p>
            <a:pPr lvl="1"/>
            <a:r>
              <a:rPr lang="en-US" sz="2400" dirty="0">
                <a:solidFill>
                  <a:schemeClr val="tx1"/>
                </a:solidFill>
              </a:rPr>
              <a:t>Amazon</a:t>
            </a:r>
          </a:p>
          <a:p>
            <a:pPr lvl="1"/>
            <a:r>
              <a:rPr lang="en-US" sz="2400" dirty="0">
                <a:solidFill>
                  <a:schemeClr val="tx1"/>
                </a:solidFill>
              </a:rPr>
              <a:t>Yahoo</a:t>
            </a:r>
          </a:p>
          <a:p>
            <a:r>
              <a:rPr lang="en-US" sz="2400" dirty="0">
                <a:solidFill>
                  <a:schemeClr val="tx1"/>
                </a:solidFill>
              </a:rPr>
              <a:t>A large amount of data now resides on the “cloud”.  which means it is in huge data centers using thousands of machines.</a:t>
            </a:r>
          </a:p>
          <a:p>
            <a:endParaRPr lang="en-US" dirty="0"/>
          </a:p>
          <a:p>
            <a:endParaRPr lang="en-US" dirty="0"/>
          </a:p>
        </p:txBody>
      </p:sp>
    </p:spTree>
    <p:extLst>
      <p:ext uri="{BB962C8B-B14F-4D97-AF65-F5344CB8AC3E}">
        <p14:creationId xmlns:p14="http://schemas.microsoft.com/office/powerpoint/2010/main" val="1930156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6AEC8-BB8E-3338-6A60-1ADA1BF8E699}"/>
              </a:ext>
            </a:extLst>
          </p:cNvPr>
          <p:cNvSpPr>
            <a:spLocks noGrp="1"/>
          </p:cNvSpPr>
          <p:nvPr>
            <p:ph type="title"/>
          </p:nvPr>
        </p:nvSpPr>
        <p:spPr/>
        <p:txBody>
          <a:bodyPr/>
          <a:lstStyle/>
          <a:p>
            <a:r>
              <a:rPr lang="en-US" sz="4800" b="1" dirty="0"/>
              <a:t>Introduction</a:t>
            </a:r>
            <a:endParaRPr lang="en-US" dirty="0">
              <a:solidFill>
                <a:schemeClr val="tx1"/>
              </a:solidFill>
            </a:endParaRPr>
          </a:p>
        </p:txBody>
      </p:sp>
      <p:sp>
        <p:nvSpPr>
          <p:cNvPr id="3" name="Content Placeholder 2">
            <a:extLst>
              <a:ext uri="{FF2B5EF4-FFF2-40B4-BE49-F238E27FC236}">
                <a16:creationId xmlns:a16="http://schemas.microsoft.com/office/drawing/2014/main" id="{F52E4D40-68E4-22AB-927F-CC92F885E449}"/>
              </a:ext>
            </a:extLst>
          </p:cNvPr>
          <p:cNvSpPr>
            <a:spLocks noGrp="1"/>
          </p:cNvSpPr>
          <p:nvPr>
            <p:ph idx="1"/>
          </p:nvPr>
        </p:nvSpPr>
        <p:spPr/>
        <p:txBody>
          <a:bodyPr>
            <a:normAutofit/>
          </a:bodyPr>
          <a:lstStyle/>
          <a:p>
            <a:pPr marL="0" indent="0">
              <a:buNone/>
            </a:pPr>
            <a:r>
              <a:rPr lang="en-US" sz="2400" dirty="0">
                <a:solidFill>
                  <a:schemeClr val="tx1"/>
                </a:solidFill>
              </a:rPr>
              <a:t>A database can be of any size and complexity.</a:t>
            </a:r>
          </a:p>
          <a:p>
            <a:pPr marL="0" indent="0">
              <a:buNone/>
            </a:pPr>
            <a:r>
              <a:rPr lang="en-US" sz="2400" dirty="0">
                <a:solidFill>
                  <a:schemeClr val="tx1"/>
                </a:solidFill>
              </a:rPr>
              <a:t>An example of a large commercial database is Amazon.com. It contains:</a:t>
            </a:r>
          </a:p>
          <a:p>
            <a:endParaRPr lang="en-US" sz="2400" dirty="0">
              <a:solidFill>
                <a:schemeClr val="tx1"/>
              </a:solidFill>
            </a:endParaRPr>
          </a:p>
          <a:p>
            <a:pPr lvl="1">
              <a:buFont typeface="Arial" panose="020B0604020202020204" pitchFamily="34" charset="0"/>
              <a:buChar char="•"/>
            </a:pPr>
            <a:r>
              <a:rPr lang="en-US" sz="2400" dirty="0">
                <a:solidFill>
                  <a:schemeClr val="tx1"/>
                </a:solidFill>
              </a:rPr>
              <a:t>Data for over 60 million active users, and millions of books, CDs, videos, DVDs, games, electronics, apparel, and other items. </a:t>
            </a:r>
          </a:p>
          <a:p>
            <a:pPr lvl="1">
              <a:buFont typeface="Arial" panose="020B0604020202020204" pitchFamily="34" charset="0"/>
              <a:buChar char="•"/>
            </a:pPr>
            <a:r>
              <a:rPr lang="en-US" sz="2400" dirty="0">
                <a:solidFill>
                  <a:schemeClr val="tx1"/>
                </a:solidFill>
              </a:rPr>
              <a:t>The database occupies over 42 terabytes.</a:t>
            </a:r>
          </a:p>
        </p:txBody>
      </p:sp>
    </p:spTree>
    <p:extLst>
      <p:ext uri="{BB962C8B-B14F-4D97-AF65-F5344CB8AC3E}">
        <p14:creationId xmlns:p14="http://schemas.microsoft.com/office/powerpoint/2010/main" val="11525797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72432-DBB8-4010-A036-E300808DF716}"/>
              </a:ext>
            </a:extLst>
          </p:cNvPr>
          <p:cNvSpPr>
            <a:spLocks noGrp="1"/>
          </p:cNvSpPr>
          <p:nvPr>
            <p:ph type="title"/>
          </p:nvPr>
        </p:nvSpPr>
        <p:spPr>
          <a:xfrm>
            <a:off x="878186" y="286603"/>
            <a:ext cx="10277494" cy="1450757"/>
          </a:xfrm>
        </p:spPr>
        <p:txBody>
          <a:bodyPr/>
          <a:lstStyle/>
          <a:p>
            <a:r>
              <a:rPr lang="en-US" b="1" dirty="0">
                <a:solidFill>
                  <a:schemeClr val="tx1"/>
                </a:solidFill>
              </a:rPr>
              <a:t>What Is Database?</a:t>
            </a:r>
          </a:p>
        </p:txBody>
      </p:sp>
      <p:sp>
        <p:nvSpPr>
          <p:cNvPr id="3" name="Content Placeholder 2">
            <a:extLst>
              <a:ext uri="{FF2B5EF4-FFF2-40B4-BE49-F238E27FC236}">
                <a16:creationId xmlns:a16="http://schemas.microsoft.com/office/drawing/2014/main" id="{67EB658C-FB60-4BD8-A136-22831A190378}"/>
              </a:ext>
            </a:extLst>
          </p:cNvPr>
          <p:cNvSpPr>
            <a:spLocks noGrp="1"/>
          </p:cNvSpPr>
          <p:nvPr>
            <p:ph idx="1"/>
          </p:nvPr>
        </p:nvSpPr>
        <p:spPr>
          <a:xfrm>
            <a:off x="646111" y="1837852"/>
            <a:ext cx="11087180" cy="4318503"/>
          </a:xfrm>
        </p:spPr>
        <p:txBody>
          <a:bodyPr>
            <a:normAutofit lnSpcReduction="10000"/>
          </a:bodyPr>
          <a:lstStyle/>
          <a:p>
            <a:pPr algn="l">
              <a:buFont typeface="Arial" panose="020B0604020202020204" pitchFamily="34" charset="0"/>
              <a:buChar char="•"/>
            </a:pPr>
            <a:r>
              <a:rPr lang="en-US" sz="2400" b="0" i="0" dirty="0">
                <a:solidFill>
                  <a:schemeClr val="tx1"/>
                </a:solidFill>
                <a:effectLst/>
              </a:rPr>
              <a:t>A database is an organized collection of structured information, or data, typically stored electronically in a computer system. </a:t>
            </a:r>
          </a:p>
          <a:p>
            <a:pPr marL="0" indent="0" algn="l">
              <a:buNone/>
            </a:pPr>
            <a:r>
              <a:rPr lang="en-US" sz="2400" dirty="0">
                <a:solidFill>
                  <a:schemeClr val="tx1"/>
                </a:solidFill>
              </a:rPr>
              <a:t>				    OR</a:t>
            </a:r>
            <a:endParaRPr lang="en-US" sz="2400" b="0" i="0" dirty="0">
              <a:solidFill>
                <a:schemeClr val="tx1"/>
              </a:solidFill>
              <a:effectLst/>
            </a:endParaRPr>
          </a:p>
          <a:p>
            <a:pPr>
              <a:buFont typeface="Arial" panose="020B0604020202020204" pitchFamily="34" charset="0"/>
              <a:buChar char="•"/>
              <a:defRPr/>
            </a:pPr>
            <a:r>
              <a:rPr lang="en-US" sz="2400" dirty="0">
                <a:solidFill>
                  <a:schemeClr val="tx1"/>
                </a:solidFill>
              </a:rPr>
              <a:t>A database represents some aspect of the real world, sometimes called the </a:t>
            </a:r>
            <a:r>
              <a:rPr lang="en-US" sz="2400" b="1" dirty="0" err="1">
                <a:solidFill>
                  <a:schemeClr val="tx1"/>
                </a:solidFill>
              </a:rPr>
              <a:t>miniworld</a:t>
            </a:r>
            <a:r>
              <a:rPr lang="en-US" sz="2400" b="1" dirty="0">
                <a:solidFill>
                  <a:schemeClr val="tx1"/>
                </a:solidFill>
              </a:rPr>
              <a:t>  </a:t>
            </a:r>
            <a:r>
              <a:rPr lang="en-US" sz="2400" dirty="0">
                <a:solidFill>
                  <a:schemeClr val="tx1"/>
                </a:solidFill>
              </a:rPr>
              <a:t>or the </a:t>
            </a:r>
            <a:r>
              <a:rPr lang="en-US" sz="2400" b="1" dirty="0">
                <a:solidFill>
                  <a:schemeClr val="tx1"/>
                </a:solidFill>
              </a:rPr>
              <a:t>universe of discourse (</a:t>
            </a:r>
            <a:r>
              <a:rPr lang="en-US" sz="2400" b="1" dirty="0" err="1">
                <a:solidFill>
                  <a:schemeClr val="tx1"/>
                </a:solidFill>
              </a:rPr>
              <a:t>UoD</a:t>
            </a:r>
            <a:r>
              <a:rPr lang="en-US" sz="2400" b="1" dirty="0">
                <a:solidFill>
                  <a:schemeClr val="tx1"/>
                </a:solidFill>
              </a:rPr>
              <a:t>)</a:t>
            </a:r>
            <a:r>
              <a:rPr lang="en-US" sz="2400" dirty="0">
                <a:solidFill>
                  <a:schemeClr val="tx1"/>
                </a:solidFill>
              </a:rPr>
              <a:t>. </a:t>
            </a:r>
            <a:endParaRPr lang="en-US" sz="2400" b="0" i="0" dirty="0">
              <a:solidFill>
                <a:schemeClr val="tx1"/>
              </a:solidFill>
              <a:effectLst/>
            </a:endParaRPr>
          </a:p>
          <a:p>
            <a:pPr algn="l">
              <a:buFont typeface="Arial" panose="020B0604020202020204" pitchFamily="34" charset="0"/>
              <a:buChar char="•"/>
            </a:pPr>
            <a:r>
              <a:rPr lang="en-US" sz="2400" b="0" i="0" dirty="0">
                <a:solidFill>
                  <a:schemeClr val="tx1"/>
                </a:solidFill>
                <a:effectLst/>
              </a:rPr>
              <a:t>Data within the most common types of databases in operation today is typically modeled in rows and columns in a series of tables to make processing and data querying efficient. </a:t>
            </a:r>
            <a:endParaRPr lang="en-US" sz="2400" dirty="0">
              <a:solidFill>
                <a:schemeClr val="tx1"/>
              </a:solidFill>
            </a:endParaRPr>
          </a:p>
          <a:p>
            <a:pPr algn="l">
              <a:buFont typeface="Arial" panose="020B0604020202020204" pitchFamily="34" charset="0"/>
              <a:buChar char="•"/>
            </a:pPr>
            <a:r>
              <a:rPr lang="en-US" sz="2400" b="0" i="0" dirty="0">
                <a:solidFill>
                  <a:schemeClr val="tx1"/>
                </a:solidFill>
                <a:effectLst/>
              </a:rPr>
              <a:t>The data can then be easily accessed, managed, modified, updated, controlled, and organized. Most databases use structured query language (SQL) for writing and querying data.</a:t>
            </a:r>
          </a:p>
          <a:p>
            <a:pPr marL="0" indent="0">
              <a:buNone/>
            </a:pPr>
            <a:endParaRPr lang="en-US" dirty="0"/>
          </a:p>
        </p:txBody>
      </p:sp>
    </p:spTree>
    <p:extLst>
      <p:ext uri="{BB962C8B-B14F-4D97-AF65-F5344CB8AC3E}">
        <p14:creationId xmlns:p14="http://schemas.microsoft.com/office/powerpoint/2010/main" val="25481612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AC033-7F65-4BF8-B777-24FB2AB79A52}"/>
              </a:ext>
            </a:extLst>
          </p:cNvPr>
          <p:cNvSpPr>
            <a:spLocks noGrp="1"/>
          </p:cNvSpPr>
          <p:nvPr>
            <p:ph type="title"/>
          </p:nvPr>
        </p:nvSpPr>
        <p:spPr>
          <a:xfrm>
            <a:off x="789764" y="761395"/>
            <a:ext cx="10612472" cy="940655"/>
          </a:xfrm>
        </p:spPr>
        <p:txBody>
          <a:bodyPr/>
          <a:lstStyle/>
          <a:p>
            <a:r>
              <a:rPr lang="en-US" b="1" dirty="0"/>
              <a:t>Why Databases?</a:t>
            </a:r>
            <a:endParaRPr lang="x-none" b="1" dirty="0"/>
          </a:p>
        </p:txBody>
      </p:sp>
      <p:sp>
        <p:nvSpPr>
          <p:cNvPr id="3" name="Content Placeholder 2">
            <a:extLst>
              <a:ext uri="{FF2B5EF4-FFF2-40B4-BE49-F238E27FC236}">
                <a16:creationId xmlns:a16="http://schemas.microsoft.com/office/drawing/2014/main" id="{4368426D-2D51-4D64-A33E-30ACB0EE755F}"/>
              </a:ext>
            </a:extLst>
          </p:cNvPr>
          <p:cNvSpPr>
            <a:spLocks noGrp="1"/>
          </p:cNvSpPr>
          <p:nvPr>
            <p:ph idx="1"/>
          </p:nvPr>
        </p:nvSpPr>
        <p:spPr>
          <a:xfrm>
            <a:off x="465042" y="1702050"/>
            <a:ext cx="11440265" cy="4495001"/>
          </a:xfrm>
        </p:spPr>
        <p:txBody>
          <a:bodyPr>
            <a:noAutofit/>
          </a:bodyPr>
          <a:lstStyle/>
          <a:p>
            <a:pPr marR="516255">
              <a:lnSpc>
                <a:spcPct val="87000"/>
              </a:lnSpc>
              <a:spcBef>
                <a:spcPts val="290"/>
              </a:spcBef>
              <a:buFont typeface="Arial" panose="020B0604020202020204" pitchFamily="34" charset="0"/>
              <a:buChar char="•"/>
              <a:tabLst>
                <a:tab pos="868045" algn="l"/>
                <a:tab pos="868680" algn="l"/>
              </a:tabLst>
            </a:pPr>
            <a:r>
              <a:rPr lang="en-US" sz="2400" dirty="0">
                <a:solidFill>
                  <a:schemeClr val="tx1"/>
                </a:solidFill>
                <a:effectLst/>
                <a:ea typeface="Calibri" panose="020F0502020204030204" pitchFamily="34" charset="0"/>
              </a:rPr>
              <a:t>Businesses</a:t>
            </a:r>
            <a:r>
              <a:rPr lang="en-US" sz="2400" spc="-35"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cannot</a:t>
            </a:r>
            <a:r>
              <a:rPr lang="en-US" sz="2400" spc="-35"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run</a:t>
            </a:r>
            <a:r>
              <a:rPr lang="en-US" sz="2400" spc="-30"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without</a:t>
            </a:r>
            <a:r>
              <a:rPr lang="en-US" sz="2400" spc="-50"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knowing</a:t>
            </a:r>
            <a:r>
              <a:rPr lang="en-US" sz="2400" spc="-50"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their</a:t>
            </a:r>
            <a:r>
              <a:rPr lang="en-US" sz="2400" spc="-30"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data:</a:t>
            </a:r>
            <a:r>
              <a:rPr lang="en-US" sz="2400" spc="-55"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customers,</a:t>
            </a:r>
            <a:r>
              <a:rPr lang="en-US" sz="2400" spc="-530"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products,</a:t>
            </a:r>
            <a:r>
              <a:rPr lang="en-US" sz="2400" spc="-25"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prices,</a:t>
            </a:r>
            <a:r>
              <a:rPr lang="en-US" sz="2400" spc="-10"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employees,</a:t>
            </a:r>
            <a:r>
              <a:rPr lang="en-US" sz="2400" spc="-35"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wages,</a:t>
            </a:r>
            <a:r>
              <a:rPr lang="en-US" sz="2400" spc="-20"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etc.?</a:t>
            </a:r>
            <a:endParaRPr lang="x-none" sz="2400" dirty="0">
              <a:solidFill>
                <a:schemeClr val="tx1"/>
              </a:solidFill>
              <a:effectLst/>
              <a:ea typeface="Calibri" panose="020F0502020204030204" pitchFamily="34" charset="0"/>
            </a:endParaRPr>
          </a:p>
          <a:p>
            <a:pPr marR="619125">
              <a:lnSpc>
                <a:spcPct val="88000"/>
              </a:lnSpc>
              <a:spcBef>
                <a:spcPts val="710"/>
              </a:spcBef>
              <a:buFont typeface="Arial" panose="020B0604020202020204" pitchFamily="34" charset="0"/>
              <a:buChar char="•"/>
              <a:tabLst>
                <a:tab pos="868045" algn="l"/>
                <a:tab pos="868680" algn="l"/>
              </a:tabLst>
            </a:pPr>
            <a:r>
              <a:rPr lang="en-US" sz="2400" dirty="0">
                <a:solidFill>
                  <a:schemeClr val="tx1"/>
                </a:solidFill>
                <a:effectLst/>
                <a:ea typeface="Calibri" panose="020F0502020204030204" pitchFamily="34" charset="0"/>
              </a:rPr>
              <a:t>Properly</a:t>
            </a:r>
            <a:r>
              <a:rPr lang="en-US" sz="2400" spc="-45"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maintained</a:t>
            </a:r>
            <a:r>
              <a:rPr lang="en-US" sz="2400" spc="-50"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data</a:t>
            </a:r>
            <a:r>
              <a:rPr lang="en-US" sz="2400" spc="-40"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is</a:t>
            </a:r>
            <a:r>
              <a:rPr lang="en-US" sz="2400" spc="-45"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important</a:t>
            </a:r>
            <a:r>
              <a:rPr lang="en-US" sz="2400" spc="-45"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in</a:t>
            </a:r>
            <a:r>
              <a:rPr lang="en-US" sz="2400" spc="-40"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decision</a:t>
            </a:r>
            <a:r>
              <a:rPr lang="en-US" sz="2400" spc="-35"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making</a:t>
            </a:r>
            <a:r>
              <a:rPr lang="en-US" sz="2400" spc="-55"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and</a:t>
            </a:r>
            <a:r>
              <a:rPr lang="en-US" sz="2400" spc="-530"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hence in</a:t>
            </a:r>
            <a:r>
              <a:rPr lang="en-US" sz="2400" spc="-20"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the success</a:t>
            </a:r>
            <a:r>
              <a:rPr lang="en-US" sz="2400" spc="-20"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of</a:t>
            </a:r>
            <a:r>
              <a:rPr lang="en-US" sz="2400" spc="-5"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a</a:t>
            </a:r>
            <a:r>
              <a:rPr lang="en-US" sz="2400" spc="-20"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business.</a:t>
            </a:r>
            <a:endParaRPr lang="x-none" sz="2400" dirty="0">
              <a:solidFill>
                <a:schemeClr val="tx1"/>
              </a:solidFill>
              <a:effectLst/>
              <a:ea typeface="Calibri" panose="020F0502020204030204" pitchFamily="34" charset="0"/>
            </a:endParaRPr>
          </a:p>
          <a:p>
            <a:pPr marR="1381125">
              <a:lnSpc>
                <a:spcPct val="87000"/>
              </a:lnSpc>
              <a:spcBef>
                <a:spcPts val="690"/>
              </a:spcBef>
              <a:buFont typeface="Arial" panose="020B0604020202020204" pitchFamily="34" charset="0"/>
              <a:buChar char="•"/>
              <a:tabLst>
                <a:tab pos="868045" algn="l"/>
                <a:tab pos="868680" algn="l"/>
              </a:tabLst>
            </a:pPr>
            <a:r>
              <a:rPr lang="en-US" sz="2400" dirty="0">
                <a:solidFill>
                  <a:schemeClr val="tx1"/>
                </a:solidFill>
                <a:effectLst/>
                <a:ea typeface="Calibri" panose="020F0502020204030204" pitchFamily="34" charset="0"/>
              </a:rPr>
              <a:t>The</a:t>
            </a:r>
            <a:r>
              <a:rPr lang="en-US" sz="2400" spc="-35"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amount</a:t>
            </a:r>
            <a:r>
              <a:rPr lang="en-US" sz="2400" spc="-45"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of</a:t>
            </a:r>
            <a:r>
              <a:rPr lang="en-US" sz="2400" spc="-40"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data</a:t>
            </a:r>
            <a:r>
              <a:rPr lang="en-US" sz="2400" spc="-50"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utilized</a:t>
            </a:r>
            <a:r>
              <a:rPr lang="en-US" sz="2400" spc="-45"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in</a:t>
            </a:r>
            <a:r>
              <a:rPr lang="en-US" sz="2400" spc="-35"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a</a:t>
            </a:r>
            <a:r>
              <a:rPr lang="en-US" sz="2400" spc="-50"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business</a:t>
            </a:r>
            <a:r>
              <a:rPr lang="en-US" sz="2400" spc="-40"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can</a:t>
            </a:r>
            <a:r>
              <a:rPr lang="en-US" sz="2400" spc="-50"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grow</a:t>
            </a:r>
            <a:r>
              <a:rPr lang="en-US" sz="2400" spc="-35"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fast. </a:t>
            </a:r>
          </a:p>
          <a:p>
            <a:pPr marR="1381125">
              <a:lnSpc>
                <a:spcPct val="87000"/>
              </a:lnSpc>
              <a:spcBef>
                <a:spcPts val="690"/>
              </a:spcBef>
              <a:buFont typeface="Arial" panose="020B0604020202020204" pitchFamily="34" charset="0"/>
              <a:buChar char="•"/>
              <a:tabLst>
                <a:tab pos="868045" algn="l"/>
                <a:tab pos="868680" algn="l"/>
              </a:tabLst>
            </a:pPr>
            <a:r>
              <a:rPr lang="en-US" spc="-530" dirty="0">
                <a:solidFill>
                  <a:schemeClr val="tx1"/>
                </a:solidFill>
                <a:effectLst/>
                <a:ea typeface="Calibri" panose="020F0502020204030204" pitchFamily="34" charset="0"/>
              </a:rPr>
              <a:t> </a:t>
            </a:r>
            <a:r>
              <a:rPr lang="en-US" dirty="0">
                <a:solidFill>
                  <a:schemeClr val="tx1"/>
                </a:solidFill>
                <a:effectLst/>
                <a:ea typeface="Calibri" panose="020F0502020204030204" pitchFamily="34" charset="0"/>
              </a:rPr>
              <a:t>Examples:</a:t>
            </a:r>
            <a:endParaRPr lang="x-none" dirty="0">
              <a:solidFill>
                <a:schemeClr val="tx1"/>
              </a:solidFill>
              <a:effectLst/>
              <a:ea typeface="Calibri" panose="020F0502020204030204" pitchFamily="34" charset="0"/>
            </a:endParaRPr>
          </a:p>
          <a:p>
            <a:pPr marR="1211580" lvl="1">
              <a:lnSpc>
                <a:spcPct val="88000"/>
              </a:lnSpc>
              <a:spcBef>
                <a:spcPts val="610"/>
              </a:spcBef>
              <a:buClr>
                <a:srgbClr val="FD8537"/>
              </a:buClr>
              <a:buSzPts val="1450"/>
              <a:buFont typeface="Arial" panose="020B0604020202020204" pitchFamily="34" charset="0"/>
              <a:buChar char="•"/>
              <a:tabLst>
                <a:tab pos="1188720" algn="l"/>
                <a:tab pos="1189355" algn="l"/>
              </a:tabLst>
            </a:pPr>
            <a:r>
              <a:rPr lang="en-US" sz="2000" dirty="0">
                <a:solidFill>
                  <a:schemeClr val="tx1"/>
                </a:solidFill>
                <a:effectLst/>
                <a:ea typeface="Wingdings" panose="05000000000000000000" pitchFamily="2" charset="2"/>
                <a:cs typeface="Wingdings" panose="05000000000000000000" pitchFamily="2" charset="2"/>
              </a:rPr>
              <a:t>Phone</a:t>
            </a:r>
            <a:r>
              <a:rPr lang="en-US" sz="2000" spc="-20" dirty="0">
                <a:solidFill>
                  <a:schemeClr val="tx1"/>
                </a:solidFill>
                <a:effectLst/>
                <a:ea typeface="Wingdings" panose="05000000000000000000" pitchFamily="2" charset="2"/>
                <a:cs typeface="Wingdings" panose="05000000000000000000" pitchFamily="2" charset="2"/>
              </a:rPr>
              <a:t> </a:t>
            </a:r>
            <a:r>
              <a:rPr lang="en-US" sz="2000" dirty="0">
                <a:solidFill>
                  <a:schemeClr val="tx1"/>
                </a:solidFill>
                <a:effectLst/>
                <a:ea typeface="Wingdings" panose="05000000000000000000" pitchFamily="2" charset="2"/>
                <a:cs typeface="Wingdings" panose="05000000000000000000" pitchFamily="2" charset="2"/>
              </a:rPr>
              <a:t>companies</a:t>
            </a:r>
            <a:r>
              <a:rPr lang="en-US" sz="2000" spc="-30" dirty="0">
                <a:solidFill>
                  <a:schemeClr val="tx1"/>
                </a:solidFill>
                <a:effectLst/>
                <a:ea typeface="Wingdings" panose="05000000000000000000" pitchFamily="2" charset="2"/>
                <a:cs typeface="Wingdings" panose="05000000000000000000" pitchFamily="2" charset="2"/>
              </a:rPr>
              <a:t> </a:t>
            </a:r>
            <a:r>
              <a:rPr lang="en-US" sz="2000" dirty="0">
                <a:solidFill>
                  <a:schemeClr val="tx1"/>
                </a:solidFill>
                <a:effectLst/>
                <a:ea typeface="Wingdings" panose="05000000000000000000" pitchFamily="2" charset="2"/>
                <a:cs typeface="Wingdings" panose="05000000000000000000" pitchFamily="2" charset="2"/>
              </a:rPr>
              <a:t>keep</a:t>
            </a:r>
            <a:r>
              <a:rPr lang="en-US" sz="2000" spc="-40" dirty="0">
                <a:solidFill>
                  <a:schemeClr val="tx1"/>
                </a:solidFill>
                <a:effectLst/>
                <a:ea typeface="Wingdings" panose="05000000000000000000" pitchFamily="2" charset="2"/>
                <a:cs typeface="Wingdings" panose="05000000000000000000" pitchFamily="2" charset="2"/>
              </a:rPr>
              <a:t> </a:t>
            </a:r>
            <a:r>
              <a:rPr lang="en-US" sz="2000" dirty="0">
                <a:solidFill>
                  <a:schemeClr val="tx1"/>
                </a:solidFill>
                <a:effectLst/>
                <a:ea typeface="Wingdings" panose="05000000000000000000" pitchFamily="2" charset="2"/>
                <a:cs typeface="Wingdings" panose="05000000000000000000" pitchFamily="2" charset="2"/>
              </a:rPr>
              <a:t>data</a:t>
            </a:r>
            <a:r>
              <a:rPr lang="en-US" sz="2000" spc="-45" dirty="0">
                <a:solidFill>
                  <a:schemeClr val="tx1"/>
                </a:solidFill>
                <a:effectLst/>
                <a:ea typeface="Wingdings" panose="05000000000000000000" pitchFamily="2" charset="2"/>
                <a:cs typeface="Wingdings" panose="05000000000000000000" pitchFamily="2" charset="2"/>
              </a:rPr>
              <a:t> </a:t>
            </a:r>
            <a:r>
              <a:rPr lang="en-US" sz="2000" dirty="0">
                <a:solidFill>
                  <a:schemeClr val="tx1"/>
                </a:solidFill>
                <a:effectLst/>
                <a:ea typeface="Wingdings" panose="05000000000000000000" pitchFamily="2" charset="2"/>
                <a:cs typeface="Wingdings" panose="05000000000000000000" pitchFamily="2" charset="2"/>
              </a:rPr>
              <a:t>on</a:t>
            </a:r>
            <a:r>
              <a:rPr lang="en-US" sz="2000" spc="-30" dirty="0">
                <a:solidFill>
                  <a:schemeClr val="tx1"/>
                </a:solidFill>
                <a:effectLst/>
                <a:ea typeface="Wingdings" panose="05000000000000000000" pitchFamily="2" charset="2"/>
                <a:cs typeface="Wingdings" panose="05000000000000000000" pitchFamily="2" charset="2"/>
              </a:rPr>
              <a:t> </a:t>
            </a:r>
            <a:r>
              <a:rPr lang="en-US" sz="2000" dirty="0">
                <a:solidFill>
                  <a:schemeClr val="tx1"/>
                </a:solidFill>
                <a:effectLst/>
                <a:ea typeface="Wingdings" panose="05000000000000000000" pitchFamily="2" charset="2"/>
                <a:cs typeface="Wingdings" panose="05000000000000000000" pitchFamily="2" charset="2"/>
              </a:rPr>
              <a:t>trillions of</a:t>
            </a:r>
            <a:r>
              <a:rPr lang="en-US" sz="2000" spc="-35" dirty="0">
                <a:solidFill>
                  <a:schemeClr val="tx1"/>
                </a:solidFill>
                <a:effectLst/>
                <a:ea typeface="Wingdings" panose="05000000000000000000" pitchFamily="2" charset="2"/>
                <a:cs typeface="Wingdings" panose="05000000000000000000" pitchFamily="2" charset="2"/>
              </a:rPr>
              <a:t> </a:t>
            </a:r>
            <a:r>
              <a:rPr lang="en-US" sz="2000" dirty="0">
                <a:solidFill>
                  <a:schemeClr val="tx1"/>
                </a:solidFill>
                <a:effectLst/>
                <a:ea typeface="Wingdings" panose="05000000000000000000" pitchFamily="2" charset="2"/>
                <a:cs typeface="Wingdings" panose="05000000000000000000" pitchFamily="2" charset="2"/>
              </a:rPr>
              <a:t>phone</a:t>
            </a:r>
            <a:r>
              <a:rPr lang="en-US" sz="2000" spc="-30" dirty="0">
                <a:solidFill>
                  <a:schemeClr val="tx1"/>
                </a:solidFill>
                <a:effectLst/>
                <a:ea typeface="Wingdings" panose="05000000000000000000" pitchFamily="2" charset="2"/>
                <a:cs typeface="Wingdings" panose="05000000000000000000" pitchFamily="2" charset="2"/>
              </a:rPr>
              <a:t> </a:t>
            </a:r>
            <a:r>
              <a:rPr lang="en-US" sz="2000" dirty="0">
                <a:solidFill>
                  <a:schemeClr val="tx1"/>
                </a:solidFill>
                <a:effectLst/>
                <a:ea typeface="Wingdings" panose="05000000000000000000" pitchFamily="2" charset="2"/>
                <a:cs typeface="Wingdings" panose="05000000000000000000" pitchFamily="2" charset="2"/>
              </a:rPr>
              <a:t>calls,</a:t>
            </a:r>
            <a:r>
              <a:rPr lang="en-US" sz="2000" spc="-25" dirty="0">
                <a:solidFill>
                  <a:schemeClr val="tx1"/>
                </a:solidFill>
                <a:effectLst/>
                <a:ea typeface="Wingdings" panose="05000000000000000000" pitchFamily="2" charset="2"/>
                <a:cs typeface="Wingdings" panose="05000000000000000000" pitchFamily="2" charset="2"/>
              </a:rPr>
              <a:t> </a:t>
            </a:r>
            <a:r>
              <a:rPr lang="en-US" sz="2000" dirty="0">
                <a:solidFill>
                  <a:schemeClr val="tx1"/>
                </a:solidFill>
                <a:effectLst/>
                <a:ea typeface="Wingdings" panose="05000000000000000000" pitchFamily="2" charset="2"/>
                <a:cs typeface="Wingdings" panose="05000000000000000000" pitchFamily="2" charset="2"/>
              </a:rPr>
              <a:t>adding</a:t>
            </a:r>
            <a:r>
              <a:rPr lang="en-US" sz="2000" spc="-460" dirty="0">
                <a:solidFill>
                  <a:schemeClr val="tx1"/>
                </a:solidFill>
                <a:effectLst/>
                <a:ea typeface="Wingdings" panose="05000000000000000000" pitchFamily="2" charset="2"/>
                <a:cs typeface="Wingdings" panose="05000000000000000000" pitchFamily="2" charset="2"/>
              </a:rPr>
              <a:t> </a:t>
            </a:r>
            <a:r>
              <a:rPr lang="en-US" sz="2000" dirty="0">
                <a:solidFill>
                  <a:schemeClr val="tx1"/>
                </a:solidFill>
                <a:effectLst/>
                <a:ea typeface="Wingdings" panose="05000000000000000000" pitchFamily="2" charset="2"/>
                <a:cs typeface="Wingdings" panose="05000000000000000000" pitchFamily="2" charset="2"/>
              </a:rPr>
              <a:t>70,000</a:t>
            </a:r>
            <a:r>
              <a:rPr lang="en-US" sz="2000" spc="-35" dirty="0">
                <a:solidFill>
                  <a:schemeClr val="tx1"/>
                </a:solidFill>
                <a:effectLst/>
                <a:ea typeface="Wingdings" panose="05000000000000000000" pitchFamily="2" charset="2"/>
                <a:cs typeface="Wingdings" panose="05000000000000000000" pitchFamily="2" charset="2"/>
              </a:rPr>
              <a:t> </a:t>
            </a:r>
            <a:r>
              <a:rPr lang="en-US" sz="2000" dirty="0">
                <a:solidFill>
                  <a:schemeClr val="tx1"/>
                </a:solidFill>
                <a:effectLst/>
                <a:ea typeface="Wingdings" panose="05000000000000000000" pitchFamily="2" charset="2"/>
                <a:cs typeface="Wingdings" panose="05000000000000000000" pitchFamily="2" charset="2"/>
              </a:rPr>
              <a:t>calls</a:t>
            </a:r>
            <a:r>
              <a:rPr lang="en-US" sz="2000" spc="-10" dirty="0">
                <a:solidFill>
                  <a:schemeClr val="tx1"/>
                </a:solidFill>
                <a:effectLst/>
                <a:ea typeface="Wingdings" panose="05000000000000000000" pitchFamily="2" charset="2"/>
                <a:cs typeface="Wingdings" panose="05000000000000000000" pitchFamily="2" charset="2"/>
              </a:rPr>
              <a:t> </a:t>
            </a:r>
            <a:r>
              <a:rPr lang="en-US" sz="2000" dirty="0">
                <a:solidFill>
                  <a:schemeClr val="tx1"/>
                </a:solidFill>
                <a:effectLst/>
                <a:ea typeface="Wingdings" panose="05000000000000000000" pitchFamily="2" charset="2"/>
                <a:cs typeface="Wingdings" panose="05000000000000000000" pitchFamily="2" charset="2"/>
              </a:rPr>
              <a:t>per</a:t>
            </a:r>
            <a:r>
              <a:rPr lang="en-US" sz="2000" spc="10" dirty="0">
                <a:solidFill>
                  <a:schemeClr val="tx1"/>
                </a:solidFill>
                <a:effectLst/>
                <a:ea typeface="Wingdings" panose="05000000000000000000" pitchFamily="2" charset="2"/>
                <a:cs typeface="Wingdings" panose="05000000000000000000" pitchFamily="2" charset="2"/>
              </a:rPr>
              <a:t> </a:t>
            </a:r>
            <a:r>
              <a:rPr lang="en-US" sz="2000" dirty="0">
                <a:solidFill>
                  <a:schemeClr val="tx1"/>
                </a:solidFill>
                <a:effectLst/>
                <a:ea typeface="Wingdings" panose="05000000000000000000" pitchFamily="2" charset="2"/>
                <a:cs typeface="Wingdings" panose="05000000000000000000" pitchFamily="2" charset="2"/>
              </a:rPr>
              <a:t>second.</a:t>
            </a:r>
            <a:endParaRPr lang="x-none" sz="2000" dirty="0">
              <a:solidFill>
                <a:schemeClr val="tx1"/>
              </a:solidFill>
              <a:effectLst/>
              <a:ea typeface="Wingdings" panose="05000000000000000000" pitchFamily="2" charset="2"/>
              <a:cs typeface="Wingdings" panose="05000000000000000000" pitchFamily="2" charset="2"/>
            </a:endParaRPr>
          </a:p>
          <a:p>
            <a:pPr marR="577850" lvl="1">
              <a:lnSpc>
                <a:spcPct val="87000"/>
              </a:lnSpc>
              <a:spcBef>
                <a:spcPts val="595"/>
              </a:spcBef>
              <a:buClr>
                <a:srgbClr val="FD8537"/>
              </a:buClr>
              <a:buSzPts val="1450"/>
              <a:buFont typeface="Arial" panose="020B0604020202020204" pitchFamily="34" charset="0"/>
              <a:buChar char="•"/>
              <a:tabLst>
                <a:tab pos="1188720" algn="l"/>
                <a:tab pos="1189355" algn="l"/>
              </a:tabLst>
            </a:pPr>
            <a:r>
              <a:rPr lang="en-US" sz="2000" dirty="0">
                <a:solidFill>
                  <a:schemeClr val="tx1"/>
                </a:solidFill>
                <a:effectLst/>
                <a:ea typeface="Wingdings" panose="05000000000000000000" pitchFamily="2" charset="2"/>
                <a:cs typeface="Wingdings" panose="05000000000000000000" pitchFamily="2" charset="2"/>
              </a:rPr>
              <a:t>Google is</a:t>
            </a:r>
            <a:r>
              <a:rPr lang="en-US" sz="2000" spc="-30" dirty="0">
                <a:solidFill>
                  <a:schemeClr val="tx1"/>
                </a:solidFill>
                <a:effectLst/>
                <a:ea typeface="Wingdings" panose="05000000000000000000" pitchFamily="2" charset="2"/>
                <a:cs typeface="Wingdings" panose="05000000000000000000" pitchFamily="2" charset="2"/>
              </a:rPr>
              <a:t> </a:t>
            </a:r>
            <a:r>
              <a:rPr lang="en-US" sz="2000" dirty="0">
                <a:solidFill>
                  <a:schemeClr val="tx1"/>
                </a:solidFill>
                <a:effectLst/>
                <a:ea typeface="Wingdings" panose="05000000000000000000" pitchFamily="2" charset="2"/>
                <a:cs typeface="Wingdings" panose="05000000000000000000" pitchFamily="2" charset="2"/>
              </a:rPr>
              <a:t>estimated</a:t>
            </a:r>
            <a:r>
              <a:rPr lang="en-US" sz="2000" spc="-30" dirty="0">
                <a:solidFill>
                  <a:schemeClr val="tx1"/>
                </a:solidFill>
                <a:effectLst/>
                <a:ea typeface="Wingdings" panose="05000000000000000000" pitchFamily="2" charset="2"/>
                <a:cs typeface="Wingdings" panose="05000000000000000000" pitchFamily="2" charset="2"/>
              </a:rPr>
              <a:t> </a:t>
            </a:r>
            <a:r>
              <a:rPr lang="en-US" sz="2000" dirty="0">
                <a:solidFill>
                  <a:schemeClr val="tx1"/>
                </a:solidFill>
                <a:effectLst/>
                <a:ea typeface="Wingdings" panose="05000000000000000000" pitchFamily="2" charset="2"/>
                <a:cs typeface="Wingdings" panose="05000000000000000000" pitchFamily="2" charset="2"/>
              </a:rPr>
              <a:t>to</a:t>
            </a:r>
            <a:r>
              <a:rPr lang="en-US" sz="2000" spc="-40" dirty="0">
                <a:solidFill>
                  <a:schemeClr val="tx1"/>
                </a:solidFill>
                <a:effectLst/>
                <a:ea typeface="Wingdings" panose="05000000000000000000" pitchFamily="2" charset="2"/>
                <a:cs typeface="Wingdings" panose="05000000000000000000" pitchFamily="2" charset="2"/>
              </a:rPr>
              <a:t> </a:t>
            </a:r>
            <a:r>
              <a:rPr lang="en-US" sz="2000" dirty="0">
                <a:solidFill>
                  <a:schemeClr val="tx1"/>
                </a:solidFill>
                <a:effectLst/>
                <a:ea typeface="Wingdings" panose="05000000000000000000" pitchFamily="2" charset="2"/>
                <a:cs typeface="Wingdings" panose="05000000000000000000" pitchFamily="2" charset="2"/>
              </a:rPr>
              <a:t>perform</a:t>
            </a:r>
            <a:r>
              <a:rPr lang="en-US" sz="2000" spc="-15" dirty="0">
                <a:solidFill>
                  <a:schemeClr val="tx1"/>
                </a:solidFill>
                <a:effectLst/>
                <a:ea typeface="Wingdings" panose="05000000000000000000" pitchFamily="2" charset="2"/>
                <a:cs typeface="Wingdings" panose="05000000000000000000" pitchFamily="2" charset="2"/>
              </a:rPr>
              <a:t> </a:t>
            </a:r>
            <a:r>
              <a:rPr lang="en-US" sz="2000" dirty="0">
                <a:solidFill>
                  <a:schemeClr val="tx1"/>
                </a:solidFill>
                <a:effectLst/>
                <a:ea typeface="Wingdings" panose="05000000000000000000" pitchFamily="2" charset="2"/>
                <a:cs typeface="Wingdings" panose="05000000000000000000" pitchFamily="2" charset="2"/>
              </a:rPr>
              <a:t>91</a:t>
            </a:r>
            <a:r>
              <a:rPr lang="en-US" sz="2000" spc="-35" dirty="0">
                <a:solidFill>
                  <a:schemeClr val="tx1"/>
                </a:solidFill>
                <a:effectLst/>
                <a:ea typeface="Wingdings" panose="05000000000000000000" pitchFamily="2" charset="2"/>
                <a:cs typeface="Wingdings" panose="05000000000000000000" pitchFamily="2" charset="2"/>
              </a:rPr>
              <a:t> </a:t>
            </a:r>
            <a:r>
              <a:rPr lang="en-US" sz="2000" dirty="0">
                <a:solidFill>
                  <a:schemeClr val="tx1"/>
                </a:solidFill>
                <a:effectLst/>
                <a:ea typeface="Wingdings" panose="05000000000000000000" pitchFamily="2" charset="2"/>
                <a:cs typeface="Wingdings" panose="05000000000000000000" pitchFamily="2" charset="2"/>
              </a:rPr>
              <a:t>million</a:t>
            </a:r>
            <a:r>
              <a:rPr lang="en-US" sz="2000" spc="-10" dirty="0">
                <a:solidFill>
                  <a:schemeClr val="tx1"/>
                </a:solidFill>
                <a:effectLst/>
                <a:ea typeface="Wingdings" panose="05000000000000000000" pitchFamily="2" charset="2"/>
                <a:cs typeface="Wingdings" panose="05000000000000000000" pitchFamily="2" charset="2"/>
              </a:rPr>
              <a:t> </a:t>
            </a:r>
            <a:r>
              <a:rPr lang="en-US" sz="2000" dirty="0">
                <a:solidFill>
                  <a:schemeClr val="tx1"/>
                </a:solidFill>
                <a:effectLst/>
                <a:ea typeface="Wingdings" panose="05000000000000000000" pitchFamily="2" charset="2"/>
                <a:cs typeface="Wingdings" panose="05000000000000000000" pitchFamily="2" charset="2"/>
              </a:rPr>
              <a:t>searches</a:t>
            </a:r>
            <a:r>
              <a:rPr lang="en-US" sz="2000" spc="-15" dirty="0">
                <a:solidFill>
                  <a:schemeClr val="tx1"/>
                </a:solidFill>
                <a:effectLst/>
                <a:ea typeface="Wingdings" panose="05000000000000000000" pitchFamily="2" charset="2"/>
                <a:cs typeface="Wingdings" panose="05000000000000000000" pitchFamily="2" charset="2"/>
              </a:rPr>
              <a:t> </a:t>
            </a:r>
            <a:r>
              <a:rPr lang="en-US" sz="2000" dirty="0">
                <a:solidFill>
                  <a:schemeClr val="tx1"/>
                </a:solidFill>
                <a:effectLst/>
                <a:ea typeface="Wingdings" panose="05000000000000000000" pitchFamily="2" charset="2"/>
                <a:cs typeface="Wingdings" panose="05000000000000000000" pitchFamily="2" charset="2"/>
              </a:rPr>
              <a:t>per</a:t>
            </a:r>
            <a:r>
              <a:rPr lang="en-US" sz="2000" spc="-35" dirty="0">
                <a:solidFill>
                  <a:schemeClr val="tx1"/>
                </a:solidFill>
                <a:effectLst/>
                <a:ea typeface="Wingdings" panose="05000000000000000000" pitchFamily="2" charset="2"/>
                <a:cs typeface="Wingdings" panose="05000000000000000000" pitchFamily="2" charset="2"/>
              </a:rPr>
              <a:t> </a:t>
            </a:r>
            <a:r>
              <a:rPr lang="en-US" sz="2000" dirty="0">
                <a:solidFill>
                  <a:schemeClr val="tx1"/>
                </a:solidFill>
                <a:effectLst/>
                <a:ea typeface="Wingdings" panose="05000000000000000000" pitchFamily="2" charset="2"/>
                <a:cs typeface="Wingdings" panose="05000000000000000000" pitchFamily="2" charset="2"/>
              </a:rPr>
              <a:t>day</a:t>
            </a:r>
            <a:r>
              <a:rPr lang="en-US" sz="2000" spc="-50" dirty="0">
                <a:solidFill>
                  <a:schemeClr val="tx1"/>
                </a:solidFill>
                <a:effectLst/>
                <a:ea typeface="Wingdings" panose="05000000000000000000" pitchFamily="2" charset="2"/>
                <a:cs typeface="Wingdings" panose="05000000000000000000" pitchFamily="2" charset="2"/>
              </a:rPr>
              <a:t> </a:t>
            </a:r>
            <a:r>
              <a:rPr lang="en-US" sz="2000" dirty="0">
                <a:solidFill>
                  <a:schemeClr val="tx1"/>
                </a:solidFill>
                <a:effectLst/>
                <a:ea typeface="Wingdings" panose="05000000000000000000" pitchFamily="2" charset="2"/>
                <a:cs typeface="Wingdings" panose="05000000000000000000" pitchFamily="2" charset="2"/>
              </a:rPr>
              <a:t>across</a:t>
            </a:r>
            <a:r>
              <a:rPr lang="en-US" sz="2000" spc="-15" dirty="0">
                <a:solidFill>
                  <a:schemeClr val="tx1"/>
                </a:solidFill>
                <a:effectLst/>
                <a:ea typeface="Wingdings" panose="05000000000000000000" pitchFamily="2" charset="2"/>
                <a:cs typeface="Wingdings" panose="05000000000000000000" pitchFamily="2" charset="2"/>
              </a:rPr>
              <a:t> </a:t>
            </a:r>
            <a:r>
              <a:rPr lang="en-US" sz="2000" dirty="0">
                <a:solidFill>
                  <a:schemeClr val="tx1"/>
                </a:solidFill>
                <a:effectLst/>
                <a:ea typeface="Wingdings" panose="05000000000000000000" pitchFamily="2" charset="2"/>
                <a:cs typeface="Wingdings" panose="05000000000000000000" pitchFamily="2" charset="2"/>
              </a:rPr>
              <a:t>a</a:t>
            </a:r>
            <a:r>
              <a:rPr lang="en-US" sz="2000" spc="-460" dirty="0">
                <a:solidFill>
                  <a:schemeClr val="tx1"/>
                </a:solidFill>
                <a:effectLst/>
                <a:ea typeface="Wingdings" panose="05000000000000000000" pitchFamily="2" charset="2"/>
                <a:cs typeface="Wingdings" panose="05000000000000000000" pitchFamily="2" charset="2"/>
              </a:rPr>
              <a:t> </a:t>
            </a:r>
            <a:r>
              <a:rPr lang="en-US" sz="2000" dirty="0">
                <a:solidFill>
                  <a:schemeClr val="tx1"/>
                </a:solidFill>
                <a:effectLst/>
                <a:ea typeface="Wingdings" panose="05000000000000000000" pitchFamily="2" charset="2"/>
                <a:cs typeface="Wingdings" panose="05000000000000000000" pitchFamily="2" charset="2"/>
              </a:rPr>
              <a:t>data</a:t>
            </a:r>
            <a:r>
              <a:rPr lang="en-US" sz="2000" spc="-35" dirty="0">
                <a:solidFill>
                  <a:schemeClr val="tx1"/>
                </a:solidFill>
                <a:effectLst/>
                <a:ea typeface="Wingdings" panose="05000000000000000000" pitchFamily="2" charset="2"/>
                <a:cs typeface="Wingdings" panose="05000000000000000000" pitchFamily="2" charset="2"/>
              </a:rPr>
              <a:t> </a:t>
            </a:r>
            <a:r>
              <a:rPr lang="en-US" sz="2000" dirty="0">
                <a:solidFill>
                  <a:schemeClr val="tx1"/>
                </a:solidFill>
                <a:effectLst/>
                <a:ea typeface="Wingdings" panose="05000000000000000000" pitchFamily="2" charset="2"/>
                <a:cs typeface="Wingdings" panose="05000000000000000000" pitchFamily="2" charset="2"/>
              </a:rPr>
              <a:t>that</a:t>
            </a:r>
            <a:r>
              <a:rPr lang="en-US" sz="2000" spc="-25" dirty="0">
                <a:solidFill>
                  <a:schemeClr val="tx1"/>
                </a:solidFill>
                <a:effectLst/>
                <a:ea typeface="Wingdings" panose="05000000000000000000" pitchFamily="2" charset="2"/>
                <a:cs typeface="Wingdings" panose="05000000000000000000" pitchFamily="2" charset="2"/>
              </a:rPr>
              <a:t> </a:t>
            </a:r>
            <a:r>
              <a:rPr lang="en-US" sz="2000" dirty="0">
                <a:solidFill>
                  <a:schemeClr val="tx1"/>
                </a:solidFill>
                <a:effectLst/>
                <a:ea typeface="Wingdings" panose="05000000000000000000" pitchFamily="2" charset="2"/>
                <a:cs typeface="Wingdings" panose="05000000000000000000" pitchFamily="2" charset="2"/>
              </a:rPr>
              <a:t>is several</a:t>
            </a:r>
            <a:r>
              <a:rPr lang="en-US" sz="2000" spc="30" dirty="0">
                <a:solidFill>
                  <a:schemeClr val="tx1"/>
                </a:solidFill>
                <a:effectLst/>
                <a:ea typeface="Wingdings" panose="05000000000000000000" pitchFamily="2" charset="2"/>
                <a:cs typeface="Wingdings" panose="05000000000000000000" pitchFamily="2" charset="2"/>
              </a:rPr>
              <a:t> </a:t>
            </a:r>
            <a:r>
              <a:rPr lang="en-US" sz="2000" dirty="0">
                <a:solidFill>
                  <a:schemeClr val="tx1"/>
                </a:solidFill>
                <a:effectLst/>
                <a:ea typeface="Wingdings" panose="05000000000000000000" pitchFamily="2" charset="2"/>
                <a:cs typeface="Wingdings" panose="05000000000000000000" pitchFamily="2" charset="2"/>
              </a:rPr>
              <a:t>terabytes</a:t>
            </a:r>
            <a:r>
              <a:rPr lang="en-US" sz="2000" spc="-15" dirty="0">
                <a:solidFill>
                  <a:schemeClr val="tx1"/>
                </a:solidFill>
                <a:effectLst/>
                <a:ea typeface="Wingdings" panose="05000000000000000000" pitchFamily="2" charset="2"/>
                <a:cs typeface="Wingdings" panose="05000000000000000000" pitchFamily="2" charset="2"/>
              </a:rPr>
              <a:t> </a:t>
            </a:r>
            <a:r>
              <a:rPr lang="en-US" sz="2000" dirty="0">
                <a:solidFill>
                  <a:schemeClr val="tx1"/>
                </a:solidFill>
                <a:effectLst/>
                <a:ea typeface="Wingdings" panose="05000000000000000000" pitchFamily="2" charset="2"/>
                <a:cs typeface="Wingdings" panose="05000000000000000000" pitchFamily="2" charset="2"/>
              </a:rPr>
              <a:t>in size.</a:t>
            </a:r>
            <a:endParaRPr lang="x-none" sz="2000" dirty="0">
              <a:solidFill>
                <a:schemeClr val="tx1"/>
              </a:solidFill>
              <a:effectLst/>
              <a:ea typeface="Wingdings" panose="05000000000000000000" pitchFamily="2" charset="2"/>
              <a:cs typeface="Wingdings" panose="05000000000000000000" pitchFamily="2" charset="2"/>
            </a:endParaRPr>
          </a:p>
          <a:p>
            <a:pPr>
              <a:lnSpc>
                <a:spcPts val="2760"/>
              </a:lnSpc>
              <a:spcBef>
                <a:spcPts val="450"/>
              </a:spcBef>
              <a:buFont typeface="Arial" panose="020B0604020202020204" pitchFamily="34" charset="0"/>
              <a:buChar char="•"/>
              <a:tabLst>
                <a:tab pos="868045" algn="l"/>
                <a:tab pos="868680" algn="l"/>
              </a:tabLst>
            </a:pPr>
            <a:r>
              <a:rPr lang="en-US" sz="2400" dirty="0">
                <a:solidFill>
                  <a:schemeClr val="tx1"/>
                </a:solidFill>
                <a:effectLst/>
                <a:ea typeface="Calibri" panose="020F0502020204030204" pitchFamily="34" charset="0"/>
              </a:rPr>
              <a:t>How</a:t>
            </a:r>
            <a:r>
              <a:rPr lang="en-US" sz="2400" spc="-15"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do</a:t>
            </a:r>
            <a:r>
              <a:rPr lang="en-US" sz="2400" spc="-30"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these</a:t>
            </a:r>
            <a:r>
              <a:rPr lang="en-US" sz="2400" spc="-15"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businesses</a:t>
            </a:r>
            <a:r>
              <a:rPr lang="en-US" sz="2400" spc="-15"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maintain</a:t>
            </a:r>
            <a:r>
              <a:rPr lang="en-US" sz="2400" spc="-45"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this</a:t>
            </a:r>
            <a:r>
              <a:rPr lang="en-US" sz="2400" spc="-25"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data?</a:t>
            </a:r>
            <a:r>
              <a:rPr lang="en-US" sz="2400" spc="-35"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and</a:t>
            </a:r>
            <a:r>
              <a:rPr lang="en-US" sz="2400" spc="-15"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do</a:t>
            </a:r>
            <a:r>
              <a:rPr lang="en-US" sz="2400" spc="-25"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searches</a:t>
            </a:r>
            <a:r>
              <a:rPr lang="en-US" sz="2400" dirty="0">
                <a:solidFill>
                  <a:schemeClr val="tx1"/>
                </a:solidFill>
                <a:ea typeface="Calibri" panose="020F0502020204030204" pitchFamily="34" charset="0"/>
              </a:rPr>
              <a:t> </a:t>
            </a:r>
            <a:r>
              <a:rPr lang="en-US" sz="2400" dirty="0">
                <a:solidFill>
                  <a:schemeClr val="tx1"/>
                </a:solidFill>
                <a:effectLst/>
                <a:ea typeface="Calibri" panose="020F0502020204030204" pitchFamily="34" charset="0"/>
              </a:rPr>
              <a:t>on</a:t>
            </a:r>
            <a:r>
              <a:rPr lang="en-US" sz="2400" spc="-40"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this</a:t>
            </a:r>
            <a:r>
              <a:rPr lang="en-US" sz="2400" spc="-45"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data</a:t>
            </a:r>
            <a:r>
              <a:rPr lang="en-US" sz="2400" spc="-45"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to</a:t>
            </a:r>
            <a:r>
              <a:rPr lang="en-US" sz="2400" spc="-40"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find</a:t>
            </a:r>
            <a:r>
              <a:rPr lang="en-US" sz="2400" spc="-35"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desired</a:t>
            </a:r>
            <a:r>
              <a:rPr lang="en-US" sz="2400" spc="-35" dirty="0">
                <a:solidFill>
                  <a:schemeClr val="tx1"/>
                </a:solidFill>
                <a:effectLst/>
                <a:ea typeface="Calibri" panose="020F0502020204030204" pitchFamily="34" charset="0"/>
              </a:rPr>
              <a:t> </a:t>
            </a:r>
            <a:r>
              <a:rPr lang="en-US" sz="2400" dirty="0">
                <a:solidFill>
                  <a:schemeClr val="tx1"/>
                </a:solidFill>
                <a:effectLst/>
                <a:ea typeface="Calibri" panose="020F0502020204030204" pitchFamily="34" charset="0"/>
              </a:rPr>
              <a:t>information?</a:t>
            </a:r>
            <a:endParaRPr lang="x-none" sz="2400" dirty="0">
              <a:solidFill>
                <a:schemeClr val="tx1"/>
              </a:solidFill>
              <a:effectLst/>
              <a:ea typeface="Calibri" panose="020F0502020204030204" pitchFamily="34" charset="0"/>
            </a:endParaRPr>
          </a:p>
          <a:p>
            <a:pPr>
              <a:spcBef>
                <a:spcPts val="370"/>
              </a:spcBef>
              <a:buFont typeface="Arial" panose="020B0604020202020204" pitchFamily="34" charset="0"/>
              <a:buChar char="•"/>
              <a:tabLst>
                <a:tab pos="868045" algn="l"/>
                <a:tab pos="868680" algn="l"/>
              </a:tabLst>
            </a:pPr>
            <a:r>
              <a:rPr lang="en-US" sz="2400" b="1" dirty="0">
                <a:solidFill>
                  <a:schemeClr val="tx1"/>
                </a:solidFill>
                <a:effectLst/>
                <a:ea typeface="Calibri" panose="020F0502020204030204" pitchFamily="34" charset="0"/>
              </a:rPr>
              <a:t>Answer:</a:t>
            </a:r>
            <a:r>
              <a:rPr lang="en-US" sz="2400" b="1" spc="-30" dirty="0">
                <a:solidFill>
                  <a:schemeClr val="tx1"/>
                </a:solidFill>
                <a:effectLst/>
                <a:ea typeface="Calibri" panose="020F0502020204030204" pitchFamily="34" charset="0"/>
              </a:rPr>
              <a:t> </a:t>
            </a:r>
            <a:r>
              <a:rPr lang="en-US" sz="2400" b="1" dirty="0">
                <a:solidFill>
                  <a:schemeClr val="tx1"/>
                </a:solidFill>
                <a:effectLst/>
                <a:ea typeface="Calibri" panose="020F0502020204030204" pitchFamily="34" charset="0"/>
              </a:rPr>
              <a:t>By</a:t>
            </a:r>
            <a:r>
              <a:rPr lang="en-US" sz="2400" b="1" spc="-35" dirty="0">
                <a:solidFill>
                  <a:schemeClr val="tx1"/>
                </a:solidFill>
                <a:effectLst/>
                <a:ea typeface="Calibri" panose="020F0502020204030204" pitchFamily="34" charset="0"/>
              </a:rPr>
              <a:t> </a:t>
            </a:r>
            <a:r>
              <a:rPr lang="en-US" sz="2400" b="1" dirty="0">
                <a:solidFill>
                  <a:schemeClr val="tx1"/>
                </a:solidFill>
                <a:effectLst/>
                <a:ea typeface="Calibri" panose="020F0502020204030204" pitchFamily="34" charset="0"/>
              </a:rPr>
              <a:t>using</a:t>
            </a:r>
            <a:r>
              <a:rPr lang="en-US" sz="2400" b="1" spc="-40" dirty="0">
                <a:solidFill>
                  <a:schemeClr val="tx1"/>
                </a:solidFill>
                <a:effectLst/>
                <a:ea typeface="Calibri" panose="020F0502020204030204" pitchFamily="34" charset="0"/>
              </a:rPr>
              <a:t> </a:t>
            </a:r>
            <a:r>
              <a:rPr lang="en-US" sz="2400" b="1" dirty="0">
                <a:solidFill>
                  <a:schemeClr val="tx1"/>
                </a:solidFill>
                <a:effectLst/>
                <a:ea typeface="Calibri" panose="020F0502020204030204" pitchFamily="34" charset="0"/>
              </a:rPr>
              <a:t>Databases</a:t>
            </a:r>
            <a:endParaRPr lang="x-none" sz="2800" dirty="0">
              <a:solidFill>
                <a:schemeClr val="tx1"/>
              </a:solidFill>
            </a:endParaRPr>
          </a:p>
        </p:txBody>
      </p:sp>
    </p:spTree>
    <p:extLst>
      <p:ext uri="{BB962C8B-B14F-4D97-AF65-F5344CB8AC3E}">
        <p14:creationId xmlns:p14="http://schemas.microsoft.com/office/powerpoint/2010/main" val="34159655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CF54A-665D-416F-838E-F005E573A1AC}"/>
              </a:ext>
            </a:extLst>
          </p:cNvPr>
          <p:cNvSpPr>
            <a:spLocks noGrp="1"/>
          </p:cNvSpPr>
          <p:nvPr>
            <p:ph type="title"/>
          </p:nvPr>
        </p:nvSpPr>
        <p:spPr>
          <a:xfrm>
            <a:off x="772478" y="453726"/>
            <a:ext cx="11268631" cy="1325563"/>
          </a:xfrm>
        </p:spPr>
        <p:txBody>
          <a:bodyPr>
            <a:normAutofit fontScale="90000"/>
          </a:bodyPr>
          <a:lstStyle/>
          <a:p>
            <a:r>
              <a:rPr lang="en-US" b="1" dirty="0">
                <a:solidFill>
                  <a:schemeClr val="tx1"/>
                </a:solidFill>
              </a:rPr>
              <a:t>Difference Between A Database And A Spreadsheet?</a:t>
            </a:r>
          </a:p>
        </p:txBody>
      </p:sp>
      <p:sp>
        <p:nvSpPr>
          <p:cNvPr id="3" name="Content Placeholder 2">
            <a:extLst>
              <a:ext uri="{FF2B5EF4-FFF2-40B4-BE49-F238E27FC236}">
                <a16:creationId xmlns:a16="http://schemas.microsoft.com/office/drawing/2014/main" id="{7D94E41D-FE80-486B-944A-7D2CAB48BF09}"/>
              </a:ext>
            </a:extLst>
          </p:cNvPr>
          <p:cNvSpPr>
            <a:spLocks noGrp="1"/>
          </p:cNvSpPr>
          <p:nvPr>
            <p:ph idx="1"/>
          </p:nvPr>
        </p:nvSpPr>
        <p:spPr>
          <a:xfrm>
            <a:off x="921540" y="2017368"/>
            <a:ext cx="10504003" cy="3911122"/>
          </a:xfrm>
        </p:spPr>
        <p:txBody>
          <a:bodyPr>
            <a:noAutofit/>
          </a:bodyPr>
          <a:lstStyle/>
          <a:p>
            <a:pPr algn="l">
              <a:buFont typeface="Arial" panose="020B0604020202020204" pitchFamily="34" charset="0"/>
              <a:buChar char="•"/>
            </a:pPr>
            <a:r>
              <a:rPr lang="en-US" sz="2400" b="0" i="0" dirty="0">
                <a:solidFill>
                  <a:schemeClr val="tx1"/>
                </a:solidFill>
                <a:effectLst/>
              </a:rPr>
              <a:t>Spreadsheets were originally designed for one user, and their characteristics reflect that. They’re great for a single user or small number of users who don’t need to do a lot of incredibly complicated data manipulation. </a:t>
            </a:r>
          </a:p>
          <a:p>
            <a:pPr>
              <a:buFont typeface="Arial" panose="020B0604020202020204" pitchFamily="34" charset="0"/>
              <a:buChar char="•"/>
            </a:pPr>
            <a:endParaRPr lang="en-US" sz="2400" b="0" i="0" dirty="0">
              <a:solidFill>
                <a:schemeClr val="tx1"/>
              </a:solidFill>
              <a:effectLst/>
            </a:endParaRPr>
          </a:p>
          <a:p>
            <a:pPr algn="l">
              <a:buFont typeface="Arial" panose="020B0604020202020204" pitchFamily="34" charset="0"/>
              <a:buChar char="•"/>
            </a:pPr>
            <a:r>
              <a:rPr lang="en-US" sz="2400" b="0" i="0" dirty="0">
                <a:solidFill>
                  <a:schemeClr val="tx1"/>
                </a:solidFill>
                <a:effectLst/>
              </a:rPr>
              <a:t>Databases, on the other hand, are designed to hold much larger collections of organized information—massive amounts, sometimes. Databases allow multiple users at the same time to quickly and securely access and query the data using highly complex logic and language.</a:t>
            </a:r>
          </a:p>
        </p:txBody>
      </p:sp>
    </p:spTree>
    <p:extLst>
      <p:ext uri="{BB962C8B-B14F-4D97-AF65-F5344CB8AC3E}">
        <p14:creationId xmlns:p14="http://schemas.microsoft.com/office/powerpoint/2010/main" val="1493633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E8680-6C42-4984-9B3B-945C6196E5E3}"/>
              </a:ext>
            </a:extLst>
          </p:cNvPr>
          <p:cNvSpPr>
            <a:spLocks noGrp="1"/>
          </p:cNvSpPr>
          <p:nvPr>
            <p:ph type="title"/>
          </p:nvPr>
        </p:nvSpPr>
        <p:spPr>
          <a:xfrm>
            <a:off x="715223" y="381216"/>
            <a:ext cx="8119131" cy="1400530"/>
          </a:xfrm>
        </p:spPr>
        <p:txBody>
          <a:bodyPr/>
          <a:lstStyle/>
          <a:p>
            <a:pPr algn="ctr"/>
            <a:r>
              <a:rPr lang="en-US" b="1" dirty="0">
                <a:solidFill>
                  <a:schemeClr val="tx1"/>
                </a:solidFill>
              </a:rPr>
              <a:t>Characteristics of DB Approach</a:t>
            </a:r>
          </a:p>
        </p:txBody>
      </p:sp>
      <p:pic>
        <p:nvPicPr>
          <p:cNvPr id="4" name="Picture 1">
            <a:extLst>
              <a:ext uri="{FF2B5EF4-FFF2-40B4-BE49-F238E27FC236}">
                <a16:creationId xmlns:a16="http://schemas.microsoft.com/office/drawing/2014/main" id="{4529145E-6C8C-433C-8661-9C7CA9550C0B}"/>
              </a:ext>
            </a:extLst>
          </p:cNvPr>
          <p:cNvPicPr>
            <a:picLocks noChangeAspect="1"/>
          </p:cNvPicPr>
          <p:nvPr/>
        </p:nvPicPr>
        <p:blipFill>
          <a:blip r:embed="rId2">
            <a:extLst>
              <a:ext uri="{28A0092B-C50C-407E-A947-70E740481C1C}">
                <a14:useLocalDpi xmlns:a14="http://schemas.microsoft.com/office/drawing/2010/main" val="0"/>
              </a:ext>
            </a:extLst>
          </a:blip>
          <a:srcRect t="30836" b="7777"/>
          <a:stretch>
            <a:fillRect/>
          </a:stretch>
        </p:blipFill>
        <p:spPr bwMode="auto">
          <a:xfrm>
            <a:off x="1894815" y="2062403"/>
            <a:ext cx="769620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595045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chemeClr val="tx1"/>
                </a:solidFill>
              </a:rPr>
              <a:t>Properties of Database</a:t>
            </a:r>
          </a:p>
        </p:txBody>
      </p:sp>
      <p:sp>
        <p:nvSpPr>
          <p:cNvPr id="3" name="Content Placeholder 2"/>
          <p:cNvSpPr>
            <a:spLocks noGrp="1"/>
          </p:cNvSpPr>
          <p:nvPr>
            <p:ph idx="1"/>
          </p:nvPr>
        </p:nvSpPr>
        <p:spPr/>
        <p:txBody>
          <a:bodyPr>
            <a:normAutofit/>
          </a:bodyPr>
          <a:lstStyle/>
          <a:p>
            <a:r>
              <a:rPr lang="en-US" sz="2400" dirty="0">
                <a:solidFill>
                  <a:schemeClr val="tx1"/>
                </a:solidFill>
              </a:rPr>
              <a:t>A database has the following implicit properties:</a:t>
            </a:r>
          </a:p>
          <a:p>
            <a:pPr lvl="1">
              <a:buFont typeface="Arial" panose="020B0604020202020204" pitchFamily="34" charset="0"/>
              <a:buChar char="•"/>
            </a:pPr>
            <a:r>
              <a:rPr lang="en-US" sz="2400" dirty="0">
                <a:solidFill>
                  <a:schemeClr val="tx1"/>
                </a:solidFill>
              </a:rPr>
              <a:t>A database represents some aspect of the real world, sometimes called the mini world or the universe of discourse (</a:t>
            </a:r>
            <a:r>
              <a:rPr lang="en-US" sz="2400" dirty="0" err="1">
                <a:solidFill>
                  <a:schemeClr val="tx1"/>
                </a:solidFill>
              </a:rPr>
              <a:t>UoD</a:t>
            </a:r>
            <a:r>
              <a:rPr lang="en-US" sz="2400" dirty="0">
                <a:solidFill>
                  <a:schemeClr val="tx1"/>
                </a:solidFill>
              </a:rPr>
              <a:t>). Changes to the mini world are reflected in the database.</a:t>
            </a:r>
          </a:p>
          <a:p>
            <a:pPr lvl="1">
              <a:buFont typeface="Arial" panose="020B0604020202020204" pitchFamily="34" charset="0"/>
              <a:buChar char="•"/>
            </a:pPr>
            <a:r>
              <a:rPr lang="en-US" sz="2400" dirty="0">
                <a:solidFill>
                  <a:schemeClr val="tx1"/>
                </a:solidFill>
              </a:rPr>
              <a:t>A database is a logically coherent collection of data with some inherent meaning. A random assortment of data cannot correctly be referred to as a database.</a:t>
            </a:r>
          </a:p>
          <a:p>
            <a:pPr lvl="1">
              <a:buFont typeface="Arial" panose="020B0604020202020204" pitchFamily="34" charset="0"/>
              <a:buChar char="•"/>
            </a:pPr>
            <a:r>
              <a:rPr lang="en-US" sz="2400" dirty="0">
                <a:solidFill>
                  <a:schemeClr val="tx1"/>
                </a:solidFill>
              </a:rPr>
              <a:t>A database is designed, built, and populated with data for a specific purpose.</a:t>
            </a:r>
          </a:p>
          <a:p>
            <a:pPr marL="0" indent="0">
              <a:buNone/>
            </a:pPr>
            <a:r>
              <a:rPr lang="en-US" sz="2400" dirty="0">
                <a:solidFill>
                  <a:schemeClr val="tx1"/>
                </a:solidFill>
              </a:rPr>
              <a:t>It has an intended group of users and some preconceived applications in which these users are interested.</a:t>
            </a:r>
          </a:p>
        </p:txBody>
      </p:sp>
    </p:spTree>
    <p:extLst>
      <p:ext uri="{BB962C8B-B14F-4D97-AF65-F5344CB8AC3E}">
        <p14:creationId xmlns:p14="http://schemas.microsoft.com/office/powerpoint/2010/main" val="12522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2B9D7-A4A8-4C74-B588-3FC4D77DAFE8}"/>
              </a:ext>
            </a:extLst>
          </p:cNvPr>
          <p:cNvSpPr>
            <a:spLocks noGrp="1"/>
          </p:cNvSpPr>
          <p:nvPr>
            <p:ph type="title"/>
          </p:nvPr>
        </p:nvSpPr>
        <p:spPr>
          <a:xfrm>
            <a:off x="845859" y="946952"/>
            <a:ext cx="9404723" cy="879664"/>
          </a:xfrm>
        </p:spPr>
        <p:txBody>
          <a:bodyPr/>
          <a:lstStyle/>
          <a:p>
            <a:r>
              <a:rPr lang="en-US" b="1" dirty="0"/>
              <a:t>What Is DBMS?	</a:t>
            </a:r>
          </a:p>
        </p:txBody>
      </p:sp>
      <p:sp>
        <p:nvSpPr>
          <p:cNvPr id="3" name="Content Placeholder 2">
            <a:extLst>
              <a:ext uri="{FF2B5EF4-FFF2-40B4-BE49-F238E27FC236}">
                <a16:creationId xmlns:a16="http://schemas.microsoft.com/office/drawing/2014/main" id="{8457789D-334D-4DCC-B8F9-CDB4AB7B1B62}"/>
              </a:ext>
            </a:extLst>
          </p:cNvPr>
          <p:cNvSpPr>
            <a:spLocks noGrp="1"/>
          </p:cNvSpPr>
          <p:nvPr>
            <p:ph idx="1"/>
          </p:nvPr>
        </p:nvSpPr>
        <p:spPr>
          <a:xfrm>
            <a:off x="845859" y="1715567"/>
            <a:ext cx="10366638" cy="4195481"/>
          </a:xfrm>
        </p:spPr>
        <p:txBody>
          <a:bodyPr>
            <a:normAutofit/>
          </a:bodyPr>
          <a:lstStyle/>
          <a:p>
            <a:pPr marL="0" indent="0">
              <a:buNone/>
            </a:pPr>
            <a:endParaRPr lang="en-US" sz="2400" b="0" i="0" dirty="0">
              <a:solidFill>
                <a:schemeClr val="tx1"/>
              </a:solidFill>
              <a:effectLst/>
            </a:endParaRPr>
          </a:p>
          <a:p>
            <a:pPr>
              <a:buFont typeface="Arial" panose="020B0604020202020204" pitchFamily="34" charset="0"/>
              <a:buChar char="•"/>
            </a:pPr>
            <a:r>
              <a:rPr lang="en-US" sz="2400" b="0" i="0" dirty="0">
                <a:solidFill>
                  <a:schemeClr val="tx1"/>
                </a:solidFill>
                <a:effectLst/>
              </a:rPr>
              <a:t>A database typically requires a comprehensive database software program known as a database management system (DBMS). A DBMS serves as an interface between the database and its end users or programs, allowing users to retrieve, update, and manage how the information is organized and optimized. </a:t>
            </a:r>
          </a:p>
          <a:p>
            <a:pPr marL="0" indent="0">
              <a:buNone/>
            </a:pPr>
            <a:endParaRPr lang="en-US" sz="2400" dirty="0">
              <a:solidFill>
                <a:schemeClr val="tx1"/>
              </a:solidFill>
            </a:endParaRPr>
          </a:p>
          <a:p>
            <a:pPr>
              <a:buFont typeface="Arial" panose="020B0604020202020204" pitchFamily="34" charset="0"/>
              <a:buChar char="•"/>
            </a:pPr>
            <a:r>
              <a:rPr lang="en-US" sz="2400" b="0" i="0" dirty="0">
                <a:solidFill>
                  <a:schemeClr val="tx1"/>
                </a:solidFill>
                <a:effectLst/>
              </a:rPr>
              <a:t>Some examples of popular database software or DBMSs include MySQL, Microsoft Access, Microsoft SQL Server, FileMaker Pro, Oracle Database, and </a:t>
            </a:r>
            <a:r>
              <a:rPr lang="en-US" sz="2400" b="0" i="0" dirty="0" err="1">
                <a:solidFill>
                  <a:schemeClr val="tx1"/>
                </a:solidFill>
                <a:effectLst/>
              </a:rPr>
              <a:t>dBASE</a:t>
            </a:r>
            <a:r>
              <a:rPr lang="en-US" sz="2400" b="0" i="0" dirty="0">
                <a:solidFill>
                  <a:schemeClr val="tx1"/>
                </a:solidFill>
                <a:effectLst/>
              </a:rPr>
              <a:t>.</a:t>
            </a:r>
          </a:p>
          <a:p>
            <a:pPr marL="0" indent="0">
              <a:buNone/>
            </a:pPr>
            <a:endParaRPr lang="en-US" sz="1800" dirty="0"/>
          </a:p>
        </p:txBody>
      </p:sp>
    </p:spTree>
    <p:extLst>
      <p:ext uri="{BB962C8B-B14F-4D97-AF65-F5344CB8AC3E}">
        <p14:creationId xmlns:p14="http://schemas.microsoft.com/office/powerpoint/2010/main" val="15558838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F72D6867-7851-B7F3-34B9-0369C75AC674}"/>
              </a:ext>
            </a:extLst>
          </p:cNvPr>
          <p:cNvSpPr txBox="1">
            <a:spLocks noChangeArrowheads="1"/>
          </p:cNvSpPr>
          <p:nvPr/>
        </p:nvSpPr>
        <p:spPr>
          <a:xfrm>
            <a:off x="961679" y="872296"/>
            <a:ext cx="7010400" cy="854538"/>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defRPr/>
            </a:pPr>
            <a:r>
              <a:rPr lang="en-US" altLang="en-US" b="1" dirty="0">
                <a:solidFill>
                  <a:schemeClr val="tx1"/>
                </a:solidFill>
              </a:rPr>
              <a:t>Types of DBMS</a:t>
            </a:r>
          </a:p>
        </p:txBody>
      </p:sp>
      <p:sp>
        <p:nvSpPr>
          <p:cNvPr id="7" name="Rectangle 3">
            <a:extLst>
              <a:ext uri="{FF2B5EF4-FFF2-40B4-BE49-F238E27FC236}">
                <a16:creationId xmlns:a16="http://schemas.microsoft.com/office/drawing/2014/main" id="{80209430-C225-F025-DBE4-2A712B940671}"/>
              </a:ext>
            </a:extLst>
          </p:cNvPr>
          <p:cNvSpPr txBox="1">
            <a:spLocks noChangeArrowheads="1"/>
          </p:cNvSpPr>
          <p:nvPr/>
        </p:nvSpPr>
        <p:spPr>
          <a:xfrm>
            <a:off x="860079" y="1846907"/>
            <a:ext cx="10893075" cy="4310680"/>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en-US" altLang="en-US" dirty="0">
                <a:solidFill>
                  <a:schemeClr val="tx1"/>
                </a:solidFill>
              </a:rPr>
              <a:t>Relational(SQL databases)</a:t>
            </a:r>
          </a:p>
          <a:p>
            <a:pPr lvl="1"/>
            <a:r>
              <a:rPr lang="en-US" altLang="en-US" sz="1600" dirty="0">
                <a:solidFill>
                  <a:schemeClr val="tx1"/>
                </a:solidFill>
              </a:rPr>
              <a:t>Data Model is based on tables</a:t>
            </a:r>
          </a:p>
          <a:p>
            <a:r>
              <a:rPr lang="en-US" altLang="en-US" dirty="0">
                <a:solidFill>
                  <a:schemeClr val="tx1"/>
                </a:solidFill>
              </a:rPr>
              <a:t>Non-Relational(NoSQL databases)</a:t>
            </a:r>
          </a:p>
          <a:p>
            <a:pPr lvl="1"/>
            <a:r>
              <a:rPr lang="en-US" altLang="en-US" sz="1600" dirty="0">
                <a:solidFill>
                  <a:schemeClr val="tx1"/>
                </a:solidFill>
              </a:rPr>
              <a:t>Data Model is based on XML,JSON or Plain Text i.e. no tabular form of database.</a:t>
            </a:r>
          </a:p>
          <a:p>
            <a:r>
              <a:rPr lang="en-US" altLang="en-US" dirty="0">
                <a:solidFill>
                  <a:schemeClr val="tx1"/>
                </a:solidFill>
              </a:rPr>
              <a:t>Network</a:t>
            </a:r>
          </a:p>
          <a:p>
            <a:pPr lvl="1"/>
            <a:r>
              <a:rPr lang="en-US" altLang="en-US" sz="1600" dirty="0">
                <a:solidFill>
                  <a:schemeClr val="tx1"/>
                </a:solidFill>
              </a:rPr>
              <a:t>Data Model based on graph with nodes as records and relationship between records as edges.</a:t>
            </a:r>
          </a:p>
          <a:p>
            <a:r>
              <a:rPr lang="en-US" altLang="en-US" dirty="0">
                <a:solidFill>
                  <a:schemeClr val="tx1"/>
                </a:solidFill>
              </a:rPr>
              <a:t>Hierarchical</a:t>
            </a:r>
          </a:p>
          <a:p>
            <a:pPr lvl="1"/>
            <a:r>
              <a:rPr lang="en-US" altLang="en-US" sz="1600" dirty="0">
                <a:solidFill>
                  <a:schemeClr val="tx1"/>
                </a:solidFill>
              </a:rPr>
              <a:t>Data Model based on tree data structure </a:t>
            </a:r>
          </a:p>
          <a:p>
            <a:r>
              <a:rPr lang="en-US" altLang="en-US" dirty="0">
                <a:solidFill>
                  <a:schemeClr val="tx1"/>
                </a:solidFill>
              </a:rPr>
              <a:t>Object Oriented</a:t>
            </a:r>
          </a:p>
          <a:p>
            <a:pPr lvl="1"/>
            <a:r>
              <a:rPr lang="en-US" altLang="en-US" sz="1600" dirty="0">
                <a:solidFill>
                  <a:schemeClr val="tx1"/>
                </a:solidFill>
              </a:rPr>
              <a:t>Data Model based on Object Oriented paradigm </a:t>
            </a:r>
          </a:p>
          <a:p>
            <a:r>
              <a:rPr lang="en-US" altLang="en-US" dirty="0">
                <a:solidFill>
                  <a:schemeClr val="tx1"/>
                </a:solidFill>
              </a:rPr>
              <a:t>Distributed</a:t>
            </a:r>
          </a:p>
          <a:p>
            <a:pPr lvl="1"/>
            <a:r>
              <a:rPr lang="en-US" altLang="en-US" sz="1600" dirty="0">
                <a:solidFill>
                  <a:schemeClr val="tx1"/>
                </a:solidFill>
              </a:rPr>
              <a:t>Composed of several independent DBMS running at the nodes of a Communication Network.</a:t>
            </a:r>
          </a:p>
        </p:txBody>
      </p:sp>
    </p:spTree>
    <p:extLst>
      <p:ext uri="{BB962C8B-B14F-4D97-AF65-F5344CB8AC3E}">
        <p14:creationId xmlns:p14="http://schemas.microsoft.com/office/powerpoint/2010/main" val="30711066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A82ADA9-7C99-4230-AFC0-6AFA117113A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0135" y="679010"/>
            <a:ext cx="11611729" cy="5250224"/>
          </a:xfrm>
        </p:spPr>
      </p:pic>
    </p:spTree>
    <p:extLst>
      <p:ext uri="{BB962C8B-B14F-4D97-AF65-F5344CB8AC3E}">
        <p14:creationId xmlns:p14="http://schemas.microsoft.com/office/powerpoint/2010/main" val="33750878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A5257F-9A6D-150C-68F5-76BCDFF181B8}"/>
              </a:ext>
            </a:extLst>
          </p:cNvPr>
          <p:cNvSpPr txBox="1"/>
          <p:nvPr/>
        </p:nvSpPr>
        <p:spPr>
          <a:xfrm>
            <a:off x="3382224" y="2598003"/>
            <a:ext cx="6097508" cy="830997"/>
          </a:xfrm>
          <a:prstGeom prst="rect">
            <a:avLst/>
          </a:prstGeom>
          <a:noFill/>
        </p:spPr>
        <p:txBody>
          <a:bodyPr wrap="square">
            <a:spAutoFit/>
          </a:bodyPr>
          <a:lstStyle/>
          <a:p>
            <a:pPr algn="ctr"/>
            <a:r>
              <a:rPr lang="en-US" sz="4800" dirty="0">
                <a:solidFill>
                  <a:schemeClr val="accent2"/>
                </a:solidFill>
              </a:rPr>
              <a:t>Any question????</a:t>
            </a:r>
          </a:p>
        </p:txBody>
      </p:sp>
    </p:spTree>
    <p:extLst>
      <p:ext uri="{BB962C8B-B14F-4D97-AF65-F5344CB8AC3E}">
        <p14:creationId xmlns:p14="http://schemas.microsoft.com/office/powerpoint/2010/main" val="132598588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528</TotalTime>
  <Words>1163</Words>
  <Application>Microsoft Office PowerPoint</Application>
  <PresentationFormat>Widescreen</PresentationFormat>
  <Paragraphs>142</Paragraphs>
  <Slides>19</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vt:lpstr>
      <vt:lpstr>Arial</vt:lpstr>
      <vt:lpstr>Calibri</vt:lpstr>
      <vt:lpstr>Calibri Light</vt:lpstr>
      <vt:lpstr>Times New Roman</vt:lpstr>
      <vt:lpstr>Wingdings</vt:lpstr>
      <vt:lpstr>Retrospect</vt:lpstr>
      <vt:lpstr> Database Systems</vt:lpstr>
      <vt:lpstr>Tentative Mark Distribution and Grading Policy</vt:lpstr>
      <vt:lpstr>Course Ethics</vt:lpstr>
      <vt:lpstr>PowerPoint Presentation</vt:lpstr>
      <vt:lpstr>Course Outcomes:</vt:lpstr>
      <vt:lpstr>Data VS Information</vt:lpstr>
      <vt:lpstr>Introduction</vt:lpstr>
      <vt:lpstr>General Idea:</vt:lpstr>
      <vt:lpstr>General Idea:</vt:lpstr>
      <vt:lpstr>Introduction</vt:lpstr>
      <vt:lpstr>What Is Database?</vt:lpstr>
      <vt:lpstr>Why Databases?</vt:lpstr>
      <vt:lpstr>Difference Between A Database And A Spreadsheet?</vt:lpstr>
      <vt:lpstr>Characteristics of DB Approach</vt:lpstr>
      <vt:lpstr>Properties of Database</vt:lpstr>
      <vt:lpstr>What Is DBMS?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Alina Arshad</dc:creator>
  <cp:lastModifiedBy>Ms Alina Arshad</cp:lastModifiedBy>
  <cp:revision>30</cp:revision>
  <dcterms:created xsi:type="dcterms:W3CDTF">2024-08-09T06:58:16Z</dcterms:created>
  <dcterms:modified xsi:type="dcterms:W3CDTF">2024-08-24T19:27:09Z</dcterms:modified>
</cp:coreProperties>
</file>