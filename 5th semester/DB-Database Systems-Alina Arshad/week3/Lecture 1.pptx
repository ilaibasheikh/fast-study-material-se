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3.jpg" ContentType="image/jpg"/>
  <Override PartName="/ppt/media/image5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397" r:id="rId18"/>
    <p:sldId id="395" r:id="rId19"/>
    <p:sldId id="396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4" autoAdjust="0"/>
    <p:restoredTop sz="92529" autoAdjust="0"/>
  </p:normalViewPr>
  <p:slideViewPr>
    <p:cSldViewPr snapToGrid="0">
      <p:cViewPr varScale="1">
        <p:scale>
          <a:sx n="103" d="100"/>
          <a:sy n="103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addSp delSp mod">
        <pc:chgData name="Ms Alina Arshad" userId="cccdfd85-d35d-4453-9c6f-a463aae40722" providerId="ADAL" clId="{57485560-A1FA-415A-BF02-476F12996002}" dt="2024-09-01T04:11:14.245" v="2" actId="22"/>
        <pc:sldMkLst>
          <pc:docMk/>
          <pc:sldMk cId="0" sldId="259"/>
        </pc:sldMkLst>
        <pc:picChg chg="add del">
          <ac:chgData name="Ms Alina Arshad" userId="cccdfd85-d35d-4453-9c6f-a463aae40722" providerId="ADAL" clId="{57485560-A1FA-415A-BF02-476F12996002}" dt="2024-09-01T04:11:14.245" v="2" actId="22"/>
          <ac:picMkLst>
            <pc:docMk/>
            <pc:sldMk cId="0" sldId="259"/>
            <ac:picMk id="5" creationId="{057F4995-001D-925F-66AC-88924EEB93E7}"/>
          </ac:picMkLst>
        </pc:picChg>
      </pc:sldChg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18:18.107" v="52" actId="113"/>
        <pc:sldMkLst>
          <pc:docMk/>
          <pc:sldMk cId="0" sldId="261"/>
        </pc:sldMkLst>
        <pc:spChg chg="mod">
          <ac:chgData name="Ms Alina Arshad" userId="cccdfd85-d35d-4453-9c6f-a463aae40722" providerId="ADAL" clId="{57485560-A1FA-415A-BF02-476F12996002}" dt="2024-09-01T04:18:18.107" v="5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NotesTx">
        <pc:chgData name="Ms Alina Arshad" userId="cccdfd85-d35d-4453-9c6f-a463aae40722" providerId="ADAL" clId="{57485560-A1FA-415A-BF02-476F12996002}" dt="2024-09-01T05:00:40.446" v="208" actId="1076"/>
        <pc:sldMkLst>
          <pc:docMk/>
          <pc:sldMk cId="0" sldId="262"/>
        </pc:sldMkLst>
        <pc:spChg chg="mod">
          <ac:chgData name="Ms Alina Arshad" userId="cccdfd85-d35d-4453-9c6f-a463aae40722" providerId="ADAL" clId="{57485560-A1FA-415A-BF02-476F12996002}" dt="2024-09-01T05:00:40.446" v="20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0:34.321" v="207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0.337" v="187" actId="113"/>
        <pc:sldMkLst>
          <pc:docMk/>
          <pc:sldMk cId="0" sldId="264"/>
        </pc:sldMkLst>
        <pc:spChg chg="mod">
          <ac:chgData name="Ms Alina Arshad" userId="cccdfd85-d35d-4453-9c6f-a463aae40722" providerId="ADAL" clId="{57485560-A1FA-415A-BF02-476F12996002}" dt="2024-09-01T04:58:20.337" v="187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0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0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0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0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0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0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0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0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0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6T04:21:48.888" v="593" actId="20577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 modNotesTx">
        <pc:chgData name="Ms Alina Arshad" userId="cccdfd85-d35d-4453-9c6f-a463aae40722" providerId="ADAL" clId="{44991E72-28EC-43D4-9452-2984EF5D346D}" dt="2024-09-06T04:21:48.888" v="593" actId="20577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0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0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0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0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0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0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0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0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0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0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0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0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0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0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0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0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0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0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0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0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0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69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70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49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1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568" y="1149904"/>
            <a:ext cx="10688861" cy="633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806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THE RELATIONAL DATA MODEL AND RELATIONAL DATABASE CONSTRAINTS</a:t>
            </a:r>
            <a:endParaRPr lang="en-US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Chapter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520943"/>
              </p:ext>
            </p:extLst>
          </p:nvPr>
        </p:nvGraphicFramePr>
        <p:xfrm>
          <a:off x="2477744" y="1988057"/>
          <a:ext cx="6711950" cy="2966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Info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mal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Terms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terms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ab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ame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10" dirty="0">
                          <a:latin typeface="Verdana"/>
                          <a:cs typeface="Verdana"/>
                        </a:rPr>
                        <a:t>Entities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Table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Relation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Co</a:t>
                      </a:r>
                      <a:r>
                        <a:rPr sz="1800" spc="10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umn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ame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70" dirty="0">
                          <a:latin typeface="Verdana"/>
                          <a:cs typeface="Verdana"/>
                        </a:rPr>
                        <a:t>Attributes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Row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70" dirty="0">
                          <a:latin typeface="Verdana"/>
                          <a:cs typeface="Verdana"/>
                        </a:rPr>
                        <a:t>Tuple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5" dirty="0">
                          <a:latin typeface="Verdana"/>
                          <a:cs typeface="Verdana"/>
                        </a:rPr>
                        <a:t>V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ues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co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umn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Domain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ab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d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ef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Sch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ma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8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re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25" dirty="0">
                          <a:latin typeface="Verdana"/>
                          <a:cs typeface="Verdana"/>
                        </a:rPr>
                        <a:t>Populated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Table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90" dirty="0">
                          <a:latin typeface="Verdana"/>
                          <a:cs typeface="Verdana"/>
                        </a:rPr>
                        <a:t>Extension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9195" y="916120"/>
            <a:ext cx="4916805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70" dirty="0">
                <a:cs typeface="Verdana"/>
              </a:rPr>
              <a:t>DBM</a:t>
            </a:r>
            <a:r>
              <a:rPr sz="4400" b="1" spc="-240" dirty="0">
                <a:cs typeface="Verdana"/>
              </a:rPr>
              <a:t>S</a:t>
            </a:r>
            <a:r>
              <a:rPr sz="4400" b="1" spc="-315" dirty="0">
                <a:cs typeface="Verdana"/>
              </a:rPr>
              <a:t> </a:t>
            </a:r>
            <a:r>
              <a:rPr sz="4400" b="1" spc="-260" dirty="0">
                <a:cs typeface="Verdana"/>
              </a:rPr>
              <a:t>Fo</a:t>
            </a:r>
            <a:r>
              <a:rPr sz="4400" b="1" spc="-210" dirty="0">
                <a:cs typeface="Verdana"/>
              </a:rPr>
              <a:t>r</a:t>
            </a:r>
            <a:r>
              <a:rPr sz="4400" b="1" spc="-40" dirty="0">
                <a:cs typeface="Verdana"/>
              </a:rPr>
              <a:t>mal</a:t>
            </a:r>
            <a:r>
              <a:rPr sz="4400" b="1" spc="-305" dirty="0">
                <a:cs typeface="Verdana"/>
              </a:rPr>
              <a:t> </a:t>
            </a:r>
            <a:r>
              <a:rPr sz="4400" b="1" spc="-250" dirty="0">
                <a:cs typeface="Verdana"/>
              </a:rPr>
              <a:t>terms</a:t>
            </a:r>
            <a:endParaRPr sz="4400" b="1" dirty="0"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6995" y="1093351"/>
            <a:ext cx="6083559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b="1" spc="-130" dirty="0">
                <a:solidFill>
                  <a:schemeClr val="tx1"/>
                </a:solidFill>
              </a:rPr>
              <a:t>Relational</a:t>
            </a:r>
            <a:r>
              <a:rPr sz="4400" b="1" spc="-95" dirty="0">
                <a:solidFill>
                  <a:schemeClr val="tx1"/>
                </a:solidFill>
              </a:rPr>
              <a:t> </a:t>
            </a:r>
            <a:r>
              <a:rPr sz="4400" b="1" spc="30" dirty="0">
                <a:solidFill>
                  <a:schemeClr val="tx1"/>
                </a:solidFill>
              </a:rPr>
              <a:t>Model </a:t>
            </a:r>
            <a:r>
              <a:rPr sz="4400" b="1" spc="-1215" dirty="0">
                <a:solidFill>
                  <a:schemeClr val="tx1"/>
                </a:solidFill>
              </a:rPr>
              <a:t> </a:t>
            </a:r>
            <a:r>
              <a:rPr sz="4400" b="1" spc="45" dirty="0">
                <a:solidFill>
                  <a:schemeClr val="tx1"/>
                </a:solidFill>
              </a:rPr>
              <a:t>Concepts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2351" y="2080386"/>
            <a:ext cx="10263673" cy="3363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	Relational model: represents the database as a</a:t>
            </a:r>
            <a:r>
              <a:rPr lang="en-US" sz="2400" dirty="0"/>
              <a:t> </a:t>
            </a:r>
            <a:r>
              <a:rPr sz="2400" dirty="0"/>
              <a:t>collection of relations.</a:t>
            </a:r>
          </a:p>
          <a:p>
            <a:pPr marL="812165" indent="-342900"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000" dirty="0"/>
              <a:t>Relation: Table of values</a:t>
            </a:r>
          </a:p>
          <a:p>
            <a:pPr marL="812165" indent="-34290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246755" algn="l"/>
              </a:tabLst>
            </a:pPr>
            <a:r>
              <a:rPr sz="2000" dirty="0"/>
              <a:t>Tuple represent facts:	Row</a:t>
            </a:r>
          </a:p>
          <a:p>
            <a:pPr marL="812165" indent="-342900"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000" dirty="0"/>
              <a:t>Column Header: Attribute</a:t>
            </a:r>
          </a:p>
          <a:p>
            <a:pPr marL="812165" marR="508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000" dirty="0"/>
              <a:t>Domain: Data type describing the types of values that can appear in each column.</a:t>
            </a:r>
          </a:p>
          <a:p>
            <a:pPr marL="355600" marR="5080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The model was first proposed by Dr. E.F. Codd of  IBM Research in 1970 in the following paper:“ A  Relational Model for Large Shared Data Banks,"  Communications of the ACM, June 1970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275" y="0"/>
            <a:ext cx="9983449" cy="68336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0931" y="1093351"/>
            <a:ext cx="8266922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b="1" spc="-130" dirty="0">
                <a:solidFill>
                  <a:schemeClr val="tx1"/>
                </a:solidFill>
              </a:rPr>
              <a:t>Relational</a:t>
            </a:r>
            <a:r>
              <a:rPr sz="4400" b="1" spc="-95" dirty="0">
                <a:solidFill>
                  <a:schemeClr val="tx1"/>
                </a:solidFill>
              </a:rPr>
              <a:t> </a:t>
            </a:r>
            <a:r>
              <a:rPr sz="4400" b="1" spc="30" dirty="0">
                <a:solidFill>
                  <a:schemeClr val="tx1"/>
                </a:solidFill>
              </a:rPr>
              <a:t>Model </a:t>
            </a:r>
            <a:r>
              <a:rPr sz="4400" b="1" spc="-1215" dirty="0">
                <a:solidFill>
                  <a:schemeClr val="tx1"/>
                </a:solidFill>
              </a:rPr>
              <a:t> </a:t>
            </a:r>
            <a:r>
              <a:rPr sz="4400" b="1" spc="45" dirty="0">
                <a:solidFill>
                  <a:schemeClr val="tx1"/>
                </a:solidFill>
              </a:rPr>
              <a:t>Concepts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5862" y="1903204"/>
            <a:ext cx="9741159" cy="363304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55600" indent="-342900">
              <a:spcBef>
                <a:spcPts val="969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Domain</a:t>
            </a:r>
            <a:r>
              <a:rPr sz="2400" dirty="0"/>
              <a:t>:</a:t>
            </a:r>
            <a:r>
              <a:rPr lang="en-US" sz="2400" dirty="0"/>
              <a:t> </a:t>
            </a:r>
            <a:r>
              <a:rPr sz="2000" dirty="0"/>
              <a:t>Set of atomic values</a:t>
            </a:r>
          </a:p>
          <a:p>
            <a:pPr marL="355600" indent="-342900"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Represents data type, and format</a:t>
            </a:r>
            <a:r>
              <a:rPr sz="2400" dirty="0"/>
              <a:t>.</a:t>
            </a:r>
            <a:endParaRPr lang="en-US" sz="2400" dirty="0"/>
          </a:p>
          <a:p>
            <a:pPr marL="812800" lvl="1" indent="-342900"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For example, the PAK_phone_numbers may have a  format: (ddd)-dddddddd where each d is a decimal digit.</a:t>
            </a:r>
            <a:endParaRPr lang="en-US" sz="2000" dirty="0"/>
          </a:p>
          <a:p>
            <a:pPr marL="812800" lvl="1" indent="-342900"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Dates have various formats such as month, date, year  or yyyy-mm-dd, or dd mm,yyyy etc.</a:t>
            </a:r>
            <a:endParaRPr lang="en-US" sz="2000" dirty="0"/>
          </a:p>
          <a:p>
            <a:pPr marL="812800" lvl="1" indent="-342900"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Names: set of character strings that represent names</a:t>
            </a:r>
            <a:r>
              <a:rPr lang="en-US" sz="2000" dirty="0"/>
              <a:t> </a:t>
            </a:r>
            <a:r>
              <a:rPr sz="2000" dirty="0"/>
              <a:t>of persons.</a:t>
            </a:r>
            <a:endParaRPr lang="en-US" sz="2000" dirty="0"/>
          </a:p>
          <a:p>
            <a:pPr marL="812800" lvl="1" indent="-342900"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 err="1"/>
              <a:t>Grade_point_averages</a:t>
            </a:r>
            <a:r>
              <a:rPr sz="2000" dirty="0"/>
              <a:t>: floating-point number between 0 and 4.</a:t>
            </a:r>
            <a:endParaRPr lang="en-US" sz="2000" dirty="0"/>
          </a:p>
          <a:p>
            <a:pPr marL="812800" lvl="1" indent="-342900"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 err="1"/>
              <a:t>Employee_ages</a:t>
            </a:r>
            <a:r>
              <a:rPr sz="2000" dirty="0"/>
              <a:t>: integer value between 15 and 80.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161" y="879818"/>
            <a:ext cx="8120014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b="1" spc="-145" dirty="0">
                <a:solidFill>
                  <a:schemeClr val="tx1"/>
                </a:solidFill>
              </a:rPr>
              <a:t>Formal</a:t>
            </a:r>
            <a:r>
              <a:rPr sz="4400" b="1" spc="-85" dirty="0">
                <a:solidFill>
                  <a:schemeClr val="tx1"/>
                </a:solidFill>
              </a:rPr>
              <a:t> </a:t>
            </a:r>
            <a:r>
              <a:rPr sz="4400" b="1" spc="-204" dirty="0">
                <a:solidFill>
                  <a:schemeClr val="tx1"/>
                </a:solidFill>
              </a:rPr>
              <a:t>Definition</a:t>
            </a:r>
            <a:r>
              <a:rPr sz="4400" b="1" spc="-75" dirty="0">
                <a:solidFill>
                  <a:schemeClr val="tx1"/>
                </a:solidFill>
              </a:rPr>
              <a:t> </a:t>
            </a:r>
            <a:r>
              <a:rPr sz="4400" b="1" spc="-175" dirty="0">
                <a:solidFill>
                  <a:schemeClr val="tx1"/>
                </a:solidFill>
              </a:rPr>
              <a:t>of </a:t>
            </a:r>
            <a:r>
              <a:rPr sz="4400" b="1" spc="-1215" dirty="0">
                <a:solidFill>
                  <a:schemeClr val="tx1"/>
                </a:solidFill>
              </a:rPr>
              <a:t> </a:t>
            </a:r>
            <a:r>
              <a:rPr sz="4400" b="1" spc="-160" dirty="0">
                <a:solidFill>
                  <a:schemeClr val="tx1"/>
                </a:solidFill>
              </a:rPr>
              <a:t>Relation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161" y="1764622"/>
            <a:ext cx="11124989" cy="4589718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spcBef>
                <a:spcPts val="750"/>
              </a:spcBef>
              <a:tabLst>
                <a:tab pos="354965" algn="l"/>
              </a:tabLst>
            </a:pPr>
            <a:r>
              <a:rPr lang="en-US" sz="2400" b="1" dirty="0"/>
              <a:t>A relation schema. </a:t>
            </a:r>
          </a:p>
          <a:p>
            <a:pPr marL="355600" indent="-342900"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000" dirty="0"/>
              <a:t>denoted by R(A1, A2, … , An), </a:t>
            </a:r>
          </a:p>
          <a:p>
            <a:pPr marL="355600" indent="-342900"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000" dirty="0"/>
              <a:t>made up of a relation name R </a:t>
            </a:r>
          </a:p>
          <a:p>
            <a:pPr marL="355600" indent="-342900"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000" dirty="0"/>
              <a:t>Contains a list of attributes, A1, A2, … , An. </a:t>
            </a:r>
          </a:p>
          <a:p>
            <a:pPr marL="355600" indent="-342900"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000" dirty="0"/>
              <a:t>Each attribute Ai is the name of a role played by some domain D in the relation schema R. D is called the domain of Ai and is denoted by </a:t>
            </a:r>
            <a:r>
              <a:rPr lang="en-US" sz="2000" dirty="0" err="1"/>
              <a:t>dom</a:t>
            </a:r>
            <a:r>
              <a:rPr lang="en-US" sz="2000" dirty="0"/>
              <a:t>(Ai). </a:t>
            </a:r>
          </a:p>
          <a:p>
            <a:pPr marL="12700">
              <a:spcBef>
                <a:spcPts val="750"/>
              </a:spcBef>
              <a:tabLst>
                <a:tab pos="354965" algn="l"/>
              </a:tabLst>
            </a:pPr>
            <a:r>
              <a:rPr lang="en-US" sz="2400" b="1" dirty="0"/>
              <a:t>Degree (or arity) of a relation: </a:t>
            </a:r>
          </a:p>
          <a:p>
            <a:pPr marL="355600" indent="-342900"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000" dirty="0"/>
              <a:t>number of attributes/columns </a:t>
            </a:r>
          </a:p>
          <a:p>
            <a:pPr marL="12700">
              <a:spcBef>
                <a:spcPts val="750"/>
              </a:spcBef>
              <a:tabLst>
                <a:tab pos="354965" algn="l"/>
              </a:tabLst>
            </a:pPr>
            <a:r>
              <a:rPr lang="en-US" sz="2400" b="1" dirty="0"/>
              <a:t>Tuple t is a row: </a:t>
            </a:r>
          </a:p>
          <a:p>
            <a:pPr marL="355600" indent="-342900"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000" dirty="0"/>
              <a:t>Ordered/ unordered list of n values t =&lt;v1,v2…</a:t>
            </a:r>
            <a:r>
              <a:rPr lang="en-US" sz="2000" dirty="0" err="1"/>
              <a:t>vn</a:t>
            </a:r>
            <a:r>
              <a:rPr lang="en-US" sz="2000" dirty="0"/>
              <a:t>&gt; </a:t>
            </a:r>
          </a:p>
          <a:p>
            <a:pPr marL="355600" indent="-342900"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000" dirty="0"/>
              <a:t>each value vi, 1 ≤ </a:t>
            </a:r>
            <a:r>
              <a:rPr lang="en-US" sz="2000" dirty="0" err="1"/>
              <a:t>i</a:t>
            </a:r>
            <a:r>
              <a:rPr lang="en-US" sz="2000" dirty="0"/>
              <a:t> ≤ n, is an element of </a:t>
            </a:r>
            <a:r>
              <a:rPr lang="en-US" sz="2000" dirty="0" err="1"/>
              <a:t>dom</a:t>
            </a:r>
            <a:r>
              <a:rPr lang="en-US" sz="2000" dirty="0"/>
              <a:t> (Ai) or is a special NULL value.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7962" y="957200"/>
            <a:ext cx="567563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Example of a Relation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868" y="2012423"/>
            <a:ext cx="9743119" cy="32169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60675" y="5533135"/>
            <a:ext cx="2933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Degree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spc="-100" dirty="0">
                <a:latin typeface="Tahoma"/>
                <a:cs typeface="Tahoma"/>
              </a:rPr>
              <a:t>of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spc="-90" dirty="0">
                <a:latin typeface="Tahoma"/>
                <a:cs typeface="Tahoma"/>
              </a:rPr>
              <a:t>Relation?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0343" y="1093351"/>
            <a:ext cx="7147629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b="1" spc="-160" dirty="0">
                <a:solidFill>
                  <a:schemeClr val="tx1"/>
                </a:solidFill>
              </a:rPr>
              <a:t>Relation</a:t>
            </a:r>
            <a:r>
              <a:rPr sz="4400" b="1" spc="-65" dirty="0">
                <a:solidFill>
                  <a:schemeClr val="tx1"/>
                </a:solidFill>
              </a:rPr>
              <a:t> </a:t>
            </a:r>
            <a:r>
              <a:rPr sz="4400" b="1" spc="-204" dirty="0">
                <a:solidFill>
                  <a:schemeClr val="tx1"/>
                </a:solidFill>
              </a:rPr>
              <a:t>Definition</a:t>
            </a:r>
            <a:r>
              <a:rPr sz="4400" b="1" spc="-75" dirty="0">
                <a:solidFill>
                  <a:schemeClr val="tx1"/>
                </a:solidFill>
              </a:rPr>
              <a:t> </a:t>
            </a:r>
            <a:r>
              <a:rPr sz="4400" b="1" spc="-210" dirty="0">
                <a:solidFill>
                  <a:schemeClr val="tx1"/>
                </a:solidFill>
              </a:rPr>
              <a:t>Using </a:t>
            </a:r>
            <a:r>
              <a:rPr sz="4400" b="1" spc="-1215" dirty="0">
                <a:solidFill>
                  <a:schemeClr val="tx1"/>
                </a:solidFill>
              </a:rPr>
              <a:t> </a:t>
            </a:r>
            <a:r>
              <a:rPr sz="4400" b="1" spc="-204" dirty="0">
                <a:solidFill>
                  <a:schemeClr val="tx1"/>
                </a:solidFill>
              </a:rPr>
              <a:t>set</a:t>
            </a:r>
            <a:r>
              <a:rPr sz="4400" b="1" spc="-60" dirty="0">
                <a:solidFill>
                  <a:schemeClr val="tx1"/>
                </a:solidFill>
              </a:rPr>
              <a:t> </a:t>
            </a:r>
            <a:r>
              <a:rPr sz="4400" b="1" spc="-140" dirty="0">
                <a:solidFill>
                  <a:schemeClr val="tx1"/>
                </a:solidFill>
              </a:rPr>
              <a:t>theory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0274" y="1931098"/>
            <a:ext cx="6666771" cy="39068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A relation (or relation state) r(R) </a:t>
            </a:r>
            <a:r>
              <a:rPr sz="2400" dirty="0"/>
              <a:t>is a mathematical relation of degree n on the domains dom(A1),  dom(A2), … , dom(An), which is a subset of the  Cartesian product (denoted by ×) of the domains  that define</a:t>
            </a:r>
          </a:p>
          <a:p>
            <a:pPr marL="812165" indent="-342900"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000" dirty="0"/>
              <a:t> R: r(R) ⊆ (dom(A1) × dom(A2) × . . . × (dom(An))</a:t>
            </a:r>
          </a:p>
          <a:p>
            <a:pPr marL="355600" marR="370205" indent="-342900">
              <a:spcBef>
                <a:spcPts val="101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Cartesian product: </a:t>
            </a:r>
            <a:r>
              <a:rPr sz="2400" dirty="0"/>
              <a:t>All possible combinations of  values from the underlying domains.</a:t>
            </a:r>
          </a:p>
          <a:p>
            <a:pPr marL="355600" indent="-342900">
              <a:lnSpc>
                <a:spcPts val="2395"/>
              </a:lnSpc>
              <a:spcBef>
                <a:spcPts val="101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Total number of tuples in the Cartesian product:</a:t>
            </a:r>
          </a:p>
          <a:p>
            <a:pPr marL="698500" indent="-342900">
              <a:lnSpc>
                <a:spcPts val="2395"/>
              </a:lnSpc>
              <a:buFont typeface="Arial" panose="020B0604020202020204" pitchFamily="34" charset="0"/>
              <a:buChar char="•"/>
            </a:pPr>
            <a:r>
              <a:rPr sz="2000" dirty="0"/>
              <a:t>|dom(A1)| × |dom(A2)| × . . . × |dom(An)|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829E9-2E92-A5C9-F182-CCE08B8090CD}"/>
              </a:ext>
            </a:extLst>
          </p:cNvPr>
          <p:cNvSpPr txBox="1"/>
          <p:nvPr/>
        </p:nvSpPr>
        <p:spPr>
          <a:xfrm>
            <a:off x="8592766" y="1747097"/>
            <a:ext cx="337841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Relation A (Customer):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ID,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(1, John)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(2, Jane)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Relation B (Order):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Order ID, Customer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(101, 1)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(102, 2)</a:t>
            </a:r>
          </a:p>
          <a:p>
            <a:r>
              <a:rPr lang="en-US" sz="1600" dirty="0"/>
              <a:t>The Cartesian product of A and B would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Relation C (</a:t>
            </a:r>
            <a:r>
              <a:rPr lang="en-US" sz="1600" b="1" dirty="0" err="1"/>
              <a:t>Customer_Order</a:t>
            </a:r>
            <a:r>
              <a:rPr lang="en-US" sz="1600" b="1" dirty="0"/>
              <a:t>):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ID, Name, Order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(1, John, 101)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(1, John, 102)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(2, Jane, 101)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(2, Jane, 102)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0275" y="1064282"/>
            <a:ext cx="1016103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4400" b="1" spc="-130" dirty="0">
                <a:latin typeface="+mj-lt"/>
                <a:cs typeface="Tahoma"/>
              </a:rPr>
              <a:t>Relational</a:t>
            </a:r>
            <a:r>
              <a:rPr sz="4400" b="1" spc="-95" dirty="0">
                <a:latin typeface="+mj-lt"/>
                <a:cs typeface="Tahoma"/>
              </a:rPr>
              <a:t> </a:t>
            </a:r>
            <a:r>
              <a:rPr sz="4400" b="1" spc="30" dirty="0">
                <a:latin typeface="+mj-lt"/>
                <a:cs typeface="Tahoma"/>
              </a:rPr>
              <a:t>Model </a:t>
            </a:r>
            <a:r>
              <a:rPr sz="4400" b="1" spc="-1215" dirty="0">
                <a:latin typeface="+mj-lt"/>
                <a:cs typeface="Tahoma"/>
              </a:rPr>
              <a:t> </a:t>
            </a:r>
            <a:r>
              <a:rPr sz="4400" b="1" spc="45" dirty="0">
                <a:latin typeface="+mj-lt"/>
                <a:cs typeface="Tahoma"/>
              </a:rPr>
              <a:t>Concepts</a:t>
            </a:r>
            <a:endParaRPr sz="44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0275" y="1921768"/>
            <a:ext cx="10072443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tabLst>
                <a:tab pos="354965" algn="l"/>
              </a:tabLst>
            </a:pPr>
            <a:r>
              <a:rPr sz="2400" b="1" dirty="0"/>
              <a:t>Relation State: </a:t>
            </a:r>
            <a:r>
              <a:rPr sz="2400" dirty="0"/>
              <a:t>The state of the whole database will correspond to the</a:t>
            </a:r>
            <a:r>
              <a:rPr lang="en-US" sz="2400" dirty="0"/>
              <a:t> </a:t>
            </a:r>
            <a:r>
              <a:rPr sz="2400" dirty="0"/>
              <a:t>states of all its relations at a particular point in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80668" y="903053"/>
            <a:ext cx="7092948" cy="689291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chemeClr val="tx1"/>
                </a:solidFill>
              </a:rPr>
              <a:t>Characteristics</a:t>
            </a:r>
            <a:r>
              <a:rPr sz="4400" b="1" spc="-55" dirty="0">
                <a:solidFill>
                  <a:schemeClr val="tx1"/>
                </a:solidFill>
              </a:rPr>
              <a:t> </a:t>
            </a:r>
            <a:r>
              <a:rPr sz="4400" b="1" spc="-130" dirty="0">
                <a:solidFill>
                  <a:schemeClr val="tx1"/>
                </a:solidFill>
              </a:rPr>
              <a:t>of</a:t>
            </a:r>
            <a:r>
              <a:rPr sz="4400" b="1" spc="-60" dirty="0">
                <a:solidFill>
                  <a:schemeClr val="tx1"/>
                </a:solidFill>
              </a:rPr>
              <a:t> </a:t>
            </a:r>
            <a:r>
              <a:rPr sz="4400" b="1" spc="-135" dirty="0">
                <a:solidFill>
                  <a:schemeClr val="tx1"/>
                </a:solidFill>
              </a:rPr>
              <a:t>Relations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0668" y="1822590"/>
            <a:ext cx="5764395" cy="1810111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spcBef>
                <a:spcPts val="1295"/>
              </a:spcBef>
              <a:tabLst>
                <a:tab pos="355600" algn="l"/>
              </a:tabLst>
            </a:pPr>
            <a:r>
              <a:rPr sz="2400" b="1" dirty="0"/>
              <a:t>Relation: set of tuples.</a:t>
            </a:r>
            <a:r>
              <a:rPr lang="en-US" sz="2400" b="1" dirty="0"/>
              <a:t> </a:t>
            </a:r>
          </a:p>
          <a:p>
            <a:pPr marL="812800" lvl="1" indent="-342900">
              <a:spcBef>
                <a:spcPts val="129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400" dirty="0"/>
              <a:t>Ordering of Tuples in a Relation: tuples in a relation do not have any particular  order.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80668" y="4235222"/>
            <a:ext cx="583331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spcBef>
                <a:spcPts val="100"/>
              </a:spcBef>
              <a:tabLst>
                <a:tab pos="355600" algn="l"/>
              </a:tabLst>
            </a:pPr>
            <a:r>
              <a:rPr sz="2400" dirty="0"/>
              <a:t>Hence, the relation  displayed in Figure 5.2 i</a:t>
            </a:r>
            <a:r>
              <a:rPr lang="en-US" sz="2400" dirty="0"/>
              <a:t>s </a:t>
            </a:r>
            <a:r>
              <a:rPr sz="2400" dirty="0"/>
              <a:t>considered identical to the one shown in Figure  5.1</a:t>
            </a: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8325" y="1822590"/>
            <a:ext cx="4920530" cy="23003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rcRect b="10815"/>
          <a:stretch/>
        </p:blipFill>
        <p:spPr>
          <a:xfrm>
            <a:off x="7387061" y="4353205"/>
            <a:ext cx="4804939" cy="19043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530" y="944596"/>
            <a:ext cx="8136081" cy="689291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chemeClr val="tx1"/>
                </a:solidFill>
              </a:rPr>
              <a:t>Characteristics</a:t>
            </a:r>
            <a:r>
              <a:rPr sz="4400" b="1" spc="-45" dirty="0">
                <a:solidFill>
                  <a:schemeClr val="tx1"/>
                </a:solidFill>
              </a:rPr>
              <a:t> </a:t>
            </a:r>
            <a:r>
              <a:rPr sz="4400" b="1" spc="-130" dirty="0">
                <a:solidFill>
                  <a:schemeClr val="tx1"/>
                </a:solidFill>
              </a:rPr>
              <a:t>of</a:t>
            </a:r>
            <a:r>
              <a:rPr sz="4400" b="1" spc="-55" dirty="0">
                <a:solidFill>
                  <a:schemeClr val="tx1"/>
                </a:solidFill>
              </a:rPr>
              <a:t> </a:t>
            </a:r>
            <a:r>
              <a:rPr sz="4400" b="1" spc="-135" dirty="0">
                <a:solidFill>
                  <a:schemeClr val="tx1"/>
                </a:solidFill>
              </a:rPr>
              <a:t>Relations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4530" y="1884639"/>
            <a:ext cx="9983543" cy="7649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425450" algn="l"/>
              </a:tabLst>
            </a:pPr>
            <a:r>
              <a:rPr sz="2400" dirty="0"/>
              <a:t>Ordering of Attributes is not important, because</a:t>
            </a:r>
            <a:r>
              <a:rPr lang="en-US" sz="2400" dirty="0"/>
              <a:t> </a:t>
            </a:r>
            <a:r>
              <a:rPr sz="2400" dirty="0"/>
              <a:t>the attribute name appears with its value.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4530" y="5080771"/>
            <a:ext cx="1028830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354965" algn="l"/>
              </a:tabLst>
            </a:pPr>
            <a:r>
              <a:rPr sz="2400" dirty="0"/>
              <a:t>When the attribute name and value are included together in a tuple, it is known as</a:t>
            </a:r>
            <a:r>
              <a:rPr lang="en-US" sz="2400" dirty="0"/>
              <a:t> </a:t>
            </a:r>
            <a:r>
              <a:rPr sz="2400" dirty="0"/>
              <a:t>self-describing  data.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148" y="2315172"/>
            <a:ext cx="10288306" cy="2367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276" y="1044133"/>
            <a:ext cx="6169916" cy="689291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chemeClr val="tx1"/>
                </a:solidFill>
              </a:rPr>
              <a:t>Characteristics</a:t>
            </a:r>
            <a:r>
              <a:rPr sz="4400" b="1" spc="-70" dirty="0">
                <a:solidFill>
                  <a:schemeClr val="tx1"/>
                </a:solidFill>
              </a:rPr>
              <a:t> </a:t>
            </a:r>
            <a:r>
              <a:rPr sz="4400" b="1" spc="-130" dirty="0">
                <a:solidFill>
                  <a:schemeClr val="tx1"/>
                </a:solidFill>
              </a:rPr>
              <a:t>of</a:t>
            </a:r>
            <a:r>
              <a:rPr sz="4400" b="1" spc="-65" dirty="0">
                <a:solidFill>
                  <a:schemeClr val="tx1"/>
                </a:solidFill>
              </a:rPr>
              <a:t> </a:t>
            </a:r>
            <a:r>
              <a:rPr sz="4400" b="1" spc="-135" dirty="0">
                <a:solidFill>
                  <a:schemeClr val="tx1"/>
                </a:solidFill>
              </a:rPr>
              <a:t>Relations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0106" y="1766780"/>
            <a:ext cx="9871788" cy="226344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298450" indent="-285750">
              <a:spcBef>
                <a:spcPts val="121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Values and NULLs in the Tuples:</a:t>
            </a:r>
          </a:p>
          <a:p>
            <a:pPr marL="755015" indent="-285750">
              <a:spcBef>
                <a:spcPts val="990"/>
              </a:spcBef>
              <a:buFont typeface="Arial" panose="020B0604020202020204" pitchFamily="34" charset="0"/>
              <a:buChar char="•"/>
            </a:pPr>
            <a:r>
              <a:rPr sz="2000" dirty="0"/>
              <a:t>Each value in a tuple is an atomic value.</a:t>
            </a:r>
          </a:p>
          <a:p>
            <a:pPr marL="756285" marR="12700" indent="-28702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5036820" algn="l"/>
              </a:tabLst>
            </a:pPr>
            <a:r>
              <a:rPr sz="2000" dirty="0"/>
              <a:t>composite and multivalued attributes</a:t>
            </a:r>
            <a:r>
              <a:rPr lang="en-US" sz="2000" dirty="0"/>
              <a:t> </a:t>
            </a:r>
            <a:r>
              <a:rPr sz="2000" dirty="0"/>
              <a:t>are not  allowed</a:t>
            </a:r>
          </a:p>
          <a:p>
            <a:pPr marL="298450" indent="-28575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NULL values: </a:t>
            </a:r>
            <a:r>
              <a:rPr sz="2400" dirty="0"/>
              <a:t>values of attributes that may be</a:t>
            </a:r>
            <a:r>
              <a:rPr lang="en-US" sz="2400" dirty="0"/>
              <a:t> </a:t>
            </a:r>
            <a:r>
              <a:rPr sz="2400" dirty="0"/>
              <a:t>unknown or may not apply to a tuple</a:t>
            </a:r>
            <a:r>
              <a:rPr sz="2000" dirty="0"/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461" y="4002021"/>
            <a:ext cx="9871788" cy="27599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0343" y="1124128"/>
            <a:ext cx="6969967" cy="659155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200" b="1" spc="-130" dirty="0">
                <a:solidFill>
                  <a:schemeClr val="tx1"/>
                </a:solidFill>
              </a:rPr>
              <a:t>Relational</a:t>
            </a:r>
            <a:r>
              <a:rPr sz="4200" b="1" spc="-95" dirty="0">
                <a:solidFill>
                  <a:schemeClr val="tx1"/>
                </a:solidFill>
              </a:rPr>
              <a:t> </a:t>
            </a:r>
            <a:r>
              <a:rPr sz="4200" b="1" spc="30" dirty="0">
                <a:solidFill>
                  <a:schemeClr val="tx1"/>
                </a:solidFill>
              </a:rPr>
              <a:t>Model </a:t>
            </a:r>
            <a:r>
              <a:rPr sz="4200" b="1" spc="-1215" dirty="0">
                <a:solidFill>
                  <a:schemeClr val="tx1"/>
                </a:solidFill>
              </a:rPr>
              <a:t> </a:t>
            </a:r>
            <a:r>
              <a:rPr sz="4200" b="1" spc="-170" dirty="0">
                <a:solidFill>
                  <a:schemeClr val="tx1"/>
                </a:solidFill>
              </a:rPr>
              <a:t>Constraints</a:t>
            </a:r>
            <a:endParaRPr sz="42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5657" y="2024404"/>
            <a:ext cx="10086391" cy="211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  <a:tab pos="1918970" algn="l"/>
              </a:tabLst>
            </a:pPr>
            <a:r>
              <a:rPr sz="2400" b="1" dirty="0"/>
              <a:t>Constraints:</a:t>
            </a:r>
            <a:r>
              <a:rPr lang="en-US" sz="2400" b="1" dirty="0"/>
              <a:t> </a:t>
            </a:r>
            <a:r>
              <a:rPr sz="2400" dirty="0"/>
              <a:t>set of rules or restrictions. They are</a:t>
            </a:r>
            <a:r>
              <a:rPr lang="en-US" sz="2400" dirty="0"/>
              <a:t> </a:t>
            </a:r>
            <a:r>
              <a:rPr sz="2400" dirty="0"/>
              <a:t>used to maintain the quality of data.</a:t>
            </a:r>
          </a:p>
          <a:p>
            <a:pPr marL="355600" marR="5080" indent="-34290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Constraints ensure that the data insertion,  updating, and other processes have to be performed</a:t>
            </a:r>
            <a:r>
              <a:rPr lang="en-US" sz="2400" dirty="0"/>
              <a:t> </a:t>
            </a:r>
            <a:r>
              <a:rPr sz="2400" dirty="0"/>
              <a:t>in such a way that data integrity is not affected.</a:t>
            </a:r>
            <a:endParaRPr lang="en-US" sz="2400" dirty="0"/>
          </a:p>
          <a:p>
            <a:pPr marL="355600" marR="5080" indent="-34290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Constraints are used to guard against accidental damage to the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061" y="1093351"/>
            <a:ext cx="8005666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b="1" spc="-130" dirty="0">
                <a:solidFill>
                  <a:schemeClr val="tx1"/>
                </a:solidFill>
              </a:rPr>
              <a:t>Relational</a:t>
            </a:r>
            <a:r>
              <a:rPr sz="4400" b="1" spc="-95" dirty="0">
                <a:solidFill>
                  <a:schemeClr val="tx1"/>
                </a:solidFill>
              </a:rPr>
              <a:t> </a:t>
            </a:r>
            <a:r>
              <a:rPr sz="4400" b="1" spc="30" dirty="0">
                <a:solidFill>
                  <a:schemeClr val="tx1"/>
                </a:solidFill>
              </a:rPr>
              <a:t>Model </a:t>
            </a:r>
            <a:r>
              <a:rPr sz="4400" b="1" spc="-1215" dirty="0">
                <a:solidFill>
                  <a:schemeClr val="tx1"/>
                </a:solidFill>
              </a:rPr>
              <a:t> </a:t>
            </a:r>
            <a:r>
              <a:rPr sz="4400" b="1" spc="-170" dirty="0">
                <a:solidFill>
                  <a:schemeClr val="tx1"/>
                </a:solidFill>
              </a:rPr>
              <a:t>Constraints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061" y="1783283"/>
            <a:ext cx="10067731" cy="415049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spcBef>
                <a:spcPts val="985"/>
              </a:spcBef>
              <a:tabLst>
                <a:tab pos="354965" algn="l"/>
              </a:tabLst>
            </a:pPr>
            <a:r>
              <a:rPr sz="2400" b="1" dirty="0"/>
              <a:t>Schema Based Constraints</a:t>
            </a:r>
          </a:p>
          <a:p>
            <a:pPr marL="469265">
              <a:spcBef>
                <a:spcPts val="800"/>
              </a:spcBef>
              <a:tabLst>
                <a:tab pos="756285" algn="l"/>
              </a:tabLst>
            </a:pPr>
            <a:r>
              <a:rPr sz="2000" dirty="0"/>
              <a:t>Divided into three main categories.</a:t>
            </a:r>
          </a:p>
          <a:p>
            <a:pPr marL="1270000" indent="-342900">
              <a:spcBef>
                <a:spcPts val="725"/>
              </a:spcBef>
              <a:buFont typeface="Arial" panose="020B0604020202020204" pitchFamily="34" charset="0"/>
              <a:buChar char="•"/>
            </a:pPr>
            <a:r>
              <a:rPr sz="2000" dirty="0"/>
              <a:t>Key constraints</a:t>
            </a:r>
          </a:p>
          <a:p>
            <a:pPr marL="1270000" indent="-342900">
              <a:spcBef>
                <a:spcPts val="730"/>
              </a:spcBef>
              <a:buFont typeface="Arial" panose="020B0604020202020204" pitchFamily="34" charset="0"/>
              <a:buChar char="•"/>
            </a:pPr>
            <a:r>
              <a:rPr sz="2000" dirty="0"/>
              <a:t>Entity integrity constraints</a:t>
            </a:r>
          </a:p>
          <a:p>
            <a:pPr marL="1270000" indent="-34290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sz="2000" dirty="0"/>
              <a:t>Referential integrity constraints</a:t>
            </a:r>
          </a:p>
          <a:p>
            <a:pPr marL="355600" marR="5080" indent="-342900">
              <a:lnSpc>
                <a:spcPts val="2050"/>
              </a:lnSpc>
              <a:spcBef>
                <a:spcPts val="10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Key Constraints: </a:t>
            </a:r>
            <a:r>
              <a:rPr sz="2400" dirty="0"/>
              <a:t>used to identify an entity within its entity set uniquely.</a:t>
            </a:r>
          </a:p>
          <a:p>
            <a:pPr marL="812165" indent="-342900"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sz="2000" dirty="0"/>
              <a:t>Primary Key</a:t>
            </a:r>
          </a:p>
          <a:p>
            <a:pPr marL="812165" indent="-342900">
              <a:spcBef>
                <a:spcPts val="7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sz="2000" dirty="0"/>
              <a:t>Candidate Key</a:t>
            </a:r>
          </a:p>
          <a:p>
            <a:pPr marL="812165" indent="-342900">
              <a:spcBef>
                <a:spcPts val="79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sz="2000" dirty="0"/>
              <a:t>Super Key</a:t>
            </a:r>
          </a:p>
          <a:p>
            <a:pPr marL="812165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sz="2000" dirty="0"/>
              <a:t>Foreign Key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1268" y="1003143"/>
            <a:ext cx="3994150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40" dirty="0">
                <a:solidFill>
                  <a:schemeClr val="tx1"/>
                </a:solidFill>
              </a:rPr>
              <a:t>Key</a:t>
            </a:r>
            <a:r>
              <a:rPr sz="4400" b="1" spc="-114" dirty="0">
                <a:solidFill>
                  <a:schemeClr val="tx1"/>
                </a:solidFill>
              </a:rPr>
              <a:t> </a:t>
            </a:r>
            <a:r>
              <a:rPr sz="4400" b="1" spc="-175" dirty="0">
                <a:solidFill>
                  <a:schemeClr val="tx1"/>
                </a:solidFill>
              </a:rPr>
              <a:t>Constraints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1308" y="1847122"/>
            <a:ext cx="10387353" cy="33528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8419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Primary key: </a:t>
            </a:r>
            <a:r>
              <a:rPr sz="2400" dirty="0"/>
              <a:t>uniquely identifies each record in a table. It must have unique values and cannot have null values.</a:t>
            </a:r>
          </a:p>
          <a:p>
            <a:pPr marL="355600" marR="106680" indent="-342900">
              <a:lnSpc>
                <a:spcPct val="99900"/>
              </a:lnSpc>
              <a:spcBef>
                <a:spcPts val="101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FOREIGN KEY: </a:t>
            </a:r>
            <a:r>
              <a:rPr sz="2400" dirty="0"/>
              <a:t>Foreign keys are the columns of </a:t>
            </a:r>
            <a:r>
              <a:rPr sz="2400"/>
              <a:t>a table </a:t>
            </a:r>
            <a:r>
              <a:rPr sz="2400" dirty="0"/>
              <a:t>that points to the primary key of another table. They act as a cross-reference between tables.</a:t>
            </a:r>
          </a:p>
          <a:p>
            <a:pPr marL="355600" indent="-342900">
              <a:spcBef>
                <a:spcPts val="101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Candidate Key: </a:t>
            </a:r>
            <a:r>
              <a:rPr sz="2400" dirty="0"/>
              <a:t>A super key with no redundant</a:t>
            </a:r>
            <a:r>
              <a:rPr lang="en-US" sz="2400" dirty="0"/>
              <a:t> </a:t>
            </a:r>
            <a:r>
              <a:rPr sz="2400" dirty="0"/>
              <a:t>attribute is known as candidate key.</a:t>
            </a:r>
          </a:p>
          <a:p>
            <a:pPr marL="355600" marR="5080" indent="-34290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Super Key: </a:t>
            </a:r>
            <a:r>
              <a:rPr sz="2400" dirty="0"/>
              <a:t>A super key is a set of one of more columns (attributes) to uniquely identify rows in a 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3946" y="972103"/>
            <a:ext cx="5593715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00" dirty="0">
                <a:solidFill>
                  <a:schemeClr val="tx1"/>
                </a:solidFill>
                <a:cs typeface="Verdana"/>
              </a:rPr>
              <a:t>Pri</a:t>
            </a:r>
            <a:r>
              <a:rPr sz="4400" b="1" spc="-459" dirty="0">
                <a:solidFill>
                  <a:schemeClr val="tx1"/>
                </a:solidFill>
                <a:cs typeface="Verdana"/>
              </a:rPr>
              <a:t>m</a:t>
            </a:r>
            <a:r>
              <a:rPr sz="4400" b="1" spc="-140" dirty="0">
                <a:solidFill>
                  <a:schemeClr val="tx1"/>
                </a:solidFill>
                <a:cs typeface="Verdana"/>
              </a:rPr>
              <a:t>ar</a:t>
            </a:r>
            <a:r>
              <a:rPr sz="4400" b="1" spc="-155" dirty="0">
                <a:solidFill>
                  <a:schemeClr val="tx1"/>
                </a:solidFill>
                <a:cs typeface="Verdana"/>
              </a:rPr>
              <a:t>y</a:t>
            </a:r>
            <a:r>
              <a:rPr sz="4400" b="1" spc="-315" dirty="0">
                <a:solidFill>
                  <a:schemeClr val="tx1"/>
                </a:solidFill>
                <a:cs typeface="Verdana"/>
              </a:rPr>
              <a:t> </a:t>
            </a:r>
            <a:r>
              <a:rPr sz="4400" b="1" spc="-145" dirty="0">
                <a:solidFill>
                  <a:schemeClr val="tx1"/>
                </a:solidFill>
                <a:cs typeface="Verdana"/>
              </a:rPr>
              <a:t>Key</a:t>
            </a:r>
            <a:r>
              <a:rPr sz="4400" b="1" spc="-315" dirty="0">
                <a:solidFill>
                  <a:schemeClr val="tx1"/>
                </a:solidFill>
                <a:cs typeface="Verdana"/>
              </a:rPr>
              <a:t> </a:t>
            </a:r>
            <a:r>
              <a:rPr sz="4400" b="1" spc="-150" dirty="0">
                <a:solidFill>
                  <a:schemeClr val="tx1"/>
                </a:solidFill>
                <a:cs typeface="Verdana"/>
              </a:rPr>
              <a:t>Exa</a:t>
            </a:r>
            <a:r>
              <a:rPr sz="4400" b="1" spc="-250" dirty="0">
                <a:solidFill>
                  <a:schemeClr val="tx1"/>
                </a:solidFill>
                <a:cs typeface="Verdana"/>
              </a:rPr>
              <a:t>m</a:t>
            </a:r>
            <a:r>
              <a:rPr sz="4400" b="1" spc="-105" dirty="0">
                <a:solidFill>
                  <a:schemeClr val="tx1"/>
                </a:solidFill>
                <a:cs typeface="Verdana"/>
              </a:rPr>
              <a:t>ples</a:t>
            </a:r>
            <a:endParaRPr sz="4400" b="1" dirty="0">
              <a:solidFill>
                <a:schemeClr val="tx1"/>
              </a:solidFill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3438" y="1894114"/>
            <a:ext cx="7267801" cy="39188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1615" y="749133"/>
            <a:ext cx="546671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35" dirty="0">
                <a:solidFill>
                  <a:schemeClr val="tx1"/>
                </a:solidFill>
              </a:rPr>
              <a:t>Foreign</a:t>
            </a:r>
            <a:r>
              <a:rPr b="1" spc="-100" dirty="0">
                <a:solidFill>
                  <a:schemeClr val="tx1"/>
                </a:solidFill>
              </a:rPr>
              <a:t> </a:t>
            </a:r>
            <a:r>
              <a:rPr b="1" spc="-40" dirty="0">
                <a:solidFill>
                  <a:schemeClr val="tx1"/>
                </a:solidFill>
              </a:rPr>
              <a:t>Key</a:t>
            </a:r>
            <a:r>
              <a:rPr b="1" spc="-9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34215" y="2350111"/>
          <a:ext cx="3729102" cy="3712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59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1" spc="-70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Course_Id</a:t>
                      </a:r>
                      <a:endParaRPr sz="2400" b="1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1" spc="-160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Stu_Id</a:t>
                      </a:r>
                      <a:endParaRPr sz="2400" b="1" dirty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4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30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C01</a:t>
                      </a:r>
                      <a:endParaRPr sz="2400" b="0" dirty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155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101</a:t>
                      </a:r>
                      <a:endParaRPr sz="2400" b="0" dirty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30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C02</a:t>
                      </a:r>
                      <a:endParaRPr sz="2400" b="0" dirty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155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102</a:t>
                      </a:r>
                      <a:endParaRPr sz="2400" b="0" dirty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30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C03</a:t>
                      </a:r>
                      <a:endParaRPr sz="2400" b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155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101</a:t>
                      </a:r>
                      <a:endParaRPr sz="2400" b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30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C05</a:t>
                      </a:r>
                      <a:endParaRPr sz="2400" b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155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102</a:t>
                      </a:r>
                      <a:endParaRPr sz="2400" b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4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30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C06</a:t>
                      </a:r>
                      <a:endParaRPr sz="2400" b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spc="-155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103</a:t>
                      </a:r>
                      <a:endParaRPr sz="2400" b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400" b="0" spc="-30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C07</a:t>
                      </a:r>
                      <a:endParaRPr sz="2400" b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975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400" b="0" spc="-155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102</a:t>
                      </a:r>
                      <a:endParaRPr sz="2400" b="0" dirty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3975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34215" y="1749833"/>
            <a:ext cx="325143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350" dirty="0" err="1">
                <a:latin typeface="+mj-lt"/>
                <a:cs typeface="Microsoft Sans Serif"/>
              </a:rPr>
              <a:t>Co</a:t>
            </a:r>
            <a:r>
              <a:rPr sz="2400" b="1" spc="-125" dirty="0" err="1">
                <a:latin typeface="+mj-lt"/>
                <a:cs typeface="Microsoft Sans Serif"/>
              </a:rPr>
              <a:t>urse_enro</a:t>
            </a:r>
            <a:r>
              <a:rPr sz="2400" b="1" spc="-55" dirty="0" err="1">
                <a:latin typeface="+mj-lt"/>
                <a:cs typeface="Microsoft Sans Serif"/>
              </a:rPr>
              <a:t>l</a:t>
            </a:r>
            <a:r>
              <a:rPr sz="2400" b="1" spc="-145" dirty="0" err="1">
                <a:latin typeface="+mj-lt"/>
                <a:cs typeface="Microsoft Sans Serif"/>
              </a:rPr>
              <a:t>lmen</a:t>
            </a:r>
            <a:r>
              <a:rPr sz="2400" b="1" spc="15" dirty="0" err="1">
                <a:latin typeface="+mj-lt"/>
                <a:cs typeface="Microsoft Sans Serif"/>
              </a:rPr>
              <a:t>t</a:t>
            </a:r>
            <a:r>
              <a:rPr sz="2400" b="1" spc="-85" dirty="0">
                <a:latin typeface="+mj-lt"/>
                <a:cs typeface="Microsoft Sans Serif"/>
              </a:rPr>
              <a:t> table</a:t>
            </a:r>
            <a:endParaRPr sz="2400" b="1" dirty="0">
              <a:latin typeface="+mj-lt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96000" y="2350110"/>
          <a:ext cx="5108811" cy="3013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2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83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400" b="1" spc="-160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Stu_Id</a:t>
                      </a:r>
                      <a:endParaRPr sz="2400" b="1" dirty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400" b="1" spc="-100" dirty="0" err="1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Stu_Nam</a:t>
                      </a:r>
                      <a:r>
                        <a:rPr sz="2400" b="1" dirty="0" err="1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e</a:t>
                      </a:r>
                      <a:endParaRPr sz="2400" b="1" dirty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52705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400" b="1" spc="-65" dirty="0">
                          <a:solidFill>
                            <a:schemeClr val="tx1"/>
                          </a:solidFill>
                          <a:latin typeface="+mn-lt"/>
                          <a:cs typeface="Verdana"/>
                        </a:rPr>
                        <a:t>Stu_Age</a:t>
                      </a:r>
                      <a:endParaRPr sz="2400" b="1" dirty="0">
                        <a:solidFill>
                          <a:schemeClr val="tx1"/>
                        </a:solidFill>
                        <a:latin typeface="+mn-lt"/>
                        <a:cs typeface="Verdana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400" b="0" spc="-155" dirty="0">
                          <a:latin typeface="+mn-lt"/>
                          <a:cs typeface="Verdana"/>
                        </a:rPr>
                        <a:t>101</a:t>
                      </a:r>
                      <a:endParaRPr sz="2400" b="0">
                        <a:latin typeface="+mn-lt"/>
                        <a:cs typeface="Verdana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24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0" dirty="0">
                          <a:latin typeface="+mn-lt"/>
                          <a:cs typeface="Verdana"/>
                        </a:rPr>
                        <a:t>C</a:t>
                      </a:r>
                      <a:r>
                        <a:rPr sz="2400" b="0" spc="-10" dirty="0">
                          <a:latin typeface="+mn-lt"/>
                          <a:cs typeface="Verdana"/>
                        </a:rPr>
                        <a:t>ha</a:t>
                      </a:r>
                      <a:r>
                        <a:rPr sz="2400" b="0" spc="20" dirty="0">
                          <a:latin typeface="+mn-lt"/>
                          <a:cs typeface="Verdana"/>
                        </a:rPr>
                        <a:t>i</a:t>
                      </a:r>
                      <a:r>
                        <a:rPr sz="2400" b="0" spc="-15" dirty="0">
                          <a:latin typeface="+mn-lt"/>
                          <a:cs typeface="Verdana"/>
                        </a:rPr>
                        <a:t>t</a:t>
                      </a:r>
                      <a:r>
                        <a:rPr sz="2400" b="0" spc="-10" dirty="0">
                          <a:latin typeface="+mn-lt"/>
                          <a:cs typeface="Verdana"/>
                        </a:rPr>
                        <a:t>an</a:t>
                      </a:r>
                      <a:r>
                        <a:rPr sz="2400" b="0" dirty="0">
                          <a:latin typeface="+mn-lt"/>
                          <a:cs typeface="Verdana"/>
                        </a:rPr>
                        <a:t>y</a:t>
                      </a:r>
                      <a:r>
                        <a:rPr lang="en-US" sz="2400" b="0" spc="145" dirty="0">
                          <a:latin typeface="+mn-lt"/>
                          <a:cs typeface="Verdana"/>
                        </a:rPr>
                        <a:t>a</a:t>
                      </a:r>
                      <a:endParaRPr sz="2400" b="0" dirty="0">
                        <a:latin typeface="+mn-lt"/>
                        <a:cs typeface="Verdana"/>
                      </a:endParaRPr>
                    </a:p>
                  </a:txBody>
                  <a:tcPr marL="0" marR="0" marT="5334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400" b="0" spc="-155" dirty="0">
                          <a:latin typeface="+mn-lt"/>
                          <a:cs typeface="Verdana"/>
                        </a:rPr>
                        <a:t>22</a:t>
                      </a:r>
                      <a:endParaRPr sz="2400" b="0">
                        <a:latin typeface="+mn-lt"/>
                        <a:cs typeface="Verdana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41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400" b="0" spc="-155" dirty="0">
                          <a:latin typeface="+mn-lt"/>
                          <a:cs typeface="Verdana"/>
                        </a:rPr>
                        <a:t>102</a:t>
                      </a:r>
                      <a:endParaRPr sz="2400" b="0">
                        <a:latin typeface="+mn-lt"/>
                        <a:cs typeface="Verdana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400" b="0" spc="-20" dirty="0">
                          <a:latin typeface="+mn-lt"/>
                          <a:cs typeface="Verdana"/>
                        </a:rPr>
                        <a:t>Arya</a:t>
                      </a:r>
                      <a:endParaRPr sz="2400" b="0" dirty="0">
                        <a:latin typeface="+mn-lt"/>
                        <a:cs typeface="Verdana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400" b="0" spc="-155" dirty="0">
                          <a:latin typeface="+mn-lt"/>
                          <a:cs typeface="Verdana"/>
                        </a:rPr>
                        <a:t>26</a:t>
                      </a:r>
                      <a:endParaRPr sz="2400" b="0">
                        <a:latin typeface="+mn-lt"/>
                        <a:cs typeface="Verdana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9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400" b="0" spc="-155" dirty="0">
                          <a:latin typeface="+mn-lt"/>
                          <a:cs typeface="Verdana"/>
                        </a:rPr>
                        <a:t>103</a:t>
                      </a:r>
                      <a:endParaRPr sz="2400" b="0">
                        <a:latin typeface="+mn-lt"/>
                        <a:cs typeface="Verdana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400" b="0" spc="-85" dirty="0">
                          <a:latin typeface="+mn-lt"/>
                          <a:cs typeface="Verdana"/>
                        </a:rPr>
                        <a:t>Bran</a:t>
                      </a:r>
                      <a:endParaRPr sz="2400" b="0">
                        <a:latin typeface="+mn-lt"/>
                        <a:cs typeface="Verdana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400" b="0" spc="-155" dirty="0">
                          <a:latin typeface="+mn-lt"/>
                          <a:cs typeface="Verdana"/>
                        </a:rPr>
                        <a:t>25</a:t>
                      </a:r>
                      <a:endParaRPr sz="2400" b="0">
                        <a:latin typeface="+mn-lt"/>
                        <a:cs typeface="Verdana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83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400" b="0" spc="-155" dirty="0">
                          <a:latin typeface="+mn-lt"/>
                          <a:cs typeface="Verdana"/>
                        </a:rPr>
                        <a:t>104</a:t>
                      </a:r>
                      <a:endParaRPr sz="2400" b="0">
                        <a:latin typeface="+mn-lt"/>
                        <a:cs typeface="Verdana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400" b="0" spc="25" dirty="0">
                          <a:latin typeface="+mn-lt"/>
                          <a:cs typeface="Verdana"/>
                        </a:rPr>
                        <a:t>Jon</a:t>
                      </a:r>
                      <a:endParaRPr sz="2400" b="0">
                        <a:latin typeface="+mn-lt"/>
                        <a:cs typeface="Verdana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400" b="0" spc="-155" dirty="0">
                          <a:latin typeface="+mn-lt"/>
                          <a:cs typeface="Verdana"/>
                        </a:rPr>
                        <a:t>21</a:t>
                      </a:r>
                      <a:endParaRPr sz="2400" b="0" dirty="0">
                        <a:latin typeface="+mn-lt"/>
                        <a:cs typeface="Verdana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AF1512"/>
                      </a:solidFill>
                      <a:prstDash val="solid"/>
                    </a:lnL>
                    <a:lnR w="9525">
                      <a:solidFill>
                        <a:srgbClr val="AF1512"/>
                      </a:solidFill>
                      <a:prstDash val="solid"/>
                    </a:lnR>
                    <a:lnT w="9525">
                      <a:solidFill>
                        <a:srgbClr val="AF1512"/>
                      </a:solidFill>
                      <a:prstDash val="solid"/>
                    </a:lnT>
                    <a:lnB w="9525">
                      <a:solidFill>
                        <a:srgbClr val="AF151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114468" y="1940911"/>
            <a:ext cx="192406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+mj-lt"/>
              </a:rPr>
              <a:t>Student table: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E759F7-FE21-D60C-031A-2B938FAD14BD}"/>
              </a:ext>
            </a:extLst>
          </p:cNvPr>
          <p:cNvCxnSpPr>
            <a:cxnSpLocks/>
          </p:cNvCxnSpPr>
          <p:nvPr/>
        </p:nvCxnSpPr>
        <p:spPr>
          <a:xfrm flipH="1" flipV="1">
            <a:off x="7386128" y="5390611"/>
            <a:ext cx="701177" cy="349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0D359F-C3E9-3846-8DB7-AD3581B08C6B}"/>
              </a:ext>
            </a:extLst>
          </p:cNvPr>
          <p:cNvSpPr txBox="1"/>
          <p:nvPr/>
        </p:nvSpPr>
        <p:spPr>
          <a:xfrm>
            <a:off x="8103437" y="5628221"/>
            <a:ext cx="2072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Primary key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2E3792-997B-B08B-40C7-96693FDD8B19}"/>
              </a:ext>
            </a:extLst>
          </p:cNvPr>
          <p:cNvCxnSpPr>
            <a:cxnSpLocks/>
          </p:cNvCxnSpPr>
          <p:nvPr/>
        </p:nvCxnSpPr>
        <p:spPr>
          <a:xfrm flipH="1" flipV="1">
            <a:off x="4145163" y="6108867"/>
            <a:ext cx="666961" cy="3282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892B7B-C278-B430-2B7F-DE54CB5DF6B8}"/>
              </a:ext>
            </a:extLst>
          </p:cNvPr>
          <p:cNvSpPr txBox="1"/>
          <p:nvPr/>
        </p:nvSpPr>
        <p:spPr>
          <a:xfrm>
            <a:off x="4812124" y="6175554"/>
            <a:ext cx="2072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Foreign key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3456" y="972195"/>
            <a:ext cx="633412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55" dirty="0">
                <a:solidFill>
                  <a:schemeClr val="tx1"/>
                </a:solidFill>
              </a:rPr>
              <a:t>Candidate</a:t>
            </a:r>
            <a:r>
              <a:rPr b="1" spc="-65" dirty="0">
                <a:solidFill>
                  <a:schemeClr val="tx1"/>
                </a:solidFill>
              </a:rPr>
              <a:t>  </a:t>
            </a:r>
            <a:r>
              <a:rPr b="1" spc="-55" dirty="0">
                <a:solidFill>
                  <a:schemeClr val="tx1"/>
                </a:solidFill>
              </a:rPr>
              <a:t>Example</a:t>
            </a:r>
            <a:endParaRPr b="1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13456" y="1934589"/>
          <a:ext cx="6757035" cy="28657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304">
                <a:tc>
                  <a:txBody>
                    <a:bodyPr/>
                    <a:lstStyle/>
                    <a:p>
                      <a:pPr marL="77470" marR="393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210" dirty="0">
                          <a:latin typeface="+mn-lt"/>
                          <a:cs typeface="Tahoma"/>
                        </a:rPr>
                        <a:t>Emp_Id</a:t>
                      </a:r>
                      <a:endParaRPr sz="2400" dirty="0">
                        <a:latin typeface="+mn-lt"/>
                        <a:cs typeface="Tahom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1555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" dirty="0" err="1">
                          <a:latin typeface="+mn-lt"/>
                          <a:cs typeface="Tahoma"/>
                        </a:rPr>
                        <a:t>Emp_Num</a:t>
                      </a:r>
                      <a:r>
                        <a:rPr sz="2400" b="1" spc="-45" dirty="0" err="1">
                          <a:latin typeface="+mn-lt"/>
                          <a:cs typeface="Tahoma"/>
                        </a:rPr>
                        <a:t>ber</a:t>
                      </a:r>
                      <a:endParaRPr sz="2400" dirty="0">
                        <a:latin typeface="+mn-lt"/>
                        <a:cs typeface="Tahom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1308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" dirty="0" err="1">
                          <a:latin typeface="+mn-lt"/>
                          <a:cs typeface="Tahoma"/>
                        </a:rPr>
                        <a:t>Emp_Nam</a:t>
                      </a:r>
                      <a:r>
                        <a:rPr sz="2400" b="1" spc="150" dirty="0" err="1">
                          <a:latin typeface="+mn-lt"/>
                          <a:cs typeface="Tahoma"/>
                        </a:rPr>
                        <a:t>e</a:t>
                      </a:r>
                      <a:endParaRPr sz="2400" dirty="0">
                        <a:latin typeface="+mn-lt"/>
                        <a:cs typeface="Tahom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77470" marR="39370" indent="0">
                        <a:lnSpc>
                          <a:spcPct val="100000"/>
                        </a:lnSpc>
                        <a:spcBef>
                          <a:spcPts val="29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2400" b="1" dirty="0"/>
                        <a:t>E01</a:t>
                      </a:r>
                      <a:endParaRPr sz="2400" b="1"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/>
                        <a:t>2264</a:t>
                      </a:r>
                      <a:endParaRPr sz="2400" b="1"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/>
                        <a:t>Steve</a:t>
                      </a:r>
                      <a:endParaRPr sz="2400" b="1"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77470" marR="3937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2400" b="1" dirty="0"/>
                        <a:t>E22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/>
                        <a:t>2278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/>
                        <a:t>David</a:t>
                      </a:r>
                      <a:endParaRPr sz="2400" b="1"/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77470" marR="3937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2400" b="1" dirty="0"/>
                        <a:t>E23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/>
                        <a:t>2288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/>
                        <a:t>Joseph</a:t>
                      </a:r>
                      <a:endParaRPr sz="2400" b="1"/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2400" b="1" dirty="0"/>
                        <a:t>E45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2400" b="1" dirty="0"/>
                        <a:t>2290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/>
                        <a:t>Robert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D2825F4-5553-A424-0DC7-D5B4E78B482C}"/>
              </a:ext>
            </a:extLst>
          </p:cNvPr>
          <p:cNvSpPr txBox="1"/>
          <p:nvPr/>
        </p:nvSpPr>
        <p:spPr>
          <a:xfrm>
            <a:off x="8011236" y="2796330"/>
            <a:ext cx="3616656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b="1" dirty="0"/>
              <a:t>The candidate keys we have</a:t>
            </a:r>
            <a:endParaRPr lang="en-US" sz="2400" b="1" dirty="0">
              <a:cs typeface="Microsoft Sans Serif"/>
            </a:endParaRPr>
          </a:p>
          <a:p>
            <a:pPr marL="12700"/>
            <a:r>
              <a:rPr lang="en-US" sz="2400" b="1" spc="-110" dirty="0">
                <a:solidFill>
                  <a:srgbClr val="212325"/>
                </a:solidFill>
                <a:cs typeface="Microsoft Sans Serif"/>
              </a:rPr>
              <a:t>{</a:t>
            </a:r>
            <a:r>
              <a:rPr lang="en-US" sz="2400" b="1" spc="-110" dirty="0" err="1">
                <a:solidFill>
                  <a:srgbClr val="212325"/>
                </a:solidFill>
                <a:cs typeface="Microsoft Sans Serif"/>
              </a:rPr>
              <a:t>Emp_Id</a:t>
            </a:r>
            <a:r>
              <a:rPr lang="en-US" sz="2400" b="1" spc="-110" dirty="0">
                <a:solidFill>
                  <a:srgbClr val="212325"/>
                </a:solidFill>
                <a:cs typeface="Microsoft Sans Serif"/>
              </a:rPr>
              <a:t>}</a:t>
            </a:r>
            <a:endParaRPr lang="en-US" sz="2400" b="1" dirty="0">
              <a:cs typeface="Microsoft Sans Serif"/>
            </a:endParaRPr>
          </a:p>
          <a:p>
            <a:pPr marL="12700"/>
            <a:r>
              <a:rPr lang="en-US" sz="2400" b="1" spc="-145" dirty="0">
                <a:solidFill>
                  <a:srgbClr val="212325"/>
                </a:solidFill>
                <a:cs typeface="Microsoft Sans Serif"/>
              </a:rPr>
              <a:t>{</a:t>
            </a:r>
            <a:r>
              <a:rPr lang="en-US" sz="2400" b="1" spc="-145" dirty="0" err="1">
                <a:solidFill>
                  <a:srgbClr val="212325"/>
                </a:solidFill>
                <a:cs typeface="Microsoft Sans Serif"/>
              </a:rPr>
              <a:t>Emp_Number</a:t>
            </a:r>
            <a:r>
              <a:rPr lang="en-US" sz="2400" b="1" spc="-145" dirty="0">
                <a:solidFill>
                  <a:srgbClr val="212325"/>
                </a:solidFill>
                <a:cs typeface="Microsoft Sans Serif"/>
              </a:rPr>
              <a:t>}</a:t>
            </a:r>
            <a:endParaRPr lang="en-US" sz="2400" b="1" dirty="0"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7595" y="714982"/>
            <a:ext cx="501840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65" dirty="0">
                <a:solidFill>
                  <a:schemeClr val="tx1"/>
                </a:solidFill>
              </a:rPr>
              <a:t>Super</a:t>
            </a:r>
            <a:r>
              <a:rPr b="1" spc="-100" dirty="0">
                <a:solidFill>
                  <a:schemeClr val="tx1"/>
                </a:solidFill>
              </a:rPr>
              <a:t> </a:t>
            </a:r>
            <a:r>
              <a:rPr b="1" spc="-40" dirty="0">
                <a:solidFill>
                  <a:schemeClr val="tx1"/>
                </a:solidFill>
              </a:rPr>
              <a:t>Key</a:t>
            </a:r>
            <a:r>
              <a:rPr b="1" spc="-9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77595" y="1569493"/>
          <a:ext cx="10004388" cy="25521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4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4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37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/>
                        <a:t>Emp_Id</a:t>
                      </a: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1568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 err="1"/>
                        <a:t>Emp_Number</a:t>
                      </a:r>
                      <a:endParaRPr sz="2400" b="1" dirty="0"/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1320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 err="1"/>
                        <a:t>Emp_Name</a:t>
                      </a:r>
                      <a:endParaRPr sz="2400" b="1" dirty="0"/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33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E01</a:t>
                      </a: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2264</a:t>
                      </a: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Steve</a:t>
                      </a:r>
                      <a:endParaRPr sz="24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3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E22</a:t>
                      </a:r>
                      <a:endParaRPr sz="24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2278</a:t>
                      </a:r>
                      <a:endParaRPr sz="24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David</a:t>
                      </a:r>
                      <a:endParaRPr sz="24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33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E23</a:t>
                      </a:r>
                      <a:endParaRPr sz="24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2288</a:t>
                      </a:r>
                      <a:endParaRPr sz="24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Joseph</a:t>
                      </a:r>
                      <a:endParaRPr sz="24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74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E45</a:t>
                      </a:r>
                      <a:endParaRPr sz="24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2290</a:t>
                      </a:r>
                      <a:endParaRPr sz="24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Robert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77595" y="4283535"/>
            <a:ext cx="664703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How many super keys the above table can have?</a:t>
            </a:r>
          </a:p>
          <a:p>
            <a:pPr marL="242570" indent="-230504">
              <a:spcBef>
                <a:spcPts val="5"/>
              </a:spcBef>
              <a:buAutoNum type="arabicPeriod"/>
              <a:tabLst>
                <a:tab pos="243204" algn="l"/>
              </a:tabLst>
            </a:pPr>
            <a:r>
              <a:rPr sz="2400" dirty="0"/>
              <a:t>{Emp_Id, Emp_Number}</a:t>
            </a:r>
          </a:p>
          <a:p>
            <a:pPr marL="242570" indent="-230504">
              <a:buAutoNum type="arabicPeriod"/>
              <a:tabLst>
                <a:tab pos="243204" algn="l"/>
              </a:tabLst>
            </a:pPr>
            <a:r>
              <a:rPr sz="2400" dirty="0"/>
              <a:t>{Emp_Id, Emp_Name}</a:t>
            </a:r>
          </a:p>
          <a:p>
            <a:pPr marL="242570" indent="-230504">
              <a:buAutoNum type="arabicPeriod"/>
              <a:tabLst>
                <a:tab pos="243204" algn="l"/>
              </a:tabLst>
            </a:pPr>
            <a:r>
              <a:rPr sz="2400" dirty="0"/>
              <a:t>{Emp_Id, Emp_Number, Emp_Name}</a:t>
            </a:r>
          </a:p>
          <a:p>
            <a:pPr marL="242570" indent="-230504">
              <a:buAutoNum type="arabicPeriod"/>
              <a:tabLst>
                <a:tab pos="243204" algn="l"/>
              </a:tabLst>
            </a:pPr>
            <a:r>
              <a:rPr sz="2400" dirty="0"/>
              <a:t>{Emp_Number, Emp_Name}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894</TotalTime>
  <Words>1136</Words>
  <Application>Microsoft Office PowerPoint</Application>
  <PresentationFormat>Widescreen</PresentationFormat>
  <Paragraphs>187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Microsoft Sans Serif</vt:lpstr>
      <vt:lpstr>Tahoma</vt:lpstr>
      <vt:lpstr>Times New Roman</vt:lpstr>
      <vt:lpstr>Verdana</vt:lpstr>
      <vt:lpstr>Retrospect</vt:lpstr>
      <vt:lpstr> Database Systems</vt:lpstr>
      <vt:lpstr>DBMS Formal terms</vt:lpstr>
      <vt:lpstr>Relational Model  Concepts</vt:lpstr>
      <vt:lpstr>PowerPoint Presentation</vt:lpstr>
      <vt:lpstr>Relational Model  Concepts</vt:lpstr>
      <vt:lpstr>Formal Definition of  Relation</vt:lpstr>
      <vt:lpstr>Example of a Relation</vt:lpstr>
      <vt:lpstr>Relation Definition Using  set theory</vt:lpstr>
      <vt:lpstr>PowerPoint Presentation</vt:lpstr>
      <vt:lpstr>Characteristics of Relations</vt:lpstr>
      <vt:lpstr>Characteristics of Relations</vt:lpstr>
      <vt:lpstr>Characteristics of Relations</vt:lpstr>
      <vt:lpstr>Relational Model  Constraints</vt:lpstr>
      <vt:lpstr>Relational Model  Constraints</vt:lpstr>
      <vt:lpstr>Key Constraints</vt:lpstr>
      <vt:lpstr>Primary Key Examples</vt:lpstr>
      <vt:lpstr>Foreign Key Example</vt:lpstr>
      <vt:lpstr>Candidate  Example</vt:lpstr>
      <vt:lpstr>Super Key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46</cp:revision>
  <dcterms:created xsi:type="dcterms:W3CDTF">2024-08-09T06:58:16Z</dcterms:created>
  <dcterms:modified xsi:type="dcterms:W3CDTF">2024-09-06T04:21:53Z</dcterms:modified>
</cp:coreProperties>
</file>