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523" r:id="rId3"/>
    <p:sldId id="260" r:id="rId4"/>
    <p:sldId id="261" r:id="rId5"/>
    <p:sldId id="515" r:id="rId6"/>
    <p:sldId id="498" r:id="rId7"/>
    <p:sldId id="280" r:id="rId8"/>
    <p:sldId id="499" r:id="rId9"/>
    <p:sldId id="500" r:id="rId10"/>
    <p:sldId id="503" r:id="rId11"/>
    <p:sldId id="504" r:id="rId12"/>
    <p:sldId id="505" r:id="rId13"/>
    <p:sldId id="506" r:id="rId14"/>
    <p:sldId id="514" r:id="rId15"/>
    <p:sldId id="508" r:id="rId16"/>
    <p:sldId id="509" r:id="rId17"/>
    <p:sldId id="512" r:id="rId18"/>
    <p:sldId id="513" r:id="rId19"/>
    <p:sldId id="279"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016" autoAdjust="0"/>
  </p:normalViewPr>
  <p:slideViewPr>
    <p:cSldViewPr snapToGrid="0">
      <p:cViewPr varScale="1">
        <p:scale>
          <a:sx n="83" d="100"/>
          <a:sy n="83" d="100"/>
        </p:scale>
        <p:origin x="23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B90151-A221-46B3-A769-373FDD9A38FB}" type="datetimeFigureOut">
              <a:rPr lang="en-US" smtClean="0"/>
              <a:t>8/19/2024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BEA5B-0F90-491B-8570-2B3910989086}" type="slidenum">
              <a:rPr lang="en-US" smtClean="0"/>
              <a:t>‹#›</a:t>
            </a:fld>
            <a:endParaRPr lang="en-US"/>
          </a:p>
        </p:txBody>
      </p:sp>
    </p:spTree>
    <p:extLst>
      <p:ext uri="{BB962C8B-B14F-4D97-AF65-F5344CB8AC3E}">
        <p14:creationId xmlns:p14="http://schemas.microsoft.com/office/powerpoint/2010/main" val="3016135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a:t>
            </a:fld>
            <a:endParaRPr lang="en-US"/>
          </a:p>
        </p:txBody>
      </p:sp>
    </p:spTree>
    <p:extLst>
      <p:ext uri="{BB962C8B-B14F-4D97-AF65-F5344CB8AC3E}">
        <p14:creationId xmlns:p14="http://schemas.microsoft.com/office/powerpoint/2010/main" val="2600137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Separation and isolation of data </a:t>
            </a:r>
          </a:p>
          <a:p>
            <a:r>
              <a:rPr lang="en-US" dirty="0"/>
              <a:t>Duplication of data </a:t>
            </a:r>
          </a:p>
          <a:p>
            <a:r>
              <a:rPr lang="en-US" dirty="0"/>
              <a:t>Data dependence </a:t>
            </a:r>
          </a:p>
          <a:p>
            <a:r>
              <a:rPr lang="en-US" dirty="0"/>
              <a:t>Incompatible file formats</a:t>
            </a:r>
          </a:p>
          <a:p>
            <a:endParaRPr lang="en-US" dirty="0"/>
          </a:p>
          <a:p>
            <a:r>
              <a:rPr lang="en-US" dirty="0"/>
              <a:t>From the end-user’s point of view, file-based systems were a great improvement over manual systems. Consequently, the requirement for new or modified queries grew.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Fixed queries</a:t>
            </a:r>
          </a:p>
          <a:p>
            <a:r>
              <a:rPr lang="en-US" dirty="0"/>
              <a:t>However, file-based systems are very dependent upon the application developer, who has to write any queries or reports that are required. As a result, two things happened. In some organizations, the type of query or report that could be produced was fixed. There was no facility for asking unplanned (that is, spur-</a:t>
            </a:r>
            <a:r>
              <a:rPr lang="en-US" dirty="0" err="1"/>
              <a:t>ofthe</a:t>
            </a:r>
            <a:r>
              <a:rPr lang="en-US" dirty="0"/>
              <a:t>-moment or ad hoc) queries either about the data itself or about which types of data were available. In other organizations, there was a proliferation of files and application programs. Eventually, this reached a point where the DP Department, with its existing resources, could not handle all the work. This put tremendous pressure on the DP staff, resulting in programs that were inadequate or inefficient in meeting the demands of the users, limited documentation, and difficult maintenance. Often, certain types of functionality were omitted: • There was no provision for security or integrity. • Recovery, in the event of a hardware or software failure, was limited or nonexistent. • Access to the files was restricted to one user at a time—there was no provision for shared access by staff in the same department. In either case, the outcome was unacceptable. Another solution was required.</a:t>
            </a:r>
          </a:p>
        </p:txBody>
      </p:sp>
      <p:sp>
        <p:nvSpPr>
          <p:cNvPr id="4" name="Slide Number Placeholder 3"/>
          <p:cNvSpPr>
            <a:spLocks noGrp="1"/>
          </p:cNvSpPr>
          <p:nvPr>
            <p:ph type="sldNum" sz="quarter" idx="5"/>
          </p:nvPr>
        </p:nvSpPr>
        <p:spPr/>
        <p:txBody>
          <a:bodyPr/>
          <a:lstStyle/>
          <a:p>
            <a:fld id="{59C60BA7-1DBA-4DDA-BCCB-6F5B4774994B}" type="slidenum">
              <a:rPr lang="en-US" smtClean="0"/>
              <a:t>5</a:t>
            </a:fld>
            <a:endParaRPr lang="en-US"/>
          </a:p>
        </p:txBody>
      </p:sp>
    </p:spTree>
    <p:extLst>
      <p:ext uri="{BB962C8B-B14F-4D97-AF65-F5344CB8AC3E}">
        <p14:creationId xmlns:p14="http://schemas.microsoft.com/office/powerpoint/2010/main" val="26926041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application program accesses the database by sending queries or requests for</a:t>
            </a:r>
            <a:r>
              <a:rPr lang="en-US" baseline="0" dirty="0"/>
              <a:t> </a:t>
            </a:r>
            <a:r>
              <a:rPr lang="en-US" dirty="0"/>
              <a:t>data to the DBMS. A query2 typically causes some data to be retrieved; a transaction</a:t>
            </a:r>
            <a:r>
              <a:rPr lang="en-US" baseline="0" dirty="0"/>
              <a:t> </a:t>
            </a:r>
            <a:r>
              <a:rPr lang="en-US" dirty="0"/>
              <a:t>may cause some data to be read and some data to be written into the database.</a:t>
            </a:r>
          </a:p>
          <a:p>
            <a:r>
              <a:rPr lang="en-US" dirty="0"/>
              <a:t>Other important functions provided by the DBMS include protecting the database</a:t>
            </a:r>
            <a:r>
              <a:rPr lang="en-US" baseline="0" dirty="0"/>
              <a:t> </a:t>
            </a:r>
            <a:r>
              <a:rPr lang="en-US" dirty="0"/>
              <a:t>and maintaining it over a long period of time. </a:t>
            </a:r>
          </a:p>
          <a:p>
            <a:endParaRPr lang="en-US" dirty="0"/>
          </a:p>
          <a:p>
            <a:r>
              <a:rPr lang="en-US" b="1" dirty="0"/>
              <a:t>Protection</a:t>
            </a:r>
            <a:r>
              <a:rPr lang="en-US" dirty="0"/>
              <a:t> includes system protection</a:t>
            </a:r>
            <a:r>
              <a:rPr lang="en-US" baseline="0" dirty="0"/>
              <a:t> </a:t>
            </a:r>
            <a:r>
              <a:rPr lang="en-US" dirty="0"/>
              <a:t>against hardware or software malfunction (or crashes) and security protection</a:t>
            </a:r>
            <a:r>
              <a:rPr lang="en-US" baseline="0" dirty="0"/>
              <a:t> </a:t>
            </a:r>
            <a:r>
              <a:rPr lang="en-US" dirty="0"/>
              <a:t>against unauthorized or malicious access. </a:t>
            </a:r>
          </a:p>
          <a:p>
            <a:r>
              <a:rPr lang="en-US" dirty="0"/>
              <a:t>A typical large database may have a life</a:t>
            </a:r>
            <a:r>
              <a:rPr lang="en-US" baseline="0" dirty="0"/>
              <a:t> </a:t>
            </a:r>
            <a:r>
              <a:rPr lang="en-US" dirty="0"/>
              <a:t>cycle of many years, so the DBMS must be able to maintain the database system by</a:t>
            </a:r>
            <a:r>
              <a:rPr lang="en-US" baseline="0" dirty="0"/>
              <a:t> </a:t>
            </a:r>
            <a:r>
              <a:rPr lang="en-US" dirty="0"/>
              <a:t>allowing the system to evolve as requirements change over time.</a:t>
            </a:r>
          </a:p>
          <a:p>
            <a:endParaRPr lang="en-US" dirty="0"/>
          </a:p>
          <a:p>
            <a:r>
              <a:rPr lang="en-US" dirty="0"/>
              <a:t>It is not absolutely necessary to use general-purpose DBMS software to implement</a:t>
            </a:r>
            <a:r>
              <a:rPr lang="en-US" baseline="0" dirty="0"/>
              <a:t> </a:t>
            </a:r>
            <a:r>
              <a:rPr lang="en-US" dirty="0"/>
              <a:t>a computerized database. It is possible to write a customized set of programs to create</a:t>
            </a:r>
            <a:r>
              <a:rPr lang="en-US" baseline="0" dirty="0"/>
              <a:t> </a:t>
            </a:r>
            <a:r>
              <a:rPr lang="en-US" dirty="0"/>
              <a:t>and maintain the database, in effect creating a special-purpose DBMS software</a:t>
            </a:r>
            <a:r>
              <a:rPr lang="en-US" baseline="0" dirty="0"/>
              <a:t> </a:t>
            </a:r>
            <a:r>
              <a:rPr lang="en-US" dirty="0"/>
              <a:t>for a specific application, </a:t>
            </a:r>
            <a:r>
              <a:rPr lang="en-US" b="1" dirty="0"/>
              <a:t>such as airlines reservations.</a:t>
            </a:r>
            <a:r>
              <a:rPr lang="en-US" dirty="0"/>
              <a:t> In either case—whether we</a:t>
            </a:r>
            <a:r>
              <a:rPr lang="en-US" baseline="0" dirty="0"/>
              <a:t> </a:t>
            </a:r>
            <a:r>
              <a:rPr lang="en-US" dirty="0"/>
              <a:t>use a general-purpose DBMS or not—a considerable amount of complex software</a:t>
            </a:r>
            <a:r>
              <a:rPr lang="en-US" baseline="0" dirty="0"/>
              <a:t> </a:t>
            </a:r>
            <a:r>
              <a:rPr lang="en-US" dirty="0"/>
              <a:t>is deployed. </a:t>
            </a:r>
            <a:r>
              <a:rPr lang="en-US" baseline="0" dirty="0"/>
              <a:t> </a:t>
            </a:r>
            <a:r>
              <a:rPr lang="en-US" dirty="0"/>
              <a:t>In fact, most DBMSs are very complex software systems.</a:t>
            </a:r>
          </a:p>
          <a:p>
            <a:endParaRPr lang="en-US" dirty="0"/>
          </a:p>
          <a:p>
            <a:endParaRPr lang="en-US" dirty="0"/>
          </a:p>
          <a:p>
            <a:endParaRPr lang="en-US" dirty="0"/>
          </a:p>
          <a:p>
            <a:r>
              <a:rPr lang="en-US" dirty="0"/>
              <a:t>Protection includes system protection</a:t>
            </a:r>
          </a:p>
          <a:p>
            <a:r>
              <a:rPr lang="en-US" dirty="0"/>
              <a:t>against hardware or software malfunction (or crashes) and security protection</a:t>
            </a:r>
          </a:p>
          <a:p>
            <a:r>
              <a:rPr lang="en-US" dirty="0"/>
              <a:t>against unauthorized or malicious access.</a:t>
            </a:r>
          </a:p>
        </p:txBody>
      </p:sp>
      <p:sp>
        <p:nvSpPr>
          <p:cNvPr id="4" name="Slide Number Placeholder 3"/>
          <p:cNvSpPr>
            <a:spLocks noGrp="1"/>
          </p:cNvSpPr>
          <p:nvPr>
            <p:ph type="sldNum" sz="quarter" idx="10"/>
          </p:nvPr>
        </p:nvSpPr>
        <p:spPr/>
        <p:txBody>
          <a:bodyPr/>
          <a:lstStyle/>
          <a:p>
            <a:fld id="{59C60BA7-1DBA-4DDA-BCCB-6F5B4774994B}" type="slidenum">
              <a:rPr lang="en-US" smtClean="0"/>
              <a:t>9</a:t>
            </a:fld>
            <a:endParaRPr lang="en-US"/>
          </a:p>
        </p:txBody>
      </p:sp>
    </p:spTree>
    <p:extLst>
      <p:ext uri="{BB962C8B-B14F-4D97-AF65-F5344CB8AC3E}">
        <p14:creationId xmlns:p14="http://schemas.microsoft.com/office/powerpoint/2010/main" val="23561145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is organized as five files, each of which </a:t>
            </a:r>
            <a:r>
              <a:rPr lang="en-US" sz="1200" b="0" i="0" u="none" strike="noStrike" kern="1200" baseline="0" dirty="0">
                <a:solidFill>
                  <a:schemeClr val="tx1"/>
                </a:solidFill>
                <a:latin typeface="+mn-lt"/>
                <a:ea typeface="+mn-ea"/>
                <a:cs typeface="+mn-cs"/>
              </a:rPr>
              <a:t>stores </a:t>
            </a:r>
            <a:r>
              <a:rPr lang="en-US" sz="1200" b="1" i="0" u="none" strike="noStrike" kern="1200" baseline="0" dirty="0">
                <a:solidFill>
                  <a:schemeClr val="tx1"/>
                </a:solidFill>
                <a:latin typeface="+mn-lt"/>
                <a:ea typeface="+mn-ea"/>
                <a:cs typeface="+mn-cs"/>
              </a:rPr>
              <a:t>data records </a:t>
            </a:r>
            <a:r>
              <a:rPr lang="en-US" sz="1200" b="0" i="0" u="none" strike="noStrike" kern="1200" baseline="0" dirty="0">
                <a:solidFill>
                  <a:schemeClr val="tx1"/>
                </a:solidFill>
                <a:latin typeface="+mn-lt"/>
                <a:ea typeface="+mn-ea"/>
                <a:cs typeface="+mn-cs"/>
              </a:rPr>
              <a:t>of the same type.</a:t>
            </a:r>
            <a:endParaRPr lang="en-US" dirty="0"/>
          </a:p>
        </p:txBody>
      </p:sp>
      <p:sp>
        <p:nvSpPr>
          <p:cNvPr id="4" name="Slide Number Placeholder 3"/>
          <p:cNvSpPr>
            <a:spLocks noGrp="1"/>
          </p:cNvSpPr>
          <p:nvPr>
            <p:ph type="sldNum" sz="quarter" idx="10"/>
          </p:nvPr>
        </p:nvSpPr>
        <p:spPr/>
        <p:txBody>
          <a:bodyPr/>
          <a:lstStyle/>
          <a:p>
            <a:fld id="{59C60BA7-1DBA-4DDA-BCCB-6F5B4774994B}" type="slidenum">
              <a:rPr lang="en-US" smtClean="0"/>
              <a:t>12</a:t>
            </a:fld>
            <a:endParaRPr lang="en-US"/>
          </a:p>
        </p:txBody>
      </p:sp>
    </p:spTree>
    <p:extLst>
      <p:ext uri="{BB962C8B-B14F-4D97-AF65-F5344CB8AC3E}">
        <p14:creationId xmlns:p14="http://schemas.microsoft.com/office/powerpoint/2010/main" val="7652386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catalog is used by the DBMS software and also by database users who need information about the database structure. A general-purpose DBMS software package is not written for a specific database application. Therefore, it must refer to the catalog to know the structure of the files in a specific database, such as the type and format of data it will access. The DBMS software must work equally well with any number of database applications—for example, a university database, a </a:t>
            </a:r>
            <a:r>
              <a:rPr lang="en-US" sz="1200" b="0" i="0" u="none" strike="noStrike" kern="1200" baseline="0" dirty="0">
                <a:solidFill>
                  <a:schemeClr val="tx1"/>
                </a:solidFill>
                <a:latin typeface="+mn-lt"/>
                <a:ea typeface="+mn-ea"/>
                <a:cs typeface="+mn-cs"/>
              </a:rPr>
              <a:t>banking database, or a company database—as long as the database definition is stored in the catalog.</a:t>
            </a:r>
          </a:p>
          <a:p>
            <a:r>
              <a:rPr lang="en-US" dirty="0"/>
              <a:t>In traditional file processing, data definition is typically part of the application programs themselves. Hence, these programs are constrained to work with only one specific database, whose structure is declared in the application programs. For example, an application program written in C++ may have </a:t>
            </a:r>
            <a:r>
              <a:rPr lang="en-US" dirty="0" err="1"/>
              <a:t>struct</a:t>
            </a:r>
            <a:r>
              <a:rPr lang="en-US" dirty="0"/>
              <a:t> or class declarations. Whereas file-processing software can access only specific databases, DBMS software can access diverse databases by extracting the database definitions from the catalog and using these definitions.</a:t>
            </a:r>
          </a:p>
          <a:p>
            <a:r>
              <a:rPr lang="en-US" dirty="0"/>
              <a:t>For the example shown in Figure 1.2, the DBMS catalog will store the definitions of all the files shown. Figure 1.3 shows some entries in a database catalog. Whenever a request is made to access, say, the Name of a STUDENT record, the DBMS software refers to the catalog to determine the structure of the STUDENT file and the position and size of the Name data item within a STUDENT record. By contrast, in a typical file-processing application, the file structure and, in the extreme case, the exact location of Name within a STUDENT record are already coded within each program that accesses this data item.</a:t>
            </a:r>
            <a:endParaRPr lang="en-US" sz="1200" b="0" i="0" u="none" strike="noStrike"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59C60BA7-1DBA-4DDA-BCCB-6F5B4774994B}" type="slidenum">
              <a:rPr lang="en-US" smtClean="0"/>
              <a:t>13</a:t>
            </a:fld>
            <a:endParaRPr lang="en-US"/>
          </a:p>
        </p:txBody>
      </p:sp>
    </p:spTree>
    <p:extLst>
      <p:ext uri="{BB962C8B-B14F-4D97-AF65-F5344CB8AC3E}">
        <p14:creationId xmlns:p14="http://schemas.microsoft.com/office/powerpoint/2010/main" val="8707582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traditional file processing, the structure of data files is embedded in the application programs, so any changes to the structure of a file may require changing all programs that access that file. By contrast, DBMS access programs do not require such changes in most cases. The structure of data files is stored in the DBMS catalog separately from the access programs. We call this </a:t>
            </a:r>
            <a:r>
              <a:rPr lang="en-US" b="0" dirty="0"/>
              <a:t>property</a:t>
            </a:r>
            <a:r>
              <a:rPr lang="en-US" b="1" dirty="0"/>
              <a:t> program-data independence</a:t>
            </a:r>
            <a:r>
              <a:rPr lang="en-US" dirty="0"/>
              <a:t>. </a:t>
            </a:r>
          </a:p>
          <a:p>
            <a:endParaRPr lang="en-US" dirty="0"/>
          </a:p>
          <a:p>
            <a:r>
              <a:rPr lang="en-US" dirty="0"/>
              <a:t>For example, a file access program may be written in such a way that it can access only STUDENT records of the structure shown in Figure 1.4. If we want to add another piece of data to each STUDENT record, say the </a:t>
            </a:r>
            <a:r>
              <a:rPr lang="en-US" dirty="0" err="1"/>
              <a:t>Birth_date</a:t>
            </a:r>
            <a:r>
              <a:rPr lang="en-US" dirty="0"/>
              <a:t>, such a program will no longer work and must be changed. By contrast, in a DBMS environment, we only need to change the description of STUDENT records in the catalog (Figure 1.3) to reflect the inclusion of the new data item </a:t>
            </a:r>
            <a:r>
              <a:rPr lang="en-US" dirty="0" err="1"/>
              <a:t>Birth_date</a:t>
            </a:r>
            <a:r>
              <a:rPr lang="en-US" dirty="0"/>
              <a:t>; no programs are changed. The next time a DBMS program refers to the catalog, the new structure of STUDENT records will be accessed and used. </a:t>
            </a:r>
          </a:p>
          <a:p>
            <a:endParaRPr lang="en-US" dirty="0"/>
          </a:p>
          <a:p>
            <a:r>
              <a:rPr lang="en-US" dirty="0"/>
              <a:t>In some types of database systems, such as object-oriented and object-relational systems users can define operations on data as part of the database definitions. An operation (also called a function or method) is specified in two parts. The interface (or signature) of an operation includes the operation name and the data types of its arguments (or parameters). The implementation (or method) of the operation is specified separately and can be changed without affecting the interface. User application programs can operate on the data by invoking these operations through their names and arguments, regardless of how the operations are implemented. This may be termed program-operation independence. The characteristic that allows program-data independence and program-operation independence is called data abstraction. </a:t>
            </a:r>
          </a:p>
          <a:p>
            <a:endParaRPr lang="en-US" dirty="0"/>
          </a:p>
          <a:p>
            <a:r>
              <a:rPr lang="en-US" dirty="0"/>
              <a:t>A DBMS provides users with a conceptual representation of data that does not include many of the details of how the data is stored or how the operations are implemented. Informally, a data model is a type of data abstraction that is used to provide this conceptual representation. The data model uses logical concepts, such as objects, their properties, and their interrelationships, that may be easier for most users to understand than computer storage concepts. Hence, the data model hides storage and implementation details that are not of interest to most database users. </a:t>
            </a:r>
          </a:p>
        </p:txBody>
      </p:sp>
      <p:sp>
        <p:nvSpPr>
          <p:cNvPr id="4" name="Slide Number Placeholder 3"/>
          <p:cNvSpPr>
            <a:spLocks noGrp="1"/>
          </p:cNvSpPr>
          <p:nvPr>
            <p:ph type="sldNum" sz="quarter" idx="10"/>
          </p:nvPr>
        </p:nvSpPr>
        <p:spPr/>
        <p:txBody>
          <a:bodyPr/>
          <a:lstStyle/>
          <a:p>
            <a:fld id="{59C60BA7-1DBA-4DDA-BCCB-6F5B4774994B}" type="slidenum">
              <a:rPr lang="en-US" smtClean="0"/>
              <a:t>15</a:t>
            </a:fld>
            <a:endParaRPr lang="en-US"/>
          </a:p>
        </p:txBody>
      </p:sp>
    </p:spTree>
    <p:extLst>
      <p:ext uri="{BB962C8B-B14F-4D97-AF65-F5344CB8AC3E}">
        <p14:creationId xmlns:p14="http://schemas.microsoft.com/office/powerpoint/2010/main" val="31008279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the example in Figures 1.2 and 1.3, the internal implementation of the STUDENT file may be defined by its record length—the number of characters (bytes) in each record—and each data item may be specified by its starting byte within a record and its length in bytes. The STUDENT record would thus be represented as shown in Figure 1.4. But a typical database user is not concerned with the location of each data item within a record or its length; rather, the user is concerned that when a reference is made to Name of STUDENT, the correct value is returned. A conceptual representation of the STUDENT records is shown in Figure 1.2. Many other details of file storage organization—such as the access paths specified on a </a:t>
            </a:r>
          </a:p>
          <a:p>
            <a:r>
              <a:rPr lang="en-US" dirty="0"/>
              <a:t>file—can be hidden from database users by the DBMS.</a:t>
            </a:r>
          </a:p>
          <a:p>
            <a:r>
              <a:rPr lang="en-US" dirty="0"/>
              <a:t> In the database approach, the detailed structure and organization of each file are stored in the catalog. Database users and application programs refer to the conceptual representation of the files, and the DBMS extracts the details of file storage from the catalog when these are needed by the DBMS file access modules. Many data models can be used to provide this data abstraction to database users.</a:t>
            </a:r>
          </a:p>
          <a:p>
            <a:endParaRPr lang="en-US" dirty="0"/>
          </a:p>
          <a:p>
            <a:r>
              <a:rPr lang="en-US" dirty="0"/>
              <a:t>. In object-oriented and object-relational databases, the abstraction process includes not only the data structure but also the operations on the data. These operations provide an abstraction of </a:t>
            </a:r>
            <a:r>
              <a:rPr lang="en-US" dirty="0" err="1"/>
              <a:t>miniworld</a:t>
            </a:r>
            <a:r>
              <a:rPr lang="en-US" dirty="0"/>
              <a:t> activities commonly understood by the users. For example, an operation CALCULATE_GPA can be applied to a STUDENT object to calculate the grade point average. Such operations can be invoked by the user queries or application programs without having to know the details of how the operations are implemented.</a:t>
            </a:r>
          </a:p>
        </p:txBody>
      </p:sp>
      <p:sp>
        <p:nvSpPr>
          <p:cNvPr id="4" name="Slide Number Placeholder 3"/>
          <p:cNvSpPr>
            <a:spLocks noGrp="1"/>
          </p:cNvSpPr>
          <p:nvPr>
            <p:ph type="sldNum" sz="quarter" idx="10"/>
          </p:nvPr>
        </p:nvSpPr>
        <p:spPr/>
        <p:txBody>
          <a:bodyPr/>
          <a:lstStyle/>
          <a:p>
            <a:fld id="{59C60BA7-1DBA-4DDA-BCCB-6F5B4774994B}" type="slidenum">
              <a:rPr lang="en-US" smtClean="0"/>
              <a:t>16</a:t>
            </a:fld>
            <a:endParaRPr lang="en-US"/>
          </a:p>
        </p:txBody>
      </p:sp>
    </p:spTree>
    <p:extLst>
      <p:ext uri="{BB962C8B-B14F-4D97-AF65-F5344CB8AC3E}">
        <p14:creationId xmlns:p14="http://schemas.microsoft.com/office/powerpoint/2010/main" val="11507246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example,</a:t>
            </a:r>
            <a:r>
              <a:rPr lang="en-US" baseline="0" dirty="0"/>
              <a:t> </a:t>
            </a:r>
            <a:r>
              <a:rPr lang="en-US" dirty="0"/>
              <a:t>when several reservation agents try to assign a seat on an airline flight, the</a:t>
            </a:r>
            <a:r>
              <a:rPr lang="en-US" baseline="0" dirty="0"/>
              <a:t> </a:t>
            </a:r>
            <a:r>
              <a:rPr lang="en-US" dirty="0"/>
              <a:t>DBMS should ensure that each seat can be accessed by only one agent at a time for</a:t>
            </a:r>
            <a:r>
              <a:rPr lang="en-US" baseline="0" dirty="0"/>
              <a:t> </a:t>
            </a:r>
            <a:r>
              <a:rPr lang="en-US" dirty="0"/>
              <a:t>assignment to a passenger. These types of applications are generally called online</a:t>
            </a:r>
            <a:r>
              <a:rPr lang="en-US" baseline="0" dirty="0"/>
              <a:t> </a:t>
            </a:r>
            <a:r>
              <a:rPr lang="en-US" dirty="0"/>
              <a:t>transaction processing (OLTP) applications. </a:t>
            </a:r>
          </a:p>
          <a:p>
            <a:r>
              <a:rPr lang="en-US" dirty="0"/>
              <a:t>A fundamental role of multiuser DBMS software is to ensure that concurrent transactions operate correctly and efficiently. The concept of a transaction has become central to many database applications. A transaction is an executing program or process that includes one or more database accesses, such as reading or updating of database records. Each transaction is supposed to execute a logically correct database access if executed in its entirety without interference from other transactions. </a:t>
            </a:r>
          </a:p>
          <a:p>
            <a:endParaRPr lang="en-US" dirty="0"/>
          </a:p>
          <a:p>
            <a:endParaRPr lang="en-US" dirty="0"/>
          </a:p>
          <a:p>
            <a:r>
              <a:rPr lang="en-US" b="1" dirty="0"/>
              <a:t>The DBMS must enforce several transaction properties. The isolation property ensures that each transaction appears to execute in isolation from other transactions, even though hundreds of transactions may be executing concurrently. The atomicity property ensures that either all the database operations in a transaction are executed or none are</a:t>
            </a:r>
          </a:p>
        </p:txBody>
      </p:sp>
      <p:sp>
        <p:nvSpPr>
          <p:cNvPr id="4" name="Slide Number Placeholder 3"/>
          <p:cNvSpPr>
            <a:spLocks noGrp="1"/>
          </p:cNvSpPr>
          <p:nvPr>
            <p:ph type="sldNum" sz="quarter" idx="10"/>
          </p:nvPr>
        </p:nvSpPr>
        <p:spPr/>
        <p:txBody>
          <a:bodyPr/>
          <a:lstStyle/>
          <a:p>
            <a:fld id="{59C60BA7-1DBA-4DDA-BCCB-6F5B4774994B}" type="slidenum">
              <a:rPr lang="en-US" smtClean="0"/>
              <a:t>18</a:t>
            </a:fld>
            <a:endParaRPr lang="en-US"/>
          </a:p>
        </p:txBody>
      </p:sp>
    </p:spTree>
    <p:extLst>
      <p:ext uri="{BB962C8B-B14F-4D97-AF65-F5344CB8AC3E}">
        <p14:creationId xmlns:p14="http://schemas.microsoft.com/office/powerpoint/2010/main" val="17784224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54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573694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9B51B5-5729-4227-8149-0FFB0D6660E2}" type="datetimeFigureOut">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70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9B51B5-5729-4227-8149-0FFB0D6660E2}" type="datetimeFigureOut">
              <a:rPr lang="en-US" smtClean="0"/>
              <a:t>8/19/2024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65086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9B51B5-5729-4227-8149-0FFB0D6660E2}" type="datetimeFigureOut">
              <a:rPr lang="en-US" smtClean="0"/>
              <a:t>8/19/2024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3971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9B51B5-5729-4227-8149-0FFB0D6660E2}" type="datetimeFigureOut">
              <a:rPr lang="en-US" smtClean="0"/>
              <a:t>8/19/2024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34118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9B51B5-5729-4227-8149-0FFB0D6660E2}" type="datetimeFigureOut">
              <a:rPr lang="en-US" smtClean="0"/>
              <a:t>8/19/2024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194977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69B51B5-5729-4227-8149-0FFB0D6660E2}" type="datetimeFigureOut">
              <a:rPr lang="en-US" smtClean="0"/>
              <a:t>8/19/2024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47AE719-0370-4FEF-9E76-542079ADE761}" type="slidenum">
              <a:rPr lang="en-US" smtClean="0"/>
              <a:t>‹#›</a:t>
            </a:fld>
            <a:endParaRPr lang="en-US"/>
          </a:p>
        </p:txBody>
      </p:sp>
    </p:spTree>
    <p:extLst>
      <p:ext uri="{BB962C8B-B14F-4D97-AF65-F5344CB8AC3E}">
        <p14:creationId xmlns:p14="http://schemas.microsoft.com/office/powerpoint/2010/main" val="3396684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9B51B5-5729-4227-8149-0FFB0D6660E2}" type="datetimeFigureOut">
              <a:rPr lang="en-US" smtClean="0"/>
              <a:t>8/19/2024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48418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42154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402662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69B51B5-5729-4227-8149-0FFB0D6660E2}" type="datetimeFigureOut">
              <a:rPr lang="en-US" smtClean="0"/>
              <a:t>8/19/2024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47AE719-0370-4FEF-9E76-542079ADE76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009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lina.arshad@nu.edu.p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B019-E1ED-7643-5A50-74CEA7F41E88}"/>
              </a:ext>
            </a:extLst>
          </p:cNvPr>
          <p:cNvSpPr>
            <a:spLocks noGrp="1"/>
          </p:cNvSpPr>
          <p:nvPr>
            <p:ph type="ctrTitle"/>
          </p:nvPr>
        </p:nvSpPr>
        <p:spPr>
          <a:xfrm>
            <a:off x="90535" y="116380"/>
            <a:ext cx="11588435" cy="3065732"/>
          </a:xfrm>
        </p:spPr>
        <p:txBody>
          <a:bodyPr/>
          <a:lstStyle/>
          <a:p>
            <a:pPr algn="ctr"/>
            <a:br>
              <a:rPr lang="en-US" b="1" dirty="0">
                <a:solidFill>
                  <a:schemeClr val="tx1"/>
                </a:solidFill>
              </a:rPr>
            </a:br>
            <a:r>
              <a:rPr lang="en-US" b="1" dirty="0">
                <a:solidFill>
                  <a:schemeClr val="tx1"/>
                </a:solidFill>
              </a:rPr>
              <a:t>Database System</a:t>
            </a:r>
            <a:endParaRPr lang="en-US" sz="7200" dirty="0"/>
          </a:p>
        </p:txBody>
      </p:sp>
      <p:sp>
        <p:nvSpPr>
          <p:cNvPr id="3" name="Subtitle 2">
            <a:extLst>
              <a:ext uri="{FF2B5EF4-FFF2-40B4-BE49-F238E27FC236}">
                <a16:creationId xmlns:a16="http://schemas.microsoft.com/office/drawing/2014/main" id="{44E9F82C-BBA7-3495-1097-BEDB54FFFDF4}"/>
              </a:ext>
            </a:extLst>
          </p:cNvPr>
          <p:cNvSpPr>
            <a:spLocks noGrp="1"/>
          </p:cNvSpPr>
          <p:nvPr>
            <p:ph type="subTitle" idx="1"/>
          </p:nvPr>
        </p:nvSpPr>
        <p:spPr>
          <a:xfrm>
            <a:off x="1066800" y="3675889"/>
            <a:ext cx="10058400" cy="1922731"/>
          </a:xfrm>
        </p:spPr>
        <p:txBody>
          <a:bodyPr>
            <a:normAutofit/>
          </a:bodyPr>
          <a:lstStyle/>
          <a:p>
            <a:pPr algn="ctr"/>
            <a:r>
              <a:rPr lang="en-US" sz="4400" b="1" dirty="0">
                <a:solidFill>
                  <a:schemeClr val="tx1"/>
                </a:solidFill>
                <a:cs typeface="Times New Roman" panose="02020603050405020304" pitchFamily="18" charset="0"/>
              </a:rPr>
              <a:t>Lecture 2</a:t>
            </a:r>
          </a:p>
          <a:p>
            <a:pPr algn="ctr"/>
            <a:r>
              <a:rPr lang="en-US" dirty="0">
                <a:solidFill>
                  <a:schemeClr val="tx1"/>
                </a:solidFill>
                <a:latin typeface="Times New Roman" panose="02020603050405020304" pitchFamily="18" charset="0"/>
                <a:cs typeface="Times New Roman" panose="02020603050405020304" pitchFamily="18" charset="0"/>
              </a:rPr>
              <a:t>Introduction</a:t>
            </a:r>
          </a:p>
        </p:txBody>
      </p:sp>
      <p:sp>
        <p:nvSpPr>
          <p:cNvPr id="5" name="TextBox 4">
            <a:extLst>
              <a:ext uri="{FF2B5EF4-FFF2-40B4-BE49-F238E27FC236}">
                <a16:creationId xmlns:a16="http://schemas.microsoft.com/office/drawing/2014/main" id="{75DE143E-53E3-798D-07E7-8D85DD770A95}"/>
              </a:ext>
            </a:extLst>
          </p:cNvPr>
          <p:cNvSpPr txBox="1"/>
          <p:nvPr/>
        </p:nvSpPr>
        <p:spPr>
          <a:xfrm>
            <a:off x="7794278" y="4637254"/>
            <a:ext cx="4397722" cy="1384995"/>
          </a:xfrm>
          <a:prstGeom prst="rect">
            <a:avLst/>
          </a:prstGeom>
          <a:noFill/>
        </p:spPr>
        <p:txBody>
          <a:bodyPr wrap="square">
            <a:spAutoFit/>
          </a:bodyPr>
          <a:lstStyle/>
          <a:p>
            <a:pPr algn="ctr"/>
            <a:r>
              <a:rPr lang="en-US" sz="2800" dirty="0">
                <a:solidFill>
                  <a:schemeClr val="tx1"/>
                </a:solidFill>
                <a:cs typeface="Times New Roman" panose="02020603050405020304" pitchFamily="18" charset="0"/>
              </a:rPr>
              <a:t>Alina Arshad</a:t>
            </a:r>
          </a:p>
          <a:p>
            <a:pPr algn="ctr"/>
            <a:r>
              <a:rPr lang="en-US" sz="2800" dirty="0">
                <a:cs typeface="Times New Roman" panose="02020603050405020304" pitchFamily="18" charset="0"/>
                <a:hlinkClick r:id="rId3"/>
              </a:rPr>
              <a:t>alina.arshad@nu.edu.pk</a:t>
            </a:r>
            <a:endParaRPr lang="en-US" sz="2800" dirty="0">
              <a:cs typeface="Times New Roman" panose="02020603050405020304" pitchFamily="18" charset="0"/>
            </a:endParaRPr>
          </a:p>
          <a:p>
            <a:pPr algn="ctr"/>
            <a:r>
              <a:rPr lang="en-US" sz="2800" dirty="0">
                <a:solidFill>
                  <a:schemeClr val="tx1"/>
                </a:solidFill>
                <a:cs typeface="Times New Roman" panose="02020603050405020304" pitchFamily="18" charset="0"/>
              </a:rPr>
              <a:t>Basement 2 Ro</a:t>
            </a:r>
            <a:r>
              <a:rPr lang="en-US" sz="2800" dirty="0">
                <a:cs typeface="Times New Roman" panose="02020603050405020304" pitchFamily="18" charset="0"/>
              </a:rPr>
              <a:t>om#4</a:t>
            </a:r>
            <a:endParaRPr lang="en-US" sz="28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3322361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01NF05">
            <a:extLst>
              <a:ext uri="{FF2B5EF4-FFF2-40B4-BE49-F238E27FC236}">
                <a16:creationId xmlns:a16="http://schemas.microsoft.com/office/drawing/2014/main" id="{2B4CA486-A0A8-DF81-F166-01AE6068C372}"/>
              </a:ext>
            </a:extLst>
          </p:cNvPr>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3760" y="1711177"/>
            <a:ext cx="10132718" cy="3737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6438151E-716D-B13E-6BE7-033C57323E9E}"/>
              </a:ext>
            </a:extLst>
          </p:cNvPr>
          <p:cNvSpPr txBox="1"/>
          <p:nvPr/>
        </p:nvSpPr>
        <p:spPr>
          <a:xfrm>
            <a:off x="1171281" y="626038"/>
            <a:ext cx="6094428" cy="830997"/>
          </a:xfrm>
          <a:prstGeom prst="rect">
            <a:avLst/>
          </a:prstGeom>
          <a:noFill/>
        </p:spPr>
        <p:txBody>
          <a:bodyPr wrap="square">
            <a:spAutoFit/>
          </a:bodyPr>
          <a:lstStyle/>
          <a:p>
            <a:r>
              <a:rPr lang="en-US" sz="4800" b="1" dirty="0">
                <a:solidFill>
                  <a:schemeClr val="tx1"/>
                </a:solidFill>
                <a:latin typeface="+mj-lt"/>
              </a:rPr>
              <a:t>Files Base Systems</a:t>
            </a:r>
            <a:endParaRPr lang="en-US" sz="4800" dirty="0">
              <a:latin typeface="+mj-lt"/>
            </a:endParaRPr>
          </a:p>
        </p:txBody>
      </p:sp>
    </p:spTree>
    <p:extLst>
      <p:ext uri="{BB962C8B-B14F-4D97-AF65-F5344CB8AC3E}">
        <p14:creationId xmlns:p14="http://schemas.microsoft.com/office/powerpoint/2010/main" val="536870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5" name="Rectangle 2">
            <a:extLst>
              <a:ext uri="{FF2B5EF4-FFF2-40B4-BE49-F238E27FC236}">
                <a16:creationId xmlns:a16="http://schemas.microsoft.com/office/drawing/2014/main" id="{D1A0113A-CB64-C2B7-9734-4D6E9D0ECA88}"/>
              </a:ext>
            </a:extLst>
          </p:cNvPr>
          <p:cNvSpPr>
            <a:spLocks noGrp="1" noChangeArrowheads="1"/>
          </p:cNvSpPr>
          <p:nvPr>
            <p:ph type="title" idx="4294967295"/>
          </p:nvPr>
        </p:nvSpPr>
        <p:spPr>
          <a:xfrm>
            <a:off x="1595438" y="765176"/>
            <a:ext cx="8748712" cy="652463"/>
          </a:xfrm>
        </p:spPr>
        <p:txBody>
          <a:bodyPr>
            <a:normAutofit fontScale="90000"/>
          </a:bodyPr>
          <a:lstStyle/>
          <a:p>
            <a:pPr eaLnBrk="1" hangingPunct="1">
              <a:defRPr/>
            </a:pPr>
            <a:r>
              <a:rPr lang="en-GB" altLang="en-US">
                <a:latin typeface="+mj-lt"/>
              </a:rPr>
              <a:t>Limitations of File-Based Approach</a:t>
            </a:r>
            <a:endParaRPr lang="en-GB" altLang="en-US">
              <a:solidFill>
                <a:schemeClr val="tx1"/>
              </a:solidFill>
              <a:latin typeface="+mj-lt"/>
            </a:endParaRPr>
          </a:p>
        </p:txBody>
      </p:sp>
      <p:sp>
        <p:nvSpPr>
          <p:cNvPr id="33796" name="Rectangle 3">
            <a:extLst>
              <a:ext uri="{FF2B5EF4-FFF2-40B4-BE49-F238E27FC236}">
                <a16:creationId xmlns:a16="http://schemas.microsoft.com/office/drawing/2014/main" id="{2976BDB2-BD7C-667A-696F-6C1BAE7F66AF}"/>
              </a:ext>
            </a:extLst>
          </p:cNvPr>
          <p:cNvSpPr>
            <a:spLocks noGrp="1" noChangeArrowheads="1"/>
          </p:cNvSpPr>
          <p:nvPr>
            <p:ph sz="quarter" idx="4294967295"/>
          </p:nvPr>
        </p:nvSpPr>
        <p:spPr>
          <a:xfrm>
            <a:off x="1752600" y="1628775"/>
            <a:ext cx="7727950" cy="4114800"/>
          </a:xfrm>
        </p:spPr>
        <p:txBody>
          <a:bodyPr>
            <a:normAutofit/>
          </a:bodyPr>
          <a:lstStyle/>
          <a:p>
            <a:pPr eaLnBrk="1" hangingPunct="1">
              <a:lnSpc>
                <a:spcPct val="90000"/>
              </a:lnSpc>
              <a:buFont typeface="Arial" charset="0"/>
              <a:buChar char="•"/>
              <a:defRPr/>
            </a:pPr>
            <a:r>
              <a:rPr lang="en-GB" altLang="en-US" sz="2400" dirty="0">
                <a:solidFill>
                  <a:schemeClr val="tx1"/>
                </a:solidFill>
                <a:ea typeface="Times" pitchFamily="18" charset="0"/>
                <a:cs typeface="Times" pitchFamily="18" charset="0"/>
              </a:rPr>
              <a:t>Separation and isolation of data</a:t>
            </a:r>
          </a:p>
          <a:p>
            <a:pPr lvl="1" eaLnBrk="1" hangingPunct="1">
              <a:lnSpc>
                <a:spcPct val="90000"/>
              </a:lnSpc>
              <a:buFont typeface="Arial" charset="0"/>
              <a:buChar char="–"/>
              <a:defRPr/>
            </a:pPr>
            <a:r>
              <a:rPr lang="en-GB" altLang="en-US" sz="2000" dirty="0">
                <a:solidFill>
                  <a:schemeClr val="tx1"/>
                </a:solidFill>
                <a:ea typeface="Times" pitchFamily="18" charset="0"/>
                <a:cs typeface="Times" pitchFamily="18" charset="0"/>
              </a:rPr>
              <a:t>Each program maintains its own set of data.</a:t>
            </a:r>
          </a:p>
          <a:p>
            <a:pPr lvl="1" eaLnBrk="1" hangingPunct="1">
              <a:lnSpc>
                <a:spcPct val="90000"/>
              </a:lnSpc>
              <a:buFont typeface="Arial" charset="0"/>
              <a:buChar char="–"/>
              <a:defRPr/>
            </a:pPr>
            <a:r>
              <a:rPr lang="en-GB" altLang="en-US" sz="2000" dirty="0">
                <a:solidFill>
                  <a:schemeClr val="tx1"/>
                </a:solidFill>
                <a:ea typeface="Times" pitchFamily="18" charset="0"/>
                <a:cs typeface="Times" pitchFamily="18" charset="0"/>
              </a:rPr>
              <a:t>Users of one program may be unaware of potentially useful data held by other programs.</a:t>
            </a:r>
          </a:p>
          <a:p>
            <a:pPr lvl="1" eaLnBrk="1" hangingPunct="1">
              <a:lnSpc>
                <a:spcPct val="90000"/>
              </a:lnSpc>
              <a:buFont typeface="Arial" charset="0"/>
              <a:buChar char="–"/>
              <a:defRPr/>
            </a:pPr>
            <a:endParaRPr lang="en-GB" altLang="en-US" sz="2000" dirty="0">
              <a:solidFill>
                <a:schemeClr val="tx1"/>
              </a:solidFill>
              <a:ea typeface="Times" pitchFamily="18" charset="0"/>
              <a:cs typeface="Times" pitchFamily="18" charset="0"/>
            </a:endParaRPr>
          </a:p>
          <a:p>
            <a:pPr eaLnBrk="1" hangingPunct="1">
              <a:lnSpc>
                <a:spcPct val="90000"/>
              </a:lnSpc>
              <a:buFont typeface="Arial" charset="0"/>
              <a:buChar char="•"/>
              <a:defRPr/>
            </a:pPr>
            <a:r>
              <a:rPr lang="en-GB" altLang="en-US" sz="2400" dirty="0">
                <a:solidFill>
                  <a:schemeClr val="tx1"/>
                </a:solidFill>
                <a:ea typeface="Times" pitchFamily="18" charset="0"/>
                <a:cs typeface="Times" pitchFamily="18" charset="0"/>
              </a:rPr>
              <a:t>Duplication of data</a:t>
            </a:r>
          </a:p>
          <a:p>
            <a:pPr lvl="1" eaLnBrk="1" hangingPunct="1">
              <a:lnSpc>
                <a:spcPct val="90000"/>
              </a:lnSpc>
              <a:buFont typeface="Arial" charset="0"/>
              <a:buChar char="–"/>
              <a:defRPr/>
            </a:pPr>
            <a:r>
              <a:rPr lang="en-GB" altLang="en-US" sz="2000" dirty="0">
                <a:solidFill>
                  <a:schemeClr val="tx1"/>
                </a:solidFill>
                <a:ea typeface="Times" pitchFamily="18" charset="0"/>
                <a:cs typeface="Times" pitchFamily="18" charset="0"/>
              </a:rPr>
              <a:t>Same data is held by different programs.</a:t>
            </a:r>
          </a:p>
          <a:p>
            <a:pPr lvl="1" eaLnBrk="1" hangingPunct="1">
              <a:lnSpc>
                <a:spcPct val="90000"/>
              </a:lnSpc>
              <a:buFont typeface="Arial" charset="0"/>
              <a:buChar char="–"/>
              <a:defRPr/>
            </a:pPr>
            <a:r>
              <a:rPr lang="en-GB" altLang="en-US" sz="2000" dirty="0">
                <a:solidFill>
                  <a:schemeClr val="tx1"/>
                </a:solidFill>
                <a:ea typeface="Times" pitchFamily="18" charset="0"/>
                <a:cs typeface="Times" pitchFamily="18" charset="0"/>
              </a:rPr>
              <a:t>Wasted space and potentially different values and/or different formats for the same item.</a:t>
            </a: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9" name="Rectangle 2">
            <a:extLst>
              <a:ext uri="{FF2B5EF4-FFF2-40B4-BE49-F238E27FC236}">
                <a16:creationId xmlns:a16="http://schemas.microsoft.com/office/drawing/2014/main" id="{8ABED25D-3DD3-0006-83CB-C0CB7A64016C}"/>
              </a:ext>
            </a:extLst>
          </p:cNvPr>
          <p:cNvSpPr>
            <a:spLocks noGrp="1" noChangeArrowheads="1"/>
          </p:cNvSpPr>
          <p:nvPr>
            <p:ph type="title" idx="4294967295"/>
          </p:nvPr>
        </p:nvSpPr>
        <p:spPr>
          <a:xfrm>
            <a:off x="1186004" y="489743"/>
            <a:ext cx="8655930" cy="652463"/>
          </a:xfrm>
        </p:spPr>
        <p:txBody>
          <a:bodyPr>
            <a:noAutofit/>
          </a:bodyPr>
          <a:lstStyle/>
          <a:p>
            <a:pPr eaLnBrk="1" hangingPunct="1">
              <a:defRPr/>
            </a:pPr>
            <a:r>
              <a:rPr lang="en-GB" altLang="en-US" dirty="0">
                <a:solidFill>
                  <a:schemeClr val="tx1"/>
                </a:solidFill>
                <a:latin typeface="+mj-lt"/>
              </a:rPr>
              <a:t>Limitations of File-Based Approach</a:t>
            </a:r>
          </a:p>
        </p:txBody>
      </p:sp>
      <p:sp>
        <p:nvSpPr>
          <p:cNvPr id="34820" name="Rectangle 3">
            <a:extLst>
              <a:ext uri="{FF2B5EF4-FFF2-40B4-BE49-F238E27FC236}">
                <a16:creationId xmlns:a16="http://schemas.microsoft.com/office/drawing/2014/main" id="{C3685AC7-C9B4-07EA-4DC2-18304FB695AE}"/>
              </a:ext>
            </a:extLst>
          </p:cNvPr>
          <p:cNvSpPr>
            <a:spLocks noGrp="1" noChangeArrowheads="1"/>
          </p:cNvSpPr>
          <p:nvPr>
            <p:ph sz="quarter" idx="4294967295"/>
          </p:nvPr>
        </p:nvSpPr>
        <p:spPr>
          <a:xfrm>
            <a:off x="1811338" y="1628775"/>
            <a:ext cx="7727950" cy="4413250"/>
          </a:xfrm>
        </p:spPr>
        <p:txBody>
          <a:bodyPr>
            <a:normAutofit/>
          </a:bodyPr>
          <a:lstStyle/>
          <a:p>
            <a:pPr eaLnBrk="1" hangingPunct="1">
              <a:lnSpc>
                <a:spcPct val="90000"/>
              </a:lnSpc>
              <a:buFont typeface="Arial" charset="0"/>
              <a:buChar char="•"/>
              <a:defRPr/>
            </a:pPr>
            <a:r>
              <a:rPr lang="en-GB" altLang="en-US" sz="2400" dirty="0">
                <a:solidFill>
                  <a:schemeClr val="tx1"/>
                </a:solidFill>
              </a:rPr>
              <a:t>Data dependence</a:t>
            </a:r>
          </a:p>
          <a:p>
            <a:pPr lvl="1" eaLnBrk="1" hangingPunct="1">
              <a:lnSpc>
                <a:spcPct val="90000"/>
              </a:lnSpc>
              <a:buFont typeface="Arial" charset="0"/>
              <a:buChar char="–"/>
              <a:defRPr/>
            </a:pPr>
            <a:r>
              <a:rPr lang="en-GB" altLang="en-US" sz="2000" dirty="0">
                <a:solidFill>
                  <a:schemeClr val="tx1"/>
                </a:solidFill>
              </a:rPr>
              <a:t>File structure is defined in the program code.</a:t>
            </a:r>
          </a:p>
          <a:p>
            <a:pPr lvl="1" eaLnBrk="1" hangingPunct="1">
              <a:lnSpc>
                <a:spcPct val="90000"/>
              </a:lnSpc>
              <a:buFont typeface="Arial" charset="0"/>
              <a:buChar char="–"/>
              <a:defRPr/>
            </a:pPr>
            <a:r>
              <a:rPr lang="en-US" altLang="en-US" sz="2000" dirty="0">
                <a:solidFill>
                  <a:schemeClr val="tx1"/>
                </a:solidFill>
              </a:rPr>
              <a:t>For example, increasing the size of the field.</a:t>
            </a:r>
            <a:endParaRPr lang="en-GB" altLang="en-US" sz="2000" dirty="0">
              <a:solidFill>
                <a:schemeClr val="tx1"/>
              </a:solidFill>
            </a:endParaRPr>
          </a:p>
          <a:p>
            <a:pPr lvl="1" eaLnBrk="1" hangingPunct="1">
              <a:lnSpc>
                <a:spcPct val="60000"/>
              </a:lnSpc>
              <a:buFont typeface="Arial" charset="0"/>
              <a:buChar char="–"/>
              <a:defRPr/>
            </a:pPr>
            <a:endParaRPr lang="en-GB" altLang="en-US" sz="2000" dirty="0">
              <a:solidFill>
                <a:schemeClr val="tx1"/>
              </a:solidFill>
            </a:endParaRPr>
          </a:p>
          <a:p>
            <a:pPr eaLnBrk="1" hangingPunct="1">
              <a:lnSpc>
                <a:spcPct val="90000"/>
              </a:lnSpc>
              <a:buFont typeface="Arial" charset="0"/>
              <a:buChar char="•"/>
              <a:defRPr/>
            </a:pPr>
            <a:r>
              <a:rPr lang="en-GB" altLang="en-US" sz="2400" dirty="0">
                <a:solidFill>
                  <a:schemeClr val="tx1"/>
                </a:solidFill>
              </a:rPr>
              <a:t>Incompatible file formats</a:t>
            </a:r>
          </a:p>
          <a:p>
            <a:pPr lvl="1" eaLnBrk="1" hangingPunct="1">
              <a:lnSpc>
                <a:spcPct val="90000"/>
              </a:lnSpc>
              <a:buFont typeface="Arial" charset="0"/>
              <a:buChar char="–"/>
              <a:defRPr/>
            </a:pPr>
            <a:r>
              <a:rPr lang="en-GB" altLang="en-US" sz="2000" dirty="0">
                <a:solidFill>
                  <a:schemeClr val="tx1"/>
                </a:solidFill>
              </a:rPr>
              <a:t>Programs are written in different languages, and so cannot easily access each other’s files.</a:t>
            </a:r>
          </a:p>
          <a:p>
            <a:pPr lvl="1" eaLnBrk="1" hangingPunct="1">
              <a:lnSpc>
                <a:spcPct val="60000"/>
              </a:lnSpc>
              <a:buFont typeface="Arial" charset="0"/>
              <a:buChar char="–"/>
              <a:defRPr/>
            </a:pPr>
            <a:endParaRPr lang="en-GB" altLang="en-US" sz="2000" dirty="0">
              <a:solidFill>
                <a:schemeClr val="tx1"/>
              </a:solidFill>
            </a:endParaRPr>
          </a:p>
          <a:p>
            <a:pPr eaLnBrk="1" hangingPunct="1">
              <a:lnSpc>
                <a:spcPct val="90000"/>
              </a:lnSpc>
              <a:buFont typeface="Arial" charset="0"/>
              <a:buChar char="•"/>
              <a:defRPr/>
            </a:pPr>
            <a:r>
              <a:rPr lang="en-GB" altLang="en-US" sz="2400" dirty="0">
                <a:solidFill>
                  <a:schemeClr val="tx1"/>
                </a:solidFill>
              </a:rPr>
              <a:t>Fixed Queries of application programs</a:t>
            </a:r>
          </a:p>
          <a:p>
            <a:pPr lvl="1" eaLnBrk="1" hangingPunct="1">
              <a:lnSpc>
                <a:spcPct val="90000"/>
              </a:lnSpc>
              <a:buFont typeface="Arial" charset="0"/>
              <a:buChar char="–"/>
              <a:defRPr/>
            </a:pPr>
            <a:r>
              <a:rPr lang="en-GB" altLang="en-US" sz="2000" dirty="0">
                <a:solidFill>
                  <a:schemeClr val="tx1"/>
                </a:solidFill>
              </a:rPr>
              <a:t>Programs are written to satisfy particular functions.</a:t>
            </a:r>
          </a:p>
          <a:p>
            <a:pPr lvl="1" eaLnBrk="1" hangingPunct="1">
              <a:lnSpc>
                <a:spcPct val="90000"/>
              </a:lnSpc>
              <a:buFont typeface="Arial" charset="0"/>
              <a:buChar char="–"/>
              <a:defRPr/>
            </a:pPr>
            <a:r>
              <a:rPr lang="en-GB" altLang="en-US" sz="2000" dirty="0">
                <a:solidFill>
                  <a:schemeClr val="tx1"/>
                </a:solidFill>
              </a:rPr>
              <a:t>Any new requirement needs a new program.</a:t>
            </a: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Files vs Databases</a:t>
            </a:r>
          </a:p>
        </p:txBody>
      </p:sp>
      <p:sp>
        <p:nvSpPr>
          <p:cNvPr id="3" name="Content Placeholder 2"/>
          <p:cNvSpPr>
            <a:spLocks noGrp="1"/>
          </p:cNvSpPr>
          <p:nvPr>
            <p:ph idx="1"/>
          </p:nvPr>
        </p:nvSpPr>
        <p:spPr/>
        <p:txBody>
          <a:bodyPr/>
          <a:lstStyle/>
          <a:p>
            <a:pPr>
              <a:buFont typeface="Arial" panose="020B0604020202020204" pitchFamily="34" charset="0"/>
              <a:buChar char="•"/>
            </a:pPr>
            <a:r>
              <a:rPr lang="en-US" dirty="0">
                <a:solidFill>
                  <a:schemeClr val="tx1"/>
                </a:solidFill>
              </a:rPr>
              <a:t>   Program data dependence.</a:t>
            </a:r>
          </a:p>
          <a:p>
            <a:pPr>
              <a:buFont typeface="Arial" panose="020B0604020202020204" pitchFamily="34" charset="0"/>
              <a:buChar char="•"/>
            </a:pPr>
            <a:r>
              <a:rPr lang="en-US" dirty="0">
                <a:solidFill>
                  <a:schemeClr val="tx1"/>
                </a:solidFill>
              </a:rPr>
              <a:t>   No Data Security.</a:t>
            </a:r>
          </a:p>
          <a:p>
            <a:pPr>
              <a:buFont typeface="Arial" panose="020B0604020202020204" pitchFamily="34" charset="0"/>
              <a:buChar char="•"/>
            </a:pPr>
            <a:r>
              <a:rPr lang="en-US" dirty="0">
                <a:solidFill>
                  <a:schemeClr val="tx1"/>
                </a:solidFill>
              </a:rPr>
              <a:t>   Data Inconsistency and lack of data Integrity.</a:t>
            </a:r>
          </a:p>
          <a:p>
            <a:pPr>
              <a:buFont typeface="Arial" panose="020B0604020202020204" pitchFamily="34" charset="0"/>
              <a:buChar char="•"/>
            </a:pPr>
            <a:r>
              <a:rPr lang="en-US" dirty="0">
                <a:solidFill>
                  <a:schemeClr val="tx1"/>
                </a:solidFill>
              </a:rPr>
              <a:t>   Not Flexible.</a:t>
            </a:r>
          </a:p>
          <a:p>
            <a:pPr>
              <a:buFont typeface="Arial" panose="020B0604020202020204" pitchFamily="34" charset="0"/>
              <a:buChar char="•"/>
            </a:pPr>
            <a:r>
              <a:rPr lang="en-US" dirty="0">
                <a:solidFill>
                  <a:schemeClr val="tx1"/>
                </a:solidFill>
              </a:rPr>
              <a:t>  Separation and isolation of data</a:t>
            </a:r>
          </a:p>
          <a:p>
            <a:pPr>
              <a:buFont typeface="Arial" panose="020B0604020202020204" pitchFamily="34" charset="0"/>
              <a:buChar char="•"/>
            </a:pPr>
            <a:r>
              <a:rPr lang="en-US" dirty="0">
                <a:solidFill>
                  <a:schemeClr val="tx1"/>
                </a:solidFill>
              </a:rPr>
              <a:t>   Duplication of data.</a:t>
            </a:r>
          </a:p>
          <a:p>
            <a:pPr>
              <a:buFont typeface="Arial" panose="020B0604020202020204" pitchFamily="34" charset="0"/>
              <a:buChar char="•"/>
            </a:pPr>
            <a:r>
              <a:rPr lang="en-US" dirty="0">
                <a:solidFill>
                  <a:schemeClr val="tx1"/>
                </a:solidFill>
              </a:rPr>
              <a:t>   Fixed queries</a:t>
            </a:r>
          </a:p>
          <a:p>
            <a:pPr marL="0" indent="0">
              <a:buNone/>
            </a:pPr>
            <a:endParaRPr lang="en-US" dirty="0">
              <a:solidFill>
                <a:schemeClr val="tx1"/>
              </a:solidFill>
            </a:endParaRPr>
          </a:p>
        </p:txBody>
      </p:sp>
    </p:spTree>
    <p:extLst>
      <p:ext uri="{BB962C8B-B14F-4D97-AF65-F5344CB8AC3E}">
        <p14:creationId xmlns:p14="http://schemas.microsoft.com/office/powerpoint/2010/main" val="5861901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chemeClr val="tx1"/>
                </a:solidFill>
              </a:rPr>
              <a:t>Database Management System (DBMS)</a:t>
            </a:r>
          </a:p>
        </p:txBody>
      </p:sp>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sz="2400" dirty="0">
                <a:solidFill>
                  <a:schemeClr val="tx1"/>
                </a:solidFill>
              </a:rPr>
              <a:t>   Computerized system that enables users to create and maintain a database.</a:t>
            </a:r>
          </a:p>
          <a:p>
            <a:pPr lvl="1">
              <a:buFont typeface="Arial" panose="020B0604020202020204" pitchFamily="34" charset="0"/>
              <a:buChar char="•"/>
            </a:pPr>
            <a:r>
              <a:rPr lang="en-US" sz="2400" dirty="0">
                <a:solidFill>
                  <a:schemeClr val="tx1"/>
                </a:solidFill>
              </a:rPr>
              <a:t>For example: MySQL, Oracle, etc. are a very popular commercial database which is used in different applications.</a:t>
            </a:r>
          </a:p>
          <a:p>
            <a:pPr>
              <a:buFont typeface="Arial" panose="020B0604020202020204" pitchFamily="34" charset="0"/>
              <a:buChar char="•"/>
            </a:pPr>
            <a:r>
              <a:rPr lang="en-US" sz="2400" b="1" dirty="0">
                <a:solidFill>
                  <a:schemeClr val="tx1"/>
                </a:solidFill>
              </a:rPr>
              <a:t>   General-purpose software system: </a:t>
            </a:r>
            <a:r>
              <a:rPr lang="en-US" sz="2400" dirty="0">
                <a:solidFill>
                  <a:schemeClr val="tx1"/>
                </a:solidFill>
              </a:rPr>
              <a:t>facilitates the processes of defining, constructing, manipulating, and sharing databases among various users and applications.</a:t>
            </a:r>
          </a:p>
        </p:txBody>
      </p:sp>
    </p:spTree>
    <p:extLst>
      <p:ext uri="{BB962C8B-B14F-4D97-AF65-F5344CB8AC3E}">
        <p14:creationId xmlns:p14="http://schemas.microsoft.com/office/powerpoint/2010/main" val="1748286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6" descr="C01NF07">
            <a:extLst>
              <a:ext uri="{FF2B5EF4-FFF2-40B4-BE49-F238E27FC236}">
                <a16:creationId xmlns:a16="http://schemas.microsoft.com/office/drawing/2014/main" id="{5B76AAE7-945E-FF24-B5FC-6AA0E85A867A}"/>
              </a:ext>
            </a:extLst>
          </p:cNvPr>
          <p:cNvPicPr>
            <a:picLocks noGrp="1" noChangeAspect="1" noChangeArrowheads="1"/>
          </p:cNvPicPr>
          <p:nvPr>
            <p:ph sz="quarter" idx="4294967295"/>
          </p:nvPr>
        </p:nvPicPr>
        <p:blipFill rotWithShape="1">
          <a:blip r:embed="rId2">
            <a:extLst>
              <a:ext uri="{28A0092B-C50C-407E-A947-70E740481C1C}">
                <a14:useLocalDpi xmlns:a14="http://schemas.microsoft.com/office/drawing/2010/main" val="0"/>
              </a:ext>
            </a:extLst>
          </a:blip>
          <a:srcRect b="22585"/>
          <a:stretch/>
        </p:blipFill>
        <p:spPr>
          <a:xfrm>
            <a:off x="1972719" y="1699859"/>
            <a:ext cx="7993063" cy="3458281"/>
          </a:xfrm>
          <a:noFill/>
        </p:spPr>
      </p:pic>
      <p:sp>
        <p:nvSpPr>
          <p:cNvPr id="5" name="Rectangle 2">
            <a:extLst>
              <a:ext uri="{FF2B5EF4-FFF2-40B4-BE49-F238E27FC236}">
                <a16:creationId xmlns:a16="http://schemas.microsoft.com/office/drawing/2014/main" id="{2680E1CA-99B1-3574-18CE-20777E91EA8C}"/>
              </a:ext>
            </a:extLst>
          </p:cNvPr>
          <p:cNvSpPr txBox="1">
            <a:spLocks noChangeArrowheads="1"/>
          </p:cNvSpPr>
          <p:nvPr/>
        </p:nvSpPr>
        <p:spPr bwMode="auto">
          <a:xfrm>
            <a:off x="998899" y="682705"/>
            <a:ext cx="10194202"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rtl="0" eaLnBrk="0" fontAlgn="base" hangingPunct="0">
              <a:spcBef>
                <a:spcPct val="0"/>
              </a:spcBef>
              <a:spcAft>
                <a:spcPct val="0"/>
              </a:spcAft>
              <a:defRPr lang="en-US" sz="3600" kern="1200" dirty="0">
                <a:solidFill>
                  <a:srgbClr val="003366"/>
                </a:solidFill>
                <a:latin typeface="+mn-lt"/>
                <a:ea typeface="+mj-ea"/>
                <a:cs typeface="+mj-cs"/>
              </a:defRPr>
            </a:lvl1pPr>
            <a:lvl2pPr algn="l" rtl="0" eaLnBrk="0" fontAlgn="base" hangingPunct="0">
              <a:spcBef>
                <a:spcPct val="0"/>
              </a:spcBef>
              <a:spcAft>
                <a:spcPct val="0"/>
              </a:spcAft>
              <a:defRPr sz="3600">
                <a:solidFill>
                  <a:srgbClr val="003366"/>
                </a:solidFill>
                <a:latin typeface="Calibri" pitchFamily="34" charset="0"/>
              </a:defRPr>
            </a:lvl2pPr>
            <a:lvl3pPr algn="l" rtl="0" eaLnBrk="0" fontAlgn="base" hangingPunct="0">
              <a:spcBef>
                <a:spcPct val="0"/>
              </a:spcBef>
              <a:spcAft>
                <a:spcPct val="0"/>
              </a:spcAft>
              <a:defRPr sz="3600">
                <a:solidFill>
                  <a:srgbClr val="003366"/>
                </a:solidFill>
                <a:latin typeface="Calibri" pitchFamily="34" charset="0"/>
              </a:defRPr>
            </a:lvl3pPr>
            <a:lvl4pPr algn="l" rtl="0" eaLnBrk="0" fontAlgn="base" hangingPunct="0">
              <a:spcBef>
                <a:spcPct val="0"/>
              </a:spcBef>
              <a:spcAft>
                <a:spcPct val="0"/>
              </a:spcAft>
              <a:defRPr sz="3600">
                <a:solidFill>
                  <a:srgbClr val="003366"/>
                </a:solidFill>
                <a:latin typeface="Calibri" pitchFamily="34" charset="0"/>
              </a:defRPr>
            </a:lvl4pPr>
            <a:lvl5pPr algn="l" rtl="0" eaLnBrk="0" fontAlgn="base" hangingPunct="0">
              <a:spcBef>
                <a:spcPct val="0"/>
              </a:spcBef>
              <a:spcAft>
                <a:spcPct val="0"/>
              </a:spcAft>
              <a:defRPr sz="3600">
                <a:solidFill>
                  <a:srgbClr val="003366"/>
                </a:solidFill>
                <a:latin typeface="Calibri" pitchFamily="34" charset="0"/>
              </a:defRPr>
            </a:lvl5pPr>
            <a:lvl6pPr marL="457200" algn="l" rtl="0" fontAlgn="base">
              <a:spcBef>
                <a:spcPct val="0"/>
              </a:spcBef>
              <a:spcAft>
                <a:spcPct val="0"/>
              </a:spcAft>
              <a:defRPr sz="3600">
                <a:solidFill>
                  <a:srgbClr val="003366"/>
                </a:solidFill>
                <a:latin typeface="Calibri" pitchFamily="34" charset="0"/>
              </a:defRPr>
            </a:lvl6pPr>
            <a:lvl7pPr marL="914400" algn="l" rtl="0" fontAlgn="base">
              <a:spcBef>
                <a:spcPct val="0"/>
              </a:spcBef>
              <a:spcAft>
                <a:spcPct val="0"/>
              </a:spcAft>
              <a:defRPr sz="3600">
                <a:solidFill>
                  <a:srgbClr val="003366"/>
                </a:solidFill>
                <a:latin typeface="Calibri" pitchFamily="34" charset="0"/>
              </a:defRPr>
            </a:lvl7pPr>
            <a:lvl8pPr marL="1371600" algn="l" rtl="0" fontAlgn="base">
              <a:spcBef>
                <a:spcPct val="0"/>
              </a:spcBef>
              <a:spcAft>
                <a:spcPct val="0"/>
              </a:spcAft>
              <a:defRPr sz="3600">
                <a:solidFill>
                  <a:srgbClr val="003366"/>
                </a:solidFill>
                <a:latin typeface="Calibri" pitchFamily="34" charset="0"/>
              </a:defRPr>
            </a:lvl8pPr>
            <a:lvl9pPr marL="1828800" algn="l" rtl="0" fontAlgn="base">
              <a:spcBef>
                <a:spcPct val="0"/>
              </a:spcBef>
              <a:spcAft>
                <a:spcPct val="0"/>
              </a:spcAft>
              <a:defRPr sz="3600">
                <a:solidFill>
                  <a:srgbClr val="003366"/>
                </a:solidFill>
                <a:latin typeface="Calibri" pitchFamily="34" charset="0"/>
              </a:defRPr>
            </a:lvl9pPr>
          </a:lstStyle>
          <a:p>
            <a:pPr eaLnBrk="1" fontAlgn="auto" hangingPunct="1">
              <a:spcAft>
                <a:spcPts val="0"/>
              </a:spcAft>
              <a:defRPr/>
            </a:pPr>
            <a:r>
              <a:rPr lang="en-GB" sz="4400" dirty="0">
                <a:solidFill>
                  <a:schemeClr val="tx1"/>
                </a:solidFill>
                <a:latin typeface="+mj-lt"/>
              </a:rPr>
              <a:t>Database Management System (DBMS)</a:t>
            </a: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chemeClr val="tx1"/>
                </a:solidFill>
              </a:rPr>
              <a:t>DBMS Functionality</a:t>
            </a:r>
          </a:p>
        </p:txBody>
      </p:sp>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sz="2400" b="1" dirty="0">
                <a:solidFill>
                  <a:schemeClr val="tx1"/>
                </a:solidFill>
              </a:rPr>
              <a:t>  Define a database </a:t>
            </a:r>
            <a:r>
              <a:rPr lang="en-US" sz="2400" dirty="0">
                <a:solidFill>
                  <a:schemeClr val="tx1"/>
                </a:solidFill>
              </a:rPr>
              <a:t>: in terms of data types, structures and constraints </a:t>
            </a:r>
          </a:p>
          <a:p>
            <a:pPr>
              <a:buFont typeface="Arial" panose="020B0604020202020204" pitchFamily="34" charset="0"/>
              <a:buChar char="•"/>
            </a:pPr>
            <a:r>
              <a:rPr lang="en-US" sz="2400" b="1" dirty="0">
                <a:solidFill>
                  <a:schemeClr val="tx1"/>
                </a:solidFill>
              </a:rPr>
              <a:t>  Construct or Load: </a:t>
            </a:r>
            <a:r>
              <a:rPr lang="en-US" sz="2400" dirty="0">
                <a:solidFill>
                  <a:schemeClr val="tx1"/>
                </a:solidFill>
              </a:rPr>
              <a:t>storing data on a secondary storage medium. </a:t>
            </a:r>
          </a:p>
          <a:p>
            <a:pPr>
              <a:buFont typeface="Arial" panose="020B0604020202020204" pitchFamily="34" charset="0"/>
              <a:buChar char="•"/>
            </a:pPr>
            <a:r>
              <a:rPr lang="en-US" sz="2400" b="1" dirty="0">
                <a:solidFill>
                  <a:schemeClr val="tx1"/>
                </a:solidFill>
              </a:rPr>
              <a:t>  Manipulating the database : </a:t>
            </a:r>
            <a:r>
              <a:rPr lang="en-US" sz="2400" dirty="0">
                <a:solidFill>
                  <a:schemeClr val="tx1"/>
                </a:solidFill>
              </a:rPr>
              <a:t>querying, generating reports, insertions, deletions and modifications to its content </a:t>
            </a:r>
          </a:p>
          <a:p>
            <a:pPr>
              <a:buFont typeface="Arial" panose="020B0604020202020204" pitchFamily="34" charset="0"/>
              <a:buChar char="•"/>
            </a:pPr>
            <a:r>
              <a:rPr lang="en-US" sz="2400" dirty="0">
                <a:solidFill>
                  <a:schemeClr val="tx1"/>
                </a:solidFill>
              </a:rPr>
              <a:t>  Concurrent Processing and Sharing by a set of users and programs – yet, keeping all data valid and consistent.</a:t>
            </a:r>
          </a:p>
        </p:txBody>
      </p:sp>
    </p:spTree>
    <p:extLst>
      <p:ext uri="{BB962C8B-B14F-4D97-AF65-F5344CB8AC3E}">
        <p14:creationId xmlns:p14="http://schemas.microsoft.com/office/powerpoint/2010/main" val="31876579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chemeClr val="tx1"/>
                </a:solidFill>
              </a:rPr>
              <a:t>DBMS Functionality</a:t>
            </a:r>
          </a:p>
        </p:txBody>
      </p:sp>
      <p:sp>
        <p:nvSpPr>
          <p:cNvPr id="3" name="Content Placeholder 2"/>
          <p:cNvSpPr>
            <a:spLocks noGrp="1"/>
          </p:cNvSpPr>
          <p:nvPr>
            <p:ph idx="1"/>
          </p:nvPr>
        </p:nvSpPr>
        <p:spPr/>
        <p:txBody>
          <a:bodyPr>
            <a:normAutofit/>
          </a:bodyPr>
          <a:lstStyle/>
          <a:p>
            <a:r>
              <a:rPr lang="en-US" sz="2400" dirty="0">
                <a:solidFill>
                  <a:schemeClr val="tx1"/>
                </a:solidFill>
              </a:rPr>
              <a:t>An application program accesses the database by sending queries for data to the DBMS.</a:t>
            </a:r>
          </a:p>
          <a:p>
            <a:pPr lvl="1">
              <a:buFont typeface="Arial" panose="020B0604020202020204" pitchFamily="34" charset="0"/>
              <a:buChar char="•"/>
            </a:pPr>
            <a:r>
              <a:rPr lang="en-US" sz="2400" b="1" dirty="0">
                <a:solidFill>
                  <a:schemeClr val="tx1"/>
                </a:solidFill>
              </a:rPr>
              <a:t>Query: </a:t>
            </a:r>
            <a:r>
              <a:rPr lang="en-US" sz="2400" dirty="0">
                <a:solidFill>
                  <a:schemeClr val="tx1"/>
                </a:solidFill>
              </a:rPr>
              <a:t>to retrieve and manipulate data.</a:t>
            </a:r>
          </a:p>
          <a:p>
            <a:pPr lvl="1">
              <a:buFont typeface="Arial" panose="020B0604020202020204" pitchFamily="34" charset="0"/>
              <a:buChar char="•"/>
            </a:pPr>
            <a:r>
              <a:rPr lang="en-US" sz="2400" b="1" dirty="0">
                <a:solidFill>
                  <a:schemeClr val="tx1"/>
                </a:solidFill>
              </a:rPr>
              <a:t>Transaction: </a:t>
            </a:r>
            <a:r>
              <a:rPr lang="en-US" sz="2400" dirty="0">
                <a:solidFill>
                  <a:schemeClr val="tx1"/>
                </a:solidFill>
              </a:rPr>
              <a:t>that reads and write data into the database. </a:t>
            </a:r>
          </a:p>
          <a:p>
            <a:r>
              <a:rPr lang="en-US" sz="2400" dirty="0">
                <a:solidFill>
                  <a:schemeClr val="tx1"/>
                </a:solidFill>
              </a:rPr>
              <a:t>Other important functions provided by the DBMS include:</a:t>
            </a:r>
          </a:p>
          <a:p>
            <a:pPr lvl="1">
              <a:buFont typeface="Arial" panose="020B0604020202020204" pitchFamily="34" charset="0"/>
              <a:buChar char="•"/>
            </a:pPr>
            <a:r>
              <a:rPr lang="en-US" sz="2400" b="1" dirty="0">
                <a:solidFill>
                  <a:schemeClr val="tx1"/>
                </a:solidFill>
              </a:rPr>
              <a:t>Protection</a:t>
            </a:r>
            <a:r>
              <a:rPr lang="en-US" sz="2400" i="1" dirty="0">
                <a:solidFill>
                  <a:schemeClr val="tx1"/>
                </a:solidFill>
              </a:rPr>
              <a:t> </a:t>
            </a:r>
            <a:r>
              <a:rPr lang="en-US" sz="2400" dirty="0">
                <a:solidFill>
                  <a:schemeClr val="tx1"/>
                </a:solidFill>
              </a:rPr>
              <a:t>against hardware or software malfunction and unauthorized or malicious access. </a:t>
            </a:r>
          </a:p>
          <a:p>
            <a:pPr lvl="1">
              <a:buFont typeface="Arial" panose="020B0604020202020204" pitchFamily="34" charset="0"/>
              <a:buChar char="•"/>
            </a:pPr>
            <a:r>
              <a:rPr lang="en-US" sz="2400" b="1" dirty="0">
                <a:solidFill>
                  <a:schemeClr val="tx1"/>
                </a:solidFill>
              </a:rPr>
              <a:t>Maintenance: </a:t>
            </a:r>
            <a:r>
              <a:rPr lang="en-US" sz="2400" dirty="0">
                <a:solidFill>
                  <a:schemeClr val="tx1"/>
                </a:solidFill>
              </a:rPr>
              <a:t>database can be maintained and updated for a long period of time.  </a:t>
            </a:r>
          </a:p>
          <a:p>
            <a:endParaRPr lang="en-US" sz="2400" dirty="0">
              <a:solidFill>
                <a:schemeClr val="tx1"/>
              </a:solidFill>
            </a:endParaRPr>
          </a:p>
        </p:txBody>
      </p:sp>
    </p:spTree>
    <p:extLst>
      <p:ext uri="{BB962C8B-B14F-4D97-AF65-F5344CB8AC3E}">
        <p14:creationId xmlns:p14="http://schemas.microsoft.com/office/powerpoint/2010/main" val="33110489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9" name="Rectangle 38">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40" name="Straight Connector 39">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1" name="Rectangle 40">
            <a:extLst>
              <a:ext uri="{FF2B5EF4-FFF2-40B4-BE49-F238E27FC236}">
                <a16:creationId xmlns:a16="http://schemas.microsoft.com/office/drawing/2014/main" id="{5A1B47C8-47A0-4A88-8830-6DEA3B5DE3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en-US"/>
          </a:p>
        </p:txBody>
      </p:sp>
      <p:pic>
        <p:nvPicPr>
          <p:cNvPr id="4" name="Content Placeholder 3"/>
          <p:cNvPicPr>
            <a:picLocks noChangeAspect="1"/>
          </p:cNvPicPr>
          <p:nvPr/>
        </p:nvPicPr>
        <p:blipFill>
          <a:blip r:embed="rId2"/>
          <a:stretch>
            <a:fillRect/>
          </a:stretch>
        </p:blipFill>
        <p:spPr>
          <a:xfrm>
            <a:off x="1344655" y="640080"/>
            <a:ext cx="5082672" cy="5577840"/>
          </a:xfrm>
          <a:prstGeom prst="rect">
            <a:avLst/>
          </a:prstGeom>
        </p:spPr>
      </p:pic>
      <p:sp>
        <p:nvSpPr>
          <p:cNvPr id="42" name="Rectangle 41">
            <a:extLst>
              <a:ext uri="{FF2B5EF4-FFF2-40B4-BE49-F238E27FC236}">
                <a16:creationId xmlns:a16="http://schemas.microsoft.com/office/drawing/2014/main" id="{984BBFDD-E720-4805-A9C8-129FBBF6DD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7613486" y="0"/>
            <a:ext cx="458473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TextBox 2">
            <a:extLst>
              <a:ext uri="{FF2B5EF4-FFF2-40B4-BE49-F238E27FC236}">
                <a16:creationId xmlns:a16="http://schemas.microsoft.com/office/drawing/2014/main" id="{E0BC4082-A473-91EF-E0BA-E37BC5BD407E}"/>
              </a:ext>
            </a:extLst>
          </p:cNvPr>
          <p:cNvSpPr txBox="1"/>
          <p:nvPr/>
        </p:nvSpPr>
        <p:spPr>
          <a:xfrm>
            <a:off x="8180860" y="1670876"/>
            <a:ext cx="3659246" cy="2926080"/>
          </a:xfrm>
          <a:prstGeom prst="rect">
            <a:avLst/>
          </a:prstGeom>
        </p:spPr>
        <p:txBody>
          <a:bodyPr vert="horz" lIns="91440" tIns="45720" rIns="91440" bIns="45720" rtlCol="0" anchor="b">
            <a:normAutofit/>
          </a:bodyPr>
          <a:lstStyle/>
          <a:p>
            <a:pPr defTabSz="914400">
              <a:lnSpc>
                <a:spcPct val="85000"/>
              </a:lnSpc>
              <a:spcBef>
                <a:spcPct val="0"/>
              </a:spcBef>
              <a:spcAft>
                <a:spcPts val="600"/>
              </a:spcAft>
              <a:buClr>
                <a:schemeClr val="accent1"/>
              </a:buClr>
            </a:pPr>
            <a:r>
              <a:rPr lang="en-US" sz="4400" b="1" spc="-50" dirty="0">
                <a:solidFill>
                  <a:srgbClr val="FFFFFF"/>
                </a:solidFill>
                <a:latin typeface="+mj-lt"/>
                <a:ea typeface="+mj-ea"/>
                <a:cs typeface="+mj-cs"/>
              </a:rPr>
              <a:t>Simplified Database System Environment</a:t>
            </a:r>
            <a:endParaRPr lang="en-US" sz="4400" spc="-50" dirty="0">
              <a:solidFill>
                <a:srgbClr val="FFFFFF"/>
              </a:solidFill>
              <a:latin typeface="+mj-lt"/>
              <a:ea typeface="+mj-ea"/>
              <a:cs typeface="+mj-cs"/>
            </a:endParaRPr>
          </a:p>
        </p:txBody>
      </p:sp>
      <p:sp>
        <p:nvSpPr>
          <p:cNvPr id="43" name="Rectangle 42">
            <a:extLst>
              <a:ext uri="{FF2B5EF4-FFF2-40B4-BE49-F238E27FC236}">
                <a16:creationId xmlns:a16="http://schemas.microsoft.com/office/drawing/2014/main" id="{5AC4BE46-4A77-42FE-9D15-065CDB2F84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6906"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1036238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555" y="286603"/>
            <a:ext cx="10265125" cy="1450757"/>
          </a:xfrm>
        </p:spPr>
        <p:txBody>
          <a:bodyPr>
            <a:normAutofit/>
          </a:bodyPr>
          <a:lstStyle/>
          <a:p>
            <a:r>
              <a:rPr lang="en-US" sz="3600" b="1" dirty="0">
                <a:solidFill>
                  <a:schemeClr val="tx1"/>
                </a:solidFill>
              </a:rPr>
              <a:t>UNIVERSITY Database Example</a:t>
            </a:r>
          </a:p>
        </p:txBody>
      </p:sp>
      <p:sp>
        <p:nvSpPr>
          <p:cNvPr id="3" name="Content Placeholder 2"/>
          <p:cNvSpPr>
            <a:spLocks noGrp="1"/>
          </p:cNvSpPr>
          <p:nvPr>
            <p:ph idx="1"/>
          </p:nvPr>
        </p:nvSpPr>
        <p:spPr>
          <a:xfrm>
            <a:off x="1071624" y="1887246"/>
            <a:ext cx="4333295" cy="2772826"/>
          </a:xfrm>
        </p:spPr>
        <p:txBody>
          <a:bodyPr>
            <a:noAutofit/>
          </a:bodyPr>
          <a:lstStyle/>
          <a:p>
            <a:pPr marL="0" indent="0">
              <a:buNone/>
            </a:pPr>
            <a:r>
              <a:rPr lang="en-US" sz="2400" dirty="0">
                <a:solidFill>
                  <a:schemeClr val="tx1"/>
                </a:solidFill>
              </a:rPr>
              <a:t>Some mini-world entities: </a:t>
            </a:r>
          </a:p>
          <a:p>
            <a:pPr lvl="1">
              <a:buFont typeface="Arial" panose="020B0604020202020204" pitchFamily="34" charset="0"/>
              <a:buChar char="•"/>
            </a:pPr>
            <a:r>
              <a:rPr lang="en-US" sz="2400" dirty="0">
                <a:solidFill>
                  <a:schemeClr val="tx1"/>
                </a:solidFill>
              </a:rPr>
              <a:t>  Students </a:t>
            </a:r>
          </a:p>
          <a:p>
            <a:pPr lvl="1">
              <a:buFont typeface="Arial" panose="020B0604020202020204" pitchFamily="34" charset="0"/>
              <a:buChar char="•"/>
            </a:pPr>
            <a:r>
              <a:rPr lang="en-US" sz="2400" dirty="0">
                <a:solidFill>
                  <a:schemeClr val="tx1"/>
                </a:solidFill>
              </a:rPr>
              <a:t>  Courses </a:t>
            </a:r>
          </a:p>
          <a:p>
            <a:pPr lvl="1">
              <a:buFont typeface="Arial" panose="020B0604020202020204" pitchFamily="34" charset="0"/>
              <a:buChar char="•"/>
            </a:pPr>
            <a:r>
              <a:rPr lang="en-US" sz="2400" dirty="0">
                <a:solidFill>
                  <a:schemeClr val="tx1"/>
                </a:solidFill>
              </a:rPr>
              <a:t>  Sections (of courses) </a:t>
            </a:r>
          </a:p>
          <a:p>
            <a:pPr lvl="1">
              <a:buFont typeface="Arial" panose="020B0604020202020204" pitchFamily="34" charset="0"/>
              <a:buChar char="•"/>
            </a:pPr>
            <a:r>
              <a:rPr lang="en-US" sz="2400" dirty="0">
                <a:solidFill>
                  <a:schemeClr val="tx1"/>
                </a:solidFill>
              </a:rPr>
              <a:t>  Departments </a:t>
            </a:r>
          </a:p>
          <a:p>
            <a:pPr lvl="1">
              <a:buFont typeface="Arial" panose="020B0604020202020204" pitchFamily="34" charset="0"/>
              <a:buChar char="•"/>
            </a:pPr>
            <a:r>
              <a:rPr lang="en-US" sz="2400" dirty="0">
                <a:solidFill>
                  <a:schemeClr val="tx1"/>
                </a:solidFill>
              </a:rPr>
              <a:t>  Instructors</a:t>
            </a:r>
          </a:p>
        </p:txBody>
      </p:sp>
      <p:sp>
        <p:nvSpPr>
          <p:cNvPr id="6" name="Content Placeholder 2">
            <a:extLst>
              <a:ext uri="{FF2B5EF4-FFF2-40B4-BE49-F238E27FC236}">
                <a16:creationId xmlns:a16="http://schemas.microsoft.com/office/drawing/2014/main" id="{BBA125A4-7F15-AB4D-3D5E-314FCA7753B0}"/>
              </a:ext>
            </a:extLst>
          </p:cNvPr>
          <p:cNvSpPr txBox="1">
            <a:spLocks/>
          </p:cNvSpPr>
          <p:nvPr/>
        </p:nvSpPr>
        <p:spPr>
          <a:xfrm>
            <a:off x="6023117" y="1871603"/>
            <a:ext cx="5631259" cy="2772826"/>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None/>
            </a:pPr>
            <a:r>
              <a:rPr lang="en-US" sz="2400" dirty="0">
                <a:solidFill>
                  <a:schemeClr val="tx1"/>
                </a:solidFill>
              </a:rPr>
              <a:t>Some mini-world relationships: </a:t>
            </a:r>
          </a:p>
          <a:p>
            <a:pPr marL="800100" lvl="1" indent="-342900">
              <a:buFont typeface="Arial" panose="020B0604020202020204" pitchFamily="34" charset="0"/>
              <a:buChar char="•"/>
            </a:pPr>
            <a:r>
              <a:rPr lang="en-US" sz="2400" dirty="0">
                <a:solidFill>
                  <a:schemeClr val="tx1"/>
                </a:solidFill>
              </a:rPr>
              <a:t>Sections are of specific Courses </a:t>
            </a:r>
          </a:p>
          <a:p>
            <a:pPr marL="800100" lvl="1" indent="-342900">
              <a:buFont typeface="Arial" panose="020B0604020202020204" pitchFamily="34" charset="0"/>
              <a:buChar char="•"/>
            </a:pPr>
            <a:r>
              <a:rPr lang="en-US" sz="2400" dirty="0">
                <a:solidFill>
                  <a:schemeClr val="tx1"/>
                </a:solidFill>
              </a:rPr>
              <a:t>Students take Sections </a:t>
            </a:r>
          </a:p>
          <a:p>
            <a:pPr marL="800100" lvl="1" indent="-342900">
              <a:buFont typeface="Arial" panose="020B0604020202020204" pitchFamily="34" charset="0"/>
              <a:buChar char="•"/>
            </a:pPr>
            <a:r>
              <a:rPr lang="en-US" sz="2400" dirty="0">
                <a:solidFill>
                  <a:schemeClr val="tx1"/>
                </a:solidFill>
              </a:rPr>
              <a:t>Courses have Prerequisite Courses </a:t>
            </a:r>
          </a:p>
          <a:p>
            <a:pPr marL="800100" lvl="1" indent="-342900">
              <a:buFont typeface="Arial" panose="020B0604020202020204" pitchFamily="34" charset="0"/>
              <a:buChar char="•"/>
            </a:pPr>
            <a:r>
              <a:rPr lang="en-US" sz="2400" dirty="0">
                <a:solidFill>
                  <a:schemeClr val="tx1"/>
                </a:solidFill>
              </a:rPr>
              <a:t>Instructors teach Sections </a:t>
            </a:r>
          </a:p>
          <a:p>
            <a:pPr marL="800100" lvl="1" indent="-342900">
              <a:buFont typeface="Arial" panose="020B0604020202020204" pitchFamily="34" charset="0"/>
              <a:buChar char="•"/>
            </a:pPr>
            <a:r>
              <a:rPr lang="en-US" sz="2400" dirty="0">
                <a:solidFill>
                  <a:schemeClr val="tx1"/>
                </a:solidFill>
              </a:rPr>
              <a:t>Courses are offered by departments </a:t>
            </a:r>
          </a:p>
          <a:p>
            <a:pPr marL="800100" lvl="1" indent="-342900">
              <a:buFont typeface="Arial" panose="020B0604020202020204" pitchFamily="34" charset="0"/>
              <a:buChar char="•"/>
            </a:pPr>
            <a:r>
              <a:rPr lang="en-US" sz="2400" dirty="0">
                <a:solidFill>
                  <a:schemeClr val="tx1"/>
                </a:solidFill>
              </a:rPr>
              <a:t>Students major in Departments </a:t>
            </a:r>
          </a:p>
        </p:txBody>
      </p:sp>
    </p:spTree>
    <p:extLst>
      <p:ext uri="{BB962C8B-B14F-4D97-AF65-F5344CB8AC3E}">
        <p14:creationId xmlns:p14="http://schemas.microsoft.com/office/powerpoint/2010/main" val="6572501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425" y="711827"/>
            <a:ext cx="10058400" cy="996857"/>
          </a:xfrm>
        </p:spPr>
        <p:txBody>
          <a:bodyPr>
            <a:normAutofit/>
          </a:bodyPr>
          <a:lstStyle/>
          <a:p>
            <a:r>
              <a:rPr lang="en-US" sz="3600" b="1" dirty="0">
                <a:solidFill>
                  <a:schemeClr val="tx1"/>
                </a:solidFill>
              </a:rPr>
              <a:t>UNIVERSITY Database Example</a:t>
            </a:r>
          </a:p>
        </p:txBody>
      </p:sp>
      <p:pic>
        <p:nvPicPr>
          <p:cNvPr id="4" name="Content Placeholder 3"/>
          <p:cNvPicPr>
            <a:picLocks noGrp="1" noChangeAspect="1"/>
          </p:cNvPicPr>
          <p:nvPr>
            <p:ph idx="1"/>
          </p:nvPr>
        </p:nvPicPr>
        <p:blipFill>
          <a:blip r:embed="rId3"/>
          <a:stretch>
            <a:fillRect/>
          </a:stretch>
        </p:blipFill>
        <p:spPr>
          <a:xfrm>
            <a:off x="952425" y="1812322"/>
            <a:ext cx="4552950" cy="2647950"/>
          </a:xfrm>
          <a:prstGeom prst="rect">
            <a:avLst/>
          </a:prstGeom>
        </p:spPr>
      </p:pic>
      <p:pic>
        <p:nvPicPr>
          <p:cNvPr id="5" name="Picture 4"/>
          <p:cNvPicPr>
            <a:picLocks noChangeAspect="1"/>
          </p:cNvPicPr>
          <p:nvPr/>
        </p:nvPicPr>
        <p:blipFill>
          <a:blip r:embed="rId4"/>
          <a:stretch>
            <a:fillRect/>
          </a:stretch>
        </p:blipFill>
        <p:spPr>
          <a:xfrm>
            <a:off x="5981625" y="1745548"/>
            <a:ext cx="4125761" cy="3496408"/>
          </a:xfrm>
          <a:prstGeom prst="rect">
            <a:avLst/>
          </a:prstGeom>
        </p:spPr>
      </p:pic>
      <p:pic>
        <p:nvPicPr>
          <p:cNvPr id="6" name="Picture 5"/>
          <p:cNvPicPr>
            <a:picLocks noChangeAspect="1"/>
          </p:cNvPicPr>
          <p:nvPr/>
        </p:nvPicPr>
        <p:blipFill>
          <a:blip r:embed="rId5"/>
          <a:stretch>
            <a:fillRect/>
          </a:stretch>
        </p:blipFill>
        <p:spPr>
          <a:xfrm>
            <a:off x="9178698" y="3826860"/>
            <a:ext cx="2809875" cy="1266825"/>
          </a:xfrm>
          <a:prstGeom prst="rect">
            <a:avLst/>
          </a:prstGeom>
        </p:spPr>
      </p:pic>
      <p:sp>
        <p:nvSpPr>
          <p:cNvPr id="3" name="Rectangle 2"/>
          <p:cNvSpPr/>
          <p:nvPr/>
        </p:nvSpPr>
        <p:spPr>
          <a:xfrm>
            <a:off x="2468880" y="5776841"/>
            <a:ext cx="7025489" cy="369332"/>
          </a:xfrm>
          <a:prstGeom prst="rect">
            <a:avLst/>
          </a:prstGeom>
        </p:spPr>
        <p:txBody>
          <a:bodyPr wrap="square">
            <a:spAutoFit/>
          </a:bodyPr>
          <a:lstStyle/>
          <a:p>
            <a:r>
              <a:rPr lang="en-US" b="1" dirty="0"/>
              <a:t>Figure 1.2 A database that stores student and course information</a:t>
            </a:r>
          </a:p>
        </p:txBody>
      </p:sp>
    </p:spTree>
    <p:extLst>
      <p:ext uri="{BB962C8B-B14F-4D97-AF65-F5344CB8AC3E}">
        <p14:creationId xmlns:p14="http://schemas.microsoft.com/office/powerpoint/2010/main" val="40229285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9196" y="1023042"/>
            <a:ext cx="10058400" cy="696211"/>
          </a:xfrm>
        </p:spPr>
        <p:txBody>
          <a:bodyPr>
            <a:normAutofit/>
          </a:bodyPr>
          <a:lstStyle/>
          <a:p>
            <a:r>
              <a:rPr lang="en-US" sz="3600" b="1" dirty="0">
                <a:solidFill>
                  <a:schemeClr val="tx1"/>
                </a:solidFill>
              </a:rPr>
              <a:t>Characteristics of Database Approach</a:t>
            </a:r>
          </a:p>
        </p:txBody>
      </p:sp>
      <p:sp>
        <p:nvSpPr>
          <p:cNvPr id="3" name="Content Placeholder 2"/>
          <p:cNvSpPr>
            <a:spLocks noGrp="1"/>
          </p:cNvSpPr>
          <p:nvPr>
            <p:ph idx="1"/>
          </p:nvPr>
        </p:nvSpPr>
        <p:spPr>
          <a:xfrm>
            <a:off x="999196" y="1796212"/>
            <a:ext cx="8946541" cy="4195481"/>
          </a:xfrm>
        </p:spPr>
        <p:txBody>
          <a:bodyPr>
            <a:noAutofit/>
          </a:bodyPr>
          <a:lstStyle/>
          <a:p>
            <a:r>
              <a:rPr lang="en-US" sz="2400" b="1" dirty="0">
                <a:solidFill>
                  <a:schemeClr val="tx1"/>
                </a:solidFill>
              </a:rPr>
              <a:t>Self-describing nature of a database system.</a:t>
            </a:r>
          </a:p>
          <a:p>
            <a:pPr lvl="1"/>
            <a:r>
              <a:rPr lang="en-US" sz="2400" dirty="0">
                <a:solidFill>
                  <a:schemeClr val="tx1"/>
                </a:solidFill>
              </a:rPr>
              <a:t>Database system contains not only the database itself but a complete definition or description of the database structure and constraints.</a:t>
            </a:r>
          </a:p>
          <a:p>
            <a:pPr lvl="1"/>
            <a:r>
              <a:rPr lang="en-US" sz="2400" dirty="0">
                <a:solidFill>
                  <a:schemeClr val="tx1"/>
                </a:solidFill>
              </a:rPr>
              <a:t>This definition is stored in the DBMS catalog.</a:t>
            </a:r>
          </a:p>
          <a:p>
            <a:pPr lvl="2"/>
            <a:r>
              <a:rPr lang="en-US" sz="1800" dirty="0">
                <a:solidFill>
                  <a:schemeClr val="tx1"/>
                </a:solidFill>
              </a:rPr>
              <a:t>Structure of each file</a:t>
            </a:r>
          </a:p>
          <a:p>
            <a:pPr lvl="2"/>
            <a:r>
              <a:rPr lang="en-US" sz="1800" dirty="0">
                <a:solidFill>
                  <a:schemeClr val="tx1"/>
                </a:solidFill>
              </a:rPr>
              <a:t>Type </a:t>
            </a:r>
          </a:p>
          <a:p>
            <a:pPr lvl="2"/>
            <a:r>
              <a:rPr lang="en-US" sz="1800" dirty="0">
                <a:solidFill>
                  <a:schemeClr val="tx1"/>
                </a:solidFill>
              </a:rPr>
              <a:t>Storage</a:t>
            </a:r>
          </a:p>
          <a:p>
            <a:pPr lvl="2"/>
            <a:r>
              <a:rPr lang="en-US" sz="1800" dirty="0">
                <a:solidFill>
                  <a:schemeClr val="tx1"/>
                </a:solidFill>
              </a:rPr>
              <a:t>Format of each data item</a:t>
            </a:r>
          </a:p>
          <a:p>
            <a:pPr lvl="2"/>
            <a:r>
              <a:rPr lang="en-US" sz="1800" dirty="0">
                <a:solidFill>
                  <a:schemeClr val="tx1"/>
                </a:solidFill>
              </a:rPr>
              <a:t>Various constraints on the data. </a:t>
            </a:r>
          </a:p>
          <a:p>
            <a:r>
              <a:rPr lang="en-US" sz="2400" dirty="0">
                <a:solidFill>
                  <a:schemeClr val="tx1"/>
                </a:solidFill>
              </a:rPr>
              <a:t>The information stored in the catalog is called meta-data, and it describes the structure of the primary database. </a:t>
            </a:r>
          </a:p>
          <a:p>
            <a:endParaRPr lang="en-US" sz="2400" dirty="0">
              <a:solidFill>
                <a:schemeClr val="tx1"/>
              </a:solidFill>
            </a:endParaRPr>
          </a:p>
          <a:p>
            <a:endParaRPr lang="en-US" sz="2400" dirty="0">
              <a:solidFill>
                <a:schemeClr val="tx1"/>
              </a:solidFill>
            </a:endParaRPr>
          </a:p>
          <a:p>
            <a:endParaRPr lang="en-US" sz="2400" dirty="0">
              <a:solidFill>
                <a:schemeClr val="tx1"/>
              </a:solidFill>
            </a:endParaRPr>
          </a:p>
        </p:txBody>
      </p:sp>
    </p:spTree>
    <p:extLst>
      <p:ext uri="{BB962C8B-B14F-4D97-AF65-F5344CB8AC3E}">
        <p14:creationId xmlns:p14="http://schemas.microsoft.com/office/powerpoint/2010/main" val="3433389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4E4490D0-3672-446A-AC12-B4830333B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39CB82C2-DF65-4EC1-8280-F201D50F5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24" name="Straight Connector 23">
            <a:extLst>
              <a:ext uri="{FF2B5EF4-FFF2-40B4-BE49-F238E27FC236}">
                <a16:creationId xmlns:a16="http://schemas.microsoft.com/office/drawing/2014/main" id="{7E1D4427-852B-4B37-8E76-0E9F1810BA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5" name="Rectangle 24">
            <a:extLst>
              <a:ext uri="{FF2B5EF4-FFF2-40B4-BE49-F238E27FC236}">
                <a16:creationId xmlns:a16="http://schemas.microsoft.com/office/drawing/2014/main" id="{FA4CD5CB-D209-4D70-8CA4-629731C59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txBox="1">
            <a:spLocks/>
          </p:cNvSpPr>
          <p:nvPr/>
        </p:nvSpPr>
        <p:spPr>
          <a:xfrm>
            <a:off x="8141110" y="639097"/>
            <a:ext cx="3401961" cy="368601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en-US" sz="6100" dirty="0">
                <a:solidFill>
                  <a:schemeClr val="tx1">
                    <a:lumMod val="85000"/>
                    <a:lumOff val="15000"/>
                  </a:schemeClr>
                </a:solidFill>
              </a:rPr>
              <a:t>Example of a </a:t>
            </a:r>
            <a:r>
              <a:rPr lang="en-US" sz="6100" b="1" dirty="0">
                <a:solidFill>
                  <a:schemeClr val="tx1">
                    <a:lumMod val="85000"/>
                    <a:lumOff val="15000"/>
                  </a:schemeClr>
                </a:solidFill>
              </a:rPr>
              <a:t>DATABASE CATALOG</a:t>
            </a:r>
          </a:p>
        </p:txBody>
      </p:sp>
      <p:sp>
        <p:nvSpPr>
          <p:cNvPr id="3" name="Rectangle 2"/>
          <p:cNvSpPr/>
          <p:nvPr/>
        </p:nvSpPr>
        <p:spPr>
          <a:xfrm>
            <a:off x="8141110" y="4455621"/>
            <a:ext cx="3417990" cy="1238616"/>
          </a:xfrm>
          <a:prstGeom prst="rect">
            <a:avLst/>
          </a:prstGeom>
        </p:spPr>
        <p:txBody>
          <a:bodyPr vert="horz" lIns="91440" tIns="45720" rIns="91440" bIns="45720" rtlCol="0">
            <a:normAutofit/>
          </a:bodyPr>
          <a:lstStyle/>
          <a:p>
            <a:pPr defTabSz="914400">
              <a:lnSpc>
                <a:spcPct val="90000"/>
              </a:lnSpc>
              <a:spcBef>
                <a:spcPts val="1200"/>
              </a:spcBef>
              <a:spcAft>
                <a:spcPts val="200"/>
              </a:spcAft>
              <a:buClr>
                <a:schemeClr val="accent1"/>
              </a:buClr>
              <a:buSzPct val="100000"/>
            </a:pPr>
            <a:r>
              <a:rPr lang="en-US" sz="2000" b="1" cap="all" spc="200" dirty="0">
                <a:latin typeface="+mj-lt"/>
              </a:rPr>
              <a:t>Figure 1.3  An example of a database catalog for the database in Figure 1.2.</a:t>
            </a:r>
          </a:p>
        </p:txBody>
      </p:sp>
      <p:pic>
        <p:nvPicPr>
          <p:cNvPr id="4" name="Content Placeholder 3" descr="A screenshot of a table&#10;&#10;Description automatically generated"/>
          <p:cNvPicPr>
            <a:picLocks noChangeAspect="1"/>
          </p:cNvPicPr>
          <p:nvPr/>
        </p:nvPicPr>
        <p:blipFill rotWithShape="1">
          <a:blip r:embed="rId2"/>
          <a:srcRect t="1839"/>
          <a:stretch/>
        </p:blipFill>
        <p:spPr>
          <a:xfrm>
            <a:off x="1720005" y="640081"/>
            <a:ext cx="4740204" cy="5054156"/>
          </a:xfrm>
          <a:prstGeom prst="rect">
            <a:avLst/>
          </a:prstGeom>
        </p:spPr>
      </p:pic>
      <p:cxnSp>
        <p:nvCxnSpPr>
          <p:cNvPr id="26" name="Straight Connector 25">
            <a:extLst>
              <a:ext uri="{FF2B5EF4-FFF2-40B4-BE49-F238E27FC236}">
                <a16:creationId xmlns:a16="http://schemas.microsoft.com/office/drawing/2014/main" id="{5C6A2BAE-B461-4B55-8E1F-0722ABDD13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209305" y="4343400"/>
            <a:ext cx="320040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B4C27B90-DF2B-4D00-BA07-18ED774CD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1" name="Rectangle 20">
            <a:extLst>
              <a:ext uri="{FF2B5EF4-FFF2-40B4-BE49-F238E27FC236}">
                <a16:creationId xmlns:a16="http://schemas.microsoft.com/office/drawing/2014/main" id="{593ACC25-C262-417A-8AA9-0641C772B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2992066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chemeClr val="tx1"/>
                </a:solidFill>
              </a:rPr>
              <a:t>Characteristics of Database Approach</a:t>
            </a:r>
          </a:p>
        </p:txBody>
      </p:sp>
      <p:sp>
        <p:nvSpPr>
          <p:cNvPr id="3" name="Content Placeholder 2"/>
          <p:cNvSpPr>
            <a:spLocks noGrp="1"/>
          </p:cNvSpPr>
          <p:nvPr>
            <p:ph idx="1"/>
          </p:nvPr>
        </p:nvSpPr>
        <p:spPr>
          <a:xfrm>
            <a:off x="1097280" y="1845589"/>
            <a:ext cx="10888532" cy="4195481"/>
          </a:xfrm>
        </p:spPr>
        <p:txBody>
          <a:bodyPr>
            <a:normAutofit/>
          </a:bodyPr>
          <a:lstStyle/>
          <a:p>
            <a:r>
              <a:rPr lang="en-US" b="1" dirty="0">
                <a:solidFill>
                  <a:schemeClr val="tx1"/>
                </a:solidFill>
              </a:rPr>
              <a:t>Data abstraction (</a:t>
            </a:r>
            <a:r>
              <a:rPr lang="en-US" sz="2000" b="1" dirty="0"/>
              <a:t>insulation between program &amp; Data)</a:t>
            </a:r>
            <a:endParaRPr lang="en-US" b="1" dirty="0">
              <a:solidFill>
                <a:schemeClr val="tx1"/>
              </a:solidFill>
            </a:endParaRPr>
          </a:p>
          <a:p>
            <a:pPr lvl="1" eaLnBrk="1" hangingPunct="1">
              <a:buFont typeface="Arial" panose="020B0604020202020204" pitchFamily="34" charset="0"/>
              <a:buChar char="•"/>
            </a:pPr>
            <a:r>
              <a:rPr lang="en-US" altLang="en-US" sz="2000" dirty="0">
                <a:solidFill>
                  <a:schemeClr val="tx1"/>
                </a:solidFill>
              </a:rPr>
              <a:t>A </a:t>
            </a:r>
            <a:r>
              <a:rPr lang="en-US" altLang="en-US" sz="2000" b="1" dirty="0">
                <a:solidFill>
                  <a:schemeClr val="tx1"/>
                </a:solidFill>
              </a:rPr>
              <a:t>data model</a:t>
            </a:r>
            <a:r>
              <a:rPr lang="en-US" altLang="en-US" sz="2000" dirty="0">
                <a:solidFill>
                  <a:schemeClr val="tx1"/>
                </a:solidFill>
              </a:rPr>
              <a:t> is used to hide storage details and present the users with a conceptual view  of the database.</a:t>
            </a:r>
          </a:p>
          <a:p>
            <a:pPr lvl="1" eaLnBrk="1" hangingPunct="1">
              <a:buFont typeface="Arial" panose="020B0604020202020204" pitchFamily="34" charset="0"/>
              <a:buChar char="•"/>
            </a:pPr>
            <a:r>
              <a:rPr lang="en-US" altLang="en-US" sz="2000" dirty="0">
                <a:solidFill>
                  <a:schemeClr val="tx1"/>
                </a:solidFill>
              </a:rPr>
              <a:t>Programs refer to the data model constructs rather than data storage details</a:t>
            </a:r>
          </a:p>
          <a:p>
            <a:pPr marL="201168" lvl="1" indent="0" eaLnBrk="1" hangingPunct="1">
              <a:buNone/>
            </a:pPr>
            <a:endParaRPr lang="en-US" altLang="en-US" sz="2000" dirty="0">
              <a:solidFill>
                <a:schemeClr val="tx1"/>
              </a:solidFill>
            </a:endParaRPr>
          </a:p>
          <a:p>
            <a:r>
              <a:rPr lang="en-US" b="1" dirty="0">
                <a:solidFill>
                  <a:schemeClr val="tx1"/>
                </a:solidFill>
              </a:rPr>
              <a:t>Support of multiple views of the data</a:t>
            </a:r>
          </a:p>
          <a:p>
            <a:pPr lvl="1">
              <a:buFont typeface="Arial" panose="020B0604020202020204" pitchFamily="34" charset="0"/>
              <a:buChar char="•"/>
            </a:pPr>
            <a:r>
              <a:rPr lang="en-US" sz="2000" dirty="0">
                <a:solidFill>
                  <a:schemeClr val="tx1"/>
                </a:solidFill>
              </a:rPr>
              <a:t>A database typically has many types of users, each of whom may require a different view of the database. </a:t>
            </a:r>
          </a:p>
          <a:p>
            <a:pPr lvl="1">
              <a:buFont typeface="Arial" panose="020B0604020202020204" pitchFamily="34" charset="0"/>
              <a:buChar char="•"/>
            </a:pPr>
            <a:r>
              <a:rPr lang="en-US" sz="2000" dirty="0">
                <a:solidFill>
                  <a:schemeClr val="tx1"/>
                </a:solidFill>
              </a:rPr>
              <a:t>View: subset of the database or it may contain virtual data that is derived from the database files but is not explicitly stored.</a:t>
            </a:r>
          </a:p>
          <a:p>
            <a:pPr marL="201168" lvl="1" indent="0" eaLnBrk="1" hangingPunct="1">
              <a:buNone/>
            </a:pPr>
            <a:endParaRPr lang="en-US" altLang="en-US" sz="2000" dirty="0">
              <a:solidFill>
                <a:schemeClr val="tx1"/>
              </a:solidFill>
            </a:endParaRPr>
          </a:p>
          <a:p>
            <a:endParaRPr lang="en-US" sz="2400" dirty="0"/>
          </a:p>
          <a:p>
            <a:endParaRPr lang="en-US" sz="2400" dirty="0"/>
          </a:p>
        </p:txBody>
      </p:sp>
    </p:spTree>
    <p:extLst>
      <p:ext uri="{BB962C8B-B14F-4D97-AF65-F5344CB8AC3E}">
        <p14:creationId xmlns:p14="http://schemas.microsoft.com/office/powerpoint/2010/main" val="41373543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t>Internal storage format for a STUDENT record, based on the database catalog</a:t>
            </a:r>
          </a:p>
        </p:txBody>
      </p:sp>
      <p:pic>
        <p:nvPicPr>
          <p:cNvPr id="4" name="Content Placeholder 3"/>
          <p:cNvPicPr>
            <a:picLocks noGrp="1" noChangeAspect="1"/>
          </p:cNvPicPr>
          <p:nvPr>
            <p:ph idx="1"/>
          </p:nvPr>
        </p:nvPicPr>
        <p:blipFill>
          <a:blip r:embed="rId3"/>
          <a:stretch>
            <a:fillRect/>
          </a:stretch>
        </p:blipFill>
        <p:spPr>
          <a:xfrm>
            <a:off x="2152650" y="2337394"/>
            <a:ext cx="7565792" cy="1804572"/>
          </a:xfrm>
          <a:prstGeom prst="rect">
            <a:avLst/>
          </a:prstGeom>
        </p:spPr>
      </p:pic>
      <p:sp>
        <p:nvSpPr>
          <p:cNvPr id="3" name="Rectangle 2"/>
          <p:cNvSpPr/>
          <p:nvPr/>
        </p:nvSpPr>
        <p:spPr>
          <a:xfrm>
            <a:off x="1097280" y="4302732"/>
            <a:ext cx="9815232" cy="369332"/>
          </a:xfrm>
          <a:prstGeom prst="rect">
            <a:avLst/>
          </a:prstGeom>
        </p:spPr>
        <p:txBody>
          <a:bodyPr wrap="square">
            <a:spAutoFit/>
          </a:bodyPr>
          <a:lstStyle/>
          <a:p>
            <a:r>
              <a:rPr lang="en-US" b="1" dirty="0"/>
              <a:t>Figure 1.4 Internal storage format for a STUDENT record, based on the database catalog in Figure 1.3.</a:t>
            </a:r>
          </a:p>
        </p:txBody>
      </p:sp>
    </p:spTree>
    <p:extLst>
      <p:ext uri="{BB962C8B-B14F-4D97-AF65-F5344CB8AC3E}">
        <p14:creationId xmlns:p14="http://schemas.microsoft.com/office/powerpoint/2010/main" val="30099877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52ABB703-2B0E-4C3B-B4A2-F3973548E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p:cNvSpPr>
            <a:spLocks noGrp="1"/>
          </p:cNvSpPr>
          <p:nvPr>
            <p:ph type="title"/>
          </p:nvPr>
        </p:nvSpPr>
        <p:spPr>
          <a:xfrm>
            <a:off x="6411685" y="634946"/>
            <a:ext cx="5127171" cy="1450757"/>
          </a:xfrm>
        </p:spPr>
        <p:txBody>
          <a:bodyPr vert="horz" lIns="91440" tIns="45720" rIns="91440" bIns="45720" rtlCol="0" anchor="b">
            <a:normAutofit/>
          </a:bodyPr>
          <a:lstStyle/>
          <a:p>
            <a:r>
              <a:rPr lang="en-US" b="1"/>
              <a:t>Characteristics of Database Approach</a:t>
            </a:r>
          </a:p>
        </p:txBody>
      </p:sp>
      <p:pic>
        <p:nvPicPr>
          <p:cNvPr id="4" name="Content Placeholder 3"/>
          <p:cNvPicPr>
            <a:picLocks noGrp="1" noChangeAspect="1"/>
          </p:cNvPicPr>
          <p:nvPr>
            <p:ph idx="1"/>
          </p:nvPr>
        </p:nvPicPr>
        <p:blipFill>
          <a:blip r:embed="rId2"/>
          <a:stretch>
            <a:fillRect/>
          </a:stretch>
        </p:blipFill>
        <p:spPr>
          <a:xfrm>
            <a:off x="261258" y="923734"/>
            <a:ext cx="5833562" cy="4590657"/>
          </a:xfrm>
          <a:prstGeom prst="rect">
            <a:avLst/>
          </a:prstGeom>
        </p:spPr>
      </p:pic>
      <p:cxnSp>
        <p:nvCxnSpPr>
          <p:cNvPr id="20" name="Straight Connector 19">
            <a:extLst>
              <a:ext uri="{FF2B5EF4-FFF2-40B4-BE49-F238E27FC236}">
                <a16:creationId xmlns:a16="http://schemas.microsoft.com/office/drawing/2014/main" id="{9C21570E-E159-49A6-9891-FA397B7A92D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11684" y="2086188"/>
            <a:ext cx="474880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6411684" y="2198914"/>
            <a:ext cx="5127172" cy="3670180"/>
          </a:xfrm>
          <a:prstGeom prst="rect">
            <a:avLst/>
          </a:prstGeom>
        </p:spPr>
        <p:txBody>
          <a:bodyPr vert="horz" lIns="0" tIns="45720" rIns="0" bIns="45720" rtlCol="0">
            <a:normAutofit/>
          </a:bodyPr>
          <a:lstStyle/>
          <a:p>
            <a:pPr defTabSz="914400">
              <a:lnSpc>
                <a:spcPct val="90000"/>
              </a:lnSpc>
              <a:spcAft>
                <a:spcPts val="600"/>
              </a:spcAft>
              <a:buClr>
                <a:schemeClr val="accent1"/>
              </a:buClr>
              <a:buFont typeface="Calibri" panose="020F0502020204030204" pitchFamily="34" charset="0"/>
            </a:pPr>
            <a:r>
              <a:rPr lang="en-US" b="1">
                <a:solidFill>
                  <a:schemeClr val="tx1">
                    <a:lumMod val="75000"/>
                    <a:lumOff val="25000"/>
                  </a:schemeClr>
                </a:solidFill>
              </a:rPr>
              <a:t>Two views derived from the database in Figure</a:t>
            </a:r>
          </a:p>
          <a:p>
            <a:pPr defTabSz="914400">
              <a:lnSpc>
                <a:spcPct val="90000"/>
              </a:lnSpc>
              <a:spcAft>
                <a:spcPts val="600"/>
              </a:spcAft>
              <a:buClr>
                <a:schemeClr val="accent1"/>
              </a:buClr>
              <a:buFont typeface="Calibri" panose="020F0502020204030204" pitchFamily="34" charset="0"/>
            </a:pPr>
            <a:r>
              <a:rPr lang="en-US" b="1">
                <a:solidFill>
                  <a:schemeClr val="tx1">
                    <a:lumMod val="75000"/>
                    <a:lumOff val="25000"/>
                  </a:schemeClr>
                </a:solidFill>
              </a:rPr>
              <a:t>(a) The TRANSCRIPT view.</a:t>
            </a:r>
          </a:p>
          <a:p>
            <a:pPr defTabSz="914400">
              <a:lnSpc>
                <a:spcPct val="90000"/>
              </a:lnSpc>
              <a:spcAft>
                <a:spcPts val="600"/>
              </a:spcAft>
              <a:buClr>
                <a:schemeClr val="accent1"/>
              </a:buClr>
              <a:buFont typeface="Calibri" panose="020F0502020204030204" pitchFamily="34" charset="0"/>
            </a:pPr>
            <a:r>
              <a:rPr lang="en-US" b="1">
                <a:solidFill>
                  <a:schemeClr val="tx1">
                    <a:lumMod val="75000"/>
                    <a:lumOff val="25000"/>
                  </a:schemeClr>
                </a:solidFill>
              </a:rPr>
              <a:t>(b) The COURSE_PREREQUISITES view.</a:t>
            </a:r>
          </a:p>
        </p:txBody>
      </p:sp>
      <p:sp>
        <p:nvSpPr>
          <p:cNvPr id="21" name="Rectangle 20">
            <a:extLst>
              <a:ext uri="{FF2B5EF4-FFF2-40B4-BE49-F238E27FC236}">
                <a16:creationId xmlns:a16="http://schemas.microsoft.com/office/drawing/2014/main" id="{E95DA498-D9A2-4DA9-B9DA-B3776E08C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82A73093-4B9D-420D-B17E-52293703A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2728286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b="1" dirty="0">
                <a:solidFill>
                  <a:schemeClr val="tx1"/>
                </a:solidFill>
              </a:rPr>
              <a:t>Sharing of data and multiuser transaction processing.</a:t>
            </a:r>
          </a:p>
          <a:p>
            <a:pPr lvl="1">
              <a:buFont typeface="Arial" panose="020B0604020202020204" pitchFamily="34" charset="0"/>
              <a:buChar char="•"/>
            </a:pPr>
            <a:r>
              <a:rPr lang="en-US" sz="2000" dirty="0">
                <a:solidFill>
                  <a:schemeClr val="tx1"/>
                </a:solidFill>
              </a:rPr>
              <a:t>Multiple users to access the database at the same time. </a:t>
            </a:r>
          </a:p>
          <a:p>
            <a:pPr lvl="1">
              <a:buFont typeface="Arial" panose="020B0604020202020204" pitchFamily="34" charset="0"/>
              <a:buChar char="•"/>
            </a:pPr>
            <a:r>
              <a:rPr lang="en-US" sz="2000" b="1" dirty="0">
                <a:solidFill>
                  <a:schemeClr val="tx1"/>
                </a:solidFill>
              </a:rPr>
              <a:t>Concurrency control: </a:t>
            </a:r>
            <a:r>
              <a:rPr lang="en-US" sz="2000" dirty="0">
                <a:solidFill>
                  <a:schemeClr val="tx1"/>
                </a:solidFill>
              </a:rPr>
              <a:t>ensures that several users trying to update or retrieve the same data in so controlled manner.</a:t>
            </a:r>
          </a:p>
          <a:p>
            <a:pPr lvl="2">
              <a:buFont typeface="Arial" panose="020B0604020202020204" pitchFamily="34" charset="0"/>
              <a:buChar char="•"/>
            </a:pPr>
            <a:r>
              <a:rPr lang="en-US" sz="2000" dirty="0">
                <a:solidFill>
                  <a:schemeClr val="tx1"/>
                </a:solidFill>
              </a:rPr>
              <a:t>i.e., Airline Reservation</a:t>
            </a:r>
          </a:p>
          <a:p>
            <a:pPr lvl="2">
              <a:buFont typeface="Arial" panose="020B0604020202020204" pitchFamily="34" charset="0"/>
              <a:buChar char="•"/>
            </a:pPr>
            <a:r>
              <a:rPr lang="en-US" sz="2000" dirty="0">
                <a:solidFill>
                  <a:schemeClr val="tx1"/>
                </a:solidFill>
              </a:rPr>
              <a:t> A fundamental role of multiuser DBMS software is to ensure that concurrent transactions operate correctly and efficiently.</a:t>
            </a:r>
          </a:p>
          <a:p>
            <a:pPr>
              <a:buFont typeface="Arial" panose="020B0604020202020204" pitchFamily="34" charset="0"/>
              <a:buChar char="•"/>
            </a:pPr>
            <a:r>
              <a:rPr lang="en-US" altLang="en-US" b="1" dirty="0">
                <a:solidFill>
                  <a:schemeClr val="tx1"/>
                </a:solidFill>
              </a:rPr>
              <a:t>OLTP</a:t>
            </a:r>
            <a:r>
              <a:rPr lang="en-US" altLang="en-US" dirty="0">
                <a:solidFill>
                  <a:schemeClr val="tx1"/>
                </a:solidFill>
              </a:rPr>
              <a:t> (Online Transaction Processing) is a major part of database applications. This allows hundreds of concurrent transactions to execute per second.</a:t>
            </a:r>
          </a:p>
        </p:txBody>
      </p:sp>
      <p:sp>
        <p:nvSpPr>
          <p:cNvPr id="4" name="Title 1"/>
          <p:cNvSpPr>
            <a:spLocks noGrp="1"/>
          </p:cNvSpPr>
          <p:nvPr>
            <p:ph type="title"/>
          </p:nvPr>
        </p:nvSpPr>
        <p:spPr>
          <a:xfrm>
            <a:off x="1032062" y="1102659"/>
            <a:ext cx="7886700" cy="623890"/>
          </a:xfrm>
        </p:spPr>
        <p:txBody>
          <a:bodyPr>
            <a:normAutofit/>
          </a:bodyPr>
          <a:lstStyle/>
          <a:p>
            <a:r>
              <a:rPr lang="en-US" sz="3200" b="1" dirty="0"/>
              <a:t>Characteristics of Database Approach</a:t>
            </a:r>
          </a:p>
        </p:txBody>
      </p:sp>
    </p:spTree>
    <p:extLst>
      <p:ext uri="{BB962C8B-B14F-4D97-AF65-F5344CB8AC3E}">
        <p14:creationId xmlns:p14="http://schemas.microsoft.com/office/powerpoint/2010/main" val="24216504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A5257F-9A6D-150C-68F5-76BCDFF181B8}"/>
              </a:ext>
            </a:extLst>
          </p:cNvPr>
          <p:cNvSpPr txBox="1"/>
          <p:nvPr/>
        </p:nvSpPr>
        <p:spPr>
          <a:xfrm>
            <a:off x="3382224" y="2598003"/>
            <a:ext cx="6097508" cy="830997"/>
          </a:xfrm>
          <a:prstGeom prst="rect">
            <a:avLst/>
          </a:prstGeom>
          <a:noFill/>
        </p:spPr>
        <p:txBody>
          <a:bodyPr wrap="square">
            <a:spAutoFit/>
          </a:bodyPr>
          <a:lstStyle/>
          <a:p>
            <a:pPr algn="ctr"/>
            <a:r>
              <a:rPr lang="en-US" sz="4800" dirty="0">
                <a:solidFill>
                  <a:schemeClr val="accent2"/>
                </a:solidFill>
              </a:rPr>
              <a:t>Any question????</a:t>
            </a:r>
          </a:p>
        </p:txBody>
      </p:sp>
    </p:spTree>
    <p:extLst>
      <p:ext uri="{BB962C8B-B14F-4D97-AF65-F5344CB8AC3E}">
        <p14:creationId xmlns:p14="http://schemas.microsoft.com/office/powerpoint/2010/main" val="132598588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714</TotalTime>
  <Words>2597</Words>
  <Application>Microsoft Office PowerPoint</Application>
  <PresentationFormat>Widescreen</PresentationFormat>
  <Paragraphs>154</Paragraphs>
  <Slides>19</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vt:lpstr>
      <vt:lpstr>Arial</vt:lpstr>
      <vt:lpstr>Calibri</vt:lpstr>
      <vt:lpstr>Calibri Light</vt:lpstr>
      <vt:lpstr>Times</vt:lpstr>
      <vt:lpstr>Times New Roman</vt:lpstr>
      <vt:lpstr>Retrospect</vt:lpstr>
      <vt:lpstr> Database System</vt:lpstr>
      <vt:lpstr>PowerPoint Presentation</vt:lpstr>
      <vt:lpstr>Limitations of File-Based Approach</vt:lpstr>
      <vt:lpstr>Limitations of File-Based Approach</vt:lpstr>
      <vt:lpstr>Files vs Databases</vt:lpstr>
      <vt:lpstr>Database Management System (DBMS)</vt:lpstr>
      <vt:lpstr>PowerPoint Presentation</vt:lpstr>
      <vt:lpstr>DBMS Functionality</vt:lpstr>
      <vt:lpstr>DBMS Functionality</vt:lpstr>
      <vt:lpstr>PowerPoint Presentation</vt:lpstr>
      <vt:lpstr>UNIVERSITY Database Example</vt:lpstr>
      <vt:lpstr>UNIVERSITY Database Example</vt:lpstr>
      <vt:lpstr>Characteristics of Database Approach</vt:lpstr>
      <vt:lpstr>PowerPoint Presentation</vt:lpstr>
      <vt:lpstr>Characteristics of Database Approach</vt:lpstr>
      <vt:lpstr>Internal storage format for a STUDENT record, based on the database catalog</vt:lpstr>
      <vt:lpstr>Characteristics of Database Approach</vt:lpstr>
      <vt:lpstr>Characteristics of Database Approach</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Alina Arshad</dc:creator>
  <cp:lastModifiedBy>Ms Alina Arshad</cp:lastModifiedBy>
  <cp:revision>27</cp:revision>
  <dcterms:created xsi:type="dcterms:W3CDTF">2024-08-09T06:58:16Z</dcterms:created>
  <dcterms:modified xsi:type="dcterms:W3CDTF">2024-08-19T15:41:17Z</dcterms:modified>
</cp:coreProperties>
</file>