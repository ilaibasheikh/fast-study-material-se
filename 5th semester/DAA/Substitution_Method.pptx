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</p:sldIdLst>
  <p:sldSz cx="9144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97" userDrawn="1">
          <p15:clr>
            <a:srgbClr val="A4A3A4"/>
          </p15:clr>
        </p15:guide>
        <p15:guide id="2" pos="21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97"/>
        <p:guide pos="215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D2C00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58B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D2C00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58B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D2C00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D2C00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40458B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image" Target="../media/image3.png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00227"/>
            <a:ext cx="9144000" cy="914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05027"/>
            <a:ext cx="9144000" cy="914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909827"/>
            <a:ext cx="9144000" cy="914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214627"/>
            <a:ext cx="9144000" cy="914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519427"/>
            <a:ext cx="9144000" cy="9144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824227"/>
            <a:ext cx="9144000" cy="914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129027"/>
            <a:ext cx="9144000" cy="914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433827"/>
            <a:ext cx="9144000" cy="914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2738627"/>
            <a:ext cx="9144000" cy="9144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043427"/>
            <a:ext cx="9144000" cy="9144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348228"/>
            <a:ext cx="9144000" cy="9144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653028"/>
            <a:ext cx="9144000" cy="9144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3957828"/>
            <a:ext cx="9144000" cy="9144"/>
          </a:xfrm>
          <a:prstGeom prst="rect">
            <a:avLst/>
          </a:prstGeom>
        </p:spPr>
      </p:pic>
      <p:pic>
        <p:nvPicPr>
          <p:cNvPr id="29" name="bg object 2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4262628"/>
            <a:ext cx="9144000" cy="9144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4567428"/>
            <a:ext cx="9144000" cy="9144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4872228"/>
            <a:ext cx="9144000" cy="9144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177028"/>
            <a:ext cx="9144000" cy="9144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481828"/>
            <a:ext cx="9144000" cy="9143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5786628"/>
            <a:ext cx="9144000" cy="9143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091428"/>
            <a:ext cx="9144000" cy="9143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396228"/>
            <a:ext cx="9144000" cy="914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701028"/>
            <a:ext cx="9144000" cy="9143"/>
          </a:xfrm>
          <a:prstGeom prst="rect">
            <a:avLst/>
          </a:prstGeom>
        </p:spPr>
      </p:pic>
      <p:pic>
        <p:nvPicPr>
          <p:cNvPr id="38" name="bg object 3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0227" y="0"/>
            <a:ext cx="9143" cy="6857999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5027" y="0"/>
            <a:ext cx="9143" cy="6857999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09827" y="0"/>
            <a:ext cx="9143" cy="6857999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14627" y="0"/>
            <a:ext cx="9143" cy="6857999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9427" y="0"/>
            <a:ext cx="9143" cy="6857999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24227" y="0"/>
            <a:ext cx="9144" cy="6857999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29027" y="0"/>
            <a:ext cx="9144" cy="6857999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33827" y="0"/>
            <a:ext cx="9144" cy="6857999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38627" y="0"/>
            <a:ext cx="9144" cy="6857999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3427" y="0"/>
            <a:ext cx="9144" cy="6857999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48228" y="0"/>
            <a:ext cx="9144" cy="6857999"/>
          </a:xfrm>
          <a:prstGeom prst="rect">
            <a:avLst/>
          </a:prstGeom>
        </p:spPr>
      </p:pic>
      <p:pic>
        <p:nvPicPr>
          <p:cNvPr id="49" name="bg object 4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53028" y="0"/>
            <a:ext cx="9144" cy="6857999"/>
          </a:xfrm>
          <a:prstGeom prst="rect">
            <a:avLst/>
          </a:prstGeom>
        </p:spPr>
      </p:pic>
      <p:pic>
        <p:nvPicPr>
          <p:cNvPr id="50" name="bg 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57828" y="0"/>
            <a:ext cx="9144" cy="6857999"/>
          </a:xfrm>
          <a:prstGeom prst="rect">
            <a:avLst/>
          </a:prstGeom>
        </p:spPr>
      </p:pic>
      <p:pic>
        <p:nvPicPr>
          <p:cNvPr id="51" name="bg object 5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62628" y="0"/>
            <a:ext cx="9144" cy="6857999"/>
          </a:xfrm>
          <a:prstGeom prst="rect">
            <a:avLst/>
          </a:prstGeom>
        </p:spPr>
      </p:pic>
      <p:pic>
        <p:nvPicPr>
          <p:cNvPr id="52" name="bg object 5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67428" y="0"/>
            <a:ext cx="9144" cy="6857999"/>
          </a:xfrm>
          <a:prstGeom prst="rect">
            <a:avLst/>
          </a:prstGeom>
        </p:spPr>
      </p:pic>
      <p:pic>
        <p:nvPicPr>
          <p:cNvPr id="53" name="bg object 5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72228" y="0"/>
            <a:ext cx="9144" cy="6857999"/>
          </a:xfrm>
          <a:prstGeom prst="rect">
            <a:avLst/>
          </a:prstGeom>
        </p:spPr>
      </p:pic>
      <p:pic>
        <p:nvPicPr>
          <p:cNvPr id="54" name="bg object 5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77028" y="0"/>
            <a:ext cx="9144" cy="6857999"/>
          </a:xfrm>
          <a:prstGeom prst="rect">
            <a:avLst/>
          </a:prstGeom>
        </p:spPr>
      </p:pic>
      <p:pic>
        <p:nvPicPr>
          <p:cNvPr id="55" name="bg object 5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81828" y="0"/>
            <a:ext cx="9144" cy="6857999"/>
          </a:xfrm>
          <a:prstGeom prst="rect">
            <a:avLst/>
          </a:prstGeom>
        </p:spPr>
      </p:pic>
      <p:pic>
        <p:nvPicPr>
          <p:cNvPr id="56" name="bg object 5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86628" y="0"/>
            <a:ext cx="9144" cy="6857999"/>
          </a:xfrm>
          <a:prstGeom prst="rect">
            <a:avLst/>
          </a:prstGeom>
        </p:spPr>
      </p:pic>
      <p:pic>
        <p:nvPicPr>
          <p:cNvPr id="57" name="bg object 5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1428" y="0"/>
            <a:ext cx="9144" cy="6857999"/>
          </a:xfrm>
          <a:prstGeom prst="rect">
            <a:avLst/>
          </a:prstGeom>
        </p:spPr>
      </p:pic>
      <p:pic>
        <p:nvPicPr>
          <p:cNvPr id="58" name="bg object 5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96228" y="0"/>
            <a:ext cx="9144" cy="6857999"/>
          </a:xfrm>
          <a:prstGeom prst="rect">
            <a:avLst/>
          </a:prstGeom>
        </p:spPr>
      </p:pic>
      <p:pic>
        <p:nvPicPr>
          <p:cNvPr id="59" name="bg object 5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701028" y="0"/>
            <a:ext cx="9144" cy="6857999"/>
          </a:xfrm>
          <a:prstGeom prst="rect">
            <a:avLst/>
          </a:prstGeom>
        </p:spPr>
      </p:pic>
      <p:pic>
        <p:nvPicPr>
          <p:cNvPr id="60" name="bg object 6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05828" y="0"/>
            <a:ext cx="9144" cy="6857999"/>
          </a:xfrm>
          <a:prstGeom prst="rect">
            <a:avLst/>
          </a:prstGeom>
        </p:spPr>
      </p:pic>
      <p:pic>
        <p:nvPicPr>
          <p:cNvPr id="61" name="bg object 6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10628" y="0"/>
            <a:ext cx="9144" cy="6857999"/>
          </a:xfrm>
          <a:prstGeom prst="rect">
            <a:avLst/>
          </a:prstGeom>
        </p:spPr>
      </p:pic>
      <p:pic>
        <p:nvPicPr>
          <p:cNvPr id="62" name="bg object 6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15428" y="0"/>
            <a:ext cx="9144" cy="6857999"/>
          </a:xfrm>
          <a:prstGeom prst="rect">
            <a:avLst/>
          </a:prstGeom>
        </p:spPr>
      </p:pic>
      <p:pic>
        <p:nvPicPr>
          <p:cNvPr id="63" name="bg object 6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20228" y="0"/>
            <a:ext cx="9144" cy="6857999"/>
          </a:xfrm>
          <a:prstGeom prst="rect">
            <a:avLst/>
          </a:prstGeom>
        </p:spPr>
      </p:pic>
      <p:pic>
        <p:nvPicPr>
          <p:cNvPr id="64" name="bg object 6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25028" y="0"/>
            <a:ext cx="9144" cy="6857999"/>
          </a:xfrm>
          <a:prstGeom prst="rect">
            <a:avLst/>
          </a:prstGeom>
        </p:spPr>
      </p:pic>
      <p:pic>
        <p:nvPicPr>
          <p:cNvPr id="65" name="bg object 6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29828" y="0"/>
            <a:ext cx="9144" cy="6857999"/>
          </a:xfrm>
          <a:prstGeom prst="rect">
            <a:avLst/>
          </a:prstGeom>
        </p:spPr>
      </p:pic>
      <p:pic>
        <p:nvPicPr>
          <p:cNvPr id="66" name="bg object 6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34628" y="0"/>
            <a:ext cx="9144" cy="6857999"/>
          </a:xfrm>
          <a:prstGeom prst="rect">
            <a:avLst/>
          </a:prstGeom>
        </p:spPr>
      </p:pic>
      <p:pic>
        <p:nvPicPr>
          <p:cNvPr id="67" name="bg object 6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52799" y="0"/>
            <a:ext cx="5791200" cy="152400"/>
          </a:xfrm>
          <a:prstGeom prst="rect">
            <a:avLst/>
          </a:prstGeom>
        </p:spPr>
      </p:pic>
      <p:sp>
        <p:nvSpPr>
          <p:cNvPr id="68" name="bg object 68"/>
          <p:cNvSpPr/>
          <p:nvPr/>
        </p:nvSpPr>
        <p:spPr>
          <a:xfrm>
            <a:off x="8839199" y="0"/>
            <a:ext cx="0" cy="2362200"/>
          </a:xfrm>
          <a:custGeom>
            <a:avLst/>
            <a:gdLst/>
            <a:ahLst/>
            <a:cxnLst/>
            <a:rect l="l" t="t" r="r" b="b"/>
            <a:pathLst>
              <a:path h="2362200">
                <a:moveTo>
                  <a:pt x="0" y="0"/>
                </a:moveTo>
                <a:lnTo>
                  <a:pt x="0" y="2362200"/>
                </a:lnTo>
              </a:path>
            </a:pathLst>
          </a:custGeom>
          <a:ln w="9144">
            <a:solidFill>
              <a:srgbClr val="6E88F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bg object 69"/>
          <p:cNvSpPr/>
          <p:nvPr/>
        </p:nvSpPr>
        <p:spPr>
          <a:xfrm>
            <a:off x="414527" y="1418844"/>
            <a:ext cx="1784985" cy="2321560"/>
          </a:xfrm>
          <a:custGeom>
            <a:avLst/>
            <a:gdLst/>
            <a:ahLst/>
            <a:cxnLst/>
            <a:rect l="l" t="t" r="r" b="b"/>
            <a:pathLst>
              <a:path w="1784985" h="2321560">
                <a:moveTo>
                  <a:pt x="1784603" y="96011"/>
                </a:moveTo>
                <a:lnTo>
                  <a:pt x="0" y="96011"/>
                </a:lnTo>
              </a:path>
              <a:path w="1784985" h="2321560">
                <a:moveTo>
                  <a:pt x="193548" y="0"/>
                </a:moveTo>
                <a:lnTo>
                  <a:pt x="193548" y="2321051"/>
                </a:lnTo>
              </a:path>
            </a:pathLst>
          </a:custGeom>
          <a:ln w="9144">
            <a:solidFill>
              <a:srgbClr val="6E88F7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0" name="bg object 7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09016" y="1411224"/>
            <a:ext cx="201168" cy="20269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5465"/>
            <a:ext cx="7178040" cy="1367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D2C00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3944" y="1577466"/>
            <a:ext cx="6753225" cy="3208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58B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133333" y="6433427"/>
            <a:ext cx="284479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40458B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Divide-</a:t>
            </a:r>
            <a:r>
              <a:rPr dirty="0"/>
              <a:t>and-</a:t>
            </a:r>
            <a:r>
              <a:rPr spc="-10" dirty="0"/>
              <a:t>Conquer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" y="1603247"/>
            <a:ext cx="228600" cy="234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" y="4767071"/>
            <a:ext cx="228600" cy="2346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" y="5827776"/>
            <a:ext cx="228600" cy="2346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69644" y="1519554"/>
            <a:ext cx="4209415" cy="49460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0800" marR="81597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Divide-</a:t>
            </a:r>
            <a:r>
              <a:rPr sz="2400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2400" spc="-40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conquer</a:t>
            </a:r>
            <a:r>
              <a:rPr sz="2400" spc="-30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sz="24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6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general</a:t>
            </a:r>
            <a:r>
              <a:rPr sz="24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algorithm</a:t>
            </a:r>
            <a:r>
              <a:rPr sz="24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design paradigm: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451485" marR="74930" indent="-287020">
              <a:lnSpc>
                <a:spcPts val="2160"/>
              </a:lnSpc>
              <a:spcBef>
                <a:spcPts val="435"/>
              </a:spcBef>
              <a:buClr>
                <a:srgbClr val="40458B"/>
              </a:buClr>
              <a:buSzPct val="60000"/>
              <a:buFont typeface="Wingdings" panose="05000000000000000000"/>
              <a:buChar char=""/>
              <a:tabLst>
                <a:tab pos="450850" algn="l"/>
              </a:tabLst>
            </a:pPr>
            <a:r>
              <a:rPr sz="2000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Divide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: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divide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0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input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data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i="1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2000" b="1" i="1" spc="100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in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two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or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more</a:t>
            </a:r>
            <a:r>
              <a:rPr sz="20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disjoint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subsets</a:t>
            </a:r>
            <a:r>
              <a:rPr sz="20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i="1" spc="-25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950" spc="-37" baseline="-21000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i="1" spc="-25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, </a:t>
            </a:r>
            <a:r>
              <a:rPr sz="2000" b="1" i="1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950" baseline="-21000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000" spc="-5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spc="-50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…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451485" marR="424815" indent="-287020">
              <a:lnSpc>
                <a:spcPts val="2160"/>
              </a:lnSpc>
              <a:spcBef>
                <a:spcPts val="530"/>
              </a:spcBef>
              <a:buClr>
                <a:srgbClr val="40458B"/>
              </a:buClr>
              <a:buSzPct val="60000"/>
              <a:buFont typeface="Wingdings" panose="05000000000000000000"/>
              <a:buChar char=""/>
              <a:tabLst>
                <a:tab pos="450850" algn="l"/>
              </a:tabLst>
            </a:pPr>
            <a:r>
              <a:rPr sz="2000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Recur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:</a:t>
            </a:r>
            <a:r>
              <a:rPr sz="20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solve</a:t>
            </a:r>
            <a:r>
              <a:rPr sz="20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subproblems recursively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451485" marR="43180" indent="-287020">
              <a:lnSpc>
                <a:spcPts val="2110"/>
              </a:lnSpc>
              <a:spcBef>
                <a:spcPts val="525"/>
              </a:spcBef>
              <a:buClr>
                <a:srgbClr val="40458B"/>
              </a:buClr>
              <a:buSzPct val="60000"/>
              <a:buFont typeface="Wingdings" panose="05000000000000000000"/>
              <a:buChar char=""/>
              <a:tabLst>
                <a:tab pos="450850" algn="l"/>
              </a:tabLst>
            </a:pPr>
            <a:r>
              <a:rPr sz="2000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Conquer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: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combine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solutions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i="1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950" baseline="-21000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000" b="1" i="1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2000" b="1" i="1" spc="100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000" b="1" i="1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950" baseline="-21000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,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…,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into</a:t>
            </a:r>
            <a:r>
              <a:rPr sz="20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solution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2000" spc="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i="1" spc="-50" dirty="0">
                <a:solidFill>
                  <a:srgbClr val="40458B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50800" marR="232410">
              <a:lnSpc>
                <a:spcPct val="90000"/>
              </a:lnSpc>
              <a:spcBef>
                <a:spcPts val="600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4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base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case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2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recursion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are</a:t>
            </a:r>
            <a:r>
              <a:rPr sz="24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subproblems</a:t>
            </a:r>
            <a:r>
              <a:rPr sz="2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of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constant</a:t>
            </a:r>
            <a:r>
              <a:rPr sz="2400" spc="-114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size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ts val="2735"/>
              </a:lnSpc>
              <a:spcBef>
                <a:spcPts val="285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Analysis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can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be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done</a:t>
            </a:r>
            <a:r>
              <a:rPr sz="2400" spc="-6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using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ts val="2735"/>
              </a:lnSpc>
            </a:pPr>
            <a:r>
              <a:rPr sz="2400" b="1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recurrence</a:t>
            </a:r>
            <a:r>
              <a:rPr sz="2400" b="1" spc="-15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10" dirty="0">
                <a:solidFill>
                  <a:srgbClr val="BD2C00"/>
                </a:solidFill>
                <a:latin typeface="Tahoma" panose="020B0604030504040204"/>
                <a:cs typeface="Tahoma" panose="020B0604030504040204"/>
              </a:rPr>
              <a:t>equations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24855" y="2276855"/>
            <a:ext cx="3449320" cy="1696720"/>
            <a:chOff x="5324855" y="2276855"/>
            <a:chExt cx="3449320" cy="1696720"/>
          </a:xfrm>
        </p:grpSpPr>
        <p:sp>
          <p:nvSpPr>
            <p:cNvPr id="8" name="object 8"/>
            <p:cNvSpPr/>
            <p:nvPr/>
          </p:nvSpPr>
          <p:spPr>
            <a:xfrm>
              <a:off x="6861809" y="2286761"/>
              <a:ext cx="429895" cy="437515"/>
            </a:xfrm>
            <a:custGeom>
              <a:avLst/>
              <a:gdLst/>
              <a:ahLst/>
              <a:cxnLst/>
              <a:rect l="l" t="t" r="r" b="b"/>
              <a:pathLst>
                <a:path w="429895" h="437514">
                  <a:moveTo>
                    <a:pt x="214884" y="0"/>
                  </a:moveTo>
                  <a:lnTo>
                    <a:pt x="165631" y="5776"/>
                  </a:lnTo>
                  <a:lnTo>
                    <a:pt x="120409" y="22229"/>
                  </a:lnTo>
                  <a:lnTo>
                    <a:pt x="80509" y="48045"/>
                  </a:lnTo>
                  <a:lnTo>
                    <a:pt x="47226" y="81913"/>
                  </a:lnTo>
                  <a:lnTo>
                    <a:pt x="21851" y="122519"/>
                  </a:lnTo>
                  <a:lnTo>
                    <a:pt x="5678" y="168550"/>
                  </a:lnTo>
                  <a:lnTo>
                    <a:pt x="0" y="218693"/>
                  </a:lnTo>
                  <a:lnTo>
                    <a:pt x="5678" y="268837"/>
                  </a:lnTo>
                  <a:lnTo>
                    <a:pt x="21851" y="314868"/>
                  </a:lnTo>
                  <a:lnTo>
                    <a:pt x="47226" y="355474"/>
                  </a:lnTo>
                  <a:lnTo>
                    <a:pt x="80509" y="389342"/>
                  </a:lnTo>
                  <a:lnTo>
                    <a:pt x="120409" y="415158"/>
                  </a:lnTo>
                  <a:lnTo>
                    <a:pt x="165631" y="431611"/>
                  </a:lnTo>
                  <a:lnTo>
                    <a:pt x="214884" y="437388"/>
                  </a:lnTo>
                  <a:lnTo>
                    <a:pt x="264136" y="431611"/>
                  </a:lnTo>
                  <a:lnTo>
                    <a:pt x="309358" y="415158"/>
                  </a:lnTo>
                  <a:lnTo>
                    <a:pt x="349258" y="389342"/>
                  </a:lnTo>
                  <a:lnTo>
                    <a:pt x="382541" y="355474"/>
                  </a:lnTo>
                  <a:lnTo>
                    <a:pt x="407916" y="314868"/>
                  </a:lnTo>
                  <a:lnTo>
                    <a:pt x="424089" y="268837"/>
                  </a:lnTo>
                  <a:lnTo>
                    <a:pt x="429768" y="218693"/>
                  </a:lnTo>
                  <a:lnTo>
                    <a:pt x="424089" y="168550"/>
                  </a:lnTo>
                  <a:lnTo>
                    <a:pt x="407916" y="122519"/>
                  </a:lnTo>
                  <a:lnTo>
                    <a:pt x="382541" y="81913"/>
                  </a:lnTo>
                  <a:lnTo>
                    <a:pt x="349258" y="48045"/>
                  </a:lnTo>
                  <a:lnTo>
                    <a:pt x="309358" y="22229"/>
                  </a:lnTo>
                  <a:lnTo>
                    <a:pt x="264136" y="5776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490209" y="2286761"/>
              <a:ext cx="1801495" cy="1350010"/>
            </a:xfrm>
            <a:custGeom>
              <a:avLst/>
              <a:gdLst/>
              <a:ahLst/>
              <a:cxnLst/>
              <a:rect l="l" t="t" r="r" b="b"/>
              <a:pathLst>
                <a:path w="1801495" h="1350010">
                  <a:moveTo>
                    <a:pt x="1371599" y="218693"/>
                  </a:moveTo>
                  <a:lnTo>
                    <a:pt x="1377278" y="168550"/>
                  </a:lnTo>
                  <a:lnTo>
                    <a:pt x="1393451" y="122519"/>
                  </a:lnTo>
                  <a:lnTo>
                    <a:pt x="1418826" y="81913"/>
                  </a:lnTo>
                  <a:lnTo>
                    <a:pt x="1452109" y="48045"/>
                  </a:lnTo>
                  <a:lnTo>
                    <a:pt x="1492009" y="22229"/>
                  </a:lnTo>
                  <a:lnTo>
                    <a:pt x="1537231" y="5776"/>
                  </a:lnTo>
                  <a:lnTo>
                    <a:pt x="1586484" y="0"/>
                  </a:lnTo>
                  <a:lnTo>
                    <a:pt x="1635736" y="5776"/>
                  </a:lnTo>
                  <a:lnTo>
                    <a:pt x="1680958" y="22229"/>
                  </a:lnTo>
                  <a:lnTo>
                    <a:pt x="1720858" y="48045"/>
                  </a:lnTo>
                  <a:lnTo>
                    <a:pt x="1754141" y="81913"/>
                  </a:lnTo>
                  <a:lnTo>
                    <a:pt x="1779516" y="122519"/>
                  </a:lnTo>
                  <a:lnTo>
                    <a:pt x="1795689" y="168550"/>
                  </a:lnTo>
                  <a:lnTo>
                    <a:pt x="1801367" y="218693"/>
                  </a:lnTo>
                  <a:lnTo>
                    <a:pt x="1795689" y="268837"/>
                  </a:lnTo>
                  <a:lnTo>
                    <a:pt x="1779516" y="314868"/>
                  </a:lnTo>
                  <a:lnTo>
                    <a:pt x="1754141" y="355474"/>
                  </a:lnTo>
                  <a:lnTo>
                    <a:pt x="1720858" y="389342"/>
                  </a:lnTo>
                  <a:lnTo>
                    <a:pt x="1680958" y="415158"/>
                  </a:lnTo>
                  <a:lnTo>
                    <a:pt x="1635736" y="431611"/>
                  </a:lnTo>
                  <a:lnTo>
                    <a:pt x="1586484" y="437388"/>
                  </a:lnTo>
                  <a:lnTo>
                    <a:pt x="1537231" y="431611"/>
                  </a:lnTo>
                  <a:lnTo>
                    <a:pt x="1492009" y="415158"/>
                  </a:lnTo>
                  <a:lnTo>
                    <a:pt x="1452109" y="389342"/>
                  </a:lnTo>
                  <a:lnTo>
                    <a:pt x="1418826" y="355474"/>
                  </a:lnTo>
                  <a:lnTo>
                    <a:pt x="1393451" y="314868"/>
                  </a:lnTo>
                  <a:lnTo>
                    <a:pt x="1377278" y="268837"/>
                  </a:lnTo>
                  <a:lnTo>
                    <a:pt x="1371599" y="218693"/>
                  </a:lnTo>
                  <a:close/>
                </a:path>
                <a:path w="1801495" h="1350010">
                  <a:moveTo>
                    <a:pt x="542543" y="763524"/>
                  </a:moveTo>
                  <a:lnTo>
                    <a:pt x="1433067" y="385572"/>
                  </a:lnTo>
                </a:path>
                <a:path w="1801495" h="1350010">
                  <a:moveTo>
                    <a:pt x="1572767" y="700277"/>
                  </a:moveTo>
                  <a:lnTo>
                    <a:pt x="1586864" y="449579"/>
                  </a:lnTo>
                </a:path>
                <a:path w="1801495" h="1350010">
                  <a:moveTo>
                    <a:pt x="387095" y="1349756"/>
                  </a:moveTo>
                  <a:lnTo>
                    <a:pt x="391160" y="1162812"/>
                  </a:lnTo>
                </a:path>
                <a:path w="1801495" h="1350010">
                  <a:moveTo>
                    <a:pt x="0" y="1349502"/>
                  </a:moveTo>
                  <a:lnTo>
                    <a:pt x="238251" y="1098803"/>
                  </a:lnTo>
                </a:path>
              </a:pathLst>
            </a:custGeom>
            <a:ln w="19812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665469" y="2999993"/>
              <a:ext cx="431800" cy="437515"/>
            </a:xfrm>
            <a:custGeom>
              <a:avLst/>
              <a:gdLst/>
              <a:ahLst/>
              <a:cxnLst/>
              <a:rect l="l" t="t" r="r" b="b"/>
              <a:pathLst>
                <a:path w="431800" h="437514">
                  <a:moveTo>
                    <a:pt x="215645" y="0"/>
                  </a:moveTo>
                  <a:lnTo>
                    <a:pt x="166191" y="5776"/>
                  </a:lnTo>
                  <a:lnTo>
                    <a:pt x="120798" y="22229"/>
                  </a:lnTo>
                  <a:lnTo>
                    <a:pt x="80758" y="48045"/>
                  </a:lnTo>
                  <a:lnTo>
                    <a:pt x="47366" y="81913"/>
                  </a:lnTo>
                  <a:lnTo>
                    <a:pt x="21913" y="122519"/>
                  </a:lnTo>
                  <a:lnTo>
                    <a:pt x="5693" y="168550"/>
                  </a:lnTo>
                  <a:lnTo>
                    <a:pt x="0" y="218693"/>
                  </a:lnTo>
                  <a:lnTo>
                    <a:pt x="5693" y="268837"/>
                  </a:lnTo>
                  <a:lnTo>
                    <a:pt x="21913" y="314868"/>
                  </a:lnTo>
                  <a:lnTo>
                    <a:pt x="47366" y="355474"/>
                  </a:lnTo>
                  <a:lnTo>
                    <a:pt x="80758" y="389342"/>
                  </a:lnTo>
                  <a:lnTo>
                    <a:pt x="120798" y="415158"/>
                  </a:lnTo>
                  <a:lnTo>
                    <a:pt x="166191" y="431611"/>
                  </a:lnTo>
                  <a:lnTo>
                    <a:pt x="215645" y="437388"/>
                  </a:lnTo>
                  <a:lnTo>
                    <a:pt x="265100" y="431611"/>
                  </a:lnTo>
                  <a:lnTo>
                    <a:pt x="310493" y="415158"/>
                  </a:lnTo>
                  <a:lnTo>
                    <a:pt x="350533" y="389342"/>
                  </a:lnTo>
                  <a:lnTo>
                    <a:pt x="383925" y="355474"/>
                  </a:lnTo>
                  <a:lnTo>
                    <a:pt x="409378" y="314868"/>
                  </a:lnTo>
                  <a:lnTo>
                    <a:pt x="425598" y="268837"/>
                  </a:lnTo>
                  <a:lnTo>
                    <a:pt x="431291" y="218693"/>
                  </a:lnTo>
                  <a:lnTo>
                    <a:pt x="425598" y="168550"/>
                  </a:lnTo>
                  <a:lnTo>
                    <a:pt x="409378" y="122519"/>
                  </a:lnTo>
                  <a:lnTo>
                    <a:pt x="383925" y="81913"/>
                  </a:lnTo>
                  <a:lnTo>
                    <a:pt x="350533" y="48045"/>
                  </a:lnTo>
                  <a:lnTo>
                    <a:pt x="310493" y="22229"/>
                  </a:lnTo>
                  <a:lnTo>
                    <a:pt x="265100" y="5776"/>
                  </a:lnTo>
                  <a:lnTo>
                    <a:pt x="215645" y="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665469" y="2999993"/>
              <a:ext cx="431800" cy="437515"/>
            </a:xfrm>
            <a:custGeom>
              <a:avLst/>
              <a:gdLst/>
              <a:ahLst/>
              <a:cxnLst/>
              <a:rect l="l" t="t" r="r" b="b"/>
              <a:pathLst>
                <a:path w="431800" h="437514">
                  <a:moveTo>
                    <a:pt x="0" y="218693"/>
                  </a:moveTo>
                  <a:lnTo>
                    <a:pt x="5693" y="168550"/>
                  </a:lnTo>
                  <a:lnTo>
                    <a:pt x="21913" y="122519"/>
                  </a:lnTo>
                  <a:lnTo>
                    <a:pt x="47366" y="81913"/>
                  </a:lnTo>
                  <a:lnTo>
                    <a:pt x="80758" y="48045"/>
                  </a:lnTo>
                  <a:lnTo>
                    <a:pt x="120798" y="22229"/>
                  </a:lnTo>
                  <a:lnTo>
                    <a:pt x="166191" y="5776"/>
                  </a:lnTo>
                  <a:lnTo>
                    <a:pt x="215645" y="0"/>
                  </a:lnTo>
                  <a:lnTo>
                    <a:pt x="265100" y="5776"/>
                  </a:lnTo>
                  <a:lnTo>
                    <a:pt x="310493" y="22229"/>
                  </a:lnTo>
                  <a:lnTo>
                    <a:pt x="350533" y="48045"/>
                  </a:lnTo>
                  <a:lnTo>
                    <a:pt x="383925" y="81913"/>
                  </a:lnTo>
                  <a:lnTo>
                    <a:pt x="409378" y="122519"/>
                  </a:lnTo>
                  <a:lnTo>
                    <a:pt x="425598" y="168550"/>
                  </a:lnTo>
                  <a:lnTo>
                    <a:pt x="431291" y="218693"/>
                  </a:lnTo>
                  <a:lnTo>
                    <a:pt x="425598" y="268837"/>
                  </a:lnTo>
                  <a:lnTo>
                    <a:pt x="409378" y="314868"/>
                  </a:lnTo>
                  <a:lnTo>
                    <a:pt x="383925" y="355474"/>
                  </a:lnTo>
                  <a:lnTo>
                    <a:pt x="350533" y="389342"/>
                  </a:lnTo>
                  <a:lnTo>
                    <a:pt x="310493" y="415158"/>
                  </a:lnTo>
                  <a:lnTo>
                    <a:pt x="265100" y="431611"/>
                  </a:lnTo>
                  <a:lnTo>
                    <a:pt x="215645" y="437388"/>
                  </a:lnTo>
                  <a:lnTo>
                    <a:pt x="166191" y="431611"/>
                  </a:lnTo>
                  <a:lnTo>
                    <a:pt x="120798" y="415158"/>
                  </a:lnTo>
                  <a:lnTo>
                    <a:pt x="80758" y="389342"/>
                  </a:lnTo>
                  <a:lnTo>
                    <a:pt x="47366" y="355474"/>
                  </a:lnTo>
                  <a:lnTo>
                    <a:pt x="21913" y="314868"/>
                  </a:lnTo>
                  <a:lnTo>
                    <a:pt x="5693" y="268837"/>
                  </a:lnTo>
                  <a:lnTo>
                    <a:pt x="0" y="218693"/>
                  </a:lnTo>
                  <a:close/>
                </a:path>
              </a:pathLst>
            </a:custGeom>
            <a:ln w="19812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721857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309372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309372" y="313943"/>
                  </a:lnTo>
                  <a:lnTo>
                    <a:pt x="309372" y="0"/>
                  </a:lnTo>
                  <a:close/>
                </a:path>
              </a:pathLst>
            </a:custGeom>
            <a:solidFill>
              <a:srgbClr val="CFD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721857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0" y="313943"/>
                  </a:moveTo>
                  <a:lnTo>
                    <a:pt x="309372" y="313943"/>
                  </a:lnTo>
                  <a:lnTo>
                    <a:pt x="309372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9811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334761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309372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309372" y="313943"/>
                  </a:lnTo>
                  <a:lnTo>
                    <a:pt x="309372" y="0"/>
                  </a:lnTo>
                  <a:close/>
                </a:path>
              </a:pathLst>
            </a:custGeom>
            <a:solidFill>
              <a:srgbClr val="CFD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334761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0" y="313943"/>
                  </a:moveTo>
                  <a:lnTo>
                    <a:pt x="309372" y="313943"/>
                  </a:lnTo>
                  <a:lnTo>
                    <a:pt x="309372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9811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110477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309372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309372" y="313943"/>
                  </a:lnTo>
                  <a:lnTo>
                    <a:pt x="309372" y="0"/>
                  </a:lnTo>
                  <a:close/>
                </a:path>
              </a:pathLst>
            </a:custGeom>
            <a:solidFill>
              <a:srgbClr val="CFD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10477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0" y="313943"/>
                  </a:moveTo>
                  <a:lnTo>
                    <a:pt x="309372" y="313943"/>
                  </a:lnTo>
                  <a:lnTo>
                    <a:pt x="309372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9811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32754" y="3385566"/>
              <a:ext cx="1031240" cy="251460"/>
            </a:xfrm>
            <a:custGeom>
              <a:avLst/>
              <a:gdLst/>
              <a:ahLst/>
              <a:cxnLst/>
              <a:rect l="l" t="t" r="r" b="b"/>
              <a:pathLst>
                <a:path w="1031240" h="251460">
                  <a:moveTo>
                    <a:pt x="232283" y="250698"/>
                  </a:moveTo>
                  <a:lnTo>
                    <a:pt x="0" y="0"/>
                  </a:lnTo>
                </a:path>
                <a:path w="1031240" h="251460">
                  <a:moveTo>
                    <a:pt x="1027176" y="250952"/>
                  </a:moveTo>
                  <a:lnTo>
                    <a:pt x="1031240" y="64008"/>
                  </a:lnTo>
                </a:path>
                <a:path w="1031240" h="251460">
                  <a:moveTo>
                    <a:pt x="638555" y="250698"/>
                  </a:moveTo>
                  <a:lnTo>
                    <a:pt x="876807" y="0"/>
                  </a:lnTo>
                </a:path>
              </a:pathLst>
            </a:custGeom>
            <a:ln w="19812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6846569" y="2999993"/>
              <a:ext cx="431800" cy="437515"/>
            </a:xfrm>
            <a:custGeom>
              <a:avLst/>
              <a:gdLst/>
              <a:ahLst/>
              <a:cxnLst/>
              <a:rect l="l" t="t" r="r" b="b"/>
              <a:pathLst>
                <a:path w="431800" h="437514">
                  <a:moveTo>
                    <a:pt x="215646" y="0"/>
                  </a:moveTo>
                  <a:lnTo>
                    <a:pt x="166191" y="5776"/>
                  </a:lnTo>
                  <a:lnTo>
                    <a:pt x="120798" y="22229"/>
                  </a:lnTo>
                  <a:lnTo>
                    <a:pt x="80758" y="48045"/>
                  </a:lnTo>
                  <a:lnTo>
                    <a:pt x="47366" y="81913"/>
                  </a:lnTo>
                  <a:lnTo>
                    <a:pt x="21913" y="122519"/>
                  </a:lnTo>
                  <a:lnTo>
                    <a:pt x="5693" y="168550"/>
                  </a:lnTo>
                  <a:lnTo>
                    <a:pt x="0" y="218693"/>
                  </a:lnTo>
                  <a:lnTo>
                    <a:pt x="5693" y="268837"/>
                  </a:lnTo>
                  <a:lnTo>
                    <a:pt x="21913" y="314868"/>
                  </a:lnTo>
                  <a:lnTo>
                    <a:pt x="47366" y="355474"/>
                  </a:lnTo>
                  <a:lnTo>
                    <a:pt x="80758" y="389342"/>
                  </a:lnTo>
                  <a:lnTo>
                    <a:pt x="120798" y="415158"/>
                  </a:lnTo>
                  <a:lnTo>
                    <a:pt x="166191" y="431611"/>
                  </a:lnTo>
                  <a:lnTo>
                    <a:pt x="215646" y="437388"/>
                  </a:lnTo>
                  <a:lnTo>
                    <a:pt x="265100" y="431611"/>
                  </a:lnTo>
                  <a:lnTo>
                    <a:pt x="310493" y="415158"/>
                  </a:lnTo>
                  <a:lnTo>
                    <a:pt x="350533" y="389342"/>
                  </a:lnTo>
                  <a:lnTo>
                    <a:pt x="383925" y="355474"/>
                  </a:lnTo>
                  <a:lnTo>
                    <a:pt x="409378" y="314868"/>
                  </a:lnTo>
                  <a:lnTo>
                    <a:pt x="425598" y="268837"/>
                  </a:lnTo>
                  <a:lnTo>
                    <a:pt x="431291" y="218693"/>
                  </a:lnTo>
                  <a:lnTo>
                    <a:pt x="425598" y="168550"/>
                  </a:lnTo>
                  <a:lnTo>
                    <a:pt x="409378" y="122519"/>
                  </a:lnTo>
                  <a:lnTo>
                    <a:pt x="383925" y="81913"/>
                  </a:lnTo>
                  <a:lnTo>
                    <a:pt x="350533" y="48045"/>
                  </a:lnTo>
                  <a:lnTo>
                    <a:pt x="310493" y="22229"/>
                  </a:lnTo>
                  <a:lnTo>
                    <a:pt x="265100" y="5776"/>
                  </a:lnTo>
                  <a:lnTo>
                    <a:pt x="215646" y="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846569" y="2999993"/>
              <a:ext cx="431800" cy="437515"/>
            </a:xfrm>
            <a:custGeom>
              <a:avLst/>
              <a:gdLst/>
              <a:ahLst/>
              <a:cxnLst/>
              <a:rect l="l" t="t" r="r" b="b"/>
              <a:pathLst>
                <a:path w="431800" h="437514">
                  <a:moveTo>
                    <a:pt x="0" y="218693"/>
                  </a:moveTo>
                  <a:lnTo>
                    <a:pt x="5693" y="168550"/>
                  </a:lnTo>
                  <a:lnTo>
                    <a:pt x="21913" y="122519"/>
                  </a:lnTo>
                  <a:lnTo>
                    <a:pt x="47366" y="81913"/>
                  </a:lnTo>
                  <a:lnTo>
                    <a:pt x="80758" y="48045"/>
                  </a:lnTo>
                  <a:lnTo>
                    <a:pt x="120798" y="22229"/>
                  </a:lnTo>
                  <a:lnTo>
                    <a:pt x="166191" y="5776"/>
                  </a:lnTo>
                  <a:lnTo>
                    <a:pt x="215646" y="0"/>
                  </a:lnTo>
                  <a:lnTo>
                    <a:pt x="265100" y="5776"/>
                  </a:lnTo>
                  <a:lnTo>
                    <a:pt x="310493" y="22229"/>
                  </a:lnTo>
                  <a:lnTo>
                    <a:pt x="350533" y="48045"/>
                  </a:lnTo>
                  <a:lnTo>
                    <a:pt x="383925" y="81913"/>
                  </a:lnTo>
                  <a:lnTo>
                    <a:pt x="409378" y="122519"/>
                  </a:lnTo>
                  <a:lnTo>
                    <a:pt x="425598" y="168550"/>
                  </a:lnTo>
                  <a:lnTo>
                    <a:pt x="431291" y="218693"/>
                  </a:lnTo>
                  <a:lnTo>
                    <a:pt x="425598" y="268837"/>
                  </a:lnTo>
                  <a:lnTo>
                    <a:pt x="409378" y="314868"/>
                  </a:lnTo>
                  <a:lnTo>
                    <a:pt x="383925" y="355474"/>
                  </a:lnTo>
                  <a:lnTo>
                    <a:pt x="350533" y="389342"/>
                  </a:lnTo>
                  <a:lnTo>
                    <a:pt x="310493" y="415158"/>
                  </a:lnTo>
                  <a:lnTo>
                    <a:pt x="265100" y="431611"/>
                  </a:lnTo>
                  <a:lnTo>
                    <a:pt x="215646" y="437388"/>
                  </a:lnTo>
                  <a:lnTo>
                    <a:pt x="166191" y="431611"/>
                  </a:lnTo>
                  <a:lnTo>
                    <a:pt x="120798" y="415158"/>
                  </a:lnTo>
                  <a:lnTo>
                    <a:pt x="80758" y="389342"/>
                  </a:lnTo>
                  <a:lnTo>
                    <a:pt x="47366" y="355474"/>
                  </a:lnTo>
                  <a:lnTo>
                    <a:pt x="21913" y="314868"/>
                  </a:lnTo>
                  <a:lnTo>
                    <a:pt x="5693" y="268837"/>
                  </a:lnTo>
                  <a:lnTo>
                    <a:pt x="0" y="218693"/>
                  </a:lnTo>
                  <a:close/>
                </a:path>
              </a:pathLst>
            </a:custGeom>
            <a:ln w="19812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904481" y="3649217"/>
              <a:ext cx="307975" cy="314325"/>
            </a:xfrm>
            <a:custGeom>
              <a:avLst/>
              <a:gdLst/>
              <a:ahLst/>
              <a:cxnLst/>
              <a:rect l="l" t="t" r="r" b="b"/>
              <a:pathLst>
                <a:path w="307975" h="314325">
                  <a:moveTo>
                    <a:pt x="307848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307848" y="313943"/>
                  </a:lnTo>
                  <a:lnTo>
                    <a:pt x="307848" y="0"/>
                  </a:lnTo>
                  <a:close/>
                </a:path>
              </a:pathLst>
            </a:custGeom>
            <a:solidFill>
              <a:srgbClr val="CFD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904481" y="3649217"/>
              <a:ext cx="307975" cy="314325"/>
            </a:xfrm>
            <a:custGeom>
              <a:avLst/>
              <a:gdLst/>
              <a:ahLst/>
              <a:cxnLst/>
              <a:rect l="l" t="t" r="r" b="b"/>
              <a:pathLst>
                <a:path w="307975" h="314325">
                  <a:moveTo>
                    <a:pt x="0" y="313943"/>
                  </a:moveTo>
                  <a:lnTo>
                    <a:pt x="307848" y="313943"/>
                  </a:lnTo>
                  <a:lnTo>
                    <a:pt x="307848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9812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515861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309372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309372" y="313943"/>
                  </a:lnTo>
                  <a:lnTo>
                    <a:pt x="309372" y="0"/>
                  </a:lnTo>
                  <a:close/>
                </a:path>
              </a:pathLst>
            </a:custGeom>
            <a:solidFill>
              <a:srgbClr val="CFD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515861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0" y="313943"/>
                  </a:moveTo>
                  <a:lnTo>
                    <a:pt x="309372" y="313943"/>
                  </a:lnTo>
                  <a:lnTo>
                    <a:pt x="309372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9811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291577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309372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309372" y="313943"/>
                  </a:lnTo>
                  <a:lnTo>
                    <a:pt x="309372" y="0"/>
                  </a:lnTo>
                  <a:close/>
                </a:path>
              </a:pathLst>
            </a:custGeom>
            <a:solidFill>
              <a:srgbClr val="CFD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291577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0" y="313943"/>
                  </a:moveTo>
                  <a:lnTo>
                    <a:pt x="309372" y="313943"/>
                  </a:lnTo>
                  <a:lnTo>
                    <a:pt x="309372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9811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215377" y="3385566"/>
              <a:ext cx="1011555" cy="251460"/>
            </a:xfrm>
            <a:custGeom>
              <a:avLst/>
              <a:gdLst/>
              <a:ahLst/>
              <a:cxnLst/>
              <a:rect l="l" t="t" r="r" b="b"/>
              <a:pathLst>
                <a:path w="1011554" h="251460">
                  <a:moveTo>
                    <a:pt x="232282" y="250698"/>
                  </a:moveTo>
                  <a:lnTo>
                    <a:pt x="0" y="0"/>
                  </a:lnTo>
                </a:path>
                <a:path w="1011554" h="251460">
                  <a:moveTo>
                    <a:pt x="1007364" y="250952"/>
                  </a:moveTo>
                  <a:lnTo>
                    <a:pt x="1011427" y="64008"/>
                  </a:lnTo>
                </a:path>
                <a:path w="1011554" h="251460">
                  <a:moveTo>
                    <a:pt x="618744" y="250698"/>
                  </a:moveTo>
                  <a:lnTo>
                    <a:pt x="856996" y="0"/>
                  </a:lnTo>
                </a:path>
              </a:pathLst>
            </a:custGeom>
            <a:ln w="19812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010905" y="2999993"/>
              <a:ext cx="429895" cy="437515"/>
            </a:xfrm>
            <a:custGeom>
              <a:avLst/>
              <a:gdLst/>
              <a:ahLst/>
              <a:cxnLst/>
              <a:rect l="l" t="t" r="r" b="b"/>
              <a:pathLst>
                <a:path w="429895" h="437514">
                  <a:moveTo>
                    <a:pt x="214884" y="0"/>
                  </a:moveTo>
                  <a:lnTo>
                    <a:pt x="165631" y="5776"/>
                  </a:lnTo>
                  <a:lnTo>
                    <a:pt x="120409" y="22229"/>
                  </a:lnTo>
                  <a:lnTo>
                    <a:pt x="80509" y="48045"/>
                  </a:lnTo>
                  <a:lnTo>
                    <a:pt x="47226" y="81913"/>
                  </a:lnTo>
                  <a:lnTo>
                    <a:pt x="21851" y="122519"/>
                  </a:lnTo>
                  <a:lnTo>
                    <a:pt x="5678" y="168550"/>
                  </a:lnTo>
                  <a:lnTo>
                    <a:pt x="0" y="218693"/>
                  </a:lnTo>
                  <a:lnTo>
                    <a:pt x="5678" y="268837"/>
                  </a:lnTo>
                  <a:lnTo>
                    <a:pt x="21851" y="314868"/>
                  </a:lnTo>
                  <a:lnTo>
                    <a:pt x="47226" y="355474"/>
                  </a:lnTo>
                  <a:lnTo>
                    <a:pt x="80509" y="389342"/>
                  </a:lnTo>
                  <a:lnTo>
                    <a:pt x="120409" y="415158"/>
                  </a:lnTo>
                  <a:lnTo>
                    <a:pt x="165631" y="431611"/>
                  </a:lnTo>
                  <a:lnTo>
                    <a:pt x="214884" y="437388"/>
                  </a:lnTo>
                  <a:lnTo>
                    <a:pt x="264136" y="431611"/>
                  </a:lnTo>
                  <a:lnTo>
                    <a:pt x="309358" y="415158"/>
                  </a:lnTo>
                  <a:lnTo>
                    <a:pt x="349258" y="389342"/>
                  </a:lnTo>
                  <a:lnTo>
                    <a:pt x="382541" y="355474"/>
                  </a:lnTo>
                  <a:lnTo>
                    <a:pt x="407916" y="314868"/>
                  </a:lnTo>
                  <a:lnTo>
                    <a:pt x="424089" y="268837"/>
                  </a:lnTo>
                  <a:lnTo>
                    <a:pt x="429768" y="218693"/>
                  </a:lnTo>
                  <a:lnTo>
                    <a:pt x="424089" y="168550"/>
                  </a:lnTo>
                  <a:lnTo>
                    <a:pt x="407916" y="122519"/>
                  </a:lnTo>
                  <a:lnTo>
                    <a:pt x="382541" y="81913"/>
                  </a:lnTo>
                  <a:lnTo>
                    <a:pt x="349258" y="48045"/>
                  </a:lnTo>
                  <a:lnTo>
                    <a:pt x="309358" y="22229"/>
                  </a:lnTo>
                  <a:lnTo>
                    <a:pt x="264136" y="5776"/>
                  </a:lnTo>
                  <a:lnTo>
                    <a:pt x="214884" y="0"/>
                  </a:lnTo>
                  <a:close/>
                </a:path>
              </a:pathLst>
            </a:custGeom>
            <a:solidFill>
              <a:srgbClr val="EBD7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010905" y="2999993"/>
              <a:ext cx="429895" cy="437515"/>
            </a:xfrm>
            <a:custGeom>
              <a:avLst/>
              <a:gdLst/>
              <a:ahLst/>
              <a:cxnLst/>
              <a:rect l="l" t="t" r="r" b="b"/>
              <a:pathLst>
                <a:path w="429895" h="437514">
                  <a:moveTo>
                    <a:pt x="0" y="218693"/>
                  </a:moveTo>
                  <a:lnTo>
                    <a:pt x="5678" y="168550"/>
                  </a:lnTo>
                  <a:lnTo>
                    <a:pt x="21851" y="122519"/>
                  </a:lnTo>
                  <a:lnTo>
                    <a:pt x="47226" y="81913"/>
                  </a:lnTo>
                  <a:lnTo>
                    <a:pt x="80509" y="48045"/>
                  </a:lnTo>
                  <a:lnTo>
                    <a:pt x="120409" y="22229"/>
                  </a:lnTo>
                  <a:lnTo>
                    <a:pt x="165631" y="5776"/>
                  </a:lnTo>
                  <a:lnTo>
                    <a:pt x="214884" y="0"/>
                  </a:lnTo>
                  <a:lnTo>
                    <a:pt x="264136" y="5776"/>
                  </a:lnTo>
                  <a:lnTo>
                    <a:pt x="309358" y="22229"/>
                  </a:lnTo>
                  <a:lnTo>
                    <a:pt x="349258" y="48045"/>
                  </a:lnTo>
                  <a:lnTo>
                    <a:pt x="382541" y="81913"/>
                  </a:lnTo>
                  <a:lnTo>
                    <a:pt x="407916" y="122519"/>
                  </a:lnTo>
                  <a:lnTo>
                    <a:pt x="424089" y="168550"/>
                  </a:lnTo>
                  <a:lnTo>
                    <a:pt x="429768" y="218693"/>
                  </a:lnTo>
                  <a:lnTo>
                    <a:pt x="424089" y="268837"/>
                  </a:lnTo>
                  <a:lnTo>
                    <a:pt x="407916" y="314868"/>
                  </a:lnTo>
                  <a:lnTo>
                    <a:pt x="382541" y="355474"/>
                  </a:lnTo>
                  <a:lnTo>
                    <a:pt x="349258" y="389342"/>
                  </a:lnTo>
                  <a:lnTo>
                    <a:pt x="309358" y="415158"/>
                  </a:lnTo>
                  <a:lnTo>
                    <a:pt x="264136" y="431611"/>
                  </a:lnTo>
                  <a:lnTo>
                    <a:pt x="214884" y="437388"/>
                  </a:lnTo>
                  <a:lnTo>
                    <a:pt x="165631" y="431611"/>
                  </a:lnTo>
                  <a:lnTo>
                    <a:pt x="120409" y="415158"/>
                  </a:lnTo>
                  <a:lnTo>
                    <a:pt x="80509" y="389342"/>
                  </a:lnTo>
                  <a:lnTo>
                    <a:pt x="47226" y="355474"/>
                  </a:lnTo>
                  <a:lnTo>
                    <a:pt x="21851" y="314868"/>
                  </a:lnTo>
                  <a:lnTo>
                    <a:pt x="5678" y="268837"/>
                  </a:lnTo>
                  <a:lnTo>
                    <a:pt x="0" y="218693"/>
                  </a:lnTo>
                  <a:close/>
                </a:path>
              </a:pathLst>
            </a:custGeom>
            <a:ln w="19811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067294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309372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309372" y="313943"/>
                  </a:lnTo>
                  <a:lnTo>
                    <a:pt x="309372" y="0"/>
                  </a:lnTo>
                  <a:close/>
                </a:path>
              </a:pathLst>
            </a:custGeom>
            <a:solidFill>
              <a:srgbClr val="CFD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8067294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0" y="313943"/>
                  </a:moveTo>
                  <a:lnTo>
                    <a:pt x="309372" y="313943"/>
                  </a:lnTo>
                  <a:lnTo>
                    <a:pt x="309372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9811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678673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309372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309372" y="313943"/>
                  </a:lnTo>
                  <a:lnTo>
                    <a:pt x="309372" y="0"/>
                  </a:lnTo>
                  <a:close/>
                </a:path>
              </a:pathLst>
            </a:custGeom>
            <a:solidFill>
              <a:srgbClr val="CFD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7678673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0" y="313943"/>
                  </a:moveTo>
                  <a:lnTo>
                    <a:pt x="309372" y="313943"/>
                  </a:lnTo>
                  <a:lnTo>
                    <a:pt x="309372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9811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8454389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309372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309372" y="313943"/>
                  </a:lnTo>
                  <a:lnTo>
                    <a:pt x="309372" y="0"/>
                  </a:lnTo>
                  <a:close/>
                </a:path>
              </a:pathLst>
            </a:custGeom>
            <a:solidFill>
              <a:srgbClr val="CFDB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8454389" y="3649217"/>
              <a:ext cx="309880" cy="314325"/>
            </a:xfrm>
            <a:custGeom>
              <a:avLst/>
              <a:gdLst/>
              <a:ahLst/>
              <a:cxnLst/>
              <a:rect l="l" t="t" r="r" b="b"/>
              <a:pathLst>
                <a:path w="309879" h="314325">
                  <a:moveTo>
                    <a:pt x="0" y="313943"/>
                  </a:moveTo>
                  <a:lnTo>
                    <a:pt x="309372" y="313943"/>
                  </a:lnTo>
                  <a:lnTo>
                    <a:pt x="309372" y="0"/>
                  </a:lnTo>
                  <a:lnTo>
                    <a:pt x="0" y="0"/>
                  </a:lnTo>
                  <a:lnTo>
                    <a:pt x="0" y="313943"/>
                  </a:lnTo>
                  <a:close/>
                </a:path>
              </a:pathLst>
            </a:custGeom>
            <a:ln w="19811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229094" y="2672333"/>
              <a:ext cx="1381760" cy="963930"/>
            </a:xfrm>
            <a:custGeom>
              <a:avLst/>
              <a:gdLst/>
              <a:ahLst/>
              <a:cxnLst/>
              <a:rect l="l" t="t" r="r" b="b"/>
              <a:pathLst>
                <a:path w="1381759" h="963929">
                  <a:moveTo>
                    <a:pt x="1381378" y="963929"/>
                  </a:moveTo>
                  <a:lnTo>
                    <a:pt x="1149096" y="713231"/>
                  </a:lnTo>
                </a:path>
                <a:path w="1381759" h="963929">
                  <a:moveTo>
                    <a:pt x="0" y="0"/>
                  </a:moveTo>
                  <a:lnTo>
                    <a:pt x="844169" y="377951"/>
                  </a:lnTo>
                </a:path>
              </a:pathLst>
            </a:custGeom>
            <a:ln w="19812">
              <a:solidFill>
                <a:srgbClr val="4045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694938" y="6433427"/>
            <a:ext cx="1755139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Analysis</a:t>
            </a:r>
            <a:r>
              <a:rPr sz="14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4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Algorithms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256269" y="6433427"/>
            <a:ext cx="123189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1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Solving</a:t>
            </a:r>
            <a:r>
              <a:rPr spc="-25" dirty="0"/>
              <a:t> </a:t>
            </a:r>
            <a:r>
              <a:rPr dirty="0"/>
              <a:t>Recurrences</a:t>
            </a:r>
            <a:r>
              <a:rPr spc="-40" dirty="0"/>
              <a:t> </a:t>
            </a:r>
            <a:r>
              <a:rPr spc="-25" dirty="0"/>
              <a:t>by </a:t>
            </a:r>
            <a:r>
              <a:rPr dirty="0">
                <a:solidFill>
                  <a:srgbClr val="CC3300"/>
                </a:solidFill>
              </a:rPr>
              <a:t>Substitution:</a:t>
            </a:r>
            <a:r>
              <a:rPr spc="-15" dirty="0">
                <a:solidFill>
                  <a:srgbClr val="CC3300"/>
                </a:solidFill>
              </a:rPr>
              <a:t> </a:t>
            </a:r>
            <a:r>
              <a:rPr spc="-10" dirty="0">
                <a:solidFill>
                  <a:srgbClr val="CC3300"/>
                </a:solidFill>
              </a:rPr>
              <a:t>Guess-and-</a:t>
            </a:r>
            <a:r>
              <a:rPr spc="-20" dirty="0">
                <a:solidFill>
                  <a:srgbClr val="CC3300"/>
                </a:solidFill>
              </a:rPr>
              <a:t>Test</a:t>
            </a:r>
            <a:endParaRPr spc="-20" dirty="0">
              <a:solidFill>
                <a:srgbClr val="CC3300"/>
              </a:solidFill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53439" y="1639823"/>
            <a:ext cx="228600" cy="2346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53439" y="2078735"/>
            <a:ext cx="228600" cy="2346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0739" y="1482979"/>
            <a:ext cx="7670165" cy="21729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675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Guess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4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form</a:t>
            </a:r>
            <a:r>
              <a:rPr sz="24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24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solution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355600" marR="508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(Using</a:t>
            </a:r>
            <a:r>
              <a:rPr sz="2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mathematical</a:t>
            </a:r>
            <a:r>
              <a:rPr sz="2400" spc="-5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induction)</a:t>
            </a:r>
            <a:r>
              <a:rPr sz="2400" spc="-8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find</a:t>
            </a:r>
            <a:r>
              <a:rPr sz="2400" spc="-7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400" spc="-7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constants</a:t>
            </a:r>
            <a:r>
              <a:rPr sz="2400" spc="-5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and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show</a:t>
            </a:r>
            <a:r>
              <a:rPr sz="24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that</a:t>
            </a:r>
            <a:r>
              <a:rPr sz="24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4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solution</a:t>
            </a:r>
            <a:r>
              <a:rPr sz="2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works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spc="-1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Example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841500">
              <a:lnSpc>
                <a:spcPct val="100000"/>
              </a:lnSpc>
              <a:spcBef>
                <a:spcPts val="780"/>
              </a:spcBef>
            </a:pPr>
            <a:r>
              <a:rPr sz="24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400" b="1" spc="-40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=</a:t>
            </a:r>
            <a:r>
              <a:rPr sz="2400" b="1" spc="-45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2T(n/2)</a:t>
            </a:r>
            <a:r>
              <a:rPr sz="2400" b="1" spc="-20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2400" b="1" spc="-35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50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n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70426" y="6433427"/>
            <a:ext cx="80264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COT</a:t>
            </a:r>
            <a:r>
              <a:rPr sz="1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5407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2669794" y="3677094"/>
            <a:ext cx="2118360" cy="134366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=</a:t>
            </a:r>
            <a:r>
              <a:rPr sz="24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O(n)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400" b="1" spc="-4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400" b="1" spc="-5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2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cn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T(n/2)</a:t>
            </a:r>
            <a:r>
              <a:rPr sz="2400" spc="-6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4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cn/2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3628" y="4117085"/>
            <a:ext cx="3074670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2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some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constant</a:t>
            </a:r>
            <a:r>
              <a:rPr sz="2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c&gt;0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Inductive</a:t>
            </a:r>
            <a:r>
              <a:rPr sz="2400" spc="-9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hypothesis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0739" y="3677094"/>
            <a:ext cx="1550670" cy="1782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5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Guess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(</a:t>
            </a:r>
            <a:r>
              <a:rPr sz="2400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#1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) Need 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Assume 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Thus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69794" y="4994338"/>
            <a:ext cx="4029710" cy="90424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2cn/2</a:t>
            </a:r>
            <a:r>
              <a:rPr sz="24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24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=</a:t>
            </a:r>
            <a:r>
              <a:rPr sz="24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(c+1)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Our</a:t>
            </a:r>
            <a:r>
              <a:rPr sz="2400" b="1" spc="-4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guess</a:t>
            </a:r>
            <a:r>
              <a:rPr sz="2400" b="1" spc="-4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was</a:t>
            </a:r>
            <a:r>
              <a:rPr sz="2400" b="1" spc="-4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1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wrong!!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Solving</a:t>
            </a:r>
            <a:r>
              <a:rPr spc="-25" dirty="0"/>
              <a:t> </a:t>
            </a:r>
            <a:r>
              <a:rPr dirty="0"/>
              <a:t>Recurrences</a:t>
            </a:r>
            <a:r>
              <a:rPr spc="-40" dirty="0"/>
              <a:t> </a:t>
            </a:r>
            <a:r>
              <a:rPr spc="-25" dirty="0"/>
              <a:t>by </a:t>
            </a:r>
            <a:r>
              <a:rPr dirty="0">
                <a:solidFill>
                  <a:srgbClr val="CC3300"/>
                </a:solidFill>
              </a:rPr>
              <a:t>Substitution</a:t>
            </a:r>
            <a:r>
              <a:rPr dirty="0"/>
              <a:t>:</a:t>
            </a:r>
            <a:r>
              <a:rPr spc="-85" dirty="0"/>
              <a:t> </a:t>
            </a:r>
            <a:r>
              <a:rPr spc="-50" dirty="0"/>
              <a:t>2</a:t>
            </a:r>
            <a:endParaRPr spc="-50" dirty="0"/>
          </a:p>
        </p:txBody>
      </p:sp>
      <p:sp>
        <p:nvSpPr>
          <p:cNvPr id="6" name="object 6"/>
          <p:cNvSpPr txBox="1"/>
          <p:nvPr/>
        </p:nvSpPr>
        <p:spPr>
          <a:xfrm>
            <a:off x="4170426" y="6433427"/>
            <a:ext cx="80264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COT</a:t>
            </a:r>
            <a:r>
              <a:rPr sz="1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5407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593594" y="1732915"/>
            <a:ext cx="29565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400" b="1" spc="-40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=</a:t>
            </a:r>
            <a:r>
              <a:rPr sz="2400" b="1" spc="-45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2T(n/2)</a:t>
            </a:r>
            <a:r>
              <a:rPr sz="2400" b="1" spc="-20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2400" b="1" spc="-35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50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n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120388"/>
            <a:ext cx="1550670" cy="1781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Guess</a:t>
            </a:r>
            <a:r>
              <a:rPr sz="2400" spc="-8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(</a:t>
            </a:r>
            <a:r>
              <a:rPr sz="2400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#2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) Need 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Assume 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Thus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30094" y="2120388"/>
            <a:ext cx="5657215" cy="26593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=</a:t>
            </a:r>
            <a:r>
              <a:rPr sz="24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O(n</a:t>
            </a:r>
            <a:r>
              <a:rPr sz="2400" spc="-15" baseline="24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)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76200" marR="55880">
              <a:lnSpc>
                <a:spcPct val="120000"/>
              </a:lnSpc>
              <a:tabLst>
                <a:tab pos="2087880" algn="l"/>
                <a:tab pos="2819400" algn="l"/>
              </a:tabLst>
            </a:pP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400" b="1" spc="-1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4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2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cn</a:t>
            </a:r>
            <a:r>
              <a:rPr sz="2400" b="1" spc="-37" baseline="2400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2400" b="1" baseline="2400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24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some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constant</a:t>
            </a:r>
            <a:r>
              <a:rPr sz="24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c&gt;0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T(n/2)</a:t>
            </a:r>
            <a:r>
              <a:rPr sz="2400" spc="-6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4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cn</a:t>
            </a:r>
            <a:r>
              <a:rPr sz="2400" spc="-30" baseline="24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2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/4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	Inductive</a:t>
            </a:r>
            <a:r>
              <a:rPr sz="2400" spc="-9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hypothesis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4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2cn</a:t>
            </a:r>
            <a:r>
              <a:rPr sz="2400" baseline="24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/4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24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=</a:t>
            </a:r>
            <a:r>
              <a:rPr sz="24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cn</a:t>
            </a:r>
            <a:r>
              <a:rPr sz="2400" baseline="24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2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/2+</a:t>
            </a:r>
            <a:r>
              <a:rPr sz="24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76200">
              <a:lnSpc>
                <a:spcPct val="100000"/>
              </a:lnSpc>
              <a:spcBef>
                <a:spcPts val="580"/>
              </a:spcBef>
            </a:pP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Works</a:t>
            </a:r>
            <a:r>
              <a:rPr sz="2400" b="1" spc="-3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24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all</a:t>
            </a:r>
            <a:r>
              <a:rPr sz="24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2400" b="1" spc="-2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as</a:t>
            </a:r>
            <a:r>
              <a:rPr sz="2400" b="1" spc="-3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long</a:t>
            </a:r>
            <a:r>
              <a:rPr sz="24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as</a:t>
            </a:r>
            <a:r>
              <a:rPr sz="24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c&gt;=2</a:t>
            </a:r>
            <a:r>
              <a:rPr sz="2400" b="1" spc="-4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2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!!</a:t>
            </a:r>
            <a:endParaRPr sz="2400">
              <a:latin typeface="Tahoma" panose="020B0604030504040204"/>
              <a:cs typeface="Tahoma" panose="020B0604030504040204"/>
            </a:endParaRPr>
          </a:p>
          <a:p>
            <a:pPr marL="76200">
              <a:lnSpc>
                <a:spcPct val="100000"/>
              </a:lnSpc>
              <a:spcBef>
                <a:spcPts val="575"/>
              </a:spcBef>
            </a:pP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But</a:t>
            </a:r>
            <a:r>
              <a:rPr sz="2400" b="1" spc="-4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there</a:t>
            </a:r>
            <a:r>
              <a:rPr sz="2400" b="1" spc="-3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sz="2400" b="1" spc="-4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2400" b="1" spc="-4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lot</a:t>
            </a:r>
            <a:r>
              <a:rPr sz="2400" b="1" spc="-2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2400" b="1" spc="-5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400" b="1" spc="-1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“slack”</a:t>
            </a:r>
            <a:endParaRPr sz="24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Solving</a:t>
            </a:r>
            <a:r>
              <a:rPr spc="-25" dirty="0"/>
              <a:t> </a:t>
            </a:r>
            <a:r>
              <a:rPr dirty="0"/>
              <a:t>Recurrences</a:t>
            </a:r>
            <a:r>
              <a:rPr spc="-40" dirty="0"/>
              <a:t> </a:t>
            </a:r>
            <a:r>
              <a:rPr spc="-25" dirty="0"/>
              <a:t>by </a:t>
            </a:r>
            <a:r>
              <a:rPr dirty="0">
                <a:solidFill>
                  <a:srgbClr val="CC3300"/>
                </a:solidFill>
              </a:rPr>
              <a:t>Substitution</a:t>
            </a:r>
            <a:r>
              <a:rPr dirty="0"/>
              <a:t>:</a:t>
            </a:r>
            <a:r>
              <a:rPr spc="-85" dirty="0"/>
              <a:t> </a:t>
            </a:r>
            <a:r>
              <a:rPr spc="-50" dirty="0"/>
              <a:t>3</a:t>
            </a:r>
            <a:endParaRPr spc="-50" dirty="0"/>
          </a:p>
        </p:txBody>
      </p:sp>
      <p:sp>
        <p:nvSpPr>
          <p:cNvPr id="9" name="object 9"/>
          <p:cNvSpPr txBox="1"/>
          <p:nvPr/>
        </p:nvSpPr>
        <p:spPr>
          <a:xfrm>
            <a:off x="764540" y="6433427"/>
            <a:ext cx="55245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9/9/08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70426" y="6433427"/>
            <a:ext cx="802640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COT</a:t>
            </a:r>
            <a:r>
              <a:rPr sz="14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5407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593594" y="1783207"/>
            <a:ext cx="24720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000" b="1" spc="-20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=</a:t>
            </a:r>
            <a:r>
              <a:rPr sz="2000" b="1" spc="-10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2T(n/2)</a:t>
            </a:r>
            <a:r>
              <a:rPr sz="2000" b="1" spc="-10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2000" b="1" spc="-15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50" dirty="0">
                <a:solidFill>
                  <a:srgbClr val="566F52"/>
                </a:solidFill>
                <a:latin typeface="Tahoma" panose="020B0604030504040204"/>
                <a:cs typeface="Tahoma" panose="020B0604030504040204"/>
              </a:rPr>
              <a:t>n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4540" y="2120620"/>
            <a:ext cx="12941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Guess</a:t>
            </a:r>
            <a:r>
              <a:rPr sz="20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(</a:t>
            </a:r>
            <a:r>
              <a:rPr sz="2000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#3</a:t>
            </a:r>
            <a:r>
              <a:rPr sz="20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) Need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594" y="2120620"/>
            <a:ext cx="4694555" cy="75692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=</a:t>
            </a:r>
            <a:r>
              <a:rPr sz="20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O(nlogn)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2137410" algn="l"/>
              </a:tabLst>
            </a:pP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0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000" b="1" spc="-1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1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cnlogn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	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some</a:t>
            </a:r>
            <a:r>
              <a:rPr sz="20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constant</a:t>
            </a:r>
            <a:r>
              <a:rPr sz="20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c&gt;0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2912745"/>
            <a:ext cx="69100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585335" algn="l"/>
              </a:tabLst>
            </a:pP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Assume</a:t>
            </a:r>
            <a:r>
              <a:rPr sz="2000" spc="-28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T(n/2)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000" spc="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c(n/2)(log(n/2))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	Inductive</a:t>
            </a:r>
            <a:r>
              <a:rPr sz="2000" spc="-9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hypothesis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540" y="3278504"/>
            <a:ext cx="5715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Thus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3594" y="3218154"/>
            <a:ext cx="4270375" cy="148907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000" spc="-6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c(n/2)(log(n/2))</a:t>
            </a:r>
            <a:r>
              <a:rPr sz="2000" spc="-7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20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56896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cnlogn</a:t>
            </a:r>
            <a:r>
              <a:rPr sz="20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-cn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+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&lt;=</a:t>
            </a:r>
            <a:r>
              <a:rPr sz="20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cnlogn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Works</a:t>
            </a:r>
            <a:r>
              <a:rPr sz="2000" b="1" spc="-4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sz="2000" b="1" spc="-1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all</a:t>
            </a:r>
            <a:r>
              <a:rPr sz="2000" b="1" spc="-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n</a:t>
            </a:r>
            <a:r>
              <a:rPr sz="2000" b="1" spc="-2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as</a:t>
            </a:r>
            <a:r>
              <a:rPr sz="20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long</a:t>
            </a:r>
            <a:r>
              <a:rPr sz="2000" b="1" spc="-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as</a:t>
            </a:r>
            <a:r>
              <a:rPr sz="20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c&gt;=1</a:t>
            </a:r>
            <a:r>
              <a:rPr sz="20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2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!!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This</a:t>
            </a:r>
            <a:r>
              <a:rPr sz="2000" b="1" spc="-3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sz="20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000" b="1" spc="-2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correct</a:t>
            </a:r>
            <a:r>
              <a:rPr sz="20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guess.</a:t>
            </a:r>
            <a:r>
              <a:rPr sz="2000" b="1" spc="-35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b="1" spc="-20" dirty="0">
                <a:solidFill>
                  <a:srgbClr val="CC3300"/>
                </a:solidFill>
                <a:latin typeface="Tahoma" panose="020B0604030504040204"/>
                <a:cs typeface="Tahoma" panose="020B0604030504040204"/>
              </a:rPr>
              <a:t>WHY?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More</a:t>
            </a:r>
            <a:r>
              <a:rPr spc="-30" dirty="0"/>
              <a:t> </a:t>
            </a:r>
            <a:r>
              <a:rPr spc="-10" dirty="0"/>
              <a:t>Examples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" y="1674876"/>
            <a:ext cx="190500" cy="1950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" y="2955035"/>
            <a:ext cx="190500" cy="1950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" y="5301996"/>
            <a:ext cx="190500" cy="1950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07744" y="3638357"/>
            <a:ext cx="6604000" cy="192214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016125">
              <a:lnSpc>
                <a:spcPct val="100000"/>
              </a:lnSpc>
              <a:spcBef>
                <a:spcPts val="745"/>
              </a:spcBef>
            </a:pPr>
            <a:r>
              <a:rPr sz="2100" dirty="0">
                <a:latin typeface="Symbol" panose="05050102010706020507"/>
                <a:cs typeface="Symbol" panose="05050102010706020507"/>
              </a:rPr>
              <a:t></a:t>
            </a:r>
            <a:r>
              <a:rPr sz="21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2(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10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2)</a:t>
            </a:r>
            <a:r>
              <a:rPr sz="2100" spc="-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log(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1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2))</a:t>
            </a:r>
            <a:r>
              <a:rPr sz="21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</a:t>
            </a:r>
            <a:r>
              <a:rPr sz="21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bn</a:t>
            </a:r>
            <a:r>
              <a:rPr sz="2100" i="1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1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spc="-60" dirty="0">
                <a:latin typeface="Times New Roman" panose="02020603050405020304"/>
                <a:cs typeface="Times New Roman" panose="02020603050405020304"/>
              </a:rPr>
              <a:t>n</a:t>
            </a: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2016125">
              <a:lnSpc>
                <a:spcPct val="100000"/>
              </a:lnSpc>
              <a:spcBef>
                <a:spcPts val="655"/>
              </a:spcBef>
            </a:pPr>
            <a:r>
              <a:rPr sz="2100" dirty="0">
                <a:latin typeface="Symbol" panose="05050102010706020507"/>
                <a:cs typeface="Symbol" panose="05050102010706020507"/>
              </a:rPr>
              <a:t></a:t>
            </a:r>
            <a:r>
              <a:rPr sz="2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cn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(log</a:t>
            </a:r>
            <a:r>
              <a:rPr sz="2100" spc="-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</a:t>
            </a:r>
            <a:r>
              <a:rPr sz="21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1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2)</a:t>
            </a:r>
            <a:r>
              <a:rPr sz="21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</a:t>
            </a:r>
            <a:r>
              <a:rPr sz="21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bn</a:t>
            </a:r>
            <a:r>
              <a:rPr sz="2100" i="1" spc="-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1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2016125">
              <a:lnSpc>
                <a:spcPct val="100000"/>
              </a:lnSpc>
              <a:spcBef>
                <a:spcPts val="655"/>
              </a:spcBef>
            </a:pPr>
            <a:r>
              <a:rPr sz="2100" dirty="0">
                <a:latin typeface="Symbol" panose="05050102010706020507"/>
                <a:cs typeface="Symbol" panose="05050102010706020507"/>
              </a:rPr>
              <a:t></a:t>
            </a:r>
            <a:r>
              <a:rPr sz="2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cn</a:t>
            </a:r>
            <a:r>
              <a:rPr sz="2100" i="1" spc="-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1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</a:t>
            </a:r>
            <a:r>
              <a:rPr sz="21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cn</a:t>
            </a:r>
            <a:r>
              <a:rPr sz="2100" i="1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</a:t>
            </a:r>
            <a:r>
              <a:rPr sz="21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bn</a:t>
            </a:r>
            <a:r>
              <a:rPr sz="2100" i="1" spc="-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1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Wrong: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we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cannot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make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this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last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line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be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less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than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cn</a:t>
            </a:r>
            <a:r>
              <a:rPr sz="20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log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5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5648" y="228902"/>
            <a:ext cx="1196719" cy="13666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107744" y="2615544"/>
            <a:ext cx="4222750" cy="1049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4025" algn="ctr">
              <a:lnSpc>
                <a:spcPts val="2195"/>
              </a:lnSpc>
              <a:spcBef>
                <a:spcPts val="95"/>
              </a:spcBef>
            </a:pPr>
            <a:r>
              <a:rPr sz="1900" spc="-50" dirty="0">
                <a:latin typeface="Symbol" panose="05050102010706020507"/>
                <a:cs typeface="Symbol" panose="05050102010706020507"/>
              </a:rPr>
              <a:t></a:t>
            </a:r>
            <a:endParaRPr sz="1900">
              <a:latin typeface="Symbol" panose="05050102010706020507"/>
              <a:cs typeface="Symbol" panose="05050102010706020507"/>
            </a:endParaRPr>
          </a:p>
          <a:p>
            <a:pPr marL="12700">
              <a:lnSpc>
                <a:spcPts val="2315"/>
              </a:lnSpc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Guess: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&lt;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cn</a:t>
            </a:r>
            <a:r>
              <a:rPr sz="20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log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n.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1434465">
              <a:lnSpc>
                <a:spcPct val="100000"/>
              </a:lnSpc>
              <a:spcBef>
                <a:spcPts val="1030"/>
              </a:spcBef>
            </a:pPr>
            <a:r>
              <a:rPr sz="2100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100" i="1" spc="-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5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100" i="1" spc="5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spc="5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1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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2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100" i="1" spc="-2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100" i="1" spc="-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1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2)</a:t>
            </a:r>
            <a:r>
              <a:rPr sz="21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</a:t>
            </a:r>
            <a:r>
              <a:rPr sz="2100" spc="-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bn</a:t>
            </a:r>
            <a:r>
              <a:rPr sz="2100" i="1" spc="-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1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2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94938" y="6433427"/>
            <a:ext cx="1755139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Analysis</a:t>
            </a:r>
            <a:r>
              <a:rPr sz="14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4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Algorithms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9" name="object 9"/>
          <p:cNvSpPr txBox="1"/>
          <p:nvPr/>
        </p:nvSpPr>
        <p:spPr>
          <a:xfrm>
            <a:off x="3335213" y="2559287"/>
            <a:ext cx="29743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2211705" algn="l"/>
              </a:tabLst>
            </a:pPr>
            <a:r>
              <a:rPr sz="2850" spc="-37" baseline="32000" dirty="0">
                <a:latin typeface="Symbol" panose="05050102010706020507"/>
                <a:cs typeface="Symbol" panose="05050102010706020507"/>
              </a:rPr>
              <a:t></a:t>
            </a:r>
            <a:r>
              <a:rPr sz="1900" spc="-2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900" i="1" spc="-2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900" i="1" spc="-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00" i="1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9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2)</a:t>
            </a:r>
            <a:r>
              <a:rPr sz="19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Symbol" panose="05050102010706020507"/>
                <a:cs typeface="Symbol" panose="05050102010706020507"/>
              </a:rPr>
              <a:t></a:t>
            </a:r>
            <a:r>
              <a:rPr sz="19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bn</a:t>
            </a:r>
            <a:r>
              <a:rPr sz="1900" i="1" spc="-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2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1900" spc="-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900" spc="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Symbol" panose="05050102010706020507"/>
                <a:cs typeface="Symbol" panose="05050102010706020507"/>
              </a:rPr>
              <a:t></a:t>
            </a:r>
            <a:r>
              <a:rPr sz="1900" spc="-50" dirty="0">
                <a:latin typeface="Times New Roman" panose="02020603050405020304"/>
                <a:cs typeface="Times New Roman" panose="02020603050405020304"/>
              </a:rPr>
              <a:t> 2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7744" y="1601851"/>
            <a:ext cx="7115809" cy="91249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sz="20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guess-and-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test</a:t>
            </a:r>
            <a:r>
              <a:rPr sz="20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method,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we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guess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 closed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form</a:t>
            </a:r>
            <a:r>
              <a:rPr sz="2000" spc="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solution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20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then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try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prove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it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true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by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induction: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4471035">
              <a:lnSpc>
                <a:spcPct val="100000"/>
              </a:lnSpc>
              <a:spcBef>
                <a:spcPts val="105"/>
              </a:spcBef>
            </a:pPr>
            <a:r>
              <a:rPr sz="190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900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00" i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Symbol" panose="05050102010706020507"/>
                <a:cs typeface="Symbol" panose="05050102010706020507"/>
              </a:rPr>
              <a:t></a:t>
            </a:r>
            <a:r>
              <a:rPr sz="19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27590" y="2199342"/>
            <a:ext cx="14732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50" dirty="0">
                <a:latin typeface="Times New Roman" panose="02020603050405020304"/>
                <a:cs typeface="Times New Roman" panose="02020603050405020304"/>
              </a:rPr>
              <a:t>b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32676" y="2376213"/>
            <a:ext cx="9118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900" i="1" spc="-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9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Symbol" panose="05050102010706020507"/>
                <a:cs typeface="Symbol" panose="05050102010706020507"/>
              </a:rPr>
              <a:t></a:t>
            </a:r>
            <a:r>
              <a:rPr sz="19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75" baseline="37000" dirty="0">
                <a:latin typeface="Symbol" panose="05050102010706020507"/>
                <a:cs typeface="Symbol" panose="05050102010706020507"/>
              </a:rPr>
              <a:t></a:t>
            </a:r>
            <a:endParaRPr sz="2850" baseline="37000">
              <a:latin typeface="Symbol" panose="05050102010706020507"/>
              <a:cs typeface="Symbol" panose="0505010201070602050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83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More</a:t>
            </a:r>
            <a:r>
              <a:rPr spc="-30" dirty="0"/>
              <a:t> </a:t>
            </a:r>
            <a:r>
              <a:rPr spc="-10" dirty="0"/>
              <a:t>Examples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07744" y="1601851"/>
            <a:ext cx="35401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Recall</a:t>
            </a:r>
            <a:r>
              <a:rPr sz="20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sz="20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recurrence</a:t>
            </a:r>
            <a:r>
              <a:rPr sz="20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equation: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" y="1674876"/>
            <a:ext cx="190500" cy="1950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" y="2680716"/>
            <a:ext cx="190500" cy="1950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" y="5329428"/>
            <a:ext cx="190500" cy="19507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77240" y="5664708"/>
            <a:ext cx="190500" cy="19507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69644" y="3258883"/>
            <a:ext cx="7181850" cy="293941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582420">
              <a:lnSpc>
                <a:spcPct val="100000"/>
              </a:lnSpc>
              <a:spcBef>
                <a:spcPts val="1025"/>
              </a:spcBef>
            </a:pPr>
            <a:r>
              <a:rPr sz="2100" dirty="0">
                <a:latin typeface="Symbol" panose="05050102010706020507"/>
                <a:cs typeface="Symbol" panose="05050102010706020507"/>
              </a:rPr>
              <a:t></a:t>
            </a:r>
            <a:r>
              <a:rPr sz="21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2(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c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1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2)</a:t>
            </a:r>
            <a:r>
              <a:rPr sz="2100" spc="-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1875" baseline="42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75" spc="-89" baseline="4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100" spc="-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2))</a:t>
            </a:r>
            <a:r>
              <a:rPr sz="2100" spc="-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</a:t>
            </a:r>
            <a:r>
              <a:rPr sz="2100" spc="-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bn</a:t>
            </a:r>
            <a:r>
              <a:rPr sz="2100" i="1" spc="-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2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1582420">
              <a:lnSpc>
                <a:spcPct val="100000"/>
              </a:lnSpc>
              <a:spcBef>
                <a:spcPts val="935"/>
              </a:spcBef>
            </a:pPr>
            <a:r>
              <a:rPr sz="2100" dirty="0">
                <a:latin typeface="Symbol" panose="05050102010706020507"/>
                <a:cs typeface="Symbol" panose="05050102010706020507"/>
              </a:rPr>
              <a:t></a:t>
            </a:r>
            <a:r>
              <a:rPr sz="21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spc="-10" dirty="0">
                <a:latin typeface="Times New Roman" panose="02020603050405020304"/>
                <a:cs typeface="Times New Roman" panose="02020603050405020304"/>
              </a:rPr>
              <a:t>cn</a:t>
            </a:r>
            <a:r>
              <a:rPr sz="2100" spc="-10" dirty="0">
                <a:latin typeface="Times New Roman" panose="02020603050405020304"/>
                <a:cs typeface="Times New Roman" panose="02020603050405020304"/>
              </a:rPr>
              <a:t>(log</a:t>
            </a:r>
            <a:r>
              <a:rPr sz="2100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</a:t>
            </a:r>
            <a:r>
              <a:rPr sz="21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2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2)</a:t>
            </a:r>
            <a:r>
              <a:rPr sz="1875" baseline="42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75" spc="450" baseline="4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</a:t>
            </a:r>
            <a:r>
              <a:rPr sz="2100" spc="-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bn</a:t>
            </a:r>
            <a:r>
              <a:rPr sz="2100" i="1" spc="-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2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1582420">
              <a:lnSpc>
                <a:spcPct val="100000"/>
              </a:lnSpc>
              <a:spcBef>
                <a:spcPts val="935"/>
              </a:spcBef>
            </a:pPr>
            <a:r>
              <a:rPr sz="2100" dirty="0">
                <a:latin typeface="Symbol" panose="05050102010706020507"/>
                <a:cs typeface="Symbol" panose="05050102010706020507"/>
              </a:rPr>
              <a:t></a:t>
            </a:r>
            <a:r>
              <a:rPr sz="21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cn</a:t>
            </a:r>
            <a:r>
              <a:rPr sz="2100" i="1" spc="-3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1875" baseline="42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75" spc="345" baseline="4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</a:t>
            </a:r>
            <a:r>
              <a:rPr sz="2100" spc="-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cn</a:t>
            </a:r>
            <a:r>
              <a:rPr sz="2100" i="1" spc="-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2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</a:t>
            </a:r>
            <a:r>
              <a:rPr sz="2100" spc="-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cn</a:t>
            </a:r>
            <a:r>
              <a:rPr sz="2100" i="1" spc="-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</a:t>
            </a:r>
            <a:r>
              <a:rPr sz="210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bn</a:t>
            </a:r>
            <a:r>
              <a:rPr sz="2100" i="1" spc="-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2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1580515">
              <a:lnSpc>
                <a:spcPts val="2280"/>
              </a:lnSpc>
              <a:spcBef>
                <a:spcPts val="935"/>
              </a:spcBef>
            </a:pPr>
            <a:r>
              <a:rPr sz="2100" dirty="0">
                <a:latin typeface="Symbol" panose="05050102010706020507"/>
                <a:cs typeface="Symbol" panose="05050102010706020507"/>
              </a:rPr>
              <a:t></a:t>
            </a:r>
            <a:r>
              <a:rPr sz="2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cn</a:t>
            </a:r>
            <a:r>
              <a:rPr sz="2100" i="1" spc="-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1875" baseline="42000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875" spc="390" baseline="42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2100">
              <a:latin typeface="Times New Roman" panose="02020603050405020304"/>
              <a:cs typeface="Times New Roman" panose="02020603050405020304"/>
            </a:endParaRPr>
          </a:p>
          <a:p>
            <a:pPr marL="451485" indent="-286385">
              <a:lnSpc>
                <a:spcPts val="1920"/>
              </a:lnSpc>
              <a:buSzPct val="58000"/>
              <a:buFont typeface="Wingdings" panose="05000000000000000000"/>
              <a:buChar char=""/>
              <a:tabLst>
                <a:tab pos="450850" algn="l"/>
              </a:tabLst>
            </a:pPr>
            <a:r>
              <a:rPr sz="18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if</a:t>
            </a:r>
            <a:r>
              <a:rPr sz="18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</a:t>
            </a:r>
            <a:r>
              <a:rPr sz="18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&gt;</a:t>
            </a:r>
            <a:r>
              <a:rPr sz="18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800" spc="-3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b.</a:t>
            </a:r>
            <a:endParaRPr sz="1800">
              <a:latin typeface="Tahoma" panose="020B0604030504040204"/>
              <a:cs typeface="Tahoma" panose="020B0604030504040204"/>
            </a:endParaRPr>
          </a:p>
          <a:p>
            <a:pPr marL="50800">
              <a:lnSpc>
                <a:spcPct val="100000"/>
              </a:lnSpc>
              <a:spcBef>
                <a:spcPts val="245"/>
              </a:spcBef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So,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sz="20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O(n</a:t>
            </a:r>
            <a:r>
              <a:rPr sz="20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log</a:t>
            </a:r>
            <a:r>
              <a:rPr sz="1950" baseline="26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1950" spc="307" baseline="26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n).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50800" marR="43180">
              <a:lnSpc>
                <a:spcPts val="2160"/>
              </a:lnSpc>
              <a:spcBef>
                <a:spcPts val="515"/>
              </a:spcBef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general,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to use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this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method,</a:t>
            </a:r>
            <a:r>
              <a:rPr sz="20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you</a:t>
            </a:r>
            <a:r>
              <a:rPr sz="20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need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to</a:t>
            </a:r>
            <a:r>
              <a:rPr sz="20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have</a:t>
            </a:r>
            <a:r>
              <a:rPr sz="2000" spc="-2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good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guess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you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need</a:t>
            </a:r>
            <a:r>
              <a:rPr sz="20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to be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good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at</a:t>
            </a:r>
            <a:r>
              <a:rPr sz="20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induction</a:t>
            </a:r>
            <a:r>
              <a:rPr sz="2000" spc="-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proofs.</a:t>
            </a:r>
            <a:endParaRPr sz="200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55648" y="228902"/>
            <a:ext cx="1196719" cy="136662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82344" y="2310744"/>
            <a:ext cx="3790950" cy="974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4370" algn="ctr">
              <a:lnSpc>
                <a:spcPct val="100000"/>
              </a:lnSpc>
              <a:spcBef>
                <a:spcPts val="95"/>
              </a:spcBef>
            </a:pPr>
            <a:r>
              <a:rPr sz="1900" spc="-50" dirty="0">
                <a:latin typeface="Symbol" panose="05050102010706020507"/>
                <a:cs typeface="Symbol" panose="05050102010706020507"/>
              </a:rPr>
              <a:t></a:t>
            </a:r>
            <a:endParaRPr sz="1900">
              <a:latin typeface="Symbol" panose="05050102010706020507"/>
              <a:cs typeface="Symbol" panose="05050102010706020507"/>
            </a:endParaRPr>
          </a:p>
          <a:p>
            <a:pPr marL="38100">
              <a:lnSpc>
                <a:spcPct val="100000"/>
              </a:lnSpc>
              <a:spcBef>
                <a:spcPts val="65"/>
              </a:spcBef>
            </a:pP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Guess</a:t>
            </a:r>
            <a:r>
              <a:rPr sz="2000" spc="-3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#2: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T(n)</a:t>
            </a:r>
            <a:r>
              <a:rPr sz="20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&lt;</a:t>
            </a:r>
            <a:r>
              <a:rPr sz="2000" spc="-1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cn</a:t>
            </a:r>
            <a:r>
              <a:rPr sz="20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log</a:t>
            </a:r>
            <a:r>
              <a:rPr sz="1950" baseline="26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2</a:t>
            </a:r>
            <a:r>
              <a:rPr sz="1950" spc="300" baseline="260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2000" spc="-2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n.</a:t>
            </a:r>
            <a:endParaRPr sz="2000">
              <a:latin typeface="Tahoma" panose="020B0604030504040204"/>
              <a:cs typeface="Tahoma" panose="020B0604030504040204"/>
            </a:endParaRPr>
          </a:p>
          <a:p>
            <a:pPr marL="998220">
              <a:lnSpc>
                <a:spcPct val="100000"/>
              </a:lnSpc>
              <a:spcBef>
                <a:spcPts val="200"/>
              </a:spcBef>
            </a:pPr>
            <a:r>
              <a:rPr sz="2100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100" i="1" spc="-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2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</a:t>
            </a:r>
            <a:r>
              <a:rPr sz="21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4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2100" i="1" spc="-4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2100" i="1" spc="-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100" i="1" spc="-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2100" spc="-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Times New Roman" panose="02020603050405020304"/>
                <a:cs typeface="Times New Roman" panose="02020603050405020304"/>
              </a:rPr>
              <a:t>2)</a:t>
            </a:r>
            <a:r>
              <a:rPr sz="2100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dirty="0">
                <a:latin typeface="Symbol" panose="05050102010706020507"/>
                <a:cs typeface="Symbol" panose="05050102010706020507"/>
              </a:rPr>
              <a:t></a:t>
            </a:r>
            <a:r>
              <a:rPr sz="2100" spc="-25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dirty="0">
                <a:latin typeface="Times New Roman" panose="02020603050405020304"/>
                <a:cs typeface="Times New Roman" panose="02020603050405020304"/>
              </a:rPr>
              <a:t>bn</a:t>
            </a:r>
            <a:r>
              <a:rPr sz="2100" i="1" spc="-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spc="-2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2100" spc="-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1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21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94938" y="6433427"/>
            <a:ext cx="1755139" cy="241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Analysis</a:t>
            </a:r>
            <a:r>
              <a:rPr sz="1400" spc="-4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sz="1400" spc="-45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400" spc="-10" dirty="0">
                <a:solidFill>
                  <a:srgbClr val="40458B"/>
                </a:solidFill>
                <a:latin typeface="Tahoma" panose="020B0604030504040204"/>
                <a:cs typeface="Tahoma" panose="020B0604030504040204"/>
              </a:rPr>
              <a:t>Algorithms</a:t>
            </a:r>
            <a:endParaRPr sz="14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525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11" name="object 11"/>
          <p:cNvSpPr txBox="1"/>
          <p:nvPr/>
        </p:nvSpPr>
        <p:spPr>
          <a:xfrm>
            <a:off x="3216556" y="2254487"/>
            <a:ext cx="198247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50" spc="-37" baseline="32000" dirty="0">
                <a:latin typeface="Symbol" panose="05050102010706020507"/>
                <a:cs typeface="Symbol" panose="05050102010706020507"/>
              </a:rPr>
              <a:t></a:t>
            </a:r>
            <a:r>
              <a:rPr sz="1900" spc="-25" dirty="0">
                <a:latin typeface="Times New Roman" panose="02020603050405020304"/>
                <a:cs typeface="Times New Roman" panose="02020603050405020304"/>
              </a:rPr>
              <a:t>2</a:t>
            </a:r>
            <a:r>
              <a:rPr sz="1900" i="1" spc="-2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900" i="1" spc="-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00" i="1" spc="-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/</a:t>
            </a:r>
            <a:r>
              <a:rPr sz="1900" spc="-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2)</a:t>
            </a:r>
            <a:r>
              <a:rPr sz="1900" spc="-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Symbol" panose="05050102010706020507"/>
                <a:cs typeface="Symbol" panose="05050102010706020507"/>
              </a:rPr>
              <a:t></a:t>
            </a:r>
            <a:r>
              <a:rPr sz="1900" spc="-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bn</a:t>
            </a:r>
            <a:r>
              <a:rPr sz="1900" i="1" spc="-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20" dirty="0">
                <a:latin typeface="Times New Roman" panose="02020603050405020304"/>
                <a:cs typeface="Times New Roman" panose="02020603050405020304"/>
              </a:rPr>
              <a:t>log</a:t>
            </a:r>
            <a:r>
              <a:rPr sz="1900" spc="-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i="1" spc="-50" dirty="0">
                <a:latin typeface="Times New Roman" panose="02020603050405020304"/>
                <a:cs typeface="Times New Roman" panose="02020603050405020304"/>
              </a:rPr>
              <a:t>n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02643" y="1823685"/>
            <a:ext cx="777240" cy="745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115">
              <a:lnSpc>
                <a:spcPct val="124000"/>
              </a:lnSpc>
              <a:spcBef>
                <a:spcPts val="100"/>
              </a:spcBef>
            </a:pPr>
            <a:r>
              <a:rPr sz="190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900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00" i="1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Symbol" panose="05050102010706020507"/>
                <a:cs typeface="Symbol" panose="05050102010706020507"/>
              </a:rPr>
              <a:t></a:t>
            </a:r>
            <a:r>
              <a:rPr sz="19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spc="-50" dirty="0"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1900" spc="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00" i="1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Symbol" panose="05050102010706020507"/>
                <a:cs typeface="Symbol" panose="05050102010706020507"/>
              </a:rPr>
              <a:t></a:t>
            </a:r>
            <a:r>
              <a:rPr sz="1900" spc="-50" dirty="0">
                <a:latin typeface="Times New Roman" panose="02020603050405020304"/>
                <a:cs typeface="Times New Roman" panose="02020603050405020304"/>
              </a:rPr>
              <a:t> 2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95856" y="1894542"/>
            <a:ext cx="14732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i="1" spc="-50" dirty="0">
                <a:latin typeface="Times New Roman" panose="02020603050405020304"/>
                <a:cs typeface="Times New Roman" panose="02020603050405020304"/>
              </a:rPr>
              <a:t>b</a:t>
            </a:r>
            <a:endParaRPr sz="19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01603" y="2071413"/>
            <a:ext cx="9118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900" i="1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900" i="1" spc="-2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(</a:t>
            </a:r>
            <a:r>
              <a:rPr sz="1900" i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900" dirty="0">
                <a:latin typeface="Times New Roman" panose="02020603050405020304"/>
                <a:cs typeface="Times New Roman" panose="02020603050405020304"/>
              </a:rPr>
              <a:t>)</a:t>
            </a:r>
            <a:r>
              <a:rPr sz="19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900" dirty="0">
                <a:latin typeface="Symbol" panose="05050102010706020507"/>
                <a:cs typeface="Symbol" panose="05050102010706020507"/>
              </a:rPr>
              <a:t></a:t>
            </a:r>
            <a:r>
              <a:rPr sz="19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50" spc="-75" baseline="37000" dirty="0">
                <a:latin typeface="Symbol" panose="05050102010706020507"/>
                <a:cs typeface="Symbol" panose="05050102010706020507"/>
              </a:rPr>
              <a:t></a:t>
            </a:r>
            <a:endParaRPr sz="2850" baseline="37000">
              <a:latin typeface="Symbol" panose="05050102010706020507"/>
              <a:cs typeface="Symbol" panose="0505010201070602050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2147</Words>
  <Application>WPS Presentation</Application>
  <PresentationFormat>On-screen Show (4:3)</PresentationFormat>
  <Paragraphs>128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Tahoma</vt:lpstr>
      <vt:lpstr>Wingdings</vt:lpstr>
      <vt:lpstr>Times New Roman</vt:lpstr>
      <vt:lpstr>Symbol</vt:lpstr>
      <vt:lpstr>Arial</vt:lpstr>
      <vt:lpstr>Microsoft YaHei</vt:lpstr>
      <vt:lpstr>Arial Unicode MS</vt:lpstr>
      <vt:lpstr>Calibri</vt:lpstr>
      <vt:lpstr>Office Theme</vt:lpstr>
      <vt:lpstr>Divide-and-Conquer</vt:lpstr>
      <vt:lpstr>Solving Recurrences by Substitution: Guess-and-Test</vt:lpstr>
      <vt:lpstr>Solving Recurrences by Substitution: 2</vt:lpstr>
      <vt:lpstr>Solving Recurrences by Substitution: 3</vt:lpstr>
      <vt:lpstr>More Examples</vt:lpstr>
      <vt:lpstr>More Examples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Divide-and-Conquer</dc:title>
  <dc:creator>Roberto Tamassia</dc:creator>
  <cp:lastModifiedBy>Muhammad Minhal Raza</cp:lastModifiedBy>
  <cp:revision>1</cp:revision>
  <dcterms:created xsi:type="dcterms:W3CDTF">2024-09-19T10:23:44Z</dcterms:created>
  <dcterms:modified xsi:type="dcterms:W3CDTF">2024-09-19T10:23:45Z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2018-09-27T05:00:00Z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2024-09-19T05:00:00Z</vt:filetime>
  </property>
  <property fmtid="{D5CDD505-2E9C-101B-9397-08002B2CF9AE}" pid="5" name="Producer">
    <vt:lpwstr>Microsoft® PowerPoint® 2016</vt:lpwstr>
  </property>
  <property fmtid="{D5CDD505-2E9C-101B-9397-08002B2CF9AE}" pid="6" name="ICV">
    <vt:lpwstr>9D3FEA21716946F9AF7304FE6F043AE6_12</vt:lpwstr>
  </property>
  <property fmtid="{D5CDD505-2E9C-101B-9397-08002B2CF9AE}" pid="7" name="KSOProductBuildVer">
    <vt:lpwstr>1033-12.2.0.18283</vt:lpwstr>
  </property>
</Properties>
</file>