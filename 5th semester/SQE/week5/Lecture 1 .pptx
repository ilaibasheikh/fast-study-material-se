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458" r:id="rId3"/>
    <p:sldId id="459" r:id="rId4"/>
    <p:sldId id="461" r:id="rId5"/>
    <p:sldId id="462" r:id="rId6"/>
    <p:sldId id="464" r:id="rId7"/>
    <p:sldId id="463" r:id="rId8"/>
    <p:sldId id="478" r:id="rId9"/>
    <p:sldId id="479" r:id="rId10"/>
    <p:sldId id="395" r:id="rId11"/>
    <p:sldId id="386" r:id="rId12"/>
    <p:sldId id="387" r:id="rId13"/>
    <p:sldId id="388" r:id="rId14"/>
    <p:sldId id="389" r:id="rId15"/>
    <p:sldId id="390" r:id="rId16"/>
    <p:sldId id="391" r:id="rId17"/>
    <p:sldId id="392" r:id="rId18"/>
    <p:sldId id="394" r:id="rId19"/>
    <p:sldId id="27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86590" autoAdjust="0"/>
  </p:normalViewPr>
  <p:slideViewPr>
    <p:cSldViewPr snapToGrid="0">
      <p:cViewPr varScale="1">
        <p:scale>
          <a:sx n="74" d="100"/>
          <a:sy n="74" d="100"/>
        </p:scale>
        <p:origin x="74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10:31.321" v="39"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del">
        <pc:chgData name="Ms Alina Arshad" userId="cccdfd85-d35d-4453-9c6f-a463aae40722" providerId="ADAL" clId="{889ED1B4-3B5C-4371-ABF8-B9437E0A75AE}" dt="2024-09-19T05:10:31.321" v="39" actId="47"/>
        <pc:sldMkLst>
          <pc:docMk/>
          <pc:sldMk cId="3502560203" sldId="465"/>
        </pc:sldMkLst>
      </pc:sldChg>
      <pc:sldChg chg="add del">
        <pc:chgData name="Ms Alina Arshad" userId="cccdfd85-d35d-4453-9c6f-a463aae40722" providerId="ADAL" clId="{889ED1B4-3B5C-4371-ABF8-B9437E0A75AE}" dt="2024-09-19T05:10:31.321" v="39" actId="47"/>
        <pc:sldMkLst>
          <pc:docMk/>
          <pc:sldMk cId="4240682665" sldId="466"/>
        </pc:sldMkLst>
      </pc:sldChg>
      <pc:sldChg chg="add del">
        <pc:chgData name="Ms Alina Arshad" userId="cccdfd85-d35d-4453-9c6f-a463aae40722" providerId="ADAL" clId="{889ED1B4-3B5C-4371-ABF8-B9437E0A75AE}" dt="2024-09-19T05:10:31.321" v="39" actId="47"/>
        <pc:sldMkLst>
          <pc:docMk/>
          <pc:sldMk cId="1253061490" sldId="467"/>
        </pc:sldMkLst>
      </pc:sldChg>
      <pc:sldChg chg="add del">
        <pc:chgData name="Ms Alina Arshad" userId="cccdfd85-d35d-4453-9c6f-a463aae40722" providerId="ADAL" clId="{889ED1B4-3B5C-4371-ABF8-B9437E0A75AE}" dt="2024-09-19T05:10:31.321" v="39" actId="47"/>
        <pc:sldMkLst>
          <pc:docMk/>
          <pc:sldMk cId="1729599593" sldId="468"/>
        </pc:sldMkLst>
      </pc:sldChg>
      <pc:sldChg chg="add del">
        <pc:chgData name="Ms Alina Arshad" userId="cccdfd85-d35d-4453-9c6f-a463aae40722" providerId="ADAL" clId="{889ED1B4-3B5C-4371-ABF8-B9437E0A75AE}" dt="2024-09-19T05:10:31.321" v="39" actId="47"/>
        <pc:sldMkLst>
          <pc:docMk/>
          <pc:sldMk cId="174372872" sldId="469"/>
        </pc:sldMkLst>
      </pc:sldChg>
      <pc:sldChg chg="add del">
        <pc:chgData name="Ms Alina Arshad" userId="cccdfd85-d35d-4453-9c6f-a463aae40722" providerId="ADAL" clId="{889ED1B4-3B5C-4371-ABF8-B9437E0A75AE}" dt="2024-09-19T05:10:31.321" v="39" actId="47"/>
        <pc:sldMkLst>
          <pc:docMk/>
          <pc:sldMk cId="1593451177" sldId="472"/>
        </pc:sldMkLst>
      </pc:sldChg>
      <pc:sldChg chg="add del">
        <pc:chgData name="Ms Alina Arshad" userId="cccdfd85-d35d-4453-9c6f-a463aae40722" providerId="ADAL" clId="{889ED1B4-3B5C-4371-ABF8-B9437E0A75AE}" dt="2024-09-19T05:10:31.321" v="39" actId="47"/>
        <pc:sldMkLst>
          <pc:docMk/>
          <pc:sldMk cId="3011208458" sldId="473"/>
        </pc:sldMkLst>
      </pc:sldChg>
      <pc:sldChg chg="add del">
        <pc:chgData name="Ms Alina Arshad" userId="cccdfd85-d35d-4453-9c6f-a463aae40722" providerId="ADAL" clId="{889ED1B4-3B5C-4371-ABF8-B9437E0A75AE}" dt="2024-09-19T05:10:31.321" v="39" actId="47"/>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test cases do not test any new thing and they just execute the same lines of source code again and again. </a:t>
            </a:r>
          </a:p>
        </p:txBody>
      </p:sp>
      <p:sp>
        <p:nvSpPr>
          <p:cNvPr id="4" name="Slide Number Placeholder 3"/>
          <p:cNvSpPr>
            <a:spLocks noGrp="1"/>
          </p:cNvSpPr>
          <p:nvPr>
            <p:ph type="sldNum" sz="quarter" idx="10"/>
          </p:nvPr>
        </p:nvSpPr>
        <p:spPr/>
        <p:txBody>
          <a:bodyPr/>
          <a:lstStyle/>
          <a:p>
            <a:fld id="{741B017E-9405-4A24-9E72-ABBA234FC5F9}" type="slidenum">
              <a:rPr lang="en-US" smtClean="0"/>
              <a:t>2</a:t>
            </a:fld>
            <a:endParaRPr lang="en-US"/>
          </a:p>
        </p:txBody>
      </p:sp>
    </p:spTree>
    <p:extLst>
      <p:ext uri="{BB962C8B-B14F-4D97-AF65-F5344CB8AC3E}">
        <p14:creationId xmlns:p14="http://schemas.microsoft.com/office/powerpoint/2010/main" val="2991820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7</a:t>
            </a:fld>
            <a:endParaRPr lang="en-US"/>
          </a:p>
        </p:txBody>
      </p:sp>
    </p:spTree>
    <p:extLst>
      <p:ext uri="{BB962C8B-B14F-4D97-AF65-F5344CB8AC3E}">
        <p14:creationId xmlns:p14="http://schemas.microsoft.com/office/powerpoint/2010/main" val="1555587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14188D33-465C-208B-A7B4-5FFA445912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E3A5F931-4FAB-3020-FDC2-2A1228BE782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What is software Testing? (Recap)</a:t>
            </a:r>
          </a:p>
        </p:txBody>
      </p:sp>
      <p:sp>
        <p:nvSpPr>
          <p:cNvPr id="19460" name="Slide Number Placeholder 3">
            <a:extLst>
              <a:ext uri="{FF2B5EF4-FFF2-40B4-BE49-F238E27FC236}">
                <a16:creationId xmlns:a16="http://schemas.microsoft.com/office/drawing/2014/main" id="{BCA7E3C2-EB93-4A81-6A60-7DA4DA7703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2771A70-04BE-4D55-B877-BFDC822450DF}" type="slidenum">
              <a:rPr lang="en-US" altLang="en-US">
                <a:latin typeface="Arial" panose="020B0604020202020204" pitchFamily="34" charset="0"/>
              </a:rPr>
              <a:pPr>
                <a:spcBef>
                  <a:spcPct val="0"/>
                </a:spcBef>
              </a:pPr>
              <a:t>11</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cs typeface="Times New Roman" panose="02020603050405020304" pitchFamily="18" charset="0"/>
              </a:rPr>
              <a:t>software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05526" y="527552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268" y="940887"/>
            <a:ext cx="10058400" cy="904847"/>
          </a:xfrm>
        </p:spPr>
        <p:txBody>
          <a:bodyPr/>
          <a:lstStyle/>
          <a:p>
            <a:r>
              <a:rPr lang="en-US" b="1" dirty="0">
                <a:solidFill>
                  <a:schemeClr val="tx1"/>
                </a:solidFill>
              </a:rPr>
              <a:t> EQUIVALENCE CLASS TESTING</a:t>
            </a:r>
          </a:p>
        </p:txBody>
      </p:sp>
      <p:sp>
        <p:nvSpPr>
          <p:cNvPr id="3" name="Content Placeholder 2"/>
          <p:cNvSpPr>
            <a:spLocks noGrp="1"/>
          </p:cNvSpPr>
          <p:nvPr>
            <p:ph idx="1"/>
          </p:nvPr>
        </p:nvSpPr>
        <p:spPr/>
        <p:txBody>
          <a:bodyPr>
            <a:normAutofit/>
          </a:bodyPr>
          <a:lstStyle/>
          <a:p>
            <a:pPr algn="just"/>
            <a:r>
              <a:rPr lang="en-US" dirty="0">
                <a:solidFill>
                  <a:schemeClr val="tx1"/>
                </a:solidFill>
              </a:rPr>
              <a:t>A large number of test cases are generated for any program. It is neither feasible nor desirable to execute all such test cases. </a:t>
            </a:r>
          </a:p>
          <a:p>
            <a:pPr algn="just"/>
            <a:r>
              <a:rPr lang="en-US" dirty="0">
                <a:solidFill>
                  <a:schemeClr val="tx1"/>
                </a:solidFill>
              </a:rPr>
              <a:t>Divide input domain into various categories with some relationship and expect that every test case from a category exhibits the same behavior. </a:t>
            </a:r>
          </a:p>
          <a:p>
            <a:pPr algn="just"/>
            <a:r>
              <a:rPr lang="en-US" dirty="0">
                <a:solidFill>
                  <a:schemeClr val="tx1"/>
                </a:solidFill>
              </a:rPr>
              <a:t>If categories are well selected, we may assume that if one representative test case works correctly, others may also give the same results.. </a:t>
            </a:r>
          </a:p>
          <a:p>
            <a:pPr algn="just"/>
            <a:r>
              <a:rPr lang="en-US" dirty="0">
                <a:solidFill>
                  <a:schemeClr val="tx1"/>
                </a:solidFill>
              </a:rPr>
              <a:t>Each category is called an equivalence class and this type of testing is known as equivalence class testing. </a:t>
            </a:r>
          </a:p>
        </p:txBody>
      </p:sp>
    </p:spTree>
    <p:extLst>
      <p:ext uri="{BB962C8B-B14F-4D97-AF65-F5344CB8AC3E}">
        <p14:creationId xmlns:p14="http://schemas.microsoft.com/office/powerpoint/2010/main" val="719467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11" y="919428"/>
            <a:ext cx="10058400" cy="738159"/>
          </a:xfrm>
        </p:spPr>
        <p:txBody>
          <a:bodyPr/>
          <a:lstStyle/>
          <a:p>
            <a:r>
              <a:rPr lang="en-US" b="1" dirty="0">
                <a:solidFill>
                  <a:schemeClr val="tx1"/>
                </a:solidFill>
              </a:rPr>
              <a:t>Creation of Equivalence Classes</a:t>
            </a:r>
          </a:p>
        </p:txBody>
      </p:sp>
      <p:sp>
        <p:nvSpPr>
          <p:cNvPr id="3" name="Content Placeholder 2"/>
          <p:cNvSpPr>
            <a:spLocks noGrp="1"/>
          </p:cNvSpPr>
          <p:nvPr>
            <p:ph idx="1"/>
          </p:nvPr>
        </p:nvSpPr>
        <p:spPr>
          <a:xfrm>
            <a:off x="547884" y="1715956"/>
            <a:ext cx="11029615" cy="3853536"/>
          </a:xfrm>
        </p:spPr>
        <p:txBody>
          <a:bodyPr/>
          <a:lstStyle/>
          <a:p>
            <a:pPr algn="just"/>
            <a:r>
              <a:rPr lang="en-US" sz="2400" dirty="0">
                <a:solidFill>
                  <a:schemeClr val="tx1"/>
                </a:solidFill>
              </a:rPr>
              <a:t>The entire input domain can be divided into at least two equivalence classes: one containing all valid inputs and the other containing all invalid inputs. </a:t>
            </a:r>
          </a:p>
          <a:p>
            <a:pPr algn="just"/>
            <a:r>
              <a:rPr lang="en-US" sz="2400" dirty="0">
                <a:solidFill>
                  <a:schemeClr val="tx1"/>
                </a:solidFill>
              </a:rPr>
              <a:t>Each equivalence class can further be sub-divided into equivalence classes on which the program is required to behave differently.</a:t>
            </a:r>
          </a:p>
          <a:p>
            <a:pPr algn="just"/>
            <a:r>
              <a:rPr lang="en-US" dirty="0">
                <a:solidFill>
                  <a:schemeClr val="tx1"/>
                </a:solidFill>
              </a:rPr>
              <a:t>Square program</a:t>
            </a:r>
          </a:p>
          <a:p>
            <a:pPr algn="just"/>
            <a:endParaRPr lang="en-US" dirty="0">
              <a:solidFill>
                <a:schemeClr val="tx1"/>
              </a:solidFill>
            </a:endParaRPr>
          </a:p>
        </p:txBody>
      </p:sp>
      <p:pic>
        <p:nvPicPr>
          <p:cNvPr id="6" name="Picture 5"/>
          <p:cNvPicPr>
            <a:picLocks noChangeAspect="1"/>
          </p:cNvPicPr>
          <p:nvPr/>
        </p:nvPicPr>
        <p:blipFill>
          <a:blip r:embed="rId2"/>
          <a:stretch>
            <a:fillRect/>
          </a:stretch>
        </p:blipFill>
        <p:spPr>
          <a:xfrm>
            <a:off x="614501" y="4073176"/>
            <a:ext cx="5155030" cy="1007701"/>
          </a:xfrm>
          <a:prstGeom prst="rect">
            <a:avLst/>
          </a:prstGeom>
        </p:spPr>
      </p:pic>
      <p:pic>
        <p:nvPicPr>
          <p:cNvPr id="7" name="Picture 6"/>
          <p:cNvPicPr>
            <a:picLocks noChangeAspect="1"/>
          </p:cNvPicPr>
          <p:nvPr/>
        </p:nvPicPr>
        <p:blipFill>
          <a:blip r:embed="rId3"/>
          <a:stretch>
            <a:fillRect/>
          </a:stretch>
        </p:blipFill>
        <p:spPr>
          <a:xfrm>
            <a:off x="6096000" y="3537319"/>
            <a:ext cx="5724525" cy="1817629"/>
          </a:xfrm>
          <a:prstGeom prst="rect">
            <a:avLst/>
          </a:prstGeom>
        </p:spPr>
      </p:pic>
    </p:spTree>
    <p:extLst>
      <p:ext uri="{BB962C8B-B14F-4D97-AF65-F5344CB8AC3E}">
        <p14:creationId xmlns:p14="http://schemas.microsoft.com/office/powerpoint/2010/main" val="37912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Equivalence classes for addition program</a:t>
            </a:r>
          </a:p>
        </p:txBody>
      </p:sp>
      <p:pic>
        <p:nvPicPr>
          <p:cNvPr id="7" name="Content Placeholder 6"/>
          <p:cNvPicPr>
            <a:picLocks noGrp="1" noChangeAspect="1"/>
          </p:cNvPicPr>
          <p:nvPr>
            <p:ph idx="1"/>
          </p:nvPr>
        </p:nvPicPr>
        <p:blipFill>
          <a:blip r:embed="rId2"/>
          <a:stretch>
            <a:fillRect/>
          </a:stretch>
        </p:blipFill>
        <p:spPr>
          <a:xfrm>
            <a:off x="581192" y="1944687"/>
            <a:ext cx="7222707" cy="3320906"/>
          </a:xfrm>
          <a:prstGeom prst="rect">
            <a:avLst/>
          </a:prstGeom>
        </p:spPr>
      </p:pic>
      <p:pic>
        <p:nvPicPr>
          <p:cNvPr id="8" name="Content Placeholder 5"/>
          <p:cNvPicPr>
            <a:picLocks noChangeAspect="1"/>
          </p:cNvPicPr>
          <p:nvPr/>
        </p:nvPicPr>
        <p:blipFill>
          <a:blip r:embed="rId3"/>
          <a:stretch>
            <a:fillRect/>
          </a:stretch>
        </p:blipFill>
        <p:spPr>
          <a:xfrm>
            <a:off x="7651150" y="2422358"/>
            <a:ext cx="3959658" cy="3320906"/>
          </a:xfrm>
          <a:prstGeom prst="rect">
            <a:avLst/>
          </a:prstGeom>
        </p:spPr>
      </p:pic>
    </p:spTree>
    <p:extLst>
      <p:ext uri="{BB962C8B-B14F-4D97-AF65-F5344CB8AC3E}">
        <p14:creationId xmlns:p14="http://schemas.microsoft.com/office/powerpoint/2010/main" val="475468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50627"/>
            <a:ext cx="10058400" cy="986733"/>
          </a:xfrm>
        </p:spPr>
        <p:txBody>
          <a:bodyPr/>
          <a:lstStyle/>
          <a:p>
            <a:r>
              <a:rPr lang="en-US" b="1" dirty="0">
                <a:solidFill>
                  <a:schemeClr val="tx1"/>
                </a:solidFill>
              </a:rPr>
              <a:t>Test cases for addition</a:t>
            </a:r>
          </a:p>
        </p:txBody>
      </p:sp>
      <p:pic>
        <p:nvPicPr>
          <p:cNvPr id="8" name="Content Placeholder 7"/>
          <p:cNvPicPr>
            <a:picLocks noGrp="1" noChangeAspect="1"/>
          </p:cNvPicPr>
          <p:nvPr>
            <p:ph idx="1"/>
          </p:nvPr>
        </p:nvPicPr>
        <p:blipFill>
          <a:blip r:embed="rId2"/>
          <a:stretch>
            <a:fillRect/>
          </a:stretch>
        </p:blipFill>
        <p:spPr>
          <a:xfrm>
            <a:off x="943372" y="1737360"/>
            <a:ext cx="10548044" cy="4211336"/>
          </a:xfrm>
          <a:prstGeom prst="rect">
            <a:avLst/>
          </a:prstGeom>
        </p:spPr>
      </p:pic>
    </p:spTree>
    <p:extLst>
      <p:ext uri="{BB962C8B-B14F-4D97-AF65-F5344CB8AC3E}">
        <p14:creationId xmlns:p14="http://schemas.microsoft.com/office/powerpoint/2010/main" val="175526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applicability</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dirty="0">
                <a:solidFill>
                  <a:schemeClr val="tx1"/>
                </a:solidFill>
              </a:rPr>
              <a:t>Applicable at unit, integration, system and acceptance test levels. </a:t>
            </a:r>
          </a:p>
          <a:p>
            <a:pPr algn="just">
              <a:buFont typeface="Arial" panose="020B0604020202020204" pitchFamily="34" charset="0"/>
              <a:buChar char="•"/>
            </a:pPr>
            <a:r>
              <a:rPr lang="en-US" dirty="0">
                <a:solidFill>
                  <a:schemeClr val="tx1"/>
                </a:solidFill>
              </a:rPr>
              <a:t>The basic requirement is that inputs or outputs must be partitioned based on the requirements and every partition will give a test case. </a:t>
            </a:r>
          </a:p>
          <a:p>
            <a:pPr algn="just">
              <a:buFont typeface="Arial" panose="020B0604020202020204" pitchFamily="34" charset="0"/>
              <a:buChar char="•"/>
            </a:pPr>
            <a:r>
              <a:rPr lang="en-US" dirty="0">
                <a:solidFill>
                  <a:schemeClr val="tx1"/>
                </a:solidFill>
              </a:rPr>
              <a:t>If one test case catches a bug, the other probably will too. </a:t>
            </a:r>
          </a:p>
          <a:p>
            <a:pPr algn="just">
              <a:buFont typeface="Arial" panose="020B0604020202020204" pitchFamily="34" charset="0"/>
              <a:buChar char="•"/>
            </a:pPr>
            <a:r>
              <a:rPr lang="en-US" dirty="0">
                <a:solidFill>
                  <a:schemeClr val="tx1"/>
                </a:solidFill>
              </a:rPr>
              <a:t>The design of equivalence classes is subjective to testing person. </a:t>
            </a:r>
          </a:p>
        </p:txBody>
      </p:sp>
    </p:spTree>
    <p:extLst>
      <p:ext uri="{BB962C8B-B14F-4D97-AF65-F5344CB8AC3E}">
        <p14:creationId xmlns:p14="http://schemas.microsoft.com/office/powerpoint/2010/main" val="2524428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Example</a:t>
            </a:r>
          </a:p>
        </p:txBody>
      </p:sp>
      <p:sp>
        <p:nvSpPr>
          <p:cNvPr id="3" name="Content Placeholder 2"/>
          <p:cNvSpPr>
            <a:spLocks noGrp="1"/>
          </p:cNvSpPr>
          <p:nvPr>
            <p:ph idx="1"/>
          </p:nvPr>
        </p:nvSpPr>
        <p:spPr/>
        <p:txBody>
          <a:bodyPr>
            <a:normAutofit/>
          </a:bodyPr>
          <a:lstStyle/>
          <a:p>
            <a:r>
              <a:rPr lang="en-US" sz="2400" dirty="0">
                <a:solidFill>
                  <a:schemeClr val="tx1"/>
                </a:solidFill>
              </a:rPr>
              <a:t>Consider a program for the determination of the largest amongst three numbers. Its input is a triple of positive integers (say x, y and z) and values are from interval [1, 300].</a:t>
            </a:r>
          </a:p>
          <a:p>
            <a:r>
              <a:rPr lang="en-US" sz="2400" dirty="0">
                <a:solidFill>
                  <a:schemeClr val="tx1"/>
                </a:solidFill>
              </a:rPr>
              <a:t>Design the equivalence classes</a:t>
            </a:r>
          </a:p>
        </p:txBody>
      </p:sp>
    </p:spTree>
    <p:extLst>
      <p:ext uri="{BB962C8B-B14F-4D97-AF65-F5344CB8AC3E}">
        <p14:creationId xmlns:p14="http://schemas.microsoft.com/office/powerpoint/2010/main" val="3175048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D8019B-1533-A540-0238-00FE1B71E986}"/>
              </a:ext>
            </a:extLst>
          </p:cNvPr>
          <p:cNvPicPr>
            <a:picLocks noChangeAspect="1"/>
          </p:cNvPicPr>
          <p:nvPr/>
        </p:nvPicPr>
        <p:blipFill>
          <a:blip r:embed="rId2"/>
          <a:stretch>
            <a:fillRect/>
          </a:stretch>
        </p:blipFill>
        <p:spPr>
          <a:xfrm>
            <a:off x="651828" y="1"/>
            <a:ext cx="9448776" cy="4501662"/>
          </a:xfrm>
          <a:prstGeom prst="rect">
            <a:avLst/>
          </a:prstGeom>
        </p:spPr>
      </p:pic>
      <p:pic>
        <p:nvPicPr>
          <p:cNvPr id="9" name="Picture 8">
            <a:extLst>
              <a:ext uri="{FF2B5EF4-FFF2-40B4-BE49-F238E27FC236}">
                <a16:creationId xmlns:a16="http://schemas.microsoft.com/office/drawing/2014/main" id="{7456819B-0B75-7F65-462A-907D44DEE7F2}"/>
              </a:ext>
            </a:extLst>
          </p:cNvPr>
          <p:cNvPicPr>
            <a:picLocks noChangeAspect="1"/>
          </p:cNvPicPr>
          <p:nvPr/>
        </p:nvPicPr>
        <p:blipFill>
          <a:blip r:embed="rId3"/>
          <a:stretch>
            <a:fillRect/>
          </a:stretch>
        </p:blipFill>
        <p:spPr>
          <a:xfrm>
            <a:off x="778437" y="4279362"/>
            <a:ext cx="9575384" cy="2409825"/>
          </a:xfrm>
          <a:prstGeom prst="rect">
            <a:avLst/>
          </a:prstGeom>
        </p:spPr>
      </p:pic>
    </p:spTree>
    <p:extLst>
      <p:ext uri="{BB962C8B-B14F-4D97-AF65-F5344CB8AC3E}">
        <p14:creationId xmlns:p14="http://schemas.microsoft.com/office/powerpoint/2010/main" val="1539764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476297-C38B-769A-0DB1-48DC457E7C69}"/>
              </a:ext>
            </a:extLst>
          </p:cNvPr>
          <p:cNvPicPr>
            <a:picLocks noChangeAspect="1"/>
          </p:cNvPicPr>
          <p:nvPr/>
        </p:nvPicPr>
        <p:blipFill>
          <a:blip r:embed="rId2"/>
          <a:stretch>
            <a:fillRect/>
          </a:stretch>
        </p:blipFill>
        <p:spPr>
          <a:xfrm>
            <a:off x="1853295" y="134006"/>
            <a:ext cx="6656609" cy="6207849"/>
          </a:xfrm>
          <a:prstGeom prst="rect">
            <a:avLst/>
          </a:prstGeom>
          <a:ln>
            <a:solidFill>
              <a:schemeClr val="tx1"/>
            </a:solidFill>
          </a:ln>
        </p:spPr>
      </p:pic>
    </p:spTree>
    <p:extLst>
      <p:ext uri="{BB962C8B-B14F-4D97-AF65-F5344CB8AC3E}">
        <p14:creationId xmlns:p14="http://schemas.microsoft.com/office/powerpoint/2010/main" val="3784571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A5E5E90F-809A-8C29-0A13-67E8CD91E805}"/>
              </a:ext>
            </a:extLst>
          </p:cNvPr>
          <p:cNvSpPr>
            <a:spLocks noGrp="1"/>
          </p:cNvSpPr>
          <p:nvPr>
            <p:ph type="title"/>
          </p:nvPr>
        </p:nvSpPr>
        <p:spPr/>
        <p:txBody>
          <a:bodyPr/>
          <a:lstStyle/>
          <a:p>
            <a:r>
              <a:rPr lang="en-US" altLang="en-US" b="1" dirty="0">
                <a:solidFill>
                  <a:schemeClr val="tx1"/>
                </a:solidFill>
              </a:rPr>
              <a:t>Software Testing Life Cycle</a:t>
            </a:r>
            <a:endParaRPr lang="en-US" altLang="en-US" sz="3600" b="1" dirty="0">
              <a:solidFill>
                <a:schemeClr val="tx1"/>
              </a:solidFill>
            </a:endParaRPr>
          </a:p>
        </p:txBody>
      </p:sp>
      <p:pic>
        <p:nvPicPr>
          <p:cNvPr id="17411" name="Content Placeholder 4" descr="software-testing-1.jpg">
            <a:extLst>
              <a:ext uri="{FF2B5EF4-FFF2-40B4-BE49-F238E27FC236}">
                <a16:creationId xmlns:a16="http://schemas.microsoft.com/office/drawing/2014/main" id="{7C787678-F63B-F6E3-98E0-43A886AF8B91}"/>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235747" y="1737360"/>
            <a:ext cx="7276742" cy="45720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0231127-0A0A-57D3-2C1F-FC07E3FE6787}"/>
              </a:ext>
            </a:extLst>
          </p:cNvPr>
          <p:cNvSpPr>
            <a:spLocks noGrp="1"/>
          </p:cNvSpPr>
          <p:nvPr>
            <p:ph type="title"/>
          </p:nvPr>
        </p:nvSpPr>
        <p:spPr>
          <a:xfrm>
            <a:off x="1140488" y="762000"/>
            <a:ext cx="8153400" cy="990600"/>
          </a:xfrm>
        </p:spPr>
        <p:txBody>
          <a:bodyPr/>
          <a:lstStyle/>
          <a:p>
            <a:r>
              <a:rPr lang="en-US" altLang="en-US" b="1" dirty="0">
                <a:solidFill>
                  <a:schemeClr val="tx1"/>
                </a:solidFill>
              </a:rPr>
              <a:t>Software Testing Life Cycle</a:t>
            </a:r>
          </a:p>
        </p:txBody>
      </p:sp>
      <p:sp>
        <p:nvSpPr>
          <p:cNvPr id="3" name="Content Placeholder 2">
            <a:extLst>
              <a:ext uri="{FF2B5EF4-FFF2-40B4-BE49-F238E27FC236}">
                <a16:creationId xmlns:a16="http://schemas.microsoft.com/office/drawing/2014/main" id="{746FE3BF-273E-CE1C-B58B-B5937FB4FDCA}"/>
              </a:ext>
            </a:extLst>
          </p:cNvPr>
          <p:cNvSpPr>
            <a:spLocks noGrp="1"/>
          </p:cNvSpPr>
          <p:nvPr>
            <p:ph sz="quarter" idx="1"/>
          </p:nvPr>
        </p:nvSpPr>
        <p:spPr>
          <a:xfrm>
            <a:off x="1140487" y="1752600"/>
            <a:ext cx="10146211" cy="4495800"/>
          </a:xfrm>
        </p:spPr>
        <p:txBody>
          <a:bodyPr/>
          <a:lstStyle/>
          <a:p>
            <a:pPr marL="503238" indent="-457200">
              <a:buNone/>
              <a:defRPr/>
            </a:pPr>
            <a:r>
              <a:rPr lang="en-US" sz="2700" dirty="0">
                <a:solidFill>
                  <a:schemeClr val="tx1"/>
                </a:solidFill>
              </a:rPr>
              <a:t>STLC consists of six (generic) phases which are as follows: </a:t>
            </a:r>
          </a:p>
          <a:p>
            <a:pPr marL="503238" indent="-457200">
              <a:buNone/>
              <a:defRPr/>
            </a:pPr>
            <a:endParaRPr lang="en-US" sz="2400" dirty="0"/>
          </a:p>
          <a:p>
            <a:pPr marL="503238" indent="-457200">
              <a:buFont typeface="Tw Cen MT" pitchFamily="34" charset="0"/>
              <a:buAutoNum type="arabicPeriod"/>
              <a:defRPr/>
            </a:pPr>
            <a:r>
              <a:rPr lang="en-US" sz="2500" b="1" dirty="0">
                <a:solidFill>
                  <a:schemeClr val="accent1">
                    <a:lumMod val="75000"/>
                  </a:schemeClr>
                </a:solidFill>
              </a:rPr>
              <a:t>Test Planning</a:t>
            </a:r>
          </a:p>
          <a:p>
            <a:pPr marL="503238" indent="-457200">
              <a:buFont typeface="Tw Cen MT" pitchFamily="34" charset="0"/>
              <a:buAutoNum type="arabicPeriod"/>
              <a:defRPr/>
            </a:pPr>
            <a:r>
              <a:rPr lang="en-US" sz="2500" b="1" dirty="0">
                <a:solidFill>
                  <a:schemeClr val="accent2">
                    <a:lumMod val="75000"/>
                  </a:schemeClr>
                </a:solidFill>
              </a:rPr>
              <a:t>Test Analysis</a:t>
            </a:r>
          </a:p>
          <a:p>
            <a:pPr marL="503238" indent="-457200">
              <a:buFont typeface="Tw Cen MT" pitchFamily="34" charset="0"/>
              <a:buAutoNum type="arabicPeriod"/>
              <a:defRPr/>
            </a:pPr>
            <a:r>
              <a:rPr lang="en-US" sz="2500" b="1" dirty="0">
                <a:solidFill>
                  <a:schemeClr val="accent3">
                    <a:lumMod val="75000"/>
                  </a:schemeClr>
                </a:solidFill>
              </a:rPr>
              <a:t>Test Design</a:t>
            </a:r>
          </a:p>
          <a:p>
            <a:pPr marL="503238" indent="-457200">
              <a:buFont typeface="Tw Cen MT" pitchFamily="34" charset="0"/>
              <a:buAutoNum type="arabicPeriod"/>
              <a:defRPr/>
            </a:pPr>
            <a:r>
              <a:rPr lang="en-US" sz="2500" b="1" dirty="0">
                <a:solidFill>
                  <a:schemeClr val="accent4">
                    <a:lumMod val="75000"/>
                  </a:schemeClr>
                </a:solidFill>
              </a:rPr>
              <a:t>Test Cases Preparation</a:t>
            </a:r>
          </a:p>
          <a:p>
            <a:pPr marL="503238" indent="-457200">
              <a:buFont typeface="Tw Cen MT" pitchFamily="34" charset="0"/>
              <a:buAutoNum type="arabicPeriod"/>
              <a:defRPr/>
            </a:pPr>
            <a:r>
              <a:rPr lang="en-US" sz="2500" b="1" dirty="0">
                <a:solidFill>
                  <a:schemeClr val="accent5">
                    <a:lumMod val="75000"/>
                  </a:schemeClr>
                </a:solidFill>
              </a:rPr>
              <a:t>Testing Cycles</a:t>
            </a:r>
          </a:p>
          <a:p>
            <a:pPr marL="503238" indent="-457200">
              <a:buFont typeface="Tw Cen MT" pitchFamily="34" charset="0"/>
              <a:buAutoNum type="arabicPeriod"/>
              <a:defRPr/>
            </a:pPr>
            <a:r>
              <a:rPr lang="en-US" sz="2500" b="1" dirty="0">
                <a:solidFill>
                  <a:schemeClr val="accent6">
                    <a:lumMod val="75000"/>
                  </a:schemeClr>
                </a:solidFill>
              </a:rPr>
              <a:t>Post Implementation</a:t>
            </a:r>
          </a:p>
          <a:p>
            <a:pPr lvl="1">
              <a:buFont typeface="Wingdings 2" panose="05020102010507070707" pitchFamily="18" charset="2"/>
              <a:buNone/>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2" end="2"/>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p:cTn id="21"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p:cTn id="28"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p:cTn id="35"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p:cTn id="42"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E92B245A-9B5F-2589-B515-A06EFC2B2B4C}"/>
              </a:ext>
            </a:extLst>
          </p:cNvPr>
          <p:cNvSpPr>
            <a:spLocks noGrp="1"/>
          </p:cNvSpPr>
          <p:nvPr>
            <p:ph type="title"/>
          </p:nvPr>
        </p:nvSpPr>
        <p:spPr/>
        <p:txBody>
          <a:bodyPr/>
          <a:lstStyle/>
          <a:p>
            <a:pPr>
              <a:defRPr/>
            </a:pPr>
            <a:r>
              <a:rPr lang="en-US" dirty="0">
                <a:solidFill>
                  <a:schemeClr val="tx1"/>
                </a:solidFill>
              </a:rPr>
              <a:t>STLC – Test Planning</a:t>
            </a:r>
          </a:p>
        </p:txBody>
      </p:sp>
      <p:sp>
        <p:nvSpPr>
          <p:cNvPr id="20483" name="Content Placeholder 2">
            <a:extLst>
              <a:ext uri="{FF2B5EF4-FFF2-40B4-BE49-F238E27FC236}">
                <a16:creationId xmlns:a16="http://schemas.microsoft.com/office/drawing/2014/main" id="{22E8BEA8-D2E3-B374-6221-0A36B07C7CA7}"/>
              </a:ext>
            </a:extLst>
          </p:cNvPr>
          <p:cNvSpPr>
            <a:spLocks noGrp="1"/>
          </p:cNvSpPr>
          <p:nvPr>
            <p:ph sz="quarter" idx="1"/>
          </p:nvPr>
        </p:nvSpPr>
        <p:spPr>
          <a:xfrm>
            <a:off x="987188" y="1862043"/>
            <a:ext cx="10168492" cy="3037503"/>
          </a:xfrm>
        </p:spPr>
        <p:txBody>
          <a:bodyPr/>
          <a:lstStyle/>
          <a:p>
            <a:pPr algn="just"/>
            <a:r>
              <a:rPr lang="en-US" altLang="en-US" sz="2700" dirty="0">
                <a:solidFill>
                  <a:schemeClr val="tx1"/>
                </a:solidFill>
              </a:rPr>
              <a:t>This is the phase where Project Manager has to decide what things need to be tested, do I have the appropriate budget etc. </a:t>
            </a:r>
          </a:p>
          <a:p>
            <a:pPr algn="just"/>
            <a:r>
              <a:rPr lang="en-US" altLang="en-US" sz="2700" dirty="0">
                <a:solidFill>
                  <a:schemeClr val="tx1"/>
                </a:solidFill>
              </a:rPr>
              <a:t>The Software Test Plan (STP) is designed to prescribe the scope, approach, resources, and schedule of all testing activities. </a:t>
            </a:r>
          </a:p>
          <a:p>
            <a:pPr>
              <a:buFont typeface="Wingdings" panose="05000000000000000000" pitchFamily="2" charset="2"/>
              <a:buNone/>
            </a:pPr>
            <a:endParaRPr lang="en-US" altLang="en-US" sz="2400" dirty="0">
              <a:solidFill>
                <a:schemeClr val="tx1"/>
              </a:solidFill>
            </a:endParaRPr>
          </a:p>
          <a:p>
            <a:pPr>
              <a:buFont typeface="Wingdings" panose="05000000000000000000" pitchFamily="2" charset="2"/>
              <a:buNone/>
            </a:pPr>
            <a:endParaRPr lang="en-US" altLang="en-US" sz="21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D2EEC780-56FA-0048-CA6F-E5FBF9128A3B}"/>
              </a:ext>
            </a:extLst>
          </p:cNvPr>
          <p:cNvSpPr>
            <a:spLocks noGrp="1"/>
          </p:cNvSpPr>
          <p:nvPr>
            <p:ph type="title"/>
          </p:nvPr>
        </p:nvSpPr>
        <p:spPr/>
        <p:txBody>
          <a:bodyPr/>
          <a:lstStyle/>
          <a:p>
            <a:pPr>
              <a:defRPr/>
            </a:pPr>
            <a:r>
              <a:rPr lang="en-US" b="1" dirty="0"/>
              <a:t>STLC – </a:t>
            </a:r>
            <a:r>
              <a:rPr lang="en-US" b="1" dirty="0">
                <a:solidFill>
                  <a:schemeClr val="accent1">
                    <a:lumMod val="75000"/>
                  </a:schemeClr>
                </a:solidFill>
              </a:rPr>
              <a:t>Test Planning    </a:t>
            </a:r>
            <a:r>
              <a:rPr lang="en-US" sz="3600" b="1" dirty="0"/>
              <a:t>(Cont..)</a:t>
            </a:r>
            <a:endParaRPr lang="en-US" b="1" dirty="0"/>
          </a:p>
        </p:txBody>
      </p:sp>
      <p:sp>
        <p:nvSpPr>
          <p:cNvPr id="3" name="Content Placeholder 2">
            <a:extLst>
              <a:ext uri="{FF2B5EF4-FFF2-40B4-BE49-F238E27FC236}">
                <a16:creationId xmlns:a16="http://schemas.microsoft.com/office/drawing/2014/main" id="{CC3D0619-68B9-E6B7-1F59-66EB4AA60045}"/>
              </a:ext>
            </a:extLst>
          </p:cNvPr>
          <p:cNvSpPr>
            <a:spLocks noGrp="1"/>
          </p:cNvSpPr>
          <p:nvPr>
            <p:ph sz="quarter" idx="1"/>
          </p:nvPr>
        </p:nvSpPr>
        <p:spPr>
          <a:xfrm>
            <a:off x="900752" y="2006220"/>
            <a:ext cx="10254928" cy="4154867"/>
          </a:xfrm>
        </p:spPr>
        <p:txBody>
          <a:bodyPr/>
          <a:lstStyle/>
          <a:p>
            <a:r>
              <a:rPr lang="en-US" altLang="en-US" sz="2700" dirty="0">
                <a:solidFill>
                  <a:schemeClr val="tx1"/>
                </a:solidFill>
              </a:rPr>
              <a:t>The plan must identify:</a:t>
            </a:r>
          </a:p>
          <a:p>
            <a:pPr>
              <a:buFont typeface="Wingdings" panose="05000000000000000000" pitchFamily="2" charset="2"/>
              <a:buNone/>
            </a:pPr>
            <a:endParaRPr lang="en-US" altLang="en-US" sz="2700" dirty="0">
              <a:solidFill>
                <a:schemeClr val="tx1"/>
              </a:solidFill>
            </a:endParaRPr>
          </a:p>
          <a:p>
            <a:pPr lvl="1"/>
            <a:r>
              <a:rPr lang="en-US" altLang="en-US" sz="2500" dirty="0">
                <a:solidFill>
                  <a:schemeClr val="tx1"/>
                </a:solidFill>
              </a:rPr>
              <a:t>the items to be tested</a:t>
            </a:r>
          </a:p>
          <a:p>
            <a:pPr lvl="1"/>
            <a:r>
              <a:rPr lang="en-US" altLang="en-US" sz="2500" dirty="0">
                <a:solidFill>
                  <a:schemeClr val="tx1"/>
                </a:solidFill>
              </a:rPr>
              <a:t>the features to be tested</a:t>
            </a:r>
          </a:p>
          <a:p>
            <a:pPr lvl="1"/>
            <a:r>
              <a:rPr lang="en-US" altLang="en-US" sz="2500" dirty="0">
                <a:solidFill>
                  <a:schemeClr val="tx1"/>
                </a:solidFill>
              </a:rPr>
              <a:t>the types of testing to be performed</a:t>
            </a:r>
          </a:p>
          <a:p>
            <a:pPr lvl="1"/>
            <a:r>
              <a:rPr lang="en-US" altLang="en-US" sz="2500" dirty="0">
                <a:solidFill>
                  <a:schemeClr val="tx1"/>
                </a:solidFill>
              </a:rPr>
              <a:t>the personnel responsible for testing</a:t>
            </a:r>
          </a:p>
          <a:p>
            <a:pPr lvl="1"/>
            <a:r>
              <a:rPr lang="en-US" altLang="en-US" sz="2500" dirty="0">
                <a:solidFill>
                  <a:schemeClr val="tx1"/>
                </a:solidFill>
              </a:rPr>
              <a:t>the resources and schedule required to complete testing</a:t>
            </a:r>
          </a:p>
          <a:p>
            <a:pPr lvl="1"/>
            <a:r>
              <a:rPr lang="en-US" altLang="en-US" sz="2500" dirty="0">
                <a:solidFill>
                  <a:schemeClr val="tx1"/>
                </a:solidFill>
              </a:rPr>
              <a:t>the risks associated with the plan</a:t>
            </a:r>
          </a:p>
          <a:p>
            <a:pPr>
              <a:buFont typeface="Wingdings" panose="05000000000000000000" pitchFamily="2" charset="2"/>
              <a:buNone/>
            </a:pPr>
            <a:endParaRPr lang="en-US" altLang="en-US" sz="2400" dirty="0">
              <a:solidFill>
                <a:schemeClr val="tx1"/>
              </a:solidFill>
            </a:endParaRPr>
          </a:p>
          <a:p>
            <a:pPr>
              <a:buFont typeface="Wingdings" panose="05000000000000000000" pitchFamily="2" charset="2"/>
              <a:buNone/>
            </a:pPr>
            <a:endParaRPr lang="en-US" altLang="en-US" sz="21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2" end="2"/>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p:cTn id="14"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p:cTn id="21"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p:cTn id="28"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p:cTn id="35"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p:cTn id="42"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B7DC386-4AC3-0F65-E605-F51840DD5C1C}"/>
              </a:ext>
            </a:extLst>
          </p:cNvPr>
          <p:cNvSpPr>
            <a:spLocks noGrp="1"/>
          </p:cNvSpPr>
          <p:nvPr>
            <p:ph type="title"/>
          </p:nvPr>
        </p:nvSpPr>
        <p:spPr/>
        <p:txBody>
          <a:bodyPr/>
          <a:lstStyle/>
          <a:p>
            <a:pPr>
              <a:defRPr/>
            </a:pPr>
            <a:r>
              <a:rPr lang="en-US" b="1" dirty="0">
                <a:solidFill>
                  <a:schemeClr val="tx1"/>
                </a:solidFill>
              </a:rPr>
              <a:t>STLC – Test Analysis</a:t>
            </a:r>
          </a:p>
        </p:txBody>
      </p:sp>
      <p:sp>
        <p:nvSpPr>
          <p:cNvPr id="19459" name="Content Placeholder 2">
            <a:extLst>
              <a:ext uri="{FF2B5EF4-FFF2-40B4-BE49-F238E27FC236}">
                <a16:creationId xmlns:a16="http://schemas.microsoft.com/office/drawing/2014/main" id="{ACA6224F-9799-178D-D933-1C62B7EC23E3}"/>
              </a:ext>
            </a:extLst>
          </p:cNvPr>
          <p:cNvSpPr>
            <a:spLocks noGrp="1"/>
          </p:cNvSpPr>
          <p:nvPr>
            <p:ph sz="quarter" idx="1"/>
          </p:nvPr>
        </p:nvSpPr>
        <p:spPr>
          <a:xfrm>
            <a:off x="873457" y="1737360"/>
            <a:ext cx="10058400" cy="4572000"/>
          </a:xfrm>
        </p:spPr>
        <p:txBody>
          <a:bodyPr/>
          <a:lstStyle/>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Once test plan is made and decided upon, next step is to delve little more into the project and decide what types of testing should be carried out at different stages of SDLC.</a:t>
            </a:r>
          </a:p>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Proper and regular meetings should be held between testing teams, project managers, development teams, Business Analysts to check the progress of things which will give a fair idea of the movement of the project and ensure the completeness of the test plan created in the planning phase.</a:t>
            </a:r>
            <a:endParaRPr lang="en-US" altLang="en-US" sz="2400" dirty="0">
              <a:solidFill>
                <a:schemeClr val="tx1"/>
              </a:solidFill>
            </a:endParaRPr>
          </a:p>
          <a:p>
            <a:endParaRPr lang="en-US" altLang="en-US" sz="21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81C82C7A-DD18-1772-7B91-BA06A9B7ED44}"/>
              </a:ext>
            </a:extLst>
          </p:cNvPr>
          <p:cNvSpPr>
            <a:spLocks noGrp="1"/>
          </p:cNvSpPr>
          <p:nvPr>
            <p:ph type="title"/>
          </p:nvPr>
        </p:nvSpPr>
        <p:spPr/>
        <p:txBody>
          <a:bodyPr/>
          <a:lstStyle/>
          <a:p>
            <a:pPr>
              <a:defRPr/>
            </a:pPr>
            <a:r>
              <a:rPr lang="en-US" b="1" dirty="0"/>
              <a:t>STLC – </a:t>
            </a:r>
            <a:r>
              <a:rPr lang="en-US" b="1" dirty="0">
                <a:solidFill>
                  <a:schemeClr val="accent1">
                    <a:lumMod val="75000"/>
                  </a:schemeClr>
                </a:solidFill>
              </a:rPr>
              <a:t>Test Design</a:t>
            </a:r>
            <a:endParaRPr lang="en-US" b="1" dirty="0"/>
          </a:p>
        </p:txBody>
      </p:sp>
      <p:sp>
        <p:nvSpPr>
          <p:cNvPr id="3" name="Content Placeholder 2">
            <a:extLst>
              <a:ext uri="{FF2B5EF4-FFF2-40B4-BE49-F238E27FC236}">
                <a16:creationId xmlns:a16="http://schemas.microsoft.com/office/drawing/2014/main" id="{FDE3EE85-3B99-FA9B-16FB-C60CC3D1A5BD}"/>
              </a:ext>
            </a:extLst>
          </p:cNvPr>
          <p:cNvSpPr>
            <a:spLocks noGrp="1"/>
          </p:cNvSpPr>
          <p:nvPr>
            <p:ph sz="quarter" idx="1"/>
          </p:nvPr>
        </p:nvSpPr>
        <p:spPr>
          <a:xfrm>
            <a:off x="1097280" y="1869743"/>
            <a:ext cx="10203066" cy="4141219"/>
          </a:xfrm>
        </p:spPr>
        <p:txBody>
          <a:bodyPr/>
          <a:lstStyle/>
          <a:p>
            <a:pPr algn="just"/>
            <a:r>
              <a:rPr lang="en-US" altLang="en-US" sz="2700" dirty="0">
                <a:solidFill>
                  <a:schemeClr val="tx1"/>
                </a:solidFill>
              </a:rPr>
              <a:t>Test plans and cases which were developed in the analysis phase are revised.</a:t>
            </a:r>
          </a:p>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If you have thought of automation then you have to select which test cases to automate and begin writing scripts for them.</a:t>
            </a:r>
          </a:p>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Test data is prepared.</a:t>
            </a:r>
          </a:p>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Standards for unit testing and pass / fail criteria are defined here.</a:t>
            </a:r>
          </a:p>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Schedule for testing is revised (if necessary) &amp; finalized and test environment is prepared.</a:t>
            </a:r>
          </a:p>
          <a:p>
            <a:endParaRPr lang="en-US" altLang="en-US" sz="21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5E34859-55F2-6869-3330-F00023AA7697}"/>
              </a:ext>
            </a:extLst>
          </p:cNvPr>
          <p:cNvSpPr>
            <a:spLocks noGrp="1"/>
          </p:cNvSpPr>
          <p:nvPr>
            <p:ph type="title"/>
          </p:nvPr>
        </p:nvSpPr>
        <p:spPr/>
        <p:txBody>
          <a:bodyPr/>
          <a:lstStyle/>
          <a:p>
            <a:pPr>
              <a:defRPr/>
            </a:pPr>
            <a:r>
              <a:rPr lang="en-US" b="1" dirty="0"/>
              <a:t>STLC – </a:t>
            </a:r>
            <a:r>
              <a:rPr lang="en-US" b="1" dirty="0">
                <a:solidFill>
                  <a:schemeClr val="accent1">
                    <a:lumMod val="75000"/>
                  </a:schemeClr>
                </a:solidFill>
              </a:rPr>
              <a:t>Test Cases Preparation</a:t>
            </a:r>
            <a:endParaRPr lang="en-US" b="1" dirty="0"/>
          </a:p>
        </p:txBody>
      </p:sp>
      <p:sp>
        <p:nvSpPr>
          <p:cNvPr id="3" name="Content Placeholder 2">
            <a:extLst>
              <a:ext uri="{FF2B5EF4-FFF2-40B4-BE49-F238E27FC236}">
                <a16:creationId xmlns:a16="http://schemas.microsoft.com/office/drawing/2014/main" id="{23B298CD-E0BE-E34B-EE83-5EAC5F249733}"/>
              </a:ext>
            </a:extLst>
          </p:cNvPr>
          <p:cNvSpPr>
            <a:spLocks noGrp="1"/>
          </p:cNvSpPr>
          <p:nvPr>
            <p:ph sz="quarter" idx="1"/>
          </p:nvPr>
        </p:nvSpPr>
        <p:spPr>
          <a:xfrm>
            <a:off x="1097280" y="1737360"/>
            <a:ext cx="9536942" cy="4572000"/>
          </a:xfrm>
        </p:spPr>
        <p:txBody>
          <a:bodyPr/>
          <a:lstStyle/>
          <a:p>
            <a:pPr marL="319088" lvl="1" indent="-319088">
              <a:spcBef>
                <a:spcPts val="700"/>
              </a:spcBef>
              <a:buClr>
                <a:schemeClr val="accent2"/>
              </a:buClr>
              <a:buSzPct val="60000"/>
              <a:buFont typeface="Wingdings" panose="05000000000000000000" pitchFamily="2" charset="2"/>
              <a:buChar char=""/>
            </a:pPr>
            <a:r>
              <a:rPr lang="en-US" altLang="en-US" sz="2700" dirty="0">
                <a:solidFill>
                  <a:schemeClr val="tx1"/>
                </a:solidFill>
              </a:rPr>
              <a:t>In this phase, test cases are prepared.</a:t>
            </a:r>
          </a:p>
          <a:p>
            <a:pPr marL="319088" lvl="1" indent="-319088">
              <a:spcBef>
                <a:spcPts val="700"/>
              </a:spcBef>
              <a:buClr>
                <a:schemeClr val="accent2"/>
              </a:buClr>
              <a:buSzPct val="60000"/>
              <a:buNone/>
            </a:pPr>
            <a:endParaRPr lang="en-US" altLang="en-US" sz="2700" dirty="0">
              <a:solidFill>
                <a:schemeClr val="tx1"/>
              </a:solidFill>
            </a:endParaRPr>
          </a:p>
          <a:p>
            <a:pPr marL="319088" lvl="1" indent="-319088">
              <a:spcBef>
                <a:spcPts val="700"/>
              </a:spcBef>
              <a:buClr>
                <a:schemeClr val="accent2"/>
              </a:buClr>
              <a:buSzPct val="60000"/>
              <a:buNone/>
            </a:pPr>
            <a:r>
              <a:rPr lang="en-US" altLang="en-US" sz="2400" i="1" dirty="0">
                <a:solidFill>
                  <a:schemeClr val="tx1"/>
                </a:solidFill>
              </a:rPr>
              <a:t>(We will be preparing test cases as a class activity later………)</a:t>
            </a:r>
          </a:p>
          <a:p>
            <a:pPr marL="319088" lvl="1" indent="-319088">
              <a:spcBef>
                <a:spcPts val="700"/>
              </a:spcBef>
              <a:buClr>
                <a:schemeClr val="accent2"/>
              </a:buClr>
              <a:buSzPct val="60000"/>
              <a:buNone/>
            </a:pPr>
            <a:endParaRPr lang="en-US" altLang="en-US" sz="2400" dirty="0">
              <a:solidFill>
                <a:schemeClr val="tx1"/>
              </a:solidFill>
            </a:endParaRPr>
          </a:p>
          <a:p>
            <a:pPr marL="319088" lvl="1" indent="-319088">
              <a:spcBef>
                <a:spcPts val="700"/>
              </a:spcBef>
              <a:buClr>
                <a:schemeClr val="accent2"/>
              </a:buClr>
              <a:buSzPct val="60000"/>
              <a:buNone/>
            </a:pPr>
            <a:endParaRPr lang="en-US" altLang="en-US" sz="2400" dirty="0">
              <a:solidFill>
                <a:schemeClr val="tx1"/>
              </a:solidFill>
            </a:endParaRPr>
          </a:p>
          <a:p>
            <a:endParaRPr lang="en-US"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84475D3-C7F9-89A6-A9C1-21E2D8ACB125}"/>
              </a:ext>
            </a:extLst>
          </p:cNvPr>
          <p:cNvSpPr>
            <a:spLocks noGrp="1"/>
          </p:cNvSpPr>
          <p:nvPr>
            <p:ph type="title"/>
          </p:nvPr>
        </p:nvSpPr>
        <p:spPr>
          <a:xfrm>
            <a:off x="1097280" y="641445"/>
            <a:ext cx="10058400" cy="1095915"/>
          </a:xfrm>
        </p:spPr>
        <p:txBody>
          <a:bodyPr/>
          <a:lstStyle/>
          <a:p>
            <a:pPr>
              <a:defRPr/>
            </a:pPr>
            <a:r>
              <a:rPr lang="en-US" b="1" dirty="0"/>
              <a:t>STLC – </a:t>
            </a:r>
            <a:r>
              <a:rPr lang="en-US" b="1" dirty="0">
                <a:solidFill>
                  <a:schemeClr val="accent1">
                    <a:lumMod val="75000"/>
                  </a:schemeClr>
                </a:solidFill>
              </a:rPr>
              <a:t>Testing Cycles</a:t>
            </a:r>
            <a:endParaRPr lang="en-US" b="1" dirty="0"/>
          </a:p>
        </p:txBody>
      </p:sp>
      <p:sp>
        <p:nvSpPr>
          <p:cNvPr id="3" name="Content Placeholder 2">
            <a:extLst>
              <a:ext uri="{FF2B5EF4-FFF2-40B4-BE49-F238E27FC236}">
                <a16:creationId xmlns:a16="http://schemas.microsoft.com/office/drawing/2014/main" id="{BD3578C5-9FB1-957E-51D3-E5FAC44DF0CB}"/>
              </a:ext>
            </a:extLst>
          </p:cNvPr>
          <p:cNvSpPr>
            <a:spLocks noGrp="1"/>
          </p:cNvSpPr>
          <p:nvPr>
            <p:ph sz="quarter" idx="1"/>
          </p:nvPr>
        </p:nvSpPr>
        <p:spPr>
          <a:xfrm>
            <a:off x="1328382" y="1970088"/>
            <a:ext cx="9827298" cy="4075870"/>
          </a:xfrm>
        </p:spPr>
        <p:txBody>
          <a:bodyPr/>
          <a:lstStyle/>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In this phase we have to complete testing cycles until test cases are executed without errors or a predefined condition is reached.</a:t>
            </a:r>
          </a:p>
          <a:p>
            <a:pPr marL="319088" lvl="1" indent="-319088" algn="just">
              <a:spcBef>
                <a:spcPts val="700"/>
              </a:spcBef>
              <a:buClr>
                <a:schemeClr val="accent2"/>
              </a:buClr>
              <a:buSzPct val="60000"/>
              <a:buFont typeface="Wingdings" panose="05000000000000000000" pitchFamily="2" charset="2"/>
              <a:buChar char=""/>
            </a:pPr>
            <a:r>
              <a:rPr lang="en-US" altLang="en-US" sz="2700" dirty="0">
                <a:solidFill>
                  <a:schemeClr val="tx1"/>
                </a:solidFill>
              </a:rPr>
              <a:t>Run test cases --&gt; Report Bugs --&gt; revise test cases (if needed) --&gt; add new test cases (if needed) --&gt; bug fixing --&gt; retesting (test cycle 2, test cycle 3….).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FBD72B6B-756E-622C-CB19-1300F8168DD5}"/>
              </a:ext>
            </a:extLst>
          </p:cNvPr>
          <p:cNvSpPr>
            <a:spLocks noGrp="1"/>
          </p:cNvSpPr>
          <p:nvPr>
            <p:ph type="title"/>
          </p:nvPr>
        </p:nvSpPr>
        <p:spPr/>
        <p:txBody>
          <a:bodyPr/>
          <a:lstStyle/>
          <a:p>
            <a:pPr>
              <a:defRPr/>
            </a:pPr>
            <a:r>
              <a:rPr lang="en-US" b="1" dirty="0"/>
              <a:t>STLC – </a:t>
            </a:r>
            <a:r>
              <a:rPr lang="en-US" b="1" dirty="0">
                <a:solidFill>
                  <a:schemeClr val="accent1">
                    <a:lumMod val="75000"/>
                  </a:schemeClr>
                </a:solidFill>
              </a:rPr>
              <a:t>Post Implementation</a:t>
            </a:r>
            <a:endParaRPr lang="en-US" b="1" dirty="0"/>
          </a:p>
        </p:txBody>
      </p:sp>
      <p:sp>
        <p:nvSpPr>
          <p:cNvPr id="26627" name="Content Placeholder 2">
            <a:extLst>
              <a:ext uri="{FF2B5EF4-FFF2-40B4-BE49-F238E27FC236}">
                <a16:creationId xmlns:a16="http://schemas.microsoft.com/office/drawing/2014/main" id="{9B22326B-6B8F-96AA-268A-3F878AE180CC}"/>
              </a:ext>
            </a:extLst>
          </p:cNvPr>
          <p:cNvSpPr>
            <a:spLocks noGrp="1"/>
          </p:cNvSpPr>
          <p:nvPr>
            <p:ph sz="quarter" idx="1"/>
          </p:nvPr>
        </p:nvSpPr>
        <p:spPr>
          <a:xfrm>
            <a:off x="1201003" y="1970088"/>
            <a:ext cx="10276764" cy="4887912"/>
          </a:xfrm>
        </p:spPr>
        <p:txBody>
          <a:bodyPr/>
          <a:lstStyle/>
          <a:p>
            <a:pPr algn="just"/>
            <a:r>
              <a:rPr lang="en-US" altLang="en-US" sz="2700" dirty="0"/>
              <a:t>In this phase, the testing process is evaluated and lessons learnt from that testing process are documented. </a:t>
            </a:r>
          </a:p>
          <a:p>
            <a:pPr algn="just"/>
            <a:r>
              <a:rPr lang="en-US" altLang="en-US" sz="2700" dirty="0"/>
              <a:t>Line of attack to prevent similar problems in future projects is identified.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997</TotalTime>
  <Words>751</Words>
  <Application>Microsoft Office PowerPoint</Application>
  <PresentationFormat>Widescreen</PresentationFormat>
  <Paragraphs>73</Paragraphs>
  <Slides>19</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Arial</vt:lpstr>
      <vt:lpstr>Calibri</vt:lpstr>
      <vt:lpstr>Calibri Light</vt:lpstr>
      <vt:lpstr>Times New Roman</vt:lpstr>
      <vt:lpstr>Tw Cen MT</vt:lpstr>
      <vt:lpstr>Wingdings</vt:lpstr>
      <vt:lpstr>Wingdings 2</vt:lpstr>
      <vt:lpstr>Retrospect</vt:lpstr>
      <vt:lpstr> Software Quality Engineering</vt:lpstr>
      <vt:lpstr> EQUIVALENCE CLASS TESTING</vt:lpstr>
      <vt:lpstr>Creation of Equivalence Classes</vt:lpstr>
      <vt:lpstr>Equivalence classes for addition program</vt:lpstr>
      <vt:lpstr>Test cases for addition</vt:lpstr>
      <vt:lpstr>applicability</vt:lpstr>
      <vt:lpstr>Example</vt:lpstr>
      <vt:lpstr>PowerPoint Presentation</vt:lpstr>
      <vt:lpstr>PowerPoint Presentation</vt:lpstr>
      <vt:lpstr>Software Testing Life Cycle</vt:lpstr>
      <vt:lpstr>Software Testing Life Cycle</vt:lpstr>
      <vt:lpstr>STLC – Test Planning</vt:lpstr>
      <vt:lpstr>STLC – Test Planning    (Cont..)</vt:lpstr>
      <vt:lpstr>STLC – Test Analysis</vt:lpstr>
      <vt:lpstr>STLC – Test Design</vt:lpstr>
      <vt:lpstr>STLC – Test Cases Preparation</vt:lpstr>
      <vt:lpstr>STLC – Testing Cycles</vt:lpstr>
      <vt:lpstr>STLC – Post Implementation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2024-09-19T05:10:32Z</dcterms:modified>
</cp:coreProperties>
</file>