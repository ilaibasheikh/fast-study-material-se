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361" r:id="rId3"/>
    <p:sldId id="362" r:id="rId4"/>
    <p:sldId id="271" r:id="rId5"/>
    <p:sldId id="291" r:id="rId6"/>
    <p:sldId id="292" r:id="rId7"/>
    <p:sldId id="372" r:id="rId8"/>
    <p:sldId id="296" r:id="rId9"/>
    <p:sldId id="294" r:id="rId10"/>
    <p:sldId id="299" r:id="rId11"/>
    <p:sldId id="368" r:id="rId12"/>
    <p:sldId id="369" r:id="rId13"/>
    <p:sldId id="310" r:id="rId14"/>
    <p:sldId id="311" r:id="rId15"/>
    <p:sldId id="27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pPr>
              <a:defRPr/>
            </a:pPr>
            <a:fld id="{50D0D0A8-E1F9-4A2E-A64E-A2D06F83B0B5}" type="datetime1">
              <a:rPr lang="en-US" smtClean="0"/>
              <a:t>8/23/2024</a:t>
            </a:fld>
            <a:endParaRPr lang="en-US" dirty="0"/>
          </a:p>
        </p:txBody>
      </p:sp>
      <p:sp>
        <p:nvSpPr>
          <p:cNvPr id="5" name="Slide Number Placeholder 4"/>
          <p:cNvSpPr>
            <a:spLocks noGrp="1"/>
          </p:cNvSpPr>
          <p:nvPr>
            <p:ph type="sldNum" sz="quarter" idx="11"/>
          </p:nvPr>
        </p:nvSpPr>
        <p:spPr/>
        <p:txBody>
          <a:bodyPr/>
          <a:lstStyle/>
          <a:p>
            <a:pPr>
              <a:defRPr/>
            </a:pPr>
            <a:fld id="{A4C719D9-CCCC-479C-8E5B-B4668CC71D86}" type="slidenum">
              <a:rPr lang="en-US" smtClean="0"/>
              <a:pPr>
                <a:defRPr/>
              </a:pPr>
              <a:t>10</a:t>
            </a:fld>
            <a:endParaRPr lang="en-US" dirty="0"/>
          </a:p>
        </p:txBody>
      </p:sp>
    </p:spTree>
    <p:extLst>
      <p:ext uri="{BB962C8B-B14F-4D97-AF65-F5344CB8AC3E}">
        <p14:creationId xmlns:p14="http://schemas.microsoft.com/office/powerpoint/2010/main" val="1430773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8/23/2024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8/23/2024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8/23/2024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r>
              <a:rPr lang="en-US" b="1" dirty="0">
                <a:solidFill>
                  <a:schemeClr val="tx1"/>
                </a:solidFill>
              </a:rPr>
              <a:t>SE-3002</a:t>
            </a: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100051" y="3675888"/>
            <a:ext cx="10058400" cy="1922731"/>
          </a:xfrm>
        </p:spPr>
        <p:txBody>
          <a:bodyPr>
            <a:normAutofit/>
          </a:bodyPr>
          <a:lstStyle/>
          <a:p>
            <a:pPr algn="ctr"/>
            <a:r>
              <a:rPr lang="en-US" sz="4400" b="1" dirty="0">
                <a:solidFill>
                  <a:schemeClr val="tx1"/>
                </a:solidFill>
                <a:cs typeface="Times New Roman" panose="02020603050405020304" pitchFamily="18" charset="0"/>
              </a:rPr>
              <a:t>Lecture 3-chapter 1</a:t>
            </a:r>
          </a:p>
          <a:p>
            <a:pPr algn="ctr"/>
            <a:r>
              <a:rPr lang="en-US" sz="4400" dirty="0">
                <a:solidFill>
                  <a:schemeClr val="tx1"/>
                </a:solidFill>
                <a:cs typeface="Times New Roman" panose="02020603050405020304" pitchFamily="18" charset="0"/>
              </a:rPr>
              <a:t>Overview and Basics</a:t>
            </a:r>
          </a:p>
          <a:p>
            <a:pPr algn="ctr"/>
            <a:endParaRPr lang="en-US" sz="4400" dirty="0">
              <a:solidFill>
                <a:schemeClr val="tx1"/>
              </a:solidFill>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C4F1234-844D-F3A8-4B44-50EC8595C5FD}"/>
              </a:ext>
            </a:extLst>
          </p:cNvPr>
          <p:cNvSpPr txBox="1"/>
          <p:nvPr/>
        </p:nvSpPr>
        <p:spPr>
          <a:xfrm>
            <a:off x="8607583" y="5446064"/>
            <a:ext cx="3967680" cy="646331"/>
          </a:xfrm>
          <a:prstGeom prst="rect">
            <a:avLst/>
          </a:prstGeom>
          <a:noFill/>
        </p:spPr>
        <p:txBody>
          <a:bodyPr wrap="square">
            <a:spAutoFit/>
          </a:bodyPr>
          <a:lstStyle/>
          <a:p>
            <a:pPr algn="ctr"/>
            <a:r>
              <a:rPr lang="en-US" sz="1800" dirty="0">
                <a:solidFill>
                  <a:schemeClr val="tx1"/>
                </a:solidFill>
                <a:cs typeface="Times New Roman" panose="02020603050405020304" pitchFamily="18" charset="0"/>
              </a:rPr>
              <a:t>Alina Arshad</a:t>
            </a:r>
          </a:p>
          <a:p>
            <a:pPr algn="ctr"/>
            <a:r>
              <a:rPr lang="en-US" sz="1800" dirty="0">
                <a:cs typeface="Times New Roman" panose="02020603050405020304" pitchFamily="18" charset="0"/>
              </a:rPr>
              <a:t>alina.arshad@nu.edu.pk</a:t>
            </a:r>
            <a:endParaRPr lang="en-US"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C9F239B-2490-1DA9-7B3C-E84F71D242B1}"/>
              </a:ext>
            </a:extLst>
          </p:cNvPr>
          <p:cNvSpPr>
            <a:spLocks noGrp="1"/>
          </p:cNvSpPr>
          <p:nvPr>
            <p:ph type="title"/>
          </p:nvPr>
        </p:nvSpPr>
        <p:spPr>
          <a:xfrm>
            <a:off x="1029077" y="690326"/>
            <a:ext cx="8458200" cy="990600"/>
          </a:xfrm>
        </p:spPr>
        <p:txBody>
          <a:bodyPr>
            <a:normAutofit fontScale="90000"/>
          </a:bodyPr>
          <a:lstStyle/>
          <a:p>
            <a:r>
              <a:rPr lang="en-US" altLang="en-US" dirty="0">
                <a:solidFill>
                  <a:schemeClr val="tx1"/>
                </a:solidFill>
              </a:rPr>
              <a:t>Roles &amp; responsibilities of SQA team</a:t>
            </a:r>
          </a:p>
        </p:txBody>
      </p:sp>
      <p:sp>
        <p:nvSpPr>
          <p:cNvPr id="5" name="Rectangle 4">
            <a:extLst>
              <a:ext uri="{FF2B5EF4-FFF2-40B4-BE49-F238E27FC236}">
                <a16:creationId xmlns:a16="http://schemas.microsoft.com/office/drawing/2014/main" id="{482C4079-1E3C-44A9-CFE9-3C07DF9DD441}"/>
              </a:ext>
            </a:extLst>
          </p:cNvPr>
          <p:cNvSpPr/>
          <p:nvPr/>
        </p:nvSpPr>
        <p:spPr>
          <a:xfrm>
            <a:off x="1029077" y="1825027"/>
            <a:ext cx="8229600" cy="3493264"/>
          </a:xfrm>
          <a:prstGeom prst="rect">
            <a:avLst/>
          </a:prstGeom>
        </p:spPr>
        <p:txBody>
          <a:bodyPr>
            <a:spAutoFit/>
          </a:bodyPr>
          <a:lstStyle/>
          <a:p>
            <a:pPr marL="342900" indent="-342900">
              <a:spcBef>
                <a:spcPts val="700"/>
              </a:spcBef>
              <a:buClr>
                <a:schemeClr val="accent2"/>
              </a:buClr>
              <a:buSzPct val="60000"/>
              <a:buFont typeface="Arial" panose="020B0604020202020204" pitchFamily="34" charset="0"/>
              <a:buChar char="•"/>
              <a:defRPr/>
            </a:pPr>
            <a:r>
              <a:rPr lang="en-US" sz="2400" dirty="0"/>
              <a:t>Review of documents developed by development team</a:t>
            </a:r>
          </a:p>
          <a:p>
            <a:pPr marL="342900" indent="-342900">
              <a:spcBef>
                <a:spcPts val="700"/>
              </a:spcBef>
              <a:buClr>
                <a:schemeClr val="accent2"/>
              </a:buClr>
              <a:buSzPct val="60000"/>
              <a:buFont typeface="Arial" panose="020B0604020202020204" pitchFamily="34" charset="0"/>
              <a:buChar char="•"/>
              <a:defRPr/>
            </a:pPr>
            <a:r>
              <a:rPr lang="en-US" sz="2400" dirty="0"/>
              <a:t>Track the compliance with standards</a:t>
            </a:r>
          </a:p>
          <a:p>
            <a:pPr marL="342900" indent="-342900">
              <a:spcBef>
                <a:spcPts val="700"/>
              </a:spcBef>
              <a:buClr>
                <a:schemeClr val="accent2"/>
              </a:buClr>
              <a:buSzPct val="60000"/>
              <a:buFont typeface="Arial" panose="020B0604020202020204" pitchFamily="34" charset="0"/>
              <a:buChar char="•"/>
              <a:defRPr/>
            </a:pPr>
            <a:r>
              <a:rPr lang="en-US" sz="2400" dirty="0"/>
              <a:t>Development of QA Plan (test plan + test cases)</a:t>
            </a:r>
          </a:p>
          <a:p>
            <a:pPr marL="342900" indent="-342900">
              <a:spcBef>
                <a:spcPts val="700"/>
              </a:spcBef>
              <a:buClr>
                <a:schemeClr val="accent2"/>
              </a:buClr>
              <a:buSzPct val="60000"/>
              <a:buFont typeface="Arial" panose="020B0604020202020204" pitchFamily="34" charset="0"/>
              <a:buChar char="•"/>
              <a:defRPr/>
            </a:pPr>
            <a:r>
              <a:rPr lang="en-US" sz="2400" dirty="0"/>
              <a:t>Implementation of test cases (Black Box or Glass Box Testing)</a:t>
            </a:r>
          </a:p>
          <a:p>
            <a:pPr marL="342900" indent="-342900">
              <a:spcBef>
                <a:spcPts val="700"/>
              </a:spcBef>
              <a:buClr>
                <a:schemeClr val="accent2"/>
              </a:buClr>
              <a:buSzPct val="60000"/>
              <a:buFont typeface="Arial" panose="020B0604020202020204" pitchFamily="34" charset="0"/>
              <a:buChar char="•"/>
              <a:defRPr/>
            </a:pPr>
            <a:r>
              <a:rPr lang="en-US" sz="2400" dirty="0"/>
              <a:t>Management of bug repository</a:t>
            </a:r>
          </a:p>
          <a:p>
            <a:pPr marL="342900" indent="-342900">
              <a:spcBef>
                <a:spcPts val="700"/>
              </a:spcBef>
              <a:buClr>
                <a:schemeClr val="accent2"/>
              </a:buClr>
              <a:buSzPct val="60000"/>
              <a:buFont typeface="Arial" panose="020B0604020202020204" pitchFamily="34" charset="0"/>
              <a:buChar char="•"/>
              <a:defRPr/>
            </a:pPr>
            <a:r>
              <a:rPr lang="en-US" sz="2400" dirty="0"/>
              <a:t>Participating in code and design reviews</a:t>
            </a:r>
          </a:p>
          <a:p>
            <a:pPr marL="342900" indent="-342900">
              <a:spcBef>
                <a:spcPts val="700"/>
              </a:spcBef>
              <a:buClr>
                <a:schemeClr val="accent2"/>
              </a:buClr>
              <a:buSzPct val="60000"/>
              <a:buFont typeface="Arial" panose="020B0604020202020204" pitchFamily="34" charset="0"/>
              <a:buChar char="•"/>
              <a:defRPr/>
            </a:pPr>
            <a:r>
              <a:rPr lang="en-US" sz="2400" dirty="0"/>
              <a:t>Participate in product and process audits.</a:t>
            </a:r>
          </a:p>
          <a:p>
            <a:pPr eaLnBrk="1" hangingPunct="1">
              <a:defRPr/>
            </a:pPr>
            <a:endParaRPr lang="en-US" dirty="0">
              <a:latin typeface="Arial" charset="0"/>
            </a:endParaRPr>
          </a:p>
        </p:txBody>
      </p:sp>
    </p:spTree>
    <p:extLst>
      <p:ext uri="{BB962C8B-B14F-4D97-AF65-F5344CB8AC3E}">
        <p14:creationId xmlns:p14="http://schemas.microsoft.com/office/powerpoint/2010/main" val="2008500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B81AE7-528B-0D63-51D5-2D45AB14F2B2}"/>
              </a:ext>
            </a:extLst>
          </p:cNvPr>
          <p:cNvSpPr/>
          <p:nvPr/>
        </p:nvSpPr>
        <p:spPr>
          <a:xfrm>
            <a:off x="887240" y="1752601"/>
            <a:ext cx="9018760" cy="4460875"/>
          </a:xfrm>
          <a:prstGeom prst="rect">
            <a:avLst/>
          </a:prstGeom>
        </p:spPr>
        <p:txBody>
          <a:bodyPr wrap="square">
            <a:spAutoFit/>
          </a:bodyPr>
          <a:lstStyle/>
          <a:p>
            <a:pPr eaLnBrk="1" hangingPunct="1">
              <a:defRPr/>
            </a:pPr>
            <a:r>
              <a:rPr lang="en-US" sz="2400" dirty="0">
                <a:solidFill>
                  <a:schemeClr val="accent2"/>
                </a:solidFill>
              </a:rPr>
              <a:t>Responsibilities of a tester</a:t>
            </a:r>
          </a:p>
          <a:p>
            <a:pPr marL="342900" lvl="1" indent="-342900">
              <a:spcBef>
                <a:spcPts val="700"/>
              </a:spcBef>
              <a:buClr>
                <a:schemeClr val="accent2"/>
              </a:buClr>
              <a:buSzPct val="60000"/>
              <a:buFont typeface="Arial" panose="020B0604020202020204" pitchFamily="34" charset="0"/>
              <a:buChar char="•"/>
              <a:defRPr/>
            </a:pPr>
            <a:r>
              <a:rPr lang="en-US" sz="2400" dirty="0"/>
              <a:t>Design test cases</a:t>
            </a:r>
          </a:p>
          <a:p>
            <a:pPr marL="342900" lvl="1" indent="-342900">
              <a:spcBef>
                <a:spcPts val="700"/>
              </a:spcBef>
              <a:buClr>
                <a:schemeClr val="accent2"/>
              </a:buClr>
              <a:buSzPct val="60000"/>
              <a:buFont typeface="Arial" panose="020B0604020202020204" pitchFamily="34" charset="0"/>
              <a:buChar char="•"/>
              <a:defRPr/>
            </a:pPr>
            <a:r>
              <a:rPr lang="en-US" sz="2400" dirty="0"/>
              <a:t>Write test scripts</a:t>
            </a:r>
          </a:p>
          <a:p>
            <a:pPr marL="342900" lvl="1" indent="-342900">
              <a:spcBef>
                <a:spcPts val="700"/>
              </a:spcBef>
              <a:buClr>
                <a:schemeClr val="accent2"/>
              </a:buClr>
              <a:buSzPct val="60000"/>
              <a:buFont typeface="Arial" panose="020B0604020202020204" pitchFamily="34" charset="0"/>
              <a:buChar char="•"/>
              <a:defRPr/>
            </a:pPr>
            <a:r>
              <a:rPr lang="en-US" sz="2400" dirty="0"/>
              <a:t>Execute test cases</a:t>
            </a:r>
          </a:p>
          <a:p>
            <a:pPr marL="319088" lvl="1" indent="-319088">
              <a:spcBef>
                <a:spcPts val="700"/>
              </a:spcBef>
              <a:buClr>
                <a:schemeClr val="accent2"/>
              </a:buClr>
              <a:buSzPct val="60000"/>
              <a:buFont typeface="Wingdings" pitchFamily="2" charset="2"/>
              <a:buChar char=""/>
              <a:defRPr/>
            </a:pPr>
            <a:endParaRPr lang="en-US" sz="2400" dirty="0"/>
          </a:p>
          <a:p>
            <a:pPr eaLnBrk="1" hangingPunct="1">
              <a:defRPr/>
            </a:pPr>
            <a:r>
              <a:rPr lang="en-US" sz="2400" dirty="0">
                <a:solidFill>
                  <a:schemeClr val="accent2"/>
                </a:solidFill>
              </a:rPr>
              <a:t>Responsibility of SQA manager</a:t>
            </a:r>
          </a:p>
          <a:p>
            <a:pPr marL="342900" lvl="1" indent="-342900">
              <a:spcBef>
                <a:spcPts val="700"/>
              </a:spcBef>
              <a:buClr>
                <a:schemeClr val="accent2"/>
              </a:buClr>
              <a:buSzPct val="60000"/>
              <a:buFont typeface="Arial" panose="020B0604020202020204" pitchFamily="34" charset="0"/>
              <a:buChar char="•"/>
              <a:defRPr/>
            </a:pPr>
            <a:r>
              <a:rPr lang="en-US" sz="2400" dirty="0"/>
              <a:t>Give 25% time for reviewing test cases written</a:t>
            </a:r>
          </a:p>
          <a:p>
            <a:pPr marL="342900" lvl="1" indent="-342900">
              <a:spcBef>
                <a:spcPts val="700"/>
              </a:spcBef>
              <a:buClr>
                <a:schemeClr val="accent2"/>
              </a:buClr>
              <a:buSzPct val="60000"/>
              <a:buFont typeface="Arial" panose="020B0604020202020204" pitchFamily="34" charset="0"/>
              <a:buChar char="•"/>
              <a:defRPr/>
            </a:pPr>
            <a:r>
              <a:rPr lang="en-US" sz="2400" dirty="0"/>
              <a:t>Lead review meetings</a:t>
            </a:r>
          </a:p>
          <a:p>
            <a:pPr marL="342900" lvl="1" indent="-342900">
              <a:spcBef>
                <a:spcPts val="700"/>
              </a:spcBef>
              <a:buClr>
                <a:schemeClr val="accent2"/>
              </a:buClr>
              <a:buSzPct val="60000"/>
              <a:buFont typeface="Arial" panose="020B0604020202020204" pitchFamily="34" charset="0"/>
              <a:buChar char="•"/>
              <a:defRPr/>
            </a:pPr>
            <a:r>
              <a:rPr lang="en-US" sz="2400" dirty="0"/>
              <a:t>Resolve conflicts</a:t>
            </a:r>
          </a:p>
          <a:p>
            <a:pPr eaLnBrk="1" hangingPunct="1">
              <a:defRPr/>
            </a:pPr>
            <a:endParaRPr lang="en-US" dirty="0">
              <a:latin typeface="Arial" charset="0"/>
            </a:endParaRPr>
          </a:p>
        </p:txBody>
      </p:sp>
      <p:sp>
        <p:nvSpPr>
          <p:cNvPr id="29699" name="Title 1">
            <a:extLst>
              <a:ext uri="{FF2B5EF4-FFF2-40B4-BE49-F238E27FC236}">
                <a16:creationId xmlns:a16="http://schemas.microsoft.com/office/drawing/2014/main" id="{5FBD8243-74CC-055B-BAC7-CE84BF5E83C3}"/>
              </a:ext>
            </a:extLst>
          </p:cNvPr>
          <p:cNvSpPr>
            <a:spLocks noGrp="1"/>
          </p:cNvSpPr>
          <p:nvPr>
            <p:ph type="title"/>
          </p:nvPr>
        </p:nvSpPr>
        <p:spPr>
          <a:xfrm>
            <a:off x="887240" y="762001"/>
            <a:ext cx="8458200" cy="990600"/>
          </a:xfrm>
        </p:spPr>
        <p:txBody>
          <a:bodyPr>
            <a:normAutofit fontScale="90000"/>
          </a:bodyPr>
          <a:lstStyle/>
          <a:p>
            <a:r>
              <a:rPr lang="en-US" altLang="en-US" dirty="0">
                <a:solidFill>
                  <a:schemeClr val="tx1"/>
                </a:solidFill>
              </a:rPr>
              <a:t>Roles &amp; responsibilities of SQA team</a:t>
            </a:r>
          </a:p>
        </p:txBody>
      </p:sp>
    </p:spTree>
    <p:extLst>
      <p:ext uri="{BB962C8B-B14F-4D97-AF65-F5344CB8AC3E}">
        <p14:creationId xmlns:p14="http://schemas.microsoft.com/office/powerpoint/2010/main" val="2250705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000C5-F1E0-878D-FEF7-7B1817B24239}"/>
              </a:ext>
            </a:extLst>
          </p:cNvPr>
          <p:cNvSpPr>
            <a:spLocks noGrp="1"/>
          </p:cNvSpPr>
          <p:nvPr>
            <p:ph type="title"/>
          </p:nvPr>
        </p:nvSpPr>
        <p:spPr>
          <a:xfrm>
            <a:off x="715225" y="394977"/>
            <a:ext cx="11054280" cy="1450757"/>
          </a:xfrm>
        </p:spPr>
        <p:txBody>
          <a:bodyPr>
            <a:normAutofit/>
          </a:bodyPr>
          <a:lstStyle/>
          <a:p>
            <a:r>
              <a:rPr lang="en-US" sz="4800" dirty="0">
                <a:solidFill>
                  <a:schemeClr val="tx1"/>
                </a:solidFill>
              </a:rPr>
              <a:t>The characteristics  of the SQA environment process</a:t>
            </a:r>
            <a:endParaRPr lang="en-US" dirty="0">
              <a:solidFill>
                <a:schemeClr val="tx1"/>
              </a:solidFill>
            </a:endParaRPr>
          </a:p>
        </p:txBody>
      </p:sp>
      <p:sp>
        <p:nvSpPr>
          <p:cNvPr id="3" name="Content Placeholder 2">
            <a:extLst>
              <a:ext uri="{FF2B5EF4-FFF2-40B4-BE49-F238E27FC236}">
                <a16:creationId xmlns:a16="http://schemas.microsoft.com/office/drawing/2014/main" id="{36390B4C-5DA8-B43A-3DEE-8DAD14B116C6}"/>
              </a:ext>
            </a:extLst>
          </p:cNvPr>
          <p:cNvSpPr>
            <a:spLocks noGrp="1"/>
          </p:cNvSpPr>
          <p:nvPr>
            <p:ph idx="1"/>
          </p:nvPr>
        </p:nvSpPr>
        <p:spPr>
          <a:xfrm>
            <a:off x="807569" y="1936269"/>
            <a:ext cx="10058400" cy="4023360"/>
          </a:xfrm>
        </p:spPr>
        <p:txBody>
          <a:bodyPr/>
          <a:lstStyle/>
          <a:p>
            <a:pPr>
              <a:buFont typeface="Arial" panose="020B0604020202020204" pitchFamily="34" charset="0"/>
              <a:buChar char="•"/>
            </a:pPr>
            <a:r>
              <a:rPr lang="en-US" sz="2400" dirty="0">
                <a:solidFill>
                  <a:schemeClr val="tx1"/>
                </a:solidFill>
              </a:rPr>
              <a:t>   Contractual conditions</a:t>
            </a:r>
          </a:p>
          <a:p>
            <a:pPr>
              <a:buFont typeface="Arial" panose="020B0604020202020204" pitchFamily="34" charset="0"/>
              <a:buChar char="•"/>
            </a:pPr>
            <a:r>
              <a:rPr lang="en-US" sz="2400" dirty="0">
                <a:solidFill>
                  <a:schemeClr val="tx1"/>
                </a:solidFill>
              </a:rPr>
              <a:t>   Subjection to customer-supplier relationship</a:t>
            </a:r>
          </a:p>
          <a:p>
            <a:pPr>
              <a:buFont typeface="Arial" panose="020B0604020202020204" pitchFamily="34" charset="0"/>
              <a:buChar char="•"/>
            </a:pPr>
            <a:r>
              <a:rPr lang="en-US" sz="2400" dirty="0">
                <a:solidFill>
                  <a:schemeClr val="tx1"/>
                </a:solidFill>
              </a:rPr>
              <a:t>   Requirement for teamwork</a:t>
            </a:r>
          </a:p>
          <a:p>
            <a:pPr>
              <a:buFont typeface="Arial" panose="020B0604020202020204" pitchFamily="34" charset="0"/>
              <a:buChar char="•"/>
            </a:pPr>
            <a:r>
              <a:rPr lang="en-US" sz="2400" dirty="0">
                <a:solidFill>
                  <a:schemeClr val="tx1"/>
                </a:solidFill>
              </a:rPr>
              <a:t>   Need for cooperation and coordination with other development teams</a:t>
            </a:r>
          </a:p>
          <a:p>
            <a:pPr>
              <a:buFont typeface="Arial" panose="020B0604020202020204" pitchFamily="34" charset="0"/>
              <a:buChar char="•"/>
            </a:pPr>
            <a:r>
              <a:rPr lang="en-US" sz="2400" dirty="0">
                <a:solidFill>
                  <a:schemeClr val="tx1"/>
                </a:solidFill>
              </a:rPr>
              <a:t>   Need for interfaces with other software systems</a:t>
            </a:r>
          </a:p>
          <a:p>
            <a:pPr>
              <a:buFont typeface="Arial" panose="020B0604020202020204" pitchFamily="34" charset="0"/>
              <a:buChar char="•"/>
            </a:pPr>
            <a:r>
              <a:rPr lang="en-US" sz="2400" dirty="0">
                <a:solidFill>
                  <a:schemeClr val="tx1"/>
                </a:solidFill>
              </a:rPr>
              <a:t>   Need to continue carrying out a project while the team changes</a:t>
            </a:r>
          </a:p>
          <a:p>
            <a:pPr>
              <a:buFont typeface="Arial" panose="020B0604020202020204" pitchFamily="34" charset="0"/>
              <a:buChar char="•"/>
            </a:pPr>
            <a:r>
              <a:rPr lang="en-US" sz="2400" dirty="0">
                <a:solidFill>
                  <a:schemeClr val="tx1"/>
                </a:solidFill>
              </a:rPr>
              <a:t>   Need to continue maintaining the software system for years</a:t>
            </a:r>
          </a:p>
          <a:p>
            <a:pPr marL="457200" lvl="1" indent="0" algn="ctr">
              <a:buNone/>
            </a:pPr>
            <a:endParaRPr lang="en-US" sz="2000" i="1" dirty="0">
              <a:solidFill>
                <a:srgbClr val="00B050"/>
              </a:solidFill>
            </a:endParaRPr>
          </a:p>
          <a:p>
            <a:pPr lvl="1"/>
            <a:endParaRPr lang="en-US" sz="2000" dirty="0"/>
          </a:p>
          <a:p>
            <a:endParaRPr lang="en-US" dirty="0"/>
          </a:p>
        </p:txBody>
      </p:sp>
    </p:spTree>
    <p:extLst>
      <p:ext uri="{BB962C8B-B14F-4D97-AF65-F5344CB8AC3E}">
        <p14:creationId xmlns:p14="http://schemas.microsoft.com/office/powerpoint/2010/main" val="222050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05343-5D85-403E-8EDA-4432CAA2F51F}"/>
              </a:ext>
            </a:extLst>
          </p:cNvPr>
          <p:cNvSpPr>
            <a:spLocks noGrp="1"/>
          </p:cNvSpPr>
          <p:nvPr>
            <p:ph type="title"/>
          </p:nvPr>
        </p:nvSpPr>
        <p:spPr>
          <a:xfrm>
            <a:off x="593565" y="425512"/>
            <a:ext cx="10895283" cy="1349218"/>
          </a:xfrm>
        </p:spPr>
        <p:txBody>
          <a:bodyPr>
            <a:noAutofit/>
          </a:bodyPr>
          <a:lstStyle/>
          <a:p>
            <a:r>
              <a:rPr lang="en-US" dirty="0">
                <a:solidFill>
                  <a:schemeClr val="tx1"/>
                </a:solidFill>
              </a:rPr>
              <a:t>The characteristics of the SQA environment process</a:t>
            </a:r>
          </a:p>
        </p:txBody>
      </p:sp>
      <p:sp>
        <p:nvSpPr>
          <p:cNvPr id="3" name="Content Placeholder 2">
            <a:extLst>
              <a:ext uri="{FF2B5EF4-FFF2-40B4-BE49-F238E27FC236}">
                <a16:creationId xmlns:a16="http://schemas.microsoft.com/office/drawing/2014/main" id="{E6ED8076-2527-4A48-8D13-8E0C40B74735}"/>
              </a:ext>
            </a:extLst>
          </p:cNvPr>
          <p:cNvSpPr>
            <a:spLocks noGrp="1"/>
          </p:cNvSpPr>
          <p:nvPr>
            <p:ph idx="1"/>
          </p:nvPr>
        </p:nvSpPr>
        <p:spPr>
          <a:xfrm>
            <a:off x="593565" y="1845734"/>
            <a:ext cx="10562115" cy="4023360"/>
          </a:xfrm>
        </p:spPr>
        <p:txBody>
          <a:bodyPr>
            <a:normAutofit/>
          </a:bodyPr>
          <a:lstStyle/>
          <a:p>
            <a:r>
              <a:rPr lang="en-US" sz="2400" dirty="0">
                <a:solidFill>
                  <a:schemeClr val="accent2"/>
                </a:solidFill>
              </a:rPr>
              <a:t>Contractual Conditions</a:t>
            </a:r>
          </a:p>
          <a:p>
            <a:pPr lvl="1">
              <a:buFont typeface="Arial" panose="020B0604020202020204" pitchFamily="34" charset="0"/>
              <a:buChar char="•"/>
            </a:pPr>
            <a:r>
              <a:rPr lang="en-US" sz="2200" dirty="0">
                <a:solidFill>
                  <a:schemeClr val="tx1"/>
                </a:solidFill>
              </a:rPr>
              <a:t>As a result of the commitments and conditions defined in the contract between the software developer and the customer, the activities of software development and maintenance need to cope with:</a:t>
            </a:r>
          </a:p>
          <a:p>
            <a:pPr lvl="1">
              <a:buFont typeface="Arial" panose="020B0604020202020204" pitchFamily="34" charset="0"/>
              <a:buChar char="•"/>
            </a:pPr>
            <a:r>
              <a:rPr lang="en-US" sz="2000" dirty="0">
                <a:solidFill>
                  <a:schemeClr val="tx1"/>
                </a:solidFill>
              </a:rPr>
              <a:t>A defined list of functional requirements that the developed software and its maintenance need to fulfill.</a:t>
            </a:r>
          </a:p>
          <a:p>
            <a:r>
              <a:rPr lang="en-US" sz="2400" dirty="0">
                <a:solidFill>
                  <a:schemeClr val="accent2"/>
                </a:solidFill>
              </a:rPr>
              <a:t>Subjection to customer-supplier relationship</a:t>
            </a:r>
          </a:p>
          <a:p>
            <a:pPr lvl="1">
              <a:buFont typeface="Arial" panose="020B0604020202020204" pitchFamily="34" charset="0"/>
              <a:buChar char="•"/>
            </a:pPr>
            <a:r>
              <a:rPr lang="en-US" sz="2200" dirty="0">
                <a:solidFill>
                  <a:schemeClr val="tx1"/>
                </a:solidFill>
              </a:rPr>
              <a:t>Continuous cooperation with the customer</a:t>
            </a:r>
          </a:p>
          <a:p>
            <a:pPr lvl="1">
              <a:buFont typeface="Arial" panose="020B0604020202020204" pitchFamily="34" charset="0"/>
              <a:buChar char="•"/>
            </a:pPr>
            <a:r>
              <a:rPr lang="en-US" sz="2200" dirty="0">
                <a:solidFill>
                  <a:schemeClr val="tx1"/>
                </a:solidFill>
              </a:rPr>
              <a:t>Such relationships do not usually exist when software is developed by non-software professionals</a:t>
            </a:r>
          </a:p>
          <a:p>
            <a:pPr lvl="2"/>
            <a:endParaRPr lang="en-US" sz="2000" dirty="0">
              <a:solidFill>
                <a:schemeClr val="tx1"/>
              </a:solidFill>
            </a:endParaRPr>
          </a:p>
        </p:txBody>
      </p:sp>
    </p:spTree>
    <p:extLst>
      <p:ext uri="{BB962C8B-B14F-4D97-AF65-F5344CB8AC3E}">
        <p14:creationId xmlns:p14="http://schemas.microsoft.com/office/powerpoint/2010/main" val="362409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F8188-7F4B-46CD-8228-6228DAE5F9FB}"/>
              </a:ext>
            </a:extLst>
          </p:cNvPr>
          <p:cNvSpPr>
            <a:spLocks noGrp="1"/>
          </p:cNvSpPr>
          <p:nvPr>
            <p:ph idx="1"/>
          </p:nvPr>
        </p:nvSpPr>
        <p:spPr>
          <a:xfrm>
            <a:off x="581192" y="1872522"/>
            <a:ext cx="11029615" cy="4437280"/>
          </a:xfrm>
        </p:spPr>
        <p:txBody>
          <a:bodyPr>
            <a:normAutofit/>
          </a:bodyPr>
          <a:lstStyle/>
          <a:p>
            <a:r>
              <a:rPr lang="en-US" sz="2400" dirty="0">
                <a:solidFill>
                  <a:schemeClr val="accent2"/>
                </a:solidFill>
              </a:rPr>
              <a:t>Requirement for teamwork</a:t>
            </a:r>
          </a:p>
          <a:p>
            <a:pPr lvl="1">
              <a:buFont typeface="Arial" panose="020B0604020202020204" pitchFamily="34" charset="0"/>
              <a:buChar char="•"/>
            </a:pPr>
            <a:r>
              <a:rPr lang="en-US" sz="2200" dirty="0">
                <a:solidFill>
                  <a:schemeClr val="tx1"/>
                </a:solidFill>
              </a:rPr>
              <a:t>The following factors usually motivate the establishment of a project team rather than assigning the project to one professional</a:t>
            </a:r>
          </a:p>
          <a:p>
            <a:pPr lvl="2">
              <a:buFont typeface="Arial" panose="020B0604020202020204" pitchFamily="34" charset="0"/>
              <a:buChar char="•"/>
            </a:pPr>
            <a:r>
              <a:rPr lang="en-US" sz="2000" dirty="0">
                <a:solidFill>
                  <a:schemeClr val="tx1"/>
                </a:solidFill>
              </a:rPr>
              <a:t>The desire to benefit from professionals’ mutual support and review for the enhancement of project quality.</a:t>
            </a:r>
          </a:p>
          <a:p>
            <a:r>
              <a:rPr lang="en-US" sz="2400" dirty="0">
                <a:solidFill>
                  <a:schemeClr val="accent2"/>
                </a:solidFill>
              </a:rPr>
              <a:t>Cooperation and coordination with other development teams</a:t>
            </a:r>
          </a:p>
          <a:p>
            <a:pPr lvl="1">
              <a:buFont typeface="Arial" panose="020B0604020202020204" pitchFamily="34" charset="0"/>
              <a:buChar char="•"/>
            </a:pPr>
            <a:r>
              <a:rPr lang="en-US" sz="2200" dirty="0">
                <a:solidFill>
                  <a:schemeClr val="tx1"/>
                </a:solidFill>
              </a:rPr>
              <a:t>Cooperation may be required with:</a:t>
            </a:r>
          </a:p>
          <a:p>
            <a:pPr lvl="2">
              <a:buFont typeface="Arial" panose="020B0604020202020204" pitchFamily="34" charset="0"/>
              <a:buChar char="•"/>
            </a:pPr>
            <a:r>
              <a:rPr lang="en-US" sz="2000" dirty="0">
                <a:solidFill>
                  <a:schemeClr val="tx1"/>
                </a:solidFill>
              </a:rPr>
              <a:t>Other software development teams</a:t>
            </a:r>
          </a:p>
          <a:p>
            <a:pPr lvl="2"/>
            <a:endParaRPr lang="en-US" sz="2000" dirty="0">
              <a:solidFill>
                <a:srgbClr val="0000FF"/>
              </a:solidFill>
            </a:endParaRPr>
          </a:p>
          <a:p>
            <a:pPr lvl="1"/>
            <a:endParaRPr lang="en-US" sz="2200" dirty="0">
              <a:solidFill>
                <a:srgbClr val="0000FF"/>
              </a:solidFill>
            </a:endParaRPr>
          </a:p>
        </p:txBody>
      </p:sp>
      <p:sp>
        <p:nvSpPr>
          <p:cNvPr id="6" name="Title 1">
            <a:extLst>
              <a:ext uri="{FF2B5EF4-FFF2-40B4-BE49-F238E27FC236}">
                <a16:creationId xmlns:a16="http://schemas.microsoft.com/office/drawing/2014/main" id="{8D823535-1F8E-4195-94DA-2BF8D5DC805D}"/>
              </a:ext>
            </a:extLst>
          </p:cNvPr>
          <p:cNvSpPr txBox="1">
            <a:spLocks/>
          </p:cNvSpPr>
          <p:nvPr/>
        </p:nvSpPr>
        <p:spPr>
          <a:xfrm>
            <a:off x="593565" y="425512"/>
            <a:ext cx="10895283" cy="1349218"/>
          </a:xfrm>
          <a:prstGeom prst="rect">
            <a:avLst/>
          </a:prstGeom>
        </p:spPr>
        <p:txBody>
          <a:bodyPr vert="horz" lIns="91440" tIns="45720" rIns="91440" bIns="45720" rtlCol="0" anchor="b">
            <a:no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solidFill>
                  <a:schemeClr val="tx1"/>
                </a:solidFill>
              </a:rPr>
              <a:t>The characteristics of the SQA environment process</a:t>
            </a:r>
          </a:p>
        </p:txBody>
      </p:sp>
    </p:spTree>
    <p:extLst>
      <p:ext uri="{BB962C8B-B14F-4D97-AF65-F5344CB8AC3E}">
        <p14:creationId xmlns:p14="http://schemas.microsoft.com/office/powerpoint/2010/main" val="214303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4" name="Straight Connector 23">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5AE6C737-FF55-4064-94B7-0B21D2EB6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05A93-A872-43BE-9662-EA0C29906C63}"/>
              </a:ext>
            </a:extLst>
          </p:cNvPr>
          <p:cNvSpPr txBox="1">
            <a:spLocks/>
          </p:cNvSpPr>
          <p:nvPr/>
        </p:nvSpPr>
        <p:spPr>
          <a:xfrm>
            <a:off x="6730000" y="639097"/>
            <a:ext cx="4813072" cy="368601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4400" dirty="0">
                <a:solidFill>
                  <a:schemeClr val="tx1">
                    <a:lumMod val="85000"/>
                    <a:lumOff val="15000"/>
                  </a:schemeClr>
                </a:solidFill>
              </a:rPr>
              <a:t>Cooperation and coordination scheme for a software development project team</a:t>
            </a:r>
          </a:p>
        </p:txBody>
      </p:sp>
      <p:pic>
        <p:nvPicPr>
          <p:cNvPr id="4" name="Picture 38" descr="1">
            <a:extLst>
              <a:ext uri="{FF2B5EF4-FFF2-40B4-BE49-F238E27FC236}">
                <a16:creationId xmlns:a16="http://schemas.microsoft.com/office/drawing/2014/main" id="{6464B5B6-3165-42F3-B58C-DCC3C6BC96E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2146" y="640081"/>
            <a:ext cx="4965707" cy="50541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Straight Connector 25">
            <a:extLst>
              <a:ext uri="{FF2B5EF4-FFF2-40B4-BE49-F238E27FC236}">
                <a16:creationId xmlns:a16="http://schemas.microsoft.com/office/drawing/2014/main" id="{6B5B1DD8-6224-4137-8621-32982B00F9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8218D9F-38B6-4AE0-9051-5434D19A5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2D3DCA99-84AF-487A-BF72-91C5FA6B0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55569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2733E-D0BC-45A9-8402-ED2CD6B3CB8B}"/>
              </a:ext>
            </a:extLst>
          </p:cNvPr>
          <p:cNvSpPr>
            <a:spLocks noGrp="1"/>
          </p:cNvSpPr>
          <p:nvPr>
            <p:ph idx="1"/>
          </p:nvPr>
        </p:nvSpPr>
        <p:spPr>
          <a:xfrm>
            <a:off x="760148" y="1919336"/>
            <a:ext cx="10562115" cy="4022186"/>
          </a:xfrm>
        </p:spPr>
        <p:txBody>
          <a:bodyPr>
            <a:noAutofit/>
          </a:bodyPr>
          <a:lstStyle/>
          <a:p>
            <a:pPr algn="just"/>
            <a:r>
              <a:rPr lang="en-US" sz="2400" dirty="0">
                <a:solidFill>
                  <a:schemeClr val="accent2"/>
                </a:solidFill>
              </a:rPr>
              <a:t>Interfaces with other software systems</a:t>
            </a:r>
          </a:p>
          <a:p>
            <a:pPr algn="just"/>
            <a:r>
              <a:rPr lang="en-US" sz="2400" dirty="0">
                <a:solidFill>
                  <a:schemeClr val="accent2"/>
                </a:solidFill>
              </a:rPr>
              <a:t>Need to continue carrying out a project while the team changes</a:t>
            </a:r>
          </a:p>
          <a:p>
            <a:pPr lvl="1" algn="just"/>
            <a:r>
              <a:rPr lang="en-US" sz="2400" dirty="0">
                <a:solidFill>
                  <a:schemeClr val="tx1"/>
                </a:solidFill>
              </a:rPr>
              <a:t>It is quite common for team members to leave the team during the project development period. The team leader then has to replace the departing team member either by another employee or by a newly recruited employee.</a:t>
            </a:r>
          </a:p>
          <a:p>
            <a:pPr marL="0" indent="0" algn="just">
              <a:buNone/>
            </a:pPr>
            <a:r>
              <a:rPr lang="en-US" sz="2400" dirty="0">
                <a:solidFill>
                  <a:schemeClr val="accent2"/>
                </a:solidFill>
              </a:rPr>
              <a:t>Need to continue maintaining the software system for years</a:t>
            </a:r>
          </a:p>
          <a:p>
            <a:pPr lvl="1" algn="just"/>
            <a:r>
              <a:rPr lang="en-US" sz="2400" dirty="0">
                <a:solidFill>
                  <a:schemeClr val="tx1"/>
                </a:solidFill>
              </a:rPr>
              <a:t>Customers who develop or purchase a software system expect to continue utilizing it for a long period, usually for 5–10 years. During the service period, the need for maintenance will eventually arise. In most cases, the developer is required to supply these services directly.</a:t>
            </a:r>
          </a:p>
          <a:p>
            <a:pPr marL="201168" lvl="1" indent="0" algn="just">
              <a:buNone/>
            </a:pPr>
            <a:endParaRPr lang="en-US" sz="2400" dirty="0">
              <a:solidFill>
                <a:schemeClr val="tx1"/>
              </a:solidFill>
            </a:endParaRPr>
          </a:p>
          <a:p>
            <a:pPr algn="just"/>
            <a:endParaRPr lang="en-US" sz="2400" dirty="0"/>
          </a:p>
        </p:txBody>
      </p:sp>
      <p:sp>
        <p:nvSpPr>
          <p:cNvPr id="7" name="Title 1">
            <a:extLst>
              <a:ext uri="{FF2B5EF4-FFF2-40B4-BE49-F238E27FC236}">
                <a16:creationId xmlns:a16="http://schemas.microsoft.com/office/drawing/2014/main" id="{8802722E-1DC2-EAB9-8387-216DB86E8296}"/>
              </a:ext>
            </a:extLst>
          </p:cNvPr>
          <p:cNvSpPr>
            <a:spLocks noGrp="1"/>
          </p:cNvSpPr>
          <p:nvPr>
            <p:ph type="title"/>
          </p:nvPr>
        </p:nvSpPr>
        <p:spPr>
          <a:xfrm>
            <a:off x="593565" y="425512"/>
            <a:ext cx="10895283" cy="1349218"/>
          </a:xfrm>
        </p:spPr>
        <p:txBody>
          <a:bodyPr>
            <a:noAutofit/>
          </a:bodyPr>
          <a:lstStyle/>
          <a:p>
            <a:r>
              <a:rPr lang="en-US" dirty="0">
                <a:solidFill>
                  <a:schemeClr val="tx1"/>
                </a:solidFill>
              </a:rPr>
              <a:t>The characteristics of the SQA environment process</a:t>
            </a:r>
          </a:p>
        </p:txBody>
      </p:sp>
    </p:spTree>
    <p:extLst>
      <p:ext uri="{BB962C8B-B14F-4D97-AF65-F5344CB8AC3E}">
        <p14:creationId xmlns:p14="http://schemas.microsoft.com/office/powerpoint/2010/main" val="208852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5" name="Straight Connector 2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6EAB9-F89E-4D9D-9968-AA6FF2D61F1D}"/>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4600">
                <a:solidFill>
                  <a:schemeClr val="tx1">
                    <a:lumMod val="85000"/>
                    <a:lumOff val="15000"/>
                  </a:schemeClr>
                </a:solidFill>
              </a:rPr>
              <a:t>The salary software system – an example of software interfaces</a:t>
            </a:r>
          </a:p>
        </p:txBody>
      </p:sp>
      <p:pic>
        <p:nvPicPr>
          <p:cNvPr id="4" name="Picture 27" descr="oht01">
            <a:extLst>
              <a:ext uri="{FF2B5EF4-FFF2-40B4-BE49-F238E27FC236}">
                <a16:creationId xmlns:a16="http://schemas.microsoft.com/office/drawing/2014/main" id="{BE254C5B-F69E-4068-8F77-94BC6232C0D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15355" t="22729" r="15355" b="9029"/>
          <a:stretch>
            <a:fillRect/>
          </a:stretch>
        </p:blipFill>
        <p:spPr bwMode="auto">
          <a:xfrm>
            <a:off x="668926" y="640081"/>
            <a:ext cx="6842364" cy="505415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019495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837" y="661496"/>
            <a:ext cx="11029616" cy="1013800"/>
          </a:xfrm>
        </p:spPr>
        <p:txBody>
          <a:bodyPr/>
          <a:lstStyle/>
          <a:p>
            <a:r>
              <a:rPr lang="en-US" dirty="0">
                <a:solidFill>
                  <a:schemeClr val="tx1"/>
                </a:solidFill>
              </a:rPr>
              <a:t>People’s Roles and Responsibilities </a:t>
            </a:r>
          </a:p>
        </p:txBody>
      </p:sp>
      <p:sp>
        <p:nvSpPr>
          <p:cNvPr id="3" name="Content Placeholder 2"/>
          <p:cNvSpPr>
            <a:spLocks noGrp="1"/>
          </p:cNvSpPr>
          <p:nvPr>
            <p:ph idx="1"/>
          </p:nvPr>
        </p:nvSpPr>
        <p:spPr>
          <a:xfrm>
            <a:off x="878185" y="1895882"/>
            <a:ext cx="11105267" cy="4061298"/>
          </a:xfrm>
        </p:spPr>
        <p:txBody>
          <a:bodyPr>
            <a:normAutofit/>
          </a:bodyPr>
          <a:lstStyle/>
          <a:p>
            <a:pPr algn="just"/>
            <a:r>
              <a:rPr lang="en-US" sz="2400" dirty="0">
                <a:solidFill>
                  <a:schemeClr val="accent2"/>
                </a:solidFill>
              </a:rPr>
              <a:t>About software quality, people may have different views and expectations based on their roles and responsibilities </a:t>
            </a:r>
          </a:p>
          <a:p>
            <a:pPr algn="just"/>
            <a:r>
              <a:rPr lang="en-US" sz="2400" dirty="0">
                <a:solidFill>
                  <a:schemeClr val="tx1"/>
                </a:solidFill>
              </a:rPr>
              <a:t>Mainly two groups:</a:t>
            </a:r>
          </a:p>
          <a:p>
            <a:pPr lvl="1" algn="just">
              <a:buFont typeface="Arial" panose="020B0604020202020204" pitchFamily="34" charset="0"/>
              <a:buChar char="•"/>
            </a:pPr>
            <a:r>
              <a:rPr lang="en-US" sz="2400" dirty="0">
                <a:solidFill>
                  <a:schemeClr val="accent2"/>
                </a:solidFill>
              </a:rPr>
              <a:t>Consumers of software products and services</a:t>
            </a:r>
          </a:p>
          <a:p>
            <a:pPr lvl="2" algn="just">
              <a:buFont typeface="Arial" panose="020B0604020202020204" pitchFamily="34" charset="0"/>
              <a:buChar char="•"/>
            </a:pPr>
            <a:r>
              <a:rPr lang="en-US" sz="2400" dirty="0">
                <a:solidFill>
                  <a:schemeClr val="tx1"/>
                </a:solidFill>
              </a:rPr>
              <a:t>Customers, users, non-human users (other systems)</a:t>
            </a:r>
          </a:p>
          <a:p>
            <a:pPr lvl="1" algn="just">
              <a:buFont typeface="Arial" panose="020B0604020202020204" pitchFamily="34" charset="0"/>
              <a:buChar char="•"/>
            </a:pPr>
            <a:r>
              <a:rPr lang="en-US" sz="2400" dirty="0">
                <a:solidFill>
                  <a:schemeClr val="accent2"/>
                </a:solidFill>
              </a:rPr>
              <a:t>Producers of software products and services</a:t>
            </a:r>
          </a:p>
          <a:p>
            <a:pPr lvl="2" algn="just">
              <a:buFont typeface="Arial" panose="020B0604020202020204" pitchFamily="34" charset="0"/>
              <a:buChar char="•"/>
            </a:pPr>
            <a:r>
              <a:rPr lang="en-US" sz="2400" dirty="0">
                <a:solidFill>
                  <a:schemeClr val="tx1"/>
                </a:solidFill>
              </a:rPr>
              <a:t>anyone involved with the development, management, maintenance, marketing, and service of software products</a:t>
            </a:r>
          </a:p>
        </p:txBody>
      </p:sp>
    </p:spTree>
    <p:extLst>
      <p:ext uri="{BB962C8B-B14F-4D97-AF65-F5344CB8AC3E}">
        <p14:creationId xmlns:p14="http://schemas.microsoft.com/office/powerpoint/2010/main" val="4235334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4">
            <a:extLst>
              <a:ext uri="{FF2B5EF4-FFF2-40B4-BE49-F238E27FC236}">
                <a16:creationId xmlns:a16="http://schemas.microsoft.com/office/drawing/2014/main" id="{860DD01B-DC1D-D7D4-1885-13EBBBF5A55E}"/>
              </a:ext>
            </a:extLst>
          </p:cNvPr>
          <p:cNvSpPr>
            <a:spLocks noGrp="1"/>
          </p:cNvSpPr>
          <p:nvPr>
            <p:ph type="title"/>
          </p:nvPr>
        </p:nvSpPr>
        <p:spPr>
          <a:xfrm>
            <a:off x="1104743" y="780861"/>
            <a:ext cx="9067957" cy="990600"/>
          </a:xfrm>
        </p:spPr>
        <p:txBody>
          <a:bodyPr/>
          <a:lstStyle/>
          <a:p>
            <a:r>
              <a:rPr lang="en-US" altLang="en-US" dirty="0">
                <a:solidFill>
                  <a:schemeClr val="tx1"/>
                </a:solidFill>
              </a:rPr>
              <a:t>Quality Attributes</a:t>
            </a:r>
          </a:p>
        </p:txBody>
      </p:sp>
      <p:sp>
        <p:nvSpPr>
          <p:cNvPr id="27651" name="Content Placeholder 5">
            <a:extLst>
              <a:ext uri="{FF2B5EF4-FFF2-40B4-BE49-F238E27FC236}">
                <a16:creationId xmlns:a16="http://schemas.microsoft.com/office/drawing/2014/main" id="{656D3569-B6D3-BF14-214E-3D9D23293236}"/>
              </a:ext>
            </a:extLst>
          </p:cNvPr>
          <p:cNvSpPr>
            <a:spLocks noGrp="1"/>
          </p:cNvSpPr>
          <p:nvPr>
            <p:ph sz="quarter" idx="1"/>
          </p:nvPr>
        </p:nvSpPr>
        <p:spPr>
          <a:xfrm>
            <a:off x="1104743" y="1917072"/>
            <a:ext cx="9433491" cy="4160067"/>
          </a:xfrm>
        </p:spPr>
        <p:txBody>
          <a:bodyPr>
            <a:normAutofit/>
          </a:bodyPr>
          <a:lstStyle/>
          <a:p>
            <a:pPr marL="342900" indent="-342900">
              <a:buNone/>
            </a:pPr>
            <a:r>
              <a:rPr lang="en-US" altLang="en-US" sz="2400" dirty="0">
                <a:solidFill>
                  <a:schemeClr val="accent2"/>
                </a:solidFill>
              </a:rPr>
              <a:t>Quality attributes apply both to the product and the process.</a:t>
            </a:r>
          </a:p>
          <a:p>
            <a:pPr marL="342900" indent="-342900"/>
            <a:endParaRPr lang="en-US" altLang="en-US" sz="2400" dirty="0">
              <a:solidFill>
                <a:schemeClr val="tx1"/>
              </a:solidFill>
            </a:endParaRPr>
          </a:p>
          <a:p>
            <a:pPr marL="0" indent="0">
              <a:buNone/>
            </a:pPr>
            <a:r>
              <a:rPr lang="en-US" altLang="en-US" sz="2400" b="1" i="1" dirty="0">
                <a:solidFill>
                  <a:schemeClr val="tx1"/>
                </a:solidFill>
              </a:rPr>
              <a:t>Product</a:t>
            </a:r>
            <a:r>
              <a:rPr lang="en-US" altLang="en-US" sz="2400" dirty="0">
                <a:solidFill>
                  <a:schemeClr val="tx1"/>
                </a:solidFill>
              </a:rPr>
              <a:t>: delivered to the customer</a:t>
            </a:r>
          </a:p>
          <a:p>
            <a:pPr marL="0" indent="0">
              <a:buNone/>
            </a:pPr>
            <a:r>
              <a:rPr lang="en-US" altLang="en-US" sz="2400" b="1" i="1" dirty="0">
                <a:solidFill>
                  <a:schemeClr val="tx1"/>
                </a:solidFill>
              </a:rPr>
              <a:t>Process:</a:t>
            </a:r>
            <a:r>
              <a:rPr lang="en-US" altLang="en-US" sz="2400" dirty="0">
                <a:solidFill>
                  <a:schemeClr val="tx1"/>
                </a:solidFill>
              </a:rPr>
              <a:t> produces the software product</a:t>
            </a:r>
          </a:p>
          <a:p>
            <a:pPr marL="0" indent="0">
              <a:buNone/>
            </a:pPr>
            <a:r>
              <a:rPr lang="en-US" altLang="en-US" sz="2400" b="1" i="1" dirty="0">
                <a:solidFill>
                  <a:schemeClr val="tx1"/>
                </a:solidFill>
              </a:rPr>
              <a:t>Resources:</a:t>
            </a:r>
            <a:r>
              <a:rPr lang="en-US" altLang="en-US" sz="2400" dirty="0">
                <a:solidFill>
                  <a:schemeClr val="tx1"/>
                </a:solidFill>
              </a:rPr>
              <a:t> (both the product and the process require resources)</a:t>
            </a:r>
          </a:p>
          <a:p>
            <a:pPr marL="742950" lvl="1" indent="-285750"/>
            <a:r>
              <a:rPr lang="en-US" altLang="en-US" sz="2400" dirty="0">
                <a:solidFill>
                  <a:schemeClr val="tx1"/>
                </a:solidFill>
              </a:rPr>
              <a:t>Underlying assumption: a quality process leads to a quality product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4">
            <a:extLst>
              <a:ext uri="{FF2B5EF4-FFF2-40B4-BE49-F238E27FC236}">
                <a16:creationId xmlns:a16="http://schemas.microsoft.com/office/drawing/2014/main" id="{D78068AC-613F-1292-8843-378576295850}"/>
              </a:ext>
            </a:extLst>
          </p:cNvPr>
          <p:cNvSpPr>
            <a:spLocks noGrp="1"/>
          </p:cNvSpPr>
          <p:nvPr>
            <p:ph type="title"/>
          </p:nvPr>
        </p:nvSpPr>
        <p:spPr>
          <a:xfrm>
            <a:off x="1095626" y="854044"/>
            <a:ext cx="8153400" cy="990600"/>
          </a:xfrm>
        </p:spPr>
        <p:txBody>
          <a:bodyPr/>
          <a:lstStyle/>
          <a:p>
            <a:r>
              <a:rPr lang="en-US" altLang="en-US" dirty="0">
                <a:solidFill>
                  <a:schemeClr val="tx1"/>
                </a:solidFill>
              </a:rPr>
              <a:t>Quality Attributes</a:t>
            </a:r>
          </a:p>
        </p:txBody>
      </p:sp>
      <p:sp>
        <p:nvSpPr>
          <p:cNvPr id="28675" name="Content Placeholder 5">
            <a:extLst>
              <a:ext uri="{FF2B5EF4-FFF2-40B4-BE49-F238E27FC236}">
                <a16:creationId xmlns:a16="http://schemas.microsoft.com/office/drawing/2014/main" id="{871B3A9A-87D8-09BF-964D-6C4BC5AD43BD}"/>
              </a:ext>
            </a:extLst>
          </p:cNvPr>
          <p:cNvSpPr>
            <a:spLocks noGrp="1"/>
          </p:cNvSpPr>
          <p:nvPr>
            <p:ph sz="quarter" idx="1"/>
          </p:nvPr>
        </p:nvSpPr>
        <p:spPr>
          <a:xfrm>
            <a:off x="905347" y="1844644"/>
            <a:ext cx="10411485" cy="4495800"/>
          </a:xfrm>
        </p:spPr>
        <p:txBody>
          <a:bodyPr>
            <a:noAutofit/>
          </a:bodyPr>
          <a:lstStyle/>
          <a:p>
            <a:pPr marL="342900" indent="-342900">
              <a:buNone/>
            </a:pPr>
            <a:r>
              <a:rPr lang="en-US" altLang="en-US" sz="2400" dirty="0">
                <a:solidFill>
                  <a:schemeClr val="accent2"/>
                </a:solidFill>
              </a:rPr>
              <a:t>Quality attributes can be external or internal.</a:t>
            </a:r>
          </a:p>
          <a:p>
            <a:pPr marL="0" indent="0">
              <a:buNone/>
            </a:pPr>
            <a:r>
              <a:rPr lang="en-US" altLang="en-US" sz="2400" b="1" i="1" dirty="0">
                <a:solidFill>
                  <a:schemeClr val="tx1"/>
                </a:solidFill>
              </a:rPr>
              <a:t>External:</a:t>
            </a:r>
            <a:r>
              <a:rPr lang="en-US" altLang="en-US" sz="2400" dirty="0">
                <a:solidFill>
                  <a:schemeClr val="tx1"/>
                </a:solidFill>
              </a:rPr>
              <a:t> Derived from the relationship between the environment and the system (or the process). (To derive, the system or process must run) </a:t>
            </a:r>
          </a:p>
          <a:p>
            <a:pPr marL="742950" lvl="1" indent="-285750"/>
            <a:r>
              <a:rPr lang="en-US" altLang="en-US" sz="2400" dirty="0">
                <a:solidFill>
                  <a:schemeClr val="tx1"/>
                </a:solidFill>
              </a:rPr>
              <a:t>e.g. Reliability, Robustness</a:t>
            </a:r>
          </a:p>
          <a:p>
            <a:pPr marL="0" indent="0">
              <a:buNone/>
            </a:pPr>
            <a:endParaRPr lang="en-US" altLang="en-US" sz="2400" dirty="0">
              <a:solidFill>
                <a:schemeClr val="tx1"/>
              </a:solidFill>
            </a:endParaRPr>
          </a:p>
          <a:p>
            <a:pPr marL="0" indent="0">
              <a:buNone/>
            </a:pPr>
            <a:r>
              <a:rPr lang="en-US" altLang="en-US" sz="2400" b="1" i="1" dirty="0">
                <a:solidFill>
                  <a:schemeClr val="tx1"/>
                </a:solidFill>
              </a:rPr>
              <a:t>Internal:</a:t>
            </a:r>
            <a:r>
              <a:rPr lang="en-US" altLang="en-US" sz="2400" dirty="0">
                <a:solidFill>
                  <a:schemeClr val="tx1"/>
                </a:solidFill>
              </a:rPr>
              <a:t> Derived immediately from the product or process description (To derive, it is sufficient to have the description)</a:t>
            </a:r>
          </a:p>
          <a:p>
            <a:pPr marL="742950" lvl="1" indent="-285750"/>
            <a:r>
              <a:rPr lang="en-US" altLang="en-US" sz="2400" dirty="0">
                <a:solidFill>
                  <a:schemeClr val="tx1"/>
                </a:solidFill>
              </a:rPr>
              <a:t>Underlying assumption: internal quality leads to external quality (</a:t>
            </a:r>
            <a:r>
              <a:rPr lang="en-US" altLang="en-US" sz="2400" dirty="0" err="1">
                <a:solidFill>
                  <a:schemeClr val="tx1"/>
                </a:solidFill>
              </a:rPr>
              <a:t>cfr</a:t>
            </a:r>
            <a:r>
              <a:rPr lang="en-US" altLang="en-US" sz="2400" dirty="0">
                <a:solidFill>
                  <a:schemeClr val="tx1"/>
                </a:solidFill>
              </a:rPr>
              <a:t>. metaphor manufacturing lines)</a:t>
            </a:r>
          </a:p>
          <a:p>
            <a:pPr marL="742950" lvl="1" indent="-285750"/>
            <a:r>
              <a:rPr lang="en-US" altLang="en-US" sz="2400" dirty="0">
                <a:solidFill>
                  <a:schemeClr val="tx1"/>
                </a:solidFill>
              </a:rPr>
              <a:t>e.g. Efficiency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1482-BDEB-4DAE-BAD4-3A383B90DC06}"/>
              </a:ext>
            </a:extLst>
          </p:cNvPr>
          <p:cNvSpPr>
            <a:spLocks noGrp="1"/>
          </p:cNvSpPr>
          <p:nvPr>
            <p:ph type="title"/>
          </p:nvPr>
        </p:nvSpPr>
        <p:spPr>
          <a:xfrm>
            <a:off x="721895" y="322371"/>
            <a:ext cx="11138145" cy="1450757"/>
          </a:xfrm>
        </p:spPr>
        <p:txBody>
          <a:bodyPr>
            <a:normAutofit/>
          </a:bodyPr>
          <a:lstStyle/>
          <a:p>
            <a:r>
              <a:rPr lang="en-US" dirty="0">
                <a:solidFill>
                  <a:schemeClr val="tx1"/>
                </a:solidFill>
              </a:rPr>
              <a:t>Defects in the context of QA and quality engineering</a:t>
            </a:r>
          </a:p>
        </p:txBody>
      </p:sp>
      <p:sp>
        <p:nvSpPr>
          <p:cNvPr id="3" name="Content Placeholder 2">
            <a:extLst>
              <a:ext uri="{FF2B5EF4-FFF2-40B4-BE49-F238E27FC236}">
                <a16:creationId xmlns:a16="http://schemas.microsoft.com/office/drawing/2014/main" id="{EDEE30A7-8C53-42B7-81DC-B7B357EE4A05}"/>
              </a:ext>
            </a:extLst>
          </p:cNvPr>
          <p:cNvSpPr>
            <a:spLocks noGrp="1"/>
          </p:cNvSpPr>
          <p:nvPr>
            <p:ph idx="1"/>
          </p:nvPr>
        </p:nvSpPr>
        <p:spPr>
          <a:xfrm>
            <a:off x="721896" y="1773128"/>
            <a:ext cx="10879008" cy="4247426"/>
          </a:xfrm>
        </p:spPr>
        <p:txBody>
          <a:bodyPr>
            <a:normAutofit/>
          </a:bodyPr>
          <a:lstStyle/>
          <a:p>
            <a:pPr algn="just"/>
            <a:r>
              <a:rPr lang="en-US" sz="2400" dirty="0">
                <a:solidFill>
                  <a:schemeClr val="accent2"/>
                </a:solidFill>
              </a:rPr>
              <a:t>Three generic ways to deal with defects include: </a:t>
            </a:r>
          </a:p>
          <a:p>
            <a:pPr lvl="1" algn="just">
              <a:buFont typeface="Arial" panose="020B0604020202020204" pitchFamily="34" charset="0"/>
              <a:buChar char="•"/>
            </a:pPr>
            <a:r>
              <a:rPr lang="en-US" sz="2400" dirty="0">
                <a:solidFill>
                  <a:schemeClr val="tx1"/>
                </a:solidFill>
              </a:rPr>
              <a:t>defect prevention</a:t>
            </a:r>
          </a:p>
          <a:p>
            <a:pPr lvl="1" algn="just">
              <a:buFont typeface="Arial" panose="020B0604020202020204" pitchFamily="34" charset="0"/>
              <a:buChar char="•"/>
            </a:pPr>
            <a:r>
              <a:rPr lang="en-US" sz="2400" dirty="0">
                <a:solidFill>
                  <a:schemeClr val="tx1"/>
                </a:solidFill>
              </a:rPr>
              <a:t>defect detection and removal</a:t>
            </a:r>
          </a:p>
          <a:p>
            <a:pPr lvl="1" algn="just">
              <a:buFont typeface="Arial" panose="020B0604020202020204" pitchFamily="34" charset="0"/>
              <a:buChar char="•"/>
            </a:pPr>
            <a:r>
              <a:rPr lang="en-US" sz="2400" dirty="0">
                <a:solidFill>
                  <a:schemeClr val="tx1"/>
                </a:solidFill>
              </a:rPr>
              <a:t>defect containment</a:t>
            </a:r>
          </a:p>
          <a:p>
            <a:pPr lvl="1" algn="just"/>
            <a:endParaRPr lang="en-US" sz="2400" dirty="0">
              <a:solidFill>
                <a:schemeClr val="tx1"/>
              </a:solidFill>
            </a:endParaRPr>
          </a:p>
          <a:p>
            <a:pPr algn="just"/>
            <a:r>
              <a:rPr lang="en-US" sz="2400" dirty="0">
                <a:solidFill>
                  <a:schemeClr val="accent2"/>
                </a:solidFill>
              </a:rPr>
              <a:t>Quality engineering can also be viewed as </a:t>
            </a:r>
            <a:r>
              <a:rPr lang="en-US" sz="2400" u="sng" dirty="0">
                <a:solidFill>
                  <a:schemeClr val="accent2"/>
                </a:solidFill>
              </a:rPr>
              <a:t>defect management</a:t>
            </a:r>
            <a:r>
              <a:rPr lang="en-US" sz="2400" dirty="0">
                <a:solidFill>
                  <a:schemeClr val="accent2"/>
                </a:solidFill>
              </a:rPr>
              <a:t>. In addition to the execution of the planned QA activities, quality engineering also includes:</a:t>
            </a:r>
          </a:p>
          <a:p>
            <a:pPr lvl="1" algn="just">
              <a:buFont typeface="Arial" panose="020B0604020202020204" pitchFamily="34" charset="0"/>
              <a:buChar char="•"/>
            </a:pPr>
            <a:r>
              <a:rPr lang="en-US" sz="2400" dirty="0">
                <a:solidFill>
                  <a:schemeClr val="tx1"/>
                </a:solidFill>
              </a:rPr>
              <a:t>quality planning before specific QA activities are carried out</a:t>
            </a:r>
          </a:p>
          <a:p>
            <a:pPr lvl="1" algn="just">
              <a:buFont typeface="Arial" panose="020B0604020202020204" pitchFamily="34" charset="0"/>
              <a:buChar char="•"/>
            </a:pPr>
            <a:r>
              <a:rPr lang="en-US" sz="2400" dirty="0">
                <a:solidFill>
                  <a:schemeClr val="tx1"/>
                </a:solidFill>
              </a:rPr>
              <a:t>measurement, analysis, and feedback to monitor and control the QA activities</a:t>
            </a:r>
          </a:p>
        </p:txBody>
      </p:sp>
    </p:spTree>
    <p:extLst>
      <p:ext uri="{BB962C8B-B14F-4D97-AF65-F5344CB8AC3E}">
        <p14:creationId xmlns:p14="http://schemas.microsoft.com/office/powerpoint/2010/main" val="328939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D90D2-7445-4446-86D2-D16F92C46A5D}"/>
              </a:ext>
            </a:extLst>
          </p:cNvPr>
          <p:cNvSpPr>
            <a:spLocks noGrp="1"/>
          </p:cNvSpPr>
          <p:nvPr>
            <p:ph type="title"/>
          </p:nvPr>
        </p:nvSpPr>
        <p:spPr>
          <a:xfrm>
            <a:off x="1097280" y="1114605"/>
            <a:ext cx="8870950" cy="655638"/>
          </a:xfrm>
        </p:spPr>
        <p:txBody>
          <a:bodyPr>
            <a:noAutofit/>
          </a:bodyPr>
          <a:lstStyle/>
          <a:p>
            <a:r>
              <a:rPr lang="en-US" dirty="0">
                <a:solidFill>
                  <a:schemeClr val="tx1"/>
                </a:solidFill>
              </a:rPr>
              <a:t>Causes of Software Errors</a:t>
            </a:r>
          </a:p>
        </p:txBody>
      </p:sp>
      <p:sp>
        <p:nvSpPr>
          <p:cNvPr id="3" name="Content Placeholder 2">
            <a:extLst>
              <a:ext uri="{FF2B5EF4-FFF2-40B4-BE49-F238E27FC236}">
                <a16:creationId xmlns:a16="http://schemas.microsoft.com/office/drawing/2014/main" id="{D02CC922-E7A1-40F4-A20E-34638F24B05B}"/>
              </a:ext>
            </a:extLst>
          </p:cNvPr>
          <p:cNvSpPr>
            <a:spLocks noGrp="1"/>
          </p:cNvSpPr>
          <p:nvPr>
            <p:ph idx="1"/>
          </p:nvPr>
        </p:nvSpPr>
        <p:spPr>
          <a:xfrm>
            <a:off x="1097280" y="1845734"/>
            <a:ext cx="10058400" cy="4690868"/>
          </a:xfrm>
        </p:spPr>
        <p:txBody>
          <a:bodyPr>
            <a:normAutofit lnSpcReduction="10000"/>
          </a:bodyPr>
          <a:lstStyle/>
          <a:p>
            <a:pPr>
              <a:buFont typeface="Arial" panose="020B0604020202020204" pitchFamily="34" charset="0"/>
              <a:buChar char="•"/>
            </a:pPr>
            <a:r>
              <a:rPr lang="en-US" sz="2600" dirty="0"/>
              <a:t>   </a:t>
            </a:r>
            <a:r>
              <a:rPr lang="en-US" sz="2600" dirty="0">
                <a:solidFill>
                  <a:schemeClr val="tx1"/>
                </a:solidFill>
              </a:rPr>
              <a:t>Faulty definition of requirements</a:t>
            </a:r>
          </a:p>
          <a:p>
            <a:pPr>
              <a:buFont typeface="Arial" panose="020B0604020202020204" pitchFamily="34" charset="0"/>
              <a:buChar char="•"/>
            </a:pPr>
            <a:r>
              <a:rPr lang="en-US" sz="2600" dirty="0">
                <a:solidFill>
                  <a:schemeClr val="tx1"/>
                </a:solidFill>
              </a:rPr>
              <a:t>   Client-developer communication failures</a:t>
            </a:r>
          </a:p>
          <a:p>
            <a:pPr>
              <a:buFont typeface="Arial" panose="020B0604020202020204" pitchFamily="34" charset="0"/>
              <a:buChar char="•"/>
            </a:pPr>
            <a:r>
              <a:rPr lang="en-US" sz="2600" dirty="0">
                <a:solidFill>
                  <a:schemeClr val="tx1"/>
                </a:solidFill>
              </a:rPr>
              <a:t>   Deliberate deviation from requirements </a:t>
            </a:r>
          </a:p>
          <a:p>
            <a:pPr>
              <a:buFont typeface="Arial" panose="020B0604020202020204" pitchFamily="34" charset="0"/>
              <a:buChar char="•"/>
            </a:pPr>
            <a:r>
              <a:rPr lang="en-US" sz="2600" dirty="0">
                <a:solidFill>
                  <a:schemeClr val="tx1"/>
                </a:solidFill>
              </a:rPr>
              <a:t>   Logical design errors/Coding errors</a:t>
            </a:r>
          </a:p>
          <a:p>
            <a:pPr>
              <a:buFont typeface="Arial" panose="020B0604020202020204" pitchFamily="34" charset="0"/>
              <a:buChar char="•"/>
            </a:pPr>
            <a:r>
              <a:rPr lang="en-US" sz="2600" dirty="0">
                <a:solidFill>
                  <a:schemeClr val="tx1"/>
                </a:solidFill>
              </a:rPr>
              <a:t>   Non-compliance with documentation and coding instructions </a:t>
            </a:r>
          </a:p>
          <a:p>
            <a:pPr>
              <a:buFont typeface="Arial" panose="020B0604020202020204" pitchFamily="34" charset="0"/>
              <a:buChar char="•"/>
            </a:pPr>
            <a:r>
              <a:rPr lang="en-US" sz="2600" dirty="0">
                <a:solidFill>
                  <a:schemeClr val="tx1"/>
                </a:solidFill>
              </a:rPr>
              <a:t>   Shortcomings of the testing process</a:t>
            </a:r>
          </a:p>
          <a:p>
            <a:pPr>
              <a:buFont typeface="Arial" panose="020B0604020202020204" pitchFamily="34" charset="0"/>
              <a:buChar char="•"/>
            </a:pPr>
            <a:r>
              <a:rPr lang="en-US" sz="2600" dirty="0">
                <a:solidFill>
                  <a:schemeClr val="tx1"/>
                </a:solidFill>
              </a:rPr>
              <a:t>   Procedure errors</a:t>
            </a:r>
          </a:p>
          <a:p>
            <a:pPr>
              <a:buFont typeface="Arial" panose="020B0604020202020204" pitchFamily="34" charset="0"/>
              <a:buChar char="•"/>
            </a:pPr>
            <a:r>
              <a:rPr lang="en-US" sz="2600" dirty="0">
                <a:solidFill>
                  <a:schemeClr val="tx1"/>
                </a:solidFill>
              </a:rPr>
              <a:t>   Documentation errors</a:t>
            </a:r>
          </a:p>
          <a:p>
            <a:pPr>
              <a:buFont typeface="Arial" panose="020B0604020202020204" pitchFamily="34" charset="0"/>
              <a:buChar char="•"/>
            </a:pPr>
            <a:r>
              <a:rPr lang="en-US" sz="2600" dirty="0">
                <a:solidFill>
                  <a:schemeClr val="tx1"/>
                </a:solidFill>
              </a:rPr>
              <a:t>   Omission of software functions</a:t>
            </a:r>
          </a:p>
          <a:p>
            <a:pPr marL="0" indent="0">
              <a:buNone/>
            </a:pPr>
            <a:endParaRPr lang="en-US" sz="2000" dirty="0"/>
          </a:p>
        </p:txBody>
      </p:sp>
    </p:spTree>
    <p:extLst>
      <p:ext uri="{BB962C8B-B14F-4D97-AF65-F5344CB8AC3E}">
        <p14:creationId xmlns:p14="http://schemas.microsoft.com/office/powerpoint/2010/main" val="419564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047246" y="2509328"/>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155</TotalTime>
  <Words>790</Words>
  <Application>Microsoft Office PowerPoint</Application>
  <PresentationFormat>Widescreen</PresentationFormat>
  <Paragraphs>99</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Calibri Light</vt:lpstr>
      <vt:lpstr>Times New Roman</vt:lpstr>
      <vt:lpstr>Wingdings</vt:lpstr>
      <vt:lpstr>Retrospect</vt:lpstr>
      <vt:lpstr>SE-3002 Software Quality Engineering</vt:lpstr>
      <vt:lpstr>Roles &amp; responsibilities of SQA team</vt:lpstr>
      <vt:lpstr>Roles &amp; responsibilities of SQA team</vt:lpstr>
      <vt:lpstr>The characteristics  of the SQA environment process</vt:lpstr>
      <vt:lpstr>The characteristics of the SQA environment process</vt:lpstr>
      <vt:lpstr>PowerPoint Presentation</vt:lpstr>
      <vt:lpstr>PowerPoint Presentation</vt:lpstr>
      <vt:lpstr>The characteristics of the SQA environment process</vt:lpstr>
      <vt:lpstr>The salary software system – an example of software interfaces</vt:lpstr>
      <vt:lpstr>People’s Roles and Responsibilities </vt:lpstr>
      <vt:lpstr>Quality Attributes</vt:lpstr>
      <vt:lpstr>Quality Attributes</vt:lpstr>
      <vt:lpstr>Defects in the context of QA and quality engineering</vt:lpstr>
      <vt:lpstr>Causes of Software Errors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12</cp:revision>
  <dcterms:created xsi:type="dcterms:W3CDTF">2024-08-09T06:58:16Z</dcterms:created>
  <dcterms:modified xsi:type="dcterms:W3CDTF">2024-08-23T14:59:08Z</dcterms:modified>
</cp:coreProperties>
</file>