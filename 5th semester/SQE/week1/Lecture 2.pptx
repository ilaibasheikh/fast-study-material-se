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356" r:id="rId3"/>
    <p:sldId id="276" r:id="rId4"/>
    <p:sldId id="354" r:id="rId5"/>
    <p:sldId id="336" r:id="rId6"/>
    <p:sldId id="280" r:id="rId7"/>
    <p:sldId id="370" r:id="rId8"/>
    <p:sldId id="371" r:id="rId9"/>
    <p:sldId id="301" r:id="rId10"/>
    <p:sldId id="330" r:id="rId11"/>
    <p:sldId id="303" r:id="rId12"/>
    <p:sldId id="340" r:id="rId13"/>
    <p:sldId id="343" r:id="rId14"/>
    <p:sldId id="344" r:id="rId15"/>
    <p:sldId id="352" r:id="rId16"/>
    <p:sldId id="353" r:id="rId17"/>
    <p:sldId id="372" r:id="rId18"/>
    <p:sldId id="355" r:id="rId19"/>
    <p:sldId id="373" r:id="rId20"/>
    <p:sldId id="357" r:id="rId21"/>
    <p:sldId id="364" r:id="rId22"/>
    <p:sldId id="350" r:id="rId23"/>
    <p:sldId id="351"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176" autoAdjust="0"/>
  </p:normalViewPr>
  <p:slideViewPr>
    <p:cSldViewPr snapToGrid="0">
      <p:cViewPr varScale="1">
        <p:scale>
          <a:sx n="45" d="100"/>
          <a:sy n="45" d="100"/>
        </p:scale>
        <p:origin x="1674"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8/23/2024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606060"/>
                </a:solidFill>
                <a:effectLst/>
                <a:highlight>
                  <a:srgbClr val="FFFFFF"/>
                </a:highlight>
                <a:latin typeface="Proxima Nova"/>
              </a:rPr>
              <a:t>QC focuses on the product to find defects that remain after development. It is a reactive because it focus to identify defects after they occurs </a:t>
            </a:r>
          </a:p>
          <a:p>
            <a:r>
              <a:rPr lang="en-US" b="0" i="0" dirty="0">
                <a:solidFill>
                  <a:srgbClr val="606060"/>
                </a:solidFill>
                <a:effectLst/>
                <a:highlight>
                  <a:srgbClr val="FFFFFF"/>
                </a:highlight>
                <a:latin typeface="Proxima Nova"/>
              </a:rPr>
              <a:t>QC professionals find these issues in a variety of ways, including software testing and beta or canary testing.</a:t>
            </a:r>
          </a:p>
          <a:p>
            <a:r>
              <a:rPr lang="en-US" b="0" i="0" dirty="0">
                <a:solidFill>
                  <a:srgbClr val="606060"/>
                </a:solidFill>
                <a:effectLst/>
                <a:highlight>
                  <a:srgbClr val="FFFFFF"/>
                </a:highlight>
                <a:latin typeface="Proxima Nova"/>
              </a:rPr>
              <a:t>QA primarily focuses on the processes and procedures that improve quality, including training, documentation, monitoring and audits. QA is proactive because it focus to prevent defects before they occurs</a:t>
            </a:r>
            <a:endParaRPr lang="en-US" dirty="0"/>
          </a:p>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3</a:t>
            </a:fld>
            <a:endParaRPr lang="en-US"/>
          </a:p>
        </p:txBody>
      </p:sp>
    </p:spTree>
    <p:extLst>
      <p:ext uri="{BB962C8B-B14F-4D97-AF65-F5344CB8AC3E}">
        <p14:creationId xmlns:p14="http://schemas.microsoft.com/office/powerpoint/2010/main" val="3748401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Incorrect assumptions between </a:t>
            </a:r>
            <a:r>
              <a:rPr lang="en-US" dirty="0" err="1"/>
              <a:t>qa</a:t>
            </a:r>
            <a:r>
              <a:rPr lang="en-US" dirty="0"/>
              <a:t> and qc</a:t>
            </a:r>
          </a:p>
          <a:p>
            <a:r>
              <a:rPr lang="en-US" b="1" dirty="0"/>
              <a:t>Quality Assurance (QA):</a:t>
            </a:r>
            <a:r>
              <a:rPr lang="en-US" dirty="0"/>
              <a:t> Like understanding the difference between Email and Gmail correctly from the beginning, QA is about ensuring that the processes used to manage and create deliverables are applied correctly</a:t>
            </a:r>
          </a:p>
          <a:p>
            <a:r>
              <a:rPr lang="en-US" b="1" dirty="0"/>
              <a:t>Quality Control (QC):</a:t>
            </a:r>
            <a:r>
              <a:rPr lang="en-US" dirty="0"/>
              <a:t> On the other hand, if someone incorrectly believes that Gmail requires a generator, the result would be faulty usage.</a:t>
            </a:r>
          </a:p>
          <a:p>
            <a:r>
              <a:rPr lang="en-US" dirty="0"/>
              <a:t>Like understanding the difference between Email and Gmail correctly from the beginning,</a:t>
            </a:r>
          </a:p>
        </p:txBody>
      </p:sp>
      <p:sp>
        <p:nvSpPr>
          <p:cNvPr id="4" name="Slide Number Placeholder 3"/>
          <p:cNvSpPr>
            <a:spLocks noGrp="1"/>
          </p:cNvSpPr>
          <p:nvPr>
            <p:ph type="sldNum" sz="quarter" idx="5"/>
          </p:nvPr>
        </p:nvSpPr>
        <p:spPr/>
        <p:txBody>
          <a:bodyPr/>
          <a:lstStyle/>
          <a:p>
            <a:fld id="{DC4BEA5B-0F90-491B-8570-2B3910989086}" type="slidenum">
              <a:rPr lang="en-US" smtClean="0"/>
              <a:t>4</a:t>
            </a:fld>
            <a:endParaRPr lang="en-US"/>
          </a:p>
        </p:txBody>
      </p:sp>
    </p:spTree>
    <p:extLst>
      <p:ext uri="{BB962C8B-B14F-4D97-AF65-F5344CB8AC3E}">
        <p14:creationId xmlns:p14="http://schemas.microsoft.com/office/powerpoint/2010/main" val="106691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pPr>
              <a:defRPr/>
            </a:pPr>
            <a:fld id="{50D0D0A8-E1F9-4A2E-A64E-A2D06F83B0B5}" type="datetime1">
              <a:rPr lang="en-US" smtClean="0"/>
              <a:t>8/23/2024</a:t>
            </a:fld>
            <a:endParaRPr lang="en-US" dirty="0"/>
          </a:p>
        </p:txBody>
      </p:sp>
      <p:sp>
        <p:nvSpPr>
          <p:cNvPr id="5" name="Slide Number Placeholder 4"/>
          <p:cNvSpPr>
            <a:spLocks noGrp="1"/>
          </p:cNvSpPr>
          <p:nvPr>
            <p:ph type="sldNum" sz="quarter" idx="11"/>
          </p:nvPr>
        </p:nvSpPr>
        <p:spPr/>
        <p:txBody>
          <a:bodyPr/>
          <a:lstStyle/>
          <a:p>
            <a:pPr>
              <a:defRPr/>
            </a:pPr>
            <a:fld id="{A4C719D9-CCCC-479C-8E5B-B4668CC71D86}" type="slidenum">
              <a:rPr lang="en-US" smtClean="0"/>
              <a:pPr>
                <a:defRPr/>
              </a:pPr>
              <a:t>8</a:t>
            </a:fld>
            <a:endParaRPr lang="en-US" dirty="0"/>
          </a:p>
        </p:txBody>
      </p:sp>
    </p:spTree>
    <p:extLst>
      <p:ext uri="{BB962C8B-B14F-4D97-AF65-F5344CB8AC3E}">
        <p14:creationId xmlns:p14="http://schemas.microsoft.com/office/powerpoint/2010/main" val="3001557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pPr>
              <a:defRPr/>
            </a:pPr>
            <a:fld id="{50D0D0A8-E1F9-4A2E-A64E-A2D06F83B0B5}" type="datetime1">
              <a:rPr lang="en-US" smtClean="0"/>
              <a:t>8/23/2024</a:t>
            </a:fld>
            <a:endParaRPr lang="en-US" dirty="0"/>
          </a:p>
        </p:txBody>
      </p:sp>
      <p:sp>
        <p:nvSpPr>
          <p:cNvPr id="5" name="Slide Number Placeholder 4"/>
          <p:cNvSpPr>
            <a:spLocks noGrp="1"/>
          </p:cNvSpPr>
          <p:nvPr>
            <p:ph type="sldNum" sz="quarter" idx="11"/>
          </p:nvPr>
        </p:nvSpPr>
        <p:spPr/>
        <p:txBody>
          <a:bodyPr/>
          <a:lstStyle/>
          <a:p>
            <a:pPr>
              <a:defRPr/>
            </a:pPr>
            <a:fld id="{A4C719D9-CCCC-479C-8E5B-B4668CC71D86}" type="slidenum">
              <a:rPr lang="en-US" smtClean="0"/>
              <a:pPr>
                <a:defRPr/>
              </a:pPr>
              <a:t>9</a:t>
            </a:fld>
            <a:endParaRPr lang="en-US" dirty="0"/>
          </a:p>
        </p:txBody>
      </p:sp>
    </p:spTree>
    <p:extLst>
      <p:ext uri="{BB962C8B-B14F-4D97-AF65-F5344CB8AC3E}">
        <p14:creationId xmlns:p14="http://schemas.microsoft.com/office/powerpoint/2010/main" val="2111975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0"/>
          </p:nvPr>
        </p:nvSpPr>
        <p:spPr/>
        <p:txBody>
          <a:bodyPr/>
          <a:lstStyle/>
          <a:p>
            <a:pPr>
              <a:defRPr/>
            </a:pPr>
            <a:fld id="{50D0D0A8-E1F9-4A2E-A64E-A2D06F83B0B5}" type="datetime1">
              <a:rPr lang="en-US" smtClean="0"/>
              <a:t>8/23/2024</a:t>
            </a:fld>
            <a:endParaRPr lang="en-US" dirty="0"/>
          </a:p>
        </p:txBody>
      </p:sp>
      <p:sp>
        <p:nvSpPr>
          <p:cNvPr id="5" name="Slide Number Placeholder 4"/>
          <p:cNvSpPr>
            <a:spLocks noGrp="1"/>
          </p:cNvSpPr>
          <p:nvPr>
            <p:ph type="sldNum" sz="quarter" idx="11"/>
          </p:nvPr>
        </p:nvSpPr>
        <p:spPr/>
        <p:txBody>
          <a:bodyPr/>
          <a:lstStyle/>
          <a:p>
            <a:pPr>
              <a:defRPr/>
            </a:pPr>
            <a:fld id="{A4C719D9-CCCC-479C-8E5B-B4668CC71D86}" type="slidenum">
              <a:rPr lang="en-US" smtClean="0"/>
              <a:pPr>
                <a:defRPr/>
              </a:pPr>
              <a:t>11</a:t>
            </a:fld>
            <a:endParaRPr lang="en-US" dirty="0"/>
          </a:p>
        </p:txBody>
      </p:sp>
    </p:spTree>
    <p:extLst>
      <p:ext uri="{BB962C8B-B14F-4D97-AF65-F5344CB8AC3E}">
        <p14:creationId xmlns:p14="http://schemas.microsoft.com/office/powerpoint/2010/main" val="632676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8/23/2024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8/23/2024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8/23/2024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8/23/2024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8/23/2024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8/23/2024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8/23/2024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r>
              <a:rPr lang="en-US" b="1" dirty="0">
                <a:solidFill>
                  <a:schemeClr val="tx1"/>
                </a:solidFill>
              </a:rPr>
              <a:t>SE-3002</a:t>
            </a: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675889"/>
            <a:ext cx="10058400" cy="1922731"/>
          </a:xfrm>
        </p:spPr>
        <p:txBody>
          <a:bodyPr>
            <a:normAutofit/>
          </a:bodyPr>
          <a:lstStyle/>
          <a:p>
            <a:pPr algn="ctr"/>
            <a:r>
              <a:rPr lang="en-US" sz="4400" b="1" dirty="0">
                <a:solidFill>
                  <a:schemeClr val="tx1"/>
                </a:solidFill>
                <a:cs typeface="Times New Roman" panose="02020603050405020304" pitchFamily="18" charset="0"/>
              </a:rPr>
              <a:t>Lecture 2-Chapter 1</a:t>
            </a:r>
          </a:p>
          <a:p>
            <a:pPr algn="ctr"/>
            <a:r>
              <a:rPr lang="en-US" sz="4400" dirty="0">
                <a:solidFill>
                  <a:schemeClr val="tx1"/>
                </a:solidFill>
                <a:cs typeface="Times New Roman" panose="02020603050405020304" pitchFamily="18" charset="0"/>
              </a:rPr>
              <a:t>Overview and Basics</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8005526" y="527552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3" name="Picture 2">
            <a:extLst>
              <a:ext uri="{FF2B5EF4-FFF2-40B4-BE49-F238E27FC236}">
                <a16:creationId xmlns:a16="http://schemas.microsoft.com/office/drawing/2014/main" id="{A40ECEE0-AA45-EE57-2333-079441DC04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102101" y="1520982"/>
            <a:ext cx="7987797" cy="4584827"/>
          </a:xfrm>
          <a:prstGeom prst="rect">
            <a:avLst/>
          </a:prstGeom>
          <a:noFill/>
        </p:spPr>
      </p:pic>
      <p:sp>
        <p:nvSpPr>
          <p:cNvPr id="3" name="TextBox 2">
            <a:extLst>
              <a:ext uri="{FF2B5EF4-FFF2-40B4-BE49-F238E27FC236}">
                <a16:creationId xmlns:a16="http://schemas.microsoft.com/office/drawing/2014/main" id="{A21F7749-9710-8831-15EA-8BF809C87BAC}"/>
              </a:ext>
            </a:extLst>
          </p:cNvPr>
          <p:cNvSpPr txBox="1"/>
          <p:nvPr/>
        </p:nvSpPr>
        <p:spPr>
          <a:xfrm>
            <a:off x="1179026" y="648252"/>
            <a:ext cx="8811284" cy="769441"/>
          </a:xfrm>
          <a:prstGeom prst="rect">
            <a:avLst/>
          </a:prstGeom>
          <a:noFill/>
        </p:spPr>
        <p:txBody>
          <a:bodyPr wrap="square">
            <a:spAutoFit/>
          </a:bodyPr>
          <a:lstStyle/>
          <a:p>
            <a:r>
              <a:rPr lang="en-US" altLang="en-US" sz="4400" dirty="0"/>
              <a:t>Different views of Quality</a:t>
            </a:r>
            <a:endParaRPr lang="en-US" sz="4400" dirty="0"/>
          </a:p>
        </p:txBody>
      </p:sp>
    </p:spTree>
    <p:extLst>
      <p:ext uri="{BB962C8B-B14F-4D97-AF65-F5344CB8AC3E}">
        <p14:creationId xmlns:p14="http://schemas.microsoft.com/office/powerpoint/2010/main" val="3701541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10660-EC32-6D05-CC39-53D6D98AD889}"/>
              </a:ext>
            </a:extLst>
          </p:cNvPr>
          <p:cNvSpPr>
            <a:spLocks noGrp="1"/>
          </p:cNvSpPr>
          <p:nvPr>
            <p:ph type="title"/>
          </p:nvPr>
        </p:nvSpPr>
        <p:spPr>
          <a:xfrm>
            <a:off x="742385" y="322817"/>
            <a:ext cx="10058400" cy="1450757"/>
          </a:xfrm>
        </p:spPr>
        <p:txBody>
          <a:bodyPr/>
          <a:lstStyle/>
          <a:p>
            <a:r>
              <a:rPr lang="en-US" dirty="0">
                <a:solidFill>
                  <a:schemeClr val="tx1"/>
                </a:solidFill>
              </a:rPr>
              <a:t>Quality Control vs Quality Assurance</a:t>
            </a:r>
          </a:p>
        </p:txBody>
      </p:sp>
      <p:sp>
        <p:nvSpPr>
          <p:cNvPr id="3" name="Content Placeholder 2">
            <a:extLst>
              <a:ext uri="{FF2B5EF4-FFF2-40B4-BE49-F238E27FC236}">
                <a16:creationId xmlns:a16="http://schemas.microsoft.com/office/drawing/2014/main" id="{31F04139-5D78-EC55-4D00-273B214290E3}"/>
              </a:ext>
            </a:extLst>
          </p:cNvPr>
          <p:cNvSpPr>
            <a:spLocks noGrp="1"/>
          </p:cNvSpPr>
          <p:nvPr>
            <p:ph idx="1"/>
          </p:nvPr>
        </p:nvSpPr>
        <p:spPr>
          <a:xfrm>
            <a:off x="742385" y="1946023"/>
            <a:ext cx="4934138" cy="4023360"/>
          </a:xfrm>
        </p:spPr>
        <p:txBody>
          <a:bodyPr>
            <a:normAutofit/>
          </a:bodyPr>
          <a:lstStyle/>
          <a:p>
            <a:pPr algn="just"/>
            <a:r>
              <a:rPr lang="en-US" b="1" dirty="0">
                <a:solidFill>
                  <a:schemeClr val="tx1"/>
                </a:solidFill>
              </a:rPr>
              <a:t>Quality Control (QC)</a:t>
            </a:r>
          </a:p>
          <a:p>
            <a:pPr algn="just">
              <a:buFont typeface="Arial" panose="020B0604020202020204" pitchFamily="34" charset="0"/>
              <a:buChar char="•"/>
            </a:pPr>
            <a:r>
              <a:rPr lang="en-US" dirty="0">
                <a:solidFill>
                  <a:schemeClr val="tx1"/>
                </a:solidFill>
              </a:rPr>
              <a:t>   Set of activities for ensuring quality in products. </a:t>
            </a:r>
          </a:p>
          <a:p>
            <a:pPr algn="just">
              <a:buFont typeface="Arial" panose="020B0604020202020204" pitchFamily="34" charset="0"/>
              <a:buChar char="•"/>
            </a:pPr>
            <a:r>
              <a:rPr lang="en-US" dirty="0">
                <a:solidFill>
                  <a:schemeClr val="tx1"/>
                </a:solidFill>
              </a:rPr>
              <a:t>   The activities focus on </a:t>
            </a:r>
            <a:r>
              <a:rPr lang="en-US" u="sng" dirty="0">
                <a:solidFill>
                  <a:schemeClr val="accent2"/>
                </a:solidFill>
              </a:rPr>
              <a:t>identifying defects </a:t>
            </a:r>
            <a:r>
              <a:rPr lang="en-US" dirty="0">
                <a:solidFill>
                  <a:schemeClr val="tx1"/>
                </a:solidFill>
              </a:rPr>
              <a:t>in the actual products produced.</a:t>
            </a:r>
          </a:p>
          <a:p>
            <a:pPr algn="just">
              <a:buFont typeface="Arial" panose="020B0604020202020204" pitchFamily="34" charset="0"/>
              <a:buChar char="•"/>
            </a:pPr>
            <a:r>
              <a:rPr lang="en-US" dirty="0">
                <a:solidFill>
                  <a:schemeClr val="tx1"/>
                </a:solidFill>
              </a:rPr>
              <a:t>   Reactive process.</a:t>
            </a:r>
          </a:p>
          <a:p>
            <a:pPr algn="just">
              <a:buFont typeface="Arial" panose="020B0604020202020204" pitchFamily="34" charset="0"/>
              <a:buChar char="•"/>
            </a:pPr>
            <a:r>
              <a:rPr lang="en-US" dirty="0">
                <a:solidFill>
                  <a:schemeClr val="tx1"/>
                </a:solidFill>
              </a:rPr>
              <a:t>   Identify defects </a:t>
            </a:r>
            <a:r>
              <a:rPr lang="en-US" u="sng" dirty="0">
                <a:solidFill>
                  <a:schemeClr val="accent2"/>
                </a:solidFill>
              </a:rPr>
              <a:t>after a product is developed and before it's released</a:t>
            </a:r>
          </a:p>
          <a:p>
            <a:pPr algn="just">
              <a:buFont typeface="Arial" panose="020B0604020202020204" pitchFamily="34" charset="0"/>
              <a:buChar char="•"/>
            </a:pPr>
            <a:r>
              <a:rPr lang="en-US" dirty="0">
                <a:solidFill>
                  <a:schemeClr val="tx1"/>
                </a:solidFill>
              </a:rPr>
              <a:t>  Example Inspection, review, testing.</a:t>
            </a:r>
            <a:endParaRPr lang="en-US" u="sng" dirty="0">
              <a:solidFill>
                <a:schemeClr val="accent2"/>
              </a:solidFill>
            </a:endParaRPr>
          </a:p>
          <a:p>
            <a:pPr marL="201168" lvl="1" indent="0" algn="just">
              <a:buNone/>
            </a:pPr>
            <a:endParaRPr lang="en-US" sz="2000" dirty="0"/>
          </a:p>
        </p:txBody>
      </p:sp>
      <p:sp>
        <p:nvSpPr>
          <p:cNvPr id="6" name="Content Placeholder 2">
            <a:extLst>
              <a:ext uri="{FF2B5EF4-FFF2-40B4-BE49-F238E27FC236}">
                <a16:creationId xmlns:a16="http://schemas.microsoft.com/office/drawing/2014/main" id="{EEED7534-C425-C2E5-7C80-EAA3EB8DEDDF}"/>
              </a:ext>
            </a:extLst>
          </p:cNvPr>
          <p:cNvSpPr txBox="1">
            <a:spLocks/>
          </p:cNvSpPr>
          <p:nvPr/>
        </p:nvSpPr>
        <p:spPr>
          <a:xfrm>
            <a:off x="6183518" y="1946023"/>
            <a:ext cx="5567879" cy="402336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gn="just">
              <a:buNone/>
            </a:pPr>
            <a:r>
              <a:rPr lang="en-US" sz="2000" b="1" dirty="0">
                <a:solidFill>
                  <a:schemeClr val="tx1"/>
                </a:solidFill>
              </a:rPr>
              <a:t>Quality Assurance </a:t>
            </a:r>
            <a:endParaRPr lang="en-US" sz="2000" dirty="0">
              <a:solidFill>
                <a:schemeClr val="tx1"/>
              </a:solidFill>
            </a:endParaRPr>
          </a:p>
          <a:p>
            <a:pPr marL="342900" indent="-342900" algn="just">
              <a:buFont typeface="Arial" panose="020B0604020202020204" pitchFamily="34" charset="0"/>
              <a:buChar char="•"/>
            </a:pPr>
            <a:r>
              <a:rPr lang="en-US" sz="2000" dirty="0">
                <a:solidFill>
                  <a:schemeClr val="tx1"/>
                </a:solidFill>
              </a:rPr>
              <a:t>Set of activities for ensuring quality </a:t>
            </a:r>
            <a:r>
              <a:rPr lang="en-US" sz="2000" u="sng" dirty="0">
                <a:solidFill>
                  <a:schemeClr val="tx1"/>
                </a:solidFill>
              </a:rPr>
              <a:t>in the processes</a:t>
            </a:r>
            <a:r>
              <a:rPr lang="en-US" sz="2000" dirty="0">
                <a:solidFill>
                  <a:schemeClr val="tx1"/>
                </a:solidFill>
              </a:rPr>
              <a:t> by which products are developed.</a:t>
            </a:r>
          </a:p>
          <a:p>
            <a:pPr marL="342900" indent="-342900" algn="just">
              <a:buFont typeface="Arial" panose="020B0604020202020204" pitchFamily="34" charset="0"/>
              <a:buChar char="•"/>
            </a:pPr>
            <a:r>
              <a:rPr lang="en-US" sz="2000" dirty="0">
                <a:solidFill>
                  <a:schemeClr val="tx1"/>
                </a:solidFill>
              </a:rPr>
              <a:t>QA aims to prevent defects with a focus on the </a:t>
            </a:r>
            <a:r>
              <a:rPr lang="en-US" sz="2000" u="sng" dirty="0">
                <a:solidFill>
                  <a:schemeClr val="tx1"/>
                </a:solidFill>
              </a:rPr>
              <a:t>process</a:t>
            </a:r>
            <a:r>
              <a:rPr lang="en-US" sz="2000" dirty="0">
                <a:solidFill>
                  <a:schemeClr val="tx1"/>
                </a:solidFill>
              </a:rPr>
              <a:t> used to make the product. It is a proactive quality process.</a:t>
            </a:r>
          </a:p>
          <a:p>
            <a:pPr marL="342900" indent="-342900" algn="just">
              <a:buFont typeface="Arial" panose="020B0604020202020204" pitchFamily="34" charset="0"/>
              <a:buChar char="•"/>
            </a:pPr>
            <a:r>
              <a:rPr lang="en-US" sz="2000" dirty="0">
                <a:solidFill>
                  <a:schemeClr val="tx1"/>
                </a:solidFill>
              </a:rPr>
              <a:t>The goal of QA is to improve development and test processes so that defects do not arise when the product is being developed.</a:t>
            </a:r>
          </a:p>
          <a:p>
            <a:pPr marL="342900" indent="-342900" algn="just">
              <a:buFont typeface="Arial" panose="020B0604020202020204" pitchFamily="34" charset="0"/>
              <a:buChar char="•"/>
            </a:pPr>
            <a:r>
              <a:rPr lang="en-US" altLang="en-US" sz="2000" dirty="0">
                <a:solidFill>
                  <a:schemeClr val="tx1"/>
                </a:solidFill>
              </a:rPr>
              <a:t>Auditing, reporting, data analysis.</a:t>
            </a:r>
          </a:p>
        </p:txBody>
      </p:sp>
    </p:spTree>
    <p:extLst>
      <p:ext uri="{BB962C8B-B14F-4D97-AF65-F5344CB8AC3E}">
        <p14:creationId xmlns:p14="http://schemas.microsoft.com/office/powerpoint/2010/main" val="3738409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D835BAFF-CBDE-30AA-1751-0A3DEE888BE2}"/>
              </a:ext>
            </a:extLst>
          </p:cNvPr>
          <p:cNvSpPr>
            <a:spLocks noGrp="1"/>
          </p:cNvSpPr>
          <p:nvPr>
            <p:ph type="title"/>
          </p:nvPr>
        </p:nvSpPr>
        <p:spPr>
          <a:xfrm>
            <a:off x="1068308" y="708433"/>
            <a:ext cx="8153400" cy="990600"/>
          </a:xfrm>
        </p:spPr>
        <p:txBody>
          <a:bodyPr/>
          <a:lstStyle/>
          <a:p>
            <a:r>
              <a:rPr lang="en-US" altLang="en-US" sz="4000" dirty="0"/>
              <a:t>What is the difference b/w QA &amp; QC?</a:t>
            </a:r>
          </a:p>
        </p:txBody>
      </p:sp>
      <p:sp>
        <p:nvSpPr>
          <p:cNvPr id="3" name="Content Placeholder 2">
            <a:extLst>
              <a:ext uri="{FF2B5EF4-FFF2-40B4-BE49-F238E27FC236}">
                <a16:creationId xmlns:a16="http://schemas.microsoft.com/office/drawing/2014/main" id="{016EA7B3-4C6C-BF4C-5ED5-30CB677A07C5}"/>
              </a:ext>
            </a:extLst>
          </p:cNvPr>
          <p:cNvSpPr>
            <a:spLocks noGrp="1"/>
          </p:cNvSpPr>
          <p:nvPr>
            <p:ph sz="quarter" idx="1"/>
          </p:nvPr>
        </p:nvSpPr>
        <p:spPr>
          <a:xfrm>
            <a:off x="1068308" y="1871803"/>
            <a:ext cx="10311897" cy="4495800"/>
          </a:xfrm>
        </p:spPr>
        <p:txBody>
          <a:bodyPr/>
          <a:lstStyle/>
          <a:p>
            <a:pPr marL="0" indent="0" algn="just">
              <a:buNone/>
            </a:pPr>
            <a:r>
              <a:rPr lang="en-US" altLang="en-US" sz="4000" i="1" dirty="0">
                <a:solidFill>
                  <a:schemeClr val="accent2"/>
                </a:solidFill>
                <a:latin typeface="Chiller" panose="04020404031007020602" pitchFamily="82" charset="0"/>
              </a:rPr>
              <a:t>I was shocked today when I heard my neighbor telling his son the difference between Email and Gmail. He said Email is when you use Electricity to send mail while Gmail is when you use Generator to send mail. I'm still struggling to catch my breath!!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33D742DB-2F0B-13B2-082C-7E1B09B14E01}"/>
              </a:ext>
            </a:extLst>
          </p:cNvPr>
          <p:cNvSpPr>
            <a:spLocks noGrp="1"/>
          </p:cNvSpPr>
          <p:nvPr>
            <p:ph type="title"/>
          </p:nvPr>
        </p:nvSpPr>
        <p:spPr>
          <a:xfrm>
            <a:off x="777089" y="719751"/>
            <a:ext cx="8153400" cy="990600"/>
          </a:xfrm>
        </p:spPr>
        <p:txBody>
          <a:bodyPr/>
          <a:lstStyle/>
          <a:p>
            <a:r>
              <a:rPr lang="en-US" altLang="en-US" dirty="0">
                <a:solidFill>
                  <a:schemeClr val="tx1"/>
                </a:solidFill>
              </a:rPr>
              <a:t>Benefits of Quality Software</a:t>
            </a:r>
          </a:p>
        </p:txBody>
      </p:sp>
      <p:sp>
        <p:nvSpPr>
          <p:cNvPr id="3" name="Content Placeholder 2">
            <a:extLst>
              <a:ext uri="{FF2B5EF4-FFF2-40B4-BE49-F238E27FC236}">
                <a16:creationId xmlns:a16="http://schemas.microsoft.com/office/drawing/2014/main" id="{B6B1FAB5-153D-17D3-0654-F3E3F21210A5}"/>
              </a:ext>
            </a:extLst>
          </p:cNvPr>
          <p:cNvSpPr>
            <a:spLocks noGrp="1"/>
          </p:cNvSpPr>
          <p:nvPr>
            <p:ph sz="quarter" idx="1"/>
          </p:nvPr>
        </p:nvSpPr>
        <p:spPr>
          <a:xfrm>
            <a:off x="777089" y="1810693"/>
            <a:ext cx="10637821" cy="4327556"/>
          </a:xfrm>
        </p:spPr>
        <p:txBody>
          <a:bodyPr/>
          <a:lstStyle/>
          <a:p>
            <a:pPr>
              <a:defRPr/>
            </a:pPr>
            <a:r>
              <a:rPr lang="en-US" sz="2400" dirty="0">
                <a:solidFill>
                  <a:schemeClr val="accent2"/>
                </a:solidFill>
              </a:rPr>
              <a:t>From Customer’s perspective</a:t>
            </a:r>
          </a:p>
          <a:p>
            <a:pPr lvl="1">
              <a:buFont typeface="Arial" panose="020B0604020202020204" pitchFamily="34" charset="0"/>
              <a:buChar char="•"/>
              <a:defRPr/>
            </a:pPr>
            <a:r>
              <a:rPr lang="en-US" sz="2400" dirty="0">
                <a:solidFill>
                  <a:schemeClr val="tx1"/>
                </a:solidFill>
              </a:rPr>
              <a:t>Customer satisfaction</a:t>
            </a:r>
          </a:p>
          <a:p>
            <a:pPr lvl="1">
              <a:buFont typeface="Arial" panose="020B0604020202020204" pitchFamily="34" charset="0"/>
              <a:buChar char="•"/>
              <a:defRPr/>
            </a:pPr>
            <a:r>
              <a:rPr lang="en-US" sz="2400" dirty="0">
                <a:solidFill>
                  <a:schemeClr val="tx1"/>
                </a:solidFill>
              </a:rPr>
              <a:t>Improved software reliability</a:t>
            </a:r>
          </a:p>
          <a:p>
            <a:pPr lvl="1">
              <a:buFont typeface="Arial" panose="020B0604020202020204" pitchFamily="34" charset="0"/>
              <a:buChar char="•"/>
              <a:defRPr/>
            </a:pPr>
            <a:r>
              <a:rPr lang="en-US" sz="2400" dirty="0">
                <a:solidFill>
                  <a:schemeClr val="tx1"/>
                </a:solidFill>
              </a:rPr>
              <a:t>Reduced errors during software operation</a:t>
            </a:r>
          </a:p>
          <a:p>
            <a:pPr lvl="1">
              <a:buFont typeface="Arial" panose="020B0604020202020204" pitchFamily="34" charset="0"/>
              <a:buChar char="•"/>
              <a:defRPr/>
            </a:pPr>
            <a:r>
              <a:rPr lang="en-US" sz="2400" dirty="0">
                <a:solidFill>
                  <a:schemeClr val="tx1"/>
                </a:solidFill>
              </a:rPr>
              <a:t>Matching the customer’s requirement</a:t>
            </a:r>
          </a:p>
          <a:p>
            <a:pPr marL="0" lvl="1" indent="0">
              <a:spcBef>
                <a:spcPts val="700"/>
              </a:spcBef>
              <a:buClr>
                <a:schemeClr val="accent2"/>
              </a:buClr>
              <a:buSzPct val="60000"/>
              <a:buNone/>
              <a:defRPr/>
            </a:pPr>
            <a:r>
              <a:rPr lang="en-US" sz="2400" dirty="0">
                <a:solidFill>
                  <a:schemeClr val="accent2"/>
                </a:solidFill>
              </a:rPr>
              <a:t>From Organization’s perspective</a:t>
            </a:r>
          </a:p>
          <a:p>
            <a:pPr lvl="1">
              <a:buFont typeface="Arial" panose="020B0604020202020204" pitchFamily="34" charset="0"/>
              <a:buChar char="•"/>
              <a:defRPr/>
            </a:pPr>
            <a:r>
              <a:rPr lang="en-US" sz="2400" dirty="0">
                <a:solidFill>
                  <a:schemeClr val="tx1"/>
                </a:solidFill>
              </a:rPr>
              <a:t>Customer’s requirements are met</a:t>
            </a:r>
          </a:p>
          <a:p>
            <a:pPr lvl="1">
              <a:buFont typeface="Arial" panose="020B0604020202020204" pitchFamily="34" charset="0"/>
              <a:buChar char="•"/>
              <a:defRPr/>
            </a:pPr>
            <a:r>
              <a:rPr lang="en-US" sz="2400" dirty="0">
                <a:solidFill>
                  <a:schemeClr val="tx1"/>
                </a:solidFill>
              </a:rPr>
              <a:t>Stability of requirements</a:t>
            </a:r>
          </a:p>
          <a:p>
            <a:pPr lvl="1">
              <a:buFont typeface="Arial" panose="020B0604020202020204" pitchFamily="34" charset="0"/>
              <a:buChar char="•"/>
              <a:defRPr/>
            </a:pPr>
            <a:r>
              <a:rPr lang="en-US" sz="2400" dirty="0">
                <a:solidFill>
                  <a:schemeClr val="tx1"/>
                </a:solidFill>
              </a:rPr>
              <a:t>Processes are applied in consistent manner</a:t>
            </a:r>
          </a:p>
          <a:p>
            <a:pPr lvl="1">
              <a:buFont typeface="Arial" panose="020B0604020202020204" pitchFamily="34" charset="0"/>
              <a:buChar char="•"/>
              <a:defRPr/>
            </a:pPr>
            <a:r>
              <a:rPr lang="en-US" sz="2400" dirty="0">
                <a:solidFill>
                  <a:schemeClr val="tx1"/>
                </a:solidFill>
              </a:rPr>
              <a:t>Process is improved over time</a:t>
            </a:r>
          </a:p>
          <a:p>
            <a:pPr lvl="1">
              <a:buFont typeface="Wingdings 2" panose="05020102010507070707" pitchFamily="18" charset="2"/>
              <a:buNone/>
              <a:defRPr/>
            </a:pPr>
            <a:endParaRPr lang="en-US" sz="21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6D28D-794C-EDA2-6FBF-E2A8A12D36B2}"/>
              </a:ext>
            </a:extLst>
          </p:cNvPr>
          <p:cNvSpPr>
            <a:spLocks noGrp="1"/>
          </p:cNvSpPr>
          <p:nvPr>
            <p:ph type="title"/>
          </p:nvPr>
        </p:nvSpPr>
        <p:spPr/>
        <p:txBody>
          <a:bodyPr/>
          <a:lstStyle/>
          <a:p>
            <a:r>
              <a:rPr lang="en-US" sz="4800" dirty="0">
                <a:solidFill>
                  <a:schemeClr val="tx1"/>
                </a:solidFill>
              </a:rPr>
              <a:t>Testing, Quality Assurance, and Software Quality Engineering</a:t>
            </a:r>
            <a:endParaRPr lang="en-US" dirty="0">
              <a:solidFill>
                <a:schemeClr val="tx1"/>
              </a:solidFill>
            </a:endParaRPr>
          </a:p>
        </p:txBody>
      </p:sp>
      <p:sp>
        <p:nvSpPr>
          <p:cNvPr id="3" name="Content Placeholder 2">
            <a:extLst>
              <a:ext uri="{FF2B5EF4-FFF2-40B4-BE49-F238E27FC236}">
                <a16:creationId xmlns:a16="http://schemas.microsoft.com/office/drawing/2014/main" id="{AEDB68B1-AE72-BBDB-6E90-3C1A5E06844F}"/>
              </a:ext>
            </a:extLst>
          </p:cNvPr>
          <p:cNvSpPr>
            <a:spLocks noGrp="1"/>
          </p:cNvSpPr>
          <p:nvPr>
            <p:ph idx="1"/>
          </p:nvPr>
        </p:nvSpPr>
        <p:spPr>
          <a:xfrm>
            <a:off x="724278" y="1836680"/>
            <a:ext cx="7260878" cy="4355890"/>
          </a:xfrm>
        </p:spPr>
        <p:txBody>
          <a:bodyPr>
            <a:normAutofit fontScale="92500"/>
          </a:bodyPr>
          <a:lstStyle/>
          <a:p>
            <a:pPr algn="just"/>
            <a:r>
              <a:rPr lang="en-US" sz="2400" dirty="0">
                <a:solidFill>
                  <a:schemeClr val="tx1"/>
                </a:solidFill>
              </a:rPr>
              <a:t>By running the software system or executing its prescribed functions, </a:t>
            </a:r>
            <a:r>
              <a:rPr lang="en-US" sz="2400" dirty="0">
                <a:solidFill>
                  <a:schemeClr val="accent2"/>
                </a:solidFill>
              </a:rPr>
              <a:t>testers</a:t>
            </a:r>
            <a:r>
              <a:rPr lang="en-US" sz="2400" dirty="0">
                <a:solidFill>
                  <a:schemeClr val="tx1"/>
                </a:solidFill>
              </a:rPr>
              <a:t> can determine if the observed system behavior conforms to its specifications or requirements</a:t>
            </a:r>
          </a:p>
          <a:p>
            <a:pPr algn="just"/>
            <a:r>
              <a:rPr lang="en-US" sz="2400" dirty="0">
                <a:solidFill>
                  <a:schemeClr val="tx1"/>
                </a:solidFill>
              </a:rPr>
              <a:t>Beyond testing, there are many other </a:t>
            </a:r>
            <a:r>
              <a:rPr lang="en-US" sz="2400" dirty="0">
                <a:solidFill>
                  <a:schemeClr val="accent2"/>
                </a:solidFill>
              </a:rPr>
              <a:t>QA</a:t>
            </a:r>
            <a:r>
              <a:rPr lang="en-US" sz="2400" dirty="0">
                <a:solidFill>
                  <a:schemeClr val="tx1"/>
                </a:solidFill>
              </a:rPr>
              <a:t> alternatives supported by related techniques and activities, such as inspection, formal verification, defect prevention, and fault tolerance</a:t>
            </a:r>
          </a:p>
          <a:p>
            <a:pPr algn="just"/>
            <a:r>
              <a:rPr lang="en-US" sz="2400" dirty="0">
                <a:solidFill>
                  <a:schemeClr val="tx1"/>
                </a:solidFill>
              </a:rPr>
              <a:t>In addition, all these QA activities need to be managed in an engineering process we call the </a:t>
            </a:r>
            <a:r>
              <a:rPr lang="en-US" sz="2400" dirty="0">
                <a:solidFill>
                  <a:schemeClr val="accent2"/>
                </a:solidFill>
              </a:rPr>
              <a:t>software quality engineering </a:t>
            </a:r>
            <a:r>
              <a:rPr lang="en-US" sz="2400" dirty="0">
                <a:solidFill>
                  <a:schemeClr val="tx1"/>
                </a:solidFill>
              </a:rPr>
              <a:t>process, with quality goals set early in the product development, and strategies for QA selected, carried out, and monitored to achieve these preset quality goals</a:t>
            </a:r>
          </a:p>
          <a:p>
            <a:endParaRPr lang="en-US" dirty="0"/>
          </a:p>
        </p:txBody>
      </p:sp>
      <p:pic>
        <p:nvPicPr>
          <p:cNvPr id="4" name="Content Placeholder 3">
            <a:extLst>
              <a:ext uri="{FF2B5EF4-FFF2-40B4-BE49-F238E27FC236}">
                <a16:creationId xmlns:a16="http://schemas.microsoft.com/office/drawing/2014/main" id="{627C02C5-4823-977E-5E15-AB3EB6E61341}"/>
              </a:ext>
            </a:extLst>
          </p:cNvPr>
          <p:cNvPicPr>
            <a:picLocks noChangeAspect="1"/>
          </p:cNvPicPr>
          <p:nvPr/>
        </p:nvPicPr>
        <p:blipFill rotWithShape="1">
          <a:blip r:embed="rId2"/>
          <a:srcRect l="4785" t="6943" b="4096"/>
          <a:stretch/>
        </p:blipFill>
        <p:spPr>
          <a:xfrm>
            <a:off x="8398625" y="2283985"/>
            <a:ext cx="2757055" cy="2085975"/>
          </a:xfrm>
          <a:prstGeom prst="rect">
            <a:avLst/>
          </a:prstGeom>
        </p:spPr>
      </p:pic>
    </p:spTree>
    <p:extLst>
      <p:ext uri="{BB962C8B-B14F-4D97-AF65-F5344CB8AC3E}">
        <p14:creationId xmlns:p14="http://schemas.microsoft.com/office/powerpoint/2010/main" val="1476322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
          <a:srcRect l="-259" t="568" r="7254" b="10071"/>
          <a:stretch/>
        </p:blipFill>
        <p:spPr>
          <a:xfrm>
            <a:off x="2292854" y="989006"/>
            <a:ext cx="7333242" cy="5296277"/>
          </a:xfrm>
          <a:prstGeom prst="rect">
            <a:avLst/>
          </a:prstGeom>
        </p:spPr>
      </p:pic>
      <p:sp>
        <p:nvSpPr>
          <p:cNvPr id="5" name="TextBox 4">
            <a:extLst>
              <a:ext uri="{FF2B5EF4-FFF2-40B4-BE49-F238E27FC236}">
                <a16:creationId xmlns:a16="http://schemas.microsoft.com/office/drawing/2014/main" id="{F84A2D7E-C8D6-1CA8-B96B-3FE48A69D41A}"/>
              </a:ext>
            </a:extLst>
          </p:cNvPr>
          <p:cNvSpPr txBox="1"/>
          <p:nvPr/>
        </p:nvSpPr>
        <p:spPr>
          <a:xfrm>
            <a:off x="1629625" y="87930"/>
            <a:ext cx="10746462" cy="830997"/>
          </a:xfrm>
          <a:prstGeom prst="rect">
            <a:avLst/>
          </a:prstGeom>
          <a:noFill/>
        </p:spPr>
        <p:txBody>
          <a:bodyPr wrap="square">
            <a:spAutoFit/>
          </a:bodyPr>
          <a:lstStyle/>
          <a:p>
            <a:r>
              <a:rPr lang="en-US" sz="4800" dirty="0"/>
              <a:t>Quality Frameworks and ISO-9126</a:t>
            </a:r>
          </a:p>
        </p:txBody>
      </p:sp>
    </p:spTree>
    <p:extLst>
      <p:ext uri="{BB962C8B-B14F-4D97-AF65-F5344CB8AC3E}">
        <p14:creationId xmlns:p14="http://schemas.microsoft.com/office/powerpoint/2010/main" val="2272093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822739"/>
            <a:ext cx="10058400" cy="978901"/>
          </a:xfrm>
        </p:spPr>
        <p:txBody>
          <a:bodyPr/>
          <a:lstStyle/>
          <a:p>
            <a:r>
              <a:rPr lang="en-US" dirty="0">
                <a:solidFill>
                  <a:schemeClr val="tx1"/>
                </a:solidFill>
              </a:rPr>
              <a:t>Quality Frameworks and ISO-9126</a:t>
            </a:r>
          </a:p>
        </p:txBody>
      </p:sp>
      <p:sp>
        <p:nvSpPr>
          <p:cNvPr id="3" name="Content Placeholder 2"/>
          <p:cNvSpPr>
            <a:spLocks noGrp="1"/>
          </p:cNvSpPr>
          <p:nvPr>
            <p:ph idx="1"/>
          </p:nvPr>
        </p:nvSpPr>
        <p:spPr>
          <a:xfrm>
            <a:off x="581192" y="1964603"/>
            <a:ext cx="11159905" cy="4233621"/>
          </a:xfrm>
        </p:spPr>
        <p:txBody>
          <a:bodyPr>
            <a:noAutofit/>
          </a:bodyPr>
          <a:lstStyle/>
          <a:p>
            <a:r>
              <a:rPr lang="en-US" sz="2400" dirty="0">
                <a:solidFill>
                  <a:schemeClr val="tx1"/>
                </a:solidFill>
              </a:rPr>
              <a:t>ISO-9126—hierarchical framework for quality definition, organized into quality characteristics and sub-characteristics with </a:t>
            </a:r>
            <a:r>
              <a:rPr lang="en-US" sz="2400" u="sng" dirty="0">
                <a:solidFill>
                  <a:schemeClr val="tx1"/>
                </a:solidFill>
              </a:rPr>
              <a:t>six top-level </a:t>
            </a:r>
            <a:r>
              <a:rPr lang="en-US" sz="2400" dirty="0">
                <a:solidFill>
                  <a:schemeClr val="tx1"/>
                </a:solidFill>
              </a:rPr>
              <a:t>quality characteristics/dimensions:</a:t>
            </a:r>
          </a:p>
          <a:p>
            <a:pPr lvl="1"/>
            <a:r>
              <a:rPr lang="en-US" sz="2400" dirty="0">
                <a:solidFill>
                  <a:schemeClr val="tx1"/>
                </a:solidFill>
              </a:rPr>
              <a:t>Functionality: what is needed? (</a:t>
            </a:r>
            <a:r>
              <a:rPr lang="en-US" sz="1800" dirty="0">
                <a:solidFill>
                  <a:schemeClr val="tx1"/>
                </a:solidFill>
              </a:rPr>
              <a:t>Suitability, Accuracy, Interoperability, Security)</a:t>
            </a:r>
          </a:p>
          <a:p>
            <a:pPr lvl="1"/>
            <a:r>
              <a:rPr lang="en-US" sz="2400" dirty="0">
                <a:solidFill>
                  <a:schemeClr val="tx1"/>
                </a:solidFill>
              </a:rPr>
              <a:t>Reliability: function correctly (</a:t>
            </a:r>
            <a:r>
              <a:rPr lang="en-US" sz="1800" dirty="0">
                <a:solidFill>
                  <a:schemeClr val="tx1"/>
                </a:solidFill>
              </a:rPr>
              <a:t>Maturity, fault tolerance, recoverability) </a:t>
            </a:r>
          </a:p>
          <a:p>
            <a:pPr lvl="1"/>
            <a:r>
              <a:rPr lang="en-US" sz="2400" dirty="0">
                <a:solidFill>
                  <a:schemeClr val="tx1"/>
                </a:solidFill>
              </a:rPr>
              <a:t>Usability: effort to use (</a:t>
            </a:r>
            <a:r>
              <a:rPr lang="en-US" sz="1800" dirty="0">
                <a:solidFill>
                  <a:schemeClr val="tx1"/>
                </a:solidFill>
              </a:rPr>
              <a:t>Understandability, learnability, operability)</a:t>
            </a:r>
          </a:p>
          <a:p>
            <a:pPr lvl="1"/>
            <a:r>
              <a:rPr lang="en-US" sz="2400" dirty="0">
                <a:solidFill>
                  <a:schemeClr val="tx1"/>
                </a:solidFill>
              </a:rPr>
              <a:t>Efficiency: resource needed (</a:t>
            </a:r>
            <a:r>
              <a:rPr lang="en-US" sz="1800" dirty="0">
                <a:solidFill>
                  <a:schemeClr val="tx1"/>
                </a:solidFill>
              </a:rPr>
              <a:t>Time, resource)</a:t>
            </a:r>
          </a:p>
          <a:p>
            <a:pPr lvl="1"/>
            <a:r>
              <a:rPr lang="en-US" sz="2400" dirty="0">
                <a:solidFill>
                  <a:schemeClr val="tx1"/>
                </a:solidFill>
              </a:rPr>
              <a:t>Maintainability: correct/improve/adapt (</a:t>
            </a:r>
            <a:r>
              <a:rPr lang="en-US" sz="1800" dirty="0">
                <a:solidFill>
                  <a:schemeClr val="tx1"/>
                </a:solidFill>
              </a:rPr>
              <a:t>Analyzability, changeability, stability, testability)</a:t>
            </a:r>
          </a:p>
          <a:p>
            <a:pPr lvl="1"/>
            <a:r>
              <a:rPr lang="en-US" sz="2400" dirty="0">
                <a:solidFill>
                  <a:schemeClr val="tx1"/>
                </a:solidFill>
              </a:rPr>
              <a:t>Portability: one environment to another (</a:t>
            </a:r>
            <a:r>
              <a:rPr lang="en-US" sz="1800" dirty="0">
                <a:solidFill>
                  <a:schemeClr val="tx1"/>
                </a:solidFill>
              </a:rPr>
              <a:t>Adaptability, </a:t>
            </a:r>
            <a:r>
              <a:rPr lang="en-US" sz="1800" dirty="0" err="1">
                <a:solidFill>
                  <a:schemeClr val="tx1"/>
                </a:solidFill>
              </a:rPr>
              <a:t>installability</a:t>
            </a:r>
            <a:r>
              <a:rPr lang="en-US" sz="1800" dirty="0">
                <a:solidFill>
                  <a:schemeClr val="tx1"/>
                </a:solidFill>
              </a:rPr>
              <a:t>, conformance, replaceability)</a:t>
            </a:r>
          </a:p>
        </p:txBody>
      </p:sp>
    </p:spTree>
    <p:extLst>
      <p:ext uri="{BB962C8B-B14F-4D97-AF65-F5344CB8AC3E}">
        <p14:creationId xmlns:p14="http://schemas.microsoft.com/office/powerpoint/2010/main" val="2748404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123" y="974689"/>
            <a:ext cx="12027752" cy="655638"/>
          </a:xfrm>
        </p:spPr>
        <p:txBody>
          <a:bodyPr>
            <a:noAutofit/>
          </a:bodyPr>
          <a:lstStyle/>
          <a:p>
            <a:r>
              <a:rPr lang="en-US" dirty="0">
                <a:solidFill>
                  <a:schemeClr val="tx1"/>
                </a:solidFill>
              </a:rPr>
              <a:t>Alternative frameworks and focus on correctness</a:t>
            </a:r>
          </a:p>
        </p:txBody>
      </p:sp>
      <p:sp>
        <p:nvSpPr>
          <p:cNvPr id="3" name="Content Placeholder 2"/>
          <p:cNvSpPr>
            <a:spLocks noGrp="1"/>
          </p:cNvSpPr>
          <p:nvPr>
            <p:ph idx="1"/>
          </p:nvPr>
        </p:nvSpPr>
        <p:spPr>
          <a:xfrm>
            <a:off x="315721" y="1823109"/>
            <a:ext cx="11794154" cy="4684294"/>
          </a:xfrm>
        </p:spPr>
        <p:txBody>
          <a:bodyPr>
            <a:normAutofit/>
          </a:bodyPr>
          <a:lstStyle/>
          <a:p>
            <a:r>
              <a:rPr lang="en-US" sz="2400" dirty="0">
                <a:solidFill>
                  <a:schemeClr val="tx1"/>
                </a:solidFill>
              </a:rPr>
              <a:t>Quality measure for IBM,s software products</a:t>
            </a:r>
          </a:p>
          <a:p>
            <a:pPr lvl="1"/>
            <a:r>
              <a:rPr lang="en-US" sz="2000" dirty="0">
                <a:solidFill>
                  <a:schemeClr val="tx1"/>
                </a:solidFill>
              </a:rPr>
              <a:t>CUPRIMDS (capability, usability, performance, reliability, installation, maintenance, documentation, and service)</a:t>
            </a:r>
          </a:p>
          <a:p>
            <a:r>
              <a:rPr lang="en-US" sz="2400" dirty="0">
                <a:solidFill>
                  <a:schemeClr val="tx1"/>
                </a:solidFill>
              </a:rPr>
              <a:t>Quality attributes for </a:t>
            </a:r>
            <a:r>
              <a:rPr lang="en-US" sz="2400" u="sng" dirty="0">
                <a:solidFill>
                  <a:schemeClr val="tx1"/>
                </a:solidFill>
              </a:rPr>
              <a:t>Web-based</a:t>
            </a:r>
            <a:r>
              <a:rPr lang="en-US" sz="2400" dirty="0">
                <a:solidFill>
                  <a:schemeClr val="tx1"/>
                </a:solidFill>
              </a:rPr>
              <a:t> applications</a:t>
            </a:r>
          </a:p>
          <a:p>
            <a:pPr lvl="1"/>
            <a:r>
              <a:rPr lang="en-US" sz="2000" dirty="0">
                <a:solidFill>
                  <a:schemeClr val="tx1"/>
                </a:solidFill>
              </a:rPr>
              <a:t>reliability, usability, and security—primary attributes</a:t>
            </a:r>
          </a:p>
          <a:p>
            <a:pPr lvl="1"/>
            <a:r>
              <a:rPr lang="en-US" sz="2400" dirty="0">
                <a:solidFill>
                  <a:schemeClr val="tx1"/>
                </a:solidFill>
              </a:rPr>
              <a:t>availability, scalability, maintainability, and time to market—secondary attributes</a:t>
            </a:r>
          </a:p>
          <a:p>
            <a:pPr lvl="2"/>
            <a:r>
              <a:rPr lang="en-US" sz="2000" dirty="0">
                <a:solidFill>
                  <a:schemeClr val="tx1"/>
                </a:solidFill>
              </a:rPr>
              <a:t>performance (or efficiency) and reliability would take precedence over usability and maintainability for real-time software products. On the contrary, it might be the other way round for mass market products for end users.</a:t>
            </a:r>
          </a:p>
          <a:p>
            <a:r>
              <a:rPr lang="en-US" sz="2400" dirty="0">
                <a:solidFill>
                  <a:schemeClr val="tx1"/>
                </a:solidFill>
              </a:rPr>
              <a:t>Correctness is typically the most important aspect of quality for situations where daily life or business depends on the software</a:t>
            </a:r>
          </a:p>
        </p:txBody>
      </p:sp>
    </p:spTree>
    <p:extLst>
      <p:ext uri="{BB962C8B-B14F-4D97-AF65-F5344CB8AC3E}">
        <p14:creationId xmlns:p14="http://schemas.microsoft.com/office/powerpoint/2010/main" val="2912391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E94D0E63-F210-ECEF-2662-B7F2DA73783E}"/>
              </a:ext>
            </a:extLst>
          </p:cNvPr>
          <p:cNvSpPr>
            <a:spLocks noGrp="1"/>
          </p:cNvSpPr>
          <p:nvPr>
            <p:ph type="title"/>
          </p:nvPr>
        </p:nvSpPr>
        <p:spPr>
          <a:xfrm>
            <a:off x="914556" y="736348"/>
            <a:ext cx="8153400" cy="990600"/>
          </a:xfrm>
        </p:spPr>
        <p:txBody>
          <a:bodyPr/>
          <a:lstStyle/>
          <a:p>
            <a:r>
              <a:rPr lang="en-US" dirty="0">
                <a:solidFill>
                  <a:schemeClr val="tx1"/>
                </a:solidFill>
              </a:rPr>
              <a:t>Correctness And Defects</a:t>
            </a:r>
            <a:endParaRPr lang="en-US" altLang="en-US" dirty="0">
              <a:solidFill>
                <a:schemeClr val="tx1"/>
              </a:solidFill>
            </a:endParaRPr>
          </a:p>
        </p:txBody>
      </p:sp>
      <p:sp>
        <p:nvSpPr>
          <p:cNvPr id="19459" name="Content Placeholder 2">
            <a:extLst>
              <a:ext uri="{FF2B5EF4-FFF2-40B4-BE49-F238E27FC236}">
                <a16:creationId xmlns:a16="http://schemas.microsoft.com/office/drawing/2014/main" id="{8A86D5A4-A494-01CC-6598-7FEEF1324DA5}"/>
              </a:ext>
            </a:extLst>
          </p:cNvPr>
          <p:cNvSpPr>
            <a:spLocks noGrp="1"/>
          </p:cNvSpPr>
          <p:nvPr>
            <p:ph sz="quarter" idx="1"/>
          </p:nvPr>
        </p:nvSpPr>
        <p:spPr>
          <a:xfrm>
            <a:off x="914555" y="1865014"/>
            <a:ext cx="11008859" cy="4383386"/>
          </a:xfrm>
        </p:spPr>
        <p:txBody>
          <a:bodyPr/>
          <a:lstStyle/>
          <a:p>
            <a:pPr marL="274320" indent="-274320" algn="just">
              <a:spcAft>
                <a:spcPts val="0"/>
              </a:spcAft>
              <a:buClr>
                <a:schemeClr val="accent3"/>
              </a:buClr>
              <a:buNone/>
              <a:defRPr/>
            </a:pPr>
            <a:r>
              <a:rPr lang="en-US" sz="2400" dirty="0">
                <a:solidFill>
                  <a:schemeClr val="tx1"/>
                </a:solidFill>
              </a:rPr>
              <a:t>The IEEE Standard 610.12 (IEEE 1990) defines the following terms related to defects.</a:t>
            </a:r>
          </a:p>
          <a:p>
            <a:pPr marL="274320" indent="-274320" algn="just">
              <a:spcAft>
                <a:spcPts val="0"/>
              </a:spcAft>
              <a:buClr>
                <a:schemeClr val="accent3"/>
              </a:buClr>
              <a:buNone/>
              <a:defRPr/>
            </a:pPr>
            <a:endParaRPr lang="en-US" sz="1000" dirty="0">
              <a:solidFill>
                <a:schemeClr val="tx1"/>
              </a:solidFill>
            </a:endParaRPr>
          </a:p>
          <a:p>
            <a:pPr marL="0" indent="0" algn="just">
              <a:spcAft>
                <a:spcPts val="0"/>
              </a:spcAft>
              <a:buClr>
                <a:schemeClr val="accent3"/>
              </a:buClr>
              <a:buNone/>
              <a:defRPr/>
            </a:pPr>
            <a:r>
              <a:rPr lang="en-US" sz="2400" b="1" dirty="0">
                <a:solidFill>
                  <a:schemeClr val="accent2"/>
                </a:solidFill>
              </a:rPr>
              <a:t>Failure:</a:t>
            </a:r>
            <a:r>
              <a:rPr lang="en-US" sz="2400" dirty="0">
                <a:solidFill>
                  <a:schemeClr val="accent2"/>
                </a:solidFill>
              </a:rPr>
              <a:t> </a:t>
            </a:r>
            <a:r>
              <a:rPr lang="en-US" sz="2400" dirty="0">
                <a:solidFill>
                  <a:schemeClr val="tx1"/>
                </a:solidFill>
              </a:rPr>
              <a:t>The inability of a system or component to perform its required functions within specified performance requirements.</a:t>
            </a:r>
          </a:p>
          <a:p>
            <a:pPr marL="0" indent="0" algn="just">
              <a:spcAft>
                <a:spcPts val="0"/>
              </a:spcAft>
              <a:buClr>
                <a:schemeClr val="accent3"/>
              </a:buClr>
              <a:buNone/>
              <a:defRPr/>
            </a:pPr>
            <a:r>
              <a:rPr lang="en-US" sz="2400" b="1" dirty="0">
                <a:solidFill>
                  <a:schemeClr val="accent2"/>
                </a:solidFill>
              </a:rPr>
              <a:t>Fault: </a:t>
            </a:r>
            <a:r>
              <a:rPr lang="en-US" sz="2400" dirty="0">
                <a:solidFill>
                  <a:schemeClr val="tx1"/>
                </a:solidFill>
              </a:rPr>
              <a:t>An incorrect step, process or data definition in a computer program.</a:t>
            </a:r>
          </a:p>
          <a:p>
            <a:pPr marL="274320" indent="-274320" algn="just">
              <a:spcAft>
                <a:spcPts val="0"/>
              </a:spcAft>
              <a:buClr>
                <a:schemeClr val="accent3"/>
              </a:buClr>
              <a:buNone/>
              <a:defRPr/>
            </a:pPr>
            <a:r>
              <a:rPr lang="en-US" sz="2400" b="1" dirty="0">
                <a:solidFill>
                  <a:schemeClr val="accent2"/>
                </a:solidFill>
              </a:rPr>
              <a:t>Error: </a:t>
            </a:r>
            <a:r>
              <a:rPr lang="en-US" sz="2400" dirty="0">
                <a:solidFill>
                  <a:schemeClr val="tx1"/>
                </a:solidFill>
              </a:rPr>
              <a:t>A human action that produces an incorrect result.</a:t>
            </a:r>
          </a:p>
          <a:p>
            <a:pPr marL="0" indent="0">
              <a:buNone/>
            </a:pPr>
            <a:r>
              <a:rPr lang="en-US" sz="2400" b="1" dirty="0">
                <a:solidFill>
                  <a:schemeClr val="accent2"/>
                </a:solidFill>
              </a:rPr>
              <a:t>Defect (bug):</a:t>
            </a:r>
            <a:r>
              <a:rPr lang="en-US" sz="2400" dirty="0">
                <a:solidFill>
                  <a:schemeClr val="tx1"/>
                </a:solidFill>
              </a:rPr>
              <a:t>All the above three terms collectively</a:t>
            </a:r>
          </a:p>
          <a:p>
            <a:pPr marL="274320" indent="-274320" algn="just">
              <a:spcAft>
                <a:spcPts val="0"/>
              </a:spcAft>
              <a:buClr>
                <a:schemeClr val="accent3"/>
              </a:buClr>
              <a:buNone/>
              <a:defRPr/>
            </a:pPr>
            <a:endParaRPr lang="en-US" sz="2400" dirty="0">
              <a:solidFill>
                <a:schemeClr val="tx1"/>
              </a:solidFill>
            </a:endParaRPr>
          </a:p>
          <a:p>
            <a:pPr>
              <a:defRPr/>
            </a:pPr>
            <a:endParaRPr lang="en-US" dirty="0">
              <a:solidFill>
                <a:schemeClr val="tx1"/>
              </a:solidFill>
            </a:endParaRPr>
          </a:p>
        </p:txBody>
      </p:sp>
    </p:spTree>
    <p:extLst>
      <p:ext uri="{BB962C8B-B14F-4D97-AF65-F5344CB8AC3E}">
        <p14:creationId xmlns:p14="http://schemas.microsoft.com/office/powerpoint/2010/main" val="23812749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35D89-7348-4859-BC18-26EF0BFDF6B6}"/>
              </a:ext>
            </a:extLst>
          </p:cNvPr>
          <p:cNvSpPr>
            <a:spLocks noGrp="1"/>
          </p:cNvSpPr>
          <p:nvPr>
            <p:ph type="title"/>
          </p:nvPr>
        </p:nvSpPr>
        <p:spPr/>
        <p:txBody>
          <a:bodyPr/>
          <a:lstStyle/>
          <a:p>
            <a:r>
              <a:rPr lang="en-US" dirty="0">
                <a:solidFill>
                  <a:schemeClr val="tx1"/>
                </a:solidFill>
              </a:rPr>
              <a:t>Correctness and Defects</a:t>
            </a:r>
          </a:p>
        </p:txBody>
      </p:sp>
      <p:sp>
        <p:nvSpPr>
          <p:cNvPr id="3" name="Content Placeholder 2">
            <a:extLst>
              <a:ext uri="{FF2B5EF4-FFF2-40B4-BE49-F238E27FC236}">
                <a16:creationId xmlns:a16="http://schemas.microsoft.com/office/drawing/2014/main" id="{66E85B30-AB79-4FFC-A6F6-77A9CA8849EF}"/>
              </a:ext>
            </a:extLst>
          </p:cNvPr>
          <p:cNvSpPr>
            <a:spLocks noGrp="1"/>
          </p:cNvSpPr>
          <p:nvPr>
            <p:ph idx="1"/>
          </p:nvPr>
        </p:nvSpPr>
        <p:spPr/>
        <p:txBody>
          <a:bodyPr>
            <a:normAutofit/>
          </a:bodyPr>
          <a:lstStyle/>
          <a:p>
            <a:pPr algn="just"/>
            <a:r>
              <a:rPr lang="en-US" sz="2800" dirty="0">
                <a:solidFill>
                  <a:schemeClr val="tx1"/>
                </a:solidFill>
              </a:rPr>
              <a:t>We also extend errors to include </a:t>
            </a:r>
            <a:r>
              <a:rPr lang="en-US" sz="2800" u="sng" dirty="0">
                <a:solidFill>
                  <a:schemeClr val="tx1"/>
                </a:solidFill>
              </a:rPr>
              <a:t>error sources or the root causes </a:t>
            </a:r>
            <a:r>
              <a:rPr lang="en-US" sz="2800" dirty="0">
                <a:solidFill>
                  <a:schemeClr val="tx1"/>
                </a:solidFill>
              </a:rPr>
              <a:t>for the missing or incorrect actions, such as human misconceptions, misunderstandings, etc. </a:t>
            </a:r>
          </a:p>
          <a:p>
            <a:pPr algn="just"/>
            <a:r>
              <a:rPr lang="en-US" sz="2800" dirty="0">
                <a:solidFill>
                  <a:schemeClr val="tx1"/>
                </a:solidFill>
              </a:rPr>
              <a:t>Moreover, we use </a:t>
            </a:r>
            <a:r>
              <a:rPr lang="en-US" sz="2800" u="sng" dirty="0">
                <a:solidFill>
                  <a:schemeClr val="tx1"/>
                </a:solidFill>
              </a:rPr>
              <a:t>defect detection and removal </a:t>
            </a:r>
            <a:r>
              <a:rPr lang="en-US" sz="2800" dirty="0">
                <a:solidFill>
                  <a:schemeClr val="tx1"/>
                </a:solidFill>
              </a:rPr>
              <a:t>for the overall concept and activities related to what many people commonly call </a:t>
            </a:r>
            <a:r>
              <a:rPr lang="en-US" sz="2800" u="sng" dirty="0">
                <a:solidFill>
                  <a:schemeClr val="tx1"/>
                </a:solidFill>
              </a:rPr>
              <a:t>“debugging”.</a:t>
            </a:r>
          </a:p>
          <a:p>
            <a:pPr lvl="1" algn="just"/>
            <a:r>
              <a:rPr lang="en-US" sz="2400" dirty="0">
                <a:solidFill>
                  <a:schemeClr val="tx1"/>
                </a:solidFill>
              </a:rPr>
              <a:t>Specific activities related to defect discovery, including testing, inspection, etc.</a:t>
            </a:r>
          </a:p>
          <a:p>
            <a:pPr lvl="1" algn="just"/>
            <a:r>
              <a:rPr lang="en-US" sz="2400" dirty="0">
                <a:solidFill>
                  <a:schemeClr val="tx1"/>
                </a:solidFill>
              </a:rPr>
              <a:t>Specific follow-up activities after defect discovery, </a:t>
            </a:r>
            <a:endParaRPr lang="en-US" sz="2800" u="sng" dirty="0">
              <a:solidFill>
                <a:schemeClr val="tx1"/>
              </a:solidFill>
            </a:endParaRPr>
          </a:p>
        </p:txBody>
      </p:sp>
    </p:spTree>
    <p:extLst>
      <p:ext uri="{BB962C8B-B14F-4D97-AF65-F5344CB8AC3E}">
        <p14:creationId xmlns:p14="http://schemas.microsoft.com/office/powerpoint/2010/main" val="1351002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7" name="Picture 6">
            <a:extLst>
              <a:ext uri="{FF2B5EF4-FFF2-40B4-BE49-F238E27FC236}">
                <a16:creationId xmlns:a16="http://schemas.microsoft.com/office/drawing/2014/main" id="{A91885C0-A021-C5EB-3449-BAC856995D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2" y="1593408"/>
            <a:ext cx="8448675" cy="4447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22FF87EE-9114-F117-5D0D-ACA055688145}"/>
              </a:ext>
            </a:extLst>
          </p:cNvPr>
          <p:cNvSpPr txBox="1"/>
          <p:nvPr/>
        </p:nvSpPr>
        <p:spPr>
          <a:xfrm>
            <a:off x="1258431" y="509381"/>
            <a:ext cx="10013132" cy="830997"/>
          </a:xfrm>
          <a:prstGeom prst="rect">
            <a:avLst/>
          </a:prstGeom>
          <a:noFill/>
        </p:spPr>
        <p:txBody>
          <a:bodyPr wrap="square">
            <a:spAutoFit/>
          </a:bodyPr>
          <a:lstStyle/>
          <a:p>
            <a:r>
              <a:rPr lang="en-US" altLang="en-US" sz="4800" dirty="0"/>
              <a:t>Defect related concepts &amp; relations</a:t>
            </a:r>
            <a:endParaRPr lang="en-US" sz="4800" dirty="0"/>
          </a:p>
        </p:txBody>
      </p:sp>
    </p:spTree>
    <p:extLst>
      <p:ext uri="{BB962C8B-B14F-4D97-AF65-F5344CB8AC3E}">
        <p14:creationId xmlns:p14="http://schemas.microsoft.com/office/powerpoint/2010/main" val="3068218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B4293EBB-46AD-C741-D398-C5FAEC14C9CF}"/>
              </a:ext>
            </a:extLst>
          </p:cNvPr>
          <p:cNvSpPr>
            <a:spLocks noGrp="1"/>
          </p:cNvSpPr>
          <p:nvPr>
            <p:ph type="title"/>
          </p:nvPr>
        </p:nvSpPr>
        <p:spPr>
          <a:xfrm>
            <a:off x="1050360" y="700889"/>
            <a:ext cx="8153400" cy="990600"/>
          </a:xfrm>
        </p:spPr>
        <p:txBody>
          <a:bodyPr>
            <a:normAutofit fontScale="90000"/>
          </a:bodyPr>
          <a:lstStyle/>
          <a:p>
            <a:r>
              <a:rPr lang="en-US" altLang="en-US" dirty="0">
                <a:solidFill>
                  <a:schemeClr val="tx1"/>
                </a:solidFill>
              </a:rPr>
              <a:t>Defect related concepts &amp; relations</a:t>
            </a:r>
          </a:p>
        </p:txBody>
      </p:sp>
      <p:sp>
        <p:nvSpPr>
          <p:cNvPr id="3" name="Content Placeholder 2">
            <a:extLst>
              <a:ext uri="{FF2B5EF4-FFF2-40B4-BE49-F238E27FC236}">
                <a16:creationId xmlns:a16="http://schemas.microsoft.com/office/drawing/2014/main" id="{3427D2A0-A58C-B3C5-006A-A911B67EAD80}"/>
              </a:ext>
            </a:extLst>
          </p:cNvPr>
          <p:cNvSpPr>
            <a:spLocks noGrp="1"/>
          </p:cNvSpPr>
          <p:nvPr>
            <p:ph sz="quarter" idx="1"/>
          </p:nvPr>
        </p:nvSpPr>
        <p:spPr>
          <a:xfrm>
            <a:off x="808776" y="1928388"/>
            <a:ext cx="10574447" cy="4449024"/>
          </a:xfrm>
        </p:spPr>
        <p:txBody>
          <a:bodyPr>
            <a:normAutofit/>
          </a:bodyPr>
          <a:lstStyle/>
          <a:p>
            <a:pPr>
              <a:buFont typeface="Arial" panose="020B0604020202020204" pitchFamily="34" charset="0"/>
              <a:buChar char="•"/>
            </a:pPr>
            <a:r>
              <a:rPr lang="en-US" altLang="en-US" sz="2400" dirty="0">
                <a:solidFill>
                  <a:schemeClr val="tx1"/>
                </a:solidFill>
              </a:rPr>
              <a:t>   The relationship among three aspects of defects is</a:t>
            </a:r>
          </a:p>
          <a:p>
            <a:pPr marL="0" indent="0">
              <a:buNone/>
            </a:pPr>
            <a:endParaRPr lang="en-US" altLang="en-US" sz="2400" dirty="0">
              <a:solidFill>
                <a:schemeClr val="tx1"/>
              </a:solidFill>
            </a:endParaRPr>
          </a:p>
          <a:p>
            <a:pPr algn="just">
              <a:buFont typeface="Arial" panose="020B0604020202020204" pitchFamily="34" charset="0"/>
              <a:buChar char="•"/>
            </a:pPr>
            <a:r>
              <a:rPr lang="en-US" altLang="en-US" sz="2400" dirty="0">
                <a:solidFill>
                  <a:schemeClr val="tx1"/>
                </a:solidFill>
              </a:rPr>
              <a:t>   Errors may cause faults and faults may cause failures.</a:t>
            </a:r>
          </a:p>
          <a:p>
            <a:pPr algn="just">
              <a:buFont typeface="Arial" panose="020B0604020202020204" pitchFamily="34" charset="0"/>
              <a:buChar char="•"/>
            </a:pPr>
            <a:r>
              <a:rPr lang="en-US" altLang="en-US" sz="2400" dirty="0">
                <a:solidFill>
                  <a:schemeClr val="tx1"/>
                </a:solidFill>
              </a:rPr>
              <a:t>   This relationship is not necessarily 1-to-1.</a:t>
            </a:r>
          </a:p>
          <a:p>
            <a:pPr algn="just">
              <a:buFont typeface="Arial" panose="020B0604020202020204" pitchFamily="34" charset="0"/>
              <a:buChar char="•"/>
            </a:pPr>
            <a:r>
              <a:rPr lang="en-US" altLang="en-US" sz="2400" dirty="0">
                <a:solidFill>
                  <a:schemeClr val="tx1"/>
                </a:solidFill>
              </a:rPr>
              <a:t>   A single error may cause many faults and a single fault may cause many failures.</a:t>
            </a:r>
          </a:p>
          <a:p>
            <a:pPr algn="just">
              <a:buFont typeface="Arial" panose="020B0604020202020204" pitchFamily="34" charset="0"/>
              <a:buChar char="•"/>
            </a:pPr>
            <a:r>
              <a:rPr lang="en-US" altLang="en-US" sz="2400" dirty="0">
                <a:solidFill>
                  <a:schemeClr val="tx1"/>
                </a:solidFill>
              </a:rPr>
              <a:t>  Conversely, the same failure may be caused by several faults and same fault may be caused by many errors.</a:t>
            </a:r>
          </a:p>
        </p:txBody>
      </p:sp>
      <p:pic>
        <p:nvPicPr>
          <p:cNvPr id="30724" name="Picture 5">
            <a:extLst>
              <a:ext uri="{FF2B5EF4-FFF2-40B4-BE49-F238E27FC236}">
                <a16:creationId xmlns:a16="http://schemas.microsoft.com/office/drawing/2014/main" id="{65F3A5C7-D052-69F8-4004-E343442937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6575" y="2327495"/>
            <a:ext cx="475138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79810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F48D92BE-6701-2140-B8DF-1C83AFDD0D1B}"/>
              </a:ext>
            </a:extLst>
          </p:cNvPr>
          <p:cNvSpPr>
            <a:spLocks noGrp="1"/>
          </p:cNvSpPr>
          <p:nvPr>
            <p:ph type="title"/>
          </p:nvPr>
        </p:nvSpPr>
        <p:spPr>
          <a:xfrm>
            <a:off x="633743" y="545471"/>
            <a:ext cx="8153400" cy="990600"/>
          </a:xfrm>
        </p:spPr>
        <p:txBody>
          <a:bodyPr>
            <a:normAutofit fontScale="90000"/>
          </a:bodyPr>
          <a:lstStyle/>
          <a:p>
            <a:r>
              <a:rPr lang="en-US" altLang="en-US" dirty="0"/>
              <a:t>Defect related concepts &amp; relations</a:t>
            </a:r>
          </a:p>
        </p:txBody>
      </p:sp>
      <p:sp>
        <p:nvSpPr>
          <p:cNvPr id="31747" name="Content Placeholder 2">
            <a:extLst>
              <a:ext uri="{FF2B5EF4-FFF2-40B4-BE49-F238E27FC236}">
                <a16:creationId xmlns:a16="http://schemas.microsoft.com/office/drawing/2014/main" id="{3D371133-467F-9796-DE8B-3A6601717674}"/>
              </a:ext>
            </a:extLst>
          </p:cNvPr>
          <p:cNvSpPr>
            <a:spLocks noGrp="1"/>
          </p:cNvSpPr>
          <p:nvPr>
            <p:ph sz="quarter" idx="1"/>
          </p:nvPr>
        </p:nvSpPr>
        <p:spPr>
          <a:xfrm>
            <a:off x="633743" y="2055136"/>
            <a:ext cx="10212308" cy="4040863"/>
          </a:xfrm>
        </p:spPr>
        <p:txBody>
          <a:bodyPr>
            <a:normAutofit/>
          </a:bodyPr>
          <a:lstStyle/>
          <a:p>
            <a:r>
              <a:rPr lang="en-US" altLang="en-US" sz="2800" b="1" dirty="0">
                <a:solidFill>
                  <a:schemeClr val="accent2"/>
                </a:solidFill>
              </a:rPr>
              <a:t>Examples</a:t>
            </a:r>
            <a:endParaRPr lang="en-US" altLang="en-US" sz="2800" dirty="0">
              <a:solidFill>
                <a:schemeClr val="accent2"/>
              </a:solidFill>
            </a:endParaRPr>
          </a:p>
          <a:p>
            <a:pPr lvl="1" algn="just">
              <a:buFont typeface="Arial" panose="020B0604020202020204" pitchFamily="34" charset="0"/>
              <a:buChar char="•"/>
            </a:pPr>
            <a:r>
              <a:rPr lang="en-US" altLang="en-US" sz="2400" dirty="0">
                <a:solidFill>
                  <a:schemeClr val="tx1"/>
                </a:solidFill>
              </a:rPr>
              <a:t>e3 causes multiple faults f2 and f3.</a:t>
            </a:r>
          </a:p>
          <a:p>
            <a:pPr lvl="1" algn="just">
              <a:buFont typeface="Arial" panose="020B0604020202020204" pitchFamily="34" charset="0"/>
              <a:buChar char="•"/>
            </a:pPr>
            <a:r>
              <a:rPr lang="en-US" altLang="en-US" sz="2400" dirty="0">
                <a:solidFill>
                  <a:schemeClr val="tx1"/>
                </a:solidFill>
              </a:rPr>
              <a:t>f1 is caused by multiple error sources e1 and e2.</a:t>
            </a:r>
          </a:p>
          <a:p>
            <a:pPr lvl="1" algn="just">
              <a:buFont typeface="Arial" panose="020B0604020202020204" pitchFamily="34" charset="0"/>
              <a:buChar char="•"/>
            </a:pPr>
            <a:r>
              <a:rPr lang="en-US" altLang="en-US" sz="2400" dirty="0">
                <a:solidFill>
                  <a:schemeClr val="tx1"/>
                </a:solidFill>
              </a:rPr>
              <a:t>Sometimes an error source (e5) may not cause any fault and a fault (f4) may not cause any failure under the given scenario. Such faults are called dormant or latent faults.</a:t>
            </a:r>
          </a:p>
        </p:txBody>
      </p:sp>
    </p:spTree>
    <p:extLst>
      <p:ext uri="{BB962C8B-B14F-4D97-AF65-F5344CB8AC3E}">
        <p14:creationId xmlns:p14="http://schemas.microsoft.com/office/powerpoint/2010/main" val="3863144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DDD64BB7-897D-97AF-D4FF-4B2AFDC86C24}"/>
              </a:ext>
            </a:extLst>
          </p:cNvPr>
          <p:cNvSpPr>
            <a:spLocks noGrp="1"/>
          </p:cNvSpPr>
          <p:nvPr>
            <p:ph type="title"/>
          </p:nvPr>
        </p:nvSpPr>
        <p:spPr>
          <a:xfrm>
            <a:off x="1149947" y="681273"/>
            <a:ext cx="8153400" cy="990600"/>
          </a:xfrm>
        </p:spPr>
        <p:txBody>
          <a:bodyPr/>
          <a:lstStyle/>
          <a:p>
            <a:r>
              <a:rPr lang="en-US" altLang="en-US" dirty="0">
                <a:solidFill>
                  <a:schemeClr val="tx1"/>
                </a:solidFill>
              </a:rPr>
              <a:t>Software development models</a:t>
            </a:r>
          </a:p>
        </p:txBody>
      </p:sp>
      <p:sp>
        <p:nvSpPr>
          <p:cNvPr id="10243" name="Content Placeholder 2">
            <a:extLst>
              <a:ext uri="{FF2B5EF4-FFF2-40B4-BE49-F238E27FC236}">
                <a16:creationId xmlns:a16="http://schemas.microsoft.com/office/drawing/2014/main" id="{EB615242-7D6A-7068-EFEF-ADC9B29CD156}"/>
              </a:ext>
            </a:extLst>
          </p:cNvPr>
          <p:cNvSpPr>
            <a:spLocks noGrp="1"/>
          </p:cNvSpPr>
          <p:nvPr>
            <p:ph sz="quarter" idx="1"/>
          </p:nvPr>
        </p:nvSpPr>
        <p:spPr>
          <a:xfrm>
            <a:off x="1149947" y="1844644"/>
            <a:ext cx="10583344" cy="4495800"/>
          </a:xfrm>
        </p:spPr>
        <p:txBody>
          <a:bodyPr>
            <a:normAutofit/>
          </a:bodyPr>
          <a:lstStyle/>
          <a:p>
            <a:pPr algn="just">
              <a:buFont typeface="Arial" panose="020B0604020202020204" pitchFamily="34" charset="0"/>
              <a:buChar char="•"/>
            </a:pPr>
            <a:r>
              <a:rPr lang="en-US" altLang="en-US" sz="2400" dirty="0">
                <a:solidFill>
                  <a:schemeClr val="tx1"/>
                </a:solidFill>
              </a:rPr>
              <a:t>   There are numerous models for software development that are process oriented in approach.</a:t>
            </a:r>
          </a:p>
          <a:p>
            <a:pPr algn="just">
              <a:buFont typeface="Arial" panose="020B0604020202020204" pitchFamily="34" charset="0"/>
              <a:buChar char="•"/>
            </a:pPr>
            <a:r>
              <a:rPr lang="en-US" altLang="en-US" sz="2400" dirty="0">
                <a:solidFill>
                  <a:schemeClr val="tx1"/>
                </a:solidFill>
              </a:rPr>
              <a:t>   Each model defines its own steps, processes, procedures and activities to be followed under a software development life-cycle. </a:t>
            </a:r>
          </a:p>
          <a:p>
            <a:pPr algn="just">
              <a:buFont typeface="Arial" panose="020B0604020202020204" pitchFamily="34" charset="0"/>
              <a:buChar char="•"/>
            </a:pPr>
            <a:r>
              <a:rPr lang="en-US" altLang="en-US" sz="2400" dirty="0">
                <a:solidFill>
                  <a:schemeClr val="tx1"/>
                </a:solidFill>
              </a:rPr>
              <a:t>   While discussing about conventional software development, Waterfall model and Spiral model may be specified as more mature and practiced. </a:t>
            </a:r>
          </a:p>
        </p:txBody>
      </p:sp>
    </p:spTree>
    <p:extLst>
      <p:ext uri="{BB962C8B-B14F-4D97-AF65-F5344CB8AC3E}">
        <p14:creationId xmlns:p14="http://schemas.microsoft.com/office/powerpoint/2010/main" val="2640598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D1AADA49-2CF8-7B0F-DF3A-7F3AB6A6A07F}"/>
              </a:ext>
            </a:extLst>
          </p:cNvPr>
          <p:cNvSpPr>
            <a:spLocks noGrp="1"/>
          </p:cNvSpPr>
          <p:nvPr>
            <p:ph type="title"/>
          </p:nvPr>
        </p:nvSpPr>
        <p:spPr/>
        <p:txBody>
          <a:bodyPr/>
          <a:lstStyle/>
          <a:p>
            <a:r>
              <a:rPr lang="en-US" altLang="en-US" dirty="0">
                <a:solidFill>
                  <a:schemeClr val="tx1"/>
                </a:solidFill>
              </a:rPr>
              <a:t>Waterfall Model</a:t>
            </a:r>
          </a:p>
        </p:txBody>
      </p:sp>
      <p:sp>
        <p:nvSpPr>
          <p:cNvPr id="12291" name="Rectangle 8">
            <a:extLst>
              <a:ext uri="{FF2B5EF4-FFF2-40B4-BE49-F238E27FC236}">
                <a16:creationId xmlns:a16="http://schemas.microsoft.com/office/drawing/2014/main" id="{D8A452F3-8363-EDA2-204C-0C51A49FBD20}"/>
              </a:ext>
            </a:extLst>
          </p:cNvPr>
          <p:cNvSpPr>
            <a:spLocks noChangeArrowheads="1"/>
          </p:cNvSpPr>
          <p:nvPr/>
        </p:nvSpPr>
        <p:spPr bwMode="auto">
          <a:xfrm>
            <a:off x="2882900" y="2093913"/>
            <a:ext cx="1524000" cy="5334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dirty="0">
                <a:latin typeface="Arial" panose="020B0604020202020204" pitchFamily="34" charset="0"/>
              </a:rPr>
              <a:t>Requirements</a:t>
            </a:r>
          </a:p>
          <a:p>
            <a:pPr algn="ctr" eaLnBrk="1" hangingPunct="1">
              <a:spcBef>
                <a:spcPct val="0"/>
              </a:spcBef>
              <a:buClrTx/>
              <a:buSzTx/>
              <a:buFontTx/>
              <a:buNone/>
            </a:pPr>
            <a:r>
              <a:rPr lang="en-US" altLang="en-US" sz="1600" b="1" dirty="0">
                <a:latin typeface="Arial" panose="020B0604020202020204" pitchFamily="34" charset="0"/>
              </a:rPr>
              <a:t>Specification</a:t>
            </a:r>
          </a:p>
        </p:txBody>
      </p:sp>
      <p:sp>
        <p:nvSpPr>
          <p:cNvPr id="12292" name="Rectangle 9">
            <a:extLst>
              <a:ext uri="{FF2B5EF4-FFF2-40B4-BE49-F238E27FC236}">
                <a16:creationId xmlns:a16="http://schemas.microsoft.com/office/drawing/2014/main" id="{B2E2AA15-A335-EFB9-68B5-E7E14831E285}"/>
              </a:ext>
            </a:extLst>
          </p:cNvPr>
          <p:cNvSpPr>
            <a:spLocks noChangeArrowheads="1"/>
          </p:cNvSpPr>
          <p:nvPr/>
        </p:nvSpPr>
        <p:spPr bwMode="auto">
          <a:xfrm>
            <a:off x="3644900" y="2703513"/>
            <a:ext cx="1295400" cy="4572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dirty="0">
                <a:latin typeface="Arial" panose="020B0604020202020204" pitchFamily="34" charset="0"/>
              </a:rPr>
              <a:t>Design</a:t>
            </a:r>
          </a:p>
        </p:txBody>
      </p:sp>
      <p:sp>
        <p:nvSpPr>
          <p:cNvPr id="12293" name="Rectangle 10">
            <a:extLst>
              <a:ext uri="{FF2B5EF4-FFF2-40B4-BE49-F238E27FC236}">
                <a16:creationId xmlns:a16="http://schemas.microsoft.com/office/drawing/2014/main" id="{00536542-1CDD-EE24-1977-E40EDABA2930}"/>
              </a:ext>
            </a:extLst>
          </p:cNvPr>
          <p:cNvSpPr>
            <a:spLocks noChangeArrowheads="1"/>
          </p:cNvSpPr>
          <p:nvPr/>
        </p:nvSpPr>
        <p:spPr bwMode="auto">
          <a:xfrm>
            <a:off x="4330700" y="3236913"/>
            <a:ext cx="1447800" cy="4572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latin typeface="Arial" panose="020B0604020202020204" pitchFamily="34" charset="0"/>
              </a:rPr>
              <a:t>Coding</a:t>
            </a:r>
          </a:p>
        </p:txBody>
      </p:sp>
      <p:sp>
        <p:nvSpPr>
          <p:cNvPr id="12294" name="Rectangle 11">
            <a:extLst>
              <a:ext uri="{FF2B5EF4-FFF2-40B4-BE49-F238E27FC236}">
                <a16:creationId xmlns:a16="http://schemas.microsoft.com/office/drawing/2014/main" id="{2695711D-9A95-3333-E388-DD3FA2C9590D}"/>
              </a:ext>
            </a:extLst>
          </p:cNvPr>
          <p:cNvSpPr>
            <a:spLocks noChangeArrowheads="1"/>
          </p:cNvSpPr>
          <p:nvPr/>
        </p:nvSpPr>
        <p:spPr bwMode="auto">
          <a:xfrm>
            <a:off x="5016500" y="3770313"/>
            <a:ext cx="1447800" cy="4572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latin typeface="Arial" panose="020B0604020202020204" pitchFamily="34" charset="0"/>
              </a:rPr>
              <a:t>Unit</a:t>
            </a:r>
          </a:p>
          <a:p>
            <a:pPr algn="ctr" eaLnBrk="1" hangingPunct="1">
              <a:spcBef>
                <a:spcPct val="0"/>
              </a:spcBef>
              <a:buClrTx/>
              <a:buSzTx/>
              <a:buFontTx/>
              <a:buNone/>
            </a:pPr>
            <a:r>
              <a:rPr lang="en-US" altLang="en-US" sz="1600" b="1">
                <a:latin typeface="Arial" panose="020B0604020202020204" pitchFamily="34" charset="0"/>
              </a:rPr>
              <a:t>Testing</a:t>
            </a:r>
          </a:p>
        </p:txBody>
      </p:sp>
      <p:sp>
        <p:nvSpPr>
          <p:cNvPr id="12295" name="Rectangle 12">
            <a:extLst>
              <a:ext uri="{FF2B5EF4-FFF2-40B4-BE49-F238E27FC236}">
                <a16:creationId xmlns:a16="http://schemas.microsoft.com/office/drawing/2014/main" id="{68D60614-0D86-E9F0-65B3-F9499B055D68}"/>
              </a:ext>
            </a:extLst>
          </p:cNvPr>
          <p:cNvSpPr>
            <a:spLocks noChangeArrowheads="1"/>
          </p:cNvSpPr>
          <p:nvPr/>
        </p:nvSpPr>
        <p:spPr bwMode="auto">
          <a:xfrm>
            <a:off x="6540500" y="4872038"/>
            <a:ext cx="1524000" cy="4572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latin typeface="Arial" panose="020B0604020202020204" pitchFamily="34" charset="0"/>
              </a:rPr>
              <a:t>Installation &amp;</a:t>
            </a:r>
          </a:p>
          <a:p>
            <a:pPr algn="ctr" eaLnBrk="1" hangingPunct="1">
              <a:spcBef>
                <a:spcPct val="0"/>
              </a:spcBef>
              <a:buClrTx/>
              <a:buSzTx/>
              <a:buFontTx/>
              <a:buNone/>
            </a:pPr>
            <a:r>
              <a:rPr lang="en-US" altLang="en-US" sz="1600" b="1">
                <a:latin typeface="Arial" panose="020B0604020202020204" pitchFamily="34" charset="0"/>
              </a:rPr>
              <a:t>Training</a:t>
            </a:r>
          </a:p>
        </p:txBody>
      </p:sp>
      <p:sp>
        <p:nvSpPr>
          <p:cNvPr id="12296" name="Rectangle 13">
            <a:extLst>
              <a:ext uri="{FF2B5EF4-FFF2-40B4-BE49-F238E27FC236}">
                <a16:creationId xmlns:a16="http://schemas.microsoft.com/office/drawing/2014/main" id="{D11D733F-174A-EDD6-3689-987446F1FE6D}"/>
              </a:ext>
            </a:extLst>
          </p:cNvPr>
          <p:cNvSpPr>
            <a:spLocks noChangeArrowheads="1"/>
          </p:cNvSpPr>
          <p:nvPr/>
        </p:nvSpPr>
        <p:spPr bwMode="auto">
          <a:xfrm>
            <a:off x="5778500" y="4321175"/>
            <a:ext cx="1524000" cy="4572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latin typeface="Arial" panose="020B0604020202020204" pitchFamily="34" charset="0"/>
              </a:rPr>
              <a:t>Integration</a:t>
            </a:r>
          </a:p>
          <a:p>
            <a:pPr algn="ctr" eaLnBrk="1" hangingPunct="1">
              <a:spcBef>
                <a:spcPct val="0"/>
              </a:spcBef>
              <a:buClrTx/>
              <a:buSzTx/>
              <a:buFontTx/>
              <a:buNone/>
            </a:pPr>
            <a:r>
              <a:rPr lang="en-US" altLang="en-US" sz="1600" b="1">
                <a:latin typeface="Arial" panose="020B0604020202020204" pitchFamily="34" charset="0"/>
              </a:rPr>
              <a:t>Testing</a:t>
            </a:r>
          </a:p>
        </p:txBody>
      </p:sp>
      <p:sp>
        <p:nvSpPr>
          <p:cNvPr id="12297" name="Rectangle 14">
            <a:extLst>
              <a:ext uri="{FF2B5EF4-FFF2-40B4-BE49-F238E27FC236}">
                <a16:creationId xmlns:a16="http://schemas.microsoft.com/office/drawing/2014/main" id="{E1053E46-2B39-B246-CB5D-3A843DDD7191}"/>
              </a:ext>
            </a:extLst>
          </p:cNvPr>
          <p:cNvSpPr>
            <a:spLocks noChangeArrowheads="1"/>
          </p:cNvSpPr>
          <p:nvPr/>
        </p:nvSpPr>
        <p:spPr bwMode="auto">
          <a:xfrm>
            <a:off x="7378700" y="5422900"/>
            <a:ext cx="1447800" cy="4572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latin typeface="Arial" panose="020B0604020202020204" pitchFamily="34" charset="0"/>
              </a:rPr>
              <a:t>Maintenance</a:t>
            </a:r>
          </a:p>
        </p:txBody>
      </p:sp>
      <p:sp>
        <p:nvSpPr>
          <p:cNvPr id="12298" name="AutoShape 15">
            <a:extLst>
              <a:ext uri="{FF2B5EF4-FFF2-40B4-BE49-F238E27FC236}">
                <a16:creationId xmlns:a16="http://schemas.microsoft.com/office/drawing/2014/main" id="{030D06F2-44B5-DFDE-BC66-BC21EA4EE741}"/>
              </a:ext>
            </a:extLst>
          </p:cNvPr>
          <p:cNvSpPr>
            <a:spLocks noChangeArrowheads="1"/>
          </p:cNvSpPr>
          <p:nvPr/>
        </p:nvSpPr>
        <p:spPr bwMode="auto">
          <a:xfrm rot="10800000" flipH="1">
            <a:off x="4483100" y="2246313"/>
            <a:ext cx="304800" cy="3810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12299" name="AutoShape 18">
            <a:extLst>
              <a:ext uri="{FF2B5EF4-FFF2-40B4-BE49-F238E27FC236}">
                <a16:creationId xmlns:a16="http://schemas.microsoft.com/office/drawing/2014/main" id="{B2C5CFFF-BCEE-07AE-2F2C-CF69BD2567CB}"/>
              </a:ext>
            </a:extLst>
          </p:cNvPr>
          <p:cNvSpPr>
            <a:spLocks noChangeArrowheads="1"/>
          </p:cNvSpPr>
          <p:nvPr/>
        </p:nvSpPr>
        <p:spPr bwMode="auto">
          <a:xfrm rot="10800000" flipH="1">
            <a:off x="5019675" y="2779713"/>
            <a:ext cx="304800" cy="3810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12300" name="AutoShape 19">
            <a:extLst>
              <a:ext uri="{FF2B5EF4-FFF2-40B4-BE49-F238E27FC236}">
                <a16:creationId xmlns:a16="http://schemas.microsoft.com/office/drawing/2014/main" id="{EFFF3FF4-E2C2-6FC1-4AA9-5EB56460335B}"/>
              </a:ext>
            </a:extLst>
          </p:cNvPr>
          <p:cNvSpPr>
            <a:spLocks noChangeArrowheads="1"/>
          </p:cNvSpPr>
          <p:nvPr/>
        </p:nvSpPr>
        <p:spPr bwMode="auto">
          <a:xfrm rot="10800000" flipH="1">
            <a:off x="5840413" y="3355975"/>
            <a:ext cx="304800" cy="3810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12301" name="AutoShape 20">
            <a:extLst>
              <a:ext uri="{FF2B5EF4-FFF2-40B4-BE49-F238E27FC236}">
                <a16:creationId xmlns:a16="http://schemas.microsoft.com/office/drawing/2014/main" id="{7951582D-09D1-7784-0AB3-5C12D8A3F4E0}"/>
              </a:ext>
            </a:extLst>
          </p:cNvPr>
          <p:cNvSpPr>
            <a:spLocks noChangeArrowheads="1"/>
          </p:cNvSpPr>
          <p:nvPr/>
        </p:nvSpPr>
        <p:spPr bwMode="auto">
          <a:xfrm rot="10800000" flipH="1">
            <a:off x="6526213" y="3890963"/>
            <a:ext cx="304800" cy="3810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12302" name="AutoShape 21">
            <a:extLst>
              <a:ext uri="{FF2B5EF4-FFF2-40B4-BE49-F238E27FC236}">
                <a16:creationId xmlns:a16="http://schemas.microsoft.com/office/drawing/2014/main" id="{A0C78970-3681-101A-0F5B-5CD6AE8BCD53}"/>
              </a:ext>
            </a:extLst>
          </p:cNvPr>
          <p:cNvSpPr>
            <a:spLocks noChangeArrowheads="1"/>
          </p:cNvSpPr>
          <p:nvPr/>
        </p:nvSpPr>
        <p:spPr bwMode="auto">
          <a:xfrm rot="10800000" flipH="1">
            <a:off x="7378700" y="4456113"/>
            <a:ext cx="304800" cy="3810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a:solidFill>
              <a:schemeClr val="tx1"/>
            </a:solidFill>
            <a:miter lim="800000"/>
            <a:headEnd/>
            <a:tailEnd/>
          </a:ln>
        </p:spPr>
        <p:txBody>
          <a:bodyPr wrap="none" anchor="ctr"/>
          <a:lstStyle/>
          <a:p>
            <a:endParaRPr lang="en-US"/>
          </a:p>
        </p:txBody>
      </p:sp>
      <p:sp>
        <p:nvSpPr>
          <p:cNvPr id="12303" name="AutoShape 22">
            <a:extLst>
              <a:ext uri="{FF2B5EF4-FFF2-40B4-BE49-F238E27FC236}">
                <a16:creationId xmlns:a16="http://schemas.microsoft.com/office/drawing/2014/main" id="{787179B5-8406-F7F8-E298-11E60F41C29D}"/>
              </a:ext>
            </a:extLst>
          </p:cNvPr>
          <p:cNvSpPr>
            <a:spLocks noChangeArrowheads="1"/>
          </p:cNvSpPr>
          <p:nvPr/>
        </p:nvSpPr>
        <p:spPr bwMode="auto">
          <a:xfrm rot="10800000" flipH="1">
            <a:off x="8129588" y="5021263"/>
            <a:ext cx="304800" cy="3810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chemeClr val="accent1"/>
          </a:solidFill>
          <a:ln w="9525">
            <a:solidFill>
              <a:schemeClr val="tx1"/>
            </a:solidFill>
            <a:miter lim="800000"/>
            <a:headEnd/>
            <a:tailEnd/>
          </a:ln>
        </p:spPr>
        <p:txBody>
          <a:bodyPr wrap="none" anchor="ctr"/>
          <a:lstStyle/>
          <a:p>
            <a:endParaRPr lang="en-US"/>
          </a:p>
        </p:txBody>
      </p:sp>
    </p:spTree>
    <p:extLst>
      <p:ext uri="{BB962C8B-B14F-4D97-AF65-F5344CB8AC3E}">
        <p14:creationId xmlns:p14="http://schemas.microsoft.com/office/powerpoint/2010/main" val="2140134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60F123E4-1DF9-BE8F-2CB6-215BD151C9B6}"/>
              </a:ext>
            </a:extLst>
          </p:cNvPr>
          <p:cNvSpPr>
            <a:spLocks noGrp="1"/>
          </p:cNvSpPr>
          <p:nvPr>
            <p:ph type="title"/>
          </p:nvPr>
        </p:nvSpPr>
        <p:spPr/>
        <p:txBody>
          <a:bodyPr/>
          <a:lstStyle/>
          <a:p>
            <a:r>
              <a:rPr lang="en-US" altLang="en-US" dirty="0">
                <a:solidFill>
                  <a:schemeClr val="tx1"/>
                </a:solidFill>
              </a:rPr>
              <a:t>Waterfall and SQA Activities</a:t>
            </a:r>
          </a:p>
        </p:txBody>
      </p:sp>
      <p:sp>
        <p:nvSpPr>
          <p:cNvPr id="13315" name="AutoShape 35">
            <a:extLst>
              <a:ext uri="{FF2B5EF4-FFF2-40B4-BE49-F238E27FC236}">
                <a16:creationId xmlns:a16="http://schemas.microsoft.com/office/drawing/2014/main" id="{408BF0EB-ABBA-1DE9-D612-90F0C7E20735}"/>
              </a:ext>
            </a:extLst>
          </p:cNvPr>
          <p:cNvSpPr>
            <a:spLocks noChangeArrowheads="1"/>
          </p:cNvSpPr>
          <p:nvPr/>
        </p:nvSpPr>
        <p:spPr bwMode="auto">
          <a:xfrm>
            <a:off x="3159125" y="4495800"/>
            <a:ext cx="1752600" cy="457200"/>
          </a:xfrm>
          <a:prstGeom prst="cloudCallout">
            <a:avLst>
              <a:gd name="adj1" fmla="val 105435"/>
              <a:gd name="adj2" fmla="val 40972"/>
            </a:avLst>
          </a:prstGeom>
          <a:solidFill>
            <a:srgbClr val="FFFF66"/>
          </a:solidFill>
          <a:ln w="9525">
            <a:solidFill>
              <a:schemeClr val="tx1"/>
            </a:solidFill>
            <a:round/>
            <a:headEnd/>
            <a:tailEnd/>
          </a:ln>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endParaRPr lang="en-US" altLang="en-US" sz="1200" b="1">
              <a:solidFill>
                <a:schemeClr val="hlink"/>
              </a:solidFill>
              <a:latin typeface="Arial" panose="020B0604020202020204" pitchFamily="34" charset="0"/>
            </a:endParaRPr>
          </a:p>
        </p:txBody>
      </p:sp>
      <p:sp>
        <p:nvSpPr>
          <p:cNvPr id="13316" name="Rectangle 4">
            <a:extLst>
              <a:ext uri="{FF2B5EF4-FFF2-40B4-BE49-F238E27FC236}">
                <a16:creationId xmlns:a16="http://schemas.microsoft.com/office/drawing/2014/main" id="{2FD937BB-4572-EE81-BFA7-DA63DF8B3C20}"/>
              </a:ext>
            </a:extLst>
          </p:cNvPr>
          <p:cNvSpPr>
            <a:spLocks noChangeArrowheads="1"/>
          </p:cNvSpPr>
          <p:nvPr/>
        </p:nvSpPr>
        <p:spPr bwMode="auto">
          <a:xfrm>
            <a:off x="3082925" y="1828800"/>
            <a:ext cx="1524000" cy="5334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latin typeface="Arial" panose="020B0604020202020204" pitchFamily="34" charset="0"/>
              </a:rPr>
              <a:t>Requirements</a:t>
            </a:r>
          </a:p>
          <a:p>
            <a:pPr algn="ctr" eaLnBrk="1" hangingPunct="1">
              <a:spcBef>
                <a:spcPct val="0"/>
              </a:spcBef>
              <a:buClrTx/>
              <a:buSzTx/>
              <a:buFontTx/>
              <a:buNone/>
            </a:pPr>
            <a:r>
              <a:rPr lang="en-US" altLang="en-US" sz="1600" b="1">
                <a:latin typeface="Arial" panose="020B0604020202020204" pitchFamily="34" charset="0"/>
              </a:rPr>
              <a:t>Specification</a:t>
            </a:r>
          </a:p>
        </p:txBody>
      </p:sp>
      <p:sp>
        <p:nvSpPr>
          <p:cNvPr id="13317" name="Rectangle 5">
            <a:extLst>
              <a:ext uri="{FF2B5EF4-FFF2-40B4-BE49-F238E27FC236}">
                <a16:creationId xmlns:a16="http://schemas.microsoft.com/office/drawing/2014/main" id="{0A4A81CA-E830-A08F-168D-4D12DFC3E61E}"/>
              </a:ext>
            </a:extLst>
          </p:cNvPr>
          <p:cNvSpPr>
            <a:spLocks noChangeArrowheads="1"/>
          </p:cNvSpPr>
          <p:nvPr/>
        </p:nvSpPr>
        <p:spPr bwMode="auto">
          <a:xfrm>
            <a:off x="3844925" y="2590800"/>
            <a:ext cx="1295400" cy="4572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latin typeface="Arial" panose="020B0604020202020204" pitchFamily="34" charset="0"/>
              </a:rPr>
              <a:t>Design</a:t>
            </a:r>
          </a:p>
        </p:txBody>
      </p:sp>
      <p:sp>
        <p:nvSpPr>
          <p:cNvPr id="13318" name="Rectangle 6">
            <a:extLst>
              <a:ext uri="{FF2B5EF4-FFF2-40B4-BE49-F238E27FC236}">
                <a16:creationId xmlns:a16="http://schemas.microsoft.com/office/drawing/2014/main" id="{C6FF2AAF-1CC7-FD73-29AB-64C63502D3FC}"/>
              </a:ext>
            </a:extLst>
          </p:cNvPr>
          <p:cNvSpPr>
            <a:spLocks noChangeArrowheads="1"/>
          </p:cNvSpPr>
          <p:nvPr/>
        </p:nvSpPr>
        <p:spPr bwMode="auto">
          <a:xfrm>
            <a:off x="4530725" y="3276600"/>
            <a:ext cx="1447800" cy="4572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latin typeface="Arial" panose="020B0604020202020204" pitchFamily="34" charset="0"/>
              </a:rPr>
              <a:t>Coding</a:t>
            </a:r>
          </a:p>
        </p:txBody>
      </p:sp>
      <p:sp>
        <p:nvSpPr>
          <p:cNvPr id="13319" name="Rectangle 7">
            <a:extLst>
              <a:ext uri="{FF2B5EF4-FFF2-40B4-BE49-F238E27FC236}">
                <a16:creationId xmlns:a16="http://schemas.microsoft.com/office/drawing/2014/main" id="{B6AC9F54-053C-3A4B-93FD-C9BDA2AB9A34}"/>
              </a:ext>
            </a:extLst>
          </p:cNvPr>
          <p:cNvSpPr>
            <a:spLocks noChangeArrowheads="1"/>
          </p:cNvSpPr>
          <p:nvPr/>
        </p:nvSpPr>
        <p:spPr bwMode="auto">
          <a:xfrm>
            <a:off x="5216525" y="3962400"/>
            <a:ext cx="1447800" cy="5334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latin typeface="Arial" panose="020B0604020202020204" pitchFamily="34" charset="0"/>
              </a:rPr>
              <a:t>Unit</a:t>
            </a:r>
          </a:p>
          <a:p>
            <a:pPr algn="ctr" eaLnBrk="1" hangingPunct="1">
              <a:spcBef>
                <a:spcPct val="0"/>
              </a:spcBef>
              <a:buClrTx/>
              <a:buSzTx/>
              <a:buFontTx/>
              <a:buNone/>
            </a:pPr>
            <a:r>
              <a:rPr lang="en-US" altLang="en-US" sz="1600" b="1">
                <a:latin typeface="Arial" panose="020B0604020202020204" pitchFamily="34" charset="0"/>
              </a:rPr>
              <a:t>Testing</a:t>
            </a:r>
          </a:p>
        </p:txBody>
      </p:sp>
      <p:sp>
        <p:nvSpPr>
          <p:cNvPr id="13320" name="Rectangle 8">
            <a:extLst>
              <a:ext uri="{FF2B5EF4-FFF2-40B4-BE49-F238E27FC236}">
                <a16:creationId xmlns:a16="http://schemas.microsoft.com/office/drawing/2014/main" id="{B1D28CCD-5405-C307-B3CC-41413243720C}"/>
              </a:ext>
            </a:extLst>
          </p:cNvPr>
          <p:cNvSpPr>
            <a:spLocks noChangeArrowheads="1"/>
          </p:cNvSpPr>
          <p:nvPr/>
        </p:nvSpPr>
        <p:spPr bwMode="auto">
          <a:xfrm>
            <a:off x="6740525" y="5334000"/>
            <a:ext cx="1524000" cy="4572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latin typeface="Arial" panose="020B0604020202020204" pitchFamily="34" charset="0"/>
              </a:rPr>
              <a:t>Installation &amp;</a:t>
            </a:r>
          </a:p>
          <a:p>
            <a:pPr algn="ctr" eaLnBrk="1" hangingPunct="1">
              <a:spcBef>
                <a:spcPct val="0"/>
              </a:spcBef>
              <a:buClrTx/>
              <a:buSzTx/>
              <a:buFontTx/>
              <a:buNone/>
            </a:pPr>
            <a:r>
              <a:rPr lang="en-US" altLang="en-US" sz="1600" b="1">
                <a:latin typeface="Arial" panose="020B0604020202020204" pitchFamily="34" charset="0"/>
              </a:rPr>
              <a:t>Training</a:t>
            </a:r>
          </a:p>
        </p:txBody>
      </p:sp>
      <p:sp>
        <p:nvSpPr>
          <p:cNvPr id="13321" name="Rectangle 9">
            <a:extLst>
              <a:ext uri="{FF2B5EF4-FFF2-40B4-BE49-F238E27FC236}">
                <a16:creationId xmlns:a16="http://schemas.microsoft.com/office/drawing/2014/main" id="{0AD71595-4648-71A9-CCFC-6BE332CE0393}"/>
              </a:ext>
            </a:extLst>
          </p:cNvPr>
          <p:cNvSpPr>
            <a:spLocks noChangeArrowheads="1"/>
          </p:cNvSpPr>
          <p:nvPr/>
        </p:nvSpPr>
        <p:spPr bwMode="auto">
          <a:xfrm>
            <a:off x="5978525" y="4648200"/>
            <a:ext cx="1524000" cy="5334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latin typeface="Arial" panose="020B0604020202020204" pitchFamily="34" charset="0"/>
              </a:rPr>
              <a:t>Integration</a:t>
            </a:r>
          </a:p>
          <a:p>
            <a:pPr algn="ctr" eaLnBrk="1" hangingPunct="1">
              <a:spcBef>
                <a:spcPct val="0"/>
              </a:spcBef>
              <a:buClrTx/>
              <a:buSzTx/>
              <a:buFontTx/>
              <a:buNone/>
            </a:pPr>
            <a:r>
              <a:rPr lang="en-US" altLang="en-US" sz="1600" b="1">
                <a:latin typeface="Arial" panose="020B0604020202020204" pitchFamily="34" charset="0"/>
              </a:rPr>
              <a:t>Testing</a:t>
            </a:r>
          </a:p>
        </p:txBody>
      </p:sp>
      <p:sp>
        <p:nvSpPr>
          <p:cNvPr id="13322" name="Rectangle 10">
            <a:extLst>
              <a:ext uri="{FF2B5EF4-FFF2-40B4-BE49-F238E27FC236}">
                <a16:creationId xmlns:a16="http://schemas.microsoft.com/office/drawing/2014/main" id="{9E38E25D-160F-CAC6-B9F7-804CA0E0D2A1}"/>
              </a:ext>
            </a:extLst>
          </p:cNvPr>
          <p:cNvSpPr>
            <a:spLocks noChangeArrowheads="1"/>
          </p:cNvSpPr>
          <p:nvPr/>
        </p:nvSpPr>
        <p:spPr bwMode="auto">
          <a:xfrm>
            <a:off x="7578725" y="6019800"/>
            <a:ext cx="1447800" cy="457200"/>
          </a:xfrm>
          <a:prstGeom prst="rect">
            <a:avLst/>
          </a:prstGeom>
          <a:solidFill>
            <a:schemeClr val="accent1"/>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latin typeface="Arial" panose="020B0604020202020204" pitchFamily="34" charset="0"/>
              </a:rPr>
              <a:t>Maintenance</a:t>
            </a:r>
          </a:p>
        </p:txBody>
      </p:sp>
      <p:sp>
        <p:nvSpPr>
          <p:cNvPr id="18443" name="Rectangle 18">
            <a:extLst>
              <a:ext uri="{FF2B5EF4-FFF2-40B4-BE49-F238E27FC236}">
                <a16:creationId xmlns:a16="http://schemas.microsoft.com/office/drawing/2014/main" id="{E8E7EE85-79EF-FDF1-BB6C-4A8A5F903282}"/>
              </a:ext>
            </a:extLst>
          </p:cNvPr>
          <p:cNvSpPr>
            <a:spLocks noChangeArrowheads="1"/>
          </p:cNvSpPr>
          <p:nvPr/>
        </p:nvSpPr>
        <p:spPr bwMode="auto">
          <a:xfrm>
            <a:off x="5292725" y="1981200"/>
            <a:ext cx="1600200" cy="381000"/>
          </a:xfrm>
          <a:prstGeom prst="rect">
            <a:avLst/>
          </a:prstGeom>
          <a:solidFill>
            <a:srgbClr val="FFFF66"/>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400" b="1">
                <a:solidFill>
                  <a:srgbClr val="FF0000"/>
                </a:solidFill>
                <a:latin typeface="Arial" panose="020B0604020202020204" pitchFamily="34" charset="0"/>
              </a:rPr>
              <a:t>Review the SRS</a:t>
            </a:r>
          </a:p>
        </p:txBody>
      </p:sp>
      <p:sp>
        <p:nvSpPr>
          <p:cNvPr id="18444" name="Line 19">
            <a:extLst>
              <a:ext uri="{FF2B5EF4-FFF2-40B4-BE49-F238E27FC236}">
                <a16:creationId xmlns:a16="http://schemas.microsoft.com/office/drawing/2014/main" id="{00FACF96-3413-8F85-B740-83FE2DBFDB42}"/>
              </a:ext>
            </a:extLst>
          </p:cNvPr>
          <p:cNvSpPr>
            <a:spLocks noChangeShapeType="1"/>
          </p:cNvSpPr>
          <p:nvPr/>
        </p:nvSpPr>
        <p:spPr bwMode="auto">
          <a:xfrm>
            <a:off x="4606925" y="2057400"/>
            <a:ext cx="6858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5" name="Line 20">
            <a:extLst>
              <a:ext uri="{FF2B5EF4-FFF2-40B4-BE49-F238E27FC236}">
                <a16:creationId xmlns:a16="http://schemas.microsoft.com/office/drawing/2014/main" id="{B1F3324F-D42E-1C07-8D75-964A4200BA99}"/>
              </a:ext>
            </a:extLst>
          </p:cNvPr>
          <p:cNvSpPr>
            <a:spLocks noChangeShapeType="1"/>
          </p:cNvSpPr>
          <p:nvPr/>
        </p:nvSpPr>
        <p:spPr bwMode="auto">
          <a:xfrm flipH="1">
            <a:off x="4606925" y="2286000"/>
            <a:ext cx="685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6" name="Rectangle 21">
            <a:extLst>
              <a:ext uri="{FF2B5EF4-FFF2-40B4-BE49-F238E27FC236}">
                <a16:creationId xmlns:a16="http://schemas.microsoft.com/office/drawing/2014/main" id="{3517E594-9394-598F-4507-FA1B0978CF08}"/>
              </a:ext>
            </a:extLst>
          </p:cNvPr>
          <p:cNvSpPr>
            <a:spLocks noChangeArrowheads="1"/>
          </p:cNvSpPr>
          <p:nvPr/>
        </p:nvSpPr>
        <p:spPr bwMode="auto">
          <a:xfrm>
            <a:off x="5597525" y="2590800"/>
            <a:ext cx="1600200" cy="381000"/>
          </a:xfrm>
          <a:prstGeom prst="rect">
            <a:avLst/>
          </a:prstGeom>
          <a:solidFill>
            <a:srgbClr val="FFFF66"/>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400" b="1">
                <a:solidFill>
                  <a:srgbClr val="FF0000"/>
                </a:solidFill>
                <a:latin typeface="Arial" panose="020B0604020202020204" pitchFamily="34" charset="0"/>
              </a:rPr>
              <a:t>Design Reviews</a:t>
            </a:r>
          </a:p>
        </p:txBody>
      </p:sp>
      <p:sp>
        <p:nvSpPr>
          <p:cNvPr id="18447" name="Line 22">
            <a:extLst>
              <a:ext uri="{FF2B5EF4-FFF2-40B4-BE49-F238E27FC236}">
                <a16:creationId xmlns:a16="http://schemas.microsoft.com/office/drawing/2014/main" id="{AF6B2E26-AF29-580E-8D4F-879AD25C2278}"/>
              </a:ext>
            </a:extLst>
          </p:cNvPr>
          <p:cNvSpPr>
            <a:spLocks noChangeShapeType="1"/>
          </p:cNvSpPr>
          <p:nvPr/>
        </p:nvSpPr>
        <p:spPr bwMode="auto">
          <a:xfrm>
            <a:off x="5140325" y="27432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8" name="Line 23">
            <a:extLst>
              <a:ext uri="{FF2B5EF4-FFF2-40B4-BE49-F238E27FC236}">
                <a16:creationId xmlns:a16="http://schemas.microsoft.com/office/drawing/2014/main" id="{32BC5A58-9268-912A-E804-2CA569316E5A}"/>
              </a:ext>
            </a:extLst>
          </p:cNvPr>
          <p:cNvSpPr>
            <a:spLocks noChangeShapeType="1"/>
          </p:cNvSpPr>
          <p:nvPr/>
        </p:nvSpPr>
        <p:spPr bwMode="auto">
          <a:xfrm flipH="1">
            <a:off x="5292725" y="2895600"/>
            <a:ext cx="3048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9" name="AutoShape 24">
            <a:extLst>
              <a:ext uri="{FF2B5EF4-FFF2-40B4-BE49-F238E27FC236}">
                <a16:creationId xmlns:a16="http://schemas.microsoft.com/office/drawing/2014/main" id="{E83025FC-0F1F-D78A-84B6-F33EE555F94D}"/>
              </a:ext>
            </a:extLst>
          </p:cNvPr>
          <p:cNvSpPr>
            <a:spLocks noChangeArrowheads="1"/>
          </p:cNvSpPr>
          <p:nvPr/>
        </p:nvSpPr>
        <p:spPr bwMode="auto">
          <a:xfrm>
            <a:off x="6892925" y="2971800"/>
            <a:ext cx="1676400" cy="685800"/>
          </a:xfrm>
          <a:prstGeom prst="cloudCallout">
            <a:avLst>
              <a:gd name="adj1" fmla="val -107190"/>
              <a:gd name="adj2" fmla="val 29630"/>
            </a:avLst>
          </a:prstGeom>
          <a:solidFill>
            <a:srgbClr val="FFFF66"/>
          </a:solidFill>
          <a:ln w="9525">
            <a:solidFill>
              <a:schemeClr val="tx1"/>
            </a:solidFill>
            <a:round/>
            <a:headEnd/>
            <a:tailEnd/>
          </a:ln>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400" b="1">
                <a:solidFill>
                  <a:srgbClr val="FF0000"/>
                </a:solidFill>
                <a:latin typeface="Arial" panose="020B0604020202020204" pitchFamily="34" charset="0"/>
              </a:rPr>
              <a:t>Coding</a:t>
            </a:r>
          </a:p>
          <a:p>
            <a:pPr algn="ctr" eaLnBrk="1" hangingPunct="1">
              <a:spcBef>
                <a:spcPct val="0"/>
              </a:spcBef>
              <a:buClrTx/>
              <a:buSzTx/>
              <a:buFontTx/>
              <a:buNone/>
            </a:pPr>
            <a:r>
              <a:rPr lang="en-US" altLang="en-US" sz="1400" b="1">
                <a:solidFill>
                  <a:srgbClr val="FF0000"/>
                </a:solidFill>
                <a:latin typeface="Arial" panose="020B0604020202020204" pitchFamily="34" charset="0"/>
              </a:rPr>
              <a:t>Standards</a:t>
            </a:r>
          </a:p>
        </p:txBody>
      </p:sp>
      <p:sp>
        <p:nvSpPr>
          <p:cNvPr id="18450" name="Rectangle 25">
            <a:extLst>
              <a:ext uri="{FF2B5EF4-FFF2-40B4-BE49-F238E27FC236}">
                <a16:creationId xmlns:a16="http://schemas.microsoft.com/office/drawing/2014/main" id="{E71D4E2A-F639-F85D-429B-153FD468873B}"/>
              </a:ext>
            </a:extLst>
          </p:cNvPr>
          <p:cNvSpPr>
            <a:spLocks noChangeArrowheads="1"/>
          </p:cNvSpPr>
          <p:nvPr/>
        </p:nvSpPr>
        <p:spPr bwMode="auto">
          <a:xfrm>
            <a:off x="7883525" y="4724400"/>
            <a:ext cx="1295400" cy="381000"/>
          </a:xfrm>
          <a:prstGeom prst="rect">
            <a:avLst/>
          </a:prstGeom>
          <a:solidFill>
            <a:srgbClr val="FFFF66"/>
          </a:solidFill>
          <a:ln w="9525">
            <a:solidFill>
              <a:schemeClr val="tx1"/>
            </a:solidFill>
            <a:miter lim="800000"/>
            <a:headEnd/>
            <a:tailEnd/>
          </a:ln>
        </p:spPr>
        <p:txBody>
          <a:bodyPr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400" b="1">
                <a:solidFill>
                  <a:srgbClr val="FF0000"/>
                </a:solidFill>
                <a:latin typeface="Arial" panose="020B0604020202020204" pitchFamily="34" charset="0"/>
              </a:rPr>
              <a:t>Validation</a:t>
            </a:r>
          </a:p>
        </p:txBody>
      </p:sp>
      <p:sp>
        <p:nvSpPr>
          <p:cNvPr id="13331" name="Line 26">
            <a:extLst>
              <a:ext uri="{FF2B5EF4-FFF2-40B4-BE49-F238E27FC236}">
                <a16:creationId xmlns:a16="http://schemas.microsoft.com/office/drawing/2014/main" id="{DCE34705-C251-01BC-23B9-BD2E5A3C676F}"/>
              </a:ext>
            </a:extLst>
          </p:cNvPr>
          <p:cNvSpPr>
            <a:spLocks noChangeShapeType="1"/>
          </p:cNvSpPr>
          <p:nvPr/>
        </p:nvSpPr>
        <p:spPr bwMode="auto">
          <a:xfrm>
            <a:off x="7502525" y="48768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32" name="Line 27">
            <a:extLst>
              <a:ext uri="{FF2B5EF4-FFF2-40B4-BE49-F238E27FC236}">
                <a16:creationId xmlns:a16="http://schemas.microsoft.com/office/drawing/2014/main" id="{FE1FC946-E3E8-FF6F-D069-71F6941B238E}"/>
              </a:ext>
            </a:extLst>
          </p:cNvPr>
          <p:cNvSpPr>
            <a:spLocks noChangeShapeType="1"/>
          </p:cNvSpPr>
          <p:nvPr/>
        </p:nvSpPr>
        <p:spPr bwMode="auto">
          <a:xfrm flipH="1">
            <a:off x="7578725" y="5029200"/>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3" name="AutoShape 28">
            <a:extLst>
              <a:ext uri="{FF2B5EF4-FFF2-40B4-BE49-F238E27FC236}">
                <a16:creationId xmlns:a16="http://schemas.microsoft.com/office/drawing/2014/main" id="{639507BB-35B6-66EB-B6F1-4C15D8B9EC2B}"/>
              </a:ext>
            </a:extLst>
          </p:cNvPr>
          <p:cNvSpPr>
            <a:spLocks noChangeArrowheads="1"/>
          </p:cNvSpPr>
          <p:nvPr/>
        </p:nvSpPr>
        <p:spPr bwMode="auto">
          <a:xfrm>
            <a:off x="2244725" y="2133600"/>
            <a:ext cx="838200" cy="4114800"/>
          </a:xfrm>
          <a:prstGeom prst="upDownArrow">
            <a:avLst>
              <a:gd name="adj1" fmla="val 50000"/>
              <a:gd name="adj2" fmla="val 98182"/>
            </a:avLst>
          </a:prstGeom>
          <a:solidFill>
            <a:srgbClr val="FFFF66"/>
          </a:solidFill>
          <a:ln w="9525">
            <a:solidFill>
              <a:srgbClr val="E2E1C5"/>
            </a:solidFill>
            <a:miter lim="800000"/>
            <a:headEnd/>
            <a:tailEnd/>
          </a:ln>
        </p:spPr>
        <p:txBody>
          <a:bodyPr vert="eaVert"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800" b="1">
                <a:solidFill>
                  <a:srgbClr val="FF0000"/>
                </a:solidFill>
                <a:latin typeface="Arial" panose="020B0604020202020204" pitchFamily="34" charset="0"/>
              </a:rPr>
              <a:t>Configuration Control</a:t>
            </a:r>
          </a:p>
        </p:txBody>
      </p:sp>
      <p:sp>
        <p:nvSpPr>
          <p:cNvPr id="18454" name="AutoShape 29">
            <a:extLst>
              <a:ext uri="{FF2B5EF4-FFF2-40B4-BE49-F238E27FC236}">
                <a16:creationId xmlns:a16="http://schemas.microsoft.com/office/drawing/2014/main" id="{3CAE6632-FEE6-4BBE-338C-F87C71E26916}"/>
              </a:ext>
            </a:extLst>
          </p:cNvPr>
          <p:cNvSpPr>
            <a:spLocks noChangeArrowheads="1"/>
          </p:cNvSpPr>
          <p:nvPr/>
        </p:nvSpPr>
        <p:spPr bwMode="auto">
          <a:xfrm>
            <a:off x="3006725" y="4419600"/>
            <a:ext cx="2133600" cy="609600"/>
          </a:xfrm>
          <a:prstGeom prst="cloudCallout">
            <a:avLst>
              <a:gd name="adj1" fmla="val 50444"/>
              <a:gd name="adj2" fmla="val -84634"/>
            </a:avLst>
          </a:prstGeom>
          <a:solidFill>
            <a:srgbClr val="FFFF66"/>
          </a:solidFill>
          <a:ln w="9525">
            <a:solidFill>
              <a:schemeClr val="tx1"/>
            </a:solidFill>
            <a:round/>
            <a:headEnd/>
            <a:tailEnd/>
          </a:ln>
        </p:spPr>
        <p:txBody>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200" b="1">
                <a:solidFill>
                  <a:srgbClr val="FF0000"/>
                </a:solidFill>
                <a:latin typeface="Arial" panose="020B0604020202020204" pitchFamily="34" charset="0"/>
              </a:rPr>
              <a:t>Test Procedures</a:t>
            </a:r>
          </a:p>
          <a:p>
            <a:pPr algn="ctr" eaLnBrk="1" hangingPunct="1">
              <a:spcBef>
                <a:spcPct val="0"/>
              </a:spcBef>
              <a:buClrTx/>
              <a:buSzTx/>
              <a:buFontTx/>
              <a:buNone/>
            </a:pPr>
            <a:r>
              <a:rPr lang="en-US" altLang="en-US" sz="1200" b="1">
                <a:solidFill>
                  <a:srgbClr val="FF0000"/>
                </a:solidFill>
                <a:latin typeface="Arial" panose="020B0604020202020204" pitchFamily="34" charset="0"/>
              </a:rPr>
              <a:t>and Tolerances</a:t>
            </a:r>
          </a:p>
        </p:txBody>
      </p:sp>
      <p:sp>
        <p:nvSpPr>
          <p:cNvPr id="13335" name="Line 30">
            <a:extLst>
              <a:ext uri="{FF2B5EF4-FFF2-40B4-BE49-F238E27FC236}">
                <a16:creationId xmlns:a16="http://schemas.microsoft.com/office/drawing/2014/main" id="{122A2EE7-AFD8-9EEF-9848-6AB654F8917A}"/>
              </a:ext>
            </a:extLst>
          </p:cNvPr>
          <p:cNvSpPr>
            <a:spLocks noChangeShapeType="1"/>
          </p:cNvSpPr>
          <p:nvPr/>
        </p:nvSpPr>
        <p:spPr bwMode="auto">
          <a:xfrm>
            <a:off x="5368925" y="3733800"/>
            <a:ext cx="5334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36" name="Line 31">
            <a:extLst>
              <a:ext uri="{FF2B5EF4-FFF2-40B4-BE49-F238E27FC236}">
                <a16:creationId xmlns:a16="http://schemas.microsoft.com/office/drawing/2014/main" id="{6103ABCC-1D67-7F47-419C-3709BD5CB2DB}"/>
              </a:ext>
            </a:extLst>
          </p:cNvPr>
          <p:cNvSpPr>
            <a:spLocks noChangeShapeType="1"/>
          </p:cNvSpPr>
          <p:nvPr/>
        </p:nvSpPr>
        <p:spPr bwMode="auto">
          <a:xfrm>
            <a:off x="6054725" y="4495800"/>
            <a:ext cx="68580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337" name="Line 32">
            <a:extLst>
              <a:ext uri="{FF2B5EF4-FFF2-40B4-BE49-F238E27FC236}">
                <a16:creationId xmlns:a16="http://schemas.microsoft.com/office/drawing/2014/main" id="{31AFD5F0-E503-9838-16DD-2E0E4505D035}"/>
              </a:ext>
            </a:extLst>
          </p:cNvPr>
          <p:cNvSpPr>
            <a:spLocks noChangeShapeType="1"/>
          </p:cNvSpPr>
          <p:nvPr/>
        </p:nvSpPr>
        <p:spPr bwMode="auto">
          <a:xfrm>
            <a:off x="7578725" y="5791200"/>
            <a:ext cx="7620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8" name="AutoShape 33">
            <a:extLst>
              <a:ext uri="{FF2B5EF4-FFF2-40B4-BE49-F238E27FC236}">
                <a16:creationId xmlns:a16="http://schemas.microsoft.com/office/drawing/2014/main" id="{7F74452F-2811-538C-76FB-60797F324E69}"/>
              </a:ext>
            </a:extLst>
          </p:cNvPr>
          <p:cNvSpPr>
            <a:spLocks noChangeArrowheads="1"/>
          </p:cNvSpPr>
          <p:nvPr/>
        </p:nvSpPr>
        <p:spPr bwMode="auto">
          <a:xfrm>
            <a:off x="10058400" y="2057400"/>
            <a:ext cx="609600" cy="4495800"/>
          </a:xfrm>
          <a:prstGeom prst="downArrow">
            <a:avLst>
              <a:gd name="adj1" fmla="val 50000"/>
              <a:gd name="adj2" fmla="val 120322"/>
            </a:avLst>
          </a:prstGeom>
          <a:gradFill rotWithShape="1">
            <a:gsLst>
              <a:gs pos="0">
                <a:schemeClr val="bg1"/>
              </a:gs>
              <a:gs pos="100000">
                <a:srgbClr val="FFFF66"/>
              </a:gs>
            </a:gsLst>
            <a:lin ang="5400000" scaled="1"/>
          </a:gradFill>
          <a:ln w="9525">
            <a:solidFill>
              <a:srgbClr val="E2E1C5"/>
            </a:solidFill>
            <a:miter lim="800000"/>
            <a:headEnd/>
            <a:tailEnd/>
          </a:ln>
        </p:spPr>
        <p:txBody>
          <a:bodyPr vert="eaVert"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800" b="1">
                <a:solidFill>
                  <a:srgbClr val="FF0000"/>
                </a:solidFill>
                <a:latin typeface="Arial" panose="020B0604020202020204" pitchFamily="34" charset="0"/>
              </a:rPr>
              <a:t>Documentation</a:t>
            </a:r>
          </a:p>
        </p:txBody>
      </p:sp>
      <p:sp>
        <p:nvSpPr>
          <p:cNvPr id="18459" name="AutoShape 34">
            <a:extLst>
              <a:ext uri="{FF2B5EF4-FFF2-40B4-BE49-F238E27FC236}">
                <a16:creationId xmlns:a16="http://schemas.microsoft.com/office/drawing/2014/main" id="{36763BCC-DD79-2DA1-B7EF-7B3C3E26BBA1}"/>
              </a:ext>
            </a:extLst>
          </p:cNvPr>
          <p:cNvSpPr>
            <a:spLocks noChangeArrowheads="1"/>
          </p:cNvSpPr>
          <p:nvPr/>
        </p:nvSpPr>
        <p:spPr bwMode="auto">
          <a:xfrm>
            <a:off x="9255125" y="2057400"/>
            <a:ext cx="685800" cy="4495800"/>
          </a:xfrm>
          <a:prstGeom prst="upArrow">
            <a:avLst>
              <a:gd name="adj1" fmla="val 50000"/>
              <a:gd name="adj2" fmla="val 163889"/>
            </a:avLst>
          </a:prstGeom>
          <a:gradFill rotWithShape="1">
            <a:gsLst>
              <a:gs pos="0">
                <a:srgbClr val="FFFF66"/>
              </a:gs>
              <a:gs pos="100000">
                <a:schemeClr val="bg1"/>
              </a:gs>
            </a:gsLst>
            <a:lin ang="5400000" scaled="1"/>
          </a:gradFill>
          <a:ln w="9525">
            <a:solidFill>
              <a:srgbClr val="E2E1C5"/>
            </a:solidFill>
            <a:miter lim="800000"/>
            <a:headEnd/>
            <a:tailEnd/>
          </a:ln>
        </p:spPr>
        <p:txBody>
          <a:bodyPr vert="eaVert" wrap="none" anchor="ct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800" b="1">
                <a:solidFill>
                  <a:srgbClr val="FF0000"/>
                </a:solidFill>
                <a:latin typeface="Arial" panose="020B0604020202020204" pitchFamily="34" charset="0"/>
              </a:rPr>
              <a:t>Defect Tracking</a:t>
            </a:r>
          </a:p>
        </p:txBody>
      </p:sp>
    </p:spTree>
    <p:extLst>
      <p:ext uri="{BB962C8B-B14F-4D97-AF65-F5344CB8AC3E}">
        <p14:creationId xmlns:p14="http://schemas.microsoft.com/office/powerpoint/2010/main" val="19822545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4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844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844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4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844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44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5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45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45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45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4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3" grpId="0" animBg="1"/>
      <p:bldP spid="18446" grpId="0" animBg="1"/>
      <p:bldP spid="18449" grpId="0" animBg="1"/>
      <p:bldP spid="18450" grpId="0" animBg="1"/>
      <p:bldP spid="18453" grpId="0" animBg="1"/>
      <p:bldP spid="18454" grpId="0" animBg="1"/>
      <p:bldP spid="18458" grpId="0" animBg="1"/>
      <p:bldP spid="1845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C3DC85D6-7138-76C9-B744-C752E65480E5}"/>
              </a:ext>
            </a:extLst>
          </p:cNvPr>
          <p:cNvSpPr>
            <a:spLocks noGrp="1"/>
          </p:cNvSpPr>
          <p:nvPr>
            <p:ph type="title"/>
          </p:nvPr>
        </p:nvSpPr>
        <p:spPr/>
        <p:txBody>
          <a:bodyPr/>
          <a:lstStyle/>
          <a:p>
            <a:r>
              <a:rPr lang="en-US" altLang="en-US" dirty="0">
                <a:solidFill>
                  <a:schemeClr val="tx1"/>
                </a:solidFill>
              </a:rPr>
              <a:t>Spiral Model</a:t>
            </a:r>
          </a:p>
        </p:txBody>
      </p:sp>
      <p:sp>
        <p:nvSpPr>
          <p:cNvPr id="14339" name="Text Box 17">
            <a:extLst>
              <a:ext uri="{FF2B5EF4-FFF2-40B4-BE49-F238E27FC236}">
                <a16:creationId xmlns:a16="http://schemas.microsoft.com/office/drawing/2014/main" id="{294E4E7F-FA67-1951-4656-E4119C30FC27}"/>
              </a:ext>
            </a:extLst>
          </p:cNvPr>
          <p:cNvSpPr txBox="1">
            <a:spLocks noChangeArrowheads="1"/>
          </p:cNvSpPr>
          <p:nvPr/>
        </p:nvSpPr>
        <p:spPr bwMode="auto">
          <a:xfrm>
            <a:off x="7217406" y="2667001"/>
            <a:ext cx="2483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2400" b="1">
                <a:solidFill>
                  <a:schemeClr val="hlink"/>
                </a:solidFill>
                <a:latin typeface="Arial" panose="020B0604020202020204" pitchFamily="34" charset="0"/>
              </a:rPr>
              <a:t>Risk Analysis &amp;</a:t>
            </a:r>
          </a:p>
          <a:p>
            <a:pPr algn="ctr" eaLnBrk="1" hangingPunct="1">
              <a:spcBef>
                <a:spcPct val="0"/>
              </a:spcBef>
              <a:buClrTx/>
              <a:buSzTx/>
              <a:buFontTx/>
              <a:buNone/>
            </a:pPr>
            <a:r>
              <a:rPr lang="en-US" altLang="en-US" sz="2400" b="1">
                <a:solidFill>
                  <a:schemeClr val="hlink"/>
                </a:solidFill>
                <a:latin typeface="Arial" panose="020B0604020202020204" pitchFamily="34" charset="0"/>
              </a:rPr>
              <a:t>Specification</a:t>
            </a:r>
          </a:p>
        </p:txBody>
      </p:sp>
      <p:sp>
        <p:nvSpPr>
          <p:cNvPr id="14340" name="Text Box 18">
            <a:extLst>
              <a:ext uri="{FF2B5EF4-FFF2-40B4-BE49-F238E27FC236}">
                <a16:creationId xmlns:a16="http://schemas.microsoft.com/office/drawing/2014/main" id="{33B1A938-8551-F9E7-66F3-DC08E9DA6904}"/>
              </a:ext>
            </a:extLst>
          </p:cNvPr>
          <p:cNvSpPr txBox="1">
            <a:spLocks noChangeArrowheads="1"/>
          </p:cNvSpPr>
          <p:nvPr/>
        </p:nvSpPr>
        <p:spPr bwMode="auto">
          <a:xfrm>
            <a:off x="7867650" y="5526088"/>
            <a:ext cx="120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2400" b="1">
                <a:solidFill>
                  <a:schemeClr val="hlink"/>
                </a:solidFill>
                <a:latin typeface="Arial" panose="020B0604020202020204" pitchFamily="34" charset="0"/>
              </a:rPr>
              <a:t>Design</a:t>
            </a:r>
          </a:p>
        </p:txBody>
      </p:sp>
      <p:sp>
        <p:nvSpPr>
          <p:cNvPr id="14341" name="Text Box 19">
            <a:extLst>
              <a:ext uri="{FF2B5EF4-FFF2-40B4-BE49-F238E27FC236}">
                <a16:creationId xmlns:a16="http://schemas.microsoft.com/office/drawing/2014/main" id="{402EA86E-4705-D905-7EDF-77899DB1A992}"/>
              </a:ext>
            </a:extLst>
          </p:cNvPr>
          <p:cNvSpPr txBox="1">
            <a:spLocks noChangeArrowheads="1"/>
          </p:cNvSpPr>
          <p:nvPr/>
        </p:nvSpPr>
        <p:spPr bwMode="auto">
          <a:xfrm>
            <a:off x="2895600" y="5562600"/>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2400" b="1">
                <a:solidFill>
                  <a:schemeClr val="hlink"/>
                </a:solidFill>
                <a:latin typeface="Arial" panose="020B0604020202020204" pitchFamily="34" charset="0"/>
              </a:rPr>
              <a:t>Code</a:t>
            </a:r>
          </a:p>
        </p:txBody>
      </p:sp>
      <p:sp>
        <p:nvSpPr>
          <p:cNvPr id="14342" name="Text Box 20">
            <a:extLst>
              <a:ext uri="{FF2B5EF4-FFF2-40B4-BE49-F238E27FC236}">
                <a16:creationId xmlns:a16="http://schemas.microsoft.com/office/drawing/2014/main" id="{179DE2E9-E497-7B71-8383-FEBDE3846011}"/>
              </a:ext>
            </a:extLst>
          </p:cNvPr>
          <p:cNvSpPr txBox="1">
            <a:spLocks noChangeArrowheads="1"/>
          </p:cNvSpPr>
          <p:nvPr/>
        </p:nvSpPr>
        <p:spPr bwMode="auto">
          <a:xfrm>
            <a:off x="2895601" y="2743200"/>
            <a:ext cx="811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2400" b="1">
                <a:solidFill>
                  <a:schemeClr val="hlink"/>
                </a:solidFill>
                <a:latin typeface="Arial" panose="020B0604020202020204" pitchFamily="34" charset="0"/>
              </a:rPr>
              <a:t>Test</a:t>
            </a:r>
          </a:p>
        </p:txBody>
      </p:sp>
      <p:sp>
        <p:nvSpPr>
          <p:cNvPr id="14343" name="Freeform 27">
            <a:extLst>
              <a:ext uri="{FF2B5EF4-FFF2-40B4-BE49-F238E27FC236}">
                <a16:creationId xmlns:a16="http://schemas.microsoft.com/office/drawing/2014/main" id="{BCAD01E8-5886-3863-5677-02D575DD1D83}"/>
              </a:ext>
            </a:extLst>
          </p:cNvPr>
          <p:cNvSpPr>
            <a:spLocks/>
          </p:cNvSpPr>
          <p:nvPr/>
        </p:nvSpPr>
        <p:spPr bwMode="auto">
          <a:xfrm>
            <a:off x="3733800" y="2578100"/>
            <a:ext cx="3606800" cy="3594100"/>
          </a:xfrm>
          <a:custGeom>
            <a:avLst/>
            <a:gdLst>
              <a:gd name="T0" fmla="*/ 2147483646 w 2272"/>
              <a:gd name="T1" fmla="*/ 2147483646 h 2264"/>
              <a:gd name="T2" fmla="*/ 2147483646 w 2272"/>
              <a:gd name="T3" fmla="*/ 2147483646 h 2264"/>
              <a:gd name="T4" fmla="*/ 2147483646 w 2272"/>
              <a:gd name="T5" fmla="*/ 2147483646 h 2264"/>
              <a:gd name="T6" fmla="*/ 2147483646 w 2272"/>
              <a:gd name="T7" fmla="*/ 2147483646 h 2264"/>
              <a:gd name="T8" fmla="*/ 2147483646 w 2272"/>
              <a:gd name="T9" fmla="*/ 2147483646 h 2264"/>
              <a:gd name="T10" fmla="*/ 2147483646 w 2272"/>
              <a:gd name="T11" fmla="*/ 2147483646 h 2264"/>
              <a:gd name="T12" fmla="*/ 2147483646 w 2272"/>
              <a:gd name="T13" fmla="*/ 2147483646 h 2264"/>
              <a:gd name="T14" fmla="*/ 2147483646 w 2272"/>
              <a:gd name="T15" fmla="*/ 2147483646 h 2264"/>
              <a:gd name="T16" fmla="*/ 2147483646 w 2272"/>
              <a:gd name="T17" fmla="*/ 2147483646 h 2264"/>
              <a:gd name="T18" fmla="*/ 2147483646 w 2272"/>
              <a:gd name="T19" fmla="*/ 2147483646 h 2264"/>
              <a:gd name="T20" fmla="*/ 2147483646 w 2272"/>
              <a:gd name="T21" fmla="*/ 2147483646 h 2264"/>
              <a:gd name="T22" fmla="*/ 2147483646 w 2272"/>
              <a:gd name="T23" fmla="*/ 2147483646 h 2264"/>
              <a:gd name="T24" fmla="*/ 2147483646 w 2272"/>
              <a:gd name="T25" fmla="*/ 2147483646 h 2264"/>
              <a:gd name="T26" fmla="*/ 2147483646 w 2272"/>
              <a:gd name="T27" fmla="*/ 2147483646 h 2264"/>
              <a:gd name="T28" fmla="*/ 2147483646 w 2272"/>
              <a:gd name="T29" fmla="*/ 2147483646 h 2264"/>
              <a:gd name="T30" fmla="*/ 2147483646 w 2272"/>
              <a:gd name="T31" fmla="*/ 2147483646 h 2264"/>
              <a:gd name="T32" fmla="*/ 2147483646 w 2272"/>
              <a:gd name="T33" fmla="*/ 2147483646 h 2264"/>
              <a:gd name="T34" fmla="*/ 2147483646 w 2272"/>
              <a:gd name="T35" fmla="*/ 2147483646 h 2264"/>
              <a:gd name="T36" fmla="*/ 2147483646 w 2272"/>
              <a:gd name="T37" fmla="*/ 2147483646 h 2264"/>
              <a:gd name="T38" fmla="*/ 2147483646 w 2272"/>
              <a:gd name="T39" fmla="*/ 2147483646 h 2264"/>
              <a:gd name="T40" fmla="*/ 2147483646 w 2272"/>
              <a:gd name="T41" fmla="*/ 2147483646 h 2264"/>
              <a:gd name="T42" fmla="*/ 2147483646 w 2272"/>
              <a:gd name="T43" fmla="*/ 2147483646 h 2264"/>
              <a:gd name="T44" fmla="*/ 2147483646 w 2272"/>
              <a:gd name="T45" fmla="*/ 2147483646 h 2264"/>
              <a:gd name="T46" fmla="*/ 2147483646 w 2272"/>
              <a:gd name="T47" fmla="*/ 2147483646 h 2264"/>
              <a:gd name="T48" fmla="*/ 2147483646 w 2272"/>
              <a:gd name="T49" fmla="*/ 2147483646 h 2264"/>
              <a:gd name="T50" fmla="*/ 2147483646 w 2272"/>
              <a:gd name="T51" fmla="*/ 2147483646 h 2264"/>
              <a:gd name="T52" fmla="*/ 2147483646 w 2272"/>
              <a:gd name="T53" fmla="*/ 2147483646 h 2264"/>
              <a:gd name="T54" fmla="*/ 2147483646 w 2272"/>
              <a:gd name="T55" fmla="*/ 2147483646 h 2264"/>
              <a:gd name="T56" fmla="*/ 2147483646 w 2272"/>
              <a:gd name="T57" fmla="*/ 2147483646 h 226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272"/>
              <a:gd name="T88" fmla="*/ 0 h 2264"/>
              <a:gd name="T89" fmla="*/ 2272 w 2272"/>
              <a:gd name="T90" fmla="*/ 2264 h 226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272" h="2264">
                <a:moveTo>
                  <a:pt x="1296" y="872"/>
                </a:moveTo>
                <a:cubicBezTo>
                  <a:pt x="1392" y="892"/>
                  <a:pt x="1488" y="912"/>
                  <a:pt x="1536" y="968"/>
                </a:cubicBezTo>
                <a:cubicBezTo>
                  <a:pt x="1584" y="1024"/>
                  <a:pt x="1592" y="1120"/>
                  <a:pt x="1584" y="1208"/>
                </a:cubicBezTo>
                <a:cubicBezTo>
                  <a:pt x="1576" y="1296"/>
                  <a:pt x="1536" y="1440"/>
                  <a:pt x="1488" y="1496"/>
                </a:cubicBezTo>
                <a:cubicBezTo>
                  <a:pt x="1440" y="1552"/>
                  <a:pt x="1384" y="1552"/>
                  <a:pt x="1296" y="1544"/>
                </a:cubicBezTo>
                <a:cubicBezTo>
                  <a:pt x="1208" y="1536"/>
                  <a:pt x="1040" y="1504"/>
                  <a:pt x="960" y="1448"/>
                </a:cubicBezTo>
                <a:cubicBezTo>
                  <a:pt x="880" y="1392"/>
                  <a:pt x="840" y="1296"/>
                  <a:pt x="816" y="1208"/>
                </a:cubicBezTo>
                <a:cubicBezTo>
                  <a:pt x="792" y="1120"/>
                  <a:pt x="800" y="1000"/>
                  <a:pt x="816" y="920"/>
                </a:cubicBezTo>
                <a:cubicBezTo>
                  <a:pt x="832" y="840"/>
                  <a:pt x="832" y="784"/>
                  <a:pt x="912" y="728"/>
                </a:cubicBezTo>
                <a:cubicBezTo>
                  <a:pt x="992" y="672"/>
                  <a:pt x="1152" y="584"/>
                  <a:pt x="1296" y="584"/>
                </a:cubicBezTo>
                <a:cubicBezTo>
                  <a:pt x="1440" y="584"/>
                  <a:pt x="1680" y="624"/>
                  <a:pt x="1776" y="728"/>
                </a:cubicBezTo>
                <a:cubicBezTo>
                  <a:pt x="1872" y="832"/>
                  <a:pt x="1872" y="1064"/>
                  <a:pt x="1872" y="1208"/>
                </a:cubicBezTo>
                <a:cubicBezTo>
                  <a:pt x="1872" y="1352"/>
                  <a:pt x="1872" y="1488"/>
                  <a:pt x="1776" y="1592"/>
                </a:cubicBezTo>
                <a:cubicBezTo>
                  <a:pt x="1680" y="1696"/>
                  <a:pt x="1472" y="1816"/>
                  <a:pt x="1296" y="1832"/>
                </a:cubicBezTo>
                <a:cubicBezTo>
                  <a:pt x="1120" y="1848"/>
                  <a:pt x="856" y="1792"/>
                  <a:pt x="720" y="1688"/>
                </a:cubicBezTo>
                <a:cubicBezTo>
                  <a:pt x="584" y="1584"/>
                  <a:pt x="504" y="1392"/>
                  <a:pt x="480" y="1208"/>
                </a:cubicBezTo>
                <a:cubicBezTo>
                  <a:pt x="456" y="1024"/>
                  <a:pt x="440" y="744"/>
                  <a:pt x="576" y="584"/>
                </a:cubicBezTo>
                <a:cubicBezTo>
                  <a:pt x="712" y="424"/>
                  <a:pt x="1040" y="272"/>
                  <a:pt x="1296" y="248"/>
                </a:cubicBezTo>
                <a:cubicBezTo>
                  <a:pt x="1552" y="224"/>
                  <a:pt x="1952" y="280"/>
                  <a:pt x="2112" y="440"/>
                </a:cubicBezTo>
                <a:cubicBezTo>
                  <a:pt x="2272" y="600"/>
                  <a:pt x="2272" y="976"/>
                  <a:pt x="2256" y="1208"/>
                </a:cubicBezTo>
                <a:cubicBezTo>
                  <a:pt x="2240" y="1440"/>
                  <a:pt x="2176" y="1664"/>
                  <a:pt x="2016" y="1832"/>
                </a:cubicBezTo>
                <a:cubicBezTo>
                  <a:pt x="1856" y="2000"/>
                  <a:pt x="1544" y="2168"/>
                  <a:pt x="1296" y="2216"/>
                </a:cubicBezTo>
                <a:cubicBezTo>
                  <a:pt x="1048" y="2264"/>
                  <a:pt x="728" y="2208"/>
                  <a:pt x="528" y="2120"/>
                </a:cubicBezTo>
                <a:cubicBezTo>
                  <a:pt x="328" y="2032"/>
                  <a:pt x="176" y="1840"/>
                  <a:pt x="96" y="1688"/>
                </a:cubicBezTo>
                <a:cubicBezTo>
                  <a:pt x="16" y="1536"/>
                  <a:pt x="56" y="1360"/>
                  <a:pt x="48" y="1208"/>
                </a:cubicBezTo>
                <a:cubicBezTo>
                  <a:pt x="40" y="1056"/>
                  <a:pt x="0" y="920"/>
                  <a:pt x="48" y="776"/>
                </a:cubicBezTo>
                <a:cubicBezTo>
                  <a:pt x="96" y="632"/>
                  <a:pt x="200" y="464"/>
                  <a:pt x="336" y="344"/>
                </a:cubicBezTo>
                <a:cubicBezTo>
                  <a:pt x="472" y="224"/>
                  <a:pt x="704" y="112"/>
                  <a:pt x="864" y="56"/>
                </a:cubicBezTo>
                <a:cubicBezTo>
                  <a:pt x="1024" y="0"/>
                  <a:pt x="1160" y="4"/>
                  <a:pt x="1296" y="8"/>
                </a:cubicBezTo>
              </a:path>
            </a:pathLst>
          </a:custGeom>
          <a:noFill/>
          <a:ln w="38100">
            <a:solidFill>
              <a:schemeClr val="hlink"/>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4344" name="Line 21">
            <a:extLst>
              <a:ext uri="{FF2B5EF4-FFF2-40B4-BE49-F238E27FC236}">
                <a16:creationId xmlns:a16="http://schemas.microsoft.com/office/drawing/2014/main" id="{0986BA4A-02A6-AF1F-2C8D-2BEB7C02F73A}"/>
              </a:ext>
            </a:extLst>
          </p:cNvPr>
          <p:cNvSpPr>
            <a:spLocks noChangeShapeType="1"/>
          </p:cNvSpPr>
          <p:nvPr/>
        </p:nvSpPr>
        <p:spPr bwMode="auto">
          <a:xfrm>
            <a:off x="5791200" y="2514600"/>
            <a:ext cx="0" cy="3962400"/>
          </a:xfrm>
          <a:prstGeom prst="line">
            <a:avLst/>
          </a:prstGeom>
          <a:noFill/>
          <a:ln w="571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5" name="Line 22">
            <a:extLst>
              <a:ext uri="{FF2B5EF4-FFF2-40B4-BE49-F238E27FC236}">
                <a16:creationId xmlns:a16="http://schemas.microsoft.com/office/drawing/2014/main" id="{5991AA7C-FEE9-D502-9CD9-7D2F15468FE6}"/>
              </a:ext>
            </a:extLst>
          </p:cNvPr>
          <p:cNvSpPr>
            <a:spLocks noChangeShapeType="1"/>
          </p:cNvSpPr>
          <p:nvPr/>
        </p:nvSpPr>
        <p:spPr bwMode="auto">
          <a:xfrm>
            <a:off x="2590800" y="4495800"/>
            <a:ext cx="6781800" cy="0"/>
          </a:xfrm>
          <a:prstGeom prst="line">
            <a:avLst/>
          </a:prstGeom>
          <a:noFill/>
          <a:ln w="57150">
            <a:solidFill>
              <a:schemeClr val="bg2"/>
            </a:solidFill>
            <a:round/>
            <a:headEnd/>
            <a:tailEnd/>
          </a:ln>
          <a:extLst>
            <a:ext uri="{909E8E84-426E-40DD-AFC4-6F175D3DCCD1}">
              <a14:hiddenFill xmlns:a14="http://schemas.microsoft.com/office/drawing/2010/main">
                <a:noFill/>
              </a14:hiddenFill>
            </a:ext>
          </a:extLst>
        </p:spPr>
        <p:txBody>
          <a:bodyPr/>
          <a:lstStyle/>
          <a:p>
            <a:endParaRPr lang="en-US" dirty="0"/>
          </a:p>
        </p:txBody>
      </p:sp>
    </p:spTree>
    <p:extLst>
      <p:ext uri="{BB962C8B-B14F-4D97-AF65-F5344CB8AC3E}">
        <p14:creationId xmlns:p14="http://schemas.microsoft.com/office/powerpoint/2010/main" val="3650717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62C5421B-80B9-5D3A-1889-D9E460781187}"/>
              </a:ext>
            </a:extLst>
          </p:cNvPr>
          <p:cNvSpPr>
            <a:spLocks noGrp="1"/>
          </p:cNvSpPr>
          <p:nvPr>
            <p:ph type="title"/>
          </p:nvPr>
        </p:nvSpPr>
        <p:spPr>
          <a:xfrm>
            <a:off x="1066800" y="510206"/>
            <a:ext cx="10058400" cy="982529"/>
          </a:xfrm>
        </p:spPr>
        <p:txBody>
          <a:bodyPr/>
          <a:lstStyle/>
          <a:p>
            <a:r>
              <a:rPr lang="en-US" altLang="en-US" dirty="0">
                <a:solidFill>
                  <a:schemeClr val="tx1"/>
                </a:solidFill>
              </a:rPr>
              <a:t>Spiral with SQA</a:t>
            </a:r>
          </a:p>
        </p:txBody>
      </p:sp>
      <p:sp>
        <p:nvSpPr>
          <p:cNvPr id="15363" name="Text Box 4">
            <a:extLst>
              <a:ext uri="{FF2B5EF4-FFF2-40B4-BE49-F238E27FC236}">
                <a16:creationId xmlns:a16="http://schemas.microsoft.com/office/drawing/2014/main" id="{9741BE6A-6767-7227-7132-AFDE3B3D1862}"/>
              </a:ext>
            </a:extLst>
          </p:cNvPr>
          <p:cNvSpPr txBox="1">
            <a:spLocks noChangeArrowheads="1"/>
          </p:cNvSpPr>
          <p:nvPr/>
        </p:nvSpPr>
        <p:spPr bwMode="auto">
          <a:xfrm>
            <a:off x="7214231" y="1676401"/>
            <a:ext cx="2483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2400" b="1" dirty="0">
                <a:solidFill>
                  <a:schemeClr val="hlink"/>
                </a:solidFill>
                <a:latin typeface="Arial" panose="020B0604020202020204" pitchFamily="34" charset="0"/>
              </a:rPr>
              <a:t>Risk Analysis &amp;</a:t>
            </a:r>
          </a:p>
          <a:p>
            <a:pPr algn="ctr" eaLnBrk="1" hangingPunct="1">
              <a:spcBef>
                <a:spcPct val="0"/>
              </a:spcBef>
              <a:buClrTx/>
              <a:buSzTx/>
              <a:buFontTx/>
              <a:buNone/>
            </a:pPr>
            <a:r>
              <a:rPr lang="en-US" altLang="en-US" sz="2400" b="1" dirty="0">
                <a:solidFill>
                  <a:schemeClr val="hlink"/>
                </a:solidFill>
                <a:latin typeface="Arial" panose="020B0604020202020204" pitchFamily="34" charset="0"/>
              </a:rPr>
              <a:t>Specification</a:t>
            </a:r>
          </a:p>
        </p:txBody>
      </p:sp>
      <p:sp>
        <p:nvSpPr>
          <p:cNvPr id="15364" name="Text Box 5">
            <a:extLst>
              <a:ext uri="{FF2B5EF4-FFF2-40B4-BE49-F238E27FC236}">
                <a16:creationId xmlns:a16="http://schemas.microsoft.com/office/drawing/2014/main" id="{EA7E3284-61BF-7AD6-BCD3-7915461DC47A}"/>
              </a:ext>
            </a:extLst>
          </p:cNvPr>
          <p:cNvSpPr txBox="1">
            <a:spLocks noChangeArrowheads="1"/>
          </p:cNvSpPr>
          <p:nvPr/>
        </p:nvSpPr>
        <p:spPr bwMode="auto">
          <a:xfrm>
            <a:off x="8972550" y="5029200"/>
            <a:ext cx="1200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2400" b="1">
                <a:solidFill>
                  <a:schemeClr val="hlink"/>
                </a:solidFill>
                <a:latin typeface="Arial" panose="020B0604020202020204" pitchFamily="34" charset="0"/>
              </a:rPr>
              <a:t>Design</a:t>
            </a:r>
          </a:p>
        </p:txBody>
      </p:sp>
      <p:sp>
        <p:nvSpPr>
          <p:cNvPr id="15365" name="Text Box 6">
            <a:extLst>
              <a:ext uri="{FF2B5EF4-FFF2-40B4-BE49-F238E27FC236}">
                <a16:creationId xmlns:a16="http://schemas.microsoft.com/office/drawing/2014/main" id="{AF831B0A-044E-B1F6-ADD6-70D3B547F1DD}"/>
              </a:ext>
            </a:extLst>
          </p:cNvPr>
          <p:cNvSpPr txBox="1">
            <a:spLocks noChangeArrowheads="1"/>
          </p:cNvSpPr>
          <p:nvPr/>
        </p:nvSpPr>
        <p:spPr bwMode="auto">
          <a:xfrm>
            <a:off x="3562350" y="5334000"/>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2400" b="1">
                <a:solidFill>
                  <a:schemeClr val="hlink"/>
                </a:solidFill>
                <a:latin typeface="Arial" panose="020B0604020202020204" pitchFamily="34" charset="0"/>
              </a:rPr>
              <a:t>Code</a:t>
            </a:r>
          </a:p>
        </p:txBody>
      </p:sp>
      <p:sp>
        <p:nvSpPr>
          <p:cNvPr id="15366" name="Text Box 7">
            <a:extLst>
              <a:ext uri="{FF2B5EF4-FFF2-40B4-BE49-F238E27FC236}">
                <a16:creationId xmlns:a16="http://schemas.microsoft.com/office/drawing/2014/main" id="{2149B303-C3CC-F752-8265-14BE96C8C965}"/>
              </a:ext>
            </a:extLst>
          </p:cNvPr>
          <p:cNvSpPr txBox="1">
            <a:spLocks noChangeArrowheads="1"/>
          </p:cNvSpPr>
          <p:nvPr/>
        </p:nvSpPr>
        <p:spPr bwMode="auto">
          <a:xfrm>
            <a:off x="3048001" y="3124200"/>
            <a:ext cx="811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2400" b="1">
                <a:solidFill>
                  <a:schemeClr val="hlink"/>
                </a:solidFill>
                <a:latin typeface="Arial" panose="020B0604020202020204" pitchFamily="34" charset="0"/>
              </a:rPr>
              <a:t>Test</a:t>
            </a:r>
          </a:p>
        </p:txBody>
      </p:sp>
      <p:sp>
        <p:nvSpPr>
          <p:cNvPr id="15367" name="Line 8">
            <a:extLst>
              <a:ext uri="{FF2B5EF4-FFF2-40B4-BE49-F238E27FC236}">
                <a16:creationId xmlns:a16="http://schemas.microsoft.com/office/drawing/2014/main" id="{FEBE4B03-5317-E435-07E2-D96E4DADEC3D}"/>
              </a:ext>
            </a:extLst>
          </p:cNvPr>
          <p:cNvSpPr>
            <a:spLocks noChangeShapeType="1"/>
          </p:cNvSpPr>
          <p:nvPr/>
        </p:nvSpPr>
        <p:spPr bwMode="auto">
          <a:xfrm>
            <a:off x="6229350" y="2133600"/>
            <a:ext cx="0" cy="3962400"/>
          </a:xfrm>
          <a:prstGeom prst="line">
            <a:avLst/>
          </a:prstGeom>
          <a:noFill/>
          <a:ln w="571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8" name="Line 9">
            <a:extLst>
              <a:ext uri="{FF2B5EF4-FFF2-40B4-BE49-F238E27FC236}">
                <a16:creationId xmlns:a16="http://schemas.microsoft.com/office/drawing/2014/main" id="{CD538FEE-AC67-071D-613A-C3BD4FE3D18A}"/>
              </a:ext>
            </a:extLst>
          </p:cNvPr>
          <p:cNvSpPr>
            <a:spLocks noChangeShapeType="1"/>
          </p:cNvSpPr>
          <p:nvPr/>
        </p:nvSpPr>
        <p:spPr bwMode="auto">
          <a:xfrm>
            <a:off x="2590800" y="4114800"/>
            <a:ext cx="6781800" cy="0"/>
          </a:xfrm>
          <a:prstGeom prst="line">
            <a:avLst/>
          </a:prstGeom>
          <a:noFill/>
          <a:ln w="571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9" name="Freeform 10">
            <a:extLst>
              <a:ext uri="{FF2B5EF4-FFF2-40B4-BE49-F238E27FC236}">
                <a16:creationId xmlns:a16="http://schemas.microsoft.com/office/drawing/2014/main" id="{939C4D76-5BCF-85C2-09A1-9EB10CF8BDDA}"/>
              </a:ext>
            </a:extLst>
          </p:cNvPr>
          <p:cNvSpPr>
            <a:spLocks/>
          </p:cNvSpPr>
          <p:nvPr/>
        </p:nvSpPr>
        <p:spPr bwMode="auto">
          <a:xfrm>
            <a:off x="4171950" y="2197100"/>
            <a:ext cx="3606800" cy="3594100"/>
          </a:xfrm>
          <a:custGeom>
            <a:avLst/>
            <a:gdLst>
              <a:gd name="T0" fmla="*/ 2147483646 w 2272"/>
              <a:gd name="T1" fmla="*/ 2147483646 h 2264"/>
              <a:gd name="T2" fmla="*/ 2147483646 w 2272"/>
              <a:gd name="T3" fmla="*/ 2147483646 h 2264"/>
              <a:gd name="T4" fmla="*/ 2147483646 w 2272"/>
              <a:gd name="T5" fmla="*/ 2147483646 h 2264"/>
              <a:gd name="T6" fmla="*/ 2147483646 w 2272"/>
              <a:gd name="T7" fmla="*/ 2147483646 h 2264"/>
              <a:gd name="T8" fmla="*/ 2147483646 w 2272"/>
              <a:gd name="T9" fmla="*/ 2147483646 h 2264"/>
              <a:gd name="T10" fmla="*/ 2147483646 w 2272"/>
              <a:gd name="T11" fmla="*/ 2147483646 h 2264"/>
              <a:gd name="T12" fmla="*/ 2147483646 w 2272"/>
              <a:gd name="T13" fmla="*/ 2147483646 h 2264"/>
              <a:gd name="T14" fmla="*/ 2147483646 w 2272"/>
              <a:gd name="T15" fmla="*/ 2147483646 h 2264"/>
              <a:gd name="T16" fmla="*/ 2147483646 w 2272"/>
              <a:gd name="T17" fmla="*/ 2147483646 h 2264"/>
              <a:gd name="T18" fmla="*/ 2147483646 w 2272"/>
              <a:gd name="T19" fmla="*/ 2147483646 h 2264"/>
              <a:gd name="T20" fmla="*/ 2147483646 w 2272"/>
              <a:gd name="T21" fmla="*/ 2147483646 h 2264"/>
              <a:gd name="T22" fmla="*/ 2147483646 w 2272"/>
              <a:gd name="T23" fmla="*/ 2147483646 h 2264"/>
              <a:gd name="T24" fmla="*/ 2147483646 w 2272"/>
              <a:gd name="T25" fmla="*/ 2147483646 h 2264"/>
              <a:gd name="T26" fmla="*/ 2147483646 w 2272"/>
              <a:gd name="T27" fmla="*/ 2147483646 h 2264"/>
              <a:gd name="T28" fmla="*/ 2147483646 w 2272"/>
              <a:gd name="T29" fmla="*/ 2147483646 h 2264"/>
              <a:gd name="T30" fmla="*/ 2147483646 w 2272"/>
              <a:gd name="T31" fmla="*/ 2147483646 h 2264"/>
              <a:gd name="T32" fmla="*/ 2147483646 w 2272"/>
              <a:gd name="T33" fmla="*/ 2147483646 h 2264"/>
              <a:gd name="T34" fmla="*/ 2147483646 w 2272"/>
              <a:gd name="T35" fmla="*/ 2147483646 h 2264"/>
              <a:gd name="T36" fmla="*/ 2147483646 w 2272"/>
              <a:gd name="T37" fmla="*/ 2147483646 h 2264"/>
              <a:gd name="T38" fmla="*/ 2147483646 w 2272"/>
              <a:gd name="T39" fmla="*/ 2147483646 h 2264"/>
              <a:gd name="T40" fmla="*/ 2147483646 w 2272"/>
              <a:gd name="T41" fmla="*/ 2147483646 h 2264"/>
              <a:gd name="T42" fmla="*/ 2147483646 w 2272"/>
              <a:gd name="T43" fmla="*/ 2147483646 h 2264"/>
              <a:gd name="T44" fmla="*/ 2147483646 w 2272"/>
              <a:gd name="T45" fmla="*/ 2147483646 h 2264"/>
              <a:gd name="T46" fmla="*/ 2147483646 w 2272"/>
              <a:gd name="T47" fmla="*/ 2147483646 h 2264"/>
              <a:gd name="T48" fmla="*/ 2147483646 w 2272"/>
              <a:gd name="T49" fmla="*/ 2147483646 h 2264"/>
              <a:gd name="T50" fmla="*/ 2147483646 w 2272"/>
              <a:gd name="T51" fmla="*/ 2147483646 h 2264"/>
              <a:gd name="T52" fmla="*/ 2147483646 w 2272"/>
              <a:gd name="T53" fmla="*/ 2147483646 h 2264"/>
              <a:gd name="T54" fmla="*/ 2147483646 w 2272"/>
              <a:gd name="T55" fmla="*/ 2147483646 h 2264"/>
              <a:gd name="T56" fmla="*/ 2147483646 w 2272"/>
              <a:gd name="T57" fmla="*/ 2147483646 h 226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272"/>
              <a:gd name="T88" fmla="*/ 0 h 2264"/>
              <a:gd name="T89" fmla="*/ 2272 w 2272"/>
              <a:gd name="T90" fmla="*/ 2264 h 226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272" h="2264">
                <a:moveTo>
                  <a:pt x="1296" y="872"/>
                </a:moveTo>
                <a:cubicBezTo>
                  <a:pt x="1392" y="892"/>
                  <a:pt x="1488" y="912"/>
                  <a:pt x="1536" y="968"/>
                </a:cubicBezTo>
                <a:cubicBezTo>
                  <a:pt x="1584" y="1024"/>
                  <a:pt x="1592" y="1120"/>
                  <a:pt x="1584" y="1208"/>
                </a:cubicBezTo>
                <a:cubicBezTo>
                  <a:pt x="1576" y="1296"/>
                  <a:pt x="1536" y="1440"/>
                  <a:pt x="1488" y="1496"/>
                </a:cubicBezTo>
                <a:cubicBezTo>
                  <a:pt x="1440" y="1552"/>
                  <a:pt x="1384" y="1552"/>
                  <a:pt x="1296" y="1544"/>
                </a:cubicBezTo>
                <a:cubicBezTo>
                  <a:pt x="1208" y="1536"/>
                  <a:pt x="1040" y="1504"/>
                  <a:pt x="960" y="1448"/>
                </a:cubicBezTo>
                <a:cubicBezTo>
                  <a:pt x="880" y="1392"/>
                  <a:pt x="840" y="1296"/>
                  <a:pt x="816" y="1208"/>
                </a:cubicBezTo>
                <a:cubicBezTo>
                  <a:pt x="792" y="1120"/>
                  <a:pt x="800" y="1000"/>
                  <a:pt x="816" y="920"/>
                </a:cubicBezTo>
                <a:cubicBezTo>
                  <a:pt x="832" y="840"/>
                  <a:pt x="832" y="784"/>
                  <a:pt x="912" y="728"/>
                </a:cubicBezTo>
                <a:cubicBezTo>
                  <a:pt x="992" y="672"/>
                  <a:pt x="1152" y="584"/>
                  <a:pt x="1296" y="584"/>
                </a:cubicBezTo>
                <a:cubicBezTo>
                  <a:pt x="1440" y="584"/>
                  <a:pt x="1680" y="624"/>
                  <a:pt x="1776" y="728"/>
                </a:cubicBezTo>
                <a:cubicBezTo>
                  <a:pt x="1872" y="832"/>
                  <a:pt x="1872" y="1064"/>
                  <a:pt x="1872" y="1208"/>
                </a:cubicBezTo>
                <a:cubicBezTo>
                  <a:pt x="1872" y="1352"/>
                  <a:pt x="1872" y="1488"/>
                  <a:pt x="1776" y="1592"/>
                </a:cubicBezTo>
                <a:cubicBezTo>
                  <a:pt x="1680" y="1696"/>
                  <a:pt x="1472" y="1816"/>
                  <a:pt x="1296" y="1832"/>
                </a:cubicBezTo>
                <a:cubicBezTo>
                  <a:pt x="1120" y="1848"/>
                  <a:pt x="856" y="1792"/>
                  <a:pt x="720" y="1688"/>
                </a:cubicBezTo>
                <a:cubicBezTo>
                  <a:pt x="584" y="1584"/>
                  <a:pt x="504" y="1392"/>
                  <a:pt x="480" y="1208"/>
                </a:cubicBezTo>
                <a:cubicBezTo>
                  <a:pt x="456" y="1024"/>
                  <a:pt x="440" y="744"/>
                  <a:pt x="576" y="584"/>
                </a:cubicBezTo>
                <a:cubicBezTo>
                  <a:pt x="712" y="424"/>
                  <a:pt x="1040" y="272"/>
                  <a:pt x="1296" y="248"/>
                </a:cubicBezTo>
                <a:cubicBezTo>
                  <a:pt x="1552" y="224"/>
                  <a:pt x="1952" y="280"/>
                  <a:pt x="2112" y="440"/>
                </a:cubicBezTo>
                <a:cubicBezTo>
                  <a:pt x="2272" y="600"/>
                  <a:pt x="2272" y="976"/>
                  <a:pt x="2256" y="1208"/>
                </a:cubicBezTo>
                <a:cubicBezTo>
                  <a:pt x="2240" y="1440"/>
                  <a:pt x="2176" y="1664"/>
                  <a:pt x="2016" y="1832"/>
                </a:cubicBezTo>
                <a:cubicBezTo>
                  <a:pt x="1856" y="2000"/>
                  <a:pt x="1544" y="2168"/>
                  <a:pt x="1296" y="2216"/>
                </a:cubicBezTo>
                <a:cubicBezTo>
                  <a:pt x="1048" y="2264"/>
                  <a:pt x="728" y="2208"/>
                  <a:pt x="528" y="2120"/>
                </a:cubicBezTo>
                <a:cubicBezTo>
                  <a:pt x="328" y="2032"/>
                  <a:pt x="176" y="1840"/>
                  <a:pt x="96" y="1688"/>
                </a:cubicBezTo>
                <a:cubicBezTo>
                  <a:pt x="16" y="1536"/>
                  <a:pt x="56" y="1360"/>
                  <a:pt x="48" y="1208"/>
                </a:cubicBezTo>
                <a:cubicBezTo>
                  <a:pt x="40" y="1056"/>
                  <a:pt x="0" y="920"/>
                  <a:pt x="48" y="776"/>
                </a:cubicBezTo>
                <a:cubicBezTo>
                  <a:pt x="96" y="632"/>
                  <a:pt x="200" y="464"/>
                  <a:pt x="336" y="344"/>
                </a:cubicBezTo>
                <a:cubicBezTo>
                  <a:pt x="472" y="224"/>
                  <a:pt x="704" y="112"/>
                  <a:pt x="864" y="56"/>
                </a:cubicBezTo>
                <a:cubicBezTo>
                  <a:pt x="1024" y="0"/>
                  <a:pt x="1160" y="4"/>
                  <a:pt x="1296" y="8"/>
                </a:cubicBezTo>
              </a:path>
            </a:pathLst>
          </a:custGeom>
          <a:noFill/>
          <a:ln w="38100">
            <a:solidFill>
              <a:schemeClr val="hlink"/>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90" name="Text Box 11">
            <a:extLst>
              <a:ext uri="{FF2B5EF4-FFF2-40B4-BE49-F238E27FC236}">
                <a16:creationId xmlns:a16="http://schemas.microsoft.com/office/drawing/2014/main" id="{0D549AF1-4A4B-CEE0-1AD8-CCD508C12172}"/>
              </a:ext>
            </a:extLst>
          </p:cNvPr>
          <p:cNvSpPr txBox="1">
            <a:spLocks noChangeArrowheads="1"/>
          </p:cNvSpPr>
          <p:nvPr/>
        </p:nvSpPr>
        <p:spPr bwMode="auto">
          <a:xfrm>
            <a:off x="8058150" y="3581401"/>
            <a:ext cx="2457450" cy="36671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r>
              <a:rPr lang="en-US" altLang="en-US" sz="1800" b="1">
                <a:solidFill>
                  <a:schemeClr val="hlink"/>
                </a:solidFill>
                <a:latin typeface="Arial" panose="020B0604020202020204" pitchFamily="34" charset="0"/>
              </a:rPr>
              <a:t>Specification Review</a:t>
            </a:r>
          </a:p>
        </p:txBody>
      </p:sp>
      <p:sp>
        <p:nvSpPr>
          <p:cNvPr id="20491" name="Text Box 12">
            <a:extLst>
              <a:ext uri="{FF2B5EF4-FFF2-40B4-BE49-F238E27FC236}">
                <a16:creationId xmlns:a16="http://schemas.microsoft.com/office/drawing/2014/main" id="{098EB95C-171B-EE33-751D-1C868D272A4C}"/>
              </a:ext>
            </a:extLst>
          </p:cNvPr>
          <p:cNvSpPr txBox="1">
            <a:spLocks noChangeArrowheads="1"/>
          </p:cNvSpPr>
          <p:nvPr/>
        </p:nvSpPr>
        <p:spPr bwMode="auto">
          <a:xfrm>
            <a:off x="6305550" y="6019800"/>
            <a:ext cx="971550" cy="64135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800" b="1">
                <a:solidFill>
                  <a:schemeClr val="hlink"/>
                </a:solidFill>
                <a:latin typeface="Arial" panose="020B0604020202020204" pitchFamily="34" charset="0"/>
              </a:rPr>
              <a:t>Design</a:t>
            </a:r>
          </a:p>
          <a:p>
            <a:pPr algn="ctr" eaLnBrk="1" hangingPunct="1">
              <a:spcBef>
                <a:spcPct val="0"/>
              </a:spcBef>
              <a:buClrTx/>
              <a:buSzTx/>
              <a:buFontTx/>
              <a:buNone/>
            </a:pPr>
            <a:r>
              <a:rPr lang="en-US" altLang="en-US" sz="1800" b="1">
                <a:solidFill>
                  <a:schemeClr val="hlink"/>
                </a:solidFill>
                <a:latin typeface="Arial" panose="020B0604020202020204" pitchFamily="34" charset="0"/>
              </a:rPr>
              <a:t>Review</a:t>
            </a:r>
          </a:p>
        </p:txBody>
      </p:sp>
      <p:sp>
        <p:nvSpPr>
          <p:cNvPr id="15372" name="Line 13">
            <a:extLst>
              <a:ext uri="{FF2B5EF4-FFF2-40B4-BE49-F238E27FC236}">
                <a16:creationId xmlns:a16="http://schemas.microsoft.com/office/drawing/2014/main" id="{B9EF89FC-84DE-57EC-DB91-FE15283B8FA0}"/>
              </a:ext>
            </a:extLst>
          </p:cNvPr>
          <p:cNvSpPr>
            <a:spLocks noChangeShapeType="1"/>
          </p:cNvSpPr>
          <p:nvPr/>
        </p:nvSpPr>
        <p:spPr bwMode="auto">
          <a:xfrm flipV="1">
            <a:off x="6229350" y="3124200"/>
            <a:ext cx="3048000" cy="990600"/>
          </a:xfrm>
          <a:prstGeom prst="line">
            <a:avLst/>
          </a:prstGeom>
          <a:noFill/>
          <a:ln w="57150">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5373" name="Line 14">
            <a:extLst>
              <a:ext uri="{FF2B5EF4-FFF2-40B4-BE49-F238E27FC236}">
                <a16:creationId xmlns:a16="http://schemas.microsoft.com/office/drawing/2014/main" id="{D223E283-C189-4D3B-7C0D-7481956F5B8C}"/>
              </a:ext>
            </a:extLst>
          </p:cNvPr>
          <p:cNvSpPr>
            <a:spLocks noChangeShapeType="1"/>
          </p:cNvSpPr>
          <p:nvPr/>
        </p:nvSpPr>
        <p:spPr bwMode="auto">
          <a:xfrm>
            <a:off x="6229350" y="4114800"/>
            <a:ext cx="1143000" cy="1905000"/>
          </a:xfrm>
          <a:prstGeom prst="line">
            <a:avLst/>
          </a:prstGeom>
          <a:noFill/>
          <a:ln w="57150">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0494" name="AutoShape 15">
            <a:extLst>
              <a:ext uri="{FF2B5EF4-FFF2-40B4-BE49-F238E27FC236}">
                <a16:creationId xmlns:a16="http://schemas.microsoft.com/office/drawing/2014/main" id="{57FB6BF7-4472-BE62-9FA8-02B89AE8554C}"/>
              </a:ext>
            </a:extLst>
          </p:cNvPr>
          <p:cNvSpPr>
            <a:spLocks noChangeArrowheads="1"/>
          </p:cNvSpPr>
          <p:nvPr/>
        </p:nvSpPr>
        <p:spPr bwMode="auto">
          <a:xfrm rot="-5400000">
            <a:off x="1219200" y="2286000"/>
            <a:ext cx="5105400" cy="40386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20077" y="10095"/>
                </a:moveTo>
                <a:cubicBezTo>
                  <a:pt x="19708" y="5244"/>
                  <a:pt x="15665" y="1496"/>
                  <a:pt x="10800" y="1496"/>
                </a:cubicBezTo>
                <a:cubicBezTo>
                  <a:pt x="5698" y="1495"/>
                  <a:pt x="1548" y="5603"/>
                  <a:pt x="1496" y="10704"/>
                </a:cubicBezTo>
                <a:lnTo>
                  <a:pt x="0" y="10689"/>
                </a:lnTo>
                <a:cubicBezTo>
                  <a:pt x="61" y="4767"/>
                  <a:pt x="4878" y="-1"/>
                  <a:pt x="10800" y="0"/>
                </a:cubicBezTo>
                <a:cubicBezTo>
                  <a:pt x="16447" y="0"/>
                  <a:pt x="21141" y="4350"/>
                  <a:pt x="21568" y="9981"/>
                </a:cubicBezTo>
                <a:lnTo>
                  <a:pt x="24261" y="9777"/>
                </a:lnTo>
                <a:lnTo>
                  <a:pt x="21084" y="13476"/>
                </a:lnTo>
                <a:lnTo>
                  <a:pt x="17385" y="10299"/>
                </a:lnTo>
                <a:lnTo>
                  <a:pt x="20077" y="10095"/>
                </a:lnTo>
                <a:close/>
              </a:path>
            </a:pathLst>
          </a:custGeom>
          <a:solidFill>
            <a:srgbClr val="FFFF66"/>
          </a:solidFill>
          <a:ln w="9525">
            <a:solidFill>
              <a:schemeClr val="tx1"/>
            </a:solidFill>
            <a:miter lim="800000"/>
            <a:headEnd/>
            <a:tailEnd/>
          </a:ln>
        </p:spPr>
        <p:txBody>
          <a:bodyPr vert="eaVert" wrap="none" anchor="ctr"/>
          <a:lstStyle/>
          <a:p>
            <a:endParaRPr lang="en-US"/>
          </a:p>
        </p:txBody>
      </p:sp>
      <p:sp>
        <p:nvSpPr>
          <p:cNvPr id="20495" name="Text Box 16">
            <a:extLst>
              <a:ext uri="{FF2B5EF4-FFF2-40B4-BE49-F238E27FC236}">
                <a16:creationId xmlns:a16="http://schemas.microsoft.com/office/drawing/2014/main" id="{CCDEE26C-8C1C-EEDD-CBD3-996B468C22B4}"/>
              </a:ext>
            </a:extLst>
          </p:cNvPr>
          <p:cNvSpPr txBox="1">
            <a:spLocks noChangeArrowheads="1"/>
          </p:cNvSpPr>
          <p:nvPr/>
        </p:nvSpPr>
        <p:spPr bwMode="auto">
          <a:xfrm rot="-2284320">
            <a:off x="1965406" y="2056788"/>
            <a:ext cx="180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eaLnBrk="1" hangingPunct="1">
              <a:spcBef>
                <a:spcPct val="0"/>
              </a:spcBef>
              <a:buClrTx/>
              <a:buSzTx/>
              <a:buFontTx/>
              <a:buNone/>
            </a:pPr>
            <a:r>
              <a:rPr lang="en-US" altLang="en-US" sz="1800" b="1" dirty="0">
                <a:solidFill>
                  <a:schemeClr val="hlink"/>
                </a:solidFill>
                <a:latin typeface="Arial" panose="020B0604020202020204" pitchFamily="34" charset="0"/>
              </a:rPr>
              <a:t>defect tracking</a:t>
            </a:r>
          </a:p>
        </p:txBody>
      </p:sp>
      <p:sp>
        <p:nvSpPr>
          <p:cNvPr id="20496" name="Text Box 17">
            <a:extLst>
              <a:ext uri="{FF2B5EF4-FFF2-40B4-BE49-F238E27FC236}">
                <a16:creationId xmlns:a16="http://schemas.microsoft.com/office/drawing/2014/main" id="{8F3BB3C7-5BCB-EDAD-B81F-2ACDBD5C4B89}"/>
              </a:ext>
            </a:extLst>
          </p:cNvPr>
          <p:cNvSpPr txBox="1">
            <a:spLocks noChangeArrowheads="1"/>
          </p:cNvSpPr>
          <p:nvPr/>
        </p:nvSpPr>
        <p:spPr bwMode="auto">
          <a:xfrm>
            <a:off x="4267200" y="2209801"/>
            <a:ext cx="1289050" cy="58102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defRPr>
            </a:lvl9pPr>
          </a:lstStyle>
          <a:p>
            <a:pPr algn="ctr" eaLnBrk="1" hangingPunct="1">
              <a:spcBef>
                <a:spcPct val="0"/>
              </a:spcBef>
              <a:buClrTx/>
              <a:buSzTx/>
              <a:buFontTx/>
              <a:buNone/>
            </a:pPr>
            <a:r>
              <a:rPr lang="en-US" altLang="en-US" sz="1600" b="1">
                <a:solidFill>
                  <a:schemeClr val="hlink"/>
                </a:solidFill>
                <a:latin typeface="Arial" panose="020B0604020202020204" pitchFamily="34" charset="0"/>
              </a:rPr>
              <a:t>Regression</a:t>
            </a:r>
          </a:p>
          <a:p>
            <a:pPr algn="ctr" eaLnBrk="1" hangingPunct="1">
              <a:spcBef>
                <a:spcPct val="0"/>
              </a:spcBef>
              <a:buClrTx/>
              <a:buSzTx/>
              <a:buFontTx/>
              <a:buNone/>
            </a:pPr>
            <a:r>
              <a:rPr lang="en-US" altLang="en-US" sz="1600" b="1">
                <a:solidFill>
                  <a:schemeClr val="hlink"/>
                </a:solidFill>
                <a:latin typeface="Arial" panose="020B0604020202020204" pitchFamily="34" charset="0"/>
              </a:rPr>
              <a:t>Testing</a:t>
            </a:r>
          </a:p>
        </p:txBody>
      </p:sp>
      <p:sp>
        <p:nvSpPr>
          <p:cNvPr id="15377" name="Line 19">
            <a:extLst>
              <a:ext uri="{FF2B5EF4-FFF2-40B4-BE49-F238E27FC236}">
                <a16:creationId xmlns:a16="http://schemas.microsoft.com/office/drawing/2014/main" id="{08A8FB46-D23C-413A-420C-54A409D8240D}"/>
              </a:ext>
            </a:extLst>
          </p:cNvPr>
          <p:cNvSpPr>
            <a:spLocks noChangeShapeType="1"/>
          </p:cNvSpPr>
          <p:nvPr/>
        </p:nvSpPr>
        <p:spPr bwMode="auto">
          <a:xfrm flipH="1" flipV="1">
            <a:off x="5410200" y="2057400"/>
            <a:ext cx="838200" cy="2057400"/>
          </a:xfrm>
          <a:prstGeom prst="line">
            <a:avLst/>
          </a:prstGeom>
          <a:noFill/>
          <a:ln w="57150">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5378" name="Line 20">
            <a:extLst>
              <a:ext uri="{FF2B5EF4-FFF2-40B4-BE49-F238E27FC236}">
                <a16:creationId xmlns:a16="http://schemas.microsoft.com/office/drawing/2014/main" id="{FE267021-06BD-8A34-B8AF-59503F0234D7}"/>
              </a:ext>
            </a:extLst>
          </p:cNvPr>
          <p:cNvSpPr>
            <a:spLocks noChangeShapeType="1"/>
          </p:cNvSpPr>
          <p:nvPr/>
        </p:nvSpPr>
        <p:spPr bwMode="auto">
          <a:xfrm flipH="1" flipV="1">
            <a:off x="4876800" y="2743200"/>
            <a:ext cx="1371600" cy="1371600"/>
          </a:xfrm>
          <a:prstGeom prst="line">
            <a:avLst/>
          </a:prstGeom>
          <a:noFill/>
          <a:ln w="57150">
            <a:solidFill>
              <a:schemeClr val="tx2"/>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41863419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9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9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9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0" grpId="0" animBg="1"/>
      <p:bldP spid="20491" grpId="0" animBg="1"/>
      <p:bldP spid="20495" grpId="0"/>
      <p:bldP spid="2049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62CDF875-5CE9-8556-2E5C-2554F0645843}"/>
              </a:ext>
            </a:extLst>
          </p:cNvPr>
          <p:cNvSpPr>
            <a:spLocks noGrp="1"/>
          </p:cNvSpPr>
          <p:nvPr>
            <p:ph type="title"/>
          </p:nvPr>
        </p:nvSpPr>
        <p:spPr/>
        <p:txBody>
          <a:bodyPr/>
          <a:lstStyle/>
          <a:p>
            <a:r>
              <a:rPr lang="en-US" altLang="en-US" dirty="0">
                <a:solidFill>
                  <a:schemeClr val="tx1"/>
                </a:solidFill>
              </a:rPr>
              <a:t>The V Model</a:t>
            </a:r>
          </a:p>
        </p:txBody>
      </p:sp>
      <p:pic>
        <p:nvPicPr>
          <p:cNvPr id="16387" name="Content Placeholder 4" descr="Vmodel.gif">
            <a:extLst>
              <a:ext uri="{FF2B5EF4-FFF2-40B4-BE49-F238E27FC236}">
                <a16:creationId xmlns:a16="http://schemas.microsoft.com/office/drawing/2014/main" id="{FCE0CB59-1B07-5740-5B6C-C92CDE07422C}"/>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971800" y="1676400"/>
            <a:ext cx="6248400" cy="4648200"/>
          </a:xfrm>
        </p:spPr>
      </p:pic>
    </p:spTree>
    <p:extLst>
      <p:ext uri="{BB962C8B-B14F-4D97-AF65-F5344CB8AC3E}">
        <p14:creationId xmlns:p14="http://schemas.microsoft.com/office/powerpoint/2010/main" val="1008385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4">
            <a:extLst>
              <a:ext uri="{FF2B5EF4-FFF2-40B4-BE49-F238E27FC236}">
                <a16:creationId xmlns:a16="http://schemas.microsoft.com/office/drawing/2014/main" id="{358DB33F-EB16-44E5-C00C-17E9349ADEDB}"/>
              </a:ext>
            </a:extLst>
          </p:cNvPr>
          <p:cNvSpPr>
            <a:spLocks noGrp="1"/>
          </p:cNvSpPr>
          <p:nvPr>
            <p:ph type="title"/>
          </p:nvPr>
        </p:nvSpPr>
        <p:spPr>
          <a:xfrm>
            <a:off x="1032252" y="609600"/>
            <a:ext cx="8153400" cy="990600"/>
          </a:xfrm>
        </p:spPr>
        <p:txBody>
          <a:bodyPr/>
          <a:lstStyle/>
          <a:p>
            <a:r>
              <a:rPr lang="en-US" altLang="en-US" dirty="0">
                <a:solidFill>
                  <a:schemeClr val="tx1"/>
                </a:solidFill>
              </a:rPr>
              <a:t>Agile Development</a:t>
            </a:r>
          </a:p>
        </p:txBody>
      </p:sp>
      <p:sp>
        <p:nvSpPr>
          <p:cNvPr id="17411" name="Content Placeholder 5">
            <a:extLst>
              <a:ext uri="{FF2B5EF4-FFF2-40B4-BE49-F238E27FC236}">
                <a16:creationId xmlns:a16="http://schemas.microsoft.com/office/drawing/2014/main" id="{578AAA4D-0D71-2D10-D72B-C64284336F3D}"/>
              </a:ext>
            </a:extLst>
          </p:cNvPr>
          <p:cNvSpPr>
            <a:spLocks noGrp="1"/>
          </p:cNvSpPr>
          <p:nvPr>
            <p:ph sz="quarter" idx="1"/>
          </p:nvPr>
        </p:nvSpPr>
        <p:spPr>
          <a:xfrm>
            <a:off x="1032251" y="1935178"/>
            <a:ext cx="9795693" cy="4495800"/>
          </a:xfrm>
        </p:spPr>
        <p:txBody>
          <a:bodyPr>
            <a:normAutofit/>
          </a:bodyPr>
          <a:lstStyle/>
          <a:p>
            <a:r>
              <a:rPr lang="en-US" altLang="en-US" sz="2400" dirty="0">
                <a:solidFill>
                  <a:schemeClr val="tx1"/>
                </a:solidFill>
              </a:rPr>
              <a:t>Agility = ability to react to changing situations quickly, appropriately, and effectively.</a:t>
            </a:r>
          </a:p>
          <a:p>
            <a:pPr lvl="1">
              <a:buFont typeface="Arial" panose="020B0604020202020204" pitchFamily="34" charset="0"/>
              <a:buChar char="•"/>
            </a:pPr>
            <a:r>
              <a:rPr lang="en-US" altLang="en-US" sz="2400" dirty="0">
                <a:solidFill>
                  <a:schemeClr val="tx1"/>
                </a:solidFill>
              </a:rPr>
              <a:t> notice changes early</a:t>
            </a:r>
          </a:p>
          <a:p>
            <a:pPr lvl="1">
              <a:buFont typeface="Arial" panose="020B0604020202020204" pitchFamily="34" charset="0"/>
              <a:buChar char="•"/>
            </a:pPr>
            <a:r>
              <a:rPr lang="en-US" altLang="en-US" sz="2400" dirty="0">
                <a:solidFill>
                  <a:schemeClr val="tx1"/>
                </a:solidFill>
              </a:rPr>
              <a:t> initiate action promptly</a:t>
            </a:r>
          </a:p>
          <a:p>
            <a:pPr lvl="1">
              <a:buFont typeface="Arial" panose="020B0604020202020204" pitchFamily="34" charset="0"/>
              <a:buChar char="•"/>
            </a:pPr>
            <a:r>
              <a:rPr lang="en-US" altLang="en-US" sz="2400" dirty="0">
                <a:solidFill>
                  <a:schemeClr val="tx1"/>
                </a:solidFill>
              </a:rPr>
              <a:t> create a feasible and effective alternative plan quickly</a:t>
            </a:r>
          </a:p>
          <a:p>
            <a:pPr lvl="1">
              <a:buFont typeface="Arial" panose="020B0604020202020204" pitchFamily="34" charset="0"/>
              <a:buChar char="•"/>
            </a:pPr>
            <a:r>
              <a:rPr lang="en-US" altLang="en-US" sz="2400" dirty="0">
                <a:solidFill>
                  <a:schemeClr val="tx1"/>
                </a:solidFill>
              </a:rPr>
              <a:t> reorient work and resources quickly and effectively</a:t>
            </a:r>
          </a:p>
        </p:txBody>
      </p:sp>
    </p:spTree>
    <p:extLst>
      <p:ext uri="{BB962C8B-B14F-4D97-AF65-F5344CB8AC3E}">
        <p14:creationId xmlns:p14="http://schemas.microsoft.com/office/powerpoint/2010/main" val="3971877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8854C9EE-770B-CC65-7935-7FCA205FE6D8}"/>
              </a:ext>
            </a:extLst>
          </p:cNvPr>
          <p:cNvSpPr>
            <a:spLocks noGrp="1"/>
          </p:cNvSpPr>
          <p:nvPr>
            <p:ph type="title"/>
          </p:nvPr>
        </p:nvSpPr>
        <p:spPr>
          <a:xfrm>
            <a:off x="1095626" y="808022"/>
            <a:ext cx="8153400" cy="990600"/>
          </a:xfrm>
        </p:spPr>
        <p:txBody>
          <a:bodyPr/>
          <a:lstStyle/>
          <a:p>
            <a:r>
              <a:rPr lang="en-US" altLang="en-US" dirty="0">
                <a:solidFill>
                  <a:schemeClr val="tx1"/>
                </a:solidFill>
              </a:rPr>
              <a:t>Agile Process</a:t>
            </a:r>
          </a:p>
        </p:txBody>
      </p:sp>
      <p:pic>
        <p:nvPicPr>
          <p:cNvPr id="20483" name="Picture 2">
            <a:extLst>
              <a:ext uri="{FF2B5EF4-FFF2-40B4-BE49-F238E27FC236}">
                <a16:creationId xmlns:a16="http://schemas.microsoft.com/office/drawing/2014/main" id="{2E8CC9C0-3D98-B732-7EED-BF79242E6D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798622"/>
            <a:ext cx="7315200" cy="435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8488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28066E13-A1CD-7EF0-5B7D-D789CBDB7A81}"/>
              </a:ext>
            </a:extLst>
          </p:cNvPr>
          <p:cNvSpPr>
            <a:spLocks noGrp="1"/>
          </p:cNvSpPr>
          <p:nvPr>
            <p:ph type="title"/>
          </p:nvPr>
        </p:nvSpPr>
        <p:spPr>
          <a:xfrm>
            <a:off x="851023" y="726540"/>
            <a:ext cx="8153400" cy="990600"/>
          </a:xfrm>
        </p:spPr>
        <p:txBody>
          <a:bodyPr/>
          <a:lstStyle/>
          <a:p>
            <a:r>
              <a:rPr lang="en-US" altLang="en-US" dirty="0">
                <a:solidFill>
                  <a:schemeClr val="tx1"/>
                </a:solidFill>
              </a:rPr>
              <a:t>SQA under Agile development</a:t>
            </a:r>
          </a:p>
        </p:txBody>
      </p:sp>
      <p:sp>
        <p:nvSpPr>
          <p:cNvPr id="21507" name="Content Placeholder 2">
            <a:extLst>
              <a:ext uri="{FF2B5EF4-FFF2-40B4-BE49-F238E27FC236}">
                <a16:creationId xmlns:a16="http://schemas.microsoft.com/office/drawing/2014/main" id="{D8345594-DC3E-7C04-83F5-0C9F0F685376}"/>
              </a:ext>
            </a:extLst>
          </p:cNvPr>
          <p:cNvSpPr>
            <a:spLocks noGrp="1"/>
          </p:cNvSpPr>
          <p:nvPr>
            <p:ph sz="quarter" idx="1"/>
          </p:nvPr>
        </p:nvSpPr>
        <p:spPr>
          <a:xfrm>
            <a:off x="851023" y="2107194"/>
            <a:ext cx="10827945" cy="3017068"/>
          </a:xfrm>
        </p:spPr>
        <p:txBody>
          <a:bodyPr>
            <a:normAutofit fontScale="92500" lnSpcReduction="20000"/>
          </a:bodyPr>
          <a:lstStyle/>
          <a:p>
            <a:pPr algn="just">
              <a:buFont typeface="Arial" panose="020B0604020202020204" pitchFamily="34" charset="0"/>
              <a:buChar char="•"/>
            </a:pPr>
            <a:r>
              <a:rPr lang="en-US" altLang="en-US" sz="2600" dirty="0">
                <a:solidFill>
                  <a:schemeClr val="tx1"/>
                </a:solidFill>
              </a:rPr>
              <a:t>   Testing is a QA activity. </a:t>
            </a:r>
          </a:p>
          <a:p>
            <a:pPr algn="just">
              <a:buFont typeface="Arial" panose="020B0604020202020204" pitchFamily="34" charset="0"/>
              <a:buChar char="•"/>
            </a:pPr>
            <a:r>
              <a:rPr lang="en-US" altLang="en-US" sz="2600" dirty="0">
                <a:solidFill>
                  <a:schemeClr val="tx1"/>
                </a:solidFill>
              </a:rPr>
              <a:t>   In conventional development approach, testing is conducted as a separate and complete phase.</a:t>
            </a:r>
          </a:p>
          <a:p>
            <a:pPr algn="just">
              <a:buFont typeface="Arial" panose="020B0604020202020204" pitchFamily="34" charset="0"/>
              <a:buChar char="•"/>
            </a:pPr>
            <a:r>
              <a:rPr lang="en-US" altLang="en-US" sz="2600" dirty="0">
                <a:solidFill>
                  <a:schemeClr val="tx1"/>
                </a:solidFill>
              </a:rPr>
              <a:t>   Agile development changed the whole scenario of software testing. </a:t>
            </a:r>
          </a:p>
          <a:p>
            <a:pPr algn="just">
              <a:buFont typeface="Arial" panose="020B0604020202020204" pitchFamily="34" charset="0"/>
              <a:buChar char="•"/>
            </a:pPr>
            <a:r>
              <a:rPr lang="en-US" altLang="en-US" sz="2600" dirty="0">
                <a:solidFill>
                  <a:schemeClr val="tx1"/>
                </a:solidFill>
              </a:rPr>
              <a:t>   Agile shifted the responsibility of testing to developers by adopting the techniques like Pair Programming and Test Driven Programming. </a:t>
            </a:r>
          </a:p>
          <a:p>
            <a:pPr algn="just">
              <a:buFont typeface="Arial" panose="020B0604020202020204" pitchFamily="34" charset="0"/>
              <a:buChar char="•"/>
            </a:pPr>
            <a:r>
              <a:rPr lang="en-US" altLang="en-US" sz="2600" dirty="0">
                <a:solidFill>
                  <a:schemeClr val="tx1"/>
                </a:solidFill>
              </a:rPr>
              <a:t>   Testing is integrated in each iteration that helps to shorten the release time and provides with better quality. </a:t>
            </a:r>
          </a:p>
          <a:p>
            <a:pPr algn="just">
              <a:buFont typeface="Arial" panose="020B0604020202020204" pitchFamily="34" charset="0"/>
              <a:buChar char="•"/>
            </a:pPr>
            <a:endParaRPr lang="en-US" altLang="en-US" sz="2400" dirty="0">
              <a:solidFill>
                <a:schemeClr val="tx1"/>
              </a:solidFill>
            </a:endParaRPr>
          </a:p>
        </p:txBody>
      </p:sp>
    </p:spTree>
    <p:extLst>
      <p:ext uri="{BB962C8B-B14F-4D97-AF65-F5344CB8AC3E}">
        <p14:creationId xmlns:p14="http://schemas.microsoft.com/office/powerpoint/2010/main" val="987327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390</TotalTime>
  <Words>1319</Words>
  <Application>Microsoft Office PowerPoint</Application>
  <PresentationFormat>Widescreen</PresentationFormat>
  <Paragraphs>164</Paragraphs>
  <Slides>24</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Aptos</vt:lpstr>
      <vt:lpstr>Arial</vt:lpstr>
      <vt:lpstr>Calibri</vt:lpstr>
      <vt:lpstr>Calibri Light</vt:lpstr>
      <vt:lpstr>Chiller</vt:lpstr>
      <vt:lpstr>Proxima Nova</vt:lpstr>
      <vt:lpstr>Times New Roman</vt:lpstr>
      <vt:lpstr>Wingdings 2</vt:lpstr>
      <vt:lpstr>Retrospect</vt:lpstr>
      <vt:lpstr>SE-3002 Software Quality Engineering</vt:lpstr>
      <vt:lpstr>PowerPoint Presentation</vt:lpstr>
      <vt:lpstr>Quality Control vs Quality Assurance</vt:lpstr>
      <vt:lpstr>What is the difference b/w QA &amp; QC?</vt:lpstr>
      <vt:lpstr>Benefits of Quality Software</vt:lpstr>
      <vt:lpstr>Testing, Quality Assurance, and Software Quality Engineering</vt:lpstr>
      <vt:lpstr>PowerPoint Presentation</vt:lpstr>
      <vt:lpstr>Quality Frameworks and ISO-9126</vt:lpstr>
      <vt:lpstr>Alternative frameworks and focus on correctness</vt:lpstr>
      <vt:lpstr>Correctness And Defects</vt:lpstr>
      <vt:lpstr>Correctness and Defects</vt:lpstr>
      <vt:lpstr>PowerPoint Presentation</vt:lpstr>
      <vt:lpstr>Defect related concepts &amp; relations</vt:lpstr>
      <vt:lpstr>Defect related concepts &amp; relations</vt:lpstr>
      <vt:lpstr>Software development models</vt:lpstr>
      <vt:lpstr>Waterfall Model</vt:lpstr>
      <vt:lpstr>Waterfall and SQA Activities</vt:lpstr>
      <vt:lpstr>Spiral Model</vt:lpstr>
      <vt:lpstr>Spiral with SQA</vt:lpstr>
      <vt:lpstr>The V Model</vt:lpstr>
      <vt:lpstr>Agile Development</vt:lpstr>
      <vt:lpstr>Agile Process</vt:lpstr>
      <vt:lpstr>SQA under Agile development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26</cp:revision>
  <dcterms:created xsi:type="dcterms:W3CDTF">2024-08-09T06:58:16Z</dcterms:created>
  <dcterms:modified xsi:type="dcterms:W3CDTF">2024-08-23T15:00:02Z</dcterms:modified>
</cp:coreProperties>
</file>