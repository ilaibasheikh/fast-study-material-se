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72" r:id="rId3"/>
    <p:sldId id="369" r:id="rId4"/>
    <p:sldId id="370" r:id="rId5"/>
    <p:sldId id="315" r:id="rId6"/>
    <p:sldId id="316" r:id="rId7"/>
    <p:sldId id="348" r:id="rId8"/>
    <p:sldId id="319" r:id="rId9"/>
    <p:sldId id="349" r:id="rId10"/>
    <p:sldId id="327" r:id="rId11"/>
    <p:sldId id="330" r:id="rId12"/>
    <p:sldId id="336" r:id="rId13"/>
    <p:sldId id="339" r:id="rId14"/>
    <p:sldId id="371" r:id="rId15"/>
    <p:sldId id="350" r:id="rId16"/>
    <p:sldId id="351" r:id="rId17"/>
    <p:sldId id="383" r:id="rId18"/>
    <p:sldId id="376" r:id="rId19"/>
    <p:sldId id="375" r:id="rId20"/>
    <p:sldId id="377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1088BF-0FCD-4553-83DA-44BE6EDE8E87}" v="6" dt="2024-08-25T15:31:52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1" autoAdjust="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E51088BF-0FCD-4553-83DA-44BE6EDE8E87}"/>
    <pc:docChg chg="addSld delSld modSld">
      <pc:chgData name="Ms Alina Arshad" userId="cccdfd85-d35d-4453-9c6f-a463aae40722" providerId="ADAL" clId="{E51088BF-0FCD-4553-83DA-44BE6EDE8E87}" dt="2024-08-25T15:32:35.511" v="23" actId="255"/>
      <pc:docMkLst>
        <pc:docMk/>
      </pc:docMkLst>
      <pc:sldChg chg="del">
        <pc:chgData name="Ms Alina Arshad" userId="cccdfd85-d35d-4453-9c6f-a463aae40722" providerId="ADAL" clId="{E51088BF-0FCD-4553-83DA-44BE6EDE8E87}" dt="2024-08-25T15:30:40.894" v="0" actId="47"/>
        <pc:sldMkLst>
          <pc:docMk/>
          <pc:sldMk cId="1130609535" sldId="342"/>
        </pc:sldMkLst>
      </pc:sldChg>
      <pc:sldChg chg="add del">
        <pc:chgData name="Ms Alina Arshad" userId="cccdfd85-d35d-4453-9c6f-a463aae40722" providerId="ADAL" clId="{E51088BF-0FCD-4553-83DA-44BE6EDE8E87}" dt="2024-08-25T15:30:45.589" v="2"/>
        <pc:sldMkLst>
          <pc:docMk/>
          <pc:sldMk cId="1781116589" sldId="366"/>
        </pc:sldMkLst>
      </pc:sldChg>
      <pc:sldChg chg="modSp add mod">
        <pc:chgData name="Ms Alina Arshad" userId="cccdfd85-d35d-4453-9c6f-a463aae40722" providerId="ADAL" clId="{E51088BF-0FCD-4553-83DA-44BE6EDE8E87}" dt="2024-08-25T15:32:35.511" v="23" actId="255"/>
        <pc:sldMkLst>
          <pc:docMk/>
          <pc:sldMk cId="0" sldId="375"/>
        </pc:sldMkLst>
        <pc:spChg chg="mod">
          <ac:chgData name="Ms Alina Arshad" userId="cccdfd85-d35d-4453-9c6f-a463aae40722" providerId="ADAL" clId="{E51088BF-0FCD-4553-83DA-44BE6EDE8E87}" dt="2024-08-25T15:32:18.879" v="17" actId="1076"/>
          <ac:spMkLst>
            <pc:docMk/>
            <pc:sldMk cId="0" sldId="375"/>
            <ac:spMk id="13314" creationId="{95387207-7BF6-67EB-22BF-23F27BBE2FC8}"/>
          </ac:spMkLst>
        </pc:spChg>
        <pc:spChg chg="mod">
          <ac:chgData name="Ms Alina Arshad" userId="cccdfd85-d35d-4453-9c6f-a463aae40722" providerId="ADAL" clId="{E51088BF-0FCD-4553-83DA-44BE6EDE8E87}" dt="2024-08-25T15:32:35.511" v="23" actId="255"/>
          <ac:spMkLst>
            <pc:docMk/>
            <pc:sldMk cId="0" sldId="375"/>
            <ac:spMk id="13315" creationId="{7D8CDF18-DD70-44E2-8B64-EA6A9ED1342F}"/>
          </ac:spMkLst>
        </pc:spChg>
      </pc:sldChg>
      <pc:sldChg chg="del">
        <pc:chgData name="Ms Alina Arshad" userId="cccdfd85-d35d-4453-9c6f-a463aae40722" providerId="ADAL" clId="{E51088BF-0FCD-4553-83DA-44BE6EDE8E87}" dt="2024-08-25T15:30:40.894" v="0" actId="47"/>
        <pc:sldMkLst>
          <pc:docMk/>
          <pc:sldMk cId="50377824" sldId="375"/>
        </pc:sldMkLst>
      </pc:sldChg>
      <pc:sldChg chg="modSp add mod">
        <pc:chgData name="Ms Alina Arshad" userId="cccdfd85-d35d-4453-9c6f-a463aae40722" providerId="ADAL" clId="{E51088BF-0FCD-4553-83DA-44BE6EDE8E87}" dt="2024-08-25T15:32:09.687" v="15" actId="14100"/>
        <pc:sldMkLst>
          <pc:docMk/>
          <pc:sldMk cId="0" sldId="376"/>
        </pc:sldMkLst>
        <pc:spChg chg="mod">
          <ac:chgData name="Ms Alina Arshad" userId="cccdfd85-d35d-4453-9c6f-a463aae40722" providerId="ADAL" clId="{E51088BF-0FCD-4553-83DA-44BE6EDE8E87}" dt="2024-08-25T15:32:03.740" v="13" actId="1076"/>
          <ac:spMkLst>
            <pc:docMk/>
            <pc:sldMk cId="0" sldId="376"/>
            <ac:spMk id="8" creationId="{3F086A72-323F-4487-2CDE-44723A26173C}"/>
          </ac:spMkLst>
        </pc:spChg>
        <pc:grpChg chg="mod">
          <ac:chgData name="Ms Alina Arshad" userId="cccdfd85-d35d-4453-9c6f-a463aae40722" providerId="ADAL" clId="{E51088BF-0FCD-4553-83DA-44BE6EDE8E87}" dt="2024-08-25T15:32:09.687" v="15" actId="14100"/>
          <ac:grpSpMkLst>
            <pc:docMk/>
            <pc:sldMk cId="0" sldId="376"/>
            <ac:grpSpMk id="3" creationId="{6FB561A2-ACF0-C1C2-28AC-2370528563CE}"/>
          </ac:grpSpMkLst>
        </pc:grpChg>
      </pc:sldChg>
      <pc:sldChg chg="del">
        <pc:chgData name="Ms Alina Arshad" userId="cccdfd85-d35d-4453-9c6f-a463aae40722" providerId="ADAL" clId="{E51088BF-0FCD-4553-83DA-44BE6EDE8E87}" dt="2024-08-25T15:30:40.894" v="0" actId="47"/>
        <pc:sldMkLst>
          <pc:docMk/>
          <pc:sldMk cId="387448209" sldId="376"/>
        </pc:sldMkLst>
      </pc:sldChg>
      <pc:sldChg chg="modSp add mod">
        <pc:chgData name="Ms Alina Arshad" userId="cccdfd85-d35d-4453-9c6f-a463aae40722" providerId="ADAL" clId="{E51088BF-0FCD-4553-83DA-44BE6EDE8E87}" dt="2024-08-25T15:31:52.126" v="12" actId="207"/>
        <pc:sldMkLst>
          <pc:docMk/>
          <pc:sldMk cId="0" sldId="383"/>
        </pc:sldMkLst>
        <pc:spChg chg="mod">
          <ac:chgData name="Ms Alina Arshad" userId="cccdfd85-d35d-4453-9c6f-a463aae40722" providerId="ADAL" clId="{E51088BF-0FCD-4553-83DA-44BE6EDE8E87}" dt="2024-08-25T15:31:23.942" v="6" actId="1076"/>
          <ac:spMkLst>
            <pc:docMk/>
            <pc:sldMk cId="0" sldId="383"/>
            <ac:spMk id="11266" creationId="{60F57A6F-F450-2461-65D8-66171252E255}"/>
          </ac:spMkLst>
        </pc:spChg>
        <pc:spChg chg="mod">
          <ac:chgData name="Ms Alina Arshad" userId="cccdfd85-d35d-4453-9c6f-a463aae40722" providerId="ADAL" clId="{E51088BF-0FCD-4553-83DA-44BE6EDE8E87}" dt="2024-08-25T15:31:52.126" v="12" actId="207"/>
          <ac:spMkLst>
            <pc:docMk/>
            <pc:sldMk cId="0" sldId="383"/>
            <ac:spMk id="11267" creationId="{B019F296-9BAE-B688-88F5-53DEF73C81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Related to requirements</a:t>
            </a:r>
          </a:p>
          <a:p>
            <a:r>
              <a:rPr lang="en-US" dirty="0"/>
              <a:t>https://www.chegg.com/homework-help/questions-and-answers/1discuss-detail-differences-quality-design-quality-conformance-impact-production-cost-also-q31556930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4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42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3CEDCDFE-904E-9095-1464-7E532B956E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311B8439-892C-3D36-AEE3-E359CA8FDF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4205FB7E-3A79-EAF6-9B79-FD5B23F5D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CBA67C-A89F-47A3-BF92-EC947425234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82" y="1488588"/>
            <a:ext cx="11588435" cy="1323815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1-Chapter 1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  <a:cs typeface="Times New Roman" panose="02020603050405020304" pitchFamily="18" charset="0"/>
              </a:rPr>
              <a:t>Overview and Basics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05526" y="527552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93" y="846997"/>
            <a:ext cx="4140285" cy="4107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27064"/>
          <a:stretch/>
        </p:blipFill>
        <p:spPr>
          <a:xfrm>
            <a:off x="5088194" y="846997"/>
            <a:ext cx="6215799" cy="442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1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2B16D1D-6E21-842B-D789-E98853C8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475" y="685800"/>
            <a:ext cx="9139801" cy="99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Consequences of Bad Quality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9682DE5A-0BF4-64E6-4820-1EBED229B4D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1227" y="2217174"/>
            <a:ext cx="7256206" cy="3456039"/>
          </a:xfrm>
          <a:noFill/>
        </p:spPr>
      </p:pic>
      <p:pic>
        <p:nvPicPr>
          <p:cNvPr id="12292" name="Picture 3">
            <a:extLst>
              <a:ext uri="{FF2B5EF4-FFF2-40B4-BE49-F238E27FC236}">
                <a16:creationId xmlns:a16="http://schemas.microsoft.com/office/drawing/2014/main" id="{7ED78FD9-A796-C7A5-B3C6-0CCCA252C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955" y="2192594"/>
            <a:ext cx="1917291" cy="345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4">
            <a:extLst>
              <a:ext uri="{FF2B5EF4-FFF2-40B4-BE49-F238E27FC236}">
                <a16:creationId xmlns:a16="http://schemas.microsoft.com/office/drawing/2014/main" id="{5A133682-2631-5E66-28A2-DF8966D20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140" y="2168013"/>
            <a:ext cx="284454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0A2EC16-01F1-E2B6-FF4A-F9C1BB41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483" y="228600"/>
            <a:ext cx="8153400" cy="99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Consequences of Bad Quality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D5DD5F4C-723D-C25F-852C-F7D085DDE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74" y="1219200"/>
            <a:ext cx="11076039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Kind Of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56054"/>
            <a:ext cx="3007760" cy="402336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Quality?</a:t>
            </a:r>
          </a:p>
          <a:p>
            <a:r>
              <a:rPr lang="en-US" sz="2400" dirty="0">
                <a:solidFill>
                  <a:schemeClr val="tx1"/>
                </a:solidFill>
              </a:rPr>
              <a:t>Two kinds of quality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Quality of design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Quality of Conformance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2487"/>
          <a:stretch/>
        </p:blipFill>
        <p:spPr>
          <a:xfrm>
            <a:off x="3560737" y="1952708"/>
            <a:ext cx="8267470" cy="33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2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381" y="286602"/>
            <a:ext cx="10817216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Quality Of Design vs Quality of Conformance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361" y="1954916"/>
            <a:ext cx="3529310" cy="402336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Quality of design is the degree to which the designers is intending to provide its customers.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2A4E85-9087-3C07-58B8-7428C7D786D6}"/>
              </a:ext>
            </a:extLst>
          </p:cNvPr>
          <p:cNvSpPr txBox="1">
            <a:spLocks/>
          </p:cNvSpPr>
          <p:nvPr/>
        </p:nvSpPr>
        <p:spPr>
          <a:xfrm>
            <a:off x="6371147" y="1954916"/>
            <a:ext cx="352931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Quality of conformance is the degree to how well a product or service meets its specifications. </a:t>
            </a:r>
          </a:p>
        </p:txBody>
      </p:sp>
    </p:spTree>
    <p:extLst>
      <p:ext uri="{BB962C8B-B14F-4D97-AF65-F5344CB8AC3E}">
        <p14:creationId xmlns:p14="http://schemas.microsoft.com/office/powerpoint/2010/main" val="2225180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9A88755-8147-1AB7-9694-2C5908B9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Quality Management</a:t>
            </a:r>
          </a:p>
        </p:txBody>
      </p:sp>
      <p:sp>
        <p:nvSpPr>
          <p:cNvPr id="27651" name="Content Placeholder 5">
            <a:extLst>
              <a:ext uri="{FF2B5EF4-FFF2-40B4-BE49-F238E27FC236}">
                <a16:creationId xmlns:a16="http://schemas.microsoft.com/office/drawing/2014/main" id="{6900D925-8152-07AD-8CB4-427E0B5A5B1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81101" y="1854559"/>
            <a:ext cx="8001000" cy="4354512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solidFill>
                  <a:schemeClr val="tx1"/>
                </a:solidFill>
              </a:rPr>
              <a:t>The term Quality management has a specific meaning within many business sectors. This specific definition can be considered to have the following main components: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Quality Assurance (QA)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Quality Planning (QP)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Quality Control (QC)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Quality Steering (QS)</a:t>
            </a:r>
          </a:p>
          <a:p>
            <a:endParaRPr lang="en-US" altLang="en-US" sz="2400" dirty="0">
              <a:solidFill>
                <a:schemeClr val="tx1"/>
              </a:solidFill>
            </a:endParaRPr>
          </a:p>
          <a:p>
            <a:endParaRPr lang="en-US" altLang="en-US" sz="2400" dirty="0">
              <a:solidFill>
                <a:schemeClr val="tx1"/>
              </a:solidFill>
            </a:endParaRPr>
          </a:p>
        </p:txBody>
      </p:sp>
      <p:pic>
        <p:nvPicPr>
          <p:cNvPr id="14340" name="Content Placeholder 9" descr="ISO.jpg">
            <a:extLst>
              <a:ext uri="{FF2B5EF4-FFF2-40B4-BE49-F238E27FC236}">
                <a16:creationId xmlns:a16="http://schemas.microsoft.com/office/drawing/2014/main" id="{B36F80EC-E866-AB2A-1BB0-452F286F56CD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25897" y="1854559"/>
            <a:ext cx="2514600" cy="22860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58" y="286603"/>
            <a:ext cx="10315022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Are QA And QC Same Terms?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651" y="1888813"/>
            <a:ext cx="5672123" cy="367830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BIG NO, these both terms are effectively different.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Most of the time we use both terms randomly, hence to study and understand the difference between them is important.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163" y="1888813"/>
            <a:ext cx="4261077" cy="190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2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>
            <a:extLst>
              <a:ext uri="{FF2B5EF4-FFF2-40B4-BE49-F238E27FC236}">
                <a16:creationId xmlns:a16="http://schemas.microsoft.com/office/drawing/2014/main" id="{497F5915-F819-432A-8E31-3B7351B1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43899"/>
            <a:ext cx="10058400" cy="685799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Quality Management  </a:t>
            </a:r>
            <a:r>
              <a:rPr lang="en-US" altLang="en-US" sz="4000" dirty="0">
                <a:solidFill>
                  <a:schemeClr val="tx1"/>
                </a:solidFill>
              </a:rPr>
              <a:t>(</a:t>
            </a:r>
            <a:r>
              <a:rPr lang="en-US" altLang="en-US" sz="4000" dirty="0" err="1">
                <a:solidFill>
                  <a:schemeClr val="tx1"/>
                </a:solidFill>
              </a:rPr>
              <a:t>cont</a:t>
            </a:r>
            <a:r>
              <a:rPr lang="en-US" altLang="en-US" sz="4000" dirty="0">
                <a:solidFill>
                  <a:schemeClr val="tx1"/>
                </a:solidFill>
              </a:rPr>
              <a:t>…)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D625AC-B1F1-3A6E-2A31-E378B4D7D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2920" y="2300748"/>
            <a:ext cx="4992332" cy="17526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selection of appropriate procedures and standards </a:t>
            </a:r>
            <a:r>
              <a:rPr lang="en-US" sz="2400" dirty="0">
                <a:solidFill>
                  <a:schemeClr val="tx1"/>
                </a:solidFill>
              </a:rPr>
              <a:t>from this framework, adapted for a specific software project.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EA3534-2666-C3BC-CC5F-8CD2B4F649B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007804" y="2300748"/>
            <a:ext cx="4626080" cy="13421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establishment of a framework </a:t>
            </a:r>
            <a:r>
              <a:rPr lang="en-US" sz="2400" dirty="0">
                <a:solidFill>
                  <a:schemeClr val="tx1"/>
                </a:solidFill>
              </a:rPr>
              <a:t>of organizational procedures &amp; standards that lead to high-quality software.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18DFD0B3-6F59-D5F4-1560-7CCDF2235BAE}"/>
              </a:ext>
            </a:extLst>
          </p:cNvPr>
          <p:cNvSpPr txBox="1">
            <a:spLocks/>
          </p:cNvSpPr>
          <p:nvPr/>
        </p:nvSpPr>
        <p:spPr bwMode="auto">
          <a:xfrm>
            <a:off x="6422920" y="4580136"/>
            <a:ext cx="5552770" cy="16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Planning constructive QA measures &amp; re-planning </a:t>
            </a:r>
            <a:r>
              <a:rPr lang="en-US" sz="2400" dirty="0"/>
              <a:t>based on quality control results.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E7D9D8-2E62-CD2E-CEA0-6FD1F45A7665}"/>
              </a:ext>
            </a:extLst>
          </p:cNvPr>
          <p:cNvSpPr txBox="1">
            <a:spLocks/>
          </p:cNvSpPr>
          <p:nvPr/>
        </p:nvSpPr>
        <p:spPr bwMode="auto">
          <a:xfrm>
            <a:off x="6422919" y="3799493"/>
            <a:ext cx="5127530" cy="6397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b="1" dirty="0">
                <a:solidFill>
                  <a:srgbClr val="FFFFFF"/>
                </a:solidFill>
              </a:rPr>
              <a:t>Quality Steering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BE931F7-1015-2485-5A7F-6783F7C79804}"/>
              </a:ext>
            </a:extLst>
          </p:cNvPr>
          <p:cNvSpPr txBox="1">
            <a:spLocks/>
          </p:cNvSpPr>
          <p:nvPr/>
        </p:nvSpPr>
        <p:spPr bwMode="auto">
          <a:xfrm>
            <a:off x="1007803" y="3831448"/>
            <a:ext cx="4626080" cy="639763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2400" b="1" dirty="0">
                <a:solidFill>
                  <a:srgbClr val="FFFFFF"/>
                </a:solidFill>
              </a:rPr>
              <a:t>Quality Control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02CD4FE-FF4F-7D6A-55C7-DCAEC54312BF}"/>
              </a:ext>
            </a:extLst>
          </p:cNvPr>
          <p:cNvSpPr txBox="1">
            <a:spLocks/>
          </p:cNvSpPr>
          <p:nvPr/>
        </p:nvSpPr>
        <p:spPr bwMode="auto">
          <a:xfrm>
            <a:off x="1007804" y="1645341"/>
            <a:ext cx="4626079" cy="639763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</a:rPr>
              <a:t>Quality Assurance	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1746A656-18BD-D550-8910-5D0C6C6E3BEE}"/>
              </a:ext>
            </a:extLst>
          </p:cNvPr>
          <p:cNvSpPr txBox="1">
            <a:spLocks/>
          </p:cNvSpPr>
          <p:nvPr/>
        </p:nvSpPr>
        <p:spPr>
          <a:xfrm>
            <a:off x="1007804" y="4580135"/>
            <a:ext cx="4626080" cy="134210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700"/>
              </a:spcBef>
              <a:buClr>
                <a:schemeClr val="accent2"/>
              </a:buClr>
              <a:buSzPct val="60000"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The definition and enactment of processes that ensure the software development team have followed project quality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procedures and standards.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395201-750D-67F2-B16B-D02A9574294A}"/>
              </a:ext>
            </a:extLst>
          </p:cNvPr>
          <p:cNvSpPr txBox="1">
            <a:spLocks/>
          </p:cNvSpPr>
          <p:nvPr/>
        </p:nvSpPr>
        <p:spPr bwMode="auto">
          <a:xfrm>
            <a:off x="6422920" y="1660984"/>
            <a:ext cx="4992331" cy="639763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</a:rPr>
              <a:t>Quality Planning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QA vs QC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964" b="19135"/>
          <a:stretch/>
        </p:blipFill>
        <p:spPr>
          <a:xfrm>
            <a:off x="1097280" y="2365483"/>
            <a:ext cx="4743081" cy="1842584"/>
          </a:xfrm>
          <a:prstGeom prst="rect">
            <a:avLst/>
          </a:prstGeom>
        </p:spPr>
      </p:pic>
      <p:pic>
        <p:nvPicPr>
          <p:cNvPr id="3" name="Content Placeholder 5"/>
          <p:cNvPicPr>
            <a:picLocks noChangeAspect="1"/>
          </p:cNvPicPr>
          <p:nvPr/>
        </p:nvPicPr>
        <p:blipFill rotWithShape="1">
          <a:blip r:embed="rId3"/>
          <a:srcRect t="4695" b="26271"/>
          <a:stretch/>
        </p:blipFill>
        <p:spPr>
          <a:xfrm>
            <a:off x="6766560" y="2365483"/>
            <a:ext cx="4389120" cy="14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5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to achieve QA/QC goals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471" r="2968"/>
          <a:stretch/>
        </p:blipFill>
        <p:spPr>
          <a:xfrm>
            <a:off x="949797" y="2631009"/>
            <a:ext cx="5436255" cy="3256547"/>
          </a:xfrm>
          <a:prstGeom prst="rect">
            <a:avLst/>
          </a:prstGeom>
        </p:spPr>
      </p:pic>
      <p:pic>
        <p:nvPicPr>
          <p:cNvPr id="3" name="Content Placeholder 5"/>
          <p:cNvPicPr>
            <a:picLocks noChangeAspect="1"/>
          </p:cNvPicPr>
          <p:nvPr/>
        </p:nvPicPr>
        <p:blipFill rotWithShape="1">
          <a:blip r:embed="rId4"/>
          <a:srcRect l="2862" t="7457" b="11506"/>
          <a:stretch/>
        </p:blipFill>
        <p:spPr>
          <a:xfrm>
            <a:off x="6769510" y="2631009"/>
            <a:ext cx="5123956" cy="29821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6EBA67E-4C16-127A-EC1F-31248551F723}"/>
              </a:ext>
            </a:extLst>
          </p:cNvPr>
          <p:cNvSpPr txBox="1">
            <a:spLocks/>
          </p:cNvSpPr>
          <p:nvPr/>
        </p:nvSpPr>
        <p:spPr>
          <a:xfrm>
            <a:off x="2146874" y="1920878"/>
            <a:ext cx="2248146" cy="7661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QA goals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46A4B7-46CB-ED4E-D126-5E166B451B7A}"/>
              </a:ext>
            </a:extLst>
          </p:cNvPr>
          <p:cNvSpPr txBox="1">
            <a:spLocks/>
          </p:cNvSpPr>
          <p:nvPr/>
        </p:nvSpPr>
        <p:spPr>
          <a:xfrm>
            <a:off x="8036397" y="1801097"/>
            <a:ext cx="2248146" cy="7661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QC goals</a:t>
            </a:r>
          </a:p>
        </p:txBody>
      </p:sp>
    </p:spTree>
    <p:extLst>
      <p:ext uri="{BB962C8B-B14F-4D97-AF65-F5344CB8AC3E}">
        <p14:creationId xmlns:p14="http://schemas.microsoft.com/office/powerpoint/2010/main" val="108910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25910"/>
            <a:ext cx="10058400" cy="9114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Responsible for QA/QC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4E4615C-21A4-59A3-AFFE-524846131831}"/>
              </a:ext>
            </a:extLst>
          </p:cNvPr>
          <p:cNvSpPr txBox="1">
            <a:spLocks/>
          </p:cNvSpPr>
          <p:nvPr/>
        </p:nvSpPr>
        <p:spPr>
          <a:xfrm>
            <a:off x="1097280" y="1946786"/>
            <a:ext cx="5165868" cy="21975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  <a:latin typeface="+mn-lt"/>
              </a:rPr>
              <a:t>Everyone on the team involved in developing the product is responsible to quality assurance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A9F2165-447F-963E-7DB8-433B0713EE60}"/>
              </a:ext>
            </a:extLst>
          </p:cNvPr>
          <p:cNvSpPr txBox="1">
            <a:spLocks/>
          </p:cNvSpPr>
          <p:nvPr/>
        </p:nvSpPr>
        <p:spPr>
          <a:xfrm>
            <a:off x="6411614" y="1946786"/>
            <a:ext cx="5328101" cy="21975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  <a:latin typeface="+mn-lt"/>
              </a:rPr>
              <a:t>Quality control is usually the responsibility of a specific team that tests the product for defects </a:t>
            </a:r>
          </a:p>
        </p:txBody>
      </p:sp>
    </p:spTree>
    <p:extLst>
      <p:ext uri="{BB962C8B-B14F-4D97-AF65-F5344CB8AC3E}">
        <p14:creationId xmlns:p14="http://schemas.microsoft.com/office/powerpoint/2010/main" val="81506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QA and QC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0725"/>
            <a:ext cx="10568694" cy="418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61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AFE11B7-958C-8C43-07F9-3CFB6494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36" y="762000"/>
            <a:ext cx="8153400" cy="99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Origin of Quality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C742-288A-F45F-2296-0C2C6E5A028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19136" y="1865671"/>
            <a:ext cx="10133883" cy="2367116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400" dirty="0">
                <a:solidFill>
                  <a:schemeClr val="tx1"/>
                </a:solidFill>
              </a:rPr>
              <a:t>The concept of</a:t>
            </a:r>
            <a:r>
              <a:rPr lang="en-US" sz="2400" dirty="0"/>
              <a:t> ‘</a:t>
            </a:r>
            <a:r>
              <a:rPr lang="en-US" sz="2400" b="1" i="1" u="sng" dirty="0">
                <a:solidFill>
                  <a:schemeClr val="accent2"/>
                </a:solidFill>
              </a:rPr>
              <a:t>quality</a:t>
            </a:r>
            <a:r>
              <a:rPr lang="en-US" sz="2400" dirty="0"/>
              <a:t>’ </a:t>
            </a:r>
            <a:r>
              <a:rPr lang="en-US" sz="2400" dirty="0">
                <a:solidFill>
                  <a:schemeClr val="tx1"/>
                </a:solidFill>
              </a:rPr>
              <a:t>came out with industrial revolution.</a:t>
            </a:r>
          </a:p>
          <a:p>
            <a:pPr algn="just">
              <a:defRPr/>
            </a:pPr>
            <a:r>
              <a:rPr lang="en-US" sz="2400" dirty="0">
                <a:solidFill>
                  <a:schemeClr val="tx1"/>
                </a:solidFill>
              </a:rPr>
              <a:t>Earlier the product would be </a:t>
            </a:r>
            <a:r>
              <a:rPr lang="en-US" sz="2400" b="1" i="1" u="sng" dirty="0">
                <a:solidFill>
                  <a:schemeClr val="accent1">
                    <a:lumMod val="75000"/>
                  </a:schemeClr>
                </a:solidFill>
              </a:rPr>
              <a:t>crafted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by a single person or a team of people overseeing all aspects of ‘quality’ criteria.</a:t>
            </a:r>
          </a:p>
          <a:p>
            <a:pPr algn="just">
              <a:defRPr/>
            </a:pPr>
            <a:r>
              <a:rPr lang="en-US" sz="2400" b="1" i="1" u="sng" dirty="0">
                <a:solidFill>
                  <a:schemeClr val="accent5">
                    <a:lumMod val="75000"/>
                  </a:schemeClr>
                </a:solidFill>
              </a:rPr>
              <a:t>Mass production </a:t>
            </a:r>
            <a:r>
              <a:rPr lang="en-US" sz="2400" dirty="0">
                <a:solidFill>
                  <a:schemeClr val="tx1"/>
                </a:solidFill>
              </a:rPr>
              <a:t>brought large teams working on a product in different stages of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3F4C5AC9-203B-C1BB-BA95-6E636C10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605555"/>
            <a:ext cx="10672915" cy="9906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chemeClr val="tx1"/>
                </a:solidFill>
              </a:rPr>
              <a:t>Software Development &amp; Quality Management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31DEDC7A-1519-C1E3-46E7-CEABCE509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33" y="2054942"/>
            <a:ext cx="987650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FE377-8694-750F-8735-08688B54A74F}"/>
              </a:ext>
            </a:extLst>
          </p:cNvPr>
          <p:cNvSpPr/>
          <p:nvPr/>
        </p:nvSpPr>
        <p:spPr>
          <a:xfrm>
            <a:off x="2281084" y="5102942"/>
            <a:ext cx="7772400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800" i="1" dirty="0">
                <a:solidFill>
                  <a:schemeClr val="accent2"/>
                </a:solidFill>
                <a:latin typeface="+mj-lt"/>
              </a:rPr>
              <a:t>Quality management must occur </a:t>
            </a:r>
            <a:r>
              <a:rPr lang="en-US" sz="2800" i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continually</a:t>
            </a:r>
            <a:r>
              <a:rPr lang="en-US" sz="2800" i="1" dirty="0">
                <a:solidFill>
                  <a:schemeClr val="accent2"/>
                </a:solidFill>
                <a:latin typeface="+mj-lt"/>
              </a:rPr>
              <a:t> during software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D5D937A-95F5-EC05-9E8B-17A714B8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73394"/>
            <a:ext cx="10058400" cy="763966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Software Quality and Productivity</a:t>
            </a:r>
          </a:p>
        </p:txBody>
      </p:sp>
      <p:sp>
        <p:nvSpPr>
          <p:cNvPr id="41987" name="Content Placeholder 3">
            <a:extLst>
              <a:ext uri="{FF2B5EF4-FFF2-40B4-BE49-F238E27FC236}">
                <a16:creationId xmlns:a16="http://schemas.microsoft.com/office/drawing/2014/main" id="{8908E405-9DBE-4405-7B4D-76EB1D28B418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322439" y="4144963"/>
            <a:ext cx="4370438" cy="2514600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</a:rPr>
              <a:t>Structured design and JAD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Structured code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Use of inspections, static analysis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Reuse of certified components</a:t>
            </a:r>
          </a:p>
        </p:txBody>
      </p:sp>
      <p:sp>
        <p:nvSpPr>
          <p:cNvPr id="41988" name="Content Placeholder 6">
            <a:extLst>
              <a:ext uri="{FF2B5EF4-FFF2-40B4-BE49-F238E27FC236}">
                <a16:creationId xmlns:a16="http://schemas.microsoft.com/office/drawing/2014/main" id="{8D89C1C2-AD79-1129-3B99-7AB86682A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4049765"/>
            <a:ext cx="4370437" cy="2514600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</a:rPr>
              <a:t>Design inspections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Code inspections, static analysis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Formal Testing using mathematical test case design</a:t>
            </a:r>
          </a:p>
        </p:txBody>
      </p:sp>
      <p:sp>
        <p:nvSpPr>
          <p:cNvPr id="41989" name="Text Placeholder 4">
            <a:extLst>
              <a:ext uri="{FF2B5EF4-FFF2-40B4-BE49-F238E27FC236}">
                <a16:creationId xmlns:a16="http://schemas.microsoft.com/office/drawing/2014/main" id="{2C9A5095-1D6C-1175-EE8D-6A9D8EA0939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322439" y="3505200"/>
            <a:ext cx="3886200" cy="639763"/>
          </a:xfrm>
        </p:spPr>
        <p:txBody>
          <a:bodyPr/>
          <a:lstStyle/>
          <a:p>
            <a:r>
              <a:rPr lang="en-US" altLang="en-US" b="1" dirty="0"/>
              <a:t>Defect Prevention Techniques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5F5110-2EE3-2114-8EF2-03C75DA26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3468329"/>
            <a:ext cx="3886200" cy="639763"/>
          </a:xfrm>
        </p:spPr>
        <p:txBody>
          <a:bodyPr/>
          <a:lstStyle/>
          <a:p>
            <a:pPr>
              <a:defRPr/>
            </a:pPr>
            <a:r>
              <a:rPr lang="en-US" b="1" dirty="0"/>
              <a:t>Defect Removal Techniques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61DA2-DEFC-94AB-14A3-CC17D2D50FD9}"/>
              </a:ext>
            </a:extLst>
          </p:cNvPr>
          <p:cNvSpPr/>
          <p:nvPr/>
        </p:nvSpPr>
        <p:spPr>
          <a:xfrm>
            <a:off x="1036319" y="1930065"/>
            <a:ext cx="10260945" cy="1382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9088" indent="-319088" algn="just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600" dirty="0"/>
              <a:t>The most effective way of improving software productivity and shortening project schedules is to reduce defect levels.</a:t>
            </a:r>
          </a:p>
          <a:p>
            <a:pPr marL="319088" indent="-319088" algn="just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600" dirty="0"/>
              <a:t>Defect reduction can occur through: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0F57A6F-F450-2461-65D8-66171252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626" y="762000"/>
            <a:ext cx="8153400" cy="99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Cost of Quality - Concept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B019F296-9BAE-B688-88F5-53DEF73C81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07626" y="1858296"/>
            <a:ext cx="10355109" cy="4237703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400" dirty="0">
                <a:solidFill>
                  <a:schemeClr val="tx1"/>
                </a:solidFill>
              </a:rPr>
              <a:t>Organizations need to be aware of the costs associated with making errors as a way of identifying </a:t>
            </a:r>
            <a:r>
              <a:rPr lang="en-US" sz="2400" b="1" dirty="0">
                <a:solidFill>
                  <a:schemeClr val="tx1"/>
                </a:solidFill>
              </a:rPr>
              <a:t>areas for improvement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algn="just">
              <a:defRPr/>
            </a:pPr>
            <a:r>
              <a:rPr lang="en-US" sz="2400" dirty="0">
                <a:solidFill>
                  <a:schemeClr val="tx1"/>
                </a:solidFill>
              </a:rPr>
              <a:t>Money is lost due to </a:t>
            </a:r>
            <a:r>
              <a:rPr lang="en-US" sz="2400" b="1" dirty="0">
                <a:solidFill>
                  <a:schemeClr val="tx1"/>
                </a:solidFill>
              </a:rPr>
              <a:t>rework  </a:t>
            </a:r>
            <a:r>
              <a:rPr lang="en-US" sz="2400" dirty="0">
                <a:solidFill>
                  <a:schemeClr val="tx1"/>
                </a:solidFill>
              </a:rPr>
              <a:t>if the work is not performed in a way that it should be.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endParaRPr lang="en-US" sz="2400" b="1" dirty="0"/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“</a:t>
            </a:r>
            <a:r>
              <a:rPr lang="en-US" sz="2400" dirty="0">
                <a:solidFill>
                  <a:schemeClr val="tx1"/>
                </a:solidFill>
              </a:rPr>
              <a:t>Do it right first time every time” attitude is necessary.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EFB1FC5F-C6BA-7632-0079-E55FF24F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r>
              <a:rPr lang="en-US" altLang="en-US"/>
              <a:t>The Quality Is Free Concept</a:t>
            </a:r>
          </a:p>
        </p:txBody>
      </p:sp>
      <p:graphicFrame>
        <p:nvGraphicFramePr>
          <p:cNvPr id="12291" name="Object 2">
            <a:hlinkClick r:id="" action="ppaction://ole?verb=0"/>
            <a:extLst>
              <a:ext uri="{FF2B5EF4-FFF2-40B4-BE49-F238E27FC236}">
                <a16:creationId xmlns:a16="http://schemas.microsoft.com/office/drawing/2014/main" id="{46738AA3-ECF2-0450-BC54-123FA948EA31}"/>
              </a:ext>
            </a:extLst>
          </p:cNvPr>
          <p:cNvGraphicFramePr>
            <a:graphicFrameLocks/>
          </p:cNvGraphicFramePr>
          <p:nvPr/>
        </p:nvGraphicFramePr>
        <p:xfrm>
          <a:off x="4254500" y="1930401"/>
          <a:ext cx="3684588" cy="244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ClipArt Gallery" r:id="rId2" imgW="7754620" imgH="5547995" progId="MS_ClipArt_Gallery">
                  <p:embed/>
                </p:oleObj>
              </mc:Choice>
              <mc:Fallback>
                <p:oleObj name="Microsoft ClipArt Gallery" r:id="rId2" imgW="7754620" imgH="5547995" progId="MS_ClipArt_Gallery">
                  <p:embed/>
                  <p:pic>
                    <p:nvPicPr>
                      <p:cNvPr id="12291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46738AA3-ECF2-0450-BC54-123FA948EA3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5" b="7104"/>
                      <a:stretch>
                        <a:fillRect/>
                      </a:stretch>
                    </p:blipFill>
                    <p:spPr bwMode="auto">
                      <a:xfrm>
                        <a:off x="4254500" y="1930401"/>
                        <a:ext cx="3684588" cy="244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>
            <a:extLst>
              <a:ext uri="{FF2B5EF4-FFF2-40B4-BE49-F238E27FC236}">
                <a16:creationId xmlns:a16="http://schemas.microsoft.com/office/drawing/2014/main" id="{2ADA7A4E-9E2F-23B6-B556-E32723D3AC19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3619500"/>
            <a:ext cx="5651500" cy="2844800"/>
            <a:chOff x="696" y="2280"/>
            <a:chExt cx="3560" cy="1792"/>
          </a:xfrm>
        </p:grpSpPr>
        <p:sp>
          <p:nvSpPr>
            <p:cNvPr id="3081" name="Line 2">
              <a:extLst>
                <a:ext uri="{FF2B5EF4-FFF2-40B4-BE49-F238E27FC236}">
                  <a16:creationId xmlns:a16="http://schemas.microsoft.com/office/drawing/2014/main" id="{56D9BE0C-D4DB-BADF-04F1-EEAF76361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2280"/>
              <a:ext cx="1008" cy="912"/>
            </a:xfrm>
            <a:prstGeom prst="line">
              <a:avLst/>
            </a:prstGeom>
            <a:noFill/>
            <a:ln w="76200">
              <a:solidFill>
                <a:schemeClr val="accent1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082" name="Oval 5">
              <a:extLst>
                <a:ext uri="{FF2B5EF4-FFF2-40B4-BE49-F238E27FC236}">
                  <a16:creationId xmlns:a16="http://schemas.microsoft.com/office/drawing/2014/main" id="{2B2A72CC-4528-A201-5AC6-2CA93E271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984"/>
              <a:ext cx="2816" cy="1088"/>
            </a:xfrm>
            <a:prstGeom prst="ellipse">
              <a:avLst/>
            </a:prstGeom>
            <a:solidFill>
              <a:schemeClr val="accent2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1" hangingPunct="1">
                <a:defRPr/>
              </a:pP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Greater</a:t>
              </a:r>
              <a:br>
                <a:rPr lang="en-US" sz="2400" b="1" dirty="0">
                  <a:solidFill>
                    <a:schemeClr val="bg2"/>
                  </a:solidFill>
                  <a:latin typeface="+mj-lt"/>
                </a:rPr>
              </a:b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customer</a:t>
              </a:r>
              <a:br>
                <a:rPr lang="en-US" sz="2400" b="1" dirty="0">
                  <a:solidFill>
                    <a:schemeClr val="bg2"/>
                  </a:solidFill>
                  <a:latin typeface="+mj-lt"/>
                </a:rPr>
              </a:b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satisfaction</a:t>
              </a:r>
            </a:p>
          </p:txBody>
        </p:sp>
      </p:grpSp>
      <p:sp>
        <p:nvSpPr>
          <p:cNvPr id="8" name="AutoShape 6">
            <a:extLst>
              <a:ext uri="{FF2B5EF4-FFF2-40B4-BE49-F238E27FC236}">
                <a16:creationId xmlns:a16="http://schemas.microsoft.com/office/drawing/2014/main" id="{3F086A72-323F-4487-2CDE-44723A26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094" y="1511300"/>
            <a:ext cx="1955800" cy="2108200"/>
          </a:xfrm>
          <a:prstGeom prst="roundRect">
            <a:avLst>
              <a:gd name="adj" fmla="val 12495"/>
            </a:avLst>
          </a:prstGeom>
          <a:solidFill>
            <a:schemeClr val="accent2"/>
          </a:solidFill>
          <a:ln w="25400">
            <a:solidFill>
              <a:schemeClr val="accent2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pPr algn="ctr" eaLnBrk="1" hangingPunct="1">
              <a:defRPr/>
            </a:pPr>
            <a:r>
              <a:rPr lang="en-US" sz="2400" b="1" dirty="0">
                <a:solidFill>
                  <a:schemeClr val="bg2"/>
                </a:solidFill>
                <a:latin typeface="+mj-lt"/>
              </a:rPr>
              <a:t>Quality</a:t>
            </a:r>
            <a:br>
              <a:rPr lang="en-US" sz="2400" b="1" dirty="0">
                <a:solidFill>
                  <a:schemeClr val="bg2"/>
                </a:solidFill>
                <a:latin typeface="+mj-lt"/>
              </a:rPr>
            </a:br>
            <a:r>
              <a:rPr lang="en-US" sz="2400" b="1" dirty="0">
                <a:solidFill>
                  <a:schemeClr val="bg2"/>
                </a:solidFill>
                <a:latin typeface="+mj-lt"/>
              </a:rPr>
              <a:t>products</a:t>
            </a:r>
            <a:br>
              <a:rPr lang="en-US" sz="2400" b="1" dirty="0">
                <a:solidFill>
                  <a:schemeClr val="bg2"/>
                </a:solidFill>
                <a:latin typeface="+mj-lt"/>
              </a:rPr>
            </a:br>
            <a:r>
              <a:rPr lang="en-US" sz="2400" b="1" dirty="0">
                <a:solidFill>
                  <a:schemeClr val="bg2"/>
                </a:solidFill>
                <a:latin typeface="+mj-lt"/>
              </a:rPr>
              <a:t>and</a:t>
            </a:r>
            <a:br>
              <a:rPr lang="en-US" sz="2400" b="1" dirty="0">
                <a:solidFill>
                  <a:schemeClr val="bg2"/>
                </a:solidFill>
                <a:latin typeface="+mj-lt"/>
              </a:rPr>
            </a:br>
            <a:r>
              <a:rPr lang="en-US" sz="2400" b="1" dirty="0">
                <a:solidFill>
                  <a:schemeClr val="bg2"/>
                </a:solidFill>
                <a:latin typeface="+mj-lt"/>
              </a:rPr>
              <a:t>services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6FB561A2-ACF0-C1C2-28AC-2370528563CE}"/>
              </a:ext>
            </a:extLst>
          </p:cNvPr>
          <p:cNvGrpSpPr>
            <a:grpSpLocks/>
          </p:cNvGrpSpPr>
          <p:nvPr/>
        </p:nvGrpSpPr>
        <p:grpSpPr bwMode="auto">
          <a:xfrm>
            <a:off x="7742903" y="1511300"/>
            <a:ext cx="2812385" cy="3556000"/>
            <a:chOff x="3960" y="1064"/>
            <a:chExt cx="1648" cy="2104"/>
          </a:xfrm>
        </p:grpSpPr>
        <p:sp>
          <p:nvSpPr>
            <p:cNvPr id="3079" name="AutoShape 7">
              <a:extLst>
                <a:ext uri="{FF2B5EF4-FFF2-40B4-BE49-F238E27FC236}">
                  <a16:creationId xmlns:a16="http://schemas.microsoft.com/office/drawing/2014/main" id="{CCD7EFE6-9E89-DD76-24C7-D044F6982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1064"/>
              <a:ext cx="1232" cy="1328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pPr algn="ctr" eaLnBrk="1" hangingPunct="1">
                <a:defRPr/>
              </a:pP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Increased</a:t>
              </a:r>
              <a:br>
                <a:rPr lang="en-US" sz="2400" b="1" dirty="0">
                  <a:solidFill>
                    <a:schemeClr val="bg2"/>
                  </a:solidFill>
                  <a:latin typeface="+mj-lt"/>
                </a:rPr>
              </a:b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business</a:t>
              </a:r>
              <a:br>
                <a:rPr lang="en-US" sz="2400" b="1" dirty="0">
                  <a:solidFill>
                    <a:schemeClr val="bg2"/>
                  </a:solidFill>
                  <a:latin typeface="+mj-lt"/>
                </a:rPr>
              </a:b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and</a:t>
              </a:r>
              <a:br>
                <a:rPr lang="en-US" sz="2400" b="1" dirty="0">
                  <a:solidFill>
                    <a:schemeClr val="bg2"/>
                  </a:solidFill>
                  <a:latin typeface="+mj-lt"/>
                </a:rPr>
              </a:br>
              <a:r>
                <a:rPr lang="en-US" sz="2400" b="1" dirty="0">
                  <a:solidFill>
                    <a:schemeClr val="bg2"/>
                  </a:solidFill>
                  <a:latin typeface="+mj-lt"/>
                </a:rPr>
                <a:t>profits</a:t>
              </a:r>
            </a:p>
          </p:txBody>
        </p:sp>
        <p:sp>
          <p:nvSpPr>
            <p:cNvPr id="3080" name="Line 8">
              <a:extLst>
                <a:ext uri="{FF2B5EF4-FFF2-40B4-BE49-F238E27FC236}">
                  <a16:creationId xmlns:a16="http://schemas.microsoft.com/office/drawing/2014/main" id="{DECD64A5-BBF5-9F32-E6AA-8F882BAE4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0" y="2400"/>
              <a:ext cx="1056" cy="768"/>
            </a:xfrm>
            <a:prstGeom prst="line">
              <a:avLst/>
            </a:prstGeom>
            <a:noFill/>
            <a:ln w="76200">
              <a:solidFill>
                <a:schemeClr val="accent1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5387207-7BF6-67EB-22BF-23F27BBE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394" y="762000"/>
            <a:ext cx="8153400" cy="99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Cost of Quality - Definition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7D8CDF18-DD70-44E2-8B64-EA6A9ED134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4348" y="1917290"/>
            <a:ext cx="10943303" cy="3957484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400" dirty="0">
                <a:solidFill>
                  <a:schemeClr val="tx1"/>
                </a:solidFill>
              </a:rPr>
              <a:t>The total costs incurred on quality activities and issues and often split into prevention costs, appraisal costs, internal failure costs and external failure costs.</a:t>
            </a:r>
          </a:p>
          <a:p>
            <a:pPr algn="just" eaLnBrk="1" hangingPunct="1"/>
            <a:r>
              <a:rPr lang="en-US" altLang="en-US" sz="2400" dirty="0">
                <a:solidFill>
                  <a:schemeClr val="tx1"/>
                </a:solidFill>
              </a:rPr>
              <a:t>Money spent beyond expected production costs (labor, materials, equipment) to ensure that the product the customer receives is a quality (defect free) product. The Cost of Quality includes prevention, appraisal, and correction or repair costs.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E0A8-6E79-445B-A2D1-B77815302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382137"/>
            <a:ext cx="10896575" cy="128572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Cost metrics/parameters for the evaluation of an SQA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810D4-BDEE-425D-BCAC-D12AAA2E0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Percentage of cost of software quality out of total software development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Percentage of software failure costs out of total software development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Percentage of cost of software quality out of total software maintenance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Percentage of cost of software quality out of total sales of software products and software maintenance.</a:t>
            </a:r>
          </a:p>
        </p:txBody>
      </p:sp>
    </p:spTree>
    <p:extLst>
      <p:ext uri="{BB962C8B-B14F-4D97-AF65-F5344CB8AC3E}">
        <p14:creationId xmlns:p14="http://schemas.microsoft.com/office/powerpoint/2010/main" val="878700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589</TotalTime>
  <Words>682</Words>
  <Application>Microsoft Office PowerPoint</Application>
  <PresentationFormat>Widescreen</PresentationFormat>
  <Paragraphs>83</Paragraphs>
  <Slides>21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Times New Roman</vt:lpstr>
      <vt:lpstr>Wingdings</vt:lpstr>
      <vt:lpstr>Retrospect</vt:lpstr>
      <vt:lpstr>Microsoft ClipArt Gallery</vt:lpstr>
      <vt:lpstr>Software Quality Engineering</vt:lpstr>
      <vt:lpstr>PowerPoint Presentation</vt:lpstr>
      <vt:lpstr>Consequences of Bad Quality</vt:lpstr>
      <vt:lpstr>Consequences of Bad Quality</vt:lpstr>
      <vt:lpstr>Kind Of Quality</vt:lpstr>
      <vt:lpstr>Quality Of Design vs Quality of Conformance</vt:lpstr>
      <vt:lpstr>Quality Management</vt:lpstr>
      <vt:lpstr>Are QA And QC Same Terms?</vt:lpstr>
      <vt:lpstr>Quality Management  (cont…)</vt:lpstr>
      <vt:lpstr>QA vs QC</vt:lpstr>
      <vt:lpstr>How to achieve QA/QC goals</vt:lpstr>
      <vt:lpstr>Responsible for QA/QC</vt:lpstr>
      <vt:lpstr>QA and QC</vt:lpstr>
      <vt:lpstr>Origin of Quality Management</vt:lpstr>
      <vt:lpstr>Software Development &amp; Quality Management</vt:lpstr>
      <vt:lpstr>Software Quality and Productivity</vt:lpstr>
      <vt:lpstr>Cost of Quality - Concept</vt:lpstr>
      <vt:lpstr>The Quality Is Free Concept</vt:lpstr>
      <vt:lpstr>Cost of Quality - Definition</vt:lpstr>
      <vt:lpstr>Cost metrics/parameters for the evaluation of an SQA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34</cp:revision>
  <dcterms:created xsi:type="dcterms:W3CDTF">2024-08-09T06:58:16Z</dcterms:created>
  <dcterms:modified xsi:type="dcterms:W3CDTF">2024-08-25T15:32:41Z</dcterms:modified>
</cp:coreProperties>
</file>