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sldIdLst>
    <p:sldId id="256" r:id="rId2"/>
    <p:sldId id="269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300" r:id="rId17"/>
    <p:sldId id="284" r:id="rId18"/>
    <p:sldId id="285" r:id="rId19"/>
    <p:sldId id="286" r:id="rId20"/>
    <p:sldId id="287" r:id="rId21"/>
    <p:sldId id="28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41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51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1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8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07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13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06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6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07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6912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71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2007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49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75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20078-376C-4EC9-9B35-3283D4F330F1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AF889C2-980D-49CA-AB7C-1E654BA5E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8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Business Process Engineering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94669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Week </a:t>
            </a:r>
            <a:r>
              <a:rPr lang="en-US" dirty="0" smtClean="0"/>
              <a:t>07-08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754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B4627-FECC-2DC6-1348-233B2916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34B95-8237-A1D9-39A4-86ABEC5BF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Business-to-Business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DAF91-79BA-D9C9-8EF7-4EF6CFE1C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Enterprise Services Computing</a:t>
            </a:r>
          </a:p>
          <a:p>
            <a:r>
              <a:rPr lang="en-US" dirty="0"/>
              <a:t>A service captures functionality with a business value that is ready to be used. </a:t>
            </a:r>
          </a:p>
          <a:p>
            <a:r>
              <a:rPr lang="en-US" dirty="0"/>
              <a:t>Services are made available by service providers. </a:t>
            </a:r>
          </a:p>
          <a:p>
            <a:r>
              <a:rPr lang="en-US" dirty="0"/>
              <a:t>A service requires a service description that can be accessed and understood by potential service requestors.</a:t>
            </a:r>
          </a:p>
          <a:p>
            <a:r>
              <a:rPr lang="en-US" dirty="0"/>
              <a:t>Software services are services that are realized by software systems.</a:t>
            </a:r>
          </a:p>
          <a:p>
            <a:r>
              <a:rPr lang="en-US" dirty="0"/>
              <a:t>Consider a real-world service, for example, one to fix a car. The service the garage provides needs to be specified in a way that the customer can find and use. Once the car is fixed, the customer pays the bill and the service is completed. </a:t>
            </a:r>
          </a:p>
        </p:txBody>
      </p:sp>
    </p:spTree>
    <p:extLst>
      <p:ext uri="{BB962C8B-B14F-4D97-AF65-F5344CB8AC3E}">
        <p14:creationId xmlns:p14="http://schemas.microsoft.com/office/powerpoint/2010/main" val="668396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5659E-DFE2-B1FD-1F49-51964705E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E3E4A-AFE2-14C8-9EE9-B4CE2BF8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Business-to-Business Processes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226921-A022-34A7-9CFC-7736ABEE3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202" y="1575884"/>
            <a:ext cx="10073233" cy="4660602"/>
          </a:xfrm>
        </p:spPr>
      </p:pic>
    </p:spTree>
    <p:extLst>
      <p:ext uri="{BB962C8B-B14F-4D97-AF65-F5344CB8AC3E}">
        <p14:creationId xmlns:p14="http://schemas.microsoft.com/office/powerpoint/2010/main" val="3338714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7790E-3A8E-66EF-1320-BADE53F42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4AD8-0B2D-2748-388D-D4312091C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5976A-5185-1AA0-9E0D-9043A2175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this background in enterprise services architectures, an intra-company</a:t>
            </a:r>
          </a:p>
          <a:p>
            <a:r>
              <a:rPr lang="en-US" dirty="0"/>
              <a:t>scenario is sketched, where new applications should be built on top of an existing customer relationship management system, a supply chain management system, and an enterprise resource planning system. These systems expose enterprise services via standardized interfaces. The applications built on top are known as composite applications,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2A48E-03A0-9A4F-3DF8-6B5DEDBEE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481" y="3949430"/>
            <a:ext cx="3644071" cy="290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720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86399-6FD1-7DBB-EDC6-84D705C72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1F99-A9E2-0BA7-E99E-14E799D6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CA4FA-C255-F30B-2875-E62A08EE0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EBC884-23FE-89F5-B243-14190A02C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85418"/>
            <a:ext cx="9435374" cy="648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53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B1B33-2FE4-AB87-D227-72B978C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Service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51F09-7F34-74AB-0EE4-1595232F6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service composition to realize composite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759E2B-2EEA-58FA-634D-F96BA2520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750" y="2858654"/>
            <a:ext cx="5778500" cy="368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31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3C1C8-DC27-12CD-21D1-86B0BDF30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process management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4A36E-30F4-381A-6A1F-D2FFD328B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2133600"/>
            <a:ext cx="4245697" cy="3777622"/>
          </a:xfrm>
        </p:spPr>
        <p:txBody>
          <a:bodyPr/>
          <a:lstStyle/>
          <a:p>
            <a:r>
              <a:rPr lang="en-US" dirty="0"/>
              <a:t>Workflow Management Coalition defines workflows and workflow management systems as follows.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E6747-4302-49E6-0E28-D121DE25A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309" y="1264555"/>
            <a:ext cx="5041612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381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A7FD-65E7-408F-FC89-1CD7DEDA4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Business Process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FF474-DD5C-FC8C-15A7-040003D36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Function modelling, data modelling, organization modelling, and modelling of the operational information technology landscape are required to</a:t>
            </a:r>
            <a:br>
              <a:rPr lang="en-US" dirty="0"/>
            </a:br>
            <a:r>
              <a:rPr lang="en-US" dirty="0"/>
              <a:t>provide a complete picture of a business process.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D066A5-0975-E9E7-1CB0-91264BA47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762" y="3351852"/>
            <a:ext cx="6340475" cy="338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65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93963-3545-62B8-D948-306808CA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D036F-3C87-833B-543E-1DBDBA0DE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3C0FC-946B-E9C8-D2CA-117D78A9E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661988"/>
            <a:ext cx="3200400" cy="904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376BBD-E0BA-E3C1-95CE-AA552231A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564" y="90265"/>
            <a:ext cx="5217391" cy="667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D232-5D6E-21FD-697F-FDAF39E83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Model: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D5A33-D439-E8AB-71A9-50E8B8CC8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processes consist of activities whose coordinated execution realizes some business goal. These activities can be: </a:t>
            </a:r>
          </a:p>
          <a:p>
            <a:r>
              <a:rPr lang="en-US" dirty="0"/>
              <a:t>1. system activities</a:t>
            </a:r>
          </a:p>
          <a:p>
            <a:r>
              <a:rPr lang="en-US" dirty="0"/>
              <a:t>2. user inter-action activities</a:t>
            </a:r>
          </a:p>
          <a:p>
            <a:r>
              <a:rPr lang="en-US" dirty="0"/>
              <a:t>3. manual activities.</a:t>
            </a:r>
          </a:p>
        </p:txBody>
      </p:sp>
    </p:spTree>
    <p:extLst>
      <p:ext uri="{BB962C8B-B14F-4D97-AF65-F5344CB8AC3E}">
        <p14:creationId xmlns:p14="http://schemas.microsoft.com/office/powerpoint/2010/main" val="1744193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7F599-A7F0-6DEA-DC85-6565518CB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AC88-0A79-811D-0954-92ACC9D3F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90BE4-05AA-C573-7B66-B9780824D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Manual Activity </a:t>
            </a:r>
          </a:p>
          <a:p>
            <a:r>
              <a:rPr lang="en-US" dirty="0"/>
              <a:t>manual activity is sending a parcel to a business  partner. Manual activities are not supported by information systems.</a:t>
            </a:r>
          </a:p>
          <a:p>
            <a:pPr marL="0" indent="0">
              <a:buNone/>
            </a:pPr>
            <a:r>
              <a:rPr lang="en-US" dirty="0"/>
              <a:t>2. User Interaction Activity</a:t>
            </a:r>
          </a:p>
          <a:p>
            <a:r>
              <a:rPr lang="en-US" dirty="0"/>
              <a:t>human interaction activity is entering data on an insurance claim in a call center environment. There is no physical activity  involved.</a:t>
            </a:r>
          </a:p>
          <a:p>
            <a:pPr marL="0" indent="0">
              <a:buNone/>
            </a:pPr>
            <a:r>
              <a:rPr lang="en-US" dirty="0"/>
              <a:t>3. System Activity</a:t>
            </a:r>
          </a:p>
          <a:p>
            <a:r>
              <a:rPr lang="en-US" dirty="0"/>
              <a:t>System activities do not involve a human user;  they are executed by in-formation systems. An example of a system activity is retrieving stock in formation from a stock-broker application or checking the balance of a bank account.</a:t>
            </a:r>
          </a:p>
        </p:txBody>
      </p:sp>
    </p:spTree>
    <p:extLst>
      <p:ext uri="{BB962C8B-B14F-4D97-AF65-F5344CB8AC3E}">
        <p14:creationId xmlns:p14="http://schemas.microsoft.com/office/powerpoint/2010/main" val="1632906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C96ED-5953-7FE8-CBFD-3BAA4175F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4C681-DB2D-EDEE-9333-991F7FB1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DE6EC-2B6D-3D1C-13F6-9A22AF4E2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E861FF-2EB4-D7FC-5D13-926938935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75" y="637540"/>
            <a:ext cx="9924473" cy="582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385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D2014-C7E3-0B3D-CE3E-E9684A672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B6191-7DEC-9068-6CAF-71510205E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51B47-483E-2490-3AE6-C981A27BC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8527B-75A7-6E0D-23A0-06984BB30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245" y="1810475"/>
            <a:ext cx="7737334" cy="323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101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946B-3A30-C17B-F27B-97AACC77C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8CA76-6100-E077-FD9A-E3341C850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C8485F-8AB4-8F8D-5997-408B9E33B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770" y="1149403"/>
            <a:ext cx="10041842" cy="528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18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501B-4C4E-9E7D-C9E8-DFF6C71E0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252E8-7AE2-AAC6-9A66-FDFB81513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F59706-23CE-1EEA-E47C-E5BFBDB6A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3" y="624110"/>
            <a:ext cx="8915400" cy="576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22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9059-561D-7734-831F-C40C46D6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</a:t>
            </a:r>
            <a:r>
              <a:rPr lang="en-US" dirty="0" err="1"/>
              <a:t>MetaModel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A864A-A5F2-98F7-2764-F556A7D7F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processes consist of a set of related activities whose coordinated execution contributes to the realization of a business function in a technical and organizational environment. </a:t>
            </a:r>
          </a:p>
          <a:p>
            <a:r>
              <a:rPr lang="en-US" dirty="0"/>
              <a:t>Business processes are represented by business process models.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7D8535-647C-C5FD-82E5-4ED72A9C7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310" y="3429000"/>
            <a:ext cx="5343380" cy="3344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1ED148-6FE9-838C-BC87-C49777F37503}"/>
              </a:ext>
            </a:extLst>
          </p:cNvPr>
          <p:cNvSpPr txBox="1"/>
          <p:nvPr/>
        </p:nvSpPr>
        <p:spPr>
          <a:xfrm>
            <a:off x="6291159" y="5911222"/>
            <a:ext cx="25633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Meta Object Facility (MOF)</a:t>
            </a:r>
            <a:r>
              <a:rPr lang="en-US" sz="1400" dirty="0"/>
              <a:t> for the process</a:t>
            </a:r>
          </a:p>
          <a:p>
            <a:pPr algn="ctr"/>
            <a:r>
              <a:rPr lang="en-US" sz="1400" dirty="0"/>
              <a:t>subdomain. </a:t>
            </a:r>
          </a:p>
        </p:txBody>
      </p:sp>
    </p:spTree>
    <p:extLst>
      <p:ext uri="{BB962C8B-B14F-4D97-AF65-F5344CB8AC3E}">
        <p14:creationId xmlns:p14="http://schemas.microsoft.com/office/powerpoint/2010/main" val="2547297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6AC0D-267B-3A1A-13A6-806FB44D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2A170-7DB4-3E6D-6A94-98F9D0D0C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modelling eﬀort starts with identifying the main concepts that need to be represented. </a:t>
            </a:r>
          </a:p>
          <a:p>
            <a:r>
              <a:rPr lang="en-US" dirty="0"/>
              <a:t>The following models are identiﬁed as concepts in the metamodel.</a:t>
            </a:r>
          </a:p>
          <a:p>
            <a:r>
              <a:rPr lang="en-US" b="1" dirty="0"/>
              <a:t>Process Model: </a:t>
            </a:r>
            <a:r>
              <a:rPr lang="en-US" dirty="0"/>
              <a:t>A process model represents a blue-print for a set of process instances with a similar structure. </a:t>
            </a:r>
          </a:p>
          <a:p>
            <a:pPr lvl="1"/>
            <a:r>
              <a:rPr lang="en-US" dirty="0"/>
              <a:t>Consists of a set of activity models.</a:t>
            </a:r>
          </a:p>
          <a:p>
            <a:pPr lvl="1"/>
            <a:r>
              <a:rPr lang="en-US" dirty="0"/>
              <a:t>Nesting of process models within process models is not represented,</a:t>
            </a:r>
          </a:p>
          <a:p>
            <a:pPr lvl="1"/>
            <a:r>
              <a:rPr lang="en-US" dirty="0"/>
              <a:t>Each process model consists of nodes and directed edges </a:t>
            </a:r>
          </a:p>
        </p:txBody>
      </p:sp>
    </p:spTree>
    <p:extLst>
      <p:ext uri="{BB962C8B-B14F-4D97-AF65-F5344CB8AC3E}">
        <p14:creationId xmlns:p14="http://schemas.microsoft.com/office/powerpoint/2010/main" val="2787599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05E47-83D6-189F-DE1A-D6B8CDBFA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F030-E8FC-5833-D508-F9AE9A1F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E6E7-85CB-AE00-C116-09A990461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Edge:</a:t>
            </a:r>
            <a:r>
              <a:rPr lang="en-US" dirty="0"/>
              <a:t> Directed edges are used to express the relationships between nodes in a process model.</a:t>
            </a:r>
          </a:p>
          <a:p>
            <a:r>
              <a:rPr lang="en-US" b="1" dirty="0"/>
              <a:t>Node:</a:t>
            </a:r>
            <a:r>
              <a:rPr lang="en-US" dirty="0"/>
              <a:t> A node in a process model can represent an activity model, an event model, or a gateway model.</a:t>
            </a:r>
          </a:p>
          <a:p>
            <a:r>
              <a:rPr lang="en-US" b="1" dirty="0"/>
              <a:t>Activity Models: </a:t>
            </a:r>
            <a:r>
              <a:rPr lang="en-US" dirty="0"/>
              <a:t>Activity models describe units of work conducted in a business process. Each activity model has exactly one incoming edge and exactly one outgoing edge.</a:t>
            </a:r>
          </a:p>
          <a:p>
            <a:r>
              <a:rPr lang="en-US" b="1" dirty="0"/>
              <a:t>Event models: </a:t>
            </a:r>
            <a:r>
              <a:rPr lang="en-US" dirty="0"/>
              <a:t>Event models capture the occurrence of states relevant for a business process. Process instances start and end with events, so process models start and end with event models.</a:t>
            </a:r>
          </a:p>
          <a:p>
            <a:r>
              <a:rPr lang="en-US" b="1" dirty="0"/>
              <a:t>Gateway Models: </a:t>
            </a:r>
            <a:r>
              <a:rPr lang="en-US" dirty="0"/>
              <a:t>Gateways are used to express control ﬂow constructs, including sequences, as well as split and join nodes.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253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D7E7A-8B8B-9911-DDDF-DFA08259B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4AA67-C899-8C46-196A-940759E4A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E8DB3-E504-9C38-8E43-E9AD29EC2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B4B0C7-E5B8-1B63-FBFB-71B3A1B7F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237" y="2133600"/>
            <a:ext cx="5597525" cy="423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605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C639-82B0-96D8-3CB7-E17C8BBB6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058E4-3F10-7C13-5D95-E3CA3F142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AA3DFC1-4E65-C037-86D6-E35AF3355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5362" y="4408191"/>
            <a:ext cx="8915400" cy="122668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8301F6-A3D3-5726-C628-7F4DD03CC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212" y="670553"/>
            <a:ext cx="8591550" cy="552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63D791-D141-226A-5D18-96039FC2C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649" y="1520197"/>
            <a:ext cx="7686675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61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A18DA-B7C2-89B9-25B2-3E10FA42F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84E7C-0614-60A3-F79A-CD91B9C8B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7F1DF-1C15-8E4E-500F-307CBFB48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 C be a set of control ﬂow constructs. </a:t>
            </a:r>
          </a:p>
          <a:p>
            <a:r>
              <a:rPr lang="en-US" dirty="0"/>
              <a:t>P = (N, E, type) is a process model if it consists of a set N of nodes, and a set E of edges.</a:t>
            </a:r>
          </a:p>
          <a:p>
            <a:r>
              <a:rPr lang="en-US" dirty="0"/>
              <a:t>• N = NA ∪ NE ∪ NG, where NA is a set of activity models, NE is a set of event models, and NG is a set of gateway models. These sets are mutually disjoint.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56428E-336C-034A-CDAD-F8FEE6BFA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407" y="731195"/>
            <a:ext cx="5769009" cy="3007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BE27A4-99F0-64C3-4EB9-6F9B62ED4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671" y="3298467"/>
            <a:ext cx="288607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9440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14214</TotalTime>
  <Words>674</Words>
  <Application>Microsoft Office PowerPoint</Application>
  <PresentationFormat>Widescreen</PresentationFormat>
  <Paragraphs>59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Century Gothic</vt:lpstr>
      <vt:lpstr>Wingdings 3</vt:lpstr>
      <vt:lpstr>Wisp</vt:lpstr>
      <vt:lpstr>Business Process Engineering </vt:lpstr>
      <vt:lpstr>Business-to-Business Processes</vt:lpstr>
      <vt:lpstr>Business-to-Business Processes</vt:lpstr>
      <vt:lpstr>Composite Application</vt:lpstr>
      <vt:lpstr>PowerPoint Presentation</vt:lpstr>
      <vt:lpstr>Service Composition</vt:lpstr>
      <vt:lpstr>Business process management landscape</vt:lpstr>
      <vt:lpstr>Business Process Modeling</vt:lpstr>
      <vt:lpstr>PowerPoint Presentation</vt:lpstr>
      <vt:lpstr>Conceptual Model:</vt:lpstr>
      <vt:lpstr>Conceptual Model</vt:lpstr>
      <vt:lpstr>PowerPoint Presentation</vt:lpstr>
      <vt:lpstr>PowerPoint Presentation</vt:lpstr>
      <vt:lpstr>PowerPoint Presentation</vt:lpstr>
      <vt:lpstr>PowerPoint Presentation</vt:lpstr>
      <vt:lpstr>Process MetaModel</vt:lpstr>
      <vt:lpstr>Process Models</vt:lpstr>
      <vt:lpstr>Process Models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Process Engineering</dc:title>
  <dc:creator>Administrator</dc:creator>
  <cp:lastModifiedBy>Dr.Abdul Aziz</cp:lastModifiedBy>
  <cp:revision>55</cp:revision>
  <dcterms:created xsi:type="dcterms:W3CDTF">2023-01-16T07:23:56Z</dcterms:created>
  <dcterms:modified xsi:type="dcterms:W3CDTF">2025-04-04T07:34:38Z</dcterms:modified>
</cp:coreProperties>
</file>