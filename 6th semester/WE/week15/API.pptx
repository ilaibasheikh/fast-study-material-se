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1" roundtripDataSignature="AMtx7mj+AJLQKvDvvwkC6X3VAKvi3R9uw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1" Type="http://customschemas.google.com/relationships/presentationmetadata" Target="metadata"/><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5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5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5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5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5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5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5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5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5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5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5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5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5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5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5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5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6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6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6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6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6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6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6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6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6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6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6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6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6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6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6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6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6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6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6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6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6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6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6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6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6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6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6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6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66"/>
          <p:cNvSpPr/>
          <p:nvPr>
            <p:ph idx="2" type="pic"/>
          </p:nvPr>
        </p:nvSpPr>
        <p:spPr>
          <a:xfrm>
            <a:off x="5183188" y="987425"/>
            <a:ext cx="6172200" cy="4873625"/>
          </a:xfrm>
          <a:prstGeom prst="rect">
            <a:avLst/>
          </a:prstGeom>
          <a:noFill/>
          <a:ln>
            <a:noFill/>
          </a:ln>
        </p:spPr>
      </p:sp>
      <p:sp>
        <p:nvSpPr>
          <p:cNvPr id="64" name="Google Shape;64;p6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6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6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6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6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6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6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6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6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6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6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6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6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6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5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5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5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5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3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3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3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2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2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4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4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3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4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3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3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3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4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4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5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3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3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49.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4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4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4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t>API and Web Services</a:t>
            </a:r>
            <a:endParaRPr/>
          </a:p>
        </p:txBody>
      </p:sp>
      <p:sp>
        <p:nvSpPr>
          <p:cNvPr id="85" name="Google Shape;85;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web service</a:t>
            </a:r>
            <a:r>
              <a:rPr lang="en-US"/>
              <a:t> (</a:t>
            </a:r>
            <a:r>
              <a:rPr b="1" lang="en-US"/>
              <a:t>WS</a:t>
            </a:r>
            <a:r>
              <a:rPr lang="en-US"/>
              <a:t>) </a:t>
            </a:r>
            <a:endParaRPr/>
          </a:p>
        </p:txBody>
      </p:sp>
      <p:sp>
        <p:nvSpPr>
          <p:cNvPr id="91" name="Google Shape;91;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 service offered by an electronic device to another electronic device, communicating with each other via the Internet, or</a:t>
            </a:r>
            <a:endParaRPr/>
          </a:p>
          <a:p>
            <a:pPr indent="-228600" lvl="0" marL="228600" rtl="0" algn="l">
              <a:lnSpc>
                <a:spcPct val="90000"/>
              </a:lnSpc>
              <a:spcBef>
                <a:spcPts val="1000"/>
              </a:spcBef>
              <a:spcAft>
                <a:spcPts val="0"/>
              </a:spcAft>
              <a:buClr>
                <a:schemeClr val="dk1"/>
              </a:buClr>
              <a:buSzPts val="2800"/>
              <a:buChar char="•"/>
            </a:pPr>
            <a:r>
              <a:rPr lang="en-US"/>
              <a:t>a server running on a computer device, listening for requests at a particular port over a network, serving web documents (HTML, JSON, XML, images).</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web service</a:t>
            </a:r>
            <a:r>
              <a:rPr lang="en-US"/>
              <a:t> (</a:t>
            </a:r>
            <a:r>
              <a:rPr b="1" lang="en-US"/>
              <a:t>WS</a:t>
            </a:r>
            <a:r>
              <a:rPr lang="en-US"/>
              <a:t>) </a:t>
            </a:r>
            <a:endParaRPr/>
          </a:p>
        </p:txBody>
      </p:sp>
      <p:pic>
        <p:nvPicPr>
          <p:cNvPr id="97" name="Google Shape;97;p3"/>
          <p:cNvPicPr preferRelativeResize="0"/>
          <p:nvPr>
            <p:ph idx="1" type="body"/>
          </p:nvPr>
        </p:nvPicPr>
        <p:blipFill rotWithShape="1">
          <a:blip r:embed="rId3">
            <a:alphaModFix/>
          </a:blip>
          <a:srcRect b="0" l="0" r="0" t="0"/>
          <a:stretch/>
        </p:blipFill>
        <p:spPr>
          <a:xfrm>
            <a:off x="1095894" y="1690688"/>
            <a:ext cx="9768391" cy="489183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web service</a:t>
            </a:r>
            <a:r>
              <a:rPr lang="en-US"/>
              <a:t> (</a:t>
            </a:r>
            <a:r>
              <a:rPr b="1" lang="en-US"/>
              <a:t>WS</a:t>
            </a:r>
            <a:r>
              <a:rPr lang="en-US"/>
              <a:t>) </a:t>
            </a:r>
            <a:endParaRPr/>
          </a:p>
        </p:txBody>
      </p:sp>
      <p:pic>
        <p:nvPicPr>
          <p:cNvPr id="103" name="Google Shape;103;p4"/>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Types of web services</a:t>
            </a:r>
            <a:endParaRPr/>
          </a:p>
        </p:txBody>
      </p:sp>
      <p:pic>
        <p:nvPicPr>
          <p:cNvPr id="109" name="Google Shape;109;p5"/>
          <p:cNvPicPr preferRelativeResize="0"/>
          <p:nvPr>
            <p:ph idx="1" type="body"/>
          </p:nvPr>
        </p:nvPicPr>
        <p:blipFill rotWithShape="1">
          <a:blip r:embed="rId3">
            <a:alphaModFix/>
          </a:blip>
          <a:srcRect b="0" l="0" r="0" t="0"/>
          <a:stretch/>
        </p:blipFill>
        <p:spPr>
          <a:xfrm>
            <a:off x="1" y="0"/>
            <a:ext cx="12192000" cy="6858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Types of web services</a:t>
            </a:r>
            <a:endParaRPr/>
          </a:p>
        </p:txBody>
      </p:sp>
      <p:sp>
        <p:nvSpPr>
          <p:cNvPr id="115" name="Google Shape;115;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Extensible Markup Language. </a:t>
            </a:r>
            <a:r>
              <a:rPr lang="en-US"/>
              <a:t>XML</a:t>
            </a:r>
            <a:r>
              <a:rPr b="1" lang="en-US"/>
              <a:t> </a:t>
            </a:r>
            <a:r>
              <a:rPr lang="en-US"/>
              <a:t>is used to tag, code and decode data. XML-remote procedure call, or XML-RPC, is a basic XML protocol using HTTP to exchange data and communicate between client and server systems.</a:t>
            </a:r>
            <a:endParaRPr/>
          </a:p>
          <a:p>
            <a:pPr indent="-228600" lvl="0" marL="228600" rtl="0" algn="l">
              <a:lnSpc>
                <a:spcPct val="90000"/>
              </a:lnSpc>
              <a:spcBef>
                <a:spcPts val="1000"/>
              </a:spcBef>
              <a:spcAft>
                <a:spcPts val="0"/>
              </a:spcAft>
              <a:buClr>
                <a:schemeClr val="dk1"/>
              </a:buClr>
              <a:buSzPts val="2800"/>
              <a:buChar char="•"/>
            </a:pPr>
            <a:r>
              <a:rPr b="1" lang="en-US"/>
              <a:t>Simple Object Access Protocol.</a:t>
            </a:r>
            <a:r>
              <a:rPr lang="en-US"/>
              <a:t> SOAP is an XML-based web service protocol used to transfer data using SOAP messages. The SOAP protocol was developed to enable different programming languages to communicate quickly and with minimal effort using HTTP or Simple Mail Transfer Protocol (SMTP).</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121" name="Google Shape;121;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Web Services Description Language.</a:t>
            </a:r>
            <a:r>
              <a:rPr lang="en-US"/>
              <a:t> WSDL is used to tell the client application what's included in the web service and how to connect. Variations on WSDL include Web Services Conversation Language and Web Services Flow Language.</a:t>
            </a:r>
            <a:endParaRPr/>
          </a:p>
          <a:p>
            <a:pPr indent="-228600" lvl="0" marL="228600" rtl="0" algn="l">
              <a:lnSpc>
                <a:spcPct val="90000"/>
              </a:lnSpc>
              <a:spcBef>
                <a:spcPts val="1000"/>
              </a:spcBef>
              <a:spcAft>
                <a:spcPts val="0"/>
              </a:spcAft>
              <a:buClr>
                <a:schemeClr val="dk1"/>
              </a:buClr>
              <a:buSzPts val="2800"/>
              <a:buChar char="•"/>
            </a:pPr>
            <a:r>
              <a:rPr b="1" lang="en-US"/>
              <a:t>Representational State Transfer.</a:t>
            </a:r>
            <a:r>
              <a:rPr lang="en-US"/>
              <a:t> Based on HTTP, REST provides interoperability between devices and the internet for application programming interface (API)-based tasks. While not all RESTful web services use the REST protocol, applications built with RESTful APIs are more lightweight, manageable and scalable.</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127" name="Google Shape;127;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Universal Description, Discovery and Integration. </a:t>
            </a:r>
            <a:r>
              <a:rPr lang="en-US"/>
              <a:t>UDDI is an XML-based standard that lists and details what services are available in an application. It makes web services discoverable to other services and facilitates digital transactions and e-commerce.</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WSDL</a:t>
            </a:r>
            <a:endParaRPr/>
          </a:p>
        </p:txBody>
      </p:sp>
      <p:sp>
        <p:nvSpPr>
          <p:cNvPr id="133" name="Google Shape;133;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Service Provider publishes an interface for his web services that describes all attributes of the web services.</a:t>
            </a:r>
            <a:endParaRPr/>
          </a:p>
          <a:p>
            <a:pPr indent="-228600" lvl="0" marL="228600" rtl="0" algn="l">
              <a:lnSpc>
                <a:spcPct val="90000"/>
              </a:lnSpc>
              <a:spcBef>
                <a:spcPts val="1000"/>
              </a:spcBef>
              <a:spcAft>
                <a:spcPts val="0"/>
              </a:spcAft>
              <a:buClr>
                <a:schemeClr val="dk1"/>
              </a:buClr>
              <a:buSzPts val="2800"/>
              <a:buChar char="•"/>
            </a:pPr>
            <a:r>
              <a:rPr lang="en-US"/>
              <a:t>This is XML based interface and is called Web Services Description Language WSDL.</a:t>
            </a:r>
            <a:endParaRPr/>
          </a:p>
          <a:p>
            <a:pPr indent="-228600" lvl="0" marL="228600" rtl="0" algn="l">
              <a:lnSpc>
                <a:spcPct val="90000"/>
              </a:lnSpc>
              <a:spcBef>
                <a:spcPts val="1000"/>
              </a:spcBef>
              <a:spcAft>
                <a:spcPts val="0"/>
              </a:spcAft>
              <a:buClr>
                <a:schemeClr val="dk1"/>
              </a:buClr>
              <a:buSzPts val="2800"/>
              <a:buChar char="•"/>
            </a:pPr>
            <a:r>
              <a:rPr lang="en-US"/>
              <a:t>Describes the functionalities of the web services.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WSDL</a:t>
            </a:r>
            <a:endParaRPr/>
          </a:p>
        </p:txBody>
      </p:sp>
      <p:sp>
        <p:nvSpPr>
          <p:cNvPr id="139" name="Google Shape;139;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id="140" name="Google Shape;140;p10"/>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UDDI</a:t>
            </a:r>
            <a:endParaRPr/>
          </a:p>
        </p:txBody>
      </p:sp>
      <p:pic>
        <p:nvPicPr>
          <p:cNvPr id="146" name="Google Shape;146;p11"/>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52" name="Google Shape;152;p12"/>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58" name="Google Shape;158;p13"/>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64" name="Google Shape;164;p14"/>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70" name="Google Shape;170;p15"/>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76" name="Google Shape;176;p16"/>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82" name="Google Shape;182;p17"/>
          <p:cNvPicPr preferRelativeResize="0"/>
          <p:nvPr>
            <p:ph idx="1" type="body"/>
          </p:nvPr>
        </p:nvPicPr>
        <p:blipFill rotWithShape="1">
          <a:blip r:embed="rId3">
            <a:alphaModFix/>
          </a:blip>
          <a:srcRect b="0" l="0" r="0" t="0"/>
          <a:stretch/>
        </p:blipFill>
        <p:spPr>
          <a:xfrm>
            <a:off x="838200" y="1825625"/>
            <a:ext cx="10515600" cy="50736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88" name="Google Shape;188;p18"/>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94" name="Google Shape;194;p19"/>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00" name="Google Shape;200;p20"/>
          <p:cNvPicPr preferRelativeResize="0"/>
          <p:nvPr>
            <p:ph idx="1" type="body"/>
          </p:nvPr>
        </p:nvPicPr>
        <p:blipFill rotWithShape="1">
          <a:blip r:embed="rId3">
            <a:alphaModFix/>
          </a:blip>
          <a:srcRect b="0" l="0" r="0" t="0"/>
          <a:stretch/>
        </p:blipFill>
        <p:spPr>
          <a:xfrm>
            <a:off x="0" y="0"/>
            <a:ext cx="12192000" cy="697400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06" name="Google Shape;206;p21"/>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12" name="Google Shape;212;p22"/>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18" name="Google Shape;218;p23"/>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24" name="Google Shape;224;p24"/>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30" name="Google Shape;230;p25"/>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36" name="Google Shape;236;p26"/>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42" name="Google Shape;242;p27"/>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48" name="Google Shape;248;p28"/>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54" name="Google Shape;254;p29"/>
          <p:cNvPicPr preferRelativeResize="0"/>
          <p:nvPr>
            <p:ph idx="1" type="body"/>
          </p:nvPr>
        </p:nvPicPr>
        <p:blipFill rotWithShape="1">
          <a:blip r:embed="rId3">
            <a:alphaModFix/>
          </a:blip>
          <a:srcRect b="0" l="0" r="0" t="0"/>
          <a:stretch/>
        </p:blipFill>
        <p:spPr>
          <a:xfrm>
            <a:off x="0" y="-1"/>
            <a:ext cx="12192000" cy="676540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60" name="Google Shape;260;p30"/>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66" name="Google Shape;266;p31"/>
          <p:cNvPicPr preferRelativeResize="0"/>
          <p:nvPr>
            <p:ph idx="1" type="body"/>
          </p:nvPr>
        </p:nvPicPr>
        <p:blipFill rotWithShape="1">
          <a:blip r:embed="rId3">
            <a:alphaModFix/>
          </a:blip>
          <a:srcRect b="0" l="0" r="0" t="0"/>
          <a:stretch/>
        </p:blipFill>
        <p:spPr>
          <a:xfrm>
            <a:off x="0" y="0"/>
            <a:ext cx="12192000" cy="6954592"/>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72" name="Google Shape;272;p32"/>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78" name="Google Shape;278;p33"/>
          <p:cNvPicPr preferRelativeResize="0"/>
          <p:nvPr>
            <p:ph idx="1" type="body"/>
          </p:nvPr>
        </p:nvPicPr>
        <p:blipFill rotWithShape="1">
          <a:blip r:embed="rId3">
            <a:alphaModFix/>
          </a:blip>
          <a:srcRect b="0" l="0" r="0" t="0"/>
          <a:stretch/>
        </p:blipFill>
        <p:spPr>
          <a:xfrm>
            <a:off x="-1" y="-1"/>
            <a:ext cx="12184805" cy="6980349"/>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84" name="Google Shape;284;p34"/>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90" name="Google Shape;290;p35"/>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96" name="Google Shape;296;p36"/>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302" name="Google Shape;302;p37"/>
          <p:cNvPicPr preferRelativeResize="0"/>
          <p:nvPr>
            <p:ph idx="1" type="body"/>
          </p:nvPr>
        </p:nvPicPr>
        <p:blipFill rotWithShape="1">
          <a:blip r:embed="rId3">
            <a:alphaModFix/>
          </a:blip>
          <a:srcRect b="0" l="0" r="0" t="0"/>
          <a:stretch/>
        </p:blipFill>
        <p:spPr>
          <a:xfrm>
            <a:off x="-1" y="0"/>
            <a:ext cx="12192001" cy="68580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308" name="Google Shape;308;p38"/>
          <p:cNvPicPr preferRelativeResize="0"/>
          <p:nvPr>
            <p:ph idx="1" type="body"/>
          </p:nvPr>
        </p:nvPicPr>
        <p:blipFill rotWithShape="1">
          <a:blip r:embed="rId3">
            <a:alphaModFix/>
          </a:blip>
          <a:srcRect b="0" l="0" r="0" t="0"/>
          <a:stretch/>
        </p:blipFill>
        <p:spPr>
          <a:xfrm>
            <a:off x="0" y="-1"/>
            <a:ext cx="12192000" cy="6858001"/>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314" name="Google Shape;314;p39"/>
          <p:cNvPicPr preferRelativeResize="0"/>
          <p:nvPr>
            <p:ph idx="1" type="body"/>
          </p:nvPr>
        </p:nvPicPr>
        <p:blipFill rotWithShape="1">
          <a:blip r:embed="rId3">
            <a:alphaModFix/>
          </a:blip>
          <a:srcRect b="0" l="0" r="0" t="0"/>
          <a:stretch/>
        </p:blipFill>
        <p:spPr>
          <a:xfrm>
            <a:off x="0" y="0"/>
            <a:ext cx="12326351" cy="68580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320" name="Google Shape;320;p40"/>
          <p:cNvPicPr preferRelativeResize="0"/>
          <p:nvPr>
            <p:ph idx="1" type="body"/>
          </p:nvPr>
        </p:nvPicPr>
        <p:blipFill rotWithShape="1">
          <a:blip r:embed="rId3">
            <a:alphaModFix/>
          </a:blip>
          <a:srcRect b="0" l="0" r="0" t="0"/>
          <a:stretch/>
        </p:blipFill>
        <p:spPr>
          <a:xfrm>
            <a:off x="0" y="0"/>
            <a:ext cx="12358874" cy="68580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326" name="Google Shape;326;p41"/>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332" name="Google Shape;332;p42"/>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4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338" name="Google Shape;338;p43"/>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4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344" name="Google Shape;344;p44"/>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4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350" name="Google Shape;350;p45"/>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356" name="Google Shape;356;p46"/>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4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362" name="Google Shape;362;p47"/>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368" name="Google Shape;368;p48"/>
          <p:cNvPicPr preferRelativeResize="0"/>
          <p:nvPr>
            <p:ph idx="1" type="body"/>
          </p:nvPr>
        </p:nvPicPr>
        <p:blipFill rotWithShape="1">
          <a:blip r:embed="rId3">
            <a:alphaModFix/>
          </a:blip>
          <a:srcRect b="0" l="0" r="0" t="0"/>
          <a:stretch/>
        </p:blipFill>
        <p:spPr>
          <a:xfrm>
            <a:off x="0" y="0"/>
            <a:ext cx="12161744" cy="68580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4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374" name="Google Shape;374;p49"/>
          <p:cNvPicPr preferRelativeResize="0"/>
          <p:nvPr>
            <p:ph idx="1" type="body"/>
          </p:nvPr>
        </p:nvPicPr>
        <p:blipFill rotWithShape="1">
          <a:blip r:embed="rId3">
            <a:alphaModFix/>
          </a:blip>
          <a:srcRect b="0" l="0" r="0" t="0"/>
          <a:stretch/>
        </p:blipFill>
        <p:spPr>
          <a:xfrm>
            <a:off x="0" y="0"/>
            <a:ext cx="12110101" cy="68580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5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380" name="Google Shape;380;p50"/>
          <p:cNvPicPr preferRelativeResize="0"/>
          <p:nvPr>
            <p:ph idx="1" type="body"/>
          </p:nvPr>
        </p:nvPicPr>
        <p:blipFill rotWithShape="1">
          <a:blip r:embed="rId3">
            <a:alphaModFix/>
          </a:blip>
          <a:srcRect b="0" l="0" r="0" t="0"/>
          <a:stretch/>
        </p:blipFill>
        <p:spPr>
          <a:xfrm>
            <a:off x="0" y="-1"/>
            <a:ext cx="12187634" cy="6858001"/>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5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386" name="Google Shape;386;p51"/>
          <p:cNvPicPr preferRelativeResize="0"/>
          <p:nvPr>
            <p:ph idx="1" type="body"/>
          </p:nvPr>
        </p:nvPicPr>
        <p:blipFill rotWithShape="1">
          <a:blip r:embed="rId3">
            <a:alphaModFix/>
          </a:blip>
          <a:srcRect b="0" l="0" r="0" t="0"/>
          <a:stretch/>
        </p:blipFill>
        <p:spPr>
          <a:xfrm>
            <a:off x="-1" y="0"/>
            <a:ext cx="12185543" cy="685800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5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392" name="Google Shape;392;p52"/>
          <p:cNvPicPr preferRelativeResize="0"/>
          <p:nvPr>
            <p:ph idx="1" type="body"/>
          </p:nvPr>
        </p:nvPicPr>
        <p:blipFill rotWithShape="1">
          <a:blip r:embed="rId3">
            <a:alphaModFix/>
          </a:blip>
          <a:srcRect b="0" l="0" r="0" t="0"/>
          <a:stretch/>
        </p:blipFill>
        <p:spPr>
          <a:xfrm>
            <a:off x="0" y="-1"/>
            <a:ext cx="12187564" cy="6858001"/>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5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398" name="Google Shape;398;p53"/>
          <p:cNvPicPr preferRelativeResize="0"/>
          <p:nvPr>
            <p:ph idx="1" type="body"/>
          </p:nvPr>
        </p:nvPicPr>
        <p:blipFill rotWithShape="1">
          <a:blip r:embed="rId3">
            <a:alphaModFix/>
          </a:blip>
          <a:srcRect b="0" l="0" r="0" t="0"/>
          <a:stretch/>
        </p:blipFill>
        <p:spPr>
          <a:xfrm>
            <a:off x="0" y="0"/>
            <a:ext cx="12169633" cy="685800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5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404" name="Google Shape;404;p54"/>
          <p:cNvPicPr preferRelativeResize="0"/>
          <p:nvPr>
            <p:ph idx="1" type="body"/>
          </p:nvPr>
        </p:nvPicPr>
        <p:blipFill rotWithShape="1">
          <a:blip r:embed="rId3">
            <a:alphaModFix/>
          </a:blip>
          <a:srcRect b="0" l="0" r="0" t="0"/>
          <a:stretch/>
        </p:blipFill>
        <p:spPr>
          <a:xfrm>
            <a:off x="-1" y="0"/>
            <a:ext cx="12391571" cy="685800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5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410" name="Google Shape;410;p55"/>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5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416" name="Google Shape;416;p56"/>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2024-05-02T15:09:52Z</dcterms:created>
  <dc:creator>Fatmi</dc:creator>
</cp:coreProperties>
</file>