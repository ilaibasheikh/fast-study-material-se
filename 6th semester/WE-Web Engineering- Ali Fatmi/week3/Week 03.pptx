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6858000" cx="12192000"/>
  <p:notesSz cx="6858000" cy="9144000"/>
  <p:embeddedFontLst>
    <p:embeddedFont>
      <p:font typeface="Open Sans"/>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4" roundtripDataSignature="AMtx7mhrc4bNIwaw4Uwdu5KUxPmCZAQY2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CC4A58A-B1A9-45A1-82CD-CB47A02BFFEE}">
  <a:tblStyle styleId="{6CC4A58A-B1A9-45A1-82CD-CB47A02BFFEE}"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penSans-bold.fntdata"/><Relationship Id="rId30" Type="http://schemas.openxmlformats.org/officeDocument/2006/relationships/font" Target="fonts/OpenSans-regular.fntdata"/><Relationship Id="rId11" Type="http://schemas.openxmlformats.org/officeDocument/2006/relationships/slide" Target="slides/slide6.xml"/><Relationship Id="rId33" Type="http://schemas.openxmlformats.org/officeDocument/2006/relationships/font" Target="fonts/OpenSans-boldItalic.fntdata"/><Relationship Id="rId10" Type="http://schemas.openxmlformats.org/officeDocument/2006/relationships/slide" Target="slides/slide5.xml"/><Relationship Id="rId32" Type="http://schemas.openxmlformats.org/officeDocument/2006/relationships/font" Target="fonts/OpenSans-italic.fntdata"/><Relationship Id="rId13" Type="http://schemas.openxmlformats.org/officeDocument/2006/relationships/slide" Target="slides/slide8.xml"/><Relationship Id="rId12" Type="http://schemas.openxmlformats.org/officeDocument/2006/relationships/slide" Target="slides/slide7.xml"/><Relationship Id="rId34"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3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3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3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3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3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4"/>
          <p:cNvSpPr/>
          <p:nvPr>
            <p:ph idx="2" type="pic"/>
          </p:nvPr>
        </p:nvSpPr>
        <p:spPr>
          <a:xfrm>
            <a:off x="5183188" y="987425"/>
            <a:ext cx="6172200" cy="4873625"/>
          </a:xfrm>
          <a:prstGeom prst="rect">
            <a:avLst/>
          </a:prstGeom>
          <a:noFill/>
          <a:ln>
            <a:noFill/>
          </a:ln>
        </p:spPr>
      </p:sp>
      <p:sp>
        <p:nvSpPr>
          <p:cNvPr id="64" name="Google Shape;64;p3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
          <p:cNvPicPr preferRelativeResize="0"/>
          <p:nvPr/>
        </p:nvPicPr>
        <p:blipFill rotWithShape="1">
          <a:blip r:embed="rId3">
            <a:alphaModFix/>
          </a:blip>
          <a:srcRect b="0" l="0" r="0" t="0"/>
          <a:stretch/>
        </p:blipFill>
        <p:spPr>
          <a:xfrm>
            <a:off x="0" y="1673"/>
            <a:ext cx="12192000" cy="685465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2"/>
          <p:cNvPicPr preferRelativeResize="0"/>
          <p:nvPr/>
        </p:nvPicPr>
        <p:blipFill rotWithShape="1">
          <a:blip r:embed="rId3">
            <a:alphaModFix/>
          </a:blip>
          <a:srcRect b="0" l="0" r="0" t="0"/>
          <a:stretch/>
        </p:blipFill>
        <p:spPr>
          <a:xfrm>
            <a:off x="0" y="1673"/>
            <a:ext cx="12192000" cy="685465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id="94" name="Google Shape;94;p3"/>
          <p:cNvPicPr preferRelativeResize="0"/>
          <p:nvPr/>
        </p:nvPicPr>
        <p:blipFill rotWithShape="1">
          <a:blip r:embed="rId3">
            <a:alphaModFix/>
          </a:blip>
          <a:srcRect b="0" l="0" r="0" t="0"/>
          <a:stretch/>
        </p:blipFill>
        <p:spPr>
          <a:xfrm>
            <a:off x="0" y="1673"/>
            <a:ext cx="12192000" cy="685465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id="99" name="Google Shape;99;p4"/>
          <p:cNvPicPr preferRelativeResize="0"/>
          <p:nvPr/>
        </p:nvPicPr>
        <p:blipFill rotWithShape="1">
          <a:blip r:embed="rId3">
            <a:alphaModFix/>
          </a:blip>
          <a:srcRect b="0" l="0" r="0" t="0"/>
          <a:stretch/>
        </p:blipFill>
        <p:spPr>
          <a:xfrm>
            <a:off x="0" y="1673"/>
            <a:ext cx="12192000" cy="685465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33333"/>
              </a:buClr>
              <a:buSzPts val="4400"/>
              <a:buFont typeface="Open Sans"/>
              <a:buNone/>
            </a:pPr>
            <a:r>
              <a:rPr b="0" i="0" lang="en-GB">
                <a:solidFill>
                  <a:srgbClr val="333333"/>
                </a:solidFill>
                <a:latin typeface="Open Sans"/>
                <a:ea typeface="Open Sans"/>
                <a:cs typeface="Open Sans"/>
                <a:sym typeface="Open Sans"/>
              </a:rPr>
              <a:t>Array slice()</a:t>
            </a:r>
            <a:endParaRPr/>
          </a:p>
        </p:txBody>
      </p:sp>
      <p:sp>
        <p:nvSpPr>
          <p:cNvPr id="105" name="Google Shape;105;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GB"/>
              <a:t>The slice() method returns selected elements in an array, as a new array.</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GB"/>
              <a:t>The slice() method selects from a given start, up to a (not inclusive) given end.</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GB"/>
              <a:t>The slice() method does not change the original array.</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33333"/>
              </a:buClr>
              <a:buSzPts val="4400"/>
              <a:buFont typeface="Open Sans"/>
              <a:buNone/>
            </a:pPr>
            <a:r>
              <a:rPr b="0" i="0" lang="en-GB">
                <a:solidFill>
                  <a:srgbClr val="333333"/>
                </a:solidFill>
                <a:latin typeface="Open Sans"/>
                <a:ea typeface="Open Sans"/>
                <a:cs typeface="Open Sans"/>
                <a:sym typeface="Open Sans"/>
              </a:rPr>
              <a:t>Array splice()</a:t>
            </a:r>
            <a:endParaRPr/>
          </a:p>
        </p:txBody>
      </p:sp>
      <p:sp>
        <p:nvSpPr>
          <p:cNvPr id="111" name="Google Shape;111;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GB"/>
              <a:t>The splice() method adds and/or removes array elements.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GB"/>
              <a:t>The splice() method overwrites the original array.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33333"/>
              </a:buClr>
              <a:buSzPts val="4400"/>
              <a:buFont typeface="Open Sans"/>
              <a:buNone/>
            </a:pPr>
            <a:r>
              <a:rPr b="0" i="0" lang="en-GB">
                <a:solidFill>
                  <a:srgbClr val="333333"/>
                </a:solidFill>
                <a:latin typeface="Open Sans"/>
                <a:ea typeface="Open Sans"/>
                <a:cs typeface="Open Sans"/>
                <a:sym typeface="Open Sans"/>
              </a:rPr>
              <a:t>Array some()</a:t>
            </a:r>
            <a:endParaRPr/>
          </a:p>
        </p:txBody>
      </p:sp>
      <p:sp>
        <p:nvSpPr>
          <p:cNvPr id="117" name="Google Shape;117;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rgbClr val="333333"/>
              </a:buClr>
              <a:buSzPct val="100000"/>
              <a:buChar char="•"/>
            </a:pPr>
            <a:r>
              <a:rPr b="1" i="0" lang="en-GB">
                <a:solidFill>
                  <a:srgbClr val="333333"/>
                </a:solidFill>
                <a:latin typeface="Open Sans"/>
                <a:ea typeface="Open Sans"/>
                <a:cs typeface="Open Sans"/>
                <a:sym typeface="Open Sans"/>
              </a:rPr>
              <a:t>Parameters: </a:t>
            </a:r>
            <a:r>
              <a:rPr b="0" i="0" lang="en-GB">
                <a:solidFill>
                  <a:srgbClr val="333333"/>
                </a:solidFill>
                <a:latin typeface="Open Sans"/>
                <a:ea typeface="Open Sans"/>
                <a:cs typeface="Open Sans"/>
                <a:sym typeface="Open Sans"/>
              </a:rPr>
              <a:t>This method accepts five parameters as mentioned above and described below:</a:t>
            </a:r>
            <a:endParaRPr/>
          </a:p>
          <a:p>
            <a:pPr indent="-228600" lvl="0" marL="228600" rtl="0" algn="l">
              <a:lnSpc>
                <a:spcPct val="90000"/>
              </a:lnSpc>
              <a:spcBef>
                <a:spcPts val="1000"/>
              </a:spcBef>
              <a:spcAft>
                <a:spcPts val="0"/>
              </a:spcAft>
              <a:buClr>
                <a:srgbClr val="333333"/>
              </a:buClr>
              <a:buSzPct val="100000"/>
              <a:buFont typeface="Arial"/>
              <a:buChar char="•"/>
            </a:pPr>
            <a:r>
              <a:rPr b="1" i="0" lang="en-GB">
                <a:solidFill>
                  <a:srgbClr val="333333"/>
                </a:solidFill>
                <a:latin typeface="Open Sans"/>
                <a:ea typeface="Open Sans"/>
                <a:cs typeface="Open Sans"/>
                <a:sym typeface="Open Sans"/>
              </a:rPr>
              <a:t>callback: </a:t>
            </a:r>
            <a:r>
              <a:rPr b="0" i="0" lang="en-GB">
                <a:solidFill>
                  <a:srgbClr val="333333"/>
                </a:solidFill>
                <a:latin typeface="Open Sans"/>
                <a:ea typeface="Open Sans"/>
                <a:cs typeface="Open Sans"/>
                <a:sym typeface="Open Sans"/>
              </a:rPr>
              <a:t>This parameter holds the function to be called for each element of the array.</a:t>
            </a:r>
            <a:endParaRPr/>
          </a:p>
          <a:p>
            <a:pPr indent="-285750" lvl="1" marL="742950" rtl="0" algn="l">
              <a:lnSpc>
                <a:spcPct val="90000"/>
              </a:lnSpc>
              <a:spcBef>
                <a:spcPts val="500"/>
              </a:spcBef>
              <a:spcAft>
                <a:spcPts val="0"/>
              </a:spcAft>
              <a:buClr>
                <a:srgbClr val="333333"/>
              </a:buClr>
              <a:buSzPct val="100000"/>
              <a:buFont typeface="Arial"/>
              <a:buChar char="•"/>
            </a:pPr>
            <a:r>
              <a:rPr b="1" i="0" lang="en-GB">
                <a:solidFill>
                  <a:srgbClr val="333333"/>
                </a:solidFill>
                <a:latin typeface="Open Sans"/>
                <a:ea typeface="Open Sans"/>
                <a:cs typeface="Open Sans"/>
                <a:sym typeface="Open Sans"/>
              </a:rPr>
              <a:t>element:</a:t>
            </a:r>
            <a:r>
              <a:rPr b="0" i="0" lang="en-GB">
                <a:solidFill>
                  <a:srgbClr val="333333"/>
                </a:solidFill>
                <a:latin typeface="Open Sans"/>
                <a:ea typeface="Open Sans"/>
                <a:cs typeface="Open Sans"/>
                <a:sym typeface="Open Sans"/>
              </a:rPr>
              <a:t> The parameter holds the value of the elements being processed currently.</a:t>
            </a:r>
            <a:endParaRPr/>
          </a:p>
          <a:p>
            <a:pPr indent="-285750" lvl="1" marL="742950" rtl="0" algn="l">
              <a:lnSpc>
                <a:spcPct val="90000"/>
              </a:lnSpc>
              <a:spcBef>
                <a:spcPts val="500"/>
              </a:spcBef>
              <a:spcAft>
                <a:spcPts val="0"/>
              </a:spcAft>
              <a:buClr>
                <a:srgbClr val="333333"/>
              </a:buClr>
              <a:buSzPct val="100000"/>
              <a:buFont typeface="Arial"/>
              <a:buChar char="•"/>
            </a:pPr>
            <a:r>
              <a:rPr b="1" i="0" lang="en-GB">
                <a:solidFill>
                  <a:srgbClr val="333333"/>
                </a:solidFill>
                <a:latin typeface="Open Sans"/>
                <a:ea typeface="Open Sans"/>
                <a:cs typeface="Open Sans"/>
                <a:sym typeface="Open Sans"/>
              </a:rPr>
              <a:t>index:</a:t>
            </a:r>
            <a:r>
              <a:rPr b="0" i="0" lang="en-GB">
                <a:solidFill>
                  <a:srgbClr val="333333"/>
                </a:solidFill>
                <a:latin typeface="Open Sans"/>
                <a:ea typeface="Open Sans"/>
                <a:cs typeface="Open Sans"/>
                <a:sym typeface="Open Sans"/>
              </a:rPr>
              <a:t> This parameter is optional, it holds the index of the currentValue element in the array starting from 0.</a:t>
            </a:r>
            <a:endParaRPr/>
          </a:p>
          <a:p>
            <a:pPr indent="-285750" lvl="1" marL="742950" rtl="0" algn="l">
              <a:lnSpc>
                <a:spcPct val="90000"/>
              </a:lnSpc>
              <a:spcBef>
                <a:spcPts val="500"/>
              </a:spcBef>
              <a:spcAft>
                <a:spcPts val="0"/>
              </a:spcAft>
              <a:buClr>
                <a:srgbClr val="333333"/>
              </a:buClr>
              <a:buSzPct val="100000"/>
              <a:buFont typeface="Arial"/>
              <a:buChar char="•"/>
            </a:pPr>
            <a:r>
              <a:rPr b="1" i="0" lang="en-GB">
                <a:solidFill>
                  <a:srgbClr val="333333"/>
                </a:solidFill>
                <a:latin typeface="Open Sans"/>
                <a:ea typeface="Open Sans"/>
                <a:cs typeface="Open Sans"/>
                <a:sym typeface="Open Sans"/>
              </a:rPr>
              <a:t>array:</a:t>
            </a:r>
            <a:r>
              <a:rPr b="0" i="0" lang="en-GB">
                <a:solidFill>
                  <a:srgbClr val="333333"/>
                </a:solidFill>
                <a:latin typeface="Open Sans"/>
                <a:ea typeface="Open Sans"/>
                <a:cs typeface="Open Sans"/>
                <a:sym typeface="Open Sans"/>
              </a:rPr>
              <a:t> This parameter is optional, it holds the complete array on which Array.every is called.</a:t>
            </a:r>
            <a:endParaRPr/>
          </a:p>
          <a:p>
            <a:pPr indent="-228600" lvl="0" marL="228600" rtl="0" algn="l">
              <a:lnSpc>
                <a:spcPct val="90000"/>
              </a:lnSpc>
              <a:spcBef>
                <a:spcPts val="1000"/>
              </a:spcBef>
              <a:spcAft>
                <a:spcPts val="0"/>
              </a:spcAft>
              <a:buClr>
                <a:srgbClr val="333333"/>
              </a:buClr>
              <a:buSzPct val="100000"/>
              <a:buFont typeface="Arial"/>
              <a:buChar char="•"/>
            </a:pPr>
            <a:r>
              <a:rPr b="1" i="0" lang="en-GB">
                <a:solidFill>
                  <a:srgbClr val="333333"/>
                </a:solidFill>
                <a:latin typeface="Open Sans"/>
                <a:ea typeface="Open Sans"/>
                <a:cs typeface="Open Sans"/>
                <a:sym typeface="Open Sans"/>
              </a:rPr>
              <a:t>thisArg:</a:t>
            </a:r>
            <a:r>
              <a:rPr b="0" i="0" lang="en-GB">
                <a:solidFill>
                  <a:srgbClr val="333333"/>
                </a:solidFill>
                <a:latin typeface="Open Sans"/>
                <a:ea typeface="Open Sans"/>
                <a:cs typeface="Open Sans"/>
                <a:sym typeface="Open Sans"/>
              </a:rPr>
              <a:t> This parameter is optional, it holds the context to be passed as this is to be used while executing the callback function. If the context is passed, it will be used like this for each invocation of the callback function, otherwise undefined is used as default.</a:t>
            </a:r>
            <a:endParaRPr/>
          </a:p>
          <a:p>
            <a:pPr indent="-228600" lvl="0" marL="228600" rtl="0" algn="l">
              <a:lnSpc>
                <a:spcPct val="90000"/>
              </a:lnSpc>
              <a:spcBef>
                <a:spcPts val="1000"/>
              </a:spcBef>
              <a:spcAft>
                <a:spcPts val="0"/>
              </a:spcAft>
              <a:buClr>
                <a:srgbClr val="333333"/>
              </a:buClr>
              <a:buSzPct val="100000"/>
              <a:buChar char="•"/>
            </a:pPr>
            <a:r>
              <a:rPr b="1" i="0" lang="en-GB">
                <a:solidFill>
                  <a:srgbClr val="333333"/>
                </a:solidFill>
                <a:latin typeface="Open Sans"/>
                <a:ea typeface="Open Sans"/>
                <a:cs typeface="Open Sans"/>
                <a:sym typeface="Open Sans"/>
              </a:rPr>
              <a:t>Return value: </a:t>
            </a:r>
            <a:r>
              <a:rPr b="0" i="0" lang="en-GB">
                <a:solidFill>
                  <a:srgbClr val="333333"/>
                </a:solidFill>
                <a:latin typeface="Open Sans"/>
                <a:ea typeface="Open Sans"/>
                <a:cs typeface="Open Sans"/>
                <a:sym typeface="Open Sans"/>
              </a:rPr>
              <a:t>This method returns true even if one of the elements of the array satisfies the condition(and does not check the remaining values) implemented by the argument method. If no element of the array satisfies the condition then it returns false.</a:t>
            </a:r>
            <a:br>
              <a:rPr b="0" i="0" lang="en-GB">
                <a:solidFill>
                  <a:srgbClr val="333333"/>
                </a:solidFill>
                <a:latin typeface="Open Sans"/>
                <a:ea typeface="Open Sans"/>
                <a:cs typeface="Open Sans"/>
                <a:sym typeface="Open Sans"/>
              </a:rPr>
            </a:br>
            <a:r>
              <a:rPr b="0" i="0" lang="en-GB">
                <a:solidFill>
                  <a:srgbClr val="333333"/>
                </a:solidFill>
                <a:latin typeface="Open Sans"/>
                <a:ea typeface="Open Sans"/>
                <a:cs typeface="Open Sans"/>
                <a:sym typeface="Open Sans"/>
              </a:rPr>
              <a:t> </a:t>
            </a:r>
            <a:endParaRPr/>
          </a:p>
          <a:p>
            <a:pPr indent="0" lvl="0" marL="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33333"/>
              </a:buClr>
              <a:buSzPts val="4400"/>
              <a:buFont typeface="Open Sans"/>
              <a:buNone/>
            </a:pPr>
            <a:r>
              <a:rPr b="0" i="0" lang="en-GB">
                <a:solidFill>
                  <a:srgbClr val="333333"/>
                </a:solidFill>
                <a:latin typeface="Open Sans"/>
                <a:ea typeface="Open Sans"/>
                <a:cs typeface="Open Sans"/>
                <a:sym typeface="Open Sans"/>
              </a:rPr>
              <a:t>Array find() Method</a:t>
            </a:r>
            <a:endParaRPr/>
          </a:p>
        </p:txBody>
      </p:sp>
      <p:sp>
        <p:nvSpPr>
          <p:cNvPr id="123" name="Google Shape;123;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rgbClr val="333333"/>
              </a:buClr>
              <a:buSzPct val="100000"/>
              <a:buChar char="•"/>
            </a:pPr>
            <a:r>
              <a:rPr b="1" i="0" lang="en-GB">
                <a:solidFill>
                  <a:srgbClr val="333333"/>
                </a:solidFill>
                <a:latin typeface="Open Sans"/>
                <a:ea typeface="Open Sans"/>
                <a:cs typeface="Open Sans"/>
                <a:sym typeface="Open Sans"/>
              </a:rPr>
              <a:t>Parameters:</a:t>
            </a:r>
            <a:r>
              <a:rPr b="0" i="0" lang="en-GB">
                <a:solidFill>
                  <a:srgbClr val="333333"/>
                </a:solidFill>
                <a:latin typeface="Open Sans"/>
                <a:ea typeface="Open Sans"/>
                <a:cs typeface="Open Sans"/>
                <a:sym typeface="Open Sans"/>
              </a:rPr>
              <a:t> This method accepts 5 parameters as mentioned above and described below:</a:t>
            </a:r>
            <a:endParaRPr/>
          </a:p>
          <a:p>
            <a:pPr indent="-228600" lvl="0" marL="228600" rtl="0" algn="l">
              <a:lnSpc>
                <a:spcPct val="90000"/>
              </a:lnSpc>
              <a:spcBef>
                <a:spcPts val="1000"/>
              </a:spcBef>
              <a:spcAft>
                <a:spcPts val="0"/>
              </a:spcAft>
              <a:buClr>
                <a:srgbClr val="333333"/>
              </a:buClr>
              <a:buSzPct val="100000"/>
              <a:buFont typeface="Arial"/>
              <a:buChar char="•"/>
            </a:pPr>
            <a:r>
              <a:rPr b="1" i="0" lang="en-GB">
                <a:solidFill>
                  <a:srgbClr val="333333"/>
                </a:solidFill>
                <a:latin typeface="Open Sans"/>
                <a:ea typeface="Open Sans"/>
                <a:cs typeface="Open Sans"/>
                <a:sym typeface="Open Sans"/>
              </a:rPr>
              <a:t>function:</a:t>
            </a:r>
            <a:r>
              <a:rPr b="0" i="0" lang="en-GB">
                <a:solidFill>
                  <a:srgbClr val="333333"/>
                </a:solidFill>
                <a:latin typeface="Open Sans"/>
                <a:ea typeface="Open Sans"/>
                <a:cs typeface="Open Sans"/>
                <a:sym typeface="Open Sans"/>
              </a:rPr>
              <a:t> It is the function of the array that works on each element.</a:t>
            </a:r>
            <a:endParaRPr/>
          </a:p>
          <a:p>
            <a:pPr indent="-228600" lvl="0" marL="228600" rtl="0" algn="l">
              <a:lnSpc>
                <a:spcPct val="90000"/>
              </a:lnSpc>
              <a:spcBef>
                <a:spcPts val="1000"/>
              </a:spcBef>
              <a:spcAft>
                <a:spcPts val="0"/>
              </a:spcAft>
              <a:buClr>
                <a:srgbClr val="333333"/>
              </a:buClr>
              <a:buSzPct val="100000"/>
              <a:buFont typeface="Arial"/>
              <a:buChar char="•"/>
            </a:pPr>
            <a:r>
              <a:rPr b="1" i="0" lang="en-GB">
                <a:solidFill>
                  <a:srgbClr val="333333"/>
                </a:solidFill>
                <a:latin typeface="Open Sans"/>
                <a:ea typeface="Open Sans"/>
                <a:cs typeface="Open Sans"/>
                <a:sym typeface="Open Sans"/>
              </a:rPr>
              <a:t>currentValue:</a:t>
            </a:r>
            <a:r>
              <a:rPr b="0" i="0" lang="en-GB">
                <a:solidFill>
                  <a:srgbClr val="333333"/>
                </a:solidFill>
                <a:latin typeface="Open Sans"/>
                <a:ea typeface="Open Sans"/>
                <a:cs typeface="Open Sans"/>
                <a:sym typeface="Open Sans"/>
              </a:rPr>
              <a:t> This parameter holds the current element.</a:t>
            </a:r>
            <a:endParaRPr/>
          </a:p>
          <a:p>
            <a:pPr indent="-228600" lvl="0" marL="228600" rtl="0" algn="l">
              <a:lnSpc>
                <a:spcPct val="90000"/>
              </a:lnSpc>
              <a:spcBef>
                <a:spcPts val="1000"/>
              </a:spcBef>
              <a:spcAft>
                <a:spcPts val="0"/>
              </a:spcAft>
              <a:buClr>
                <a:srgbClr val="333333"/>
              </a:buClr>
              <a:buSzPct val="100000"/>
              <a:buFont typeface="Arial"/>
              <a:buChar char="•"/>
            </a:pPr>
            <a:r>
              <a:rPr b="1" i="0" lang="en-GB">
                <a:solidFill>
                  <a:srgbClr val="333333"/>
                </a:solidFill>
                <a:latin typeface="Open Sans"/>
                <a:ea typeface="Open Sans"/>
                <a:cs typeface="Open Sans"/>
                <a:sym typeface="Open Sans"/>
              </a:rPr>
              <a:t>index:</a:t>
            </a:r>
            <a:r>
              <a:rPr b="0" i="0" lang="en-GB">
                <a:solidFill>
                  <a:srgbClr val="333333"/>
                </a:solidFill>
                <a:latin typeface="Open Sans"/>
                <a:ea typeface="Open Sans"/>
                <a:cs typeface="Open Sans"/>
                <a:sym typeface="Open Sans"/>
              </a:rPr>
              <a:t> It is an optional parameter that holds the index of the current element.</a:t>
            </a:r>
            <a:endParaRPr/>
          </a:p>
          <a:p>
            <a:pPr indent="-228600" lvl="0" marL="228600" rtl="0" algn="l">
              <a:lnSpc>
                <a:spcPct val="90000"/>
              </a:lnSpc>
              <a:spcBef>
                <a:spcPts val="1000"/>
              </a:spcBef>
              <a:spcAft>
                <a:spcPts val="0"/>
              </a:spcAft>
              <a:buClr>
                <a:srgbClr val="333333"/>
              </a:buClr>
              <a:buSzPct val="100000"/>
              <a:buFont typeface="Arial"/>
              <a:buChar char="•"/>
            </a:pPr>
            <a:r>
              <a:rPr b="1" i="0" lang="en-GB">
                <a:solidFill>
                  <a:srgbClr val="333333"/>
                </a:solidFill>
                <a:latin typeface="Open Sans"/>
                <a:ea typeface="Open Sans"/>
                <a:cs typeface="Open Sans"/>
                <a:sym typeface="Open Sans"/>
              </a:rPr>
              <a:t>arr:</a:t>
            </a:r>
            <a:r>
              <a:rPr b="0" i="0" lang="en-GB">
                <a:solidFill>
                  <a:srgbClr val="333333"/>
                </a:solidFill>
                <a:latin typeface="Open Sans"/>
                <a:ea typeface="Open Sans"/>
                <a:cs typeface="Open Sans"/>
                <a:sym typeface="Open Sans"/>
              </a:rPr>
              <a:t> It is an optional parameter that holds the array object to which the current element belongs to.</a:t>
            </a:r>
            <a:endParaRPr/>
          </a:p>
          <a:p>
            <a:pPr indent="-228600" lvl="0" marL="228600" rtl="0" algn="l">
              <a:lnSpc>
                <a:spcPct val="90000"/>
              </a:lnSpc>
              <a:spcBef>
                <a:spcPts val="1000"/>
              </a:spcBef>
              <a:spcAft>
                <a:spcPts val="0"/>
              </a:spcAft>
              <a:buClr>
                <a:srgbClr val="333333"/>
              </a:buClr>
              <a:buSzPct val="100000"/>
              <a:buFont typeface="Arial"/>
              <a:buChar char="•"/>
            </a:pPr>
            <a:r>
              <a:rPr b="1" i="0" lang="en-GB">
                <a:solidFill>
                  <a:srgbClr val="333333"/>
                </a:solidFill>
                <a:latin typeface="Open Sans"/>
                <a:ea typeface="Open Sans"/>
                <a:cs typeface="Open Sans"/>
                <a:sym typeface="Open Sans"/>
              </a:rPr>
              <a:t>thisValue:</a:t>
            </a:r>
            <a:r>
              <a:rPr b="0" i="0" lang="en-GB">
                <a:solidFill>
                  <a:srgbClr val="333333"/>
                </a:solidFill>
                <a:latin typeface="Open Sans"/>
                <a:ea typeface="Open Sans"/>
                <a:cs typeface="Open Sans"/>
                <a:sym typeface="Open Sans"/>
              </a:rPr>
              <a:t> This parameter is optional. If a value is to be passed to the function to be used as its “this” value else the value “</a:t>
            </a:r>
            <a:r>
              <a:rPr b="1" i="0" lang="en-GB">
                <a:solidFill>
                  <a:srgbClr val="333333"/>
                </a:solidFill>
                <a:latin typeface="Open Sans"/>
                <a:ea typeface="Open Sans"/>
                <a:cs typeface="Open Sans"/>
                <a:sym typeface="Open Sans"/>
              </a:rPr>
              <a:t>undefined</a:t>
            </a:r>
            <a:r>
              <a:rPr b="0" i="0" lang="en-GB">
                <a:solidFill>
                  <a:srgbClr val="333333"/>
                </a:solidFill>
                <a:latin typeface="Open Sans"/>
                <a:ea typeface="Open Sans"/>
                <a:cs typeface="Open Sans"/>
                <a:sym typeface="Open Sans"/>
              </a:rPr>
              <a:t>” will be passed as its “</a:t>
            </a:r>
            <a:r>
              <a:rPr b="1" i="0" lang="en-GB">
                <a:solidFill>
                  <a:srgbClr val="333333"/>
                </a:solidFill>
                <a:latin typeface="Open Sans"/>
                <a:ea typeface="Open Sans"/>
                <a:cs typeface="Open Sans"/>
                <a:sym typeface="Open Sans"/>
              </a:rPr>
              <a:t>this</a:t>
            </a:r>
            <a:r>
              <a:rPr b="0" i="0" lang="en-GB">
                <a:solidFill>
                  <a:srgbClr val="333333"/>
                </a:solidFill>
                <a:latin typeface="Open Sans"/>
                <a:ea typeface="Open Sans"/>
                <a:cs typeface="Open Sans"/>
                <a:sym typeface="Open Sans"/>
              </a:rPr>
              <a:t>” value.</a:t>
            </a:r>
            <a:endParaRPr/>
          </a:p>
          <a:p>
            <a:pPr indent="-228600" lvl="0" marL="228600" rtl="0" algn="l">
              <a:lnSpc>
                <a:spcPct val="90000"/>
              </a:lnSpc>
              <a:spcBef>
                <a:spcPts val="1000"/>
              </a:spcBef>
              <a:spcAft>
                <a:spcPts val="0"/>
              </a:spcAft>
              <a:buClr>
                <a:srgbClr val="333333"/>
              </a:buClr>
              <a:buSzPct val="100000"/>
              <a:buChar char="•"/>
            </a:pPr>
            <a:r>
              <a:rPr b="1" i="0" lang="en-GB">
                <a:solidFill>
                  <a:srgbClr val="333333"/>
                </a:solidFill>
                <a:latin typeface="Open Sans"/>
                <a:ea typeface="Open Sans"/>
                <a:cs typeface="Open Sans"/>
                <a:sym typeface="Open Sans"/>
              </a:rPr>
              <a:t>Return value:</a:t>
            </a:r>
            <a:r>
              <a:rPr b="0" i="0" lang="en-GB">
                <a:solidFill>
                  <a:srgbClr val="333333"/>
                </a:solidFill>
                <a:latin typeface="Open Sans"/>
                <a:ea typeface="Open Sans"/>
                <a:cs typeface="Open Sans"/>
                <a:sym typeface="Open Sans"/>
              </a:rPr>
              <a:t> It returns the array element value if any of the elements in the array satisfy the condition, otherwise it returns undefined.</a:t>
            </a:r>
            <a:endParaRPr/>
          </a:p>
          <a:p>
            <a:pPr indent="-7747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33333"/>
              </a:buClr>
              <a:buSzPts val="4400"/>
              <a:buFont typeface="Open Sans"/>
              <a:buNone/>
            </a:pPr>
            <a:r>
              <a:rPr b="1" i="0" lang="en-GB">
                <a:solidFill>
                  <a:srgbClr val="333333"/>
                </a:solidFill>
                <a:latin typeface="Open Sans"/>
                <a:ea typeface="Open Sans"/>
                <a:cs typeface="Open Sans"/>
                <a:sym typeface="Open Sans"/>
              </a:rPr>
              <a:t>JS Objects</a:t>
            </a:r>
            <a:endParaRPr/>
          </a:p>
        </p:txBody>
      </p:sp>
      <p:sp>
        <p:nvSpPr>
          <p:cNvPr id="129" name="Google Shape;129;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333333"/>
              </a:buClr>
              <a:buSzPts val="2800"/>
              <a:buChar char="•"/>
            </a:pPr>
            <a:r>
              <a:rPr b="0" i="0" lang="en-GB">
                <a:solidFill>
                  <a:srgbClr val="333333"/>
                </a:solidFill>
                <a:latin typeface="Open Sans"/>
                <a:ea typeface="Open Sans"/>
                <a:cs typeface="Open Sans"/>
                <a:sym typeface="Open Sans"/>
              </a:rPr>
              <a:t>A javaScript object is an entity having state and behavior (properties and method). For example: car, pen, bike, chair, glass, keyboard, monitor etc.</a:t>
            </a:r>
            <a:endParaRPr/>
          </a:p>
          <a:p>
            <a:pPr indent="-228600" lvl="0" marL="228600" rtl="0" algn="l">
              <a:lnSpc>
                <a:spcPct val="90000"/>
              </a:lnSpc>
              <a:spcBef>
                <a:spcPts val="1000"/>
              </a:spcBef>
              <a:spcAft>
                <a:spcPts val="0"/>
              </a:spcAft>
              <a:buClr>
                <a:srgbClr val="333333"/>
              </a:buClr>
              <a:buSzPts val="2800"/>
              <a:buChar char="•"/>
            </a:pPr>
            <a:r>
              <a:rPr b="0" i="0" lang="en-GB">
                <a:solidFill>
                  <a:srgbClr val="333333"/>
                </a:solidFill>
                <a:latin typeface="Open Sans"/>
                <a:ea typeface="Open Sans"/>
                <a:cs typeface="Open Sans"/>
                <a:sym typeface="Open Sans"/>
              </a:rPr>
              <a:t>JavaScript is an object-based language. Everything is an object in JavaScript.</a:t>
            </a:r>
            <a:endParaRPr/>
          </a:p>
          <a:p>
            <a:pPr indent="-228600" lvl="0" marL="228600" rtl="0" algn="l">
              <a:lnSpc>
                <a:spcPct val="90000"/>
              </a:lnSpc>
              <a:spcBef>
                <a:spcPts val="1000"/>
              </a:spcBef>
              <a:spcAft>
                <a:spcPts val="0"/>
              </a:spcAft>
              <a:buClr>
                <a:srgbClr val="333333"/>
              </a:buClr>
              <a:buSzPts val="2800"/>
              <a:buChar char="•"/>
            </a:pPr>
            <a:r>
              <a:rPr b="0" i="0" lang="en-GB">
                <a:solidFill>
                  <a:srgbClr val="333333"/>
                </a:solidFill>
                <a:latin typeface="Open Sans"/>
                <a:ea typeface="Open Sans"/>
                <a:cs typeface="Open Sans"/>
                <a:sym typeface="Open Sans"/>
              </a:rPr>
              <a:t>JavaScript is template based not class based. Here, we don't create class to get the object. But, we direct create objects.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33333"/>
              </a:buClr>
              <a:buSzPts val="4400"/>
              <a:buFont typeface="Open Sans"/>
              <a:buNone/>
            </a:pPr>
            <a:r>
              <a:rPr b="1" i="0" lang="en-GB">
                <a:solidFill>
                  <a:srgbClr val="333333"/>
                </a:solidFill>
                <a:latin typeface="Open Sans"/>
                <a:ea typeface="Open Sans"/>
                <a:cs typeface="Open Sans"/>
                <a:sym typeface="Open Sans"/>
              </a:rPr>
              <a:t>JS Objects</a:t>
            </a:r>
            <a:endParaRPr/>
          </a:p>
        </p:txBody>
      </p:sp>
      <p:sp>
        <p:nvSpPr>
          <p:cNvPr id="135" name="Google Shape;135;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333333"/>
              </a:buClr>
              <a:buSzPts val="2800"/>
              <a:buChar char="•"/>
            </a:pPr>
            <a:r>
              <a:rPr b="0" i="0" lang="en-GB">
                <a:solidFill>
                  <a:srgbClr val="333333"/>
                </a:solidFill>
                <a:latin typeface="Open Sans"/>
                <a:ea typeface="Open Sans"/>
                <a:cs typeface="Open Sans"/>
                <a:sym typeface="Open Sans"/>
              </a:rPr>
              <a:t>Creating Objects in JavaScript</a:t>
            </a:r>
            <a:endParaRPr/>
          </a:p>
          <a:p>
            <a:pPr indent="-228600" lvl="0" marL="228600" rtl="0" algn="l">
              <a:lnSpc>
                <a:spcPct val="90000"/>
              </a:lnSpc>
              <a:spcBef>
                <a:spcPts val="1000"/>
              </a:spcBef>
              <a:spcAft>
                <a:spcPts val="0"/>
              </a:spcAft>
              <a:buClr>
                <a:srgbClr val="333333"/>
              </a:buClr>
              <a:buSzPts val="2800"/>
              <a:buChar char="•"/>
            </a:pPr>
            <a:r>
              <a:rPr b="0" i="0" lang="en-GB">
                <a:solidFill>
                  <a:srgbClr val="333333"/>
                </a:solidFill>
                <a:latin typeface="Open Sans"/>
                <a:ea typeface="Open Sans"/>
                <a:cs typeface="Open Sans"/>
                <a:sym typeface="Open Sans"/>
              </a:rPr>
              <a:t>There are 3 ways to create objects.</a:t>
            </a:r>
            <a:endParaRPr/>
          </a:p>
          <a:p>
            <a:pPr indent="-228600" lvl="0" marL="228600" rtl="0" algn="l">
              <a:lnSpc>
                <a:spcPct val="90000"/>
              </a:lnSpc>
              <a:spcBef>
                <a:spcPts val="1000"/>
              </a:spcBef>
              <a:spcAft>
                <a:spcPts val="0"/>
              </a:spcAft>
              <a:buClr>
                <a:srgbClr val="333333"/>
              </a:buClr>
              <a:buSzPts val="2800"/>
              <a:buFont typeface="Calibri"/>
              <a:buAutoNum type="arabicPeriod"/>
            </a:pPr>
            <a:r>
              <a:rPr b="0" i="0" lang="en-GB">
                <a:solidFill>
                  <a:srgbClr val="333333"/>
                </a:solidFill>
                <a:latin typeface="Open Sans"/>
                <a:ea typeface="Open Sans"/>
                <a:cs typeface="Open Sans"/>
                <a:sym typeface="Open Sans"/>
              </a:rPr>
              <a:t>By object literal</a:t>
            </a:r>
            <a:endParaRPr/>
          </a:p>
          <a:p>
            <a:pPr indent="-228600" lvl="0" marL="228600" rtl="0" algn="l">
              <a:lnSpc>
                <a:spcPct val="90000"/>
              </a:lnSpc>
              <a:spcBef>
                <a:spcPts val="1000"/>
              </a:spcBef>
              <a:spcAft>
                <a:spcPts val="0"/>
              </a:spcAft>
              <a:buClr>
                <a:srgbClr val="333333"/>
              </a:buClr>
              <a:buSzPts val="2800"/>
              <a:buFont typeface="Calibri"/>
              <a:buAutoNum type="arabicPeriod"/>
            </a:pPr>
            <a:r>
              <a:rPr b="0" i="0" lang="en-GB">
                <a:solidFill>
                  <a:srgbClr val="333333"/>
                </a:solidFill>
                <a:latin typeface="Open Sans"/>
                <a:ea typeface="Open Sans"/>
                <a:cs typeface="Open Sans"/>
                <a:sym typeface="Open Sans"/>
              </a:rPr>
              <a:t>By creating instance of Object directly (using new keyword)</a:t>
            </a:r>
            <a:endParaRPr/>
          </a:p>
          <a:p>
            <a:pPr indent="-228600" lvl="0" marL="228600" rtl="0" algn="l">
              <a:lnSpc>
                <a:spcPct val="90000"/>
              </a:lnSpc>
              <a:spcBef>
                <a:spcPts val="1000"/>
              </a:spcBef>
              <a:spcAft>
                <a:spcPts val="0"/>
              </a:spcAft>
              <a:buClr>
                <a:srgbClr val="333333"/>
              </a:buClr>
              <a:buSzPts val="2800"/>
              <a:buFont typeface="Calibri"/>
              <a:buAutoNum type="arabicPeriod"/>
            </a:pPr>
            <a:r>
              <a:rPr b="0" i="0" lang="en-GB">
                <a:solidFill>
                  <a:srgbClr val="333333"/>
                </a:solidFill>
                <a:latin typeface="Open Sans"/>
                <a:ea typeface="Open Sans"/>
                <a:cs typeface="Open Sans"/>
                <a:sym typeface="Open Sans"/>
              </a:rPr>
              <a:t>By using an object constructor (using new keyword)</a:t>
            </a:r>
            <a:endParaRPr/>
          </a:p>
          <a:p>
            <a:pPr indent="-228600" lvl="1" marL="685800" rtl="0" algn="l">
              <a:lnSpc>
                <a:spcPct val="90000"/>
              </a:lnSpc>
              <a:spcBef>
                <a:spcPts val="500"/>
              </a:spcBef>
              <a:spcAft>
                <a:spcPts val="0"/>
              </a:spcAft>
              <a:buClr>
                <a:srgbClr val="333333"/>
              </a:buClr>
              <a:buSzPts val="2400"/>
              <a:buChar char="•"/>
            </a:pPr>
            <a:r>
              <a:rPr b="0" i="0" lang="en-GB">
                <a:solidFill>
                  <a:srgbClr val="333333"/>
                </a:solidFill>
                <a:latin typeface="Open Sans"/>
                <a:ea typeface="Open Sans"/>
                <a:cs typeface="Open Sans"/>
                <a:sym typeface="Open Sans"/>
              </a:rPr>
              <a:t>1) JavaScript Object by object literal</a:t>
            </a:r>
            <a:endParaRPr/>
          </a:p>
          <a:p>
            <a:pPr indent="-228600" lvl="1" marL="685800" rtl="0" algn="l">
              <a:lnSpc>
                <a:spcPct val="90000"/>
              </a:lnSpc>
              <a:spcBef>
                <a:spcPts val="500"/>
              </a:spcBef>
              <a:spcAft>
                <a:spcPts val="0"/>
              </a:spcAft>
              <a:buClr>
                <a:srgbClr val="333333"/>
              </a:buClr>
              <a:buSzPts val="2400"/>
              <a:buChar char="•"/>
            </a:pPr>
            <a:r>
              <a:rPr b="0" i="0" lang="en-GB">
                <a:solidFill>
                  <a:srgbClr val="333333"/>
                </a:solidFill>
                <a:latin typeface="Open Sans"/>
                <a:ea typeface="Open Sans"/>
                <a:cs typeface="Open Sans"/>
                <a:sym typeface="Open Sans"/>
              </a:rPr>
              <a:t>2) By creating instance of Object</a:t>
            </a:r>
            <a:endParaRPr/>
          </a:p>
          <a:p>
            <a:pPr indent="-228600" lvl="1" marL="685800" rtl="0" algn="l">
              <a:lnSpc>
                <a:spcPct val="90000"/>
              </a:lnSpc>
              <a:spcBef>
                <a:spcPts val="500"/>
              </a:spcBef>
              <a:spcAft>
                <a:spcPts val="0"/>
              </a:spcAft>
              <a:buClr>
                <a:srgbClr val="333333"/>
              </a:buClr>
              <a:buSzPts val="2400"/>
              <a:buChar char="•"/>
            </a:pPr>
            <a:r>
              <a:rPr b="0" i="0" lang="en-GB">
                <a:solidFill>
                  <a:srgbClr val="333333"/>
                </a:solidFill>
                <a:latin typeface="Open Sans"/>
                <a:ea typeface="Open Sans"/>
                <a:cs typeface="Open Sans"/>
                <a:sym typeface="Open Sans"/>
              </a:rPr>
              <a:t>3) By using an Object constructor</a:t>
            </a:r>
            <a:endParaRPr/>
          </a:p>
          <a:p>
            <a:pPr indent="-76200" lvl="1" marL="685800" rtl="0" algn="l">
              <a:lnSpc>
                <a:spcPct val="90000"/>
              </a:lnSpc>
              <a:spcBef>
                <a:spcPts val="500"/>
              </a:spcBef>
              <a:spcAft>
                <a:spcPts val="0"/>
              </a:spcAft>
              <a:buClr>
                <a:schemeClr val="dk1"/>
              </a:buClr>
              <a:buSzPts val="24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33333"/>
              </a:buClr>
              <a:buSzPts val="4400"/>
              <a:buFont typeface="Open Sans"/>
              <a:buNone/>
            </a:pPr>
            <a:r>
              <a:rPr b="0" i="0" lang="en-GB">
                <a:solidFill>
                  <a:srgbClr val="333333"/>
                </a:solidFill>
                <a:latin typeface="Open Sans"/>
                <a:ea typeface="Open Sans"/>
                <a:cs typeface="Open Sans"/>
                <a:sym typeface="Open Sans"/>
              </a:rPr>
              <a:t>CONST ARRAYS</a:t>
            </a:r>
            <a:endParaRPr/>
          </a:p>
        </p:txBody>
      </p:sp>
      <p:sp>
        <p:nvSpPr>
          <p:cNvPr id="141" name="Google Shape;141;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333333"/>
              </a:buClr>
              <a:buSzPts val="2800"/>
              <a:buChar char="•"/>
            </a:pPr>
            <a:r>
              <a:rPr b="0" i="0" lang="en-GB">
                <a:solidFill>
                  <a:srgbClr val="333333"/>
                </a:solidFill>
                <a:latin typeface="Open Sans"/>
                <a:ea typeface="Open Sans"/>
                <a:cs typeface="Open Sans"/>
                <a:sym typeface="Open Sans"/>
              </a:rPr>
              <a:t>The code above has an array variable called numbers holding three values. Even though the numbers array is a const you’re able to update or change the variable. For example, you can add another number to the numbers array by using the push method. Methods are actions you perform on the array or object.</a:t>
            </a:r>
            <a:br>
              <a:rPr lang="en-GB"/>
            </a:br>
            <a:br>
              <a:rPr lang="en-GB"/>
            </a:br>
            <a:r>
              <a:rPr b="0" i="0" lang="en-GB">
                <a:solidFill>
                  <a:srgbClr val="333333"/>
                </a:solidFill>
                <a:latin typeface="Open Sans"/>
                <a:ea typeface="Open Sans"/>
                <a:cs typeface="Open Sans"/>
                <a:sym typeface="Open Sans"/>
              </a:rPr>
              <a:t>const numbers = [1,2,3];</a:t>
            </a:r>
            <a:br>
              <a:rPr lang="en-GB"/>
            </a:br>
            <a:r>
              <a:rPr b="0" i="0" lang="en-GB">
                <a:solidFill>
                  <a:srgbClr val="333333"/>
                </a:solidFill>
                <a:latin typeface="Open Sans"/>
                <a:ea typeface="Open Sans"/>
                <a:cs typeface="Open Sans"/>
                <a:sym typeface="Open Sans"/>
              </a:rPr>
              <a:t>numbers.push(4);</a:t>
            </a:r>
            <a:br>
              <a:rPr lang="en-GB"/>
            </a:br>
            <a:r>
              <a:rPr b="0" i="0" lang="en-GB">
                <a:solidFill>
                  <a:srgbClr val="333333"/>
                </a:solidFill>
                <a:latin typeface="Open Sans"/>
                <a:ea typeface="Open Sans"/>
                <a:cs typeface="Open Sans"/>
                <a:sym typeface="Open Sans"/>
              </a:rPr>
              <a:t>console.log(numbers) // Outpusts [1,2,3,4];</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33333"/>
              </a:buClr>
              <a:buSzPts val="4400"/>
              <a:buFont typeface="Open Sans"/>
              <a:buNone/>
            </a:pPr>
            <a:r>
              <a:rPr b="0" i="0" lang="en-GB">
                <a:solidFill>
                  <a:srgbClr val="333333"/>
                </a:solidFill>
                <a:latin typeface="Open Sans"/>
                <a:ea typeface="Open Sans"/>
                <a:cs typeface="Open Sans"/>
                <a:sym typeface="Open Sans"/>
              </a:rPr>
              <a:t>CONST OBJECTS</a:t>
            </a:r>
            <a:endParaRPr/>
          </a:p>
        </p:txBody>
      </p:sp>
      <p:sp>
        <p:nvSpPr>
          <p:cNvPr id="147" name="Google Shape;147;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rgbClr val="333333"/>
              </a:buClr>
              <a:buSzPct val="100000"/>
              <a:buChar char="•"/>
            </a:pPr>
            <a:r>
              <a:rPr b="0" i="0" lang="en-GB">
                <a:solidFill>
                  <a:srgbClr val="333333"/>
                </a:solidFill>
                <a:latin typeface="Open Sans"/>
                <a:ea typeface="Open Sans"/>
                <a:cs typeface="Open Sans"/>
                <a:sym typeface="Open Sans"/>
              </a:rPr>
              <a:t>The modifying principle applies to an object for example.</a:t>
            </a:r>
            <a:br>
              <a:rPr b="0" i="0" lang="en-GB">
                <a:solidFill>
                  <a:srgbClr val="333333"/>
                </a:solidFill>
                <a:latin typeface="Open Sans"/>
                <a:ea typeface="Open Sans"/>
                <a:cs typeface="Open Sans"/>
                <a:sym typeface="Open Sans"/>
              </a:rPr>
            </a:br>
            <a:br>
              <a:rPr b="0" i="0" lang="en-GB">
                <a:solidFill>
                  <a:srgbClr val="333333"/>
                </a:solidFill>
                <a:latin typeface="Open Sans"/>
                <a:ea typeface="Open Sans"/>
                <a:cs typeface="Open Sans"/>
                <a:sym typeface="Open Sans"/>
              </a:rPr>
            </a:br>
            <a:r>
              <a:rPr b="0" i="0" lang="en-GB">
                <a:solidFill>
                  <a:srgbClr val="333333"/>
                </a:solidFill>
                <a:latin typeface="Open Sans"/>
                <a:ea typeface="Open Sans"/>
                <a:cs typeface="Open Sans"/>
                <a:sym typeface="Open Sans"/>
              </a:rPr>
              <a:t>const user = {</a:t>
            </a:r>
            <a:br>
              <a:rPr b="0" i="0" lang="en-GB">
                <a:solidFill>
                  <a:srgbClr val="333333"/>
                </a:solidFill>
                <a:latin typeface="Open Sans"/>
                <a:ea typeface="Open Sans"/>
                <a:cs typeface="Open Sans"/>
                <a:sym typeface="Open Sans"/>
              </a:rPr>
            </a:br>
            <a:r>
              <a:rPr b="0" i="0" lang="en-GB">
                <a:solidFill>
                  <a:srgbClr val="333333"/>
                </a:solidFill>
                <a:latin typeface="Open Sans"/>
                <a:ea typeface="Open Sans"/>
                <a:cs typeface="Open Sans"/>
                <a:sym typeface="Open Sans"/>
              </a:rPr>
              <a:t>  name: "Gary",</a:t>
            </a:r>
            <a:br>
              <a:rPr b="0" i="0" lang="en-GB">
                <a:solidFill>
                  <a:srgbClr val="333333"/>
                </a:solidFill>
                <a:latin typeface="Open Sans"/>
                <a:ea typeface="Open Sans"/>
                <a:cs typeface="Open Sans"/>
                <a:sym typeface="Open Sans"/>
              </a:rPr>
            </a:br>
            <a:r>
              <a:rPr b="0" i="0" lang="en-GB">
                <a:solidFill>
                  <a:srgbClr val="333333"/>
                </a:solidFill>
                <a:latin typeface="Open Sans"/>
                <a:ea typeface="Open Sans"/>
                <a:cs typeface="Open Sans"/>
                <a:sym typeface="Open Sans"/>
              </a:rPr>
              <a:t>}</a:t>
            </a:r>
            <a:br>
              <a:rPr b="0" i="0" lang="en-GB">
                <a:solidFill>
                  <a:srgbClr val="333333"/>
                </a:solidFill>
                <a:latin typeface="Open Sans"/>
                <a:ea typeface="Open Sans"/>
                <a:cs typeface="Open Sans"/>
                <a:sym typeface="Open Sans"/>
              </a:rPr>
            </a:br>
            <a:br>
              <a:rPr b="0" i="0" lang="en-GB">
                <a:solidFill>
                  <a:srgbClr val="333333"/>
                </a:solidFill>
                <a:latin typeface="Open Sans"/>
                <a:ea typeface="Open Sans"/>
                <a:cs typeface="Open Sans"/>
                <a:sym typeface="Open Sans"/>
              </a:rPr>
            </a:br>
            <a:r>
              <a:rPr b="0" i="0" lang="en-GB">
                <a:solidFill>
                  <a:srgbClr val="333333"/>
                </a:solidFill>
                <a:latin typeface="Open Sans"/>
                <a:ea typeface="Open Sans"/>
                <a:cs typeface="Open Sans"/>
                <a:sym typeface="Open Sans"/>
              </a:rPr>
              <a:t>user.age = 29</a:t>
            </a:r>
            <a:br>
              <a:rPr b="0" i="0" lang="en-GB">
                <a:solidFill>
                  <a:srgbClr val="333333"/>
                </a:solidFill>
                <a:latin typeface="Open Sans"/>
                <a:ea typeface="Open Sans"/>
                <a:cs typeface="Open Sans"/>
                <a:sym typeface="Open Sans"/>
              </a:rPr>
            </a:br>
            <a:r>
              <a:rPr b="0" i="0" lang="en-GB">
                <a:solidFill>
                  <a:srgbClr val="333333"/>
                </a:solidFill>
                <a:latin typeface="Open Sans"/>
                <a:ea typeface="Open Sans"/>
                <a:cs typeface="Open Sans"/>
                <a:sym typeface="Open Sans"/>
              </a:rPr>
              <a:t>console.log(user) // {name: "Gary", age: 29</a:t>
            </a:r>
            <a:br>
              <a:rPr b="0" i="0" lang="en-GB">
                <a:solidFill>
                  <a:srgbClr val="333333"/>
                </a:solidFill>
                <a:latin typeface="Open Sans"/>
                <a:ea typeface="Open Sans"/>
                <a:cs typeface="Open Sans"/>
                <a:sym typeface="Open Sans"/>
              </a:rPr>
            </a:br>
            <a:r>
              <a:rPr b="0" i="0" lang="en-GB">
                <a:solidFill>
                  <a:srgbClr val="333333"/>
                </a:solidFill>
                <a:latin typeface="Open Sans"/>
                <a:ea typeface="Open Sans"/>
                <a:cs typeface="Open Sans"/>
                <a:sym typeface="Open Sans"/>
              </a:rPr>
              <a:t> </a:t>
            </a:r>
            <a:endParaRPr/>
          </a:p>
          <a:p>
            <a:pPr indent="-228600" lvl="0" marL="228600" rtl="0" algn="l">
              <a:lnSpc>
                <a:spcPct val="90000"/>
              </a:lnSpc>
              <a:spcBef>
                <a:spcPts val="1000"/>
              </a:spcBef>
              <a:spcAft>
                <a:spcPts val="0"/>
              </a:spcAft>
              <a:buClr>
                <a:srgbClr val="333333"/>
              </a:buClr>
              <a:buSzPct val="100000"/>
              <a:buChar char="•"/>
            </a:pPr>
            <a:r>
              <a:rPr b="0" i="0" lang="en-GB">
                <a:solidFill>
                  <a:srgbClr val="333333"/>
                </a:solidFill>
                <a:latin typeface="Open Sans"/>
                <a:ea typeface="Open Sans"/>
                <a:cs typeface="Open Sans"/>
                <a:sym typeface="Open Sans"/>
              </a:rPr>
              <a:t>The code above creates a user object with a name property then it assigns a new age property to object. One thing to remember const does not stop array and objects from being modified it only stops the variable itself from being reassigned or being overwritten for example.</a:t>
            </a:r>
            <a:br>
              <a:rPr b="0" i="0" lang="en-GB">
                <a:solidFill>
                  <a:srgbClr val="333333"/>
                </a:solidFill>
                <a:latin typeface="Open Sans"/>
                <a:ea typeface="Open Sans"/>
                <a:cs typeface="Open Sans"/>
                <a:sym typeface="Open Sans"/>
              </a:rPr>
            </a:br>
            <a:br>
              <a:rPr b="0" i="0" lang="en-GB">
                <a:solidFill>
                  <a:srgbClr val="333333"/>
                </a:solidFill>
                <a:latin typeface="Open Sans"/>
                <a:ea typeface="Open Sans"/>
                <a:cs typeface="Open Sans"/>
                <a:sym typeface="Open Sans"/>
              </a:rPr>
            </a:br>
            <a:r>
              <a:rPr b="0" i="0" lang="en-GB">
                <a:solidFill>
                  <a:srgbClr val="333333"/>
                </a:solidFill>
                <a:latin typeface="Open Sans"/>
                <a:ea typeface="Open Sans"/>
                <a:cs typeface="Open Sans"/>
                <a:sym typeface="Open Sans"/>
              </a:rPr>
              <a:t>const user = {</a:t>
            </a:r>
            <a:br>
              <a:rPr b="0" i="0" lang="en-GB">
                <a:solidFill>
                  <a:srgbClr val="333333"/>
                </a:solidFill>
                <a:latin typeface="Open Sans"/>
                <a:ea typeface="Open Sans"/>
                <a:cs typeface="Open Sans"/>
                <a:sym typeface="Open Sans"/>
              </a:rPr>
            </a:br>
            <a:r>
              <a:rPr b="0" i="0" lang="en-GB">
                <a:solidFill>
                  <a:srgbClr val="333333"/>
                </a:solidFill>
                <a:latin typeface="Open Sans"/>
                <a:ea typeface="Open Sans"/>
                <a:cs typeface="Open Sans"/>
                <a:sym typeface="Open Sans"/>
              </a:rPr>
              <a:t>  name: "Gary",</a:t>
            </a:r>
            <a:br>
              <a:rPr b="0" i="0" lang="en-GB">
                <a:solidFill>
                  <a:srgbClr val="333333"/>
                </a:solidFill>
                <a:latin typeface="Open Sans"/>
                <a:ea typeface="Open Sans"/>
                <a:cs typeface="Open Sans"/>
                <a:sym typeface="Open Sans"/>
              </a:rPr>
            </a:br>
            <a:r>
              <a:rPr b="0" i="0" lang="en-GB">
                <a:solidFill>
                  <a:srgbClr val="333333"/>
                </a:solidFill>
                <a:latin typeface="Open Sans"/>
                <a:ea typeface="Open Sans"/>
                <a:cs typeface="Open Sans"/>
                <a:sym typeface="Open Sans"/>
              </a:rPr>
              <a:t>}</a:t>
            </a:r>
            <a:br>
              <a:rPr b="0" i="0" lang="en-GB">
                <a:solidFill>
                  <a:srgbClr val="333333"/>
                </a:solidFill>
                <a:latin typeface="Open Sans"/>
                <a:ea typeface="Open Sans"/>
                <a:cs typeface="Open Sans"/>
                <a:sym typeface="Open Sans"/>
              </a:rPr>
            </a:br>
            <a:br>
              <a:rPr b="0" i="0" lang="en-GB">
                <a:solidFill>
                  <a:srgbClr val="333333"/>
                </a:solidFill>
                <a:latin typeface="Open Sans"/>
                <a:ea typeface="Open Sans"/>
                <a:cs typeface="Open Sans"/>
                <a:sym typeface="Open Sans"/>
              </a:rPr>
            </a:br>
            <a:r>
              <a:rPr b="0" i="0" lang="en-GB">
                <a:solidFill>
                  <a:srgbClr val="333333"/>
                </a:solidFill>
                <a:latin typeface="Open Sans"/>
                <a:ea typeface="Open Sans"/>
                <a:cs typeface="Open Sans"/>
                <a:sym typeface="Open Sans"/>
              </a:rPr>
              <a:t>person = { name: "Bob" } // Uncaught TypeError: Assignment to constant variable.</a:t>
            </a:r>
            <a:endParaRPr/>
          </a:p>
          <a:p>
            <a:pPr indent="-10414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33333"/>
              </a:buClr>
              <a:buSzPts val="4400"/>
              <a:buFont typeface="Open Sans"/>
              <a:buNone/>
            </a:pPr>
            <a:r>
              <a:rPr b="1" i="0" lang="en-GB">
                <a:solidFill>
                  <a:srgbClr val="333333"/>
                </a:solidFill>
                <a:latin typeface="Open Sans"/>
                <a:ea typeface="Open Sans"/>
                <a:cs typeface="Open Sans"/>
                <a:sym typeface="Open Sans"/>
              </a:rPr>
              <a:t>JS Map Method</a:t>
            </a:r>
            <a:endParaRPr/>
          </a:p>
        </p:txBody>
      </p:sp>
      <p:sp>
        <p:nvSpPr>
          <p:cNvPr id="153" name="Google Shape;153;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GB"/>
              <a:t>map() creates a new array from calling a function for every array element.</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GB"/>
              <a:t>map() does not execute the function for empty elements.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GB"/>
              <a:t>map() does not change the original array.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33333"/>
              </a:buClr>
              <a:buSzPts val="4400"/>
              <a:buFont typeface="Open Sans"/>
              <a:buNone/>
            </a:pPr>
            <a:r>
              <a:rPr b="1" i="0" lang="en-GB">
                <a:solidFill>
                  <a:srgbClr val="333333"/>
                </a:solidFill>
                <a:latin typeface="Open Sans"/>
                <a:ea typeface="Open Sans"/>
                <a:cs typeface="Open Sans"/>
                <a:sym typeface="Open Sans"/>
              </a:rPr>
              <a:t>JS Map Method</a:t>
            </a:r>
            <a:endParaRPr/>
          </a:p>
        </p:txBody>
      </p:sp>
      <p:graphicFrame>
        <p:nvGraphicFramePr>
          <p:cNvPr id="159" name="Google Shape;159;p14"/>
          <p:cNvGraphicFramePr/>
          <p:nvPr/>
        </p:nvGraphicFramePr>
        <p:xfrm>
          <a:off x="838199" y="1980151"/>
          <a:ext cx="3000000" cy="3000000"/>
        </p:xfrm>
        <a:graphic>
          <a:graphicData uri="http://schemas.openxmlformats.org/drawingml/2006/table">
            <a:tbl>
              <a:tblPr bandRow="1" firstCol="1" firstRow="1">
                <a:noFill/>
                <a:tableStyleId>{6CC4A58A-B1A9-45A1-82CD-CB47A02BFFEE}</a:tableStyleId>
              </a:tblPr>
              <a:tblGrid>
                <a:gridCol w="5045525"/>
                <a:gridCol w="5045525"/>
              </a:tblGrid>
              <a:tr h="368925">
                <a:tc>
                  <a:txBody>
                    <a:bodyPr/>
                    <a:lstStyle/>
                    <a:p>
                      <a:pPr indent="0" lvl="0" marL="0" marR="0" rtl="0" algn="l">
                        <a:lnSpc>
                          <a:spcPct val="107000"/>
                        </a:lnSpc>
                        <a:spcBef>
                          <a:spcPts val="0"/>
                        </a:spcBef>
                        <a:spcAft>
                          <a:spcPts val="0"/>
                        </a:spcAft>
                        <a:buClr>
                          <a:schemeClr val="lt1"/>
                        </a:buClr>
                        <a:buSzPts val="1800"/>
                        <a:buFont typeface="Calibri"/>
                        <a:buNone/>
                      </a:pPr>
                      <a:r>
                        <a:rPr b="1" lang="en-GB" sz="1800" u="none" cap="none" strike="noStrike">
                          <a:solidFill>
                            <a:schemeClr val="lt1"/>
                          </a:solidFill>
                          <a:latin typeface="Calibri"/>
                          <a:ea typeface="Calibri"/>
                          <a:cs typeface="Calibri"/>
                          <a:sym typeface="Calibri"/>
                        </a:rPr>
                        <a:t>Parameters</a:t>
                      </a:r>
                      <a:endParaRPr/>
                    </a:p>
                    <a:p>
                      <a:pPr indent="0" lvl="0" marL="0" marR="0" rtl="0" algn="l">
                        <a:lnSpc>
                          <a:spcPct val="107000"/>
                        </a:lnSpc>
                        <a:spcBef>
                          <a:spcPts val="0"/>
                        </a:spcBef>
                        <a:spcAft>
                          <a:spcPts val="0"/>
                        </a:spcAft>
                        <a:buNone/>
                      </a:pPr>
                      <a:r>
                        <a:t/>
                      </a:r>
                      <a:endParaRPr sz="1100" u="none" cap="none" strike="noStrike">
                        <a:latin typeface="Calibri"/>
                        <a:ea typeface="Calibri"/>
                        <a:cs typeface="Calibri"/>
                        <a:sym typeface="Calibri"/>
                      </a:endParaRPr>
                    </a:p>
                  </a:txBody>
                  <a:tcPr marT="9525" marB="9525" marR="9525" marL="9525" anchor="ctr"/>
                </a:tc>
                <a:tc>
                  <a:txBody>
                    <a:bodyPr/>
                    <a:lstStyle/>
                    <a:p>
                      <a:pPr indent="0" lvl="0" marL="0" marR="0" rtl="0" algn="l">
                        <a:spcBef>
                          <a:spcPts val="0"/>
                        </a:spcBef>
                        <a:spcAft>
                          <a:spcPts val="0"/>
                        </a:spcAft>
                        <a:buNone/>
                      </a:pPr>
                      <a:r>
                        <a:t/>
                      </a:r>
                      <a:endParaRPr sz="1800"/>
                    </a:p>
                  </a:txBody>
                  <a:tcPr marT="45725" marB="45725" marR="91450" marL="91450"/>
                </a:tc>
              </a:tr>
              <a:tr h="199975">
                <a:tc>
                  <a:txBody>
                    <a:bodyPr/>
                    <a:lstStyle/>
                    <a:p>
                      <a:pPr indent="0" lvl="0" marL="0" marR="0" rtl="0" algn="l">
                        <a:lnSpc>
                          <a:spcPct val="107000"/>
                        </a:lnSpc>
                        <a:spcBef>
                          <a:spcPts val="0"/>
                        </a:spcBef>
                        <a:spcAft>
                          <a:spcPts val="0"/>
                        </a:spcAft>
                        <a:buNone/>
                      </a:pPr>
                      <a:r>
                        <a:rPr lang="en-GB" sz="1150"/>
                        <a:t>Parameter</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Description</a:t>
                      </a:r>
                      <a:endParaRPr sz="1100">
                        <a:latin typeface="Calibri"/>
                        <a:ea typeface="Calibri"/>
                        <a:cs typeface="Calibri"/>
                        <a:sym typeface="Calibri"/>
                      </a:endParaRPr>
                    </a:p>
                  </a:txBody>
                  <a:tcPr marT="9525" marB="9525" marR="9525" marL="9525"/>
                </a:tc>
              </a:tr>
              <a:tr h="389425">
                <a:tc>
                  <a:txBody>
                    <a:bodyPr/>
                    <a:lstStyle/>
                    <a:p>
                      <a:pPr indent="0" lvl="0" marL="0" marR="0" rtl="0" algn="l">
                        <a:lnSpc>
                          <a:spcPct val="107000"/>
                        </a:lnSpc>
                        <a:spcBef>
                          <a:spcPts val="0"/>
                        </a:spcBef>
                        <a:spcAft>
                          <a:spcPts val="0"/>
                        </a:spcAft>
                        <a:buNone/>
                      </a:pPr>
                      <a:r>
                        <a:rPr lang="en-GB" sz="1150"/>
                        <a:t>function()</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Required.</a:t>
                      </a:r>
                      <a:br>
                        <a:rPr lang="en-GB" sz="1150"/>
                      </a:br>
                      <a:r>
                        <a:rPr lang="en-GB" sz="1150"/>
                        <a:t>A function to be run for each array element.</a:t>
                      </a:r>
                      <a:endParaRPr sz="1100">
                        <a:latin typeface="Calibri"/>
                        <a:ea typeface="Calibri"/>
                        <a:cs typeface="Calibri"/>
                        <a:sym typeface="Calibri"/>
                      </a:endParaRPr>
                    </a:p>
                  </a:txBody>
                  <a:tcPr marT="9525" marB="9525" marR="9525" marL="9525"/>
                </a:tc>
              </a:tr>
              <a:tr h="399025">
                <a:tc>
                  <a:txBody>
                    <a:bodyPr/>
                    <a:lstStyle/>
                    <a:p>
                      <a:pPr indent="0" lvl="0" marL="0" marR="0" rtl="0" algn="l">
                        <a:lnSpc>
                          <a:spcPct val="107000"/>
                        </a:lnSpc>
                        <a:spcBef>
                          <a:spcPts val="0"/>
                        </a:spcBef>
                        <a:spcAft>
                          <a:spcPts val="0"/>
                        </a:spcAft>
                        <a:buNone/>
                      </a:pPr>
                      <a:r>
                        <a:rPr lang="en-GB" sz="1150"/>
                        <a:t>currentValue</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Required.</a:t>
                      </a:r>
                      <a:br>
                        <a:rPr lang="en-GB" sz="1150"/>
                      </a:br>
                      <a:r>
                        <a:rPr lang="en-GB" sz="1150"/>
                        <a:t>The value of the current element.</a:t>
                      </a:r>
                      <a:endParaRPr sz="1100">
                        <a:latin typeface="Calibri"/>
                        <a:ea typeface="Calibri"/>
                        <a:cs typeface="Calibri"/>
                        <a:sym typeface="Calibri"/>
                      </a:endParaRPr>
                    </a:p>
                  </a:txBody>
                  <a:tcPr marT="9525" marB="9525" marR="9525" marL="9525"/>
                </a:tc>
              </a:tr>
              <a:tr h="399025">
                <a:tc>
                  <a:txBody>
                    <a:bodyPr/>
                    <a:lstStyle/>
                    <a:p>
                      <a:pPr indent="0" lvl="0" marL="0" marR="0" rtl="0" algn="l">
                        <a:lnSpc>
                          <a:spcPct val="107000"/>
                        </a:lnSpc>
                        <a:spcBef>
                          <a:spcPts val="0"/>
                        </a:spcBef>
                        <a:spcAft>
                          <a:spcPts val="0"/>
                        </a:spcAft>
                        <a:buNone/>
                      </a:pPr>
                      <a:r>
                        <a:rPr lang="en-GB" sz="1150"/>
                        <a:t>index</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Optional.</a:t>
                      </a:r>
                      <a:br>
                        <a:rPr lang="en-GB" sz="1150"/>
                      </a:br>
                      <a:r>
                        <a:rPr lang="en-GB" sz="1150"/>
                        <a:t>The index of the current element.</a:t>
                      </a:r>
                      <a:endParaRPr sz="1100">
                        <a:latin typeface="Calibri"/>
                        <a:ea typeface="Calibri"/>
                        <a:cs typeface="Calibri"/>
                        <a:sym typeface="Calibri"/>
                      </a:endParaRPr>
                    </a:p>
                  </a:txBody>
                  <a:tcPr marT="9525" marB="9525" marR="9525" marL="9525"/>
                </a:tc>
              </a:tr>
              <a:tr h="399025">
                <a:tc>
                  <a:txBody>
                    <a:bodyPr/>
                    <a:lstStyle/>
                    <a:p>
                      <a:pPr indent="0" lvl="0" marL="0" marR="0" rtl="0" algn="l">
                        <a:lnSpc>
                          <a:spcPct val="107000"/>
                        </a:lnSpc>
                        <a:spcBef>
                          <a:spcPts val="0"/>
                        </a:spcBef>
                        <a:spcAft>
                          <a:spcPts val="0"/>
                        </a:spcAft>
                        <a:buNone/>
                      </a:pPr>
                      <a:r>
                        <a:rPr lang="en-GB" sz="1150"/>
                        <a:t>arr</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Optional.</a:t>
                      </a:r>
                      <a:br>
                        <a:rPr lang="en-GB" sz="1150"/>
                      </a:br>
                      <a:r>
                        <a:rPr lang="en-GB" sz="1150"/>
                        <a:t>The array of the current element.</a:t>
                      </a:r>
                      <a:endParaRPr sz="1100">
                        <a:latin typeface="Calibri"/>
                        <a:ea typeface="Calibri"/>
                        <a:cs typeface="Calibri"/>
                        <a:sym typeface="Calibri"/>
                      </a:endParaRPr>
                    </a:p>
                  </a:txBody>
                  <a:tcPr marT="9525" marB="9525" marR="9525" marL="9525"/>
                </a:tc>
              </a:tr>
              <a:tr h="767375">
                <a:tc>
                  <a:txBody>
                    <a:bodyPr/>
                    <a:lstStyle/>
                    <a:p>
                      <a:pPr indent="0" lvl="0" marL="0" marR="0" rtl="0" algn="l">
                        <a:lnSpc>
                          <a:spcPct val="107000"/>
                        </a:lnSpc>
                        <a:spcBef>
                          <a:spcPts val="0"/>
                        </a:spcBef>
                        <a:spcAft>
                          <a:spcPts val="0"/>
                        </a:spcAft>
                        <a:buNone/>
                      </a:pPr>
                      <a:r>
                        <a:rPr lang="en-GB" sz="1150"/>
                        <a:t>thisValue</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Optional.</a:t>
                      </a:r>
                      <a:br>
                        <a:rPr lang="en-GB" sz="1150"/>
                      </a:br>
                      <a:r>
                        <a:rPr lang="en-GB" sz="1150"/>
                        <a:t>Default value </a:t>
                      </a:r>
                      <a:r>
                        <a:rPr lang="en-GB" sz="1000"/>
                        <a:t>undefined</a:t>
                      </a:r>
                      <a:r>
                        <a:rPr lang="en-GB" sz="1150"/>
                        <a:t>.</a:t>
                      </a:r>
                      <a:br>
                        <a:rPr lang="en-GB" sz="1150"/>
                      </a:br>
                      <a:r>
                        <a:rPr lang="en-GB" sz="1150"/>
                        <a:t>A value passed to the function to be used as its </a:t>
                      </a:r>
                      <a:r>
                        <a:rPr lang="en-GB" sz="1000"/>
                        <a:t>this</a:t>
                      </a:r>
                      <a:r>
                        <a:rPr lang="en-GB" sz="1150"/>
                        <a:t> value.</a:t>
                      </a:r>
                      <a:endParaRPr sz="1100">
                        <a:latin typeface="Calibri"/>
                        <a:ea typeface="Calibri"/>
                        <a:cs typeface="Calibri"/>
                        <a:sym typeface="Calibri"/>
                      </a:endParaRPr>
                    </a:p>
                  </a:txBody>
                  <a:tcPr marT="9525" marB="9525" marR="9525" marL="9525"/>
                </a:tc>
              </a:tr>
            </a:tbl>
          </a:graphicData>
        </a:graphic>
      </p:graphicFrame>
      <p:graphicFrame>
        <p:nvGraphicFramePr>
          <p:cNvPr id="160" name="Google Shape;160;p14"/>
          <p:cNvGraphicFramePr/>
          <p:nvPr/>
        </p:nvGraphicFramePr>
        <p:xfrm>
          <a:off x="838198" y="5192390"/>
          <a:ext cx="3000000" cy="3000000"/>
        </p:xfrm>
        <a:graphic>
          <a:graphicData uri="http://schemas.openxmlformats.org/drawingml/2006/table">
            <a:tbl>
              <a:tblPr bandRow="1" firstCol="1" firstRow="1">
                <a:noFill/>
                <a:tableStyleId>{6CC4A58A-B1A9-45A1-82CD-CB47A02BFFEE}</a:tableStyleId>
              </a:tblPr>
              <a:tblGrid>
                <a:gridCol w="5045525"/>
                <a:gridCol w="5045525"/>
              </a:tblGrid>
              <a:tr h="314925">
                <a:tc>
                  <a:txBody>
                    <a:bodyPr/>
                    <a:lstStyle/>
                    <a:p>
                      <a:pPr indent="0" lvl="0" marL="0" marR="0" rtl="0" algn="l">
                        <a:lnSpc>
                          <a:spcPct val="107000"/>
                        </a:lnSpc>
                        <a:spcBef>
                          <a:spcPts val="0"/>
                        </a:spcBef>
                        <a:spcAft>
                          <a:spcPts val="0"/>
                        </a:spcAft>
                        <a:buClr>
                          <a:schemeClr val="lt1"/>
                        </a:buClr>
                        <a:buSzPts val="1800"/>
                        <a:buFont typeface="Calibri"/>
                        <a:buNone/>
                      </a:pPr>
                      <a:r>
                        <a:rPr b="1" lang="en-GB" sz="1800">
                          <a:solidFill>
                            <a:schemeClr val="lt1"/>
                          </a:solidFill>
                          <a:latin typeface="Calibri"/>
                          <a:ea typeface="Calibri"/>
                          <a:cs typeface="Calibri"/>
                          <a:sym typeface="Calibri"/>
                        </a:rPr>
                        <a:t>Return Value</a:t>
                      </a:r>
                      <a:endParaRPr/>
                    </a:p>
                  </a:txBody>
                  <a:tcPr marT="9525" marB="9525" marR="9525" marL="9525" anchor="ctr"/>
                </a:tc>
                <a:tc>
                  <a:txBody>
                    <a:bodyPr/>
                    <a:lstStyle/>
                    <a:p>
                      <a:pPr indent="0" lvl="0" marL="0" marR="0" rtl="0" algn="l">
                        <a:spcBef>
                          <a:spcPts val="0"/>
                        </a:spcBef>
                        <a:spcAft>
                          <a:spcPts val="0"/>
                        </a:spcAft>
                        <a:buNone/>
                      </a:pPr>
                      <a:r>
                        <a:t/>
                      </a:r>
                      <a:endParaRPr sz="1800"/>
                    </a:p>
                  </a:txBody>
                  <a:tcPr marT="45725" marB="45725" marR="91450" marL="91450"/>
                </a:tc>
              </a:tr>
              <a:tr h="215975">
                <a:tc>
                  <a:txBody>
                    <a:bodyPr/>
                    <a:lstStyle/>
                    <a:p>
                      <a:pPr indent="0" lvl="0" marL="0" marR="0" rtl="0" algn="l">
                        <a:lnSpc>
                          <a:spcPct val="107000"/>
                        </a:lnSpc>
                        <a:spcBef>
                          <a:spcPts val="0"/>
                        </a:spcBef>
                        <a:spcAft>
                          <a:spcPts val="0"/>
                        </a:spcAft>
                        <a:buNone/>
                      </a:pPr>
                      <a:r>
                        <a:rPr lang="en-GB" sz="1150"/>
                        <a:t>Type</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Description</a:t>
                      </a:r>
                      <a:endParaRPr sz="1100">
                        <a:latin typeface="Calibri"/>
                        <a:ea typeface="Calibri"/>
                        <a:cs typeface="Calibri"/>
                        <a:sym typeface="Calibri"/>
                      </a:endParaRPr>
                    </a:p>
                  </a:txBody>
                  <a:tcPr marT="9525" marB="9525" marR="9525" marL="9525"/>
                </a:tc>
              </a:tr>
              <a:tr h="215975">
                <a:tc>
                  <a:txBody>
                    <a:bodyPr/>
                    <a:lstStyle/>
                    <a:p>
                      <a:pPr indent="0" lvl="0" marL="0" marR="0" rtl="0" algn="l">
                        <a:lnSpc>
                          <a:spcPct val="107000"/>
                        </a:lnSpc>
                        <a:spcBef>
                          <a:spcPts val="0"/>
                        </a:spcBef>
                        <a:spcAft>
                          <a:spcPts val="0"/>
                        </a:spcAft>
                        <a:buNone/>
                      </a:pPr>
                      <a:r>
                        <a:rPr lang="en-GB" sz="1150"/>
                        <a:t>An array</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The results of a function for each array element.</a:t>
                      </a:r>
                      <a:endParaRPr sz="1100">
                        <a:latin typeface="Calibri"/>
                        <a:ea typeface="Calibri"/>
                        <a:cs typeface="Calibri"/>
                        <a:sym typeface="Calibri"/>
                      </a:endParaRPr>
                    </a:p>
                  </a:txBody>
                  <a:tcPr marT="9525" marB="9525" marR="9525" marL="9525"/>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33333"/>
              </a:buClr>
              <a:buSzPts val="4400"/>
              <a:buFont typeface="Open Sans"/>
              <a:buNone/>
            </a:pPr>
            <a:r>
              <a:rPr b="0" i="0" lang="en-GB">
                <a:solidFill>
                  <a:srgbClr val="333333"/>
                </a:solidFill>
                <a:latin typeface="Open Sans"/>
                <a:ea typeface="Open Sans"/>
                <a:cs typeface="Open Sans"/>
                <a:sym typeface="Open Sans"/>
              </a:rPr>
              <a:t>String Methods:</a:t>
            </a:r>
            <a:endParaRPr/>
          </a:p>
        </p:txBody>
      </p:sp>
      <p:graphicFrame>
        <p:nvGraphicFramePr>
          <p:cNvPr id="166" name="Google Shape;166;p15"/>
          <p:cNvGraphicFramePr/>
          <p:nvPr/>
        </p:nvGraphicFramePr>
        <p:xfrm>
          <a:off x="2905125" y="1874329"/>
          <a:ext cx="3000000" cy="3000000"/>
        </p:xfrm>
        <a:graphic>
          <a:graphicData uri="http://schemas.openxmlformats.org/drawingml/2006/table">
            <a:tbl>
              <a:tblPr bandRow="1" firstCol="1" firstRow="1">
                <a:noFill/>
                <a:tableStyleId>{6CC4A58A-B1A9-45A1-82CD-CB47A02BFFEE}</a:tableStyleId>
              </a:tblPr>
              <a:tblGrid>
                <a:gridCol w="3190875"/>
                <a:gridCol w="3190875"/>
              </a:tblGrid>
              <a:tr h="198750">
                <a:tc>
                  <a:txBody>
                    <a:bodyPr/>
                    <a:lstStyle/>
                    <a:p>
                      <a:pPr indent="0" lvl="0" marL="0" marR="0" rtl="0" algn="ctr">
                        <a:lnSpc>
                          <a:spcPct val="107000"/>
                        </a:lnSpc>
                        <a:spcBef>
                          <a:spcPts val="0"/>
                        </a:spcBef>
                        <a:spcAft>
                          <a:spcPts val="0"/>
                        </a:spcAft>
                        <a:buNone/>
                      </a:pPr>
                      <a:r>
                        <a:rPr lang="en-GB" sz="1150"/>
                        <a:t>Instance Methods</a:t>
                      </a:r>
                      <a:endParaRPr sz="1100">
                        <a:latin typeface="Calibri"/>
                        <a:ea typeface="Calibri"/>
                        <a:cs typeface="Calibri"/>
                        <a:sym typeface="Calibri"/>
                      </a:endParaRPr>
                    </a:p>
                  </a:txBody>
                  <a:tcPr marT="9525" marB="9525" marR="9525" marL="9525" anchor="b"/>
                </a:tc>
                <a:tc>
                  <a:txBody>
                    <a:bodyPr/>
                    <a:lstStyle/>
                    <a:p>
                      <a:pPr indent="0" lvl="0" marL="0" marR="0" rtl="0" algn="ctr">
                        <a:lnSpc>
                          <a:spcPct val="107000"/>
                        </a:lnSpc>
                        <a:spcBef>
                          <a:spcPts val="0"/>
                        </a:spcBef>
                        <a:spcAft>
                          <a:spcPts val="0"/>
                        </a:spcAft>
                        <a:buNone/>
                      </a:pPr>
                      <a:r>
                        <a:rPr lang="en-GB" sz="1150"/>
                        <a:t>Description</a:t>
                      </a:r>
                      <a:endParaRPr sz="1100">
                        <a:latin typeface="Calibri"/>
                        <a:ea typeface="Calibri"/>
                        <a:cs typeface="Calibri"/>
                        <a:sym typeface="Calibri"/>
                      </a:endParaRPr>
                    </a:p>
                  </a:txBody>
                  <a:tcPr marT="9525" marB="9525" marR="9525" marL="9525" anchor="b"/>
                </a:tc>
              </a:tr>
              <a:tr h="198750">
                <a:tc>
                  <a:txBody>
                    <a:bodyPr/>
                    <a:lstStyle/>
                    <a:p>
                      <a:pPr indent="0" lvl="0" marL="0" marR="0" rtl="0" algn="l">
                        <a:lnSpc>
                          <a:spcPct val="107000"/>
                        </a:lnSpc>
                        <a:spcBef>
                          <a:spcPts val="0"/>
                        </a:spcBef>
                        <a:spcAft>
                          <a:spcPts val="0"/>
                        </a:spcAft>
                        <a:buNone/>
                      </a:pPr>
                      <a:r>
                        <a:rPr lang="en-GB" sz="1150"/>
                        <a:t>at()</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Find the character at the specified index.</a:t>
                      </a:r>
                      <a:endParaRPr sz="1100">
                        <a:latin typeface="Calibri"/>
                        <a:ea typeface="Calibri"/>
                        <a:cs typeface="Calibri"/>
                        <a:sym typeface="Calibri"/>
                      </a:endParaRPr>
                    </a:p>
                  </a:txBody>
                  <a:tcPr marT="9525" marB="9525" marR="9525" marL="9525"/>
                </a:tc>
              </a:tr>
              <a:tr h="198750">
                <a:tc>
                  <a:txBody>
                    <a:bodyPr/>
                    <a:lstStyle/>
                    <a:p>
                      <a:pPr indent="0" lvl="0" marL="0" marR="0" rtl="0" algn="l">
                        <a:lnSpc>
                          <a:spcPct val="107000"/>
                        </a:lnSpc>
                        <a:spcBef>
                          <a:spcPts val="0"/>
                        </a:spcBef>
                        <a:spcAft>
                          <a:spcPts val="0"/>
                        </a:spcAft>
                        <a:buNone/>
                      </a:pPr>
                      <a:r>
                        <a:rPr lang="en-GB" sz="1150"/>
                        <a:t>anchor()</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Creates an anchor element that is used as a hypertext target.</a:t>
                      </a:r>
                      <a:endParaRPr sz="1100">
                        <a:latin typeface="Calibri"/>
                        <a:ea typeface="Calibri"/>
                        <a:cs typeface="Calibri"/>
                        <a:sym typeface="Calibri"/>
                      </a:endParaRPr>
                    </a:p>
                  </a:txBody>
                  <a:tcPr marT="9525" marB="9525" marR="9525" marL="9525"/>
                </a:tc>
              </a:tr>
              <a:tr h="198750">
                <a:tc>
                  <a:txBody>
                    <a:bodyPr/>
                    <a:lstStyle/>
                    <a:p>
                      <a:pPr indent="0" lvl="0" marL="0" marR="0" rtl="0" algn="l">
                        <a:lnSpc>
                          <a:spcPct val="107000"/>
                        </a:lnSpc>
                        <a:spcBef>
                          <a:spcPts val="0"/>
                        </a:spcBef>
                        <a:spcAft>
                          <a:spcPts val="0"/>
                        </a:spcAft>
                        <a:buNone/>
                      </a:pPr>
                      <a:r>
                        <a:rPr lang="en-GB" sz="1150"/>
                        <a:t>charAt()</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Returns that character at the given index of the string.</a:t>
                      </a:r>
                      <a:endParaRPr sz="1100">
                        <a:latin typeface="Calibri"/>
                        <a:ea typeface="Calibri"/>
                        <a:cs typeface="Calibri"/>
                        <a:sym typeface="Calibri"/>
                      </a:endParaRPr>
                    </a:p>
                  </a:txBody>
                  <a:tcPr marT="9525" marB="9525" marR="9525" marL="9525"/>
                </a:tc>
              </a:tr>
              <a:tr h="189225">
                <a:tc>
                  <a:txBody>
                    <a:bodyPr/>
                    <a:lstStyle/>
                    <a:p>
                      <a:pPr indent="0" lvl="0" marL="0" marR="0" rtl="0" algn="l">
                        <a:lnSpc>
                          <a:spcPct val="107000"/>
                        </a:lnSpc>
                        <a:spcBef>
                          <a:spcPts val="0"/>
                        </a:spcBef>
                        <a:spcAft>
                          <a:spcPts val="0"/>
                        </a:spcAft>
                        <a:buNone/>
                      </a:pPr>
                      <a:r>
                        <a:rPr lang="en-GB" sz="1150"/>
                        <a:t>charCodeAt()</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Returns a Unicode character set code unit of the character present at the index in the string.</a:t>
                      </a:r>
                      <a:endParaRPr sz="1100">
                        <a:latin typeface="Calibri"/>
                        <a:ea typeface="Calibri"/>
                        <a:cs typeface="Calibri"/>
                        <a:sym typeface="Calibri"/>
                      </a:endParaRPr>
                    </a:p>
                  </a:txBody>
                  <a:tcPr marT="9525" marB="9525" marR="9525" marL="9525"/>
                </a:tc>
              </a:tr>
              <a:tr h="198750">
                <a:tc>
                  <a:txBody>
                    <a:bodyPr/>
                    <a:lstStyle/>
                    <a:p>
                      <a:pPr indent="0" lvl="0" marL="0" marR="0" rtl="0" algn="l">
                        <a:lnSpc>
                          <a:spcPct val="107000"/>
                        </a:lnSpc>
                        <a:spcBef>
                          <a:spcPts val="0"/>
                        </a:spcBef>
                        <a:spcAft>
                          <a:spcPts val="0"/>
                        </a:spcAft>
                        <a:buNone/>
                      </a:pPr>
                      <a:r>
                        <a:rPr lang="en-GB" sz="1150"/>
                        <a:t>codePointAt()</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Return a non-negative integer value i.e, the code point value of the specified element.</a:t>
                      </a:r>
                      <a:endParaRPr sz="1100">
                        <a:latin typeface="Calibri"/>
                        <a:ea typeface="Calibri"/>
                        <a:cs typeface="Calibri"/>
                        <a:sym typeface="Calibri"/>
                      </a:endParaRPr>
                    </a:p>
                  </a:txBody>
                  <a:tcPr marT="9525" marB="9525" marR="9525" marL="9525"/>
                </a:tc>
              </a:tr>
              <a:tr h="198750">
                <a:tc>
                  <a:txBody>
                    <a:bodyPr/>
                    <a:lstStyle/>
                    <a:p>
                      <a:pPr indent="0" lvl="0" marL="0" marR="0" rtl="0" algn="l">
                        <a:lnSpc>
                          <a:spcPct val="107000"/>
                        </a:lnSpc>
                        <a:spcBef>
                          <a:spcPts val="0"/>
                        </a:spcBef>
                        <a:spcAft>
                          <a:spcPts val="0"/>
                        </a:spcAft>
                        <a:buNone/>
                      </a:pPr>
                      <a:r>
                        <a:rPr lang="en-GB" sz="1150"/>
                        <a:t>concat()</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Join two or more strings together in JavaScript.</a:t>
                      </a:r>
                      <a:endParaRPr sz="1100">
                        <a:latin typeface="Calibri"/>
                        <a:ea typeface="Calibri"/>
                        <a:cs typeface="Calibri"/>
                        <a:sym typeface="Calibri"/>
                      </a:endParaRPr>
                    </a:p>
                  </a:txBody>
                  <a:tcPr marT="9525" marB="9525" marR="9525" marL="9525"/>
                </a:tc>
              </a:tr>
              <a:tr h="198750">
                <a:tc>
                  <a:txBody>
                    <a:bodyPr/>
                    <a:lstStyle/>
                    <a:p>
                      <a:pPr indent="0" lvl="0" marL="0" marR="0" rtl="0" algn="l">
                        <a:lnSpc>
                          <a:spcPct val="107000"/>
                        </a:lnSpc>
                        <a:spcBef>
                          <a:spcPts val="0"/>
                        </a:spcBef>
                        <a:spcAft>
                          <a:spcPts val="0"/>
                        </a:spcAft>
                        <a:buNone/>
                      </a:pPr>
                      <a:r>
                        <a:rPr lang="en-GB" sz="1150"/>
                        <a:t>endsWith()</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Whether the given string ends with the characters of the specified string or not.</a:t>
                      </a:r>
                      <a:endParaRPr sz="1100">
                        <a:latin typeface="Calibri"/>
                        <a:ea typeface="Calibri"/>
                        <a:cs typeface="Calibri"/>
                        <a:sym typeface="Calibri"/>
                      </a:endParaRPr>
                    </a:p>
                  </a:txBody>
                  <a:tcPr marT="9525" marB="9525" marR="9525" marL="9525"/>
                </a:tc>
              </a:tr>
              <a:tr h="198750">
                <a:tc>
                  <a:txBody>
                    <a:bodyPr/>
                    <a:lstStyle/>
                    <a:p>
                      <a:pPr indent="0" lvl="0" marL="0" marR="0" rtl="0" algn="l">
                        <a:lnSpc>
                          <a:spcPct val="107000"/>
                        </a:lnSpc>
                        <a:spcBef>
                          <a:spcPts val="0"/>
                        </a:spcBef>
                        <a:spcAft>
                          <a:spcPts val="0"/>
                        </a:spcAft>
                        <a:buNone/>
                      </a:pPr>
                      <a:r>
                        <a:rPr lang="en-GB" sz="1150"/>
                        <a:t>includes()</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Returns true if the string contains the characters, otherwise, it returns false.</a:t>
                      </a:r>
                      <a:endParaRPr sz="1100">
                        <a:latin typeface="Calibri"/>
                        <a:ea typeface="Calibri"/>
                        <a:cs typeface="Calibri"/>
                        <a:sym typeface="Calibri"/>
                      </a:endParaRPr>
                    </a:p>
                  </a:txBody>
                  <a:tcPr marT="9525" marB="9525" marR="9525" marL="9525"/>
                </a:tc>
              </a:tr>
              <a:tr h="198750">
                <a:tc>
                  <a:txBody>
                    <a:bodyPr/>
                    <a:lstStyle/>
                    <a:p>
                      <a:pPr indent="0" lvl="0" marL="0" marR="0" rtl="0" algn="l">
                        <a:lnSpc>
                          <a:spcPct val="107000"/>
                        </a:lnSpc>
                        <a:spcBef>
                          <a:spcPts val="0"/>
                        </a:spcBef>
                        <a:spcAft>
                          <a:spcPts val="0"/>
                        </a:spcAft>
                        <a:buNone/>
                      </a:pPr>
                      <a:r>
                        <a:rPr lang="en-GB" sz="1150"/>
                        <a:t>indexOf()</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Finds the index of the first occurrence of the argument string in the given string.</a:t>
                      </a:r>
                      <a:endParaRPr sz="1100">
                        <a:latin typeface="Calibri"/>
                        <a:ea typeface="Calibri"/>
                        <a:cs typeface="Calibri"/>
                        <a:sym typeface="Calibri"/>
                      </a:endParaRPr>
                    </a:p>
                  </a:txBody>
                  <a:tcPr marT="9525" marB="9525" marR="9525" marL="9525"/>
                </a:tc>
              </a:tr>
              <a:tr h="198750">
                <a:tc>
                  <a:txBody>
                    <a:bodyPr/>
                    <a:lstStyle/>
                    <a:p>
                      <a:pPr indent="0" lvl="0" marL="0" marR="0" rtl="0" algn="l">
                        <a:lnSpc>
                          <a:spcPct val="107000"/>
                        </a:lnSpc>
                        <a:spcBef>
                          <a:spcPts val="0"/>
                        </a:spcBef>
                        <a:spcAft>
                          <a:spcPts val="0"/>
                        </a:spcAft>
                        <a:buNone/>
                      </a:pPr>
                      <a:r>
                        <a:rPr lang="en-GB" sz="1150"/>
                        <a:t>lastIndexOf()</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Finds the index of the last occurrence of the argument string in the given string.</a:t>
                      </a:r>
                      <a:endParaRPr sz="1100">
                        <a:latin typeface="Calibri"/>
                        <a:ea typeface="Calibri"/>
                        <a:cs typeface="Calibri"/>
                        <a:sym typeface="Calibri"/>
                      </a:endParaRPr>
                    </a:p>
                  </a:txBody>
                  <a:tcPr marT="9525" marB="9525" marR="9525" marL="9525"/>
                </a:tc>
              </a:tr>
              <a:tr h="198750">
                <a:tc>
                  <a:txBody>
                    <a:bodyPr/>
                    <a:lstStyle/>
                    <a:p>
                      <a:pPr indent="0" lvl="0" marL="0" marR="0" rtl="0" algn="l">
                        <a:lnSpc>
                          <a:spcPct val="107000"/>
                        </a:lnSpc>
                        <a:spcBef>
                          <a:spcPts val="0"/>
                        </a:spcBef>
                        <a:spcAft>
                          <a:spcPts val="0"/>
                        </a:spcAft>
                        <a:buNone/>
                      </a:pPr>
                      <a:r>
                        <a:rPr lang="en-GB" sz="1150"/>
                        <a:t>localeCompare()</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Compare any two elements and returns a positive number</a:t>
                      </a:r>
                      <a:endParaRPr sz="1100">
                        <a:latin typeface="Calibri"/>
                        <a:ea typeface="Calibri"/>
                        <a:cs typeface="Calibri"/>
                        <a:sym typeface="Calibri"/>
                      </a:endParaRPr>
                    </a:p>
                  </a:txBody>
                  <a:tcPr marT="9525" marB="9525" marR="9525" marL="9525"/>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33333"/>
              </a:buClr>
              <a:buSzPts val="4400"/>
              <a:buFont typeface="Open Sans"/>
              <a:buNone/>
            </a:pPr>
            <a:r>
              <a:rPr b="0" i="0" lang="en-GB">
                <a:solidFill>
                  <a:srgbClr val="333333"/>
                </a:solidFill>
                <a:latin typeface="Open Sans"/>
                <a:ea typeface="Open Sans"/>
                <a:cs typeface="Open Sans"/>
                <a:sym typeface="Open Sans"/>
              </a:rPr>
              <a:t>String Methods:</a:t>
            </a:r>
            <a:endParaRPr/>
          </a:p>
        </p:txBody>
      </p:sp>
      <p:graphicFrame>
        <p:nvGraphicFramePr>
          <p:cNvPr id="172" name="Google Shape;172;p16"/>
          <p:cNvGraphicFramePr/>
          <p:nvPr/>
        </p:nvGraphicFramePr>
        <p:xfrm>
          <a:off x="3095140" y="1700222"/>
          <a:ext cx="3000000" cy="3000000"/>
        </p:xfrm>
        <a:graphic>
          <a:graphicData uri="http://schemas.openxmlformats.org/drawingml/2006/table">
            <a:tbl>
              <a:tblPr bandRow="1" firstCol="1" firstRow="1">
                <a:noFill/>
                <a:tableStyleId>{6CC4A58A-B1A9-45A1-82CD-CB47A02BFFEE}</a:tableStyleId>
              </a:tblPr>
              <a:tblGrid>
                <a:gridCol w="3000850"/>
                <a:gridCol w="3000850"/>
              </a:tblGrid>
              <a:tr h="362600">
                <a:tc>
                  <a:txBody>
                    <a:bodyPr/>
                    <a:lstStyle/>
                    <a:p>
                      <a:pPr indent="0" lvl="0" marL="0" marR="0" rtl="0" algn="l">
                        <a:lnSpc>
                          <a:spcPct val="107000"/>
                        </a:lnSpc>
                        <a:spcBef>
                          <a:spcPts val="0"/>
                        </a:spcBef>
                        <a:spcAft>
                          <a:spcPts val="0"/>
                        </a:spcAft>
                        <a:buNone/>
                      </a:pPr>
                      <a:r>
                        <a:rPr lang="en-GB" sz="1100"/>
                        <a:t>match()</a:t>
                      </a:r>
                      <a:endParaRPr sz="1000">
                        <a:latin typeface="Calibri"/>
                        <a:ea typeface="Calibri"/>
                        <a:cs typeface="Calibri"/>
                        <a:sym typeface="Calibri"/>
                      </a:endParaRPr>
                    </a:p>
                  </a:txBody>
                  <a:tcPr marT="8950" marB="8950" marR="8950" marL="8950"/>
                </a:tc>
                <a:tc>
                  <a:txBody>
                    <a:bodyPr/>
                    <a:lstStyle/>
                    <a:p>
                      <a:pPr indent="0" lvl="0" marL="0" marR="0" rtl="0" algn="l">
                        <a:lnSpc>
                          <a:spcPct val="107000"/>
                        </a:lnSpc>
                        <a:spcBef>
                          <a:spcPts val="0"/>
                        </a:spcBef>
                        <a:spcAft>
                          <a:spcPts val="0"/>
                        </a:spcAft>
                        <a:buNone/>
                      </a:pPr>
                      <a:r>
                        <a:rPr lang="en-GB" sz="1100"/>
                        <a:t>Search a string for a match against any regular expression.</a:t>
                      </a:r>
                      <a:endParaRPr sz="1000">
                        <a:latin typeface="Calibri"/>
                        <a:ea typeface="Calibri"/>
                        <a:cs typeface="Calibri"/>
                        <a:sym typeface="Calibri"/>
                      </a:endParaRPr>
                    </a:p>
                  </a:txBody>
                  <a:tcPr marT="8950" marB="8950" marR="8950" marL="8950"/>
                </a:tc>
              </a:tr>
              <a:tr h="362600">
                <a:tc>
                  <a:txBody>
                    <a:bodyPr/>
                    <a:lstStyle/>
                    <a:p>
                      <a:pPr indent="0" lvl="0" marL="0" marR="0" rtl="0" algn="l">
                        <a:lnSpc>
                          <a:spcPct val="107000"/>
                        </a:lnSpc>
                        <a:spcBef>
                          <a:spcPts val="0"/>
                        </a:spcBef>
                        <a:spcAft>
                          <a:spcPts val="0"/>
                        </a:spcAft>
                        <a:buNone/>
                      </a:pPr>
                      <a:r>
                        <a:rPr lang="en-GB" sz="1100"/>
                        <a:t>matchAll()</a:t>
                      </a:r>
                      <a:endParaRPr sz="1000">
                        <a:latin typeface="Calibri"/>
                        <a:ea typeface="Calibri"/>
                        <a:cs typeface="Calibri"/>
                        <a:sym typeface="Calibri"/>
                      </a:endParaRPr>
                    </a:p>
                  </a:txBody>
                  <a:tcPr marT="8950" marB="8950" marR="8950" marL="8950"/>
                </a:tc>
                <a:tc>
                  <a:txBody>
                    <a:bodyPr/>
                    <a:lstStyle/>
                    <a:p>
                      <a:pPr indent="0" lvl="0" marL="0" marR="0" rtl="0" algn="l">
                        <a:lnSpc>
                          <a:spcPct val="107000"/>
                        </a:lnSpc>
                        <a:spcBef>
                          <a:spcPts val="0"/>
                        </a:spcBef>
                        <a:spcAft>
                          <a:spcPts val="0"/>
                        </a:spcAft>
                        <a:buNone/>
                      </a:pPr>
                      <a:r>
                        <a:rPr lang="en-GB" sz="1100"/>
                        <a:t>Return all the iterators matching the reference string against a regular expression.</a:t>
                      </a:r>
                      <a:endParaRPr sz="1000">
                        <a:latin typeface="Calibri"/>
                        <a:ea typeface="Calibri"/>
                        <a:cs typeface="Calibri"/>
                        <a:sym typeface="Calibri"/>
                      </a:endParaRPr>
                    </a:p>
                  </a:txBody>
                  <a:tcPr marT="8950" marB="8950" marR="8950" marL="8950"/>
                </a:tc>
              </a:tr>
              <a:tr h="362600">
                <a:tc>
                  <a:txBody>
                    <a:bodyPr/>
                    <a:lstStyle/>
                    <a:p>
                      <a:pPr indent="0" lvl="0" marL="0" marR="0" rtl="0" algn="l">
                        <a:lnSpc>
                          <a:spcPct val="107000"/>
                        </a:lnSpc>
                        <a:spcBef>
                          <a:spcPts val="0"/>
                        </a:spcBef>
                        <a:spcAft>
                          <a:spcPts val="0"/>
                        </a:spcAft>
                        <a:buNone/>
                      </a:pPr>
                      <a:r>
                        <a:rPr lang="en-GB" sz="1100"/>
                        <a:t>normalize()</a:t>
                      </a:r>
                      <a:endParaRPr sz="1000">
                        <a:latin typeface="Calibri"/>
                        <a:ea typeface="Calibri"/>
                        <a:cs typeface="Calibri"/>
                        <a:sym typeface="Calibri"/>
                      </a:endParaRPr>
                    </a:p>
                  </a:txBody>
                  <a:tcPr marT="8950" marB="8950" marR="8950" marL="8950"/>
                </a:tc>
                <a:tc>
                  <a:txBody>
                    <a:bodyPr/>
                    <a:lstStyle/>
                    <a:p>
                      <a:pPr indent="0" lvl="0" marL="0" marR="0" rtl="0" algn="l">
                        <a:lnSpc>
                          <a:spcPct val="107000"/>
                        </a:lnSpc>
                        <a:spcBef>
                          <a:spcPts val="0"/>
                        </a:spcBef>
                        <a:spcAft>
                          <a:spcPts val="0"/>
                        </a:spcAft>
                        <a:buNone/>
                      </a:pPr>
                      <a:r>
                        <a:rPr lang="en-GB" sz="1100"/>
                        <a:t>Return a Unicode normalization form of a given input string.</a:t>
                      </a:r>
                      <a:endParaRPr sz="1000">
                        <a:latin typeface="Calibri"/>
                        <a:ea typeface="Calibri"/>
                        <a:cs typeface="Calibri"/>
                        <a:sym typeface="Calibri"/>
                      </a:endParaRPr>
                    </a:p>
                  </a:txBody>
                  <a:tcPr marT="8950" marB="8950" marR="8950" marL="8950"/>
                </a:tc>
              </a:tr>
              <a:tr h="362600">
                <a:tc>
                  <a:txBody>
                    <a:bodyPr/>
                    <a:lstStyle/>
                    <a:p>
                      <a:pPr indent="0" lvl="0" marL="0" marR="0" rtl="0" algn="l">
                        <a:lnSpc>
                          <a:spcPct val="107000"/>
                        </a:lnSpc>
                        <a:spcBef>
                          <a:spcPts val="0"/>
                        </a:spcBef>
                        <a:spcAft>
                          <a:spcPts val="0"/>
                        </a:spcAft>
                        <a:buNone/>
                      </a:pPr>
                      <a:r>
                        <a:rPr lang="en-GB" sz="1100"/>
                        <a:t>padEnd()</a:t>
                      </a:r>
                      <a:endParaRPr sz="1000">
                        <a:latin typeface="Calibri"/>
                        <a:ea typeface="Calibri"/>
                        <a:cs typeface="Calibri"/>
                        <a:sym typeface="Calibri"/>
                      </a:endParaRPr>
                    </a:p>
                  </a:txBody>
                  <a:tcPr marT="8950" marB="8950" marR="8950" marL="8950"/>
                </a:tc>
                <a:tc>
                  <a:txBody>
                    <a:bodyPr/>
                    <a:lstStyle/>
                    <a:p>
                      <a:pPr indent="0" lvl="0" marL="0" marR="0" rtl="0" algn="l">
                        <a:lnSpc>
                          <a:spcPct val="107000"/>
                        </a:lnSpc>
                        <a:spcBef>
                          <a:spcPts val="0"/>
                        </a:spcBef>
                        <a:spcAft>
                          <a:spcPts val="0"/>
                        </a:spcAft>
                        <a:buNone/>
                      </a:pPr>
                      <a:r>
                        <a:rPr lang="en-GB" sz="1100"/>
                        <a:t>Pad a string with another string until it reaches the given length from rightend.</a:t>
                      </a:r>
                      <a:endParaRPr sz="1000">
                        <a:latin typeface="Calibri"/>
                        <a:ea typeface="Calibri"/>
                        <a:cs typeface="Calibri"/>
                        <a:sym typeface="Calibri"/>
                      </a:endParaRPr>
                    </a:p>
                  </a:txBody>
                  <a:tcPr marT="8950" marB="8950" marR="8950" marL="8950"/>
                </a:tc>
              </a:tr>
              <a:tr h="362600">
                <a:tc>
                  <a:txBody>
                    <a:bodyPr/>
                    <a:lstStyle/>
                    <a:p>
                      <a:pPr indent="0" lvl="0" marL="0" marR="0" rtl="0" algn="l">
                        <a:lnSpc>
                          <a:spcPct val="107000"/>
                        </a:lnSpc>
                        <a:spcBef>
                          <a:spcPts val="0"/>
                        </a:spcBef>
                        <a:spcAft>
                          <a:spcPts val="0"/>
                        </a:spcAft>
                        <a:buNone/>
                      </a:pPr>
                      <a:r>
                        <a:rPr lang="en-GB" sz="1100"/>
                        <a:t>padStart()</a:t>
                      </a:r>
                      <a:endParaRPr sz="1000">
                        <a:latin typeface="Calibri"/>
                        <a:ea typeface="Calibri"/>
                        <a:cs typeface="Calibri"/>
                        <a:sym typeface="Calibri"/>
                      </a:endParaRPr>
                    </a:p>
                  </a:txBody>
                  <a:tcPr marT="8950" marB="8950" marR="8950" marL="8950"/>
                </a:tc>
                <a:tc>
                  <a:txBody>
                    <a:bodyPr/>
                    <a:lstStyle/>
                    <a:p>
                      <a:pPr indent="0" lvl="0" marL="0" marR="0" rtl="0" algn="l">
                        <a:lnSpc>
                          <a:spcPct val="107000"/>
                        </a:lnSpc>
                        <a:spcBef>
                          <a:spcPts val="0"/>
                        </a:spcBef>
                        <a:spcAft>
                          <a:spcPts val="0"/>
                        </a:spcAft>
                        <a:buNone/>
                      </a:pPr>
                      <a:r>
                        <a:rPr lang="en-GB" sz="1100"/>
                        <a:t>Pad a string with another string until it reaches the given length from leftend.</a:t>
                      </a:r>
                      <a:endParaRPr sz="1000">
                        <a:latin typeface="Calibri"/>
                        <a:ea typeface="Calibri"/>
                        <a:cs typeface="Calibri"/>
                        <a:sym typeface="Calibri"/>
                      </a:endParaRPr>
                    </a:p>
                  </a:txBody>
                  <a:tcPr marT="8950" marB="8950" marR="8950" marL="8950"/>
                </a:tc>
              </a:tr>
              <a:tr h="362600">
                <a:tc>
                  <a:txBody>
                    <a:bodyPr/>
                    <a:lstStyle/>
                    <a:p>
                      <a:pPr indent="0" lvl="0" marL="0" marR="0" rtl="0" algn="l">
                        <a:lnSpc>
                          <a:spcPct val="107000"/>
                        </a:lnSpc>
                        <a:spcBef>
                          <a:spcPts val="0"/>
                        </a:spcBef>
                        <a:spcAft>
                          <a:spcPts val="0"/>
                        </a:spcAft>
                        <a:buNone/>
                      </a:pPr>
                      <a:r>
                        <a:rPr lang="en-GB" sz="1100"/>
                        <a:t>repeat()</a:t>
                      </a:r>
                      <a:endParaRPr sz="1000">
                        <a:latin typeface="Calibri"/>
                        <a:ea typeface="Calibri"/>
                        <a:cs typeface="Calibri"/>
                        <a:sym typeface="Calibri"/>
                      </a:endParaRPr>
                    </a:p>
                  </a:txBody>
                  <a:tcPr marT="8950" marB="8950" marR="8950" marL="8950"/>
                </a:tc>
                <a:tc>
                  <a:txBody>
                    <a:bodyPr/>
                    <a:lstStyle/>
                    <a:p>
                      <a:pPr indent="0" lvl="0" marL="0" marR="0" rtl="0" algn="l">
                        <a:lnSpc>
                          <a:spcPct val="107000"/>
                        </a:lnSpc>
                        <a:spcBef>
                          <a:spcPts val="0"/>
                        </a:spcBef>
                        <a:spcAft>
                          <a:spcPts val="0"/>
                        </a:spcAft>
                        <a:buNone/>
                      </a:pPr>
                      <a:r>
                        <a:rPr lang="en-GB" sz="1100"/>
                        <a:t>Build a new string containing a specified number of copies of the string.</a:t>
                      </a:r>
                      <a:endParaRPr sz="1000">
                        <a:latin typeface="Calibri"/>
                        <a:ea typeface="Calibri"/>
                        <a:cs typeface="Calibri"/>
                        <a:sym typeface="Calibri"/>
                      </a:endParaRPr>
                    </a:p>
                  </a:txBody>
                  <a:tcPr marT="8950" marB="8950" marR="8950" marL="8950"/>
                </a:tc>
              </a:tr>
              <a:tr h="362600">
                <a:tc>
                  <a:txBody>
                    <a:bodyPr/>
                    <a:lstStyle/>
                    <a:p>
                      <a:pPr indent="0" lvl="0" marL="0" marR="0" rtl="0" algn="l">
                        <a:lnSpc>
                          <a:spcPct val="107000"/>
                        </a:lnSpc>
                        <a:spcBef>
                          <a:spcPts val="0"/>
                        </a:spcBef>
                        <a:spcAft>
                          <a:spcPts val="0"/>
                        </a:spcAft>
                        <a:buNone/>
                      </a:pPr>
                      <a:r>
                        <a:rPr lang="en-GB" sz="1100"/>
                        <a:t>replace()</a:t>
                      </a:r>
                      <a:endParaRPr sz="1000">
                        <a:latin typeface="Calibri"/>
                        <a:ea typeface="Calibri"/>
                        <a:cs typeface="Calibri"/>
                        <a:sym typeface="Calibri"/>
                      </a:endParaRPr>
                    </a:p>
                  </a:txBody>
                  <a:tcPr marT="8950" marB="8950" marR="8950" marL="8950"/>
                </a:tc>
                <a:tc>
                  <a:txBody>
                    <a:bodyPr/>
                    <a:lstStyle/>
                    <a:p>
                      <a:pPr indent="0" lvl="0" marL="0" marR="0" rtl="0" algn="l">
                        <a:lnSpc>
                          <a:spcPct val="107000"/>
                        </a:lnSpc>
                        <a:spcBef>
                          <a:spcPts val="0"/>
                        </a:spcBef>
                        <a:spcAft>
                          <a:spcPts val="0"/>
                        </a:spcAft>
                        <a:buNone/>
                      </a:pPr>
                      <a:r>
                        <a:rPr lang="en-GB" sz="1100"/>
                        <a:t>Replace a part of the given string with some another string or a regular expression</a:t>
                      </a:r>
                      <a:endParaRPr sz="1000">
                        <a:latin typeface="Calibri"/>
                        <a:ea typeface="Calibri"/>
                        <a:cs typeface="Calibri"/>
                        <a:sym typeface="Calibri"/>
                      </a:endParaRPr>
                    </a:p>
                  </a:txBody>
                  <a:tcPr marT="8950" marB="8950" marR="8950" marL="8950"/>
                </a:tc>
              </a:tr>
              <a:tr h="538950">
                <a:tc>
                  <a:txBody>
                    <a:bodyPr/>
                    <a:lstStyle/>
                    <a:p>
                      <a:pPr indent="0" lvl="0" marL="0" marR="0" rtl="0" algn="l">
                        <a:lnSpc>
                          <a:spcPct val="107000"/>
                        </a:lnSpc>
                        <a:spcBef>
                          <a:spcPts val="0"/>
                        </a:spcBef>
                        <a:spcAft>
                          <a:spcPts val="0"/>
                        </a:spcAft>
                        <a:buNone/>
                      </a:pPr>
                      <a:r>
                        <a:rPr lang="en-GB" sz="1100"/>
                        <a:t>replaceAll()</a:t>
                      </a:r>
                      <a:endParaRPr sz="1000">
                        <a:latin typeface="Calibri"/>
                        <a:ea typeface="Calibri"/>
                        <a:cs typeface="Calibri"/>
                        <a:sym typeface="Calibri"/>
                      </a:endParaRPr>
                    </a:p>
                  </a:txBody>
                  <a:tcPr marT="8950" marB="8950" marR="8950" marL="8950"/>
                </a:tc>
                <a:tc>
                  <a:txBody>
                    <a:bodyPr/>
                    <a:lstStyle/>
                    <a:p>
                      <a:pPr indent="0" lvl="0" marL="0" marR="0" rtl="0" algn="l">
                        <a:lnSpc>
                          <a:spcPct val="107000"/>
                        </a:lnSpc>
                        <a:spcBef>
                          <a:spcPts val="0"/>
                        </a:spcBef>
                        <a:spcAft>
                          <a:spcPts val="0"/>
                        </a:spcAft>
                        <a:buNone/>
                      </a:pPr>
                      <a:r>
                        <a:rPr lang="en-GB" sz="1100"/>
                        <a:t>Returns a new string after replacing all the matches of a string with a specified string/regex.</a:t>
                      </a:r>
                      <a:endParaRPr sz="1000">
                        <a:latin typeface="Calibri"/>
                        <a:ea typeface="Calibri"/>
                        <a:cs typeface="Calibri"/>
                        <a:sym typeface="Calibri"/>
                      </a:endParaRPr>
                    </a:p>
                  </a:txBody>
                  <a:tcPr marT="8950" marB="8950" marR="8950" marL="8950"/>
                </a:tc>
              </a:tr>
              <a:tr h="362600">
                <a:tc>
                  <a:txBody>
                    <a:bodyPr/>
                    <a:lstStyle/>
                    <a:p>
                      <a:pPr indent="0" lvl="0" marL="0" marR="0" rtl="0" algn="l">
                        <a:lnSpc>
                          <a:spcPct val="107000"/>
                        </a:lnSpc>
                        <a:spcBef>
                          <a:spcPts val="0"/>
                        </a:spcBef>
                        <a:spcAft>
                          <a:spcPts val="0"/>
                        </a:spcAft>
                        <a:buNone/>
                      </a:pPr>
                      <a:r>
                        <a:rPr lang="en-GB" sz="1100"/>
                        <a:t>search()</a:t>
                      </a:r>
                      <a:endParaRPr sz="1000">
                        <a:latin typeface="Calibri"/>
                        <a:ea typeface="Calibri"/>
                        <a:cs typeface="Calibri"/>
                        <a:sym typeface="Calibri"/>
                      </a:endParaRPr>
                    </a:p>
                  </a:txBody>
                  <a:tcPr marT="8950" marB="8950" marR="8950" marL="8950"/>
                </a:tc>
                <a:tc>
                  <a:txBody>
                    <a:bodyPr/>
                    <a:lstStyle/>
                    <a:p>
                      <a:pPr indent="0" lvl="0" marL="0" marR="0" rtl="0" algn="l">
                        <a:lnSpc>
                          <a:spcPct val="107000"/>
                        </a:lnSpc>
                        <a:spcBef>
                          <a:spcPts val="0"/>
                        </a:spcBef>
                        <a:spcAft>
                          <a:spcPts val="0"/>
                        </a:spcAft>
                        <a:buNone/>
                      </a:pPr>
                      <a:r>
                        <a:rPr lang="en-GB" sz="1100"/>
                        <a:t>Search for a match in between regular expressions and a</a:t>
                      </a:r>
                      <a:endParaRPr sz="1000">
                        <a:latin typeface="Calibri"/>
                        <a:ea typeface="Calibri"/>
                        <a:cs typeface="Calibri"/>
                        <a:sym typeface="Calibri"/>
                      </a:endParaRPr>
                    </a:p>
                  </a:txBody>
                  <a:tcPr marT="8950" marB="8950" marR="8950" marL="8950"/>
                </a:tc>
              </a:tr>
              <a:tr h="186275">
                <a:tc>
                  <a:txBody>
                    <a:bodyPr/>
                    <a:lstStyle/>
                    <a:p>
                      <a:pPr indent="0" lvl="0" marL="0" marR="0" rtl="0" algn="l">
                        <a:lnSpc>
                          <a:spcPct val="107000"/>
                        </a:lnSpc>
                        <a:spcBef>
                          <a:spcPts val="0"/>
                        </a:spcBef>
                        <a:spcAft>
                          <a:spcPts val="0"/>
                        </a:spcAft>
                        <a:buNone/>
                      </a:pPr>
                      <a:r>
                        <a:rPr lang="en-GB" sz="1100"/>
                        <a:t>slice()</a:t>
                      </a:r>
                      <a:endParaRPr sz="1000">
                        <a:latin typeface="Calibri"/>
                        <a:ea typeface="Calibri"/>
                        <a:cs typeface="Calibri"/>
                        <a:sym typeface="Calibri"/>
                      </a:endParaRPr>
                    </a:p>
                  </a:txBody>
                  <a:tcPr marT="8950" marB="8950" marR="8950" marL="8950"/>
                </a:tc>
                <a:tc>
                  <a:txBody>
                    <a:bodyPr/>
                    <a:lstStyle/>
                    <a:p>
                      <a:pPr indent="0" lvl="0" marL="0" marR="0" rtl="0" algn="l">
                        <a:lnSpc>
                          <a:spcPct val="107000"/>
                        </a:lnSpc>
                        <a:spcBef>
                          <a:spcPts val="0"/>
                        </a:spcBef>
                        <a:spcAft>
                          <a:spcPts val="0"/>
                        </a:spcAft>
                        <a:buNone/>
                      </a:pPr>
                      <a:r>
                        <a:rPr lang="en-GB" sz="1100"/>
                        <a:t>Return a part or slice of the given input string.</a:t>
                      </a:r>
                      <a:endParaRPr sz="1000">
                        <a:latin typeface="Calibri"/>
                        <a:ea typeface="Calibri"/>
                        <a:cs typeface="Calibri"/>
                        <a:sym typeface="Calibri"/>
                      </a:endParaRPr>
                    </a:p>
                  </a:txBody>
                  <a:tcPr marT="8950" marB="8950" marR="8950" marL="8950"/>
                </a:tc>
              </a:tr>
              <a:tr h="362600">
                <a:tc>
                  <a:txBody>
                    <a:bodyPr/>
                    <a:lstStyle/>
                    <a:p>
                      <a:pPr indent="0" lvl="0" marL="0" marR="0" rtl="0" algn="l">
                        <a:lnSpc>
                          <a:spcPct val="107000"/>
                        </a:lnSpc>
                        <a:spcBef>
                          <a:spcPts val="0"/>
                        </a:spcBef>
                        <a:spcAft>
                          <a:spcPts val="0"/>
                        </a:spcAft>
                        <a:buNone/>
                      </a:pPr>
                      <a:r>
                        <a:rPr lang="en-GB" sz="1100"/>
                        <a:t>split()</a:t>
                      </a:r>
                      <a:endParaRPr sz="1000">
                        <a:latin typeface="Calibri"/>
                        <a:ea typeface="Calibri"/>
                        <a:cs typeface="Calibri"/>
                        <a:sym typeface="Calibri"/>
                      </a:endParaRPr>
                    </a:p>
                  </a:txBody>
                  <a:tcPr marT="8950" marB="8950" marR="8950" marL="8950"/>
                </a:tc>
                <a:tc>
                  <a:txBody>
                    <a:bodyPr/>
                    <a:lstStyle/>
                    <a:p>
                      <a:pPr indent="0" lvl="0" marL="0" marR="0" rtl="0" algn="l">
                        <a:lnSpc>
                          <a:spcPct val="107000"/>
                        </a:lnSpc>
                        <a:spcBef>
                          <a:spcPts val="0"/>
                        </a:spcBef>
                        <a:spcAft>
                          <a:spcPts val="0"/>
                        </a:spcAft>
                        <a:buNone/>
                      </a:pPr>
                      <a:r>
                        <a:rPr lang="en-GB" sz="1100"/>
                        <a:t>Separate given string into substrings using a specified separator provided in the argument.</a:t>
                      </a:r>
                      <a:endParaRPr sz="1000">
                        <a:latin typeface="Calibri"/>
                        <a:ea typeface="Calibri"/>
                        <a:cs typeface="Calibri"/>
                        <a:sym typeface="Calibri"/>
                      </a:endParaRPr>
                    </a:p>
                  </a:txBody>
                  <a:tcPr marT="8950" marB="8950" marR="8950" marL="8950"/>
                </a:tc>
              </a:tr>
              <a:tr h="362600">
                <a:tc>
                  <a:txBody>
                    <a:bodyPr/>
                    <a:lstStyle/>
                    <a:p>
                      <a:pPr indent="0" lvl="0" marL="0" marR="0" rtl="0" algn="l">
                        <a:lnSpc>
                          <a:spcPct val="107000"/>
                        </a:lnSpc>
                        <a:spcBef>
                          <a:spcPts val="0"/>
                        </a:spcBef>
                        <a:spcAft>
                          <a:spcPts val="0"/>
                        </a:spcAft>
                        <a:buNone/>
                      </a:pPr>
                      <a:r>
                        <a:rPr lang="en-GB" sz="1100"/>
                        <a:t>startsWith()</a:t>
                      </a:r>
                      <a:endParaRPr sz="1000">
                        <a:latin typeface="Calibri"/>
                        <a:ea typeface="Calibri"/>
                        <a:cs typeface="Calibri"/>
                        <a:sym typeface="Calibri"/>
                      </a:endParaRPr>
                    </a:p>
                  </a:txBody>
                  <a:tcPr marT="8950" marB="8950" marR="8950" marL="8950"/>
                </a:tc>
                <a:tc>
                  <a:txBody>
                    <a:bodyPr/>
                    <a:lstStyle/>
                    <a:p>
                      <a:pPr indent="0" lvl="0" marL="0" marR="0" rtl="0" algn="l">
                        <a:lnSpc>
                          <a:spcPct val="107000"/>
                        </a:lnSpc>
                        <a:spcBef>
                          <a:spcPts val="0"/>
                        </a:spcBef>
                        <a:spcAft>
                          <a:spcPts val="0"/>
                        </a:spcAft>
                        <a:buNone/>
                      </a:pPr>
                      <a:r>
                        <a:rPr lang="en-GB" sz="1100"/>
                        <a:t>Check whether the given string starts with the characters of the specified string or not.</a:t>
                      </a:r>
                      <a:endParaRPr sz="1000">
                        <a:latin typeface="Calibri"/>
                        <a:ea typeface="Calibri"/>
                        <a:cs typeface="Calibri"/>
                        <a:sym typeface="Calibri"/>
                      </a:endParaRPr>
                    </a:p>
                  </a:txBody>
                  <a:tcPr marT="8950" marB="8950" marR="8950" marL="8950"/>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33333"/>
              </a:buClr>
              <a:buSzPts val="4400"/>
              <a:buFont typeface="Open Sans"/>
              <a:buNone/>
            </a:pPr>
            <a:r>
              <a:rPr b="0" i="0" lang="en-GB">
                <a:solidFill>
                  <a:srgbClr val="333333"/>
                </a:solidFill>
                <a:latin typeface="Open Sans"/>
                <a:ea typeface="Open Sans"/>
                <a:cs typeface="Open Sans"/>
                <a:sym typeface="Open Sans"/>
              </a:rPr>
              <a:t>String Methods:</a:t>
            </a:r>
            <a:endParaRPr/>
          </a:p>
        </p:txBody>
      </p:sp>
      <p:graphicFrame>
        <p:nvGraphicFramePr>
          <p:cNvPr id="178" name="Google Shape;178;p17"/>
          <p:cNvGraphicFramePr/>
          <p:nvPr/>
        </p:nvGraphicFramePr>
        <p:xfrm>
          <a:off x="2905125" y="2154555"/>
          <a:ext cx="3000000" cy="3000000"/>
        </p:xfrm>
        <a:graphic>
          <a:graphicData uri="http://schemas.openxmlformats.org/drawingml/2006/table">
            <a:tbl>
              <a:tblPr bandRow="1" firstCol="1" firstRow="1">
                <a:noFill/>
                <a:tableStyleId>{6CC4A58A-B1A9-45A1-82CD-CB47A02BFFEE}</a:tableStyleId>
              </a:tblPr>
              <a:tblGrid>
                <a:gridCol w="3190875"/>
                <a:gridCol w="3190875"/>
              </a:tblGrid>
              <a:tr h="198750">
                <a:tc>
                  <a:txBody>
                    <a:bodyPr/>
                    <a:lstStyle/>
                    <a:p>
                      <a:pPr indent="0" lvl="0" marL="0" marR="0" rtl="0" algn="l">
                        <a:lnSpc>
                          <a:spcPct val="107000"/>
                        </a:lnSpc>
                        <a:spcBef>
                          <a:spcPts val="0"/>
                        </a:spcBef>
                        <a:spcAft>
                          <a:spcPts val="0"/>
                        </a:spcAft>
                        <a:buNone/>
                      </a:pPr>
                      <a:r>
                        <a:rPr lang="en-GB" sz="1150"/>
                        <a:t>substr()</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Returns the specified number of characters from the specified index from the given string.</a:t>
                      </a:r>
                      <a:endParaRPr sz="1100">
                        <a:latin typeface="Calibri"/>
                        <a:ea typeface="Calibri"/>
                        <a:cs typeface="Calibri"/>
                        <a:sym typeface="Calibri"/>
                      </a:endParaRPr>
                    </a:p>
                  </a:txBody>
                  <a:tcPr marT="9525" marB="9525" marR="9525" marL="9525"/>
                </a:tc>
              </a:tr>
              <a:tr h="198750">
                <a:tc>
                  <a:txBody>
                    <a:bodyPr/>
                    <a:lstStyle/>
                    <a:p>
                      <a:pPr indent="0" lvl="0" marL="0" marR="0" rtl="0" algn="l">
                        <a:lnSpc>
                          <a:spcPct val="107000"/>
                        </a:lnSpc>
                        <a:spcBef>
                          <a:spcPts val="0"/>
                        </a:spcBef>
                        <a:spcAft>
                          <a:spcPts val="0"/>
                        </a:spcAft>
                        <a:buNone/>
                      </a:pPr>
                      <a:r>
                        <a:rPr lang="en-GB" sz="1150"/>
                        <a:t>substring()</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Return the part of the given string from the start index to the end index.</a:t>
                      </a:r>
                      <a:endParaRPr sz="1100">
                        <a:latin typeface="Calibri"/>
                        <a:ea typeface="Calibri"/>
                        <a:cs typeface="Calibri"/>
                        <a:sym typeface="Calibri"/>
                      </a:endParaRPr>
                    </a:p>
                  </a:txBody>
                  <a:tcPr marT="9525" marB="9525" marR="9525" marL="9525"/>
                </a:tc>
              </a:tr>
              <a:tr h="198750">
                <a:tc>
                  <a:txBody>
                    <a:bodyPr/>
                    <a:lstStyle/>
                    <a:p>
                      <a:pPr indent="0" lvl="0" marL="0" marR="0" rtl="0" algn="l">
                        <a:lnSpc>
                          <a:spcPct val="107000"/>
                        </a:lnSpc>
                        <a:spcBef>
                          <a:spcPts val="0"/>
                        </a:spcBef>
                        <a:spcAft>
                          <a:spcPts val="0"/>
                        </a:spcAft>
                        <a:buNone/>
                      </a:pPr>
                      <a:r>
                        <a:rPr lang="en-GB" sz="1150"/>
                        <a:t>toLocaleUpperCase()</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Returns the calling string value converted to a uppercase letter.</a:t>
                      </a:r>
                      <a:endParaRPr sz="1100">
                        <a:latin typeface="Calibri"/>
                        <a:ea typeface="Calibri"/>
                        <a:cs typeface="Calibri"/>
                        <a:sym typeface="Calibri"/>
                      </a:endParaRPr>
                    </a:p>
                  </a:txBody>
                  <a:tcPr marT="9525" marB="9525" marR="9525" marL="9525"/>
                </a:tc>
              </a:tr>
              <a:tr h="198750">
                <a:tc>
                  <a:txBody>
                    <a:bodyPr/>
                    <a:lstStyle/>
                    <a:p>
                      <a:pPr indent="0" lvl="0" marL="0" marR="0" rtl="0" algn="l">
                        <a:lnSpc>
                          <a:spcPct val="107000"/>
                        </a:lnSpc>
                        <a:spcBef>
                          <a:spcPts val="0"/>
                        </a:spcBef>
                        <a:spcAft>
                          <a:spcPts val="0"/>
                        </a:spcAft>
                        <a:buNone/>
                      </a:pPr>
                      <a:r>
                        <a:rPr lang="en-GB" sz="1150"/>
                        <a:t>toUpperCase()</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Converts the entire string to uppercase.</a:t>
                      </a:r>
                      <a:endParaRPr sz="1100">
                        <a:latin typeface="Calibri"/>
                        <a:ea typeface="Calibri"/>
                        <a:cs typeface="Calibri"/>
                        <a:sym typeface="Calibri"/>
                      </a:endParaRPr>
                    </a:p>
                  </a:txBody>
                  <a:tcPr marT="9525" marB="9525" marR="9525" marL="9525"/>
                </a:tc>
              </a:tr>
              <a:tr h="198750">
                <a:tc>
                  <a:txBody>
                    <a:bodyPr/>
                    <a:lstStyle/>
                    <a:p>
                      <a:pPr indent="0" lvl="0" marL="0" marR="0" rtl="0" algn="l">
                        <a:lnSpc>
                          <a:spcPct val="107000"/>
                        </a:lnSpc>
                        <a:spcBef>
                          <a:spcPts val="0"/>
                        </a:spcBef>
                        <a:spcAft>
                          <a:spcPts val="0"/>
                        </a:spcAft>
                        <a:buNone/>
                      </a:pPr>
                      <a:r>
                        <a:rPr lang="en-GB" sz="1150"/>
                        <a:t>toString()</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Return the given string itself.</a:t>
                      </a:r>
                      <a:endParaRPr sz="1100">
                        <a:latin typeface="Calibri"/>
                        <a:ea typeface="Calibri"/>
                        <a:cs typeface="Calibri"/>
                        <a:sym typeface="Calibri"/>
                      </a:endParaRPr>
                    </a:p>
                  </a:txBody>
                  <a:tcPr marT="9525" marB="9525" marR="9525" marL="9525"/>
                </a:tc>
              </a:tr>
              <a:tr h="189225">
                <a:tc>
                  <a:txBody>
                    <a:bodyPr/>
                    <a:lstStyle/>
                    <a:p>
                      <a:pPr indent="0" lvl="0" marL="0" marR="0" rtl="0" algn="l">
                        <a:lnSpc>
                          <a:spcPct val="107000"/>
                        </a:lnSpc>
                        <a:spcBef>
                          <a:spcPts val="0"/>
                        </a:spcBef>
                        <a:spcAft>
                          <a:spcPts val="0"/>
                        </a:spcAft>
                        <a:buNone/>
                      </a:pPr>
                      <a:r>
                        <a:rPr lang="en-GB" sz="1150"/>
                        <a:t>trim()</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Remove the white spaces from both ends of the given string.</a:t>
                      </a:r>
                      <a:endParaRPr sz="1100">
                        <a:latin typeface="Calibri"/>
                        <a:ea typeface="Calibri"/>
                        <a:cs typeface="Calibri"/>
                        <a:sym typeface="Calibri"/>
                      </a:endParaRPr>
                    </a:p>
                  </a:txBody>
                  <a:tcPr marT="9525" marB="9525" marR="9525" marL="9525"/>
                </a:tc>
              </a:tr>
              <a:tr h="198750">
                <a:tc>
                  <a:txBody>
                    <a:bodyPr/>
                    <a:lstStyle/>
                    <a:p>
                      <a:pPr indent="0" lvl="0" marL="0" marR="0" rtl="0" algn="l">
                        <a:lnSpc>
                          <a:spcPct val="107000"/>
                        </a:lnSpc>
                        <a:spcBef>
                          <a:spcPts val="0"/>
                        </a:spcBef>
                        <a:spcAft>
                          <a:spcPts val="0"/>
                        </a:spcAft>
                        <a:buNone/>
                      </a:pPr>
                      <a:r>
                        <a:rPr lang="en-GB" sz="1150"/>
                        <a:t>trimEnd()</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Remove white space from the end of a string.</a:t>
                      </a:r>
                      <a:endParaRPr sz="1100">
                        <a:latin typeface="Calibri"/>
                        <a:ea typeface="Calibri"/>
                        <a:cs typeface="Calibri"/>
                        <a:sym typeface="Calibri"/>
                      </a:endParaRPr>
                    </a:p>
                  </a:txBody>
                  <a:tcPr marT="9525" marB="9525" marR="9525" marL="9525"/>
                </a:tc>
              </a:tr>
              <a:tr h="198750">
                <a:tc>
                  <a:txBody>
                    <a:bodyPr/>
                    <a:lstStyle/>
                    <a:p>
                      <a:pPr indent="0" lvl="0" marL="0" marR="0" rtl="0" algn="l">
                        <a:lnSpc>
                          <a:spcPct val="107000"/>
                        </a:lnSpc>
                        <a:spcBef>
                          <a:spcPts val="0"/>
                        </a:spcBef>
                        <a:spcAft>
                          <a:spcPts val="0"/>
                        </a:spcAft>
                        <a:buNone/>
                      </a:pPr>
                      <a:r>
                        <a:rPr lang="en-GB" sz="1150"/>
                        <a:t>trimStart()</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Remove white space from the start of a string.</a:t>
                      </a:r>
                      <a:endParaRPr sz="1100">
                        <a:latin typeface="Calibri"/>
                        <a:ea typeface="Calibri"/>
                        <a:cs typeface="Calibri"/>
                        <a:sym typeface="Calibri"/>
                      </a:endParaRPr>
                    </a:p>
                  </a:txBody>
                  <a:tcPr marT="9525" marB="9525" marR="9525" marL="9525"/>
                </a:tc>
              </a:tr>
              <a:tr h="198750">
                <a:tc>
                  <a:txBody>
                    <a:bodyPr/>
                    <a:lstStyle/>
                    <a:p>
                      <a:pPr indent="0" lvl="0" marL="0" marR="0" rtl="0" algn="l">
                        <a:lnSpc>
                          <a:spcPct val="107000"/>
                        </a:lnSpc>
                        <a:spcBef>
                          <a:spcPts val="0"/>
                        </a:spcBef>
                        <a:spcAft>
                          <a:spcPts val="0"/>
                        </a:spcAft>
                        <a:buNone/>
                      </a:pPr>
                      <a:r>
                        <a:rPr lang="en-GB" sz="1150"/>
                        <a:t>valueOf()</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Return the value of the given string.</a:t>
                      </a:r>
                      <a:endParaRPr sz="1100">
                        <a:latin typeface="Calibri"/>
                        <a:ea typeface="Calibri"/>
                        <a:cs typeface="Calibri"/>
                        <a:sym typeface="Calibri"/>
                      </a:endParaRPr>
                    </a:p>
                  </a:txBody>
                  <a:tcPr marT="9525" marB="9525" marR="9525" marL="9525"/>
                </a:tc>
              </a:tr>
              <a:tr h="398150">
                <a:tc>
                  <a:txBody>
                    <a:bodyPr/>
                    <a:lstStyle/>
                    <a:p>
                      <a:pPr indent="0" lvl="0" marL="0" marR="0" rtl="0" algn="l">
                        <a:lnSpc>
                          <a:spcPct val="107000"/>
                        </a:lnSpc>
                        <a:spcBef>
                          <a:spcPts val="0"/>
                        </a:spcBef>
                        <a:spcAft>
                          <a:spcPts val="0"/>
                        </a:spcAft>
                        <a:buNone/>
                      </a:pPr>
                      <a:r>
                        <a:rPr lang="en-GB" sz="1150"/>
                        <a:t>string[Symbol.iterator]()</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This method is used to make String iterable. [@@iterator]() returns an iterator object which iterates over all code points of the String.</a:t>
                      </a:r>
                      <a:endParaRPr sz="1100">
                        <a:latin typeface="Calibri"/>
                        <a:ea typeface="Calibri"/>
                        <a:cs typeface="Calibri"/>
                        <a:sym typeface="Calibri"/>
                      </a:endParaRPr>
                    </a:p>
                  </a:txBody>
                  <a:tcPr marT="9525" marB="9525" marR="9525" marL="9525"/>
                </a:tc>
              </a:tr>
              <a:tr h="198750">
                <a:tc>
                  <a:txBody>
                    <a:bodyPr/>
                    <a:lstStyle/>
                    <a:p>
                      <a:pPr indent="0" lvl="0" marL="0" marR="0" rtl="0" algn="l">
                        <a:lnSpc>
                          <a:spcPct val="107000"/>
                        </a:lnSpc>
                        <a:spcBef>
                          <a:spcPts val="0"/>
                        </a:spcBef>
                        <a:spcAft>
                          <a:spcPts val="0"/>
                        </a:spcAft>
                        <a:buNone/>
                      </a:pPr>
                      <a:r>
                        <a:rPr lang="en-GB" sz="1150"/>
                        <a:t>toLowerCase()</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Converts the entire string to lowercase.</a:t>
                      </a:r>
                      <a:endParaRPr sz="1100">
                        <a:latin typeface="Calibri"/>
                        <a:ea typeface="Calibri"/>
                        <a:cs typeface="Calibri"/>
                        <a:sym typeface="Calibri"/>
                      </a:endParaRPr>
                    </a:p>
                  </a:txBody>
                  <a:tcPr marT="9525" marB="9525" marR="9525" marL="9525"/>
                </a:tc>
              </a:tr>
              <a:tr h="198750">
                <a:tc>
                  <a:txBody>
                    <a:bodyPr/>
                    <a:lstStyle/>
                    <a:p>
                      <a:pPr indent="0" lvl="0" marL="0" marR="0" rtl="0" algn="l">
                        <a:lnSpc>
                          <a:spcPct val="107000"/>
                        </a:lnSpc>
                        <a:spcBef>
                          <a:spcPts val="0"/>
                        </a:spcBef>
                        <a:spcAft>
                          <a:spcPts val="0"/>
                        </a:spcAft>
                        <a:buNone/>
                      </a:pPr>
                      <a:r>
                        <a:rPr lang="en-GB" sz="1150"/>
                        <a:t>toLocaleLowerCase()</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Returns the calling string value converted to a lowercase letter.</a:t>
                      </a:r>
                      <a:endParaRPr sz="1100">
                        <a:latin typeface="Calibri"/>
                        <a:ea typeface="Calibri"/>
                        <a:cs typeface="Calibri"/>
                        <a:sym typeface="Calibri"/>
                      </a:endParaRPr>
                    </a:p>
                  </a:txBody>
                  <a:tcPr marT="9525" marB="9525" marR="9525" marL="9525"/>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33333"/>
              </a:buClr>
              <a:buSzPts val="4400"/>
              <a:buFont typeface="Open Sans"/>
              <a:buNone/>
            </a:pPr>
            <a:r>
              <a:rPr b="1" i="0" lang="en-GB">
                <a:solidFill>
                  <a:srgbClr val="333333"/>
                </a:solidFill>
                <a:latin typeface="Open Sans"/>
                <a:ea typeface="Open Sans"/>
                <a:cs typeface="Open Sans"/>
                <a:sym typeface="Open Sans"/>
              </a:rPr>
              <a:t>JS Number Methods</a:t>
            </a:r>
            <a:endParaRPr/>
          </a:p>
        </p:txBody>
      </p:sp>
      <p:graphicFrame>
        <p:nvGraphicFramePr>
          <p:cNvPr id="184" name="Google Shape;184;p18"/>
          <p:cNvGraphicFramePr/>
          <p:nvPr/>
        </p:nvGraphicFramePr>
        <p:xfrm>
          <a:off x="3128962" y="3125850"/>
          <a:ext cx="3000000" cy="3000000"/>
        </p:xfrm>
        <a:graphic>
          <a:graphicData uri="http://schemas.openxmlformats.org/drawingml/2006/table">
            <a:tbl>
              <a:tblPr bandRow="1" firstCol="1" firstRow="1">
                <a:noFill/>
                <a:tableStyleId>{6CC4A58A-B1A9-45A1-82CD-CB47A02BFFEE}</a:tableStyleId>
              </a:tblPr>
              <a:tblGrid>
                <a:gridCol w="2967050"/>
                <a:gridCol w="2967050"/>
              </a:tblGrid>
              <a:tr h="196850">
                <a:tc>
                  <a:txBody>
                    <a:bodyPr/>
                    <a:lstStyle/>
                    <a:p>
                      <a:pPr indent="0" lvl="0" marL="0" marR="0" rtl="0" algn="ctr">
                        <a:lnSpc>
                          <a:spcPct val="107000"/>
                        </a:lnSpc>
                        <a:spcBef>
                          <a:spcPts val="0"/>
                        </a:spcBef>
                        <a:spcAft>
                          <a:spcPts val="0"/>
                        </a:spcAft>
                        <a:buNone/>
                      </a:pPr>
                      <a:r>
                        <a:rPr lang="en-GB" sz="1150"/>
                        <a:t>Method</a:t>
                      </a:r>
                      <a:endParaRPr sz="1100">
                        <a:latin typeface="Calibri"/>
                        <a:ea typeface="Calibri"/>
                        <a:cs typeface="Calibri"/>
                        <a:sym typeface="Calibri"/>
                      </a:endParaRPr>
                    </a:p>
                  </a:txBody>
                  <a:tcPr marT="9525" marB="9525" marR="9525" marL="9525"/>
                </a:tc>
                <a:tc>
                  <a:txBody>
                    <a:bodyPr/>
                    <a:lstStyle/>
                    <a:p>
                      <a:pPr indent="0" lvl="0" marL="0" marR="0" rtl="0" algn="ctr">
                        <a:lnSpc>
                          <a:spcPct val="107000"/>
                        </a:lnSpc>
                        <a:spcBef>
                          <a:spcPts val="0"/>
                        </a:spcBef>
                        <a:spcAft>
                          <a:spcPts val="0"/>
                        </a:spcAft>
                        <a:buNone/>
                      </a:pPr>
                      <a:r>
                        <a:rPr lang="en-GB" sz="1150"/>
                        <a:t>Description</a:t>
                      </a:r>
                      <a:endParaRPr sz="1100">
                        <a:latin typeface="Calibri"/>
                        <a:ea typeface="Calibri"/>
                        <a:cs typeface="Calibri"/>
                        <a:sym typeface="Calibri"/>
                      </a:endParaRPr>
                    </a:p>
                  </a:txBody>
                  <a:tcPr marT="9525" marB="9525" marR="9525" marL="9525"/>
                </a:tc>
              </a:tr>
              <a:tr h="196850">
                <a:tc>
                  <a:txBody>
                    <a:bodyPr/>
                    <a:lstStyle/>
                    <a:p>
                      <a:pPr indent="0" lvl="0" marL="0" marR="0" rtl="0" algn="l">
                        <a:lnSpc>
                          <a:spcPct val="107000"/>
                        </a:lnSpc>
                        <a:spcBef>
                          <a:spcPts val="0"/>
                        </a:spcBef>
                        <a:spcAft>
                          <a:spcPts val="0"/>
                        </a:spcAft>
                        <a:buNone/>
                      </a:pPr>
                      <a:r>
                        <a:rPr lang="en-GB" sz="1150"/>
                        <a:t>toString()</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Returns a number as a string</a:t>
                      </a:r>
                      <a:endParaRPr sz="1100">
                        <a:latin typeface="Calibri"/>
                        <a:ea typeface="Calibri"/>
                        <a:cs typeface="Calibri"/>
                        <a:sym typeface="Calibri"/>
                      </a:endParaRPr>
                    </a:p>
                  </a:txBody>
                  <a:tcPr marT="9525" marB="9525" marR="9525" marL="9525"/>
                </a:tc>
              </a:tr>
              <a:tr h="196850">
                <a:tc>
                  <a:txBody>
                    <a:bodyPr/>
                    <a:lstStyle/>
                    <a:p>
                      <a:pPr indent="0" lvl="0" marL="0" marR="0" rtl="0" algn="l">
                        <a:lnSpc>
                          <a:spcPct val="107000"/>
                        </a:lnSpc>
                        <a:spcBef>
                          <a:spcPts val="0"/>
                        </a:spcBef>
                        <a:spcAft>
                          <a:spcPts val="0"/>
                        </a:spcAft>
                        <a:buNone/>
                      </a:pPr>
                      <a:r>
                        <a:rPr lang="en-GB" sz="1150"/>
                        <a:t>toExponential()</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Returns a number written in exponential notation</a:t>
                      </a:r>
                      <a:endParaRPr sz="1100">
                        <a:latin typeface="Calibri"/>
                        <a:ea typeface="Calibri"/>
                        <a:cs typeface="Calibri"/>
                        <a:sym typeface="Calibri"/>
                      </a:endParaRPr>
                    </a:p>
                  </a:txBody>
                  <a:tcPr marT="9525" marB="9525" marR="9525" marL="9525"/>
                </a:tc>
              </a:tr>
              <a:tr h="196850">
                <a:tc>
                  <a:txBody>
                    <a:bodyPr/>
                    <a:lstStyle/>
                    <a:p>
                      <a:pPr indent="0" lvl="0" marL="0" marR="0" rtl="0" algn="l">
                        <a:lnSpc>
                          <a:spcPct val="107000"/>
                        </a:lnSpc>
                        <a:spcBef>
                          <a:spcPts val="0"/>
                        </a:spcBef>
                        <a:spcAft>
                          <a:spcPts val="0"/>
                        </a:spcAft>
                        <a:buNone/>
                      </a:pPr>
                      <a:r>
                        <a:rPr lang="en-GB" sz="1150"/>
                        <a:t>toFixed()</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Returns a number written with a number of decimals</a:t>
                      </a:r>
                      <a:endParaRPr sz="1100">
                        <a:latin typeface="Calibri"/>
                        <a:ea typeface="Calibri"/>
                        <a:cs typeface="Calibri"/>
                        <a:sym typeface="Calibri"/>
                      </a:endParaRPr>
                    </a:p>
                  </a:txBody>
                  <a:tcPr marT="9525" marB="9525" marR="9525" marL="9525"/>
                </a:tc>
              </a:tr>
              <a:tr h="187325">
                <a:tc>
                  <a:txBody>
                    <a:bodyPr/>
                    <a:lstStyle/>
                    <a:p>
                      <a:pPr indent="0" lvl="0" marL="0" marR="0" rtl="0" algn="l">
                        <a:lnSpc>
                          <a:spcPct val="107000"/>
                        </a:lnSpc>
                        <a:spcBef>
                          <a:spcPts val="0"/>
                        </a:spcBef>
                        <a:spcAft>
                          <a:spcPts val="0"/>
                        </a:spcAft>
                        <a:buNone/>
                      </a:pPr>
                      <a:r>
                        <a:rPr lang="en-GB" sz="1150"/>
                        <a:t>toPrecision()</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Returns a number written with a specified length</a:t>
                      </a:r>
                      <a:endParaRPr sz="1100">
                        <a:latin typeface="Calibri"/>
                        <a:ea typeface="Calibri"/>
                        <a:cs typeface="Calibri"/>
                        <a:sym typeface="Calibri"/>
                      </a:endParaRPr>
                    </a:p>
                  </a:txBody>
                  <a:tcPr marT="9525" marB="9525" marR="9525" marL="9525"/>
                </a:tc>
              </a:tr>
              <a:tr h="196850">
                <a:tc>
                  <a:txBody>
                    <a:bodyPr/>
                    <a:lstStyle/>
                    <a:p>
                      <a:pPr indent="0" lvl="0" marL="0" marR="0" rtl="0" algn="l">
                        <a:lnSpc>
                          <a:spcPct val="107000"/>
                        </a:lnSpc>
                        <a:spcBef>
                          <a:spcPts val="0"/>
                        </a:spcBef>
                        <a:spcAft>
                          <a:spcPts val="0"/>
                        </a:spcAft>
                        <a:buNone/>
                      </a:pPr>
                      <a:r>
                        <a:rPr lang="en-GB" sz="1150"/>
                        <a:t>ValueOf()</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Returns a number as a number</a:t>
                      </a:r>
                      <a:endParaRPr sz="1100">
                        <a:latin typeface="Calibri"/>
                        <a:ea typeface="Calibri"/>
                        <a:cs typeface="Calibri"/>
                        <a:sym typeface="Calibri"/>
                      </a:endParaRPr>
                    </a:p>
                  </a:txBody>
                  <a:tcPr marT="9525" marB="9525" marR="9525" marL="9525"/>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33333"/>
              </a:buClr>
              <a:buSzPts val="4400"/>
              <a:buFont typeface="Open Sans"/>
              <a:buNone/>
            </a:pPr>
            <a:r>
              <a:rPr b="1" i="0" lang="en-GB">
                <a:solidFill>
                  <a:srgbClr val="333333"/>
                </a:solidFill>
                <a:latin typeface="Open Sans"/>
                <a:ea typeface="Open Sans"/>
                <a:cs typeface="Open Sans"/>
                <a:sym typeface="Open Sans"/>
              </a:rPr>
              <a:t>JS Math Methods</a:t>
            </a:r>
            <a:endParaRPr/>
          </a:p>
        </p:txBody>
      </p:sp>
      <p:graphicFrame>
        <p:nvGraphicFramePr>
          <p:cNvPr id="190" name="Google Shape;190;p19"/>
          <p:cNvGraphicFramePr/>
          <p:nvPr/>
        </p:nvGraphicFramePr>
        <p:xfrm>
          <a:off x="3269497" y="1825623"/>
          <a:ext cx="3000000" cy="3000000"/>
        </p:xfrm>
        <a:graphic>
          <a:graphicData uri="http://schemas.openxmlformats.org/drawingml/2006/table">
            <a:tbl>
              <a:tblPr bandRow="1" firstCol="1" firstRow="1">
                <a:noFill/>
                <a:tableStyleId>{6CC4A58A-B1A9-45A1-82CD-CB47A02BFFEE}</a:tableStyleId>
              </a:tblPr>
              <a:tblGrid>
                <a:gridCol w="2826500"/>
                <a:gridCol w="2826500"/>
              </a:tblGrid>
              <a:tr h="193675">
                <a:tc>
                  <a:txBody>
                    <a:bodyPr/>
                    <a:lstStyle/>
                    <a:p>
                      <a:pPr indent="0" lvl="0" marL="0" marR="0" rtl="0" algn="ctr">
                        <a:lnSpc>
                          <a:spcPct val="107000"/>
                        </a:lnSpc>
                        <a:spcBef>
                          <a:spcPts val="0"/>
                        </a:spcBef>
                        <a:spcAft>
                          <a:spcPts val="0"/>
                        </a:spcAft>
                        <a:buNone/>
                      </a:pPr>
                      <a:r>
                        <a:rPr lang="en-GB" sz="1100"/>
                        <a:t>Methods</a:t>
                      </a:r>
                      <a:endParaRPr sz="1100">
                        <a:latin typeface="Calibri"/>
                        <a:ea typeface="Calibri"/>
                        <a:cs typeface="Calibri"/>
                        <a:sym typeface="Calibri"/>
                      </a:endParaRPr>
                    </a:p>
                  </a:txBody>
                  <a:tcPr marT="9325" marB="9325" marR="9325" marL="9325"/>
                </a:tc>
                <a:tc>
                  <a:txBody>
                    <a:bodyPr/>
                    <a:lstStyle/>
                    <a:p>
                      <a:pPr indent="0" lvl="0" marL="0" marR="0" rtl="0" algn="ctr">
                        <a:lnSpc>
                          <a:spcPct val="107000"/>
                        </a:lnSpc>
                        <a:spcBef>
                          <a:spcPts val="0"/>
                        </a:spcBef>
                        <a:spcAft>
                          <a:spcPts val="0"/>
                        </a:spcAft>
                        <a:buNone/>
                      </a:pPr>
                      <a:r>
                        <a:rPr lang="en-GB" sz="1100"/>
                        <a:t>Description</a:t>
                      </a:r>
                      <a:endParaRPr sz="1100">
                        <a:latin typeface="Calibri"/>
                        <a:ea typeface="Calibri"/>
                        <a:cs typeface="Calibri"/>
                        <a:sym typeface="Calibri"/>
                      </a:endParaRPr>
                    </a:p>
                  </a:txBody>
                  <a:tcPr marT="9325" marB="9325" marR="9325" marL="9325"/>
                </a:tc>
              </a:tr>
              <a:tr h="377025">
                <a:tc>
                  <a:txBody>
                    <a:bodyPr/>
                    <a:lstStyle/>
                    <a:p>
                      <a:pPr indent="0" lvl="0" marL="0" marR="0" rtl="0" algn="l">
                        <a:lnSpc>
                          <a:spcPct val="107000"/>
                        </a:lnSpc>
                        <a:spcBef>
                          <a:spcPts val="0"/>
                        </a:spcBef>
                        <a:spcAft>
                          <a:spcPts val="0"/>
                        </a:spcAft>
                        <a:buNone/>
                      </a:pPr>
                      <a:r>
                        <a:rPr lang="en-GB" sz="1100"/>
                        <a:t>abs()</a:t>
                      </a:r>
                      <a:endParaRPr sz="1100">
                        <a:latin typeface="Calibri"/>
                        <a:ea typeface="Calibri"/>
                        <a:cs typeface="Calibri"/>
                        <a:sym typeface="Calibri"/>
                      </a:endParaRPr>
                    </a:p>
                  </a:txBody>
                  <a:tcPr marT="9325" marB="9325" marR="9325" marL="9325"/>
                </a:tc>
                <a:tc>
                  <a:txBody>
                    <a:bodyPr/>
                    <a:lstStyle/>
                    <a:p>
                      <a:pPr indent="0" lvl="0" marL="0" marR="0" rtl="0" algn="l">
                        <a:lnSpc>
                          <a:spcPct val="107000"/>
                        </a:lnSpc>
                        <a:spcBef>
                          <a:spcPts val="0"/>
                        </a:spcBef>
                        <a:spcAft>
                          <a:spcPts val="0"/>
                        </a:spcAft>
                        <a:buNone/>
                      </a:pPr>
                      <a:r>
                        <a:rPr lang="en-GB" sz="1100"/>
                        <a:t>It returns the absolute value of the given number.</a:t>
                      </a:r>
                      <a:endParaRPr sz="1100">
                        <a:latin typeface="Calibri"/>
                        <a:ea typeface="Calibri"/>
                        <a:cs typeface="Calibri"/>
                        <a:sym typeface="Calibri"/>
                      </a:endParaRPr>
                    </a:p>
                  </a:txBody>
                  <a:tcPr marT="9325" marB="9325" marR="9325" marL="9325"/>
                </a:tc>
              </a:tr>
              <a:tr h="377025">
                <a:tc>
                  <a:txBody>
                    <a:bodyPr/>
                    <a:lstStyle/>
                    <a:p>
                      <a:pPr indent="0" lvl="0" marL="0" marR="0" rtl="0" algn="l">
                        <a:lnSpc>
                          <a:spcPct val="107000"/>
                        </a:lnSpc>
                        <a:spcBef>
                          <a:spcPts val="0"/>
                        </a:spcBef>
                        <a:spcAft>
                          <a:spcPts val="0"/>
                        </a:spcAft>
                        <a:buNone/>
                      </a:pPr>
                      <a:r>
                        <a:rPr lang="en-GB" sz="1100"/>
                        <a:t>acos()</a:t>
                      </a:r>
                      <a:endParaRPr sz="1100">
                        <a:latin typeface="Calibri"/>
                        <a:ea typeface="Calibri"/>
                        <a:cs typeface="Calibri"/>
                        <a:sym typeface="Calibri"/>
                      </a:endParaRPr>
                    </a:p>
                  </a:txBody>
                  <a:tcPr marT="9325" marB="9325" marR="9325" marL="9325"/>
                </a:tc>
                <a:tc>
                  <a:txBody>
                    <a:bodyPr/>
                    <a:lstStyle/>
                    <a:p>
                      <a:pPr indent="0" lvl="0" marL="0" marR="0" rtl="0" algn="l">
                        <a:lnSpc>
                          <a:spcPct val="107000"/>
                        </a:lnSpc>
                        <a:spcBef>
                          <a:spcPts val="0"/>
                        </a:spcBef>
                        <a:spcAft>
                          <a:spcPts val="0"/>
                        </a:spcAft>
                        <a:buNone/>
                      </a:pPr>
                      <a:r>
                        <a:rPr lang="en-GB" sz="1100"/>
                        <a:t>It returns the arccosine of the given number in radians.</a:t>
                      </a:r>
                      <a:endParaRPr sz="1100">
                        <a:latin typeface="Calibri"/>
                        <a:ea typeface="Calibri"/>
                        <a:cs typeface="Calibri"/>
                        <a:sym typeface="Calibri"/>
                      </a:endParaRPr>
                    </a:p>
                  </a:txBody>
                  <a:tcPr marT="9325" marB="9325" marR="9325" marL="9325"/>
                </a:tc>
              </a:tr>
              <a:tr h="377025">
                <a:tc>
                  <a:txBody>
                    <a:bodyPr/>
                    <a:lstStyle/>
                    <a:p>
                      <a:pPr indent="0" lvl="0" marL="0" marR="0" rtl="0" algn="l">
                        <a:lnSpc>
                          <a:spcPct val="107000"/>
                        </a:lnSpc>
                        <a:spcBef>
                          <a:spcPts val="0"/>
                        </a:spcBef>
                        <a:spcAft>
                          <a:spcPts val="0"/>
                        </a:spcAft>
                        <a:buNone/>
                      </a:pPr>
                      <a:r>
                        <a:rPr lang="en-GB" sz="1100"/>
                        <a:t>asin()</a:t>
                      </a:r>
                      <a:endParaRPr sz="1100">
                        <a:latin typeface="Calibri"/>
                        <a:ea typeface="Calibri"/>
                        <a:cs typeface="Calibri"/>
                        <a:sym typeface="Calibri"/>
                      </a:endParaRPr>
                    </a:p>
                  </a:txBody>
                  <a:tcPr marT="9325" marB="9325" marR="9325" marL="9325"/>
                </a:tc>
                <a:tc>
                  <a:txBody>
                    <a:bodyPr/>
                    <a:lstStyle/>
                    <a:p>
                      <a:pPr indent="0" lvl="0" marL="0" marR="0" rtl="0" algn="l">
                        <a:lnSpc>
                          <a:spcPct val="107000"/>
                        </a:lnSpc>
                        <a:spcBef>
                          <a:spcPts val="0"/>
                        </a:spcBef>
                        <a:spcAft>
                          <a:spcPts val="0"/>
                        </a:spcAft>
                        <a:buNone/>
                      </a:pPr>
                      <a:r>
                        <a:rPr lang="en-GB" sz="1100"/>
                        <a:t>It returns the arcsine of the given number in radians.</a:t>
                      </a:r>
                      <a:endParaRPr sz="1100">
                        <a:latin typeface="Calibri"/>
                        <a:ea typeface="Calibri"/>
                        <a:cs typeface="Calibri"/>
                        <a:sym typeface="Calibri"/>
                      </a:endParaRPr>
                    </a:p>
                  </a:txBody>
                  <a:tcPr marT="9325" marB="9325" marR="9325" marL="9325"/>
                </a:tc>
              </a:tr>
              <a:tr h="377025">
                <a:tc>
                  <a:txBody>
                    <a:bodyPr/>
                    <a:lstStyle/>
                    <a:p>
                      <a:pPr indent="0" lvl="0" marL="0" marR="0" rtl="0" algn="l">
                        <a:lnSpc>
                          <a:spcPct val="107000"/>
                        </a:lnSpc>
                        <a:spcBef>
                          <a:spcPts val="0"/>
                        </a:spcBef>
                        <a:spcAft>
                          <a:spcPts val="0"/>
                        </a:spcAft>
                        <a:buNone/>
                      </a:pPr>
                      <a:r>
                        <a:rPr lang="en-GB" sz="1100"/>
                        <a:t>atan()</a:t>
                      </a:r>
                      <a:endParaRPr sz="1100">
                        <a:latin typeface="Calibri"/>
                        <a:ea typeface="Calibri"/>
                        <a:cs typeface="Calibri"/>
                        <a:sym typeface="Calibri"/>
                      </a:endParaRPr>
                    </a:p>
                  </a:txBody>
                  <a:tcPr marT="9325" marB="9325" marR="9325" marL="9325"/>
                </a:tc>
                <a:tc>
                  <a:txBody>
                    <a:bodyPr/>
                    <a:lstStyle/>
                    <a:p>
                      <a:pPr indent="0" lvl="0" marL="0" marR="0" rtl="0" algn="l">
                        <a:lnSpc>
                          <a:spcPct val="107000"/>
                        </a:lnSpc>
                        <a:spcBef>
                          <a:spcPts val="0"/>
                        </a:spcBef>
                        <a:spcAft>
                          <a:spcPts val="0"/>
                        </a:spcAft>
                        <a:buNone/>
                      </a:pPr>
                      <a:r>
                        <a:rPr lang="en-GB" sz="1100"/>
                        <a:t>It returns the arc-tangent of the given number in radians.</a:t>
                      </a:r>
                      <a:endParaRPr sz="1100">
                        <a:latin typeface="Calibri"/>
                        <a:ea typeface="Calibri"/>
                        <a:cs typeface="Calibri"/>
                        <a:sym typeface="Calibri"/>
                      </a:endParaRPr>
                    </a:p>
                  </a:txBody>
                  <a:tcPr marT="9325" marB="9325" marR="9325" marL="9325"/>
                </a:tc>
              </a:tr>
              <a:tr h="377025">
                <a:tc>
                  <a:txBody>
                    <a:bodyPr/>
                    <a:lstStyle/>
                    <a:p>
                      <a:pPr indent="0" lvl="0" marL="0" marR="0" rtl="0" algn="l">
                        <a:lnSpc>
                          <a:spcPct val="107000"/>
                        </a:lnSpc>
                        <a:spcBef>
                          <a:spcPts val="0"/>
                        </a:spcBef>
                        <a:spcAft>
                          <a:spcPts val="0"/>
                        </a:spcAft>
                        <a:buNone/>
                      </a:pPr>
                      <a:r>
                        <a:rPr lang="en-GB" sz="1100"/>
                        <a:t>cbrt()</a:t>
                      </a:r>
                      <a:endParaRPr sz="1100">
                        <a:latin typeface="Calibri"/>
                        <a:ea typeface="Calibri"/>
                        <a:cs typeface="Calibri"/>
                        <a:sym typeface="Calibri"/>
                      </a:endParaRPr>
                    </a:p>
                  </a:txBody>
                  <a:tcPr marT="9325" marB="9325" marR="9325" marL="9325"/>
                </a:tc>
                <a:tc>
                  <a:txBody>
                    <a:bodyPr/>
                    <a:lstStyle/>
                    <a:p>
                      <a:pPr indent="0" lvl="0" marL="0" marR="0" rtl="0" algn="l">
                        <a:lnSpc>
                          <a:spcPct val="107000"/>
                        </a:lnSpc>
                        <a:spcBef>
                          <a:spcPts val="0"/>
                        </a:spcBef>
                        <a:spcAft>
                          <a:spcPts val="0"/>
                        </a:spcAft>
                        <a:buNone/>
                      </a:pPr>
                      <a:r>
                        <a:rPr lang="en-GB" sz="1100"/>
                        <a:t>It returns the cube root of the given number.</a:t>
                      </a:r>
                      <a:endParaRPr sz="1100">
                        <a:latin typeface="Calibri"/>
                        <a:ea typeface="Calibri"/>
                        <a:cs typeface="Calibri"/>
                        <a:sym typeface="Calibri"/>
                      </a:endParaRPr>
                    </a:p>
                  </a:txBody>
                  <a:tcPr marT="9325" marB="9325" marR="9325" marL="9325"/>
                </a:tc>
              </a:tr>
              <a:tr h="377025">
                <a:tc>
                  <a:txBody>
                    <a:bodyPr/>
                    <a:lstStyle/>
                    <a:p>
                      <a:pPr indent="0" lvl="0" marL="0" marR="0" rtl="0" algn="l">
                        <a:lnSpc>
                          <a:spcPct val="107000"/>
                        </a:lnSpc>
                        <a:spcBef>
                          <a:spcPts val="0"/>
                        </a:spcBef>
                        <a:spcAft>
                          <a:spcPts val="0"/>
                        </a:spcAft>
                        <a:buNone/>
                      </a:pPr>
                      <a:r>
                        <a:rPr lang="en-GB" sz="1100"/>
                        <a:t>ceil()</a:t>
                      </a:r>
                      <a:endParaRPr sz="1100">
                        <a:latin typeface="Calibri"/>
                        <a:ea typeface="Calibri"/>
                        <a:cs typeface="Calibri"/>
                        <a:sym typeface="Calibri"/>
                      </a:endParaRPr>
                    </a:p>
                  </a:txBody>
                  <a:tcPr marT="9325" marB="9325" marR="9325" marL="9325"/>
                </a:tc>
                <a:tc>
                  <a:txBody>
                    <a:bodyPr/>
                    <a:lstStyle/>
                    <a:p>
                      <a:pPr indent="0" lvl="0" marL="0" marR="0" rtl="0" algn="l">
                        <a:lnSpc>
                          <a:spcPct val="107000"/>
                        </a:lnSpc>
                        <a:spcBef>
                          <a:spcPts val="0"/>
                        </a:spcBef>
                        <a:spcAft>
                          <a:spcPts val="0"/>
                        </a:spcAft>
                        <a:buNone/>
                      </a:pPr>
                      <a:r>
                        <a:rPr lang="en-GB" sz="1100"/>
                        <a:t>It returns a smallest integer value, greater than or equal to the given number.</a:t>
                      </a:r>
                      <a:endParaRPr sz="1100">
                        <a:latin typeface="Calibri"/>
                        <a:ea typeface="Calibri"/>
                        <a:cs typeface="Calibri"/>
                        <a:sym typeface="Calibri"/>
                      </a:endParaRPr>
                    </a:p>
                  </a:txBody>
                  <a:tcPr marT="9325" marB="9325" marR="9325" marL="9325"/>
                </a:tc>
              </a:tr>
              <a:tr h="193675">
                <a:tc>
                  <a:txBody>
                    <a:bodyPr/>
                    <a:lstStyle/>
                    <a:p>
                      <a:pPr indent="0" lvl="0" marL="0" marR="0" rtl="0" algn="l">
                        <a:lnSpc>
                          <a:spcPct val="107000"/>
                        </a:lnSpc>
                        <a:spcBef>
                          <a:spcPts val="0"/>
                        </a:spcBef>
                        <a:spcAft>
                          <a:spcPts val="0"/>
                        </a:spcAft>
                        <a:buNone/>
                      </a:pPr>
                      <a:r>
                        <a:rPr lang="en-GB" sz="1100"/>
                        <a:t>cos()</a:t>
                      </a:r>
                      <a:endParaRPr sz="1100">
                        <a:latin typeface="Calibri"/>
                        <a:ea typeface="Calibri"/>
                        <a:cs typeface="Calibri"/>
                        <a:sym typeface="Calibri"/>
                      </a:endParaRPr>
                    </a:p>
                  </a:txBody>
                  <a:tcPr marT="9325" marB="9325" marR="9325" marL="9325"/>
                </a:tc>
                <a:tc>
                  <a:txBody>
                    <a:bodyPr/>
                    <a:lstStyle/>
                    <a:p>
                      <a:pPr indent="0" lvl="0" marL="0" marR="0" rtl="0" algn="l">
                        <a:lnSpc>
                          <a:spcPct val="107000"/>
                        </a:lnSpc>
                        <a:spcBef>
                          <a:spcPts val="0"/>
                        </a:spcBef>
                        <a:spcAft>
                          <a:spcPts val="0"/>
                        </a:spcAft>
                        <a:buNone/>
                      </a:pPr>
                      <a:r>
                        <a:rPr lang="en-GB" sz="1100"/>
                        <a:t>It returns the cosine of the given number.</a:t>
                      </a:r>
                      <a:endParaRPr sz="1100">
                        <a:latin typeface="Calibri"/>
                        <a:ea typeface="Calibri"/>
                        <a:cs typeface="Calibri"/>
                        <a:sym typeface="Calibri"/>
                      </a:endParaRPr>
                    </a:p>
                  </a:txBody>
                  <a:tcPr marT="9325" marB="9325" marR="9325" marL="9325"/>
                </a:tc>
              </a:tr>
              <a:tr h="377025">
                <a:tc>
                  <a:txBody>
                    <a:bodyPr/>
                    <a:lstStyle/>
                    <a:p>
                      <a:pPr indent="0" lvl="0" marL="0" marR="0" rtl="0" algn="l">
                        <a:lnSpc>
                          <a:spcPct val="107000"/>
                        </a:lnSpc>
                        <a:spcBef>
                          <a:spcPts val="0"/>
                        </a:spcBef>
                        <a:spcAft>
                          <a:spcPts val="0"/>
                        </a:spcAft>
                        <a:buNone/>
                      </a:pPr>
                      <a:r>
                        <a:rPr lang="en-GB" sz="1100"/>
                        <a:t>cosh()</a:t>
                      </a:r>
                      <a:endParaRPr sz="1100">
                        <a:latin typeface="Calibri"/>
                        <a:ea typeface="Calibri"/>
                        <a:cs typeface="Calibri"/>
                        <a:sym typeface="Calibri"/>
                      </a:endParaRPr>
                    </a:p>
                  </a:txBody>
                  <a:tcPr marT="9325" marB="9325" marR="9325" marL="9325"/>
                </a:tc>
                <a:tc>
                  <a:txBody>
                    <a:bodyPr/>
                    <a:lstStyle/>
                    <a:p>
                      <a:pPr indent="0" lvl="0" marL="0" marR="0" rtl="0" algn="l">
                        <a:lnSpc>
                          <a:spcPct val="107000"/>
                        </a:lnSpc>
                        <a:spcBef>
                          <a:spcPts val="0"/>
                        </a:spcBef>
                        <a:spcAft>
                          <a:spcPts val="0"/>
                        </a:spcAft>
                        <a:buNone/>
                      </a:pPr>
                      <a:r>
                        <a:rPr lang="en-GB" sz="1100"/>
                        <a:t>It returns the hyperbolic cosine of the given number.</a:t>
                      </a:r>
                      <a:endParaRPr sz="1100">
                        <a:latin typeface="Calibri"/>
                        <a:ea typeface="Calibri"/>
                        <a:cs typeface="Calibri"/>
                        <a:sym typeface="Calibri"/>
                      </a:endParaRPr>
                    </a:p>
                  </a:txBody>
                  <a:tcPr marT="9325" marB="9325" marR="9325" marL="9325"/>
                </a:tc>
              </a:tr>
              <a:tr h="377025">
                <a:tc>
                  <a:txBody>
                    <a:bodyPr/>
                    <a:lstStyle/>
                    <a:p>
                      <a:pPr indent="0" lvl="0" marL="0" marR="0" rtl="0" algn="l">
                        <a:lnSpc>
                          <a:spcPct val="107000"/>
                        </a:lnSpc>
                        <a:spcBef>
                          <a:spcPts val="0"/>
                        </a:spcBef>
                        <a:spcAft>
                          <a:spcPts val="0"/>
                        </a:spcAft>
                        <a:buNone/>
                      </a:pPr>
                      <a:r>
                        <a:rPr lang="en-GB" sz="1100"/>
                        <a:t>exp()</a:t>
                      </a:r>
                      <a:endParaRPr sz="1100">
                        <a:latin typeface="Calibri"/>
                        <a:ea typeface="Calibri"/>
                        <a:cs typeface="Calibri"/>
                        <a:sym typeface="Calibri"/>
                      </a:endParaRPr>
                    </a:p>
                  </a:txBody>
                  <a:tcPr marT="9325" marB="9325" marR="9325" marL="9325"/>
                </a:tc>
                <a:tc>
                  <a:txBody>
                    <a:bodyPr/>
                    <a:lstStyle/>
                    <a:p>
                      <a:pPr indent="0" lvl="0" marL="0" marR="0" rtl="0" algn="l">
                        <a:lnSpc>
                          <a:spcPct val="107000"/>
                        </a:lnSpc>
                        <a:spcBef>
                          <a:spcPts val="0"/>
                        </a:spcBef>
                        <a:spcAft>
                          <a:spcPts val="0"/>
                        </a:spcAft>
                        <a:buNone/>
                      </a:pPr>
                      <a:r>
                        <a:rPr lang="en-GB" sz="1100"/>
                        <a:t>It returns the exponential form of the given number.</a:t>
                      </a:r>
                      <a:endParaRPr sz="1100">
                        <a:latin typeface="Calibri"/>
                        <a:ea typeface="Calibri"/>
                        <a:cs typeface="Calibri"/>
                        <a:sym typeface="Calibri"/>
                      </a:endParaRPr>
                    </a:p>
                  </a:txBody>
                  <a:tcPr marT="9325" marB="9325" marR="9325" marL="9325"/>
                </a:tc>
              </a:tr>
              <a:tr h="377025">
                <a:tc>
                  <a:txBody>
                    <a:bodyPr/>
                    <a:lstStyle/>
                    <a:p>
                      <a:pPr indent="0" lvl="0" marL="0" marR="0" rtl="0" algn="l">
                        <a:lnSpc>
                          <a:spcPct val="107000"/>
                        </a:lnSpc>
                        <a:spcBef>
                          <a:spcPts val="0"/>
                        </a:spcBef>
                        <a:spcAft>
                          <a:spcPts val="0"/>
                        </a:spcAft>
                        <a:buNone/>
                      </a:pPr>
                      <a:r>
                        <a:rPr lang="en-GB" sz="1100"/>
                        <a:t>floor()</a:t>
                      </a:r>
                      <a:endParaRPr sz="1100">
                        <a:latin typeface="Calibri"/>
                        <a:ea typeface="Calibri"/>
                        <a:cs typeface="Calibri"/>
                        <a:sym typeface="Calibri"/>
                      </a:endParaRPr>
                    </a:p>
                  </a:txBody>
                  <a:tcPr marT="9325" marB="9325" marR="9325" marL="9325"/>
                </a:tc>
                <a:tc>
                  <a:txBody>
                    <a:bodyPr/>
                    <a:lstStyle/>
                    <a:p>
                      <a:pPr indent="0" lvl="0" marL="0" marR="0" rtl="0" algn="l">
                        <a:lnSpc>
                          <a:spcPct val="107000"/>
                        </a:lnSpc>
                        <a:spcBef>
                          <a:spcPts val="0"/>
                        </a:spcBef>
                        <a:spcAft>
                          <a:spcPts val="0"/>
                        </a:spcAft>
                        <a:buNone/>
                      </a:pPr>
                      <a:r>
                        <a:rPr lang="en-GB" sz="1100"/>
                        <a:t>It returns largest integer value, lower than or equal to the given number.</a:t>
                      </a:r>
                      <a:endParaRPr sz="1100">
                        <a:latin typeface="Calibri"/>
                        <a:ea typeface="Calibri"/>
                        <a:cs typeface="Calibri"/>
                        <a:sym typeface="Calibri"/>
                      </a:endParaRPr>
                    </a:p>
                  </a:txBody>
                  <a:tcPr marT="9325" marB="9325" marR="9325" marL="9325"/>
                </a:tc>
              </a:tr>
              <a:tr h="377025">
                <a:tc>
                  <a:txBody>
                    <a:bodyPr/>
                    <a:lstStyle/>
                    <a:p>
                      <a:pPr indent="0" lvl="0" marL="0" marR="0" rtl="0" algn="l">
                        <a:lnSpc>
                          <a:spcPct val="107000"/>
                        </a:lnSpc>
                        <a:spcBef>
                          <a:spcPts val="0"/>
                        </a:spcBef>
                        <a:spcAft>
                          <a:spcPts val="0"/>
                        </a:spcAft>
                        <a:buNone/>
                      </a:pPr>
                      <a:r>
                        <a:rPr lang="en-GB" sz="1100"/>
                        <a:t>hypot()</a:t>
                      </a:r>
                      <a:endParaRPr sz="1100">
                        <a:latin typeface="Calibri"/>
                        <a:ea typeface="Calibri"/>
                        <a:cs typeface="Calibri"/>
                        <a:sym typeface="Calibri"/>
                      </a:endParaRPr>
                    </a:p>
                  </a:txBody>
                  <a:tcPr marT="9325" marB="9325" marR="9325" marL="9325"/>
                </a:tc>
                <a:tc>
                  <a:txBody>
                    <a:bodyPr/>
                    <a:lstStyle/>
                    <a:p>
                      <a:pPr indent="0" lvl="0" marL="0" marR="0" rtl="0" algn="l">
                        <a:lnSpc>
                          <a:spcPct val="107000"/>
                        </a:lnSpc>
                        <a:spcBef>
                          <a:spcPts val="0"/>
                        </a:spcBef>
                        <a:spcAft>
                          <a:spcPts val="0"/>
                        </a:spcAft>
                        <a:buNone/>
                      </a:pPr>
                      <a:r>
                        <a:rPr lang="en-GB" sz="1100"/>
                        <a:t>It returns square root of sum of the squares of given numbers.</a:t>
                      </a:r>
                      <a:endParaRPr sz="1100">
                        <a:latin typeface="Calibri"/>
                        <a:ea typeface="Calibri"/>
                        <a:cs typeface="Calibri"/>
                        <a:sym typeface="Calibri"/>
                      </a:endParaRPr>
                    </a:p>
                  </a:txBody>
                  <a:tcPr marT="9325" marB="9325" marR="9325" marL="9325"/>
                </a:tc>
              </a:tr>
              <a:tr h="193675">
                <a:tc>
                  <a:txBody>
                    <a:bodyPr/>
                    <a:lstStyle/>
                    <a:p>
                      <a:pPr indent="0" lvl="0" marL="0" marR="0" rtl="0" algn="l">
                        <a:lnSpc>
                          <a:spcPct val="107000"/>
                        </a:lnSpc>
                        <a:spcBef>
                          <a:spcPts val="0"/>
                        </a:spcBef>
                        <a:spcAft>
                          <a:spcPts val="0"/>
                        </a:spcAft>
                        <a:buNone/>
                      </a:pPr>
                      <a:r>
                        <a:rPr lang="en-GB" sz="1100"/>
                        <a:t>log()</a:t>
                      </a:r>
                      <a:endParaRPr sz="1100">
                        <a:latin typeface="Calibri"/>
                        <a:ea typeface="Calibri"/>
                        <a:cs typeface="Calibri"/>
                        <a:sym typeface="Calibri"/>
                      </a:endParaRPr>
                    </a:p>
                  </a:txBody>
                  <a:tcPr marT="9325" marB="9325" marR="9325" marL="9325"/>
                </a:tc>
                <a:tc>
                  <a:txBody>
                    <a:bodyPr/>
                    <a:lstStyle/>
                    <a:p>
                      <a:pPr indent="0" lvl="0" marL="0" marR="0" rtl="0" algn="l">
                        <a:lnSpc>
                          <a:spcPct val="107000"/>
                        </a:lnSpc>
                        <a:spcBef>
                          <a:spcPts val="0"/>
                        </a:spcBef>
                        <a:spcAft>
                          <a:spcPts val="0"/>
                        </a:spcAft>
                        <a:buNone/>
                      </a:pPr>
                      <a:r>
                        <a:rPr lang="en-GB" sz="1100"/>
                        <a:t>It returns natural logarithm of a number.</a:t>
                      </a:r>
                      <a:endParaRPr sz="1100">
                        <a:latin typeface="Calibri"/>
                        <a:ea typeface="Calibri"/>
                        <a:cs typeface="Calibri"/>
                        <a:sym typeface="Calibri"/>
                      </a:endParaRPr>
                    </a:p>
                  </a:txBody>
                  <a:tcPr marT="9325" marB="9325" marR="9325" marL="9325"/>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33333"/>
              </a:buClr>
              <a:buSzPts val="4400"/>
              <a:buFont typeface="Open Sans"/>
              <a:buNone/>
            </a:pPr>
            <a:r>
              <a:rPr b="1" i="0" lang="en-GB">
                <a:solidFill>
                  <a:srgbClr val="333333"/>
                </a:solidFill>
                <a:latin typeface="Open Sans"/>
                <a:ea typeface="Open Sans"/>
                <a:cs typeface="Open Sans"/>
                <a:sym typeface="Open Sans"/>
              </a:rPr>
              <a:t>JS Math Methods</a:t>
            </a:r>
            <a:endParaRPr/>
          </a:p>
        </p:txBody>
      </p:sp>
      <p:graphicFrame>
        <p:nvGraphicFramePr>
          <p:cNvPr id="196" name="Google Shape;196;p20"/>
          <p:cNvGraphicFramePr/>
          <p:nvPr/>
        </p:nvGraphicFramePr>
        <p:xfrm>
          <a:off x="3269497" y="1825623"/>
          <a:ext cx="3000000" cy="3000000"/>
        </p:xfrm>
        <a:graphic>
          <a:graphicData uri="http://schemas.openxmlformats.org/drawingml/2006/table">
            <a:tbl>
              <a:tblPr bandRow="1" firstCol="1" firstRow="1">
                <a:noFill/>
                <a:tableStyleId>{6CC4A58A-B1A9-45A1-82CD-CB47A02BFFEE}</a:tableStyleId>
              </a:tblPr>
              <a:tblGrid>
                <a:gridCol w="2826500"/>
                <a:gridCol w="2826500"/>
              </a:tblGrid>
              <a:tr h="193675">
                <a:tc>
                  <a:txBody>
                    <a:bodyPr/>
                    <a:lstStyle/>
                    <a:p>
                      <a:pPr indent="0" lvl="0" marL="0" marR="0" rtl="0" algn="ctr">
                        <a:lnSpc>
                          <a:spcPct val="107000"/>
                        </a:lnSpc>
                        <a:spcBef>
                          <a:spcPts val="0"/>
                        </a:spcBef>
                        <a:spcAft>
                          <a:spcPts val="0"/>
                        </a:spcAft>
                        <a:buNone/>
                      </a:pPr>
                      <a:r>
                        <a:rPr lang="en-GB" sz="1100"/>
                        <a:t>Methods</a:t>
                      </a:r>
                      <a:endParaRPr sz="1100">
                        <a:latin typeface="Calibri"/>
                        <a:ea typeface="Calibri"/>
                        <a:cs typeface="Calibri"/>
                        <a:sym typeface="Calibri"/>
                      </a:endParaRPr>
                    </a:p>
                  </a:txBody>
                  <a:tcPr marT="9325" marB="9325" marR="9325" marL="9325"/>
                </a:tc>
                <a:tc>
                  <a:txBody>
                    <a:bodyPr/>
                    <a:lstStyle/>
                    <a:p>
                      <a:pPr indent="0" lvl="0" marL="0" marR="0" rtl="0" algn="ctr">
                        <a:lnSpc>
                          <a:spcPct val="107000"/>
                        </a:lnSpc>
                        <a:spcBef>
                          <a:spcPts val="0"/>
                        </a:spcBef>
                        <a:spcAft>
                          <a:spcPts val="0"/>
                        </a:spcAft>
                        <a:buNone/>
                      </a:pPr>
                      <a:r>
                        <a:rPr lang="en-GB" sz="1100"/>
                        <a:t>Description</a:t>
                      </a:r>
                      <a:endParaRPr sz="1100">
                        <a:latin typeface="Calibri"/>
                        <a:ea typeface="Calibri"/>
                        <a:cs typeface="Calibri"/>
                        <a:sym typeface="Calibri"/>
                      </a:endParaRPr>
                    </a:p>
                  </a:txBody>
                  <a:tcPr marT="9325" marB="9325" marR="9325" marL="9325"/>
                </a:tc>
              </a:tr>
              <a:tr h="377025">
                <a:tc>
                  <a:txBody>
                    <a:bodyPr/>
                    <a:lstStyle/>
                    <a:p>
                      <a:pPr indent="0" lvl="0" marL="0" marR="0" rtl="0" algn="l">
                        <a:lnSpc>
                          <a:spcPct val="107000"/>
                        </a:lnSpc>
                        <a:spcBef>
                          <a:spcPts val="0"/>
                        </a:spcBef>
                        <a:spcAft>
                          <a:spcPts val="0"/>
                        </a:spcAft>
                        <a:buNone/>
                      </a:pPr>
                      <a:r>
                        <a:rPr lang="en-GB" sz="1150">
                          <a:solidFill>
                            <a:srgbClr val="212529"/>
                          </a:solidFill>
                          <a:latin typeface="Open Sans"/>
                          <a:ea typeface="Open Sans"/>
                          <a:cs typeface="Open Sans"/>
                          <a:sym typeface="Open Sans"/>
                        </a:rPr>
                        <a:t>max()</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solidFill>
                            <a:srgbClr val="212529"/>
                          </a:solidFill>
                          <a:latin typeface="Open Sans"/>
                          <a:ea typeface="Open Sans"/>
                          <a:cs typeface="Open Sans"/>
                          <a:sym typeface="Open Sans"/>
                        </a:rPr>
                        <a:t>It returns maximum value of the given numbers.</a:t>
                      </a:r>
                      <a:endParaRPr sz="1100">
                        <a:latin typeface="Calibri"/>
                        <a:ea typeface="Calibri"/>
                        <a:cs typeface="Calibri"/>
                        <a:sym typeface="Calibri"/>
                      </a:endParaRPr>
                    </a:p>
                  </a:txBody>
                  <a:tcPr marT="9525" marB="9525" marR="9525" marL="9525"/>
                </a:tc>
              </a:tr>
              <a:tr h="377025">
                <a:tc>
                  <a:txBody>
                    <a:bodyPr/>
                    <a:lstStyle/>
                    <a:p>
                      <a:pPr indent="0" lvl="0" marL="0" marR="0" rtl="0" algn="l">
                        <a:lnSpc>
                          <a:spcPct val="107000"/>
                        </a:lnSpc>
                        <a:spcBef>
                          <a:spcPts val="0"/>
                        </a:spcBef>
                        <a:spcAft>
                          <a:spcPts val="0"/>
                        </a:spcAft>
                        <a:buNone/>
                      </a:pPr>
                      <a:r>
                        <a:rPr lang="en-GB" sz="1150">
                          <a:solidFill>
                            <a:srgbClr val="212529"/>
                          </a:solidFill>
                          <a:latin typeface="Open Sans"/>
                          <a:ea typeface="Open Sans"/>
                          <a:cs typeface="Open Sans"/>
                          <a:sym typeface="Open Sans"/>
                        </a:rPr>
                        <a:t>min()</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solidFill>
                            <a:srgbClr val="212529"/>
                          </a:solidFill>
                          <a:latin typeface="Open Sans"/>
                          <a:ea typeface="Open Sans"/>
                          <a:cs typeface="Open Sans"/>
                          <a:sym typeface="Open Sans"/>
                        </a:rPr>
                        <a:t>It returns minimum value of the given numbers.</a:t>
                      </a:r>
                      <a:endParaRPr sz="1100">
                        <a:latin typeface="Calibri"/>
                        <a:ea typeface="Calibri"/>
                        <a:cs typeface="Calibri"/>
                        <a:sym typeface="Calibri"/>
                      </a:endParaRPr>
                    </a:p>
                  </a:txBody>
                  <a:tcPr marT="9525" marB="9525" marR="9525" marL="9525"/>
                </a:tc>
              </a:tr>
              <a:tr h="377025">
                <a:tc>
                  <a:txBody>
                    <a:bodyPr/>
                    <a:lstStyle/>
                    <a:p>
                      <a:pPr indent="0" lvl="0" marL="0" marR="0" rtl="0" algn="l">
                        <a:lnSpc>
                          <a:spcPct val="107000"/>
                        </a:lnSpc>
                        <a:spcBef>
                          <a:spcPts val="0"/>
                        </a:spcBef>
                        <a:spcAft>
                          <a:spcPts val="0"/>
                        </a:spcAft>
                        <a:buNone/>
                      </a:pPr>
                      <a:r>
                        <a:rPr lang="en-GB" sz="1150">
                          <a:solidFill>
                            <a:srgbClr val="212529"/>
                          </a:solidFill>
                          <a:latin typeface="Open Sans"/>
                          <a:ea typeface="Open Sans"/>
                          <a:cs typeface="Open Sans"/>
                          <a:sym typeface="Open Sans"/>
                        </a:rPr>
                        <a:t>pow()</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solidFill>
                            <a:srgbClr val="212529"/>
                          </a:solidFill>
                          <a:latin typeface="Open Sans"/>
                          <a:ea typeface="Open Sans"/>
                          <a:cs typeface="Open Sans"/>
                          <a:sym typeface="Open Sans"/>
                        </a:rPr>
                        <a:t>It returns value of base to the power of exponent.</a:t>
                      </a:r>
                      <a:endParaRPr sz="1100">
                        <a:latin typeface="Calibri"/>
                        <a:ea typeface="Calibri"/>
                        <a:cs typeface="Calibri"/>
                        <a:sym typeface="Calibri"/>
                      </a:endParaRPr>
                    </a:p>
                  </a:txBody>
                  <a:tcPr marT="9525" marB="9525" marR="9525" marL="9525"/>
                </a:tc>
              </a:tr>
              <a:tr h="377025">
                <a:tc>
                  <a:txBody>
                    <a:bodyPr/>
                    <a:lstStyle/>
                    <a:p>
                      <a:pPr indent="0" lvl="0" marL="0" marR="0" rtl="0" algn="l">
                        <a:lnSpc>
                          <a:spcPct val="107000"/>
                        </a:lnSpc>
                        <a:spcBef>
                          <a:spcPts val="0"/>
                        </a:spcBef>
                        <a:spcAft>
                          <a:spcPts val="0"/>
                        </a:spcAft>
                        <a:buNone/>
                      </a:pPr>
                      <a:r>
                        <a:rPr lang="en-GB" sz="1150">
                          <a:solidFill>
                            <a:srgbClr val="212529"/>
                          </a:solidFill>
                          <a:latin typeface="Open Sans"/>
                          <a:ea typeface="Open Sans"/>
                          <a:cs typeface="Open Sans"/>
                          <a:sym typeface="Open Sans"/>
                        </a:rPr>
                        <a:t>random()</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solidFill>
                            <a:srgbClr val="212529"/>
                          </a:solidFill>
                          <a:latin typeface="Open Sans"/>
                          <a:ea typeface="Open Sans"/>
                          <a:cs typeface="Open Sans"/>
                          <a:sym typeface="Open Sans"/>
                        </a:rPr>
                        <a:t>It returns random number between 0 (inclusive) and 1 (exclusive).</a:t>
                      </a:r>
                      <a:endParaRPr sz="1100">
                        <a:latin typeface="Calibri"/>
                        <a:ea typeface="Calibri"/>
                        <a:cs typeface="Calibri"/>
                        <a:sym typeface="Calibri"/>
                      </a:endParaRPr>
                    </a:p>
                  </a:txBody>
                  <a:tcPr marT="9525" marB="9525" marR="9525" marL="9525"/>
                </a:tc>
              </a:tr>
              <a:tr h="377025">
                <a:tc>
                  <a:txBody>
                    <a:bodyPr/>
                    <a:lstStyle/>
                    <a:p>
                      <a:pPr indent="0" lvl="0" marL="0" marR="0" rtl="0" algn="l">
                        <a:lnSpc>
                          <a:spcPct val="107000"/>
                        </a:lnSpc>
                        <a:spcBef>
                          <a:spcPts val="0"/>
                        </a:spcBef>
                        <a:spcAft>
                          <a:spcPts val="0"/>
                        </a:spcAft>
                        <a:buNone/>
                      </a:pPr>
                      <a:r>
                        <a:rPr lang="en-GB" sz="1150">
                          <a:solidFill>
                            <a:srgbClr val="212529"/>
                          </a:solidFill>
                          <a:latin typeface="Open Sans"/>
                          <a:ea typeface="Open Sans"/>
                          <a:cs typeface="Open Sans"/>
                          <a:sym typeface="Open Sans"/>
                        </a:rPr>
                        <a:t>round()</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solidFill>
                            <a:srgbClr val="212529"/>
                          </a:solidFill>
                          <a:latin typeface="Open Sans"/>
                          <a:ea typeface="Open Sans"/>
                          <a:cs typeface="Open Sans"/>
                          <a:sym typeface="Open Sans"/>
                        </a:rPr>
                        <a:t>It returns closest integer value of the given number.</a:t>
                      </a:r>
                      <a:endParaRPr sz="1100">
                        <a:latin typeface="Calibri"/>
                        <a:ea typeface="Calibri"/>
                        <a:cs typeface="Calibri"/>
                        <a:sym typeface="Calibri"/>
                      </a:endParaRPr>
                    </a:p>
                  </a:txBody>
                  <a:tcPr marT="9525" marB="9525" marR="9525" marL="9525"/>
                </a:tc>
              </a:tr>
              <a:tr h="377025">
                <a:tc>
                  <a:txBody>
                    <a:bodyPr/>
                    <a:lstStyle/>
                    <a:p>
                      <a:pPr indent="0" lvl="0" marL="0" marR="0" rtl="0" algn="l">
                        <a:lnSpc>
                          <a:spcPct val="107000"/>
                        </a:lnSpc>
                        <a:spcBef>
                          <a:spcPts val="0"/>
                        </a:spcBef>
                        <a:spcAft>
                          <a:spcPts val="0"/>
                        </a:spcAft>
                        <a:buNone/>
                      </a:pPr>
                      <a:r>
                        <a:rPr lang="en-GB" sz="1150">
                          <a:solidFill>
                            <a:srgbClr val="212529"/>
                          </a:solidFill>
                          <a:latin typeface="Open Sans"/>
                          <a:ea typeface="Open Sans"/>
                          <a:cs typeface="Open Sans"/>
                          <a:sym typeface="Open Sans"/>
                        </a:rPr>
                        <a:t>sign()</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solidFill>
                            <a:srgbClr val="212529"/>
                          </a:solidFill>
                          <a:latin typeface="Open Sans"/>
                          <a:ea typeface="Open Sans"/>
                          <a:cs typeface="Open Sans"/>
                          <a:sym typeface="Open Sans"/>
                        </a:rPr>
                        <a:t>It returns the sign of the given number</a:t>
                      </a:r>
                      <a:endParaRPr sz="1100">
                        <a:latin typeface="Calibri"/>
                        <a:ea typeface="Calibri"/>
                        <a:cs typeface="Calibri"/>
                        <a:sym typeface="Calibri"/>
                      </a:endParaRPr>
                    </a:p>
                  </a:txBody>
                  <a:tcPr marT="9525" marB="9525" marR="9525" marL="9525"/>
                </a:tc>
              </a:tr>
              <a:tr h="193675">
                <a:tc>
                  <a:txBody>
                    <a:bodyPr/>
                    <a:lstStyle/>
                    <a:p>
                      <a:pPr indent="0" lvl="0" marL="0" marR="0" rtl="0" algn="l">
                        <a:lnSpc>
                          <a:spcPct val="107000"/>
                        </a:lnSpc>
                        <a:spcBef>
                          <a:spcPts val="0"/>
                        </a:spcBef>
                        <a:spcAft>
                          <a:spcPts val="0"/>
                        </a:spcAft>
                        <a:buNone/>
                      </a:pPr>
                      <a:r>
                        <a:rPr lang="en-GB" sz="1150">
                          <a:solidFill>
                            <a:srgbClr val="212529"/>
                          </a:solidFill>
                          <a:latin typeface="Open Sans"/>
                          <a:ea typeface="Open Sans"/>
                          <a:cs typeface="Open Sans"/>
                          <a:sym typeface="Open Sans"/>
                        </a:rPr>
                        <a:t>sin()</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solidFill>
                            <a:srgbClr val="212529"/>
                          </a:solidFill>
                          <a:latin typeface="Open Sans"/>
                          <a:ea typeface="Open Sans"/>
                          <a:cs typeface="Open Sans"/>
                          <a:sym typeface="Open Sans"/>
                        </a:rPr>
                        <a:t>It returns the sine of the given number.</a:t>
                      </a:r>
                      <a:endParaRPr sz="1100">
                        <a:latin typeface="Calibri"/>
                        <a:ea typeface="Calibri"/>
                        <a:cs typeface="Calibri"/>
                        <a:sym typeface="Calibri"/>
                      </a:endParaRPr>
                    </a:p>
                  </a:txBody>
                  <a:tcPr marT="9525" marB="9525" marR="9525" marL="9525"/>
                </a:tc>
              </a:tr>
              <a:tr h="377025">
                <a:tc>
                  <a:txBody>
                    <a:bodyPr/>
                    <a:lstStyle/>
                    <a:p>
                      <a:pPr indent="0" lvl="0" marL="0" marR="0" rtl="0" algn="l">
                        <a:lnSpc>
                          <a:spcPct val="107000"/>
                        </a:lnSpc>
                        <a:spcBef>
                          <a:spcPts val="0"/>
                        </a:spcBef>
                        <a:spcAft>
                          <a:spcPts val="0"/>
                        </a:spcAft>
                        <a:buNone/>
                      </a:pPr>
                      <a:r>
                        <a:rPr lang="en-GB" sz="1150">
                          <a:solidFill>
                            <a:srgbClr val="212529"/>
                          </a:solidFill>
                          <a:latin typeface="Open Sans"/>
                          <a:ea typeface="Open Sans"/>
                          <a:cs typeface="Open Sans"/>
                          <a:sym typeface="Open Sans"/>
                        </a:rPr>
                        <a:t>sinh()</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solidFill>
                            <a:srgbClr val="212529"/>
                          </a:solidFill>
                          <a:latin typeface="Open Sans"/>
                          <a:ea typeface="Open Sans"/>
                          <a:cs typeface="Open Sans"/>
                          <a:sym typeface="Open Sans"/>
                        </a:rPr>
                        <a:t>It returns the hyperbolic sine of the given number.</a:t>
                      </a:r>
                      <a:endParaRPr sz="1100">
                        <a:latin typeface="Calibri"/>
                        <a:ea typeface="Calibri"/>
                        <a:cs typeface="Calibri"/>
                        <a:sym typeface="Calibri"/>
                      </a:endParaRPr>
                    </a:p>
                  </a:txBody>
                  <a:tcPr marT="9525" marB="9525" marR="9525" marL="9525"/>
                </a:tc>
              </a:tr>
              <a:tr h="377025">
                <a:tc>
                  <a:txBody>
                    <a:bodyPr/>
                    <a:lstStyle/>
                    <a:p>
                      <a:pPr indent="0" lvl="0" marL="0" marR="0" rtl="0" algn="l">
                        <a:lnSpc>
                          <a:spcPct val="107000"/>
                        </a:lnSpc>
                        <a:spcBef>
                          <a:spcPts val="0"/>
                        </a:spcBef>
                        <a:spcAft>
                          <a:spcPts val="0"/>
                        </a:spcAft>
                        <a:buNone/>
                      </a:pPr>
                      <a:r>
                        <a:rPr lang="en-GB" sz="1150">
                          <a:solidFill>
                            <a:srgbClr val="212529"/>
                          </a:solidFill>
                          <a:latin typeface="Open Sans"/>
                          <a:ea typeface="Open Sans"/>
                          <a:cs typeface="Open Sans"/>
                          <a:sym typeface="Open Sans"/>
                        </a:rPr>
                        <a:t>sqrt()</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solidFill>
                            <a:srgbClr val="212529"/>
                          </a:solidFill>
                          <a:latin typeface="Open Sans"/>
                          <a:ea typeface="Open Sans"/>
                          <a:cs typeface="Open Sans"/>
                          <a:sym typeface="Open Sans"/>
                        </a:rPr>
                        <a:t>It returns the square root of the given number</a:t>
                      </a:r>
                      <a:endParaRPr sz="1100">
                        <a:latin typeface="Calibri"/>
                        <a:ea typeface="Calibri"/>
                        <a:cs typeface="Calibri"/>
                        <a:sym typeface="Calibri"/>
                      </a:endParaRPr>
                    </a:p>
                  </a:txBody>
                  <a:tcPr marT="9525" marB="9525" marR="9525" marL="9525"/>
                </a:tc>
              </a:tr>
              <a:tr h="377025">
                <a:tc>
                  <a:txBody>
                    <a:bodyPr/>
                    <a:lstStyle/>
                    <a:p>
                      <a:pPr indent="0" lvl="0" marL="0" marR="0" rtl="0" algn="l">
                        <a:lnSpc>
                          <a:spcPct val="107000"/>
                        </a:lnSpc>
                        <a:spcBef>
                          <a:spcPts val="0"/>
                        </a:spcBef>
                        <a:spcAft>
                          <a:spcPts val="0"/>
                        </a:spcAft>
                        <a:buNone/>
                      </a:pPr>
                      <a:r>
                        <a:rPr lang="en-GB" sz="1150">
                          <a:solidFill>
                            <a:srgbClr val="212529"/>
                          </a:solidFill>
                          <a:latin typeface="Open Sans"/>
                          <a:ea typeface="Open Sans"/>
                          <a:cs typeface="Open Sans"/>
                          <a:sym typeface="Open Sans"/>
                        </a:rPr>
                        <a:t>tan()</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solidFill>
                            <a:srgbClr val="212529"/>
                          </a:solidFill>
                          <a:latin typeface="Open Sans"/>
                          <a:ea typeface="Open Sans"/>
                          <a:cs typeface="Open Sans"/>
                          <a:sym typeface="Open Sans"/>
                        </a:rPr>
                        <a:t>It returns the tangent of the given number.</a:t>
                      </a:r>
                      <a:endParaRPr sz="1100">
                        <a:latin typeface="Calibri"/>
                        <a:ea typeface="Calibri"/>
                        <a:cs typeface="Calibri"/>
                        <a:sym typeface="Calibri"/>
                      </a:endParaRPr>
                    </a:p>
                  </a:txBody>
                  <a:tcPr marT="9525" marB="9525" marR="9525" marL="9525"/>
                </a:tc>
              </a:tr>
              <a:tr h="377025">
                <a:tc>
                  <a:txBody>
                    <a:bodyPr/>
                    <a:lstStyle/>
                    <a:p>
                      <a:pPr indent="0" lvl="0" marL="0" marR="0" rtl="0" algn="l">
                        <a:lnSpc>
                          <a:spcPct val="107000"/>
                        </a:lnSpc>
                        <a:spcBef>
                          <a:spcPts val="0"/>
                        </a:spcBef>
                        <a:spcAft>
                          <a:spcPts val="0"/>
                        </a:spcAft>
                        <a:buNone/>
                      </a:pPr>
                      <a:r>
                        <a:rPr lang="en-GB" sz="1150">
                          <a:solidFill>
                            <a:srgbClr val="212529"/>
                          </a:solidFill>
                          <a:latin typeface="Open Sans"/>
                          <a:ea typeface="Open Sans"/>
                          <a:cs typeface="Open Sans"/>
                          <a:sym typeface="Open Sans"/>
                        </a:rPr>
                        <a:t>tanh()</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solidFill>
                            <a:srgbClr val="212529"/>
                          </a:solidFill>
                          <a:latin typeface="Open Sans"/>
                          <a:ea typeface="Open Sans"/>
                          <a:cs typeface="Open Sans"/>
                          <a:sym typeface="Open Sans"/>
                        </a:rPr>
                        <a:t>It returns the hyperbolic tangent of the given number.</a:t>
                      </a:r>
                      <a:endParaRPr sz="1100">
                        <a:latin typeface="Calibri"/>
                        <a:ea typeface="Calibri"/>
                        <a:cs typeface="Calibri"/>
                        <a:sym typeface="Calibri"/>
                      </a:endParaRPr>
                    </a:p>
                  </a:txBody>
                  <a:tcPr marT="9525" marB="9525" marR="9525" marL="9525"/>
                </a:tc>
              </a:tr>
              <a:tr h="193675">
                <a:tc>
                  <a:txBody>
                    <a:bodyPr/>
                    <a:lstStyle/>
                    <a:p>
                      <a:pPr indent="0" lvl="0" marL="0" marR="0" rtl="0" algn="l">
                        <a:lnSpc>
                          <a:spcPct val="107000"/>
                        </a:lnSpc>
                        <a:spcBef>
                          <a:spcPts val="0"/>
                        </a:spcBef>
                        <a:spcAft>
                          <a:spcPts val="0"/>
                        </a:spcAft>
                        <a:buNone/>
                      </a:pPr>
                      <a:r>
                        <a:rPr lang="en-GB" sz="1150">
                          <a:solidFill>
                            <a:srgbClr val="212529"/>
                          </a:solidFill>
                          <a:latin typeface="Open Sans"/>
                          <a:ea typeface="Open Sans"/>
                          <a:cs typeface="Open Sans"/>
                          <a:sym typeface="Open Sans"/>
                        </a:rPr>
                        <a:t>trunc()</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solidFill>
                            <a:srgbClr val="212529"/>
                          </a:solidFill>
                          <a:latin typeface="Open Sans"/>
                          <a:ea typeface="Open Sans"/>
                          <a:cs typeface="Open Sans"/>
                          <a:sym typeface="Open Sans"/>
                        </a:rPr>
                        <a:t>It returns an integer part of the given number.</a:t>
                      </a:r>
                      <a:endParaRPr sz="1100">
                        <a:latin typeface="Calibri"/>
                        <a:ea typeface="Calibri"/>
                        <a:cs typeface="Calibri"/>
                        <a:sym typeface="Calibri"/>
                      </a:endParaRPr>
                    </a:p>
                  </a:txBody>
                  <a:tcPr marT="9525" marB="9525" marR="9525" marL="9525"/>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33333"/>
              </a:buClr>
              <a:buSzPts val="4400"/>
              <a:buFont typeface="Open Sans"/>
              <a:buNone/>
            </a:pPr>
            <a:r>
              <a:rPr b="1" i="0" lang="en-GB">
                <a:solidFill>
                  <a:srgbClr val="333333"/>
                </a:solidFill>
                <a:latin typeface="Open Sans"/>
                <a:ea typeface="Open Sans"/>
                <a:cs typeface="Open Sans"/>
                <a:sym typeface="Open Sans"/>
              </a:rPr>
              <a:t>JS Date Methods</a:t>
            </a:r>
            <a:endParaRPr/>
          </a:p>
        </p:txBody>
      </p:sp>
      <p:graphicFrame>
        <p:nvGraphicFramePr>
          <p:cNvPr id="202" name="Google Shape;202;p21"/>
          <p:cNvGraphicFramePr/>
          <p:nvPr/>
        </p:nvGraphicFramePr>
        <p:xfrm>
          <a:off x="3105150" y="2883979"/>
          <a:ext cx="3000000" cy="3000000"/>
        </p:xfrm>
        <a:graphic>
          <a:graphicData uri="http://schemas.openxmlformats.org/drawingml/2006/table">
            <a:tbl>
              <a:tblPr bandRow="1" firstCol="1" firstRow="1">
                <a:noFill/>
                <a:tableStyleId>{6CC4A58A-B1A9-45A1-82CD-CB47A02BFFEE}</a:tableStyleId>
              </a:tblPr>
              <a:tblGrid>
                <a:gridCol w="2990850"/>
                <a:gridCol w="2990850"/>
              </a:tblGrid>
              <a:tr h="206375">
                <a:tc>
                  <a:txBody>
                    <a:bodyPr/>
                    <a:lstStyle/>
                    <a:p>
                      <a:pPr indent="0" lvl="0" marL="0" marR="0" rtl="0" algn="ctr">
                        <a:lnSpc>
                          <a:spcPct val="107000"/>
                        </a:lnSpc>
                        <a:spcBef>
                          <a:spcPts val="0"/>
                        </a:spcBef>
                        <a:spcAft>
                          <a:spcPts val="0"/>
                        </a:spcAft>
                        <a:buNone/>
                      </a:pPr>
                      <a:r>
                        <a:rPr lang="en-GB" sz="1150"/>
                        <a:t>Method</a:t>
                      </a:r>
                      <a:endParaRPr sz="1100">
                        <a:latin typeface="Calibri"/>
                        <a:ea typeface="Calibri"/>
                        <a:cs typeface="Calibri"/>
                        <a:sym typeface="Calibri"/>
                      </a:endParaRPr>
                    </a:p>
                  </a:txBody>
                  <a:tcPr marT="9525" marB="9525" marR="9525" marL="9525"/>
                </a:tc>
                <a:tc>
                  <a:txBody>
                    <a:bodyPr/>
                    <a:lstStyle/>
                    <a:p>
                      <a:pPr indent="0" lvl="0" marL="0" marR="0" rtl="0" algn="ctr">
                        <a:lnSpc>
                          <a:spcPct val="107000"/>
                        </a:lnSpc>
                        <a:spcBef>
                          <a:spcPts val="0"/>
                        </a:spcBef>
                        <a:spcAft>
                          <a:spcPts val="0"/>
                        </a:spcAft>
                        <a:buNone/>
                      </a:pPr>
                      <a:r>
                        <a:rPr lang="en-GB" sz="1150"/>
                        <a:t>Description</a:t>
                      </a:r>
                      <a:endParaRPr sz="1100">
                        <a:latin typeface="Calibri"/>
                        <a:ea typeface="Calibri"/>
                        <a:cs typeface="Calibri"/>
                        <a:sym typeface="Calibri"/>
                      </a:endParaRPr>
                    </a:p>
                  </a:txBody>
                  <a:tcPr marT="9525" marB="9525" marR="9525" marL="9525"/>
                </a:tc>
              </a:tr>
              <a:tr h="206375">
                <a:tc>
                  <a:txBody>
                    <a:bodyPr/>
                    <a:lstStyle/>
                    <a:p>
                      <a:pPr indent="0" lvl="0" marL="0" marR="0" rtl="0" algn="l">
                        <a:lnSpc>
                          <a:spcPct val="107000"/>
                        </a:lnSpc>
                        <a:spcBef>
                          <a:spcPts val="0"/>
                        </a:spcBef>
                        <a:spcAft>
                          <a:spcPts val="0"/>
                        </a:spcAft>
                        <a:buNone/>
                      </a:pPr>
                      <a:r>
                        <a:rPr lang="en-GB" sz="1150"/>
                        <a:t>getFullYear()</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Get year as a four digit number (yyyy)</a:t>
                      </a:r>
                      <a:endParaRPr sz="1100">
                        <a:latin typeface="Calibri"/>
                        <a:ea typeface="Calibri"/>
                        <a:cs typeface="Calibri"/>
                        <a:sym typeface="Calibri"/>
                      </a:endParaRPr>
                    </a:p>
                  </a:txBody>
                  <a:tcPr marT="9525" marB="9525" marR="9525" marL="9525"/>
                </a:tc>
              </a:tr>
              <a:tr h="206375">
                <a:tc>
                  <a:txBody>
                    <a:bodyPr/>
                    <a:lstStyle/>
                    <a:p>
                      <a:pPr indent="0" lvl="0" marL="0" marR="0" rtl="0" algn="l">
                        <a:lnSpc>
                          <a:spcPct val="107000"/>
                        </a:lnSpc>
                        <a:spcBef>
                          <a:spcPts val="0"/>
                        </a:spcBef>
                        <a:spcAft>
                          <a:spcPts val="0"/>
                        </a:spcAft>
                        <a:buNone/>
                      </a:pPr>
                      <a:r>
                        <a:rPr lang="en-GB" sz="1150"/>
                        <a:t>getMonth()</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Get month as a number (0-11)</a:t>
                      </a:r>
                      <a:endParaRPr sz="1100">
                        <a:latin typeface="Calibri"/>
                        <a:ea typeface="Calibri"/>
                        <a:cs typeface="Calibri"/>
                        <a:sym typeface="Calibri"/>
                      </a:endParaRPr>
                    </a:p>
                  </a:txBody>
                  <a:tcPr marT="9525" marB="9525" marR="9525" marL="9525"/>
                </a:tc>
              </a:tr>
              <a:tr h="206375">
                <a:tc>
                  <a:txBody>
                    <a:bodyPr/>
                    <a:lstStyle/>
                    <a:p>
                      <a:pPr indent="0" lvl="0" marL="0" marR="0" rtl="0" algn="l">
                        <a:lnSpc>
                          <a:spcPct val="107000"/>
                        </a:lnSpc>
                        <a:spcBef>
                          <a:spcPts val="0"/>
                        </a:spcBef>
                        <a:spcAft>
                          <a:spcPts val="0"/>
                        </a:spcAft>
                        <a:buNone/>
                      </a:pPr>
                      <a:r>
                        <a:rPr lang="en-GB" sz="1150"/>
                        <a:t>getDate()</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Get day as a number (1-31)</a:t>
                      </a:r>
                      <a:endParaRPr sz="1100">
                        <a:latin typeface="Calibri"/>
                        <a:ea typeface="Calibri"/>
                        <a:cs typeface="Calibri"/>
                        <a:sym typeface="Calibri"/>
                      </a:endParaRPr>
                    </a:p>
                  </a:txBody>
                  <a:tcPr marT="9525" marB="9525" marR="9525" marL="9525"/>
                </a:tc>
              </a:tr>
              <a:tr h="196850">
                <a:tc>
                  <a:txBody>
                    <a:bodyPr/>
                    <a:lstStyle/>
                    <a:p>
                      <a:pPr indent="0" lvl="0" marL="0" marR="0" rtl="0" algn="l">
                        <a:lnSpc>
                          <a:spcPct val="107000"/>
                        </a:lnSpc>
                        <a:spcBef>
                          <a:spcPts val="0"/>
                        </a:spcBef>
                        <a:spcAft>
                          <a:spcPts val="0"/>
                        </a:spcAft>
                        <a:buNone/>
                      </a:pPr>
                      <a:r>
                        <a:rPr lang="en-GB" sz="1150"/>
                        <a:t>getDay()</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Get weekday as a number (0-6)</a:t>
                      </a:r>
                      <a:endParaRPr sz="1100">
                        <a:latin typeface="Calibri"/>
                        <a:ea typeface="Calibri"/>
                        <a:cs typeface="Calibri"/>
                        <a:sym typeface="Calibri"/>
                      </a:endParaRPr>
                    </a:p>
                  </a:txBody>
                  <a:tcPr marT="9525" marB="9525" marR="9525" marL="9525"/>
                </a:tc>
              </a:tr>
              <a:tr h="206375">
                <a:tc>
                  <a:txBody>
                    <a:bodyPr/>
                    <a:lstStyle/>
                    <a:p>
                      <a:pPr indent="0" lvl="0" marL="0" marR="0" rtl="0" algn="l">
                        <a:lnSpc>
                          <a:spcPct val="107000"/>
                        </a:lnSpc>
                        <a:spcBef>
                          <a:spcPts val="0"/>
                        </a:spcBef>
                        <a:spcAft>
                          <a:spcPts val="0"/>
                        </a:spcAft>
                        <a:buNone/>
                      </a:pPr>
                      <a:r>
                        <a:rPr lang="en-GB" sz="1150"/>
                        <a:t>getHours()</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Get hour (0-23)</a:t>
                      </a:r>
                      <a:endParaRPr sz="1100">
                        <a:latin typeface="Calibri"/>
                        <a:ea typeface="Calibri"/>
                        <a:cs typeface="Calibri"/>
                        <a:sym typeface="Calibri"/>
                      </a:endParaRPr>
                    </a:p>
                  </a:txBody>
                  <a:tcPr marT="9525" marB="9525" marR="9525" marL="9525"/>
                </a:tc>
              </a:tr>
              <a:tr h="206375">
                <a:tc>
                  <a:txBody>
                    <a:bodyPr/>
                    <a:lstStyle/>
                    <a:p>
                      <a:pPr indent="0" lvl="0" marL="0" marR="0" rtl="0" algn="l">
                        <a:lnSpc>
                          <a:spcPct val="107000"/>
                        </a:lnSpc>
                        <a:spcBef>
                          <a:spcPts val="0"/>
                        </a:spcBef>
                        <a:spcAft>
                          <a:spcPts val="0"/>
                        </a:spcAft>
                        <a:buNone/>
                      </a:pPr>
                      <a:r>
                        <a:rPr lang="en-GB" sz="1150"/>
                        <a:t>getMinutes()</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Get minute (0-59)</a:t>
                      </a:r>
                      <a:endParaRPr sz="1100">
                        <a:latin typeface="Calibri"/>
                        <a:ea typeface="Calibri"/>
                        <a:cs typeface="Calibri"/>
                        <a:sym typeface="Calibri"/>
                      </a:endParaRPr>
                    </a:p>
                  </a:txBody>
                  <a:tcPr marT="9525" marB="9525" marR="9525" marL="9525"/>
                </a:tc>
              </a:tr>
              <a:tr h="206375">
                <a:tc>
                  <a:txBody>
                    <a:bodyPr/>
                    <a:lstStyle/>
                    <a:p>
                      <a:pPr indent="0" lvl="0" marL="0" marR="0" rtl="0" algn="l">
                        <a:lnSpc>
                          <a:spcPct val="107000"/>
                        </a:lnSpc>
                        <a:spcBef>
                          <a:spcPts val="0"/>
                        </a:spcBef>
                        <a:spcAft>
                          <a:spcPts val="0"/>
                        </a:spcAft>
                        <a:buNone/>
                      </a:pPr>
                      <a:r>
                        <a:rPr lang="en-GB" sz="1150"/>
                        <a:t>getSeconds()</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Get second (0-59)</a:t>
                      </a:r>
                      <a:endParaRPr sz="1100">
                        <a:latin typeface="Calibri"/>
                        <a:ea typeface="Calibri"/>
                        <a:cs typeface="Calibri"/>
                        <a:sym typeface="Calibri"/>
                      </a:endParaRPr>
                    </a:p>
                  </a:txBody>
                  <a:tcPr marT="9525" marB="9525" marR="9525" marL="9525"/>
                </a:tc>
              </a:tr>
              <a:tr h="206375">
                <a:tc>
                  <a:txBody>
                    <a:bodyPr/>
                    <a:lstStyle/>
                    <a:p>
                      <a:pPr indent="0" lvl="0" marL="0" marR="0" rtl="0" algn="l">
                        <a:lnSpc>
                          <a:spcPct val="107000"/>
                        </a:lnSpc>
                        <a:spcBef>
                          <a:spcPts val="0"/>
                        </a:spcBef>
                        <a:spcAft>
                          <a:spcPts val="0"/>
                        </a:spcAft>
                        <a:buNone/>
                      </a:pPr>
                      <a:r>
                        <a:rPr lang="en-GB" sz="1150"/>
                        <a:t>getMilliseconds()</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Get millisecond (0-999)</a:t>
                      </a:r>
                      <a:endParaRPr sz="1100">
                        <a:latin typeface="Calibri"/>
                        <a:ea typeface="Calibri"/>
                        <a:cs typeface="Calibri"/>
                        <a:sym typeface="Calibri"/>
                      </a:endParaRPr>
                    </a:p>
                  </a:txBody>
                  <a:tcPr marT="9525" marB="9525" marR="9525" marL="9525"/>
                </a:tc>
              </a:tr>
              <a:tr h="206375">
                <a:tc>
                  <a:txBody>
                    <a:bodyPr/>
                    <a:lstStyle/>
                    <a:p>
                      <a:pPr indent="0" lvl="0" marL="0" marR="0" rtl="0" algn="l">
                        <a:lnSpc>
                          <a:spcPct val="107000"/>
                        </a:lnSpc>
                        <a:spcBef>
                          <a:spcPts val="0"/>
                        </a:spcBef>
                        <a:spcAft>
                          <a:spcPts val="0"/>
                        </a:spcAft>
                        <a:buNone/>
                      </a:pPr>
                      <a:r>
                        <a:rPr lang="en-GB" sz="1150"/>
                        <a:t>getTime()</a:t>
                      </a:r>
                      <a:endParaRPr sz="1100">
                        <a:latin typeface="Calibri"/>
                        <a:ea typeface="Calibri"/>
                        <a:cs typeface="Calibri"/>
                        <a:sym typeface="Calibri"/>
                      </a:endParaRPr>
                    </a:p>
                  </a:txBody>
                  <a:tcPr marT="9525" marB="9525" marR="9525" marL="9525"/>
                </a:tc>
                <a:tc>
                  <a:txBody>
                    <a:bodyPr/>
                    <a:lstStyle/>
                    <a:p>
                      <a:pPr indent="0" lvl="0" marL="0" marR="0" rtl="0" algn="l">
                        <a:lnSpc>
                          <a:spcPct val="107000"/>
                        </a:lnSpc>
                        <a:spcBef>
                          <a:spcPts val="0"/>
                        </a:spcBef>
                        <a:spcAft>
                          <a:spcPts val="0"/>
                        </a:spcAft>
                        <a:buNone/>
                      </a:pPr>
                      <a:r>
                        <a:rPr lang="en-GB" sz="1150"/>
                        <a:t>Get time (milliseconds since January 1, 1970)</a:t>
                      </a:r>
                      <a:endParaRPr sz="1100">
                        <a:latin typeface="Calibri"/>
                        <a:ea typeface="Calibri"/>
                        <a:cs typeface="Calibri"/>
                        <a:sym typeface="Calibri"/>
                      </a:endParaRPr>
                    </a:p>
                  </a:txBody>
                  <a:tcPr marT="9525" marB="9525" marR="9525" marL="9525"/>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33333"/>
              </a:buClr>
              <a:buSzPts val="4400"/>
              <a:buFont typeface="Open Sans"/>
              <a:buNone/>
            </a:pPr>
            <a:r>
              <a:rPr b="1" i="0" lang="en-GB">
                <a:solidFill>
                  <a:srgbClr val="333333"/>
                </a:solidFill>
                <a:latin typeface="Open Sans"/>
                <a:ea typeface="Open Sans"/>
                <a:cs typeface="Open Sans"/>
                <a:sym typeface="Open Sans"/>
              </a:rPr>
              <a:t>JS DOM Introduction</a:t>
            </a:r>
            <a:endParaRPr/>
          </a:p>
        </p:txBody>
      </p:sp>
      <p:pic>
        <p:nvPicPr>
          <p:cNvPr id="208" name="Google Shape;208;p22"/>
          <p:cNvPicPr preferRelativeResize="0"/>
          <p:nvPr>
            <p:ph idx="1" type="body"/>
          </p:nvPr>
        </p:nvPicPr>
        <p:blipFill rotWithShape="1">
          <a:blip r:embed="rId3">
            <a:alphaModFix/>
          </a:blip>
          <a:srcRect b="0" l="0" r="0" t="0"/>
          <a:stretch/>
        </p:blipFill>
        <p:spPr>
          <a:xfrm>
            <a:off x="1384664" y="1346654"/>
            <a:ext cx="9650347" cy="542832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pic>
        <p:nvPicPr>
          <p:cNvPr id="213" name="Google Shape;213;p23"/>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pic>
        <p:nvPicPr>
          <p:cNvPr id="218" name="Google Shape;218;p24"/>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2024-01-28T18:45:39Z</dcterms:created>
  <dc:creator>Muhammad Ali</dc:creator>
</cp:coreProperties>
</file>