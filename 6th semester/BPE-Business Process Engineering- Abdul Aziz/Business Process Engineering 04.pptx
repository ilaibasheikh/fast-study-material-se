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4" r:id="rId3"/>
    <p:sldId id="275" r:id="rId4"/>
    <p:sldId id="278" r:id="rId5"/>
    <p:sldId id="276" r:id="rId6"/>
    <p:sldId id="279" r:id="rId7"/>
    <p:sldId id="280" r:id="rId8"/>
    <p:sldId id="281" r:id="rId9"/>
    <p:sldId id="286" r:id="rId10"/>
    <p:sldId id="282" r:id="rId11"/>
    <p:sldId id="283" r:id="rId12"/>
    <p:sldId id="284" r:id="rId13"/>
    <p:sldId id="285" r:id="rId14"/>
    <p:sldId id="289" r:id="rId15"/>
    <p:sldId id="287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4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0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36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17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70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88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65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163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45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449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6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64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488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488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216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92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877F63A-BFB5-426E-9E8C-4710A6C379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F85F8E-589D-48A8-8A27-438CF2792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7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Business Process Engineering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Week 04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629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Isosceles Triangle 3"/>
          <p:cNvSpPr>
            <a:spLocks noChangeArrowheads="1"/>
          </p:cNvSpPr>
          <p:nvPr/>
        </p:nvSpPr>
        <p:spPr bwMode="auto">
          <a:xfrm>
            <a:off x="4452939" y="1928814"/>
            <a:ext cx="4714875" cy="414337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cxnSp>
        <p:nvCxnSpPr>
          <p:cNvPr id="33796" name="Straight Connector 5"/>
          <p:cNvCxnSpPr>
            <a:cxnSpLocks noChangeShapeType="1"/>
            <a:stCxn id="33795" idx="0"/>
          </p:cNvCxnSpPr>
          <p:nvPr/>
        </p:nvCxnSpPr>
        <p:spPr bwMode="auto">
          <a:xfrm rot="16200000" flipH="1" flipV="1">
            <a:off x="4167188" y="3429001"/>
            <a:ext cx="4143375" cy="1143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7" name="Straight Connector 7"/>
          <p:cNvCxnSpPr>
            <a:cxnSpLocks noChangeShapeType="1"/>
            <a:stCxn id="33795" idx="0"/>
          </p:cNvCxnSpPr>
          <p:nvPr/>
        </p:nvCxnSpPr>
        <p:spPr bwMode="auto">
          <a:xfrm rot="16200000" flipH="1">
            <a:off x="5310188" y="3429001"/>
            <a:ext cx="4143375" cy="1143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8" name="Straight Connector 9"/>
          <p:cNvCxnSpPr>
            <a:cxnSpLocks noChangeShapeType="1"/>
            <a:stCxn id="33795" idx="0"/>
            <a:endCxn id="33795" idx="3"/>
          </p:cNvCxnSpPr>
          <p:nvPr/>
        </p:nvCxnSpPr>
        <p:spPr bwMode="auto">
          <a:xfrm rot="16200000" flipH="1">
            <a:off x="4738688" y="4000500"/>
            <a:ext cx="4144962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9" name="Straight Connector 11"/>
          <p:cNvCxnSpPr>
            <a:cxnSpLocks noChangeShapeType="1"/>
          </p:cNvCxnSpPr>
          <p:nvPr/>
        </p:nvCxnSpPr>
        <p:spPr bwMode="auto">
          <a:xfrm>
            <a:off x="4953000" y="5214939"/>
            <a:ext cx="3714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0" name="Straight Connector 13"/>
          <p:cNvCxnSpPr>
            <a:cxnSpLocks noChangeShapeType="1"/>
          </p:cNvCxnSpPr>
          <p:nvPr/>
        </p:nvCxnSpPr>
        <p:spPr bwMode="auto">
          <a:xfrm>
            <a:off x="5453064" y="4357689"/>
            <a:ext cx="2714625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1" name="Straight Connector 15"/>
          <p:cNvCxnSpPr>
            <a:cxnSpLocks noChangeShapeType="1"/>
          </p:cNvCxnSpPr>
          <p:nvPr/>
        </p:nvCxnSpPr>
        <p:spPr bwMode="auto">
          <a:xfrm>
            <a:off x="5881689" y="3500439"/>
            <a:ext cx="1785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2" name="Straight Connector 17"/>
          <p:cNvCxnSpPr>
            <a:cxnSpLocks noChangeShapeType="1"/>
          </p:cNvCxnSpPr>
          <p:nvPr/>
        </p:nvCxnSpPr>
        <p:spPr bwMode="auto">
          <a:xfrm>
            <a:off x="6381750" y="2714625"/>
            <a:ext cx="8572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3" name="Rectangle 18"/>
          <p:cNvSpPr>
            <a:spLocks noChangeArrowheads="1"/>
          </p:cNvSpPr>
          <p:nvPr/>
        </p:nvSpPr>
        <p:spPr bwMode="auto">
          <a:xfrm>
            <a:off x="1881189" y="1357314"/>
            <a:ext cx="1285875" cy="3571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Decisions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04" name="Rectangle 19"/>
          <p:cNvSpPr>
            <a:spLocks noChangeArrowheads="1"/>
          </p:cNvSpPr>
          <p:nvPr/>
        </p:nvSpPr>
        <p:spPr bwMode="auto">
          <a:xfrm>
            <a:off x="8739189" y="4572000"/>
            <a:ext cx="64293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TPS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05" name="Rectangle 20"/>
          <p:cNvSpPr>
            <a:spLocks noChangeArrowheads="1"/>
          </p:cNvSpPr>
          <p:nvPr/>
        </p:nvSpPr>
        <p:spPr bwMode="auto">
          <a:xfrm>
            <a:off x="8453439" y="3786188"/>
            <a:ext cx="714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MIS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06" name="Rectangle 21"/>
          <p:cNvSpPr>
            <a:spLocks noChangeArrowheads="1"/>
          </p:cNvSpPr>
          <p:nvPr/>
        </p:nvSpPr>
        <p:spPr bwMode="auto">
          <a:xfrm>
            <a:off x="7881939" y="2928938"/>
            <a:ext cx="185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GIS, CAD/CAM, OAS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07" name="Rectangle 22"/>
          <p:cNvSpPr>
            <a:spLocks noChangeArrowheads="1"/>
          </p:cNvSpPr>
          <p:nvPr/>
        </p:nvSpPr>
        <p:spPr bwMode="auto">
          <a:xfrm>
            <a:off x="7739063" y="5286375"/>
            <a:ext cx="107156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Keep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   Track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08" name="Rectangle 23"/>
          <p:cNvSpPr>
            <a:spLocks noChangeArrowheads="1"/>
          </p:cNvSpPr>
          <p:nvPr/>
        </p:nvSpPr>
        <p:spPr bwMode="auto">
          <a:xfrm>
            <a:off x="6810375" y="5286375"/>
            <a:ext cx="92868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Sell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09" name="Rectangle 24"/>
          <p:cNvSpPr>
            <a:spLocks noChangeArrowheads="1"/>
          </p:cNvSpPr>
          <p:nvPr/>
        </p:nvSpPr>
        <p:spPr bwMode="auto">
          <a:xfrm>
            <a:off x="5953125" y="5286375"/>
            <a:ext cx="8572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Make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0" name="Rectangle 25"/>
          <p:cNvSpPr>
            <a:spLocks noChangeArrowheads="1"/>
          </p:cNvSpPr>
          <p:nvPr/>
        </p:nvSpPr>
        <p:spPr bwMode="auto">
          <a:xfrm>
            <a:off x="7881939" y="1357313"/>
            <a:ext cx="2143125" cy="5715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Information Systems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1" name="Rectangle 26"/>
          <p:cNvSpPr>
            <a:spLocks noChangeArrowheads="1"/>
          </p:cNvSpPr>
          <p:nvPr/>
        </p:nvSpPr>
        <p:spPr bwMode="auto">
          <a:xfrm>
            <a:off x="3452814" y="1357314"/>
            <a:ext cx="2357437" cy="3571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Management Levels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2" name="Rectangle 27"/>
          <p:cNvSpPr>
            <a:spLocks noChangeArrowheads="1"/>
          </p:cNvSpPr>
          <p:nvPr/>
        </p:nvSpPr>
        <p:spPr bwMode="auto">
          <a:xfrm>
            <a:off x="2238375" y="3143250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Tactical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3" name="Rectangle 28"/>
          <p:cNvSpPr>
            <a:spLocks noChangeArrowheads="1"/>
          </p:cNvSpPr>
          <p:nvPr/>
        </p:nvSpPr>
        <p:spPr bwMode="auto">
          <a:xfrm>
            <a:off x="2238376" y="4929188"/>
            <a:ext cx="12858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Technical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CA" altLang="en-US" sz="1400">
                <a:solidFill>
                  <a:schemeClr val="tx1"/>
                </a:solidFill>
                <a:latin typeface="Times" panose="02020603050405020304" pitchFamily="18" charset="0"/>
              </a:rPr>
              <a:t>(Operational)</a:t>
            </a:r>
            <a:endParaRPr lang="en-US" altLang="en-US" sz="14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4" name="Rectangle 29"/>
          <p:cNvSpPr>
            <a:spLocks noChangeArrowheads="1"/>
          </p:cNvSpPr>
          <p:nvPr/>
        </p:nvSpPr>
        <p:spPr bwMode="auto">
          <a:xfrm>
            <a:off x="2238375" y="2354368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 dirty="0">
                <a:solidFill>
                  <a:schemeClr val="tx1"/>
                </a:solidFill>
                <a:latin typeface="Times" panose="02020603050405020304" pitchFamily="18" charset="0"/>
              </a:rPr>
              <a:t>Strategic</a:t>
            </a:r>
            <a:endParaRPr lang="en-US" altLang="en-US" sz="1800" dirty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5" name="Rectangle 30"/>
          <p:cNvSpPr>
            <a:spLocks noChangeArrowheads="1"/>
          </p:cNvSpPr>
          <p:nvPr/>
        </p:nvSpPr>
        <p:spPr bwMode="auto">
          <a:xfrm>
            <a:off x="1881188" y="5643563"/>
            <a:ext cx="135731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Structured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6" name="Rectangle 31"/>
          <p:cNvSpPr>
            <a:spLocks noChangeArrowheads="1"/>
          </p:cNvSpPr>
          <p:nvPr/>
        </p:nvSpPr>
        <p:spPr bwMode="auto">
          <a:xfrm>
            <a:off x="1881188" y="2000251"/>
            <a:ext cx="14287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600">
                <a:solidFill>
                  <a:schemeClr val="tx1"/>
                </a:solidFill>
                <a:latin typeface="Times" panose="02020603050405020304" pitchFamily="18" charset="0"/>
              </a:rPr>
              <a:t>Unstructured</a:t>
            </a:r>
            <a:endParaRPr lang="en-US" altLang="en-US" sz="16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cxnSp>
        <p:nvCxnSpPr>
          <p:cNvPr id="33817" name="Straight Arrow Connector 33"/>
          <p:cNvCxnSpPr>
            <a:cxnSpLocks noChangeShapeType="1"/>
          </p:cNvCxnSpPr>
          <p:nvPr/>
        </p:nvCxnSpPr>
        <p:spPr bwMode="auto">
          <a:xfrm rot="5400000">
            <a:off x="523875" y="3929063"/>
            <a:ext cx="342900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8" name="Rectangle 39"/>
          <p:cNvSpPr>
            <a:spLocks noChangeArrowheads="1"/>
          </p:cNvSpPr>
          <p:nvPr/>
        </p:nvSpPr>
        <p:spPr bwMode="auto">
          <a:xfrm>
            <a:off x="4953000" y="5286375"/>
            <a:ext cx="8572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Buy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19" name="Rectangle 40"/>
          <p:cNvSpPr>
            <a:spLocks noChangeArrowheads="1"/>
          </p:cNvSpPr>
          <p:nvPr/>
        </p:nvSpPr>
        <p:spPr bwMode="auto">
          <a:xfrm>
            <a:off x="3524250" y="5429250"/>
            <a:ext cx="12144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Functions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20" name="Rectangle 41"/>
          <p:cNvSpPr>
            <a:spLocks noChangeArrowheads="1"/>
          </p:cNvSpPr>
          <p:nvPr/>
        </p:nvSpPr>
        <p:spPr bwMode="auto">
          <a:xfrm>
            <a:off x="3524251" y="4429125"/>
            <a:ext cx="1571625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Lower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Management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21" name="Rectangle 42"/>
          <p:cNvSpPr>
            <a:spLocks noChangeArrowheads="1"/>
          </p:cNvSpPr>
          <p:nvPr/>
        </p:nvSpPr>
        <p:spPr bwMode="auto">
          <a:xfrm>
            <a:off x="3667126" y="3571876"/>
            <a:ext cx="16430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Middle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Management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22" name="Rectangle 43"/>
          <p:cNvSpPr>
            <a:spLocks noChangeArrowheads="1"/>
          </p:cNvSpPr>
          <p:nvPr/>
        </p:nvSpPr>
        <p:spPr bwMode="auto">
          <a:xfrm>
            <a:off x="3667125" y="2786064"/>
            <a:ext cx="2071688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Knowledge and Data Worker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23" name="Rectangle 44"/>
          <p:cNvSpPr>
            <a:spLocks noChangeArrowheads="1"/>
          </p:cNvSpPr>
          <p:nvPr/>
        </p:nvSpPr>
        <p:spPr bwMode="auto">
          <a:xfrm>
            <a:off x="3667125" y="2071688"/>
            <a:ext cx="1714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Senior Management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24" name="Rectangle 51"/>
          <p:cNvSpPr>
            <a:spLocks noChangeArrowheads="1"/>
          </p:cNvSpPr>
          <p:nvPr/>
        </p:nvSpPr>
        <p:spPr bwMode="auto">
          <a:xfrm>
            <a:off x="7596189" y="2500313"/>
            <a:ext cx="714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DSS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3825" name="Rectangle 52"/>
          <p:cNvSpPr>
            <a:spLocks noChangeArrowheads="1"/>
          </p:cNvSpPr>
          <p:nvPr/>
        </p:nvSpPr>
        <p:spPr bwMode="auto">
          <a:xfrm>
            <a:off x="8096251" y="2143125"/>
            <a:ext cx="714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3084F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3084F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3084F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>
                <a:solidFill>
                  <a:schemeClr val="tx1"/>
                </a:solidFill>
                <a:latin typeface="Times" panose="02020603050405020304" pitchFamily="18" charset="0"/>
              </a:rPr>
              <a:t>ESS</a:t>
            </a:r>
            <a:endParaRPr lang="en-US" altLang="en-US" sz="18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cxnSp>
        <p:nvCxnSpPr>
          <p:cNvPr id="33826" name="Straight Connector 54"/>
          <p:cNvCxnSpPr>
            <a:cxnSpLocks noChangeShapeType="1"/>
          </p:cNvCxnSpPr>
          <p:nvPr/>
        </p:nvCxnSpPr>
        <p:spPr bwMode="auto">
          <a:xfrm rot="10800000">
            <a:off x="3738564" y="5214939"/>
            <a:ext cx="1214437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7" name="Straight Connector 58"/>
          <p:cNvCxnSpPr>
            <a:cxnSpLocks noChangeShapeType="1"/>
          </p:cNvCxnSpPr>
          <p:nvPr/>
        </p:nvCxnSpPr>
        <p:spPr bwMode="auto">
          <a:xfrm>
            <a:off x="8667751" y="5214939"/>
            <a:ext cx="1071563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8" name="Straight Connector 60"/>
          <p:cNvCxnSpPr>
            <a:cxnSpLocks noChangeShapeType="1"/>
          </p:cNvCxnSpPr>
          <p:nvPr/>
        </p:nvCxnSpPr>
        <p:spPr bwMode="auto">
          <a:xfrm>
            <a:off x="8096250" y="4357689"/>
            <a:ext cx="150018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9" name="Straight Connector 63"/>
          <p:cNvCxnSpPr>
            <a:cxnSpLocks noChangeShapeType="1"/>
          </p:cNvCxnSpPr>
          <p:nvPr/>
        </p:nvCxnSpPr>
        <p:spPr bwMode="auto">
          <a:xfrm>
            <a:off x="7667626" y="3500439"/>
            <a:ext cx="1928813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0" name="Straight Connector 67"/>
          <p:cNvCxnSpPr>
            <a:cxnSpLocks noChangeShapeType="1"/>
          </p:cNvCxnSpPr>
          <p:nvPr/>
        </p:nvCxnSpPr>
        <p:spPr bwMode="auto">
          <a:xfrm>
            <a:off x="7239000" y="2714625"/>
            <a:ext cx="357188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1" name="Straight Connector 69"/>
          <p:cNvCxnSpPr>
            <a:cxnSpLocks noChangeShapeType="1"/>
          </p:cNvCxnSpPr>
          <p:nvPr/>
        </p:nvCxnSpPr>
        <p:spPr bwMode="auto">
          <a:xfrm rot="10800000">
            <a:off x="3667126" y="2714625"/>
            <a:ext cx="27146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2" name="Straight Connector 71"/>
          <p:cNvCxnSpPr>
            <a:cxnSpLocks noChangeShapeType="1"/>
          </p:cNvCxnSpPr>
          <p:nvPr/>
        </p:nvCxnSpPr>
        <p:spPr bwMode="auto">
          <a:xfrm rot="10800000">
            <a:off x="3738564" y="3500439"/>
            <a:ext cx="214312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3" name="Straight Connector 74"/>
          <p:cNvCxnSpPr>
            <a:cxnSpLocks noChangeShapeType="1"/>
          </p:cNvCxnSpPr>
          <p:nvPr/>
        </p:nvCxnSpPr>
        <p:spPr bwMode="auto">
          <a:xfrm rot="10800000">
            <a:off x="3667125" y="4357689"/>
            <a:ext cx="178593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4" name="Straight Connector 80"/>
          <p:cNvCxnSpPr>
            <a:cxnSpLocks noChangeShapeType="1"/>
          </p:cNvCxnSpPr>
          <p:nvPr/>
        </p:nvCxnSpPr>
        <p:spPr bwMode="auto">
          <a:xfrm>
            <a:off x="7453313" y="2500314"/>
            <a:ext cx="214312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5" name="Straight Connector 81"/>
          <p:cNvCxnSpPr>
            <a:cxnSpLocks noChangeShapeType="1"/>
          </p:cNvCxnSpPr>
          <p:nvPr/>
        </p:nvCxnSpPr>
        <p:spPr bwMode="auto">
          <a:xfrm>
            <a:off x="7453313" y="2928939"/>
            <a:ext cx="214312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6" name="Straight Connector 84"/>
          <p:cNvCxnSpPr>
            <a:cxnSpLocks noChangeShapeType="1"/>
          </p:cNvCxnSpPr>
          <p:nvPr/>
        </p:nvCxnSpPr>
        <p:spPr bwMode="auto">
          <a:xfrm rot="5400000">
            <a:off x="7454107" y="2713832"/>
            <a:ext cx="4286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7" name="Straight Connector 86"/>
          <p:cNvCxnSpPr>
            <a:cxnSpLocks noChangeShapeType="1"/>
          </p:cNvCxnSpPr>
          <p:nvPr/>
        </p:nvCxnSpPr>
        <p:spPr bwMode="auto">
          <a:xfrm>
            <a:off x="3452813" y="4357689"/>
            <a:ext cx="214312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8" name="Straight Connector 87"/>
          <p:cNvCxnSpPr>
            <a:cxnSpLocks noChangeShapeType="1"/>
          </p:cNvCxnSpPr>
          <p:nvPr/>
        </p:nvCxnSpPr>
        <p:spPr bwMode="auto">
          <a:xfrm>
            <a:off x="3452813" y="2714625"/>
            <a:ext cx="214312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9" name="Straight Connector 89"/>
          <p:cNvCxnSpPr>
            <a:cxnSpLocks noChangeShapeType="1"/>
          </p:cNvCxnSpPr>
          <p:nvPr/>
        </p:nvCxnSpPr>
        <p:spPr bwMode="auto">
          <a:xfrm rot="5400000">
            <a:off x="2629694" y="3536156"/>
            <a:ext cx="164465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Rectangle 95"/>
          <p:cNvSpPr/>
          <p:nvPr/>
        </p:nvSpPr>
        <p:spPr bwMode="auto">
          <a:xfrm>
            <a:off x="743485" y="789215"/>
            <a:ext cx="10716426" cy="47923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CA" sz="2800" dirty="0">
                <a:latin typeface="Times"/>
              </a:rPr>
              <a:t>Systems </a:t>
            </a:r>
            <a:r>
              <a:rPr lang="en-CA" sz="2800" dirty="0" smtClean="0">
                <a:latin typeface="Times"/>
              </a:rPr>
              <a:t>Applications and Information Flow </a:t>
            </a:r>
            <a:r>
              <a:rPr lang="en-CA" sz="2800" dirty="0">
                <a:latin typeface="Times"/>
              </a:rPr>
              <a:t>in the Organization</a:t>
            </a:r>
            <a:endParaRPr lang="en-US" sz="2800" dirty="0"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29179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3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3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/>
      <p:bldP spid="33803" grpId="0" animBg="1"/>
      <p:bldP spid="33804" grpId="0"/>
      <p:bldP spid="33805" grpId="0"/>
      <p:bldP spid="33806" grpId="0"/>
      <p:bldP spid="33807" grpId="0"/>
      <p:bldP spid="33808" grpId="0"/>
      <p:bldP spid="33809" grpId="0"/>
      <p:bldP spid="33810" grpId="0" animBg="1"/>
      <p:bldP spid="33811" grpId="0" animBg="1"/>
      <p:bldP spid="33812" grpId="0"/>
      <p:bldP spid="33813" grpId="0"/>
      <p:bldP spid="33814" grpId="0"/>
      <p:bldP spid="33815" grpId="0"/>
      <p:bldP spid="33816" grpId="0"/>
      <p:bldP spid="33818" grpId="0"/>
      <p:bldP spid="33819" grpId="0"/>
      <p:bldP spid="33820" grpId="0"/>
      <p:bldP spid="33821" grpId="0"/>
      <p:bldP spid="33822" grpId="0"/>
      <p:bldP spid="33823" grpId="0"/>
      <p:bldP spid="33824" grpId="0"/>
      <p:bldP spid="33825" grpId="0"/>
      <p:bldP spid="9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range</a:t>
            </a:r>
            <a:r>
              <a:rPr lang="en-US" dirty="0"/>
              <a:t> refers to the amount of data from which information is </a:t>
            </a:r>
            <a:r>
              <a:rPr lang="en-US" dirty="0" smtClean="0"/>
              <a:t>extracted&amp;</a:t>
            </a:r>
          </a:p>
          <a:p>
            <a:r>
              <a:rPr lang="en-US" b="1" dirty="0" smtClean="0"/>
              <a:t>Time </a:t>
            </a:r>
            <a:r>
              <a:rPr lang="en-US" b="1" dirty="0"/>
              <a:t>span</a:t>
            </a:r>
            <a:r>
              <a:rPr lang="en-US" dirty="0"/>
              <a:t> refers to how long a period of time the data </a:t>
            </a:r>
            <a:r>
              <a:rPr lang="en-US" dirty="0" smtClean="0"/>
              <a:t>covers.</a:t>
            </a:r>
            <a:endParaRPr lang="en-US" dirty="0"/>
          </a:p>
          <a:p>
            <a:r>
              <a:rPr lang="en-US" b="1" dirty="0" smtClean="0"/>
              <a:t>Level </a:t>
            </a:r>
            <a:r>
              <a:rPr lang="en-US" b="1" dirty="0"/>
              <a:t>of detail</a:t>
            </a:r>
            <a:r>
              <a:rPr lang="en-US" dirty="0"/>
              <a:t> is the degree to which the information generated is </a:t>
            </a:r>
            <a:r>
              <a:rPr lang="en-US" dirty="0" smtClean="0"/>
              <a:t>specific.</a:t>
            </a:r>
          </a:p>
          <a:p>
            <a:r>
              <a:rPr lang="en-US" b="1" dirty="0" smtClean="0"/>
              <a:t>Internally </a:t>
            </a:r>
            <a:r>
              <a:rPr lang="en-US" b="1" dirty="0"/>
              <a:t>or externally</a:t>
            </a:r>
            <a:r>
              <a:rPr lang="en-US" dirty="0"/>
              <a:t> sourced.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0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Need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36"/>
          <a:stretch/>
        </p:blipFill>
        <p:spPr>
          <a:xfrm>
            <a:off x="4922377" y="2557463"/>
            <a:ext cx="2409967" cy="3317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30639" y="3845607"/>
            <a:ext cx="401705" cy="581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3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Making Phase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476"/>
          <a:stretch/>
        </p:blipFill>
        <p:spPr>
          <a:xfrm>
            <a:off x="2689131" y="2761656"/>
            <a:ext cx="6813737" cy="22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7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Resource Planner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0" t="16795" r="9298" b="46521"/>
          <a:stretch/>
        </p:blipFill>
        <p:spPr bwMode="auto">
          <a:xfrm>
            <a:off x="1630908" y="2556932"/>
            <a:ext cx="8077200" cy="232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254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Resource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0" t="67074" r="9298" b="7247"/>
          <a:stretch/>
        </p:blipFill>
        <p:spPr bwMode="auto">
          <a:xfrm>
            <a:off x="1295401" y="2592315"/>
            <a:ext cx="8077200" cy="162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328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2" t="28929" r="34790" b="18459"/>
          <a:stretch/>
        </p:blipFill>
        <p:spPr bwMode="auto">
          <a:xfrm>
            <a:off x="3480455" y="858292"/>
            <a:ext cx="5231088" cy="5017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525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ERP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8" t="25933" r="35341" b="18470"/>
          <a:stretch/>
        </p:blipFill>
        <p:spPr bwMode="auto">
          <a:xfrm>
            <a:off x="4531058" y="606319"/>
            <a:ext cx="7151426" cy="569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18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Functional SAP ERP </a:t>
            </a:r>
            <a:r>
              <a:rPr lang="en-US" b="1" dirty="0" smtClean="0"/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Human Capital Management (SAP HCM)</a:t>
            </a:r>
          </a:p>
          <a:p>
            <a:r>
              <a:rPr lang="en-US" dirty="0"/>
              <a:t>Production Planning (SAP PP)</a:t>
            </a:r>
          </a:p>
          <a:p>
            <a:r>
              <a:rPr lang="en-US" dirty="0"/>
              <a:t>Material Management (SAP MM)</a:t>
            </a:r>
          </a:p>
          <a:p>
            <a:r>
              <a:rPr lang="en-US" dirty="0"/>
              <a:t>Financial Supply Chain Management (SAP FSCM)</a:t>
            </a:r>
          </a:p>
          <a:p>
            <a:r>
              <a:rPr lang="en-US" dirty="0"/>
              <a:t>Sales and Distribution (SAP SD)</a:t>
            </a:r>
          </a:p>
          <a:p>
            <a:r>
              <a:rPr lang="en-US" dirty="0"/>
              <a:t>Project System (SAP PS)</a:t>
            </a:r>
          </a:p>
          <a:p>
            <a:r>
              <a:rPr lang="en-US" dirty="0"/>
              <a:t>Financial Accounting and Controlling (SAP FICO)</a:t>
            </a:r>
          </a:p>
          <a:p>
            <a:r>
              <a:rPr lang="en-US" dirty="0"/>
              <a:t>Plant Maintenance (SAP PM)</a:t>
            </a:r>
          </a:p>
          <a:p>
            <a:r>
              <a:rPr lang="en-US" dirty="0"/>
              <a:t>Quality Management (SAP QM)</a:t>
            </a:r>
          </a:p>
          <a:p>
            <a:r>
              <a:rPr lang="en-US" dirty="0"/>
              <a:t>Investment Management (SAP IM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8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Technical SAP ERP </a:t>
            </a:r>
            <a:r>
              <a:rPr lang="en-US" b="1" dirty="0" smtClean="0"/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SAP </a:t>
            </a:r>
            <a:r>
              <a:rPr lang="en-US" dirty="0" err="1"/>
              <a:t>NetWeaver</a:t>
            </a:r>
            <a:r>
              <a:rPr lang="en-US" dirty="0"/>
              <a:t> (formerly SAP Basis)</a:t>
            </a:r>
          </a:p>
          <a:p>
            <a:r>
              <a:rPr lang="en-US" dirty="0"/>
              <a:t>SAP EP (Enterprise Portal)</a:t>
            </a:r>
          </a:p>
          <a:p>
            <a:r>
              <a:rPr lang="en-US" dirty="0"/>
              <a:t>SAP PI (Process Integration)</a:t>
            </a:r>
          </a:p>
          <a:p>
            <a:r>
              <a:rPr lang="en-US" dirty="0"/>
              <a:t>SAP Solution Manager</a:t>
            </a:r>
          </a:p>
          <a:p>
            <a:r>
              <a:rPr lang="en-US" dirty="0"/>
              <a:t>Advanced Business Application Programming (SAP ABAP)</a:t>
            </a:r>
          </a:p>
          <a:p>
            <a:r>
              <a:rPr lang="en-US" dirty="0"/>
              <a:t>SAP Application Server</a:t>
            </a:r>
          </a:p>
          <a:p>
            <a:r>
              <a:rPr lang="en-US" dirty="0"/>
              <a:t>Business Technology Platform (SAP BTP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8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Dynamics 365 </a:t>
            </a:r>
            <a:r>
              <a:rPr lang="en-US" dirty="0" smtClean="0"/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488694"/>
            <a:ext cx="9601196" cy="3557264"/>
          </a:xfrm>
        </p:spPr>
        <p:txBody>
          <a:bodyPr>
            <a:normAutofit fontScale="40000" lnSpcReduction="20000"/>
          </a:bodyPr>
          <a:lstStyle/>
          <a:p>
            <a:r>
              <a:rPr lang="en-US" sz="4500" dirty="0"/>
              <a:t>Business Central (ERP</a:t>
            </a:r>
            <a:r>
              <a:rPr lang="en-US" sz="4500" dirty="0" smtClean="0"/>
              <a:t>)</a:t>
            </a:r>
          </a:p>
          <a:p>
            <a:r>
              <a:rPr lang="en-US" sz="4500" dirty="0" smtClean="0"/>
              <a:t>Sales</a:t>
            </a:r>
          </a:p>
          <a:p>
            <a:r>
              <a:rPr lang="en-US" sz="4500" dirty="0"/>
              <a:t>Customer </a:t>
            </a:r>
            <a:r>
              <a:rPr lang="en-US" sz="4500" dirty="0" smtClean="0"/>
              <a:t>Service</a:t>
            </a:r>
          </a:p>
          <a:p>
            <a:r>
              <a:rPr lang="en-US" sz="4500" dirty="0"/>
              <a:t>Field </a:t>
            </a:r>
            <a:r>
              <a:rPr lang="en-US" sz="4500" dirty="0" smtClean="0"/>
              <a:t>Service</a:t>
            </a:r>
          </a:p>
          <a:p>
            <a:r>
              <a:rPr lang="en-US" sz="4500" dirty="0" smtClean="0"/>
              <a:t>Marketing</a:t>
            </a:r>
          </a:p>
          <a:p>
            <a:r>
              <a:rPr lang="en-US" sz="4500" dirty="0"/>
              <a:t> </a:t>
            </a:r>
            <a:r>
              <a:rPr lang="en-US" sz="4500" dirty="0" smtClean="0"/>
              <a:t>Project Automation </a:t>
            </a:r>
          </a:p>
          <a:p>
            <a:r>
              <a:rPr lang="en-US" sz="4500" dirty="0"/>
              <a:t>Finance and </a:t>
            </a:r>
            <a:r>
              <a:rPr lang="en-US" sz="4500" dirty="0" smtClean="0"/>
              <a:t>Operations</a:t>
            </a:r>
          </a:p>
          <a:p>
            <a:r>
              <a:rPr lang="en-US" sz="4500" dirty="0"/>
              <a:t>S</a:t>
            </a:r>
            <a:r>
              <a:rPr lang="en-US" sz="4500" dirty="0" smtClean="0"/>
              <a:t>upply </a:t>
            </a:r>
            <a:r>
              <a:rPr lang="en-US" sz="4500" dirty="0"/>
              <a:t>C</a:t>
            </a:r>
            <a:r>
              <a:rPr lang="en-US" sz="4500" dirty="0" smtClean="0"/>
              <a:t>hain Management</a:t>
            </a:r>
          </a:p>
          <a:p>
            <a:r>
              <a:rPr lang="en-US" sz="4500" dirty="0" smtClean="0"/>
              <a:t>Commerce</a:t>
            </a:r>
          </a:p>
          <a:p>
            <a:r>
              <a:rPr lang="en-US" sz="4500" dirty="0" smtClean="0"/>
              <a:t>Human Resource Management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9600" y="6096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62000" y="7620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914400" y="914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66800" y="1066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19200" y="12192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371600" y="13716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15240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676400" y="1676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828800" y="1828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1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Before and After ERP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6" t="19404" r="22591" b="42910"/>
          <a:stretch/>
        </p:blipFill>
        <p:spPr bwMode="auto">
          <a:xfrm>
            <a:off x="1347620" y="2556932"/>
            <a:ext cx="9496757" cy="3318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052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3765" y="2761649"/>
            <a:ext cx="9601196" cy="3318936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8" t="25777" r="17350" b="32612"/>
          <a:stretch/>
        </p:blipFill>
        <p:spPr bwMode="auto">
          <a:xfrm>
            <a:off x="1295401" y="2556931"/>
            <a:ext cx="9984653" cy="3523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50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ERP Tiers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Tier 1: Multi Site, Multi National corporations 1000&gt;</a:t>
            </a:r>
          </a:p>
          <a:p>
            <a:r>
              <a:rPr lang="en-US" dirty="0"/>
              <a:t>Tier </a:t>
            </a:r>
            <a:r>
              <a:rPr lang="en-US" dirty="0" smtClean="0"/>
              <a:t>2: Medium size 100-999</a:t>
            </a:r>
          </a:p>
          <a:p>
            <a:r>
              <a:rPr lang="en-US" dirty="0"/>
              <a:t>Tier </a:t>
            </a:r>
            <a:r>
              <a:rPr lang="en-US" dirty="0" smtClean="0"/>
              <a:t>3: Small or Single Site</a:t>
            </a:r>
          </a:p>
          <a:p>
            <a:r>
              <a:rPr lang="en-US" dirty="0" smtClean="0"/>
              <a:t>Tier 4: Small Or Single Site with basic need only.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0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Due Date: 22- Feb-2025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Q1-  A brief Introduction to the modules in SAP and Dynamics 365.</a:t>
            </a:r>
          </a:p>
          <a:p>
            <a:endParaRPr lang="en-US" sz="2800" b="1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Q2-  List 3 vendors in each Tier of ERP.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0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1753" y="2556932"/>
            <a:ext cx="9601196" cy="3318936"/>
          </a:xfrm>
        </p:spPr>
        <p:txBody>
          <a:bodyPr/>
          <a:lstStyle/>
          <a:p>
            <a:r>
              <a:rPr lang="en-US" dirty="0" smtClean="0"/>
              <a:t>Marketing &amp; Sales</a:t>
            </a:r>
            <a:endParaRPr lang="en-US" dirty="0"/>
          </a:p>
        </p:txBody>
      </p:sp>
      <p:pic>
        <p:nvPicPr>
          <p:cNvPr id="4" name="Picture 6" descr="Fig01-04"/>
          <p:cNvPicPr>
            <a:picLocks noChangeAspect="1" noChangeArrowheads="1"/>
          </p:cNvPicPr>
          <p:nvPr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46" b="13902"/>
          <a:stretch>
            <a:fillRect/>
          </a:stretch>
        </p:blipFill>
        <p:spPr bwMode="auto">
          <a:xfrm>
            <a:off x="4263916" y="2021906"/>
            <a:ext cx="5192713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108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Supply Chain Management</a:t>
            </a:r>
            <a:endParaRPr lang="en-US" dirty="0"/>
          </a:p>
        </p:txBody>
      </p:sp>
      <p:pic>
        <p:nvPicPr>
          <p:cNvPr id="4" name="Picture 6" descr="Fig01-0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58" b="15411"/>
          <a:stretch>
            <a:fillRect/>
          </a:stretch>
        </p:blipFill>
        <p:spPr bwMode="auto">
          <a:xfrm>
            <a:off x="3579842" y="2285999"/>
            <a:ext cx="5032315" cy="3775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28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Accounting and Finance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6" descr="Fig01-06"/>
          <p:cNvPicPr>
            <a:picLocks noChangeAspect="1" noChangeArrowheads="1"/>
          </p:cNvPicPr>
          <p:nvPr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28" b="15205"/>
          <a:stretch>
            <a:fillRect/>
          </a:stretch>
        </p:blipFill>
        <p:spPr bwMode="auto">
          <a:xfrm>
            <a:off x="3559174" y="1980143"/>
            <a:ext cx="507365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04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Human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6" descr="Fig01-07"/>
          <p:cNvPicPr>
            <a:picLocks noChangeAspect="1" noChangeArrowheads="1"/>
          </p:cNvPicPr>
          <p:nvPr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88" b="12216"/>
          <a:stretch>
            <a:fillRect/>
          </a:stretch>
        </p:blipFill>
        <p:spPr bwMode="auto">
          <a:xfrm>
            <a:off x="3505199" y="2065868"/>
            <a:ext cx="5181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85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</a:t>
            </a:r>
            <a:r>
              <a:rPr lang="en-US" dirty="0" smtClean="0"/>
              <a:t>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process map</a:t>
            </a:r>
            <a:r>
              <a:rPr lang="en-US" dirty="0"/>
              <a:t>, also known as a </a:t>
            </a:r>
            <a:r>
              <a:rPr lang="en-US" b="1" dirty="0"/>
              <a:t>cross-functional flowchart </a:t>
            </a:r>
            <a:r>
              <a:rPr lang="en-US" sz="2800" dirty="0"/>
              <a:t>or </a:t>
            </a:r>
            <a:r>
              <a:rPr lang="en-US" sz="2800" b="1" dirty="0"/>
              <a:t>swim lane diagrams</a:t>
            </a:r>
            <a:r>
              <a:rPr lang="en-US" dirty="0"/>
              <a:t>, is used by many organizations seeking to document, analyze, streamline, and redesign business activities.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7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4776" y="2483892"/>
            <a:ext cx="10282448" cy="3692226"/>
          </a:xfrm>
        </p:spPr>
        <p:txBody>
          <a:bodyPr>
            <a:noAutofit/>
          </a:bodyPr>
          <a:lstStyle/>
          <a:p>
            <a:r>
              <a:rPr lang="en-US" sz="1800" b="1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Defining the “as is” business process and clarifying the changes necessary to transform the present process into the “to be”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Determining whether “as is” measures are appropriate.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Promoting awareness of employees’ responsibilities.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Showing the impact a certain role’s performance has on upstream and downstream activities in the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Highlighting workflow inefficiencies.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Identifying opportunities to streamline and improve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Pinpointing internal controls that need to be tested during an audit.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7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</a:t>
            </a:r>
            <a:r>
              <a:rPr lang="en-US" dirty="0" smtClean="0"/>
              <a:t>Map </a:t>
            </a:r>
            <a:r>
              <a:rPr lang="en-US" dirty="0"/>
              <a:t>S</a:t>
            </a:r>
            <a:r>
              <a:rPr lang="en-US" dirty="0" smtClean="0"/>
              <a:t>ymbols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" t="2911" r="2889" b="3290"/>
          <a:stretch/>
        </p:blipFill>
        <p:spPr>
          <a:xfrm>
            <a:off x="3901710" y="2268093"/>
            <a:ext cx="4388578" cy="38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92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Map Symbols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992973" y="3244334"/>
            <a:ext cx="2206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rocess </a:t>
            </a:r>
            <a:r>
              <a:rPr lang="en-US" b="1" u="sng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ap </a:t>
            </a:r>
            <a:r>
              <a:rPr lang="en-US" b="1" u="sng" dirty="0">
                <a:solidFill>
                  <a:schemeClr val="bg1"/>
                </a:solidFill>
              </a:rPr>
              <a:t>s</a:t>
            </a:r>
            <a:r>
              <a:rPr lang="en-US" dirty="0">
                <a:solidFill>
                  <a:schemeClr val="bg1"/>
                </a:solidFill>
              </a:rPr>
              <a:t>ymbols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92973" y="3244334"/>
            <a:ext cx="2206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rocess </a:t>
            </a:r>
            <a:r>
              <a:rPr lang="en-US" b="1" u="sng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ap </a:t>
            </a:r>
            <a:r>
              <a:rPr lang="en-US" b="1" u="sng" dirty="0">
                <a:solidFill>
                  <a:schemeClr val="bg1"/>
                </a:solidFill>
              </a:rPr>
              <a:t>s</a:t>
            </a:r>
            <a:r>
              <a:rPr lang="en-US" dirty="0">
                <a:solidFill>
                  <a:schemeClr val="bg1"/>
                </a:solidFill>
              </a:rPr>
              <a:t>ymbols </a:t>
            </a:r>
            <a:endParaRPr lang="en-US" dirty="0"/>
          </a:p>
        </p:txBody>
      </p:sp>
      <p:sp>
        <p:nvSpPr>
          <p:cNvPr id="6" name="AutoShape 2" descr="https://sixsigmadsi.com/wp-content/uploads/2023/11/Stratechi-Process-Mapping-Icons-Examples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745" y="2556932"/>
            <a:ext cx="7913588" cy="33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5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96"/>
          <a:stretch/>
        </p:blipFill>
        <p:spPr>
          <a:xfrm>
            <a:off x="1708353" y="777923"/>
            <a:ext cx="8775292" cy="499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6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Override1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B15E28"/>
    </a:accent1>
    <a:accent2>
      <a:srgbClr val="B13228"/>
    </a:accent2>
    <a:accent3>
      <a:srgbClr val="8B7B56"/>
    </a:accent3>
    <a:accent4>
      <a:srgbClr val="E09C41"/>
    </a:accent4>
    <a:accent5>
      <a:srgbClr val="9EAE51"/>
    </a:accent5>
    <a:accent6>
      <a:srgbClr val="6E7355"/>
    </a:accent6>
    <a:hlink>
      <a:srgbClr val="D37A21"/>
    </a:hlink>
    <a:folHlink>
      <a:srgbClr val="CA8F5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</TotalTime>
  <Words>419</Words>
  <Application>Microsoft Office PowerPoint</Application>
  <PresentationFormat>Widescreen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Garamond</vt:lpstr>
      <vt:lpstr>Times</vt:lpstr>
      <vt:lpstr>Organic</vt:lpstr>
      <vt:lpstr>Business Process Engineering </vt:lpstr>
      <vt:lpstr>PowerPoint Presentation</vt:lpstr>
      <vt:lpstr>Data Characteristics</vt:lpstr>
      <vt:lpstr>Information Need</vt:lpstr>
      <vt:lpstr>Decision Making Phase</vt:lpstr>
      <vt:lpstr>Enterprise Resource Planner</vt:lpstr>
      <vt:lpstr>Enterprise Resource Planner</vt:lpstr>
      <vt:lpstr>PowerPoint Presentation</vt:lpstr>
      <vt:lpstr>ERP Modules</vt:lpstr>
      <vt:lpstr>Functional SAP ERP Modules</vt:lpstr>
      <vt:lpstr>Technical SAP ERP Modules</vt:lpstr>
      <vt:lpstr>Dynamics 365 Modules</vt:lpstr>
      <vt:lpstr>Before and After ERP</vt:lpstr>
      <vt:lpstr>General Architecture</vt:lpstr>
      <vt:lpstr>ERP Tiers</vt:lpstr>
      <vt:lpstr>Assignment 1</vt:lpstr>
      <vt:lpstr>Functional Process</vt:lpstr>
      <vt:lpstr>Supply Chain Management</vt:lpstr>
      <vt:lpstr>Accounting and Finance</vt:lpstr>
      <vt:lpstr>Human Resources</vt:lpstr>
      <vt:lpstr>Process Map</vt:lpstr>
      <vt:lpstr>Process Map</vt:lpstr>
      <vt:lpstr>Process Map Symbols </vt:lpstr>
      <vt:lpstr>Process Map Symbols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 Engineering</dc:title>
  <dc:creator>Dr.Abdul Aziz</dc:creator>
  <cp:lastModifiedBy>Dr.Abdul Aziz</cp:lastModifiedBy>
  <cp:revision>26</cp:revision>
  <dcterms:created xsi:type="dcterms:W3CDTF">2025-02-03T04:08:55Z</dcterms:created>
  <dcterms:modified xsi:type="dcterms:W3CDTF">2025-02-17T08:22:10Z</dcterms:modified>
</cp:coreProperties>
</file>