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7" r:id="rId19"/>
    <p:sldId id="274" r:id="rId20"/>
    <p:sldId id="275" r:id="rId21"/>
    <p:sldId id="278"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34F85F8E-589D-48A8-8A27-438CF2792C5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743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spTree>
    <p:extLst>
      <p:ext uri="{BB962C8B-B14F-4D97-AF65-F5344CB8AC3E}">
        <p14:creationId xmlns:p14="http://schemas.microsoft.com/office/powerpoint/2010/main" val="3971709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6365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877F63A-BFB5-426E-9E8C-4710A6C3799D}"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85F8E-589D-48A8-8A27-438CF2792C5D}" type="slidenum">
              <a:rPr lang="en-US" smtClean="0"/>
              <a:t>‹#›</a:t>
            </a:fld>
            <a:endParaRPr lang="en-US"/>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8179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877F63A-BFB5-426E-9E8C-4710A6C3799D}" type="datetimeFigureOut">
              <a:rPr lang="en-US" smtClean="0"/>
              <a:t>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85F8E-589D-48A8-8A27-438CF2792C5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7709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877F63A-BFB5-426E-9E8C-4710A6C3799D}" type="datetimeFigureOut">
              <a:rPr lang="en-US" smtClean="0"/>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F85F8E-589D-48A8-8A27-438CF2792C5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8888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7F63A-BFB5-426E-9E8C-4710A6C3799D}" type="datetimeFigureOut">
              <a:rPr lang="en-US" smtClean="0"/>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F85F8E-589D-48A8-8A27-438CF2792C5D}" type="slidenum">
              <a:rPr lang="en-US" smtClean="0"/>
              <a:t>‹#›</a:t>
            </a:fld>
            <a:endParaRPr lang="en-US"/>
          </a:p>
        </p:txBody>
      </p:sp>
    </p:spTree>
    <p:extLst>
      <p:ext uri="{BB962C8B-B14F-4D97-AF65-F5344CB8AC3E}">
        <p14:creationId xmlns:p14="http://schemas.microsoft.com/office/powerpoint/2010/main" val="1753865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877F63A-BFB5-426E-9E8C-4710A6C3799D}"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85F8E-589D-48A8-8A27-438CF2792C5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9163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877F63A-BFB5-426E-9E8C-4710A6C3799D}"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85F8E-589D-48A8-8A27-438CF2792C5D}" type="slidenum">
              <a:rPr lang="en-US" smtClean="0"/>
              <a:t>‹#›</a:t>
            </a:fld>
            <a:endParaRPr lang="en-US"/>
          </a:p>
        </p:txBody>
      </p:sp>
    </p:spTree>
    <p:extLst>
      <p:ext uri="{BB962C8B-B14F-4D97-AF65-F5344CB8AC3E}">
        <p14:creationId xmlns:p14="http://schemas.microsoft.com/office/powerpoint/2010/main" val="36283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877F63A-BFB5-426E-9E8C-4710A6C3799D}"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85F8E-589D-48A8-8A27-438CF2792C5D}" type="slidenum">
              <a:rPr lang="en-US" smtClean="0"/>
              <a:t>‹#›</a:t>
            </a:fld>
            <a:endParaRPr lang="en-US"/>
          </a:p>
        </p:txBody>
      </p:sp>
    </p:spTree>
    <p:extLst>
      <p:ext uri="{BB962C8B-B14F-4D97-AF65-F5344CB8AC3E}">
        <p14:creationId xmlns:p14="http://schemas.microsoft.com/office/powerpoint/2010/main" val="3921445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7449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36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spTree>
    <p:extLst>
      <p:ext uri="{BB962C8B-B14F-4D97-AF65-F5344CB8AC3E}">
        <p14:creationId xmlns:p14="http://schemas.microsoft.com/office/powerpoint/2010/main" val="3960864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5488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4488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72166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77F63A-BFB5-426E-9E8C-4710A6C3799D}"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85F8E-589D-48A8-8A27-438CF2792C5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4929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877F63A-BFB5-426E-9E8C-4710A6C3799D}" type="datetimeFigureOut">
              <a:rPr lang="en-US" smtClean="0"/>
              <a:t>2/4/2025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4F85F8E-589D-48A8-8A27-438CF2792C5D}" type="slidenum">
              <a:rPr lang="en-US" smtClean="0"/>
              <a:t>‹#›</a:t>
            </a:fld>
            <a:endParaRPr lang="en-US"/>
          </a:p>
        </p:txBody>
      </p:sp>
    </p:spTree>
    <p:extLst>
      <p:ext uri="{BB962C8B-B14F-4D97-AF65-F5344CB8AC3E}">
        <p14:creationId xmlns:p14="http://schemas.microsoft.com/office/powerpoint/2010/main" val="175257258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Business Process Engineering </a:t>
            </a:r>
            <a:endParaRPr lang="en-US" dirty="0"/>
          </a:p>
        </p:txBody>
      </p:sp>
      <p:sp>
        <p:nvSpPr>
          <p:cNvPr id="3" name="Subtitle 2"/>
          <p:cNvSpPr>
            <a:spLocks noGrp="1"/>
          </p:cNvSpPr>
          <p:nvPr>
            <p:ph type="subTitle" idx="1"/>
          </p:nvPr>
        </p:nvSpPr>
        <p:spPr/>
        <p:txBody>
          <a:bodyPr/>
          <a:lstStyle/>
          <a:p>
            <a:r>
              <a:rPr lang="en-US" b="1" dirty="0" smtClean="0"/>
              <a:t>Week 03</a:t>
            </a:r>
            <a:endParaRPr lang="en-US" b="1" dirty="0"/>
          </a:p>
        </p:txBody>
      </p:sp>
    </p:spTree>
    <p:extLst>
      <p:ext uri="{BB962C8B-B14F-4D97-AF65-F5344CB8AC3E}">
        <p14:creationId xmlns:p14="http://schemas.microsoft.com/office/powerpoint/2010/main" val="3066296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 Engineering includes: </a:t>
            </a:r>
          </a:p>
        </p:txBody>
      </p:sp>
      <p:sp>
        <p:nvSpPr>
          <p:cNvPr id="3" name="Content Placeholder 2"/>
          <p:cNvSpPr>
            <a:spLocks noGrp="1"/>
          </p:cNvSpPr>
          <p:nvPr>
            <p:ph idx="1"/>
          </p:nvPr>
        </p:nvSpPr>
        <p:spPr/>
        <p:txBody>
          <a:bodyPr/>
          <a:lstStyle/>
          <a:p>
            <a:r>
              <a:rPr lang="en-US" dirty="0"/>
              <a:t>Business Process Management</a:t>
            </a:r>
          </a:p>
          <a:p>
            <a:r>
              <a:rPr lang="en-US" dirty="0"/>
              <a:t>Business Process Modeling</a:t>
            </a:r>
          </a:p>
          <a:p>
            <a:r>
              <a:rPr lang="en-US" dirty="0"/>
              <a:t>Business Process Architecture</a:t>
            </a:r>
          </a:p>
          <a:p>
            <a:r>
              <a:rPr lang="en-US" dirty="0"/>
              <a:t>Business Process Improvement</a:t>
            </a:r>
          </a:p>
          <a:p>
            <a:endParaRPr lang="en-US" dirty="0"/>
          </a:p>
        </p:txBody>
      </p:sp>
    </p:spTree>
    <p:extLst>
      <p:ext uri="{BB962C8B-B14F-4D97-AF65-F5344CB8AC3E}">
        <p14:creationId xmlns:p14="http://schemas.microsoft.com/office/powerpoint/2010/main" val="372976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Business </a:t>
            </a:r>
            <a:r>
              <a:rPr lang="en-US" dirty="0" smtClean="0"/>
              <a:t>Process Management</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achievement of an organization’s objectives through the improvement, management and control of essential business processes.</a:t>
            </a:r>
          </a:p>
          <a:p>
            <a:r>
              <a:rPr lang="en-US" dirty="0"/>
              <a:t>Managing business processes is a huge challenge in most organizations. Many business owners assume that it is a huge expense or that it is only worth it for massive processes</a:t>
            </a:r>
          </a:p>
          <a:p>
            <a:r>
              <a:rPr lang="en-US" dirty="0"/>
              <a:t>Business process management (BPM) is also defined as an organizational discipline where a company takes a step back and looks at all of these processes in total and individually. It analyzes the current state and identifies areas of improvement to create a more efficient and effective organization.</a:t>
            </a:r>
          </a:p>
        </p:txBody>
      </p:sp>
    </p:spTree>
    <p:extLst>
      <p:ext uri="{BB962C8B-B14F-4D97-AF65-F5344CB8AC3E}">
        <p14:creationId xmlns:p14="http://schemas.microsoft.com/office/powerpoint/2010/main" val="3297238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Business </a:t>
            </a:r>
            <a:r>
              <a:rPr lang="en-US" dirty="0" smtClean="0"/>
              <a:t>Process Management</a:t>
            </a:r>
            <a:endParaRPr lang="en-US" dirty="0"/>
          </a:p>
        </p:txBody>
      </p:sp>
      <p:sp>
        <p:nvSpPr>
          <p:cNvPr id="3" name="Content Placeholder 2"/>
          <p:cNvSpPr>
            <a:spLocks noGrp="1"/>
          </p:cNvSpPr>
          <p:nvPr>
            <p:ph idx="1"/>
          </p:nvPr>
        </p:nvSpPr>
        <p:spPr>
          <a:xfrm>
            <a:off x="1377498" y="2470374"/>
            <a:ext cx="9460909" cy="2617015"/>
          </a:xfrm>
        </p:spPr>
        <p:txBody>
          <a:bodyPr/>
          <a:lstStyle/>
          <a:p>
            <a:r>
              <a:rPr lang="en-US" dirty="0"/>
              <a:t>Business process management (BPM) is an organizational discipline where a company takes a step back and looks at all of these processes in total and individually. </a:t>
            </a:r>
            <a:endParaRPr lang="en-US" dirty="0" smtClean="0"/>
          </a:p>
          <a:p>
            <a:r>
              <a:rPr lang="en-US" dirty="0" smtClean="0"/>
              <a:t>It </a:t>
            </a:r>
            <a:r>
              <a:rPr lang="en-US" dirty="0"/>
              <a:t>analyzes the current state and identifies areas of improvement to create a more efficient and effective organization</a:t>
            </a:r>
          </a:p>
        </p:txBody>
      </p:sp>
      <p:pic>
        <p:nvPicPr>
          <p:cNvPr id="1026" name="Picture 2" descr="https://kissflow.com/wp-content/uploads/2021/06/3cs-copy.png"/>
          <p:cNvPicPr>
            <a:picLocks noChangeAspect="1" noChangeArrowheads="1"/>
          </p:cNvPicPr>
          <p:nvPr/>
        </p:nvPicPr>
        <p:blipFill rotWithShape="1">
          <a:blip r:embed="rId2">
            <a:extLst>
              <a:ext uri="{28A0092B-C50C-407E-A947-70E740481C1C}">
                <a14:useLocalDpi xmlns:a14="http://schemas.microsoft.com/office/drawing/2010/main" val="0"/>
              </a:ext>
            </a:extLst>
          </a:blip>
          <a:srcRect l="12197" t="10874" r="11398" b="8654"/>
          <a:stretch/>
        </p:blipFill>
        <p:spPr bwMode="auto">
          <a:xfrm>
            <a:off x="7024253" y="4088183"/>
            <a:ext cx="4497185" cy="2108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75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Purpose of Business Process Management?</a:t>
            </a:r>
          </a:p>
        </p:txBody>
      </p:sp>
      <p:pic>
        <p:nvPicPr>
          <p:cNvPr id="4" name="Picture 2" descr="https://kissflow.com/wp-content/uploads/2021/04/Chaotic-100.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62451" y="2557463"/>
            <a:ext cx="6267097" cy="331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24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a:t>
            </a:r>
            <a:r>
              <a:rPr lang="en-US" dirty="0" smtClean="0"/>
              <a:t>Process </a:t>
            </a:r>
            <a:r>
              <a:rPr lang="en-US" dirty="0"/>
              <a:t>L</a:t>
            </a:r>
            <a:r>
              <a:rPr lang="en-US" dirty="0" smtClean="0"/>
              <a:t>ifecycle </a:t>
            </a:r>
            <a:endParaRPr lang="en-US" dirty="0"/>
          </a:p>
        </p:txBody>
      </p:sp>
      <p:pic>
        <p:nvPicPr>
          <p:cNvPr id="4" name="Content Placeholder 3"/>
          <p:cNvPicPr>
            <a:picLocks noGrp="1" noChangeAspect="1"/>
          </p:cNvPicPr>
          <p:nvPr>
            <p:ph idx="1"/>
          </p:nvPr>
        </p:nvPicPr>
        <p:blipFill>
          <a:blip r:embed="rId2"/>
          <a:stretch>
            <a:fillRect/>
          </a:stretch>
        </p:blipFill>
        <p:spPr>
          <a:xfrm>
            <a:off x="3787746" y="2532524"/>
            <a:ext cx="4616507" cy="3411951"/>
          </a:xfrm>
          <a:prstGeom prst="rect">
            <a:avLst/>
          </a:prstGeom>
        </p:spPr>
      </p:pic>
    </p:spTree>
    <p:extLst>
      <p:ext uri="{BB962C8B-B14F-4D97-AF65-F5344CB8AC3E}">
        <p14:creationId xmlns:p14="http://schemas.microsoft.com/office/powerpoint/2010/main" val="2529286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and Analysis</a:t>
            </a:r>
          </a:p>
        </p:txBody>
      </p:sp>
      <p:sp>
        <p:nvSpPr>
          <p:cNvPr id="3" name="Content Placeholder 2"/>
          <p:cNvSpPr>
            <a:spLocks noGrp="1"/>
          </p:cNvSpPr>
          <p:nvPr>
            <p:ph idx="1"/>
          </p:nvPr>
        </p:nvSpPr>
        <p:spPr/>
        <p:txBody>
          <a:bodyPr/>
          <a:lstStyle/>
          <a:p>
            <a:r>
              <a:rPr lang="en-US" dirty="0"/>
              <a:t>The business process lifecycle is entered in the Design and Analysis phase, in which surveys on the business processes and their organizational and technical environment are conducted. </a:t>
            </a:r>
          </a:p>
          <a:p>
            <a:r>
              <a:rPr lang="en-US" dirty="0"/>
              <a:t>Based on these surveys, business processes are identified, reviewed, validated, and represented by business process models.</a:t>
            </a:r>
          </a:p>
        </p:txBody>
      </p:sp>
    </p:spTree>
    <p:extLst>
      <p:ext uri="{BB962C8B-B14F-4D97-AF65-F5344CB8AC3E}">
        <p14:creationId xmlns:p14="http://schemas.microsoft.com/office/powerpoint/2010/main" val="869320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a:t>
            </a:r>
          </a:p>
        </p:txBody>
      </p:sp>
      <p:sp>
        <p:nvSpPr>
          <p:cNvPr id="3" name="Content Placeholder 2"/>
          <p:cNvSpPr>
            <a:spLocks noGrp="1"/>
          </p:cNvSpPr>
          <p:nvPr>
            <p:ph idx="1"/>
          </p:nvPr>
        </p:nvSpPr>
        <p:spPr/>
        <p:txBody>
          <a:bodyPr>
            <a:normAutofit fontScale="92500" lnSpcReduction="20000"/>
          </a:bodyPr>
          <a:lstStyle/>
          <a:p>
            <a:r>
              <a:rPr lang="en-US" dirty="0"/>
              <a:t>Once the business process model is designed and verified, the business process needs to be implemented. There are different ways to do so. It can be implemented by a set of policies and procedures that the employees of the enterprise need to comply with.</a:t>
            </a:r>
          </a:p>
          <a:p>
            <a:endParaRPr lang="en-US" dirty="0"/>
          </a:p>
          <a:p>
            <a:r>
              <a:rPr lang="en-US" dirty="0"/>
              <a:t>The configuration of a business process management system might also involve transactional aspects. Transactions are a well-known concept from database </a:t>
            </a:r>
            <a:r>
              <a:rPr lang="en-US" dirty="0" smtClean="0"/>
              <a:t>technology for example, </a:t>
            </a:r>
            <a:r>
              <a:rPr lang="en-US" dirty="0"/>
              <a:t>where a transaction manager guarantees that application programs run as transactions and obey the ACID principle: </a:t>
            </a:r>
            <a:r>
              <a:rPr lang="en-US" dirty="0" err="1"/>
              <a:t>atomicitiy</a:t>
            </a:r>
            <a:r>
              <a:rPr lang="en-US" dirty="0"/>
              <a:t>, consistency, isolation, and durability</a:t>
            </a:r>
          </a:p>
        </p:txBody>
      </p:sp>
    </p:spTree>
    <p:extLst>
      <p:ext uri="{BB962C8B-B14F-4D97-AF65-F5344CB8AC3E}">
        <p14:creationId xmlns:p14="http://schemas.microsoft.com/office/powerpoint/2010/main" val="405172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Atomicity</a:t>
            </a:r>
            <a:endParaRPr lang="en-US" dirty="0"/>
          </a:p>
        </p:txBody>
      </p:sp>
      <p:sp>
        <p:nvSpPr>
          <p:cNvPr id="3" name="Content Placeholder 2"/>
          <p:cNvSpPr>
            <a:spLocks noGrp="1"/>
          </p:cNvSpPr>
          <p:nvPr>
            <p:ph idx="1"/>
          </p:nvPr>
        </p:nvSpPr>
        <p:spPr/>
        <p:txBody>
          <a:bodyPr/>
          <a:lstStyle/>
          <a:p>
            <a:r>
              <a:rPr lang="en-US" dirty="0"/>
              <a:t>Atomicity is a property that ensures that a </a:t>
            </a:r>
            <a:r>
              <a:rPr lang="en-US" dirty="0" smtClean="0"/>
              <a:t>task </a:t>
            </a:r>
            <a:r>
              <a:rPr lang="en-US" dirty="0"/>
              <a:t>follows the all or nothing rule. In other words, the </a:t>
            </a:r>
            <a:r>
              <a:rPr lang="en-US" dirty="0" smtClean="0"/>
              <a:t>Process/ Task considers </a:t>
            </a:r>
            <a:r>
              <a:rPr lang="en-US" dirty="0"/>
              <a:t>all transaction operations as one whole unit or atom.</a:t>
            </a:r>
          </a:p>
          <a:p>
            <a:r>
              <a:rPr lang="en-US" dirty="0"/>
              <a:t>For example, user A wants to withdraw $50 from his account and then transfer it to the account of user B. Each transaction (withdrawing $50 from account A and transferring $50 to account B) is counted as separate. If the first transaction (withdrawing $50) fails because (say) the server crashes during the transaction, user A cannot transfer the money to user B.</a:t>
            </a:r>
          </a:p>
        </p:txBody>
      </p:sp>
    </p:spTree>
    <p:extLst>
      <p:ext uri="{BB962C8B-B14F-4D97-AF65-F5344CB8AC3E}">
        <p14:creationId xmlns:p14="http://schemas.microsoft.com/office/powerpoint/2010/main" val="2027819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Consistency</a:t>
            </a:r>
          </a:p>
        </p:txBody>
      </p:sp>
      <p:sp>
        <p:nvSpPr>
          <p:cNvPr id="3" name="Content Placeholder 2"/>
          <p:cNvSpPr>
            <a:spLocks noGrp="1"/>
          </p:cNvSpPr>
          <p:nvPr>
            <p:ph idx="1"/>
          </p:nvPr>
        </p:nvSpPr>
        <p:spPr/>
        <p:txBody>
          <a:bodyPr/>
          <a:lstStyle/>
          <a:p>
            <a:r>
              <a:rPr lang="en-US" dirty="0"/>
              <a:t>Consistency is a property ensuring that only valid data following all rules and constraints is written in </a:t>
            </a:r>
            <a:r>
              <a:rPr lang="en-US" dirty="0" smtClean="0"/>
              <a:t>the Process/Task.</a:t>
            </a:r>
            <a:endParaRPr lang="en-US" dirty="0"/>
          </a:p>
          <a:p>
            <a:r>
              <a:rPr lang="en-US" dirty="0"/>
              <a:t>For example, if user A wants to withdraw $1,000 from his account, but only has a balance of $500, consistency will prevent him from withdrawing money and the transaction will be aborted</a:t>
            </a:r>
          </a:p>
        </p:txBody>
      </p:sp>
    </p:spTree>
    <p:extLst>
      <p:ext uri="{BB962C8B-B14F-4D97-AF65-F5344CB8AC3E}">
        <p14:creationId xmlns:p14="http://schemas.microsoft.com/office/powerpoint/2010/main" val="727539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Isolation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a:t>Isolation is a property that guarantees the individuality of each transaction, and prevents them from being affected from other transactions. It ensures that transactions are securely and independently processed at the same time without interference, but it does not ensure the order of transactions.</a:t>
            </a:r>
          </a:p>
          <a:p>
            <a:r>
              <a:rPr lang="en-US" dirty="0"/>
              <a:t>For example, user A withdraws $100 and user B withdraws $250 from user Z’s account, which has a balance of $1,000. Since both A and B draw from Z’s account, one of the users is required to wait until the other user transaction is completed, avoiding inconsistent data.</a:t>
            </a:r>
          </a:p>
          <a:p>
            <a:r>
              <a:rPr lang="en-US" dirty="0"/>
              <a:t>If B is required to wait, then B must wait until A’s transaction is completed, and Z’s account balance changes to $900. Now, B can withdraw $250 from this $900 balance</a:t>
            </a:r>
          </a:p>
          <a:p>
            <a:endParaRPr lang="en-US" dirty="0"/>
          </a:p>
        </p:txBody>
      </p:sp>
    </p:spTree>
    <p:extLst>
      <p:ext uri="{BB962C8B-B14F-4D97-AF65-F5344CB8AC3E}">
        <p14:creationId xmlns:p14="http://schemas.microsoft.com/office/powerpoint/2010/main" val="1972187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Durability</a:t>
            </a:r>
            <a:endParaRPr lang="en-US" dirty="0"/>
          </a:p>
        </p:txBody>
      </p:sp>
      <p:sp>
        <p:nvSpPr>
          <p:cNvPr id="3" name="Content Placeholder 2"/>
          <p:cNvSpPr>
            <a:spLocks noGrp="1"/>
          </p:cNvSpPr>
          <p:nvPr>
            <p:ph idx="1"/>
          </p:nvPr>
        </p:nvSpPr>
        <p:spPr/>
        <p:txBody>
          <a:bodyPr/>
          <a:lstStyle/>
          <a:p>
            <a:r>
              <a:rPr lang="en-US" dirty="0"/>
              <a:t>Durability is a property that enforces completed transactions, guaranteeing that once each one of them has been committed, it will remain in the system even in case of subsequent failures.</a:t>
            </a:r>
          </a:p>
          <a:p>
            <a:r>
              <a:rPr lang="en-US" dirty="0"/>
              <a:t>If a transaction is successful, all changes generated by it are stored permanently.</a:t>
            </a:r>
          </a:p>
          <a:p>
            <a:r>
              <a:rPr lang="en-US" dirty="0"/>
              <a:t>In the above example, user B may withdraw $100 only after user A’s transaction is </a:t>
            </a:r>
            <a:r>
              <a:rPr lang="en-US" dirty="0" smtClean="0"/>
              <a:t>completed.</a:t>
            </a:r>
            <a:endParaRPr lang="en-US" dirty="0"/>
          </a:p>
          <a:p>
            <a:endParaRPr lang="en-US" dirty="0"/>
          </a:p>
        </p:txBody>
      </p:sp>
    </p:spTree>
    <p:extLst>
      <p:ext uri="{BB962C8B-B14F-4D97-AF65-F5344CB8AC3E}">
        <p14:creationId xmlns:p14="http://schemas.microsoft.com/office/powerpoint/2010/main" val="791243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Enactment </a:t>
            </a:r>
          </a:p>
        </p:txBody>
      </p:sp>
      <p:sp>
        <p:nvSpPr>
          <p:cNvPr id="3" name="Content Placeholder 2"/>
          <p:cNvSpPr>
            <a:spLocks noGrp="1"/>
          </p:cNvSpPr>
          <p:nvPr>
            <p:ph idx="1"/>
          </p:nvPr>
        </p:nvSpPr>
        <p:spPr/>
        <p:txBody>
          <a:bodyPr/>
          <a:lstStyle/>
          <a:p>
            <a:r>
              <a:rPr lang="en-US" dirty="0"/>
              <a:t>During business process enactment, valuable execution data is gathered, typically in some form of log file. These log files consist of ordered sets of log entries, indicating events that have occurred during business processes. Start of activity and end of activity is typical information stored in execution logs.</a:t>
            </a:r>
          </a:p>
        </p:txBody>
      </p:sp>
    </p:spTree>
    <p:extLst>
      <p:ext uri="{BB962C8B-B14F-4D97-AF65-F5344CB8AC3E}">
        <p14:creationId xmlns:p14="http://schemas.microsoft.com/office/powerpoint/2010/main" val="3140889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a:t>
            </a:r>
          </a:p>
        </p:txBody>
      </p:sp>
      <p:sp>
        <p:nvSpPr>
          <p:cNvPr id="3" name="Content Placeholder 2"/>
          <p:cNvSpPr>
            <a:spLocks noGrp="1"/>
          </p:cNvSpPr>
          <p:nvPr>
            <p:ph idx="1"/>
          </p:nvPr>
        </p:nvSpPr>
        <p:spPr/>
        <p:txBody>
          <a:bodyPr/>
          <a:lstStyle/>
          <a:p>
            <a:r>
              <a:rPr lang="en-US" dirty="0" smtClean="0"/>
              <a:t>Execution </a:t>
            </a:r>
            <a:r>
              <a:rPr lang="en-US" dirty="0"/>
              <a:t>logs are evaluated using business activity monitoring and process mining techniques. These techniques aim at identifying the quality of business process models and the adequacy of the execution environment.</a:t>
            </a:r>
          </a:p>
        </p:txBody>
      </p:sp>
    </p:spTree>
    <p:extLst>
      <p:ext uri="{BB962C8B-B14F-4D97-AF65-F5344CB8AC3E}">
        <p14:creationId xmlns:p14="http://schemas.microsoft.com/office/powerpoint/2010/main" val="1241814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CA" altLang="en-US" dirty="0" smtClean="0"/>
              <a:t>The Value of Information</a:t>
            </a:r>
            <a:endParaRPr lang="en-US" altLang="en-US" dirty="0" smtClean="0"/>
          </a:p>
        </p:txBody>
      </p:sp>
      <p:sp>
        <p:nvSpPr>
          <p:cNvPr id="8195" name="Content Placeholder 2"/>
          <p:cNvSpPr>
            <a:spLocks noGrp="1"/>
          </p:cNvSpPr>
          <p:nvPr>
            <p:ph idx="1"/>
          </p:nvPr>
        </p:nvSpPr>
        <p:spPr>
          <a:xfrm>
            <a:off x="1439500" y="2480077"/>
            <a:ext cx="9457097" cy="3500438"/>
          </a:xfrm>
        </p:spPr>
        <p:txBody>
          <a:bodyPr>
            <a:normAutofit/>
          </a:bodyPr>
          <a:lstStyle/>
          <a:p>
            <a:pPr marL="0" indent="0" eaLnBrk="1" hangingPunct="1">
              <a:buFontTx/>
              <a:buNone/>
            </a:pPr>
            <a:r>
              <a:rPr lang="en-CA" altLang="en-US" sz="3600" dirty="0"/>
              <a:t>The value of Information </a:t>
            </a:r>
            <a:r>
              <a:rPr lang="en-CA" altLang="en-US" sz="3600" dirty="0" smtClean="0"/>
              <a:t>is </a:t>
            </a:r>
            <a:r>
              <a:rPr lang="en-CA" altLang="en-US" sz="3600" dirty="0"/>
              <a:t>directly linked to </a:t>
            </a:r>
            <a:r>
              <a:rPr lang="en-CA" altLang="en-US" sz="3600" dirty="0" smtClean="0"/>
              <a:t>how it </a:t>
            </a:r>
            <a:r>
              <a:rPr lang="en-CA" altLang="en-US" sz="3600" dirty="0"/>
              <a:t>helps decision </a:t>
            </a:r>
            <a:r>
              <a:rPr lang="en-CA" altLang="en-US" sz="3600" dirty="0" smtClean="0"/>
              <a:t>makers achieve their organization’s goals</a:t>
            </a:r>
            <a:r>
              <a:rPr lang="en-CA" altLang="en-US" sz="3600" dirty="0"/>
              <a:t>.</a:t>
            </a:r>
            <a:endParaRPr lang="en-US" altLang="en-US" sz="3600" dirty="0"/>
          </a:p>
        </p:txBody>
      </p:sp>
    </p:spTree>
    <p:extLst>
      <p:ext uri="{BB962C8B-B14F-4D97-AF65-F5344CB8AC3E}">
        <p14:creationId xmlns:p14="http://schemas.microsoft.com/office/powerpoint/2010/main" val="77085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CA" altLang="en-US" dirty="0" smtClean="0"/>
              <a:t>Element of a Business Process</a:t>
            </a:r>
            <a:endParaRPr lang="en-US" altLang="en-US" dirty="0" smtClean="0"/>
          </a:p>
        </p:txBody>
      </p:sp>
      <p:sp>
        <p:nvSpPr>
          <p:cNvPr id="12291" name="Content Placeholder 2"/>
          <p:cNvSpPr>
            <a:spLocks noGrp="1"/>
          </p:cNvSpPr>
          <p:nvPr>
            <p:ph idx="1"/>
          </p:nvPr>
        </p:nvSpPr>
        <p:spPr/>
        <p:txBody>
          <a:bodyPr/>
          <a:lstStyle/>
          <a:p>
            <a:pPr eaLnBrk="1" hangingPunct="1">
              <a:buFontTx/>
              <a:buNone/>
            </a:pPr>
            <a:r>
              <a:rPr lang="en-CA" altLang="en-US" b="1" u="sng" dirty="0" smtClean="0"/>
              <a:t>People:</a:t>
            </a:r>
            <a:r>
              <a:rPr lang="en-CA" altLang="en-US" dirty="0" smtClean="0"/>
              <a:t> Human Resource (level, ranks, responsibilities, information)</a:t>
            </a:r>
          </a:p>
          <a:p>
            <a:pPr eaLnBrk="1" hangingPunct="1">
              <a:buFontTx/>
              <a:buNone/>
            </a:pPr>
            <a:endParaRPr lang="en-CA" altLang="en-US" b="1" u="sng" dirty="0" smtClean="0"/>
          </a:p>
          <a:p>
            <a:pPr eaLnBrk="1" hangingPunct="1">
              <a:buFontTx/>
              <a:buNone/>
            </a:pPr>
            <a:r>
              <a:rPr lang="en-CA" altLang="en-US" b="1" u="sng" dirty="0" smtClean="0"/>
              <a:t>Procedures:</a:t>
            </a:r>
          </a:p>
          <a:p>
            <a:pPr eaLnBrk="1" hangingPunct="1">
              <a:buFontTx/>
              <a:buNone/>
            </a:pPr>
            <a:r>
              <a:rPr lang="en-CA" altLang="en-US" dirty="0" smtClean="0"/>
              <a:t>			Strategies, policies, methods, and rules.</a:t>
            </a:r>
            <a:endParaRPr lang="en-US" altLang="en-US" dirty="0" smtClean="0"/>
          </a:p>
        </p:txBody>
      </p:sp>
      <p:pic>
        <p:nvPicPr>
          <p:cNvPr id="12292" name="Picture 2" descr="C:\Program Files\Microsoft Office\MEDIA\CAGCAT10\j0234687.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728296" y="4422776"/>
            <a:ext cx="2714625"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25369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5"/>
          <p:cNvSpPr>
            <a:spLocks noGrp="1"/>
          </p:cNvSpPr>
          <p:nvPr>
            <p:ph idx="1"/>
          </p:nvPr>
        </p:nvSpPr>
        <p:spPr>
          <a:xfrm>
            <a:off x="2209801" y="1143001"/>
            <a:ext cx="8029575" cy="5072063"/>
          </a:xfrm>
        </p:spPr>
        <p:txBody>
          <a:bodyPr/>
          <a:lstStyle/>
          <a:p>
            <a:pPr eaLnBrk="1" hangingPunct="1">
              <a:buFontTx/>
              <a:buNone/>
            </a:pPr>
            <a:endParaRPr lang="en-US" altLang="en-US" sz="3200" dirty="0"/>
          </a:p>
        </p:txBody>
      </p:sp>
      <p:sp>
        <p:nvSpPr>
          <p:cNvPr id="7" name="Rectangle 6"/>
          <p:cNvSpPr>
            <a:spLocks noChangeArrowheads="1"/>
          </p:cNvSpPr>
          <p:nvPr/>
        </p:nvSpPr>
        <p:spPr bwMode="auto">
          <a:xfrm>
            <a:off x="2166938" y="3500438"/>
            <a:ext cx="1071562" cy="500062"/>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a:solidFill>
                  <a:srgbClr val="0D0D0D"/>
                </a:solidFill>
                <a:latin typeface="Times" panose="02020603050405020304" pitchFamily="18" charset="0"/>
              </a:rPr>
              <a:t>Data</a:t>
            </a:r>
            <a:endParaRPr lang="en-US" altLang="en-US">
              <a:solidFill>
                <a:srgbClr val="0D0D0D"/>
              </a:solidFill>
              <a:latin typeface="Times" panose="02020603050405020304" pitchFamily="18" charset="0"/>
            </a:endParaRPr>
          </a:p>
        </p:txBody>
      </p:sp>
      <p:sp>
        <p:nvSpPr>
          <p:cNvPr id="8" name="Rectangle 7"/>
          <p:cNvSpPr>
            <a:spLocks noChangeArrowheads="1"/>
          </p:cNvSpPr>
          <p:nvPr/>
        </p:nvSpPr>
        <p:spPr bwMode="auto">
          <a:xfrm>
            <a:off x="3595689" y="3500438"/>
            <a:ext cx="1000125" cy="500062"/>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a:solidFill>
                  <a:srgbClr val="0D0D0D"/>
                </a:solidFill>
                <a:latin typeface="Times" panose="02020603050405020304" pitchFamily="18" charset="0"/>
              </a:rPr>
              <a:t>Input</a:t>
            </a:r>
            <a:endParaRPr lang="en-US" altLang="en-US">
              <a:solidFill>
                <a:srgbClr val="0D0D0D"/>
              </a:solidFill>
              <a:latin typeface="Times" panose="02020603050405020304" pitchFamily="18" charset="0"/>
            </a:endParaRPr>
          </a:p>
        </p:txBody>
      </p:sp>
      <p:sp>
        <p:nvSpPr>
          <p:cNvPr id="9" name="Rectangle 8"/>
          <p:cNvSpPr>
            <a:spLocks noChangeArrowheads="1"/>
          </p:cNvSpPr>
          <p:nvPr/>
        </p:nvSpPr>
        <p:spPr bwMode="auto">
          <a:xfrm>
            <a:off x="4738688" y="5572125"/>
            <a:ext cx="1785937" cy="428625"/>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dirty="0">
                <a:solidFill>
                  <a:srgbClr val="0D0D0D"/>
                </a:solidFill>
                <a:latin typeface="Times" panose="02020603050405020304" pitchFamily="18" charset="0"/>
              </a:rPr>
              <a:t>Feedback</a:t>
            </a:r>
            <a:endParaRPr lang="en-US" altLang="en-US" dirty="0">
              <a:solidFill>
                <a:srgbClr val="0D0D0D"/>
              </a:solidFill>
              <a:latin typeface="Times" panose="02020603050405020304" pitchFamily="18" charset="0"/>
            </a:endParaRPr>
          </a:p>
        </p:txBody>
      </p:sp>
      <p:sp>
        <p:nvSpPr>
          <p:cNvPr id="10" name="Rectangle 9"/>
          <p:cNvSpPr>
            <a:spLocks noChangeArrowheads="1"/>
          </p:cNvSpPr>
          <p:nvPr/>
        </p:nvSpPr>
        <p:spPr bwMode="auto">
          <a:xfrm>
            <a:off x="4881563" y="4643438"/>
            <a:ext cx="1357312" cy="500062"/>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a:solidFill>
                  <a:srgbClr val="0D0D0D"/>
                </a:solidFill>
                <a:latin typeface="Times" panose="02020603050405020304" pitchFamily="18" charset="0"/>
              </a:rPr>
              <a:t>Control</a:t>
            </a:r>
            <a:endParaRPr lang="en-US" altLang="en-US">
              <a:solidFill>
                <a:srgbClr val="0D0D0D"/>
              </a:solidFill>
              <a:latin typeface="Times" panose="02020603050405020304" pitchFamily="18" charset="0"/>
            </a:endParaRPr>
          </a:p>
        </p:txBody>
      </p:sp>
      <p:sp>
        <p:nvSpPr>
          <p:cNvPr id="11" name="Rectangle 10"/>
          <p:cNvSpPr>
            <a:spLocks noChangeArrowheads="1"/>
          </p:cNvSpPr>
          <p:nvPr/>
        </p:nvSpPr>
        <p:spPr bwMode="auto">
          <a:xfrm>
            <a:off x="8239126" y="3429000"/>
            <a:ext cx="2143125" cy="642938"/>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a:solidFill>
                  <a:srgbClr val="0D0D0D"/>
                </a:solidFill>
                <a:latin typeface="Times" panose="02020603050405020304" pitchFamily="18" charset="0"/>
              </a:rPr>
              <a:t>Information</a:t>
            </a:r>
            <a:endParaRPr lang="en-US" altLang="en-US">
              <a:solidFill>
                <a:srgbClr val="0D0D0D"/>
              </a:solidFill>
              <a:latin typeface="Times" panose="02020603050405020304" pitchFamily="18" charset="0"/>
            </a:endParaRPr>
          </a:p>
        </p:txBody>
      </p:sp>
      <p:sp>
        <p:nvSpPr>
          <p:cNvPr id="12" name="Rectangle 11"/>
          <p:cNvSpPr>
            <a:spLocks noChangeArrowheads="1"/>
          </p:cNvSpPr>
          <p:nvPr/>
        </p:nvSpPr>
        <p:spPr bwMode="auto">
          <a:xfrm>
            <a:off x="7953376" y="1214437"/>
            <a:ext cx="2428875" cy="1000125"/>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a:solidFill>
                  <a:srgbClr val="0D0D0D"/>
                </a:solidFill>
                <a:latin typeface="Times" panose="02020603050405020304" pitchFamily="18" charset="0"/>
              </a:rPr>
              <a:t>Management Decisions</a:t>
            </a:r>
            <a:endParaRPr lang="en-US" altLang="en-US">
              <a:solidFill>
                <a:srgbClr val="0D0D0D"/>
              </a:solidFill>
              <a:latin typeface="Times" panose="02020603050405020304" pitchFamily="18" charset="0"/>
            </a:endParaRPr>
          </a:p>
        </p:txBody>
      </p:sp>
      <p:sp>
        <p:nvSpPr>
          <p:cNvPr id="13" name="Rectangle 12"/>
          <p:cNvSpPr>
            <a:spLocks noChangeArrowheads="1"/>
          </p:cNvSpPr>
          <p:nvPr/>
        </p:nvSpPr>
        <p:spPr bwMode="auto">
          <a:xfrm>
            <a:off x="6596064" y="3500438"/>
            <a:ext cx="1285875" cy="500062"/>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a:solidFill>
                  <a:srgbClr val="0D0D0D"/>
                </a:solidFill>
                <a:latin typeface="Times" panose="02020603050405020304" pitchFamily="18" charset="0"/>
              </a:rPr>
              <a:t>Output</a:t>
            </a:r>
            <a:endParaRPr lang="en-US" altLang="en-US">
              <a:solidFill>
                <a:srgbClr val="0D0D0D"/>
              </a:solidFill>
              <a:latin typeface="Times" panose="02020603050405020304" pitchFamily="18" charset="0"/>
            </a:endParaRPr>
          </a:p>
        </p:txBody>
      </p:sp>
      <p:sp>
        <p:nvSpPr>
          <p:cNvPr id="14" name="Rectangle 13"/>
          <p:cNvSpPr>
            <a:spLocks noChangeArrowheads="1"/>
          </p:cNvSpPr>
          <p:nvPr/>
        </p:nvSpPr>
        <p:spPr bwMode="auto">
          <a:xfrm>
            <a:off x="4810125" y="3500438"/>
            <a:ext cx="1500188" cy="500062"/>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a:solidFill>
                  <a:srgbClr val="0D0D0D"/>
                </a:solidFill>
                <a:latin typeface="Times" panose="02020603050405020304" pitchFamily="18" charset="0"/>
              </a:rPr>
              <a:t>Process</a:t>
            </a:r>
            <a:endParaRPr lang="en-US" altLang="en-US">
              <a:solidFill>
                <a:srgbClr val="0D0D0D"/>
              </a:solidFill>
              <a:latin typeface="Times" panose="02020603050405020304" pitchFamily="18" charset="0"/>
            </a:endParaRPr>
          </a:p>
        </p:txBody>
      </p:sp>
      <p:cxnSp>
        <p:nvCxnSpPr>
          <p:cNvPr id="27659" name="Elbow Connector 15"/>
          <p:cNvCxnSpPr>
            <a:cxnSpLocks noChangeShapeType="1"/>
            <a:stCxn id="7" idx="3"/>
            <a:endCxn id="8" idx="1"/>
          </p:cNvCxnSpPr>
          <p:nvPr/>
        </p:nvCxnSpPr>
        <p:spPr bwMode="auto">
          <a:xfrm>
            <a:off x="3238500" y="3751264"/>
            <a:ext cx="357188" cy="1587"/>
          </a:xfrm>
          <a:prstGeom prst="bentConnector3">
            <a:avLst>
              <a:gd name="adj1" fmla="val 50000"/>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0" name="Elbow Connector 18"/>
          <p:cNvCxnSpPr>
            <a:cxnSpLocks noChangeShapeType="1"/>
            <a:stCxn id="8" idx="3"/>
            <a:endCxn id="14" idx="1"/>
          </p:cNvCxnSpPr>
          <p:nvPr/>
        </p:nvCxnSpPr>
        <p:spPr bwMode="auto">
          <a:xfrm>
            <a:off x="4595813" y="3751264"/>
            <a:ext cx="214312" cy="1587"/>
          </a:xfrm>
          <a:prstGeom prst="bentConnector3">
            <a:avLst>
              <a:gd name="adj1" fmla="val 50000"/>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1" name="Elbow Connector 28"/>
          <p:cNvCxnSpPr>
            <a:cxnSpLocks noChangeShapeType="1"/>
            <a:stCxn id="14" idx="3"/>
            <a:endCxn id="13" idx="1"/>
          </p:cNvCxnSpPr>
          <p:nvPr/>
        </p:nvCxnSpPr>
        <p:spPr bwMode="auto">
          <a:xfrm>
            <a:off x="6310313" y="3751264"/>
            <a:ext cx="285750" cy="1587"/>
          </a:xfrm>
          <a:prstGeom prst="bentConnector3">
            <a:avLst>
              <a:gd name="adj1" fmla="val 50000"/>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2" name="Elbow Connector 34"/>
          <p:cNvCxnSpPr>
            <a:cxnSpLocks noChangeShapeType="1"/>
            <a:stCxn id="13" idx="3"/>
            <a:endCxn id="11" idx="1"/>
          </p:cNvCxnSpPr>
          <p:nvPr/>
        </p:nvCxnSpPr>
        <p:spPr bwMode="auto">
          <a:xfrm>
            <a:off x="7881939" y="3751263"/>
            <a:ext cx="357187" cy="0"/>
          </a:xfrm>
          <a:prstGeom prst="bentConnector3">
            <a:avLst>
              <a:gd name="adj1" fmla="val 50000"/>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7663" name="Rectangle 39"/>
          <p:cNvSpPr>
            <a:spLocks noChangeArrowheads="1"/>
          </p:cNvSpPr>
          <p:nvPr/>
        </p:nvSpPr>
        <p:spPr bwMode="auto">
          <a:xfrm>
            <a:off x="3452813" y="3071814"/>
            <a:ext cx="4500562" cy="2357437"/>
          </a:xfrm>
          <a:prstGeom prst="rect">
            <a:avLst/>
          </a:prstGeom>
          <a:noFill/>
          <a:ln w="222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endParaRPr lang="en-US" altLang="en-US" sz="2400">
              <a:solidFill>
                <a:schemeClr val="tx1"/>
              </a:solidFill>
              <a:latin typeface="Times" panose="02020603050405020304" pitchFamily="18" charset="0"/>
            </a:endParaRPr>
          </a:p>
        </p:txBody>
      </p:sp>
      <p:cxnSp>
        <p:nvCxnSpPr>
          <p:cNvPr id="27664" name="Shape 42"/>
          <p:cNvCxnSpPr>
            <a:cxnSpLocks noChangeShapeType="1"/>
            <a:stCxn id="13" idx="2"/>
          </p:cNvCxnSpPr>
          <p:nvPr/>
        </p:nvCxnSpPr>
        <p:spPr bwMode="auto">
          <a:xfrm rot="5400000">
            <a:off x="6346032" y="3964782"/>
            <a:ext cx="857250" cy="928687"/>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5" name="Shape 44"/>
          <p:cNvCxnSpPr>
            <a:cxnSpLocks noChangeShapeType="1"/>
            <a:stCxn id="10" idx="1"/>
          </p:cNvCxnSpPr>
          <p:nvPr/>
        </p:nvCxnSpPr>
        <p:spPr bwMode="auto">
          <a:xfrm rot="10800000">
            <a:off x="4095751" y="4071939"/>
            <a:ext cx="785813" cy="822325"/>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6" name="Shape 49"/>
          <p:cNvCxnSpPr>
            <a:cxnSpLocks noChangeShapeType="1"/>
          </p:cNvCxnSpPr>
          <p:nvPr/>
        </p:nvCxnSpPr>
        <p:spPr bwMode="auto">
          <a:xfrm rot="10800000">
            <a:off x="2738438" y="4071938"/>
            <a:ext cx="2000250" cy="1822450"/>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7" name="Shape 53"/>
          <p:cNvCxnSpPr>
            <a:cxnSpLocks noChangeShapeType="1"/>
            <a:stCxn id="11" idx="2"/>
          </p:cNvCxnSpPr>
          <p:nvPr/>
        </p:nvCxnSpPr>
        <p:spPr bwMode="auto">
          <a:xfrm rot="5400000">
            <a:off x="7060407" y="3536157"/>
            <a:ext cx="1714500" cy="2786063"/>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7668" name="Elbow Connector 57"/>
          <p:cNvCxnSpPr>
            <a:cxnSpLocks noChangeShapeType="1"/>
          </p:cNvCxnSpPr>
          <p:nvPr/>
        </p:nvCxnSpPr>
        <p:spPr bwMode="auto">
          <a:xfrm rot="5400000" flipH="1" flipV="1">
            <a:off x="8703470" y="2821782"/>
            <a:ext cx="1214437" cy="0"/>
          </a:xfrm>
          <a:prstGeom prst="bentConnector3">
            <a:avLst>
              <a:gd name="adj1" fmla="val 50000"/>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6645" name="TextBox 61"/>
          <p:cNvSpPr txBox="1">
            <a:spLocks noChangeArrowheads="1"/>
          </p:cNvSpPr>
          <p:nvPr/>
        </p:nvSpPr>
        <p:spPr bwMode="auto">
          <a:xfrm>
            <a:off x="3095625" y="3571876"/>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endParaRPr lang="en-US" altLang="en-US" sz="2400">
              <a:solidFill>
                <a:schemeClr val="tx1"/>
              </a:solidFill>
              <a:latin typeface="Times" panose="02020603050405020304" pitchFamily="18" charset="0"/>
            </a:endParaRPr>
          </a:p>
        </p:txBody>
      </p:sp>
      <p:sp>
        <p:nvSpPr>
          <p:cNvPr id="27670" name="Rectangle 62"/>
          <p:cNvSpPr>
            <a:spLocks noChangeArrowheads="1"/>
          </p:cNvSpPr>
          <p:nvPr/>
        </p:nvSpPr>
        <p:spPr bwMode="auto">
          <a:xfrm>
            <a:off x="3452814" y="2391287"/>
            <a:ext cx="442912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dirty="0">
                <a:solidFill>
                  <a:schemeClr val="tx1"/>
                </a:solidFill>
                <a:latin typeface="Times" panose="02020603050405020304" pitchFamily="18" charset="0"/>
              </a:rPr>
              <a:t>(Environment)</a:t>
            </a:r>
            <a:endParaRPr lang="en-US" altLang="en-US" dirty="0">
              <a:solidFill>
                <a:schemeClr val="tx1"/>
              </a:solidFill>
              <a:latin typeface="Times" panose="02020603050405020304" pitchFamily="18" charset="0"/>
            </a:endParaRPr>
          </a:p>
        </p:txBody>
      </p:sp>
      <p:sp>
        <p:nvSpPr>
          <p:cNvPr id="25" name="TextBox 24"/>
          <p:cNvSpPr txBox="1">
            <a:spLocks noChangeArrowheads="1"/>
          </p:cNvSpPr>
          <p:nvPr/>
        </p:nvSpPr>
        <p:spPr bwMode="auto">
          <a:xfrm>
            <a:off x="1666875" y="608011"/>
            <a:ext cx="7786688"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3800" dirty="0">
                <a:solidFill>
                  <a:schemeClr val="tx1"/>
                </a:solidFill>
                <a:latin typeface="Times" panose="02020603050405020304" pitchFamily="18" charset="0"/>
              </a:rPr>
              <a:t>General </a:t>
            </a:r>
            <a:r>
              <a:rPr lang="en-CA" altLang="en-US" sz="3800" dirty="0" smtClean="0">
                <a:solidFill>
                  <a:schemeClr val="tx1"/>
                </a:solidFill>
                <a:latin typeface="Times" panose="02020603050405020304" pitchFamily="18" charset="0"/>
              </a:rPr>
              <a:t>Flow of a Process</a:t>
            </a:r>
            <a:endParaRPr lang="en-US" altLang="en-US" sz="3800" dirty="0">
              <a:solidFill>
                <a:schemeClr val="tx1"/>
              </a:solidFill>
              <a:latin typeface="Times" panose="02020603050405020304" pitchFamily="18" charset="0"/>
            </a:endParaRPr>
          </a:p>
        </p:txBody>
      </p:sp>
    </p:spTree>
    <p:extLst>
      <p:ext uri="{BB962C8B-B14F-4D97-AF65-F5344CB8AC3E}">
        <p14:creationId xmlns:p14="http://schemas.microsoft.com/office/powerpoint/2010/main" val="4224354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7660"/>
                                        </p:tgtEl>
                                        <p:attrNameLst>
                                          <p:attrName>style.visibility</p:attrName>
                                        </p:attrNameLst>
                                      </p:cBhvr>
                                      <p:to>
                                        <p:strVal val="visible"/>
                                      </p:to>
                                    </p:set>
                                    <p:anim calcmode="lin" valueType="num">
                                      <p:cBhvr additive="base">
                                        <p:cTn id="27" dur="500" fill="hold"/>
                                        <p:tgtEl>
                                          <p:spTgt spid="27660"/>
                                        </p:tgtEl>
                                        <p:attrNameLst>
                                          <p:attrName>ppt_x</p:attrName>
                                        </p:attrNameLst>
                                      </p:cBhvr>
                                      <p:tavLst>
                                        <p:tav tm="0">
                                          <p:val>
                                            <p:strVal val="#ppt_x"/>
                                          </p:val>
                                        </p:tav>
                                        <p:tav tm="100000">
                                          <p:val>
                                            <p:strVal val="#ppt_x"/>
                                          </p:val>
                                        </p:tav>
                                      </p:tavLst>
                                    </p:anim>
                                    <p:anim calcmode="lin" valueType="num">
                                      <p:cBhvr additive="base">
                                        <p:cTn id="28" dur="500" fill="hold"/>
                                        <p:tgtEl>
                                          <p:spTgt spid="2766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7661"/>
                                        </p:tgtEl>
                                        <p:attrNameLst>
                                          <p:attrName>style.visibility</p:attrName>
                                        </p:attrNameLst>
                                      </p:cBhvr>
                                      <p:to>
                                        <p:strVal val="visible"/>
                                      </p:to>
                                    </p:set>
                                    <p:anim calcmode="lin" valueType="num">
                                      <p:cBhvr additive="base">
                                        <p:cTn id="31" dur="500" fill="hold"/>
                                        <p:tgtEl>
                                          <p:spTgt spid="27661"/>
                                        </p:tgtEl>
                                        <p:attrNameLst>
                                          <p:attrName>ppt_x</p:attrName>
                                        </p:attrNameLst>
                                      </p:cBhvr>
                                      <p:tavLst>
                                        <p:tav tm="0">
                                          <p:val>
                                            <p:strVal val="#ppt_x"/>
                                          </p:val>
                                        </p:tav>
                                        <p:tav tm="100000">
                                          <p:val>
                                            <p:strVal val="#ppt_x"/>
                                          </p:val>
                                        </p:tav>
                                      </p:tavLst>
                                    </p:anim>
                                    <p:anim calcmode="lin" valueType="num">
                                      <p:cBhvr additive="base">
                                        <p:cTn id="32" dur="500" fill="hold"/>
                                        <p:tgtEl>
                                          <p:spTgt spid="27661"/>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7665"/>
                                        </p:tgtEl>
                                        <p:attrNameLst>
                                          <p:attrName>style.visibility</p:attrName>
                                        </p:attrNameLst>
                                      </p:cBhvr>
                                      <p:to>
                                        <p:strVal val="visible"/>
                                      </p:to>
                                    </p:set>
                                    <p:anim calcmode="lin" valueType="num">
                                      <p:cBhvr additive="base">
                                        <p:cTn id="41" dur="500" fill="hold"/>
                                        <p:tgtEl>
                                          <p:spTgt spid="27665"/>
                                        </p:tgtEl>
                                        <p:attrNameLst>
                                          <p:attrName>ppt_x</p:attrName>
                                        </p:attrNameLst>
                                      </p:cBhvr>
                                      <p:tavLst>
                                        <p:tav tm="0">
                                          <p:val>
                                            <p:strVal val="#ppt_x"/>
                                          </p:val>
                                        </p:tav>
                                        <p:tav tm="100000">
                                          <p:val>
                                            <p:strVal val="#ppt_x"/>
                                          </p:val>
                                        </p:tav>
                                      </p:tavLst>
                                    </p:anim>
                                    <p:anim calcmode="lin" valueType="num">
                                      <p:cBhvr additive="base">
                                        <p:cTn id="42" dur="500" fill="hold"/>
                                        <p:tgtEl>
                                          <p:spTgt spid="27665"/>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7664"/>
                                        </p:tgtEl>
                                        <p:attrNameLst>
                                          <p:attrName>style.visibility</p:attrName>
                                        </p:attrNameLst>
                                      </p:cBhvr>
                                      <p:to>
                                        <p:strVal val="visible"/>
                                      </p:to>
                                    </p:set>
                                    <p:anim calcmode="lin" valueType="num">
                                      <p:cBhvr additive="base">
                                        <p:cTn id="45" dur="500" fill="hold"/>
                                        <p:tgtEl>
                                          <p:spTgt spid="27664"/>
                                        </p:tgtEl>
                                        <p:attrNameLst>
                                          <p:attrName>ppt_x</p:attrName>
                                        </p:attrNameLst>
                                      </p:cBhvr>
                                      <p:tavLst>
                                        <p:tav tm="0">
                                          <p:val>
                                            <p:strVal val="#ppt_x"/>
                                          </p:val>
                                        </p:tav>
                                        <p:tav tm="100000">
                                          <p:val>
                                            <p:strVal val="#ppt_x"/>
                                          </p:val>
                                        </p:tav>
                                      </p:tavLst>
                                    </p:anim>
                                    <p:anim calcmode="lin" valueType="num">
                                      <p:cBhvr additive="base">
                                        <p:cTn id="46" dur="500" fill="hold"/>
                                        <p:tgtEl>
                                          <p:spTgt spid="27664"/>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7663"/>
                                        </p:tgtEl>
                                        <p:attrNameLst>
                                          <p:attrName>style.visibility</p:attrName>
                                        </p:attrNameLst>
                                      </p:cBhvr>
                                      <p:to>
                                        <p:strVal val="visible"/>
                                      </p:to>
                                    </p:set>
                                    <p:anim calcmode="lin" valueType="num">
                                      <p:cBhvr additive="base">
                                        <p:cTn id="51" dur="500" fill="hold"/>
                                        <p:tgtEl>
                                          <p:spTgt spid="27663"/>
                                        </p:tgtEl>
                                        <p:attrNameLst>
                                          <p:attrName>ppt_x</p:attrName>
                                        </p:attrNameLst>
                                      </p:cBhvr>
                                      <p:tavLst>
                                        <p:tav tm="0">
                                          <p:val>
                                            <p:strVal val="#ppt_x"/>
                                          </p:val>
                                        </p:tav>
                                        <p:tav tm="100000">
                                          <p:val>
                                            <p:strVal val="#ppt_x"/>
                                          </p:val>
                                        </p:tav>
                                      </p:tavLst>
                                    </p:anim>
                                    <p:anim calcmode="lin" valueType="num">
                                      <p:cBhvr additive="base">
                                        <p:cTn id="52" dur="500" fill="hold"/>
                                        <p:tgtEl>
                                          <p:spTgt spid="27663"/>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7670"/>
                                        </p:tgtEl>
                                        <p:attrNameLst>
                                          <p:attrName>style.visibility</p:attrName>
                                        </p:attrNameLst>
                                      </p:cBhvr>
                                      <p:to>
                                        <p:strVal val="visible"/>
                                      </p:to>
                                    </p:set>
                                    <p:anim calcmode="lin" valueType="num">
                                      <p:cBhvr additive="base">
                                        <p:cTn id="57" dur="500" fill="hold"/>
                                        <p:tgtEl>
                                          <p:spTgt spid="27670"/>
                                        </p:tgtEl>
                                        <p:attrNameLst>
                                          <p:attrName>ppt_x</p:attrName>
                                        </p:attrNameLst>
                                      </p:cBhvr>
                                      <p:tavLst>
                                        <p:tav tm="0">
                                          <p:val>
                                            <p:strVal val="#ppt_x"/>
                                          </p:val>
                                        </p:tav>
                                        <p:tav tm="100000">
                                          <p:val>
                                            <p:strVal val="#ppt_x"/>
                                          </p:val>
                                        </p:tav>
                                      </p:tavLst>
                                    </p:anim>
                                    <p:anim calcmode="lin" valueType="num">
                                      <p:cBhvr additive="base">
                                        <p:cTn id="58" dur="500" fill="hold"/>
                                        <p:tgtEl>
                                          <p:spTgt spid="27670"/>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500" fill="hold"/>
                                        <p:tgtEl>
                                          <p:spTgt spid="7"/>
                                        </p:tgtEl>
                                        <p:attrNameLst>
                                          <p:attrName>ppt_x</p:attrName>
                                        </p:attrNameLst>
                                      </p:cBhvr>
                                      <p:tavLst>
                                        <p:tav tm="0">
                                          <p:val>
                                            <p:strVal val="#ppt_x"/>
                                          </p:val>
                                        </p:tav>
                                        <p:tav tm="100000">
                                          <p:val>
                                            <p:strVal val="#ppt_x"/>
                                          </p:val>
                                        </p:tav>
                                      </p:tavLst>
                                    </p:anim>
                                    <p:anim calcmode="lin" valueType="num">
                                      <p:cBhvr additive="base">
                                        <p:cTn id="64" dur="500" fill="hold"/>
                                        <p:tgtEl>
                                          <p:spTgt spid="7"/>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7659"/>
                                        </p:tgtEl>
                                        <p:attrNameLst>
                                          <p:attrName>style.visibility</p:attrName>
                                        </p:attrNameLst>
                                      </p:cBhvr>
                                      <p:to>
                                        <p:strVal val="visible"/>
                                      </p:to>
                                    </p:set>
                                    <p:anim calcmode="lin" valueType="num">
                                      <p:cBhvr additive="base">
                                        <p:cTn id="67" dur="500" fill="hold"/>
                                        <p:tgtEl>
                                          <p:spTgt spid="27659"/>
                                        </p:tgtEl>
                                        <p:attrNameLst>
                                          <p:attrName>ppt_x</p:attrName>
                                        </p:attrNameLst>
                                      </p:cBhvr>
                                      <p:tavLst>
                                        <p:tav tm="0">
                                          <p:val>
                                            <p:strVal val="#ppt_x"/>
                                          </p:val>
                                        </p:tav>
                                        <p:tav tm="100000">
                                          <p:val>
                                            <p:strVal val="#ppt_x"/>
                                          </p:val>
                                        </p:tav>
                                      </p:tavLst>
                                    </p:anim>
                                    <p:anim calcmode="lin" valueType="num">
                                      <p:cBhvr additive="base">
                                        <p:cTn id="68" dur="500" fill="hold"/>
                                        <p:tgtEl>
                                          <p:spTgt spid="27659"/>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ppt_x"/>
                                          </p:val>
                                        </p:tav>
                                        <p:tav tm="100000">
                                          <p:val>
                                            <p:strVal val="#ppt_x"/>
                                          </p:val>
                                        </p:tav>
                                      </p:tavLst>
                                    </p:anim>
                                    <p:anim calcmode="lin" valueType="num">
                                      <p:cBhvr additive="base">
                                        <p:cTn id="74" dur="500" fill="hold"/>
                                        <p:tgtEl>
                                          <p:spTgt spid="11"/>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7662"/>
                                        </p:tgtEl>
                                        <p:attrNameLst>
                                          <p:attrName>style.visibility</p:attrName>
                                        </p:attrNameLst>
                                      </p:cBhvr>
                                      <p:to>
                                        <p:strVal val="visible"/>
                                      </p:to>
                                    </p:set>
                                    <p:anim calcmode="lin" valueType="num">
                                      <p:cBhvr additive="base">
                                        <p:cTn id="77" dur="500" fill="hold"/>
                                        <p:tgtEl>
                                          <p:spTgt spid="27662"/>
                                        </p:tgtEl>
                                        <p:attrNameLst>
                                          <p:attrName>ppt_x</p:attrName>
                                        </p:attrNameLst>
                                      </p:cBhvr>
                                      <p:tavLst>
                                        <p:tav tm="0">
                                          <p:val>
                                            <p:strVal val="#ppt_x"/>
                                          </p:val>
                                        </p:tav>
                                        <p:tav tm="100000">
                                          <p:val>
                                            <p:strVal val="#ppt_x"/>
                                          </p:val>
                                        </p:tav>
                                      </p:tavLst>
                                    </p:anim>
                                    <p:anim calcmode="lin" valueType="num">
                                      <p:cBhvr additive="base">
                                        <p:cTn id="78" dur="500" fill="hold"/>
                                        <p:tgtEl>
                                          <p:spTgt spid="27662"/>
                                        </p:tgtEl>
                                        <p:attrNameLst>
                                          <p:attrName>ppt_y</p:attrName>
                                        </p:attrNameLst>
                                      </p:cBhvr>
                                      <p:tavLst>
                                        <p:tav tm="0">
                                          <p:val>
                                            <p:strVal val="1+#ppt_h/2"/>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9"/>
                                        </p:tgtEl>
                                        <p:attrNameLst>
                                          <p:attrName>style.visibility</p:attrName>
                                        </p:attrNameLst>
                                      </p:cBhvr>
                                      <p:to>
                                        <p:strVal val="visible"/>
                                      </p:to>
                                    </p:set>
                                    <p:anim calcmode="lin" valueType="num">
                                      <p:cBhvr additive="base">
                                        <p:cTn id="83" dur="500" fill="hold"/>
                                        <p:tgtEl>
                                          <p:spTgt spid="9"/>
                                        </p:tgtEl>
                                        <p:attrNameLst>
                                          <p:attrName>ppt_x</p:attrName>
                                        </p:attrNameLst>
                                      </p:cBhvr>
                                      <p:tavLst>
                                        <p:tav tm="0">
                                          <p:val>
                                            <p:strVal val="#ppt_x"/>
                                          </p:val>
                                        </p:tav>
                                        <p:tav tm="100000">
                                          <p:val>
                                            <p:strVal val="#ppt_x"/>
                                          </p:val>
                                        </p:tav>
                                      </p:tavLst>
                                    </p:anim>
                                    <p:anim calcmode="lin" valueType="num">
                                      <p:cBhvr additive="base">
                                        <p:cTn id="84" dur="500" fill="hold"/>
                                        <p:tgtEl>
                                          <p:spTgt spid="9"/>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7666"/>
                                        </p:tgtEl>
                                        <p:attrNameLst>
                                          <p:attrName>style.visibility</p:attrName>
                                        </p:attrNameLst>
                                      </p:cBhvr>
                                      <p:to>
                                        <p:strVal val="visible"/>
                                      </p:to>
                                    </p:set>
                                    <p:anim calcmode="lin" valueType="num">
                                      <p:cBhvr additive="base">
                                        <p:cTn id="87" dur="500" fill="hold"/>
                                        <p:tgtEl>
                                          <p:spTgt spid="27666"/>
                                        </p:tgtEl>
                                        <p:attrNameLst>
                                          <p:attrName>ppt_x</p:attrName>
                                        </p:attrNameLst>
                                      </p:cBhvr>
                                      <p:tavLst>
                                        <p:tav tm="0">
                                          <p:val>
                                            <p:strVal val="#ppt_x"/>
                                          </p:val>
                                        </p:tav>
                                        <p:tav tm="100000">
                                          <p:val>
                                            <p:strVal val="#ppt_x"/>
                                          </p:val>
                                        </p:tav>
                                      </p:tavLst>
                                    </p:anim>
                                    <p:anim calcmode="lin" valueType="num">
                                      <p:cBhvr additive="base">
                                        <p:cTn id="88" dur="500" fill="hold"/>
                                        <p:tgtEl>
                                          <p:spTgt spid="27666"/>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27667"/>
                                        </p:tgtEl>
                                        <p:attrNameLst>
                                          <p:attrName>style.visibility</p:attrName>
                                        </p:attrNameLst>
                                      </p:cBhvr>
                                      <p:to>
                                        <p:strVal val="visible"/>
                                      </p:to>
                                    </p:set>
                                    <p:anim calcmode="lin" valueType="num">
                                      <p:cBhvr additive="base">
                                        <p:cTn id="91" dur="500" fill="hold"/>
                                        <p:tgtEl>
                                          <p:spTgt spid="27667"/>
                                        </p:tgtEl>
                                        <p:attrNameLst>
                                          <p:attrName>ppt_x</p:attrName>
                                        </p:attrNameLst>
                                      </p:cBhvr>
                                      <p:tavLst>
                                        <p:tav tm="0">
                                          <p:val>
                                            <p:strVal val="#ppt_x"/>
                                          </p:val>
                                        </p:tav>
                                        <p:tav tm="100000">
                                          <p:val>
                                            <p:strVal val="#ppt_x"/>
                                          </p:val>
                                        </p:tav>
                                      </p:tavLst>
                                    </p:anim>
                                    <p:anim calcmode="lin" valueType="num">
                                      <p:cBhvr additive="base">
                                        <p:cTn id="92" dur="500" fill="hold"/>
                                        <p:tgtEl>
                                          <p:spTgt spid="27667"/>
                                        </p:tgtEl>
                                        <p:attrNameLst>
                                          <p:attrName>ppt_y</p:attrName>
                                        </p:attrNameLst>
                                      </p:cBhvr>
                                      <p:tavLst>
                                        <p:tav tm="0">
                                          <p:val>
                                            <p:strVal val="1+#ppt_h/2"/>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2"/>
                                        </p:tgtEl>
                                        <p:attrNameLst>
                                          <p:attrName>style.visibility</p:attrName>
                                        </p:attrNameLst>
                                      </p:cBhvr>
                                      <p:to>
                                        <p:strVal val="visible"/>
                                      </p:to>
                                    </p:set>
                                    <p:anim calcmode="lin" valueType="num">
                                      <p:cBhvr additive="base">
                                        <p:cTn id="97" dur="2000" fill="hold"/>
                                        <p:tgtEl>
                                          <p:spTgt spid="12"/>
                                        </p:tgtEl>
                                        <p:attrNameLst>
                                          <p:attrName>ppt_x</p:attrName>
                                        </p:attrNameLst>
                                      </p:cBhvr>
                                      <p:tavLst>
                                        <p:tav tm="0">
                                          <p:val>
                                            <p:strVal val="0-#ppt_w/2"/>
                                          </p:val>
                                        </p:tav>
                                        <p:tav tm="100000">
                                          <p:val>
                                            <p:strVal val="#ppt_x"/>
                                          </p:val>
                                        </p:tav>
                                      </p:tavLst>
                                    </p:anim>
                                    <p:anim calcmode="lin" valueType="num">
                                      <p:cBhvr additive="base">
                                        <p:cTn id="98" dur="2000" fill="hold"/>
                                        <p:tgtEl>
                                          <p:spTgt spid="12"/>
                                        </p:tgtEl>
                                        <p:attrNameLst>
                                          <p:attrName>ppt_y</p:attrName>
                                        </p:attrNameLst>
                                      </p:cBhvr>
                                      <p:tavLst>
                                        <p:tav tm="0">
                                          <p:val>
                                            <p:strVal val="#ppt_y"/>
                                          </p:val>
                                        </p:tav>
                                        <p:tav tm="100000">
                                          <p:val>
                                            <p:strVal val="#ppt_y"/>
                                          </p:val>
                                        </p:tav>
                                      </p:tavLst>
                                    </p:anim>
                                  </p:childTnLst>
                                </p:cTn>
                              </p:par>
                              <p:par>
                                <p:cTn id="99" presetID="2" presetClass="entr" presetSubtype="8" fill="hold" nodeType="withEffect">
                                  <p:stCondLst>
                                    <p:cond delay="0"/>
                                  </p:stCondLst>
                                  <p:childTnLst>
                                    <p:set>
                                      <p:cBhvr>
                                        <p:cTn id="100" dur="1" fill="hold">
                                          <p:stCondLst>
                                            <p:cond delay="0"/>
                                          </p:stCondLst>
                                        </p:cTn>
                                        <p:tgtEl>
                                          <p:spTgt spid="27668"/>
                                        </p:tgtEl>
                                        <p:attrNameLst>
                                          <p:attrName>style.visibility</p:attrName>
                                        </p:attrNameLst>
                                      </p:cBhvr>
                                      <p:to>
                                        <p:strVal val="visible"/>
                                      </p:to>
                                    </p:set>
                                    <p:anim calcmode="lin" valueType="num">
                                      <p:cBhvr additive="base">
                                        <p:cTn id="101" dur="2000" fill="hold"/>
                                        <p:tgtEl>
                                          <p:spTgt spid="27668"/>
                                        </p:tgtEl>
                                        <p:attrNameLst>
                                          <p:attrName>ppt_x</p:attrName>
                                        </p:attrNameLst>
                                      </p:cBhvr>
                                      <p:tavLst>
                                        <p:tav tm="0">
                                          <p:val>
                                            <p:strVal val="0-#ppt_w/2"/>
                                          </p:val>
                                        </p:tav>
                                        <p:tav tm="100000">
                                          <p:val>
                                            <p:strVal val="#ppt_x"/>
                                          </p:val>
                                        </p:tav>
                                      </p:tavLst>
                                    </p:anim>
                                    <p:anim calcmode="lin" valueType="num">
                                      <p:cBhvr additive="base">
                                        <p:cTn id="102" dur="2000" fill="hold"/>
                                        <p:tgtEl>
                                          <p:spTgt spid="276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27663" grpId="0" animBg="1"/>
      <p:bldP spid="27670" grpId="0"/>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 of Management</a:t>
            </a:r>
            <a:endParaRPr lang="en-US" dirty="0"/>
          </a:p>
        </p:txBody>
      </p:sp>
      <p:pic>
        <p:nvPicPr>
          <p:cNvPr id="5" name="Content Placeholder 4"/>
          <p:cNvPicPr>
            <a:picLocks noGrp="1" noChangeAspect="1"/>
          </p:cNvPicPr>
          <p:nvPr>
            <p:ph idx="1"/>
          </p:nvPr>
        </p:nvPicPr>
        <p:blipFill>
          <a:blip r:embed="rId2"/>
          <a:stretch>
            <a:fillRect/>
          </a:stretch>
        </p:blipFill>
        <p:spPr>
          <a:xfrm>
            <a:off x="3893842" y="2557463"/>
            <a:ext cx="4404316" cy="3317875"/>
          </a:xfrm>
          <a:prstGeom prst="rect">
            <a:avLst/>
          </a:prstGeom>
        </p:spPr>
      </p:pic>
    </p:spTree>
    <p:extLst>
      <p:ext uri="{BB962C8B-B14F-4D97-AF65-F5344CB8AC3E}">
        <p14:creationId xmlns:p14="http://schemas.microsoft.com/office/powerpoint/2010/main" val="3015236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Isosceles Triangle 3"/>
          <p:cNvSpPr>
            <a:spLocks noChangeArrowheads="1"/>
          </p:cNvSpPr>
          <p:nvPr/>
        </p:nvSpPr>
        <p:spPr bwMode="auto">
          <a:xfrm>
            <a:off x="4452939" y="1928814"/>
            <a:ext cx="4714875" cy="4143375"/>
          </a:xfrm>
          <a:prstGeom prst="triangle">
            <a:avLst>
              <a:gd name="adj" fmla="val 50000"/>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endParaRPr lang="en-US" altLang="en-US" sz="2400">
              <a:solidFill>
                <a:schemeClr val="tx1"/>
              </a:solidFill>
              <a:latin typeface="Times" panose="02020603050405020304" pitchFamily="18" charset="0"/>
            </a:endParaRPr>
          </a:p>
        </p:txBody>
      </p:sp>
      <p:cxnSp>
        <p:nvCxnSpPr>
          <p:cNvPr id="33796" name="Straight Connector 5"/>
          <p:cNvCxnSpPr>
            <a:cxnSpLocks noChangeShapeType="1"/>
            <a:stCxn id="33795" idx="0"/>
          </p:cNvCxnSpPr>
          <p:nvPr/>
        </p:nvCxnSpPr>
        <p:spPr bwMode="auto">
          <a:xfrm rot="16200000" flipH="1" flipV="1">
            <a:off x="4167188" y="3429001"/>
            <a:ext cx="4143375" cy="1143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797" name="Straight Connector 7"/>
          <p:cNvCxnSpPr>
            <a:cxnSpLocks noChangeShapeType="1"/>
            <a:stCxn id="33795" idx="0"/>
          </p:cNvCxnSpPr>
          <p:nvPr/>
        </p:nvCxnSpPr>
        <p:spPr bwMode="auto">
          <a:xfrm rot="16200000" flipH="1">
            <a:off x="5310188" y="3429001"/>
            <a:ext cx="4143375" cy="1143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798" name="Straight Connector 9"/>
          <p:cNvCxnSpPr>
            <a:cxnSpLocks noChangeShapeType="1"/>
            <a:stCxn id="33795" idx="0"/>
            <a:endCxn id="33795" idx="3"/>
          </p:cNvCxnSpPr>
          <p:nvPr/>
        </p:nvCxnSpPr>
        <p:spPr bwMode="auto">
          <a:xfrm rot="16200000" flipH="1">
            <a:off x="4738688" y="4000500"/>
            <a:ext cx="414496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799" name="Straight Connector 11"/>
          <p:cNvCxnSpPr>
            <a:cxnSpLocks noChangeShapeType="1"/>
          </p:cNvCxnSpPr>
          <p:nvPr/>
        </p:nvCxnSpPr>
        <p:spPr bwMode="auto">
          <a:xfrm>
            <a:off x="4953000" y="5214939"/>
            <a:ext cx="371475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800" name="Straight Connector 13"/>
          <p:cNvCxnSpPr>
            <a:cxnSpLocks noChangeShapeType="1"/>
          </p:cNvCxnSpPr>
          <p:nvPr/>
        </p:nvCxnSpPr>
        <p:spPr bwMode="auto">
          <a:xfrm>
            <a:off x="5453064" y="4357689"/>
            <a:ext cx="27146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801" name="Straight Connector 15"/>
          <p:cNvCxnSpPr>
            <a:cxnSpLocks noChangeShapeType="1"/>
          </p:cNvCxnSpPr>
          <p:nvPr/>
        </p:nvCxnSpPr>
        <p:spPr bwMode="auto">
          <a:xfrm>
            <a:off x="5881689" y="3500439"/>
            <a:ext cx="1785937"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3802" name="Straight Connector 17"/>
          <p:cNvCxnSpPr>
            <a:cxnSpLocks noChangeShapeType="1"/>
          </p:cNvCxnSpPr>
          <p:nvPr/>
        </p:nvCxnSpPr>
        <p:spPr bwMode="auto">
          <a:xfrm>
            <a:off x="6381750" y="2714625"/>
            <a:ext cx="85725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3803" name="Rectangle 18"/>
          <p:cNvSpPr>
            <a:spLocks noChangeArrowheads="1"/>
          </p:cNvSpPr>
          <p:nvPr/>
        </p:nvSpPr>
        <p:spPr bwMode="auto">
          <a:xfrm>
            <a:off x="1881189" y="1357314"/>
            <a:ext cx="1285875" cy="357187"/>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a:solidFill>
                  <a:schemeClr val="tx1"/>
                </a:solidFill>
                <a:latin typeface="Times" panose="02020603050405020304" pitchFamily="18" charset="0"/>
              </a:rPr>
              <a:t>Decisions</a:t>
            </a:r>
            <a:endParaRPr lang="en-US" altLang="en-US" sz="1800">
              <a:solidFill>
                <a:schemeClr val="tx1"/>
              </a:solidFill>
              <a:latin typeface="Times" panose="02020603050405020304" pitchFamily="18" charset="0"/>
            </a:endParaRPr>
          </a:p>
        </p:txBody>
      </p:sp>
      <p:sp>
        <p:nvSpPr>
          <p:cNvPr id="33804" name="Rectangle 19"/>
          <p:cNvSpPr>
            <a:spLocks noChangeArrowheads="1"/>
          </p:cNvSpPr>
          <p:nvPr/>
        </p:nvSpPr>
        <p:spPr bwMode="auto">
          <a:xfrm>
            <a:off x="8739189" y="4572000"/>
            <a:ext cx="64293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TPS</a:t>
            </a:r>
            <a:endParaRPr lang="en-US" altLang="en-US" sz="1800">
              <a:solidFill>
                <a:schemeClr val="tx1"/>
              </a:solidFill>
              <a:latin typeface="Times" panose="02020603050405020304" pitchFamily="18" charset="0"/>
            </a:endParaRPr>
          </a:p>
        </p:txBody>
      </p:sp>
      <p:sp>
        <p:nvSpPr>
          <p:cNvPr id="33805" name="Rectangle 20"/>
          <p:cNvSpPr>
            <a:spLocks noChangeArrowheads="1"/>
          </p:cNvSpPr>
          <p:nvPr/>
        </p:nvSpPr>
        <p:spPr bwMode="auto">
          <a:xfrm>
            <a:off x="8453439" y="3786188"/>
            <a:ext cx="714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MIS</a:t>
            </a:r>
            <a:endParaRPr lang="en-US" altLang="en-US" sz="1800">
              <a:solidFill>
                <a:schemeClr val="tx1"/>
              </a:solidFill>
              <a:latin typeface="Times" panose="02020603050405020304" pitchFamily="18" charset="0"/>
            </a:endParaRPr>
          </a:p>
        </p:txBody>
      </p:sp>
      <p:sp>
        <p:nvSpPr>
          <p:cNvPr id="33806" name="Rectangle 21"/>
          <p:cNvSpPr>
            <a:spLocks noChangeArrowheads="1"/>
          </p:cNvSpPr>
          <p:nvPr/>
        </p:nvSpPr>
        <p:spPr bwMode="auto">
          <a:xfrm>
            <a:off x="7881939" y="2928938"/>
            <a:ext cx="1857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GIS, CAD/CAM, OAS</a:t>
            </a:r>
            <a:endParaRPr lang="en-US" altLang="en-US" sz="1800">
              <a:solidFill>
                <a:schemeClr val="tx1"/>
              </a:solidFill>
              <a:latin typeface="Times" panose="02020603050405020304" pitchFamily="18" charset="0"/>
            </a:endParaRPr>
          </a:p>
        </p:txBody>
      </p:sp>
      <p:sp>
        <p:nvSpPr>
          <p:cNvPr id="33807" name="Rectangle 22"/>
          <p:cNvSpPr>
            <a:spLocks noChangeArrowheads="1"/>
          </p:cNvSpPr>
          <p:nvPr/>
        </p:nvSpPr>
        <p:spPr bwMode="auto">
          <a:xfrm>
            <a:off x="7739063" y="5286375"/>
            <a:ext cx="10715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Keep</a:t>
            </a:r>
          </a:p>
          <a:p>
            <a:pPr algn="ctr">
              <a:spcBef>
                <a:spcPct val="0"/>
              </a:spcBef>
              <a:buFontTx/>
              <a:buNone/>
            </a:pPr>
            <a:r>
              <a:rPr lang="en-CA" altLang="en-US" sz="1800">
                <a:solidFill>
                  <a:schemeClr val="tx1"/>
                </a:solidFill>
                <a:latin typeface="Times" panose="02020603050405020304" pitchFamily="18" charset="0"/>
              </a:rPr>
              <a:t>   Track</a:t>
            </a:r>
            <a:endParaRPr lang="en-US" altLang="en-US" sz="1800">
              <a:solidFill>
                <a:schemeClr val="tx1"/>
              </a:solidFill>
              <a:latin typeface="Times" panose="02020603050405020304" pitchFamily="18" charset="0"/>
            </a:endParaRPr>
          </a:p>
        </p:txBody>
      </p:sp>
      <p:sp>
        <p:nvSpPr>
          <p:cNvPr id="33808" name="Rectangle 23"/>
          <p:cNvSpPr>
            <a:spLocks noChangeArrowheads="1"/>
          </p:cNvSpPr>
          <p:nvPr/>
        </p:nvSpPr>
        <p:spPr bwMode="auto">
          <a:xfrm>
            <a:off x="6810375" y="5286375"/>
            <a:ext cx="9286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Sell</a:t>
            </a:r>
            <a:endParaRPr lang="en-US" altLang="en-US" sz="1800">
              <a:solidFill>
                <a:schemeClr val="tx1"/>
              </a:solidFill>
              <a:latin typeface="Times" panose="02020603050405020304" pitchFamily="18" charset="0"/>
            </a:endParaRPr>
          </a:p>
        </p:txBody>
      </p:sp>
      <p:sp>
        <p:nvSpPr>
          <p:cNvPr id="33809" name="Rectangle 24"/>
          <p:cNvSpPr>
            <a:spLocks noChangeArrowheads="1"/>
          </p:cNvSpPr>
          <p:nvPr/>
        </p:nvSpPr>
        <p:spPr bwMode="auto">
          <a:xfrm>
            <a:off x="5953125" y="5286375"/>
            <a:ext cx="8572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Make</a:t>
            </a:r>
            <a:endParaRPr lang="en-US" altLang="en-US" sz="1800">
              <a:solidFill>
                <a:schemeClr val="tx1"/>
              </a:solidFill>
              <a:latin typeface="Times" panose="02020603050405020304" pitchFamily="18" charset="0"/>
            </a:endParaRPr>
          </a:p>
        </p:txBody>
      </p:sp>
      <p:sp>
        <p:nvSpPr>
          <p:cNvPr id="33810" name="Rectangle 25"/>
          <p:cNvSpPr>
            <a:spLocks noChangeArrowheads="1"/>
          </p:cNvSpPr>
          <p:nvPr/>
        </p:nvSpPr>
        <p:spPr bwMode="auto">
          <a:xfrm>
            <a:off x="7881939" y="1357313"/>
            <a:ext cx="2143125" cy="571500"/>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a:solidFill>
                  <a:schemeClr val="tx1"/>
                </a:solidFill>
                <a:latin typeface="Times" panose="02020603050405020304" pitchFamily="18" charset="0"/>
              </a:rPr>
              <a:t>Information Systems</a:t>
            </a:r>
            <a:endParaRPr lang="en-US" altLang="en-US" sz="1800">
              <a:solidFill>
                <a:schemeClr val="tx1"/>
              </a:solidFill>
              <a:latin typeface="Times" panose="02020603050405020304" pitchFamily="18" charset="0"/>
            </a:endParaRPr>
          </a:p>
        </p:txBody>
      </p:sp>
      <p:sp>
        <p:nvSpPr>
          <p:cNvPr id="33811" name="Rectangle 26"/>
          <p:cNvSpPr>
            <a:spLocks noChangeArrowheads="1"/>
          </p:cNvSpPr>
          <p:nvPr/>
        </p:nvSpPr>
        <p:spPr bwMode="auto">
          <a:xfrm>
            <a:off x="3452814" y="1357314"/>
            <a:ext cx="2357437" cy="357187"/>
          </a:xfrm>
          <a:prstGeom prst="rect">
            <a:avLst/>
          </a:prstGeom>
          <a:solidFill>
            <a:schemeClr val="accent1"/>
          </a:solidFill>
          <a:ln w="9525" algn="ctr">
            <a:solidFill>
              <a:schemeClr val="tx1"/>
            </a:solidFill>
            <a:round/>
            <a:headEnd/>
            <a:tailEnd/>
          </a:ln>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Management Levels</a:t>
            </a:r>
            <a:endParaRPr lang="en-US" altLang="en-US" sz="1800">
              <a:solidFill>
                <a:schemeClr val="tx1"/>
              </a:solidFill>
              <a:latin typeface="Times" panose="02020603050405020304" pitchFamily="18" charset="0"/>
            </a:endParaRPr>
          </a:p>
        </p:txBody>
      </p:sp>
      <p:sp>
        <p:nvSpPr>
          <p:cNvPr id="33812" name="Rectangle 27"/>
          <p:cNvSpPr>
            <a:spLocks noChangeArrowheads="1"/>
          </p:cNvSpPr>
          <p:nvPr/>
        </p:nvSpPr>
        <p:spPr bwMode="auto">
          <a:xfrm>
            <a:off x="2238375" y="3143250"/>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a:solidFill>
                  <a:schemeClr val="tx1"/>
                </a:solidFill>
                <a:latin typeface="Times" panose="02020603050405020304" pitchFamily="18" charset="0"/>
              </a:rPr>
              <a:t>Tactical</a:t>
            </a:r>
            <a:endParaRPr lang="en-US" altLang="en-US" sz="1800">
              <a:solidFill>
                <a:schemeClr val="tx1"/>
              </a:solidFill>
              <a:latin typeface="Times" panose="02020603050405020304" pitchFamily="18" charset="0"/>
            </a:endParaRPr>
          </a:p>
        </p:txBody>
      </p:sp>
      <p:sp>
        <p:nvSpPr>
          <p:cNvPr id="33813" name="Rectangle 28"/>
          <p:cNvSpPr>
            <a:spLocks noChangeArrowheads="1"/>
          </p:cNvSpPr>
          <p:nvPr/>
        </p:nvSpPr>
        <p:spPr bwMode="auto">
          <a:xfrm>
            <a:off x="2238376" y="4929188"/>
            <a:ext cx="12858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a:solidFill>
                  <a:schemeClr val="tx1"/>
                </a:solidFill>
                <a:latin typeface="Times" panose="02020603050405020304" pitchFamily="18" charset="0"/>
              </a:rPr>
              <a:t>Technical</a:t>
            </a:r>
          </a:p>
          <a:p>
            <a:pPr>
              <a:spcBef>
                <a:spcPct val="0"/>
              </a:spcBef>
              <a:buFontTx/>
              <a:buNone/>
            </a:pPr>
            <a:r>
              <a:rPr lang="en-CA" altLang="en-US" sz="1400">
                <a:solidFill>
                  <a:schemeClr val="tx1"/>
                </a:solidFill>
                <a:latin typeface="Times" panose="02020603050405020304" pitchFamily="18" charset="0"/>
              </a:rPr>
              <a:t>(Operational)</a:t>
            </a:r>
            <a:endParaRPr lang="en-US" altLang="en-US" sz="1400">
              <a:solidFill>
                <a:schemeClr val="tx1"/>
              </a:solidFill>
              <a:latin typeface="Times" panose="02020603050405020304" pitchFamily="18" charset="0"/>
            </a:endParaRPr>
          </a:p>
        </p:txBody>
      </p:sp>
      <p:sp>
        <p:nvSpPr>
          <p:cNvPr id="33814" name="Rectangle 29"/>
          <p:cNvSpPr>
            <a:spLocks noChangeArrowheads="1"/>
          </p:cNvSpPr>
          <p:nvPr/>
        </p:nvSpPr>
        <p:spPr bwMode="auto">
          <a:xfrm>
            <a:off x="2238375" y="2354368"/>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dirty="0">
                <a:solidFill>
                  <a:schemeClr val="tx1"/>
                </a:solidFill>
                <a:latin typeface="Times" panose="02020603050405020304" pitchFamily="18" charset="0"/>
              </a:rPr>
              <a:t>Strategic</a:t>
            </a:r>
            <a:endParaRPr lang="en-US" altLang="en-US" sz="1800" dirty="0">
              <a:solidFill>
                <a:schemeClr val="tx1"/>
              </a:solidFill>
              <a:latin typeface="Times" panose="02020603050405020304" pitchFamily="18" charset="0"/>
            </a:endParaRPr>
          </a:p>
        </p:txBody>
      </p:sp>
      <p:sp>
        <p:nvSpPr>
          <p:cNvPr id="33815" name="Rectangle 30"/>
          <p:cNvSpPr>
            <a:spLocks noChangeArrowheads="1"/>
          </p:cNvSpPr>
          <p:nvPr/>
        </p:nvSpPr>
        <p:spPr bwMode="auto">
          <a:xfrm>
            <a:off x="1881188" y="5643563"/>
            <a:ext cx="135731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a:solidFill>
                  <a:schemeClr val="tx1"/>
                </a:solidFill>
                <a:latin typeface="Times" panose="02020603050405020304" pitchFamily="18" charset="0"/>
              </a:rPr>
              <a:t>Structured</a:t>
            </a:r>
            <a:endParaRPr lang="en-US" altLang="en-US" sz="1800">
              <a:solidFill>
                <a:schemeClr val="tx1"/>
              </a:solidFill>
              <a:latin typeface="Times" panose="02020603050405020304" pitchFamily="18" charset="0"/>
            </a:endParaRPr>
          </a:p>
        </p:txBody>
      </p:sp>
      <p:sp>
        <p:nvSpPr>
          <p:cNvPr id="33816" name="Rectangle 31"/>
          <p:cNvSpPr>
            <a:spLocks noChangeArrowheads="1"/>
          </p:cNvSpPr>
          <p:nvPr/>
        </p:nvSpPr>
        <p:spPr bwMode="auto">
          <a:xfrm>
            <a:off x="1881188" y="2000251"/>
            <a:ext cx="14287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600">
                <a:solidFill>
                  <a:schemeClr val="tx1"/>
                </a:solidFill>
                <a:latin typeface="Times" panose="02020603050405020304" pitchFamily="18" charset="0"/>
              </a:rPr>
              <a:t>Unstructured</a:t>
            </a:r>
            <a:endParaRPr lang="en-US" altLang="en-US" sz="1600">
              <a:solidFill>
                <a:schemeClr val="tx1"/>
              </a:solidFill>
              <a:latin typeface="Times" panose="02020603050405020304" pitchFamily="18" charset="0"/>
            </a:endParaRPr>
          </a:p>
        </p:txBody>
      </p:sp>
      <p:cxnSp>
        <p:nvCxnSpPr>
          <p:cNvPr id="33817" name="Straight Arrow Connector 33"/>
          <p:cNvCxnSpPr>
            <a:cxnSpLocks noChangeShapeType="1"/>
          </p:cNvCxnSpPr>
          <p:nvPr/>
        </p:nvCxnSpPr>
        <p:spPr bwMode="auto">
          <a:xfrm rot="5400000">
            <a:off x="523875" y="3929063"/>
            <a:ext cx="3429000" cy="0"/>
          </a:xfrm>
          <a:prstGeom prst="straightConnector1">
            <a:avLst/>
          </a:prstGeom>
          <a:noFill/>
          <a:ln w="1270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33818" name="Rectangle 39"/>
          <p:cNvSpPr>
            <a:spLocks noChangeArrowheads="1"/>
          </p:cNvSpPr>
          <p:nvPr/>
        </p:nvSpPr>
        <p:spPr bwMode="auto">
          <a:xfrm>
            <a:off x="4953000" y="5286375"/>
            <a:ext cx="8572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Buy</a:t>
            </a:r>
            <a:endParaRPr lang="en-US" altLang="en-US" sz="1800">
              <a:solidFill>
                <a:schemeClr val="tx1"/>
              </a:solidFill>
              <a:latin typeface="Times" panose="02020603050405020304" pitchFamily="18" charset="0"/>
            </a:endParaRPr>
          </a:p>
        </p:txBody>
      </p:sp>
      <p:sp>
        <p:nvSpPr>
          <p:cNvPr id="33819" name="Rectangle 40"/>
          <p:cNvSpPr>
            <a:spLocks noChangeArrowheads="1"/>
          </p:cNvSpPr>
          <p:nvPr/>
        </p:nvSpPr>
        <p:spPr bwMode="auto">
          <a:xfrm>
            <a:off x="3524250" y="5429250"/>
            <a:ext cx="121443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spcBef>
                <a:spcPct val="0"/>
              </a:spcBef>
              <a:buFontTx/>
              <a:buNone/>
            </a:pPr>
            <a:r>
              <a:rPr lang="en-CA" altLang="en-US" sz="1800">
                <a:solidFill>
                  <a:schemeClr val="tx1"/>
                </a:solidFill>
                <a:latin typeface="Times" panose="02020603050405020304" pitchFamily="18" charset="0"/>
              </a:rPr>
              <a:t>Functions</a:t>
            </a:r>
            <a:endParaRPr lang="en-US" altLang="en-US" sz="1800">
              <a:solidFill>
                <a:schemeClr val="tx1"/>
              </a:solidFill>
              <a:latin typeface="Times" panose="02020603050405020304" pitchFamily="18" charset="0"/>
            </a:endParaRPr>
          </a:p>
        </p:txBody>
      </p:sp>
      <p:sp>
        <p:nvSpPr>
          <p:cNvPr id="33820" name="Rectangle 41"/>
          <p:cNvSpPr>
            <a:spLocks noChangeArrowheads="1"/>
          </p:cNvSpPr>
          <p:nvPr/>
        </p:nvSpPr>
        <p:spPr bwMode="auto">
          <a:xfrm>
            <a:off x="3524251" y="4429125"/>
            <a:ext cx="15716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Lower</a:t>
            </a:r>
          </a:p>
          <a:p>
            <a:pPr algn="ctr">
              <a:spcBef>
                <a:spcPct val="0"/>
              </a:spcBef>
              <a:buFontTx/>
              <a:buNone/>
            </a:pPr>
            <a:r>
              <a:rPr lang="en-CA" altLang="en-US" sz="1800">
                <a:solidFill>
                  <a:schemeClr val="tx1"/>
                </a:solidFill>
                <a:latin typeface="Times" panose="02020603050405020304" pitchFamily="18" charset="0"/>
              </a:rPr>
              <a:t>Management</a:t>
            </a:r>
            <a:endParaRPr lang="en-US" altLang="en-US" sz="1800">
              <a:solidFill>
                <a:schemeClr val="tx1"/>
              </a:solidFill>
              <a:latin typeface="Times" panose="02020603050405020304" pitchFamily="18" charset="0"/>
            </a:endParaRPr>
          </a:p>
        </p:txBody>
      </p:sp>
      <p:sp>
        <p:nvSpPr>
          <p:cNvPr id="33821" name="Rectangle 42"/>
          <p:cNvSpPr>
            <a:spLocks noChangeArrowheads="1"/>
          </p:cNvSpPr>
          <p:nvPr/>
        </p:nvSpPr>
        <p:spPr bwMode="auto">
          <a:xfrm>
            <a:off x="3667126" y="3571876"/>
            <a:ext cx="164306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Middle</a:t>
            </a:r>
          </a:p>
          <a:p>
            <a:pPr algn="ctr">
              <a:spcBef>
                <a:spcPct val="0"/>
              </a:spcBef>
              <a:buFontTx/>
              <a:buNone/>
            </a:pPr>
            <a:r>
              <a:rPr lang="en-CA" altLang="en-US" sz="1800">
                <a:solidFill>
                  <a:schemeClr val="tx1"/>
                </a:solidFill>
                <a:latin typeface="Times" panose="02020603050405020304" pitchFamily="18" charset="0"/>
              </a:rPr>
              <a:t>Management</a:t>
            </a:r>
            <a:endParaRPr lang="en-US" altLang="en-US" sz="1800">
              <a:solidFill>
                <a:schemeClr val="tx1"/>
              </a:solidFill>
              <a:latin typeface="Times" panose="02020603050405020304" pitchFamily="18" charset="0"/>
            </a:endParaRPr>
          </a:p>
        </p:txBody>
      </p:sp>
      <p:sp>
        <p:nvSpPr>
          <p:cNvPr id="33822" name="Rectangle 43"/>
          <p:cNvSpPr>
            <a:spLocks noChangeArrowheads="1"/>
          </p:cNvSpPr>
          <p:nvPr/>
        </p:nvSpPr>
        <p:spPr bwMode="auto">
          <a:xfrm>
            <a:off x="3667125" y="2786064"/>
            <a:ext cx="2071688"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Knowledge and Data Worker</a:t>
            </a:r>
            <a:endParaRPr lang="en-US" altLang="en-US" sz="1800">
              <a:solidFill>
                <a:schemeClr val="tx1"/>
              </a:solidFill>
              <a:latin typeface="Times" panose="02020603050405020304" pitchFamily="18" charset="0"/>
            </a:endParaRPr>
          </a:p>
        </p:txBody>
      </p:sp>
      <p:sp>
        <p:nvSpPr>
          <p:cNvPr id="33823" name="Rectangle 44"/>
          <p:cNvSpPr>
            <a:spLocks noChangeArrowheads="1"/>
          </p:cNvSpPr>
          <p:nvPr/>
        </p:nvSpPr>
        <p:spPr bwMode="auto">
          <a:xfrm>
            <a:off x="3667125" y="2071688"/>
            <a:ext cx="1714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Senior Management</a:t>
            </a:r>
            <a:endParaRPr lang="en-US" altLang="en-US" sz="1800">
              <a:solidFill>
                <a:schemeClr val="tx1"/>
              </a:solidFill>
              <a:latin typeface="Times" panose="02020603050405020304" pitchFamily="18" charset="0"/>
            </a:endParaRPr>
          </a:p>
        </p:txBody>
      </p:sp>
      <p:sp>
        <p:nvSpPr>
          <p:cNvPr id="33824" name="Rectangle 51"/>
          <p:cNvSpPr>
            <a:spLocks noChangeArrowheads="1"/>
          </p:cNvSpPr>
          <p:nvPr/>
        </p:nvSpPr>
        <p:spPr bwMode="auto">
          <a:xfrm>
            <a:off x="7596189" y="2500313"/>
            <a:ext cx="714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DSS</a:t>
            </a:r>
            <a:endParaRPr lang="en-US" altLang="en-US" sz="1800">
              <a:solidFill>
                <a:schemeClr val="tx1"/>
              </a:solidFill>
              <a:latin typeface="Times" panose="02020603050405020304" pitchFamily="18" charset="0"/>
            </a:endParaRPr>
          </a:p>
        </p:txBody>
      </p:sp>
      <p:sp>
        <p:nvSpPr>
          <p:cNvPr id="33825" name="Rectangle 52"/>
          <p:cNvSpPr>
            <a:spLocks noChangeArrowheads="1"/>
          </p:cNvSpPr>
          <p:nvPr/>
        </p:nvSpPr>
        <p:spPr bwMode="auto">
          <a:xfrm>
            <a:off x="8096251" y="2143125"/>
            <a:ext cx="714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2800">
                <a:solidFill>
                  <a:srgbClr val="03084F"/>
                </a:solidFill>
                <a:latin typeface="Arial" panose="020B0604020202020204" pitchFamily="34" charset="0"/>
              </a:defRPr>
            </a:lvl1pPr>
            <a:lvl2pPr marL="742950" indent="-285750">
              <a:spcBef>
                <a:spcPct val="20000"/>
              </a:spcBef>
              <a:buChar char="–"/>
              <a:defRPr sz="2800">
                <a:solidFill>
                  <a:srgbClr val="03084F"/>
                </a:solidFill>
                <a:latin typeface="Arial" panose="020B0604020202020204" pitchFamily="34" charset="0"/>
              </a:defRPr>
            </a:lvl2pPr>
            <a:lvl3pPr marL="1143000" indent="-228600">
              <a:spcBef>
                <a:spcPct val="20000"/>
              </a:spcBef>
              <a:buChar char="•"/>
              <a:defRPr sz="2400">
                <a:solidFill>
                  <a:srgbClr val="03084F"/>
                </a:solidFill>
                <a:latin typeface="Arial" panose="020B0604020202020204" pitchFamily="34" charset="0"/>
              </a:defRPr>
            </a:lvl3pPr>
            <a:lvl4pPr marL="1600200" indent="-228600">
              <a:spcBef>
                <a:spcPct val="20000"/>
              </a:spcBef>
              <a:buChar char="–"/>
              <a:defRPr sz="2000">
                <a:solidFill>
                  <a:srgbClr val="03084F"/>
                </a:solidFill>
                <a:latin typeface="Arial" panose="020B0604020202020204" pitchFamily="34" charset="0"/>
              </a:defRPr>
            </a:lvl4pPr>
            <a:lvl5pPr marL="2057400" indent="-228600">
              <a:spcBef>
                <a:spcPct val="20000"/>
              </a:spcBef>
              <a:buChar char="»"/>
              <a:defRPr sz="2000">
                <a:solidFill>
                  <a:srgbClr val="03084F"/>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03084F"/>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03084F"/>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03084F"/>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03084F"/>
                </a:solidFill>
                <a:latin typeface="Arial" panose="020B0604020202020204" pitchFamily="34" charset="0"/>
              </a:defRPr>
            </a:lvl9pPr>
          </a:lstStyle>
          <a:p>
            <a:pPr algn="ctr">
              <a:spcBef>
                <a:spcPct val="0"/>
              </a:spcBef>
              <a:buFontTx/>
              <a:buNone/>
            </a:pPr>
            <a:r>
              <a:rPr lang="en-CA" altLang="en-US" sz="1800">
                <a:solidFill>
                  <a:schemeClr val="tx1"/>
                </a:solidFill>
                <a:latin typeface="Times" panose="02020603050405020304" pitchFamily="18" charset="0"/>
              </a:rPr>
              <a:t>ESS</a:t>
            </a:r>
            <a:endParaRPr lang="en-US" altLang="en-US" sz="1800">
              <a:solidFill>
                <a:schemeClr val="tx1"/>
              </a:solidFill>
              <a:latin typeface="Times" panose="02020603050405020304" pitchFamily="18" charset="0"/>
            </a:endParaRPr>
          </a:p>
        </p:txBody>
      </p:sp>
      <p:cxnSp>
        <p:nvCxnSpPr>
          <p:cNvPr id="33826" name="Straight Connector 54"/>
          <p:cNvCxnSpPr>
            <a:cxnSpLocks noChangeShapeType="1"/>
          </p:cNvCxnSpPr>
          <p:nvPr/>
        </p:nvCxnSpPr>
        <p:spPr bwMode="auto">
          <a:xfrm rot="10800000">
            <a:off x="3738564" y="5214939"/>
            <a:ext cx="1214437" cy="15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27" name="Straight Connector 58"/>
          <p:cNvCxnSpPr>
            <a:cxnSpLocks noChangeShapeType="1"/>
          </p:cNvCxnSpPr>
          <p:nvPr/>
        </p:nvCxnSpPr>
        <p:spPr bwMode="auto">
          <a:xfrm>
            <a:off x="8667751" y="5214939"/>
            <a:ext cx="1071563" cy="15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28" name="Straight Connector 60"/>
          <p:cNvCxnSpPr>
            <a:cxnSpLocks noChangeShapeType="1"/>
          </p:cNvCxnSpPr>
          <p:nvPr/>
        </p:nvCxnSpPr>
        <p:spPr bwMode="auto">
          <a:xfrm>
            <a:off x="8096250" y="4357689"/>
            <a:ext cx="1500188" cy="15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29" name="Straight Connector 63"/>
          <p:cNvCxnSpPr>
            <a:cxnSpLocks noChangeShapeType="1"/>
          </p:cNvCxnSpPr>
          <p:nvPr/>
        </p:nvCxnSpPr>
        <p:spPr bwMode="auto">
          <a:xfrm>
            <a:off x="7667626" y="3500439"/>
            <a:ext cx="1928813" cy="15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30" name="Straight Connector 67"/>
          <p:cNvCxnSpPr>
            <a:cxnSpLocks noChangeShapeType="1"/>
          </p:cNvCxnSpPr>
          <p:nvPr/>
        </p:nvCxnSpPr>
        <p:spPr bwMode="auto">
          <a:xfrm>
            <a:off x="7239000" y="2714625"/>
            <a:ext cx="357188" cy="1588"/>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31" name="Straight Connector 69"/>
          <p:cNvCxnSpPr>
            <a:cxnSpLocks noChangeShapeType="1"/>
          </p:cNvCxnSpPr>
          <p:nvPr/>
        </p:nvCxnSpPr>
        <p:spPr bwMode="auto">
          <a:xfrm rot="10800000">
            <a:off x="3667126" y="2714625"/>
            <a:ext cx="2714625" cy="1588"/>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32" name="Straight Connector 71"/>
          <p:cNvCxnSpPr>
            <a:cxnSpLocks noChangeShapeType="1"/>
          </p:cNvCxnSpPr>
          <p:nvPr/>
        </p:nvCxnSpPr>
        <p:spPr bwMode="auto">
          <a:xfrm rot="10800000">
            <a:off x="3738564" y="3500439"/>
            <a:ext cx="2143125" cy="15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33" name="Straight Connector 74"/>
          <p:cNvCxnSpPr>
            <a:cxnSpLocks noChangeShapeType="1"/>
          </p:cNvCxnSpPr>
          <p:nvPr/>
        </p:nvCxnSpPr>
        <p:spPr bwMode="auto">
          <a:xfrm rot="10800000">
            <a:off x="3667125" y="4357689"/>
            <a:ext cx="1785938" cy="15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3834" name="Straight Connector 80"/>
          <p:cNvCxnSpPr>
            <a:cxnSpLocks noChangeShapeType="1"/>
          </p:cNvCxnSpPr>
          <p:nvPr/>
        </p:nvCxnSpPr>
        <p:spPr bwMode="auto">
          <a:xfrm>
            <a:off x="7453313" y="2500314"/>
            <a:ext cx="214312" cy="1587"/>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3835" name="Straight Connector 81"/>
          <p:cNvCxnSpPr>
            <a:cxnSpLocks noChangeShapeType="1"/>
          </p:cNvCxnSpPr>
          <p:nvPr/>
        </p:nvCxnSpPr>
        <p:spPr bwMode="auto">
          <a:xfrm>
            <a:off x="7453313" y="2928939"/>
            <a:ext cx="214312" cy="1587"/>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3836" name="Straight Connector 84"/>
          <p:cNvCxnSpPr>
            <a:cxnSpLocks noChangeShapeType="1"/>
          </p:cNvCxnSpPr>
          <p:nvPr/>
        </p:nvCxnSpPr>
        <p:spPr bwMode="auto">
          <a:xfrm rot="5400000">
            <a:off x="7454107" y="2713832"/>
            <a:ext cx="428625"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3837" name="Straight Connector 86"/>
          <p:cNvCxnSpPr>
            <a:cxnSpLocks noChangeShapeType="1"/>
          </p:cNvCxnSpPr>
          <p:nvPr/>
        </p:nvCxnSpPr>
        <p:spPr bwMode="auto">
          <a:xfrm>
            <a:off x="3452813" y="4357689"/>
            <a:ext cx="214312" cy="1587"/>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3838" name="Straight Connector 87"/>
          <p:cNvCxnSpPr>
            <a:cxnSpLocks noChangeShapeType="1"/>
          </p:cNvCxnSpPr>
          <p:nvPr/>
        </p:nvCxnSpPr>
        <p:spPr bwMode="auto">
          <a:xfrm>
            <a:off x="3452813" y="2714625"/>
            <a:ext cx="214312"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cxnSp>
        <p:nvCxnSpPr>
          <p:cNvPr id="33839" name="Straight Connector 89"/>
          <p:cNvCxnSpPr>
            <a:cxnSpLocks noChangeShapeType="1"/>
          </p:cNvCxnSpPr>
          <p:nvPr/>
        </p:nvCxnSpPr>
        <p:spPr bwMode="auto">
          <a:xfrm rot="5400000">
            <a:off x="2629694" y="3536156"/>
            <a:ext cx="1644650" cy="15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
        <p:nvSpPr>
          <p:cNvPr id="96" name="Rectangle 95"/>
          <p:cNvSpPr/>
          <p:nvPr/>
        </p:nvSpPr>
        <p:spPr bwMode="auto">
          <a:xfrm>
            <a:off x="743485" y="789215"/>
            <a:ext cx="10716426" cy="479233"/>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a:lstStyle/>
          <a:p>
            <a:pPr algn="ctr">
              <a:defRPr/>
            </a:pPr>
            <a:r>
              <a:rPr lang="en-CA" sz="2800" dirty="0">
                <a:latin typeface="Times"/>
              </a:rPr>
              <a:t>Systems </a:t>
            </a:r>
            <a:r>
              <a:rPr lang="en-CA" sz="2800" dirty="0" smtClean="0">
                <a:latin typeface="Times"/>
              </a:rPr>
              <a:t>Applications and Information Flow </a:t>
            </a:r>
            <a:r>
              <a:rPr lang="en-CA" sz="2800" dirty="0">
                <a:latin typeface="Times"/>
              </a:rPr>
              <a:t>in the Organization</a:t>
            </a:r>
            <a:endParaRPr lang="en-US" sz="2800" dirty="0">
              <a:latin typeface="Times"/>
            </a:endParaRPr>
          </a:p>
        </p:txBody>
      </p:sp>
    </p:spTree>
    <p:extLst>
      <p:ext uri="{BB962C8B-B14F-4D97-AF65-F5344CB8AC3E}">
        <p14:creationId xmlns:p14="http://schemas.microsoft.com/office/powerpoint/2010/main" val="42917992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box(in)">
                                      <p:cBhvr>
                                        <p:cTn id="7" dur="2000"/>
                                        <p:tgtEl>
                                          <p:spTgt spid="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3795"/>
                                        </p:tgtEl>
                                        <p:attrNameLst>
                                          <p:attrName>style.visibility</p:attrName>
                                        </p:attrNameLst>
                                      </p:cBhvr>
                                      <p:to>
                                        <p:strVal val="visible"/>
                                      </p:to>
                                    </p:set>
                                    <p:anim calcmode="lin" valueType="num">
                                      <p:cBhvr additive="base">
                                        <p:cTn id="12" dur="500" fill="hold"/>
                                        <p:tgtEl>
                                          <p:spTgt spid="33795"/>
                                        </p:tgtEl>
                                        <p:attrNameLst>
                                          <p:attrName>ppt_x</p:attrName>
                                        </p:attrNameLst>
                                      </p:cBhvr>
                                      <p:tavLst>
                                        <p:tav tm="0">
                                          <p:val>
                                            <p:strVal val="#ppt_x"/>
                                          </p:val>
                                        </p:tav>
                                        <p:tav tm="100000">
                                          <p:val>
                                            <p:strVal val="#ppt_x"/>
                                          </p:val>
                                        </p:tav>
                                      </p:tavLst>
                                    </p:anim>
                                    <p:anim calcmode="lin" valueType="num">
                                      <p:cBhvr additive="base">
                                        <p:cTn id="13" dur="500" fill="hold"/>
                                        <p:tgtEl>
                                          <p:spTgt spid="33795"/>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3796"/>
                                        </p:tgtEl>
                                        <p:attrNameLst>
                                          <p:attrName>style.visibility</p:attrName>
                                        </p:attrNameLst>
                                      </p:cBhvr>
                                      <p:to>
                                        <p:strVal val="visible"/>
                                      </p:to>
                                    </p:set>
                                    <p:anim calcmode="lin" valueType="num">
                                      <p:cBhvr additive="base">
                                        <p:cTn id="16" dur="500" fill="hold"/>
                                        <p:tgtEl>
                                          <p:spTgt spid="33796"/>
                                        </p:tgtEl>
                                        <p:attrNameLst>
                                          <p:attrName>ppt_x</p:attrName>
                                        </p:attrNameLst>
                                      </p:cBhvr>
                                      <p:tavLst>
                                        <p:tav tm="0">
                                          <p:val>
                                            <p:strVal val="#ppt_x"/>
                                          </p:val>
                                        </p:tav>
                                        <p:tav tm="100000">
                                          <p:val>
                                            <p:strVal val="#ppt_x"/>
                                          </p:val>
                                        </p:tav>
                                      </p:tavLst>
                                    </p:anim>
                                    <p:anim calcmode="lin" valueType="num">
                                      <p:cBhvr additive="base">
                                        <p:cTn id="17" dur="500" fill="hold"/>
                                        <p:tgtEl>
                                          <p:spTgt spid="33796"/>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3798"/>
                                        </p:tgtEl>
                                        <p:attrNameLst>
                                          <p:attrName>style.visibility</p:attrName>
                                        </p:attrNameLst>
                                      </p:cBhvr>
                                      <p:to>
                                        <p:strVal val="visible"/>
                                      </p:to>
                                    </p:set>
                                    <p:anim calcmode="lin" valueType="num">
                                      <p:cBhvr additive="base">
                                        <p:cTn id="20" dur="500" fill="hold"/>
                                        <p:tgtEl>
                                          <p:spTgt spid="33798"/>
                                        </p:tgtEl>
                                        <p:attrNameLst>
                                          <p:attrName>ppt_x</p:attrName>
                                        </p:attrNameLst>
                                      </p:cBhvr>
                                      <p:tavLst>
                                        <p:tav tm="0">
                                          <p:val>
                                            <p:strVal val="#ppt_x"/>
                                          </p:val>
                                        </p:tav>
                                        <p:tav tm="100000">
                                          <p:val>
                                            <p:strVal val="#ppt_x"/>
                                          </p:val>
                                        </p:tav>
                                      </p:tavLst>
                                    </p:anim>
                                    <p:anim calcmode="lin" valueType="num">
                                      <p:cBhvr additive="base">
                                        <p:cTn id="21" dur="500" fill="hold"/>
                                        <p:tgtEl>
                                          <p:spTgt spid="33798"/>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3797"/>
                                        </p:tgtEl>
                                        <p:attrNameLst>
                                          <p:attrName>style.visibility</p:attrName>
                                        </p:attrNameLst>
                                      </p:cBhvr>
                                      <p:to>
                                        <p:strVal val="visible"/>
                                      </p:to>
                                    </p:set>
                                    <p:anim calcmode="lin" valueType="num">
                                      <p:cBhvr additive="base">
                                        <p:cTn id="24" dur="500" fill="hold"/>
                                        <p:tgtEl>
                                          <p:spTgt spid="33797"/>
                                        </p:tgtEl>
                                        <p:attrNameLst>
                                          <p:attrName>ppt_x</p:attrName>
                                        </p:attrNameLst>
                                      </p:cBhvr>
                                      <p:tavLst>
                                        <p:tav tm="0">
                                          <p:val>
                                            <p:strVal val="#ppt_x"/>
                                          </p:val>
                                        </p:tav>
                                        <p:tav tm="100000">
                                          <p:val>
                                            <p:strVal val="#ppt_x"/>
                                          </p:val>
                                        </p:tav>
                                      </p:tavLst>
                                    </p:anim>
                                    <p:anim calcmode="lin" valueType="num">
                                      <p:cBhvr additive="base">
                                        <p:cTn id="25"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nodeType="clickEffect">
                                  <p:stCondLst>
                                    <p:cond delay="0"/>
                                  </p:stCondLst>
                                  <p:childTnLst>
                                    <p:set>
                                      <p:cBhvr>
                                        <p:cTn id="29" dur="1" fill="hold">
                                          <p:stCondLst>
                                            <p:cond delay="0"/>
                                          </p:stCondLst>
                                        </p:cTn>
                                        <p:tgtEl>
                                          <p:spTgt spid="33802"/>
                                        </p:tgtEl>
                                        <p:attrNameLst>
                                          <p:attrName>style.visibility</p:attrName>
                                        </p:attrNameLst>
                                      </p:cBhvr>
                                      <p:to>
                                        <p:strVal val="visible"/>
                                      </p:to>
                                    </p:set>
                                    <p:animEffect transition="in" filter="diamond(in)">
                                      <p:cBhvr>
                                        <p:cTn id="30" dur="2000"/>
                                        <p:tgtEl>
                                          <p:spTgt spid="33802"/>
                                        </p:tgtEl>
                                      </p:cBhvr>
                                    </p:animEffect>
                                  </p:childTnLst>
                                </p:cTn>
                              </p:par>
                              <p:par>
                                <p:cTn id="31" presetID="8" presetClass="entr" presetSubtype="16" fill="hold" nodeType="withEffect">
                                  <p:stCondLst>
                                    <p:cond delay="0"/>
                                  </p:stCondLst>
                                  <p:childTnLst>
                                    <p:set>
                                      <p:cBhvr>
                                        <p:cTn id="32" dur="1" fill="hold">
                                          <p:stCondLst>
                                            <p:cond delay="0"/>
                                          </p:stCondLst>
                                        </p:cTn>
                                        <p:tgtEl>
                                          <p:spTgt spid="33801"/>
                                        </p:tgtEl>
                                        <p:attrNameLst>
                                          <p:attrName>style.visibility</p:attrName>
                                        </p:attrNameLst>
                                      </p:cBhvr>
                                      <p:to>
                                        <p:strVal val="visible"/>
                                      </p:to>
                                    </p:set>
                                    <p:animEffect transition="in" filter="diamond(in)">
                                      <p:cBhvr>
                                        <p:cTn id="33" dur="2000"/>
                                        <p:tgtEl>
                                          <p:spTgt spid="33801"/>
                                        </p:tgtEl>
                                      </p:cBhvr>
                                    </p:animEffect>
                                  </p:childTnLst>
                                </p:cTn>
                              </p:par>
                              <p:par>
                                <p:cTn id="34" presetID="8" presetClass="entr" presetSubtype="16" fill="hold" nodeType="withEffect">
                                  <p:stCondLst>
                                    <p:cond delay="0"/>
                                  </p:stCondLst>
                                  <p:childTnLst>
                                    <p:set>
                                      <p:cBhvr>
                                        <p:cTn id="35" dur="1" fill="hold">
                                          <p:stCondLst>
                                            <p:cond delay="0"/>
                                          </p:stCondLst>
                                        </p:cTn>
                                        <p:tgtEl>
                                          <p:spTgt spid="33800"/>
                                        </p:tgtEl>
                                        <p:attrNameLst>
                                          <p:attrName>style.visibility</p:attrName>
                                        </p:attrNameLst>
                                      </p:cBhvr>
                                      <p:to>
                                        <p:strVal val="visible"/>
                                      </p:to>
                                    </p:set>
                                    <p:animEffect transition="in" filter="diamond(in)">
                                      <p:cBhvr>
                                        <p:cTn id="36" dur="2000"/>
                                        <p:tgtEl>
                                          <p:spTgt spid="33800"/>
                                        </p:tgtEl>
                                      </p:cBhvr>
                                    </p:animEffect>
                                  </p:childTnLst>
                                </p:cTn>
                              </p:par>
                              <p:par>
                                <p:cTn id="37" presetID="8" presetClass="entr" presetSubtype="16" fill="hold" nodeType="withEffect">
                                  <p:stCondLst>
                                    <p:cond delay="0"/>
                                  </p:stCondLst>
                                  <p:childTnLst>
                                    <p:set>
                                      <p:cBhvr>
                                        <p:cTn id="38" dur="1" fill="hold">
                                          <p:stCondLst>
                                            <p:cond delay="0"/>
                                          </p:stCondLst>
                                        </p:cTn>
                                        <p:tgtEl>
                                          <p:spTgt spid="33799"/>
                                        </p:tgtEl>
                                        <p:attrNameLst>
                                          <p:attrName>style.visibility</p:attrName>
                                        </p:attrNameLst>
                                      </p:cBhvr>
                                      <p:to>
                                        <p:strVal val="visible"/>
                                      </p:to>
                                    </p:set>
                                    <p:animEffect transition="in" filter="diamond(in)">
                                      <p:cBhvr>
                                        <p:cTn id="39" dur="2000"/>
                                        <p:tgtEl>
                                          <p:spTgt spid="33799"/>
                                        </p:tgtEl>
                                      </p:cBhvr>
                                    </p:animEffect>
                                  </p:childTnLst>
                                </p:cTn>
                              </p:par>
                              <p:par>
                                <p:cTn id="40" presetID="8" presetClass="entr" presetSubtype="16" fill="hold" grpId="0" nodeType="withEffect">
                                  <p:stCondLst>
                                    <p:cond delay="0"/>
                                  </p:stCondLst>
                                  <p:childTnLst>
                                    <p:set>
                                      <p:cBhvr>
                                        <p:cTn id="41" dur="1" fill="hold">
                                          <p:stCondLst>
                                            <p:cond delay="0"/>
                                          </p:stCondLst>
                                        </p:cTn>
                                        <p:tgtEl>
                                          <p:spTgt spid="33818"/>
                                        </p:tgtEl>
                                        <p:attrNameLst>
                                          <p:attrName>style.visibility</p:attrName>
                                        </p:attrNameLst>
                                      </p:cBhvr>
                                      <p:to>
                                        <p:strVal val="visible"/>
                                      </p:to>
                                    </p:set>
                                    <p:animEffect transition="in" filter="diamond(in)">
                                      <p:cBhvr>
                                        <p:cTn id="42" dur="2000"/>
                                        <p:tgtEl>
                                          <p:spTgt spid="33818"/>
                                        </p:tgtEl>
                                      </p:cBhvr>
                                    </p:animEffect>
                                  </p:childTnLst>
                                </p:cTn>
                              </p:par>
                              <p:par>
                                <p:cTn id="43" presetID="8" presetClass="entr" presetSubtype="16" fill="hold" grpId="0" nodeType="withEffect">
                                  <p:stCondLst>
                                    <p:cond delay="0"/>
                                  </p:stCondLst>
                                  <p:childTnLst>
                                    <p:set>
                                      <p:cBhvr>
                                        <p:cTn id="44" dur="1" fill="hold">
                                          <p:stCondLst>
                                            <p:cond delay="0"/>
                                          </p:stCondLst>
                                        </p:cTn>
                                        <p:tgtEl>
                                          <p:spTgt spid="33809"/>
                                        </p:tgtEl>
                                        <p:attrNameLst>
                                          <p:attrName>style.visibility</p:attrName>
                                        </p:attrNameLst>
                                      </p:cBhvr>
                                      <p:to>
                                        <p:strVal val="visible"/>
                                      </p:to>
                                    </p:set>
                                    <p:animEffect transition="in" filter="diamond(in)">
                                      <p:cBhvr>
                                        <p:cTn id="45" dur="2000"/>
                                        <p:tgtEl>
                                          <p:spTgt spid="33809"/>
                                        </p:tgtEl>
                                      </p:cBhvr>
                                    </p:animEffect>
                                  </p:childTnLst>
                                </p:cTn>
                              </p:par>
                              <p:par>
                                <p:cTn id="46" presetID="8" presetClass="entr" presetSubtype="16" fill="hold" grpId="0" nodeType="withEffect">
                                  <p:stCondLst>
                                    <p:cond delay="0"/>
                                  </p:stCondLst>
                                  <p:childTnLst>
                                    <p:set>
                                      <p:cBhvr>
                                        <p:cTn id="47" dur="1" fill="hold">
                                          <p:stCondLst>
                                            <p:cond delay="0"/>
                                          </p:stCondLst>
                                        </p:cTn>
                                        <p:tgtEl>
                                          <p:spTgt spid="33808"/>
                                        </p:tgtEl>
                                        <p:attrNameLst>
                                          <p:attrName>style.visibility</p:attrName>
                                        </p:attrNameLst>
                                      </p:cBhvr>
                                      <p:to>
                                        <p:strVal val="visible"/>
                                      </p:to>
                                    </p:set>
                                    <p:animEffect transition="in" filter="diamond(in)">
                                      <p:cBhvr>
                                        <p:cTn id="48" dur="2000"/>
                                        <p:tgtEl>
                                          <p:spTgt spid="33808"/>
                                        </p:tgtEl>
                                      </p:cBhvr>
                                    </p:animEffect>
                                  </p:childTnLst>
                                </p:cTn>
                              </p:par>
                              <p:par>
                                <p:cTn id="49" presetID="8" presetClass="entr" presetSubtype="16" fill="hold" grpId="0" nodeType="withEffect">
                                  <p:stCondLst>
                                    <p:cond delay="0"/>
                                  </p:stCondLst>
                                  <p:childTnLst>
                                    <p:set>
                                      <p:cBhvr>
                                        <p:cTn id="50" dur="1" fill="hold">
                                          <p:stCondLst>
                                            <p:cond delay="0"/>
                                          </p:stCondLst>
                                        </p:cTn>
                                        <p:tgtEl>
                                          <p:spTgt spid="33807"/>
                                        </p:tgtEl>
                                        <p:attrNameLst>
                                          <p:attrName>style.visibility</p:attrName>
                                        </p:attrNameLst>
                                      </p:cBhvr>
                                      <p:to>
                                        <p:strVal val="visible"/>
                                      </p:to>
                                    </p:set>
                                    <p:animEffect transition="in" filter="diamond(in)">
                                      <p:cBhvr>
                                        <p:cTn id="51" dur="2000"/>
                                        <p:tgtEl>
                                          <p:spTgt spid="3380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3811"/>
                                        </p:tgtEl>
                                        <p:attrNameLst>
                                          <p:attrName>style.visibility</p:attrName>
                                        </p:attrNameLst>
                                      </p:cBhvr>
                                      <p:to>
                                        <p:strVal val="visible"/>
                                      </p:to>
                                    </p:set>
                                    <p:anim calcmode="lin" valueType="num">
                                      <p:cBhvr additive="base">
                                        <p:cTn id="56" dur="500" fill="hold"/>
                                        <p:tgtEl>
                                          <p:spTgt spid="33811"/>
                                        </p:tgtEl>
                                        <p:attrNameLst>
                                          <p:attrName>ppt_x</p:attrName>
                                        </p:attrNameLst>
                                      </p:cBhvr>
                                      <p:tavLst>
                                        <p:tav tm="0">
                                          <p:val>
                                            <p:strVal val="#ppt_x"/>
                                          </p:val>
                                        </p:tav>
                                        <p:tav tm="100000">
                                          <p:val>
                                            <p:strVal val="#ppt_x"/>
                                          </p:val>
                                        </p:tav>
                                      </p:tavLst>
                                    </p:anim>
                                    <p:anim calcmode="lin" valueType="num">
                                      <p:cBhvr additive="base">
                                        <p:cTn id="57" dur="500" fill="hold"/>
                                        <p:tgtEl>
                                          <p:spTgt spid="33811"/>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3823"/>
                                        </p:tgtEl>
                                        <p:attrNameLst>
                                          <p:attrName>style.visibility</p:attrName>
                                        </p:attrNameLst>
                                      </p:cBhvr>
                                      <p:to>
                                        <p:strVal val="visible"/>
                                      </p:to>
                                    </p:set>
                                    <p:anim calcmode="lin" valueType="num">
                                      <p:cBhvr additive="base">
                                        <p:cTn id="60" dur="500" fill="hold"/>
                                        <p:tgtEl>
                                          <p:spTgt spid="33823"/>
                                        </p:tgtEl>
                                        <p:attrNameLst>
                                          <p:attrName>ppt_x</p:attrName>
                                        </p:attrNameLst>
                                      </p:cBhvr>
                                      <p:tavLst>
                                        <p:tav tm="0">
                                          <p:val>
                                            <p:strVal val="#ppt_x"/>
                                          </p:val>
                                        </p:tav>
                                        <p:tav tm="100000">
                                          <p:val>
                                            <p:strVal val="#ppt_x"/>
                                          </p:val>
                                        </p:tav>
                                      </p:tavLst>
                                    </p:anim>
                                    <p:anim calcmode="lin" valueType="num">
                                      <p:cBhvr additive="base">
                                        <p:cTn id="61" dur="500" fill="hold"/>
                                        <p:tgtEl>
                                          <p:spTgt spid="33823"/>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33831"/>
                                        </p:tgtEl>
                                        <p:attrNameLst>
                                          <p:attrName>style.visibility</p:attrName>
                                        </p:attrNameLst>
                                      </p:cBhvr>
                                      <p:to>
                                        <p:strVal val="visible"/>
                                      </p:to>
                                    </p:set>
                                    <p:anim calcmode="lin" valueType="num">
                                      <p:cBhvr additive="base">
                                        <p:cTn id="64" dur="500" fill="hold"/>
                                        <p:tgtEl>
                                          <p:spTgt spid="33831"/>
                                        </p:tgtEl>
                                        <p:attrNameLst>
                                          <p:attrName>ppt_x</p:attrName>
                                        </p:attrNameLst>
                                      </p:cBhvr>
                                      <p:tavLst>
                                        <p:tav tm="0">
                                          <p:val>
                                            <p:strVal val="#ppt_x"/>
                                          </p:val>
                                        </p:tav>
                                        <p:tav tm="100000">
                                          <p:val>
                                            <p:strVal val="#ppt_x"/>
                                          </p:val>
                                        </p:tav>
                                      </p:tavLst>
                                    </p:anim>
                                    <p:anim calcmode="lin" valueType="num">
                                      <p:cBhvr additive="base">
                                        <p:cTn id="65" dur="500" fill="hold"/>
                                        <p:tgtEl>
                                          <p:spTgt spid="33831"/>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33822"/>
                                        </p:tgtEl>
                                        <p:attrNameLst>
                                          <p:attrName>style.visibility</p:attrName>
                                        </p:attrNameLst>
                                      </p:cBhvr>
                                      <p:to>
                                        <p:strVal val="visible"/>
                                      </p:to>
                                    </p:set>
                                    <p:anim calcmode="lin" valueType="num">
                                      <p:cBhvr additive="base">
                                        <p:cTn id="68" dur="500" fill="hold"/>
                                        <p:tgtEl>
                                          <p:spTgt spid="33822"/>
                                        </p:tgtEl>
                                        <p:attrNameLst>
                                          <p:attrName>ppt_x</p:attrName>
                                        </p:attrNameLst>
                                      </p:cBhvr>
                                      <p:tavLst>
                                        <p:tav tm="0">
                                          <p:val>
                                            <p:strVal val="#ppt_x"/>
                                          </p:val>
                                        </p:tav>
                                        <p:tav tm="100000">
                                          <p:val>
                                            <p:strVal val="#ppt_x"/>
                                          </p:val>
                                        </p:tav>
                                      </p:tavLst>
                                    </p:anim>
                                    <p:anim calcmode="lin" valueType="num">
                                      <p:cBhvr additive="base">
                                        <p:cTn id="69" dur="500" fill="hold"/>
                                        <p:tgtEl>
                                          <p:spTgt spid="33822"/>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33832"/>
                                        </p:tgtEl>
                                        <p:attrNameLst>
                                          <p:attrName>style.visibility</p:attrName>
                                        </p:attrNameLst>
                                      </p:cBhvr>
                                      <p:to>
                                        <p:strVal val="visible"/>
                                      </p:to>
                                    </p:set>
                                    <p:anim calcmode="lin" valueType="num">
                                      <p:cBhvr additive="base">
                                        <p:cTn id="72" dur="500" fill="hold"/>
                                        <p:tgtEl>
                                          <p:spTgt spid="33832"/>
                                        </p:tgtEl>
                                        <p:attrNameLst>
                                          <p:attrName>ppt_x</p:attrName>
                                        </p:attrNameLst>
                                      </p:cBhvr>
                                      <p:tavLst>
                                        <p:tav tm="0">
                                          <p:val>
                                            <p:strVal val="#ppt_x"/>
                                          </p:val>
                                        </p:tav>
                                        <p:tav tm="100000">
                                          <p:val>
                                            <p:strVal val="#ppt_x"/>
                                          </p:val>
                                        </p:tav>
                                      </p:tavLst>
                                    </p:anim>
                                    <p:anim calcmode="lin" valueType="num">
                                      <p:cBhvr additive="base">
                                        <p:cTn id="73" dur="500" fill="hold"/>
                                        <p:tgtEl>
                                          <p:spTgt spid="33832"/>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33833"/>
                                        </p:tgtEl>
                                        <p:attrNameLst>
                                          <p:attrName>style.visibility</p:attrName>
                                        </p:attrNameLst>
                                      </p:cBhvr>
                                      <p:to>
                                        <p:strVal val="visible"/>
                                      </p:to>
                                    </p:set>
                                    <p:anim calcmode="lin" valueType="num">
                                      <p:cBhvr additive="base">
                                        <p:cTn id="76" dur="500" fill="hold"/>
                                        <p:tgtEl>
                                          <p:spTgt spid="33833"/>
                                        </p:tgtEl>
                                        <p:attrNameLst>
                                          <p:attrName>ppt_x</p:attrName>
                                        </p:attrNameLst>
                                      </p:cBhvr>
                                      <p:tavLst>
                                        <p:tav tm="0">
                                          <p:val>
                                            <p:strVal val="#ppt_x"/>
                                          </p:val>
                                        </p:tav>
                                        <p:tav tm="100000">
                                          <p:val>
                                            <p:strVal val="#ppt_x"/>
                                          </p:val>
                                        </p:tav>
                                      </p:tavLst>
                                    </p:anim>
                                    <p:anim calcmode="lin" valueType="num">
                                      <p:cBhvr additive="base">
                                        <p:cTn id="77" dur="500" fill="hold"/>
                                        <p:tgtEl>
                                          <p:spTgt spid="33833"/>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33821"/>
                                        </p:tgtEl>
                                        <p:attrNameLst>
                                          <p:attrName>style.visibility</p:attrName>
                                        </p:attrNameLst>
                                      </p:cBhvr>
                                      <p:to>
                                        <p:strVal val="visible"/>
                                      </p:to>
                                    </p:set>
                                    <p:anim calcmode="lin" valueType="num">
                                      <p:cBhvr additive="base">
                                        <p:cTn id="80" dur="500" fill="hold"/>
                                        <p:tgtEl>
                                          <p:spTgt spid="33821"/>
                                        </p:tgtEl>
                                        <p:attrNameLst>
                                          <p:attrName>ppt_x</p:attrName>
                                        </p:attrNameLst>
                                      </p:cBhvr>
                                      <p:tavLst>
                                        <p:tav tm="0">
                                          <p:val>
                                            <p:strVal val="#ppt_x"/>
                                          </p:val>
                                        </p:tav>
                                        <p:tav tm="100000">
                                          <p:val>
                                            <p:strVal val="#ppt_x"/>
                                          </p:val>
                                        </p:tav>
                                      </p:tavLst>
                                    </p:anim>
                                    <p:anim calcmode="lin" valueType="num">
                                      <p:cBhvr additive="base">
                                        <p:cTn id="81" dur="500" fill="hold"/>
                                        <p:tgtEl>
                                          <p:spTgt spid="33821"/>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33820"/>
                                        </p:tgtEl>
                                        <p:attrNameLst>
                                          <p:attrName>style.visibility</p:attrName>
                                        </p:attrNameLst>
                                      </p:cBhvr>
                                      <p:to>
                                        <p:strVal val="visible"/>
                                      </p:to>
                                    </p:set>
                                    <p:anim calcmode="lin" valueType="num">
                                      <p:cBhvr additive="base">
                                        <p:cTn id="84" dur="500" fill="hold"/>
                                        <p:tgtEl>
                                          <p:spTgt spid="33820"/>
                                        </p:tgtEl>
                                        <p:attrNameLst>
                                          <p:attrName>ppt_x</p:attrName>
                                        </p:attrNameLst>
                                      </p:cBhvr>
                                      <p:tavLst>
                                        <p:tav tm="0">
                                          <p:val>
                                            <p:strVal val="#ppt_x"/>
                                          </p:val>
                                        </p:tav>
                                        <p:tav tm="100000">
                                          <p:val>
                                            <p:strVal val="#ppt_x"/>
                                          </p:val>
                                        </p:tav>
                                      </p:tavLst>
                                    </p:anim>
                                    <p:anim calcmode="lin" valueType="num">
                                      <p:cBhvr additive="base">
                                        <p:cTn id="85" dur="500" fill="hold"/>
                                        <p:tgtEl>
                                          <p:spTgt spid="33820"/>
                                        </p:tgtEl>
                                        <p:attrNameLst>
                                          <p:attrName>ppt_y</p:attrName>
                                        </p:attrNameLst>
                                      </p:cBhvr>
                                      <p:tavLst>
                                        <p:tav tm="0">
                                          <p:val>
                                            <p:strVal val="1+#ppt_h/2"/>
                                          </p:val>
                                        </p:tav>
                                        <p:tav tm="100000">
                                          <p:val>
                                            <p:strVal val="#ppt_y"/>
                                          </p:val>
                                        </p:tav>
                                      </p:tavLst>
                                    </p:anim>
                                  </p:childTnLst>
                                </p:cTn>
                              </p:par>
                              <p:par>
                                <p:cTn id="86" presetID="2" presetClass="entr" presetSubtype="4" fill="hold" nodeType="withEffect">
                                  <p:stCondLst>
                                    <p:cond delay="0"/>
                                  </p:stCondLst>
                                  <p:childTnLst>
                                    <p:set>
                                      <p:cBhvr>
                                        <p:cTn id="87" dur="1" fill="hold">
                                          <p:stCondLst>
                                            <p:cond delay="0"/>
                                          </p:stCondLst>
                                        </p:cTn>
                                        <p:tgtEl>
                                          <p:spTgt spid="33826"/>
                                        </p:tgtEl>
                                        <p:attrNameLst>
                                          <p:attrName>style.visibility</p:attrName>
                                        </p:attrNameLst>
                                      </p:cBhvr>
                                      <p:to>
                                        <p:strVal val="visible"/>
                                      </p:to>
                                    </p:set>
                                    <p:anim calcmode="lin" valueType="num">
                                      <p:cBhvr additive="base">
                                        <p:cTn id="88" dur="500" fill="hold"/>
                                        <p:tgtEl>
                                          <p:spTgt spid="33826"/>
                                        </p:tgtEl>
                                        <p:attrNameLst>
                                          <p:attrName>ppt_x</p:attrName>
                                        </p:attrNameLst>
                                      </p:cBhvr>
                                      <p:tavLst>
                                        <p:tav tm="0">
                                          <p:val>
                                            <p:strVal val="#ppt_x"/>
                                          </p:val>
                                        </p:tav>
                                        <p:tav tm="100000">
                                          <p:val>
                                            <p:strVal val="#ppt_x"/>
                                          </p:val>
                                        </p:tav>
                                      </p:tavLst>
                                    </p:anim>
                                    <p:anim calcmode="lin" valueType="num">
                                      <p:cBhvr additive="base">
                                        <p:cTn id="89" dur="500" fill="hold"/>
                                        <p:tgtEl>
                                          <p:spTgt spid="33826"/>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33819"/>
                                        </p:tgtEl>
                                        <p:attrNameLst>
                                          <p:attrName>style.visibility</p:attrName>
                                        </p:attrNameLst>
                                      </p:cBhvr>
                                      <p:to>
                                        <p:strVal val="visible"/>
                                      </p:to>
                                    </p:set>
                                    <p:anim calcmode="lin" valueType="num">
                                      <p:cBhvr additive="base">
                                        <p:cTn id="92" dur="500" fill="hold"/>
                                        <p:tgtEl>
                                          <p:spTgt spid="33819"/>
                                        </p:tgtEl>
                                        <p:attrNameLst>
                                          <p:attrName>ppt_x</p:attrName>
                                        </p:attrNameLst>
                                      </p:cBhvr>
                                      <p:tavLst>
                                        <p:tav tm="0">
                                          <p:val>
                                            <p:strVal val="#ppt_x"/>
                                          </p:val>
                                        </p:tav>
                                        <p:tav tm="100000">
                                          <p:val>
                                            <p:strVal val="#ppt_x"/>
                                          </p:val>
                                        </p:tav>
                                      </p:tavLst>
                                    </p:anim>
                                    <p:anim calcmode="lin" valueType="num">
                                      <p:cBhvr additive="base">
                                        <p:cTn id="93" dur="500" fill="hold"/>
                                        <p:tgtEl>
                                          <p:spTgt spid="33819"/>
                                        </p:tgtEl>
                                        <p:attrNameLst>
                                          <p:attrName>ppt_y</p:attrName>
                                        </p:attrNameLst>
                                      </p:cBhvr>
                                      <p:tavLst>
                                        <p:tav tm="0">
                                          <p:val>
                                            <p:strVal val="1+#ppt_h/2"/>
                                          </p:val>
                                        </p:tav>
                                        <p:tav tm="100000">
                                          <p:val>
                                            <p:strVal val="#ppt_y"/>
                                          </p:val>
                                        </p:tav>
                                      </p:tavLst>
                                    </p:anim>
                                  </p:childTnLst>
                                </p:cTn>
                              </p:par>
                              <p:par>
                                <p:cTn id="94" presetID="2" presetClass="entr" presetSubtype="4" fill="hold" nodeType="withEffect">
                                  <p:stCondLst>
                                    <p:cond delay="0"/>
                                  </p:stCondLst>
                                  <p:childTnLst>
                                    <p:set>
                                      <p:cBhvr>
                                        <p:cTn id="95" dur="1" fill="hold">
                                          <p:stCondLst>
                                            <p:cond delay="0"/>
                                          </p:stCondLst>
                                        </p:cTn>
                                        <p:tgtEl>
                                          <p:spTgt spid="33839"/>
                                        </p:tgtEl>
                                        <p:attrNameLst>
                                          <p:attrName>style.visibility</p:attrName>
                                        </p:attrNameLst>
                                      </p:cBhvr>
                                      <p:to>
                                        <p:strVal val="visible"/>
                                      </p:to>
                                    </p:set>
                                    <p:anim calcmode="lin" valueType="num">
                                      <p:cBhvr additive="base">
                                        <p:cTn id="96" dur="500" fill="hold"/>
                                        <p:tgtEl>
                                          <p:spTgt spid="33839"/>
                                        </p:tgtEl>
                                        <p:attrNameLst>
                                          <p:attrName>ppt_x</p:attrName>
                                        </p:attrNameLst>
                                      </p:cBhvr>
                                      <p:tavLst>
                                        <p:tav tm="0">
                                          <p:val>
                                            <p:strVal val="#ppt_x"/>
                                          </p:val>
                                        </p:tav>
                                        <p:tav tm="100000">
                                          <p:val>
                                            <p:strVal val="#ppt_x"/>
                                          </p:val>
                                        </p:tav>
                                      </p:tavLst>
                                    </p:anim>
                                    <p:anim calcmode="lin" valueType="num">
                                      <p:cBhvr additive="base">
                                        <p:cTn id="97" dur="500" fill="hold"/>
                                        <p:tgtEl>
                                          <p:spTgt spid="33839"/>
                                        </p:tgtEl>
                                        <p:attrNameLst>
                                          <p:attrName>ppt_y</p:attrName>
                                        </p:attrNameLst>
                                      </p:cBhvr>
                                      <p:tavLst>
                                        <p:tav tm="0">
                                          <p:val>
                                            <p:strVal val="1+#ppt_h/2"/>
                                          </p:val>
                                        </p:tav>
                                        <p:tav tm="100000">
                                          <p:val>
                                            <p:strVal val="#ppt_y"/>
                                          </p:val>
                                        </p:tav>
                                      </p:tavLst>
                                    </p:anim>
                                  </p:childTnLst>
                                </p:cTn>
                              </p:par>
                              <p:par>
                                <p:cTn id="98" presetID="2" presetClass="entr" presetSubtype="4" fill="hold" nodeType="withEffect">
                                  <p:stCondLst>
                                    <p:cond delay="0"/>
                                  </p:stCondLst>
                                  <p:childTnLst>
                                    <p:set>
                                      <p:cBhvr>
                                        <p:cTn id="99" dur="1" fill="hold">
                                          <p:stCondLst>
                                            <p:cond delay="0"/>
                                          </p:stCondLst>
                                        </p:cTn>
                                        <p:tgtEl>
                                          <p:spTgt spid="33838"/>
                                        </p:tgtEl>
                                        <p:attrNameLst>
                                          <p:attrName>style.visibility</p:attrName>
                                        </p:attrNameLst>
                                      </p:cBhvr>
                                      <p:to>
                                        <p:strVal val="visible"/>
                                      </p:to>
                                    </p:set>
                                    <p:anim calcmode="lin" valueType="num">
                                      <p:cBhvr additive="base">
                                        <p:cTn id="100" dur="500" fill="hold"/>
                                        <p:tgtEl>
                                          <p:spTgt spid="33838"/>
                                        </p:tgtEl>
                                        <p:attrNameLst>
                                          <p:attrName>ppt_x</p:attrName>
                                        </p:attrNameLst>
                                      </p:cBhvr>
                                      <p:tavLst>
                                        <p:tav tm="0">
                                          <p:val>
                                            <p:strVal val="#ppt_x"/>
                                          </p:val>
                                        </p:tav>
                                        <p:tav tm="100000">
                                          <p:val>
                                            <p:strVal val="#ppt_x"/>
                                          </p:val>
                                        </p:tav>
                                      </p:tavLst>
                                    </p:anim>
                                    <p:anim calcmode="lin" valueType="num">
                                      <p:cBhvr additive="base">
                                        <p:cTn id="101" dur="500" fill="hold"/>
                                        <p:tgtEl>
                                          <p:spTgt spid="33838"/>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33837"/>
                                        </p:tgtEl>
                                        <p:attrNameLst>
                                          <p:attrName>style.visibility</p:attrName>
                                        </p:attrNameLst>
                                      </p:cBhvr>
                                      <p:to>
                                        <p:strVal val="visible"/>
                                      </p:to>
                                    </p:set>
                                    <p:anim calcmode="lin" valueType="num">
                                      <p:cBhvr additive="base">
                                        <p:cTn id="104" dur="500" fill="hold"/>
                                        <p:tgtEl>
                                          <p:spTgt spid="33837"/>
                                        </p:tgtEl>
                                        <p:attrNameLst>
                                          <p:attrName>ppt_x</p:attrName>
                                        </p:attrNameLst>
                                      </p:cBhvr>
                                      <p:tavLst>
                                        <p:tav tm="0">
                                          <p:val>
                                            <p:strVal val="#ppt_x"/>
                                          </p:val>
                                        </p:tav>
                                        <p:tav tm="100000">
                                          <p:val>
                                            <p:strVal val="#ppt_x"/>
                                          </p:val>
                                        </p:tav>
                                      </p:tavLst>
                                    </p:anim>
                                    <p:anim calcmode="lin" valueType="num">
                                      <p:cBhvr additive="base">
                                        <p:cTn id="105" dur="500" fill="hold"/>
                                        <p:tgtEl>
                                          <p:spTgt spid="33837"/>
                                        </p:tgtEl>
                                        <p:attrNameLst>
                                          <p:attrName>ppt_y</p:attrName>
                                        </p:attrNameLst>
                                      </p:cBhvr>
                                      <p:tavLst>
                                        <p:tav tm="0">
                                          <p:val>
                                            <p:strVal val="1+#ppt_h/2"/>
                                          </p:val>
                                        </p:tav>
                                        <p:tav tm="100000">
                                          <p:val>
                                            <p:strVal val="#ppt_y"/>
                                          </p:val>
                                        </p:tav>
                                      </p:tavLst>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 presetClass="entr" presetSubtype="4" fill="hold" grpId="0" nodeType="clickEffect">
                                  <p:stCondLst>
                                    <p:cond delay="0"/>
                                  </p:stCondLst>
                                  <p:childTnLst>
                                    <p:set>
                                      <p:cBhvr>
                                        <p:cTn id="109" dur="1" fill="hold">
                                          <p:stCondLst>
                                            <p:cond delay="0"/>
                                          </p:stCondLst>
                                        </p:cTn>
                                        <p:tgtEl>
                                          <p:spTgt spid="33824"/>
                                        </p:tgtEl>
                                        <p:attrNameLst>
                                          <p:attrName>style.visibility</p:attrName>
                                        </p:attrNameLst>
                                      </p:cBhvr>
                                      <p:to>
                                        <p:strVal val="visible"/>
                                      </p:to>
                                    </p:set>
                                    <p:anim calcmode="lin" valueType="num">
                                      <p:cBhvr additive="base">
                                        <p:cTn id="110" dur="500" fill="hold"/>
                                        <p:tgtEl>
                                          <p:spTgt spid="33824"/>
                                        </p:tgtEl>
                                        <p:attrNameLst>
                                          <p:attrName>ppt_x</p:attrName>
                                        </p:attrNameLst>
                                      </p:cBhvr>
                                      <p:tavLst>
                                        <p:tav tm="0">
                                          <p:val>
                                            <p:strVal val="#ppt_x"/>
                                          </p:val>
                                        </p:tav>
                                        <p:tav tm="100000">
                                          <p:val>
                                            <p:strVal val="#ppt_x"/>
                                          </p:val>
                                        </p:tav>
                                      </p:tavLst>
                                    </p:anim>
                                    <p:anim calcmode="lin" valueType="num">
                                      <p:cBhvr additive="base">
                                        <p:cTn id="111" dur="500" fill="hold"/>
                                        <p:tgtEl>
                                          <p:spTgt spid="33824"/>
                                        </p:tgtEl>
                                        <p:attrNameLst>
                                          <p:attrName>ppt_y</p:attrName>
                                        </p:attrNameLst>
                                      </p:cBhvr>
                                      <p:tavLst>
                                        <p:tav tm="0">
                                          <p:val>
                                            <p:strVal val="1+#ppt_h/2"/>
                                          </p:val>
                                        </p:tav>
                                        <p:tav tm="100000">
                                          <p:val>
                                            <p:strVal val="#ppt_y"/>
                                          </p:val>
                                        </p:tav>
                                      </p:tavLst>
                                    </p:anim>
                                  </p:childTnLst>
                                </p:cTn>
                              </p:par>
                              <p:par>
                                <p:cTn id="112" presetID="2" presetClass="entr" presetSubtype="4" fill="hold" nodeType="withEffect">
                                  <p:stCondLst>
                                    <p:cond delay="0"/>
                                  </p:stCondLst>
                                  <p:childTnLst>
                                    <p:set>
                                      <p:cBhvr>
                                        <p:cTn id="113" dur="1" fill="hold">
                                          <p:stCondLst>
                                            <p:cond delay="0"/>
                                          </p:stCondLst>
                                        </p:cTn>
                                        <p:tgtEl>
                                          <p:spTgt spid="33834"/>
                                        </p:tgtEl>
                                        <p:attrNameLst>
                                          <p:attrName>style.visibility</p:attrName>
                                        </p:attrNameLst>
                                      </p:cBhvr>
                                      <p:to>
                                        <p:strVal val="visible"/>
                                      </p:to>
                                    </p:set>
                                    <p:anim calcmode="lin" valueType="num">
                                      <p:cBhvr additive="base">
                                        <p:cTn id="114" dur="500" fill="hold"/>
                                        <p:tgtEl>
                                          <p:spTgt spid="33834"/>
                                        </p:tgtEl>
                                        <p:attrNameLst>
                                          <p:attrName>ppt_x</p:attrName>
                                        </p:attrNameLst>
                                      </p:cBhvr>
                                      <p:tavLst>
                                        <p:tav tm="0">
                                          <p:val>
                                            <p:strVal val="#ppt_x"/>
                                          </p:val>
                                        </p:tav>
                                        <p:tav tm="100000">
                                          <p:val>
                                            <p:strVal val="#ppt_x"/>
                                          </p:val>
                                        </p:tav>
                                      </p:tavLst>
                                    </p:anim>
                                    <p:anim calcmode="lin" valueType="num">
                                      <p:cBhvr additive="base">
                                        <p:cTn id="115" dur="500" fill="hold"/>
                                        <p:tgtEl>
                                          <p:spTgt spid="33834"/>
                                        </p:tgtEl>
                                        <p:attrNameLst>
                                          <p:attrName>ppt_y</p:attrName>
                                        </p:attrNameLst>
                                      </p:cBhvr>
                                      <p:tavLst>
                                        <p:tav tm="0">
                                          <p:val>
                                            <p:strVal val="1+#ppt_h/2"/>
                                          </p:val>
                                        </p:tav>
                                        <p:tav tm="100000">
                                          <p:val>
                                            <p:strVal val="#ppt_y"/>
                                          </p:val>
                                        </p:tav>
                                      </p:tavLst>
                                    </p:anim>
                                  </p:childTnLst>
                                </p:cTn>
                              </p:par>
                              <p:par>
                                <p:cTn id="116" presetID="2" presetClass="entr" presetSubtype="4" fill="hold" nodeType="withEffect">
                                  <p:stCondLst>
                                    <p:cond delay="0"/>
                                  </p:stCondLst>
                                  <p:childTnLst>
                                    <p:set>
                                      <p:cBhvr>
                                        <p:cTn id="117" dur="1" fill="hold">
                                          <p:stCondLst>
                                            <p:cond delay="0"/>
                                          </p:stCondLst>
                                        </p:cTn>
                                        <p:tgtEl>
                                          <p:spTgt spid="33836"/>
                                        </p:tgtEl>
                                        <p:attrNameLst>
                                          <p:attrName>style.visibility</p:attrName>
                                        </p:attrNameLst>
                                      </p:cBhvr>
                                      <p:to>
                                        <p:strVal val="visible"/>
                                      </p:to>
                                    </p:set>
                                    <p:anim calcmode="lin" valueType="num">
                                      <p:cBhvr additive="base">
                                        <p:cTn id="118" dur="500" fill="hold"/>
                                        <p:tgtEl>
                                          <p:spTgt spid="33836"/>
                                        </p:tgtEl>
                                        <p:attrNameLst>
                                          <p:attrName>ppt_x</p:attrName>
                                        </p:attrNameLst>
                                      </p:cBhvr>
                                      <p:tavLst>
                                        <p:tav tm="0">
                                          <p:val>
                                            <p:strVal val="#ppt_x"/>
                                          </p:val>
                                        </p:tav>
                                        <p:tav tm="100000">
                                          <p:val>
                                            <p:strVal val="#ppt_x"/>
                                          </p:val>
                                        </p:tav>
                                      </p:tavLst>
                                    </p:anim>
                                    <p:anim calcmode="lin" valueType="num">
                                      <p:cBhvr additive="base">
                                        <p:cTn id="119" dur="500" fill="hold"/>
                                        <p:tgtEl>
                                          <p:spTgt spid="33836"/>
                                        </p:tgtEl>
                                        <p:attrNameLst>
                                          <p:attrName>ppt_y</p:attrName>
                                        </p:attrNameLst>
                                      </p:cBhvr>
                                      <p:tavLst>
                                        <p:tav tm="0">
                                          <p:val>
                                            <p:strVal val="1+#ppt_h/2"/>
                                          </p:val>
                                        </p:tav>
                                        <p:tav tm="100000">
                                          <p:val>
                                            <p:strVal val="#ppt_y"/>
                                          </p:val>
                                        </p:tav>
                                      </p:tavLst>
                                    </p:anim>
                                  </p:childTnLst>
                                </p:cTn>
                              </p:par>
                              <p:par>
                                <p:cTn id="120" presetID="2" presetClass="entr" presetSubtype="4" fill="hold" nodeType="withEffect">
                                  <p:stCondLst>
                                    <p:cond delay="0"/>
                                  </p:stCondLst>
                                  <p:childTnLst>
                                    <p:set>
                                      <p:cBhvr>
                                        <p:cTn id="121" dur="1" fill="hold">
                                          <p:stCondLst>
                                            <p:cond delay="0"/>
                                          </p:stCondLst>
                                        </p:cTn>
                                        <p:tgtEl>
                                          <p:spTgt spid="33835"/>
                                        </p:tgtEl>
                                        <p:attrNameLst>
                                          <p:attrName>style.visibility</p:attrName>
                                        </p:attrNameLst>
                                      </p:cBhvr>
                                      <p:to>
                                        <p:strVal val="visible"/>
                                      </p:to>
                                    </p:set>
                                    <p:anim calcmode="lin" valueType="num">
                                      <p:cBhvr additive="base">
                                        <p:cTn id="122" dur="500" fill="hold"/>
                                        <p:tgtEl>
                                          <p:spTgt spid="33835"/>
                                        </p:tgtEl>
                                        <p:attrNameLst>
                                          <p:attrName>ppt_x</p:attrName>
                                        </p:attrNameLst>
                                      </p:cBhvr>
                                      <p:tavLst>
                                        <p:tav tm="0">
                                          <p:val>
                                            <p:strVal val="#ppt_x"/>
                                          </p:val>
                                        </p:tav>
                                        <p:tav tm="100000">
                                          <p:val>
                                            <p:strVal val="#ppt_x"/>
                                          </p:val>
                                        </p:tav>
                                      </p:tavLst>
                                    </p:anim>
                                    <p:anim calcmode="lin" valueType="num">
                                      <p:cBhvr additive="base">
                                        <p:cTn id="123" dur="500" fill="hold"/>
                                        <p:tgtEl>
                                          <p:spTgt spid="33835"/>
                                        </p:tgtEl>
                                        <p:attrNameLst>
                                          <p:attrName>ppt_y</p:attrName>
                                        </p:attrNameLst>
                                      </p:cBhvr>
                                      <p:tavLst>
                                        <p:tav tm="0">
                                          <p:val>
                                            <p:strVal val="1+#ppt_h/2"/>
                                          </p:val>
                                        </p:tav>
                                        <p:tav tm="100000">
                                          <p:val>
                                            <p:strVal val="#ppt_y"/>
                                          </p:val>
                                        </p:tav>
                                      </p:tavLst>
                                    </p:anim>
                                  </p:childTnLst>
                                </p:cTn>
                              </p:par>
                              <p:par>
                                <p:cTn id="124" presetID="2" presetClass="entr" presetSubtype="4" fill="hold" nodeType="withEffect">
                                  <p:stCondLst>
                                    <p:cond delay="0"/>
                                  </p:stCondLst>
                                  <p:childTnLst>
                                    <p:set>
                                      <p:cBhvr>
                                        <p:cTn id="125" dur="1" fill="hold">
                                          <p:stCondLst>
                                            <p:cond delay="0"/>
                                          </p:stCondLst>
                                        </p:cTn>
                                        <p:tgtEl>
                                          <p:spTgt spid="33830"/>
                                        </p:tgtEl>
                                        <p:attrNameLst>
                                          <p:attrName>style.visibility</p:attrName>
                                        </p:attrNameLst>
                                      </p:cBhvr>
                                      <p:to>
                                        <p:strVal val="visible"/>
                                      </p:to>
                                    </p:set>
                                    <p:anim calcmode="lin" valueType="num">
                                      <p:cBhvr additive="base">
                                        <p:cTn id="126" dur="500" fill="hold"/>
                                        <p:tgtEl>
                                          <p:spTgt spid="33830"/>
                                        </p:tgtEl>
                                        <p:attrNameLst>
                                          <p:attrName>ppt_x</p:attrName>
                                        </p:attrNameLst>
                                      </p:cBhvr>
                                      <p:tavLst>
                                        <p:tav tm="0">
                                          <p:val>
                                            <p:strVal val="#ppt_x"/>
                                          </p:val>
                                        </p:tav>
                                        <p:tav tm="100000">
                                          <p:val>
                                            <p:strVal val="#ppt_x"/>
                                          </p:val>
                                        </p:tav>
                                      </p:tavLst>
                                    </p:anim>
                                    <p:anim calcmode="lin" valueType="num">
                                      <p:cBhvr additive="base">
                                        <p:cTn id="127" dur="500" fill="hold"/>
                                        <p:tgtEl>
                                          <p:spTgt spid="33830"/>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33806"/>
                                        </p:tgtEl>
                                        <p:attrNameLst>
                                          <p:attrName>style.visibility</p:attrName>
                                        </p:attrNameLst>
                                      </p:cBhvr>
                                      <p:to>
                                        <p:strVal val="visible"/>
                                      </p:to>
                                    </p:set>
                                    <p:anim calcmode="lin" valueType="num">
                                      <p:cBhvr additive="base">
                                        <p:cTn id="130" dur="500" fill="hold"/>
                                        <p:tgtEl>
                                          <p:spTgt spid="33806"/>
                                        </p:tgtEl>
                                        <p:attrNameLst>
                                          <p:attrName>ppt_x</p:attrName>
                                        </p:attrNameLst>
                                      </p:cBhvr>
                                      <p:tavLst>
                                        <p:tav tm="0">
                                          <p:val>
                                            <p:strVal val="#ppt_x"/>
                                          </p:val>
                                        </p:tav>
                                        <p:tav tm="100000">
                                          <p:val>
                                            <p:strVal val="#ppt_x"/>
                                          </p:val>
                                        </p:tav>
                                      </p:tavLst>
                                    </p:anim>
                                    <p:anim calcmode="lin" valueType="num">
                                      <p:cBhvr additive="base">
                                        <p:cTn id="131" dur="500" fill="hold"/>
                                        <p:tgtEl>
                                          <p:spTgt spid="33806"/>
                                        </p:tgtEl>
                                        <p:attrNameLst>
                                          <p:attrName>ppt_y</p:attrName>
                                        </p:attrNameLst>
                                      </p:cBhvr>
                                      <p:tavLst>
                                        <p:tav tm="0">
                                          <p:val>
                                            <p:strVal val="1+#ppt_h/2"/>
                                          </p:val>
                                        </p:tav>
                                        <p:tav tm="100000">
                                          <p:val>
                                            <p:strVal val="#ppt_y"/>
                                          </p:val>
                                        </p:tav>
                                      </p:tavLst>
                                    </p:anim>
                                  </p:childTnLst>
                                </p:cTn>
                              </p:par>
                              <p:par>
                                <p:cTn id="132" presetID="2" presetClass="entr" presetSubtype="4" fill="hold" nodeType="withEffect">
                                  <p:stCondLst>
                                    <p:cond delay="0"/>
                                  </p:stCondLst>
                                  <p:childTnLst>
                                    <p:set>
                                      <p:cBhvr>
                                        <p:cTn id="133" dur="1" fill="hold">
                                          <p:stCondLst>
                                            <p:cond delay="0"/>
                                          </p:stCondLst>
                                        </p:cTn>
                                        <p:tgtEl>
                                          <p:spTgt spid="33829"/>
                                        </p:tgtEl>
                                        <p:attrNameLst>
                                          <p:attrName>style.visibility</p:attrName>
                                        </p:attrNameLst>
                                      </p:cBhvr>
                                      <p:to>
                                        <p:strVal val="visible"/>
                                      </p:to>
                                    </p:set>
                                    <p:anim calcmode="lin" valueType="num">
                                      <p:cBhvr additive="base">
                                        <p:cTn id="134" dur="500" fill="hold"/>
                                        <p:tgtEl>
                                          <p:spTgt spid="33829"/>
                                        </p:tgtEl>
                                        <p:attrNameLst>
                                          <p:attrName>ppt_x</p:attrName>
                                        </p:attrNameLst>
                                      </p:cBhvr>
                                      <p:tavLst>
                                        <p:tav tm="0">
                                          <p:val>
                                            <p:strVal val="#ppt_x"/>
                                          </p:val>
                                        </p:tav>
                                        <p:tav tm="100000">
                                          <p:val>
                                            <p:strVal val="#ppt_x"/>
                                          </p:val>
                                        </p:tav>
                                      </p:tavLst>
                                    </p:anim>
                                    <p:anim calcmode="lin" valueType="num">
                                      <p:cBhvr additive="base">
                                        <p:cTn id="135" dur="500" fill="hold"/>
                                        <p:tgtEl>
                                          <p:spTgt spid="33829"/>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stCondLst>
                                    <p:cond delay="0"/>
                                  </p:stCondLst>
                                  <p:childTnLst>
                                    <p:set>
                                      <p:cBhvr>
                                        <p:cTn id="137" dur="1" fill="hold">
                                          <p:stCondLst>
                                            <p:cond delay="0"/>
                                          </p:stCondLst>
                                        </p:cTn>
                                        <p:tgtEl>
                                          <p:spTgt spid="33805"/>
                                        </p:tgtEl>
                                        <p:attrNameLst>
                                          <p:attrName>style.visibility</p:attrName>
                                        </p:attrNameLst>
                                      </p:cBhvr>
                                      <p:to>
                                        <p:strVal val="visible"/>
                                      </p:to>
                                    </p:set>
                                    <p:anim calcmode="lin" valueType="num">
                                      <p:cBhvr additive="base">
                                        <p:cTn id="138" dur="500" fill="hold"/>
                                        <p:tgtEl>
                                          <p:spTgt spid="33805"/>
                                        </p:tgtEl>
                                        <p:attrNameLst>
                                          <p:attrName>ppt_x</p:attrName>
                                        </p:attrNameLst>
                                      </p:cBhvr>
                                      <p:tavLst>
                                        <p:tav tm="0">
                                          <p:val>
                                            <p:strVal val="#ppt_x"/>
                                          </p:val>
                                        </p:tav>
                                        <p:tav tm="100000">
                                          <p:val>
                                            <p:strVal val="#ppt_x"/>
                                          </p:val>
                                        </p:tav>
                                      </p:tavLst>
                                    </p:anim>
                                    <p:anim calcmode="lin" valueType="num">
                                      <p:cBhvr additive="base">
                                        <p:cTn id="139" dur="500" fill="hold"/>
                                        <p:tgtEl>
                                          <p:spTgt spid="33805"/>
                                        </p:tgtEl>
                                        <p:attrNameLst>
                                          <p:attrName>ppt_y</p:attrName>
                                        </p:attrNameLst>
                                      </p:cBhvr>
                                      <p:tavLst>
                                        <p:tav tm="0">
                                          <p:val>
                                            <p:strVal val="1+#ppt_h/2"/>
                                          </p:val>
                                        </p:tav>
                                        <p:tav tm="100000">
                                          <p:val>
                                            <p:strVal val="#ppt_y"/>
                                          </p:val>
                                        </p:tav>
                                      </p:tavLst>
                                    </p:anim>
                                  </p:childTnLst>
                                </p:cTn>
                              </p:par>
                              <p:par>
                                <p:cTn id="140" presetID="2" presetClass="entr" presetSubtype="4" fill="hold" nodeType="withEffect">
                                  <p:stCondLst>
                                    <p:cond delay="0"/>
                                  </p:stCondLst>
                                  <p:childTnLst>
                                    <p:set>
                                      <p:cBhvr>
                                        <p:cTn id="141" dur="1" fill="hold">
                                          <p:stCondLst>
                                            <p:cond delay="0"/>
                                          </p:stCondLst>
                                        </p:cTn>
                                        <p:tgtEl>
                                          <p:spTgt spid="33828"/>
                                        </p:tgtEl>
                                        <p:attrNameLst>
                                          <p:attrName>style.visibility</p:attrName>
                                        </p:attrNameLst>
                                      </p:cBhvr>
                                      <p:to>
                                        <p:strVal val="visible"/>
                                      </p:to>
                                    </p:set>
                                    <p:anim calcmode="lin" valueType="num">
                                      <p:cBhvr additive="base">
                                        <p:cTn id="142" dur="500" fill="hold"/>
                                        <p:tgtEl>
                                          <p:spTgt spid="33828"/>
                                        </p:tgtEl>
                                        <p:attrNameLst>
                                          <p:attrName>ppt_x</p:attrName>
                                        </p:attrNameLst>
                                      </p:cBhvr>
                                      <p:tavLst>
                                        <p:tav tm="0">
                                          <p:val>
                                            <p:strVal val="#ppt_x"/>
                                          </p:val>
                                        </p:tav>
                                        <p:tav tm="100000">
                                          <p:val>
                                            <p:strVal val="#ppt_x"/>
                                          </p:val>
                                        </p:tav>
                                      </p:tavLst>
                                    </p:anim>
                                    <p:anim calcmode="lin" valueType="num">
                                      <p:cBhvr additive="base">
                                        <p:cTn id="143" dur="500" fill="hold"/>
                                        <p:tgtEl>
                                          <p:spTgt spid="33828"/>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33804"/>
                                        </p:tgtEl>
                                        <p:attrNameLst>
                                          <p:attrName>style.visibility</p:attrName>
                                        </p:attrNameLst>
                                      </p:cBhvr>
                                      <p:to>
                                        <p:strVal val="visible"/>
                                      </p:to>
                                    </p:set>
                                    <p:anim calcmode="lin" valueType="num">
                                      <p:cBhvr additive="base">
                                        <p:cTn id="146" dur="500" fill="hold"/>
                                        <p:tgtEl>
                                          <p:spTgt spid="33804"/>
                                        </p:tgtEl>
                                        <p:attrNameLst>
                                          <p:attrName>ppt_x</p:attrName>
                                        </p:attrNameLst>
                                      </p:cBhvr>
                                      <p:tavLst>
                                        <p:tav tm="0">
                                          <p:val>
                                            <p:strVal val="#ppt_x"/>
                                          </p:val>
                                        </p:tav>
                                        <p:tav tm="100000">
                                          <p:val>
                                            <p:strVal val="#ppt_x"/>
                                          </p:val>
                                        </p:tav>
                                      </p:tavLst>
                                    </p:anim>
                                    <p:anim calcmode="lin" valueType="num">
                                      <p:cBhvr additive="base">
                                        <p:cTn id="147" dur="500" fill="hold"/>
                                        <p:tgtEl>
                                          <p:spTgt spid="33804"/>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33810"/>
                                        </p:tgtEl>
                                        <p:attrNameLst>
                                          <p:attrName>style.visibility</p:attrName>
                                        </p:attrNameLst>
                                      </p:cBhvr>
                                      <p:to>
                                        <p:strVal val="visible"/>
                                      </p:to>
                                    </p:set>
                                    <p:anim calcmode="lin" valueType="num">
                                      <p:cBhvr additive="base">
                                        <p:cTn id="150" dur="500" fill="hold"/>
                                        <p:tgtEl>
                                          <p:spTgt spid="33810"/>
                                        </p:tgtEl>
                                        <p:attrNameLst>
                                          <p:attrName>ppt_x</p:attrName>
                                        </p:attrNameLst>
                                      </p:cBhvr>
                                      <p:tavLst>
                                        <p:tav tm="0">
                                          <p:val>
                                            <p:strVal val="#ppt_x"/>
                                          </p:val>
                                        </p:tav>
                                        <p:tav tm="100000">
                                          <p:val>
                                            <p:strVal val="#ppt_x"/>
                                          </p:val>
                                        </p:tav>
                                      </p:tavLst>
                                    </p:anim>
                                    <p:anim calcmode="lin" valueType="num">
                                      <p:cBhvr additive="base">
                                        <p:cTn id="151" dur="500" fill="hold"/>
                                        <p:tgtEl>
                                          <p:spTgt spid="33810"/>
                                        </p:tgtEl>
                                        <p:attrNameLst>
                                          <p:attrName>ppt_y</p:attrName>
                                        </p:attrNameLst>
                                      </p:cBhvr>
                                      <p:tavLst>
                                        <p:tav tm="0">
                                          <p:val>
                                            <p:strVal val="1+#ppt_h/2"/>
                                          </p:val>
                                        </p:tav>
                                        <p:tav tm="100000">
                                          <p:val>
                                            <p:strVal val="#ppt_y"/>
                                          </p:val>
                                        </p:tav>
                                      </p:tavLst>
                                    </p:anim>
                                  </p:childTnLst>
                                </p:cTn>
                              </p:par>
                              <p:par>
                                <p:cTn id="152" presetID="2" presetClass="entr" presetSubtype="4" fill="hold" grpId="0" nodeType="withEffect">
                                  <p:stCondLst>
                                    <p:cond delay="0"/>
                                  </p:stCondLst>
                                  <p:childTnLst>
                                    <p:set>
                                      <p:cBhvr>
                                        <p:cTn id="153" dur="1" fill="hold">
                                          <p:stCondLst>
                                            <p:cond delay="0"/>
                                          </p:stCondLst>
                                        </p:cTn>
                                        <p:tgtEl>
                                          <p:spTgt spid="33825"/>
                                        </p:tgtEl>
                                        <p:attrNameLst>
                                          <p:attrName>style.visibility</p:attrName>
                                        </p:attrNameLst>
                                      </p:cBhvr>
                                      <p:to>
                                        <p:strVal val="visible"/>
                                      </p:to>
                                    </p:set>
                                    <p:anim calcmode="lin" valueType="num">
                                      <p:cBhvr additive="base">
                                        <p:cTn id="154" dur="500" fill="hold"/>
                                        <p:tgtEl>
                                          <p:spTgt spid="33825"/>
                                        </p:tgtEl>
                                        <p:attrNameLst>
                                          <p:attrName>ppt_x</p:attrName>
                                        </p:attrNameLst>
                                      </p:cBhvr>
                                      <p:tavLst>
                                        <p:tav tm="0">
                                          <p:val>
                                            <p:strVal val="#ppt_x"/>
                                          </p:val>
                                        </p:tav>
                                        <p:tav tm="100000">
                                          <p:val>
                                            <p:strVal val="#ppt_x"/>
                                          </p:val>
                                        </p:tav>
                                      </p:tavLst>
                                    </p:anim>
                                    <p:anim calcmode="lin" valueType="num">
                                      <p:cBhvr additive="base">
                                        <p:cTn id="155" dur="500" fill="hold"/>
                                        <p:tgtEl>
                                          <p:spTgt spid="33825"/>
                                        </p:tgtEl>
                                        <p:attrNameLst>
                                          <p:attrName>ppt_y</p:attrName>
                                        </p:attrNameLst>
                                      </p:cBhvr>
                                      <p:tavLst>
                                        <p:tav tm="0">
                                          <p:val>
                                            <p:strVal val="1+#ppt_h/2"/>
                                          </p:val>
                                        </p:tav>
                                        <p:tav tm="100000">
                                          <p:val>
                                            <p:strVal val="#ppt_y"/>
                                          </p:val>
                                        </p:tav>
                                      </p:tavLst>
                                    </p:anim>
                                  </p:childTnLst>
                                </p:cTn>
                              </p:par>
                              <p:par>
                                <p:cTn id="156" presetID="2" presetClass="entr" presetSubtype="4" fill="hold" nodeType="withEffect">
                                  <p:stCondLst>
                                    <p:cond delay="0"/>
                                  </p:stCondLst>
                                  <p:childTnLst>
                                    <p:set>
                                      <p:cBhvr>
                                        <p:cTn id="157" dur="1" fill="hold">
                                          <p:stCondLst>
                                            <p:cond delay="0"/>
                                          </p:stCondLst>
                                        </p:cTn>
                                        <p:tgtEl>
                                          <p:spTgt spid="33827"/>
                                        </p:tgtEl>
                                        <p:attrNameLst>
                                          <p:attrName>style.visibility</p:attrName>
                                        </p:attrNameLst>
                                      </p:cBhvr>
                                      <p:to>
                                        <p:strVal val="visible"/>
                                      </p:to>
                                    </p:set>
                                    <p:anim calcmode="lin" valueType="num">
                                      <p:cBhvr additive="base">
                                        <p:cTn id="158" dur="500" fill="hold"/>
                                        <p:tgtEl>
                                          <p:spTgt spid="33827"/>
                                        </p:tgtEl>
                                        <p:attrNameLst>
                                          <p:attrName>ppt_x</p:attrName>
                                        </p:attrNameLst>
                                      </p:cBhvr>
                                      <p:tavLst>
                                        <p:tav tm="0">
                                          <p:val>
                                            <p:strVal val="#ppt_x"/>
                                          </p:val>
                                        </p:tav>
                                        <p:tav tm="100000">
                                          <p:val>
                                            <p:strVal val="#ppt_x"/>
                                          </p:val>
                                        </p:tav>
                                      </p:tavLst>
                                    </p:anim>
                                    <p:anim calcmode="lin" valueType="num">
                                      <p:cBhvr additive="base">
                                        <p:cTn id="159" dur="500" fill="hold"/>
                                        <p:tgtEl>
                                          <p:spTgt spid="33827"/>
                                        </p:tgtEl>
                                        <p:attrNameLst>
                                          <p:attrName>ppt_y</p:attrName>
                                        </p:attrNameLst>
                                      </p:cBhvr>
                                      <p:tavLst>
                                        <p:tav tm="0">
                                          <p:val>
                                            <p:strVal val="1+#ppt_h/2"/>
                                          </p:val>
                                        </p:tav>
                                        <p:tav tm="100000">
                                          <p:val>
                                            <p:strVal val="#ppt_y"/>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 presetClass="entr" presetSubtype="4" fill="hold" grpId="0" nodeType="clickEffect">
                                  <p:stCondLst>
                                    <p:cond delay="0"/>
                                  </p:stCondLst>
                                  <p:childTnLst>
                                    <p:set>
                                      <p:cBhvr>
                                        <p:cTn id="163" dur="1" fill="hold">
                                          <p:stCondLst>
                                            <p:cond delay="0"/>
                                          </p:stCondLst>
                                        </p:cTn>
                                        <p:tgtEl>
                                          <p:spTgt spid="33816"/>
                                        </p:tgtEl>
                                        <p:attrNameLst>
                                          <p:attrName>style.visibility</p:attrName>
                                        </p:attrNameLst>
                                      </p:cBhvr>
                                      <p:to>
                                        <p:strVal val="visible"/>
                                      </p:to>
                                    </p:set>
                                    <p:anim calcmode="lin" valueType="num">
                                      <p:cBhvr additive="base">
                                        <p:cTn id="164" dur="500" fill="hold"/>
                                        <p:tgtEl>
                                          <p:spTgt spid="33816"/>
                                        </p:tgtEl>
                                        <p:attrNameLst>
                                          <p:attrName>ppt_x</p:attrName>
                                        </p:attrNameLst>
                                      </p:cBhvr>
                                      <p:tavLst>
                                        <p:tav tm="0">
                                          <p:val>
                                            <p:strVal val="#ppt_x"/>
                                          </p:val>
                                        </p:tav>
                                        <p:tav tm="100000">
                                          <p:val>
                                            <p:strVal val="#ppt_x"/>
                                          </p:val>
                                        </p:tav>
                                      </p:tavLst>
                                    </p:anim>
                                    <p:anim calcmode="lin" valueType="num">
                                      <p:cBhvr additive="base">
                                        <p:cTn id="165" dur="500" fill="hold"/>
                                        <p:tgtEl>
                                          <p:spTgt spid="33816"/>
                                        </p:tgtEl>
                                        <p:attrNameLst>
                                          <p:attrName>ppt_y</p:attrName>
                                        </p:attrNameLst>
                                      </p:cBhvr>
                                      <p:tavLst>
                                        <p:tav tm="0">
                                          <p:val>
                                            <p:strVal val="1+#ppt_h/2"/>
                                          </p:val>
                                        </p:tav>
                                        <p:tav tm="100000">
                                          <p:val>
                                            <p:strVal val="#ppt_y"/>
                                          </p:val>
                                        </p:tav>
                                      </p:tavLst>
                                    </p:anim>
                                  </p:childTnLst>
                                </p:cTn>
                              </p:par>
                              <p:par>
                                <p:cTn id="166" presetID="2" presetClass="entr" presetSubtype="4" fill="hold" nodeType="withEffect">
                                  <p:stCondLst>
                                    <p:cond delay="0"/>
                                  </p:stCondLst>
                                  <p:childTnLst>
                                    <p:set>
                                      <p:cBhvr>
                                        <p:cTn id="167" dur="1" fill="hold">
                                          <p:stCondLst>
                                            <p:cond delay="0"/>
                                          </p:stCondLst>
                                        </p:cTn>
                                        <p:tgtEl>
                                          <p:spTgt spid="33817"/>
                                        </p:tgtEl>
                                        <p:attrNameLst>
                                          <p:attrName>style.visibility</p:attrName>
                                        </p:attrNameLst>
                                      </p:cBhvr>
                                      <p:to>
                                        <p:strVal val="visible"/>
                                      </p:to>
                                    </p:set>
                                    <p:anim calcmode="lin" valueType="num">
                                      <p:cBhvr additive="base">
                                        <p:cTn id="168" dur="500" fill="hold"/>
                                        <p:tgtEl>
                                          <p:spTgt spid="33817"/>
                                        </p:tgtEl>
                                        <p:attrNameLst>
                                          <p:attrName>ppt_x</p:attrName>
                                        </p:attrNameLst>
                                      </p:cBhvr>
                                      <p:tavLst>
                                        <p:tav tm="0">
                                          <p:val>
                                            <p:strVal val="#ppt_x"/>
                                          </p:val>
                                        </p:tav>
                                        <p:tav tm="100000">
                                          <p:val>
                                            <p:strVal val="#ppt_x"/>
                                          </p:val>
                                        </p:tav>
                                      </p:tavLst>
                                    </p:anim>
                                    <p:anim calcmode="lin" valueType="num">
                                      <p:cBhvr additive="base">
                                        <p:cTn id="169" dur="500" fill="hold"/>
                                        <p:tgtEl>
                                          <p:spTgt spid="33817"/>
                                        </p:tgtEl>
                                        <p:attrNameLst>
                                          <p:attrName>ppt_y</p:attrName>
                                        </p:attrNameLst>
                                      </p:cBhvr>
                                      <p:tavLst>
                                        <p:tav tm="0">
                                          <p:val>
                                            <p:strVal val="1+#ppt_h/2"/>
                                          </p:val>
                                        </p:tav>
                                        <p:tav tm="100000">
                                          <p:val>
                                            <p:strVal val="#ppt_y"/>
                                          </p:val>
                                        </p:tav>
                                      </p:tavLst>
                                    </p:anim>
                                  </p:childTnLst>
                                </p:cTn>
                              </p:par>
                              <p:par>
                                <p:cTn id="170" presetID="2" presetClass="entr" presetSubtype="4" fill="hold" grpId="0" nodeType="withEffect">
                                  <p:stCondLst>
                                    <p:cond delay="0"/>
                                  </p:stCondLst>
                                  <p:childTnLst>
                                    <p:set>
                                      <p:cBhvr>
                                        <p:cTn id="171" dur="1" fill="hold">
                                          <p:stCondLst>
                                            <p:cond delay="0"/>
                                          </p:stCondLst>
                                        </p:cTn>
                                        <p:tgtEl>
                                          <p:spTgt spid="33814"/>
                                        </p:tgtEl>
                                        <p:attrNameLst>
                                          <p:attrName>style.visibility</p:attrName>
                                        </p:attrNameLst>
                                      </p:cBhvr>
                                      <p:to>
                                        <p:strVal val="visible"/>
                                      </p:to>
                                    </p:set>
                                    <p:anim calcmode="lin" valueType="num">
                                      <p:cBhvr additive="base">
                                        <p:cTn id="172" dur="500" fill="hold"/>
                                        <p:tgtEl>
                                          <p:spTgt spid="33814"/>
                                        </p:tgtEl>
                                        <p:attrNameLst>
                                          <p:attrName>ppt_x</p:attrName>
                                        </p:attrNameLst>
                                      </p:cBhvr>
                                      <p:tavLst>
                                        <p:tav tm="0">
                                          <p:val>
                                            <p:strVal val="#ppt_x"/>
                                          </p:val>
                                        </p:tav>
                                        <p:tav tm="100000">
                                          <p:val>
                                            <p:strVal val="#ppt_x"/>
                                          </p:val>
                                        </p:tav>
                                      </p:tavLst>
                                    </p:anim>
                                    <p:anim calcmode="lin" valueType="num">
                                      <p:cBhvr additive="base">
                                        <p:cTn id="173" dur="500" fill="hold"/>
                                        <p:tgtEl>
                                          <p:spTgt spid="33814"/>
                                        </p:tgtEl>
                                        <p:attrNameLst>
                                          <p:attrName>ppt_y</p:attrName>
                                        </p:attrNameLst>
                                      </p:cBhvr>
                                      <p:tavLst>
                                        <p:tav tm="0">
                                          <p:val>
                                            <p:strVal val="1+#ppt_h/2"/>
                                          </p:val>
                                        </p:tav>
                                        <p:tav tm="100000">
                                          <p:val>
                                            <p:strVal val="#ppt_y"/>
                                          </p:val>
                                        </p:tav>
                                      </p:tavLst>
                                    </p:anim>
                                  </p:childTnLst>
                                </p:cTn>
                              </p:par>
                              <p:par>
                                <p:cTn id="174" presetID="2" presetClass="entr" presetSubtype="4" fill="hold" grpId="0" nodeType="withEffect">
                                  <p:stCondLst>
                                    <p:cond delay="0"/>
                                  </p:stCondLst>
                                  <p:childTnLst>
                                    <p:set>
                                      <p:cBhvr>
                                        <p:cTn id="175" dur="1" fill="hold">
                                          <p:stCondLst>
                                            <p:cond delay="0"/>
                                          </p:stCondLst>
                                        </p:cTn>
                                        <p:tgtEl>
                                          <p:spTgt spid="33812"/>
                                        </p:tgtEl>
                                        <p:attrNameLst>
                                          <p:attrName>style.visibility</p:attrName>
                                        </p:attrNameLst>
                                      </p:cBhvr>
                                      <p:to>
                                        <p:strVal val="visible"/>
                                      </p:to>
                                    </p:set>
                                    <p:anim calcmode="lin" valueType="num">
                                      <p:cBhvr additive="base">
                                        <p:cTn id="176" dur="500" fill="hold"/>
                                        <p:tgtEl>
                                          <p:spTgt spid="33812"/>
                                        </p:tgtEl>
                                        <p:attrNameLst>
                                          <p:attrName>ppt_x</p:attrName>
                                        </p:attrNameLst>
                                      </p:cBhvr>
                                      <p:tavLst>
                                        <p:tav tm="0">
                                          <p:val>
                                            <p:strVal val="#ppt_x"/>
                                          </p:val>
                                        </p:tav>
                                        <p:tav tm="100000">
                                          <p:val>
                                            <p:strVal val="#ppt_x"/>
                                          </p:val>
                                        </p:tav>
                                      </p:tavLst>
                                    </p:anim>
                                    <p:anim calcmode="lin" valueType="num">
                                      <p:cBhvr additive="base">
                                        <p:cTn id="177" dur="500" fill="hold"/>
                                        <p:tgtEl>
                                          <p:spTgt spid="33812"/>
                                        </p:tgtEl>
                                        <p:attrNameLst>
                                          <p:attrName>ppt_y</p:attrName>
                                        </p:attrNameLst>
                                      </p:cBhvr>
                                      <p:tavLst>
                                        <p:tav tm="0">
                                          <p:val>
                                            <p:strVal val="1+#ppt_h/2"/>
                                          </p:val>
                                        </p:tav>
                                        <p:tav tm="100000">
                                          <p:val>
                                            <p:strVal val="#ppt_y"/>
                                          </p:val>
                                        </p:tav>
                                      </p:tavLst>
                                    </p:anim>
                                  </p:childTnLst>
                                </p:cTn>
                              </p:par>
                              <p:par>
                                <p:cTn id="178" presetID="2" presetClass="entr" presetSubtype="4" fill="hold" grpId="0" nodeType="withEffect">
                                  <p:stCondLst>
                                    <p:cond delay="0"/>
                                  </p:stCondLst>
                                  <p:childTnLst>
                                    <p:set>
                                      <p:cBhvr>
                                        <p:cTn id="179" dur="1" fill="hold">
                                          <p:stCondLst>
                                            <p:cond delay="0"/>
                                          </p:stCondLst>
                                        </p:cTn>
                                        <p:tgtEl>
                                          <p:spTgt spid="33813"/>
                                        </p:tgtEl>
                                        <p:attrNameLst>
                                          <p:attrName>style.visibility</p:attrName>
                                        </p:attrNameLst>
                                      </p:cBhvr>
                                      <p:to>
                                        <p:strVal val="visible"/>
                                      </p:to>
                                    </p:set>
                                    <p:anim calcmode="lin" valueType="num">
                                      <p:cBhvr additive="base">
                                        <p:cTn id="180" dur="500" fill="hold"/>
                                        <p:tgtEl>
                                          <p:spTgt spid="33813"/>
                                        </p:tgtEl>
                                        <p:attrNameLst>
                                          <p:attrName>ppt_x</p:attrName>
                                        </p:attrNameLst>
                                      </p:cBhvr>
                                      <p:tavLst>
                                        <p:tav tm="0">
                                          <p:val>
                                            <p:strVal val="#ppt_x"/>
                                          </p:val>
                                        </p:tav>
                                        <p:tav tm="100000">
                                          <p:val>
                                            <p:strVal val="#ppt_x"/>
                                          </p:val>
                                        </p:tav>
                                      </p:tavLst>
                                    </p:anim>
                                    <p:anim calcmode="lin" valueType="num">
                                      <p:cBhvr additive="base">
                                        <p:cTn id="181" dur="500" fill="hold"/>
                                        <p:tgtEl>
                                          <p:spTgt spid="33813"/>
                                        </p:tgtEl>
                                        <p:attrNameLst>
                                          <p:attrName>ppt_y</p:attrName>
                                        </p:attrNameLst>
                                      </p:cBhvr>
                                      <p:tavLst>
                                        <p:tav tm="0">
                                          <p:val>
                                            <p:strVal val="1+#ppt_h/2"/>
                                          </p:val>
                                        </p:tav>
                                        <p:tav tm="100000">
                                          <p:val>
                                            <p:strVal val="#ppt_y"/>
                                          </p:val>
                                        </p:tav>
                                      </p:tavLst>
                                    </p:anim>
                                  </p:childTnLst>
                                </p:cTn>
                              </p:par>
                              <p:par>
                                <p:cTn id="182" presetID="2" presetClass="entr" presetSubtype="4" fill="hold" grpId="0" nodeType="withEffect">
                                  <p:stCondLst>
                                    <p:cond delay="0"/>
                                  </p:stCondLst>
                                  <p:childTnLst>
                                    <p:set>
                                      <p:cBhvr>
                                        <p:cTn id="183" dur="1" fill="hold">
                                          <p:stCondLst>
                                            <p:cond delay="0"/>
                                          </p:stCondLst>
                                        </p:cTn>
                                        <p:tgtEl>
                                          <p:spTgt spid="33815"/>
                                        </p:tgtEl>
                                        <p:attrNameLst>
                                          <p:attrName>style.visibility</p:attrName>
                                        </p:attrNameLst>
                                      </p:cBhvr>
                                      <p:to>
                                        <p:strVal val="visible"/>
                                      </p:to>
                                    </p:set>
                                    <p:anim calcmode="lin" valueType="num">
                                      <p:cBhvr additive="base">
                                        <p:cTn id="184" dur="500" fill="hold"/>
                                        <p:tgtEl>
                                          <p:spTgt spid="33815"/>
                                        </p:tgtEl>
                                        <p:attrNameLst>
                                          <p:attrName>ppt_x</p:attrName>
                                        </p:attrNameLst>
                                      </p:cBhvr>
                                      <p:tavLst>
                                        <p:tav tm="0">
                                          <p:val>
                                            <p:strVal val="#ppt_x"/>
                                          </p:val>
                                        </p:tav>
                                        <p:tav tm="100000">
                                          <p:val>
                                            <p:strVal val="#ppt_x"/>
                                          </p:val>
                                        </p:tav>
                                      </p:tavLst>
                                    </p:anim>
                                    <p:anim calcmode="lin" valueType="num">
                                      <p:cBhvr additive="base">
                                        <p:cTn id="185" dur="500" fill="hold"/>
                                        <p:tgtEl>
                                          <p:spTgt spid="33815"/>
                                        </p:tgtEl>
                                        <p:attrNameLst>
                                          <p:attrName>ppt_y</p:attrName>
                                        </p:attrNameLst>
                                      </p:cBhvr>
                                      <p:tavLst>
                                        <p:tav tm="0">
                                          <p:val>
                                            <p:strVal val="1+#ppt_h/2"/>
                                          </p:val>
                                        </p:tav>
                                        <p:tav tm="100000">
                                          <p:val>
                                            <p:strVal val="#ppt_y"/>
                                          </p:val>
                                        </p:tav>
                                      </p:tavLst>
                                    </p:anim>
                                  </p:childTnLst>
                                </p:cTn>
                              </p:par>
                              <p:par>
                                <p:cTn id="186" presetID="2" presetClass="entr" presetSubtype="4" fill="hold" grpId="0" nodeType="withEffect">
                                  <p:stCondLst>
                                    <p:cond delay="0"/>
                                  </p:stCondLst>
                                  <p:childTnLst>
                                    <p:set>
                                      <p:cBhvr>
                                        <p:cTn id="187" dur="1" fill="hold">
                                          <p:stCondLst>
                                            <p:cond delay="0"/>
                                          </p:stCondLst>
                                        </p:cTn>
                                        <p:tgtEl>
                                          <p:spTgt spid="33803"/>
                                        </p:tgtEl>
                                        <p:attrNameLst>
                                          <p:attrName>style.visibility</p:attrName>
                                        </p:attrNameLst>
                                      </p:cBhvr>
                                      <p:to>
                                        <p:strVal val="visible"/>
                                      </p:to>
                                    </p:set>
                                    <p:anim calcmode="lin" valueType="num">
                                      <p:cBhvr additive="base">
                                        <p:cTn id="188" dur="500" fill="hold"/>
                                        <p:tgtEl>
                                          <p:spTgt spid="33803"/>
                                        </p:tgtEl>
                                        <p:attrNameLst>
                                          <p:attrName>ppt_x</p:attrName>
                                        </p:attrNameLst>
                                      </p:cBhvr>
                                      <p:tavLst>
                                        <p:tav tm="0">
                                          <p:val>
                                            <p:strVal val="#ppt_x"/>
                                          </p:val>
                                        </p:tav>
                                        <p:tav tm="100000">
                                          <p:val>
                                            <p:strVal val="#ppt_x"/>
                                          </p:val>
                                        </p:tav>
                                      </p:tavLst>
                                    </p:anim>
                                    <p:anim calcmode="lin" valueType="num">
                                      <p:cBhvr additive="base">
                                        <p:cTn id="189" dur="500" fill="hold"/>
                                        <p:tgtEl>
                                          <p:spTgt spid="338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p:bldP spid="33803" grpId="0" animBg="1"/>
      <p:bldP spid="33804" grpId="0"/>
      <p:bldP spid="33805" grpId="0"/>
      <p:bldP spid="33806" grpId="0"/>
      <p:bldP spid="33807" grpId="0"/>
      <p:bldP spid="33808" grpId="0"/>
      <p:bldP spid="33809" grpId="0"/>
      <p:bldP spid="33810" grpId="0" animBg="1"/>
      <p:bldP spid="33811" grpId="0" animBg="1"/>
      <p:bldP spid="33812" grpId="0"/>
      <p:bldP spid="33813" grpId="0"/>
      <p:bldP spid="33814" grpId="0"/>
      <p:bldP spid="33815" grpId="0"/>
      <p:bldP spid="33816" grpId="0"/>
      <p:bldP spid="33818" grpId="0"/>
      <p:bldP spid="33819" grpId="0"/>
      <p:bldP spid="33820" grpId="0"/>
      <p:bldP spid="33821" grpId="0"/>
      <p:bldP spid="33822" grpId="0"/>
      <p:bldP spid="33823" grpId="0"/>
      <p:bldP spid="33824" grpId="0"/>
      <p:bldP spid="33825" grpId="0"/>
      <p:bldP spid="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Characteristics</a:t>
            </a:r>
            <a:endParaRPr lang="en-US" dirty="0"/>
          </a:p>
        </p:txBody>
      </p:sp>
      <p:sp>
        <p:nvSpPr>
          <p:cNvPr id="3" name="Content Placeholder 2"/>
          <p:cNvSpPr>
            <a:spLocks noGrp="1"/>
          </p:cNvSpPr>
          <p:nvPr>
            <p:ph idx="1"/>
          </p:nvPr>
        </p:nvSpPr>
        <p:spPr/>
        <p:txBody>
          <a:bodyPr/>
          <a:lstStyle/>
          <a:p>
            <a:r>
              <a:rPr lang="en-US" b="1" dirty="0"/>
              <a:t>Data range</a:t>
            </a:r>
            <a:r>
              <a:rPr lang="en-US" dirty="0"/>
              <a:t> refers to the amount of data from which information is </a:t>
            </a:r>
            <a:r>
              <a:rPr lang="en-US" dirty="0" smtClean="0"/>
              <a:t>extracted&amp;</a:t>
            </a:r>
          </a:p>
          <a:p>
            <a:r>
              <a:rPr lang="en-US" b="1" dirty="0" smtClean="0"/>
              <a:t>Time </a:t>
            </a:r>
            <a:r>
              <a:rPr lang="en-US" b="1" dirty="0"/>
              <a:t>span</a:t>
            </a:r>
            <a:r>
              <a:rPr lang="en-US" dirty="0"/>
              <a:t> refers to how long a period of time the data </a:t>
            </a:r>
            <a:r>
              <a:rPr lang="en-US" dirty="0" smtClean="0"/>
              <a:t>covers.</a:t>
            </a:r>
            <a:endParaRPr lang="en-US" dirty="0"/>
          </a:p>
          <a:p>
            <a:r>
              <a:rPr lang="en-US" b="1" dirty="0" smtClean="0"/>
              <a:t>Level </a:t>
            </a:r>
            <a:r>
              <a:rPr lang="en-US" b="1" dirty="0"/>
              <a:t>of detail</a:t>
            </a:r>
            <a:r>
              <a:rPr lang="en-US" dirty="0"/>
              <a:t> is the degree to which the information generated is </a:t>
            </a:r>
            <a:r>
              <a:rPr lang="en-US" dirty="0" smtClean="0"/>
              <a:t>specific.</a:t>
            </a:r>
          </a:p>
          <a:p>
            <a:r>
              <a:rPr lang="en-US" b="1" dirty="0" smtClean="0"/>
              <a:t>Internally </a:t>
            </a:r>
            <a:r>
              <a:rPr lang="en-US" b="1" dirty="0"/>
              <a:t>or externally</a:t>
            </a:r>
            <a:r>
              <a:rPr lang="en-US" dirty="0"/>
              <a:t> sourced.</a:t>
            </a:r>
          </a:p>
          <a:p>
            <a:endParaRPr lang="en-US" dirty="0"/>
          </a:p>
        </p:txBody>
      </p:sp>
    </p:spTree>
    <p:extLst>
      <p:ext uri="{BB962C8B-B14F-4D97-AF65-F5344CB8AC3E}">
        <p14:creationId xmlns:p14="http://schemas.microsoft.com/office/powerpoint/2010/main" val="2201602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Need</a:t>
            </a:r>
            <a:endParaRPr lang="en-US" dirty="0"/>
          </a:p>
        </p:txBody>
      </p:sp>
      <p:pic>
        <p:nvPicPr>
          <p:cNvPr id="4" name="Content Placeholder 3"/>
          <p:cNvPicPr>
            <a:picLocks noGrp="1" noChangeAspect="1"/>
          </p:cNvPicPr>
          <p:nvPr>
            <p:ph idx="1"/>
          </p:nvPr>
        </p:nvPicPr>
        <p:blipFill rotWithShape="1">
          <a:blip r:embed="rId2"/>
          <a:srcRect l="2536"/>
          <a:stretch/>
        </p:blipFill>
        <p:spPr>
          <a:xfrm>
            <a:off x="4922377" y="2557463"/>
            <a:ext cx="2409967" cy="3317875"/>
          </a:xfrm>
          <a:prstGeom prst="rect">
            <a:avLst/>
          </a:prstGeom>
        </p:spPr>
      </p:pic>
      <p:sp>
        <p:nvSpPr>
          <p:cNvPr id="5" name="Rectangle 4"/>
          <p:cNvSpPr/>
          <p:nvPr/>
        </p:nvSpPr>
        <p:spPr>
          <a:xfrm>
            <a:off x="6930639" y="3845607"/>
            <a:ext cx="401705" cy="5811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5436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Making Phase</a:t>
            </a:r>
            <a:endParaRPr lang="en-US" dirty="0"/>
          </a:p>
        </p:txBody>
      </p:sp>
      <p:pic>
        <p:nvPicPr>
          <p:cNvPr id="4" name="Content Placeholder 3"/>
          <p:cNvPicPr>
            <a:picLocks noGrp="1" noChangeAspect="1"/>
          </p:cNvPicPr>
          <p:nvPr>
            <p:ph idx="1"/>
          </p:nvPr>
        </p:nvPicPr>
        <p:blipFill rotWithShape="1">
          <a:blip r:embed="rId2"/>
          <a:srcRect b="1476"/>
          <a:stretch/>
        </p:blipFill>
        <p:spPr>
          <a:xfrm>
            <a:off x="2689131" y="2761656"/>
            <a:ext cx="6813737" cy="2280364"/>
          </a:xfrm>
          <a:prstGeom prst="rect">
            <a:avLst/>
          </a:prstGeom>
        </p:spPr>
      </p:pic>
    </p:spTree>
    <p:extLst>
      <p:ext uri="{BB962C8B-B14F-4D97-AF65-F5344CB8AC3E}">
        <p14:creationId xmlns:p14="http://schemas.microsoft.com/office/powerpoint/2010/main" val="397507425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238</TotalTime>
  <Words>926</Words>
  <Application>Microsoft Office PowerPoint</Application>
  <PresentationFormat>Widescreen</PresentationFormat>
  <Paragraphs>93</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Garamond</vt:lpstr>
      <vt:lpstr>Times</vt:lpstr>
      <vt:lpstr>Organic</vt:lpstr>
      <vt:lpstr>Business Process Engineering </vt:lpstr>
      <vt:lpstr>Business Process Engineering includes: </vt:lpstr>
      <vt:lpstr>Business Process Management</vt:lpstr>
      <vt:lpstr>Business Process Management</vt:lpstr>
      <vt:lpstr>What is the Purpose of Business Process Management?</vt:lpstr>
      <vt:lpstr>Business Process Lifecycle </vt:lpstr>
      <vt:lpstr>Design and Analysis</vt:lpstr>
      <vt:lpstr>Configuration</vt:lpstr>
      <vt:lpstr>Atomicity</vt:lpstr>
      <vt:lpstr>Consistency</vt:lpstr>
      <vt:lpstr>Isolation</vt:lpstr>
      <vt:lpstr>Durability</vt:lpstr>
      <vt:lpstr>Enactment </vt:lpstr>
      <vt:lpstr>Evaluation</vt:lpstr>
      <vt:lpstr>The Value of Information</vt:lpstr>
      <vt:lpstr>Element of a Business Process</vt:lpstr>
      <vt:lpstr>PowerPoint Presentation</vt:lpstr>
      <vt:lpstr>Level of Management</vt:lpstr>
      <vt:lpstr>PowerPoint Presentation</vt:lpstr>
      <vt:lpstr>Data Characteristics</vt:lpstr>
      <vt:lpstr>Information Need</vt:lpstr>
      <vt:lpstr>Decision Making Phase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Engineering </dc:title>
  <dc:creator>Dr.Abdul Aziz</dc:creator>
  <cp:lastModifiedBy>Dr.Abdul Aziz</cp:lastModifiedBy>
  <cp:revision>11</cp:revision>
  <dcterms:created xsi:type="dcterms:W3CDTF">2025-02-03T04:08:55Z</dcterms:created>
  <dcterms:modified xsi:type="dcterms:W3CDTF">2025-02-04T04:02:13Z</dcterms:modified>
</cp:coreProperties>
</file>