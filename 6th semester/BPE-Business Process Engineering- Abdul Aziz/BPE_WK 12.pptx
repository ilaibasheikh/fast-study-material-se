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69" d="100"/>
          <a:sy n="69" d="100"/>
        </p:scale>
        <p:origin x="6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F8430D7-D4A1-4FF9-90C9-68BDFC93A3F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3693976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8430D7-D4A1-4FF9-90C9-68BDFC93A3F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150810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8430D7-D4A1-4FF9-90C9-68BDFC93A3F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1555751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F8430D7-D4A1-4FF9-90C9-68BDFC93A3FA}"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1878741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F8430D7-D4A1-4FF9-90C9-68BDFC93A3FA}" type="datetimeFigureOut">
              <a:rPr lang="en-US" smtClean="0"/>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2478030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8430D7-D4A1-4FF9-90C9-68BDFC93A3FA}" type="datetimeFigureOut">
              <a:rPr lang="en-US" smtClean="0"/>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2762236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8430D7-D4A1-4FF9-90C9-68BDFC93A3FA}" type="datetimeFigureOut">
              <a:rPr lang="en-US" smtClean="0"/>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293083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F8430D7-D4A1-4FF9-90C9-68BDFC93A3FA}"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4132277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F8430D7-D4A1-4FF9-90C9-68BDFC93A3FA}"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1884281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8430D7-D4A1-4FF9-90C9-68BDFC93A3F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120915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8430D7-D4A1-4FF9-90C9-68BDFC93A3F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E2296-1DC9-458D-94BB-E2B64FDEE63E}" type="slidenum">
              <a:rPr lang="en-US" smtClean="0"/>
              <a:t>‹#›</a:t>
            </a:fld>
            <a:endParaRPr lang="en-US"/>
          </a:p>
        </p:txBody>
      </p:sp>
    </p:spTree>
    <p:extLst>
      <p:ext uri="{BB962C8B-B14F-4D97-AF65-F5344CB8AC3E}">
        <p14:creationId xmlns:p14="http://schemas.microsoft.com/office/powerpoint/2010/main" val="417408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8430D7-D4A1-4FF9-90C9-68BDFC93A3FA}" type="datetimeFigureOut">
              <a:rPr lang="en-US" smtClean="0"/>
              <a:t>4/15/2025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E2296-1DC9-458D-94BB-E2B64FDEE63E}" type="slidenum">
              <a:rPr lang="en-US" smtClean="0"/>
              <a:t>‹#›</a:t>
            </a:fld>
            <a:endParaRPr lang="en-US"/>
          </a:p>
        </p:txBody>
      </p:sp>
    </p:spTree>
    <p:extLst>
      <p:ext uri="{BB962C8B-B14F-4D97-AF65-F5344CB8AC3E}">
        <p14:creationId xmlns:p14="http://schemas.microsoft.com/office/powerpoint/2010/main" val="740735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52601" y="1339257"/>
            <a:ext cx="8915399" cy="226278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mtClean="0"/>
              <a:t>Business Process Engineering </a:t>
            </a:r>
            <a:endParaRPr lang="en-US" dirty="0"/>
          </a:p>
        </p:txBody>
      </p:sp>
      <p:sp>
        <p:nvSpPr>
          <p:cNvPr id="5" name="Subtitle 2"/>
          <p:cNvSpPr txBox="1">
            <a:spLocks/>
          </p:cNvSpPr>
          <p:nvPr/>
        </p:nvSpPr>
        <p:spPr>
          <a:xfrm>
            <a:off x="1752601" y="3602036"/>
            <a:ext cx="8915399" cy="194669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smtClean="0"/>
              <a:t>Week 12</a:t>
            </a:r>
          </a:p>
          <a:p>
            <a:endParaRPr lang="en-US" dirty="0"/>
          </a:p>
        </p:txBody>
      </p:sp>
    </p:spTree>
    <p:extLst>
      <p:ext uri="{BB962C8B-B14F-4D97-AF65-F5344CB8AC3E}">
        <p14:creationId xmlns:p14="http://schemas.microsoft.com/office/powerpoint/2010/main" val="561676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05E47-83D6-189F-DE1A-D6B8CDBFA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DF030-E8FC-5833-D508-F9AE9A1F6C5F}"/>
              </a:ext>
            </a:extLst>
          </p:cNvPr>
          <p:cNvSpPr>
            <a:spLocks noGrp="1"/>
          </p:cNvSpPr>
          <p:nvPr>
            <p:ph type="title"/>
          </p:nvPr>
        </p:nvSpPr>
        <p:spPr/>
        <p:txBody>
          <a:bodyPr/>
          <a:lstStyle/>
          <a:p>
            <a:r>
              <a:rPr lang="en-US" dirty="0"/>
              <a:t>Process Models</a:t>
            </a:r>
          </a:p>
        </p:txBody>
      </p:sp>
      <p:sp>
        <p:nvSpPr>
          <p:cNvPr id="3" name="Content Placeholder 2">
            <a:extLst>
              <a:ext uri="{FF2B5EF4-FFF2-40B4-BE49-F238E27FC236}">
                <a16:creationId xmlns:a16="http://schemas.microsoft.com/office/drawing/2014/main" id="{0F58E6E7-85CB-AE00-C116-09A990461777}"/>
              </a:ext>
            </a:extLst>
          </p:cNvPr>
          <p:cNvSpPr>
            <a:spLocks noGrp="1"/>
          </p:cNvSpPr>
          <p:nvPr>
            <p:ph idx="1"/>
          </p:nvPr>
        </p:nvSpPr>
        <p:spPr/>
        <p:txBody>
          <a:bodyPr>
            <a:normAutofit fontScale="92500" lnSpcReduction="20000"/>
          </a:bodyPr>
          <a:lstStyle/>
          <a:p>
            <a:r>
              <a:rPr lang="en-US" b="1" dirty="0"/>
              <a:t>Edge:</a:t>
            </a:r>
            <a:r>
              <a:rPr lang="en-US" dirty="0"/>
              <a:t> Directed edges are used to express the relationships between nodes in a process model.</a:t>
            </a:r>
          </a:p>
          <a:p>
            <a:r>
              <a:rPr lang="en-US" b="1" dirty="0"/>
              <a:t>Node:</a:t>
            </a:r>
            <a:r>
              <a:rPr lang="en-US" dirty="0"/>
              <a:t> A node in a process model can represent an activity model, an event model, or a gateway model.</a:t>
            </a:r>
          </a:p>
          <a:p>
            <a:r>
              <a:rPr lang="en-US" b="1" dirty="0"/>
              <a:t>Activity Models: </a:t>
            </a:r>
            <a:r>
              <a:rPr lang="en-US" dirty="0"/>
              <a:t>Activity models describe units of work conducted in a business process. Each activity model has exactly one incoming edge and exactly one outgoing edge.</a:t>
            </a:r>
          </a:p>
          <a:p>
            <a:r>
              <a:rPr lang="en-US" b="1" dirty="0"/>
              <a:t>Event models: </a:t>
            </a:r>
            <a:r>
              <a:rPr lang="en-US" dirty="0"/>
              <a:t>Event models capture the occurrence of states relevant for a business process. Process instances start and end with events, so process models start and end with event models.</a:t>
            </a:r>
          </a:p>
          <a:p>
            <a:r>
              <a:rPr lang="en-US" b="1" dirty="0"/>
              <a:t>Gateway Models: </a:t>
            </a:r>
            <a:r>
              <a:rPr lang="en-US" dirty="0"/>
              <a:t>Gateways are used to express control ﬂow constructs, including sequences, as well as split and join nodes.</a:t>
            </a:r>
          </a:p>
          <a:p>
            <a:endParaRPr lang="en-US" dirty="0"/>
          </a:p>
          <a:p>
            <a:endParaRPr lang="en-US" dirty="0"/>
          </a:p>
        </p:txBody>
      </p:sp>
    </p:spTree>
    <p:extLst>
      <p:ext uri="{BB962C8B-B14F-4D97-AF65-F5344CB8AC3E}">
        <p14:creationId xmlns:p14="http://schemas.microsoft.com/office/powerpoint/2010/main" val="169708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D7E7A-8B8B-9911-DDDF-DFA08259B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4AA67-C899-8C46-196A-940759E4A5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2E8DB3-E504-9C38-8E43-E9AD29EC2A0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6B4B0C7-E5B8-1B63-FBFB-71B3A1B7F39D}"/>
              </a:ext>
            </a:extLst>
          </p:cNvPr>
          <p:cNvPicPr>
            <a:picLocks noChangeAspect="1"/>
          </p:cNvPicPr>
          <p:nvPr/>
        </p:nvPicPr>
        <p:blipFill>
          <a:blip r:embed="rId2"/>
          <a:stretch>
            <a:fillRect/>
          </a:stretch>
        </p:blipFill>
        <p:spPr>
          <a:xfrm>
            <a:off x="3297237" y="2133600"/>
            <a:ext cx="5597525" cy="4233208"/>
          </a:xfrm>
          <a:prstGeom prst="rect">
            <a:avLst/>
          </a:prstGeom>
        </p:spPr>
      </p:pic>
    </p:spTree>
    <p:extLst>
      <p:ext uri="{BB962C8B-B14F-4D97-AF65-F5344CB8AC3E}">
        <p14:creationId xmlns:p14="http://schemas.microsoft.com/office/powerpoint/2010/main" val="134199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8C639-82B0-96D8-3CB7-E17C8BBB6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058E4-3F10-7C13-5D95-E3CA3F1420C8}"/>
              </a:ext>
            </a:extLst>
          </p:cNvPr>
          <p:cNvSpPr>
            <a:spLocks noGrp="1"/>
          </p:cNvSpPr>
          <p:nvPr>
            <p:ph type="title"/>
          </p:nvPr>
        </p:nvSpPr>
        <p:spPr/>
        <p:txBody>
          <a:bodyPr/>
          <a:lstStyle/>
          <a:p>
            <a:endParaRPr lang="en-US" dirty="0"/>
          </a:p>
        </p:txBody>
      </p:sp>
      <p:pic>
        <p:nvPicPr>
          <p:cNvPr id="9" name="Content Placeholder 8">
            <a:extLst>
              <a:ext uri="{FF2B5EF4-FFF2-40B4-BE49-F238E27FC236}">
                <a16:creationId xmlns:a16="http://schemas.microsoft.com/office/drawing/2014/main" id="{3AA3DFC1-4E65-C037-86D6-E35AF3355B6C}"/>
              </a:ext>
            </a:extLst>
          </p:cNvPr>
          <p:cNvPicPr>
            <a:picLocks noGrp="1" noChangeAspect="1"/>
          </p:cNvPicPr>
          <p:nvPr>
            <p:ph idx="1"/>
          </p:nvPr>
        </p:nvPicPr>
        <p:blipFill>
          <a:blip r:embed="rId2"/>
          <a:stretch>
            <a:fillRect/>
          </a:stretch>
        </p:blipFill>
        <p:spPr>
          <a:xfrm>
            <a:off x="2265362" y="4408191"/>
            <a:ext cx="8915400" cy="1226688"/>
          </a:xfrm>
        </p:spPr>
      </p:pic>
      <p:pic>
        <p:nvPicPr>
          <p:cNvPr id="5" name="Picture 4">
            <a:extLst>
              <a:ext uri="{FF2B5EF4-FFF2-40B4-BE49-F238E27FC236}">
                <a16:creationId xmlns:a16="http://schemas.microsoft.com/office/drawing/2014/main" id="{538301F6-A3D3-5726-C628-7F4DD03CCB8D}"/>
              </a:ext>
            </a:extLst>
          </p:cNvPr>
          <p:cNvPicPr>
            <a:picLocks noChangeAspect="1"/>
          </p:cNvPicPr>
          <p:nvPr/>
        </p:nvPicPr>
        <p:blipFill>
          <a:blip r:embed="rId3"/>
          <a:stretch>
            <a:fillRect/>
          </a:stretch>
        </p:blipFill>
        <p:spPr>
          <a:xfrm>
            <a:off x="2589212" y="670553"/>
            <a:ext cx="8591550" cy="552450"/>
          </a:xfrm>
          <a:prstGeom prst="rect">
            <a:avLst/>
          </a:prstGeom>
        </p:spPr>
      </p:pic>
      <p:pic>
        <p:nvPicPr>
          <p:cNvPr id="7" name="Picture 6">
            <a:extLst>
              <a:ext uri="{FF2B5EF4-FFF2-40B4-BE49-F238E27FC236}">
                <a16:creationId xmlns:a16="http://schemas.microsoft.com/office/drawing/2014/main" id="{7263D791-D141-226A-5D18-96039FC2CB0B}"/>
              </a:ext>
            </a:extLst>
          </p:cNvPr>
          <p:cNvPicPr>
            <a:picLocks noChangeAspect="1"/>
          </p:cNvPicPr>
          <p:nvPr/>
        </p:nvPicPr>
        <p:blipFill>
          <a:blip r:embed="rId4"/>
          <a:stretch>
            <a:fillRect/>
          </a:stretch>
        </p:blipFill>
        <p:spPr>
          <a:xfrm>
            <a:off x="3041649" y="1520197"/>
            <a:ext cx="7686675" cy="2590800"/>
          </a:xfrm>
          <a:prstGeom prst="rect">
            <a:avLst/>
          </a:prstGeom>
        </p:spPr>
      </p:pic>
    </p:spTree>
    <p:extLst>
      <p:ext uri="{BB962C8B-B14F-4D97-AF65-F5344CB8AC3E}">
        <p14:creationId xmlns:p14="http://schemas.microsoft.com/office/powerpoint/2010/main" val="171179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A18DA-B7C2-89B9-25B2-3E10FA42F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84E7C-0614-60A3-F79A-CD91B9C8B8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37F1DF-1C15-8E4E-500F-307CBFB485BA}"/>
              </a:ext>
            </a:extLst>
          </p:cNvPr>
          <p:cNvSpPr>
            <a:spLocks noGrp="1"/>
          </p:cNvSpPr>
          <p:nvPr>
            <p:ph idx="1"/>
          </p:nvPr>
        </p:nvSpPr>
        <p:spPr/>
        <p:txBody>
          <a:bodyPr>
            <a:normAutofit fontScale="850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Let C be a set of control ﬂow constructs. </a:t>
            </a:r>
          </a:p>
          <a:p>
            <a:r>
              <a:rPr lang="en-US" dirty="0"/>
              <a:t>P = (N, E, type) is a process model if it consists of a set N of nodes, and a set E of edges.</a:t>
            </a:r>
          </a:p>
          <a:p>
            <a:r>
              <a:rPr lang="en-US" dirty="0"/>
              <a:t>• N = NA ∪ NE ∪ NG, where NA is a set of activity models, NE is a set of event models, and NG is a set of gateway models. These sets are mutually disjoint.</a:t>
            </a:r>
          </a:p>
        </p:txBody>
      </p:sp>
      <p:pic>
        <p:nvPicPr>
          <p:cNvPr id="5" name="Picture 4">
            <a:extLst>
              <a:ext uri="{FF2B5EF4-FFF2-40B4-BE49-F238E27FC236}">
                <a16:creationId xmlns:a16="http://schemas.microsoft.com/office/drawing/2014/main" id="{0056428E-336C-034A-CDAD-F8FEE6BFAEAF}"/>
              </a:ext>
            </a:extLst>
          </p:cNvPr>
          <p:cNvPicPr>
            <a:picLocks noChangeAspect="1"/>
          </p:cNvPicPr>
          <p:nvPr/>
        </p:nvPicPr>
        <p:blipFill>
          <a:blip r:embed="rId2"/>
          <a:stretch>
            <a:fillRect/>
          </a:stretch>
        </p:blipFill>
        <p:spPr>
          <a:xfrm>
            <a:off x="4162407" y="731195"/>
            <a:ext cx="5769009" cy="3007875"/>
          </a:xfrm>
          <a:prstGeom prst="rect">
            <a:avLst/>
          </a:prstGeom>
        </p:spPr>
      </p:pic>
      <p:pic>
        <p:nvPicPr>
          <p:cNvPr id="7" name="Picture 6">
            <a:extLst>
              <a:ext uri="{FF2B5EF4-FFF2-40B4-BE49-F238E27FC236}">
                <a16:creationId xmlns:a16="http://schemas.microsoft.com/office/drawing/2014/main" id="{32BE27A4-99F0-64C3-4EB9-6F9B62ED484B}"/>
              </a:ext>
            </a:extLst>
          </p:cNvPr>
          <p:cNvPicPr>
            <a:picLocks noChangeAspect="1"/>
          </p:cNvPicPr>
          <p:nvPr/>
        </p:nvPicPr>
        <p:blipFill>
          <a:blip r:embed="rId3"/>
          <a:stretch>
            <a:fillRect/>
          </a:stretch>
        </p:blipFill>
        <p:spPr>
          <a:xfrm>
            <a:off x="8236671" y="3298467"/>
            <a:ext cx="2886075" cy="1095375"/>
          </a:xfrm>
          <a:prstGeom prst="rect">
            <a:avLst/>
          </a:prstGeom>
        </p:spPr>
      </p:pic>
    </p:spTree>
    <p:extLst>
      <p:ext uri="{BB962C8B-B14F-4D97-AF65-F5344CB8AC3E}">
        <p14:creationId xmlns:p14="http://schemas.microsoft.com/office/powerpoint/2010/main" val="3097078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AF27-9217-B8D8-F4E2-AA7A5986C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0B8A0-2F08-9E82-0D5A-1203C0C6A33E}"/>
              </a:ext>
            </a:extLst>
          </p:cNvPr>
          <p:cNvSpPr>
            <a:spLocks noGrp="1"/>
          </p:cNvSpPr>
          <p:nvPr>
            <p:ph type="title"/>
          </p:nvPr>
        </p:nvSpPr>
        <p:spPr/>
        <p:txBody>
          <a:bodyPr/>
          <a:lstStyle/>
          <a:p>
            <a:r>
              <a:rPr lang="en-US" dirty="0"/>
              <a:t>Gateways</a:t>
            </a:r>
          </a:p>
        </p:txBody>
      </p:sp>
      <p:sp>
        <p:nvSpPr>
          <p:cNvPr id="3" name="Content Placeholder 2">
            <a:extLst>
              <a:ext uri="{FF2B5EF4-FFF2-40B4-BE49-F238E27FC236}">
                <a16:creationId xmlns:a16="http://schemas.microsoft.com/office/drawing/2014/main" id="{C46CB305-E601-E061-F6C3-BA209F0411D1}"/>
              </a:ext>
            </a:extLst>
          </p:cNvPr>
          <p:cNvSpPr>
            <a:spLocks noGrp="1"/>
          </p:cNvSpPr>
          <p:nvPr>
            <p:ph idx="1"/>
          </p:nvPr>
        </p:nvSpPr>
        <p:spPr/>
        <p:txBody>
          <a:bodyPr/>
          <a:lstStyle/>
          <a:p>
            <a:r>
              <a:rPr lang="en-US" dirty="0"/>
              <a:t>Gateways are used to control how the Process flows through Sequence Flows as they converge and diverge within a Process.</a:t>
            </a:r>
          </a:p>
          <a:p>
            <a:r>
              <a:rPr lang="en-US" dirty="0"/>
              <a:t>Route a sequence flow following a decision, </a:t>
            </a:r>
          </a:p>
          <a:p>
            <a:r>
              <a:rPr lang="en-US" dirty="0"/>
              <a:t>using an exclusive or inclusive gateway; or alternatively </a:t>
            </a:r>
          </a:p>
          <a:p>
            <a:r>
              <a:rPr lang="en-US" dirty="0"/>
              <a:t>Undertake activities in parallel, using the parallel gateway.</a:t>
            </a:r>
          </a:p>
          <a:p>
            <a:r>
              <a:rPr lang="en-US" dirty="0"/>
              <a:t>Gateways are shaped like the Decision Diamonds </a:t>
            </a:r>
          </a:p>
        </p:txBody>
      </p:sp>
    </p:spTree>
    <p:extLst>
      <p:ext uri="{BB962C8B-B14F-4D97-AF65-F5344CB8AC3E}">
        <p14:creationId xmlns:p14="http://schemas.microsoft.com/office/powerpoint/2010/main" val="3716804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D24A8-BE83-061F-F878-49FDC5449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054C5-AF5C-CE36-E559-D41FC46C5C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55A40E-CA2F-3B7D-086B-C1A67B81019C}"/>
              </a:ext>
            </a:extLst>
          </p:cNvPr>
          <p:cNvSpPr>
            <a:spLocks noGrp="1"/>
          </p:cNvSpPr>
          <p:nvPr>
            <p:ph idx="1"/>
          </p:nvPr>
        </p:nvSpPr>
        <p:spPr/>
        <p:txBody>
          <a:bodyPr/>
          <a:lstStyle/>
          <a:p>
            <a:r>
              <a:rPr lang="en-US" dirty="0"/>
              <a:t>there are only a 6 types of Gateways: </a:t>
            </a:r>
          </a:p>
          <a:p>
            <a:r>
              <a:rPr lang="en-US" dirty="0"/>
              <a:t>Exclusive Gateways; </a:t>
            </a:r>
          </a:p>
          <a:p>
            <a:r>
              <a:rPr lang="en-US" dirty="0"/>
              <a:t>Inclusive Gateways; </a:t>
            </a:r>
          </a:p>
          <a:p>
            <a:r>
              <a:rPr lang="en-US" dirty="0"/>
              <a:t>Parallel Gateways; </a:t>
            </a:r>
          </a:p>
          <a:p>
            <a:r>
              <a:rPr lang="en-US" dirty="0"/>
              <a:t>Event Based Gateways; </a:t>
            </a:r>
          </a:p>
          <a:p>
            <a:r>
              <a:rPr lang="en-US" dirty="0"/>
              <a:t>Parallel Event Based Gateways; and </a:t>
            </a:r>
          </a:p>
          <a:p>
            <a:r>
              <a:rPr lang="en-US" dirty="0"/>
              <a:t>Complex Gateways. </a:t>
            </a:r>
          </a:p>
        </p:txBody>
      </p:sp>
    </p:spTree>
    <p:extLst>
      <p:ext uri="{BB962C8B-B14F-4D97-AF65-F5344CB8AC3E}">
        <p14:creationId xmlns:p14="http://schemas.microsoft.com/office/powerpoint/2010/main" val="3755761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7CD8E-1625-F62B-CD24-63019AC05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A54F1-57A6-0AE0-F522-0B157D94BA64}"/>
              </a:ext>
            </a:extLst>
          </p:cNvPr>
          <p:cNvSpPr>
            <a:spLocks noGrp="1"/>
          </p:cNvSpPr>
          <p:nvPr>
            <p:ph type="title"/>
          </p:nvPr>
        </p:nvSpPr>
        <p:spPr/>
        <p:txBody>
          <a:bodyPr/>
          <a:lstStyle/>
          <a:p>
            <a:r>
              <a:rPr lang="en-US" dirty="0"/>
              <a:t>Exclusive Gateway</a:t>
            </a:r>
          </a:p>
        </p:txBody>
      </p:sp>
      <p:sp>
        <p:nvSpPr>
          <p:cNvPr id="3" name="Content Placeholder 2">
            <a:extLst>
              <a:ext uri="{FF2B5EF4-FFF2-40B4-BE49-F238E27FC236}">
                <a16:creationId xmlns:a16="http://schemas.microsoft.com/office/drawing/2014/main" id="{E15380E7-3E1D-099C-8D7F-936F4B780A98}"/>
              </a:ext>
            </a:extLst>
          </p:cNvPr>
          <p:cNvSpPr>
            <a:spLocks noGrp="1"/>
          </p:cNvSpPr>
          <p:nvPr>
            <p:ph idx="1"/>
          </p:nvPr>
        </p:nvSpPr>
        <p:spPr/>
        <p:txBody>
          <a:bodyPr/>
          <a:lstStyle/>
          <a:p>
            <a:r>
              <a:rPr lang="en-US" dirty="0"/>
              <a:t>The Exclusive Gateway is used to create alternative paths within a Process flow. </a:t>
            </a:r>
          </a:p>
          <a:p>
            <a:r>
              <a:rPr lang="en-US" dirty="0"/>
              <a:t>It is the “diversion point in the road” for a Process. </a:t>
            </a:r>
          </a:p>
          <a:p>
            <a:r>
              <a:rPr lang="en-US" dirty="0"/>
              <a:t>The Exclusive Gateway represents the need to make a decision where only one of the paths can be taken</a:t>
            </a:r>
          </a:p>
        </p:txBody>
      </p:sp>
      <p:pic>
        <p:nvPicPr>
          <p:cNvPr id="5" name="Picture 4">
            <a:extLst>
              <a:ext uri="{FF2B5EF4-FFF2-40B4-BE49-F238E27FC236}">
                <a16:creationId xmlns:a16="http://schemas.microsoft.com/office/drawing/2014/main" id="{E5F544D5-7F2A-B6CC-E741-FE0A17C4DC9E}"/>
              </a:ext>
            </a:extLst>
          </p:cNvPr>
          <p:cNvPicPr>
            <a:picLocks noChangeAspect="1"/>
          </p:cNvPicPr>
          <p:nvPr/>
        </p:nvPicPr>
        <p:blipFill>
          <a:blip r:embed="rId2"/>
          <a:stretch>
            <a:fillRect/>
          </a:stretch>
        </p:blipFill>
        <p:spPr>
          <a:xfrm>
            <a:off x="5718753" y="4787272"/>
            <a:ext cx="1123950" cy="1123950"/>
          </a:xfrm>
          <a:prstGeom prst="rect">
            <a:avLst/>
          </a:prstGeom>
        </p:spPr>
      </p:pic>
    </p:spTree>
    <p:extLst>
      <p:ext uri="{BB962C8B-B14F-4D97-AF65-F5344CB8AC3E}">
        <p14:creationId xmlns:p14="http://schemas.microsoft.com/office/powerpoint/2010/main" val="305283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A9544-394A-69B7-ECE4-2ADF81A00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1175F-31F5-0B20-E668-4AF54D72A95A}"/>
              </a:ext>
            </a:extLst>
          </p:cNvPr>
          <p:cNvSpPr>
            <a:spLocks noGrp="1"/>
          </p:cNvSpPr>
          <p:nvPr>
            <p:ph type="title"/>
          </p:nvPr>
        </p:nvSpPr>
        <p:spPr/>
        <p:txBody>
          <a:bodyPr/>
          <a:lstStyle/>
          <a:p>
            <a:r>
              <a:rPr lang="en-US" dirty="0"/>
              <a:t>Inclusive Gateway</a:t>
            </a:r>
          </a:p>
        </p:txBody>
      </p:sp>
      <p:sp>
        <p:nvSpPr>
          <p:cNvPr id="3" name="Content Placeholder 2">
            <a:extLst>
              <a:ext uri="{FF2B5EF4-FFF2-40B4-BE49-F238E27FC236}">
                <a16:creationId xmlns:a16="http://schemas.microsoft.com/office/drawing/2014/main" id="{57AE9DE7-E507-BE37-6804-E9970E1E6955}"/>
              </a:ext>
            </a:extLst>
          </p:cNvPr>
          <p:cNvSpPr>
            <a:spLocks noGrp="1"/>
          </p:cNvSpPr>
          <p:nvPr>
            <p:ph idx="1"/>
          </p:nvPr>
        </p:nvSpPr>
        <p:spPr/>
        <p:txBody>
          <a:bodyPr/>
          <a:lstStyle/>
          <a:p>
            <a:r>
              <a:rPr lang="en-US" dirty="0"/>
              <a:t>The Inclusive Gateway is used to create both alternative and parallel paths within a Process flow. </a:t>
            </a:r>
          </a:p>
          <a:p>
            <a:r>
              <a:rPr lang="en-US" dirty="0"/>
              <a:t>The Inclusive Gateway represents the need to make a decision where all conditions must be evaluated. </a:t>
            </a:r>
          </a:p>
          <a:p>
            <a:r>
              <a:rPr lang="en-US" dirty="0"/>
              <a:t>Whilst the Inclusive Gateway can be used to show that all paths must be taken, it should be used in such a way that at least one of the paths is taken. </a:t>
            </a:r>
          </a:p>
        </p:txBody>
      </p:sp>
      <p:pic>
        <p:nvPicPr>
          <p:cNvPr id="5" name="Picture 4">
            <a:extLst>
              <a:ext uri="{FF2B5EF4-FFF2-40B4-BE49-F238E27FC236}">
                <a16:creationId xmlns:a16="http://schemas.microsoft.com/office/drawing/2014/main" id="{A81C75C5-20CE-B2E2-BAE0-0008E60BA93A}"/>
              </a:ext>
            </a:extLst>
          </p:cNvPr>
          <p:cNvPicPr>
            <a:picLocks noChangeAspect="1"/>
          </p:cNvPicPr>
          <p:nvPr/>
        </p:nvPicPr>
        <p:blipFill>
          <a:blip r:embed="rId2"/>
          <a:stretch>
            <a:fillRect/>
          </a:stretch>
        </p:blipFill>
        <p:spPr>
          <a:xfrm>
            <a:off x="5567362" y="4987297"/>
            <a:ext cx="1057275" cy="1152525"/>
          </a:xfrm>
          <a:prstGeom prst="rect">
            <a:avLst/>
          </a:prstGeom>
        </p:spPr>
      </p:pic>
    </p:spTree>
    <p:extLst>
      <p:ext uri="{BB962C8B-B14F-4D97-AF65-F5344CB8AC3E}">
        <p14:creationId xmlns:p14="http://schemas.microsoft.com/office/powerpoint/2010/main" val="43292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7F5D5-E06A-C46F-FD7F-F97F55C24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3B442-384C-DF24-A373-FF732A4DC2AE}"/>
              </a:ext>
            </a:extLst>
          </p:cNvPr>
          <p:cNvSpPr>
            <a:spLocks noGrp="1"/>
          </p:cNvSpPr>
          <p:nvPr>
            <p:ph type="title"/>
          </p:nvPr>
        </p:nvSpPr>
        <p:spPr/>
        <p:txBody>
          <a:bodyPr/>
          <a:lstStyle/>
          <a:p>
            <a:r>
              <a:rPr lang="en-US" dirty="0"/>
              <a:t>Parallel Gateway</a:t>
            </a:r>
          </a:p>
        </p:txBody>
      </p:sp>
      <p:sp>
        <p:nvSpPr>
          <p:cNvPr id="3" name="Content Placeholder 2">
            <a:extLst>
              <a:ext uri="{FF2B5EF4-FFF2-40B4-BE49-F238E27FC236}">
                <a16:creationId xmlns:a16="http://schemas.microsoft.com/office/drawing/2014/main" id="{AC045915-4DAC-0B89-964D-6E16E45D87BB}"/>
              </a:ext>
            </a:extLst>
          </p:cNvPr>
          <p:cNvSpPr>
            <a:spLocks noGrp="1"/>
          </p:cNvSpPr>
          <p:nvPr>
            <p:ph idx="1"/>
          </p:nvPr>
        </p:nvSpPr>
        <p:spPr/>
        <p:txBody>
          <a:bodyPr/>
          <a:lstStyle/>
          <a:p>
            <a:r>
              <a:rPr lang="en-US" dirty="0"/>
              <a:t>The Parallel Gateway is used to represent parallel paths in a process. </a:t>
            </a:r>
          </a:p>
          <a:p>
            <a:r>
              <a:rPr lang="en-US" dirty="0"/>
              <a:t>The Parallel Gateway does not check any conditions and </a:t>
            </a:r>
          </a:p>
          <a:p>
            <a:r>
              <a:rPr lang="en-US" dirty="0"/>
              <a:t>Will wait for all incoming flows before triggering the parallel path.</a:t>
            </a:r>
          </a:p>
        </p:txBody>
      </p:sp>
      <p:pic>
        <p:nvPicPr>
          <p:cNvPr id="5" name="Picture 4">
            <a:extLst>
              <a:ext uri="{FF2B5EF4-FFF2-40B4-BE49-F238E27FC236}">
                <a16:creationId xmlns:a16="http://schemas.microsoft.com/office/drawing/2014/main" id="{4A9147CF-FDA7-61F6-DC0D-82FF67FE8F52}"/>
              </a:ext>
            </a:extLst>
          </p:cNvPr>
          <p:cNvPicPr>
            <a:picLocks noChangeAspect="1"/>
          </p:cNvPicPr>
          <p:nvPr/>
        </p:nvPicPr>
        <p:blipFill>
          <a:blip r:embed="rId2"/>
          <a:stretch>
            <a:fillRect/>
          </a:stretch>
        </p:blipFill>
        <p:spPr>
          <a:xfrm>
            <a:off x="5381625" y="4520572"/>
            <a:ext cx="1428750" cy="1390650"/>
          </a:xfrm>
          <a:prstGeom prst="rect">
            <a:avLst/>
          </a:prstGeom>
        </p:spPr>
      </p:pic>
    </p:spTree>
    <p:extLst>
      <p:ext uri="{BB962C8B-B14F-4D97-AF65-F5344CB8AC3E}">
        <p14:creationId xmlns:p14="http://schemas.microsoft.com/office/powerpoint/2010/main" val="630379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476AD-C80A-3921-DAF2-C0A28E3B9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854AF-4525-5212-477A-7CCEC3D097E2}"/>
              </a:ext>
            </a:extLst>
          </p:cNvPr>
          <p:cNvSpPr>
            <a:spLocks noGrp="1"/>
          </p:cNvSpPr>
          <p:nvPr>
            <p:ph type="title"/>
          </p:nvPr>
        </p:nvSpPr>
        <p:spPr/>
        <p:txBody>
          <a:bodyPr/>
          <a:lstStyle/>
          <a:p>
            <a:r>
              <a:rPr lang="en-US" dirty="0"/>
              <a:t>Event Based Gateway</a:t>
            </a:r>
          </a:p>
        </p:txBody>
      </p:sp>
      <p:sp>
        <p:nvSpPr>
          <p:cNvPr id="3" name="Content Placeholder 2">
            <a:extLst>
              <a:ext uri="{FF2B5EF4-FFF2-40B4-BE49-F238E27FC236}">
                <a16:creationId xmlns:a16="http://schemas.microsoft.com/office/drawing/2014/main" id="{CA4930CB-197F-4867-EB90-06FCEAB4E0B9}"/>
              </a:ext>
            </a:extLst>
          </p:cNvPr>
          <p:cNvSpPr>
            <a:spLocks noGrp="1"/>
          </p:cNvSpPr>
          <p:nvPr>
            <p:ph idx="1"/>
          </p:nvPr>
        </p:nvSpPr>
        <p:spPr/>
        <p:txBody>
          <a:bodyPr/>
          <a:lstStyle/>
          <a:p>
            <a:r>
              <a:rPr lang="en-US" dirty="0"/>
              <a:t>The Event-Based Gateway represents a branching point in the Process where the alternative paths that follow the Gateway are based on Events that occur rather than the evaluation of the process flow that lead to this point. </a:t>
            </a:r>
          </a:p>
          <a:p>
            <a:r>
              <a:rPr lang="en-US" dirty="0"/>
              <a:t>A specific Event such as the receipt of a message from a customer, determines the path that will be taken.</a:t>
            </a:r>
          </a:p>
        </p:txBody>
      </p:sp>
      <p:pic>
        <p:nvPicPr>
          <p:cNvPr id="5" name="Picture 4">
            <a:extLst>
              <a:ext uri="{FF2B5EF4-FFF2-40B4-BE49-F238E27FC236}">
                <a16:creationId xmlns:a16="http://schemas.microsoft.com/office/drawing/2014/main" id="{379CB160-C22A-39CF-F711-A4CCD361B621}"/>
              </a:ext>
            </a:extLst>
          </p:cNvPr>
          <p:cNvPicPr>
            <a:picLocks noChangeAspect="1"/>
          </p:cNvPicPr>
          <p:nvPr/>
        </p:nvPicPr>
        <p:blipFill>
          <a:blip r:embed="rId2"/>
          <a:stretch>
            <a:fillRect/>
          </a:stretch>
        </p:blipFill>
        <p:spPr>
          <a:xfrm>
            <a:off x="5629275" y="4539622"/>
            <a:ext cx="933450" cy="1371600"/>
          </a:xfrm>
          <a:prstGeom prst="rect">
            <a:avLst/>
          </a:prstGeom>
        </p:spPr>
      </p:pic>
    </p:spTree>
    <p:extLst>
      <p:ext uri="{BB962C8B-B14F-4D97-AF65-F5344CB8AC3E}">
        <p14:creationId xmlns:p14="http://schemas.microsoft.com/office/powerpoint/2010/main" val="804058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60B32-7E6C-A9E5-A03C-BA26BD4E0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BCA5B-4389-A2BD-348B-EBDC2B6FBFA8}"/>
              </a:ext>
            </a:extLst>
          </p:cNvPr>
          <p:cNvSpPr>
            <a:spLocks noGrp="1"/>
          </p:cNvSpPr>
          <p:nvPr>
            <p:ph type="title"/>
          </p:nvPr>
        </p:nvSpPr>
        <p:spPr/>
        <p:txBody>
          <a:bodyPr/>
          <a:lstStyle/>
          <a:p>
            <a:r>
              <a:rPr lang="en-US" dirty="0"/>
              <a:t>Complex Gateways</a:t>
            </a:r>
          </a:p>
        </p:txBody>
      </p:sp>
      <p:sp>
        <p:nvSpPr>
          <p:cNvPr id="3" name="Content Placeholder 2">
            <a:extLst>
              <a:ext uri="{FF2B5EF4-FFF2-40B4-BE49-F238E27FC236}">
                <a16:creationId xmlns:a16="http://schemas.microsoft.com/office/drawing/2014/main" id="{416A28DB-B85B-209A-874C-BC0205BD8545}"/>
              </a:ext>
            </a:extLst>
          </p:cNvPr>
          <p:cNvSpPr>
            <a:spLocks noGrp="1"/>
          </p:cNvSpPr>
          <p:nvPr>
            <p:ph idx="1"/>
          </p:nvPr>
        </p:nvSpPr>
        <p:spPr/>
        <p:txBody>
          <a:bodyPr/>
          <a:lstStyle/>
          <a:p>
            <a:r>
              <a:rPr lang="en-US" dirty="0"/>
              <a:t>The Complex Gateway is used to represent complex </a:t>
            </a:r>
            <a:r>
              <a:rPr lang="en-US" dirty="0" err="1"/>
              <a:t>synchronisation</a:t>
            </a:r>
            <a:r>
              <a:rPr lang="en-US" dirty="0"/>
              <a:t> </a:t>
            </a:r>
            <a:r>
              <a:rPr lang="en-US" dirty="0" err="1"/>
              <a:t>behaviour</a:t>
            </a:r>
            <a:r>
              <a:rPr lang="en-US" dirty="0"/>
              <a:t> in a process. </a:t>
            </a:r>
          </a:p>
          <a:p>
            <a:r>
              <a:rPr lang="en-US" dirty="0"/>
              <a:t>A complex gateway is used when one or more of the outgoing sequence flows from the decision may be taken. </a:t>
            </a:r>
          </a:p>
          <a:p>
            <a:r>
              <a:rPr lang="en-US" dirty="0"/>
              <a:t>The Complex Gateway must have a default path. </a:t>
            </a:r>
          </a:p>
        </p:txBody>
      </p:sp>
      <p:pic>
        <p:nvPicPr>
          <p:cNvPr id="5" name="Picture 4">
            <a:extLst>
              <a:ext uri="{FF2B5EF4-FFF2-40B4-BE49-F238E27FC236}">
                <a16:creationId xmlns:a16="http://schemas.microsoft.com/office/drawing/2014/main" id="{3BB6B515-26D8-913A-BDEE-A8210194FFA3}"/>
              </a:ext>
            </a:extLst>
          </p:cNvPr>
          <p:cNvPicPr>
            <a:picLocks noChangeAspect="1"/>
          </p:cNvPicPr>
          <p:nvPr/>
        </p:nvPicPr>
        <p:blipFill>
          <a:blip r:embed="rId2"/>
          <a:stretch>
            <a:fillRect/>
          </a:stretch>
        </p:blipFill>
        <p:spPr>
          <a:xfrm>
            <a:off x="5691187" y="4533849"/>
            <a:ext cx="809625" cy="1333500"/>
          </a:xfrm>
          <a:prstGeom prst="rect">
            <a:avLst/>
          </a:prstGeom>
        </p:spPr>
      </p:pic>
    </p:spTree>
    <p:extLst>
      <p:ext uri="{BB962C8B-B14F-4D97-AF65-F5344CB8AC3E}">
        <p14:creationId xmlns:p14="http://schemas.microsoft.com/office/powerpoint/2010/main" val="2381684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20FD4-2FC1-E99E-A2B1-AC18FB1E4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90F99-4E70-E5F8-F39F-574CDC63CC3B}"/>
              </a:ext>
            </a:extLst>
          </p:cNvPr>
          <p:cNvSpPr>
            <a:spLocks noGrp="1"/>
          </p:cNvSpPr>
          <p:nvPr>
            <p:ph type="title"/>
          </p:nvPr>
        </p:nvSpPr>
        <p:spPr/>
        <p:txBody>
          <a:bodyPr/>
          <a:lstStyle/>
          <a:p>
            <a:r>
              <a:rPr lang="en-US" dirty="0"/>
              <a:t>Parallel Start Gateway</a:t>
            </a:r>
          </a:p>
        </p:txBody>
      </p:sp>
      <p:pic>
        <p:nvPicPr>
          <p:cNvPr id="5" name="Content Placeholder 4">
            <a:extLst>
              <a:ext uri="{FF2B5EF4-FFF2-40B4-BE49-F238E27FC236}">
                <a16:creationId xmlns:a16="http://schemas.microsoft.com/office/drawing/2014/main" id="{EB2F12C0-DDCB-CF3D-B361-76014EA209C4}"/>
              </a:ext>
            </a:extLst>
          </p:cNvPr>
          <p:cNvPicPr>
            <a:picLocks noGrp="1" noChangeAspect="1"/>
          </p:cNvPicPr>
          <p:nvPr>
            <p:ph idx="1"/>
          </p:nvPr>
        </p:nvPicPr>
        <p:blipFill>
          <a:blip r:embed="rId2"/>
          <a:stretch>
            <a:fillRect/>
          </a:stretch>
        </p:blipFill>
        <p:spPr>
          <a:xfrm>
            <a:off x="6418263" y="3208337"/>
            <a:ext cx="1257300" cy="1628775"/>
          </a:xfrm>
        </p:spPr>
      </p:pic>
    </p:spTree>
    <p:extLst>
      <p:ext uri="{BB962C8B-B14F-4D97-AF65-F5344CB8AC3E}">
        <p14:creationId xmlns:p14="http://schemas.microsoft.com/office/powerpoint/2010/main" val="1038026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2275-B332-278F-C1D5-EC9B4D2DC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BA82A-2EE3-0A8E-CE6F-A4AFE53A4941}"/>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AA83C534-7ED7-BA8D-4576-FF5EE6D4ACC9}"/>
              </a:ext>
            </a:extLst>
          </p:cNvPr>
          <p:cNvSpPr>
            <a:spLocks noGrp="1"/>
          </p:cNvSpPr>
          <p:nvPr>
            <p:ph idx="1"/>
          </p:nvPr>
        </p:nvSpPr>
        <p:spPr>
          <a:xfrm>
            <a:off x="2358303" y="2224689"/>
            <a:ext cx="8915400" cy="3777622"/>
          </a:xfrm>
        </p:spPr>
        <p:txBody>
          <a:bodyPr/>
          <a:lstStyle/>
          <a:p>
            <a:endParaRPr lang="en-US" dirty="0"/>
          </a:p>
        </p:txBody>
      </p:sp>
      <p:pic>
        <p:nvPicPr>
          <p:cNvPr id="5" name="Picture 4">
            <a:extLst>
              <a:ext uri="{FF2B5EF4-FFF2-40B4-BE49-F238E27FC236}">
                <a16:creationId xmlns:a16="http://schemas.microsoft.com/office/drawing/2014/main" id="{C9012CFF-4985-5FD8-9BB3-8497C55DAF0A}"/>
              </a:ext>
            </a:extLst>
          </p:cNvPr>
          <p:cNvPicPr>
            <a:picLocks noChangeAspect="1"/>
          </p:cNvPicPr>
          <p:nvPr/>
        </p:nvPicPr>
        <p:blipFill>
          <a:blip r:embed="rId2"/>
          <a:stretch>
            <a:fillRect/>
          </a:stretch>
        </p:blipFill>
        <p:spPr>
          <a:xfrm>
            <a:off x="3624839" y="2522825"/>
            <a:ext cx="6124575" cy="1590675"/>
          </a:xfrm>
          <a:prstGeom prst="rect">
            <a:avLst/>
          </a:prstGeom>
        </p:spPr>
      </p:pic>
      <p:sp>
        <p:nvSpPr>
          <p:cNvPr id="6" name="Rectangle 5">
            <a:extLst>
              <a:ext uri="{FF2B5EF4-FFF2-40B4-BE49-F238E27FC236}">
                <a16:creationId xmlns:a16="http://schemas.microsoft.com/office/drawing/2014/main" id="{09F91A1B-8C22-62B3-717D-D63D58F8A404}"/>
              </a:ext>
            </a:extLst>
          </p:cNvPr>
          <p:cNvSpPr/>
          <p:nvPr/>
        </p:nvSpPr>
        <p:spPr>
          <a:xfrm>
            <a:off x="4922982" y="2598578"/>
            <a:ext cx="3546763" cy="4462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pic>
        <p:nvPicPr>
          <p:cNvPr id="8" name="Picture 7">
            <a:extLst>
              <a:ext uri="{FF2B5EF4-FFF2-40B4-BE49-F238E27FC236}">
                <a16:creationId xmlns:a16="http://schemas.microsoft.com/office/drawing/2014/main" id="{088C3042-37E9-19CE-0A56-5A6BE3E46141}"/>
              </a:ext>
            </a:extLst>
          </p:cNvPr>
          <p:cNvPicPr>
            <a:picLocks noChangeAspect="1"/>
          </p:cNvPicPr>
          <p:nvPr/>
        </p:nvPicPr>
        <p:blipFill>
          <a:blip r:embed="rId3"/>
          <a:stretch>
            <a:fillRect/>
          </a:stretch>
        </p:blipFill>
        <p:spPr>
          <a:xfrm>
            <a:off x="3624839" y="4525489"/>
            <a:ext cx="6057900" cy="1552575"/>
          </a:xfrm>
          <a:prstGeom prst="rect">
            <a:avLst/>
          </a:prstGeom>
        </p:spPr>
      </p:pic>
      <p:sp>
        <p:nvSpPr>
          <p:cNvPr id="9" name="Rectangle 8">
            <a:extLst>
              <a:ext uri="{FF2B5EF4-FFF2-40B4-BE49-F238E27FC236}">
                <a16:creationId xmlns:a16="http://schemas.microsoft.com/office/drawing/2014/main" id="{D51F2F89-1EE2-8A3F-254E-D042AF31CF8E}"/>
              </a:ext>
            </a:extLst>
          </p:cNvPr>
          <p:cNvSpPr/>
          <p:nvPr/>
        </p:nvSpPr>
        <p:spPr>
          <a:xfrm>
            <a:off x="4775200" y="5480181"/>
            <a:ext cx="932872" cy="50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9A60D5-413A-043A-76F8-9991EACDA9D5}"/>
              </a:ext>
            </a:extLst>
          </p:cNvPr>
          <p:cNvSpPr/>
          <p:nvPr/>
        </p:nvSpPr>
        <p:spPr>
          <a:xfrm>
            <a:off x="5851673" y="5702387"/>
            <a:ext cx="932872" cy="3012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6C0D58-7B87-6CE6-110E-3CA377C014EF}"/>
              </a:ext>
            </a:extLst>
          </p:cNvPr>
          <p:cNvSpPr/>
          <p:nvPr/>
        </p:nvSpPr>
        <p:spPr>
          <a:xfrm>
            <a:off x="6696362" y="5139775"/>
            <a:ext cx="1431637" cy="3012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B1E3922-29D3-2A54-9DFF-2A64169CD595}"/>
              </a:ext>
            </a:extLst>
          </p:cNvPr>
          <p:cNvSpPr/>
          <p:nvPr/>
        </p:nvSpPr>
        <p:spPr>
          <a:xfrm>
            <a:off x="7661563" y="5732614"/>
            <a:ext cx="932872" cy="2489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7980F59-0375-0854-AD08-CE2BC232C0AB}"/>
              </a:ext>
            </a:extLst>
          </p:cNvPr>
          <p:cNvSpPr/>
          <p:nvPr/>
        </p:nvSpPr>
        <p:spPr>
          <a:xfrm>
            <a:off x="6959896" y="5865331"/>
            <a:ext cx="932872" cy="1161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7778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DFCD2-F436-D623-E2E1-D3D6261C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2FA80-3095-218C-FAC4-4F031FF3C127}"/>
              </a:ext>
            </a:extLst>
          </p:cNvPr>
          <p:cNvSpPr>
            <a:spLocks noGrp="1"/>
          </p:cNvSpPr>
          <p:nvPr>
            <p:ph type="title"/>
          </p:nvPr>
        </p:nvSpPr>
        <p:spPr/>
        <p:txBody>
          <a:bodyPr/>
          <a:lstStyle/>
          <a:p>
            <a:r>
              <a:rPr lang="en-US" dirty="0"/>
              <a:t>Process Interactions</a:t>
            </a:r>
          </a:p>
        </p:txBody>
      </p:sp>
      <p:sp>
        <p:nvSpPr>
          <p:cNvPr id="3" name="Content Placeholder 2">
            <a:extLst>
              <a:ext uri="{FF2B5EF4-FFF2-40B4-BE49-F238E27FC236}">
                <a16:creationId xmlns:a16="http://schemas.microsoft.com/office/drawing/2014/main" id="{5BB9D261-E0B4-9D1D-9B62-6C6377F3469A}"/>
              </a:ext>
            </a:extLst>
          </p:cNvPr>
          <p:cNvSpPr>
            <a:spLocks noGrp="1"/>
          </p:cNvSpPr>
          <p:nvPr>
            <p:ph idx="1"/>
          </p:nvPr>
        </p:nvSpPr>
        <p:spPr>
          <a:xfrm>
            <a:off x="2302885" y="2272146"/>
            <a:ext cx="8915400" cy="3777622"/>
          </a:xfrm>
        </p:spPr>
        <p:txBody>
          <a:bodyPr/>
          <a:lstStyle/>
          <a:p>
            <a:endParaRPr lang="en-US"/>
          </a:p>
        </p:txBody>
      </p:sp>
      <p:pic>
        <p:nvPicPr>
          <p:cNvPr id="5" name="Picture 4">
            <a:extLst>
              <a:ext uri="{FF2B5EF4-FFF2-40B4-BE49-F238E27FC236}">
                <a16:creationId xmlns:a16="http://schemas.microsoft.com/office/drawing/2014/main" id="{8A3737DB-F932-7913-E383-7FBDB0A1D445}"/>
              </a:ext>
            </a:extLst>
          </p:cNvPr>
          <p:cNvPicPr>
            <a:picLocks noChangeAspect="1"/>
          </p:cNvPicPr>
          <p:nvPr/>
        </p:nvPicPr>
        <p:blipFill>
          <a:blip r:embed="rId2"/>
          <a:stretch>
            <a:fillRect/>
          </a:stretch>
        </p:blipFill>
        <p:spPr>
          <a:xfrm>
            <a:off x="2694998" y="1414896"/>
            <a:ext cx="6229350" cy="4305300"/>
          </a:xfrm>
          <a:prstGeom prst="rect">
            <a:avLst/>
          </a:prstGeom>
        </p:spPr>
      </p:pic>
    </p:spTree>
    <p:extLst>
      <p:ext uri="{BB962C8B-B14F-4D97-AF65-F5344CB8AC3E}">
        <p14:creationId xmlns:p14="http://schemas.microsoft.com/office/powerpoint/2010/main" val="3889716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12DA3-4450-FC35-D3E7-318833B0C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1AD50-C358-B448-0C7C-7DB0A93D74A2}"/>
              </a:ext>
            </a:extLst>
          </p:cNvPr>
          <p:cNvSpPr>
            <a:spLocks noGrp="1"/>
          </p:cNvSpPr>
          <p:nvPr>
            <p:ph type="title"/>
          </p:nvPr>
        </p:nvSpPr>
        <p:spPr/>
        <p:txBody>
          <a:bodyPr/>
          <a:lstStyle/>
          <a:p>
            <a:r>
              <a:rPr lang="en-US" dirty="0"/>
              <a:t>Event Diagram </a:t>
            </a:r>
          </a:p>
        </p:txBody>
      </p:sp>
      <p:sp>
        <p:nvSpPr>
          <p:cNvPr id="3" name="Content Placeholder 2">
            <a:extLst>
              <a:ext uri="{FF2B5EF4-FFF2-40B4-BE49-F238E27FC236}">
                <a16:creationId xmlns:a16="http://schemas.microsoft.com/office/drawing/2014/main" id="{D9475062-8EBD-A234-C502-626676B24DD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C3B7269-34FF-1531-05F8-994B7490C58F}"/>
              </a:ext>
            </a:extLst>
          </p:cNvPr>
          <p:cNvPicPr>
            <a:picLocks noChangeAspect="1"/>
          </p:cNvPicPr>
          <p:nvPr/>
        </p:nvPicPr>
        <p:blipFill>
          <a:blip r:embed="rId2"/>
          <a:stretch>
            <a:fillRect/>
          </a:stretch>
        </p:blipFill>
        <p:spPr>
          <a:xfrm>
            <a:off x="2812558" y="2392167"/>
            <a:ext cx="7829897" cy="3519055"/>
          </a:xfrm>
          <a:prstGeom prst="rect">
            <a:avLst/>
          </a:prstGeom>
        </p:spPr>
      </p:pic>
    </p:spTree>
    <p:extLst>
      <p:ext uri="{BB962C8B-B14F-4D97-AF65-F5344CB8AC3E}">
        <p14:creationId xmlns:p14="http://schemas.microsoft.com/office/powerpoint/2010/main" val="4183915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94E93-4EB3-D555-98C8-CE06F1DA8BFA}"/>
              </a:ext>
            </a:extLst>
          </p:cNvPr>
          <p:cNvSpPr>
            <a:spLocks noGrp="1"/>
          </p:cNvSpPr>
          <p:nvPr>
            <p:ph type="title"/>
          </p:nvPr>
        </p:nvSpPr>
        <p:spPr/>
        <p:txBody>
          <a:bodyPr/>
          <a:lstStyle/>
          <a:p>
            <a:r>
              <a:rPr lang="en-US" dirty="0"/>
              <a:t>Modelling Process Data</a:t>
            </a:r>
          </a:p>
        </p:txBody>
      </p:sp>
      <p:sp>
        <p:nvSpPr>
          <p:cNvPr id="3" name="Content Placeholder 2">
            <a:extLst>
              <a:ext uri="{FF2B5EF4-FFF2-40B4-BE49-F238E27FC236}">
                <a16:creationId xmlns:a16="http://schemas.microsoft.com/office/drawing/2014/main" id="{D369289B-A406-FA46-5C9F-39340925DC96}"/>
              </a:ext>
            </a:extLst>
          </p:cNvPr>
          <p:cNvSpPr>
            <a:spLocks noGrp="1"/>
          </p:cNvSpPr>
          <p:nvPr>
            <p:ph idx="1"/>
          </p:nvPr>
        </p:nvSpPr>
        <p:spPr/>
        <p:txBody>
          <a:bodyPr/>
          <a:lstStyle/>
          <a:p>
            <a:r>
              <a:rPr lang="en-US" dirty="0"/>
              <a:t>Business processes operate on data. </a:t>
            </a:r>
          </a:p>
          <a:p>
            <a:r>
              <a:rPr lang="en-US" dirty="0"/>
              <a:t>Explicitly representing </a:t>
            </a:r>
            <a:r>
              <a:rPr lang="en-US" b="1" dirty="0">
                <a:solidFill>
                  <a:srgbClr val="FF0000"/>
                </a:solidFill>
              </a:rPr>
              <a:t>data</a:t>
            </a:r>
            <a:r>
              <a:rPr lang="en-US" dirty="0"/>
              <a:t>, </a:t>
            </a:r>
            <a:r>
              <a:rPr lang="en-US" b="1" dirty="0">
                <a:solidFill>
                  <a:srgbClr val="FF0000"/>
                </a:solidFill>
              </a:rPr>
              <a:t>data types</a:t>
            </a:r>
            <a:r>
              <a:rPr lang="en-US" dirty="0"/>
              <a:t>, and </a:t>
            </a:r>
            <a:r>
              <a:rPr lang="en-US" b="1" dirty="0">
                <a:solidFill>
                  <a:srgbClr val="FF0000"/>
                </a:solidFill>
              </a:rPr>
              <a:t>data dependencies </a:t>
            </a:r>
            <a:r>
              <a:rPr lang="en-US" dirty="0"/>
              <a:t>between activities of a business process puts a business process management system in a position to control the transfer of relevant data as generated and processed during processes enactment.</a:t>
            </a:r>
          </a:p>
          <a:p>
            <a:r>
              <a:rPr lang="en-US" dirty="0"/>
              <a:t>Data modelling is at the core of database design. </a:t>
            </a:r>
          </a:p>
          <a:p>
            <a:r>
              <a:rPr lang="en-US" dirty="0"/>
              <a:t>The Entity Relationship approach is used to classify and organize data in a given application domain.</a:t>
            </a:r>
          </a:p>
        </p:txBody>
      </p:sp>
    </p:spTree>
    <p:extLst>
      <p:ext uri="{BB962C8B-B14F-4D97-AF65-F5344CB8AC3E}">
        <p14:creationId xmlns:p14="http://schemas.microsoft.com/office/powerpoint/2010/main" val="742809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9DC0-1B83-CC85-96DA-EDC9CB171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7EEBB-5243-9AEF-2F5C-2FBC79D08522}"/>
              </a:ext>
            </a:extLst>
          </p:cNvPr>
          <p:cNvSpPr>
            <a:spLocks noGrp="1"/>
          </p:cNvSpPr>
          <p:nvPr>
            <p:ph type="title"/>
          </p:nvPr>
        </p:nvSpPr>
        <p:spPr/>
        <p:txBody>
          <a:bodyPr/>
          <a:lstStyle/>
          <a:p>
            <a:r>
              <a:rPr lang="en-US" dirty="0"/>
              <a:t>Metamodel for Data</a:t>
            </a:r>
          </a:p>
        </p:txBody>
      </p:sp>
      <p:pic>
        <p:nvPicPr>
          <p:cNvPr id="5" name="Content Placeholder 4">
            <a:extLst>
              <a:ext uri="{FF2B5EF4-FFF2-40B4-BE49-F238E27FC236}">
                <a16:creationId xmlns:a16="http://schemas.microsoft.com/office/drawing/2014/main" id="{610599A0-E189-D63F-997D-886411D16C72}"/>
              </a:ext>
            </a:extLst>
          </p:cNvPr>
          <p:cNvPicPr>
            <a:picLocks noGrp="1" noChangeAspect="1"/>
          </p:cNvPicPr>
          <p:nvPr>
            <p:ph idx="1"/>
          </p:nvPr>
        </p:nvPicPr>
        <p:blipFill>
          <a:blip r:embed="rId2"/>
          <a:stretch>
            <a:fillRect/>
          </a:stretch>
        </p:blipFill>
        <p:spPr>
          <a:xfrm>
            <a:off x="3362707" y="1749100"/>
            <a:ext cx="7372121" cy="4484790"/>
          </a:xfrm>
        </p:spPr>
      </p:pic>
    </p:spTree>
    <p:extLst>
      <p:ext uri="{BB962C8B-B14F-4D97-AF65-F5344CB8AC3E}">
        <p14:creationId xmlns:p14="http://schemas.microsoft.com/office/powerpoint/2010/main" val="419175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435CF-33AD-5D18-5482-C5B479369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4C0F4-0F34-54A1-B365-A5F7DF7045A4}"/>
              </a:ext>
            </a:extLst>
          </p:cNvPr>
          <p:cNvSpPr>
            <a:spLocks noGrp="1"/>
          </p:cNvSpPr>
          <p:nvPr>
            <p:ph type="title"/>
          </p:nvPr>
        </p:nvSpPr>
        <p:spPr/>
        <p:txBody>
          <a:bodyPr/>
          <a:lstStyle/>
          <a:p>
            <a:r>
              <a:rPr lang="en-US" dirty="0"/>
              <a:t>Modelling Process Data</a:t>
            </a:r>
          </a:p>
        </p:txBody>
      </p:sp>
      <p:sp>
        <p:nvSpPr>
          <p:cNvPr id="3" name="Content Placeholder 2">
            <a:extLst>
              <a:ext uri="{FF2B5EF4-FFF2-40B4-BE49-F238E27FC236}">
                <a16:creationId xmlns:a16="http://schemas.microsoft.com/office/drawing/2014/main" id="{26E67082-6CCD-B32F-9109-18051D2B7604}"/>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F92F0C14-BAB7-F921-3C5E-03F8E74D9E68}"/>
              </a:ext>
            </a:extLst>
          </p:cNvPr>
          <p:cNvPicPr>
            <a:picLocks noChangeAspect="1"/>
          </p:cNvPicPr>
          <p:nvPr/>
        </p:nvPicPr>
        <p:blipFill>
          <a:blip r:embed="rId2"/>
          <a:stretch>
            <a:fillRect/>
          </a:stretch>
        </p:blipFill>
        <p:spPr>
          <a:xfrm>
            <a:off x="2387043" y="2344187"/>
            <a:ext cx="9319737" cy="3356448"/>
          </a:xfrm>
          <a:prstGeom prst="rect">
            <a:avLst/>
          </a:prstGeom>
        </p:spPr>
      </p:pic>
    </p:spTree>
    <p:extLst>
      <p:ext uri="{BB962C8B-B14F-4D97-AF65-F5344CB8AC3E}">
        <p14:creationId xmlns:p14="http://schemas.microsoft.com/office/powerpoint/2010/main" val="3217723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B7297-52D1-1BBC-2D7A-B260CD3DB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21150-E6F8-DE6E-C16C-66D0F572A2A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1C9C566-160F-3F86-B338-57D79D5C6E1A}"/>
              </a:ext>
            </a:extLst>
          </p:cNvPr>
          <p:cNvSpPr>
            <a:spLocks noGrp="1"/>
          </p:cNvSpPr>
          <p:nvPr>
            <p:ph idx="1"/>
          </p:nvPr>
        </p:nvSpPr>
        <p:spPr/>
        <p:txBody>
          <a:bodyPr/>
          <a:lstStyle/>
          <a:p>
            <a:r>
              <a:rPr lang="en-US" dirty="0"/>
              <a:t>To organize data-related issues in business process management, workflow data patterns have been introduced.</a:t>
            </a:r>
          </a:p>
          <a:p>
            <a:r>
              <a:rPr lang="en-US" dirty="0"/>
              <a:t> </a:t>
            </a:r>
            <a:r>
              <a:rPr lang="en-US" b="1" dirty="0"/>
              <a:t>Purpose:</a:t>
            </a:r>
            <a:r>
              <a:rPr lang="en-US" dirty="0"/>
              <a:t> how to handle data in business processes.</a:t>
            </a:r>
          </a:p>
          <a:p>
            <a:r>
              <a:rPr lang="en-US" dirty="0"/>
              <a:t> They are organized according to the dimensions: </a:t>
            </a:r>
          </a:p>
          <a:p>
            <a:r>
              <a:rPr lang="en-US" dirty="0"/>
              <a:t> 		</a:t>
            </a:r>
            <a:r>
              <a:rPr lang="en-US" b="1" dirty="0"/>
              <a:t>Data visibility</a:t>
            </a:r>
          </a:p>
          <a:p>
            <a:r>
              <a:rPr lang="en-US" b="1" dirty="0"/>
              <a:t> 		Data interaction</a:t>
            </a:r>
          </a:p>
          <a:p>
            <a:r>
              <a:rPr lang="en-US" b="1" dirty="0"/>
              <a:t> 		Data transfer</a:t>
            </a:r>
          </a:p>
          <a:p>
            <a:r>
              <a:rPr lang="en-US" b="1" dirty="0"/>
              <a:t> 		Data-based routing.</a:t>
            </a:r>
          </a:p>
        </p:txBody>
      </p:sp>
      <p:pic>
        <p:nvPicPr>
          <p:cNvPr id="5" name="Picture 4">
            <a:extLst>
              <a:ext uri="{FF2B5EF4-FFF2-40B4-BE49-F238E27FC236}">
                <a16:creationId xmlns:a16="http://schemas.microsoft.com/office/drawing/2014/main" id="{71FDBC08-3F1C-1D13-97CF-220CD6C4D676}"/>
              </a:ext>
            </a:extLst>
          </p:cNvPr>
          <p:cNvPicPr>
            <a:picLocks noChangeAspect="1"/>
          </p:cNvPicPr>
          <p:nvPr/>
        </p:nvPicPr>
        <p:blipFill>
          <a:blip r:embed="rId2"/>
          <a:stretch>
            <a:fillRect/>
          </a:stretch>
        </p:blipFill>
        <p:spPr>
          <a:xfrm>
            <a:off x="2682402" y="747307"/>
            <a:ext cx="5562600" cy="752475"/>
          </a:xfrm>
          <a:prstGeom prst="rect">
            <a:avLst/>
          </a:prstGeom>
        </p:spPr>
      </p:pic>
    </p:spTree>
    <p:extLst>
      <p:ext uri="{BB962C8B-B14F-4D97-AF65-F5344CB8AC3E}">
        <p14:creationId xmlns:p14="http://schemas.microsoft.com/office/powerpoint/2010/main" val="527891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DDA25-7AAC-90F7-D852-984D414C8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5EA32-08BF-79D5-E05D-D41107711A19}"/>
              </a:ext>
            </a:extLst>
          </p:cNvPr>
          <p:cNvSpPr>
            <a:spLocks noGrp="1"/>
          </p:cNvSpPr>
          <p:nvPr>
            <p:ph type="title"/>
          </p:nvPr>
        </p:nvSpPr>
        <p:spPr/>
        <p:txBody>
          <a:bodyPr/>
          <a:lstStyle/>
          <a:p>
            <a:r>
              <a:rPr lang="en-US" dirty="0"/>
              <a:t>Data Visibility</a:t>
            </a:r>
          </a:p>
        </p:txBody>
      </p:sp>
      <p:sp>
        <p:nvSpPr>
          <p:cNvPr id="3" name="Content Placeholder 2">
            <a:extLst>
              <a:ext uri="{FF2B5EF4-FFF2-40B4-BE49-F238E27FC236}">
                <a16:creationId xmlns:a16="http://schemas.microsoft.com/office/drawing/2014/main" id="{27809884-E65E-A90A-8669-80CBBE4BF7EF}"/>
              </a:ext>
            </a:extLst>
          </p:cNvPr>
          <p:cNvSpPr>
            <a:spLocks noGrp="1"/>
          </p:cNvSpPr>
          <p:nvPr>
            <p:ph idx="1"/>
          </p:nvPr>
        </p:nvSpPr>
        <p:spPr>
          <a:xfrm>
            <a:off x="2589212" y="2133599"/>
            <a:ext cx="8915400" cy="4488873"/>
          </a:xfrm>
        </p:spPr>
        <p:txBody>
          <a:bodyPr>
            <a:normAutofit fontScale="77500" lnSpcReduction="20000"/>
          </a:bodyPr>
          <a:lstStyle/>
          <a:p>
            <a:r>
              <a:rPr lang="en-US" dirty="0"/>
              <a:t>The most important workflow data patterns regarding data visibility are as follows.</a:t>
            </a:r>
          </a:p>
          <a:p>
            <a:pPr marL="0" indent="0">
              <a:buNone/>
            </a:pPr>
            <a:r>
              <a:rPr lang="en-US" b="1" dirty="0"/>
              <a:t>1. Task data:</a:t>
            </a:r>
            <a:r>
              <a:rPr lang="en-US" dirty="0"/>
              <a:t> The data object is local to a particular activity; it is not visible to other activities of the same process or other processes.</a:t>
            </a:r>
          </a:p>
          <a:p>
            <a:pPr marL="0" indent="0">
              <a:buNone/>
            </a:pPr>
            <a:r>
              <a:rPr lang="en-US" dirty="0"/>
              <a:t> </a:t>
            </a:r>
          </a:p>
          <a:p>
            <a:pPr marL="0" indent="0">
              <a:buNone/>
            </a:pPr>
            <a:r>
              <a:rPr lang="en-US" b="1" dirty="0"/>
              <a:t>2. Block data:</a:t>
            </a:r>
            <a:r>
              <a:rPr lang="en-US" dirty="0"/>
              <a:t> The data object is visible to all activities of a given subprocess.</a:t>
            </a:r>
          </a:p>
          <a:p>
            <a:pPr marL="0" indent="0">
              <a:buNone/>
            </a:pPr>
            <a:endParaRPr lang="en-US" b="1" dirty="0"/>
          </a:p>
          <a:p>
            <a:pPr marL="0" indent="0">
              <a:buNone/>
            </a:pPr>
            <a:r>
              <a:rPr lang="en-US" b="1" dirty="0"/>
              <a:t>3. Workflow data:</a:t>
            </a:r>
            <a:r>
              <a:rPr lang="en-US" dirty="0"/>
              <a:t> The data object is visible to all activities of a given business process, but access is restricted by the business process management system, as defined in the business process model.</a:t>
            </a:r>
          </a:p>
          <a:p>
            <a:pPr marL="0" indent="0">
              <a:buNone/>
            </a:pPr>
            <a:endParaRPr lang="en-US" b="1" dirty="0"/>
          </a:p>
          <a:p>
            <a:pPr marL="0" indent="0">
              <a:buNone/>
            </a:pPr>
            <a:r>
              <a:rPr lang="en-US" b="1" dirty="0"/>
              <a:t>4. Environment data:</a:t>
            </a:r>
            <a:r>
              <a:rPr lang="en-US" dirty="0"/>
              <a:t> Data elements which exist in the external operating environment are able to be accessed by components of processes during execution.</a:t>
            </a:r>
          </a:p>
        </p:txBody>
      </p:sp>
    </p:spTree>
    <p:extLst>
      <p:ext uri="{BB962C8B-B14F-4D97-AF65-F5344CB8AC3E}">
        <p14:creationId xmlns:p14="http://schemas.microsoft.com/office/powerpoint/2010/main" val="561154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63F32-C732-8B48-90E9-E2488124A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29757-29F0-7ED5-6A00-EB6505B9C0B6}"/>
              </a:ext>
            </a:extLst>
          </p:cNvPr>
          <p:cNvSpPr>
            <a:spLocks noGrp="1"/>
          </p:cNvSpPr>
          <p:nvPr>
            <p:ph type="title"/>
          </p:nvPr>
        </p:nvSpPr>
        <p:spPr/>
        <p:txBody>
          <a:bodyPr/>
          <a:lstStyle/>
          <a:p>
            <a:r>
              <a:rPr lang="en-US" dirty="0"/>
              <a:t>Data Visibility</a:t>
            </a:r>
            <a:endParaRPr lang="en-US" dirty="0"/>
          </a:p>
        </p:txBody>
      </p:sp>
      <p:sp>
        <p:nvSpPr>
          <p:cNvPr id="3" name="Content Placeholder 2">
            <a:extLst>
              <a:ext uri="{FF2B5EF4-FFF2-40B4-BE49-F238E27FC236}">
                <a16:creationId xmlns:a16="http://schemas.microsoft.com/office/drawing/2014/main" id="{1908DEF2-96F0-49C2-CCC4-7EBB8B3A108C}"/>
              </a:ext>
            </a:extLst>
          </p:cNvPr>
          <p:cNvSpPr>
            <a:spLocks noGrp="1"/>
          </p:cNvSpPr>
          <p:nvPr>
            <p:ph idx="1"/>
          </p:nvPr>
        </p:nvSpPr>
        <p:spPr/>
        <p:txBody>
          <a:bodyPr/>
          <a:lstStyle/>
          <a:p>
            <a:pPr marL="0" indent="0">
              <a:buNone/>
            </a:pPr>
            <a:r>
              <a:rPr lang="en-US" dirty="0"/>
              <a:t>5. Scope </a:t>
            </a:r>
            <a:r>
              <a:rPr lang="en-US" dirty="0"/>
              <a:t>Data</a:t>
            </a:r>
          </a:p>
          <a:p>
            <a:pPr marL="0" indent="0">
              <a:buNone/>
            </a:pPr>
            <a:r>
              <a:rPr lang="en-US" dirty="0"/>
              <a:t>6. Multiple </a:t>
            </a:r>
            <a:r>
              <a:rPr lang="en-US" dirty="0"/>
              <a:t>Instance Data</a:t>
            </a:r>
          </a:p>
          <a:p>
            <a:pPr marL="0" indent="0">
              <a:buNone/>
            </a:pPr>
            <a:r>
              <a:rPr lang="en-US" dirty="0"/>
              <a:t>7. Case </a:t>
            </a:r>
            <a:r>
              <a:rPr lang="en-US" dirty="0"/>
              <a:t>Data</a:t>
            </a:r>
          </a:p>
          <a:p>
            <a:pPr marL="0" indent="0">
              <a:buNone/>
            </a:pPr>
            <a:r>
              <a:rPr lang="en-US" dirty="0"/>
              <a:t>8. Folder </a:t>
            </a:r>
            <a:r>
              <a:rPr lang="en-US" dirty="0"/>
              <a:t>Data</a:t>
            </a:r>
          </a:p>
          <a:p>
            <a:endParaRPr lang="en-US" dirty="0"/>
          </a:p>
        </p:txBody>
      </p:sp>
      <p:pic>
        <p:nvPicPr>
          <p:cNvPr id="4" name="Picture 3"/>
          <p:cNvPicPr>
            <a:picLocks noChangeAspect="1"/>
          </p:cNvPicPr>
          <p:nvPr/>
        </p:nvPicPr>
        <p:blipFill>
          <a:blip r:embed="rId2"/>
          <a:stretch>
            <a:fillRect/>
          </a:stretch>
        </p:blipFill>
        <p:spPr>
          <a:xfrm>
            <a:off x="4797199" y="515937"/>
            <a:ext cx="6772646" cy="5661026"/>
          </a:xfrm>
          <a:prstGeom prst="rect">
            <a:avLst/>
          </a:prstGeom>
        </p:spPr>
      </p:pic>
    </p:spTree>
    <p:extLst>
      <p:ext uri="{BB962C8B-B14F-4D97-AF65-F5344CB8AC3E}">
        <p14:creationId xmlns:p14="http://schemas.microsoft.com/office/powerpoint/2010/main" val="1626561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F1EC0-ED79-DE48-AFA6-30125366E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A83EA-9FDF-BDE7-881B-0EE935D76EFD}"/>
              </a:ext>
            </a:extLst>
          </p:cNvPr>
          <p:cNvSpPr>
            <a:spLocks noGrp="1"/>
          </p:cNvSpPr>
          <p:nvPr>
            <p:ph type="title"/>
          </p:nvPr>
        </p:nvSpPr>
        <p:spPr/>
        <p:txBody>
          <a:bodyPr/>
          <a:lstStyle/>
          <a:p>
            <a:r>
              <a:rPr lang="en-US" b="1" dirty="0"/>
              <a:t>Data </a:t>
            </a:r>
            <a:r>
              <a:rPr lang="en-US" b="1" dirty="0" smtClean="0"/>
              <a:t>Interaction</a:t>
            </a:r>
            <a:endParaRPr lang="en-US" dirty="0"/>
          </a:p>
        </p:txBody>
      </p:sp>
      <p:sp>
        <p:nvSpPr>
          <p:cNvPr id="3" name="Content Placeholder 2">
            <a:extLst>
              <a:ext uri="{FF2B5EF4-FFF2-40B4-BE49-F238E27FC236}">
                <a16:creationId xmlns:a16="http://schemas.microsoft.com/office/drawing/2014/main" id="{E9A97A51-C9A4-AB83-A462-2D35B8EE9502}"/>
              </a:ext>
            </a:extLst>
          </p:cNvPr>
          <p:cNvSpPr>
            <a:spLocks noGrp="1"/>
          </p:cNvSpPr>
          <p:nvPr>
            <p:ph idx="1"/>
          </p:nvPr>
        </p:nvSpPr>
        <p:spPr/>
        <p:txBody>
          <a:bodyPr/>
          <a:lstStyle/>
          <a:p>
            <a:r>
              <a:rPr lang="en-US" dirty="0"/>
              <a:t>T</a:t>
            </a:r>
            <a:r>
              <a:rPr lang="en-US" dirty="0" smtClean="0"/>
              <a:t>he </a:t>
            </a:r>
            <a:r>
              <a:rPr lang="en-US" dirty="0"/>
              <a:t>various ways in which data elements can be passed between components in a process and how the characteristics of the individual components can influence the manner in which the trafficking of data elements occurs</a:t>
            </a:r>
            <a:r>
              <a:rPr lang="en-US" dirty="0" smtClean="0"/>
              <a:t>.</a:t>
            </a:r>
          </a:p>
          <a:p>
            <a:r>
              <a:rPr lang="en-US" dirty="0"/>
              <a:t>Of particular interest is the distinction between the communication of data between components within a process as against the data-oriented interaction of a process element with the external environment.</a:t>
            </a:r>
            <a:endParaRPr lang="en-US" dirty="0"/>
          </a:p>
        </p:txBody>
      </p:sp>
    </p:spTree>
    <p:extLst>
      <p:ext uri="{BB962C8B-B14F-4D97-AF65-F5344CB8AC3E}">
        <p14:creationId xmlns:p14="http://schemas.microsoft.com/office/powerpoint/2010/main" val="3035168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Interaction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a:solidFill>
                  <a:schemeClr val="tx1"/>
                </a:solidFill>
              </a:rPr>
              <a:t>Data Interaction - Task to Environment - Push-Oriented</a:t>
            </a:r>
          </a:p>
          <a:p>
            <a:r>
              <a:rPr lang="en-US" dirty="0">
                <a:solidFill>
                  <a:schemeClr val="tx1"/>
                </a:solidFill>
              </a:rPr>
              <a:t>Data Interaction - Environment to Task - Pull-Oriented</a:t>
            </a:r>
          </a:p>
          <a:p>
            <a:r>
              <a:rPr lang="en-US" dirty="0">
                <a:solidFill>
                  <a:schemeClr val="tx1"/>
                </a:solidFill>
              </a:rPr>
              <a:t>Data Interaction - Environment to Task - Push-Oriented</a:t>
            </a:r>
          </a:p>
          <a:p>
            <a:r>
              <a:rPr lang="en-US" dirty="0">
                <a:solidFill>
                  <a:schemeClr val="tx1"/>
                </a:solidFill>
              </a:rPr>
              <a:t>Data Interaction - Task to Environment - Pull-Oriented</a:t>
            </a:r>
          </a:p>
          <a:p>
            <a:r>
              <a:rPr lang="en-US" dirty="0">
                <a:solidFill>
                  <a:schemeClr val="tx1"/>
                </a:solidFill>
              </a:rPr>
              <a:t>Data Interaction - Case to Environment - Push-Oriented</a:t>
            </a:r>
          </a:p>
          <a:p>
            <a:r>
              <a:rPr lang="en-US" dirty="0">
                <a:solidFill>
                  <a:schemeClr val="tx1"/>
                </a:solidFill>
              </a:rPr>
              <a:t>Data Interaction - Environment to Case - Pull-Oriented</a:t>
            </a:r>
          </a:p>
          <a:p>
            <a:r>
              <a:rPr lang="en-US" dirty="0">
                <a:solidFill>
                  <a:schemeClr val="tx1"/>
                </a:solidFill>
              </a:rPr>
              <a:t>Data Interaction - Environment to Case - Push-Oriented</a:t>
            </a:r>
          </a:p>
          <a:p>
            <a:r>
              <a:rPr lang="en-US" dirty="0">
                <a:solidFill>
                  <a:schemeClr val="tx1"/>
                </a:solidFill>
              </a:rPr>
              <a:t>Data Interaction - Case to Environment - Pull-Oriented</a:t>
            </a:r>
          </a:p>
          <a:p>
            <a:r>
              <a:rPr lang="en-US" dirty="0">
                <a:solidFill>
                  <a:schemeClr val="tx1"/>
                </a:solidFill>
              </a:rPr>
              <a:t>Data Interaction - Workflow to Environment - Push-Oriented</a:t>
            </a:r>
          </a:p>
          <a:p>
            <a:r>
              <a:rPr lang="en-US" dirty="0">
                <a:solidFill>
                  <a:schemeClr val="tx1"/>
                </a:solidFill>
              </a:rPr>
              <a:t>Data Interaction - Environment to Workflow - Pull-Oriented</a:t>
            </a:r>
          </a:p>
          <a:p>
            <a:r>
              <a:rPr lang="en-US" dirty="0">
                <a:solidFill>
                  <a:schemeClr val="tx1"/>
                </a:solidFill>
              </a:rPr>
              <a:t>Data Interaction - Environment to Workflow - Push-Oriented</a:t>
            </a:r>
          </a:p>
          <a:p>
            <a:r>
              <a:rPr lang="en-US" dirty="0">
                <a:solidFill>
                  <a:schemeClr val="tx1"/>
                </a:solidFill>
              </a:rPr>
              <a:t>Data Interaction - Workflow to Environment - Pull-Oriented</a:t>
            </a:r>
          </a:p>
          <a:p>
            <a:endParaRPr lang="en-US" dirty="0">
              <a:solidFill>
                <a:schemeClr val="tx1"/>
              </a:solidFill>
            </a:endParaRPr>
          </a:p>
        </p:txBody>
      </p:sp>
    </p:spTree>
    <p:extLst>
      <p:ext uri="{BB962C8B-B14F-4D97-AF65-F5344CB8AC3E}">
        <p14:creationId xmlns:p14="http://schemas.microsoft.com/office/powerpoint/2010/main" val="1442836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65077-03AD-B19D-58BC-5CE1741AE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A7B2E-7E40-D7B7-2559-1883240EBBC4}"/>
              </a:ext>
            </a:extLst>
          </p:cNvPr>
          <p:cNvSpPr>
            <a:spLocks noGrp="1"/>
          </p:cNvSpPr>
          <p:nvPr>
            <p:ph type="title"/>
          </p:nvPr>
        </p:nvSpPr>
        <p:spPr/>
        <p:txBody>
          <a:bodyPr/>
          <a:lstStyle/>
          <a:p>
            <a:r>
              <a:rPr lang="en-US" b="1" dirty="0"/>
              <a:t>Data </a:t>
            </a:r>
            <a:r>
              <a:rPr lang="en-US" b="1" dirty="0" smtClean="0"/>
              <a:t>Transfer</a:t>
            </a:r>
            <a:endParaRPr lang="en-US" dirty="0"/>
          </a:p>
        </p:txBody>
      </p:sp>
      <p:sp>
        <p:nvSpPr>
          <p:cNvPr id="3" name="Content Placeholder 2">
            <a:extLst>
              <a:ext uri="{FF2B5EF4-FFF2-40B4-BE49-F238E27FC236}">
                <a16:creationId xmlns:a16="http://schemas.microsoft.com/office/drawing/2014/main" id="{FE79D301-5F8F-9CBE-7716-2E0463F389A6}"/>
              </a:ext>
            </a:extLst>
          </p:cNvPr>
          <p:cNvSpPr>
            <a:spLocks noGrp="1"/>
          </p:cNvSpPr>
          <p:nvPr>
            <p:ph idx="1"/>
          </p:nvPr>
        </p:nvSpPr>
        <p:spPr/>
        <p:txBody>
          <a:bodyPr/>
          <a:lstStyle/>
          <a:p>
            <a:r>
              <a:rPr lang="en-US" dirty="0"/>
              <a:t>Here we consider the manner in which the actual transfer of data elements occurs between one process component and </a:t>
            </a:r>
            <a:r>
              <a:rPr lang="en-US" dirty="0" smtClean="0"/>
              <a:t>another.</a:t>
            </a:r>
          </a:p>
          <a:p>
            <a:endParaRPr lang="en-US" dirty="0" smtClean="0">
              <a:solidFill>
                <a:schemeClr val="tx1"/>
              </a:solidFill>
            </a:endParaRPr>
          </a:p>
          <a:p>
            <a:r>
              <a:rPr lang="en-US" dirty="0" smtClean="0">
                <a:solidFill>
                  <a:schemeClr val="tx1"/>
                </a:solidFill>
              </a:rPr>
              <a:t>Data </a:t>
            </a:r>
            <a:r>
              <a:rPr lang="en-US" dirty="0">
                <a:solidFill>
                  <a:schemeClr val="tx1"/>
                </a:solidFill>
              </a:rPr>
              <a:t>Transfer by Value - Incoming</a:t>
            </a:r>
          </a:p>
          <a:p>
            <a:r>
              <a:rPr lang="en-US" dirty="0">
                <a:solidFill>
                  <a:schemeClr val="tx1"/>
                </a:solidFill>
              </a:rPr>
              <a:t>Data Transfer by Value - Outgoing</a:t>
            </a:r>
          </a:p>
          <a:p>
            <a:r>
              <a:rPr lang="en-US" dirty="0">
                <a:solidFill>
                  <a:schemeClr val="tx1"/>
                </a:solidFill>
              </a:rPr>
              <a:t>Data Transfer - Copy In/Copy Out</a:t>
            </a:r>
          </a:p>
          <a:p>
            <a:r>
              <a:rPr lang="en-US" dirty="0">
                <a:solidFill>
                  <a:schemeClr val="tx1"/>
                </a:solidFill>
              </a:rPr>
              <a:t>Data Transfer by Reference - Unlocked</a:t>
            </a:r>
          </a:p>
          <a:p>
            <a:r>
              <a:rPr lang="en-US" dirty="0">
                <a:solidFill>
                  <a:schemeClr val="tx1"/>
                </a:solidFill>
              </a:rPr>
              <a:t>Data Transfer by Reference - With Lock</a:t>
            </a:r>
          </a:p>
          <a:p>
            <a:endParaRPr lang="en-US" dirty="0">
              <a:solidFill>
                <a:schemeClr val="tx1"/>
              </a:solidFill>
            </a:endParaRPr>
          </a:p>
        </p:txBody>
      </p:sp>
    </p:spTree>
    <p:extLst>
      <p:ext uri="{BB962C8B-B14F-4D97-AF65-F5344CB8AC3E}">
        <p14:creationId xmlns:p14="http://schemas.microsoft.com/office/powerpoint/2010/main" val="363678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3FC5-0415-68C3-9874-DC08A6481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21D3B-223A-AEC9-6B25-DD50A696253D}"/>
              </a:ext>
            </a:extLst>
          </p:cNvPr>
          <p:cNvSpPr>
            <a:spLocks noGrp="1"/>
          </p:cNvSpPr>
          <p:nvPr>
            <p:ph type="title"/>
          </p:nvPr>
        </p:nvSpPr>
        <p:spPr/>
        <p:txBody>
          <a:bodyPr/>
          <a:lstStyle/>
          <a:p>
            <a:r>
              <a:rPr lang="en-US" b="1" dirty="0"/>
              <a:t>Data-based Routing</a:t>
            </a:r>
            <a:br>
              <a:rPr lang="en-US" b="1" dirty="0"/>
            </a:br>
            <a:endParaRPr lang="en-US" dirty="0"/>
          </a:p>
        </p:txBody>
      </p:sp>
      <p:sp>
        <p:nvSpPr>
          <p:cNvPr id="3" name="Content Placeholder 2">
            <a:extLst>
              <a:ext uri="{FF2B5EF4-FFF2-40B4-BE49-F238E27FC236}">
                <a16:creationId xmlns:a16="http://schemas.microsoft.com/office/drawing/2014/main" id="{BA7819D6-1A17-E91E-8FEA-B83FE73539FB}"/>
              </a:ext>
            </a:extLst>
          </p:cNvPr>
          <p:cNvSpPr>
            <a:spLocks noGrp="1"/>
          </p:cNvSpPr>
          <p:nvPr>
            <p:ph idx="1"/>
          </p:nvPr>
        </p:nvSpPr>
        <p:spPr/>
        <p:txBody>
          <a:bodyPr/>
          <a:lstStyle/>
          <a:p>
            <a:r>
              <a:rPr lang="en-US" dirty="0"/>
              <a:t>T</a:t>
            </a:r>
            <a:r>
              <a:rPr lang="en-US" dirty="0" smtClean="0"/>
              <a:t>he </a:t>
            </a:r>
            <a:r>
              <a:rPr lang="en-US" dirty="0"/>
              <a:t>various ways in which data elements can interact with other perspectives and influence the overall operation of a process instance</a:t>
            </a:r>
            <a:r>
              <a:rPr lang="en-US" dirty="0" smtClean="0"/>
              <a:t>.</a:t>
            </a:r>
          </a:p>
          <a:p>
            <a:endParaRPr lang="en-US" dirty="0"/>
          </a:p>
          <a:p>
            <a:r>
              <a:rPr lang="en-US" dirty="0">
                <a:solidFill>
                  <a:schemeClr val="tx1"/>
                </a:solidFill>
              </a:rPr>
              <a:t>Task Precondition - Data Existence</a:t>
            </a:r>
          </a:p>
          <a:p>
            <a:r>
              <a:rPr lang="en-US" dirty="0">
                <a:solidFill>
                  <a:schemeClr val="tx1"/>
                </a:solidFill>
              </a:rPr>
              <a:t>Task Precondition - Data Value</a:t>
            </a:r>
          </a:p>
          <a:p>
            <a:r>
              <a:rPr lang="en-US" dirty="0">
                <a:solidFill>
                  <a:schemeClr val="tx1"/>
                </a:solidFill>
              </a:rPr>
              <a:t>Task </a:t>
            </a:r>
            <a:r>
              <a:rPr lang="en-US" dirty="0" err="1">
                <a:solidFill>
                  <a:schemeClr val="tx1"/>
                </a:solidFill>
              </a:rPr>
              <a:t>Postcondition</a:t>
            </a:r>
            <a:r>
              <a:rPr lang="en-US" dirty="0">
                <a:solidFill>
                  <a:schemeClr val="tx1"/>
                </a:solidFill>
              </a:rPr>
              <a:t> - Data Existence</a:t>
            </a:r>
          </a:p>
          <a:p>
            <a:r>
              <a:rPr lang="en-US" dirty="0">
                <a:solidFill>
                  <a:schemeClr val="tx1"/>
                </a:solidFill>
              </a:rPr>
              <a:t>Task </a:t>
            </a:r>
            <a:r>
              <a:rPr lang="en-US" dirty="0" err="1">
                <a:solidFill>
                  <a:schemeClr val="tx1"/>
                </a:solidFill>
              </a:rPr>
              <a:t>Postcondition</a:t>
            </a:r>
            <a:r>
              <a:rPr lang="en-US" dirty="0">
                <a:solidFill>
                  <a:schemeClr val="tx1"/>
                </a:solidFill>
              </a:rPr>
              <a:t> - Data Value</a:t>
            </a:r>
          </a:p>
          <a:p>
            <a:endParaRPr lang="en-US" dirty="0"/>
          </a:p>
        </p:txBody>
      </p:sp>
    </p:spTree>
    <p:extLst>
      <p:ext uri="{BB962C8B-B14F-4D97-AF65-F5344CB8AC3E}">
        <p14:creationId xmlns:p14="http://schemas.microsoft.com/office/powerpoint/2010/main" val="2300540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1103</Words>
  <Application>Microsoft Office PowerPoint</Application>
  <PresentationFormat>Widescreen</PresentationFormat>
  <Paragraphs>113</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PowerPoint Presentation</vt:lpstr>
      <vt:lpstr>Process Models</vt:lpstr>
      <vt:lpstr>PowerPoint Presentation</vt:lpstr>
      <vt:lpstr>PowerPoint Presentation</vt:lpstr>
      <vt:lpstr>PowerPoint Presentation</vt:lpstr>
      <vt:lpstr>Gateways</vt:lpstr>
      <vt:lpstr>PowerPoint Presentation</vt:lpstr>
      <vt:lpstr>Exclusive Gateway</vt:lpstr>
      <vt:lpstr>Inclusive Gateway</vt:lpstr>
      <vt:lpstr>Parallel Gateway</vt:lpstr>
      <vt:lpstr>Event Based Gateway</vt:lpstr>
      <vt:lpstr>Complex Gateways</vt:lpstr>
      <vt:lpstr>Parallel Start Gateway</vt:lpstr>
      <vt:lpstr>Example </vt:lpstr>
      <vt:lpstr>Process Interactions</vt:lpstr>
      <vt:lpstr>Event Diagram </vt:lpstr>
      <vt:lpstr>Modelling Process Data</vt:lpstr>
      <vt:lpstr>Metamodel for Data</vt:lpstr>
      <vt:lpstr>Modelling Process Data</vt:lpstr>
      <vt:lpstr>PowerPoint Presentation</vt:lpstr>
      <vt:lpstr>Data Visibility</vt:lpstr>
      <vt:lpstr>Data Visibility</vt:lpstr>
      <vt:lpstr>Data Interaction</vt:lpstr>
      <vt:lpstr>Data Interaction</vt:lpstr>
      <vt:lpstr>Data Transfer</vt:lpstr>
      <vt:lpstr>Data-based Routing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Dr.Abdul Aziz</dc:creator>
  <cp:lastModifiedBy>Dr.Abdul Aziz</cp:lastModifiedBy>
  <cp:revision>1</cp:revision>
  <dcterms:created xsi:type="dcterms:W3CDTF">2025-04-15T09:11:22Z</dcterms:created>
  <dcterms:modified xsi:type="dcterms:W3CDTF">2025-04-15T09:11:43Z</dcterms:modified>
</cp:coreProperties>
</file>