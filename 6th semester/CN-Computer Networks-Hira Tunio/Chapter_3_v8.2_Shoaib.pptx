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3"/>
  </p:notesMasterIdLst>
  <p:sldIdLst>
    <p:sldId id="960"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9" r:id="rId18"/>
    <p:sldId id="1230" r:id="rId19"/>
    <p:sldId id="1225" r:id="rId20"/>
    <p:sldId id="1226" r:id="rId21"/>
    <p:sldId id="1227" r:id="rId22"/>
    <p:sldId id="1051" r:id="rId23"/>
    <p:sldId id="1052" r:id="rId24"/>
    <p:sldId id="1216" r:id="rId25"/>
    <p:sldId id="1054" r:id="rId26"/>
    <p:sldId id="1055" r:id="rId27"/>
    <p:sldId id="1160" r:id="rId28"/>
    <p:sldId id="1042" r:id="rId29"/>
    <p:sldId id="1161" r:id="rId30"/>
    <p:sldId id="1162" r:id="rId31"/>
    <p:sldId id="1163" r:id="rId32"/>
    <p:sldId id="1164" r:id="rId33"/>
    <p:sldId id="1165" r:id="rId34"/>
    <p:sldId id="1166" r:id="rId35"/>
    <p:sldId id="1167" r:id="rId36"/>
    <p:sldId id="1058" r:id="rId37"/>
    <p:sldId id="1168" r:id="rId38"/>
    <p:sldId id="1169" r:id="rId39"/>
    <p:sldId id="1170" r:id="rId40"/>
    <p:sldId id="1171" r:id="rId41"/>
    <p:sldId id="1043" r:id="rId42"/>
    <p:sldId id="1061" r:id="rId43"/>
    <p:sldId id="1213" r:id="rId44"/>
    <p:sldId id="1214" r:id="rId45"/>
    <p:sldId id="1215" r:id="rId46"/>
    <p:sldId id="1062" r:id="rId47"/>
    <p:sldId id="1063" r:id="rId48"/>
    <p:sldId id="1064" r:id="rId49"/>
    <p:sldId id="1066" r:id="rId50"/>
    <p:sldId id="1065" r:id="rId51"/>
    <p:sldId id="1067" r:id="rId52"/>
    <p:sldId id="1083" r:id="rId53"/>
    <p:sldId id="1068" r:id="rId54"/>
    <p:sldId id="1069" r:id="rId55"/>
    <p:sldId id="1070" r:id="rId56"/>
    <p:sldId id="1071" r:id="rId57"/>
    <p:sldId id="1072" r:id="rId58"/>
    <p:sldId id="1073" r:id="rId59"/>
    <p:sldId id="1074" r:id="rId60"/>
    <p:sldId id="1075" r:id="rId61"/>
    <p:sldId id="1076" r:id="rId62"/>
    <p:sldId id="1204" r:id="rId63"/>
    <p:sldId id="1103" r:id="rId64"/>
    <p:sldId id="1205" r:id="rId65"/>
    <p:sldId id="1078" r:id="rId66"/>
    <p:sldId id="1079" r:id="rId67"/>
    <p:sldId id="1080" r:id="rId68"/>
    <p:sldId id="1082" r:id="rId69"/>
    <p:sldId id="1206" r:id="rId70"/>
    <p:sldId id="1081" r:id="rId71"/>
    <p:sldId id="1207" r:id="rId72"/>
    <p:sldId id="1087" r:id="rId73"/>
    <p:sldId id="1088" r:id="rId74"/>
    <p:sldId id="1208" r:id="rId75"/>
    <p:sldId id="1089" r:id="rId76"/>
    <p:sldId id="1090" r:id="rId77"/>
    <p:sldId id="1222" r:id="rId78"/>
    <p:sldId id="1092" r:id="rId79"/>
    <p:sldId id="1209" r:id="rId80"/>
    <p:sldId id="1210" r:id="rId81"/>
    <p:sldId id="1211" r:id="rId82"/>
    <p:sldId id="1212" r:id="rId83"/>
    <p:sldId id="1044" r:id="rId84"/>
    <p:sldId id="1096" r:id="rId85"/>
    <p:sldId id="1203" r:id="rId86"/>
    <p:sldId id="1098" r:id="rId87"/>
    <p:sldId id="1099" r:id="rId88"/>
    <p:sldId id="1100" r:id="rId89"/>
    <p:sldId id="1101" r:id="rId90"/>
    <p:sldId id="1102" r:id="rId91"/>
    <p:sldId id="1104" r:id="rId92"/>
    <p:sldId id="1108" r:id="rId93"/>
    <p:sldId id="1106" r:id="rId94"/>
    <p:sldId id="1107" r:id="rId95"/>
    <p:sldId id="1110" r:id="rId96"/>
    <p:sldId id="1111" r:id="rId97"/>
    <p:sldId id="1112" r:id="rId98"/>
    <p:sldId id="1198" r:id="rId99"/>
    <p:sldId id="1124" r:id="rId100"/>
    <p:sldId id="1125" r:id="rId101"/>
    <p:sldId id="1113" r:id="rId102"/>
    <p:sldId id="1199" r:id="rId103"/>
    <p:sldId id="1114" r:id="rId104"/>
    <p:sldId id="1105" r:id="rId105"/>
    <p:sldId id="1115" r:id="rId106"/>
    <p:sldId id="1116" r:id="rId107"/>
    <p:sldId id="1200" r:id="rId108"/>
    <p:sldId id="1201" r:id="rId109"/>
    <p:sldId id="1118" r:id="rId110"/>
    <p:sldId id="1117" r:id="rId111"/>
    <p:sldId id="1202" r:id="rId112"/>
    <p:sldId id="1119" r:id="rId113"/>
    <p:sldId id="1120" r:id="rId114"/>
    <p:sldId id="1045" r:id="rId115"/>
    <p:sldId id="1123" r:id="rId116"/>
    <p:sldId id="1121" r:id="rId117"/>
    <p:sldId id="1195" r:id="rId118"/>
    <p:sldId id="1196" r:id="rId119"/>
    <p:sldId id="1126" r:id="rId120"/>
    <p:sldId id="1127" r:id="rId121"/>
    <p:sldId id="1128" r:id="rId122"/>
    <p:sldId id="1131" r:id="rId123"/>
    <p:sldId id="1129" r:id="rId124"/>
    <p:sldId id="1130" r:id="rId125"/>
    <p:sldId id="1197" r:id="rId126"/>
    <p:sldId id="340" r:id="rId127"/>
    <p:sldId id="1184" r:id="rId128"/>
    <p:sldId id="1046" r:id="rId129"/>
    <p:sldId id="1193" r:id="rId130"/>
    <p:sldId id="1194" r:id="rId131"/>
    <p:sldId id="1132" r:id="rId132"/>
    <p:sldId id="1133" r:id="rId133"/>
    <p:sldId id="1134" r:id="rId134"/>
    <p:sldId id="1135" r:id="rId135"/>
    <p:sldId id="1143" r:id="rId136"/>
    <p:sldId id="1144" r:id="rId137"/>
    <p:sldId id="1146" r:id="rId138"/>
    <p:sldId id="1147" r:id="rId139"/>
    <p:sldId id="1145" r:id="rId140"/>
    <p:sldId id="1148" r:id="rId141"/>
    <p:sldId id="1141" r:id="rId142"/>
    <p:sldId id="1138" r:id="rId143"/>
    <p:sldId id="1192" r:id="rId144"/>
    <p:sldId id="1140" r:id="rId145"/>
    <p:sldId id="1183" r:id="rId146"/>
    <p:sldId id="1185" r:id="rId147"/>
    <p:sldId id="1186" r:id="rId148"/>
    <p:sldId id="1187" r:id="rId149"/>
    <p:sldId id="1188" r:id="rId150"/>
    <p:sldId id="1189" r:id="rId151"/>
    <p:sldId id="1142" r:id="rId15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9779" autoAdjust="0"/>
    <p:restoredTop sz="95934"/>
  </p:normalViewPr>
  <p:slideViewPr>
    <p:cSldViewPr snapToGrid="0" snapToObjects="1">
      <p:cViewPr varScale="1">
        <p:scale>
          <a:sx n="71" d="100"/>
          <a:sy n="71" d="100"/>
        </p:scale>
        <p:origin x="96" y="102"/>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viewProps" Target="view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notesMaster" Target="notesMasters/notesMaster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presProps" Target="presProp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2.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1/25/2025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minor updates throughout, but not much changes from 8.0</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28</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382626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104014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96</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777848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600453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113</a:t>
            </a:fld>
            <a:endParaRPr lang="en-US" dirty="0"/>
          </a:p>
        </p:txBody>
      </p:sp>
    </p:spTree>
    <p:extLst>
      <p:ext uri="{BB962C8B-B14F-4D97-AF65-F5344CB8AC3E}">
        <p14:creationId xmlns:p14="http://schemas.microsoft.com/office/powerpoint/2010/main" val="283300929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114</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128</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145</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151</a:t>
            </a:fld>
            <a:endParaRPr lang="en-US" dirty="0"/>
          </a:p>
        </p:txBody>
      </p:sp>
    </p:spTree>
    <p:extLst>
      <p:ext uri="{BB962C8B-B14F-4D97-AF65-F5344CB8AC3E}">
        <p14:creationId xmlns:p14="http://schemas.microsoft.com/office/powerpoint/2010/main" val="3370746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1/25/2025</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7.png"/></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42.emf"/><Relationship Id="rId4" Type="http://schemas.openxmlformats.org/officeDocument/2006/relationships/oleObject" Target="../embeddings/oleObject1.bin"/></Relationships>
</file>

<file path=ppt/slides/_rels/slide7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 Id="rId4" Type="http://schemas.openxmlformats.org/officeDocument/2006/relationships/image" Target="../media/image47.png"/></Relationships>
</file>

<file path=ppt/slides/_rels/slide9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4.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01.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51.png"/></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3.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4.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1.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1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3.xml"/><Relationship Id="rId5" Type="http://schemas.openxmlformats.org/officeDocument/2006/relationships/image" Target="../media/image58.png"/><Relationship Id="rId4" Type="http://schemas.openxmlformats.org/officeDocument/2006/relationships/image" Target="../media/image57.png"/></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59.emf"/><Relationship Id="rId7" Type="http://schemas.openxmlformats.org/officeDocument/2006/relationships/image" Target="../media/image63.emf"/><Relationship Id="rId2" Type="http://schemas.openxmlformats.org/officeDocument/2006/relationships/notesSlide" Target="../notesSlides/notesSlide121.xml"/><Relationship Id="rId1" Type="http://schemas.openxmlformats.org/officeDocument/2006/relationships/slideLayout" Target="../slideLayouts/slideLayout3.xml"/><Relationship Id="rId6" Type="http://schemas.openxmlformats.org/officeDocument/2006/relationships/image" Target="../media/image62.emf"/><Relationship Id="rId5" Type="http://schemas.openxmlformats.org/officeDocument/2006/relationships/image" Target="../media/image61.emf"/><Relationship Id="rId4" Type="http://schemas.openxmlformats.org/officeDocument/2006/relationships/image" Target="../media/image60.emf"/></Relationships>
</file>

<file path=ppt/slides/_rels/slide12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29.xml"/><Relationship Id="rId1" Type="http://schemas.openxmlformats.org/officeDocument/2006/relationships/slideLayout" Target="../slideLayouts/slideLayout3.xml"/><Relationship Id="rId4" Type="http://schemas.openxmlformats.org/officeDocument/2006/relationships/image" Target="../media/image65.png"/></Relationships>
</file>

<file path=ppt/slides/_rels/slide13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30.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8.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41.xml"/><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dirty="0"/>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3128834-3551-3342-8511-A6239EDCCED7}"/>
              </a:ext>
            </a:extLst>
          </p:cNvPr>
          <p:cNvPicPr>
            <a:picLocks noChangeAspect="1"/>
          </p:cNvPicPr>
          <p:nvPr/>
        </p:nvPicPr>
        <p:blipFill rotWithShape="1">
          <a:blip r:embed="rId2"/>
          <a:srcRect r="978"/>
          <a:stretch/>
        </p:blipFill>
        <p:spPr>
          <a:xfrm>
            <a:off x="1460597" y="10"/>
            <a:ext cx="9270806" cy="6857990"/>
          </a:xfrm>
          <a:custGeom>
            <a:avLst/>
            <a:gdLst/>
            <a:ahLst/>
            <a:cxnLst/>
            <a:rect l="l" t="t" r="r" b="b"/>
            <a:pathLst>
              <a:path w="9270806" h="6858000">
                <a:moveTo>
                  <a:pt x="1503712" y="0"/>
                </a:moveTo>
                <a:lnTo>
                  <a:pt x="7767094" y="0"/>
                </a:lnTo>
                <a:lnTo>
                  <a:pt x="7913128" y="139721"/>
                </a:lnTo>
                <a:cubicBezTo>
                  <a:pt x="8751971" y="981521"/>
                  <a:pt x="9270806" y="2144457"/>
                  <a:pt x="9270806" y="3429000"/>
                </a:cubicBezTo>
                <a:cubicBezTo>
                  <a:pt x="9270806" y="4713544"/>
                  <a:pt x="8751971" y="5876479"/>
                  <a:pt x="7913128" y="6718279"/>
                </a:cubicBezTo>
                <a:lnTo>
                  <a:pt x="7767094" y="6858000"/>
                </a:lnTo>
                <a:lnTo>
                  <a:pt x="1503712" y="6858000"/>
                </a:lnTo>
                <a:lnTo>
                  <a:pt x="1357679" y="6718279"/>
                </a:lnTo>
                <a:cubicBezTo>
                  <a:pt x="518835" y="5876479"/>
                  <a:pt x="0" y="4713544"/>
                  <a:pt x="0" y="3429000"/>
                </a:cubicBezTo>
                <a:cubicBezTo>
                  <a:pt x="0" y="2144457"/>
                  <a:pt x="518835" y="981521"/>
                  <a:pt x="1357679" y="139721"/>
                </a:cubicBezTo>
                <a:close/>
              </a:path>
            </a:pathLst>
          </a:custGeom>
        </p:spPr>
      </p:pic>
    </p:spTree>
    <p:extLst>
      <p:ext uri="{BB962C8B-B14F-4D97-AF65-F5344CB8AC3E}">
        <p14:creationId xmlns:p14="http://schemas.microsoft.com/office/powerpoint/2010/main" val="3696187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60AE63-F98B-2E42-BB70-BC6FB853C5F0}"/>
              </a:ext>
            </a:extLst>
          </p:cNvPr>
          <p:cNvSpPr/>
          <p:nvPr/>
        </p:nvSpPr>
        <p:spPr>
          <a:xfrm>
            <a:off x="-135699" y="0"/>
            <a:ext cx="12463397" cy="7014575"/>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descr="Image result for TSA precheck">
            <a:extLst>
              <a:ext uri="{FF2B5EF4-FFF2-40B4-BE49-F238E27FC236}">
                <a16:creationId xmlns:a16="http://schemas.microsoft.com/office/drawing/2014/main" id="{16C15E37-2218-114F-8523-CD30C5ED90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7655" y="710856"/>
            <a:ext cx="9946307" cy="5592861"/>
          </a:xfrm>
          <a:prstGeom prst="rect">
            <a:avLst/>
          </a:prstGeom>
          <a:noFill/>
          <a:extLst>
            <a:ext uri="{909E8E84-426E-40dd-AFC4-6F175D3DCCD1}">
              <a14:hiddenFill xmlns="" xmlns:a14="http://schemas.microsoft.com/office/drawing/2010/main">
                <a:solidFill>
                  <a:srgbClr val="FFFFFF"/>
                </a:solidFill>
              </a14:hiddenFill>
            </a:ext>
          </a:extLst>
        </p:spPr>
      </p:pic>
      <p:sp>
        <p:nvSpPr>
          <p:cNvPr id="4" name="Freeform 3">
            <a:extLst>
              <a:ext uri="{FF2B5EF4-FFF2-40B4-BE49-F238E27FC236}">
                <a16:creationId xmlns:a16="http://schemas.microsoft.com/office/drawing/2014/main" id="{289B84F5-2163-2B45-BBF6-A39FBFB0055C}"/>
              </a:ext>
            </a:extLst>
          </p:cNvPr>
          <p:cNvSpPr/>
          <p:nvPr/>
        </p:nvSpPr>
        <p:spPr>
          <a:xfrm>
            <a:off x="0" y="0"/>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C155379D-AC5B-9545-9DBF-9AA511AB3235}"/>
              </a:ext>
            </a:extLst>
          </p:cNvPr>
          <p:cNvSpPr/>
          <p:nvPr/>
        </p:nvSpPr>
        <p:spPr>
          <a:xfrm flipH="1">
            <a:off x="9473852" y="-31325"/>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04902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20439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28</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spid="_x0000_s1027" name="Picture" r:id="rId4" imgW="2578100" imgH="355600" progId="Word.Picture.8">
                  <p:embed/>
                </p:oleObj>
              </mc:Choice>
              <mc:Fallback>
                <p:oleObj name="Picture" r:id="rId4"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194034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notcorrupt(rcvpkt)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hasseqnum(rcvpkt,expectedseqnum)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2951031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83</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96</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412813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184203680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113</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4092944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114</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128</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sender-to-receiver pipe “just full enough, but no fuller”: keep bottleneck link busy transmitting, but avoid high delays/buffering</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Delay-based approach:</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minimum observed RTT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(uncongested path)</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uncongested throughput with congestion window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is cwnd/RTT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if measured throughput “very close” to  uncongested throughput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increase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alibri"/>
                <a:ea typeface="+mn-ea"/>
                <a:cs typeface="+mn-cs"/>
              </a:rPr>
              <a:t> linearly                /* since path not congested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else if measured throughput “far below” uncongested throughout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decrease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000" b="0" i="0" u="none" strike="noStrike" kern="1200" cap="none" spc="0" normalizeH="0" baseline="0" noProof="0" dirty="0">
                <a:ln>
                  <a:noFill/>
                </a:ln>
                <a:solidFill>
                  <a:prstClr val="black"/>
                </a:solidFill>
                <a:effectLst/>
                <a:uLnTx/>
                <a:uFillTx/>
                <a:latin typeface="Calibri"/>
                <a:ea typeface="+mn-ea"/>
                <a:cs typeface="+mn-cs"/>
              </a:rPr>
              <a:t>linearly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since path is congested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 last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 without inducing/forcing loss</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maximizing throughout (“keeping the just pipe full… ”) while keeping delay low (“…but not fuller”)</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 number of deployed TCPs take a delay-based approach</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deployed on Google’s (internal) backbone network</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145</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146</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148</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149</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150</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151</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9039</TotalTime>
  <Words>15935</Words>
  <Application>Microsoft Office PowerPoint</Application>
  <PresentationFormat>Widescreen</PresentationFormat>
  <Paragraphs>3249</Paragraphs>
  <Slides>151</Slides>
  <Notes>147</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151</vt:i4>
      </vt:variant>
    </vt:vector>
  </HeadingPairs>
  <TitlesOfParts>
    <vt:vector size="167" baseType="lpstr">
      <vt:lpstr>Arial</vt:lpstr>
      <vt:lpstr>Arial Narrow</vt:lpstr>
      <vt:lpstr>Calibri</vt:lpstr>
      <vt:lpstr>Calibri Light</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sender extended FSM</vt:lpstr>
      <vt:lpstr>Go-Back-N: receiver</vt:lpstr>
      <vt:lpstr>Go-Back-N: receiver extended FSM</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TCP sender (simplified)</vt:lpstr>
      <vt:lpstr>Agreeing to establish a connection</vt:lpstr>
      <vt:lpstr>2-way handshake scenarios</vt:lpstr>
      <vt:lpstr>2-way handshake scenarios</vt:lpstr>
      <vt:lpstr>2-way handshake scenarios</vt:lpstr>
      <vt:lpstr>TCP 3-way handshake FSM</vt:lpstr>
      <vt:lpstr>TCP 3-way handshake</vt:lpstr>
      <vt:lpstr>A human 3-way handshake protocol</vt:lpstr>
      <vt:lpstr>Closing a TCP connection</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lenovo</cp:lastModifiedBy>
  <cp:revision>408</cp:revision>
  <dcterms:created xsi:type="dcterms:W3CDTF">2020-01-18T07:24:59Z</dcterms:created>
  <dcterms:modified xsi:type="dcterms:W3CDTF">2025-01-24T19:17:21Z</dcterms:modified>
</cp:coreProperties>
</file>