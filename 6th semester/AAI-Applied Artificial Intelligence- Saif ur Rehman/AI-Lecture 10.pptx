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19241D-611D-4D32-B07C-4E54ADC3A534}">
  <a:tblStyle styleId="{3A19241D-611D-4D32-B07C-4E54ADC3A53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obo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d8eadc8cb7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2d8eadc8cb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8eadc8cb7_0_7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d8eadc8cb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8eadc8cb7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d8eadc8cb7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8eadc8cb7_0_9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8eadc8cb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8eadc8cb7_0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8eadc8cb7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d8eadc8cb7_0_1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d8eadc8cb7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8eadc8cb7_0_1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8eadc8cb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d8eadc8cb7_0_1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d8eadc8cb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d8eadc8cb7_0_1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d8eadc8cb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8eadc8cb7_0_1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8eadc8cb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d8eadc8cb7_0_1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d8eadc8cb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d8eadc8cb7_0_1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d8eadc8cb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8eadc8cb7_0_2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d8eadc8cb7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d8eadc8cb7_0_2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d8eadc8cb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8eadc8cb7_0_2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d8eadc8cb7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8eadc8cb7_0_2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d8eadc8cb7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d8eadc8cb7_0_25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d8eadc8cb7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8eadc8cb7_0_2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8eadc8cb7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d8eadc8cb7_0_2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d8eadc8cb7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a:t>Artificial Intelligence (AI-2002)</a:t>
            </a:r>
            <a:endParaRPr/>
          </a:p>
        </p:txBody>
      </p:sp>
      <p:sp>
        <p:nvSpPr>
          <p:cNvPr id="68" name="Google Shape;68;p13"/>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2300"/>
              <a:t>Lecture 10: Constraint Satisfaction Problems</a:t>
            </a:r>
            <a:endParaRPr sz="2300"/>
          </a:p>
          <a:p>
            <a:pPr indent="0" lvl="0" marL="0" rtl="0" algn="l">
              <a:lnSpc>
                <a:spcPct val="100000"/>
              </a:lnSpc>
              <a:spcBef>
                <a:spcPts val="0"/>
              </a:spcBef>
              <a:spcAft>
                <a:spcPts val="0"/>
              </a:spcAft>
              <a:buSzPts val="1800"/>
              <a:buNone/>
            </a:pPr>
            <a:r>
              <a:t/>
            </a:r>
            <a:endParaRPr sz="2300"/>
          </a:p>
        </p:txBody>
      </p:sp>
      <p:sp>
        <p:nvSpPr>
          <p:cNvPr id="69" name="Google Shape;69;p13"/>
          <p:cNvSpPr txBox="1"/>
          <p:nvPr>
            <p:ph idx="1" type="subTitle"/>
          </p:nvPr>
        </p:nvSpPr>
        <p:spPr>
          <a:xfrm>
            <a:off x="390525" y="3398730"/>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Mr. Saif ur Rehman (Lecturer – AI &amp; DS)</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p:txBody>
      </p:sp>
      <p:sp>
        <p:nvSpPr>
          <p:cNvPr id="70" name="Google Shape;70;p13"/>
          <p:cNvSpPr txBox="1"/>
          <p:nvPr>
            <p:ph idx="1" type="subTitle"/>
          </p:nvPr>
        </p:nvSpPr>
        <p:spPr>
          <a:xfrm>
            <a:off x="390525" y="3855930"/>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a:t>saifurrehman@nu.edu.pk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we have already covered</a:t>
            </a:r>
            <a:endParaRPr/>
          </a:p>
        </p:txBody>
      </p:sp>
      <p:sp>
        <p:nvSpPr>
          <p:cNvPr id="76" name="Google Shape;76;p1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Char char="●"/>
            </a:pPr>
            <a:r>
              <a:rPr lang="en" sz="2300"/>
              <a:t>What is a state space in problem-solving?</a:t>
            </a:r>
            <a:endParaRPr sz="2300"/>
          </a:p>
          <a:p>
            <a:pPr indent="-374650" lvl="0" marL="457200" rtl="0" algn="l">
              <a:spcBef>
                <a:spcPts val="0"/>
              </a:spcBef>
              <a:spcAft>
                <a:spcPts val="0"/>
              </a:spcAft>
              <a:buSzPts val="2300"/>
              <a:buChar char="●"/>
            </a:pPr>
            <a:r>
              <a:rPr lang="en" sz="2300"/>
              <a:t>How are problems represented in a state space?</a:t>
            </a:r>
            <a:endParaRPr sz="2300"/>
          </a:p>
          <a:p>
            <a:pPr indent="-374650" lvl="0" marL="457200" rtl="0" algn="l">
              <a:spcBef>
                <a:spcPts val="0"/>
              </a:spcBef>
              <a:spcAft>
                <a:spcPts val="0"/>
              </a:spcAft>
              <a:buSzPts val="2300"/>
              <a:buChar char="●"/>
            </a:pPr>
            <a:r>
              <a:rPr lang="en" sz="2300"/>
              <a:t>What is the purpose of domain-specific heuristics?</a:t>
            </a:r>
            <a:endParaRPr sz="2300"/>
          </a:p>
          <a:p>
            <a:pPr indent="-374650" lvl="0" marL="457200" rtl="0" algn="l">
              <a:spcBef>
                <a:spcPts val="0"/>
              </a:spcBef>
              <a:spcAft>
                <a:spcPts val="0"/>
              </a:spcAft>
              <a:buSzPts val="2300"/>
              <a:buChar char="●"/>
            </a:pPr>
            <a:r>
              <a:rPr lang="en" sz="2300"/>
              <a:t>Why is each state considered atomic in a search algorithm?</a:t>
            </a:r>
            <a:endParaRPr sz="2300"/>
          </a:p>
          <a:p>
            <a:pPr indent="-374650" lvl="0" marL="457200" rtl="0" algn="l">
              <a:spcBef>
                <a:spcPts val="0"/>
              </a:spcBef>
              <a:spcAft>
                <a:spcPts val="0"/>
              </a:spcAft>
              <a:buSzPts val="2300"/>
              <a:buChar char="●"/>
            </a:pPr>
            <a:r>
              <a:rPr lang="en" sz="2300"/>
              <a:t>Why do we need domain-specific code for each problem?</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Constraint Satisfaction Problems</a:t>
            </a:r>
            <a:endParaRPr/>
          </a:p>
        </p:txBody>
      </p:sp>
      <p:sp>
        <p:nvSpPr>
          <p:cNvPr id="82" name="Google Shape;82;p1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Char char="●"/>
            </a:pPr>
            <a:r>
              <a:rPr lang="en" sz="2300"/>
              <a:t>In which we see how treating states as more than just little black boxes leads to new search methods and a deeper understanding of problem structure.</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Constraint Satisfaction Problems</a:t>
            </a:r>
            <a:endParaRPr/>
          </a:p>
        </p:txBody>
      </p:sp>
      <p:sp>
        <p:nvSpPr>
          <p:cNvPr id="88" name="Google Shape;88;p16"/>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Char char="●"/>
            </a:pPr>
            <a:r>
              <a:rPr lang="en" sz="2300"/>
              <a:t>In this chapter we break open the black box by using a factored representation for each state:</a:t>
            </a:r>
            <a:endParaRPr sz="2300"/>
          </a:p>
          <a:p>
            <a:pPr indent="-374650" lvl="0" marL="457200" rtl="0" algn="l">
              <a:spcBef>
                <a:spcPts val="0"/>
              </a:spcBef>
              <a:spcAft>
                <a:spcPts val="0"/>
              </a:spcAft>
              <a:buSzPts val="2300"/>
              <a:buChar char="●"/>
            </a:pPr>
            <a:r>
              <a:rPr lang="en" sz="2300"/>
              <a:t>a set of variables, each of which has a value.</a:t>
            </a:r>
            <a:endParaRPr sz="2300"/>
          </a:p>
          <a:p>
            <a:pPr indent="-374650" lvl="0" marL="457200" rtl="0" algn="l">
              <a:spcBef>
                <a:spcPts val="0"/>
              </a:spcBef>
              <a:spcAft>
                <a:spcPts val="0"/>
              </a:spcAft>
              <a:buSzPts val="2300"/>
              <a:buChar char="●"/>
            </a:pPr>
            <a:r>
              <a:rPr lang="en" sz="2300"/>
              <a:t> A problem is solved when each variable has a value that satisfies all the constraints on the variable.</a:t>
            </a:r>
            <a:endParaRPr sz="2300"/>
          </a:p>
          <a:p>
            <a:pPr indent="-374650" lvl="0" marL="457200" rtl="0" algn="l">
              <a:spcBef>
                <a:spcPts val="0"/>
              </a:spcBef>
              <a:spcAft>
                <a:spcPts val="0"/>
              </a:spcAft>
              <a:buSzPts val="2300"/>
              <a:buChar char="●"/>
            </a:pPr>
            <a:r>
              <a:rPr lang="en" sz="2300"/>
              <a:t> A problem described this way is called a constraint satisfaction problem, or CSP.</a:t>
            </a:r>
            <a:endParaRPr sz="2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Constraint Satisfaction Problems</a:t>
            </a:r>
            <a:endParaRPr/>
          </a:p>
        </p:txBody>
      </p:sp>
      <p:sp>
        <p:nvSpPr>
          <p:cNvPr id="94" name="Google Shape;94;p17"/>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CSP search algorithms take advantage of the structure of states and use </a:t>
            </a:r>
            <a:r>
              <a:rPr b="1" lang="en" sz="2000"/>
              <a:t>general </a:t>
            </a:r>
            <a:r>
              <a:rPr lang="en" sz="2000"/>
              <a:t>rather than </a:t>
            </a:r>
            <a:r>
              <a:rPr b="1" lang="en" sz="2000"/>
              <a:t>domain-specific heuristics</a:t>
            </a:r>
            <a:r>
              <a:rPr lang="en" sz="2000"/>
              <a:t> to enable the solution of complex problems.</a:t>
            </a:r>
            <a:endParaRPr sz="2000"/>
          </a:p>
          <a:p>
            <a:pPr indent="-355600" lvl="0" marL="457200" rtl="0" algn="l">
              <a:spcBef>
                <a:spcPts val="0"/>
              </a:spcBef>
              <a:spcAft>
                <a:spcPts val="0"/>
              </a:spcAft>
              <a:buSzPts val="2000"/>
              <a:buChar char="●"/>
            </a:pPr>
            <a:r>
              <a:rPr lang="en" sz="2000"/>
              <a:t>The main idea is to eliminate large portions of the search space all at once by identifying variable/value combinations that violate the constraints.</a:t>
            </a:r>
            <a:endParaRPr sz="2000"/>
          </a:p>
          <a:p>
            <a:pPr indent="-355600" lvl="0" marL="457200" rtl="0" algn="l">
              <a:spcBef>
                <a:spcPts val="0"/>
              </a:spcBef>
              <a:spcAft>
                <a:spcPts val="0"/>
              </a:spcAft>
              <a:buSzPts val="2000"/>
              <a:buChar char="●"/>
            </a:pPr>
            <a:r>
              <a:rPr lang="en" sz="2000"/>
              <a:t>CSPs have the additional advantage that the actions and transition model can be deduced from the problem description.</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Defining Constraint Satisfaction Problems</a:t>
            </a:r>
            <a:endParaRPr/>
          </a:p>
        </p:txBody>
      </p:sp>
      <p:pic>
        <p:nvPicPr>
          <p:cNvPr id="100" name="Google Shape;100;p18"/>
          <p:cNvPicPr preferRelativeResize="0"/>
          <p:nvPr/>
        </p:nvPicPr>
        <p:blipFill>
          <a:blip r:embed="rId3">
            <a:alphaModFix/>
          </a:blip>
          <a:stretch>
            <a:fillRect/>
          </a:stretch>
        </p:blipFill>
        <p:spPr>
          <a:xfrm>
            <a:off x="471900" y="1955875"/>
            <a:ext cx="7673425" cy="1228200"/>
          </a:xfrm>
          <a:prstGeom prst="rect">
            <a:avLst/>
          </a:prstGeom>
          <a:noFill/>
          <a:ln>
            <a:noFill/>
          </a:ln>
        </p:spPr>
      </p:pic>
      <p:sp>
        <p:nvSpPr>
          <p:cNvPr id="101" name="Google Shape;101;p18"/>
          <p:cNvSpPr txBox="1"/>
          <p:nvPr/>
        </p:nvSpPr>
        <p:spPr>
          <a:xfrm>
            <a:off x="471900" y="3345625"/>
            <a:ext cx="76734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A domain,	 , consists of a set of allowable values, {v1,..., vk}, for variable 	   .</a:t>
            </a:r>
            <a:endParaRPr sz="2000"/>
          </a:p>
          <a:p>
            <a:pPr indent="-355600" lvl="0" marL="457200" rtl="0" algn="l">
              <a:spcBef>
                <a:spcPts val="0"/>
              </a:spcBef>
              <a:spcAft>
                <a:spcPts val="0"/>
              </a:spcAft>
              <a:buSzPts val="2000"/>
              <a:buChar char="●"/>
            </a:pPr>
            <a:r>
              <a:rPr lang="en" sz="2000"/>
              <a:t>A Boolean variable would have the domain {true,false}.</a:t>
            </a:r>
            <a:endParaRPr sz="2000"/>
          </a:p>
          <a:p>
            <a:pPr indent="-355600" lvl="0" marL="457200" rtl="0" algn="l">
              <a:spcBef>
                <a:spcPts val="0"/>
              </a:spcBef>
              <a:spcAft>
                <a:spcPts val="0"/>
              </a:spcAft>
              <a:buSzPts val="2000"/>
              <a:buChar char="●"/>
            </a:pPr>
            <a:r>
              <a:rPr lang="en" sz="2000"/>
              <a:t>Different variables can have different domains of different sizes. </a:t>
            </a:r>
            <a:endParaRPr sz="2000"/>
          </a:p>
        </p:txBody>
      </p:sp>
      <p:pic>
        <p:nvPicPr>
          <p:cNvPr id="102" name="Google Shape;102;p18"/>
          <p:cNvPicPr preferRelativeResize="0"/>
          <p:nvPr/>
        </p:nvPicPr>
        <p:blipFill>
          <a:blip r:embed="rId4">
            <a:alphaModFix/>
          </a:blip>
          <a:stretch>
            <a:fillRect/>
          </a:stretch>
        </p:blipFill>
        <p:spPr>
          <a:xfrm>
            <a:off x="2200425" y="3421825"/>
            <a:ext cx="265150" cy="276200"/>
          </a:xfrm>
          <a:prstGeom prst="rect">
            <a:avLst/>
          </a:prstGeom>
          <a:noFill/>
          <a:ln>
            <a:noFill/>
          </a:ln>
        </p:spPr>
      </p:pic>
      <p:pic>
        <p:nvPicPr>
          <p:cNvPr id="103" name="Google Shape;103;p18"/>
          <p:cNvPicPr preferRelativeResize="0"/>
          <p:nvPr/>
        </p:nvPicPr>
        <p:blipFill>
          <a:blip r:embed="rId5">
            <a:alphaModFix/>
          </a:blip>
          <a:stretch>
            <a:fillRect/>
          </a:stretch>
        </p:blipFill>
        <p:spPr>
          <a:xfrm>
            <a:off x="2362200" y="3733800"/>
            <a:ext cx="200025" cy="295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Defining Constraint Satisfaction Problems</a:t>
            </a:r>
            <a:endParaRPr/>
          </a:p>
        </p:txBody>
      </p:sp>
      <p:sp>
        <p:nvSpPr>
          <p:cNvPr id="109" name="Google Shape;109;p19"/>
          <p:cNvSpPr txBox="1"/>
          <p:nvPr/>
        </p:nvSpPr>
        <p:spPr>
          <a:xfrm>
            <a:off x="471900" y="1907325"/>
            <a:ext cx="76734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Each constraint 	     consists of a pair </a:t>
            </a:r>
            <a:endParaRPr sz="2000"/>
          </a:p>
          <a:p>
            <a:pPr indent="-355600" lvl="0" marL="457200" rtl="0" algn="l">
              <a:spcBef>
                <a:spcPts val="0"/>
              </a:spcBef>
              <a:spcAft>
                <a:spcPts val="0"/>
              </a:spcAft>
              <a:buSzPts val="2000"/>
              <a:buChar char="●"/>
            </a:pPr>
            <a:r>
              <a:rPr lang="en" sz="2000"/>
              <a:t>scope is a tuple of variables that participate in the constraint and rel is a relation that defines the values that those variables can take on.</a:t>
            </a:r>
            <a:endParaRPr sz="2000"/>
          </a:p>
          <a:p>
            <a:pPr indent="-355600" lvl="0" marL="457200" rtl="0" algn="l">
              <a:spcBef>
                <a:spcPts val="0"/>
              </a:spcBef>
              <a:spcAft>
                <a:spcPts val="0"/>
              </a:spcAft>
              <a:buSzPts val="2000"/>
              <a:buChar char="●"/>
            </a:pPr>
            <a:r>
              <a:rPr lang="en" sz="2000"/>
              <a:t>For example, if X1 and X2 both have the domain {1,2,3}, then the constraint saying that X1 must be greater than X2 can be written as</a:t>
            </a:r>
            <a:endParaRPr sz="2000"/>
          </a:p>
          <a:p>
            <a:pPr indent="0" lvl="0" marL="457200" rtl="0" algn="l">
              <a:spcBef>
                <a:spcPts val="0"/>
              </a:spcBef>
              <a:spcAft>
                <a:spcPts val="0"/>
              </a:spcAft>
              <a:buNone/>
            </a:pPr>
            <a:r>
              <a:t/>
            </a:r>
            <a:endParaRPr sz="2000"/>
          </a:p>
        </p:txBody>
      </p:sp>
      <p:pic>
        <p:nvPicPr>
          <p:cNvPr id="110" name="Google Shape;110;p19"/>
          <p:cNvPicPr preferRelativeResize="0"/>
          <p:nvPr/>
        </p:nvPicPr>
        <p:blipFill>
          <a:blip r:embed="rId3">
            <a:alphaModFix/>
          </a:blip>
          <a:stretch>
            <a:fillRect/>
          </a:stretch>
        </p:blipFill>
        <p:spPr>
          <a:xfrm>
            <a:off x="2895600" y="2018925"/>
            <a:ext cx="238125" cy="285750"/>
          </a:xfrm>
          <a:prstGeom prst="rect">
            <a:avLst/>
          </a:prstGeom>
          <a:noFill/>
          <a:ln>
            <a:noFill/>
          </a:ln>
        </p:spPr>
      </p:pic>
      <p:pic>
        <p:nvPicPr>
          <p:cNvPr id="111" name="Google Shape;111;p19"/>
          <p:cNvPicPr preferRelativeResize="0"/>
          <p:nvPr/>
        </p:nvPicPr>
        <p:blipFill>
          <a:blip r:embed="rId4">
            <a:alphaModFix/>
          </a:blip>
          <a:stretch>
            <a:fillRect/>
          </a:stretch>
        </p:blipFill>
        <p:spPr>
          <a:xfrm>
            <a:off x="5257800" y="1942725"/>
            <a:ext cx="1370214" cy="361950"/>
          </a:xfrm>
          <a:prstGeom prst="rect">
            <a:avLst/>
          </a:prstGeom>
          <a:noFill/>
          <a:ln>
            <a:noFill/>
          </a:ln>
        </p:spPr>
      </p:pic>
      <p:pic>
        <p:nvPicPr>
          <p:cNvPr id="112" name="Google Shape;112;p19"/>
          <p:cNvPicPr preferRelativeResize="0"/>
          <p:nvPr/>
        </p:nvPicPr>
        <p:blipFill>
          <a:blip r:embed="rId5">
            <a:alphaModFix/>
          </a:blip>
          <a:stretch>
            <a:fillRect/>
          </a:stretch>
        </p:blipFill>
        <p:spPr>
          <a:xfrm>
            <a:off x="2168378" y="3843925"/>
            <a:ext cx="6116955" cy="361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Defining Constraint Satisfaction Problems</a:t>
            </a:r>
            <a:endParaRPr/>
          </a:p>
        </p:txBody>
      </p:sp>
      <p:sp>
        <p:nvSpPr>
          <p:cNvPr id="118" name="Google Shape;118;p20"/>
          <p:cNvSpPr txBox="1"/>
          <p:nvPr/>
        </p:nvSpPr>
        <p:spPr>
          <a:xfrm>
            <a:off x="471900" y="1907325"/>
            <a:ext cx="76734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CSPs deal with assignments of values to variables, </a:t>
            </a:r>
            <a:endParaRPr sz="2000"/>
          </a:p>
          <a:p>
            <a:pPr indent="-355600" lvl="0" marL="457200" rtl="0" algn="l">
              <a:spcBef>
                <a:spcPts val="0"/>
              </a:spcBef>
              <a:spcAft>
                <a:spcPts val="0"/>
              </a:spcAft>
              <a:buSzPts val="2000"/>
              <a:buChar char="●"/>
            </a:pPr>
            <a:r>
              <a:rPr lang="en" sz="2000"/>
              <a:t>An assignment that does not violate any constraints is called a consistent or legal assignment.</a:t>
            </a:r>
            <a:endParaRPr sz="2000"/>
          </a:p>
          <a:p>
            <a:pPr indent="-355600" lvl="0" marL="457200" rtl="0" algn="l">
              <a:spcBef>
                <a:spcPts val="0"/>
              </a:spcBef>
              <a:spcAft>
                <a:spcPts val="0"/>
              </a:spcAft>
              <a:buSzPts val="2000"/>
              <a:buChar char="●"/>
            </a:pPr>
            <a:r>
              <a:rPr lang="en" sz="2000"/>
              <a:t>A complete assignment is one in which every variable is assigned a value.</a:t>
            </a:r>
            <a:endParaRPr sz="2000"/>
          </a:p>
          <a:p>
            <a:pPr indent="-355600" lvl="0" marL="457200" rtl="0" algn="l">
              <a:spcBef>
                <a:spcPts val="0"/>
              </a:spcBef>
              <a:spcAft>
                <a:spcPts val="0"/>
              </a:spcAft>
              <a:buSzPts val="2000"/>
              <a:buChar char="●"/>
            </a:pPr>
            <a:r>
              <a:rPr lang="en" sz="2000"/>
              <a:t>A solution to a CSP is a consistent, complete assignment.</a:t>
            </a:r>
            <a:endParaRPr sz="2000"/>
          </a:p>
          <a:p>
            <a:pPr indent="-355600" lvl="0" marL="457200" rtl="0" algn="l">
              <a:spcBef>
                <a:spcPts val="0"/>
              </a:spcBef>
              <a:spcAft>
                <a:spcPts val="0"/>
              </a:spcAft>
              <a:buSzPts val="2000"/>
              <a:buChar char="●"/>
            </a:pPr>
            <a:r>
              <a:rPr lang="en" sz="2000"/>
              <a:t>A partial assignment is one that leaves some variables unassigned.</a:t>
            </a:r>
            <a:endParaRPr sz="2000"/>
          </a:p>
          <a:p>
            <a:pPr indent="-355600" lvl="0" marL="457200" rtl="0" algn="l">
              <a:spcBef>
                <a:spcPts val="0"/>
              </a:spcBef>
              <a:spcAft>
                <a:spcPts val="0"/>
              </a:spcAft>
              <a:buSzPts val="2000"/>
              <a:buChar char="●"/>
            </a:pPr>
            <a:r>
              <a:rPr lang="en" sz="2000"/>
              <a:t>A a partial solution is a partial assignment that is consistent.</a:t>
            </a:r>
            <a:endParaRPr sz="2000"/>
          </a:p>
        </p:txBody>
      </p:sp>
      <p:pic>
        <p:nvPicPr>
          <p:cNvPr id="119" name="Google Shape;119;p20"/>
          <p:cNvPicPr preferRelativeResize="0"/>
          <p:nvPr/>
        </p:nvPicPr>
        <p:blipFill>
          <a:blip r:embed="rId3">
            <a:alphaModFix/>
          </a:blip>
          <a:stretch>
            <a:fillRect/>
          </a:stretch>
        </p:blipFill>
        <p:spPr>
          <a:xfrm>
            <a:off x="6712800" y="1920277"/>
            <a:ext cx="2347345" cy="403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Example problem: Map coloring</a:t>
            </a:r>
            <a:endParaRPr/>
          </a:p>
        </p:txBody>
      </p:sp>
      <p:pic>
        <p:nvPicPr>
          <p:cNvPr id="125" name="Google Shape;125;p21"/>
          <p:cNvPicPr preferRelativeResize="0"/>
          <p:nvPr/>
        </p:nvPicPr>
        <p:blipFill>
          <a:blip r:embed="rId3">
            <a:alphaModFix/>
          </a:blip>
          <a:stretch>
            <a:fillRect/>
          </a:stretch>
        </p:blipFill>
        <p:spPr>
          <a:xfrm>
            <a:off x="934050" y="1705725"/>
            <a:ext cx="6891354" cy="3332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Example problem: Map coloring</a:t>
            </a:r>
            <a:endParaRPr/>
          </a:p>
        </p:txBody>
      </p:sp>
      <p:pic>
        <p:nvPicPr>
          <p:cNvPr id="131" name="Google Shape;131;p22"/>
          <p:cNvPicPr preferRelativeResize="0"/>
          <p:nvPr/>
        </p:nvPicPr>
        <p:blipFill>
          <a:blip r:embed="rId3">
            <a:alphaModFix/>
          </a:blip>
          <a:stretch>
            <a:fillRect/>
          </a:stretch>
        </p:blipFill>
        <p:spPr>
          <a:xfrm>
            <a:off x="1418750" y="1711475"/>
            <a:ext cx="2914650" cy="438150"/>
          </a:xfrm>
          <a:prstGeom prst="rect">
            <a:avLst/>
          </a:prstGeom>
          <a:noFill/>
          <a:ln>
            <a:noFill/>
          </a:ln>
        </p:spPr>
      </p:pic>
      <p:pic>
        <p:nvPicPr>
          <p:cNvPr id="132" name="Google Shape;132;p22"/>
          <p:cNvPicPr preferRelativeResize="0"/>
          <p:nvPr/>
        </p:nvPicPr>
        <p:blipFill>
          <a:blip r:embed="rId4">
            <a:alphaModFix/>
          </a:blip>
          <a:stretch>
            <a:fillRect/>
          </a:stretch>
        </p:blipFill>
        <p:spPr>
          <a:xfrm>
            <a:off x="1418750" y="2755425"/>
            <a:ext cx="7411863" cy="2266950"/>
          </a:xfrm>
          <a:prstGeom prst="rect">
            <a:avLst/>
          </a:prstGeom>
          <a:noFill/>
          <a:ln>
            <a:noFill/>
          </a:ln>
        </p:spPr>
      </p:pic>
      <p:pic>
        <p:nvPicPr>
          <p:cNvPr id="133" name="Google Shape;133;p22"/>
          <p:cNvPicPr preferRelativeResize="0"/>
          <p:nvPr/>
        </p:nvPicPr>
        <p:blipFill>
          <a:blip r:embed="rId5">
            <a:alphaModFix/>
          </a:blip>
          <a:stretch>
            <a:fillRect/>
          </a:stretch>
        </p:blipFill>
        <p:spPr>
          <a:xfrm>
            <a:off x="1418750" y="2274038"/>
            <a:ext cx="2243476" cy="2977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formulate a problem as a CSP?</a:t>
            </a:r>
            <a:endParaRPr/>
          </a:p>
        </p:txBody>
      </p:sp>
      <p:sp>
        <p:nvSpPr>
          <p:cNvPr id="139" name="Google Shape;139;p23"/>
          <p:cNvSpPr txBox="1"/>
          <p:nvPr/>
        </p:nvSpPr>
        <p:spPr>
          <a:xfrm>
            <a:off x="78175" y="1740600"/>
            <a:ext cx="8694000" cy="3570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Many problems can be easily expressed as a CSP using variables, domains, and constraints.</a:t>
            </a:r>
            <a:endParaRPr sz="2000"/>
          </a:p>
          <a:p>
            <a:pPr indent="-355600" lvl="0" marL="457200" rtl="0" algn="l">
              <a:spcBef>
                <a:spcPts val="0"/>
              </a:spcBef>
              <a:spcAft>
                <a:spcPts val="0"/>
              </a:spcAft>
              <a:buSzPts val="2000"/>
              <a:buChar char="●"/>
            </a:pPr>
            <a:r>
              <a:rPr lang="en" sz="2000"/>
              <a:t>CSP solvers can quickly prune large swathes of the search space that an atomic state-space searcher cannot.</a:t>
            </a:r>
            <a:endParaRPr sz="2000"/>
          </a:p>
          <a:p>
            <a:pPr indent="-355600" lvl="0" marL="457200" rtl="0" algn="l">
              <a:spcBef>
                <a:spcPts val="0"/>
              </a:spcBef>
              <a:spcAft>
                <a:spcPts val="0"/>
              </a:spcAft>
              <a:buSzPts val="2000"/>
              <a:buChar char="●"/>
            </a:pPr>
            <a:r>
              <a:rPr lang="en" sz="2000"/>
              <a:t>For example, once we have chosen {SA=blue} in the Australia problem, we can conclude that none of the five neighboring variables can take on the value blue.</a:t>
            </a:r>
            <a:endParaRPr sz="2000"/>
          </a:p>
          <a:p>
            <a:pPr indent="-355600" lvl="0" marL="457200" rtl="0" algn="l">
              <a:spcBef>
                <a:spcPts val="0"/>
              </a:spcBef>
              <a:spcAft>
                <a:spcPts val="0"/>
              </a:spcAft>
              <a:buSzPts val="2000"/>
              <a:buChar char="●"/>
            </a:pPr>
            <a:r>
              <a:rPr lang="en" sz="2000"/>
              <a:t>A search procedure that does not use constraints would have to consider 3^5 =243 assignments for the five neighboring variables; with constraints we have only 2^5 =32 assignments to consider, a reduction of 87%.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Job-shop scheduling</a:t>
            </a:r>
            <a:endParaRPr/>
          </a:p>
        </p:txBody>
      </p:sp>
      <p:sp>
        <p:nvSpPr>
          <p:cNvPr id="145" name="Google Shape;145;p24"/>
          <p:cNvSpPr txBox="1"/>
          <p:nvPr/>
        </p:nvSpPr>
        <p:spPr>
          <a:xfrm>
            <a:off x="78175" y="1740600"/>
            <a:ext cx="8694000" cy="26475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We consider a small part of the car assembly, consisting of 15 tasks: install axles (front and back), affix all four wheels (right and left, front and back), tighten nuts for each wheel, affix hubcaps, and inspect the final assembly. We can represent the tasks with 15 variables: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pic>
        <p:nvPicPr>
          <p:cNvPr id="146" name="Google Shape;146;p24"/>
          <p:cNvPicPr preferRelativeResize="0"/>
          <p:nvPr/>
        </p:nvPicPr>
        <p:blipFill>
          <a:blip r:embed="rId3">
            <a:alphaModFix/>
          </a:blip>
          <a:stretch>
            <a:fillRect/>
          </a:stretch>
        </p:blipFill>
        <p:spPr>
          <a:xfrm>
            <a:off x="1557325" y="3147775"/>
            <a:ext cx="6029325" cy="581025"/>
          </a:xfrm>
          <a:prstGeom prst="rect">
            <a:avLst/>
          </a:prstGeom>
          <a:noFill/>
          <a:ln>
            <a:noFill/>
          </a:ln>
        </p:spPr>
      </p:pic>
      <p:pic>
        <p:nvPicPr>
          <p:cNvPr id="147" name="Google Shape;147;p24"/>
          <p:cNvPicPr preferRelativeResize="0"/>
          <p:nvPr/>
        </p:nvPicPr>
        <p:blipFill>
          <a:blip r:embed="rId4">
            <a:alphaModFix/>
          </a:blip>
          <a:stretch>
            <a:fillRect/>
          </a:stretch>
        </p:blipFill>
        <p:spPr>
          <a:xfrm>
            <a:off x="1557325" y="3978525"/>
            <a:ext cx="1295400" cy="409575"/>
          </a:xfrm>
          <a:prstGeom prst="rect">
            <a:avLst/>
          </a:prstGeom>
          <a:noFill/>
          <a:ln>
            <a:noFill/>
          </a:ln>
        </p:spPr>
      </p:pic>
      <p:pic>
        <p:nvPicPr>
          <p:cNvPr id="148" name="Google Shape;148;p24"/>
          <p:cNvPicPr preferRelativeResize="0"/>
          <p:nvPr/>
        </p:nvPicPr>
        <p:blipFill>
          <a:blip r:embed="rId5">
            <a:alphaModFix/>
          </a:blip>
          <a:stretch>
            <a:fillRect/>
          </a:stretch>
        </p:blipFill>
        <p:spPr>
          <a:xfrm>
            <a:off x="3366476" y="4223850"/>
            <a:ext cx="5180799" cy="834200"/>
          </a:xfrm>
          <a:prstGeom prst="rect">
            <a:avLst/>
          </a:prstGeom>
          <a:noFill/>
          <a:ln>
            <a:noFill/>
          </a:ln>
        </p:spPr>
      </p:pic>
      <p:sp>
        <p:nvSpPr>
          <p:cNvPr id="149" name="Google Shape;149;p24"/>
          <p:cNvSpPr txBox="1"/>
          <p:nvPr/>
        </p:nvSpPr>
        <p:spPr>
          <a:xfrm>
            <a:off x="2976075" y="3728800"/>
            <a:ext cx="5961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In our example, the axles have to be in place before the wheels are put on, and it takes 10 minutes to install an axle, so we write </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Job-shop scheduling</a:t>
            </a:r>
            <a:endParaRPr/>
          </a:p>
        </p:txBody>
      </p:sp>
      <p:pic>
        <p:nvPicPr>
          <p:cNvPr id="155" name="Google Shape;155;p25"/>
          <p:cNvPicPr preferRelativeResize="0"/>
          <p:nvPr/>
        </p:nvPicPr>
        <p:blipFill>
          <a:blip r:embed="rId3">
            <a:alphaModFix/>
          </a:blip>
          <a:stretch>
            <a:fillRect/>
          </a:stretch>
        </p:blipFill>
        <p:spPr>
          <a:xfrm>
            <a:off x="471900" y="1772000"/>
            <a:ext cx="6029325" cy="581025"/>
          </a:xfrm>
          <a:prstGeom prst="rect">
            <a:avLst/>
          </a:prstGeom>
          <a:noFill/>
          <a:ln>
            <a:noFill/>
          </a:ln>
        </p:spPr>
      </p:pic>
      <p:pic>
        <p:nvPicPr>
          <p:cNvPr id="156" name="Google Shape;156;p25"/>
          <p:cNvPicPr preferRelativeResize="0"/>
          <p:nvPr/>
        </p:nvPicPr>
        <p:blipFill>
          <a:blip r:embed="rId4">
            <a:alphaModFix/>
          </a:blip>
          <a:stretch>
            <a:fillRect/>
          </a:stretch>
        </p:blipFill>
        <p:spPr>
          <a:xfrm>
            <a:off x="471900" y="2493325"/>
            <a:ext cx="1295400" cy="409575"/>
          </a:xfrm>
          <a:prstGeom prst="rect">
            <a:avLst/>
          </a:prstGeom>
          <a:noFill/>
          <a:ln>
            <a:noFill/>
          </a:ln>
        </p:spPr>
      </p:pic>
      <p:pic>
        <p:nvPicPr>
          <p:cNvPr id="157" name="Google Shape;157;p25"/>
          <p:cNvPicPr preferRelativeResize="0"/>
          <p:nvPr/>
        </p:nvPicPr>
        <p:blipFill>
          <a:blip r:embed="rId5">
            <a:alphaModFix/>
          </a:blip>
          <a:stretch>
            <a:fillRect/>
          </a:stretch>
        </p:blipFill>
        <p:spPr>
          <a:xfrm>
            <a:off x="1881725" y="3203700"/>
            <a:ext cx="4205131" cy="677100"/>
          </a:xfrm>
          <a:prstGeom prst="rect">
            <a:avLst/>
          </a:prstGeom>
          <a:noFill/>
          <a:ln>
            <a:noFill/>
          </a:ln>
        </p:spPr>
      </p:pic>
      <p:sp>
        <p:nvSpPr>
          <p:cNvPr id="158" name="Google Shape;158;p25"/>
          <p:cNvSpPr txBox="1"/>
          <p:nvPr/>
        </p:nvSpPr>
        <p:spPr>
          <a:xfrm>
            <a:off x="1881725" y="2526588"/>
            <a:ext cx="5961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In our example, the axles have to be in place before the wheels are put on, and it takes 10 minutes to install an axle, so we write </a:t>
            </a:r>
            <a:endParaRPr sz="1600"/>
          </a:p>
        </p:txBody>
      </p:sp>
      <p:pic>
        <p:nvPicPr>
          <p:cNvPr id="159" name="Google Shape;159;p25"/>
          <p:cNvPicPr preferRelativeResize="0"/>
          <p:nvPr/>
        </p:nvPicPr>
        <p:blipFill>
          <a:blip r:embed="rId6">
            <a:alphaModFix/>
          </a:blip>
          <a:stretch>
            <a:fillRect/>
          </a:stretch>
        </p:blipFill>
        <p:spPr>
          <a:xfrm>
            <a:off x="1881725" y="4001925"/>
            <a:ext cx="3285360" cy="957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Job-Shop Scheduling Task for a Class Timetable scenario</a:t>
            </a:r>
            <a:endParaRPr/>
          </a:p>
        </p:txBody>
      </p:sp>
      <p:sp>
        <p:nvSpPr>
          <p:cNvPr id="165" name="Google Shape;165;p26"/>
          <p:cNvSpPr txBox="1"/>
          <p:nvPr/>
        </p:nvSpPr>
        <p:spPr>
          <a:xfrm>
            <a:off x="656625" y="1829125"/>
            <a:ext cx="7790700" cy="2031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Char char="●"/>
            </a:pPr>
            <a:r>
              <a:rPr lang="en" sz="2000"/>
              <a:t>A university needs to schedule lectures in a limited number of classrooms while ensuring that:</a:t>
            </a:r>
            <a:endParaRPr sz="2000"/>
          </a:p>
          <a:p>
            <a:pPr indent="-355600" lvl="0" marL="457200" rtl="0" algn="l">
              <a:spcBef>
                <a:spcPts val="0"/>
              </a:spcBef>
              <a:spcAft>
                <a:spcPts val="0"/>
              </a:spcAft>
              <a:buSzPts val="2000"/>
              <a:buChar char="●"/>
            </a:pPr>
            <a:r>
              <a:rPr lang="en" sz="2000"/>
              <a:t>No two classes are held in the same room at the same time (Disjunctive Constraint).</a:t>
            </a:r>
            <a:endParaRPr sz="2000"/>
          </a:p>
          <a:p>
            <a:pPr indent="-355600" lvl="0" marL="457200" rtl="0" algn="l">
              <a:spcBef>
                <a:spcPts val="0"/>
              </a:spcBef>
              <a:spcAft>
                <a:spcPts val="0"/>
              </a:spcAft>
              <a:buSzPts val="2000"/>
              <a:buChar char="●"/>
            </a:pPr>
            <a:r>
              <a:rPr lang="en" sz="2000"/>
              <a:t>A course has multiple lectures that must follow a specific sequence (Precedence Constraint, e.g., Theory before Lab).</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Job-Shop Scheduling Task for a Class Timetable scenario</a:t>
            </a:r>
            <a:endParaRPr/>
          </a:p>
        </p:txBody>
      </p:sp>
      <p:sp>
        <p:nvSpPr>
          <p:cNvPr id="171" name="Google Shape;171;p27"/>
          <p:cNvSpPr txBox="1"/>
          <p:nvPr/>
        </p:nvSpPr>
        <p:spPr>
          <a:xfrm>
            <a:off x="656625" y="1829125"/>
            <a:ext cx="77907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Variables: Each lecture (including theory and lab) is a variable.</a:t>
            </a:r>
            <a:endParaRPr sz="2000"/>
          </a:p>
          <a:p>
            <a:pPr indent="-355600" lvl="0" marL="457200" rtl="0" algn="l">
              <a:spcBef>
                <a:spcPts val="0"/>
              </a:spcBef>
              <a:spcAft>
                <a:spcPts val="0"/>
              </a:spcAft>
              <a:buSzPts val="2000"/>
              <a:buChar char="●"/>
            </a:pPr>
            <a:r>
              <a:rPr lang="en" sz="2000"/>
              <a:t>Let L={L1,L2,...,Ln} be the set of all lectures to be scheduled.</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Domains:</a:t>
            </a:r>
            <a:endParaRPr sz="2000"/>
          </a:p>
          <a:p>
            <a:pPr indent="-355600" lvl="0" marL="457200" rtl="0" algn="l">
              <a:spcBef>
                <a:spcPts val="0"/>
              </a:spcBef>
              <a:spcAft>
                <a:spcPts val="0"/>
              </a:spcAft>
              <a:buSzPts val="2000"/>
              <a:buChar char="●"/>
            </a:pPr>
            <a:r>
              <a:rPr lang="en" sz="2000"/>
              <a:t>The domain of each lecture consists of available (room, time slot) pairs.</a:t>
            </a:r>
            <a:endParaRPr sz="2000"/>
          </a:p>
          <a:p>
            <a:pPr indent="0" lvl="0" marL="0" rtl="0" algn="l">
              <a:spcBef>
                <a:spcPts val="0"/>
              </a:spcBef>
              <a:spcAft>
                <a:spcPts val="0"/>
              </a:spcAft>
              <a:buNone/>
            </a:pPr>
            <a:r>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8 Queen Problem</a:t>
            </a:r>
            <a:endParaRPr/>
          </a:p>
        </p:txBody>
      </p:sp>
      <p:pic>
        <p:nvPicPr>
          <p:cNvPr id="177" name="Google Shape;177;p28"/>
          <p:cNvPicPr preferRelativeResize="0"/>
          <p:nvPr/>
        </p:nvPicPr>
        <p:blipFill>
          <a:blip r:embed="rId3">
            <a:alphaModFix/>
          </a:blip>
          <a:stretch>
            <a:fillRect/>
          </a:stretch>
        </p:blipFill>
        <p:spPr>
          <a:xfrm>
            <a:off x="2916813" y="1611925"/>
            <a:ext cx="3332275" cy="3332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8 Queen Problem</a:t>
            </a:r>
            <a:endParaRPr/>
          </a:p>
        </p:txBody>
      </p:sp>
      <p:pic>
        <p:nvPicPr>
          <p:cNvPr id="183" name="Google Shape;183;p29"/>
          <p:cNvPicPr preferRelativeResize="0"/>
          <p:nvPr/>
        </p:nvPicPr>
        <p:blipFill>
          <a:blip r:embed="rId3">
            <a:alphaModFix/>
          </a:blip>
          <a:stretch>
            <a:fillRect/>
          </a:stretch>
        </p:blipFill>
        <p:spPr>
          <a:xfrm>
            <a:off x="471888" y="1705725"/>
            <a:ext cx="3332275" cy="3332275"/>
          </a:xfrm>
          <a:prstGeom prst="rect">
            <a:avLst/>
          </a:prstGeom>
          <a:noFill/>
          <a:ln>
            <a:noFill/>
          </a:ln>
        </p:spPr>
      </p:pic>
      <p:graphicFrame>
        <p:nvGraphicFramePr>
          <p:cNvPr id="184" name="Google Shape;184;p29"/>
          <p:cNvGraphicFramePr/>
          <p:nvPr/>
        </p:nvGraphicFramePr>
        <p:xfrm>
          <a:off x="4128400" y="21154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A</a:t>
                      </a:r>
                      <a:endParaRPr b="1" sz="2000"/>
                    </a:p>
                  </a:txBody>
                  <a:tcPr marT="91425" marB="91425" marR="91425" marL="91425"/>
                </a:tc>
                <a:tc>
                  <a:txBody>
                    <a:bodyPr/>
                    <a:lstStyle/>
                    <a:p>
                      <a:pPr indent="0" lvl="0" marL="0" rtl="0" algn="l">
                        <a:spcBef>
                          <a:spcPts val="0"/>
                        </a:spcBef>
                        <a:spcAft>
                          <a:spcPts val="0"/>
                        </a:spcAft>
                        <a:buNone/>
                      </a:pPr>
                      <a:r>
                        <a:rPr b="1" lang="en" sz="2000"/>
                        <a:t>B</a:t>
                      </a:r>
                      <a:endParaRPr b="1" sz="2000"/>
                    </a:p>
                  </a:txBody>
                  <a:tcPr marT="91425" marB="91425" marR="91425" marL="91425"/>
                </a:tc>
                <a:tc>
                  <a:txBody>
                    <a:bodyPr/>
                    <a:lstStyle/>
                    <a:p>
                      <a:pPr indent="0" lvl="0" marL="0" rtl="0" algn="l">
                        <a:spcBef>
                          <a:spcPts val="0"/>
                        </a:spcBef>
                        <a:spcAft>
                          <a:spcPts val="0"/>
                        </a:spcAft>
                        <a:buNone/>
                      </a:pPr>
                      <a:r>
                        <a:rPr b="1" lang="en" sz="2000"/>
                        <a:t>C</a:t>
                      </a:r>
                      <a:endParaRPr b="1" sz="2000"/>
                    </a:p>
                  </a:txBody>
                  <a:tcPr marT="91425" marB="91425" marR="91425" marL="91425"/>
                </a:tc>
                <a:tc>
                  <a:txBody>
                    <a:bodyPr/>
                    <a:lstStyle/>
                    <a:p>
                      <a:pPr indent="0" lvl="0" marL="0" rtl="0" algn="l">
                        <a:spcBef>
                          <a:spcPts val="0"/>
                        </a:spcBef>
                        <a:spcAft>
                          <a:spcPts val="0"/>
                        </a:spcAft>
                        <a:buNone/>
                      </a:pPr>
                      <a:r>
                        <a:rPr b="1" lang="en" sz="2000"/>
                        <a:t>D</a:t>
                      </a:r>
                      <a:endParaRPr b="1" sz="2000"/>
                    </a:p>
                  </a:txBody>
                  <a:tcPr marT="91425" marB="91425" marR="91425" marL="91425"/>
                </a:tc>
                <a:tc>
                  <a:txBody>
                    <a:bodyPr/>
                    <a:lstStyle/>
                    <a:p>
                      <a:pPr indent="0" lvl="0" marL="0" rtl="0" algn="l">
                        <a:spcBef>
                          <a:spcPts val="0"/>
                        </a:spcBef>
                        <a:spcAft>
                          <a:spcPts val="0"/>
                        </a:spcAft>
                        <a:buNone/>
                      </a:pPr>
                      <a:r>
                        <a:rPr b="1" lang="en" sz="2000"/>
                        <a:t>E</a:t>
                      </a:r>
                      <a:endParaRPr b="1" sz="2000"/>
                    </a:p>
                  </a:txBody>
                  <a:tcPr marT="91425" marB="91425" marR="91425" marL="91425"/>
                </a:tc>
                <a:tc>
                  <a:txBody>
                    <a:bodyPr/>
                    <a:lstStyle/>
                    <a:p>
                      <a:pPr indent="0" lvl="0" marL="0" rtl="0" algn="l">
                        <a:spcBef>
                          <a:spcPts val="0"/>
                        </a:spcBef>
                        <a:spcAft>
                          <a:spcPts val="0"/>
                        </a:spcAft>
                        <a:buNone/>
                      </a:pPr>
                      <a:r>
                        <a:rPr b="1" lang="en" sz="2000"/>
                        <a:t>F</a:t>
                      </a:r>
                      <a:endParaRPr b="1" sz="2000"/>
                    </a:p>
                  </a:txBody>
                  <a:tcPr marT="91425" marB="91425" marR="91425" marL="91425"/>
                </a:tc>
                <a:tc>
                  <a:txBody>
                    <a:bodyPr/>
                    <a:lstStyle/>
                    <a:p>
                      <a:pPr indent="0" lvl="0" marL="0" rtl="0" algn="l">
                        <a:spcBef>
                          <a:spcPts val="0"/>
                        </a:spcBef>
                        <a:spcAft>
                          <a:spcPts val="0"/>
                        </a:spcAft>
                        <a:buNone/>
                      </a:pPr>
                      <a:r>
                        <a:rPr b="1" lang="en" sz="2000"/>
                        <a:t>G</a:t>
                      </a:r>
                      <a:endParaRPr b="1" sz="2000"/>
                    </a:p>
                  </a:txBody>
                  <a:tcPr marT="91425" marB="91425" marR="91425" marL="91425"/>
                </a:tc>
                <a:tc>
                  <a:txBody>
                    <a:bodyPr/>
                    <a:lstStyle/>
                    <a:p>
                      <a:pPr indent="0" lvl="0" marL="0" rtl="0" algn="l">
                        <a:spcBef>
                          <a:spcPts val="0"/>
                        </a:spcBef>
                        <a:spcAft>
                          <a:spcPts val="0"/>
                        </a:spcAft>
                        <a:buNone/>
                      </a:pPr>
                      <a:r>
                        <a:rPr b="1" lang="en" sz="2000"/>
                        <a:t>H</a:t>
                      </a:r>
                      <a:endParaRPr b="1" sz="2000"/>
                    </a:p>
                  </a:txBody>
                  <a:tcPr marT="91425" marB="91425" marR="91425" marL="91425"/>
                </a:tc>
              </a:tr>
            </a:tbl>
          </a:graphicData>
        </a:graphic>
      </p:graphicFrame>
      <p:graphicFrame>
        <p:nvGraphicFramePr>
          <p:cNvPr id="185" name="Google Shape;185;p29"/>
          <p:cNvGraphicFramePr/>
          <p:nvPr/>
        </p:nvGraphicFramePr>
        <p:xfrm>
          <a:off x="4128400" y="26488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b="1" sz="2000"/>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8 Queen Problem</a:t>
            </a:r>
            <a:endParaRPr/>
          </a:p>
        </p:txBody>
      </p:sp>
      <p:pic>
        <p:nvPicPr>
          <p:cNvPr id="191" name="Google Shape;191;p30"/>
          <p:cNvPicPr preferRelativeResize="0"/>
          <p:nvPr/>
        </p:nvPicPr>
        <p:blipFill>
          <a:blip r:embed="rId3">
            <a:alphaModFix/>
          </a:blip>
          <a:stretch>
            <a:fillRect/>
          </a:stretch>
        </p:blipFill>
        <p:spPr>
          <a:xfrm>
            <a:off x="471888" y="1705725"/>
            <a:ext cx="3332275" cy="3332275"/>
          </a:xfrm>
          <a:prstGeom prst="rect">
            <a:avLst/>
          </a:prstGeom>
          <a:noFill/>
          <a:ln>
            <a:noFill/>
          </a:ln>
        </p:spPr>
      </p:pic>
      <p:graphicFrame>
        <p:nvGraphicFramePr>
          <p:cNvPr id="192" name="Google Shape;192;p30"/>
          <p:cNvGraphicFramePr/>
          <p:nvPr/>
        </p:nvGraphicFramePr>
        <p:xfrm>
          <a:off x="4128400" y="21154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A</a:t>
                      </a:r>
                      <a:endParaRPr b="1" sz="2000"/>
                    </a:p>
                  </a:txBody>
                  <a:tcPr marT="91425" marB="91425" marR="91425" marL="91425"/>
                </a:tc>
                <a:tc>
                  <a:txBody>
                    <a:bodyPr/>
                    <a:lstStyle/>
                    <a:p>
                      <a:pPr indent="0" lvl="0" marL="0" rtl="0" algn="l">
                        <a:spcBef>
                          <a:spcPts val="0"/>
                        </a:spcBef>
                        <a:spcAft>
                          <a:spcPts val="0"/>
                        </a:spcAft>
                        <a:buNone/>
                      </a:pPr>
                      <a:r>
                        <a:rPr b="1" lang="en" sz="2000"/>
                        <a:t>B</a:t>
                      </a:r>
                      <a:endParaRPr b="1" sz="2000"/>
                    </a:p>
                  </a:txBody>
                  <a:tcPr marT="91425" marB="91425" marR="91425" marL="91425"/>
                </a:tc>
                <a:tc>
                  <a:txBody>
                    <a:bodyPr/>
                    <a:lstStyle/>
                    <a:p>
                      <a:pPr indent="0" lvl="0" marL="0" rtl="0" algn="l">
                        <a:spcBef>
                          <a:spcPts val="0"/>
                        </a:spcBef>
                        <a:spcAft>
                          <a:spcPts val="0"/>
                        </a:spcAft>
                        <a:buNone/>
                      </a:pPr>
                      <a:r>
                        <a:rPr b="1" lang="en" sz="2000"/>
                        <a:t>C</a:t>
                      </a:r>
                      <a:endParaRPr b="1" sz="2000"/>
                    </a:p>
                  </a:txBody>
                  <a:tcPr marT="91425" marB="91425" marR="91425" marL="91425"/>
                </a:tc>
                <a:tc>
                  <a:txBody>
                    <a:bodyPr/>
                    <a:lstStyle/>
                    <a:p>
                      <a:pPr indent="0" lvl="0" marL="0" rtl="0" algn="l">
                        <a:spcBef>
                          <a:spcPts val="0"/>
                        </a:spcBef>
                        <a:spcAft>
                          <a:spcPts val="0"/>
                        </a:spcAft>
                        <a:buNone/>
                      </a:pPr>
                      <a:r>
                        <a:rPr b="1" lang="en" sz="2000"/>
                        <a:t>D</a:t>
                      </a:r>
                      <a:endParaRPr b="1" sz="2000"/>
                    </a:p>
                  </a:txBody>
                  <a:tcPr marT="91425" marB="91425" marR="91425" marL="91425"/>
                </a:tc>
                <a:tc>
                  <a:txBody>
                    <a:bodyPr/>
                    <a:lstStyle/>
                    <a:p>
                      <a:pPr indent="0" lvl="0" marL="0" rtl="0" algn="l">
                        <a:spcBef>
                          <a:spcPts val="0"/>
                        </a:spcBef>
                        <a:spcAft>
                          <a:spcPts val="0"/>
                        </a:spcAft>
                        <a:buNone/>
                      </a:pPr>
                      <a:r>
                        <a:rPr b="1" lang="en" sz="2000"/>
                        <a:t>E</a:t>
                      </a:r>
                      <a:endParaRPr b="1" sz="2000"/>
                    </a:p>
                  </a:txBody>
                  <a:tcPr marT="91425" marB="91425" marR="91425" marL="91425"/>
                </a:tc>
                <a:tc>
                  <a:txBody>
                    <a:bodyPr/>
                    <a:lstStyle/>
                    <a:p>
                      <a:pPr indent="0" lvl="0" marL="0" rtl="0" algn="l">
                        <a:spcBef>
                          <a:spcPts val="0"/>
                        </a:spcBef>
                        <a:spcAft>
                          <a:spcPts val="0"/>
                        </a:spcAft>
                        <a:buNone/>
                      </a:pPr>
                      <a:r>
                        <a:rPr b="1" lang="en" sz="2000"/>
                        <a:t>F</a:t>
                      </a:r>
                      <a:endParaRPr b="1" sz="2000"/>
                    </a:p>
                  </a:txBody>
                  <a:tcPr marT="91425" marB="91425" marR="91425" marL="91425"/>
                </a:tc>
                <a:tc>
                  <a:txBody>
                    <a:bodyPr/>
                    <a:lstStyle/>
                    <a:p>
                      <a:pPr indent="0" lvl="0" marL="0" rtl="0" algn="l">
                        <a:spcBef>
                          <a:spcPts val="0"/>
                        </a:spcBef>
                        <a:spcAft>
                          <a:spcPts val="0"/>
                        </a:spcAft>
                        <a:buNone/>
                      </a:pPr>
                      <a:r>
                        <a:rPr b="1" lang="en" sz="2000"/>
                        <a:t>G</a:t>
                      </a:r>
                      <a:endParaRPr b="1" sz="2000"/>
                    </a:p>
                  </a:txBody>
                  <a:tcPr marT="91425" marB="91425" marR="91425" marL="91425"/>
                </a:tc>
                <a:tc>
                  <a:txBody>
                    <a:bodyPr/>
                    <a:lstStyle/>
                    <a:p>
                      <a:pPr indent="0" lvl="0" marL="0" rtl="0" algn="l">
                        <a:spcBef>
                          <a:spcPts val="0"/>
                        </a:spcBef>
                        <a:spcAft>
                          <a:spcPts val="0"/>
                        </a:spcAft>
                        <a:buNone/>
                      </a:pPr>
                      <a:r>
                        <a:rPr b="1" lang="en" sz="2000"/>
                        <a:t>H</a:t>
                      </a:r>
                      <a:endParaRPr b="1" sz="2000"/>
                    </a:p>
                  </a:txBody>
                  <a:tcPr marT="91425" marB="91425" marR="91425" marL="91425"/>
                </a:tc>
              </a:tr>
            </a:tbl>
          </a:graphicData>
        </a:graphic>
      </p:graphicFrame>
      <p:graphicFrame>
        <p:nvGraphicFramePr>
          <p:cNvPr id="193" name="Google Shape;193;p30"/>
          <p:cNvGraphicFramePr/>
          <p:nvPr/>
        </p:nvGraphicFramePr>
        <p:xfrm>
          <a:off x="4128400" y="26488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3</a:t>
                      </a:r>
                      <a:endParaRPr b="1" sz="2000"/>
                    </a:p>
                  </a:txBody>
                  <a:tcPr marT="91425" marB="91425" marR="91425" marL="91425"/>
                </a:tc>
                <a:tc>
                  <a:txBody>
                    <a:bodyPr/>
                    <a:lstStyle/>
                    <a:p>
                      <a:pPr indent="0" lvl="0" marL="0" rtl="0" algn="l">
                        <a:spcBef>
                          <a:spcPts val="0"/>
                        </a:spcBef>
                        <a:spcAft>
                          <a:spcPts val="0"/>
                        </a:spcAft>
                        <a:buNone/>
                      </a:pPr>
                      <a:r>
                        <a:rPr b="1" lang="en" sz="2000"/>
                        <a:t>8</a:t>
                      </a:r>
                      <a:endParaRPr b="1" sz="2000"/>
                    </a:p>
                  </a:txBody>
                  <a:tcPr marT="91425" marB="91425" marR="91425" marL="91425"/>
                </a:tc>
                <a:tc>
                  <a:txBody>
                    <a:bodyPr/>
                    <a:lstStyle/>
                    <a:p>
                      <a:pPr indent="0" lvl="0" marL="0" rtl="0" algn="l">
                        <a:spcBef>
                          <a:spcPts val="0"/>
                        </a:spcBef>
                        <a:spcAft>
                          <a:spcPts val="0"/>
                        </a:spcAft>
                        <a:buNone/>
                      </a:pPr>
                      <a:r>
                        <a:rPr b="1" lang="en" sz="2000"/>
                        <a:t>4</a:t>
                      </a:r>
                      <a:endParaRPr b="1" sz="2000"/>
                    </a:p>
                  </a:txBody>
                  <a:tcPr marT="91425" marB="91425" marR="91425" marL="91425"/>
                </a:tc>
                <a:tc>
                  <a:txBody>
                    <a:bodyPr/>
                    <a:lstStyle/>
                    <a:p>
                      <a:pPr indent="0" lvl="0" marL="0" rtl="0" algn="l">
                        <a:spcBef>
                          <a:spcPts val="0"/>
                        </a:spcBef>
                        <a:spcAft>
                          <a:spcPts val="0"/>
                        </a:spcAft>
                        <a:buNone/>
                      </a:pPr>
                      <a:r>
                        <a:rPr b="1" lang="en" sz="2000"/>
                        <a:t>7</a:t>
                      </a:r>
                      <a:endParaRPr b="1" sz="2000"/>
                    </a:p>
                  </a:txBody>
                  <a:tcPr marT="91425" marB="91425" marR="91425" marL="91425"/>
                </a:tc>
                <a:tc>
                  <a:txBody>
                    <a:bodyPr/>
                    <a:lstStyle/>
                    <a:p>
                      <a:pPr indent="0" lvl="0" marL="0" rtl="0" algn="l">
                        <a:spcBef>
                          <a:spcPts val="0"/>
                        </a:spcBef>
                        <a:spcAft>
                          <a:spcPts val="0"/>
                        </a:spcAft>
                        <a:buNone/>
                      </a:pPr>
                      <a:r>
                        <a:rPr b="1" lang="en" sz="2000"/>
                        <a:t>1</a:t>
                      </a:r>
                      <a:endParaRPr b="1" sz="2000"/>
                    </a:p>
                  </a:txBody>
                  <a:tcPr marT="91425" marB="91425" marR="91425" marL="91425"/>
                </a:tc>
                <a:tc>
                  <a:txBody>
                    <a:bodyPr/>
                    <a:lstStyle/>
                    <a:p>
                      <a:pPr indent="0" lvl="0" marL="0" rtl="0" algn="l">
                        <a:spcBef>
                          <a:spcPts val="0"/>
                        </a:spcBef>
                        <a:spcAft>
                          <a:spcPts val="0"/>
                        </a:spcAft>
                        <a:buNone/>
                      </a:pPr>
                      <a:r>
                        <a:rPr b="1" lang="en" sz="2000"/>
                        <a:t>6</a:t>
                      </a:r>
                      <a:endParaRPr b="1" sz="2000"/>
                    </a:p>
                  </a:txBody>
                  <a:tcPr marT="91425" marB="91425" marR="91425" marL="91425"/>
                </a:tc>
                <a:tc>
                  <a:txBody>
                    <a:bodyPr/>
                    <a:lstStyle/>
                    <a:p>
                      <a:pPr indent="0" lvl="0" marL="0" rtl="0" algn="l">
                        <a:spcBef>
                          <a:spcPts val="0"/>
                        </a:spcBef>
                        <a:spcAft>
                          <a:spcPts val="0"/>
                        </a:spcAft>
                        <a:buNone/>
                      </a:pPr>
                      <a:r>
                        <a:rPr b="1" lang="en" sz="2000"/>
                        <a:t>2</a:t>
                      </a:r>
                      <a:endParaRPr b="1" sz="2000"/>
                    </a:p>
                  </a:txBody>
                  <a:tcPr marT="91425" marB="91425" marR="91425" marL="91425"/>
                </a:tc>
                <a:tc>
                  <a:txBody>
                    <a:bodyPr/>
                    <a:lstStyle/>
                    <a:p>
                      <a:pPr indent="0" lvl="0" marL="0" rtl="0" algn="l">
                        <a:spcBef>
                          <a:spcPts val="0"/>
                        </a:spcBef>
                        <a:spcAft>
                          <a:spcPts val="0"/>
                        </a:spcAft>
                        <a:buNone/>
                      </a:pPr>
                      <a:r>
                        <a:rPr b="1" lang="en" sz="2000"/>
                        <a:t>5</a:t>
                      </a:r>
                      <a:endParaRPr b="1" sz="2000"/>
                    </a:p>
                  </a:txBody>
                  <a:tcPr marT="91425" marB="91425" marR="91425" marL="91425"/>
                </a:tc>
              </a:tr>
            </a:tbl>
          </a:graphicData>
        </a:graphic>
      </p:graphicFrame>
      <p:sp>
        <p:nvSpPr>
          <p:cNvPr id="194" name="Google Shape;194;p30"/>
          <p:cNvSpPr txBox="1"/>
          <p:nvPr/>
        </p:nvSpPr>
        <p:spPr>
          <a:xfrm>
            <a:off x="4128400" y="3449850"/>
            <a:ext cx="2188800" cy="4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latin typeface="Roboto"/>
                <a:ea typeface="Roboto"/>
                <a:cs typeface="Roboto"/>
                <a:sym typeface="Roboto"/>
              </a:rPr>
              <a:t>Domain: </a:t>
            </a:r>
            <a:endParaRPr b="1" sz="1800">
              <a:solidFill>
                <a:schemeClr val="lt2"/>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8 Queen Problem</a:t>
            </a:r>
            <a:endParaRPr/>
          </a:p>
        </p:txBody>
      </p:sp>
      <p:pic>
        <p:nvPicPr>
          <p:cNvPr id="200" name="Google Shape;200;p31"/>
          <p:cNvPicPr preferRelativeResize="0"/>
          <p:nvPr/>
        </p:nvPicPr>
        <p:blipFill>
          <a:blip r:embed="rId3">
            <a:alphaModFix/>
          </a:blip>
          <a:stretch>
            <a:fillRect/>
          </a:stretch>
        </p:blipFill>
        <p:spPr>
          <a:xfrm>
            <a:off x="471888" y="1705725"/>
            <a:ext cx="3332275" cy="3332275"/>
          </a:xfrm>
          <a:prstGeom prst="rect">
            <a:avLst/>
          </a:prstGeom>
          <a:noFill/>
          <a:ln>
            <a:noFill/>
          </a:ln>
        </p:spPr>
      </p:pic>
      <p:graphicFrame>
        <p:nvGraphicFramePr>
          <p:cNvPr id="201" name="Google Shape;201;p31"/>
          <p:cNvGraphicFramePr/>
          <p:nvPr/>
        </p:nvGraphicFramePr>
        <p:xfrm>
          <a:off x="4128400" y="21154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A</a:t>
                      </a:r>
                      <a:endParaRPr b="1" sz="2000"/>
                    </a:p>
                  </a:txBody>
                  <a:tcPr marT="91425" marB="91425" marR="91425" marL="91425"/>
                </a:tc>
                <a:tc>
                  <a:txBody>
                    <a:bodyPr/>
                    <a:lstStyle/>
                    <a:p>
                      <a:pPr indent="0" lvl="0" marL="0" rtl="0" algn="l">
                        <a:spcBef>
                          <a:spcPts val="0"/>
                        </a:spcBef>
                        <a:spcAft>
                          <a:spcPts val="0"/>
                        </a:spcAft>
                        <a:buNone/>
                      </a:pPr>
                      <a:r>
                        <a:rPr b="1" lang="en" sz="2000"/>
                        <a:t>B</a:t>
                      </a:r>
                      <a:endParaRPr b="1" sz="2000"/>
                    </a:p>
                  </a:txBody>
                  <a:tcPr marT="91425" marB="91425" marR="91425" marL="91425"/>
                </a:tc>
                <a:tc>
                  <a:txBody>
                    <a:bodyPr/>
                    <a:lstStyle/>
                    <a:p>
                      <a:pPr indent="0" lvl="0" marL="0" rtl="0" algn="l">
                        <a:spcBef>
                          <a:spcPts val="0"/>
                        </a:spcBef>
                        <a:spcAft>
                          <a:spcPts val="0"/>
                        </a:spcAft>
                        <a:buNone/>
                      </a:pPr>
                      <a:r>
                        <a:rPr b="1" lang="en" sz="2000"/>
                        <a:t>C</a:t>
                      </a:r>
                      <a:endParaRPr b="1" sz="2000"/>
                    </a:p>
                  </a:txBody>
                  <a:tcPr marT="91425" marB="91425" marR="91425" marL="91425"/>
                </a:tc>
                <a:tc>
                  <a:txBody>
                    <a:bodyPr/>
                    <a:lstStyle/>
                    <a:p>
                      <a:pPr indent="0" lvl="0" marL="0" rtl="0" algn="l">
                        <a:spcBef>
                          <a:spcPts val="0"/>
                        </a:spcBef>
                        <a:spcAft>
                          <a:spcPts val="0"/>
                        </a:spcAft>
                        <a:buNone/>
                      </a:pPr>
                      <a:r>
                        <a:rPr b="1" lang="en" sz="2000"/>
                        <a:t>D</a:t>
                      </a:r>
                      <a:endParaRPr b="1" sz="2000"/>
                    </a:p>
                  </a:txBody>
                  <a:tcPr marT="91425" marB="91425" marR="91425" marL="91425"/>
                </a:tc>
                <a:tc>
                  <a:txBody>
                    <a:bodyPr/>
                    <a:lstStyle/>
                    <a:p>
                      <a:pPr indent="0" lvl="0" marL="0" rtl="0" algn="l">
                        <a:spcBef>
                          <a:spcPts val="0"/>
                        </a:spcBef>
                        <a:spcAft>
                          <a:spcPts val="0"/>
                        </a:spcAft>
                        <a:buNone/>
                      </a:pPr>
                      <a:r>
                        <a:rPr b="1" lang="en" sz="2000"/>
                        <a:t>E</a:t>
                      </a:r>
                      <a:endParaRPr b="1" sz="2000"/>
                    </a:p>
                  </a:txBody>
                  <a:tcPr marT="91425" marB="91425" marR="91425" marL="91425"/>
                </a:tc>
                <a:tc>
                  <a:txBody>
                    <a:bodyPr/>
                    <a:lstStyle/>
                    <a:p>
                      <a:pPr indent="0" lvl="0" marL="0" rtl="0" algn="l">
                        <a:spcBef>
                          <a:spcPts val="0"/>
                        </a:spcBef>
                        <a:spcAft>
                          <a:spcPts val="0"/>
                        </a:spcAft>
                        <a:buNone/>
                      </a:pPr>
                      <a:r>
                        <a:rPr b="1" lang="en" sz="2000"/>
                        <a:t>F</a:t>
                      </a:r>
                      <a:endParaRPr b="1" sz="2000"/>
                    </a:p>
                  </a:txBody>
                  <a:tcPr marT="91425" marB="91425" marR="91425" marL="91425"/>
                </a:tc>
                <a:tc>
                  <a:txBody>
                    <a:bodyPr/>
                    <a:lstStyle/>
                    <a:p>
                      <a:pPr indent="0" lvl="0" marL="0" rtl="0" algn="l">
                        <a:spcBef>
                          <a:spcPts val="0"/>
                        </a:spcBef>
                        <a:spcAft>
                          <a:spcPts val="0"/>
                        </a:spcAft>
                        <a:buNone/>
                      </a:pPr>
                      <a:r>
                        <a:rPr b="1" lang="en" sz="2000"/>
                        <a:t>G</a:t>
                      </a:r>
                      <a:endParaRPr b="1" sz="2000"/>
                    </a:p>
                  </a:txBody>
                  <a:tcPr marT="91425" marB="91425" marR="91425" marL="91425"/>
                </a:tc>
                <a:tc>
                  <a:txBody>
                    <a:bodyPr/>
                    <a:lstStyle/>
                    <a:p>
                      <a:pPr indent="0" lvl="0" marL="0" rtl="0" algn="l">
                        <a:spcBef>
                          <a:spcPts val="0"/>
                        </a:spcBef>
                        <a:spcAft>
                          <a:spcPts val="0"/>
                        </a:spcAft>
                        <a:buNone/>
                      </a:pPr>
                      <a:r>
                        <a:rPr b="1" lang="en" sz="2000"/>
                        <a:t>H</a:t>
                      </a:r>
                      <a:endParaRPr b="1" sz="2000"/>
                    </a:p>
                  </a:txBody>
                  <a:tcPr marT="91425" marB="91425" marR="91425" marL="91425"/>
                </a:tc>
              </a:tr>
            </a:tbl>
          </a:graphicData>
        </a:graphic>
      </p:graphicFrame>
      <p:graphicFrame>
        <p:nvGraphicFramePr>
          <p:cNvPr id="202" name="Google Shape;202;p31"/>
          <p:cNvGraphicFramePr/>
          <p:nvPr/>
        </p:nvGraphicFramePr>
        <p:xfrm>
          <a:off x="4128400" y="26488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3</a:t>
                      </a:r>
                      <a:endParaRPr b="1" sz="2000"/>
                    </a:p>
                  </a:txBody>
                  <a:tcPr marT="91425" marB="91425" marR="91425" marL="91425"/>
                </a:tc>
                <a:tc>
                  <a:txBody>
                    <a:bodyPr/>
                    <a:lstStyle/>
                    <a:p>
                      <a:pPr indent="0" lvl="0" marL="0" rtl="0" algn="l">
                        <a:spcBef>
                          <a:spcPts val="0"/>
                        </a:spcBef>
                        <a:spcAft>
                          <a:spcPts val="0"/>
                        </a:spcAft>
                        <a:buNone/>
                      </a:pPr>
                      <a:r>
                        <a:rPr b="1" lang="en" sz="2000"/>
                        <a:t>8</a:t>
                      </a:r>
                      <a:endParaRPr b="1" sz="2000"/>
                    </a:p>
                  </a:txBody>
                  <a:tcPr marT="91425" marB="91425" marR="91425" marL="91425"/>
                </a:tc>
                <a:tc>
                  <a:txBody>
                    <a:bodyPr/>
                    <a:lstStyle/>
                    <a:p>
                      <a:pPr indent="0" lvl="0" marL="0" rtl="0" algn="l">
                        <a:spcBef>
                          <a:spcPts val="0"/>
                        </a:spcBef>
                        <a:spcAft>
                          <a:spcPts val="0"/>
                        </a:spcAft>
                        <a:buNone/>
                      </a:pPr>
                      <a:r>
                        <a:rPr b="1" lang="en" sz="2000"/>
                        <a:t>4</a:t>
                      </a:r>
                      <a:endParaRPr b="1" sz="2000"/>
                    </a:p>
                  </a:txBody>
                  <a:tcPr marT="91425" marB="91425" marR="91425" marL="91425"/>
                </a:tc>
                <a:tc>
                  <a:txBody>
                    <a:bodyPr/>
                    <a:lstStyle/>
                    <a:p>
                      <a:pPr indent="0" lvl="0" marL="0" rtl="0" algn="l">
                        <a:spcBef>
                          <a:spcPts val="0"/>
                        </a:spcBef>
                        <a:spcAft>
                          <a:spcPts val="0"/>
                        </a:spcAft>
                        <a:buNone/>
                      </a:pPr>
                      <a:r>
                        <a:rPr b="1" lang="en" sz="2000"/>
                        <a:t>7</a:t>
                      </a:r>
                      <a:endParaRPr b="1" sz="2000"/>
                    </a:p>
                  </a:txBody>
                  <a:tcPr marT="91425" marB="91425" marR="91425" marL="91425"/>
                </a:tc>
                <a:tc>
                  <a:txBody>
                    <a:bodyPr/>
                    <a:lstStyle/>
                    <a:p>
                      <a:pPr indent="0" lvl="0" marL="0" rtl="0" algn="l">
                        <a:spcBef>
                          <a:spcPts val="0"/>
                        </a:spcBef>
                        <a:spcAft>
                          <a:spcPts val="0"/>
                        </a:spcAft>
                        <a:buNone/>
                      </a:pPr>
                      <a:r>
                        <a:rPr b="1" lang="en" sz="2000"/>
                        <a:t>1</a:t>
                      </a:r>
                      <a:endParaRPr b="1" sz="2000"/>
                    </a:p>
                  </a:txBody>
                  <a:tcPr marT="91425" marB="91425" marR="91425" marL="91425"/>
                </a:tc>
                <a:tc>
                  <a:txBody>
                    <a:bodyPr/>
                    <a:lstStyle/>
                    <a:p>
                      <a:pPr indent="0" lvl="0" marL="0" rtl="0" algn="l">
                        <a:spcBef>
                          <a:spcPts val="0"/>
                        </a:spcBef>
                        <a:spcAft>
                          <a:spcPts val="0"/>
                        </a:spcAft>
                        <a:buNone/>
                      </a:pPr>
                      <a:r>
                        <a:rPr b="1" lang="en" sz="2000"/>
                        <a:t>6</a:t>
                      </a:r>
                      <a:endParaRPr b="1" sz="2000"/>
                    </a:p>
                  </a:txBody>
                  <a:tcPr marT="91425" marB="91425" marR="91425" marL="91425"/>
                </a:tc>
                <a:tc>
                  <a:txBody>
                    <a:bodyPr/>
                    <a:lstStyle/>
                    <a:p>
                      <a:pPr indent="0" lvl="0" marL="0" rtl="0" algn="l">
                        <a:spcBef>
                          <a:spcPts val="0"/>
                        </a:spcBef>
                        <a:spcAft>
                          <a:spcPts val="0"/>
                        </a:spcAft>
                        <a:buNone/>
                      </a:pPr>
                      <a:r>
                        <a:rPr b="1" lang="en" sz="2000"/>
                        <a:t>2</a:t>
                      </a:r>
                      <a:endParaRPr b="1" sz="2000"/>
                    </a:p>
                  </a:txBody>
                  <a:tcPr marT="91425" marB="91425" marR="91425" marL="91425"/>
                </a:tc>
                <a:tc>
                  <a:txBody>
                    <a:bodyPr/>
                    <a:lstStyle/>
                    <a:p>
                      <a:pPr indent="0" lvl="0" marL="0" rtl="0" algn="l">
                        <a:spcBef>
                          <a:spcPts val="0"/>
                        </a:spcBef>
                        <a:spcAft>
                          <a:spcPts val="0"/>
                        </a:spcAft>
                        <a:buNone/>
                      </a:pPr>
                      <a:r>
                        <a:rPr b="1" lang="en" sz="2000"/>
                        <a:t>5</a:t>
                      </a:r>
                      <a:endParaRPr b="1" sz="2000"/>
                    </a:p>
                  </a:txBody>
                  <a:tcPr marT="91425" marB="91425" marR="91425" marL="91425"/>
                </a:tc>
              </a:tr>
            </a:tbl>
          </a:graphicData>
        </a:graphic>
      </p:graphicFrame>
      <p:sp>
        <p:nvSpPr>
          <p:cNvPr id="203" name="Google Shape;203;p31"/>
          <p:cNvSpPr txBox="1"/>
          <p:nvPr/>
        </p:nvSpPr>
        <p:spPr>
          <a:xfrm>
            <a:off x="4128400" y="3449850"/>
            <a:ext cx="3725100" cy="48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latin typeface="Roboto"/>
                <a:ea typeface="Roboto"/>
                <a:cs typeface="Roboto"/>
                <a:sym typeface="Roboto"/>
              </a:rPr>
              <a:t>Domain: {1, 2, 3, 4, 5, 6, 7, 8}</a:t>
            </a:r>
            <a:endParaRPr b="1" sz="1800">
              <a:solidFill>
                <a:schemeClr val="lt2"/>
              </a:solidFill>
              <a:latin typeface="Roboto"/>
              <a:ea typeface="Roboto"/>
              <a:cs typeface="Roboto"/>
              <a:sym typeface="Roboto"/>
            </a:endParaRPr>
          </a:p>
          <a:p>
            <a:pPr indent="0" lvl="0" marL="0" rtl="0" algn="l">
              <a:spcBef>
                <a:spcPts val="0"/>
              </a:spcBef>
              <a:spcAft>
                <a:spcPts val="0"/>
              </a:spcAft>
              <a:buNone/>
            </a:pPr>
            <a:r>
              <a:rPr b="1" lang="en" sz="1800">
                <a:solidFill>
                  <a:schemeClr val="lt2"/>
                </a:solidFill>
                <a:latin typeface="Roboto"/>
                <a:ea typeface="Roboto"/>
                <a:cs typeface="Roboto"/>
                <a:sym typeface="Roboto"/>
              </a:rPr>
              <a:t>Constraints:</a:t>
            </a:r>
            <a:endParaRPr b="1" sz="1800">
              <a:solidFill>
                <a:schemeClr val="lt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 problem: 8 Queen Problem</a:t>
            </a:r>
            <a:endParaRPr/>
          </a:p>
        </p:txBody>
      </p:sp>
      <p:pic>
        <p:nvPicPr>
          <p:cNvPr id="209" name="Google Shape;209;p32"/>
          <p:cNvPicPr preferRelativeResize="0"/>
          <p:nvPr/>
        </p:nvPicPr>
        <p:blipFill>
          <a:blip r:embed="rId3">
            <a:alphaModFix/>
          </a:blip>
          <a:stretch>
            <a:fillRect/>
          </a:stretch>
        </p:blipFill>
        <p:spPr>
          <a:xfrm>
            <a:off x="471888" y="1705725"/>
            <a:ext cx="3332275" cy="3332275"/>
          </a:xfrm>
          <a:prstGeom prst="rect">
            <a:avLst/>
          </a:prstGeom>
          <a:noFill/>
          <a:ln>
            <a:noFill/>
          </a:ln>
        </p:spPr>
      </p:pic>
      <p:graphicFrame>
        <p:nvGraphicFramePr>
          <p:cNvPr id="210" name="Google Shape;210;p32"/>
          <p:cNvGraphicFramePr/>
          <p:nvPr/>
        </p:nvGraphicFramePr>
        <p:xfrm>
          <a:off x="4128400" y="21154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A</a:t>
                      </a:r>
                      <a:endParaRPr b="1" sz="2000"/>
                    </a:p>
                  </a:txBody>
                  <a:tcPr marT="91425" marB="91425" marR="91425" marL="91425"/>
                </a:tc>
                <a:tc>
                  <a:txBody>
                    <a:bodyPr/>
                    <a:lstStyle/>
                    <a:p>
                      <a:pPr indent="0" lvl="0" marL="0" rtl="0" algn="l">
                        <a:spcBef>
                          <a:spcPts val="0"/>
                        </a:spcBef>
                        <a:spcAft>
                          <a:spcPts val="0"/>
                        </a:spcAft>
                        <a:buNone/>
                      </a:pPr>
                      <a:r>
                        <a:rPr b="1" lang="en" sz="2000"/>
                        <a:t>B</a:t>
                      </a:r>
                      <a:endParaRPr b="1" sz="2000"/>
                    </a:p>
                  </a:txBody>
                  <a:tcPr marT="91425" marB="91425" marR="91425" marL="91425"/>
                </a:tc>
                <a:tc>
                  <a:txBody>
                    <a:bodyPr/>
                    <a:lstStyle/>
                    <a:p>
                      <a:pPr indent="0" lvl="0" marL="0" rtl="0" algn="l">
                        <a:spcBef>
                          <a:spcPts val="0"/>
                        </a:spcBef>
                        <a:spcAft>
                          <a:spcPts val="0"/>
                        </a:spcAft>
                        <a:buNone/>
                      </a:pPr>
                      <a:r>
                        <a:rPr b="1" lang="en" sz="2000"/>
                        <a:t>C</a:t>
                      </a:r>
                      <a:endParaRPr b="1" sz="2000"/>
                    </a:p>
                  </a:txBody>
                  <a:tcPr marT="91425" marB="91425" marR="91425" marL="91425"/>
                </a:tc>
                <a:tc>
                  <a:txBody>
                    <a:bodyPr/>
                    <a:lstStyle/>
                    <a:p>
                      <a:pPr indent="0" lvl="0" marL="0" rtl="0" algn="l">
                        <a:spcBef>
                          <a:spcPts val="0"/>
                        </a:spcBef>
                        <a:spcAft>
                          <a:spcPts val="0"/>
                        </a:spcAft>
                        <a:buNone/>
                      </a:pPr>
                      <a:r>
                        <a:rPr b="1" lang="en" sz="2000"/>
                        <a:t>D</a:t>
                      </a:r>
                      <a:endParaRPr b="1" sz="2000"/>
                    </a:p>
                  </a:txBody>
                  <a:tcPr marT="91425" marB="91425" marR="91425" marL="91425"/>
                </a:tc>
                <a:tc>
                  <a:txBody>
                    <a:bodyPr/>
                    <a:lstStyle/>
                    <a:p>
                      <a:pPr indent="0" lvl="0" marL="0" rtl="0" algn="l">
                        <a:spcBef>
                          <a:spcPts val="0"/>
                        </a:spcBef>
                        <a:spcAft>
                          <a:spcPts val="0"/>
                        </a:spcAft>
                        <a:buNone/>
                      </a:pPr>
                      <a:r>
                        <a:rPr b="1" lang="en" sz="2000"/>
                        <a:t>E</a:t>
                      </a:r>
                      <a:endParaRPr b="1" sz="2000"/>
                    </a:p>
                  </a:txBody>
                  <a:tcPr marT="91425" marB="91425" marR="91425" marL="91425"/>
                </a:tc>
                <a:tc>
                  <a:txBody>
                    <a:bodyPr/>
                    <a:lstStyle/>
                    <a:p>
                      <a:pPr indent="0" lvl="0" marL="0" rtl="0" algn="l">
                        <a:spcBef>
                          <a:spcPts val="0"/>
                        </a:spcBef>
                        <a:spcAft>
                          <a:spcPts val="0"/>
                        </a:spcAft>
                        <a:buNone/>
                      </a:pPr>
                      <a:r>
                        <a:rPr b="1" lang="en" sz="2000"/>
                        <a:t>F</a:t>
                      </a:r>
                      <a:endParaRPr b="1" sz="2000"/>
                    </a:p>
                  </a:txBody>
                  <a:tcPr marT="91425" marB="91425" marR="91425" marL="91425"/>
                </a:tc>
                <a:tc>
                  <a:txBody>
                    <a:bodyPr/>
                    <a:lstStyle/>
                    <a:p>
                      <a:pPr indent="0" lvl="0" marL="0" rtl="0" algn="l">
                        <a:spcBef>
                          <a:spcPts val="0"/>
                        </a:spcBef>
                        <a:spcAft>
                          <a:spcPts val="0"/>
                        </a:spcAft>
                        <a:buNone/>
                      </a:pPr>
                      <a:r>
                        <a:rPr b="1" lang="en" sz="2000"/>
                        <a:t>G</a:t>
                      </a:r>
                      <a:endParaRPr b="1" sz="2000"/>
                    </a:p>
                  </a:txBody>
                  <a:tcPr marT="91425" marB="91425" marR="91425" marL="91425"/>
                </a:tc>
                <a:tc>
                  <a:txBody>
                    <a:bodyPr/>
                    <a:lstStyle/>
                    <a:p>
                      <a:pPr indent="0" lvl="0" marL="0" rtl="0" algn="l">
                        <a:spcBef>
                          <a:spcPts val="0"/>
                        </a:spcBef>
                        <a:spcAft>
                          <a:spcPts val="0"/>
                        </a:spcAft>
                        <a:buNone/>
                      </a:pPr>
                      <a:r>
                        <a:rPr b="1" lang="en" sz="2000"/>
                        <a:t>H</a:t>
                      </a:r>
                      <a:endParaRPr b="1" sz="2000"/>
                    </a:p>
                  </a:txBody>
                  <a:tcPr marT="91425" marB="91425" marR="91425" marL="91425"/>
                </a:tc>
              </a:tr>
            </a:tbl>
          </a:graphicData>
        </a:graphic>
      </p:graphicFrame>
      <p:graphicFrame>
        <p:nvGraphicFramePr>
          <p:cNvPr id="211" name="Google Shape;211;p32"/>
          <p:cNvGraphicFramePr/>
          <p:nvPr/>
        </p:nvGraphicFramePr>
        <p:xfrm>
          <a:off x="4128400" y="2648875"/>
          <a:ext cx="3000000" cy="3000000"/>
        </p:xfrm>
        <a:graphic>
          <a:graphicData uri="http://schemas.openxmlformats.org/drawingml/2006/table">
            <a:tbl>
              <a:tblPr>
                <a:noFill/>
                <a:tableStyleId>{3A19241D-611D-4D32-B07C-4E54ADC3A534}</a:tableStyleId>
              </a:tblPr>
              <a:tblGrid>
                <a:gridCol w="570700"/>
                <a:gridCol w="570700"/>
                <a:gridCol w="570700"/>
                <a:gridCol w="570700"/>
                <a:gridCol w="570700"/>
                <a:gridCol w="570700"/>
                <a:gridCol w="570700"/>
                <a:gridCol w="570700"/>
              </a:tblGrid>
              <a:tr h="381000">
                <a:tc>
                  <a:txBody>
                    <a:bodyPr/>
                    <a:lstStyle/>
                    <a:p>
                      <a:pPr indent="0" lvl="0" marL="0" rtl="0" algn="l">
                        <a:spcBef>
                          <a:spcPts val="0"/>
                        </a:spcBef>
                        <a:spcAft>
                          <a:spcPts val="0"/>
                        </a:spcAft>
                        <a:buNone/>
                      </a:pPr>
                      <a:r>
                        <a:rPr b="1" lang="en" sz="2000"/>
                        <a:t>3</a:t>
                      </a:r>
                      <a:endParaRPr b="1" sz="2000"/>
                    </a:p>
                  </a:txBody>
                  <a:tcPr marT="91425" marB="91425" marR="91425" marL="91425"/>
                </a:tc>
                <a:tc>
                  <a:txBody>
                    <a:bodyPr/>
                    <a:lstStyle/>
                    <a:p>
                      <a:pPr indent="0" lvl="0" marL="0" rtl="0" algn="l">
                        <a:spcBef>
                          <a:spcPts val="0"/>
                        </a:spcBef>
                        <a:spcAft>
                          <a:spcPts val="0"/>
                        </a:spcAft>
                        <a:buNone/>
                      </a:pPr>
                      <a:r>
                        <a:rPr b="1" lang="en" sz="2000"/>
                        <a:t>8</a:t>
                      </a:r>
                      <a:endParaRPr b="1" sz="2000"/>
                    </a:p>
                  </a:txBody>
                  <a:tcPr marT="91425" marB="91425" marR="91425" marL="91425"/>
                </a:tc>
                <a:tc>
                  <a:txBody>
                    <a:bodyPr/>
                    <a:lstStyle/>
                    <a:p>
                      <a:pPr indent="0" lvl="0" marL="0" rtl="0" algn="l">
                        <a:spcBef>
                          <a:spcPts val="0"/>
                        </a:spcBef>
                        <a:spcAft>
                          <a:spcPts val="0"/>
                        </a:spcAft>
                        <a:buNone/>
                      </a:pPr>
                      <a:r>
                        <a:rPr b="1" lang="en" sz="2000"/>
                        <a:t>4</a:t>
                      </a:r>
                      <a:endParaRPr b="1" sz="2000"/>
                    </a:p>
                  </a:txBody>
                  <a:tcPr marT="91425" marB="91425" marR="91425" marL="91425"/>
                </a:tc>
                <a:tc>
                  <a:txBody>
                    <a:bodyPr/>
                    <a:lstStyle/>
                    <a:p>
                      <a:pPr indent="0" lvl="0" marL="0" rtl="0" algn="l">
                        <a:spcBef>
                          <a:spcPts val="0"/>
                        </a:spcBef>
                        <a:spcAft>
                          <a:spcPts val="0"/>
                        </a:spcAft>
                        <a:buNone/>
                      </a:pPr>
                      <a:r>
                        <a:rPr b="1" lang="en" sz="2000"/>
                        <a:t>7</a:t>
                      </a:r>
                      <a:endParaRPr b="1" sz="2000"/>
                    </a:p>
                  </a:txBody>
                  <a:tcPr marT="91425" marB="91425" marR="91425" marL="91425"/>
                </a:tc>
                <a:tc>
                  <a:txBody>
                    <a:bodyPr/>
                    <a:lstStyle/>
                    <a:p>
                      <a:pPr indent="0" lvl="0" marL="0" rtl="0" algn="l">
                        <a:spcBef>
                          <a:spcPts val="0"/>
                        </a:spcBef>
                        <a:spcAft>
                          <a:spcPts val="0"/>
                        </a:spcAft>
                        <a:buNone/>
                      </a:pPr>
                      <a:r>
                        <a:rPr b="1" lang="en" sz="2000"/>
                        <a:t>1</a:t>
                      </a:r>
                      <a:endParaRPr b="1" sz="2000"/>
                    </a:p>
                  </a:txBody>
                  <a:tcPr marT="91425" marB="91425" marR="91425" marL="91425"/>
                </a:tc>
                <a:tc>
                  <a:txBody>
                    <a:bodyPr/>
                    <a:lstStyle/>
                    <a:p>
                      <a:pPr indent="0" lvl="0" marL="0" rtl="0" algn="l">
                        <a:spcBef>
                          <a:spcPts val="0"/>
                        </a:spcBef>
                        <a:spcAft>
                          <a:spcPts val="0"/>
                        </a:spcAft>
                        <a:buNone/>
                      </a:pPr>
                      <a:r>
                        <a:rPr b="1" lang="en" sz="2000"/>
                        <a:t>6</a:t>
                      </a:r>
                      <a:endParaRPr b="1" sz="2000"/>
                    </a:p>
                  </a:txBody>
                  <a:tcPr marT="91425" marB="91425" marR="91425" marL="91425"/>
                </a:tc>
                <a:tc>
                  <a:txBody>
                    <a:bodyPr/>
                    <a:lstStyle/>
                    <a:p>
                      <a:pPr indent="0" lvl="0" marL="0" rtl="0" algn="l">
                        <a:spcBef>
                          <a:spcPts val="0"/>
                        </a:spcBef>
                        <a:spcAft>
                          <a:spcPts val="0"/>
                        </a:spcAft>
                        <a:buNone/>
                      </a:pPr>
                      <a:r>
                        <a:rPr b="1" lang="en" sz="2000"/>
                        <a:t>2</a:t>
                      </a:r>
                      <a:endParaRPr b="1" sz="2000"/>
                    </a:p>
                  </a:txBody>
                  <a:tcPr marT="91425" marB="91425" marR="91425" marL="91425"/>
                </a:tc>
                <a:tc>
                  <a:txBody>
                    <a:bodyPr/>
                    <a:lstStyle/>
                    <a:p>
                      <a:pPr indent="0" lvl="0" marL="0" rtl="0" algn="l">
                        <a:spcBef>
                          <a:spcPts val="0"/>
                        </a:spcBef>
                        <a:spcAft>
                          <a:spcPts val="0"/>
                        </a:spcAft>
                        <a:buNone/>
                      </a:pPr>
                      <a:r>
                        <a:rPr b="1" lang="en" sz="2000"/>
                        <a:t>5</a:t>
                      </a:r>
                      <a:endParaRPr b="1" sz="2000"/>
                    </a:p>
                  </a:txBody>
                  <a:tcPr marT="91425" marB="91425" marR="91425" marL="91425"/>
                </a:tc>
              </a:tr>
            </a:tbl>
          </a:graphicData>
        </a:graphic>
      </p:graphicFrame>
      <p:sp>
        <p:nvSpPr>
          <p:cNvPr id="212" name="Google Shape;212;p32"/>
          <p:cNvSpPr txBox="1"/>
          <p:nvPr/>
        </p:nvSpPr>
        <p:spPr>
          <a:xfrm>
            <a:off x="4128400" y="3449850"/>
            <a:ext cx="5085000" cy="15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2"/>
                </a:solidFill>
                <a:latin typeface="Roboto"/>
                <a:ea typeface="Roboto"/>
                <a:cs typeface="Roboto"/>
                <a:sym typeface="Roboto"/>
              </a:rPr>
              <a:t>Domain: {1, 2, 3, 4, 5, 6, 7, 8}</a:t>
            </a:r>
            <a:endParaRPr b="1" sz="1800">
              <a:solidFill>
                <a:schemeClr val="lt2"/>
              </a:solidFill>
              <a:latin typeface="Roboto"/>
              <a:ea typeface="Roboto"/>
              <a:cs typeface="Roboto"/>
              <a:sym typeface="Roboto"/>
            </a:endParaRPr>
          </a:p>
          <a:p>
            <a:pPr indent="0" lvl="0" marL="0" rtl="0" algn="l">
              <a:spcBef>
                <a:spcPts val="0"/>
              </a:spcBef>
              <a:spcAft>
                <a:spcPts val="0"/>
              </a:spcAft>
              <a:buNone/>
            </a:pPr>
            <a:r>
              <a:t/>
            </a:r>
            <a:endParaRPr b="1" sz="1800">
              <a:solidFill>
                <a:schemeClr val="lt2"/>
              </a:solidFill>
              <a:latin typeface="Roboto"/>
              <a:ea typeface="Roboto"/>
              <a:cs typeface="Roboto"/>
              <a:sym typeface="Roboto"/>
            </a:endParaRPr>
          </a:p>
          <a:p>
            <a:pPr indent="0" lvl="0" marL="0" rtl="0" algn="l">
              <a:spcBef>
                <a:spcPts val="0"/>
              </a:spcBef>
              <a:spcAft>
                <a:spcPts val="0"/>
              </a:spcAft>
              <a:buNone/>
            </a:pPr>
            <a:r>
              <a:rPr b="1" lang="en" sz="1800">
                <a:solidFill>
                  <a:schemeClr val="lt2"/>
                </a:solidFill>
                <a:latin typeface="Roboto"/>
                <a:ea typeface="Roboto"/>
                <a:cs typeface="Roboto"/>
                <a:sym typeface="Roboto"/>
              </a:rPr>
              <a:t>Constraints: {A </a:t>
            </a:r>
            <a:r>
              <a:rPr lang="en" sz="2400">
                <a:solidFill>
                  <a:srgbClr val="1F1F1F"/>
                </a:solidFill>
                <a:highlight>
                  <a:srgbClr val="FFFFFF"/>
                </a:highlight>
              </a:rPr>
              <a:t>≠ </a:t>
            </a:r>
            <a:r>
              <a:rPr b="1" lang="en" sz="1800">
                <a:solidFill>
                  <a:schemeClr val="lt2"/>
                </a:solidFill>
                <a:latin typeface="Roboto"/>
                <a:ea typeface="Roboto"/>
                <a:cs typeface="Roboto"/>
                <a:sym typeface="Roboto"/>
              </a:rPr>
              <a:t>B </a:t>
            </a:r>
            <a:r>
              <a:rPr lang="en" sz="2400">
                <a:solidFill>
                  <a:srgbClr val="1F1F1F"/>
                </a:solidFill>
                <a:highlight>
                  <a:srgbClr val="FFFFFF"/>
                </a:highlight>
              </a:rPr>
              <a:t>≠ </a:t>
            </a:r>
            <a:r>
              <a:rPr b="1" lang="en" sz="1800">
                <a:solidFill>
                  <a:schemeClr val="lt2"/>
                </a:solidFill>
                <a:latin typeface="Roboto"/>
                <a:ea typeface="Roboto"/>
                <a:cs typeface="Roboto"/>
                <a:sym typeface="Roboto"/>
              </a:rPr>
              <a:t>C </a:t>
            </a:r>
            <a:r>
              <a:rPr lang="en" sz="2400">
                <a:solidFill>
                  <a:srgbClr val="1F1F1F"/>
                </a:solidFill>
                <a:highlight>
                  <a:srgbClr val="FFFFFF"/>
                </a:highlight>
              </a:rPr>
              <a:t>≠ </a:t>
            </a:r>
            <a:r>
              <a:rPr b="1" lang="en" sz="1800">
                <a:solidFill>
                  <a:schemeClr val="lt2"/>
                </a:solidFill>
                <a:latin typeface="Roboto"/>
                <a:ea typeface="Roboto"/>
                <a:cs typeface="Roboto"/>
                <a:sym typeface="Roboto"/>
              </a:rPr>
              <a:t>D </a:t>
            </a:r>
            <a:r>
              <a:rPr lang="en" sz="2400">
                <a:solidFill>
                  <a:srgbClr val="1F1F1F"/>
                </a:solidFill>
                <a:highlight>
                  <a:srgbClr val="FFFFFF"/>
                </a:highlight>
              </a:rPr>
              <a:t>≠ </a:t>
            </a:r>
            <a:r>
              <a:rPr b="1" lang="en" sz="1800">
                <a:solidFill>
                  <a:schemeClr val="lt2"/>
                </a:solidFill>
                <a:latin typeface="Roboto"/>
                <a:ea typeface="Roboto"/>
                <a:cs typeface="Roboto"/>
                <a:sym typeface="Roboto"/>
              </a:rPr>
              <a:t>E </a:t>
            </a:r>
            <a:r>
              <a:rPr lang="en" sz="2400">
                <a:solidFill>
                  <a:srgbClr val="1F1F1F"/>
                </a:solidFill>
                <a:highlight>
                  <a:srgbClr val="FFFFFF"/>
                </a:highlight>
              </a:rPr>
              <a:t>≠ </a:t>
            </a:r>
            <a:r>
              <a:rPr b="1" lang="en" sz="1800">
                <a:solidFill>
                  <a:schemeClr val="lt2"/>
                </a:solidFill>
                <a:latin typeface="Roboto"/>
                <a:ea typeface="Roboto"/>
                <a:cs typeface="Roboto"/>
                <a:sym typeface="Roboto"/>
              </a:rPr>
              <a:t>F </a:t>
            </a:r>
            <a:r>
              <a:rPr lang="en" sz="2400">
                <a:solidFill>
                  <a:srgbClr val="1F1F1F"/>
                </a:solidFill>
                <a:highlight>
                  <a:srgbClr val="FFFFFF"/>
                </a:highlight>
              </a:rPr>
              <a:t>≠ </a:t>
            </a:r>
            <a:r>
              <a:rPr b="1" lang="en" sz="1800">
                <a:solidFill>
                  <a:schemeClr val="lt2"/>
                </a:solidFill>
                <a:latin typeface="Roboto"/>
                <a:ea typeface="Roboto"/>
                <a:cs typeface="Roboto"/>
                <a:sym typeface="Roboto"/>
              </a:rPr>
              <a:t>G </a:t>
            </a:r>
            <a:r>
              <a:rPr lang="en" sz="2400">
                <a:solidFill>
                  <a:srgbClr val="1F1F1F"/>
                </a:solidFill>
                <a:highlight>
                  <a:srgbClr val="FFFFFF"/>
                </a:highlight>
              </a:rPr>
              <a:t>≠ </a:t>
            </a:r>
            <a:r>
              <a:rPr b="1" lang="en" sz="1800">
                <a:solidFill>
                  <a:schemeClr val="lt2"/>
                </a:solidFill>
                <a:latin typeface="Roboto"/>
                <a:ea typeface="Roboto"/>
                <a:cs typeface="Roboto"/>
                <a:sym typeface="Roboto"/>
              </a:rPr>
              <a:t>H},</a:t>
            </a:r>
            <a:endParaRPr b="1" sz="1800">
              <a:solidFill>
                <a:schemeClr val="lt2"/>
              </a:solidFill>
              <a:latin typeface="Roboto"/>
              <a:ea typeface="Roboto"/>
              <a:cs typeface="Roboto"/>
              <a:sym typeface="Roboto"/>
            </a:endParaRPr>
          </a:p>
          <a:p>
            <a:pPr indent="0" lvl="0" marL="0" rtl="0" algn="l">
              <a:spcBef>
                <a:spcPts val="0"/>
              </a:spcBef>
              <a:spcAft>
                <a:spcPts val="0"/>
              </a:spcAft>
              <a:buNone/>
            </a:pPr>
            <a:r>
              <a:rPr b="1" lang="en" sz="1800">
                <a:solidFill>
                  <a:schemeClr val="lt2"/>
                </a:solidFill>
                <a:latin typeface="Roboto"/>
                <a:ea typeface="Roboto"/>
                <a:cs typeface="Roboto"/>
                <a:sym typeface="Roboto"/>
              </a:rPr>
              <a:t>A </a:t>
            </a:r>
            <a:r>
              <a:rPr lang="en" sz="2400">
                <a:solidFill>
                  <a:srgbClr val="1F1F1F"/>
                </a:solidFill>
                <a:highlight>
                  <a:srgbClr val="FFFFFF"/>
                </a:highlight>
              </a:rPr>
              <a:t>≠ </a:t>
            </a:r>
            <a:r>
              <a:rPr b="1" lang="en" sz="1800">
                <a:solidFill>
                  <a:schemeClr val="lt2"/>
                </a:solidFill>
                <a:latin typeface="Roboto"/>
                <a:ea typeface="Roboto"/>
                <a:cs typeface="Roboto"/>
                <a:sym typeface="Roboto"/>
              </a:rPr>
              <a:t> B±1, C±2, D±3, E±4, F±5, G±6, H±7</a:t>
            </a:r>
            <a:endParaRPr b="1" sz="1800">
              <a:solidFill>
                <a:schemeClr val="lt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