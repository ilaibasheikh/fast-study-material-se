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7302500" cy="9588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B8C353-E665-4843-968E-188BF8B1420C}">
  <a:tblStyle styleId="{D0B8C353-E665-4843-968E-188BF8B142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51B8C04-D5ED-4EAF-A969-AA4334206B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ED"/>
          </a:solidFill>
        </a:fill>
      </a:tcStyle>
    </a:band1H>
    <a:band2H>
      <a:tcTxStyle/>
    </a:band2H>
    <a:band1V>
      <a:tcTxStyle/>
      <a:tcStyle>
        <a:fill>
          <a:solidFill>
            <a:srgbClr val="E7E7E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5438" y="0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George Box: All models are wrong; some of them are useful</a:t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9" name="Google Shape;329;p2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30" name="Google Shape;330;p28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9" name="Google Shape;349;p2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50" name="Google Shape;350;p29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67" name="Google Shape;367;p30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74.png"/><Relationship Id="rId5" Type="http://schemas.openxmlformats.org/officeDocument/2006/relationships/image" Target="../media/image2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0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65.png"/><Relationship Id="rId5" Type="http://schemas.openxmlformats.org/officeDocument/2006/relationships/image" Target="../media/image78.png"/><Relationship Id="rId6" Type="http://schemas.openxmlformats.org/officeDocument/2006/relationships/image" Target="../media/image51.png"/><Relationship Id="rId7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8.png"/><Relationship Id="rId4" Type="http://schemas.openxmlformats.org/officeDocument/2006/relationships/image" Target="../media/image76.png"/><Relationship Id="rId5" Type="http://schemas.openxmlformats.org/officeDocument/2006/relationships/image" Target="../media/image47.png"/><Relationship Id="rId6" Type="http://schemas.openxmlformats.org/officeDocument/2006/relationships/image" Target="../media/image7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Relationship Id="rId6" Type="http://schemas.openxmlformats.org/officeDocument/2006/relationships/image" Target="../media/image39.png"/><Relationship Id="rId7" Type="http://schemas.openxmlformats.org/officeDocument/2006/relationships/image" Target="../media/image55.png"/><Relationship Id="rId8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Relationship Id="rId5" Type="http://schemas.openxmlformats.org/officeDocument/2006/relationships/image" Target="../media/image64.png"/><Relationship Id="rId6" Type="http://schemas.openxmlformats.org/officeDocument/2006/relationships/image" Target="../media/image36.png"/><Relationship Id="rId7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Relationship Id="rId5" Type="http://schemas.openxmlformats.org/officeDocument/2006/relationships/image" Target="../media/image66.png"/><Relationship Id="rId6" Type="http://schemas.openxmlformats.org/officeDocument/2006/relationships/image" Target="../media/image36.png"/><Relationship Id="rId7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6.png"/><Relationship Id="rId4" Type="http://schemas.openxmlformats.org/officeDocument/2006/relationships/image" Target="../media/image71.png"/><Relationship Id="rId5" Type="http://schemas.openxmlformats.org/officeDocument/2006/relationships/image" Target="../media/image69.png"/><Relationship Id="rId6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3.png"/><Relationship Id="rId4" Type="http://schemas.openxmlformats.org/officeDocument/2006/relationships/image" Target="../media/image7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Bayes’ Nets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133600"/>
            <a:ext cx="4800599" cy="34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914" y="1447800"/>
            <a:ext cx="5203085" cy="272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Probabilistic Models</a:t>
            </a:r>
            <a:endParaRPr/>
          </a:p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304800" y="1524000"/>
            <a:ext cx="7010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Models describe how (a portion of) the world works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Models are always simplifications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May not account for every variable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May not account for all interactions between variables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“All models are wrong; but some are useful.”</a:t>
            </a: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    – George E. P. Box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26988" lvl="6" marL="297165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do we do with probabilistic models?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(or our agents) need to reason about unknown variables, given evidence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explanation (diagnostic reasoning)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prediction (causal reasoning)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value of information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Independence</a:t>
            </a:r>
            <a:endParaRPr/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1981200"/>
            <a:ext cx="4662898" cy="411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304800" y="13716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Two variables are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independent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if: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says that their joint distribution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factors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into a product two simpler distributions</a:t>
            </a:r>
            <a:endParaRPr/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Another form: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write: 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Independence is a simplifying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modeling assumption</a:t>
            </a:r>
            <a:endParaRPr/>
          </a:p>
          <a:p>
            <a:pPr indent="-152388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Empirical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joint distributions: at best “close” to independent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could we assume for {Weather, Traffic, Cavity, Toothache}?</a:t>
            </a:r>
            <a:endParaRPr/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Independence</a:t>
            </a:r>
            <a:endParaRPr/>
          </a:p>
        </p:txBody>
      </p:sp>
      <p:pic>
        <p:nvPicPr>
          <p:cNvPr descr="txp_fig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488" y="1925638"/>
            <a:ext cx="3795712" cy="29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3886200"/>
            <a:ext cx="3048000" cy="31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4648200"/>
            <a:ext cx="1016000" cy="26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4769" y="1828800"/>
            <a:ext cx="4257231" cy="375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Independence?</a:t>
            </a:r>
            <a:endParaRPr/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2278114" y="3277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" name="Google Shape;124;p17"/>
          <p:cNvGraphicFramePr/>
          <p:nvPr/>
        </p:nvGraphicFramePr>
        <p:xfrm>
          <a:off x="7394626" y="3285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" name="Google Shape;125;p17"/>
          <p:cNvGraphicFramePr/>
          <p:nvPr/>
        </p:nvGraphicFramePr>
        <p:xfrm>
          <a:off x="5135614" y="210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17"/>
          <p:cNvGraphicFramePr/>
          <p:nvPr/>
        </p:nvGraphicFramePr>
        <p:xfrm>
          <a:off x="5140376" y="50760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2614" y="2848765"/>
            <a:ext cx="1296987" cy="298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9789" y="1731165"/>
            <a:ext cx="731837" cy="298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7876" y="4704552"/>
            <a:ext cx="850900" cy="298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6589" y="2853527"/>
            <a:ext cx="1298575" cy="298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Independence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 fair, independent coin flips:</a:t>
            </a:r>
            <a:endParaRPr/>
          </a:p>
        </p:txBody>
      </p:sp>
      <p:graphicFrame>
        <p:nvGraphicFramePr>
          <p:cNvPr id="137" name="Google Shape;137;p18"/>
          <p:cNvGraphicFramePr/>
          <p:nvPr/>
        </p:nvGraphicFramePr>
        <p:xfrm>
          <a:off x="699676" y="289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364" y="2514600"/>
            <a:ext cx="911225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8"/>
          <p:cNvGraphicFramePr/>
          <p:nvPr/>
        </p:nvGraphicFramePr>
        <p:xfrm>
          <a:off x="2471326" y="2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18"/>
          <p:cNvGraphicFramePr/>
          <p:nvPr/>
        </p:nvGraphicFramePr>
        <p:xfrm>
          <a:off x="5747926" y="2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6851" y="2514600"/>
            <a:ext cx="925513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6601" y="2514600"/>
            <a:ext cx="9112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3" name="Google Shape;1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5876" y="3170238"/>
            <a:ext cx="4699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 rot="-5400000">
            <a:off x="3804826" y="590550"/>
            <a:ext cx="381000" cy="7124700"/>
          </a:xfrm>
          <a:prstGeom prst="leftBrace">
            <a:avLst>
              <a:gd fmla="val 1558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680876" y="5181600"/>
            <a:ext cx="2895600" cy="129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299876" y="5105400"/>
            <a:ext cx="152400" cy="13716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147" name="Google Shape;14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9476" y="4800600"/>
            <a:ext cx="2465388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8" name="Google Shape;14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42676" y="5588000"/>
            <a:ext cx="328613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2604676" y="5791200"/>
            <a:ext cx="2971800" cy="457200"/>
          </a:xfrm>
          <a:custGeom>
            <a:rect b="b" l="l" r="r" t="t"/>
            <a:pathLst>
              <a:path extrusionOk="0" h="288" w="1872">
                <a:moveTo>
                  <a:pt x="0" y="115"/>
                </a:moveTo>
                <a:lnTo>
                  <a:pt x="197" y="0"/>
                </a:lnTo>
                <a:lnTo>
                  <a:pt x="493" y="58"/>
                </a:lnTo>
                <a:lnTo>
                  <a:pt x="837" y="0"/>
                </a:lnTo>
                <a:lnTo>
                  <a:pt x="1182" y="115"/>
                </a:lnTo>
                <a:lnTo>
                  <a:pt x="1576" y="0"/>
                </a:lnTo>
                <a:lnTo>
                  <a:pt x="1872" y="115"/>
                </a:lnTo>
                <a:lnTo>
                  <a:pt x="1872" y="230"/>
                </a:lnTo>
                <a:lnTo>
                  <a:pt x="1576" y="173"/>
                </a:lnTo>
                <a:lnTo>
                  <a:pt x="1182" y="288"/>
                </a:lnTo>
                <a:lnTo>
                  <a:pt x="841" y="136"/>
                </a:lnTo>
                <a:lnTo>
                  <a:pt x="502" y="201"/>
                </a:lnTo>
                <a:lnTo>
                  <a:pt x="197" y="173"/>
                </a:lnTo>
                <a:lnTo>
                  <a:pt x="0" y="230"/>
                </a:lnTo>
                <a:lnTo>
                  <a:pt x="0" y="1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2524" y="1150853"/>
            <a:ext cx="3229661" cy="3085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09609" y="4749346"/>
            <a:ext cx="4115264" cy="1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1600200"/>
            <a:ext cx="6324599" cy="4155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828800"/>
            <a:ext cx="5041097" cy="3014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304800" y="1397001"/>
            <a:ext cx="6858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P(Toothache, Cavity, Catch)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If I have a cavity, the probability that the probe catches in it doesn't depend on whether I have a toothache: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P(+catch | +toothache, +cavity) = P(+catch | +cavity)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same independence holds if I don’t have a cavity: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P(+catch | +toothache, -cavity) = P(+catch| -cavity)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Catch is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conditionally independent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of Toothache given Cavity: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P(Catch | Toothache, Cavity) = P(Catch | 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04800" y="4948236"/>
            <a:ext cx="7772400" cy="84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Equivalent statements:</a:t>
            </a:r>
            <a:endParaRPr/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P(Toothache | Catch , Cavity) = P(Toothache | Cavity)</a:t>
            </a:r>
            <a:endParaRPr/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P(Toothache, Catch | Cavity) = P(Toothache | Cavity) P(Catch | Cavity)</a:t>
            </a:r>
            <a:endParaRPr/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can be derived from the other easily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2103438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Unconditional (absolute) independence very rare (why?)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is our most basic and robust form of knowledge about uncertain environments.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X is conditionally independent of Y given Z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if and only if: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or, equivalently, if and only if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4038" y="4572000"/>
            <a:ext cx="4841875" cy="31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3" name="Google Shape;1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8800" y="3352800"/>
            <a:ext cx="1401762" cy="367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4" name="Google Shape;1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0238" y="5715000"/>
            <a:ext cx="3884613" cy="31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2286000" y="1447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about this domain:</a:t>
            </a:r>
            <a:endParaRPr/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Traffic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Umbrella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Raining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3733800"/>
            <a:ext cx="5714999" cy="2963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2286000" y="1447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about this domain:</a:t>
            </a:r>
            <a:endParaRPr/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Fire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Smoke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Alarm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1" y="1371600"/>
            <a:ext cx="3352797" cy="220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300" y="4038600"/>
            <a:ext cx="4991100" cy="33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 and the Chain Rule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341313" y="1524000"/>
            <a:ext cx="11469687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Chain rule: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8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Trivial decomposition:</a:t>
            </a:r>
            <a:endParaRPr/>
          </a:p>
          <a:p>
            <a:pPr indent="-152388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2388" lvl="3" marL="160012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With assumption of conditional independence: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Bayes’nets / graphical models help us express conditional independence assumptions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505200"/>
            <a:ext cx="7094537" cy="307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048000"/>
            <a:ext cx="4183062" cy="298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98" name="Google Shape;1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654210"/>
            <a:ext cx="4183062" cy="298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99" name="Google Shape;19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5105400"/>
            <a:ext cx="6035675" cy="3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00" name="Google Shape;20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6600" y="1600200"/>
            <a:ext cx="7162800" cy="30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2438400"/>
            <a:ext cx="3918800" cy="203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Bayes’Nets: Big Picture</a:t>
            </a:r>
            <a:endParaRPr/>
          </a:p>
        </p:txBody>
      </p:sp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1" y="1447800"/>
            <a:ext cx="7317022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Nets: Big Picture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406400" y="1397001"/>
            <a:ext cx="7137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Two problems with using full joint distribution tables as our probabilistic models: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Unless there are only a few variables, the joint is WAY too big to represent explicitly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Hard to learn (estimate) anything empirically about more than a few variables at a time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Bayes’ nets: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technique for describing complex joint distributions (models) using simple, local distributions (conditional probabilities)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More properly called</a:t>
            </a: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graphical models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describe how variables locally interact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Local interactions chain together to give global, indirect interactions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For about 10 min, we’ll be vague about how these interactions are specified</a:t>
            </a:r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3724" y="3581400"/>
            <a:ext cx="4182456" cy="304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1447800"/>
            <a:ext cx="4115264" cy="1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Bayes’ Net: Insurance</a:t>
            </a:r>
            <a:endParaRPr/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295400"/>
            <a:ext cx="7497763" cy="495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Bayes’ Net: Car</a:t>
            </a:r>
            <a:endParaRPr/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447800"/>
            <a:ext cx="8509000" cy="478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Graphical Model Notation</a:t>
            </a:r>
            <a:endParaRPr/>
          </a:p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52400" y="1371600"/>
            <a:ext cx="5638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4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Nodes: variables (with domains)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be assigned (observed) or unassigned (unobserved)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Arcs: interactions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CSP constraints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Indicate “direct influence” between variables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Formally: encode conditional independence (more later)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For now: imagine that arrows mean direct causation (in general, they don’t!)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3">
            <a:alphaModFix/>
          </a:blip>
          <a:srcRect b="49960" l="0" r="61858" t="0"/>
          <a:stretch/>
        </p:blipFill>
        <p:spPr>
          <a:xfrm>
            <a:off x="6553200" y="1676400"/>
            <a:ext cx="1447800" cy="99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9"/>
          <p:cNvGrpSpPr/>
          <p:nvPr/>
        </p:nvGrpSpPr>
        <p:grpSpPr>
          <a:xfrm>
            <a:off x="5715000" y="3125787"/>
            <a:ext cx="2805113" cy="1979613"/>
            <a:chOff x="3600" y="2208"/>
            <a:chExt cx="1767" cy="1247"/>
          </a:xfrm>
        </p:grpSpPr>
        <p:pic>
          <p:nvPicPr>
            <p:cNvPr id="236" name="Google Shape;236;p29"/>
            <p:cNvPicPr preferRelativeResize="0"/>
            <p:nvPr/>
          </p:nvPicPr>
          <p:blipFill rotWithShape="1">
            <a:blip r:embed="rId3">
              <a:alphaModFix/>
            </a:blip>
            <a:srcRect b="0" l="26097" r="0" t="0"/>
            <a:stretch/>
          </p:blipFill>
          <p:spPr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9"/>
            <p:cNvSpPr/>
            <p:nvPr/>
          </p:nvSpPr>
          <p:spPr>
            <a:xfrm>
              <a:off x="3600" y="2208"/>
              <a:ext cx="336" cy="6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8" name="Google Shape;2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1" y="3276600"/>
            <a:ext cx="3047998" cy="182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9200" y="12192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Coin Flips</a:t>
            </a:r>
            <a:endParaRPr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 independent coin flips</a:t>
            </a:r>
            <a:endParaRPr/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interactions between variables: </a:t>
            </a:r>
            <a:r>
              <a:rPr lang="en-US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absolute independence</a:t>
            </a:r>
            <a:endParaRPr/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14478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7" name="Google Shape;247;p30"/>
          <p:cNvSpPr/>
          <p:nvPr/>
        </p:nvSpPr>
        <p:spPr>
          <a:xfrm>
            <a:off x="31242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8" name="Google Shape;248;p30"/>
          <p:cNvSpPr/>
          <p:nvPr/>
        </p:nvSpPr>
        <p:spPr>
          <a:xfrm>
            <a:off x="65532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pic>
        <p:nvPicPr>
          <p:cNvPr descr="txp_fig"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505200"/>
            <a:ext cx="4699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7928" y="1447800"/>
            <a:ext cx="2871386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Variables: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R: It rains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T: There is traffic</a:t>
            </a:r>
            <a:endParaRPr/>
          </a:p>
          <a:p>
            <a:pPr indent="-158736" lvl="1" marL="74291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 1: independence</a:t>
            </a:r>
            <a:endParaRPr/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8" lvl="3" marL="1600120" rtl="0" algn="l"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8" lvl="3" marL="1600120" rtl="0" algn="l"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Why is an agent using model 2 better?</a:t>
            </a:r>
            <a:endParaRPr/>
          </a:p>
          <a:p>
            <a:pPr indent="-190482" lvl="0" marL="342882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2362200" y="35052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2362200" y="5181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1" y="1143000"/>
            <a:ext cx="3886198" cy="162896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/>
          <p:nvPr/>
        </p:nvSpPr>
        <p:spPr>
          <a:xfrm>
            <a:off x="7391400" y="35052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7391400" y="5181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31"/>
          <p:cNvCxnSpPr>
            <a:stCxn id="260" idx="4"/>
            <a:endCxn id="261" idx="0"/>
          </p:cNvCxnSpPr>
          <p:nvPr/>
        </p:nvCxnSpPr>
        <p:spPr>
          <a:xfrm>
            <a:off x="7772400" y="42672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63" name="Google Shape;263;p31"/>
          <p:cNvSpPr txBox="1"/>
          <p:nvPr/>
        </p:nvSpPr>
        <p:spPr>
          <a:xfrm>
            <a:off x="5257800" y="1502074"/>
            <a:ext cx="9855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b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388" lvl="3" marL="160012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Model 2: rain causes traffic</a:t>
            </a:r>
            <a:endParaRPr/>
          </a:p>
          <a:p>
            <a:pPr indent="-190482" lvl="0" marL="342882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295400"/>
            <a:ext cx="149634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idx="1" type="body"/>
          </p:nvPr>
        </p:nvSpPr>
        <p:spPr>
          <a:xfrm>
            <a:off x="406400" y="1290636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Let’s build a causal graphical model!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T: Traffic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R: It rains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L: Low pressure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D: Roof drips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B: Ballgame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C: Cavity</a:t>
            </a:r>
            <a:endParaRPr/>
          </a:p>
          <a:p>
            <a:pPr indent="-126988" lvl="2" marL="1142942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1447800"/>
            <a:ext cx="70866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 II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sp>
        <p:nvSpPr>
          <p:cNvPr id="277" name="Google Shape;277;p33"/>
          <p:cNvSpPr txBox="1"/>
          <p:nvPr>
            <p:ph idx="1" type="body"/>
          </p:nvPr>
        </p:nvSpPr>
        <p:spPr>
          <a:xfrm>
            <a:off x="406400" y="1295400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B: Burglary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A: Alarm goes off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M: Mary calls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J: John calls</a:t>
            </a:r>
            <a:endParaRPr/>
          </a:p>
          <a:p>
            <a:pPr indent="-285736" lvl="1" marL="742913" rtl="0" algn="l"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E: Earthquake!</a:t>
            </a:r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1" y="1295400"/>
            <a:ext cx="6759927" cy="449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 Semantics</a:t>
            </a:r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667000"/>
            <a:ext cx="12382500" cy="82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 Semantics</a:t>
            </a:r>
            <a:endParaRPr/>
          </a:p>
        </p:txBody>
      </p: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1066800" y="1397000"/>
            <a:ext cx="5943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set of nodes, one per variable X</a:t>
            </a:r>
            <a:endParaRPr/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4138" lvl="2" marL="114294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directed, acyclic graph</a:t>
            </a:r>
            <a:endParaRPr/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98432" lvl="0" marL="34288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conditional distribution for each node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collection of distributions over X, one for each combination of parents’ values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2236" lvl="1" marL="742913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CPT: conditional probability table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Description of a noisy “causal” process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4138" lvl="2" marL="114294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8229600" y="19304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8839200" y="33020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35"/>
          <p:cNvCxnSpPr>
            <a:stCxn id="291" idx="4"/>
            <a:endCxn id="292" idx="1"/>
          </p:cNvCxnSpPr>
          <p:nvPr/>
        </p:nvCxnSpPr>
        <p:spPr>
          <a:xfrm>
            <a:off x="8496300" y="2463800"/>
            <a:ext cx="420900" cy="91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94" name="Google Shape;294;p35"/>
          <p:cNvSpPr/>
          <p:nvPr/>
        </p:nvSpPr>
        <p:spPr>
          <a:xfrm>
            <a:off x="9753600" y="19304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cxnSp>
        <p:nvCxnSpPr>
          <p:cNvPr id="295" name="Google Shape;295;p35"/>
          <p:cNvCxnSpPr>
            <a:stCxn id="294" idx="4"/>
            <a:endCxn id="292" idx="7"/>
          </p:cNvCxnSpPr>
          <p:nvPr/>
        </p:nvCxnSpPr>
        <p:spPr>
          <a:xfrm flipH="1">
            <a:off x="9294600" y="2463800"/>
            <a:ext cx="725700" cy="91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pic>
        <p:nvPicPr>
          <p:cNvPr descr="txp_fig" id="296" name="Google Shape;2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2082800"/>
            <a:ext cx="469900" cy="8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35"/>
          <p:cNvCxnSpPr>
            <a:endCxn id="292" idx="0"/>
          </p:cNvCxnSpPr>
          <p:nvPr/>
        </p:nvCxnSpPr>
        <p:spPr>
          <a:xfrm flipH="1">
            <a:off x="9105900" y="2554400"/>
            <a:ext cx="152400" cy="74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pic>
        <p:nvPicPr>
          <p:cNvPr descr="txp_fig.png" id="298" name="Google Shape;29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4368800"/>
            <a:ext cx="2057400" cy="30213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/>
          <p:nvPr/>
        </p:nvSpPr>
        <p:spPr>
          <a:xfrm rot="5400000">
            <a:off x="9563100" y="3492500"/>
            <a:ext cx="609600" cy="68580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3781" y="0"/>
                </a:lnTo>
                <a:lnTo>
                  <a:pt x="13781" y="4100"/>
                </a:lnTo>
                <a:lnTo>
                  <a:pt x="12427" y="4100"/>
                </a:lnTo>
                <a:cubicBezTo>
                  <a:pt x="5564" y="4100"/>
                  <a:pt x="0" y="7708"/>
                  <a:pt x="0" y="12158"/>
                </a:cubicBezTo>
                <a:lnTo>
                  <a:pt x="0" y="21600"/>
                </a:lnTo>
                <a:lnTo>
                  <a:pt x="4046" y="21600"/>
                </a:lnTo>
                <a:lnTo>
                  <a:pt x="4046" y="12158"/>
                </a:lnTo>
                <a:cubicBezTo>
                  <a:pt x="4046" y="9894"/>
                  <a:pt x="7798" y="8058"/>
                  <a:pt x="12427" y="8058"/>
                </a:cubicBezTo>
                <a:lnTo>
                  <a:pt x="13781" y="8058"/>
                </a:lnTo>
                <a:lnTo>
                  <a:pt x="13781" y="12158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300" name="Google Shape;30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5600" y="3987800"/>
            <a:ext cx="1927225" cy="3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 txBox="1"/>
          <p:nvPr/>
        </p:nvSpPr>
        <p:spPr>
          <a:xfrm>
            <a:off x="914400" y="5867400"/>
            <a:ext cx="10744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 Bayes net = Topology (graph) + Local Conditional Probabilities</a:t>
            </a:r>
            <a:endParaRPr/>
          </a:p>
        </p:txBody>
      </p:sp>
      <p:pic>
        <p:nvPicPr>
          <p:cNvPr id="302" name="Google Shape;30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2819400" y="-33295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Probabilities in BNs</a:t>
            </a:r>
            <a:endParaRPr/>
          </a:p>
        </p:txBody>
      </p:sp>
      <p:sp>
        <p:nvSpPr>
          <p:cNvPr id="308" name="Google Shape;308;p36"/>
          <p:cNvSpPr txBox="1"/>
          <p:nvPr>
            <p:ph idx="1" type="body"/>
          </p:nvPr>
        </p:nvSpPr>
        <p:spPr>
          <a:xfrm>
            <a:off x="1981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Bayes’ nets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implicitly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encode joint distributions</a:t>
            </a:r>
            <a:endParaRPr/>
          </a:p>
          <a:p>
            <a:pPr indent="-152388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 a product of local conditional distributions</a:t>
            </a:r>
            <a:endParaRPr/>
          </a:p>
          <a:p>
            <a:pPr indent="-152388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see what probability a BN gives to a full assignment, multiply all the relevant conditionals together: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36"/>
          <p:cNvGrpSpPr/>
          <p:nvPr/>
        </p:nvGrpSpPr>
        <p:grpSpPr>
          <a:xfrm>
            <a:off x="7162800" y="4038600"/>
            <a:ext cx="2119313" cy="1495425"/>
            <a:chOff x="3600" y="2208"/>
            <a:chExt cx="1767" cy="1247"/>
          </a:xfrm>
        </p:grpSpPr>
        <p:pic>
          <p:nvPicPr>
            <p:cNvPr id="310" name="Google Shape;310;p36"/>
            <p:cNvPicPr preferRelativeResize="0"/>
            <p:nvPr/>
          </p:nvPicPr>
          <p:blipFill rotWithShape="1">
            <a:blip r:embed="rId3">
              <a:alphaModFix/>
            </a:blip>
            <a:srcRect b="0" l="26097" r="0" t="0"/>
            <a:stretch/>
          </p:blipFill>
          <p:spPr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36"/>
            <p:cNvSpPr/>
            <p:nvPr/>
          </p:nvSpPr>
          <p:spPr>
            <a:xfrm>
              <a:off x="3600" y="2208"/>
              <a:ext cx="336" cy="6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txp_fig.png" id="312" name="Google Shape;31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5715000"/>
            <a:ext cx="4495800" cy="277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3" name="Google Shape;31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3276600"/>
            <a:ext cx="4876800" cy="671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1" y="4191000"/>
            <a:ext cx="1911361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2819400" y="-33295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Probabilities in BNs</a:t>
            </a:r>
            <a:endParaRPr/>
          </a:p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457200" y="13716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Why are we guaranteed that setting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2388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8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26988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results in a proper joint distribution?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26988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Chain rule (valid for all distributions): 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latin typeface="Calibri"/>
                <a:ea typeface="Calibri"/>
                <a:cs typeface="Calibri"/>
                <a:sym typeface="Calibri"/>
              </a:rPr>
              <a:t>Assume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conditional independences: 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🡪 Consequence: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26988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Not every BN can represent every joint distribution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topology enforces certain conditional independencies</a:t>
            </a:r>
            <a:endParaRPr/>
          </a:p>
        </p:txBody>
      </p:sp>
      <p:pic>
        <p:nvPicPr>
          <p:cNvPr descr="txp_fig.png" id="322" name="Google Shape;3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42796"/>
            <a:ext cx="4876800" cy="671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23" name="Google Shape;32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3200400"/>
            <a:ext cx="5115374" cy="742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24" name="Google Shape;3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4677376"/>
            <a:ext cx="5078413" cy="699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26" name="Google Shape;32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0" y="4147542"/>
            <a:ext cx="4754535" cy="27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/>
        </p:nvSpPr>
        <p:spPr>
          <a:xfrm>
            <a:off x="2286000" y="5943600"/>
            <a:ext cx="6705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Only distributions whose variables are absolutely independent can be represented by a Bayes’ net with no arcs.</a:t>
            </a:r>
            <a:endParaRPr/>
          </a:p>
        </p:txBody>
      </p:sp>
      <p:sp>
        <p:nvSpPr>
          <p:cNvPr id="333" name="Google Shape;333;p3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Coin Flips</a:t>
            </a:r>
            <a:endParaRPr/>
          </a:p>
        </p:txBody>
      </p:sp>
      <p:graphicFrame>
        <p:nvGraphicFramePr>
          <p:cNvPr id="334" name="Google Shape;334;p38"/>
          <p:cNvGraphicFramePr/>
          <p:nvPr/>
        </p:nvGraphicFramePr>
        <p:xfrm>
          <a:off x="1219200" y="344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35" name="Google Shape;3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888" y="3070225"/>
            <a:ext cx="911225" cy="2987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p38"/>
          <p:cNvGraphicFramePr/>
          <p:nvPr/>
        </p:nvGraphicFramePr>
        <p:xfrm>
          <a:off x="2990850" y="34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38"/>
          <p:cNvGraphicFramePr/>
          <p:nvPr/>
        </p:nvGraphicFramePr>
        <p:xfrm>
          <a:off x="6267450" y="34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38" name="Google Shape;3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6375" y="3070225"/>
            <a:ext cx="925513" cy="298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39" name="Google Shape;33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3070225"/>
            <a:ext cx="911225" cy="29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40" name="Google Shape;34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5400" y="3725863"/>
            <a:ext cx="4699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8"/>
          <p:cNvSpPr/>
          <p:nvPr/>
        </p:nvSpPr>
        <p:spPr>
          <a:xfrm>
            <a:off x="16002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2" name="Google Shape;342;p38"/>
          <p:cNvSpPr/>
          <p:nvPr/>
        </p:nvSpPr>
        <p:spPr>
          <a:xfrm>
            <a:off x="32766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67056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pic>
        <p:nvPicPr>
          <p:cNvPr descr="txp_fig" id="344" name="Google Shape;34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2209800"/>
            <a:ext cx="4699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45" name="Google Shape;345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5263" y="5108575"/>
            <a:ext cx="1971675" cy="2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5400" y="1447798"/>
            <a:ext cx="2893913" cy="276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353" name="Google Shape;353;p39"/>
          <p:cNvSpPr/>
          <p:nvPr/>
        </p:nvSpPr>
        <p:spPr>
          <a:xfrm>
            <a:off x="1143000" y="2286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1143000" y="3962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39"/>
          <p:cNvCxnSpPr>
            <a:stCxn id="353" idx="4"/>
            <a:endCxn id="354" idx="0"/>
          </p:cNvCxnSpPr>
          <p:nvPr/>
        </p:nvCxnSpPr>
        <p:spPr>
          <a:xfrm>
            <a:off x="1524000" y="30480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graphicFrame>
        <p:nvGraphicFramePr>
          <p:cNvPr id="356" name="Google Shape;356;p39"/>
          <p:cNvGraphicFramePr/>
          <p:nvPr/>
        </p:nvGraphicFramePr>
        <p:xfrm>
          <a:off x="2762250" y="235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57" name="Google Shape;3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013" y="1981200"/>
            <a:ext cx="731837" cy="2987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8" name="Google Shape;358;p39"/>
          <p:cNvGraphicFramePr/>
          <p:nvPr/>
        </p:nvGraphicFramePr>
        <p:xfrm>
          <a:off x="2381250" y="379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59" name="Google Shape;35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3417888"/>
            <a:ext cx="1060450" cy="313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0" name="Google Shape;360;p39"/>
          <p:cNvGraphicFramePr/>
          <p:nvPr/>
        </p:nvGraphicFramePr>
        <p:xfrm>
          <a:off x="2381250" y="466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61" name="Google Shape;36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3135" y="2362200"/>
            <a:ext cx="1810181" cy="299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4419600"/>
            <a:ext cx="5247974" cy="2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1414" y="4572000"/>
            <a:ext cx="212638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199" y="1143001"/>
            <a:ext cx="2666998" cy="177372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sp>
        <p:nvSpPr>
          <p:cNvPr id="371" name="Google Shape;371;p40"/>
          <p:cNvSpPr/>
          <p:nvPr/>
        </p:nvSpPr>
        <p:spPr>
          <a:xfrm>
            <a:off x="2971800" y="1554162"/>
            <a:ext cx="1524000" cy="7620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urglary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4800600" y="1554162"/>
            <a:ext cx="1447800" cy="8382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arthqk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3962400" y="2544762"/>
            <a:ext cx="1143000" cy="9906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larm</a:t>
            </a:r>
            <a:endParaRPr/>
          </a:p>
        </p:txBody>
      </p:sp>
      <p:sp>
        <p:nvSpPr>
          <p:cNvPr id="374" name="Google Shape;374;p40"/>
          <p:cNvSpPr/>
          <p:nvPr/>
        </p:nvSpPr>
        <p:spPr>
          <a:xfrm>
            <a:off x="2819400" y="3611562"/>
            <a:ext cx="1066800" cy="89852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ohn calls</a:t>
            </a:r>
            <a:endParaRPr/>
          </a:p>
        </p:txBody>
      </p:sp>
      <p:sp>
        <p:nvSpPr>
          <p:cNvPr id="375" name="Google Shape;375;p40"/>
          <p:cNvSpPr/>
          <p:nvPr/>
        </p:nvSpPr>
        <p:spPr>
          <a:xfrm>
            <a:off x="5105400" y="3611562"/>
            <a:ext cx="1066800" cy="914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 calls</a:t>
            </a:r>
            <a:endParaRPr/>
          </a:p>
        </p:txBody>
      </p:sp>
      <p:cxnSp>
        <p:nvCxnSpPr>
          <p:cNvPr id="376" name="Google Shape;376;p40"/>
          <p:cNvCxnSpPr>
            <a:stCxn id="371" idx="4"/>
            <a:endCxn id="373" idx="1"/>
          </p:cNvCxnSpPr>
          <p:nvPr/>
        </p:nvCxnSpPr>
        <p:spPr>
          <a:xfrm>
            <a:off x="3733800" y="2316162"/>
            <a:ext cx="396000" cy="3738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40"/>
          <p:cNvCxnSpPr>
            <a:stCxn id="372" idx="4"/>
            <a:endCxn id="373" idx="7"/>
          </p:cNvCxnSpPr>
          <p:nvPr/>
        </p:nvCxnSpPr>
        <p:spPr>
          <a:xfrm flipH="1">
            <a:off x="4938000" y="2392362"/>
            <a:ext cx="586500" cy="2976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8" name="Google Shape;378;p40"/>
          <p:cNvCxnSpPr>
            <a:stCxn id="373" idx="3"/>
            <a:endCxn id="374" idx="0"/>
          </p:cNvCxnSpPr>
          <p:nvPr/>
        </p:nvCxnSpPr>
        <p:spPr>
          <a:xfrm flipH="1">
            <a:off x="3352788" y="3390292"/>
            <a:ext cx="7770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9" name="Google Shape;379;p40"/>
          <p:cNvCxnSpPr>
            <a:stCxn id="373" idx="5"/>
            <a:endCxn id="375" idx="0"/>
          </p:cNvCxnSpPr>
          <p:nvPr/>
        </p:nvCxnSpPr>
        <p:spPr>
          <a:xfrm>
            <a:off x="4938012" y="3390292"/>
            <a:ext cx="7008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80" name="Google Shape;380;p40"/>
          <p:cNvGraphicFramePr/>
          <p:nvPr/>
        </p:nvGraphicFramePr>
        <p:xfrm>
          <a:off x="1524000" y="1427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{B51B8C04-D5ED-4EAF-A969-AA4334206BBB}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1" name="Google Shape;381;p40"/>
          <p:cNvGraphicFramePr/>
          <p:nvPr/>
        </p:nvGraphicFramePr>
        <p:xfrm>
          <a:off x="7010400" y="1350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{B51B8C04-D5ED-4EAF-A969-AA4334206BBB}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2" name="Google Shape;382;p40"/>
          <p:cNvGraphicFramePr/>
          <p:nvPr/>
        </p:nvGraphicFramePr>
        <p:xfrm>
          <a:off x="70104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{B51B8C04-D5ED-4EAF-A969-AA4334206BBB}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3" name="Google Shape;383;p40"/>
          <p:cNvGraphicFramePr/>
          <p:nvPr/>
        </p:nvGraphicFramePr>
        <p:xfrm>
          <a:off x="16764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{B51B8C04-D5ED-4EAF-A969-AA4334206BBB}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4" name="Google Shape;384;p40"/>
          <p:cNvGraphicFramePr/>
          <p:nvPr/>
        </p:nvGraphicFramePr>
        <p:xfrm>
          <a:off x="42672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{B51B8C04-D5ED-4EAF-A969-AA4334206BBB}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390" name="Google Shape;390;p4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Causal direction</a:t>
            </a:r>
            <a:endParaRPr/>
          </a:p>
        </p:txBody>
      </p:sp>
      <p:sp>
        <p:nvSpPr>
          <p:cNvPr id="391" name="Google Shape;391;p41"/>
          <p:cNvSpPr/>
          <p:nvPr/>
        </p:nvSpPr>
        <p:spPr>
          <a:xfrm>
            <a:off x="914400" y="3429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1"/>
          <p:cNvSpPr/>
          <p:nvPr/>
        </p:nvSpPr>
        <p:spPr>
          <a:xfrm>
            <a:off x="914400" y="5105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41"/>
          <p:cNvCxnSpPr>
            <a:stCxn id="391" idx="4"/>
            <a:endCxn id="392" idx="0"/>
          </p:cNvCxnSpPr>
          <p:nvPr/>
        </p:nvCxnSpPr>
        <p:spPr>
          <a:xfrm>
            <a:off x="1295400" y="41910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graphicFrame>
        <p:nvGraphicFramePr>
          <p:cNvPr id="394" name="Google Shape;394;p41"/>
          <p:cNvGraphicFramePr/>
          <p:nvPr/>
        </p:nvGraphicFramePr>
        <p:xfrm>
          <a:off x="2533650" y="34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95" name="Google Shape;39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413" y="3124200"/>
            <a:ext cx="731837" cy="2987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6" name="Google Shape;396;p41"/>
          <p:cNvGraphicFramePr/>
          <p:nvPr/>
        </p:nvGraphicFramePr>
        <p:xfrm>
          <a:off x="2152650" y="494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97" name="Google Shape;39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560888"/>
            <a:ext cx="1060450" cy="313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8" name="Google Shape;398;p41"/>
          <p:cNvGraphicFramePr/>
          <p:nvPr/>
        </p:nvGraphicFramePr>
        <p:xfrm>
          <a:off x="2152650" y="580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9" name="Google Shape;399;p41"/>
          <p:cNvGraphicFramePr/>
          <p:nvPr/>
        </p:nvGraphicFramePr>
        <p:xfrm>
          <a:off x="5638800" y="44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400" name="Google Shape;40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8238" y="3971925"/>
            <a:ext cx="1090612" cy="29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0" y="1295400"/>
            <a:ext cx="4485974" cy="188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1447800"/>
            <a:ext cx="1689842" cy="1635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Reverse Traffic</a:t>
            </a:r>
            <a:endParaRPr/>
          </a:p>
        </p:txBody>
      </p:sp>
      <p:sp>
        <p:nvSpPr>
          <p:cNvPr id="408" name="Google Shape;408;p42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Reverse causality?</a:t>
            </a:r>
            <a:endParaRPr/>
          </a:p>
        </p:txBody>
      </p:sp>
      <p:sp>
        <p:nvSpPr>
          <p:cNvPr id="409" name="Google Shape;409;p42"/>
          <p:cNvSpPr/>
          <p:nvPr/>
        </p:nvSpPr>
        <p:spPr>
          <a:xfrm>
            <a:off x="914400" y="343535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914400" y="511175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42"/>
          <p:cNvCxnSpPr>
            <a:stCxn id="409" idx="4"/>
            <a:endCxn id="410" idx="0"/>
          </p:cNvCxnSpPr>
          <p:nvPr/>
        </p:nvCxnSpPr>
        <p:spPr>
          <a:xfrm>
            <a:off x="1295400" y="419735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graphicFrame>
        <p:nvGraphicFramePr>
          <p:cNvPr id="412" name="Google Shape;412;p42"/>
          <p:cNvGraphicFramePr/>
          <p:nvPr/>
        </p:nvGraphicFramePr>
        <p:xfrm>
          <a:off x="2533650" y="35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3" name="Google Shape;413;p42"/>
          <p:cNvGraphicFramePr/>
          <p:nvPr/>
        </p:nvGraphicFramePr>
        <p:xfrm>
          <a:off x="2152650" y="494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2/3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4" name="Google Shape;414;p42"/>
          <p:cNvGraphicFramePr/>
          <p:nvPr/>
        </p:nvGraphicFramePr>
        <p:xfrm>
          <a:off x="2152650" y="581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5" name="Google Shape;415;p42"/>
          <p:cNvGraphicFramePr/>
          <p:nvPr/>
        </p:nvGraphicFramePr>
        <p:xfrm>
          <a:off x="5638800" y="44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{D0B8C353-E665-4843-968E-188BF8B1420C}</a:tableStyleId>
              </a:tblPr>
              <a:tblGrid>
                <a:gridCol w="762000"/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416" name="Google Shape;4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238" y="3962400"/>
            <a:ext cx="1090612" cy="298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417" name="Google Shape;41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2588" y="3133725"/>
            <a:ext cx="731837" cy="298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418" name="Google Shape;41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0175" y="4562475"/>
            <a:ext cx="1060450" cy="31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1295400"/>
            <a:ext cx="96012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1371600"/>
            <a:ext cx="1028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Causality?</a:t>
            </a:r>
            <a:endParaRPr/>
          </a:p>
        </p:txBody>
      </p:sp>
      <p:sp>
        <p:nvSpPr>
          <p:cNvPr id="426" name="Google Shape;426;p43"/>
          <p:cNvSpPr txBox="1"/>
          <p:nvPr>
            <p:ph idx="1" type="body"/>
          </p:nvPr>
        </p:nvSpPr>
        <p:spPr>
          <a:xfrm>
            <a:off x="406400" y="1397001"/>
            <a:ext cx="6908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When Bayes’ nets reflect the true causal patterns:</a:t>
            </a:r>
            <a:endParaRPr/>
          </a:p>
          <a:p>
            <a:pPr indent="-196838" lvl="8" marL="3886005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simpler (nodes have fewer parents)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easier to think about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easier to elicit from experts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BNs need not actually be causal</a:t>
            </a:r>
            <a:endParaRPr/>
          </a:p>
          <a:p>
            <a:pPr indent="-196839" lvl="7" marL="3428829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Sometimes no causal net exists over the domain (especially if variables are missing)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E.g. consider the variables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Drips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End up with arrows that reflect correlation, not causation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do the arrows really mean?</a:t>
            </a:r>
            <a:endParaRPr/>
          </a:p>
          <a:p>
            <a:pPr indent="-196839" lvl="7" marL="3428829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Topology may happen to encode causal structure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Topology really encodes conditional independence</a:t>
            </a:r>
            <a:endParaRPr/>
          </a:p>
        </p:txBody>
      </p:sp>
      <p:pic>
        <p:nvPicPr>
          <p:cNvPr descr="txp_fig.png" id="427" name="Google Shape;4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6096000"/>
            <a:ext cx="4754535" cy="27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4"/>
          <p:cNvSpPr txBox="1"/>
          <p:nvPr>
            <p:ph idx="1" type="body"/>
          </p:nvPr>
        </p:nvSpPr>
        <p:spPr>
          <a:xfrm>
            <a:off x="406400" y="1397001"/>
            <a:ext cx="6146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 far: how a Bayes’ net encodes a joint distribution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Next: how to answer queries about that distribution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Today: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588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First assembled BNs using an intuitive notion of conditional independence as causality</a:t>
            </a:r>
            <a:endParaRPr/>
          </a:p>
          <a:p>
            <a:pPr indent="-228588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Then saw that key property is conditional independence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Main goal: answer queries about conditional independence and influence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After that: how to answer numerical queries (inference)</a:t>
            </a:r>
            <a:endParaRPr/>
          </a:p>
        </p:txBody>
      </p:sp>
      <p:pic>
        <p:nvPicPr>
          <p:cNvPr id="434" name="Google Shape;43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722" y="1524000"/>
            <a:ext cx="5332633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