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32DDBA-B778-4EE1-8BF7-821A07121C7E}">
  <a:tblStyle styleId="{4832DDBA-B778-4EE1-8BF7-821A07121C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italic.fntdata"/><Relationship Id="rId14" Type="http://schemas.openxmlformats.org/officeDocument/2006/relationships/slide" Target="slides/slide8.xml"/><Relationship Id="rId36" Type="http://schemas.openxmlformats.org/officeDocument/2006/relationships/font" Target="fonts/Robo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36e8a3d3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336e8a3d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36e8a3d3a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36e8a3d3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36e8a3d3a_0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36e8a3d3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36e8a3d3a_0_1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36e8a3d3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36e8a3d3a_0_1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36e8a3d3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36e8a3d3a_0_1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36e8a3d3a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36e8a3d3a_0_1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36e8a3d3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36e8a3d3a_0_1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36e8a3d3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36e8a3d3a_0_1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36e8a3d3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36e8a3d3a_0_2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36e8a3d3a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36e8a3d3a_0_2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36e8a3d3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36e8a3d3a_0_2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36e8a3d3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36e8a3d3a_0_2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36e8a3d3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36e8a3d3a_0_2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36e8a3d3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36e8a3d3a_0_2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36e8a3d3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36e8a3d3a_0_2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36e8a3d3a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36e8a3d3a_0_2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36e8a3d3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36e8a3d3a_0_2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36e8a3d3a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36e8a3d3a_0_2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36e8a3d3a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36e8a3d3a_0_2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336e8a3d3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36e8a3d3a_0_2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36e8a3d3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36e8a3d3a_0_2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36e8a3d3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36e8a3d3a_0_3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36e8a3d3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36e8a3d3a_0_3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36e8a3d3a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336e8a3d3a_0_3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336e8a3d3a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36e8a3d3a_0_3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336e8a3d3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336e8a3d3a_0_3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336e8a3d3a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Artificial Intelligence (AI-2002)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300"/>
              <a:t>Lecture 11: </a:t>
            </a:r>
            <a:r>
              <a:rPr lang="en" sz="2300"/>
              <a:t>Backtracking Search for CSPs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390525" y="33987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Mr. Saif ur Rehman (Lecturer – AI &amp; DS)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390525" y="38559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saifurrehman@nu.edu.pk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60950" y="1381650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is the Constraint Propagation: Inference in CSPs?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Can constant propagation eliminate redundant computations? How?</a:t>
            </a:r>
            <a:endParaRPr sz="2200"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8150" y="2682450"/>
            <a:ext cx="2057175" cy="20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Sometimes, constraint propagation alone can solve the entire problem without requiring a search.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Sometimes we can finish the constraint propagation process and still have variables with multiple possible values.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In that case we have to search for a solution.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 Backtracking Search Algorithm is a general algorithmic technique used for solving constraint satisfaction problems (CSPs).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Consider how a standard depth-limited search could solve CSPs.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 state would be a partial assignment, and an action would extend the assignment.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For a CSP with n variables of domain size d we would end up with a search tree where all the complete assignments (and thus all the solutions) are leaf nodes at depth n.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025" y="1568975"/>
            <a:ext cx="5007001" cy="33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253025" y="1813500"/>
            <a:ext cx="37140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</a:t>
            </a:r>
            <a:r>
              <a:rPr lang="en" sz="1900"/>
              <a:t>ranching factor at the top level would be nd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At the next level, the branching factor is (n − 1)d, and so on for n levels.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So the tree has n!·     leaves.</a:t>
            </a:r>
            <a:endParaRPr sz="1900"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9175" y="3345250"/>
            <a:ext cx="2952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We can get back that factor of n! by recognizing a crucial property of CSPs: </a:t>
            </a:r>
            <a:r>
              <a:rPr b="1" lang="en" sz="2100"/>
              <a:t>commutativity</a:t>
            </a:r>
            <a:r>
              <a:rPr lang="en" sz="2100"/>
              <a:t>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 problem is commutative if the order of application of any given set of actions does Commutativity not matter.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In CSPs, it makes no difference if we first assign NSW = red and then SA = blue, or the other way around.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With this restriction, the number of leaves is      .</a:t>
            </a:r>
            <a:endParaRPr sz="2100"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500" y="4279700"/>
            <a:ext cx="29527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Backtracking Algorithm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0" y="1037425"/>
            <a:ext cx="6487451" cy="41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Algorithm</a:t>
            </a:r>
            <a:endParaRPr/>
          </a:p>
        </p:txBody>
      </p:sp>
      <p:graphicFrame>
        <p:nvGraphicFramePr>
          <p:cNvPr id="115" name="Google Shape;115;p20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6" name="Google Shape;116;p20"/>
          <p:cNvSpPr txBox="1"/>
          <p:nvPr/>
        </p:nvSpPr>
        <p:spPr>
          <a:xfrm>
            <a:off x="78175" y="19925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4-Queens Problem</a:t>
            </a:r>
            <a:endParaRPr b="1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22" name="Google Shape;122;p21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28" name="Google Shape;128;p22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34" name="Google Shape;134;p23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40" name="Google Shape;140;p24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4"/>
          <p:cNvSpPr/>
          <p:nvPr/>
        </p:nvSpPr>
        <p:spPr>
          <a:xfrm rot="-10608339">
            <a:off x="4243590" y="4133992"/>
            <a:ext cx="656821" cy="625569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47" name="Google Shape;147;p25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53" name="Google Shape;153;p26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59" name="Google Shape;159;p27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65" name="Google Shape;165;p28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6" name="Google Shape;166;p28"/>
          <p:cNvSpPr/>
          <p:nvPr/>
        </p:nvSpPr>
        <p:spPr>
          <a:xfrm rot="10800000">
            <a:off x="5242500" y="4116175"/>
            <a:ext cx="719100" cy="567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72" name="Google Shape;172;p29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78" name="Google Shape;178;p30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9" name="Google Shape;179;p30"/>
          <p:cNvSpPr/>
          <p:nvPr/>
        </p:nvSpPr>
        <p:spPr>
          <a:xfrm rot="-10449114">
            <a:off x="4195184" y="4215900"/>
            <a:ext cx="609472" cy="625442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85" name="Google Shape;185;p31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31"/>
          <p:cNvSpPr/>
          <p:nvPr/>
        </p:nvSpPr>
        <p:spPr>
          <a:xfrm rot="-10449114">
            <a:off x="3194609" y="4145600"/>
            <a:ext cx="609472" cy="625442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92" name="Google Shape;192;p32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198" name="Google Shape;198;p33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204" name="Google Shape;204;p34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graphicFrame>
        <p:nvGraphicFramePr>
          <p:cNvPr id="210" name="Google Shape;210;p35"/>
          <p:cNvGraphicFramePr/>
          <p:nvPr/>
        </p:nvGraphicFramePr>
        <p:xfrm>
          <a:off x="2570600" y="213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{4832DDBA-B778-4EE1-8BF7-821A07121C7E}</a:tableStyleId>
              </a:tblPr>
              <a:tblGrid>
                <a:gridCol w="1000700"/>
                <a:gridCol w="1000700"/>
                <a:gridCol w="1000700"/>
                <a:gridCol w="100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Q4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Q2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1" name="Google Shape;211;p35"/>
          <p:cNvSpPr txBox="1"/>
          <p:nvPr/>
        </p:nvSpPr>
        <p:spPr>
          <a:xfrm>
            <a:off x="458600" y="2590000"/>
            <a:ext cx="17979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endParaRPr b="1" sz="2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Backtracking Search for CSPs</a:t>
            </a:r>
            <a:endParaRPr/>
          </a:p>
        </p:txBody>
      </p:sp>
      <p:sp>
        <p:nvSpPr>
          <p:cNvPr id="217" name="Google Shape;217;p36"/>
          <p:cNvSpPr txBox="1"/>
          <p:nvPr/>
        </p:nvSpPr>
        <p:spPr>
          <a:xfrm>
            <a:off x="1657175" y="2126175"/>
            <a:ext cx="6368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Now extend the algorithm for the 8-queens problem.</a:t>
            </a:r>
            <a:endParaRPr sz="2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Variable and value ordering</a:t>
            </a:r>
            <a:endParaRPr/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0" y="1940250"/>
            <a:ext cx="638175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7"/>
          <p:cNvSpPr txBox="1"/>
          <p:nvPr/>
        </p:nvSpPr>
        <p:spPr>
          <a:xfrm>
            <a:off x="460950" y="2826075"/>
            <a:ext cx="8033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simplest strategy for SELECT-UNASSIGNED-VARIABLE is static ordering.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</a:t>
            </a:r>
            <a:r>
              <a:rPr lang="en" sz="1900"/>
              <a:t>hoose the variables in order or randomly.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 Neither strategy is optimal.</a:t>
            </a:r>
            <a:endParaRPr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Variable and value ordering: minimum-remaining-values (MRV) heuristic.</a:t>
            </a:r>
            <a:endParaRPr/>
          </a:p>
        </p:txBody>
      </p:sp>
      <p:sp>
        <p:nvSpPr>
          <p:cNvPr id="230" name="Google Shape;230;p38"/>
          <p:cNvSpPr txBox="1"/>
          <p:nvPr/>
        </p:nvSpPr>
        <p:spPr>
          <a:xfrm>
            <a:off x="460950" y="1894500"/>
            <a:ext cx="8033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This intuitive idea—choosing the variable with the fewest “legal” values—is called the minimum-remaining-values (MRV) heuristic.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 It also has been called the “most constrained variable” or “fail-first” heuristic.</a:t>
            </a:r>
            <a:endParaRPr sz="1900"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075" y="2998025"/>
            <a:ext cx="2311575" cy="21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Variable and value ordering: </a:t>
            </a:r>
            <a:r>
              <a:rPr lang="en" sz="2300"/>
              <a:t>degree heuristic</a:t>
            </a:r>
            <a:endParaRPr/>
          </a:p>
        </p:txBody>
      </p:sp>
      <p:sp>
        <p:nvSpPr>
          <p:cNvPr id="237" name="Google Shape;237;p39"/>
          <p:cNvSpPr txBox="1"/>
          <p:nvPr/>
        </p:nvSpPr>
        <p:spPr>
          <a:xfrm>
            <a:off x="460950" y="1894500"/>
            <a:ext cx="8033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MRV heuristic doesn’t help at all in choosing the first region to color in Australia map.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In this case, the degree heuristic comes Degree heuristic in handy.</a:t>
            </a:r>
            <a:endParaRPr sz="1900"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075" y="2998025"/>
            <a:ext cx="2311575" cy="214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/>
          <p:nvPr/>
        </p:nvSpPr>
        <p:spPr>
          <a:xfrm>
            <a:off x="488600" y="2860975"/>
            <a:ext cx="48516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Selecting the variable that is involved in the largest number of constraints on other unassigned variables.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SA is the variable with highest degree, 5</a:t>
            </a:r>
            <a:endParaRPr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460950" y="269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Variable and value ordering: least-constraining-value heuristic</a:t>
            </a:r>
            <a:endParaRPr/>
          </a:p>
        </p:txBody>
      </p:sp>
      <p:sp>
        <p:nvSpPr>
          <p:cNvPr id="245" name="Google Shape;245;p40"/>
          <p:cNvSpPr txBox="1"/>
          <p:nvPr/>
        </p:nvSpPr>
        <p:spPr>
          <a:xfrm>
            <a:off x="460950" y="1894500"/>
            <a:ext cx="8033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Once a variable has been selected, the algorithm must decide on the order in which to examine its values.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least-constraining-value heuristic is effective for this.</a:t>
            </a:r>
            <a:endParaRPr sz="1900"/>
          </a:p>
        </p:txBody>
      </p:sp>
      <p:pic>
        <p:nvPicPr>
          <p:cNvPr id="246" name="Google Shape;2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075" y="2998025"/>
            <a:ext cx="2311575" cy="214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0"/>
          <p:cNvSpPr txBox="1"/>
          <p:nvPr/>
        </p:nvSpPr>
        <p:spPr>
          <a:xfrm>
            <a:off x="488600" y="2860975"/>
            <a:ext cx="4851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It prefers the value that rules out the fewest choices for the neighboring variables in the constraint graph.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