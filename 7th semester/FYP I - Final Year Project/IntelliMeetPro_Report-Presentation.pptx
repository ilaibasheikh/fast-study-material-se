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Medium" panose="020B0604020202020204" charset="0"/>
      <p:regular r:id="rId18"/>
      <p:bold r:id="rId19"/>
      <p:italic r:id="rId20"/>
      <p:boldItalic r:id="rId21"/>
    </p:embeddedFont>
    <p:embeddedFont>
      <p:font typeface="Montserrat" panose="020F0502020204030204" pitchFamily="2" charset="0"/>
      <p:regular r:id="rId22"/>
      <p:bold r:id="rId23"/>
      <p:italic r:id="rId24"/>
      <p:boldItalic r:id="rId25"/>
    </p:embeddedFont>
    <p:embeddedFont>
      <p:font typeface="Montserrat SemiBold" panose="020F0502020204030204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slide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slide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slide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slide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slide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slide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slide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slide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slide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slide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slide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slide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slide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slide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slide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slide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slide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slide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 descr="PTML::eyJ0eXBlIjoicmVjdCIsImZpbGwiOiJyZ2JhKDAsMCwwLDAuNCkiLCJjb3JuZXJSYWRpdXMiOjAsImxvY2tlZCI6ZmFsc2UsInNoYWRvdyI6eyJvcGFjaXR5IjowLCJibHVyIjowLCJvZmZzZXRYIjowLCJvZmZzZXRZIjowfX0=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670560" y="861060"/>
            <a:ext cx="7803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IntelliMeet Pro</a:t>
            </a:r>
            <a:endParaRPr sz="4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70560" y="1527810"/>
            <a:ext cx="7803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AI Meeting Assistant &amp; Workflow Management</a:t>
            </a:r>
            <a:endParaRPr sz="210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7" name="Google Shape;57;p13" descr="PTML::eyJ0eXBlIjoicmVjdCIsImZpbGwiOiIjMEY5RDU4IiwiY29ybmVyUmFkaXVzIjowLCJsb2NrZWQiOmZhbHNlLCJzaGFkb3ciOnsib3BhY2l0eSI6MCwiYmx1ciI6MCwib2Zmc2V0WCI6MCwib2Zmc2V0WSI6MH19"/>
          <p:cNvSpPr/>
          <p:nvPr/>
        </p:nvSpPr>
        <p:spPr>
          <a:xfrm>
            <a:off x="3619500" y="2286000"/>
            <a:ext cx="1905000" cy="381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670560" y="2575560"/>
            <a:ext cx="7803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Final Defense Presentation</a:t>
            </a:r>
            <a:endParaRPr sz="1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70560" y="3132487"/>
            <a:ext cx="7803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Mustafa Masood (22k-4818)</a:t>
            </a:r>
            <a:endParaRPr sz="135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70560" y="3397949"/>
            <a:ext cx="7803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Laiba Fatima (22k-5195)</a:t>
            </a:r>
            <a:endParaRPr sz="135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670560" y="4194810"/>
            <a:ext cx="780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Supervisor: Ms. Rubab Jaffar</a:t>
            </a:r>
            <a:endParaRPr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9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 descr="PTML::eyJ0eXBlIjoicmVjdCIsImZpbGwiOiIjMEY5RDU4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480060" y="146685"/>
            <a:ext cx="399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80060" y="861060"/>
            <a:ext cx="3993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The Meeting Challenge</a:t>
            </a:r>
            <a:endParaRPr sz="2100" b="1"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480060" y="1242060"/>
            <a:ext cx="770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Meetings are essential but often inefficient. With remote work, digital platforms generate vast conversational data.</a:t>
            </a:r>
            <a:endParaRPr sz="12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905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813435" y="1813560"/>
            <a:ext cx="3659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Inefficient Processes</a:t>
            </a:r>
            <a:endParaRPr sz="120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813435" y="2051685"/>
            <a:ext cx="3659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Traditional note-taking fails to capture data reliably, leading to missed action items and unclear decisions.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27622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/>
        </p:nvSpPr>
        <p:spPr>
          <a:xfrm>
            <a:off x="813435" y="2670810"/>
            <a:ext cx="3659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Digital Data Overload</a:t>
            </a:r>
            <a:endParaRPr sz="120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813435" y="2908935"/>
            <a:ext cx="3659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Massive amounts of conversational data produced by platforms like Zoom, Google Meet, and Microsoft Teams.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36195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813435" y="3528060"/>
            <a:ext cx="3659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Poor Follow-up</a:t>
            </a:r>
            <a:endParaRPr sz="120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813435" y="3766185"/>
            <a:ext cx="3659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Resulting in poor follow-up and lack of structured knowledge from meetings.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480060" y="4671060"/>
            <a:ext cx="2088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IntelliMeet Pro</a:t>
            </a:r>
            <a:endParaRPr sz="9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7528560" y="4671060"/>
            <a:ext cx="1135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Page 2 of 11</a:t>
            </a:r>
            <a:endParaRPr sz="9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9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 descr="PTML::eyJ0eXBlIjoicmVjdCIsImZpbGwiOiIjMEY5RDU4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480060" y="146685"/>
            <a:ext cx="399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IntelliMeet Pro Overview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480060" y="861060"/>
            <a:ext cx="3993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The Solution</a:t>
            </a:r>
            <a:endParaRPr sz="2100" b="1"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480060" y="1242060"/>
            <a:ext cx="3993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IntelliMeet Pro is an AI-powered meeting assistant and workflow management platform designed to transform meeting productivity.</a:t>
            </a:r>
            <a:endParaRPr sz="12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20002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813435" y="1908810"/>
            <a:ext cx="3659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Autonomous Participation</a:t>
            </a:r>
            <a:endParaRPr sz="120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813435" y="2146935"/>
            <a:ext cx="3659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AI assistant participates, transcribes, and semantically summarizes meetings.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27622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813435" y="2670810"/>
            <a:ext cx="3659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Workflow Management</a:t>
            </a:r>
            <a:endParaRPr sz="120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813435" y="2908935"/>
            <a:ext cx="3659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Direct integration with project management tools for seamless follow-up.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5" name="Google Shape;9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35242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813435" y="3432810"/>
            <a:ext cx="3659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Knowledge Layer</a:t>
            </a:r>
            <a:endParaRPr sz="120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813435" y="3670935"/>
            <a:ext cx="3659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Leverages NLP, speaker diarization, and vector-based semantic search.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480060" y="4671060"/>
            <a:ext cx="2088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IntelliMeet Pro </a:t>
            </a:r>
            <a:endParaRPr sz="9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7528560" y="4671060"/>
            <a:ext cx="1135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Page 3 of 11</a:t>
            </a:r>
            <a:endParaRPr sz="9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25040" y="1333517"/>
            <a:ext cx="4484921" cy="3193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9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 descr="PTML::eyJ0eXBlIjoicmVjdCIsImZpbGwiOiIjMEY5RDU4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480060" y="146685"/>
            <a:ext cx="399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FYP-I Deliverables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480060" y="861060"/>
            <a:ext cx="399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Requirements Analysis</a:t>
            </a:r>
            <a:endParaRPr sz="1800" b="1"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6" descr="PTML::eyJ0eXBlIjoicmVjdCIsImZpbGwiOiIjNENBRjUwIiwiY29ybmVyUmFkaXVzIjowLCJsb2NrZWQiOmZhbHNlLCJzaGFkb3ciOnsib3BhY2l0eSI6MCwiYmx1ciI6MCwib2Zmc2V0WCI6MCwib2Zmc2V0WSI6MH19"/>
          <p:cNvSpPr/>
          <p:nvPr/>
        </p:nvSpPr>
        <p:spPr>
          <a:xfrm>
            <a:off x="571500" y="1285875"/>
            <a:ext cx="2857500" cy="19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4287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765810" y="1337310"/>
            <a:ext cx="3707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Project proposal document</a:t>
            </a:r>
            <a:endParaRPr sz="12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6668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765810" y="1575435"/>
            <a:ext cx="3707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Feasibility study report</a:t>
            </a:r>
            <a:endParaRPr sz="12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19050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765810" y="1813560"/>
            <a:ext cx="3707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Approved Software Requirements Specification (SRS)</a:t>
            </a:r>
            <a:endParaRPr sz="12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5" name="Google Shape;11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224784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765810" y="2164020"/>
            <a:ext cx="3707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Initial technology stack selection</a:t>
            </a:r>
            <a:endParaRPr sz="12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4671060" y="861060"/>
            <a:ext cx="399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System Design</a:t>
            </a:r>
            <a:endParaRPr sz="1800" b="1"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6" descr="PTML::eyJ0eXBlIjoicmVjdCIsImZpbGwiOiIjNENBRjUwIiwiY29ybmVyUmFkaXVzIjowLCJsb2NrZWQiOmZhbHNlLCJzaGFkb3ciOnsib3BhY2l0eSI6MCwiYmx1ciI6MCwib2Zmc2V0WCI6MCwib2Zmc2V0WSI6MH19"/>
          <p:cNvSpPr/>
          <p:nvPr/>
        </p:nvSpPr>
        <p:spPr>
          <a:xfrm>
            <a:off x="4762500" y="1285875"/>
            <a:ext cx="2857500" cy="19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62500" y="14287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4956810" y="1337310"/>
            <a:ext cx="3707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Approved Software Design Specification (SDS)</a:t>
            </a:r>
            <a:endParaRPr sz="12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1" name="Google Shape;121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62500" y="16668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956810" y="1575435"/>
            <a:ext cx="3707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Database schema and ERD diagrams</a:t>
            </a:r>
            <a:endParaRPr sz="12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3" name="Google Shape;123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62500" y="19050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4956810" y="1813560"/>
            <a:ext cx="3707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System architecture diagrams</a:t>
            </a:r>
            <a:endParaRPr sz="12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5" name="Google Shape;125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62500" y="21431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4956810" y="2051685"/>
            <a:ext cx="3707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UI/UX wireframes and mockups</a:t>
            </a:r>
            <a:endParaRPr sz="12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" name="Google Shape;127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62500" y="23812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4956810" y="2289810"/>
            <a:ext cx="3707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API documentation templates</a:t>
            </a:r>
            <a:endParaRPr sz="12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480060" y="2569845"/>
            <a:ext cx="399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Planning &amp; Implementation Strategy</a:t>
            </a:r>
            <a:endParaRPr sz="1800" b="1"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6" descr="PTML::eyJ0eXBlIjoicmVjdCIsImZpbGwiOiIjNENBRjUwIiwiY29ybmVyUmFkaXVzIjowLCJsb2NrZWQiOmZhbHNlLCJzaGFkb3ciOnsib3BhY2l0eSI6MCwiYmx1ciI6MCwib2Zmc2V0WCI6MCwib2Zmc2V0WSI6MH19"/>
          <p:cNvSpPr/>
          <p:nvPr/>
        </p:nvSpPr>
        <p:spPr>
          <a:xfrm>
            <a:off x="571500" y="3190875"/>
            <a:ext cx="2857500" cy="19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80060" y="3242310"/>
            <a:ext cx="3993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Definition of modules, resource allocation, tool selection, and technology stack validation.</a:t>
            </a:r>
            <a:endParaRPr sz="12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762500" y="2857500"/>
            <a:ext cx="3810002" cy="17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480060" y="4671060"/>
            <a:ext cx="2088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IntelliMeet Pro </a:t>
            </a:r>
            <a:endParaRPr sz="9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7933599" y="4815852"/>
            <a:ext cx="1135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Page 4 of 11</a:t>
            </a:r>
            <a:endParaRPr sz="900" dirty="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image3.png">
            <a:extLst>
              <a:ext uri="{FF2B5EF4-FFF2-40B4-BE49-F238E27FC236}">
                <a16:creationId xmlns:a16="http://schemas.microsoft.com/office/drawing/2014/main" id="{DD11F3F7-A15A-EC38-0475-2865D29E5FE6}"/>
              </a:ext>
            </a:extLst>
          </p:cNvPr>
          <p:cNvPicPr/>
          <p:nvPr/>
        </p:nvPicPr>
        <p:blipFill>
          <a:blip r:embed="rId13"/>
          <a:srcRect/>
          <a:stretch>
            <a:fillRect/>
          </a:stretch>
        </p:blipFill>
        <p:spPr>
          <a:xfrm>
            <a:off x="4394967" y="2582161"/>
            <a:ext cx="4674132" cy="2314707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 descr="PTML::eyJ0eXBlIjoicmVjdCIsImZpbGwiOiIjMEY5RDU4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480060" y="146685"/>
            <a:ext cx="399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Current Status (FYP-I)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80060" y="861060"/>
            <a:ext cx="8184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Core Modules Implemented &amp; Tested</a:t>
            </a:r>
            <a:endParaRPr sz="2100" b="1"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480060" y="1242060"/>
            <a:ext cx="8184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As of December 2025, the following core modules have been successfully implemented and tested, forming the foundation for FYP-II.</a:t>
            </a:r>
            <a:endParaRPr sz="12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3" name="Google Shape;143;p17" descr="PTML::eyJ0eXBlIjoicmVjdCIsImZpbGwiOiIjRDdFMERCIiwiY29ybmVyUmFkaXVzIjoxMiwibG9ja2VkIjpmYWxzZSwic3Ryb2tlV2lkdGgiOjAsInN0cm9rZVN0eWxlIjoiIiwic2hhZG93Ijp7ImNvbG9yIjoicmdiYSgwLDAsMCw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809750"/>
            <a:ext cx="3810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2000250"/>
            <a:ext cx="304801" cy="3048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1099185" y="1908810"/>
            <a:ext cx="3040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Speech-to-text Transcription</a:t>
            </a:r>
            <a:endParaRPr sz="135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1099185" y="2146935"/>
            <a:ext cx="3040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Using Whisper API for accurate transcription.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7" name="Google Shape;147;p17" descr="PTML::eyJ0eXBlIjoicmVjdCIsImZpbGwiOiIjRDdFMERCIiwiY29ybmVyUmFkaXVzIjoxMiwibG9ja2VkIjpmYWxzZSwic3Ryb2tlV2lkdGgiOjAsInN0cm9rZVN0eWxlIjoiIiwic2hhZG93Ijp7ImNvbG9yIjoicmdiYSgwLDAsMCw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1809750"/>
            <a:ext cx="3810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3000" y="2000250"/>
            <a:ext cx="304801" cy="3048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290185" y="1908810"/>
            <a:ext cx="3040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Speaker Diarization</a:t>
            </a:r>
            <a:endParaRPr sz="135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290185" y="2146935"/>
            <a:ext cx="3040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Identification and separation of speakers.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1" name="Google Shape;151;p17" descr="PTML::eyJ0eXBlIjoicmVjdCIsImZpbGwiOiIjRDdFMERCIiwiY29ybmVyUmFkaXVzIjoxMiwibG9ja2VkIjpmYWxzZSwic3Ryb2tlV2lkdGgiOjAsInN0cm9rZVN0eWxlIjoiIiwic2hhZG93Ijp7ImNvbG9yIjoicmdiYSgwLDAsMCw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2952750"/>
            <a:ext cx="3810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000" y="3143250"/>
            <a:ext cx="304801" cy="3048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1099185" y="3051810"/>
            <a:ext cx="3040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AI-powered Summarization</a:t>
            </a:r>
            <a:endParaRPr sz="135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1099185" y="3289935"/>
            <a:ext cx="3040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Leveraging GPT-4 for concise summaries.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5" name="Google Shape;155;p17" descr="PTML::eyJ0eXBlIjoicmVjdCIsImZpbGwiOiIjRDdFMERCIiwiY29ybmVyUmFkaXVzIjoxMiwibG9ja2VkIjpmYWxzZSwic3Ryb2tlV2lkdGgiOjAsInN0cm9rZVN0eWxlIjoiIiwic2hhZG93Ijp7ImNvbG9yIjoicmdiYSgwLDAsMCw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2952750"/>
            <a:ext cx="3810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53000" y="3143250"/>
            <a:ext cx="304801" cy="3048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290185" y="3051810"/>
            <a:ext cx="3040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Action Item Extraction</a:t>
            </a:r>
            <a:endParaRPr sz="135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5290185" y="3289935"/>
            <a:ext cx="3040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With assignee attribution for clear tasks.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480060" y="4671060"/>
            <a:ext cx="2088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IntelliMeet Pro</a:t>
            </a:r>
            <a:endParaRPr sz="9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7528560" y="4671060"/>
            <a:ext cx="1135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Page 5 of 11</a:t>
            </a:r>
            <a:endParaRPr sz="9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9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 descr="PTML::eyJ0eXBlIjoicmVjdCIsImZpbGwiOiIjMEY5RDU4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80060" y="146685"/>
            <a:ext cx="399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480060" y="861060"/>
            <a:ext cx="8184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4-Layered Architecture Model</a:t>
            </a:r>
            <a:endParaRPr sz="2100" b="1"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480060" y="1242060"/>
            <a:ext cx="8184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IntelliMeet Pro adopts a robust 4-layered architecture, ensuring modularity, scalability, and maintainability for an enterprise-ready system.</a:t>
            </a:r>
            <a:endParaRPr sz="12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9" name="Google Shape;169;p18" descr="PTML::eyJ0eXBlIjoicmVjdCIsImZpbGwiOiIjNENBRjUwIiwiY29ybmVyUmFkaXVzIjo4LCJsb2NrZWQiOmZhbHNlLCJzdHJva2VXaWR0aCI6MCwic3Ryb2tlU3R5bGUiOiIiLCJzaGFkb3ciOnsib3BhY2l0eSI6MCwiYmx1ciI6MCwib2Zmc2V0WCI6MCwib2Zmc2V0WSI6MH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1184" y="1792665"/>
            <a:ext cx="3429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2802085" y="1877883"/>
            <a:ext cx="3231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Presentation Layer (Frontend UI/UX)</a:t>
            </a:r>
            <a:endParaRPr sz="135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71" name="Google Shape;171;p18" descr="PTML::eyJ0eXBlIjoibGluZSIsInBvaW50cyI6WzAsMCwwLDIwXSwiZmlsbCI6IiMwRjlENTgiLCJzdHJva2UiOiIjMEY5RDU4Iiwic3Ryb2tlV2lkdGgiOjIsInN0cm9rZVN0eWxlIjoiIiwib3BhY2l0eSI6MSwibG9ja2VkIjpmYWxzZSwiY29udGVudFdpZHRoIjoxLCJjb250ZW50SGVpZ2h0IjoxNSwicGFkZGluZ1B4IjoxMX0=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7225" y="2371725"/>
            <a:ext cx="2095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PTML::eyJ0eXBlIjoicmVjdCIsImZpbGwiOiIjNENBRjUwIiwiY29ybmVyUmFkaXVzIjo4LCJsb2NrZWQiOmZhbHNlLCJzdHJva2VXaWR0aCI6MCwic3Ryb2tlU3R5bGUiOiIiLCJzaGFkb3ciOnsib3BhY2l0eSI6MCwiYmx1ciI6MCwib2Zmc2V0WCI6MCwib2Zmc2V0WSI6MH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5155" y="2692005"/>
            <a:ext cx="3429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2786057" y="2765446"/>
            <a:ext cx="3231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Application Layer (Business Logic)</a:t>
            </a:r>
            <a:endParaRPr sz="135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74" name="Google Shape;174;p18" descr="PTML::eyJ0eXBlIjoibGluZSIsInBvaW50cyI6WzAsMCwwLDIwXSwiZmlsbCI6IiMwRjlENTgiLCJzdHJva2UiOiIjMEY5RDU4Iiwic3Ryb2tlV2lkdGgiOjIsInN0cm9rZVN0eWxlIjoiIiwib3BhY2l0eSI6MSwibG9ja2VkIjpmYWxzZSwiY29udGVudFdpZHRoIjoxLCJjb250ZW50SGVpZ2h0IjoxNSwicGFkZGluZ1B4IjoxMX0=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7225" y="3180313"/>
            <a:ext cx="2095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PTML::eyJ0eXBlIjoicmVjdCIsImZpbGwiOiIjNENBRjUwIiwiY29ybmVyUmFkaXVzIjo4LCJsb2NrZWQiOmZhbHNlLCJzdHJva2VXaWR0aCI6MCwic3Ryb2tlU3R5bGUiOiIiLCJzaGFkb3ciOnsib3BhY2l0eSI6MCwiYmx1ciI6MCwib2Zmc2V0WCI6MCwib2Zmc2V0WSI6MH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5155" y="3527153"/>
            <a:ext cx="3429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2786057" y="3612371"/>
            <a:ext cx="3231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Layer (Persistence &amp; Storage)</a:t>
            </a:r>
            <a:endParaRPr sz="135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77" name="Google Shape;177;p18" descr="PTML::eyJ0eXBlIjoibGluZSIsInBvaW50cyI6WzAsMCwwLDIwXSwiZmlsbCI6IiMwRjlENTgiLCJzdHJva2UiOiIjMEY5RDU4Iiwic3Ryb2tlV2lkdGgiOjIsInN0cm9rZVN0eWxlIjoiIiwib3BhY2l0eSI6MSwibG9ja2VkIjpmYWxzZSwiY29udGVudFdpZHRoIjoxLCJjb250ZW50SGVpZ2h0IjoxNSwicGFkZGluZ1B4IjoxMX0=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7485" y="4021515"/>
            <a:ext cx="2095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PTML::eyJ0eXBlIjoicmVjdCIsImZpbGwiOiIjNENBRjUwIiwiY29ybmVyUmFkaXVzIjo4LCJsb2NrZWQiOmZhbHNlLCJzdHJva2VXaWR0aCI6MCwic3Ryb2tlU3R5bGUiOiIiLCJzaGFkb3ciOnsib3BhY2l0eSI6MCwiYmx1ciI6MCwib2Zmc2V0WCI6MCwib2Zmc2V0WSI6MH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9126" y="4346253"/>
            <a:ext cx="3429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2770028" y="4414294"/>
            <a:ext cx="35802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15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Integration Layer (External Services/APIs)</a:t>
            </a:r>
            <a:endParaRPr sz="1315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480060" y="4671060"/>
            <a:ext cx="2088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IntelliMeet Pro </a:t>
            </a:r>
            <a:endParaRPr sz="9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7528560" y="4671060"/>
            <a:ext cx="1135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Page 6 of 11</a:t>
            </a:r>
            <a:endParaRPr sz="9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9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 descr="PTML::eyJ0eXBlIjoicmVjdCIsImZpbGwiOiIjMEY5RDU4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80060" y="146685"/>
            <a:ext cx="399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480060" y="861060"/>
            <a:ext cx="8184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Deep Dive: Architectural Layers</a:t>
            </a:r>
            <a:endParaRPr sz="2100" b="1"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9" name="Google Shape;189;p19" descr="PTML::eyJ0eXBlIjoicmVjdCIsImZpbGwiOiIjRDdFMERCIiwiY29ybmVyUmFkaXVzIjoxMiwibG9ja2VkIjpmYWxzZSwic3Ryb2tlV2lkdGgiOjAsInN0cm9rZVN0eWxlIjoiIiwic2hhZG93Ijp7ImNvbG9yIjoicmdiYSgwLDAsMCw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428750"/>
            <a:ext cx="3810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619250"/>
            <a:ext cx="304801" cy="30480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1099185" y="1527810"/>
            <a:ext cx="3040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Presentation Layer</a:t>
            </a:r>
            <a:endParaRPr sz="135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1099185" y="1765935"/>
            <a:ext cx="3040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Built with React, TypeScript, TailwindCSS 4, Shadcn UI. Handles UI, dashboards, search, transcripts, summaries.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3" name="Google Shape;193;p19" descr="PTML::eyJ0eXBlIjoicmVjdCIsImZpbGwiOiIjRDdFMERCIiwiY29ybmVyUmFkaXVzIjoxMiwibG9ja2VkIjpmYWxzZSwic3Ryb2tlV2lkdGgiOjAsInN0cm9rZVN0eWxlIjoiIiwic2hhZG93Ijp7ImNvbG9yIjoicmdiYSgwLDAsMCw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1428750"/>
            <a:ext cx="3810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3000" y="1619250"/>
            <a:ext cx="304801" cy="3048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5290185" y="1527810"/>
            <a:ext cx="3040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Application Layer</a:t>
            </a:r>
            <a:endParaRPr sz="135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5290185" y="1765935"/>
            <a:ext cx="3040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Developed using ASP.NET Core 8.0. Manages transcription, summarization, diarization, and workflow automation.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7" name="Google Shape;197;p19" descr="PTML::eyJ0eXBlIjoicmVjdCIsImZpbGwiOiIjRDdFMERCIiwiY29ybmVyUmFkaXVzIjoxMiwibG9ja2VkIjpmYWxzZSwic3Ryb2tlV2lkdGgiOjAsInN0cm9rZVN0eWxlIjoiIiwic2hhZG93Ijp7ImNvbG9yIjoicmdiYSgwLDAsMCw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3048000"/>
            <a:ext cx="3810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000" y="3238500"/>
            <a:ext cx="304801" cy="3048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1099185" y="3147060"/>
            <a:ext cx="3040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Layer</a:t>
            </a:r>
            <a:endParaRPr sz="135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1099185" y="3385185"/>
            <a:ext cx="3040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SQL Server for structured data, Azure Blob Storage for audio, Pinecone Vector DB for semantic embeddings.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1" name="Google Shape;201;p19" descr="PTML::eyJ0eXBlIjoicmVjdCIsImZpbGwiOiIjRDdFMERCIiwiY29ybmVyUmFkaXVzIjoxMiwibG9ja2VkIjpmYWxzZSwic3Ryb2tlV2lkdGgiOjAsInN0cm9rZVN0eWxlIjoiIiwic2hhZG93Ijp7ImNvbG9yIjoicmdiYSgwLDAsMCw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3048000"/>
            <a:ext cx="3810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53000" y="3238500"/>
            <a:ext cx="304801" cy="3048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5290185" y="3147060"/>
            <a:ext cx="3040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Integration Layer</a:t>
            </a:r>
            <a:endParaRPr sz="135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5290185" y="3385185"/>
            <a:ext cx="3040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Handles third-party interactions: OpenAI, Jira, Trello, Asana, Slack Bot, Stripe, Google Translation, Zoom/Meet/Teams APIs.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480060" y="4671060"/>
            <a:ext cx="2088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IntelliMeet Pro</a:t>
            </a:r>
            <a:endParaRPr sz="9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7528560" y="4671060"/>
            <a:ext cx="1135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Page 7 of 11</a:t>
            </a:r>
            <a:endParaRPr sz="9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9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 descr="PTML::eyJ0eXBlIjoicmVjdCIsImZpbGwiOiIjMEY5RDU4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480060" y="146685"/>
            <a:ext cx="399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Testing &amp; Results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80060" y="861060"/>
            <a:ext cx="8184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Validation of Core AI Components</a:t>
            </a:r>
            <a:endParaRPr sz="2100" b="1"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80060" y="1242060"/>
            <a:ext cx="7231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During FYP-I, the primary objective was to validate the technical feasibility of IntelliMeet Pro’s core AI components.</a:t>
            </a:r>
            <a:endParaRPr sz="12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5" name="Google Shape;215;p20" descr="PTML::eyJ0eXBlIjoicmVjdCIsImZpbGwiOiIjRDdFMERCIiwiY29ybmVyUmFkaXVzIjoxMiwibG9ja2VkIjpmYWxzZSwic3Ryb2tlV2lkdGgiOjAsInN0cm9rZVN0eWxlIjoiIiwic2hhZG93Ijp7ImNvbG9yIjoicmdiYSgwLDAsMCw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905000"/>
            <a:ext cx="38100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670560" y="2004060"/>
            <a:ext cx="3612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Modules Tested:</a:t>
            </a:r>
            <a:endParaRPr sz="150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17" name="Google Shape;2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24765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956310" y="2385060"/>
            <a:ext cx="3326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Transcription (OpenAI Whisper API)</a:t>
            </a:r>
            <a:endParaRPr sz="12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9" name="Google Shape;21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000" y="27622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956310" y="2670810"/>
            <a:ext cx="3326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Speaker Diarization Feasibility</a:t>
            </a:r>
            <a:endParaRPr sz="12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1" name="Google Shape;22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000" y="30480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956310" y="2956560"/>
            <a:ext cx="3326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Summary Generation (OpenAI GPT)</a:t>
            </a:r>
            <a:endParaRPr sz="12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3" name="Google Shape;22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2000" y="33337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956310" y="3242310"/>
            <a:ext cx="3326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Action Item Extraction (OpenAI GPT)</a:t>
            </a:r>
            <a:endParaRPr sz="12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5" name="Google Shape;22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000" y="36195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956310" y="3528060"/>
            <a:ext cx="3326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Key Takeaways Identification (OpenAI GPT)</a:t>
            </a:r>
            <a:endParaRPr sz="12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480060" y="4671060"/>
            <a:ext cx="2088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IntelliMeet Pro </a:t>
            </a:r>
            <a:endParaRPr sz="9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7528560" y="4671060"/>
            <a:ext cx="1135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Page 8 of 11</a:t>
            </a:r>
            <a:endParaRPr sz="9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9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 descr="PTML::eyJ0eXBlIjoicmVjdCIsImZpbGwiOiIjMEY5RDU4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480060" y="146685"/>
            <a:ext cx="399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Testing &amp; Results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80060" y="861060"/>
            <a:ext cx="8184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Key Testing Outcomes</a:t>
            </a:r>
            <a:endParaRPr sz="2100" b="1"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6" name="Google Shape;236;p21" descr="PTML::eyJ0eXBlIjoicmVjdCIsImZpbGwiOiIjRDdFMERCIiwiY29ybmVyUmFkaXVzIjoxMiwibG9ja2VkIjpmYWxzZSwic3Ryb2tlV2lkdGgiOjAsInN0cm9rZVN0eWxlIjoiIiwic2hhZG93Ijp7ImNvbG9yIjoicmdiYSgwLDAsMCw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428750"/>
            <a:ext cx="3810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670560" y="1527810"/>
            <a:ext cx="3612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Transcription Accuracy</a:t>
            </a:r>
            <a:endParaRPr sz="135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670560" y="1813560"/>
            <a:ext cx="3612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High-quality mic: 94–96%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Laptop mic: 91–93%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Background noise: 88–91%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9" name="Google Shape;239;p21" descr="PTML::eyJ0eXBlIjoicmVjdCIsImZpbGwiOiIjRDdFMERCIiwiY29ybmVyUmFkaXVzIjoxMiwibG9ja2VkIjpmYWxzZSwic3Ryb2tlV2lkdGgiOjAsInN0cm9rZVN0eWxlIjoiIiwic2hhZG93Ijp7ImNvbG9yIjoicmdiYSgwLDAsMCw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1428750"/>
            <a:ext cx="3810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4861560" y="1527810"/>
            <a:ext cx="3612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Speaker Diarization</a:t>
            </a:r>
            <a:endParaRPr sz="135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861560" y="1813560"/>
            <a:ext cx="3612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Whisper’s segmentation reasonable. Accuracy 70–80% for short clips. Hybrid approach needed for consistent profiles.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2" name="Google Shape;242;p21" descr="PTML::eyJ0eXBlIjoicmVjdCIsImZpbGwiOiIjRDdFMERCIiwiY29ybmVyUmFkaXVzIjoxMiwibG9ja2VkIjpmYWxzZSwic3Ryb2tlV2lkdGgiOjAsInN0cm9rZVN0eWxlIjoiIiwic2hhZG93Ijp7ImNvbG9yIjoicmdiYSgwLDAsMCw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3048000"/>
            <a:ext cx="3810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670560" y="3147060"/>
            <a:ext cx="3612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Summary Generation (GPT-4)</a:t>
            </a:r>
            <a:endParaRPr sz="135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670560" y="3432810"/>
            <a:ext cx="3612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High relevance, excellent structure, appropriate conciseness. 90–95% accurate to transcript content.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5" name="Google Shape;245;p21" descr="PTML::eyJ0eXBlIjoicmVjdCIsImZpbGwiOiIjRDdFMERCIiwiY29ybmVyUmFkaXVzIjoxMiwibG9ja2VkIjpmYWxzZSwic3Ryb2tlV2lkdGgiOjAsInN0cm9rZVN0eWxlIjoiIiwic2hhZG93Ijp7ImNvbG9yIjoicmdiYSgwLDAsMCw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3048000"/>
            <a:ext cx="3810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4861560" y="3147060"/>
            <a:ext cx="3612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Action Items &amp; Key Takeaways</a:t>
            </a:r>
            <a:endParaRPr sz="135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861560" y="3432810"/>
            <a:ext cx="3612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Task identification: 85–92%. 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Assignee detection: 80–88%.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Key takeaways consistently clear and high-level.</a:t>
            </a:r>
            <a:endParaRPr sz="105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80060" y="4671060"/>
            <a:ext cx="2088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IntelliMeet Pro </a:t>
            </a:r>
            <a:endParaRPr sz="9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7528560" y="4671060"/>
            <a:ext cx="1135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Page 9 of 11</a:t>
            </a:r>
            <a:endParaRPr sz="9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9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 descr="PTML::eyJ0eXBlIjoicmVjdCIsImZpbGwiOiIjMEY5RDU4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480060" y="146685"/>
            <a:ext cx="399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FYP-II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480060" y="861060"/>
            <a:ext cx="3993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Goals for FYP-II</a:t>
            </a:r>
            <a:endParaRPr sz="2100" b="1"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22" descr="PTML::eyJ0eXBlIjoicmVjdCIsImZpbGwiOiIjNENBRjUwIiwiY29ybmVyUmFkaXVzIjowLCJsb2NrZWQiOmZhbHNlLCJzaGFkb3ciOnsib3BhY2l0eSI6MCwiYmx1ciI6MCwib2Zmc2V0WCI6MCwib2Zmc2V0WSI6MH19"/>
          <p:cNvSpPr/>
          <p:nvPr/>
        </p:nvSpPr>
        <p:spPr>
          <a:xfrm>
            <a:off x="571500" y="1333500"/>
            <a:ext cx="2857500" cy="19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480060" y="4671060"/>
            <a:ext cx="2088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IntelliMeet Pro </a:t>
            </a:r>
            <a:endParaRPr sz="9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7528560" y="4671060"/>
            <a:ext cx="1135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Page 10 of 11</a:t>
            </a:r>
            <a:endParaRPr sz="90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0" name="Google Shape;260;p22" descr="PTML::eyJ0eXBlIjoicmVjdCIsImZpbGwiOiIjRDdFMERCIiwiY29ybmVyUmFkaXVzIjoxMiwibG9ja2VkIjpmYWxzZSwic3Ryb2tlV2lkdGgiOjAsInN0cm9rZVN0eWxlIjoiIiwic2hhZG93Ijp7ImNvbG9yIjoicmdiYSgwLDAsMCw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50" y="1558000"/>
            <a:ext cx="3810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1060639" y="1603235"/>
            <a:ext cx="35937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2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Backend Implementation </a:t>
            </a:r>
            <a:endParaRPr sz="1342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571510" y="1998602"/>
            <a:ext cx="36822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Develop complete ASP.NET Core 8.0 API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Implement semantic search pipeline with Pinecone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Integrate Jira, Trello, Asana synchronizations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Develop Slack bot capabilities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Implement secure subscription system via Stripe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3" name="Google Shape;263;p22" descr="PTML::eyJ0eXBlIjoicmVjdCIsImZpbGwiOiIjRDdFMERCIiwiY29ybmVyUmFkaXVzIjoxMiwibG9ja2VkIjpmYWxzZSwic3Ryb2tlV2lkdGgiOjAsInN0cm9rZVN0eWxlIjoiIiwic2hhZG93Ijp7ImNvbG9yIjoicmdiYSgwLDAsMCw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575" y="1607663"/>
            <a:ext cx="3810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5242511" y="1701797"/>
            <a:ext cx="3612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Comprehensive Testing &amp; QA</a:t>
            </a:r>
            <a:endParaRPr sz="135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4815586" y="1998590"/>
            <a:ext cx="36822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Conduct unit, integration, system, and performance testing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Test AI pipeline latency and accuracy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Validate cross-platform bot deployment reliability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Check subscription limits and access controls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Conduct UAT with real users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6" name="Google Shape;266;p22" descr="PTML::eyJ0eXBlIjoicmVjdCIsImZpbGwiOiIjRDdFMERCIiwiY29ybmVyUmFkaXVzIjoxMiwibG9ja2VkIjpmYWxzZSwic3Ryb2tlV2lkdGgiOjAsInN0cm9rZVN0eWxlIjoiIiwic2hhZG93Ijp7ImNvbG9yIjoicmdiYSgwLDAsMCw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3180900"/>
            <a:ext cx="3810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991564" y="3279960"/>
            <a:ext cx="3612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Deployment </a:t>
            </a:r>
            <a:endParaRPr sz="135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480060" y="3662707"/>
            <a:ext cx="36822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Deploy backend to Azure App Services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Deploy database to Azure SQL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Set up Azure Blob Storage for audio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Deploy frontend to Vercel/Azure Static Web Apps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9" name="Google Shape;269;p22" descr="PTML::eyJ0eXBlIjoicmVjdCIsImZpbGwiOiIjRDdFMERCIiwiY29ybmVyUmFkaXVzIjoxMiwibG9ja2VkIjpmYWxzZSwic3Ryb2tlV2lkdGgiOjAsInN0cm9rZVN0eWxlIjoiIiwic2hhZG93Ijp7ImNvbG9yIjoicmdiYSgwLDAsMCw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575" y="3279950"/>
            <a:ext cx="3810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5313509" y="3394250"/>
            <a:ext cx="3612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A0A0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Final Deliverables </a:t>
            </a:r>
            <a:endParaRPr sz="1350">
              <a:solidFill>
                <a:srgbClr val="0A0A0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4815586" y="3828132"/>
            <a:ext cx="36822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Fully functioning IntelliMeet Pro platform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Technical manual and user documentation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Final thesis/report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0875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81"/>
              <a:buFont typeface="Inter"/>
              <a:buChar char="●"/>
            </a:pPr>
            <a:r>
              <a:rPr lang="en" sz="980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FYP-II presentation and open house demonstration</a:t>
            </a: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80">
              <a:solidFill>
                <a:srgbClr val="5A5A5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2" name="Google Shape;27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675" y="1701788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6075" y="1790625"/>
            <a:ext cx="210849" cy="21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000" y="3371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2651" y="3467824"/>
            <a:ext cx="210842" cy="210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9D58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"/>
          <p:cNvSpPr txBox="1"/>
          <p:nvPr/>
        </p:nvSpPr>
        <p:spPr>
          <a:xfrm>
            <a:off x="2125950" y="2017650"/>
            <a:ext cx="4892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</a:rPr>
              <a:t>THANK YOU!</a:t>
            </a:r>
            <a:endParaRPr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</Words>
  <Application>Microsoft Office PowerPoint</Application>
  <PresentationFormat>On-screen Show (16:9)</PresentationFormat>
  <Paragraphs>132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Montserrat</vt:lpstr>
      <vt:lpstr>Inter</vt:lpstr>
      <vt:lpstr>Montserrat SemiBold</vt:lpstr>
      <vt:lpstr>Inter Medium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Laiba Sheikh</cp:lastModifiedBy>
  <cp:revision>1</cp:revision>
  <dcterms:modified xsi:type="dcterms:W3CDTF">2025-12-10T18:34:12Z</dcterms:modified>
</cp:coreProperties>
</file>