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8" r:id="rId3"/>
    <p:sldId id="259" r:id="rId4"/>
    <p:sldId id="285" r:id="rId5"/>
    <p:sldId id="264" r:id="rId6"/>
    <p:sldId id="265" r:id="rId7"/>
    <p:sldId id="266" r:id="rId8"/>
    <p:sldId id="273" r:id="rId9"/>
    <p:sldId id="267" r:id="rId10"/>
    <p:sldId id="268" r:id="rId11"/>
    <p:sldId id="270" r:id="rId12"/>
    <p:sldId id="271" r:id="rId13"/>
    <p:sldId id="272" r:id="rId14"/>
    <p:sldId id="274" r:id="rId15"/>
    <p:sldId id="286" r:id="rId16"/>
    <p:sldId id="276" r:id="rId17"/>
    <p:sldId id="278" r:id="rId18"/>
    <p:sldId id="277" r:id="rId19"/>
    <p:sldId id="279" r:id="rId20"/>
    <p:sldId id="280"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005" autoAdjust="0"/>
  </p:normalViewPr>
  <p:slideViewPr>
    <p:cSldViewPr snapToGrid="0">
      <p:cViewPr varScale="1">
        <p:scale>
          <a:sx n="108" d="100"/>
          <a:sy n="108" d="100"/>
        </p:scale>
        <p:origin x="65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51D83-D3F9-44F3-842B-31FCF72417C7}" type="datetimeFigureOut">
              <a:rPr lang="en-US" smtClean="0"/>
              <a:pPr/>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EA2E4-B387-474D-ABE0-067FA6E65BAA}" type="slidenum">
              <a:rPr lang="en-US" smtClean="0"/>
              <a:pPr/>
              <a:t>‹#›</a:t>
            </a:fld>
            <a:endParaRPr lang="en-US"/>
          </a:p>
        </p:txBody>
      </p:sp>
    </p:spTree>
    <p:extLst>
      <p:ext uri="{BB962C8B-B14F-4D97-AF65-F5344CB8AC3E}">
        <p14:creationId xmlns:p14="http://schemas.microsoft.com/office/powerpoint/2010/main" val="435447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FEA2E4-B387-474D-ABE0-067FA6E65BAA}" type="slidenum">
              <a:rPr lang="en-US" smtClean="0"/>
              <a:pPr/>
              <a:t>16</a:t>
            </a:fld>
            <a:endParaRPr lang="en-US"/>
          </a:p>
        </p:txBody>
      </p:sp>
    </p:spTree>
    <p:extLst>
      <p:ext uri="{BB962C8B-B14F-4D97-AF65-F5344CB8AC3E}">
        <p14:creationId xmlns:p14="http://schemas.microsoft.com/office/powerpoint/2010/main" val="21037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28458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15639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4289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9762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127904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25596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909972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76316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3950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478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969020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32948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099155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08663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7522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38014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11/13/2025</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678661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82249" y="4407451"/>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Anaum Hamid</a:t>
            </a:r>
            <a:endParaRPr dirty="0"/>
          </a:p>
          <a:p>
            <a:pPr>
              <a:buSzPts val="1440"/>
            </a:pPr>
            <a:r>
              <a:rPr lang="en-US" dirty="0"/>
              <a:t>Email address: anaum.hamid@nu.edu.pk</a:t>
            </a:r>
            <a:endParaRPr dirty="0"/>
          </a:p>
        </p:txBody>
      </p:sp>
      <p:sp>
        <p:nvSpPr>
          <p:cNvPr id="149" name="Google Shape;149;p18"/>
          <p:cNvSpPr txBox="1"/>
          <p:nvPr/>
        </p:nvSpPr>
        <p:spPr>
          <a:xfrm>
            <a:off x="2739151" y="3427220"/>
            <a:ext cx="6713697" cy="769401"/>
          </a:xfrm>
          <a:prstGeom prst="rect">
            <a:avLst/>
          </a:prstGeom>
          <a:noFill/>
          <a:ln>
            <a:noFill/>
          </a:ln>
        </p:spPr>
        <p:txBody>
          <a:bodyPr spcFirstLastPara="1" wrap="square" lIns="91425" tIns="45700" rIns="91425" bIns="45700" anchor="t" anchorCtr="0">
            <a:spAutoFit/>
          </a:bodyPr>
          <a:lstStyle/>
          <a:p>
            <a:pPr algn="ctr"/>
            <a:r>
              <a:rPr lang="en-US" sz="4400" i="1" dirty="0">
                <a:solidFill>
                  <a:schemeClr val="dk1"/>
                </a:solidFill>
                <a:latin typeface="Trebuchet MS"/>
                <a:sym typeface="Trebuchet MS"/>
              </a:rPr>
              <a:t>Human Resources Issues </a:t>
            </a:r>
            <a:endParaRPr sz="4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Resources Issues</a:t>
            </a:r>
            <a:endParaRPr lang="en-US" dirty="0"/>
          </a:p>
        </p:txBody>
      </p:sp>
      <p:sp>
        <p:nvSpPr>
          <p:cNvPr id="3" name="Content Placeholder 2"/>
          <p:cNvSpPr>
            <a:spLocks noGrp="1"/>
          </p:cNvSpPr>
          <p:nvPr>
            <p:ph idx="1"/>
          </p:nvPr>
        </p:nvSpPr>
        <p:spPr/>
        <p:txBody>
          <a:bodyPr/>
          <a:lstStyle/>
          <a:p>
            <a:pPr marL="0" indent="0">
              <a:buNone/>
            </a:pPr>
            <a:endParaRPr lang="en-US" i="1" dirty="0"/>
          </a:p>
          <a:p>
            <a:r>
              <a:rPr lang="en-US" sz="2000" b="1" i="1" dirty="0"/>
              <a:t>What are the complexity of the law in this area;</a:t>
            </a:r>
          </a:p>
          <a:p>
            <a:r>
              <a:rPr lang="en-US" sz="2000" b="1" i="1" dirty="0"/>
              <a:t>What are the constraints under which management and human resources staff act;</a:t>
            </a:r>
          </a:p>
          <a:p>
            <a:r>
              <a:rPr lang="en-US" sz="2000" b="1" i="1" dirty="0"/>
              <a:t>why and to what extent managers need to be aware of general human resources issues.</a:t>
            </a:r>
            <a:endParaRPr lang="en-US" sz="2000" b="1" dirty="0"/>
          </a:p>
        </p:txBody>
      </p:sp>
    </p:spTree>
    <p:extLst>
      <p:ext uri="{BB962C8B-B14F-4D97-AF65-F5344CB8AC3E}">
        <p14:creationId xmlns:p14="http://schemas.microsoft.com/office/powerpoint/2010/main" val="403682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resources </a:t>
            </a:r>
          </a:p>
        </p:txBody>
      </p:sp>
      <p:sp>
        <p:nvSpPr>
          <p:cNvPr id="3" name="Content Placeholder 2"/>
          <p:cNvSpPr>
            <a:spLocks noGrp="1"/>
          </p:cNvSpPr>
          <p:nvPr>
            <p:ph idx="1"/>
          </p:nvPr>
        </p:nvSpPr>
        <p:spPr>
          <a:xfrm>
            <a:off x="812798" y="1672910"/>
            <a:ext cx="8463619" cy="3880773"/>
          </a:xfrm>
        </p:spPr>
        <p:txBody>
          <a:bodyPr>
            <a:normAutofit/>
          </a:bodyPr>
          <a:lstStyle/>
          <a:p>
            <a:r>
              <a:rPr lang="en-US" sz="2800" dirty="0"/>
              <a:t>What is a resource?</a:t>
            </a:r>
          </a:p>
          <a:p>
            <a:r>
              <a:rPr lang="en-US" sz="2800" dirty="0"/>
              <a:t>What is human resource?</a:t>
            </a:r>
          </a:p>
          <a:p>
            <a:r>
              <a:rPr lang="en-US" sz="2800" dirty="0">
                <a:solidFill>
                  <a:srgbClr val="FF0000"/>
                </a:solidFill>
                <a:latin typeface="Abadi" panose="020F0502020204030204" pitchFamily="34" charset="0"/>
              </a:rPr>
              <a:t>The people who work for an organization are an indispensable part of the organization’s resources and most of the time, the most important part</a:t>
            </a:r>
            <a:r>
              <a:rPr lang="en-US" sz="2800" dirty="0">
                <a:latin typeface="Abadi" panose="020F0502020204030204" pitchFamily="34" charset="0"/>
              </a:rPr>
              <a:t>.</a:t>
            </a:r>
            <a:endParaRPr lang="en-US" sz="2800" dirty="0"/>
          </a:p>
          <a:p>
            <a:endParaRPr lang="en-US" dirty="0"/>
          </a:p>
          <a:p>
            <a:endParaRPr lang="en-US" dirty="0"/>
          </a:p>
        </p:txBody>
      </p:sp>
    </p:spTree>
    <p:extLst>
      <p:ext uri="{BB962C8B-B14F-4D97-AF65-F5344CB8AC3E}">
        <p14:creationId xmlns:p14="http://schemas.microsoft.com/office/powerpoint/2010/main" val="53563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4DB3C-741F-25A1-447D-D0EA48B09137}"/>
              </a:ext>
            </a:extLst>
          </p:cNvPr>
          <p:cNvSpPr>
            <a:spLocks noGrp="1"/>
          </p:cNvSpPr>
          <p:nvPr>
            <p:ph type="title"/>
          </p:nvPr>
        </p:nvSpPr>
        <p:spPr/>
        <p:txBody>
          <a:bodyPr/>
          <a:lstStyle/>
          <a:p>
            <a:r>
              <a:rPr lang="en-US" dirty="0"/>
              <a:t>Human resources </a:t>
            </a:r>
            <a:endParaRPr lang="en-PK" dirty="0"/>
          </a:p>
        </p:txBody>
      </p:sp>
      <p:sp>
        <p:nvSpPr>
          <p:cNvPr id="3" name="Content Placeholder 2">
            <a:extLst>
              <a:ext uri="{FF2B5EF4-FFF2-40B4-BE49-F238E27FC236}">
                <a16:creationId xmlns:a16="http://schemas.microsoft.com/office/drawing/2014/main" id="{31D1BF84-6A9C-8B2D-19E3-69C0BAA9C1C1}"/>
              </a:ext>
            </a:extLst>
          </p:cNvPr>
          <p:cNvSpPr>
            <a:spLocks noGrp="1"/>
          </p:cNvSpPr>
          <p:nvPr>
            <p:ph idx="1"/>
          </p:nvPr>
        </p:nvSpPr>
        <p:spPr>
          <a:xfrm>
            <a:off x="812800" y="1721678"/>
            <a:ext cx="8463619" cy="3880773"/>
          </a:xfrm>
        </p:spPr>
        <p:txBody>
          <a:bodyPr/>
          <a:lstStyle/>
          <a:p>
            <a:endParaRPr lang="en-US" dirty="0"/>
          </a:p>
          <a:p>
            <a:r>
              <a:rPr lang="en-US" sz="2800" dirty="0"/>
              <a:t>Why do we need Human Resources in an organization?</a:t>
            </a:r>
          </a:p>
          <a:p>
            <a:r>
              <a:rPr lang="en-US" dirty="0"/>
              <a:t>Any organization that employs staff will be faced with the need to handle administrative issues relating to their employment.</a:t>
            </a:r>
          </a:p>
          <a:p>
            <a:r>
              <a:rPr lang="en-US" dirty="0"/>
              <a:t>The cost of recruiting new staff is high and the loss of continuity when staff leave can also be very expensive. Accordingly, the organization will want to keep staff turnover low.</a:t>
            </a:r>
          </a:p>
          <a:p>
            <a:r>
              <a:rPr lang="en-US" dirty="0"/>
              <a:t> A full-time personnel officer or human resources manager is required.</a:t>
            </a:r>
            <a:endParaRPr lang="en-PK" dirty="0"/>
          </a:p>
        </p:txBody>
      </p:sp>
    </p:spTree>
    <p:extLst>
      <p:ext uri="{BB962C8B-B14F-4D97-AF65-F5344CB8AC3E}">
        <p14:creationId xmlns:p14="http://schemas.microsoft.com/office/powerpoint/2010/main" val="863742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30414" y="152400"/>
            <a:ext cx="8129587" cy="6097588"/>
          </a:xfrm>
          <a:prstGeom prst="rect">
            <a:avLst/>
          </a:prstGeom>
          <a:noFill/>
          <a:extLst>
            <a:ext uri="{909E8E84-426E-40DD-AFC4-6F175D3DCCD1}">
              <a14:hiddenFill xmlns:a14="http://schemas.microsoft.com/office/drawing/2010/main">
                <a:solidFill>
                  <a:srgbClr val="FFFFFF"/>
                </a:solidFill>
              </a14:hiddenFill>
            </a:ext>
          </a:extLst>
        </p:spPr>
      </p:pic>
      <p:sp>
        <p:nvSpPr>
          <p:cNvPr id="9219" name="Rectangle 3"/>
          <p:cNvSpPr>
            <a:spLocks noChangeArrowheads="1"/>
          </p:cNvSpPr>
          <p:nvPr/>
        </p:nvSpPr>
        <p:spPr bwMode="auto">
          <a:xfrm>
            <a:off x="5562600" y="1143000"/>
            <a:ext cx="8905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T</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E</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A</a:t>
            </a:r>
          </a:p>
          <a:p>
            <a:pPr algn="ctr" eaLnBrk="0" hangingPunct="0"/>
            <a:r>
              <a:rPr lang="en-US" altLang="en-US" sz="6600" b="1">
                <a:solidFill>
                  <a:srgbClr val="EF9100"/>
                </a:solidFill>
                <a:effectLst>
                  <a:outerShdw blurRad="38100" dist="38100" dir="2700000" algn="tl">
                    <a:srgbClr val="C0C0C0"/>
                  </a:outerShdw>
                </a:effectLst>
                <a:latin typeface="Tahoma" panose="020B0604030504040204" pitchFamily="34" charset="0"/>
              </a:rPr>
              <a:t>M</a:t>
            </a:r>
          </a:p>
        </p:txBody>
      </p:sp>
      <p:sp>
        <p:nvSpPr>
          <p:cNvPr id="9220" name="Rectangle 4"/>
          <p:cNvSpPr>
            <a:spLocks noChangeArrowheads="1"/>
          </p:cNvSpPr>
          <p:nvPr/>
        </p:nvSpPr>
        <p:spPr bwMode="auto">
          <a:xfrm>
            <a:off x="6372225" y="1042988"/>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altLang="en-US" sz="6600" b="1" dirty="0" err="1">
                <a:solidFill>
                  <a:srgbClr val="FDFD5D"/>
                </a:solidFill>
                <a:effectLst>
                  <a:outerShdw blurRad="38100" dist="38100" dir="2700000" algn="tl">
                    <a:srgbClr val="C0C0C0"/>
                  </a:outerShdw>
                </a:effectLst>
              </a:rPr>
              <a:t>ogether</a:t>
            </a:r>
            <a:endParaRPr lang="en-US" altLang="en-US" sz="6600" b="1" dirty="0">
              <a:solidFill>
                <a:srgbClr val="FDFD5D"/>
              </a:solidFill>
              <a:effectLst>
                <a:outerShdw blurRad="38100" dist="38100" dir="2700000" algn="tl">
                  <a:srgbClr val="C0C0C0"/>
                </a:outerShdw>
              </a:effectLst>
            </a:endParaRPr>
          </a:p>
          <a:p>
            <a:pPr eaLnBrk="0" hangingPunct="0"/>
            <a:r>
              <a:rPr lang="en-US" altLang="en-US" sz="6600" b="1" dirty="0" err="1">
                <a:solidFill>
                  <a:srgbClr val="FDFD5D"/>
                </a:solidFill>
                <a:effectLst>
                  <a:outerShdw blurRad="38100" dist="38100" dir="2700000" algn="tl">
                    <a:srgbClr val="C0C0C0"/>
                  </a:outerShdw>
                </a:effectLst>
              </a:rPr>
              <a:t>veryone</a:t>
            </a:r>
            <a:endParaRPr lang="en-US" altLang="en-US" sz="6600" b="1" dirty="0">
              <a:solidFill>
                <a:srgbClr val="FDFD5D"/>
              </a:solidFill>
              <a:effectLst>
                <a:outerShdw blurRad="38100" dist="38100" dir="2700000" algn="tl">
                  <a:srgbClr val="C0C0C0"/>
                </a:outerShdw>
              </a:effectLst>
              <a:latin typeface="Tahoma" panose="020B0604030504040204" pitchFamily="34" charset="0"/>
            </a:endParaRPr>
          </a:p>
          <a:p>
            <a:pPr eaLnBrk="0" hangingPunct="0"/>
            <a:r>
              <a:rPr lang="en-US" altLang="en-US" sz="6600" b="1" dirty="0" err="1">
                <a:solidFill>
                  <a:srgbClr val="FDFD5D"/>
                </a:solidFill>
                <a:effectLst>
                  <a:outerShdw blurRad="38100" dist="38100" dir="2700000" algn="tl">
                    <a:srgbClr val="C0C0C0"/>
                  </a:outerShdw>
                </a:effectLst>
              </a:rPr>
              <a:t>chieves</a:t>
            </a:r>
            <a:r>
              <a:rPr lang="en-US" altLang="en-US" sz="6600" b="1" dirty="0">
                <a:solidFill>
                  <a:srgbClr val="FDFD5D"/>
                </a:solidFill>
                <a:effectLst>
                  <a:outerShdw blurRad="38100" dist="38100" dir="2700000" algn="tl">
                    <a:srgbClr val="C0C0C0"/>
                  </a:outerShdw>
                </a:effectLst>
                <a:latin typeface="Tahoma" panose="020B0604030504040204" pitchFamily="34" charset="0"/>
              </a:rPr>
              <a:t> </a:t>
            </a:r>
          </a:p>
          <a:p>
            <a:pPr eaLnBrk="0" hangingPunct="0"/>
            <a:r>
              <a:rPr lang="en-US" altLang="en-US" sz="6600" b="1" dirty="0">
                <a:solidFill>
                  <a:srgbClr val="FDFD5D"/>
                </a:solidFill>
                <a:effectLst>
                  <a:outerShdw blurRad="38100" dist="38100" dir="2700000" algn="tl">
                    <a:srgbClr val="C0C0C0"/>
                  </a:outerShdw>
                </a:effectLst>
              </a:rPr>
              <a:t>ore</a:t>
            </a:r>
          </a:p>
        </p:txBody>
      </p:sp>
      <p:pic>
        <p:nvPicPr>
          <p:cNvPr id="9221" name="Picture 5"/>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133601" y="152401"/>
            <a:ext cx="3470275" cy="37306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bd04993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990600"/>
            <a:ext cx="14097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4126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iterate type="lt">
                                    <p:tmPct val="100000"/>
                                  </p:iterate>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75" fill="hold"/>
                                        <p:tgtEl>
                                          <p:spTgt spid="9219">
                                            <p:txEl>
                                              <p:pRg st="0" end="0"/>
                                            </p:txEl>
                                          </p:spTgt>
                                        </p:tgtEl>
                                        <p:attrNameLst>
                                          <p:attrName>ppt_x</p:attrName>
                                        </p:attrNameLst>
                                      </p:cBhvr>
                                      <p:tavLst>
                                        <p:tav tm="0">
                                          <p:val>
                                            <p:strVal val="1+#ppt_w/2"/>
                                          </p:val>
                                        </p:tav>
                                        <p:tav tm="100000">
                                          <p:val>
                                            <p:strVal val="#ppt_x"/>
                                          </p:val>
                                        </p:tav>
                                      </p:tavLst>
                                    </p:anim>
                                    <p:anim calcmode="lin" valueType="num">
                                      <p:cBhvr additive="base">
                                        <p:cTn id="8" dur="75"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75"/>
                            </p:stCondLst>
                            <p:childTnLst>
                              <p:par>
                                <p:cTn id="10" presetID="2" presetClass="entr" presetSubtype="2" fill="hold" grpId="0" nodeType="afterEffect">
                                  <p:stCondLst>
                                    <p:cond delay="0"/>
                                  </p:stCondLst>
                                  <p:iterate type="lt">
                                    <p:tmPct val="100000"/>
                                  </p:iterate>
                                  <p:childTnLst>
                                    <p:set>
                                      <p:cBhvr>
                                        <p:cTn id="11" dur="1" fill="hold">
                                          <p:stCondLst>
                                            <p:cond delay="0"/>
                                          </p:stCondLst>
                                        </p:cTn>
                                        <p:tgtEl>
                                          <p:spTgt spid="9219">
                                            <p:txEl>
                                              <p:pRg st="1" end="1"/>
                                            </p:txEl>
                                          </p:spTgt>
                                        </p:tgtEl>
                                        <p:attrNameLst>
                                          <p:attrName>style.visibility</p:attrName>
                                        </p:attrNameLst>
                                      </p:cBhvr>
                                      <p:to>
                                        <p:strVal val="visible"/>
                                      </p:to>
                                    </p:set>
                                    <p:anim calcmode="lin" valueType="num">
                                      <p:cBhvr additive="base">
                                        <p:cTn id="12" dur="75" fill="hold"/>
                                        <p:tgtEl>
                                          <p:spTgt spid="9219">
                                            <p:txEl>
                                              <p:pRg st="1" end="1"/>
                                            </p:txEl>
                                          </p:spTgt>
                                        </p:tgtEl>
                                        <p:attrNameLst>
                                          <p:attrName>ppt_x</p:attrName>
                                        </p:attrNameLst>
                                      </p:cBhvr>
                                      <p:tavLst>
                                        <p:tav tm="0">
                                          <p:val>
                                            <p:strVal val="1+#ppt_w/2"/>
                                          </p:val>
                                        </p:tav>
                                        <p:tav tm="100000">
                                          <p:val>
                                            <p:strVal val="#ppt_x"/>
                                          </p:val>
                                        </p:tav>
                                      </p:tavLst>
                                    </p:anim>
                                    <p:anim calcmode="lin" valueType="num">
                                      <p:cBhvr additive="base">
                                        <p:cTn id="13" dur="75"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
                            </p:stCondLst>
                            <p:childTnLst>
                              <p:par>
                                <p:cTn id="15" presetID="2" presetClass="entr" presetSubtype="2" fill="hold" grpId="0" nodeType="afterEffect">
                                  <p:stCondLst>
                                    <p:cond delay="0"/>
                                  </p:stCondLst>
                                  <p:iterate type="lt">
                                    <p:tmPct val="100000"/>
                                  </p:iterate>
                                  <p:childTnLst>
                                    <p:set>
                                      <p:cBhvr>
                                        <p:cTn id="16" dur="1" fill="hold">
                                          <p:stCondLst>
                                            <p:cond delay="0"/>
                                          </p:stCondLst>
                                        </p:cTn>
                                        <p:tgtEl>
                                          <p:spTgt spid="9219">
                                            <p:txEl>
                                              <p:pRg st="2" end="2"/>
                                            </p:txEl>
                                          </p:spTgt>
                                        </p:tgtEl>
                                        <p:attrNameLst>
                                          <p:attrName>style.visibility</p:attrName>
                                        </p:attrNameLst>
                                      </p:cBhvr>
                                      <p:to>
                                        <p:strVal val="visible"/>
                                      </p:to>
                                    </p:set>
                                    <p:anim calcmode="lin" valueType="num">
                                      <p:cBhvr additive="base">
                                        <p:cTn id="17" dur="75" fill="hold"/>
                                        <p:tgtEl>
                                          <p:spTgt spid="9219">
                                            <p:txEl>
                                              <p:pRg st="2" end="2"/>
                                            </p:txEl>
                                          </p:spTgt>
                                        </p:tgtEl>
                                        <p:attrNameLst>
                                          <p:attrName>ppt_x</p:attrName>
                                        </p:attrNameLst>
                                      </p:cBhvr>
                                      <p:tavLst>
                                        <p:tav tm="0">
                                          <p:val>
                                            <p:strVal val="1+#ppt_w/2"/>
                                          </p:val>
                                        </p:tav>
                                        <p:tav tm="100000">
                                          <p:val>
                                            <p:strVal val="#ppt_x"/>
                                          </p:val>
                                        </p:tav>
                                      </p:tavLst>
                                    </p:anim>
                                    <p:anim calcmode="lin" valueType="num">
                                      <p:cBhvr additive="base">
                                        <p:cTn id="18" dur="75"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25"/>
                            </p:stCondLst>
                            <p:childTnLst>
                              <p:par>
                                <p:cTn id="20" presetID="2" presetClass="entr" presetSubtype="2" fill="hold" grpId="0" nodeType="afterEffect">
                                  <p:stCondLst>
                                    <p:cond delay="0"/>
                                  </p:stCondLst>
                                  <p:iterate type="lt">
                                    <p:tmPct val="100000"/>
                                  </p:iterate>
                                  <p:childTnLst>
                                    <p:set>
                                      <p:cBhvr>
                                        <p:cTn id="21" dur="1" fill="hold">
                                          <p:stCondLst>
                                            <p:cond delay="0"/>
                                          </p:stCondLst>
                                        </p:cTn>
                                        <p:tgtEl>
                                          <p:spTgt spid="9219">
                                            <p:txEl>
                                              <p:pRg st="3" end="3"/>
                                            </p:txEl>
                                          </p:spTgt>
                                        </p:tgtEl>
                                        <p:attrNameLst>
                                          <p:attrName>style.visibility</p:attrName>
                                        </p:attrNameLst>
                                      </p:cBhvr>
                                      <p:to>
                                        <p:strVal val="visible"/>
                                      </p:to>
                                    </p:set>
                                    <p:anim calcmode="lin" valueType="num">
                                      <p:cBhvr additive="base">
                                        <p:cTn id="22" dur="75" fill="hold"/>
                                        <p:tgtEl>
                                          <p:spTgt spid="9219">
                                            <p:txEl>
                                              <p:pRg st="3" end="3"/>
                                            </p:txEl>
                                          </p:spTgt>
                                        </p:tgtEl>
                                        <p:attrNameLst>
                                          <p:attrName>ppt_x</p:attrName>
                                        </p:attrNameLst>
                                      </p:cBhvr>
                                      <p:tavLst>
                                        <p:tav tm="0">
                                          <p:val>
                                            <p:strVal val="1+#ppt_w/2"/>
                                          </p:val>
                                        </p:tav>
                                        <p:tav tm="100000">
                                          <p:val>
                                            <p:strVal val="#ppt_x"/>
                                          </p:val>
                                        </p:tav>
                                      </p:tavLst>
                                    </p:anim>
                                    <p:anim calcmode="lin" valueType="num">
                                      <p:cBhvr additive="base">
                                        <p:cTn id="23" dur="75"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iterate type="wd">
                                    <p:tmPct val="100000"/>
                                  </p:iterate>
                                  <p:childTnLst>
                                    <p:set>
                                      <p:cBhvr>
                                        <p:cTn id="27" dur="1" fill="hold">
                                          <p:stCondLst>
                                            <p:cond delay="0"/>
                                          </p:stCondLst>
                                        </p:cTn>
                                        <p:tgtEl>
                                          <p:spTgt spid="9220">
                                            <p:txEl>
                                              <p:pRg st="0" end="0"/>
                                            </p:txEl>
                                          </p:spTgt>
                                        </p:tgtEl>
                                        <p:attrNameLst>
                                          <p:attrName>style.visibility</p:attrName>
                                        </p:attrNameLst>
                                      </p:cBhvr>
                                      <p:to>
                                        <p:strVal val="visible"/>
                                      </p:to>
                                    </p:set>
                                    <p:anim calcmode="lin" valueType="num">
                                      <p:cBhvr additive="base">
                                        <p:cTn id="28" dur="300" fill="hold"/>
                                        <p:tgtEl>
                                          <p:spTgt spid="9220">
                                            <p:txEl>
                                              <p:pRg st="0" end="0"/>
                                            </p:txEl>
                                          </p:spTgt>
                                        </p:tgtEl>
                                        <p:attrNameLst>
                                          <p:attrName>ppt_x</p:attrName>
                                        </p:attrNameLst>
                                      </p:cBhvr>
                                      <p:tavLst>
                                        <p:tav tm="0">
                                          <p:val>
                                            <p:strVal val="1+#ppt_w/2"/>
                                          </p:val>
                                        </p:tav>
                                        <p:tav tm="100000">
                                          <p:val>
                                            <p:strVal val="#ppt_x"/>
                                          </p:val>
                                        </p:tav>
                                      </p:tavLst>
                                    </p:anim>
                                    <p:anim calcmode="lin" valueType="num">
                                      <p:cBhvr additive="base">
                                        <p:cTn id="29" dur="300" fill="hold"/>
                                        <p:tgtEl>
                                          <p:spTgt spid="92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iterate type="wd">
                                    <p:tmPct val="100000"/>
                                  </p:iterate>
                                  <p:childTnLst>
                                    <p:set>
                                      <p:cBhvr>
                                        <p:cTn id="33" dur="1" fill="hold">
                                          <p:stCondLst>
                                            <p:cond delay="0"/>
                                          </p:stCondLst>
                                        </p:cTn>
                                        <p:tgtEl>
                                          <p:spTgt spid="9220">
                                            <p:txEl>
                                              <p:pRg st="1" end="1"/>
                                            </p:txEl>
                                          </p:spTgt>
                                        </p:tgtEl>
                                        <p:attrNameLst>
                                          <p:attrName>style.visibility</p:attrName>
                                        </p:attrNameLst>
                                      </p:cBhvr>
                                      <p:to>
                                        <p:strVal val="visible"/>
                                      </p:to>
                                    </p:set>
                                    <p:anim calcmode="lin" valueType="num">
                                      <p:cBhvr additive="base">
                                        <p:cTn id="34" dur="300" fill="hold"/>
                                        <p:tgtEl>
                                          <p:spTgt spid="9220">
                                            <p:txEl>
                                              <p:pRg st="1" end="1"/>
                                            </p:txEl>
                                          </p:spTgt>
                                        </p:tgtEl>
                                        <p:attrNameLst>
                                          <p:attrName>ppt_x</p:attrName>
                                        </p:attrNameLst>
                                      </p:cBhvr>
                                      <p:tavLst>
                                        <p:tav tm="0">
                                          <p:val>
                                            <p:strVal val="1+#ppt_w/2"/>
                                          </p:val>
                                        </p:tav>
                                        <p:tav tm="100000">
                                          <p:val>
                                            <p:strVal val="#ppt_x"/>
                                          </p:val>
                                        </p:tav>
                                      </p:tavLst>
                                    </p:anim>
                                    <p:anim calcmode="lin" valueType="num">
                                      <p:cBhvr additive="base">
                                        <p:cTn id="35" dur="300" fill="hold"/>
                                        <p:tgtEl>
                                          <p:spTgt spid="92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grpId="0" nodeType="clickEffect">
                                  <p:stCondLst>
                                    <p:cond delay="0"/>
                                  </p:stCondLst>
                                  <p:iterate type="wd">
                                    <p:tmPct val="100000"/>
                                  </p:iterate>
                                  <p:childTnLst>
                                    <p:set>
                                      <p:cBhvr>
                                        <p:cTn id="39" dur="1" fill="hold">
                                          <p:stCondLst>
                                            <p:cond delay="0"/>
                                          </p:stCondLst>
                                        </p:cTn>
                                        <p:tgtEl>
                                          <p:spTgt spid="9220">
                                            <p:txEl>
                                              <p:pRg st="2" end="2"/>
                                            </p:txEl>
                                          </p:spTgt>
                                        </p:tgtEl>
                                        <p:attrNameLst>
                                          <p:attrName>style.visibility</p:attrName>
                                        </p:attrNameLst>
                                      </p:cBhvr>
                                      <p:to>
                                        <p:strVal val="visible"/>
                                      </p:to>
                                    </p:set>
                                    <p:anim calcmode="lin" valueType="num">
                                      <p:cBhvr additive="base">
                                        <p:cTn id="40" dur="300" fill="hold"/>
                                        <p:tgtEl>
                                          <p:spTgt spid="9220">
                                            <p:txEl>
                                              <p:pRg st="2" end="2"/>
                                            </p:txEl>
                                          </p:spTgt>
                                        </p:tgtEl>
                                        <p:attrNameLst>
                                          <p:attrName>ppt_x</p:attrName>
                                        </p:attrNameLst>
                                      </p:cBhvr>
                                      <p:tavLst>
                                        <p:tav tm="0">
                                          <p:val>
                                            <p:strVal val="1+#ppt_w/2"/>
                                          </p:val>
                                        </p:tav>
                                        <p:tav tm="100000">
                                          <p:val>
                                            <p:strVal val="#ppt_x"/>
                                          </p:val>
                                        </p:tav>
                                      </p:tavLst>
                                    </p:anim>
                                    <p:anim calcmode="lin" valueType="num">
                                      <p:cBhvr additive="base">
                                        <p:cTn id="41" dur="300" fill="hold"/>
                                        <p:tgtEl>
                                          <p:spTgt spid="92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iterate type="wd">
                                    <p:tmPct val="100000"/>
                                  </p:iterate>
                                  <p:childTnLst>
                                    <p:set>
                                      <p:cBhvr>
                                        <p:cTn id="45" dur="1" fill="hold">
                                          <p:stCondLst>
                                            <p:cond delay="0"/>
                                          </p:stCondLst>
                                        </p:cTn>
                                        <p:tgtEl>
                                          <p:spTgt spid="9220">
                                            <p:txEl>
                                              <p:pRg st="3" end="3"/>
                                            </p:txEl>
                                          </p:spTgt>
                                        </p:tgtEl>
                                        <p:attrNameLst>
                                          <p:attrName>style.visibility</p:attrName>
                                        </p:attrNameLst>
                                      </p:cBhvr>
                                      <p:to>
                                        <p:strVal val="visible"/>
                                      </p:to>
                                    </p:set>
                                    <p:anim calcmode="lin" valueType="num">
                                      <p:cBhvr additive="base">
                                        <p:cTn id="46" dur="300" fill="hold"/>
                                        <p:tgtEl>
                                          <p:spTgt spid="9220">
                                            <p:txEl>
                                              <p:pRg st="3" end="3"/>
                                            </p:txEl>
                                          </p:spTgt>
                                        </p:tgtEl>
                                        <p:attrNameLst>
                                          <p:attrName>ppt_x</p:attrName>
                                        </p:attrNameLst>
                                      </p:cBhvr>
                                      <p:tavLst>
                                        <p:tav tm="0">
                                          <p:val>
                                            <p:strVal val="1+#ppt_w/2"/>
                                          </p:val>
                                        </p:tav>
                                        <p:tav tm="100000">
                                          <p:val>
                                            <p:strVal val="#ppt_x"/>
                                          </p:val>
                                        </p:tav>
                                      </p:tavLst>
                                    </p:anim>
                                    <p:anim calcmode="lin" valueType="num">
                                      <p:cBhvr additive="base">
                                        <p:cTn id="47" dur="300" fill="hold"/>
                                        <p:tgtEl>
                                          <p:spTgt spid="9220">
                                            <p:txEl>
                                              <p:pRg st="3" end="3"/>
                                            </p:txEl>
                                          </p:spTgt>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300"/>
                            </p:stCondLst>
                            <p:childTnLst>
                              <p:par>
                                <p:cTn id="49" presetID="15" presetClass="entr" presetSubtype="0" fill="hold" nodeType="afterEffect">
                                  <p:stCondLst>
                                    <p:cond delay="0"/>
                                  </p:stCondLst>
                                  <p:childTnLst>
                                    <p:set>
                                      <p:cBhvr>
                                        <p:cTn id="50" dur="1" fill="hold">
                                          <p:stCondLst>
                                            <p:cond delay="0"/>
                                          </p:stCondLst>
                                        </p:cTn>
                                        <p:tgtEl>
                                          <p:spTgt spid="9221"/>
                                        </p:tgtEl>
                                        <p:attrNameLst>
                                          <p:attrName>style.visibility</p:attrName>
                                        </p:attrNameLst>
                                      </p:cBhvr>
                                      <p:to>
                                        <p:strVal val="visible"/>
                                      </p:to>
                                    </p:set>
                                    <p:anim calcmode="lin" valueType="num">
                                      <p:cBhvr>
                                        <p:cTn id="51" dur="1000" fill="hold"/>
                                        <p:tgtEl>
                                          <p:spTgt spid="9221"/>
                                        </p:tgtEl>
                                        <p:attrNameLst>
                                          <p:attrName>ppt_w</p:attrName>
                                        </p:attrNameLst>
                                      </p:cBhvr>
                                      <p:tavLst>
                                        <p:tav tm="0">
                                          <p:val>
                                            <p:fltVal val="0"/>
                                          </p:val>
                                        </p:tav>
                                        <p:tav tm="100000">
                                          <p:val>
                                            <p:strVal val="#ppt_w"/>
                                          </p:val>
                                        </p:tav>
                                      </p:tavLst>
                                    </p:anim>
                                    <p:anim calcmode="lin" valueType="num">
                                      <p:cBhvr>
                                        <p:cTn id="52" dur="1000" fill="hold"/>
                                        <p:tgtEl>
                                          <p:spTgt spid="9221"/>
                                        </p:tgtEl>
                                        <p:attrNameLst>
                                          <p:attrName>ppt_h</p:attrName>
                                        </p:attrNameLst>
                                      </p:cBhvr>
                                      <p:tavLst>
                                        <p:tav tm="0">
                                          <p:val>
                                            <p:fltVal val="0"/>
                                          </p:val>
                                        </p:tav>
                                        <p:tav tm="100000">
                                          <p:val>
                                            <p:strVal val="#ppt_h"/>
                                          </p:val>
                                        </p:tav>
                                      </p:tavLst>
                                    </p:anim>
                                    <p:anim calcmode="lin" valueType="num">
                                      <p:cBhvr>
                                        <p:cTn id="53" dur="1000" fill="hold"/>
                                        <p:tgtEl>
                                          <p:spTgt spid="9221"/>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922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advAuto="0"/>
      <p:bldP spid="922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LEGAL CONTEXT</a:t>
            </a:r>
            <a:endParaRPr lang="en-US" dirty="0"/>
          </a:p>
        </p:txBody>
      </p:sp>
      <p:sp>
        <p:nvSpPr>
          <p:cNvPr id="3" name="Content Placeholder 2"/>
          <p:cNvSpPr>
            <a:spLocks noGrp="1"/>
          </p:cNvSpPr>
          <p:nvPr>
            <p:ph idx="1"/>
          </p:nvPr>
        </p:nvSpPr>
        <p:spPr/>
        <p:txBody>
          <a:bodyPr/>
          <a:lstStyle/>
          <a:p>
            <a:r>
              <a:rPr lang="en-US" dirty="0"/>
              <a:t>In the 20</a:t>
            </a:r>
            <a:r>
              <a:rPr lang="en-US" baseline="30000" dirty="0"/>
              <a:t>th</a:t>
            </a:r>
            <a:r>
              <a:rPr lang="en-US" dirty="0"/>
              <a:t> century, industrial relations in the UK were based on collective bargaining and were conceived about relations between trade unions and employers. In particular, the rights of trade unions received much more prominence than the rights of individual employees.</a:t>
            </a:r>
          </a:p>
          <a:p>
            <a:r>
              <a:rPr lang="en-US" dirty="0"/>
              <a:t>Strikes were a common weapon for bargaining.</a:t>
            </a:r>
          </a:p>
        </p:txBody>
      </p:sp>
    </p:spTree>
    <p:extLst>
      <p:ext uri="{BB962C8B-B14F-4D97-AF65-F5344CB8AC3E}">
        <p14:creationId xmlns:p14="http://schemas.microsoft.com/office/powerpoint/2010/main" val="73946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employee/ unions</a:t>
            </a:r>
          </a:p>
        </p:txBody>
      </p:sp>
      <p:sp>
        <p:nvSpPr>
          <p:cNvPr id="3" name="Content Placeholder 2"/>
          <p:cNvSpPr>
            <a:spLocks noGrp="1"/>
          </p:cNvSpPr>
          <p:nvPr>
            <p:ph idx="1"/>
          </p:nvPr>
        </p:nvSpPr>
        <p:spPr>
          <a:xfrm>
            <a:off x="812799" y="2002094"/>
            <a:ext cx="8463619" cy="3880773"/>
          </a:xfrm>
        </p:spPr>
        <p:txBody>
          <a:bodyPr>
            <a:normAutofit/>
          </a:bodyPr>
          <a:lstStyle/>
          <a:p>
            <a:pPr marL="0" indent="0">
              <a:buNone/>
            </a:pPr>
            <a:r>
              <a:rPr lang="en-US" dirty="0"/>
              <a:t>The greater attention paid to the rights of individual employees and the need to comply with anti-discrimination legislation have very considerably  increased the workload of human resources departments in the UK..</a:t>
            </a:r>
          </a:p>
        </p:txBody>
      </p:sp>
    </p:spTree>
    <p:extLst>
      <p:ext uri="{BB962C8B-B14F-4D97-AF65-F5344CB8AC3E}">
        <p14:creationId xmlns:p14="http://schemas.microsoft.com/office/powerpoint/2010/main" val="74301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 Activities</a:t>
            </a:r>
          </a:p>
        </p:txBody>
      </p:sp>
      <p:sp>
        <p:nvSpPr>
          <p:cNvPr id="3" name="Content Placeholder 2"/>
          <p:cNvSpPr>
            <a:spLocks noGrp="1"/>
          </p:cNvSpPr>
          <p:nvPr>
            <p:ph idx="1"/>
          </p:nvPr>
        </p:nvSpPr>
        <p:spPr>
          <a:xfrm>
            <a:off x="812800" y="1930400"/>
            <a:ext cx="8463619" cy="3880773"/>
          </a:xfrm>
        </p:spPr>
        <p:txBody>
          <a:bodyPr/>
          <a:lstStyle/>
          <a:p>
            <a:pPr marL="0" indent="0">
              <a:buNone/>
            </a:pPr>
            <a:r>
              <a:rPr lang="en-US" dirty="0"/>
              <a:t>The following list is a summary of the tasks that are expected to be undertaken with the overall aim of ensuring that the organization has the workforce that it needs:</a:t>
            </a:r>
          </a:p>
          <a:p>
            <a:r>
              <a:rPr lang="en-US" dirty="0"/>
              <a:t>ensuring that </a:t>
            </a:r>
            <a:r>
              <a:rPr lang="en-US" u="sng" dirty="0"/>
              <a:t>recruitment, selection, and promotion procedures </a:t>
            </a:r>
            <a:r>
              <a:rPr lang="en-US" dirty="0"/>
              <a:t>comply</a:t>
            </a:r>
          </a:p>
          <a:p>
            <a:r>
              <a:rPr lang="en-US" dirty="0"/>
              <a:t>with </a:t>
            </a:r>
            <a:r>
              <a:rPr lang="en-US" u="sng" dirty="0"/>
              <a:t>anti-discrimination legislation</a:t>
            </a:r>
            <a:r>
              <a:rPr lang="en-US" dirty="0"/>
              <a:t>;</a:t>
            </a:r>
          </a:p>
          <a:p>
            <a:r>
              <a:rPr lang="en-US" dirty="0"/>
              <a:t> </a:t>
            </a:r>
            <a:r>
              <a:rPr lang="en-US" u="sng" dirty="0"/>
              <a:t>staff training and development</a:t>
            </a:r>
            <a:r>
              <a:rPr lang="en-US" dirty="0"/>
              <a:t>;</a:t>
            </a:r>
          </a:p>
          <a:p>
            <a:r>
              <a:rPr lang="en-US" dirty="0"/>
              <a:t> </a:t>
            </a:r>
            <a:r>
              <a:rPr lang="en-US" u="sng" dirty="0"/>
              <a:t>setting up and monitoring remuneration policy</a:t>
            </a:r>
            <a:r>
              <a:rPr lang="en-US" dirty="0"/>
              <a:t>;</a:t>
            </a:r>
          </a:p>
          <a:p>
            <a:r>
              <a:rPr lang="en-US" dirty="0"/>
              <a:t> </a:t>
            </a:r>
            <a:r>
              <a:rPr lang="en-US" u="sng" dirty="0"/>
              <a:t>setting up and monitoring appraisal procedures</a:t>
            </a:r>
            <a:r>
              <a:rPr lang="en-US" dirty="0"/>
              <a:t>;</a:t>
            </a:r>
          </a:p>
          <a:p>
            <a:pPr marL="0" indent="0">
              <a:buNone/>
            </a:pPr>
            <a:endParaRPr lang="en-US" dirty="0"/>
          </a:p>
        </p:txBody>
      </p:sp>
    </p:spTree>
    <p:extLst>
      <p:ext uri="{BB962C8B-B14F-4D97-AF65-F5344CB8AC3E}">
        <p14:creationId xmlns:p14="http://schemas.microsoft.com/office/powerpoint/2010/main" val="1860458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a:xfrm>
            <a:off x="812799" y="1941134"/>
            <a:ext cx="8463619" cy="3880773"/>
          </a:xfrm>
        </p:spPr>
        <p:txBody>
          <a:bodyPr/>
          <a:lstStyle/>
          <a:p>
            <a:r>
              <a:rPr lang="en-US" dirty="0"/>
              <a:t>administering dismissal and redundancy procedures;</a:t>
            </a:r>
          </a:p>
          <a:p>
            <a:r>
              <a:rPr lang="en-US" dirty="0"/>
              <a:t>dealing with contracts of employment;</a:t>
            </a:r>
          </a:p>
          <a:p>
            <a:r>
              <a:rPr lang="en-US" dirty="0"/>
              <a:t>workforce planning;</a:t>
            </a:r>
          </a:p>
          <a:p>
            <a:r>
              <a:rPr lang="en-US" dirty="0"/>
              <a:t>administering grievance procedures;</a:t>
            </a:r>
          </a:p>
          <a:p>
            <a:r>
              <a:rPr lang="en-US" dirty="0"/>
              <a:t>being aware of new legislation affecting employment rights and advising management of what the organization must do to comply with it;</a:t>
            </a:r>
          </a:p>
          <a:p>
            <a:r>
              <a:rPr lang="en-US" dirty="0"/>
              <a:t>dealing with health and safety;</a:t>
            </a:r>
          </a:p>
          <a:p>
            <a:r>
              <a:rPr lang="en-US" dirty="0"/>
              <a:t>administering consultative committees</a:t>
            </a:r>
          </a:p>
        </p:txBody>
      </p:sp>
    </p:spTree>
    <p:extLst>
      <p:ext uri="{BB962C8B-B14F-4D97-AF65-F5344CB8AC3E}">
        <p14:creationId xmlns:p14="http://schemas.microsoft.com/office/powerpoint/2010/main" val="262539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RECRUITMENT AND SELECTION</a:t>
            </a:r>
            <a:endParaRPr lang="en-US" dirty="0"/>
          </a:p>
        </p:txBody>
      </p:sp>
      <p:sp>
        <p:nvSpPr>
          <p:cNvPr id="3" name="Content Placeholder 2"/>
          <p:cNvSpPr>
            <a:spLocks noGrp="1"/>
          </p:cNvSpPr>
          <p:nvPr>
            <p:ph idx="1"/>
          </p:nvPr>
        </p:nvSpPr>
        <p:spPr>
          <a:xfrm>
            <a:off x="812799" y="1953326"/>
            <a:ext cx="8463619" cy="3880773"/>
          </a:xfrm>
        </p:spPr>
        <p:txBody>
          <a:bodyPr>
            <a:normAutofit/>
          </a:bodyPr>
          <a:lstStyle/>
          <a:p>
            <a:pPr marL="0" indent="0">
              <a:buNone/>
            </a:pPr>
            <a:r>
              <a:rPr lang="en-US" sz="2400" dirty="0"/>
              <a:t>Human resources managers often make a distinction between the two terms recruitment and selection, </a:t>
            </a:r>
            <a:r>
              <a:rPr lang="en-US" sz="2400" b="1" dirty="0"/>
              <a:t>using recruitment is to mean soliciting applications </a:t>
            </a:r>
            <a:r>
              <a:rPr lang="en-US" sz="2400" dirty="0"/>
              <a:t>and </a:t>
            </a:r>
            <a:r>
              <a:rPr lang="en-US" sz="2400" b="1" dirty="0"/>
              <a:t>selection is to mean selecting the applicants to whom offers will be made.</a:t>
            </a:r>
          </a:p>
          <a:p>
            <a:pPr marL="0" indent="0">
              <a:buNone/>
            </a:pPr>
            <a:r>
              <a:rPr lang="en-US" sz="2400" dirty="0"/>
              <a:t>Selection is kept in the hands of the employer, although a member of the recruitment agency staff may sometimes be invited to advise.</a:t>
            </a:r>
            <a:endParaRPr lang="en-US" sz="2400" b="1" dirty="0"/>
          </a:p>
        </p:txBody>
      </p:sp>
    </p:spTree>
    <p:extLst>
      <p:ext uri="{BB962C8B-B14F-4D97-AF65-F5344CB8AC3E}">
        <p14:creationId xmlns:p14="http://schemas.microsoft.com/office/powerpoint/2010/main" val="461990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tools</a:t>
            </a:r>
          </a:p>
        </p:txBody>
      </p:sp>
      <p:sp>
        <p:nvSpPr>
          <p:cNvPr id="3" name="Content Placeholder 2"/>
          <p:cNvSpPr>
            <a:spLocks noGrp="1"/>
          </p:cNvSpPr>
          <p:nvPr>
            <p:ph idx="1"/>
          </p:nvPr>
        </p:nvSpPr>
        <p:spPr>
          <a:xfrm>
            <a:off x="812800" y="1304544"/>
            <a:ext cx="8463619" cy="5047488"/>
          </a:xfrm>
        </p:spPr>
        <p:txBody>
          <a:bodyPr>
            <a:normAutofit fontScale="92500" lnSpcReduction="20000"/>
          </a:bodyPr>
          <a:lstStyle/>
          <a:p>
            <a:pPr marL="0" indent="0">
              <a:buNone/>
            </a:pPr>
            <a:r>
              <a:rPr lang="en-US" dirty="0"/>
              <a:t> A wide range of selection techniques is available and is used in making professional appointments:</a:t>
            </a:r>
          </a:p>
          <a:p>
            <a:r>
              <a:rPr lang="en-US" dirty="0"/>
              <a:t>A </a:t>
            </a:r>
            <a:r>
              <a:rPr lang="en-US" dirty="0">
                <a:highlight>
                  <a:srgbClr val="FFFF00"/>
                </a:highlight>
              </a:rPr>
              <a:t>series of one-to-one interviews </a:t>
            </a:r>
            <a:r>
              <a:rPr lang="en-US" dirty="0"/>
              <a:t>with senior management and senior technical staff.</a:t>
            </a:r>
          </a:p>
          <a:p>
            <a:r>
              <a:rPr lang="en-US" dirty="0">
                <a:highlight>
                  <a:srgbClr val="FFFF00"/>
                </a:highlight>
              </a:rPr>
              <a:t>Interview by a panel</a:t>
            </a:r>
            <a:r>
              <a:rPr lang="en-US" dirty="0"/>
              <a:t>: A number of interviewers are involved. This technique is widely used, particularly in the public sector. It tends to </a:t>
            </a:r>
            <a:r>
              <a:rPr lang="en-US" dirty="0" err="1"/>
              <a:t>favour</a:t>
            </a:r>
            <a:r>
              <a:rPr lang="en-US" dirty="0"/>
              <a:t> applicants who are smooth talkers. It is unreliable.</a:t>
            </a:r>
          </a:p>
          <a:p>
            <a:r>
              <a:rPr lang="en-US" dirty="0">
                <a:highlight>
                  <a:srgbClr val="FFFF00"/>
                </a:highlight>
              </a:rPr>
              <a:t>Assessment of references</a:t>
            </a:r>
            <a:r>
              <a:rPr lang="en-US" dirty="0"/>
              <a:t>: Great importance is usually attached to references for academic posts and some other posts in public bodies.</a:t>
            </a:r>
          </a:p>
          <a:p>
            <a:r>
              <a:rPr lang="en-US" dirty="0">
                <a:highlight>
                  <a:srgbClr val="FFFF00"/>
                </a:highlight>
              </a:rPr>
              <a:t>Psychometric tests</a:t>
            </a:r>
            <a:r>
              <a:rPr lang="en-US" dirty="0"/>
              <a:t>: These are of three types. </a:t>
            </a:r>
            <a:r>
              <a:rPr lang="en-US" i="1" dirty="0">
                <a:highlight>
                  <a:srgbClr val="FFFF00"/>
                </a:highlight>
              </a:rPr>
              <a:t>Ability tests </a:t>
            </a:r>
            <a:r>
              <a:rPr lang="en-US" dirty="0"/>
              <a:t>measure an individual’s ability in a general area, such as verbal or numerical skills. </a:t>
            </a:r>
            <a:r>
              <a:rPr lang="en-US" i="1" dirty="0">
                <a:highlight>
                  <a:srgbClr val="FFFF00"/>
                </a:highlight>
              </a:rPr>
              <a:t>Aptitude tests </a:t>
            </a:r>
            <a:r>
              <a:rPr lang="en-US" dirty="0"/>
              <a:t>measure a person’s potential to learn the skills needed for a job.</a:t>
            </a:r>
            <a:r>
              <a:rPr lang="en-US" i="1" dirty="0"/>
              <a:t> </a:t>
            </a:r>
            <a:r>
              <a:rPr lang="en-US" i="1" dirty="0">
                <a:highlight>
                  <a:srgbClr val="FFFF00"/>
                </a:highlight>
              </a:rPr>
              <a:t>Personality tests </a:t>
            </a:r>
            <a:r>
              <a:rPr lang="en-US" dirty="0"/>
              <a:t>attempt to assess the characteristics of a person that significantly affect how they behave in their relationships with other people.</a:t>
            </a:r>
          </a:p>
          <a:p>
            <a:r>
              <a:rPr lang="en-US" dirty="0">
                <a:highlight>
                  <a:srgbClr val="FFFF00"/>
                </a:highlight>
              </a:rPr>
              <a:t>Situational assessment: </a:t>
            </a:r>
            <a:r>
              <a:rPr lang="en-US" dirty="0"/>
              <a:t>Real time situations are given to shortlisted candidates. Its most expensive and used in military officers selection.</a:t>
            </a:r>
          </a:p>
          <a:p>
            <a:r>
              <a:rPr lang="en-US" dirty="0">
                <a:highlight>
                  <a:srgbClr val="FFFF00"/>
                </a:highlight>
              </a:rPr>
              <a:t>Task assessment: </a:t>
            </a:r>
            <a:r>
              <a:rPr lang="en-US" dirty="0"/>
              <a:t>Candidates are asked to carry out some of the tasks that they will be required to do in the job. People usually are able to do small tasks but unable to do large task so this is </a:t>
            </a:r>
            <a:r>
              <a:rPr lang="en-US" dirty="0" err="1"/>
              <a:t>unfavourable</a:t>
            </a:r>
            <a:r>
              <a:rPr lang="en-US" dirty="0"/>
              <a:t>.</a:t>
            </a:r>
          </a:p>
        </p:txBody>
      </p:sp>
    </p:spTree>
    <p:extLst>
      <p:ext uri="{BB962C8B-B14F-4D97-AF65-F5344CB8AC3E}">
        <p14:creationId xmlns:p14="http://schemas.microsoft.com/office/powerpoint/2010/main" val="2466325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STAFF TRAINING AND DEVELOPMENT</a:t>
            </a:r>
            <a:endParaRPr lang="en-US" dirty="0"/>
          </a:p>
        </p:txBody>
      </p:sp>
      <p:sp>
        <p:nvSpPr>
          <p:cNvPr id="3" name="Content Placeholder 2"/>
          <p:cNvSpPr>
            <a:spLocks noGrp="1"/>
          </p:cNvSpPr>
          <p:nvPr>
            <p:ph idx="1"/>
          </p:nvPr>
        </p:nvSpPr>
        <p:spPr>
          <a:xfrm>
            <a:off x="812799" y="1560576"/>
            <a:ext cx="8463619" cy="4480787"/>
          </a:xfrm>
        </p:spPr>
        <p:txBody>
          <a:bodyPr>
            <a:normAutofit/>
          </a:bodyPr>
          <a:lstStyle/>
          <a:p>
            <a:pPr>
              <a:buFont typeface="Wingdings" panose="05000000000000000000" pitchFamily="2" charset="2"/>
              <a:buChar char="Ø"/>
            </a:pPr>
            <a:r>
              <a:rPr lang="en-US" dirty="0"/>
              <a:t>Training and development encompasses three main activities: training, education, and development. </a:t>
            </a:r>
          </a:p>
          <a:p>
            <a:pPr>
              <a:buFont typeface="Wingdings" panose="05000000000000000000" pitchFamily="2" charset="2"/>
              <a:buChar char="Ø"/>
            </a:pPr>
            <a:r>
              <a:rPr lang="en-US" dirty="0"/>
              <a:t>It is a function concerned with organizational activity aimed at bettering the performance of individuals and groups in the organization. It has been known by several names, including "</a:t>
            </a:r>
            <a:r>
              <a:rPr lang="en-US" dirty="0">
                <a:solidFill>
                  <a:srgbClr val="FF0000"/>
                </a:solidFill>
              </a:rPr>
              <a:t>Human Resource Development</a:t>
            </a:r>
            <a:r>
              <a:rPr lang="en-US" dirty="0"/>
              <a:t>", "</a:t>
            </a:r>
            <a:r>
              <a:rPr lang="en-US" dirty="0">
                <a:solidFill>
                  <a:srgbClr val="FF0000"/>
                </a:solidFill>
              </a:rPr>
              <a:t>Human Capital Development" </a:t>
            </a:r>
            <a:r>
              <a:rPr lang="en-US" dirty="0">
                <a:solidFill>
                  <a:schemeClr val="tx1"/>
                </a:solidFill>
              </a:rPr>
              <a:t>and</a:t>
            </a:r>
            <a:r>
              <a:rPr lang="en-US" dirty="0">
                <a:solidFill>
                  <a:srgbClr val="FF0000"/>
                </a:solidFill>
              </a:rPr>
              <a:t> "Learning and Development".</a:t>
            </a:r>
          </a:p>
          <a:p>
            <a:pPr>
              <a:buFont typeface="Wingdings" panose="05000000000000000000" pitchFamily="2" charset="2"/>
              <a:buChar char="Ø"/>
            </a:pPr>
            <a:r>
              <a:rPr lang="en-US" dirty="0"/>
              <a:t>Staff training and development are of particular importance in high technology companies, where failure in this respect can threaten the company’s performance.</a:t>
            </a:r>
          </a:p>
          <a:p>
            <a:pPr>
              <a:buFont typeface="Wingdings" panose="05000000000000000000" pitchFamily="2" charset="2"/>
              <a:buChar char="Ø"/>
            </a:pPr>
            <a:r>
              <a:rPr lang="en-US" dirty="0"/>
              <a:t>It is unfortunate that, when money is tight, it is often the first thing to be cut.</a:t>
            </a:r>
          </a:p>
        </p:txBody>
      </p:sp>
    </p:spTree>
    <p:extLst>
      <p:ext uri="{BB962C8B-B14F-4D97-AF65-F5344CB8AC3E}">
        <p14:creationId xmlns:p14="http://schemas.microsoft.com/office/powerpoint/2010/main" val="2339559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REMUNERATION POLICIES AND JOB EVALUATION</a:t>
            </a:r>
            <a:endParaRPr lang="en-US" dirty="0"/>
          </a:p>
        </p:txBody>
      </p:sp>
      <p:sp>
        <p:nvSpPr>
          <p:cNvPr id="3" name="Content Placeholder 2"/>
          <p:cNvSpPr>
            <a:spLocks noGrp="1"/>
          </p:cNvSpPr>
          <p:nvPr>
            <p:ph idx="1"/>
          </p:nvPr>
        </p:nvSpPr>
        <p:spPr/>
        <p:txBody>
          <a:bodyPr/>
          <a:lstStyle/>
          <a:p>
            <a:r>
              <a:rPr lang="en-US" b="1" dirty="0"/>
              <a:t>Remuneration</a:t>
            </a:r>
            <a:r>
              <a:rPr lang="en-US" dirty="0"/>
              <a:t> is the compensation that one receives in exchange for the work or services performed. Typically, this consists of monetary rewards, also called wages or salaries. Several complementary benefits, however, are increasingly popular remuneration mechanisms.</a:t>
            </a:r>
          </a:p>
          <a:p>
            <a:r>
              <a:rPr lang="en-US" dirty="0"/>
              <a:t>For grading and scaling policies are developed and job evaluations are held.</a:t>
            </a:r>
          </a:p>
        </p:txBody>
      </p:sp>
    </p:spTree>
    <p:extLst>
      <p:ext uri="{BB962C8B-B14F-4D97-AF65-F5344CB8AC3E}">
        <p14:creationId xmlns:p14="http://schemas.microsoft.com/office/powerpoint/2010/main" val="168675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APPRAISAL SCHEMES</a:t>
            </a:r>
            <a:endParaRPr lang="en-US" dirty="0"/>
          </a:p>
        </p:txBody>
      </p:sp>
      <p:sp>
        <p:nvSpPr>
          <p:cNvPr id="3" name="Content Placeholder 2"/>
          <p:cNvSpPr>
            <a:spLocks noGrp="1"/>
          </p:cNvSpPr>
          <p:nvPr>
            <p:ph idx="1"/>
          </p:nvPr>
        </p:nvSpPr>
        <p:spPr/>
        <p:txBody>
          <a:bodyPr>
            <a:normAutofit fontScale="92500"/>
          </a:bodyPr>
          <a:lstStyle/>
          <a:p>
            <a:r>
              <a:rPr lang="en-US" dirty="0"/>
              <a:t>Appraisal (Performance appraisal)is a method by which the job performance of an employee is documented and evaluated</a:t>
            </a:r>
          </a:p>
          <a:p>
            <a:r>
              <a:rPr lang="en-US" dirty="0"/>
              <a:t>Need for Appraisal? </a:t>
            </a:r>
          </a:p>
          <a:p>
            <a:r>
              <a:rPr lang="en-US" dirty="0"/>
              <a:t>Appraisal schemes usually involve an appraiser and an appraisee meeting</a:t>
            </a:r>
          </a:p>
          <a:p>
            <a:pPr marL="0" indent="0">
              <a:buNone/>
            </a:pPr>
            <a:r>
              <a:rPr lang="en-US" dirty="0"/>
              <a:t>regularly (every six months, every year, even every two years) to discuss the</a:t>
            </a:r>
          </a:p>
          <a:p>
            <a:pPr marL="0" indent="0">
              <a:buNone/>
            </a:pPr>
            <a:r>
              <a:rPr lang="en-US" dirty="0"/>
              <a:t>employee’s performance and career development under several headings.</a:t>
            </a:r>
          </a:p>
          <a:p>
            <a:pPr marL="0" indent="0">
              <a:buNone/>
            </a:pPr>
            <a:r>
              <a:rPr lang="en-US" dirty="0"/>
              <a:t>The result is a report signed by both parties; if they cannot agree on certain</a:t>
            </a:r>
          </a:p>
          <a:p>
            <a:pPr marL="0" indent="0">
              <a:buNone/>
            </a:pPr>
            <a:r>
              <a:rPr lang="en-US" dirty="0"/>
              <a:t>points this will be recorded in the report.</a:t>
            </a:r>
          </a:p>
          <a:p>
            <a:pPr marL="0" indent="0">
              <a:buNone/>
            </a:pPr>
            <a:r>
              <a:rPr lang="en-US" b="0" i="0" dirty="0">
                <a:solidFill>
                  <a:schemeClr val="accent1"/>
                </a:solidFill>
                <a:effectLst/>
                <a:latin typeface="Google Sans"/>
              </a:rPr>
              <a:t>The person responsible for undertaking an appraisal of an employee (the appraisee). The appraiser is often the employee's line manager since he or she is thought to have the best knowledge of the employee's performance, attitude, and competency.</a:t>
            </a:r>
            <a:endParaRPr lang="en-US" dirty="0">
              <a:solidFill>
                <a:schemeClr val="accent1"/>
              </a:solidFill>
            </a:endParaRPr>
          </a:p>
        </p:txBody>
      </p:sp>
    </p:spTree>
    <p:extLst>
      <p:ext uri="{BB962C8B-B14F-4D97-AF65-F5344CB8AC3E}">
        <p14:creationId xmlns:p14="http://schemas.microsoft.com/office/powerpoint/2010/main" val="808985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9F11-FE8F-D3AE-0FDB-3AA8AEB5B2EB}"/>
              </a:ext>
            </a:extLst>
          </p:cNvPr>
          <p:cNvSpPr>
            <a:spLocks noGrp="1"/>
          </p:cNvSpPr>
          <p:nvPr>
            <p:ph type="title"/>
          </p:nvPr>
        </p:nvSpPr>
        <p:spPr/>
        <p:txBody>
          <a:bodyPr/>
          <a:lstStyle/>
          <a:p>
            <a:r>
              <a:rPr lang="en-US" b="1" dirty="0"/>
              <a:t>APPRAISAL SCHEMES</a:t>
            </a:r>
            <a:endParaRPr lang="en-PK" dirty="0"/>
          </a:p>
        </p:txBody>
      </p:sp>
      <p:sp>
        <p:nvSpPr>
          <p:cNvPr id="3" name="Content Placeholder 2">
            <a:extLst>
              <a:ext uri="{FF2B5EF4-FFF2-40B4-BE49-F238E27FC236}">
                <a16:creationId xmlns:a16="http://schemas.microsoft.com/office/drawing/2014/main" id="{F1B3E254-B4DF-5225-0C0D-387865102E1B}"/>
              </a:ext>
            </a:extLst>
          </p:cNvPr>
          <p:cNvSpPr>
            <a:spLocks noGrp="1"/>
          </p:cNvSpPr>
          <p:nvPr>
            <p:ph idx="1"/>
          </p:nvPr>
        </p:nvSpPr>
        <p:spPr/>
        <p:txBody>
          <a:bodyPr/>
          <a:lstStyle/>
          <a:p>
            <a:r>
              <a:rPr lang="en-US" dirty="0"/>
              <a:t>Appraisals derive from the idea of Management by Objectives (MBO). MBOs were developed by Peter Drucker, one of the most distinguished management theorists, in the 1970s, and it rapidly became popular in the industry. It was seized on by the government in the 1980s as a way of dealing with what they saw as poor performance and indolence in many state-funded jobs.</a:t>
            </a:r>
          </a:p>
          <a:p>
            <a:r>
              <a:rPr lang="en-US" dirty="0"/>
              <a:t>The essence of MBO is that managers and their subordinates agree on a set of objectives for the subordinate to achieve over the next period, typically six months. These objectives should be precise, objectively verifiable, and, ideally, quantifiable.</a:t>
            </a:r>
            <a:endParaRPr lang="en-PK" dirty="0"/>
          </a:p>
        </p:txBody>
      </p:sp>
    </p:spTree>
    <p:extLst>
      <p:ext uri="{BB962C8B-B14F-4D97-AF65-F5344CB8AC3E}">
        <p14:creationId xmlns:p14="http://schemas.microsoft.com/office/powerpoint/2010/main" val="52291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REDUNDANCY and DISMISSAL</a:t>
            </a:r>
            <a:endParaRPr lang="en-US" dirty="0"/>
          </a:p>
        </p:txBody>
      </p:sp>
      <p:sp>
        <p:nvSpPr>
          <p:cNvPr id="3" name="Content Placeholder 2"/>
          <p:cNvSpPr>
            <a:spLocks noGrp="1"/>
          </p:cNvSpPr>
          <p:nvPr>
            <p:ph idx="1"/>
          </p:nvPr>
        </p:nvSpPr>
        <p:spPr/>
        <p:txBody>
          <a:bodyPr/>
          <a:lstStyle/>
          <a:p>
            <a:r>
              <a:rPr lang="en-US" b="0" i="0" dirty="0">
                <a:solidFill>
                  <a:srgbClr val="040C28"/>
                </a:solidFill>
                <a:effectLst/>
                <a:latin typeface="Google Sans"/>
              </a:rPr>
              <a:t>Redundancy is a form of termination caused by changes in the business, while dismissal is a form of termination caused by employee misconduct or poor performance</a:t>
            </a:r>
            <a:r>
              <a:rPr lang="en-US" b="0" i="0" dirty="0">
                <a:solidFill>
                  <a:srgbClr val="1F1F1F"/>
                </a:solidFill>
                <a:effectLst/>
                <a:latin typeface="Google Sans"/>
              </a:rPr>
              <a:t>.</a:t>
            </a:r>
            <a:endParaRPr lang="en-US" dirty="0"/>
          </a:p>
          <a:p>
            <a:r>
              <a:rPr lang="en-US" dirty="0"/>
              <a:t>Unfair dismissal </a:t>
            </a:r>
          </a:p>
          <a:p>
            <a:r>
              <a:rPr lang="en-US" dirty="0"/>
              <a:t>Reasons justifying dismissal:</a:t>
            </a:r>
          </a:p>
          <a:p>
            <a:pPr lvl="2"/>
            <a:r>
              <a:rPr lang="en-US" dirty="0"/>
              <a:t>lack of capability;</a:t>
            </a:r>
          </a:p>
          <a:p>
            <a:pPr lvl="2"/>
            <a:r>
              <a:rPr lang="en-US" dirty="0"/>
              <a:t>misconduct;</a:t>
            </a:r>
          </a:p>
          <a:p>
            <a:pPr lvl="2"/>
            <a:r>
              <a:rPr lang="en-US" dirty="0"/>
              <a:t>breach of the law</a:t>
            </a:r>
          </a:p>
          <a:p>
            <a:pPr lvl="2"/>
            <a:r>
              <a:rPr lang="en-US" dirty="0"/>
              <a:t>Redundancy</a:t>
            </a:r>
          </a:p>
          <a:p>
            <a:pPr lvl="2"/>
            <a:r>
              <a:rPr lang="en-US" dirty="0"/>
              <a:t>Constructive dismissal</a:t>
            </a:r>
          </a:p>
          <a:p>
            <a:pPr marL="914400" lvl="2" indent="0">
              <a:buNone/>
            </a:pPr>
            <a:endParaRPr lang="en-US" dirty="0"/>
          </a:p>
          <a:p>
            <a:pPr marL="914400" lvl="2" indent="0">
              <a:buNone/>
            </a:pPr>
            <a:endParaRPr lang="en-US" dirty="0"/>
          </a:p>
        </p:txBody>
      </p:sp>
    </p:spTree>
    <p:extLst>
      <p:ext uri="{BB962C8B-B14F-4D97-AF65-F5344CB8AC3E}">
        <p14:creationId xmlns:p14="http://schemas.microsoft.com/office/powerpoint/2010/main" val="2197773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Unfair dismissal vs wrongful dismissal</a:t>
            </a:r>
          </a:p>
        </p:txBody>
      </p:sp>
      <p:sp>
        <p:nvSpPr>
          <p:cNvPr id="3" name="Content Placeholder 2"/>
          <p:cNvSpPr>
            <a:spLocks noGrp="1"/>
          </p:cNvSpPr>
          <p:nvPr>
            <p:ph idx="1"/>
          </p:nvPr>
        </p:nvSpPr>
        <p:spPr/>
        <p:txBody>
          <a:bodyPr/>
          <a:lstStyle/>
          <a:p>
            <a:r>
              <a:rPr lang="en-US" dirty="0"/>
              <a:t>Dismissal of an employee without valid reasons is unfair</a:t>
            </a:r>
          </a:p>
          <a:p>
            <a:r>
              <a:rPr lang="en-US" dirty="0"/>
              <a:t>A fair dismissal of an employee but violating a contract is wrongful dismissal</a:t>
            </a:r>
          </a:p>
        </p:txBody>
      </p:sp>
    </p:spTree>
    <p:extLst>
      <p:ext uri="{BB962C8B-B14F-4D97-AF65-F5344CB8AC3E}">
        <p14:creationId xmlns:p14="http://schemas.microsoft.com/office/powerpoint/2010/main" val="5573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overs and outsourcing</a:t>
            </a:r>
          </a:p>
        </p:txBody>
      </p:sp>
      <p:sp>
        <p:nvSpPr>
          <p:cNvPr id="3" name="Content Placeholder 2"/>
          <p:cNvSpPr>
            <a:spLocks noGrp="1"/>
          </p:cNvSpPr>
          <p:nvPr>
            <p:ph idx="1"/>
          </p:nvPr>
        </p:nvSpPr>
        <p:spPr/>
        <p:txBody>
          <a:bodyPr>
            <a:normAutofit/>
          </a:bodyPr>
          <a:lstStyle/>
          <a:p>
            <a:r>
              <a:rPr lang="en-US" b="1" dirty="0"/>
              <a:t>Employees employed by the previous employer when the undertaking changes hands </a:t>
            </a:r>
            <a:r>
              <a:rPr lang="en-US" b="1" i="1" dirty="0"/>
              <a:t>automatically </a:t>
            </a:r>
            <a:r>
              <a:rPr lang="en-US" b="1" dirty="0"/>
              <a:t>become employees of the new employer on the same terms and conditions. It is as if their contracts of employment had originally been made with the new employer. Thus, employees’ continuity of employment is preserved, as are their terms and conditions of employment under their contracts of employment (except for certain occupational pension rights).</a:t>
            </a:r>
          </a:p>
          <a:p>
            <a:r>
              <a:rPr lang="en-US" b="1" dirty="0"/>
              <a:t>Representatives of employees affected have a right to be informed about the transfer. They must also be consulted about any measures which the old or new employer envisages taking concerning affected employees.</a:t>
            </a:r>
            <a:endParaRPr lang="en-US" dirty="0"/>
          </a:p>
        </p:txBody>
      </p:sp>
    </p:spTree>
    <p:extLst>
      <p:ext uri="{BB962C8B-B14F-4D97-AF65-F5344CB8AC3E}">
        <p14:creationId xmlns:p14="http://schemas.microsoft.com/office/powerpoint/2010/main" val="374181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Public interest disclosures</a:t>
            </a:r>
            <a:endParaRPr lang="en-US" dirty="0"/>
          </a:p>
        </p:txBody>
      </p:sp>
      <p:sp>
        <p:nvSpPr>
          <p:cNvPr id="3" name="Content Placeholder 2"/>
          <p:cNvSpPr>
            <a:spLocks noGrp="1"/>
          </p:cNvSpPr>
          <p:nvPr>
            <p:ph idx="1"/>
          </p:nvPr>
        </p:nvSpPr>
        <p:spPr/>
        <p:txBody>
          <a:bodyPr>
            <a:normAutofit lnSpcReduction="10000"/>
          </a:bodyPr>
          <a:lstStyle/>
          <a:p>
            <a:r>
              <a:rPr lang="en-US" dirty="0"/>
              <a:t>Whistle blowers</a:t>
            </a:r>
          </a:p>
          <a:p>
            <a:r>
              <a:rPr lang="en-US" dirty="0"/>
              <a:t>The Public Interest Disclosure Act 1998 (PIDA) applies to people at work who raise concerns about criminal behavior, certain types of civil offenses, miscarriages of justice, activities that endanger health and safety or the environment, and attempts to cover up such malpractice.</a:t>
            </a:r>
          </a:p>
          <a:p>
            <a:r>
              <a:rPr lang="en-US" b="0" i="0" dirty="0">
                <a:solidFill>
                  <a:srgbClr val="474747"/>
                </a:solidFill>
                <a:effectLst/>
                <a:latin typeface="Google Sans"/>
              </a:rPr>
              <a:t>Whistleblowing (also whistle-blowing or whistle-blowing) is the activity of a person, often an employee, revealing information about activity within a private or public organization that is deemed illegal, immoral, illicit, unsafe, or fraudulent.</a:t>
            </a:r>
          </a:p>
          <a:p>
            <a:r>
              <a:rPr lang="en-US" b="0" i="0" dirty="0">
                <a:solidFill>
                  <a:srgbClr val="474747"/>
                </a:solidFill>
                <a:effectLst/>
                <a:latin typeface="Google Sans"/>
              </a:rPr>
              <a:t>A whistleblower is someone who reports workplace conditions that they believe to be unsafe or illegal. As a whistleblower, you have the right to be protected from workplace retaliation by your employer for reporting injuries, safety concerns, or other protected activities.</a:t>
            </a:r>
            <a:endParaRPr lang="en-US" dirty="0"/>
          </a:p>
        </p:txBody>
      </p:sp>
    </p:spTree>
    <p:extLst>
      <p:ext uri="{BB962C8B-B14F-4D97-AF65-F5344CB8AC3E}">
        <p14:creationId xmlns:p14="http://schemas.microsoft.com/office/powerpoint/2010/main" val="1065614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CONTRACTS OF EMPLOYMENT</a:t>
            </a:r>
            <a:endParaRPr lang="en-US" dirty="0"/>
          </a:p>
        </p:txBody>
      </p:sp>
      <p:sp>
        <p:nvSpPr>
          <p:cNvPr id="3" name="Content Placeholder 2"/>
          <p:cNvSpPr>
            <a:spLocks noGrp="1"/>
          </p:cNvSpPr>
          <p:nvPr>
            <p:ph idx="1"/>
          </p:nvPr>
        </p:nvSpPr>
        <p:spPr/>
        <p:txBody>
          <a:bodyPr>
            <a:normAutofit/>
          </a:bodyPr>
          <a:lstStyle/>
          <a:p>
            <a:r>
              <a:rPr lang="en-US" dirty="0"/>
              <a:t>What is a contract?</a:t>
            </a:r>
          </a:p>
          <a:p>
            <a:pPr marL="0" indent="0">
              <a:buNone/>
            </a:pPr>
            <a:r>
              <a:rPr lang="en-US" dirty="0"/>
              <a:t>The written agreement between an employee and their employer can be enforced in a court of law.</a:t>
            </a:r>
          </a:p>
          <a:p>
            <a:r>
              <a:rPr lang="en-US" dirty="0"/>
              <a:t>A good contract of employment should be written in terms that are easily understood and should avoid legal conflicts.</a:t>
            </a:r>
          </a:p>
          <a:p>
            <a:r>
              <a:rPr lang="en-US" dirty="0"/>
              <a:t>Prospective employees should not need to consult a lawyer to understand it. They should, however, read it carefully before signing it.</a:t>
            </a:r>
          </a:p>
        </p:txBody>
      </p:sp>
    </p:spTree>
    <p:extLst>
      <p:ext uri="{BB962C8B-B14F-4D97-AF65-F5344CB8AC3E}">
        <p14:creationId xmlns:p14="http://schemas.microsoft.com/office/powerpoint/2010/main" val="439922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RESOURCE PLANNING</a:t>
            </a:r>
            <a:endParaRPr lang="en-US" dirty="0"/>
          </a:p>
        </p:txBody>
      </p:sp>
      <p:sp>
        <p:nvSpPr>
          <p:cNvPr id="3" name="Content Placeholder 2"/>
          <p:cNvSpPr>
            <a:spLocks noGrp="1"/>
          </p:cNvSpPr>
          <p:nvPr>
            <p:ph idx="1"/>
          </p:nvPr>
        </p:nvSpPr>
        <p:spPr/>
        <p:txBody>
          <a:bodyPr/>
          <a:lstStyle/>
          <a:p>
            <a:r>
              <a:rPr lang="en-US" dirty="0"/>
              <a:t>If the human resources department is to ensure that the organization always has available the staff it needs, it must be able to forecast the needs some time ahead.</a:t>
            </a:r>
          </a:p>
          <a:p>
            <a:r>
              <a:rPr lang="en-US" dirty="0"/>
              <a:t>In a software house, there are three inputs to the human resource planning process:</a:t>
            </a:r>
          </a:p>
          <a:p>
            <a:pPr lvl="1"/>
            <a:r>
              <a:rPr lang="en-US" dirty="0"/>
              <a:t>Human resource plans from existing projects,</a:t>
            </a:r>
          </a:p>
          <a:p>
            <a:pPr lvl="1"/>
            <a:r>
              <a:rPr lang="en-US" dirty="0"/>
              <a:t>Sales forecasts</a:t>
            </a:r>
          </a:p>
          <a:p>
            <a:pPr lvl="1"/>
            <a:r>
              <a:rPr lang="en-US" dirty="0"/>
              <a:t>Forecasts of the likely staff losses in the coming months</a:t>
            </a:r>
          </a:p>
        </p:txBody>
      </p:sp>
    </p:spTree>
    <p:extLst>
      <p:ext uri="{BB962C8B-B14F-4D97-AF65-F5344CB8AC3E}">
        <p14:creationId xmlns:p14="http://schemas.microsoft.com/office/powerpoint/2010/main" val="36865777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11060</TotalTime>
  <Words>1308</Words>
  <Application>Microsoft Office PowerPoint</Application>
  <PresentationFormat>Widescreen</PresentationFormat>
  <Paragraphs>110</Paragraphs>
  <Slides>21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Abadi</vt:lpstr>
      <vt:lpstr>Arial</vt:lpstr>
      <vt:lpstr>Calibri</vt:lpstr>
      <vt:lpstr>Google Sans</vt:lpstr>
      <vt:lpstr>Tahoma</vt:lpstr>
      <vt:lpstr>Trebuchet MS</vt:lpstr>
      <vt:lpstr>Wingdings</vt:lpstr>
      <vt:lpstr>Wingdings 3</vt:lpstr>
      <vt:lpstr>Facet</vt:lpstr>
      <vt:lpstr>CS4001- Professional Practices in IT</vt:lpstr>
      <vt:lpstr>Human Resources Issues</vt:lpstr>
      <vt:lpstr>Human resources </vt:lpstr>
      <vt:lpstr>Human resources </vt:lpstr>
      <vt:lpstr>PowerPoint Presentation</vt:lpstr>
      <vt:lpstr>THE LEGAL CONTEXT</vt:lpstr>
      <vt:lpstr>Individual employee/ unions</vt:lpstr>
      <vt:lpstr>HR Activities</vt:lpstr>
      <vt:lpstr>Continued….</vt:lpstr>
      <vt:lpstr>RECRUITMENT AND SELECTION</vt:lpstr>
      <vt:lpstr>Selection tools</vt:lpstr>
      <vt:lpstr>STAFF TRAINING AND DEVELOPMENT</vt:lpstr>
      <vt:lpstr>REMUNERATION POLICIES AND JOB EVALUATION</vt:lpstr>
      <vt:lpstr>APPRAISAL SCHEMES</vt:lpstr>
      <vt:lpstr>APPRAISAL SCHEMES</vt:lpstr>
      <vt:lpstr>REDUNDANCY and DISMISSAL</vt:lpstr>
      <vt:lpstr>Unfair dismissal vs wrongful dismissal</vt:lpstr>
      <vt:lpstr>Take overs and outsourcing</vt:lpstr>
      <vt:lpstr>Public interest disclosures</vt:lpstr>
      <vt:lpstr>CONTRACTS OF EMPLOYMENT</vt:lpstr>
      <vt:lpstr>HUMAN RESOURCE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Anum Hamid</cp:lastModifiedBy>
  <cp:revision>98</cp:revision>
  <dcterms:created xsi:type="dcterms:W3CDTF">2015-10-05T05:40:07Z</dcterms:created>
  <dcterms:modified xsi:type="dcterms:W3CDTF">2025-11-13T03:24:29Z</dcterms:modified>
</cp:coreProperties>
</file>