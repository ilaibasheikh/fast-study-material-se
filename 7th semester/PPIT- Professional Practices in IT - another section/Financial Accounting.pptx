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4" roundtripDataSignature="AMtx7miomzpDNTAvUZkRMSPzqyhk+1KN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businessdictionary.com/definition/volume.html" TargetMode="External"/><Relationship Id="rId3" Type="http://schemas.openxmlformats.org/officeDocument/2006/relationships/hyperlink" Target="http://www.businessdictionary.com/definition/value.html" TargetMode="External"/><Relationship Id="rId4" Type="http://schemas.openxmlformats.org/officeDocument/2006/relationships/hyperlink" Target="http://www.businessdictionary.com/definition/share.html" TargetMode="External"/><Relationship Id="rId5" Type="http://schemas.openxmlformats.org/officeDocument/2006/relationships/hyperlink" Target="http://www.businessdictionary.com/definition/trade.html" TargetMode="External"/><Relationship Id="rId6" Type="http://schemas.openxmlformats.org/officeDocument/2006/relationships/hyperlink" Target="http://www.businessdictionary.com/definition/stock-exchange.html"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Need of annual report.</a:t>
            </a:r>
            <a:endParaRPr/>
          </a:p>
          <a:p>
            <a:pPr indent="0" lvl="0" marL="0" rtl="0" algn="l">
              <a:spcBef>
                <a:spcPts val="0"/>
              </a:spcBef>
              <a:spcAft>
                <a:spcPts val="0"/>
              </a:spcAft>
              <a:buNone/>
            </a:pPr>
            <a:r>
              <a:t/>
            </a:r>
            <a:endParaRPr/>
          </a:p>
        </p:txBody>
      </p:sp>
      <p:sp>
        <p:nvSpPr>
          <p:cNvPr id="158" name="Google Shape;15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Tangible physical present</a:t>
            </a:r>
            <a:endParaRPr/>
          </a:p>
          <a:p>
            <a:pPr indent="0" lvl="0" marL="0" rtl="0" algn="l">
              <a:spcBef>
                <a:spcPts val="0"/>
              </a:spcBef>
              <a:spcAft>
                <a:spcPts val="0"/>
              </a:spcAft>
              <a:buNone/>
            </a:pPr>
            <a:r>
              <a:rPr lang="en-US"/>
              <a:t>Intangible not physically (copyrights , brand name)</a:t>
            </a:r>
            <a:endParaRPr/>
          </a:p>
        </p:txBody>
      </p:sp>
      <p:sp>
        <p:nvSpPr>
          <p:cNvPr id="165" name="Google Shape;16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US"/>
              <a:t>DEFINITION of 'Stockholders' Equity'</a:t>
            </a:r>
            <a:endParaRPr/>
          </a:p>
          <a:p>
            <a:pPr indent="0" lvl="0" marL="0" rtl="0" algn="l">
              <a:spcBef>
                <a:spcPts val="0"/>
              </a:spcBef>
              <a:spcAft>
                <a:spcPts val="0"/>
              </a:spcAft>
              <a:buNone/>
            </a:pPr>
            <a:r>
              <a:rPr lang="en-US"/>
              <a:t>The portion of the balance sheet that represents the capital received from investors in exchange for stock (paid-in capital), donated capital and retained earnings. Stockholders' equity represents the equity stake currently held on the books by a firm's equity investors.</a:t>
            </a:r>
            <a:endParaRPr/>
          </a:p>
          <a:p>
            <a:pPr indent="0" lvl="0" marL="0" rtl="0" algn="l">
              <a:spcBef>
                <a:spcPts val="0"/>
              </a:spcBef>
              <a:spcAft>
                <a:spcPts val="0"/>
              </a:spcAft>
              <a:buNone/>
            </a:pPr>
            <a:r>
              <a:rPr lang="en-US"/>
              <a:t>It is calculated either as a </a:t>
            </a:r>
            <a:endParaRPr/>
          </a:p>
          <a:p>
            <a:pPr indent="0" lvl="0" marL="0" rtl="0" algn="l">
              <a:spcBef>
                <a:spcPts val="0"/>
              </a:spcBef>
              <a:spcAft>
                <a:spcPts val="0"/>
              </a:spcAft>
              <a:buNone/>
            </a:pPr>
            <a:r>
              <a:rPr lang="en-US"/>
              <a:t>	firm's total assets - its total liabilities, </a:t>
            </a:r>
            <a:endParaRPr/>
          </a:p>
          <a:p>
            <a:pPr indent="0" lvl="0" marL="0" rtl="0" algn="l">
              <a:spcBef>
                <a:spcPts val="0"/>
              </a:spcBef>
              <a:spcAft>
                <a:spcPts val="0"/>
              </a:spcAft>
              <a:buNone/>
            </a:pPr>
            <a:r>
              <a:rPr lang="en-US"/>
              <a:t>or as </a:t>
            </a:r>
            <a:endParaRPr/>
          </a:p>
          <a:p>
            <a:pPr indent="0" lvl="0" marL="0" rtl="0" algn="l">
              <a:spcBef>
                <a:spcPts val="0"/>
              </a:spcBef>
              <a:spcAft>
                <a:spcPts val="0"/>
              </a:spcAft>
              <a:buNone/>
            </a:pPr>
            <a:r>
              <a:rPr lang="en-US"/>
              <a:t>	share capital + retained earnings - treasury shares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Also known as "shareholders' equity".</a:t>
            </a:r>
            <a:endParaRPr/>
          </a:p>
        </p:txBody>
      </p:sp>
      <p:sp>
        <p:nvSpPr>
          <p:cNvPr id="172" name="Google Shape;17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Meaning of turn over in the context of Finance: The </a:t>
            </a:r>
            <a:r>
              <a:rPr b="0" i="0" lang="en-US" sz="1200" u="sng" strike="noStrike">
                <a:solidFill>
                  <a:srgbClr val="D5DBE5"/>
                </a:solidFill>
                <a:latin typeface="Calibri"/>
                <a:ea typeface="Calibri"/>
                <a:cs typeface="Calibri"/>
                <a:sym typeface="Calibri"/>
                <a:hlinkClick r:id="rId2">
                  <a:extLst>
                    <a:ext uri="{A12FA001-AC4F-418D-AE19-62706E023703}">
                      <ahyp:hlinkClr val="tx"/>
                    </a:ext>
                  </a:extLst>
                </a:hlinkClick>
              </a:rPr>
              <a:t>volume</a:t>
            </a:r>
            <a:r>
              <a:rPr b="0" i="0" lang="en-US" sz="1200">
                <a:solidFill>
                  <a:schemeClr val="dk1"/>
                </a:solidFill>
                <a:latin typeface="Calibri"/>
                <a:ea typeface="Calibri"/>
                <a:cs typeface="Calibri"/>
                <a:sym typeface="Calibri"/>
              </a:rPr>
              <a:t> or </a:t>
            </a:r>
            <a:r>
              <a:rPr b="0" i="0" lang="en-US" sz="1200" u="sng" strike="noStrike">
                <a:solidFill>
                  <a:schemeClr val="dk1"/>
                </a:solidFill>
                <a:latin typeface="Calibri"/>
                <a:ea typeface="Calibri"/>
                <a:cs typeface="Calibri"/>
                <a:sym typeface="Calibri"/>
                <a:hlinkClick r:id="rId3">
                  <a:extLst>
                    <a:ext uri="{A12FA001-AC4F-418D-AE19-62706E023703}">
                      <ahyp:hlinkClr val="tx"/>
                    </a:ext>
                  </a:extLst>
                </a:hlinkClick>
              </a:rPr>
              <a:t>value</a:t>
            </a:r>
            <a:r>
              <a:rPr b="0" i="0" lang="en-US" sz="1200">
                <a:solidFill>
                  <a:schemeClr val="dk1"/>
                </a:solidFill>
                <a:latin typeface="Calibri"/>
                <a:ea typeface="Calibri"/>
                <a:cs typeface="Calibri"/>
                <a:sym typeface="Calibri"/>
              </a:rPr>
              <a:t> of </a:t>
            </a:r>
            <a:r>
              <a:rPr b="0" i="0" lang="en-US" sz="1200" u="sng" strike="noStrike">
                <a:solidFill>
                  <a:schemeClr val="dk1"/>
                </a:solidFill>
                <a:latin typeface="Calibri"/>
                <a:ea typeface="Calibri"/>
                <a:cs typeface="Calibri"/>
                <a:sym typeface="Calibri"/>
                <a:hlinkClick r:id="rId4">
                  <a:extLst>
                    <a:ext uri="{A12FA001-AC4F-418D-AE19-62706E023703}">
                      <ahyp:hlinkClr val="tx"/>
                    </a:ext>
                  </a:extLst>
                </a:hlinkClick>
              </a:rPr>
              <a:t>shares</a:t>
            </a:r>
            <a:r>
              <a:rPr b="0" i="0" lang="en-US" sz="1200">
                <a:solidFill>
                  <a:schemeClr val="dk1"/>
                </a:solidFill>
                <a:latin typeface="Calibri"/>
                <a:ea typeface="Calibri"/>
                <a:cs typeface="Calibri"/>
                <a:sym typeface="Calibri"/>
              </a:rPr>
              <a:t> </a:t>
            </a:r>
            <a:r>
              <a:rPr b="0" i="0" lang="en-US" sz="1200" u="sng" strike="noStrike">
                <a:solidFill>
                  <a:schemeClr val="dk1"/>
                </a:solidFill>
                <a:latin typeface="Calibri"/>
                <a:ea typeface="Calibri"/>
                <a:cs typeface="Calibri"/>
                <a:sym typeface="Calibri"/>
                <a:hlinkClick r:id="rId5">
                  <a:extLst>
                    <a:ext uri="{A12FA001-AC4F-418D-AE19-62706E023703}">
                      <ahyp:hlinkClr val="tx"/>
                    </a:ext>
                  </a:extLst>
                </a:hlinkClick>
              </a:rPr>
              <a:t>traded</a:t>
            </a:r>
            <a:r>
              <a:rPr b="0" i="0" lang="en-US" sz="1200">
                <a:solidFill>
                  <a:schemeClr val="dk1"/>
                </a:solidFill>
                <a:latin typeface="Calibri"/>
                <a:ea typeface="Calibri"/>
                <a:cs typeface="Calibri"/>
                <a:sym typeface="Calibri"/>
              </a:rPr>
              <a:t> on a </a:t>
            </a:r>
            <a:r>
              <a:rPr b="0" i="0" lang="en-US" sz="1200" u="sng" strike="noStrike">
                <a:solidFill>
                  <a:schemeClr val="dk1"/>
                </a:solidFill>
                <a:latin typeface="Calibri"/>
                <a:ea typeface="Calibri"/>
                <a:cs typeface="Calibri"/>
                <a:sym typeface="Calibri"/>
                <a:hlinkClick r:id="rId6">
                  <a:extLst>
                    <a:ext uri="{A12FA001-AC4F-418D-AE19-62706E023703}">
                      <ahyp:hlinkClr val="tx"/>
                    </a:ext>
                  </a:extLst>
                </a:hlinkClick>
              </a:rPr>
              <a:t>stock exchange</a:t>
            </a:r>
            <a:r>
              <a:rPr b="0" i="0" lang="en-US" sz="1200">
                <a:solidFill>
                  <a:schemeClr val="dk1"/>
                </a:solidFill>
                <a:latin typeface="Calibri"/>
                <a:ea typeface="Calibri"/>
                <a:cs typeface="Calibri"/>
                <a:sym typeface="Calibri"/>
              </a:rPr>
              <a:t> during a day, month, or year.</a:t>
            </a:r>
            <a:br>
              <a:rPr b="0" i="0" lang="en-US" sz="1200">
                <a:solidFill>
                  <a:schemeClr val="dk1"/>
                </a:solidFill>
                <a:latin typeface="Calibri"/>
                <a:ea typeface="Calibri"/>
                <a:cs typeface="Calibri"/>
                <a:sym typeface="Calibri"/>
              </a:rPr>
            </a:br>
            <a:br>
              <a:rPr b="0" i="0" lang="en-US" sz="1200">
                <a:solidFill>
                  <a:schemeClr val="dk1"/>
                </a:solidFill>
                <a:latin typeface="Calibri"/>
                <a:ea typeface="Calibri"/>
                <a:cs typeface="Calibri"/>
                <a:sym typeface="Calibri"/>
              </a:rPr>
            </a:br>
            <a:endParaRPr/>
          </a:p>
        </p:txBody>
      </p:sp>
      <p:sp>
        <p:nvSpPr>
          <p:cNvPr id="197" name="Google Shape;19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6" name="Shape 26"/>
        <p:cNvGrpSpPr/>
        <p:nvPr/>
      </p:nvGrpSpPr>
      <p:grpSpPr>
        <a:xfrm>
          <a:off x="0" y="0"/>
          <a:ext cx="0" cy="0"/>
          <a:chOff x="0" y="0"/>
          <a:chExt cx="0" cy="0"/>
        </a:xfrm>
      </p:grpSpPr>
      <p:grpSp>
        <p:nvGrpSpPr>
          <p:cNvPr id="27" name="Google Shape;27;p20"/>
          <p:cNvGrpSpPr/>
          <p:nvPr/>
        </p:nvGrpSpPr>
        <p:grpSpPr>
          <a:xfrm>
            <a:off x="-11288" y="-8468"/>
            <a:ext cx="12226405" cy="6874935"/>
            <a:chOff x="-8466" y="-8468"/>
            <a:chExt cx="9169804" cy="6874935"/>
          </a:xfrm>
        </p:grpSpPr>
        <p:cxnSp>
          <p:nvCxnSpPr>
            <p:cNvPr id="28" name="Google Shape;28;p20"/>
            <p:cNvCxnSpPr/>
            <p:nvPr/>
          </p:nvCxnSpPr>
          <p:spPr>
            <a:xfrm flipH="1" rot="10800000">
              <a:off x="5130830" y="4175605"/>
              <a:ext cx="4022475" cy="2682396"/>
            </a:xfrm>
            <a:prstGeom prst="straightConnector1">
              <a:avLst/>
            </a:prstGeom>
            <a:noFill/>
            <a:ln cap="flat" cmpd="sng" w="9525">
              <a:solidFill>
                <a:srgbClr val="D8D8D8"/>
              </a:solidFill>
              <a:prstDash val="solid"/>
              <a:round/>
              <a:headEnd len="sm" w="sm" type="none"/>
              <a:tailEnd len="sm" w="sm" type="none"/>
            </a:ln>
          </p:spPr>
        </p:cxnSp>
        <p:cxnSp>
          <p:nvCxnSpPr>
            <p:cNvPr id="29" name="Google Shape;29;p20"/>
            <p:cNvCxnSpPr/>
            <p:nvPr/>
          </p:nvCxnSpPr>
          <p:spPr>
            <a:xfrm>
              <a:off x="7042707" y="0"/>
              <a:ext cx="1219200" cy="6858000"/>
            </a:xfrm>
            <a:prstGeom prst="straightConnector1">
              <a:avLst/>
            </a:prstGeom>
            <a:noFill/>
            <a:ln cap="flat" cmpd="sng" w="9525">
              <a:solidFill>
                <a:srgbClr val="BFBFBF"/>
              </a:solidFill>
              <a:prstDash val="solid"/>
              <a:round/>
              <a:headEnd len="sm" w="sm" type="none"/>
              <a:tailEnd len="sm" w="sm" type="none"/>
            </a:ln>
          </p:spPr>
        </p:cxnSp>
        <p:sp>
          <p:nvSpPr>
            <p:cNvPr id="30" name="Google Shape;30;p20"/>
            <p:cNvSpPr/>
            <p:nvPr/>
          </p:nvSpPr>
          <p:spPr>
            <a:xfrm>
              <a:off x="6891896" y="1"/>
              <a:ext cx="2269442" cy="6866466"/>
            </a:xfrm>
            <a:custGeom>
              <a:rect b="b" l="l" r="r" t="t"/>
              <a:pathLst>
                <a:path extrusionOk="0" h="6866466" w="2269442">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2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0"/>
            <p:cNvSpPr/>
            <p:nvPr/>
          </p:nvSpPr>
          <p:spPr>
            <a:xfrm>
              <a:off x="7205158" y="-8467"/>
              <a:ext cx="1948147" cy="6866467"/>
            </a:xfrm>
            <a:custGeom>
              <a:rect b="b" l="l" r="r" t="t"/>
              <a:pathLst>
                <a:path extrusionOk="0" h="6866467" w="194814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0"/>
            <p:cNvSpPr/>
            <p:nvPr/>
          </p:nvSpPr>
          <p:spPr>
            <a:xfrm>
              <a:off x="6637896" y="3920066"/>
              <a:ext cx="2513565" cy="2937933"/>
            </a:xfrm>
            <a:custGeom>
              <a:rect b="b" l="l" r="r" t="t"/>
              <a:pathLst>
                <a:path extrusionOk="0" h="3810000" w="3259667">
                  <a:moveTo>
                    <a:pt x="0" y="3810000"/>
                  </a:moveTo>
                  <a:lnTo>
                    <a:pt x="3251200" y="0"/>
                  </a:lnTo>
                  <a:cubicBezTo>
                    <a:pt x="3254022" y="1270000"/>
                    <a:pt x="3256845" y="2540000"/>
                    <a:pt x="3259667" y="3810000"/>
                  </a:cubicBezTo>
                  <a:lnTo>
                    <a:pt x="0" y="3810000"/>
                  </a:lnTo>
                  <a:close/>
                </a:path>
              </a:pathLst>
            </a:custGeom>
            <a:solidFill>
              <a:schemeClr val="accent2">
                <a:alpha val="71764"/>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0"/>
            <p:cNvSpPr/>
            <p:nvPr/>
          </p:nvSpPr>
          <p:spPr>
            <a:xfrm>
              <a:off x="7010429" y="-8467"/>
              <a:ext cx="2142876" cy="6866467"/>
            </a:xfrm>
            <a:custGeom>
              <a:rect b="b" l="l" r="r" t="t"/>
              <a:pathLst>
                <a:path extrusionOk="0" h="6866467" w="2853267">
                  <a:moveTo>
                    <a:pt x="0" y="0"/>
                  </a:moveTo>
                  <a:lnTo>
                    <a:pt x="2472267" y="6866467"/>
                  </a:lnTo>
                  <a:lnTo>
                    <a:pt x="2853267" y="6858000"/>
                  </a:lnTo>
                  <a:lnTo>
                    <a:pt x="2853267" y="0"/>
                  </a:lnTo>
                  <a:lnTo>
                    <a:pt x="0" y="0"/>
                  </a:lnTo>
                  <a:close/>
                </a:path>
              </a:pathLst>
            </a:custGeom>
            <a:solidFill>
              <a:srgbClr val="3F7818">
                <a:alpha val="69803"/>
              </a:srgbClr>
            </a:solidFill>
            <a:ln>
              <a:noFill/>
            </a:ln>
          </p:spPr>
        </p:sp>
        <p:sp>
          <p:nvSpPr>
            <p:cNvPr id="34" name="Google Shape;34;p20"/>
            <p:cNvSpPr/>
            <p:nvPr/>
          </p:nvSpPr>
          <p:spPr>
            <a:xfrm>
              <a:off x="8295776" y="-8467"/>
              <a:ext cx="857530" cy="6866467"/>
            </a:xfrm>
            <a:custGeom>
              <a:rect b="b" l="l" r="r" t="t"/>
              <a:pathLst>
                <a:path extrusionOk="0" h="6866467" w="1286933">
                  <a:moveTo>
                    <a:pt x="1016000" y="0"/>
                  </a:moveTo>
                  <a:lnTo>
                    <a:pt x="0" y="6866467"/>
                  </a:lnTo>
                  <a:lnTo>
                    <a:pt x="1286933" y="6866467"/>
                  </a:lnTo>
                  <a:cubicBezTo>
                    <a:pt x="1284111" y="4577645"/>
                    <a:pt x="1281288" y="2288822"/>
                    <a:pt x="1278466" y="0"/>
                  </a:cubicBezTo>
                  <a:lnTo>
                    <a:pt x="1016000" y="0"/>
                  </a:lnTo>
                  <a:close/>
                </a:path>
              </a:pathLst>
            </a:custGeom>
            <a:solidFill>
              <a:srgbClr val="BFE471">
                <a:alpha val="6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0"/>
            <p:cNvSpPr/>
            <p:nvPr/>
          </p:nvSpPr>
          <p:spPr>
            <a:xfrm>
              <a:off x="8077231" y="-8468"/>
              <a:ext cx="1066770" cy="6866467"/>
            </a:xfrm>
            <a:custGeom>
              <a:rect b="b" l="l" r="r" t="t"/>
              <a:pathLst>
                <a:path extrusionOk="0" h="6866467" w="1270244">
                  <a:moveTo>
                    <a:pt x="0" y="0"/>
                  </a:moveTo>
                  <a:lnTo>
                    <a:pt x="1117600" y="6866467"/>
                  </a:lnTo>
                  <a:lnTo>
                    <a:pt x="1270000" y="6866467"/>
                  </a:lnTo>
                  <a:cubicBezTo>
                    <a:pt x="1272822" y="4574822"/>
                    <a:pt x="1250245" y="2291645"/>
                    <a:pt x="1253067" y="0"/>
                  </a:cubicBezTo>
                  <a:lnTo>
                    <a:pt x="0" y="0"/>
                  </a:lnTo>
                  <a:close/>
                </a:path>
              </a:pathLst>
            </a:custGeom>
            <a:solidFill>
              <a:schemeClr val="accent1">
                <a:alpha val="6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0"/>
            <p:cNvSpPr/>
            <p:nvPr/>
          </p:nvSpPr>
          <p:spPr>
            <a:xfrm>
              <a:off x="8060297" y="4893733"/>
              <a:ext cx="1094086" cy="1964267"/>
            </a:xfrm>
            <a:custGeom>
              <a:rect b="b" l="l" r="r" t="t"/>
              <a:pathLst>
                <a:path extrusionOk="0" h="3268133" w="18203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0"/>
            <p:cNvSpPr/>
            <p:nvPr/>
          </p:nvSpPr>
          <p:spPr>
            <a:xfrm>
              <a:off x="-8466" y="-8468"/>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84705"/>
              </a:schemeClr>
            </a:solidFill>
            <a:ln>
              <a:noFill/>
            </a:ln>
          </p:spPr>
        </p:sp>
      </p:grpSp>
      <p:sp>
        <p:nvSpPr>
          <p:cNvPr id="38" name="Google Shape;38;p20"/>
          <p:cNvSpPr txBox="1"/>
          <p:nvPr>
            <p:ph type="ctrTitle"/>
          </p:nvPr>
        </p:nvSpPr>
        <p:spPr>
          <a:xfrm>
            <a:off x="1507461" y="2404534"/>
            <a:ext cx="7768959"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0"/>
          <p:cNvSpPr txBox="1"/>
          <p:nvPr>
            <p:ph idx="1" type="subTitle"/>
          </p:nvPr>
        </p:nvSpPr>
        <p:spPr>
          <a:xfrm>
            <a:off x="1507461" y="4050835"/>
            <a:ext cx="7768959"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40" name="Google Shape;40;p20"/>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0"/>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0"/>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21"/>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1"/>
          <p:cNvSpPr txBox="1"/>
          <p:nvPr>
            <p:ph idx="1" type="body"/>
          </p:nvPr>
        </p:nvSpPr>
        <p:spPr>
          <a:xfrm>
            <a:off x="812799" y="2160590"/>
            <a:ext cx="8463619"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46" name="Google Shape;46;p21"/>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1"/>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9" name="Shape 49"/>
        <p:cNvGrpSpPr/>
        <p:nvPr/>
      </p:nvGrpSpPr>
      <p:grpSpPr>
        <a:xfrm>
          <a:off x="0" y="0"/>
          <a:ext cx="0" cy="0"/>
          <a:chOff x="0" y="0"/>
          <a:chExt cx="0" cy="0"/>
        </a:xfrm>
      </p:grpSpPr>
      <p:sp>
        <p:nvSpPr>
          <p:cNvPr id="50" name="Google Shape;50;p22"/>
          <p:cNvSpPr txBox="1"/>
          <p:nvPr>
            <p:ph type="title"/>
          </p:nvPr>
        </p:nvSpPr>
        <p:spPr>
          <a:xfrm>
            <a:off x="812799" y="4800600"/>
            <a:ext cx="8463619"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2"/>
          <p:cNvSpPr/>
          <p:nvPr>
            <p:ph idx="2" type="pic"/>
          </p:nvPr>
        </p:nvSpPr>
        <p:spPr>
          <a:xfrm>
            <a:off x="812799" y="609600"/>
            <a:ext cx="8463619" cy="3845718"/>
          </a:xfrm>
          <a:prstGeom prst="rect">
            <a:avLst/>
          </a:prstGeom>
          <a:noFill/>
          <a:ln>
            <a:noFill/>
          </a:ln>
        </p:spPr>
      </p:sp>
      <p:sp>
        <p:nvSpPr>
          <p:cNvPr id="52" name="Google Shape;52;p22"/>
          <p:cNvSpPr txBox="1"/>
          <p:nvPr>
            <p:ph idx="1" type="body"/>
          </p:nvPr>
        </p:nvSpPr>
        <p:spPr>
          <a:xfrm>
            <a:off x="812799" y="5367338"/>
            <a:ext cx="8463619"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53" name="Google Shape;53;p22"/>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2"/>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2"/>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6" name="Shape 56"/>
        <p:cNvGrpSpPr/>
        <p:nvPr/>
      </p:nvGrpSpPr>
      <p:grpSpPr>
        <a:xfrm>
          <a:off x="0" y="0"/>
          <a:ext cx="0" cy="0"/>
          <a:chOff x="0" y="0"/>
          <a:chExt cx="0" cy="0"/>
        </a:xfrm>
      </p:grpSpPr>
      <p:sp>
        <p:nvSpPr>
          <p:cNvPr id="57" name="Google Shape;57;p23"/>
          <p:cNvSpPr txBox="1"/>
          <p:nvPr>
            <p:ph type="title"/>
          </p:nvPr>
        </p:nvSpPr>
        <p:spPr>
          <a:xfrm>
            <a:off x="812798" y="2700869"/>
            <a:ext cx="8463620"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3"/>
          <p:cNvSpPr txBox="1"/>
          <p:nvPr>
            <p:ph idx="1" type="body"/>
          </p:nvPr>
        </p:nvSpPr>
        <p:spPr>
          <a:xfrm>
            <a:off x="812798" y="4527448"/>
            <a:ext cx="8463620"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59" name="Google Shape;59;p23"/>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3"/>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2" name="Shape 62"/>
        <p:cNvGrpSpPr/>
        <p:nvPr/>
      </p:nvGrpSpPr>
      <p:grpSpPr>
        <a:xfrm>
          <a:off x="0" y="0"/>
          <a:ext cx="0" cy="0"/>
          <a:chOff x="0" y="0"/>
          <a:chExt cx="0" cy="0"/>
        </a:xfrm>
      </p:grpSpPr>
      <p:sp>
        <p:nvSpPr>
          <p:cNvPr id="63" name="Google Shape;63;p24"/>
          <p:cNvSpPr txBox="1"/>
          <p:nvPr>
            <p:ph type="title"/>
          </p:nvPr>
        </p:nvSpPr>
        <p:spPr>
          <a:xfrm>
            <a:off x="812800" y="609600"/>
            <a:ext cx="8463619"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4"/>
          <p:cNvSpPr txBox="1"/>
          <p:nvPr>
            <p:ph idx="1" type="body"/>
          </p:nvPr>
        </p:nvSpPr>
        <p:spPr>
          <a:xfrm>
            <a:off x="812801" y="2160589"/>
            <a:ext cx="4117479"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65" name="Google Shape;65;p24"/>
          <p:cNvSpPr txBox="1"/>
          <p:nvPr>
            <p:ph idx="2" type="body"/>
          </p:nvPr>
        </p:nvSpPr>
        <p:spPr>
          <a:xfrm>
            <a:off x="5158939" y="2160590"/>
            <a:ext cx="4117480"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66" name="Google Shape;66;p24"/>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4"/>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9" name="Shape 69"/>
        <p:cNvGrpSpPr/>
        <p:nvPr/>
      </p:nvGrpSpPr>
      <p:grpSpPr>
        <a:xfrm>
          <a:off x="0" y="0"/>
          <a:ext cx="0" cy="0"/>
          <a:chOff x="0" y="0"/>
          <a:chExt cx="0" cy="0"/>
        </a:xfrm>
      </p:grpSpPr>
      <p:sp>
        <p:nvSpPr>
          <p:cNvPr id="70" name="Google Shape;70;p25"/>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5"/>
          <p:cNvSpPr txBox="1"/>
          <p:nvPr>
            <p:ph idx="1" type="body"/>
          </p:nvPr>
        </p:nvSpPr>
        <p:spPr>
          <a:xfrm>
            <a:off x="812799" y="2160983"/>
            <a:ext cx="4120896"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72" name="Google Shape;72;p25"/>
          <p:cNvSpPr txBox="1"/>
          <p:nvPr>
            <p:ph idx="2" type="body"/>
          </p:nvPr>
        </p:nvSpPr>
        <p:spPr>
          <a:xfrm>
            <a:off x="812799" y="2737247"/>
            <a:ext cx="4120896"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3" name="Google Shape;73;p25"/>
          <p:cNvSpPr txBox="1"/>
          <p:nvPr>
            <p:ph idx="3" type="body"/>
          </p:nvPr>
        </p:nvSpPr>
        <p:spPr>
          <a:xfrm>
            <a:off x="5155520" y="2160983"/>
            <a:ext cx="4120896"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74" name="Google Shape;74;p25"/>
          <p:cNvSpPr txBox="1"/>
          <p:nvPr>
            <p:ph idx="4" type="body"/>
          </p:nvPr>
        </p:nvSpPr>
        <p:spPr>
          <a:xfrm>
            <a:off x="5155520" y="2737247"/>
            <a:ext cx="4120896"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5" name="Google Shape;75;p25"/>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5"/>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5"/>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8" name="Shape 78"/>
        <p:cNvGrpSpPr/>
        <p:nvPr/>
      </p:nvGrpSpPr>
      <p:grpSpPr>
        <a:xfrm>
          <a:off x="0" y="0"/>
          <a:ext cx="0" cy="0"/>
          <a:chOff x="0" y="0"/>
          <a:chExt cx="0" cy="0"/>
        </a:xfrm>
      </p:grpSpPr>
      <p:sp>
        <p:nvSpPr>
          <p:cNvPr id="79" name="Google Shape;79;p26"/>
          <p:cNvSpPr txBox="1"/>
          <p:nvPr>
            <p:ph type="title"/>
          </p:nvPr>
        </p:nvSpPr>
        <p:spPr>
          <a:xfrm>
            <a:off x="812799" y="609600"/>
            <a:ext cx="8463619"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6"/>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6"/>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6"/>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3" name="Shape 83"/>
        <p:cNvGrpSpPr/>
        <p:nvPr/>
      </p:nvGrpSpPr>
      <p:grpSpPr>
        <a:xfrm>
          <a:off x="0" y="0"/>
          <a:ext cx="0" cy="0"/>
          <a:chOff x="0" y="0"/>
          <a:chExt cx="0" cy="0"/>
        </a:xfrm>
      </p:grpSpPr>
      <p:sp>
        <p:nvSpPr>
          <p:cNvPr id="84" name="Google Shape;84;p27"/>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7"/>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7"/>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7" name="Shape 87"/>
        <p:cNvGrpSpPr/>
        <p:nvPr/>
      </p:nvGrpSpPr>
      <p:grpSpPr>
        <a:xfrm>
          <a:off x="0" y="0"/>
          <a:ext cx="0" cy="0"/>
          <a:chOff x="0" y="0"/>
          <a:chExt cx="0" cy="0"/>
        </a:xfrm>
      </p:grpSpPr>
      <p:sp>
        <p:nvSpPr>
          <p:cNvPr id="88" name="Google Shape;88;p28"/>
          <p:cNvSpPr txBox="1"/>
          <p:nvPr>
            <p:ph type="title"/>
          </p:nvPr>
        </p:nvSpPr>
        <p:spPr>
          <a:xfrm>
            <a:off x="812799" y="1498604"/>
            <a:ext cx="3720243"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8"/>
          <p:cNvSpPr txBox="1"/>
          <p:nvPr>
            <p:ph idx="1" type="body"/>
          </p:nvPr>
        </p:nvSpPr>
        <p:spPr>
          <a:xfrm>
            <a:off x="4761701" y="514926"/>
            <a:ext cx="4514716"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90" name="Google Shape;90;p28"/>
          <p:cNvSpPr txBox="1"/>
          <p:nvPr>
            <p:ph idx="2" type="body"/>
          </p:nvPr>
        </p:nvSpPr>
        <p:spPr>
          <a:xfrm>
            <a:off x="812799" y="2777069"/>
            <a:ext cx="3720243"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840"/>
              <a:buNone/>
              <a:defRPr sz="1050"/>
            </a:lvl2pPr>
            <a:lvl3pPr indent="-228600" lvl="2" marL="1371600" algn="l">
              <a:spcBef>
                <a:spcPts val="1000"/>
              </a:spcBef>
              <a:spcAft>
                <a:spcPts val="0"/>
              </a:spcAft>
              <a:buSzPts val="720"/>
              <a:buNone/>
              <a:defRPr sz="900"/>
            </a:lvl3pPr>
            <a:lvl4pPr indent="-228600" lvl="3" marL="1828800" algn="l">
              <a:spcBef>
                <a:spcPts val="1000"/>
              </a:spcBef>
              <a:spcAft>
                <a:spcPts val="0"/>
              </a:spcAft>
              <a:buSzPts val="600"/>
              <a:buNone/>
              <a:defRPr sz="750"/>
            </a:lvl4pPr>
            <a:lvl5pPr indent="-228600" lvl="4" marL="2286000" algn="l">
              <a:spcBef>
                <a:spcPts val="1000"/>
              </a:spcBef>
              <a:spcAft>
                <a:spcPts val="0"/>
              </a:spcAft>
              <a:buSzPts val="600"/>
              <a:buNone/>
              <a:defRPr sz="750"/>
            </a:lvl5pPr>
            <a:lvl6pPr indent="-228600" lvl="5" marL="2743200" algn="l">
              <a:spcBef>
                <a:spcPts val="1000"/>
              </a:spcBef>
              <a:spcAft>
                <a:spcPts val="0"/>
              </a:spcAft>
              <a:buSzPts val="600"/>
              <a:buNone/>
              <a:defRPr sz="750"/>
            </a:lvl6pPr>
            <a:lvl7pPr indent="-228600" lvl="6" marL="3200400" algn="l">
              <a:spcBef>
                <a:spcPts val="1000"/>
              </a:spcBef>
              <a:spcAft>
                <a:spcPts val="0"/>
              </a:spcAft>
              <a:buSzPts val="600"/>
              <a:buNone/>
              <a:defRPr sz="750"/>
            </a:lvl7pPr>
            <a:lvl8pPr indent="-228600" lvl="7" marL="3657600" algn="l">
              <a:spcBef>
                <a:spcPts val="1000"/>
              </a:spcBef>
              <a:spcAft>
                <a:spcPts val="0"/>
              </a:spcAft>
              <a:buSzPts val="600"/>
              <a:buNone/>
              <a:defRPr sz="750"/>
            </a:lvl8pPr>
            <a:lvl9pPr indent="-228600" lvl="8" marL="4114800" algn="l">
              <a:spcBef>
                <a:spcPts val="1000"/>
              </a:spcBef>
              <a:spcAft>
                <a:spcPts val="0"/>
              </a:spcAft>
              <a:buSzPts val="600"/>
              <a:buNone/>
              <a:defRPr sz="750"/>
            </a:lvl9pPr>
          </a:lstStyle>
          <a:p/>
        </p:txBody>
      </p:sp>
      <p:sp>
        <p:nvSpPr>
          <p:cNvPr id="91" name="Google Shape;91;p28"/>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8"/>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8"/>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4" name="Shape 94"/>
        <p:cNvGrpSpPr/>
        <p:nvPr/>
      </p:nvGrpSpPr>
      <p:grpSpPr>
        <a:xfrm>
          <a:off x="0" y="0"/>
          <a:ext cx="0" cy="0"/>
          <a:chOff x="0" y="0"/>
          <a:chExt cx="0" cy="0"/>
        </a:xfrm>
      </p:grpSpPr>
      <p:sp>
        <p:nvSpPr>
          <p:cNvPr id="95" name="Google Shape;95;p29"/>
          <p:cNvSpPr txBox="1"/>
          <p:nvPr>
            <p:ph type="title"/>
          </p:nvPr>
        </p:nvSpPr>
        <p:spPr>
          <a:xfrm>
            <a:off x="812800" y="609600"/>
            <a:ext cx="8463619"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9"/>
          <p:cNvSpPr txBox="1"/>
          <p:nvPr>
            <p:ph idx="1" type="body"/>
          </p:nvPr>
        </p:nvSpPr>
        <p:spPr>
          <a:xfrm>
            <a:off x="812800" y="4470400"/>
            <a:ext cx="8463619"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29"/>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9"/>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9"/>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0" name="Shape 100"/>
        <p:cNvGrpSpPr/>
        <p:nvPr/>
      </p:nvGrpSpPr>
      <p:grpSpPr>
        <a:xfrm>
          <a:off x="0" y="0"/>
          <a:ext cx="0" cy="0"/>
          <a:chOff x="0" y="0"/>
          <a:chExt cx="0" cy="0"/>
        </a:xfrm>
      </p:grpSpPr>
      <p:sp>
        <p:nvSpPr>
          <p:cNvPr id="101" name="Google Shape;101;p30"/>
          <p:cNvSpPr txBox="1"/>
          <p:nvPr>
            <p:ph type="title"/>
          </p:nvPr>
        </p:nvSpPr>
        <p:spPr>
          <a:xfrm>
            <a:off x="1033180" y="609600"/>
            <a:ext cx="809624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30"/>
          <p:cNvSpPr txBox="1"/>
          <p:nvPr>
            <p:ph idx="1" type="body"/>
          </p:nvPr>
        </p:nvSpPr>
        <p:spPr>
          <a:xfrm>
            <a:off x="1468099" y="3632200"/>
            <a:ext cx="7226405"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30"/>
          <p:cNvSpPr txBox="1"/>
          <p:nvPr>
            <p:ph idx="2" type="body"/>
          </p:nvPr>
        </p:nvSpPr>
        <p:spPr>
          <a:xfrm>
            <a:off x="812798" y="4470400"/>
            <a:ext cx="8463620"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4" name="Google Shape;104;p30"/>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30"/>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30"/>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
        <p:nvSpPr>
          <p:cNvPr id="107" name="Google Shape;107;p30"/>
          <p:cNvSpPr txBox="1"/>
          <p:nvPr/>
        </p:nvSpPr>
        <p:spPr>
          <a:xfrm>
            <a:off x="643615" y="790378"/>
            <a:ext cx="60975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BFE471"/>
                </a:solidFill>
                <a:latin typeface="Arial"/>
                <a:ea typeface="Arial"/>
                <a:cs typeface="Arial"/>
                <a:sym typeface="Arial"/>
              </a:rPr>
              <a:t>“</a:t>
            </a:r>
            <a:endParaRPr/>
          </a:p>
        </p:txBody>
      </p:sp>
      <p:sp>
        <p:nvSpPr>
          <p:cNvPr id="108" name="Google Shape;108;p30"/>
          <p:cNvSpPr txBox="1"/>
          <p:nvPr/>
        </p:nvSpPr>
        <p:spPr>
          <a:xfrm>
            <a:off x="8996933" y="2886556"/>
            <a:ext cx="60975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BFE471"/>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9" name="Shape 109"/>
        <p:cNvGrpSpPr/>
        <p:nvPr/>
      </p:nvGrpSpPr>
      <p:grpSpPr>
        <a:xfrm>
          <a:off x="0" y="0"/>
          <a:ext cx="0" cy="0"/>
          <a:chOff x="0" y="0"/>
          <a:chExt cx="0" cy="0"/>
        </a:xfrm>
      </p:grpSpPr>
      <p:sp>
        <p:nvSpPr>
          <p:cNvPr id="110" name="Google Shape;110;p31"/>
          <p:cNvSpPr txBox="1"/>
          <p:nvPr>
            <p:ph type="title"/>
          </p:nvPr>
        </p:nvSpPr>
        <p:spPr>
          <a:xfrm>
            <a:off x="812798" y="1931988"/>
            <a:ext cx="8463620"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31"/>
          <p:cNvSpPr txBox="1"/>
          <p:nvPr>
            <p:ph idx="1" type="body"/>
          </p:nvPr>
        </p:nvSpPr>
        <p:spPr>
          <a:xfrm>
            <a:off x="812798" y="4527448"/>
            <a:ext cx="8463620"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2" name="Google Shape;112;p31"/>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31"/>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31"/>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5" name="Shape 115"/>
        <p:cNvGrpSpPr/>
        <p:nvPr/>
      </p:nvGrpSpPr>
      <p:grpSpPr>
        <a:xfrm>
          <a:off x="0" y="0"/>
          <a:ext cx="0" cy="0"/>
          <a:chOff x="0" y="0"/>
          <a:chExt cx="0" cy="0"/>
        </a:xfrm>
      </p:grpSpPr>
      <p:sp>
        <p:nvSpPr>
          <p:cNvPr id="116" name="Google Shape;116;p32"/>
          <p:cNvSpPr txBox="1"/>
          <p:nvPr>
            <p:ph type="title"/>
          </p:nvPr>
        </p:nvSpPr>
        <p:spPr>
          <a:xfrm>
            <a:off x="1033180" y="609600"/>
            <a:ext cx="809624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32"/>
          <p:cNvSpPr txBox="1"/>
          <p:nvPr>
            <p:ph idx="1" type="body"/>
          </p:nvPr>
        </p:nvSpPr>
        <p:spPr>
          <a:xfrm>
            <a:off x="812796" y="4013200"/>
            <a:ext cx="8463621"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8" name="Google Shape;118;p32"/>
          <p:cNvSpPr txBox="1"/>
          <p:nvPr>
            <p:ph idx="2" type="body"/>
          </p:nvPr>
        </p:nvSpPr>
        <p:spPr>
          <a:xfrm>
            <a:off x="812798" y="4527448"/>
            <a:ext cx="8463620"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9" name="Google Shape;119;p32"/>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32"/>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32"/>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
        <p:nvSpPr>
          <p:cNvPr id="122" name="Google Shape;122;p32"/>
          <p:cNvSpPr txBox="1"/>
          <p:nvPr/>
        </p:nvSpPr>
        <p:spPr>
          <a:xfrm>
            <a:off x="643615" y="790378"/>
            <a:ext cx="60975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BFE471"/>
                </a:solidFill>
                <a:latin typeface="Arial"/>
                <a:ea typeface="Arial"/>
                <a:cs typeface="Arial"/>
                <a:sym typeface="Arial"/>
              </a:rPr>
              <a:t>“</a:t>
            </a:r>
            <a:endParaRPr/>
          </a:p>
        </p:txBody>
      </p:sp>
      <p:sp>
        <p:nvSpPr>
          <p:cNvPr id="123" name="Google Shape;123;p32"/>
          <p:cNvSpPr txBox="1"/>
          <p:nvPr/>
        </p:nvSpPr>
        <p:spPr>
          <a:xfrm>
            <a:off x="8996933" y="2886556"/>
            <a:ext cx="609759"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BFE47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4" name="Shape 124"/>
        <p:cNvGrpSpPr/>
        <p:nvPr/>
      </p:nvGrpSpPr>
      <p:grpSpPr>
        <a:xfrm>
          <a:off x="0" y="0"/>
          <a:ext cx="0" cy="0"/>
          <a:chOff x="0" y="0"/>
          <a:chExt cx="0" cy="0"/>
        </a:xfrm>
      </p:grpSpPr>
      <p:sp>
        <p:nvSpPr>
          <p:cNvPr id="125" name="Google Shape;125;p33"/>
          <p:cNvSpPr txBox="1"/>
          <p:nvPr>
            <p:ph type="title"/>
          </p:nvPr>
        </p:nvSpPr>
        <p:spPr>
          <a:xfrm>
            <a:off x="821131" y="609600"/>
            <a:ext cx="8455287"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33"/>
          <p:cNvSpPr txBox="1"/>
          <p:nvPr>
            <p:ph idx="1" type="body"/>
          </p:nvPr>
        </p:nvSpPr>
        <p:spPr>
          <a:xfrm>
            <a:off x="812796" y="4013200"/>
            <a:ext cx="8463621"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7" name="Google Shape;127;p33"/>
          <p:cNvSpPr txBox="1"/>
          <p:nvPr>
            <p:ph idx="2" type="body"/>
          </p:nvPr>
        </p:nvSpPr>
        <p:spPr>
          <a:xfrm>
            <a:off x="812798" y="4527448"/>
            <a:ext cx="8463620"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28" name="Google Shape;128;p33"/>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3"/>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33"/>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p34"/>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4"/>
          <p:cNvSpPr txBox="1"/>
          <p:nvPr>
            <p:ph idx="1" type="body"/>
          </p:nvPr>
        </p:nvSpPr>
        <p:spPr>
          <a:xfrm rot="5400000">
            <a:off x="3104222" y="-130833"/>
            <a:ext cx="3880773" cy="846361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4" name="Google Shape;134;p34"/>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34"/>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4"/>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p35"/>
          <p:cNvSpPr txBox="1"/>
          <p:nvPr>
            <p:ph type="title"/>
          </p:nvPr>
        </p:nvSpPr>
        <p:spPr>
          <a:xfrm rot="5400000">
            <a:off x="5996565" y="2582785"/>
            <a:ext cx="5251451" cy="130508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5"/>
          <p:cNvSpPr txBox="1"/>
          <p:nvPr>
            <p:ph idx="1" type="body"/>
          </p:nvPr>
        </p:nvSpPr>
        <p:spPr>
          <a:xfrm rot="5400000">
            <a:off x="1650424" y="-228024"/>
            <a:ext cx="5251451" cy="692670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0" name="Google Shape;140;p35"/>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35"/>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5"/>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90C226"/>
                </a:solidFill>
              </a:defRPr>
            </a:lvl1pPr>
            <a:lvl2pPr indent="0" lvl="1" marL="0" algn="r">
              <a:spcBef>
                <a:spcPts val="0"/>
              </a:spcBef>
              <a:buNone/>
              <a:defRPr>
                <a:solidFill>
                  <a:srgbClr val="90C226"/>
                </a:solidFill>
              </a:defRPr>
            </a:lvl2pPr>
            <a:lvl3pPr indent="0" lvl="2" marL="0" algn="r">
              <a:spcBef>
                <a:spcPts val="0"/>
              </a:spcBef>
              <a:buNone/>
              <a:defRPr>
                <a:solidFill>
                  <a:srgbClr val="90C226"/>
                </a:solidFill>
              </a:defRPr>
            </a:lvl3pPr>
            <a:lvl4pPr indent="0" lvl="3" marL="0" algn="r">
              <a:spcBef>
                <a:spcPts val="0"/>
              </a:spcBef>
              <a:buNone/>
              <a:defRPr>
                <a:solidFill>
                  <a:srgbClr val="90C226"/>
                </a:solidFill>
              </a:defRPr>
            </a:lvl4pPr>
            <a:lvl5pPr indent="0" lvl="4" marL="0" algn="r">
              <a:spcBef>
                <a:spcPts val="0"/>
              </a:spcBef>
              <a:buNone/>
              <a:defRPr>
                <a:solidFill>
                  <a:srgbClr val="90C226"/>
                </a:solidFill>
              </a:defRPr>
            </a:lvl5pPr>
            <a:lvl6pPr indent="0" lvl="5" marL="0" algn="r">
              <a:spcBef>
                <a:spcPts val="0"/>
              </a:spcBef>
              <a:buNone/>
              <a:defRPr>
                <a:solidFill>
                  <a:srgbClr val="90C226"/>
                </a:solidFill>
              </a:defRPr>
            </a:lvl6pPr>
            <a:lvl7pPr indent="0" lvl="6" marL="0" algn="r">
              <a:spcBef>
                <a:spcPts val="0"/>
              </a:spcBef>
              <a:buNone/>
              <a:defRPr>
                <a:solidFill>
                  <a:srgbClr val="90C226"/>
                </a:solidFill>
              </a:defRPr>
            </a:lvl7pPr>
            <a:lvl8pPr indent="0" lvl="7" marL="0" algn="r">
              <a:spcBef>
                <a:spcPts val="0"/>
              </a:spcBef>
              <a:buNone/>
              <a:defRPr>
                <a:solidFill>
                  <a:srgbClr val="90C226"/>
                </a:solidFill>
              </a:defRPr>
            </a:lvl8pPr>
            <a:lvl9pPr indent="0" lvl="8" marL="0" algn="r">
              <a:spcBef>
                <a:spcPts val="0"/>
              </a:spcBef>
              <a:buNone/>
              <a:defRPr>
                <a:solidFill>
                  <a:srgbClr val="90C226"/>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9"/>
          <p:cNvGrpSpPr/>
          <p:nvPr/>
        </p:nvGrpSpPr>
        <p:grpSpPr>
          <a:xfrm>
            <a:off x="-11289" y="-8468"/>
            <a:ext cx="12226407" cy="6874935"/>
            <a:chOff x="-8467" y="-8468"/>
            <a:chExt cx="9169805" cy="6874935"/>
          </a:xfrm>
        </p:grpSpPr>
        <p:sp>
          <p:nvSpPr>
            <p:cNvPr id="11" name="Google Shape;11;p19"/>
            <p:cNvSpPr/>
            <p:nvPr/>
          </p:nvSpPr>
          <p:spPr>
            <a:xfrm>
              <a:off x="-8467" y="4013200"/>
              <a:ext cx="457200" cy="2853267"/>
            </a:xfrm>
            <a:custGeom>
              <a:rect b="b" l="l" r="r" t="t"/>
              <a:pathLst>
                <a:path extrusionOk="0" h="2853267" w="457200">
                  <a:moveTo>
                    <a:pt x="0" y="0"/>
                  </a:moveTo>
                  <a:lnTo>
                    <a:pt x="457200" y="2853267"/>
                  </a:lnTo>
                  <a:lnTo>
                    <a:pt x="0" y="2844800"/>
                  </a:lnTo>
                  <a:cubicBezTo>
                    <a:pt x="2822" y="1905000"/>
                    <a:pt x="5645" y="965200"/>
                    <a:pt x="0" y="0"/>
                  </a:cubicBezTo>
                  <a:close/>
                </a:path>
              </a:pathLst>
            </a:custGeom>
            <a:solidFill>
              <a:schemeClr val="accent1">
                <a:alpha val="8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 name="Google Shape;12;p19"/>
            <p:cNvCxnSpPr/>
            <p:nvPr/>
          </p:nvCxnSpPr>
          <p:spPr>
            <a:xfrm flipH="1" rot="10800000">
              <a:off x="5130830" y="4175605"/>
              <a:ext cx="4022475" cy="2682396"/>
            </a:xfrm>
            <a:prstGeom prst="straightConnector1">
              <a:avLst/>
            </a:prstGeom>
            <a:noFill/>
            <a:ln cap="flat" cmpd="sng" w="9525">
              <a:solidFill>
                <a:srgbClr val="D8D8D8"/>
              </a:solidFill>
              <a:prstDash val="solid"/>
              <a:round/>
              <a:headEnd len="sm" w="sm" type="none"/>
              <a:tailEnd len="sm" w="sm" type="none"/>
            </a:ln>
          </p:spPr>
        </p:cxnSp>
        <p:cxnSp>
          <p:nvCxnSpPr>
            <p:cNvPr id="13" name="Google Shape;13;p19"/>
            <p:cNvCxnSpPr/>
            <p:nvPr/>
          </p:nvCxnSpPr>
          <p:spPr>
            <a:xfrm>
              <a:off x="7042707" y="0"/>
              <a:ext cx="1219200" cy="6858000"/>
            </a:xfrm>
            <a:prstGeom prst="straightConnector1">
              <a:avLst/>
            </a:prstGeom>
            <a:noFill/>
            <a:ln cap="flat" cmpd="sng" w="9525">
              <a:solidFill>
                <a:srgbClr val="BFBFBF"/>
              </a:solidFill>
              <a:prstDash val="solid"/>
              <a:round/>
              <a:headEnd len="sm" w="sm" type="none"/>
              <a:tailEnd len="sm" w="sm" type="none"/>
            </a:ln>
          </p:spPr>
        </p:cxnSp>
        <p:sp>
          <p:nvSpPr>
            <p:cNvPr id="14" name="Google Shape;14;p19"/>
            <p:cNvSpPr/>
            <p:nvPr/>
          </p:nvSpPr>
          <p:spPr>
            <a:xfrm>
              <a:off x="6891896" y="1"/>
              <a:ext cx="2269442" cy="6866466"/>
            </a:xfrm>
            <a:custGeom>
              <a:rect b="b" l="l" r="r" t="t"/>
              <a:pathLst>
                <a:path extrusionOk="0" h="6866466" w="2269442">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2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9"/>
            <p:cNvSpPr/>
            <p:nvPr/>
          </p:nvSpPr>
          <p:spPr>
            <a:xfrm>
              <a:off x="7205158" y="-8467"/>
              <a:ext cx="1948147" cy="6866467"/>
            </a:xfrm>
            <a:custGeom>
              <a:rect b="b" l="l" r="r" t="t"/>
              <a:pathLst>
                <a:path extrusionOk="0" h="6866467" w="194814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9"/>
            <p:cNvSpPr/>
            <p:nvPr/>
          </p:nvSpPr>
          <p:spPr>
            <a:xfrm>
              <a:off x="6637896" y="3920066"/>
              <a:ext cx="2513565" cy="2937933"/>
            </a:xfrm>
            <a:custGeom>
              <a:rect b="b" l="l" r="r" t="t"/>
              <a:pathLst>
                <a:path extrusionOk="0" h="3810000" w="3259667">
                  <a:moveTo>
                    <a:pt x="0" y="3810000"/>
                  </a:moveTo>
                  <a:lnTo>
                    <a:pt x="3251200" y="0"/>
                  </a:lnTo>
                  <a:cubicBezTo>
                    <a:pt x="3254022" y="1270000"/>
                    <a:pt x="3256845" y="2540000"/>
                    <a:pt x="3259667" y="3810000"/>
                  </a:cubicBezTo>
                  <a:lnTo>
                    <a:pt x="0" y="3810000"/>
                  </a:lnTo>
                  <a:close/>
                </a:path>
              </a:pathLst>
            </a:custGeom>
            <a:solidFill>
              <a:schemeClr val="accent2">
                <a:alpha val="71764"/>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9"/>
            <p:cNvSpPr/>
            <p:nvPr/>
          </p:nvSpPr>
          <p:spPr>
            <a:xfrm>
              <a:off x="7010429" y="-8467"/>
              <a:ext cx="2142876" cy="6866467"/>
            </a:xfrm>
            <a:custGeom>
              <a:rect b="b" l="l" r="r" t="t"/>
              <a:pathLst>
                <a:path extrusionOk="0" h="6866467" w="2853267">
                  <a:moveTo>
                    <a:pt x="0" y="0"/>
                  </a:moveTo>
                  <a:lnTo>
                    <a:pt x="2472267" y="6866467"/>
                  </a:lnTo>
                  <a:lnTo>
                    <a:pt x="2853267" y="6858000"/>
                  </a:lnTo>
                  <a:lnTo>
                    <a:pt x="2853267" y="0"/>
                  </a:lnTo>
                  <a:lnTo>
                    <a:pt x="0" y="0"/>
                  </a:lnTo>
                  <a:close/>
                </a:path>
              </a:pathLst>
            </a:custGeom>
            <a:solidFill>
              <a:srgbClr val="3F7818">
                <a:alpha val="69803"/>
              </a:srgbClr>
            </a:solidFill>
            <a:ln>
              <a:noFill/>
            </a:ln>
          </p:spPr>
        </p:sp>
        <p:sp>
          <p:nvSpPr>
            <p:cNvPr id="18" name="Google Shape;18;p19"/>
            <p:cNvSpPr/>
            <p:nvPr/>
          </p:nvSpPr>
          <p:spPr>
            <a:xfrm>
              <a:off x="8295776" y="-8467"/>
              <a:ext cx="857530" cy="6866467"/>
            </a:xfrm>
            <a:custGeom>
              <a:rect b="b" l="l" r="r" t="t"/>
              <a:pathLst>
                <a:path extrusionOk="0" h="6866467" w="1286933">
                  <a:moveTo>
                    <a:pt x="1016000" y="0"/>
                  </a:moveTo>
                  <a:lnTo>
                    <a:pt x="0" y="6866467"/>
                  </a:lnTo>
                  <a:lnTo>
                    <a:pt x="1286933" y="6866467"/>
                  </a:lnTo>
                  <a:cubicBezTo>
                    <a:pt x="1284111" y="4577645"/>
                    <a:pt x="1281288" y="2288822"/>
                    <a:pt x="1278466" y="0"/>
                  </a:cubicBezTo>
                  <a:lnTo>
                    <a:pt x="1016000" y="0"/>
                  </a:lnTo>
                  <a:close/>
                </a:path>
              </a:pathLst>
            </a:custGeom>
            <a:solidFill>
              <a:srgbClr val="BFE471">
                <a:alpha val="6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9"/>
            <p:cNvSpPr/>
            <p:nvPr/>
          </p:nvSpPr>
          <p:spPr>
            <a:xfrm>
              <a:off x="8077231" y="-8468"/>
              <a:ext cx="1066770" cy="6866467"/>
            </a:xfrm>
            <a:custGeom>
              <a:rect b="b" l="l" r="r" t="t"/>
              <a:pathLst>
                <a:path extrusionOk="0" h="6866467" w="1270244">
                  <a:moveTo>
                    <a:pt x="0" y="0"/>
                  </a:moveTo>
                  <a:lnTo>
                    <a:pt x="1117600" y="6866467"/>
                  </a:lnTo>
                  <a:lnTo>
                    <a:pt x="1270000" y="6866467"/>
                  </a:lnTo>
                  <a:cubicBezTo>
                    <a:pt x="1272822" y="4574822"/>
                    <a:pt x="1250245" y="2291645"/>
                    <a:pt x="1253067" y="0"/>
                  </a:cubicBezTo>
                  <a:lnTo>
                    <a:pt x="0" y="0"/>
                  </a:lnTo>
                  <a:close/>
                </a:path>
              </a:pathLst>
            </a:custGeom>
            <a:solidFill>
              <a:schemeClr val="accent1">
                <a:alpha val="6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9"/>
            <p:cNvSpPr/>
            <p:nvPr/>
          </p:nvSpPr>
          <p:spPr>
            <a:xfrm>
              <a:off x="8060297" y="4893733"/>
              <a:ext cx="1094086" cy="1964267"/>
            </a:xfrm>
            <a:custGeom>
              <a:rect b="b" l="l" r="r" t="t"/>
              <a:pathLst>
                <a:path extrusionOk="0" h="3268133" w="18203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19"/>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9"/>
          <p:cNvSpPr txBox="1"/>
          <p:nvPr>
            <p:ph idx="1" type="body"/>
          </p:nvPr>
        </p:nvSpPr>
        <p:spPr>
          <a:xfrm>
            <a:off x="812799" y="2160590"/>
            <a:ext cx="8463619"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19"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59"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59"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9"/>
          <p:cNvSpPr txBox="1"/>
          <p:nvPr>
            <p:ph idx="10" type="dt"/>
          </p:nvPr>
        </p:nvSpPr>
        <p:spPr>
          <a:xfrm>
            <a:off x="7207011" y="6041364"/>
            <a:ext cx="912176"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9"/>
          <p:cNvSpPr txBox="1"/>
          <p:nvPr>
            <p:ph idx="11" type="ftr"/>
          </p:nvPr>
        </p:nvSpPr>
        <p:spPr>
          <a:xfrm>
            <a:off x="812799" y="6041364"/>
            <a:ext cx="6163964"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9"/>
          <p:cNvSpPr txBox="1"/>
          <p:nvPr>
            <p:ph idx="12" type="sldNum"/>
          </p:nvPr>
        </p:nvSpPr>
        <p:spPr>
          <a:xfrm>
            <a:off x="8592902" y="6041364"/>
            <a:ext cx="68351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90C226"/>
                </a:solidFill>
                <a:latin typeface="Trebuchet MS"/>
                <a:ea typeface="Trebuchet MS"/>
                <a:cs typeface="Trebuchet MS"/>
                <a:sym typeface="Trebuchet MS"/>
              </a:defRPr>
            </a:lvl1pPr>
            <a:lvl2pPr indent="0" lvl="1" marL="0" marR="0" rtl="0" algn="r">
              <a:spcBef>
                <a:spcPts val="0"/>
              </a:spcBef>
              <a:buNone/>
              <a:defRPr b="0" i="0" sz="900" u="none" cap="none" strike="noStrike">
                <a:solidFill>
                  <a:srgbClr val="90C226"/>
                </a:solidFill>
                <a:latin typeface="Trebuchet MS"/>
                <a:ea typeface="Trebuchet MS"/>
                <a:cs typeface="Trebuchet MS"/>
                <a:sym typeface="Trebuchet MS"/>
              </a:defRPr>
            </a:lvl2pPr>
            <a:lvl3pPr indent="0" lvl="2" marL="0" marR="0" rtl="0" algn="r">
              <a:spcBef>
                <a:spcPts val="0"/>
              </a:spcBef>
              <a:buNone/>
              <a:defRPr b="0" i="0" sz="900" u="none" cap="none" strike="noStrike">
                <a:solidFill>
                  <a:srgbClr val="90C226"/>
                </a:solidFill>
                <a:latin typeface="Trebuchet MS"/>
                <a:ea typeface="Trebuchet MS"/>
                <a:cs typeface="Trebuchet MS"/>
                <a:sym typeface="Trebuchet MS"/>
              </a:defRPr>
            </a:lvl3pPr>
            <a:lvl4pPr indent="0" lvl="3" marL="0" marR="0" rtl="0" algn="r">
              <a:spcBef>
                <a:spcPts val="0"/>
              </a:spcBef>
              <a:buNone/>
              <a:defRPr b="0" i="0" sz="900" u="none" cap="none" strike="noStrike">
                <a:solidFill>
                  <a:srgbClr val="90C226"/>
                </a:solidFill>
                <a:latin typeface="Trebuchet MS"/>
                <a:ea typeface="Trebuchet MS"/>
                <a:cs typeface="Trebuchet MS"/>
                <a:sym typeface="Trebuchet MS"/>
              </a:defRPr>
            </a:lvl4pPr>
            <a:lvl5pPr indent="0" lvl="4" marL="0" marR="0" rtl="0" algn="r">
              <a:spcBef>
                <a:spcPts val="0"/>
              </a:spcBef>
              <a:buNone/>
              <a:defRPr b="0" i="0" sz="900" u="none" cap="none" strike="noStrike">
                <a:solidFill>
                  <a:srgbClr val="90C226"/>
                </a:solidFill>
                <a:latin typeface="Trebuchet MS"/>
                <a:ea typeface="Trebuchet MS"/>
                <a:cs typeface="Trebuchet MS"/>
                <a:sym typeface="Trebuchet MS"/>
              </a:defRPr>
            </a:lvl5pPr>
            <a:lvl6pPr indent="0" lvl="5" marL="0" marR="0" rtl="0" algn="r">
              <a:spcBef>
                <a:spcPts val="0"/>
              </a:spcBef>
              <a:buNone/>
              <a:defRPr b="0" i="0" sz="900" u="none" cap="none" strike="noStrike">
                <a:solidFill>
                  <a:srgbClr val="90C226"/>
                </a:solidFill>
                <a:latin typeface="Trebuchet MS"/>
                <a:ea typeface="Trebuchet MS"/>
                <a:cs typeface="Trebuchet MS"/>
                <a:sym typeface="Trebuchet MS"/>
              </a:defRPr>
            </a:lvl6pPr>
            <a:lvl7pPr indent="0" lvl="6" marL="0" marR="0" rtl="0" algn="r">
              <a:spcBef>
                <a:spcPts val="0"/>
              </a:spcBef>
              <a:buNone/>
              <a:defRPr b="0" i="0" sz="900" u="none" cap="none" strike="noStrike">
                <a:solidFill>
                  <a:srgbClr val="90C226"/>
                </a:solidFill>
                <a:latin typeface="Trebuchet MS"/>
                <a:ea typeface="Trebuchet MS"/>
                <a:cs typeface="Trebuchet MS"/>
                <a:sym typeface="Trebuchet MS"/>
              </a:defRPr>
            </a:lvl7pPr>
            <a:lvl8pPr indent="0" lvl="7" marL="0" marR="0" rtl="0" algn="r">
              <a:spcBef>
                <a:spcPts val="0"/>
              </a:spcBef>
              <a:buNone/>
              <a:defRPr b="0" i="0" sz="900" u="none" cap="none" strike="noStrike">
                <a:solidFill>
                  <a:srgbClr val="90C226"/>
                </a:solidFill>
                <a:latin typeface="Trebuchet MS"/>
                <a:ea typeface="Trebuchet MS"/>
                <a:cs typeface="Trebuchet MS"/>
                <a:sym typeface="Trebuchet MS"/>
              </a:defRPr>
            </a:lvl8pPr>
            <a:lvl9pPr indent="0" lvl="8" marL="0" marR="0" rtl="0" algn="r">
              <a:spcBef>
                <a:spcPts val="0"/>
              </a:spcBef>
              <a:buNone/>
              <a:defRPr b="0" i="0" sz="900" u="none" cap="none" strike="noStrike">
                <a:solidFill>
                  <a:srgbClr val="90C226"/>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secp.gov.pk/"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
          <p:cNvSpPr txBox="1"/>
          <p:nvPr>
            <p:ph type="ctrTitle"/>
          </p:nvPr>
        </p:nvSpPr>
        <p:spPr>
          <a:xfrm>
            <a:off x="1835120" y="2139952"/>
            <a:ext cx="7264460" cy="110251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accent1"/>
              </a:buClr>
              <a:buSzPts val="5400"/>
              <a:buFont typeface="Trebuchet MS"/>
              <a:buNone/>
            </a:pPr>
            <a:r>
              <a:rPr lang="en-US"/>
              <a:t>CS4001- Professional Practices in IT</a:t>
            </a:r>
            <a:endParaRPr/>
          </a:p>
        </p:txBody>
      </p:sp>
      <p:sp>
        <p:nvSpPr>
          <p:cNvPr id="148" name="Google Shape;148;p1"/>
          <p:cNvSpPr txBox="1"/>
          <p:nvPr>
            <p:ph idx="1" type="subTitle"/>
          </p:nvPr>
        </p:nvSpPr>
        <p:spPr>
          <a:xfrm>
            <a:off x="1507461" y="4050835"/>
            <a:ext cx="7768959" cy="1096899"/>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1440"/>
              <a:buNone/>
            </a:pPr>
            <a:r>
              <a:rPr lang="en-US"/>
              <a:t>Course Instructor: Anaum Hamid</a:t>
            </a:r>
            <a:endParaRPr/>
          </a:p>
          <a:p>
            <a:pPr indent="0" lvl="0" marL="0" rtl="0" algn="r">
              <a:spcBef>
                <a:spcPts val="1000"/>
              </a:spcBef>
              <a:spcAft>
                <a:spcPts val="0"/>
              </a:spcAft>
              <a:buSzPts val="1440"/>
              <a:buNone/>
            </a:pPr>
            <a:r>
              <a:rPr lang="en-US"/>
              <a:t>Email address: anaum.hamid@nu.edu.pk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
          <p:cNvSpPr txBox="1"/>
          <p:nvPr>
            <p:ph type="title"/>
          </p:nvPr>
        </p:nvSpPr>
        <p:spPr>
          <a:xfrm>
            <a:off x="812800" y="609600"/>
            <a:ext cx="8463617" cy="914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Financial Accounting</a:t>
            </a:r>
            <a:endParaRPr/>
          </a:p>
        </p:txBody>
      </p:sp>
      <p:sp>
        <p:nvSpPr>
          <p:cNvPr id="154" name="Google Shape;154;p2"/>
          <p:cNvSpPr txBox="1"/>
          <p:nvPr>
            <p:ph idx="1" type="body"/>
          </p:nvPr>
        </p:nvSpPr>
        <p:spPr>
          <a:xfrm>
            <a:off x="812799" y="1877568"/>
            <a:ext cx="8463619" cy="416379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i="1" lang="en-US"/>
              <a:t>After studying this chapter, you should understand the purpose of the three most important items in the annual report:</a:t>
            </a:r>
            <a:endParaRPr/>
          </a:p>
          <a:p>
            <a:pPr indent="-342900" lvl="0" marL="342900" rtl="0" algn="l">
              <a:spcBef>
                <a:spcPts val="1000"/>
              </a:spcBef>
              <a:spcAft>
                <a:spcPts val="0"/>
              </a:spcAft>
              <a:buSzPts val="1440"/>
              <a:buChar char="►"/>
            </a:pPr>
            <a:r>
              <a:rPr lang="en-US"/>
              <a:t> </a:t>
            </a:r>
            <a:r>
              <a:rPr i="1" lang="en-US"/>
              <a:t>the balance sheet;</a:t>
            </a:r>
            <a:endParaRPr/>
          </a:p>
          <a:p>
            <a:pPr indent="-342900" lvl="0" marL="342900" rtl="0" algn="l">
              <a:spcBef>
                <a:spcPts val="1000"/>
              </a:spcBef>
              <a:spcAft>
                <a:spcPts val="0"/>
              </a:spcAft>
              <a:buSzPts val="1440"/>
              <a:buChar char="►"/>
            </a:pPr>
            <a:r>
              <a:rPr lang="en-US"/>
              <a:t> </a:t>
            </a:r>
            <a:r>
              <a:rPr i="1" lang="en-US"/>
              <a:t>the profit and loss account; and</a:t>
            </a:r>
            <a:endParaRPr/>
          </a:p>
          <a:p>
            <a:pPr indent="-342900" lvl="0" marL="342900" rtl="0" algn="l">
              <a:spcBef>
                <a:spcPts val="1000"/>
              </a:spcBef>
              <a:spcAft>
                <a:spcPts val="0"/>
              </a:spcAft>
              <a:buSzPts val="1440"/>
              <a:buChar char="►"/>
            </a:pPr>
            <a:r>
              <a:rPr lang="en-US"/>
              <a:t> </a:t>
            </a:r>
            <a:r>
              <a:rPr i="1" lang="en-US"/>
              <a:t>the cash flow statement.</a:t>
            </a:r>
            <a:endParaRPr/>
          </a:p>
          <a:p>
            <a:pPr indent="0" lvl="0" marL="0" rtl="0" algn="l">
              <a:spcBef>
                <a:spcPts val="1000"/>
              </a:spcBef>
              <a:spcAft>
                <a:spcPts val="0"/>
              </a:spcAft>
              <a:buSzPts val="1440"/>
              <a:buNone/>
            </a:pPr>
            <a:r>
              <a:rPr i="1" lang="en-US"/>
              <a:t>These are known as the financial statements and together they provide a picture of the overall financial health of the business. You should be able to interpret them in simple cases.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
          <p:cNvSpPr txBox="1"/>
          <p:nvPr>
            <p:ph type="title"/>
          </p:nvPr>
        </p:nvSpPr>
        <p:spPr>
          <a:xfrm>
            <a:off x="812800" y="609600"/>
            <a:ext cx="8463617" cy="92659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Annual Report</a:t>
            </a:r>
            <a:endParaRPr/>
          </a:p>
        </p:txBody>
      </p:sp>
      <p:sp>
        <p:nvSpPr>
          <p:cNvPr id="161" name="Google Shape;161;p3"/>
          <p:cNvSpPr txBox="1"/>
          <p:nvPr>
            <p:ph idx="1" type="body"/>
          </p:nvPr>
        </p:nvSpPr>
        <p:spPr>
          <a:xfrm>
            <a:off x="812799" y="1706880"/>
            <a:ext cx="8463619" cy="433448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The limited companies, when liquidify, only looses the amount they have spent. How ever there is a check on the performance of these companies.</a:t>
            </a:r>
            <a:endParaRPr/>
          </a:p>
          <a:p>
            <a:pPr indent="0" lvl="0" marL="0" rtl="0" algn="l">
              <a:spcBef>
                <a:spcPts val="1000"/>
              </a:spcBef>
              <a:spcAft>
                <a:spcPts val="0"/>
              </a:spcAft>
              <a:buSzPts val="1440"/>
              <a:buNone/>
            </a:pPr>
            <a:r>
              <a:rPr lang="en-US"/>
              <a:t>In UK the law requires that, every year, the company produces an annual report, which must be filed at Companies House.</a:t>
            </a:r>
            <a:endParaRPr/>
          </a:p>
          <a:p>
            <a:pPr indent="0" lvl="0" marL="0" rtl="0" algn="l">
              <a:spcBef>
                <a:spcPts val="1000"/>
              </a:spcBef>
              <a:spcAft>
                <a:spcPts val="0"/>
              </a:spcAft>
              <a:buSzPts val="1440"/>
              <a:buNone/>
            </a:pPr>
            <a:r>
              <a:rPr lang="en-US"/>
              <a:t>In Pakistan the companies submit these reports to the license providing authority namely </a:t>
            </a:r>
            <a:r>
              <a:rPr b="1" lang="en-US"/>
              <a:t>SECP</a:t>
            </a:r>
            <a:r>
              <a:rPr lang="en-US"/>
              <a:t>; Securities and Exchange Commission of Pakistan . </a:t>
            </a:r>
            <a:endParaRPr/>
          </a:p>
          <a:p>
            <a:pPr indent="0" lvl="0" marL="0" rtl="0" algn="l">
              <a:spcBef>
                <a:spcPts val="1000"/>
              </a:spcBef>
              <a:spcAft>
                <a:spcPts val="0"/>
              </a:spcAft>
              <a:buSzPts val="1440"/>
              <a:buNone/>
            </a:pPr>
            <a:r>
              <a:rPr lang="en-US"/>
              <a:t>The annual report contains information about the company and its activities during the preceding year.</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rPr lang="en-US"/>
              <a:t>Link:  </a:t>
            </a:r>
            <a:r>
              <a:rPr lang="en-US" u="sng">
                <a:solidFill>
                  <a:schemeClr val="hlink"/>
                </a:solidFill>
                <a:hlinkClick r:id="rId3"/>
              </a:rPr>
              <a:t>https://www.secp.gov.pk/</a:t>
            </a:r>
            <a:r>
              <a:rPr lang="en-US"/>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4"/>
          <p:cNvSpPr txBox="1"/>
          <p:nvPr>
            <p:ph type="title"/>
          </p:nvPr>
        </p:nvSpPr>
        <p:spPr>
          <a:xfrm>
            <a:off x="812800" y="609600"/>
            <a:ext cx="8463617" cy="101193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THE BALANCE SHEET</a:t>
            </a:r>
            <a:endParaRPr/>
          </a:p>
        </p:txBody>
      </p:sp>
      <p:sp>
        <p:nvSpPr>
          <p:cNvPr id="168" name="Google Shape;168;p4"/>
          <p:cNvSpPr txBox="1"/>
          <p:nvPr>
            <p:ph idx="1" type="body"/>
          </p:nvPr>
        </p:nvSpPr>
        <p:spPr>
          <a:xfrm>
            <a:off x="812799" y="1621536"/>
            <a:ext cx="8463619" cy="441982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 The balance sheet is that financial statement in the annual report which show </a:t>
            </a:r>
            <a:endParaRPr/>
          </a:p>
          <a:p>
            <a:pPr indent="-342900" lvl="0" marL="342900" rtl="0" algn="l">
              <a:spcBef>
                <a:spcPts val="1000"/>
              </a:spcBef>
              <a:spcAft>
                <a:spcPts val="0"/>
              </a:spcAft>
              <a:buSzPts val="1440"/>
              <a:buChar char="►"/>
            </a:pPr>
            <a:r>
              <a:rPr lang="en-US"/>
              <a:t>what the company owns – its </a:t>
            </a:r>
            <a:r>
              <a:rPr i="1" lang="en-US"/>
              <a:t>assets </a:t>
            </a:r>
            <a:endParaRPr/>
          </a:p>
          <a:p>
            <a:pPr indent="-342900" lvl="0" marL="342900" rtl="0" algn="l">
              <a:spcBef>
                <a:spcPts val="1000"/>
              </a:spcBef>
              <a:spcAft>
                <a:spcPts val="0"/>
              </a:spcAft>
              <a:buSzPts val="1440"/>
              <a:buChar char="►"/>
            </a:pPr>
            <a:r>
              <a:rPr lang="en-US"/>
              <a:t>and what it owes – its </a:t>
            </a:r>
            <a:r>
              <a:rPr i="1" lang="en-US"/>
              <a:t>liabilities</a:t>
            </a:r>
            <a:r>
              <a:rPr lang="en-US"/>
              <a:t>.</a:t>
            </a:r>
            <a:endParaRPr/>
          </a:p>
          <a:p>
            <a:pPr indent="0" lvl="0" marL="0" rtl="0" algn="l">
              <a:spcBef>
                <a:spcPts val="1000"/>
              </a:spcBef>
              <a:spcAft>
                <a:spcPts val="0"/>
              </a:spcAft>
              <a:buSzPts val="1440"/>
              <a:buNone/>
            </a:pPr>
            <a:r>
              <a:rPr lang="en-US"/>
              <a:t>Key words</a:t>
            </a:r>
            <a:endParaRPr/>
          </a:p>
          <a:p>
            <a:pPr indent="-285750" lvl="1" marL="742950" rtl="0" algn="l">
              <a:spcBef>
                <a:spcPts val="1000"/>
              </a:spcBef>
              <a:spcAft>
                <a:spcPts val="0"/>
              </a:spcAft>
              <a:buSzPts val="1280"/>
              <a:buChar char="►"/>
            </a:pPr>
            <a:r>
              <a:rPr lang="en-US"/>
              <a:t>Current Assets	</a:t>
            </a:r>
            <a:endParaRPr/>
          </a:p>
          <a:p>
            <a:pPr indent="-285750" lvl="1" marL="742950" rtl="0" algn="l">
              <a:spcBef>
                <a:spcPts val="1000"/>
              </a:spcBef>
              <a:spcAft>
                <a:spcPts val="0"/>
              </a:spcAft>
              <a:buSzPts val="1280"/>
              <a:buChar char="►"/>
            </a:pPr>
            <a:r>
              <a:rPr lang="en-US"/>
              <a:t>Fixed Assets</a:t>
            </a:r>
            <a:endParaRPr/>
          </a:p>
          <a:p>
            <a:pPr indent="-285750" lvl="1" marL="742950" rtl="0" algn="l">
              <a:spcBef>
                <a:spcPts val="1000"/>
              </a:spcBef>
              <a:spcAft>
                <a:spcPts val="0"/>
              </a:spcAft>
              <a:buSzPts val="1280"/>
              <a:buChar char="►"/>
            </a:pPr>
            <a:r>
              <a:rPr lang="en-US"/>
              <a:t>Depreciation </a:t>
            </a:r>
            <a:endParaRPr/>
          </a:p>
          <a:p>
            <a:pPr indent="-285750" lvl="1" marL="742950" rtl="0" algn="l">
              <a:spcBef>
                <a:spcPts val="1000"/>
              </a:spcBef>
              <a:spcAft>
                <a:spcPts val="0"/>
              </a:spcAft>
              <a:buSzPts val="1280"/>
              <a:buChar char="►"/>
            </a:pPr>
            <a:r>
              <a:rPr lang="en-US"/>
              <a:t>Tangible</a:t>
            </a:r>
            <a:endParaRPr/>
          </a:p>
          <a:p>
            <a:pPr indent="-285750" lvl="1" marL="742950" rtl="0" algn="l">
              <a:spcBef>
                <a:spcPts val="1000"/>
              </a:spcBef>
              <a:spcAft>
                <a:spcPts val="0"/>
              </a:spcAft>
              <a:buSzPts val="1280"/>
              <a:buChar char="►"/>
            </a:pPr>
            <a:r>
              <a:rPr lang="en-US"/>
              <a:t>Intangible</a:t>
            </a:r>
            <a:endParaRPr/>
          </a:p>
          <a:p>
            <a:pPr indent="-285750" lvl="1" marL="742950" rtl="0" algn="l">
              <a:spcBef>
                <a:spcPts val="1000"/>
              </a:spcBef>
              <a:spcAft>
                <a:spcPts val="0"/>
              </a:spcAft>
              <a:buSzPts val="1280"/>
              <a:buChar char="►"/>
            </a:pPr>
            <a:r>
              <a:rPr lang="en-US"/>
              <a:t>Current liabilities</a:t>
            </a:r>
            <a:endParaRPr/>
          </a:p>
          <a:p>
            <a:pPr indent="-285750" lvl="1" marL="742950" rtl="0" algn="l">
              <a:spcBef>
                <a:spcPts val="1000"/>
              </a:spcBef>
              <a:spcAft>
                <a:spcPts val="0"/>
              </a:spcAft>
              <a:buSzPts val="1280"/>
              <a:buChar char="►"/>
            </a:pPr>
            <a:r>
              <a:rPr lang="en-US"/>
              <a:t>Fixed liabilities  </a:t>
            </a:r>
            <a:endParaRPr/>
          </a:p>
          <a:p>
            <a:pPr indent="0" lvl="0" marL="0" rtl="0" algn="l">
              <a:spcBef>
                <a:spcPts val="1000"/>
              </a:spcBef>
              <a:spcAft>
                <a:spcPts val="0"/>
              </a:spcAft>
              <a:buSzPts val="144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5"/>
          <p:cNvSpPr txBox="1"/>
          <p:nvPr>
            <p:ph type="title"/>
          </p:nvPr>
        </p:nvSpPr>
        <p:spPr>
          <a:xfrm>
            <a:off x="812800" y="272716"/>
            <a:ext cx="8463617" cy="463296"/>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Trebuchet MS"/>
              <a:buNone/>
            </a:pPr>
            <a:r>
              <a:rPr lang="en-US"/>
              <a:t>Balance Sheet </a:t>
            </a:r>
            <a:endParaRPr/>
          </a:p>
        </p:txBody>
      </p:sp>
      <p:pic>
        <p:nvPicPr>
          <p:cNvPr id="175" name="Google Shape;175;p5"/>
          <p:cNvPicPr preferRelativeResize="0"/>
          <p:nvPr>
            <p:ph idx="1" type="body"/>
          </p:nvPr>
        </p:nvPicPr>
        <p:blipFill rotWithShape="1">
          <a:blip r:embed="rId3">
            <a:alphaModFix/>
          </a:blip>
          <a:srcRect b="0" l="0" r="0" t="0"/>
          <a:stretch/>
        </p:blipFill>
        <p:spPr>
          <a:xfrm>
            <a:off x="1578280" y="-723905"/>
            <a:ext cx="7123759" cy="758190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6"/>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Balance sheet</a:t>
            </a:r>
            <a:endParaRPr/>
          </a:p>
        </p:txBody>
      </p:sp>
      <p:pic>
        <p:nvPicPr>
          <p:cNvPr id="181" name="Google Shape;181;p6"/>
          <p:cNvPicPr preferRelativeResize="0"/>
          <p:nvPr>
            <p:ph idx="1" type="body"/>
          </p:nvPr>
        </p:nvPicPr>
        <p:blipFill rotWithShape="1">
          <a:blip r:embed="rId3">
            <a:alphaModFix/>
          </a:blip>
          <a:srcRect b="0" l="0" r="0" t="0"/>
          <a:stretch/>
        </p:blipFill>
        <p:spPr>
          <a:xfrm>
            <a:off x="1594114" y="1459150"/>
            <a:ext cx="7229043" cy="495769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7"/>
          <p:cNvSpPr txBox="1"/>
          <p:nvPr>
            <p:ph type="title"/>
          </p:nvPr>
        </p:nvSpPr>
        <p:spPr>
          <a:xfrm>
            <a:off x="812800" y="609600"/>
            <a:ext cx="8463617" cy="8046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THE PROFIT AND LOSS ACCOUNT</a:t>
            </a:r>
            <a:endParaRPr/>
          </a:p>
        </p:txBody>
      </p:sp>
      <p:sp>
        <p:nvSpPr>
          <p:cNvPr id="187" name="Google Shape;187;p7"/>
          <p:cNvSpPr txBox="1"/>
          <p:nvPr>
            <p:ph idx="1" type="body"/>
          </p:nvPr>
        </p:nvSpPr>
        <p:spPr>
          <a:xfrm>
            <a:off x="1194816" y="1658112"/>
            <a:ext cx="7620000" cy="438325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The </a:t>
            </a:r>
            <a:r>
              <a:rPr i="1" lang="en-US"/>
              <a:t>profit and loss account </a:t>
            </a:r>
            <a:r>
              <a:rPr lang="en-US"/>
              <a:t>shows how much money has been received and how much has been spent in a given period – usually the organization’s financial year.</a:t>
            </a:r>
            <a:endParaRPr/>
          </a:p>
          <a:p>
            <a:pPr indent="0" lvl="0" marL="0" rtl="0" algn="l">
              <a:spcBef>
                <a:spcPts val="1000"/>
              </a:spcBef>
              <a:spcAft>
                <a:spcPts val="0"/>
              </a:spcAft>
              <a:buSzPts val="1440"/>
              <a:buNone/>
            </a:pPr>
            <a:r>
              <a:rPr lang="en-US"/>
              <a:t>In the case of non-profit-making organizations it is usually called an </a:t>
            </a:r>
            <a:r>
              <a:rPr i="1" lang="en-US"/>
              <a:t>income and expenditure </a:t>
            </a:r>
            <a:r>
              <a:rPr lang="en-US"/>
              <a:t>account.</a:t>
            </a:r>
            <a:endParaRPr/>
          </a:p>
          <a:p>
            <a:pPr indent="0" lvl="0" marL="0" rtl="0" algn="l">
              <a:spcBef>
                <a:spcPts val="1000"/>
              </a:spcBef>
              <a:spcAft>
                <a:spcPts val="0"/>
              </a:spcAft>
              <a:buSzPts val="144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8"/>
          <p:cNvSpPr txBox="1"/>
          <p:nvPr>
            <p:ph type="title"/>
          </p:nvPr>
        </p:nvSpPr>
        <p:spPr>
          <a:xfrm>
            <a:off x="812800" y="21973"/>
            <a:ext cx="8463617" cy="573024"/>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Trebuchet MS"/>
              <a:buNone/>
            </a:pPr>
            <a:r>
              <a:rPr lang="en-US"/>
              <a:t>Profit and Loss Account</a:t>
            </a:r>
            <a:endParaRPr/>
          </a:p>
        </p:txBody>
      </p:sp>
      <p:pic>
        <p:nvPicPr>
          <p:cNvPr id="193" name="Google Shape;193;p8"/>
          <p:cNvPicPr preferRelativeResize="0"/>
          <p:nvPr>
            <p:ph idx="1" type="body"/>
          </p:nvPr>
        </p:nvPicPr>
        <p:blipFill rotWithShape="1">
          <a:blip r:embed="rId3">
            <a:alphaModFix/>
          </a:blip>
          <a:srcRect b="0" l="0" r="0" t="0"/>
          <a:stretch/>
        </p:blipFill>
        <p:spPr>
          <a:xfrm>
            <a:off x="2003934" y="516086"/>
            <a:ext cx="6738622" cy="620381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9"/>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Profit loss account</a:t>
            </a:r>
            <a:endParaRPr/>
          </a:p>
        </p:txBody>
      </p:sp>
      <p:pic>
        <p:nvPicPr>
          <p:cNvPr id="200" name="Google Shape;200;p9"/>
          <p:cNvPicPr preferRelativeResize="0"/>
          <p:nvPr>
            <p:ph idx="1" type="body"/>
          </p:nvPr>
        </p:nvPicPr>
        <p:blipFill rotWithShape="1">
          <a:blip r:embed="rId3">
            <a:alphaModFix/>
          </a:blip>
          <a:srcRect b="0" l="0" r="0" t="0"/>
          <a:stretch/>
        </p:blipFill>
        <p:spPr>
          <a:xfrm>
            <a:off x="1085088" y="1499616"/>
            <a:ext cx="7680960" cy="496214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0"/>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Income expenditure account</a:t>
            </a:r>
            <a:endParaRPr/>
          </a:p>
        </p:txBody>
      </p:sp>
      <p:pic>
        <p:nvPicPr>
          <p:cNvPr id="206" name="Google Shape;206;p10"/>
          <p:cNvPicPr preferRelativeResize="0"/>
          <p:nvPr>
            <p:ph idx="1" type="body"/>
          </p:nvPr>
        </p:nvPicPr>
        <p:blipFill rotWithShape="1">
          <a:blip r:embed="rId3">
            <a:alphaModFix/>
          </a:blip>
          <a:srcRect b="0" l="0" r="0" t="0"/>
          <a:stretch/>
        </p:blipFill>
        <p:spPr>
          <a:xfrm>
            <a:off x="545123" y="1178170"/>
            <a:ext cx="8086813" cy="567983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1"/>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THE CASH FLOW STATEMENT</a:t>
            </a:r>
            <a:endParaRPr/>
          </a:p>
        </p:txBody>
      </p:sp>
      <p:sp>
        <p:nvSpPr>
          <p:cNvPr id="212" name="Google Shape;212;p11"/>
          <p:cNvSpPr txBox="1"/>
          <p:nvPr>
            <p:ph idx="1" type="body"/>
          </p:nvPr>
        </p:nvSpPr>
        <p:spPr>
          <a:xfrm>
            <a:off x="812799" y="2160590"/>
            <a:ext cx="8463619"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sz="2000"/>
              <a:t>Parents usually investigate about the expenses of their kids. Often during childhood we were asked for where we spent our money. If we bought any thing we were asked from where did the money come.</a:t>
            </a:r>
            <a:endParaRPr/>
          </a:p>
          <a:p>
            <a:pPr indent="0" lvl="0" marL="0" rtl="0" algn="l">
              <a:spcBef>
                <a:spcPts val="1000"/>
              </a:spcBef>
              <a:spcAft>
                <a:spcPts val="0"/>
              </a:spcAft>
              <a:buSzPts val="1920"/>
              <a:buNone/>
            </a:pPr>
            <a:r>
              <a:rPr lang="en-US" sz="2400"/>
              <a:t>Thus creating a flow “from where to where” these accounts show cash flow.</a:t>
            </a:r>
            <a:endParaRPr/>
          </a:p>
          <a:p>
            <a:pPr indent="0" lvl="0" marL="0" rtl="0" algn="l">
              <a:spcBef>
                <a:spcPts val="1000"/>
              </a:spcBef>
              <a:spcAft>
                <a:spcPts val="0"/>
              </a:spcAft>
              <a:buSzPts val="1920"/>
              <a:buNone/>
            </a:pPr>
            <a:r>
              <a:rPr lang="en-US" sz="2400"/>
              <a:t>The link that ties the balance sheet and the profit and loss account to the capital expenditure is the cash flow statement.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2"/>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Cash flow</a:t>
            </a:r>
            <a:endParaRPr/>
          </a:p>
        </p:txBody>
      </p:sp>
      <p:pic>
        <p:nvPicPr>
          <p:cNvPr id="218" name="Google Shape;218;p12"/>
          <p:cNvPicPr preferRelativeResize="0"/>
          <p:nvPr>
            <p:ph idx="1" type="body"/>
          </p:nvPr>
        </p:nvPicPr>
        <p:blipFill rotWithShape="1">
          <a:blip r:embed="rId3">
            <a:alphaModFix/>
          </a:blip>
          <a:srcRect b="0" l="0" r="0" t="0"/>
          <a:stretch/>
        </p:blipFill>
        <p:spPr>
          <a:xfrm>
            <a:off x="1133856" y="1490028"/>
            <a:ext cx="7360918" cy="456939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3"/>
          <p:cNvSpPr txBox="1"/>
          <p:nvPr>
            <p:ph type="title"/>
          </p:nvPr>
        </p:nvSpPr>
        <p:spPr>
          <a:xfrm>
            <a:off x="812800" y="609600"/>
            <a:ext cx="8463617" cy="81686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Cash Flow</a:t>
            </a:r>
            <a:endParaRPr/>
          </a:p>
        </p:txBody>
      </p:sp>
      <p:pic>
        <p:nvPicPr>
          <p:cNvPr id="224" name="Google Shape;224;p13"/>
          <p:cNvPicPr preferRelativeResize="0"/>
          <p:nvPr>
            <p:ph idx="1" type="body"/>
          </p:nvPr>
        </p:nvPicPr>
        <p:blipFill rotWithShape="1">
          <a:blip r:embed="rId3">
            <a:alphaModFix/>
          </a:blip>
          <a:srcRect b="0" l="0" r="0" t="0"/>
          <a:stretch/>
        </p:blipFill>
        <p:spPr>
          <a:xfrm>
            <a:off x="2097024" y="1427162"/>
            <a:ext cx="5554878" cy="50711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4"/>
          <p:cNvSpPr txBox="1"/>
          <p:nvPr>
            <p:ph type="title"/>
          </p:nvPr>
        </p:nvSpPr>
        <p:spPr>
          <a:xfrm>
            <a:off x="812799" y="4800600"/>
            <a:ext cx="8463619" cy="56673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2400"/>
              <a:buFont typeface="Trebuchet MS"/>
              <a:buNone/>
            </a:pPr>
            <a:r>
              <a:t/>
            </a:r>
            <a:endParaRPr/>
          </a:p>
        </p:txBody>
      </p:sp>
      <p:pic>
        <p:nvPicPr>
          <p:cNvPr id="230" name="Google Shape;230;p14"/>
          <p:cNvPicPr preferRelativeResize="0"/>
          <p:nvPr>
            <p:ph idx="2" type="pic"/>
          </p:nvPr>
        </p:nvPicPr>
        <p:blipFill rotWithShape="1">
          <a:blip r:embed="rId3">
            <a:alphaModFix/>
          </a:blip>
          <a:srcRect b="4945" l="0" r="0" t="4946"/>
          <a:stretch/>
        </p:blipFill>
        <p:spPr>
          <a:xfrm>
            <a:off x="812800" y="684050"/>
            <a:ext cx="8462963" cy="5095875"/>
          </a:xfrm>
          <a:prstGeom prst="rect">
            <a:avLst/>
          </a:prstGeom>
          <a:noFill/>
          <a:ln>
            <a:noFill/>
          </a:ln>
        </p:spPr>
      </p:pic>
      <p:sp>
        <p:nvSpPr>
          <p:cNvPr id="231" name="Google Shape;231;p14"/>
          <p:cNvSpPr txBox="1"/>
          <p:nvPr>
            <p:ph idx="1" type="body"/>
          </p:nvPr>
        </p:nvSpPr>
        <p:spPr>
          <a:xfrm>
            <a:off x="879705" y="5813378"/>
            <a:ext cx="8463619" cy="67402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960"/>
              <a:buNone/>
            </a:pPr>
            <a:r>
              <a:rPr i="1" lang="en-US"/>
              <a:t>Sources and destinations of cash flows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5"/>
          <p:cNvSpPr txBox="1"/>
          <p:nvPr>
            <p:ph type="title"/>
          </p:nvPr>
        </p:nvSpPr>
        <p:spPr>
          <a:xfrm>
            <a:off x="812800" y="609600"/>
            <a:ext cx="8463617" cy="914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b="1" lang="en-US"/>
              <a:t>THE OVERALL PICTURE</a:t>
            </a:r>
            <a:endParaRPr/>
          </a:p>
        </p:txBody>
      </p:sp>
      <p:sp>
        <p:nvSpPr>
          <p:cNvPr id="237" name="Google Shape;237;p15"/>
          <p:cNvSpPr txBox="1"/>
          <p:nvPr>
            <p:ph idx="1" type="body"/>
          </p:nvPr>
        </p:nvSpPr>
        <p:spPr>
          <a:xfrm>
            <a:off x="1365505" y="1819214"/>
            <a:ext cx="5986272" cy="38807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40"/>
              <a:buNone/>
            </a:pPr>
            <a:r>
              <a:rPr lang="en-US"/>
              <a:t>The balance sheet, the profit and loss account, and the cash flow statement can none of them be understood or interpreted in isolation. Their relationship to each other needs to be understood and they need to be looked at together when assessing the financial state of a company.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id="242" name="Google Shape;242;p16"/>
          <p:cNvPicPr preferRelativeResize="0"/>
          <p:nvPr/>
        </p:nvPicPr>
        <p:blipFill rotWithShape="1">
          <a:blip r:embed="rId3">
            <a:alphaModFix/>
          </a:blip>
          <a:srcRect b="0" l="0" r="0" t="0"/>
          <a:stretch/>
        </p:blipFill>
        <p:spPr>
          <a:xfrm>
            <a:off x="992458" y="0"/>
            <a:ext cx="9144000" cy="685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7"/>
          <p:cNvSpPr txBox="1"/>
          <p:nvPr>
            <p:ph type="title"/>
          </p:nvPr>
        </p:nvSpPr>
        <p:spPr>
          <a:xfrm>
            <a:off x="812800" y="633984"/>
            <a:ext cx="8463617" cy="123139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i="1" lang="en-US"/>
              <a:t>The relationship between the three financial statements</a:t>
            </a:r>
            <a:endParaRPr/>
          </a:p>
        </p:txBody>
      </p:sp>
      <p:pic>
        <p:nvPicPr>
          <p:cNvPr id="248" name="Google Shape;248;p17"/>
          <p:cNvPicPr preferRelativeResize="0"/>
          <p:nvPr>
            <p:ph idx="1" type="body"/>
          </p:nvPr>
        </p:nvPicPr>
        <p:blipFill rotWithShape="1">
          <a:blip r:embed="rId3">
            <a:alphaModFix/>
          </a:blip>
          <a:srcRect b="0" l="0" r="0" t="0"/>
          <a:stretch/>
        </p:blipFill>
        <p:spPr>
          <a:xfrm>
            <a:off x="1838053" y="2160588"/>
            <a:ext cx="6412457" cy="388143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8"/>
          <p:cNvSpPr txBox="1"/>
          <p:nvPr>
            <p:ph type="title"/>
          </p:nvPr>
        </p:nvSpPr>
        <p:spPr>
          <a:xfrm>
            <a:off x="812800" y="609600"/>
            <a:ext cx="8463617" cy="1320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3600"/>
              <a:buFont typeface="Trebuchet MS"/>
              <a:buNone/>
            </a:pPr>
            <a:r>
              <a:rPr lang="en-US"/>
              <a:t>Some questions</a:t>
            </a:r>
            <a:endParaRPr/>
          </a:p>
        </p:txBody>
      </p:sp>
      <p:sp>
        <p:nvSpPr>
          <p:cNvPr id="254" name="Google Shape;254;p18"/>
          <p:cNvSpPr txBox="1"/>
          <p:nvPr>
            <p:ph idx="1" type="body"/>
          </p:nvPr>
        </p:nvSpPr>
        <p:spPr>
          <a:xfrm>
            <a:off x="812799" y="1463040"/>
            <a:ext cx="8849361" cy="486156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920"/>
              <a:buChar char="►"/>
            </a:pPr>
            <a:r>
              <a:rPr b="1" lang="en-US" sz="2400">
                <a:solidFill>
                  <a:schemeClr val="dk1"/>
                </a:solidFill>
              </a:rPr>
              <a:t>What is the difference between current assets and non-current assets?</a:t>
            </a:r>
            <a:endParaRPr/>
          </a:p>
          <a:p>
            <a:pPr indent="-342900" lvl="0" marL="342900" rtl="0" algn="l">
              <a:spcBef>
                <a:spcPts val="1000"/>
              </a:spcBef>
              <a:spcAft>
                <a:spcPts val="0"/>
              </a:spcAft>
              <a:buSzPts val="1920"/>
              <a:buChar char="►"/>
            </a:pPr>
            <a:r>
              <a:rPr b="1" lang="en-US" sz="2400">
                <a:solidFill>
                  <a:schemeClr val="dk1"/>
                </a:solidFill>
              </a:rPr>
              <a:t>Which financial statement can I find noncurrent assets on?</a:t>
            </a:r>
            <a:endParaRPr/>
          </a:p>
          <a:p>
            <a:pPr indent="-342900" lvl="0" marL="342900" rtl="0" algn="l">
              <a:spcBef>
                <a:spcPts val="1000"/>
              </a:spcBef>
              <a:spcAft>
                <a:spcPts val="0"/>
              </a:spcAft>
              <a:buSzPts val="1920"/>
              <a:buChar char="►"/>
            </a:pPr>
            <a:r>
              <a:rPr b="1" lang="en-US" sz="2400">
                <a:solidFill>
                  <a:schemeClr val="dk1"/>
                </a:solidFill>
              </a:rPr>
              <a:t>On which financial statements does a company report its long-term debt?</a:t>
            </a:r>
            <a:endParaRPr/>
          </a:p>
          <a:p>
            <a:pPr indent="-342900" lvl="0" marL="342900" rtl="0" algn="l">
              <a:spcBef>
                <a:spcPts val="1000"/>
              </a:spcBef>
              <a:spcAft>
                <a:spcPts val="0"/>
              </a:spcAft>
              <a:buSzPts val="1920"/>
              <a:buChar char="►"/>
            </a:pPr>
            <a:r>
              <a:rPr b="1" lang="en-US" sz="2400">
                <a:solidFill>
                  <a:schemeClr val="dk1"/>
                </a:solidFill>
              </a:rPr>
              <a:t>What items on the balance sheet are most important in fundamental analysis?</a:t>
            </a:r>
            <a:endParaRPr/>
          </a:p>
          <a:p>
            <a:pPr indent="-342900" lvl="0" marL="342900" rtl="0" algn="l">
              <a:spcBef>
                <a:spcPts val="1000"/>
              </a:spcBef>
              <a:spcAft>
                <a:spcPts val="0"/>
              </a:spcAft>
              <a:buSzPts val="1920"/>
              <a:buChar char="►"/>
            </a:pPr>
            <a:r>
              <a:rPr b="1" lang="en-US" sz="2400">
                <a:solidFill>
                  <a:schemeClr val="dk1"/>
                </a:solidFill>
              </a:rPr>
              <a:t>What are some common examples of noncurrent assets?</a:t>
            </a:r>
            <a:endParaRPr b="1">
              <a:solidFill>
                <a:schemeClr val="dk1"/>
              </a:solidFill>
            </a:endParaRPr>
          </a:p>
          <a:p>
            <a:pPr indent="-251459" lvl="0" marL="342900" rtl="0" algn="l">
              <a:spcBef>
                <a:spcPts val="1000"/>
              </a:spcBef>
              <a:spcAft>
                <a:spcPts val="0"/>
              </a:spcAft>
              <a:buSzPts val="1440"/>
              <a:buNone/>
            </a:pPr>
            <a:r>
              <a:t/>
            </a:r>
            <a:endParaRPr b="1">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2015-08-31T04:34:19Z</dcterms:created>
  <dc:creator>SHAHAR BANO</dc:creator>
</cp:coreProperties>
</file>