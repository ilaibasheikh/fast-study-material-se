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72" r:id="rId2"/>
    <p:sldId id="258" r:id="rId3"/>
    <p:sldId id="259" r:id="rId4"/>
    <p:sldId id="271" r:id="rId5"/>
    <p:sldId id="260" r:id="rId6"/>
    <p:sldId id="261" r:id="rId7"/>
    <p:sldId id="262" r:id="rId8"/>
    <p:sldId id="263" r:id="rId9"/>
    <p:sldId id="273" r:id="rId10"/>
    <p:sldId id="264" r:id="rId11"/>
    <p:sldId id="265" r:id="rId12"/>
    <p:sldId id="266" r:id="rId13"/>
    <p:sldId id="267" r:id="rId14"/>
    <p:sldId id="268" r:id="rId15"/>
    <p:sldId id="269" r:id="rId16"/>
    <p:sldId id="270"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6" autoAdjust="0"/>
    <p:restoredTop sz="82003" autoAdjust="0"/>
  </p:normalViewPr>
  <p:slideViewPr>
    <p:cSldViewPr>
      <p:cViewPr varScale="1">
        <p:scale>
          <a:sx n="93" d="100"/>
          <a:sy n="93" d="100"/>
        </p:scale>
        <p:origin x="2200" y="200"/>
      </p:cViewPr>
      <p:guideLst>
        <p:guide orient="horz" pos="2160"/>
        <p:guide pos="2880"/>
      </p:guideLst>
    </p:cSldViewPr>
  </p:slideViewPr>
  <p:outlineViewPr>
    <p:cViewPr>
      <p:scale>
        <a:sx n="33" d="100"/>
        <a:sy n="33" d="100"/>
      </p:scale>
      <p:origin x="0" y="601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3AA2CC-9E0E-473C-9772-F01CAAC2ABE0}" type="datetimeFigureOut">
              <a:rPr lang="en-US" smtClean="0"/>
              <a:pPr/>
              <a:t>9/15/25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5A926B-F2A7-48BD-B115-72564954C551}" type="slidenum">
              <a:rPr lang="en-US" smtClean="0"/>
              <a:pPr/>
              <a:t>‹#›</a:t>
            </a:fld>
            <a:endParaRPr lang="en-US" dirty="0"/>
          </a:p>
        </p:txBody>
      </p:sp>
    </p:spTree>
    <p:extLst>
      <p:ext uri="{BB962C8B-B14F-4D97-AF65-F5344CB8AC3E}">
        <p14:creationId xmlns:p14="http://schemas.microsoft.com/office/powerpoint/2010/main" val="1781125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cooperative</a:t>
            </a:r>
            <a:r>
              <a:rPr lang="en-US" sz="1200" b="0" i="0" kern="1200" dirty="0">
                <a:solidFill>
                  <a:schemeClr val="tx1"/>
                </a:solidFill>
                <a:effectLst/>
                <a:latin typeface="+mn-lt"/>
                <a:ea typeface="+mn-ea"/>
                <a:cs typeface="+mn-cs"/>
              </a:rPr>
              <a:t> is a member-owned </a:t>
            </a:r>
            <a:r>
              <a:rPr lang="en-US" sz="1200" b="1" i="0" kern="1200" dirty="0">
                <a:solidFill>
                  <a:schemeClr val="tx1"/>
                </a:solidFill>
                <a:effectLst/>
                <a:latin typeface="+mn-lt"/>
                <a:ea typeface="+mn-ea"/>
                <a:cs typeface="+mn-cs"/>
              </a:rPr>
              <a:t>business</a:t>
            </a:r>
            <a:r>
              <a:rPr lang="en-US" sz="1200" b="0" i="0" kern="1200" dirty="0">
                <a:solidFill>
                  <a:schemeClr val="tx1"/>
                </a:solidFill>
                <a:effectLst/>
                <a:latin typeface="+mn-lt"/>
                <a:ea typeface="+mn-ea"/>
                <a:cs typeface="+mn-cs"/>
              </a:rPr>
              <a:t> organization with at least five shareholders, all of whom have equal voting rights regardless of their level of involvement or investment. However, every shareholder is expected to help run the </a:t>
            </a:r>
            <a:r>
              <a:rPr lang="en-US" sz="1200" b="1" i="0" kern="1200" dirty="0">
                <a:solidFill>
                  <a:schemeClr val="tx1"/>
                </a:solidFill>
                <a:effectLst/>
                <a:latin typeface="+mn-lt"/>
                <a:ea typeface="+mn-ea"/>
                <a:cs typeface="+mn-cs"/>
              </a:rPr>
              <a:t>cooperative</a:t>
            </a:r>
            <a:r>
              <a:rPr lang="en-US" sz="1200" b="0" i="0" kern="1200" dirty="0">
                <a:solidFill>
                  <a:schemeClr val="tx1"/>
                </a:solidFill>
                <a:effectLst/>
                <a:latin typeface="+mn-lt"/>
                <a:ea typeface="+mn-ea"/>
                <a:cs typeface="+mn-cs"/>
              </a:rPr>
              <a:t>.</a:t>
            </a:r>
          </a:p>
          <a:p>
            <a:r>
              <a:rPr lang="en-US" sz="1200" b="1" i="1" kern="1200" dirty="0">
                <a:solidFill>
                  <a:schemeClr val="tx1"/>
                </a:solidFill>
                <a:effectLst/>
                <a:latin typeface="+mn-lt"/>
                <a:ea typeface="+mn-ea"/>
                <a:cs typeface="+mn-cs"/>
              </a:rPr>
              <a:t>Advantage</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It is usually inexpensive to register a cooperative.</a:t>
            </a:r>
          </a:p>
          <a:p>
            <a:r>
              <a:rPr lang="en-US" sz="1200" b="0" i="0" kern="1200" dirty="0">
                <a:solidFill>
                  <a:schemeClr val="tx1"/>
                </a:solidFill>
                <a:effectLst/>
                <a:latin typeface="+mn-lt"/>
                <a:ea typeface="+mn-ea"/>
                <a:cs typeface="+mn-cs"/>
              </a:rPr>
              <a:t>All members and shareholders must be active in the cooperative.</a:t>
            </a:r>
          </a:p>
          <a:p>
            <a:r>
              <a:rPr lang="en-US" sz="1200" b="0" i="0" kern="1200" dirty="0">
                <a:solidFill>
                  <a:schemeClr val="tx1"/>
                </a:solidFill>
                <a:effectLst/>
                <a:latin typeface="+mn-lt"/>
                <a:ea typeface="+mn-ea"/>
                <a:cs typeface="+mn-cs"/>
              </a:rPr>
              <a:t>Shareholders have an equal vote at general meetings regardless of their shareholding or involvement in the cooperative.</a:t>
            </a:r>
          </a:p>
          <a:p>
            <a:r>
              <a:rPr lang="en-US" sz="1200" b="0" i="0" kern="1200" dirty="0">
                <a:solidFill>
                  <a:schemeClr val="tx1"/>
                </a:solidFill>
                <a:effectLst/>
                <a:latin typeface="+mn-lt"/>
                <a:ea typeface="+mn-ea"/>
                <a:cs typeface="+mn-cs"/>
              </a:rPr>
              <a:t>Members, other than directors, can be under 18, though these members cannot stand for office and do not have the right to vote.</a:t>
            </a:r>
          </a:p>
          <a:p>
            <a:r>
              <a:rPr lang="en-US" sz="1200" b="0" i="0" kern="1200" dirty="0">
                <a:solidFill>
                  <a:schemeClr val="tx1"/>
                </a:solidFill>
                <a:effectLst/>
                <a:latin typeface="+mn-lt"/>
                <a:ea typeface="+mn-ea"/>
                <a:cs typeface="+mn-cs"/>
              </a:rPr>
              <a:t>Shareholders, directors, managers and employees have no responsibility for debts of the cooperative unless those debts are caused recklessly, negligently or fraudulently.</a:t>
            </a:r>
          </a:p>
          <a:p>
            <a:r>
              <a:rPr lang="en-US" sz="1200" b="0" i="0" kern="1200" dirty="0">
                <a:solidFill>
                  <a:schemeClr val="tx1"/>
                </a:solidFill>
                <a:effectLst/>
                <a:latin typeface="+mn-lt"/>
                <a:ea typeface="+mn-ea"/>
                <a:cs typeface="+mn-cs"/>
              </a:rPr>
              <a:t>A cooperative is owned and controlled by its members, rather than its investors.</a:t>
            </a:r>
          </a:p>
          <a:p>
            <a:r>
              <a:rPr lang="en-US" sz="1200" b="1" i="1" kern="1200" dirty="0">
                <a:solidFill>
                  <a:schemeClr val="tx1"/>
                </a:solidFill>
                <a:effectLst/>
                <a:latin typeface="+mn-lt"/>
                <a:ea typeface="+mn-ea"/>
                <a:cs typeface="+mn-cs"/>
              </a:rPr>
              <a:t>Disadvantages</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As cooperatives are formed to provide a service to their members rather than a return on investment, it may be difficult to attract potential members/shareholders whose primary interest is a financial return.</a:t>
            </a:r>
          </a:p>
          <a:p>
            <a:r>
              <a:rPr lang="en-US" sz="1200" b="0" i="0" kern="1200" dirty="0">
                <a:solidFill>
                  <a:schemeClr val="tx1"/>
                </a:solidFill>
                <a:effectLst/>
                <a:latin typeface="+mn-lt"/>
                <a:ea typeface="+mn-ea"/>
                <a:cs typeface="+mn-cs"/>
              </a:rPr>
              <a:t>There must be a minimum of five members.</a:t>
            </a:r>
          </a:p>
          <a:p>
            <a:r>
              <a:rPr lang="en-US" sz="1200" b="0" i="0" kern="1200" dirty="0">
                <a:solidFill>
                  <a:schemeClr val="tx1"/>
                </a:solidFill>
                <a:effectLst/>
                <a:latin typeface="+mn-lt"/>
                <a:ea typeface="+mn-ea"/>
                <a:cs typeface="+mn-cs"/>
              </a:rPr>
              <a:t>There is a usually a limited distribution of surplus (profits) to members/shareholders and some cooperatives may prohibit the distribution of any surplus to members/shareholders.</a:t>
            </a:r>
          </a:p>
          <a:p>
            <a:r>
              <a:rPr lang="en-US" sz="1200" b="0" i="0" kern="1200" dirty="0">
                <a:solidFill>
                  <a:schemeClr val="tx1"/>
                </a:solidFill>
                <a:effectLst/>
                <a:latin typeface="+mn-lt"/>
                <a:ea typeface="+mn-ea"/>
                <a:cs typeface="+mn-cs"/>
              </a:rPr>
              <a:t>Even though some shareholders may have a greater involvement or investment than others, they still only get one vote.</a:t>
            </a:r>
          </a:p>
          <a:p>
            <a:r>
              <a:rPr lang="en-US" sz="1200" b="0" i="0" kern="1200" dirty="0">
                <a:solidFill>
                  <a:schemeClr val="tx1"/>
                </a:solidFill>
                <a:effectLst/>
                <a:latin typeface="+mn-lt"/>
                <a:ea typeface="+mn-ea"/>
                <a:cs typeface="+mn-cs"/>
              </a:rPr>
              <a:t>Active and direct involvement of members/shareholders in the cooperative.</a:t>
            </a:r>
          </a:p>
          <a:p>
            <a:r>
              <a:rPr lang="en-US" sz="1200" b="0" i="0" kern="1200" dirty="0">
                <a:solidFill>
                  <a:schemeClr val="tx1"/>
                </a:solidFill>
                <a:effectLst/>
                <a:latin typeface="+mn-lt"/>
                <a:ea typeface="+mn-ea"/>
                <a:cs typeface="+mn-cs"/>
              </a:rPr>
              <a:t>Requires continuous cooperative education programs for members.</a:t>
            </a:r>
          </a:p>
          <a:p>
            <a:br>
              <a:rPr lang="en-US" sz="1200" b="0" i="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D65A926B-F2A7-48BD-B115-72564954C551}" type="slidenum">
              <a:rPr lang="en-US" smtClean="0"/>
              <a:pPr/>
              <a:t>8</a:t>
            </a:fld>
            <a:endParaRPr lang="en-US" dirty="0"/>
          </a:p>
        </p:txBody>
      </p:sp>
    </p:spTree>
    <p:extLst>
      <p:ext uri="{BB962C8B-B14F-4D97-AF65-F5344CB8AC3E}">
        <p14:creationId xmlns:p14="http://schemas.microsoft.com/office/powerpoint/2010/main" val="3473948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Directors must act in good faith and for the benefit of the company.</a:t>
            </a:r>
          </a:p>
          <a:p>
            <a:r>
              <a:rPr lang="en-US" sz="1200" b="0" i="0" u="none" strike="noStrike" kern="1200" baseline="0" dirty="0">
                <a:solidFill>
                  <a:schemeClr val="tx1"/>
                </a:solidFill>
                <a:latin typeface="+mn-lt"/>
                <a:ea typeface="+mn-ea"/>
                <a:cs typeface="+mn-cs"/>
              </a:rPr>
              <a:t>Suppose, for example, that you are a director of a small company that writes</a:t>
            </a:r>
          </a:p>
          <a:p>
            <a:r>
              <a:rPr lang="en-US" sz="1200" b="0" i="0" u="none" strike="noStrike" kern="1200" baseline="0" dirty="0">
                <a:solidFill>
                  <a:schemeClr val="tx1"/>
                </a:solidFill>
                <a:latin typeface="+mn-lt"/>
                <a:ea typeface="+mn-ea"/>
                <a:cs typeface="+mn-cs"/>
              </a:rPr>
              <a:t>software and that someone approaches you to have some software written. If</a:t>
            </a:r>
          </a:p>
          <a:p>
            <a:r>
              <a:rPr lang="en-US" sz="1200" b="0" i="0" u="none" strike="noStrike" kern="1200" baseline="0" dirty="0">
                <a:solidFill>
                  <a:schemeClr val="tx1"/>
                </a:solidFill>
                <a:latin typeface="+mn-lt"/>
                <a:ea typeface="+mn-ea"/>
                <a:cs typeface="+mn-cs"/>
              </a:rPr>
              <a:t>you decided that you could do this yourself in your spare time rather than</a:t>
            </a:r>
          </a:p>
          <a:p>
            <a:r>
              <a:rPr lang="en-US" sz="1200" b="0" i="0" u="none" strike="noStrike" kern="1200" baseline="0" dirty="0">
                <a:solidFill>
                  <a:schemeClr val="tx1"/>
                </a:solidFill>
                <a:latin typeface="+mn-lt"/>
                <a:ea typeface="+mn-ea"/>
                <a:cs typeface="+mn-cs"/>
              </a:rPr>
              <a:t>having it written by the company, you would not be considered to have acted</a:t>
            </a:r>
          </a:p>
          <a:p>
            <a:r>
              <a:rPr lang="en-US" sz="1200" b="0" i="0" u="none" strike="noStrike" kern="1200" baseline="0" dirty="0">
                <a:solidFill>
                  <a:schemeClr val="tx1"/>
                </a:solidFill>
                <a:latin typeface="+mn-lt"/>
                <a:ea typeface="+mn-ea"/>
                <a:cs typeface="+mn-cs"/>
              </a:rPr>
              <a:t>in good faith for the benefit of the company and you could be required to pay</a:t>
            </a:r>
          </a:p>
          <a:p>
            <a:r>
              <a:rPr lang="en-US" sz="1200" b="0" i="0" u="none" strike="noStrike" kern="1200" baseline="0" dirty="0">
                <a:solidFill>
                  <a:schemeClr val="tx1"/>
                </a:solidFill>
                <a:latin typeface="+mn-lt"/>
                <a:ea typeface="+mn-ea"/>
                <a:cs typeface="+mn-cs"/>
              </a:rPr>
              <a:t>the company compensation for the loss of the contract.</a:t>
            </a:r>
          </a:p>
          <a:p>
            <a:r>
              <a:rPr lang="en-US" sz="1200" b="0" i="0" u="none" strike="noStrike" kern="1200" baseline="0" dirty="0">
                <a:solidFill>
                  <a:schemeClr val="tx1"/>
                </a:solidFill>
                <a:latin typeface="+mn-lt"/>
                <a:ea typeface="+mn-ea"/>
                <a:cs typeface="+mn-cs"/>
              </a:rPr>
              <a:t>example, that a director with long experience of purchasing computers</a:t>
            </a:r>
          </a:p>
          <a:p>
            <a:r>
              <a:rPr lang="en-US" sz="1200" b="0" i="0" u="none" strike="noStrike" kern="1200" baseline="0" dirty="0">
                <a:solidFill>
                  <a:schemeClr val="tx1"/>
                </a:solidFill>
                <a:latin typeface="+mn-lt"/>
                <a:ea typeface="+mn-ea"/>
                <a:cs typeface="+mn-cs"/>
              </a:rPr>
              <a:t>who signed a contract to buy a computer system that was not suitable for the use the company intended to make of it might be ordered by a court to</a:t>
            </a:r>
          </a:p>
          <a:p>
            <a:r>
              <a:rPr lang="en-US" sz="1200" b="0" i="0" u="none" strike="noStrike" kern="1200" baseline="0" dirty="0">
                <a:solidFill>
                  <a:schemeClr val="tx1"/>
                </a:solidFill>
                <a:latin typeface="+mn-lt"/>
                <a:ea typeface="+mn-ea"/>
                <a:cs typeface="+mn-cs"/>
              </a:rPr>
              <a:t>pay back to the company the cost of the computer. Furthermore, directors</a:t>
            </a:r>
          </a:p>
          <a:p>
            <a:r>
              <a:rPr lang="en-US" sz="1200" b="0" i="0" u="none" strike="noStrike" kern="1200" baseline="0" dirty="0">
                <a:solidFill>
                  <a:schemeClr val="tx1"/>
                </a:solidFill>
                <a:latin typeface="+mn-lt"/>
                <a:ea typeface="+mn-ea"/>
                <a:cs typeface="+mn-cs"/>
              </a:rPr>
              <a:t>must take the same care as an ordinary person might be expected to take on</a:t>
            </a:r>
          </a:p>
          <a:p>
            <a:r>
              <a:rPr lang="en-US" sz="1200" b="0" i="0" u="none" strike="noStrike" kern="1200" baseline="0" dirty="0">
                <a:solidFill>
                  <a:schemeClr val="tx1"/>
                </a:solidFill>
                <a:latin typeface="+mn-lt"/>
                <a:ea typeface="+mn-ea"/>
                <a:cs typeface="+mn-cs"/>
              </a:rPr>
              <a:t>their own behalf.</a:t>
            </a:r>
            <a:endParaRPr lang="en-US" dirty="0"/>
          </a:p>
        </p:txBody>
      </p:sp>
      <p:sp>
        <p:nvSpPr>
          <p:cNvPr id="4" name="Slide Number Placeholder 3"/>
          <p:cNvSpPr>
            <a:spLocks noGrp="1"/>
          </p:cNvSpPr>
          <p:nvPr>
            <p:ph type="sldNum" sz="quarter" idx="10"/>
          </p:nvPr>
        </p:nvSpPr>
        <p:spPr/>
        <p:txBody>
          <a:bodyPr/>
          <a:lstStyle/>
          <a:p>
            <a:fld id="{D65A926B-F2A7-48BD-B115-72564954C551}" type="slidenum">
              <a:rPr lang="en-US" smtClean="0"/>
              <a:pPr/>
              <a:t>15</a:t>
            </a:fld>
            <a:endParaRPr lang="en-US" dirty="0"/>
          </a:p>
        </p:txBody>
      </p:sp>
    </p:spTree>
    <p:extLst>
      <p:ext uri="{BB962C8B-B14F-4D97-AF65-F5344CB8AC3E}">
        <p14:creationId xmlns:p14="http://schemas.microsoft.com/office/powerpoint/2010/main" val="2980334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pPr/>
              <a:t>9/15/25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1452948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pPr/>
              <a:t>9/15/25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5511901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pPr/>
              <a:t>9/15/25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267043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E38DCE-135D-4EBE-85FB-C223B941CFEC}" type="datetimeFigureOut">
              <a:rPr lang="en-US" smtClean="0"/>
              <a:pPr/>
              <a:t>9/15/25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161931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E38DCE-135D-4EBE-85FB-C223B941CFEC}" type="datetimeFigureOut">
              <a:rPr lang="en-US" smtClean="0"/>
              <a:pPr/>
              <a:t>9/15/25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4207935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CE38DCE-135D-4EBE-85FB-C223B941CFEC}" type="datetimeFigureOut">
              <a:rPr lang="en-US" smtClean="0"/>
              <a:pPr/>
              <a:t>9/15/25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1797780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E38DCE-135D-4EBE-85FB-C223B941CFEC}" type="datetimeFigureOut">
              <a:rPr lang="en-US" smtClean="0"/>
              <a:pPr/>
              <a:t>9/15/25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442523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pPr/>
              <a:t>9/15/25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2026651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E38DCE-135D-4EBE-85FB-C223B941CFEC}" type="datetimeFigureOut">
              <a:rPr lang="en-US" smtClean="0"/>
              <a:pPr/>
              <a:t>9/15/25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3701770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pPr/>
              <a:t>9/15/25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3116521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pPr/>
              <a:t>9/15/25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26985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pPr/>
              <a:t>9/15/25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1753000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pPr/>
              <a:t>9/15/25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504464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E38DCE-135D-4EBE-85FB-C223B941CFEC}" type="datetimeFigureOut">
              <a:rPr lang="en-US" smtClean="0"/>
              <a:pPr/>
              <a:t>9/15/25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21185546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pPr/>
              <a:t>9/15/25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30883485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E38DCE-135D-4EBE-85FB-C223B941CFEC}" type="datetimeFigureOut">
              <a:rPr lang="en-US" smtClean="0"/>
              <a:pPr/>
              <a:t>9/15/25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19378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CE38DCE-135D-4EBE-85FB-C223B941CFEC}" type="datetimeFigureOut">
              <a:rPr lang="en-US" smtClean="0"/>
              <a:pPr/>
              <a:t>9/15/25</a:t>
            </a:fld>
            <a:endParaRPr lang="en-US" dirty="0"/>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687143E2-1DA5-4409-AA65-B1353BB3ECA3}" type="slidenum">
              <a:rPr lang="en-US" smtClean="0"/>
              <a:pPr/>
              <a:t>‹#›</a:t>
            </a:fld>
            <a:endParaRPr lang="en-US" dirty="0"/>
          </a:p>
        </p:txBody>
      </p:sp>
    </p:spTree>
    <p:extLst>
      <p:ext uri="{BB962C8B-B14F-4D97-AF65-F5344CB8AC3E}">
        <p14:creationId xmlns:p14="http://schemas.microsoft.com/office/powerpoint/2010/main" val="15678959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4954" y="1752600"/>
            <a:ext cx="6870405" cy="686794"/>
          </a:xfrm>
        </p:spPr>
        <p:txBody>
          <a:bodyPr/>
          <a:lstStyle/>
          <a:p>
            <a:pPr algn="l"/>
            <a:r>
              <a:rPr lang="en-US" sz="2800" b="1" dirty="0"/>
              <a:t>CS4001- Professional Practices in IT</a:t>
            </a:r>
          </a:p>
        </p:txBody>
      </p:sp>
      <p:sp>
        <p:nvSpPr>
          <p:cNvPr id="5" name="Subtitle 4"/>
          <p:cNvSpPr>
            <a:spLocks noGrp="1"/>
          </p:cNvSpPr>
          <p:nvPr>
            <p:ph type="subTitle" idx="1"/>
          </p:nvPr>
        </p:nvSpPr>
        <p:spPr>
          <a:xfrm>
            <a:off x="1130596" y="5486400"/>
            <a:ext cx="5826719" cy="1096899"/>
          </a:xfrm>
        </p:spPr>
        <p:txBody>
          <a:bodyPr/>
          <a:lstStyle/>
          <a:p>
            <a:pPr algn="l"/>
            <a:r>
              <a:rPr lang="en-US" dirty="0"/>
              <a:t>Course Instructor: Anaum Hamid</a:t>
            </a:r>
          </a:p>
          <a:p>
            <a:pPr algn="l"/>
            <a:r>
              <a:rPr lang="en-US" dirty="0"/>
              <a:t>Email address: anaum.hamid@nu.edu.pk</a:t>
            </a:r>
          </a:p>
        </p:txBody>
      </p:sp>
      <p:sp>
        <p:nvSpPr>
          <p:cNvPr id="4" name="TextBox 3"/>
          <p:cNvSpPr txBox="1"/>
          <p:nvPr/>
        </p:nvSpPr>
        <p:spPr>
          <a:xfrm>
            <a:off x="1524000" y="2649020"/>
            <a:ext cx="5826718"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LEGAL FORM OF ORGANIZATIONS</a:t>
            </a:r>
          </a:p>
        </p:txBody>
      </p:sp>
    </p:spTree>
    <p:extLst>
      <p:ext uri="{BB962C8B-B14F-4D97-AF65-F5344CB8AC3E}">
        <p14:creationId xmlns:p14="http://schemas.microsoft.com/office/powerpoint/2010/main" val="3684792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an organization</a:t>
            </a:r>
          </a:p>
        </p:txBody>
      </p:sp>
      <p:sp>
        <p:nvSpPr>
          <p:cNvPr id="3" name="Content Placeholder 2"/>
          <p:cNvSpPr>
            <a:spLocks noGrp="1"/>
          </p:cNvSpPr>
          <p:nvPr>
            <p:ph idx="1"/>
          </p:nvPr>
        </p:nvSpPr>
        <p:spPr/>
        <p:txBody>
          <a:bodyPr>
            <a:normAutofit/>
          </a:bodyPr>
          <a:lstStyle/>
          <a:p>
            <a:r>
              <a:rPr lang="en-US" dirty="0"/>
              <a:t>Introduction</a:t>
            </a:r>
          </a:p>
          <a:p>
            <a:pPr lvl="1"/>
            <a:r>
              <a:rPr lang="en-US" dirty="0"/>
              <a:t>An organization is a group of people working together in a formal way. Legal existence is must for an organization.</a:t>
            </a:r>
          </a:p>
          <a:p>
            <a:pPr marL="914400" lvl="2" indent="0">
              <a:buNone/>
            </a:pPr>
            <a:r>
              <a:rPr lang="en-US" dirty="0"/>
              <a:t>	Examples:</a:t>
            </a:r>
          </a:p>
          <a:p>
            <a:pPr marL="914400" lvl="2" indent="0">
              <a:buNone/>
            </a:pPr>
            <a:r>
              <a:rPr lang="en-US" dirty="0"/>
              <a:t>schools and colleges, hospitals, banks. These all are organizations as people work in these together in an organized way and formal way. </a:t>
            </a:r>
          </a:p>
          <a:p>
            <a:r>
              <a:rPr lang="en-US" dirty="0"/>
              <a:t>we can work for a private company or a government department, both are organizations</a:t>
            </a:r>
          </a:p>
          <a:p>
            <a:r>
              <a:rPr lang="en-US" dirty="0"/>
              <a:t>Even we can set a business and make our own organization </a:t>
            </a:r>
          </a:p>
          <a:p>
            <a:r>
              <a:rPr lang="en-US" dirty="0"/>
              <a:t>Is a jail an organization????????</a:t>
            </a:r>
          </a:p>
          <a:p>
            <a:endParaRPr lang="en-US" dirty="0"/>
          </a:p>
          <a:p>
            <a:pPr lvl="1">
              <a:buNone/>
            </a:pPr>
            <a:endParaRPr lang="en-US" dirty="0"/>
          </a:p>
          <a:p>
            <a:pPr lvl="1"/>
            <a:endParaRPr lang="en-US" dirty="0"/>
          </a:p>
          <a:p>
            <a:pPr lvl="2">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COMMERCIAL ORGANIZATIONS</a:t>
            </a:r>
            <a:endParaRPr lang="en-US" dirty="0"/>
          </a:p>
        </p:txBody>
      </p:sp>
      <p:sp>
        <p:nvSpPr>
          <p:cNvPr id="3" name="Content Placeholder 2"/>
          <p:cNvSpPr>
            <a:spLocks noGrp="1"/>
          </p:cNvSpPr>
          <p:nvPr>
            <p:ph idx="1"/>
          </p:nvPr>
        </p:nvSpPr>
        <p:spPr/>
        <p:txBody>
          <a:bodyPr/>
          <a:lstStyle/>
          <a:p>
            <a:r>
              <a:rPr lang="en-US" dirty="0"/>
              <a:t>People with particular skill set, strategy, resources, or priorities work together to turn a profit.</a:t>
            </a:r>
          </a:p>
          <a:p>
            <a:r>
              <a:rPr lang="en-US" dirty="0"/>
              <a:t>The law offers several different ways of setting up and operating a commercial organization.</a:t>
            </a:r>
          </a:p>
          <a:p>
            <a:pPr lvl="1"/>
            <a:r>
              <a:rPr lang="en-US" dirty="0"/>
              <a:t>Depending on the circumstances, the business may be operated as a </a:t>
            </a:r>
            <a:r>
              <a:rPr lang="en-US" i="1" dirty="0"/>
              <a:t>sole trader, a partnership, a cooperative, or a limited company.</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NON-COMMERCIAL BODIES</a:t>
            </a:r>
            <a:endParaRPr lang="en-US" dirty="0"/>
          </a:p>
        </p:txBody>
      </p:sp>
      <p:sp>
        <p:nvSpPr>
          <p:cNvPr id="3" name="Content Placeholder 2"/>
          <p:cNvSpPr>
            <a:spLocks noGrp="1"/>
          </p:cNvSpPr>
          <p:nvPr>
            <p:ph idx="1"/>
          </p:nvPr>
        </p:nvSpPr>
        <p:spPr/>
        <p:txBody>
          <a:bodyPr>
            <a:normAutofit/>
          </a:bodyPr>
          <a:lstStyle/>
          <a:p>
            <a:r>
              <a:rPr lang="en-US" sz="2400" dirty="0"/>
              <a:t>Non-profiting </a:t>
            </a:r>
          </a:p>
          <a:p>
            <a:r>
              <a:rPr lang="en-US" sz="2400" dirty="0"/>
              <a:t>Staff working as volunteers or nominal pay</a:t>
            </a:r>
          </a:p>
          <a:p>
            <a:r>
              <a:rPr lang="en-US" sz="2400" dirty="0"/>
              <a:t>Charity or Government runs it</a:t>
            </a:r>
          </a:p>
        </p:txBody>
      </p:sp>
    </p:spTree>
    <p:extLst>
      <p:ext uri="{BB962C8B-B14F-4D97-AF65-F5344CB8AC3E}">
        <p14:creationId xmlns:p14="http://schemas.microsoft.com/office/powerpoint/2010/main" val="2936878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Sole trader/ proprietor</a:t>
            </a:r>
          </a:p>
        </p:txBody>
      </p:sp>
      <p:sp>
        <p:nvSpPr>
          <p:cNvPr id="3" name="Content Placeholder 2"/>
          <p:cNvSpPr>
            <a:spLocks noGrp="1"/>
          </p:cNvSpPr>
          <p:nvPr>
            <p:ph idx="1"/>
          </p:nvPr>
        </p:nvSpPr>
        <p:spPr/>
        <p:txBody>
          <a:bodyPr>
            <a:normAutofit/>
          </a:bodyPr>
          <a:lstStyle/>
          <a:p>
            <a:r>
              <a:rPr lang="en-US" dirty="0"/>
              <a:t>A sole trader is an individual who runs their own business. </a:t>
            </a:r>
          </a:p>
          <a:p>
            <a:r>
              <a:rPr lang="en-US" dirty="0"/>
              <a:t>There are no legal formalities attached to becoming a sole trader; you become a sole trader simply by starting to run a business.</a:t>
            </a:r>
          </a:p>
          <a:p>
            <a:r>
              <a:rPr lang="en-US" dirty="0"/>
              <a:t>If the income of your business is large</a:t>
            </a:r>
            <a:r>
              <a:rPr lang="en-US" b="1" dirty="0"/>
              <a:t> </a:t>
            </a:r>
            <a:r>
              <a:rPr lang="en-US" dirty="0"/>
              <a:t>enough, you can get registered with customs and tax, but neither of these is necessary simply in order to become a sole trader.</a:t>
            </a:r>
          </a:p>
          <a:p>
            <a:r>
              <a:rPr lang="en-US" i="1" dirty="0"/>
              <a:t>73% businesses in the US are on this approach.</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Risk for Sole trader</a:t>
            </a:r>
          </a:p>
        </p:txBody>
      </p:sp>
      <p:sp>
        <p:nvSpPr>
          <p:cNvPr id="3" name="Content Placeholder 2"/>
          <p:cNvSpPr>
            <a:spLocks noGrp="1"/>
          </p:cNvSpPr>
          <p:nvPr>
            <p:ph idx="1"/>
          </p:nvPr>
        </p:nvSpPr>
        <p:spPr/>
        <p:txBody>
          <a:bodyPr/>
          <a:lstStyle/>
          <a:p>
            <a:r>
              <a:rPr lang="en-US" dirty="0"/>
              <a:t>A sole trader is personally liable for all the debts of the business so that all the trader’s assets, including the family home, are at risk if the business fails.</a:t>
            </a:r>
          </a:p>
          <a:p>
            <a:r>
              <a:rPr lang="en-US" dirty="0"/>
              <a:t>Personal assets are on risks.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Partnership</a:t>
            </a:r>
          </a:p>
        </p:txBody>
      </p:sp>
      <p:sp>
        <p:nvSpPr>
          <p:cNvPr id="3" name="Content Placeholder 2"/>
          <p:cNvSpPr>
            <a:spLocks noGrp="1"/>
          </p:cNvSpPr>
          <p:nvPr>
            <p:ph idx="1"/>
          </p:nvPr>
        </p:nvSpPr>
        <p:spPr/>
        <p:txBody>
          <a:bodyPr>
            <a:normAutofit fontScale="92500"/>
          </a:bodyPr>
          <a:lstStyle/>
          <a:p>
            <a:r>
              <a:rPr lang="en-US" dirty="0"/>
              <a:t>If a group of people carry on a business with a view to making profits, and the business is not a limited company, then the law will treat them as being in a </a:t>
            </a:r>
            <a:r>
              <a:rPr lang="en-US" i="1" dirty="0"/>
              <a:t>partnership.</a:t>
            </a:r>
          </a:p>
          <a:p>
            <a:r>
              <a:rPr lang="en-US" i="1" dirty="0"/>
              <a:t>7% businesses in the US are on this approach.</a:t>
            </a:r>
          </a:p>
          <a:p>
            <a:r>
              <a:rPr lang="en-US" i="1" dirty="0"/>
              <a:t>Article of partnership</a:t>
            </a:r>
          </a:p>
          <a:p>
            <a:r>
              <a:rPr lang="en-US" i="1" dirty="0"/>
              <a:t>Difficult to liquidate.</a:t>
            </a:r>
          </a:p>
          <a:p>
            <a:r>
              <a:rPr lang="en-US" i="1" dirty="0"/>
              <a:t>Nontransferable. </a:t>
            </a:r>
          </a:p>
          <a:p>
            <a:r>
              <a:rPr lang="en-US" i="1" dirty="0"/>
              <a:t>Partnership agreement dissolve if one of the partner is dead.</a:t>
            </a:r>
          </a:p>
          <a:p>
            <a:r>
              <a:rPr lang="en-US" i="1" dirty="0"/>
              <a:t>Problem factor</a:t>
            </a:r>
          </a:p>
          <a:p>
            <a:pPr lvl="1"/>
            <a:r>
              <a:rPr lang="en-US" i="1" dirty="0"/>
              <a:t>Share rate</a:t>
            </a:r>
          </a:p>
          <a:p>
            <a:pPr lvl="1"/>
            <a:endParaRPr lang="en-US" i="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COOPERATIVES</a:t>
            </a:r>
          </a:p>
        </p:txBody>
      </p:sp>
      <p:sp>
        <p:nvSpPr>
          <p:cNvPr id="3" name="Content Placeholder 2"/>
          <p:cNvSpPr>
            <a:spLocks noGrp="1"/>
          </p:cNvSpPr>
          <p:nvPr>
            <p:ph idx="1"/>
          </p:nvPr>
        </p:nvSpPr>
        <p:spPr/>
        <p:txBody>
          <a:bodyPr/>
          <a:lstStyle/>
          <a:p>
            <a:r>
              <a:rPr lang="en-US" dirty="0"/>
              <a:t>Cooperatives are another way in which an organization can acquire a legal existence. They are important in fields such as agriculture and enjoy a special legal status.</a:t>
            </a:r>
          </a:p>
          <a:p>
            <a:r>
              <a:rPr lang="en-US" dirty="0"/>
              <a:t>Stockholders- common and preferred stockholders</a:t>
            </a:r>
          </a:p>
          <a:p>
            <a:r>
              <a:rPr lang="en-US" i="1" dirty="0"/>
              <a:t>90% of revenue is generated by Cooperate sector in any economy.</a:t>
            </a:r>
          </a:p>
          <a:p>
            <a:r>
              <a:rPr lang="en-US" i="1" dirty="0"/>
              <a:t>Legal entity.</a:t>
            </a:r>
          </a:p>
          <a:p>
            <a:r>
              <a:rPr lang="en-US" i="1" dirty="0"/>
              <a:t>Legal power reside to sue and to be sued.</a:t>
            </a:r>
          </a:p>
          <a:p>
            <a:r>
              <a:rPr lang="en-US" i="1" dirty="0"/>
              <a:t>Double taxation.</a:t>
            </a:r>
          </a:p>
          <a:p>
            <a:r>
              <a:rPr lang="en-US" i="1" dirty="0"/>
              <a:t>No secrecy </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3E8462A-FEBA-4848-81CC-3F8DA3E47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2109F83F-40FE-4DB3-84CC-09FB3340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9144001" cy="6866467"/>
            <a:chOff x="0" y="-8467"/>
            <a:chExt cx="12192000" cy="6866467"/>
          </a:xfrm>
        </p:grpSpPr>
        <p:cxnSp>
          <p:nvCxnSpPr>
            <p:cNvPr id="11" name="Straight Connector 10">
              <a:extLst>
                <a:ext uri="{FF2B5EF4-FFF2-40B4-BE49-F238E27FC236}">
                  <a16:creationId xmlns:a16="http://schemas.microsoft.com/office/drawing/2014/main" id="{1DE492D7-C3C3-48FF-80C8-37021EA026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0B30FF97-2E9A-490A-AED2-90BA2E0EC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3" name="Rectangle 25">
              <a:extLst>
                <a:ext uri="{FF2B5EF4-FFF2-40B4-BE49-F238E27FC236}">
                  <a16:creationId xmlns:a16="http://schemas.microsoft.com/office/drawing/2014/main" id="{B6D53C7D-A312-47B6-A66A-230A19CFAC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4" name="Isosceles Triangle 13">
              <a:extLst>
                <a:ext uri="{FF2B5EF4-FFF2-40B4-BE49-F238E27FC236}">
                  <a16:creationId xmlns:a16="http://schemas.microsoft.com/office/drawing/2014/main" id="{9329D58C-0D2E-4A2B-AD6A-9CEE50678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5" name="Rectangle 27">
              <a:extLst>
                <a:ext uri="{FF2B5EF4-FFF2-40B4-BE49-F238E27FC236}">
                  <a16:creationId xmlns:a16="http://schemas.microsoft.com/office/drawing/2014/main" id="{9D446EDE-C690-4461-8BF2-7634808FC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6" name="Rectangle 28">
              <a:extLst>
                <a:ext uri="{FF2B5EF4-FFF2-40B4-BE49-F238E27FC236}">
                  <a16:creationId xmlns:a16="http://schemas.microsoft.com/office/drawing/2014/main" id="{323F3D34-6531-4AD7-A8C6-195A09028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7" name="Rectangle 29">
              <a:extLst>
                <a:ext uri="{FF2B5EF4-FFF2-40B4-BE49-F238E27FC236}">
                  <a16:creationId xmlns:a16="http://schemas.microsoft.com/office/drawing/2014/main" id="{B9B0AE3F-2350-435F-A9B0-C310BF8763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8" name="Isosceles Triangle 17">
              <a:extLst>
                <a:ext uri="{FF2B5EF4-FFF2-40B4-BE49-F238E27FC236}">
                  <a16:creationId xmlns:a16="http://schemas.microsoft.com/office/drawing/2014/main" id="{4EFA655C-9E50-4C14-A89E-AD7B648E4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9" name="Isosceles Triangle 18">
              <a:extLst>
                <a:ext uri="{FF2B5EF4-FFF2-40B4-BE49-F238E27FC236}">
                  <a16:creationId xmlns:a16="http://schemas.microsoft.com/office/drawing/2014/main" id="{3E843863-7D25-4C01-9A17-E817CB6D99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grpSp>
      <p:sp>
        <p:nvSpPr>
          <p:cNvPr id="21" name="Rectangle 20">
            <a:extLst>
              <a:ext uri="{FF2B5EF4-FFF2-40B4-BE49-F238E27FC236}">
                <a16:creationId xmlns:a16="http://schemas.microsoft.com/office/drawing/2014/main" id="{7941F9B1-B01B-4A84-89D9-B169AEB4E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whiteboard with writing on it&#10;&#10;Description automatically generated">
            <a:extLst>
              <a:ext uri="{FF2B5EF4-FFF2-40B4-BE49-F238E27FC236}">
                <a16:creationId xmlns:a16="http://schemas.microsoft.com/office/drawing/2014/main" id="{1DD568D0-A684-2BD5-0411-5EAC658D0A30}"/>
              </a:ext>
            </a:extLst>
          </p:cNvPr>
          <p:cNvPicPr>
            <a:picLocks noChangeAspect="1"/>
          </p:cNvPicPr>
          <p:nvPr/>
        </p:nvPicPr>
        <p:blipFill>
          <a:blip r:embed="rId2"/>
          <a:stretch>
            <a:fillRect/>
          </a:stretch>
        </p:blipFill>
        <p:spPr>
          <a:xfrm>
            <a:off x="1739132" y="1131994"/>
            <a:ext cx="5667143" cy="4590386"/>
          </a:xfrm>
          <a:prstGeom prst="rect">
            <a:avLst/>
          </a:prstGeom>
        </p:spPr>
      </p:pic>
    </p:spTree>
    <p:extLst>
      <p:ext uri="{BB962C8B-B14F-4D97-AF65-F5344CB8AC3E}">
        <p14:creationId xmlns:p14="http://schemas.microsoft.com/office/powerpoint/2010/main" val="4079693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LIMITED COMPANIES</a:t>
            </a:r>
            <a:endParaRPr lang="en-US" dirty="0"/>
          </a:p>
        </p:txBody>
      </p:sp>
      <p:sp>
        <p:nvSpPr>
          <p:cNvPr id="3" name="Content Placeholder 2"/>
          <p:cNvSpPr>
            <a:spLocks noGrp="1"/>
          </p:cNvSpPr>
          <p:nvPr>
            <p:ph idx="1"/>
          </p:nvPr>
        </p:nvSpPr>
        <p:spPr>
          <a:xfrm>
            <a:off x="609599" y="1524000"/>
            <a:ext cx="6347714" cy="4517363"/>
          </a:xfrm>
        </p:spPr>
        <p:txBody>
          <a:bodyPr>
            <a:normAutofit/>
          </a:bodyPr>
          <a:lstStyle/>
          <a:p>
            <a:pPr>
              <a:buNone/>
            </a:pPr>
            <a:r>
              <a:rPr lang="en-US" dirty="0"/>
              <a:t>There are three principles that are fundamental to the concept of a limited liability company:</a:t>
            </a:r>
          </a:p>
          <a:p>
            <a:r>
              <a:rPr lang="en-US" dirty="0"/>
              <a:t> The company has corporate legal identity, that is, it is a legal person, completely separate from the people who work in it or the people who own it.</a:t>
            </a:r>
          </a:p>
          <a:p>
            <a:r>
              <a:rPr lang="en-US" dirty="0"/>
              <a:t> The ownership of the company is divided into a (usually large) number of shares. These shares can be bought and sold individually. The people who own these shares are known as the members of the company or shareholders.</a:t>
            </a:r>
          </a:p>
          <a:p>
            <a:r>
              <a:rPr lang="en-US" dirty="0"/>
              <a:t> In the event that the company incurs debts or other legal liabilities, the owners of the company have no obligation to pay these. The most that shareholders stand to lose is the money they paid for their shares.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THE CONSTITUTION OF A LIMITED COMPANY</a:t>
            </a:r>
            <a:endParaRPr lang="en-US" dirty="0"/>
          </a:p>
        </p:txBody>
      </p:sp>
      <p:sp>
        <p:nvSpPr>
          <p:cNvPr id="3" name="Content Placeholder 2"/>
          <p:cNvSpPr>
            <a:spLocks noGrp="1"/>
          </p:cNvSpPr>
          <p:nvPr>
            <p:ph idx="1"/>
          </p:nvPr>
        </p:nvSpPr>
        <p:spPr/>
        <p:txBody>
          <a:bodyPr/>
          <a:lstStyle/>
          <a:p>
            <a:pPr>
              <a:buNone/>
            </a:pPr>
            <a:r>
              <a:rPr lang="en-US" dirty="0"/>
              <a:t>	In order for a company to be registered, it must have a constitution. This consists of two documents:</a:t>
            </a:r>
          </a:p>
          <a:p>
            <a:r>
              <a:rPr lang="en-US" dirty="0"/>
              <a:t> the </a:t>
            </a:r>
            <a:r>
              <a:rPr lang="en-US" i="1" dirty="0"/>
              <a:t>memorandum of association and </a:t>
            </a:r>
          </a:p>
          <a:p>
            <a:r>
              <a:rPr lang="en-US" i="1" dirty="0"/>
              <a:t>the articles of association.</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838200"/>
          </a:xfrm>
        </p:spPr>
        <p:txBody>
          <a:bodyPr/>
          <a:lstStyle/>
          <a:p>
            <a:r>
              <a:rPr lang="en-US" dirty="0"/>
              <a:t>Memorandum</a:t>
            </a:r>
          </a:p>
        </p:txBody>
      </p:sp>
      <p:sp>
        <p:nvSpPr>
          <p:cNvPr id="3" name="Content Placeholder 2"/>
          <p:cNvSpPr>
            <a:spLocks noGrp="1"/>
          </p:cNvSpPr>
          <p:nvPr>
            <p:ph idx="1"/>
          </p:nvPr>
        </p:nvSpPr>
        <p:spPr>
          <a:xfrm>
            <a:off x="609599" y="1752600"/>
            <a:ext cx="6347714" cy="4288763"/>
          </a:xfrm>
        </p:spPr>
        <p:txBody>
          <a:bodyPr>
            <a:noAutofit/>
          </a:bodyPr>
          <a:lstStyle/>
          <a:p>
            <a:pPr>
              <a:buNone/>
            </a:pPr>
            <a:r>
              <a:rPr lang="en-US" sz="1600" dirty="0"/>
              <a:t>It is a document which includes :</a:t>
            </a:r>
          </a:p>
          <a:p>
            <a:r>
              <a:rPr lang="en-US" sz="1600" dirty="0"/>
              <a:t>Name of the company should be not used before and it should not contain certain words like country name or ambiguous names</a:t>
            </a:r>
          </a:p>
          <a:p>
            <a:r>
              <a:rPr lang="en-US" sz="1600" dirty="0"/>
              <a:t>The country (name or names) in which its registered office will be located</a:t>
            </a:r>
          </a:p>
          <a:p>
            <a:r>
              <a:rPr lang="en-US" sz="1600" dirty="0"/>
              <a:t>The objects of the company: This is a statement of the type of business in which the company will engage. This may simply state that its object is to carry on business as a general commercial company, without being any more specific.</a:t>
            </a:r>
          </a:p>
          <a:p>
            <a:r>
              <a:rPr lang="en-US" sz="1600" dirty="0"/>
              <a:t>A liability clause: In the case of a company limited by shares, this clause merely states that the liability of the members is limited.</a:t>
            </a:r>
          </a:p>
          <a:p>
            <a:r>
              <a:rPr lang="en-US" sz="1600" dirty="0"/>
              <a:t>The company’s authorized share capital and the number and nominal value of its shares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914400"/>
          </a:xfrm>
        </p:spPr>
        <p:txBody>
          <a:bodyPr/>
          <a:lstStyle/>
          <a:p>
            <a:r>
              <a:rPr lang="en-US" i="1" dirty="0"/>
              <a:t>declaration of association</a:t>
            </a:r>
            <a:endParaRPr lang="en-US" dirty="0"/>
          </a:p>
        </p:txBody>
      </p:sp>
      <p:sp>
        <p:nvSpPr>
          <p:cNvPr id="3" name="Content Placeholder 2"/>
          <p:cNvSpPr>
            <a:spLocks noGrp="1"/>
          </p:cNvSpPr>
          <p:nvPr>
            <p:ph idx="1"/>
          </p:nvPr>
        </p:nvSpPr>
        <p:spPr>
          <a:xfrm>
            <a:off x="609599" y="1752600"/>
            <a:ext cx="6347714" cy="4288763"/>
          </a:xfrm>
        </p:spPr>
        <p:txBody>
          <a:bodyPr/>
          <a:lstStyle/>
          <a:p>
            <a:pPr>
              <a:buNone/>
            </a:pPr>
            <a:r>
              <a:rPr lang="en-US" dirty="0"/>
              <a:t>	The memorandum will conclude with a </a:t>
            </a:r>
            <a:r>
              <a:rPr lang="en-US" i="1" dirty="0"/>
              <a:t>declaration of association </a:t>
            </a:r>
            <a:r>
              <a:rPr lang="en-US" dirty="0"/>
              <a:t>along the following lines:</a:t>
            </a:r>
          </a:p>
          <a:p>
            <a:pPr>
              <a:buNone/>
            </a:pPr>
            <a:r>
              <a:rPr lang="en-US" b="1" dirty="0"/>
              <a:t>	We, the several persons whose names, addresses and descriptions are written below, are desirous of being formed into a company in pursuance of this Memorandum of Association, and we respectively agree to take the number of shares in the capital of the company set out opposite our respective names.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A</a:t>
            </a:r>
          </a:p>
        </p:txBody>
      </p:sp>
      <p:sp>
        <p:nvSpPr>
          <p:cNvPr id="3" name="Content Placeholder 2"/>
          <p:cNvSpPr>
            <a:spLocks noGrp="1"/>
          </p:cNvSpPr>
          <p:nvPr>
            <p:ph idx="1"/>
          </p:nvPr>
        </p:nvSpPr>
        <p:spPr/>
        <p:txBody>
          <a:bodyPr/>
          <a:lstStyle/>
          <a:p>
            <a:pPr marL="0" indent="0">
              <a:buNone/>
            </a:pPr>
            <a:r>
              <a:rPr lang="en-US" sz="2000" dirty="0"/>
              <a:t>In order to simplify the setting up of companies, the Companies Act 1948 included a specimen set of articles of association, which have been regularly updated; these are known as </a:t>
            </a:r>
            <a:r>
              <a:rPr lang="en-US" sz="2000" i="1" dirty="0"/>
              <a:t>Table A. Most companies </a:t>
            </a:r>
            <a:r>
              <a:rPr lang="en-US" sz="2000" dirty="0"/>
              <a:t>now adopt Table A as the basis of their articles of association and specify only the way in which their articles differ from Table A.</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DIRECTORS</a:t>
            </a:r>
            <a:endParaRPr lang="en-US" dirty="0"/>
          </a:p>
        </p:txBody>
      </p:sp>
      <p:sp>
        <p:nvSpPr>
          <p:cNvPr id="3" name="Content Placeholder 2"/>
          <p:cNvSpPr>
            <a:spLocks noGrp="1"/>
          </p:cNvSpPr>
          <p:nvPr>
            <p:ph idx="1"/>
          </p:nvPr>
        </p:nvSpPr>
        <p:spPr/>
        <p:txBody>
          <a:bodyPr/>
          <a:lstStyle/>
          <a:p>
            <a:r>
              <a:rPr lang="en-US" sz="2400" dirty="0"/>
              <a:t>The one who runs or direct the company</a:t>
            </a:r>
          </a:p>
          <a:p>
            <a:r>
              <a:rPr lang="en-US" sz="2400" dirty="0"/>
              <a:t>Has duty towards shareholders as well as company employees</a:t>
            </a:r>
          </a:p>
          <a:p>
            <a:r>
              <a:rPr lang="en-US" sz="2400" dirty="0"/>
              <a:t>Must devote himself to the companies benefits and avoid personal interest</a:t>
            </a:r>
          </a:p>
          <a:p>
            <a:r>
              <a:rPr lang="en-US" sz="2400" dirty="0"/>
              <a:t>Is liable for any wrong decision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990600"/>
          </a:xfrm>
        </p:spPr>
        <p:txBody>
          <a:bodyPr/>
          <a:lstStyle/>
          <a:p>
            <a:r>
              <a:rPr lang="en-US" b="1" dirty="0"/>
              <a:t>SETTING UP A COMPANY</a:t>
            </a:r>
            <a:endParaRPr lang="en-US" dirty="0"/>
          </a:p>
        </p:txBody>
      </p:sp>
      <p:sp>
        <p:nvSpPr>
          <p:cNvPr id="3" name="Content Placeholder 2"/>
          <p:cNvSpPr>
            <a:spLocks noGrp="1"/>
          </p:cNvSpPr>
          <p:nvPr>
            <p:ph idx="1"/>
          </p:nvPr>
        </p:nvSpPr>
        <p:spPr>
          <a:xfrm>
            <a:off x="609599" y="1447800"/>
            <a:ext cx="6347714" cy="4953000"/>
          </a:xfrm>
        </p:spPr>
        <p:txBody>
          <a:bodyPr/>
          <a:lstStyle/>
          <a:p>
            <a:pPr marL="0" indent="0">
              <a:buNone/>
            </a:pPr>
            <a:r>
              <a:rPr lang="en-US" dirty="0"/>
              <a:t>How would you set a company ?</a:t>
            </a:r>
          </a:p>
          <a:p>
            <a:r>
              <a:rPr lang="en-US" dirty="0"/>
              <a:t>A limited company is created by a group of people each agreeing to subscribe a certain amount of money to set up an organization to pursue some stated goal and</a:t>
            </a:r>
          </a:p>
          <a:p>
            <a:r>
              <a:rPr lang="en-US" dirty="0"/>
              <a:t>to register the organization as a limited company in accordance with the law</a:t>
            </a:r>
          </a:p>
          <a:p>
            <a:r>
              <a:rPr lang="en-US" dirty="0"/>
              <a:t>Hire an accountant and legal advisor (optional)</a:t>
            </a:r>
          </a:p>
          <a:p>
            <a:r>
              <a:rPr lang="en-US" dirty="0"/>
              <a:t>Buying a template company or off-the-shelf company from an agent and customize it accordingly</a:t>
            </a:r>
          </a:p>
          <a:p>
            <a:endParaRPr lang="en-US" dirty="0"/>
          </a:p>
          <a:p>
            <a:endParaRPr lang="en-US" dirty="0"/>
          </a:p>
        </p:txBody>
      </p:sp>
    </p:spTree>
    <p:extLst>
      <p:ext uri="{BB962C8B-B14F-4D97-AF65-F5344CB8AC3E}">
        <p14:creationId xmlns:p14="http://schemas.microsoft.com/office/powerpoint/2010/main" val="315857253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896</TotalTime>
  <Words>1459</Words>
  <Application>Microsoft Macintosh PowerPoint</Application>
  <PresentationFormat>On-screen Show (4:3)</PresentationFormat>
  <Paragraphs>109</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Times New Roman</vt:lpstr>
      <vt:lpstr>Trebuchet MS</vt:lpstr>
      <vt:lpstr>Wingdings 3</vt:lpstr>
      <vt:lpstr>Facet</vt:lpstr>
      <vt:lpstr>CS4001- Professional Practices in IT</vt:lpstr>
      <vt:lpstr>What is an organization</vt:lpstr>
      <vt:lpstr>COMMERCIAL ORGANIZATIONS</vt:lpstr>
      <vt:lpstr>NON-COMMERCIAL BODIES</vt:lpstr>
      <vt:lpstr>Sole trader/ proprietor</vt:lpstr>
      <vt:lpstr>Risk for Sole trader</vt:lpstr>
      <vt:lpstr>Partnership</vt:lpstr>
      <vt:lpstr>COOPERATIVES</vt:lpstr>
      <vt:lpstr>PowerPoint Presentation</vt:lpstr>
      <vt:lpstr>LIMITED COMPANIES</vt:lpstr>
      <vt:lpstr>THE CONSTITUTION OF A LIMITED COMPANY</vt:lpstr>
      <vt:lpstr>Memorandum</vt:lpstr>
      <vt:lpstr>declaration of association</vt:lpstr>
      <vt:lpstr>Table A</vt:lpstr>
      <vt:lpstr>DIRECTORS</vt:lpstr>
      <vt:lpstr>SETTING UP A COMPANY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Professional Issues in IT</dc:title>
  <dc:creator>aksystems</dc:creator>
  <cp:lastModifiedBy>anaum hamid</cp:lastModifiedBy>
  <cp:revision>190</cp:revision>
  <dcterms:created xsi:type="dcterms:W3CDTF">2015-08-16T14:18:30Z</dcterms:created>
  <dcterms:modified xsi:type="dcterms:W3CDTF">2025-09-15T07:47:47Z</dcterms:modified>
</cp:coreProperties>
</file>