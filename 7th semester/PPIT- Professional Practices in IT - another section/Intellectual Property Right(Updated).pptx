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99" r:id="rId24"/>
    <p:sldId id="300" r:id="rId25"/>
    <p:sldId id="279" r:id="rId26"/>
    <p:sldId id="280" r:id="rId27"/>
    <p:sldId id="281" r:id="rId28"/>
    <p:sldId id="282" r:id="rId29"/>
    <p:sldId id="283" r:id="rId30"/>
    <p:sldId id="301" r:id="rId31"/>
    <p:sldId id="302" r:id="rId32"/>
    <p:sldId id="286" r:id="rId33"/>
    <p:sldId id="287" r:id="rId34"/>
    <p:sldId id="288" r:id="rId35"/>
    <p:sldId id="289" r:id="rId36"/>
    <p:sldId id="303" r:id="rId37"/>
    <p:sldId id="291" r:id="rId38"/>
    <p:sldId id="304" r:id="rId39"/>
    <p:sldId id="293" r:id="rId40"/>
    <p:sldId id="294" r:id="rId41"/>
    <p:sldId id="295" r:id="rId42"/>
    <p:sldId id="296" r:id="rId43"/>
    <p:sldId id="297" r:id="rId44"/>
    <p:sldId id="29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54"/>
  </p:normalViewPr>
  <p:slideViewPr>
    <p:cSldViewPr snapToGrid="0">
      <p:cViewPr varScale="1">
        <p:scale>
          <a:sx n="109" d="100"/>
          <a:sy n="109" d="100"/>
        </p:scale>
        <p:origin x="63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CF08B579-8A90-4005-A8D7-7E394D545300}"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1"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2" name="PlaceHolder 2"/>
          <p:cNvSpPr>
            <a:spLocks noGrp="1"/>
          </p:cNvSpPr>
          <p:nvPr>
            <p:ph type="subTitle"/>
          </p:nvPr>
        </p:nvSpPr>
        <p:spPr>
          <a:xfrm>
            <a:off x="1097280" y="1845720"/>
            <a:ext cx="10058040" cy="40230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75F61E69-834E-457B-A3D0-040FD45D02BD}"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4" name="PlaceHolder 2"/>
          <p:cNvSpPr>
            <a:spLocks noGrp="1"/>
          </p:cNvSpPr>
          <p:nvPr>
            <p:ph/>
          </p:nvPr>
        </p:nvSpPr>
        <p:spPr>
          <a:xfrm>
            <a:off x="1097280" y="1845720"/>
            <a:ext cx="100580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CEDD7936-BE4D-4D75-B541-8D0B56C10D40}"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16"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17"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CD156504-5414-4AD2-AD35-B697D32DF375}"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7A0BD7EA-66C3-47E0-8366-DD8BD369CB92}"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9" name="PlaceHolder 1"/>
          <p:cNvSpPr>
            <a:spLocks noGrp="1"/>
          </p:cNvSpPr>
          <p:nvPr>
            <p:ph type="subTitle"/>
          </p:nvPr>
        </p:nvSpPr>
        <p:spPr>
          <a:xfrm>
            <a:off x="1097280" y="286560"/>
            <a:ext cx="10058040" cy="67248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01747C36-A4BE-405A-A9FB-C774FDB23631}"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1"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2"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3"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B1C6CCC-63B5-4CC5-BB23-FBD663CC6503}"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5"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6"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27" name="PlaceHolder 4"/>
          <p:cNvSpPr>
            <a:spLocks noGrp="1"/>
          </p:cNvSpPr>
          <p:nvPr>
            <p:ph/>
          </p:nvPr>
        </p:nvSpPr>
        <p:spPr>
          <a:xfrm>
            <a:off x="625140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AD0A13BC-D67D-4AA6-B317-D9C8818FDB78}"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29"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0"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1" name="PlaceHolder 4"/>
          <p:cNvSpPr>
            <a:spLocks noGrp="1"/>
          </p:cNvSpPr>
          <p:nvPr>
            <p:ph/>
          </p:nvPr>
        </p:nvSpPr>
        <p:spPr>
          <a:xfrm>
            <a:off x="1097280" y="394704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3F9DB2FE-7954-490A-8F48-CB38663A3EA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33" name="PlaceHolder 2"/>
          <p:cNvSpPr>
            <a:spLocks noGrp="1"/>
          </p:cNvSpPr>
          <p:nvPr>
            <p:ph/>
          </p:nvPr>
        </p:nvSpPr>
        <p:spPr>
          <a:xfrm>
            <a:off x="1097280" y="184572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4" name="PlaceHolder 3"/>
          <p:cNvSpPr>
            <a:spLocks noGrp="1"/>
          </p:cNvSpPr>
          <p:nvPr>
            <p:ph/>
          </p:nvPr>
        </p:nvSpPr>
        <p:spPr>
          <a:xfrm>
            <a:off x="1097280" y="394704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E342D651-D9F7-4B4C-9131-1FD0D0D5C724}"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36"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7"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8"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39" name="PlaceHolder 5"/>
          <p:cNvSpPr>
            <a:spLocks noGrp="1"/>
          </p:cNvSpPr>
          <p:nvPr>
            <p:ph/>
          </p:nvPr>
        </p:nvSpPr>
        <p:spPr>
          <a:xfrm>
            <a:off x="625140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2116380B-AAC5-44F7-BFF1-3FA30F4D7350}"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41" name="PlaceHolder 2"/>
          <p:cNvSpPr>
            <a:spLocks noGrp="1"/>
          </p:cNvSpPr>
          <p:nvPr>
            <p:ph/>
          </p:nvPr>
        </p:nvSpPr>
        <p:spPr>
          <a:xfrm>
            <a:off x="109728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2" name="PlaceHolder 3"/>
          <p:cNvSpPr>
            <a:spLocks noGrp="1"/>
          </p:cNvSpPr>
          <p:nvPr>
            <p:ph/>
          </p:nvPr>
        </p:nvSpPr>
        <p:spPr>
          <a:xfrm>
            <a:off x="449820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3" name="PlaceHolder 4"/>
          <p:cNvSpPr>
            <a:spLocks noGrp="1"/>
          </p:cNvSpPr>
          <p:nvPr>
            <p:ph/>
          </p:nvPr>
        </p:nvSpPr>
        <p:spPr>
          <a:xfrm>
            <a:off x="789912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4" name="PlaceHolder 5"/>
          <p:cNvSpPr>
            <a:spLocks noGrp="1"/>
          </p:cNvSpPr>
          <p:nvPr>
            <p:ph/>
          </p:nvPr>
        </p:nvSpPr>
        <p:spPr>
          <a:xfrm>
            <a:off x="109728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5" name="PlaceHolder 6"/>
          <p:cNvSpPr>
            <a:spLocks noGrp="1"/>
          </p:cNvSpPr>
          <p:nvPr>
            <p:ph/>
          </p:nvPr>
        </p:nvSpPr>
        <p:spPr>
          <a:xfrm>
            <a:off x="449820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6" name="PlaceHolder 7"/>
          <p:cNvSpPr>
            <a:spLocks noGrp="1"/>
          </p:cNvSpPr>
          <p:nvPr>
            <p:ph/>
          </p:nvPr>
        </p:nvSpPr>
        <p:spPr>
          <a:xfrm>
            <a:off x="789912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D9668DDF-FF42-42A5-A47E-93CA8573E505}"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7063147E-20D1-4FF2-A68B-F0CFFA5C6FA4}"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56" name="PlaceHolder 2"/>
          <p:cNvSpPr>
            <a:spLocks noGrp="1"/>
          </p:cNvSpPr>
          <p:nvPr>
            <p:ph type="subTitle"/>
          </p:nvPr>
        </p:nvSpPr>
        <p:spPr>
          <a:xfrm>
            <a:off x="1097280" y="1845720"/>
            <a:ext cx="10058040" cy="40230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F0D84457-3D0D-411F-8B07-102F47020B3D}"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58" name="PlaceHolder 2"/>
          <p:cNvSpPr>
            <a:spLocks noGrp="1"/>
          </p:cNvSpPr>
          <p:nvPr>
            <p:ph/>
          </p:nvPr>
        </p:nvSpPr>
        <p:spPr>
          <a:xfrm>
            <a:off x="1097280" y="1845720"/>
            <a:ext cx="100580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0416A6F6-38A1-4A9A-946E-6B549428FC78}"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60"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1"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FE9A9AE5-F00D-481D-9003-355B0F7D6068}"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33D00C20-1402-4270-BFA9-712F4DCAFC7A}"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1097280" y="286560"/>
            <a:ext cx="10058040" cy="6724800"/>
          </a:xfrm>
          <a:prstGeom prst="rect">
            <a:avLst/>
          </a:prstGeom>
          <a:noFill/>
          <a:ln w="0">
            <a:noFill/>
          </a:ln>
        </p:spPr>
        <p:txBody>
          <a:bodyPr lIns="0" tIns="0" rIns="0" bIns="0" anchor="ctr">
            <a:noAutofit/>
          </a:bodyPr>
          <a:lstStyle/>
          <a:p>
            <a:pPr algn="ctr">
              <a:buNone/>
            </a:pPr>
            <a:endParaRPr lang="en-US"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68386158-1A77-49F3-ACAE-7A5600BA082D}"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65"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6" name="PlaceHolder 3"/>
          <p:cNvSpPr>
            <a:spLocks noGrp="1"/>
          </p:cNvSpPr>
          <p:nvPr>
            <p:ph/>
          </p:nvPr>
        </p:nvSpPr>
        <p:spPr>
          <a:xfrm>
            <a:off x="625140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7"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A9C29F37-51C9-49B3-B8BB-136C7825834D}"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69" name="PlaceHolder 2"/>
          <p:cNvSpPr>
            <a:spLocks noGrp="1"/>
          </p:cNvSpPr>
          <p:nvPr>
            <p:ph/>
          </p:nvPr>
        </p:nvSpPr>
        <p:spPr>
          <a:xfrm>
            <a:off x="1097280" y="1845720"/>
            <a:ext cx="4908240" cy="40230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0"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1" name="PlaceHolder 4"/>
          <p:cNvSpPr>
            <a:spLocks noGrp="1"/>
          </p:cNvSpPr>
          <p:nvPr>
            <p:ph/>
          </p:nvPr>
        </p:nvSpPr>
        <p:spPr>
          <a:xfrm>
            <a:off x="625140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661055C-4B16-45D3-8440-6B184E32A613}"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73"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4"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5" name="PlaceHolder 4"/>
          <p:cNvSpPr>
            <a:spLocks noGrp="1"/>
          </p:cNvSpPr>
          <p:nvPr>
            <p:ph/>
          </p:nvPr>
        </p:nvSpPr>
        <p:spPr>
          <a:xfrm>
            <a:off x="1097280" y="394704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16E39E76-AD8F-42F7-81E2-A799793749A9}"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77" name="PlaceHolder 2"/>
          <p:cNvSpPr>
            <a:spLocks noGrp="1"/>
          </p:cNvSpPr>
          <p:nvPr>
            <p:ph/>
          </p:nvPr>
        </p:nvSpPr>
        <p:spPr>
          <a:xfrm>
            <a:off x="1097280" y="184572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8" name="PlaceHolder 3"/>
          <p:cNvSpPr>
            <a:spLocks noGrp="1"/>
          </p:cNvSpPr>
          <p:nvPr>
            <p:ph/>
          </p:nvPr>
        </p:nvSpPr>
        <p:spPr>
          <a:xfrm>
            <a:off x="1097280" y="3947040"/>
            <a:ext cx="100580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2C757550-A4AB-4DBB-AAEA-6FAA12037497}"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80" name="PlaceHolder 2"/>
          <p:cNvSpPr>
            <a:spLocks noGrp="1"/>
          </p:cNvSpPr>
          <p:nvPr>
            <p:ph/>
          </p:nvPr>
        </p:nvSpPr>
        <p:spPr>
          <a:xfrm>
            <a:off x="109728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1" name="PlaceHolder 3"/>
          <p:cNvSpPr>
            <a:spLocks noGrp="1"/>
          </p:cNvSpPr>
          <p:nvPr>
            <p:ph/>
          </p:nvPr>
        </p:nvSpPr>
        <p:spPr>
          <a:xfrm>
            <a:off x="6251400" y="184572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2" name="PlaceHolder 4"/>
          <p:cNvSpPr>
            <a:spLocks noGrp="1"/>
          </p:cNvSpPr>
          <p:nvPr>
            <p:ph/>
          </p:nvPr>
        </p:nvSpPr>
        <p:spPr>
          <a:xfrm>
            <a:off x="109728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3" name="PlaceHolder 5"/>
          <p:cNvSpPr>
            <a:spLocks noGrp="1"/>
          </p:cNvSpPr>
          <p:nvPr>
            <p:ph/>
          </p:nvPr>
        </p:nvSpPr>
        <p:spPr>
          <a:xfrm>
            <a:off x="6251400" y="3947040"/>
            <a:ext cx="490824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9F4A5711-F312-4C9B-B542-11E07E9D9E93}"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1097280" y="286560"/>
            <a:ext cx="10058040" cy="1450440"/>
          </a:xfrm>
          <a:prstGeom prst="rect">
            <a:avLst/>
          </a:prstGeom>
          <a:noFill/>
          <a:ln w="0">
            <a:noFill/>
          </a:ln>
        </p:spPr>
        <p:txBody>
          <a:bodyPr lIns="0" tIns="0" rIns="0" bIns="0" anchor="ctr">
            <a:noAutofit/>
          </a:bodyPr>
          <a:lstStyle/>
          <a:p>
            <a:endParaRPr lang="en-US" sz="1400" b="0" strike="noStrike" spc="-1">
              <a:solidFill>
                <a:srgbClr val="000000"/>
              </a:solidFill>
              <a:latin typeface="Arial"/>
            </a:endParaRPr>
          </a:p>
        </p:txBody>
      </p:sp>
      <p:sp>
        <p:nvSpPr>
          <p:cNvPr id="85" name="PlaceHolder 2"/>
          <p:cNvSpPr>
            <a:spLocks noGrp="1"/>
          </p:cNvSpPr>
          <p:nvPr>
            <p:ph/>
          </p:nvPr>
        </p:nvSpPr>
        <p:spPr>
          <a:xfrm>
            <a:off x="109728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6" name="PlaceHolder 3"/>
          <p:cNvSpPr>
            <a:spLocks noGrp="1"/>
          </p:cNvSpPr>
          <p:nvPr>
            <p:ph/>
          </p:nvPr>
        </p:nvSpPr>
        <p:spPr>
          <a:xfrm>
            <a:off x="449820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7" name="PlaceHolder 4"/>
          <p:cNvSpPr>
            <a:spLocks noGrp="1"/>
          </p:cNvSpPr>
          <p:nvPr>
            <p:ph/>
          </p:nvPr>
        </p:nvSpPr>
        <p:spPr>
          <a:xfrm>
            <a:off x="7899120" y="184572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8" name="PlaceHolder 5"/>
          <p:cNvSpPr>
            <a:spLocks noGrp="1"/>
          </p:cNvSpPr>
          <p:nvPr>
            <p:ph/>
          </p:nvPr>
        </p:nvSpPr>
        <p:spPr>
          <a:xfrm>
            <a:off x="109728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89" name="PlaceHolder 6"/>
          <p:cNvSpPr>
            <a:spLocks noGrp="1"/>
          </p:cNvSpPr>
          <p:nvPr>
            <p:ph/>
          </p:nvPr>
        </p:nvSpPr>
        <p:spPr>
          <a:xfrm>
            <a:off x="449820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90" name="PlaceHolder 7"/>
          <p:cNvSpPr>
            <a:spLocks noGrp="1"/>
          </p:cNvSpPr>
          <p:nvPr>
            <p:ph/>
          </p:nvPr>
        </p:nvSpPr>
        <p:spPr>
          <a:xfrm>
            <a:off x="7899120" y="3947040"/>
            <a:ext cx="3238560" cy="1918800"/>
          </a:xfrm>
          <a:prstGeom prst="rect">
            <a:avLst/>
          </a:prstGeom>
          <a:noFill/>
          <a:ln w="0">
            <a:noFill/>
          </a:ln>
        </p:spPr>
        <p:txBody>
          <a:bodyPr lIns="0" tIns="0" rIns="0" bIns="0" anchor="t">
            <a:normAutofit/>
          </a:bodyPr>
          <a:lstStyle/>
          <a:p>
            <a:endParaRPr lang="en-US" sz="1400" b="0" strike="noStrike" spc="-1">
              <a:solidFill>
                <a:srgbClr val="000000"/>
              </a:solidFill>
              <a:latin typeface="Arial"/>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E7D98550-048F-4629-8FF5-748016CDD152}"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Google Shape;6;p34" hidden="1"/>
          <p:cNvSpPr/>
          <p:nvPr/>
        </p:nvSpPr>
        <p:spPr>
          <a:xfrm>
            <a:off x="0" y="6400800"/>
            <a:ext cx="12191760" cy="456840"/>
          </a:xfrm>
          <a:prstGeom prst="rect">
            <a:avLst/>
          </a:prstGeom>
          <a:solidFill>
            <a:schemeClr val="accent2"/>
          </a:solidFill>
          <a:ln w="0">
            <a:noFill/>
          </a:ln>
        </p:spPr>
        <p:style>
          <a:lnRef idx="0">
            <a:scrgbClr r="0" g="0" b="0"/>
          </a:lnRef>
          <a:fillRef idx="0">
            <a:scrgbClr r="0" g="0" b="0"/>
          </a:fillRef>
          <a:effectRef idx="0">
            <a:scrgbClr r="0" g="0" b="0"/>
          </a:effectRef>
          <a:fontRef idx="minor"/>
        </p:style>
      </p:sp>
      <p:sp>
        <p:nvSpPr>
          <p:cNvPr id="12" name="Google Shape;7;p34" hidden="1"/>
          <p:cNvSpPr/>
          <p:nvPr/>
        </p:nvSpPr>
        <p:spPr>
          <a:xfrm>
            <a:off x="0" y="6334200"/>
            <a:ext cx="12191760" cy="65520"/>
          </a:xfrm>
          <a:prstGeom prst="rect">
            <a:avLst/>
          </a:prstGeom>
          <a:solidFill>
            <a:schemeClr val="accent1"/>
          </a:solidFill>
          <a:ln w="0">
            <a:noFill/>
          </a:ln>
        </p:spPr>
        <p:style>
          <a:lnRef idx="0">
            <a:scrgbClr r="0" g="0" b="0"/>
          </a:lnRef>
          <a:fillRef idx="0">
            <a:scrgbClr r="0" g="0" b="0"/>
          </a:fillRef>
          <a:effectRef idx="0">
            <a:scrgbClr r="0" g="0" b="0"/>
          </a:effectRef>
          <a:fontRef idx="minor"/>
        </p:style>
      </p:sp>
      <p:sp>
        <p:nvSpPr>
          <p:cNvPr id="2" name="Google Shape;13;p34" hidden="1"/>
          <p:cNvSpPr/>
          <p:nvPr/>
        </p:nvSpPr>
        <p:spPr>
          <a:xfrm>
            <a:off x="1193400" y="1737720"/>
            <a:ext cx="9966600" cy="360"/>
          </a:xfrm>
          <a:custGeom>
            <a:avLst/>
            <a:gdLst/>
            <a:ahLst/>
            <a:cxnLst/>
            <a:rect l="l" t="t" r="r" b="b"/>
            <a:pathLst>
              <a:path w="21600" h="21600">
                <a:moveTo>
                  <a:pt x="0" y="0"/>
                </a:moveTo>
                <a:lnTo>
                  <a:pt x="21600" y="21600"/>
                </a:lnTo>
              </a:path>
            </a:pathLst>
          </a:custGeom>
          <a:noFill/>
          <a:ln w="9525">
            <a:solidFill>
              <a:srgbClr val="7F7F7F"/>
            </a:solidFill>
            <a:round/>
          </a:ln>
        </p:spPr>
        <p:style>
          <a:lnRef idx="0">
            <a:scrgbClr r="0" g="0" b="0"/>
          </a:lnRef>
          <a:fillRef idx="0">
            <a:scrgbClr r="0" g="0" b="0"/>
          </a:fillRef>
          <a:effectRef idx="0">
            <a:scrgbClr r="0" g="0" b="0"/>
          </a:effectRef>
          <a:fontRef idx="minor"/>
        </p:style>
      </p:sp>
      <p:sp>
        <p:nvSpPr>
          <p:cNvPr id="3" name="Google Shape;15;p35"/>
          <p:cNvSpPr/>
          <p:nvPr/>
        </p:nvSpPr>
        <p:spPr>
          <a:xfrm>
            <a:off x="3240" y="6400800"/>
            <a:ext cx="12188520" cy="456840"/>
          </a:xfrm>
          <a:prstGeom prst="rect">
            <a:avLst/>
          </a:prstGeom>
          <a:solidFill>
            <a:schemeClr val="accent2"/>
          </a:solidFill>
          <a:ln w="0">
            <a:noFill/>
          </a:ln>
        </p:spPr>
        <p:style>
          <a:lnRef idx="0">
            <a:scrgbClr r="0" g="0" b="0"/>
          </a:lnRef>
          <a:fillRef idx="0">
            <a:scrgbClr r="0" g="0" b="0"/>
          </a:fillRef>
          <a:effectRef idx="0">
            <a:scrgbClr r="0" g="0" b="0"/>
          </a:effectRef>
          <a:fontRef idx="minor"/>
        </p:style>
      </p:sp>
      <p:sp>
        <p:nvSpPr>
          <p:cNvPr id="4" name="Google Shape;16;p35"/>
          <p:cNvSpPr/>
          <p:nvPr/>
        </p:nvSpPr>
        <p:spPr>
          <a:xfrm>
            <a:off x="0" y="6334200"/>
            <a:ext cx="12188520" cy="63720"/>
          </a:xfrm>
          <a:prstGeom prst="rect">
            <a:avLst/>
          </a:prstGeom>
          <a:solidFill>
            <a:schemeClr val="accent1"/>
          </a:solidFill>
          <a:ln w="0">
            <a:noFill/>
          </a:ln>
        </p:spPr>
        <p:style>
          <a:lnRef idx="0">
            <a:scrgbClr r="0" g="0" b="0"/>
          </a:lnRef>
          <a:fillRef idx="0">
            <a:scrgbClr r="0" g="0" b="0"/>
          </a:fillRef>
          <a:effectRef idx="0">
            <a:scrgbClr r="0" g="0" b="0"/>
          </a:effectRef>
          <a:fontRef idx="minor"/>
        </p:style>
      </p:sp>
      <p:sp>
        <p:nvSpPr>
          <p:cNvPr id="5" name="PlaceHolder 1"/>
          <p:cNvSpPr>
            <a:spLocks noGrp="1"/>
          </p:cNvSpPr>
          <p:nvPr>
            <p:ph type="title"/>
          </p:nvPr>
        </p:nvSpPr>
        <p:spPr>
          <a:xfrm>
            <a:off x="1097280" y="758880"/>
            <a:ext cx="10058040" cy="3565800"/>
          </a:xfrm>
          <a:prstGeom prst="rect">
            <a:avLst/>
          </a:prstGeom>
          <a:noFill/>
          <a:ln w="0">
            <a:noFill/>
          </a:ln>
        </p:spPr>
        <p:txBody>
          <a:bodyPr anchor="b">
            <a:normAutofit/>
          </a:bodyPr>
          <a:lstStyle/>
          <a:p>
            <a:r>
              <a:rPr lang="en-US" sz="8000" b="0" strike="noStrike" spc="-1">
                <a:solidFill>
                  <a:srgbClr val="000000"/>
                </a:solidFill>
                <a:latin typeface="Arial"/>
              </a:rPr>
              <a:t>Click to edit the title text format</a:t>
            </a:r>
          </a:p>
        </p:txBody>
      </p:sp>
      <p:sp>
        <p:nvSpPr>
          <p:cNvPr id="6" name="PlaceHolder 2"/>
          <p:cNvSpPr>
            <a:spLocks noGrp="1"/>
          </p:cNvSpPr>
          <p:nvPr>
            <p:ph type="dt" idx="1"/>
          </p:nvPr>
        </p:nvSpPr>
        <p:spPr>
          <a:xfrm>
            <a:off x="1097280" y="6459840"/>
            <a:ext cx="2471760" cy="364680"/>
          </a:xfrm>
          <a:prstGeom prst="rect">
            <a:avLst/>
          </a:prstGeom>
          <a:noFill/>
          <a:ln w="0">
            <a:noFill/>
          </a:ln>
        </p:spPr>
        <p:txBody>
          <a:bodyPr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7" name="PlaceHolder 3"/>
          <p:cNvSpPr>
            <a:spLocks noGrp="1"/>
          </p:cNvSpPr>
          <p:nvPr>
            <p:ph type="ftr" idx="2"/>
          </p:nvPr>
        </p:nvSpPr>
        <p:spPr>
          <a:xfrm>
            <a:off x="3686040" y="6459840"/>
            <a:ext cx="4822560" cy="364680"/>
          </a:xfrm>
          <a:prstGeom prst="rect">
            <a:avLst/>
          </a:prstGeom>
          <a:noFill/>
          <a:ln w="0">
            <a:noFill/>
          </a:ln>
        </p:spPr>
        <p:txBody>
          <a:bodyPr anchor="ctr">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8" name="PlaceHolder 4"/>
          <p:cNvSpPr>
            <a:spLocks noGrp="1"/>
          </p:cNvSpPr>
          <p:nvPr>
            <p:ph type="sldNum" idx="3"/>
          </p:nvPr>
        </p:nvSpPr>
        <p:spPr>
          <a:xfrm>
            <a:off x="9900360" y="6459840"/>
            <a:ext cx="1311840" cy="364680"/>
          </a:xfrm>
          <a:prstGeom prst="rect">
            <a:avLst/>
          </a:prstGeom>
          <a:noFill/>
          <a:ln w="0">
            <a:noFill/>
          </a:ln>
        </p:spPr>
        <p:txBody>
          <a:bodyPr anchor="ctr">
            <a:noAutofit/>
          </a:bodyPr>
          <a:lstStyle>
            <a:lvl1pPr algn="r">
              <a:lnSpc>
                <a:spcPct val="100000"/>
              </a:lnSpc>
              <a:buNone/>
              <a:tabLst>
                <a:tab pos="0" algn="l"/>
              </a:tabLst>
              <a:defRPr lang="en-US" sz="1050" b="0" strike="noStrike" spc="-1">
                <a:solidFill>
                  <a:srgbClr val="90C226"/>
                </a:solidFill>
                <a:latin typeface="Calibri"/>
                <a:ea typeface="Calibri"/>
              </a:defRPr>
            </a:lvl1pPr>
          </a:lstStyle>
          <a:p>
            <a:pPr algn="r">
              <a:lnSpc>
                <a:spcPct val="100000"/>
              </a:lnSpc>
              <a:buNone/>
              <a:tabLst>
                <a:tab pos="0" algn="l"/>
              </a:tabLst>
            </a:pPr>
            <a:fld id="{777E162A-3778-4CE4-ACE1-EA7B34CB5A26}" type="slidenum">
              <a:rPr lang="en-US" sz="1050" b="0" strike="noStrike" spc="-1">
                <a:solidFill>
                  <a:srgbClr val="90C226"/>
                </a:solidFill>
                <a:latin typeface="Calibri"/>
                <a:ea typeface="Calibri"/>
              </a:rPr>
              <a:t>‹#›</a:t>
            </a:fld>
            <a:endParaRPr lang="en-US" sz="1050" b="0" strike="noStrike" spc="-1">
              <a:latin typeface="Times New Roman"/>
            </a:endParaRPr>
          </a:p>
        </p:txBody>
      </p:sp>
      <p:sp>
        <p:nvSpPr>
          <p:cNvPr id="9" name="Google Shape;22;p35"/>
          <p:cNvSpPr/>
          <p:nvPr/>
        </p:nvSpPr>
        <p:spPr>
          <a:xfrm>
            <a:off x="1207800" y="4343400"/>
            <a:ext cx="9875160" cy="360"/>
          </a:xfrm>
          <a:custGeom>
            <a:avLst/>
            <a:gdLst/>
            <a:ahLst/>
            <a:cxnLst/>
            <a:rect l="l" t="t" r="r" b="b"/>
            <a:pathLst>
              <a:path w="21600" h="21600">
                <a:moveTo>
                  <a:pt x="0" y="0"/>
                </a:moveTo>
                <a:lnTo>
                  <a:pt x="21600" y="21600"/>
                </a:lnTo>
              </a:path>
            </a:pathLst>
          </a:custGeom>
          <a:noFill/>
          <a:ln w="9525">
            <a:solidFill>
              <a:srgbClr val="7F7F7F"/>
            </a:solidFill>
            <a:round/>
          </a:ln>
        </p:spPr>
        <p:style>
          <a:lnRef idx="0">
            <a:scrgbClr r="0" g="0" b="0"/>
          </a:lnRef>
          <a:fillRef idx="0">
            <a:scrgbClr r="0" g="0" b="0"/>
          </a:fillRef>
          <a:effectRef idx="0">
            <a:scrgbClr r="0" g="0" b="0"/>
          </a:effectRef>
          <a:fontRef idx="minor"/>
        </p:style>
      </p:sp>
      <p:sp>
        <p:nvSpPr>
          <p:cNvPr id="10"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14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4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4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Google Shape;6;p34"/>
          <p:cNvSpPr/>
          <p:nvPr/>
        </p:nvSpPr>
        <p:spPr>
          <a:xfrm>
            <a:off x="0" y="6400800"/>
            <a:ext cx="12191760" cy="456840"/>
          </a:xfrm>
          <a:prstGeom prst="rect">
            <a:avLst/>
          </a:prstGeom>
          <a:solidFill>
            <a:schemeClr val="accent2"/>
          </a:solidFill>
          <a:ln w="0">
            <a:noFill/>
          </a:ln>
        </p:spPr>
        <p:style>
          <a:lnRef idx="0">
            <a:scrgbClr r="0" g="0" b="0"/>
          </a:lnRef>
          <a:fillRef idx="0">
            <a:scrgbClr r="0" g="0" b="0"/>
          </a:fillRef>
          <a:effectRef idx="0">
            <a:scrgbClr r="0" g="0" b="0"/>
          </a:effectRef>
          <a:fontRef idx="minor"/>
        </p:style>
      </p:sp>
      <p:sp>
        <p:nvSpPr>
          <p:cNvPr id="48" name="Google Shape;7;p34"/>
          <p:cNvSpPr/>
          <p:nvPr/>
        </p:nvSpPr>
        <p:spPr>
          <a:xfrm>
            <a:off x="0" y="6334200"/>
            <a:ext cx="12191760" cy="65520"/>
          </a:xfrm>
          <a:prstGeom prst="rect">
            <a:avLst/>
          </a:prstGeom>
          <a:solidFill>
            <a:schemeClr val="accent1"/>
          </a:solidFill>
          <a:ln w="0">
            <a:noFill/>
          </a:ln>
        </p:spPr>
        <p:style>
          <a:lnRef idx="0">
            <a:scrgbClr r="0" g="0" b="0"/>
          </a:lnRef>
          <a:fillRef idx="0">
            <a:scrgbClr r="0" g="0" b="0"/>
          </a:fillRef>
          <a:effectRef idx="0">
            <a:scrgbClr r="0" g="0" b="0"/>
          </a:effectRef>
          <a:fontRef idx="minor"/>
        </p:style>
      </p:sp>
      <p:sp>
        <p:nvSpPr>
          <p:cNvPr id="49" name="Google Shape;13;p34"/>
          <p:cNvSpPr/>
          <p:nvPr/>
        </p:nvSpPr>
        <p:spPr>
          <a:xfrm>
            <a:off x="1193400" y="1737720"/>
            <a:ext cx="9966600" cy="360"/>
          </a:xfrm>
          <a:custGeom>
            <a:avLst/>
            <a:gdLst/>
            <a:ahLst/>
            <a:cxnLst/>
            <a:rect l="l" t="t" r="r" b="b"/>
            <a:pathLst>
              <a:path w="21600" h="21600">
                <a:moveTo>
                  <a:pt x="0" y="0"/>
                </a:moveTo>
                <a:lnTo>
                  <a:pt x="21600" y="21600"/>
                </a:lnTo>
              </a:path>
            </a:pathLst>
          </a:custGeom>
          <a:noFill/>
          <a:ln w="9525">
            <a:solidFill>
              <a:srgbClr val="7F7F7F"/>
            </a:solidFill>
            <a:round/>
          </a:ln>
        </p:spPr>
        <p:style>
          <a:lnRef idx="0">
            <a:scrgbClr r="0" g="0" b="0"/>
          </a:lnRef>
          <a:fillRef idx="0">
            <a:scrgbClr r="0" g="0" b="0"/>
          </a:fillRef>
          <a:effectRef idx="0">
            <a:scrgbClr r="0" g="0" b="0"/>
          </a:effectRef>
          <a:fontRef idx="minor"/>
        </p:style>
      </p:sp>
      <p:sp>
        <p:nvSpPr>
          <p:cNvPr id="50"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r>
              <a:rPr lang="en-US" sz="4800" b="0" strike="noStrike" spc="-1">
                <a:solidFill>
                  <a:srgbClr val="000000"/>
                </a:solidFill>
                <a:latin typeface="Arial"/>
              </a:rPr>
              <a:t>Click to edit the title text format</a:t>
            </a:r>
          </a:p>
        </p:txBody>
      </p:sp>
      <p:sp>
        <p:nvSpPr>
          <p:cNvPr id="51" name="PlaceHolder 2"/>
          <p:cNvSpPr>
            <a:spLocks noGrp="1"/>
          </p:cNvSpPr>
          <p:nvPr>
            <p:ph type="body"/>
          </p:nvPr>
        </p:nvSpPr>
        <p:spPr>
          <a:xfrm>
            <a:off x="1097280" y="1845720"/>
            <a:ext cx="10058040" cy="4023000"/>
          </a:xfrm>
          <a:prstGeom prst="rect">
            <a:avLst/>
          </a:prstGeom>
          <a:noFill/>
          <a:ln w="0">
            <a:noFill/>
          </a:ln>
        </p:spPr>
        <p:txBody>
          <a:bodyPr lIns="0" rIns="0" anchor="t">
            <a:normAutofit/>
          </a:bodyPr>
          <a:lstStyle/>
          <a:p>
            <a:pPr marL="432000" indent="-324000">
              <a:spcBef>
                <a:spcPts val="1417"/>
              </a:spcBef>
              <a:buClr>
                <a:srgbClr val="000000"/>
              </a:buClr>
              <a:buSzPct val="45000"/>
              <a:buFont typeface="Wingdings" charset="2"/>
              <a:buChar char=""/>
            </a:pPr>
            <a:r>
              <a:rPr lang="en-US" sz="20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0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
        <p:nvSpPr>
          <p:cNvPr id="52" name="PlaceHolder 3"/>
          <p:cNvSpPr>
            <a:spLocks noGrp="1"/>
          </p:cNvSpPr>
          <p:nvPr>
            <p:ph type="dt" idx="4"/>
          </p:nvPr>
        </p:nvSpPr>
        <p:spPr>
          <a:xfrm>
            <a:off x="1097280" y="6459840"/>
            <a:ext cx="2471760" cy="364680"/>
          </a:xfrm>
          <a:prstGeom prst="rect">
            <a:avLst/>
          </a:prstGeom>
          <a:noFill/>
          <a:ln w="0">
            <a:noFill/>
          </a:ln>
        </p:spPr>
        <p:txBody>
          <a:bodyPr anchor="ctr">
            <a:noAutofit/>
          </a:bodyPr>
          <a:lstStyle>
            <a:lvl1pPr>
              <a:defRPr lang="en-US" sz="1400" b="0" strike="noStrike" spc="-1">
                <a:latin typeface="Times New Roman"/>
              </a:defRPr>
            </a:lvl1pPr>
          </a:lstStyle>
          <a:p>
            <a:r>
              <a:rPr lang="en-US" sz="1400" b="0" strike="noStrike" spc="-1">
                <a:latin typeface="Times New Roman"/>
              </a:rPr>
              <a:t>&lt;date/time&gt;</a:t>
            </a:r>
          </a:p>
        </p:txBody>
      </p:sp>
      <p:sp>
        <p:nvSpPr>
          <p:cNvPr id="53" name="PlaceHolder 4"/>
          <p:cNvSpPr>
            <a:spLocks noGrp="1"/>
          </p:cNvSpPr>
          <p:nvPr>
            <p:ph type="ftr" idx="5"/>
          </p:nvPr>
        </p:nvSpPr>
        <p:spPr>
          <a:xfrm>
            <a:off x="3686040" y="6459840"/>
            <a:ext cx="4822560" cy="364680"/>
          </a:xfrm>
          <a:prstGeom prst="rect">
            <a:avLst/>
          </a:prstGeom>
          <a:noFill/>
          <a:ln w="0">
            <a:noFill/>
          </a:ln>
        </p:spPr>
        <p:txBody>
          <a:bodyPr anchor="ctr">
            <a:noAutofit/>
          </a:bodyPr>
          <a:lstStyle>
            <a:lvl1pPr algn="ctr">
              <a:buNone/>
              <a:defRPr lang="en-US" sz="1400" b="0" strike="noStrike" spc="-1">
                <a:latin typeface="Times New Roman"/>
              </a:defRPr>
            </a:lvl1pPr>
          </a:lstStyle>
          <a:p>
            <a:pPr algn="ctr">
              <a:buNone/>
            </a:pPr>
            <a:r>
              <a:rPr lang="en-US" sz="1400" b="0" strike="noStrike" spc="-1">
                <a:latin typeface="Times New Roman"/>
              </a:rPr>
              <a:t>&lt;footer&gt;</a:t>
            </a:r>
          </a:p>
        </p:txBody>
      </p:sp>
      <p:sp>
        <p:nvSpPr>
          <p:cNvPr id="54" name="PlaceHolder 5"/>
          <p:cNvSpPr>
            <a:spLocks noGrp="1"/>
          </p:cNvSpPr>
          <p:nvPr>
            <p:ph type="sldNum" idx="6"/>
          </p:nvPr>
        </p:nvSpPr>
        <p:spPr>
          <a:xfrm>
            <a:off x="9900360" y="6459840"/>
            <a:ext cx="1311840" cy="364680"/>
          </a:xfrm>
          <a:prstGeom prst="rect">
            <a:avLst/>
          </a:prstGeom>
          <a:noFill/>
          <a:ln w="0">
            <a:noFill/>
          </a:ln>
        </p:spPr>
        <p:txBody>
          <a:bodyPr anchor="ctr">
            <a:noAutofit/>
          </a:bodyPr>
          <a:lstStyle>
            <a:lvl1pPr algn="r">
              <a:lnSpc>
                <a:spcPct val="100000"/>
              </a:lnSpc>
              <a:buNone/>
              <a:tabLst>
                <a:tab pos="0" algn="l"/>
              </a:tabLst>
              <a:defRPr lang="en-US" sz="1050" b="0" strike="noStrike" spc="-1">
                <a:solidFill>
                  <a:srgbClr val="90C226"/>
                </a:solidFill>
                <a:latin typeface="Calibri"/>
                <a:ea typeface="Calibri"/>
              </a:defRPr>
            </a:lvl1pPr>
          </a:lstStyle>
          <a:p>
            <a:pPr algn="r">
              <a:lnSpc>
                <a:spcPct val="100000"/>
              </a:lnSpc>
              <a:buNone/>
              <a:tabLst>
                <a:tab pos="0" algn="l"/>
              </a:tabLst>
            </a:pPr>
            <a:fld id="{98E76AB4-B497-49D8-B434-4A9143567421}" type="slidenum">
              <a:rPr lang="en-US" sz="1050" b="0" strike="noStrike" spc="-1">
                <a:solidFill>
                  <a:srgbClr val="90C226"/>
                </a:solidFill>
                <a:latin typeface="Calibri"/>
                <a:ea typeface="Calibri"/>
              </a:rPr>
              <a:t>‹#›</a:t>
            </a:fld>
            <a:endParaRPr lang="en-US" sz="105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1100160" y="1523880"/>
            <a:ext cx="9694080" cy="1469520"/>
          </a:xfrm>
          <a:prstGeom prst="rect">
            <a:avLst/>
          </a:prstGeom>
          <a:noFill/>
          <a:ln w="0">
            <a:noFill/>
          </a:ln>
        </p:spPr>
        <p:txBody>
          <a:bodyPr anchor="b">
            <a:normAutofit fontScale="90000"/>
          </a:bodyPr>
          <a:lstStyle/>
          <a:p>
            <a:pPr>
              <a:lnSpc>
                <a:spcPct val="85000"/>
              </a:lnSpc>
              <a:buNone/>
              <a:tabLst>
                <a:tab pos="0" algn="l"/>
              </a:tabLst>
            </a:pPr>
            <a:r>
              <a:rPr lang="en-US" sz="8000" b="0" strike="noStrike" spc="-1" dirty="0">
                <a:solidFill>
                  <a:srgbClr val="262626"/>
                </a:solidFill>
                <a:latin typeface="Calibri"/>
                <a:ea typeface="Calibri"/>
              </a:rPr>
              <a:t>Professional Issues in IT</a:t>
            </a:r>
            <a:endParaRPr lang="en-US" sz="8000" b="0" strike="noStrike" spc="-1" dirty="0">
              <a:solidFill>
                <a:srgbClr val="000000"/>
              </a:solidFill>
              <a:latin typeface="Arial"/>
            </a:endParaRPr>
          </a:p>
        </p:txBody>
      </p:sp>
      <p:sp>
        <p:nvSpPr>
          <p:cNvPr id="92" name="PlaceHolder 2"/>
          <p:cNvSpPr>
            <a:spLocks noGrp="1"/>
          </p:cNvSpPr>
          <p:nvPr>
            <p:ph type="subTitle"/>
          </p:nvPr>
        </p:nvSpPr>
        <p:spPr>
          <a:xfrm>
            <a:off x="1230789" y="3864601"/>
            <a:ext cx="10058040" cy="1142640"/>
          </a:xfrm>
          <a:prstGeom prst="rect">
            <a:avLst/>
          </a:prstGeom>
          <a:noFill/>
          <a:ln w="0">
            <a:noFill/>
          </a:ln>
        </p:spPr>
        <p:txBody>
          <a:bodyPr anchor="t">
            <a:normAutofit/>
          </a:bodyPr>
          <a:lstStyle/>
          <a:p>
            <a:pPr>
              <a:lnSpc>
                <a:spcPct val="90000"/>
              </a:lnSpc>
              <a:buNone/>
              <a:tabLst>
                <a:tab pos="0" algn="l"/>
              </a:tabLst>
            </a:pPr>
            <a:r>
              <a:rPr lang="en-US" sz="2400" b="0" strike="noStrike" spc="-1" dirty="0">
                <a:solidFill>
                  <a:srgbClr val="637052"/>
                </a:solidFill>
                <a:latin typeface="Calibri"/>
                <a:ea typeface="Calibri"/>
              </a:rPr>
              <a:t>Intellectual Property Rights</a:t>
            </a:r>
            <a:endParaRPr lang="en-US" sz="2400" b="0" strike="noStrike" spc="-1" dirty="0">
              <a:latin typeface="Arial"/>
            </a:endParaRPr>
          </a:p>
        </p:txBody>
      </p:sp>
      <p:sp>
        <p:nvSpPr>
          <p:cNvPr id="2" name="TextBox 1">
            <a:extLst>
              <a:ext uri="{FF2B5EF4-FFF2-40B4-BE49-F238E27FC236}">
                <a16:creationId xmlns:a16="http://schemas.microsoft.com/office/drawing/2014/main" id="{34EC911A-2BC7-E92A-077B-7E0FA142ADED}"/>
              </a:ext>
            </a:extLst>
          </p:cNvPr>
          <p:cNvSpPr txBox="1"/>
          <p:nvPr/>
        </p:nvSpPr>
        <p:spPr>
          <a:xfrm>
            <a:off x="1100160" y="4528384"/>
            <a:ext cx="4417621" cy="369332"/>
          </a:xfrm>
          <a:prstGeom prst="rect">
            <a:avLst/>
          </a:prstGeom>
          <a:noFill/>
        </p:spPr>
        <p:txBody>
          <a:bodyPr wrap="square" rtlCol="0">
            <a:spAutoFit/>
          </a:bodyPr>
          <a:lstStyle/>
          <a:p>
            <a:r>
              <a:rPr lang="en-US" dirty="0"/>
              <a:t>Course teacher: </a:t>
            </a:r>
            <a:r>
              <a:rPr lang="en-US" dirty="0" err="1"/>
              <a:t>Anaum</a:t>
            </a:r>
            <a:r>
              <a:rPr lang="en-US" dirty="0"/>
              <a:t> Hamid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dirty="0">
                <a:solidFill>
                  <a:srgbClr val="3F3F3F"/>
                </a:solidFill>
                <a:latin typeface="Calibri"/>
                <a:ea typeface="Calibri"/>
              </a:rPr>
              <a:t>Intellectual Property Rights</a:t>
            </a:r>
            <a:endParaRPr lang="en-US" sz="4800" b="0" strike="noStrike" spc="-1" dirty="0">
              <a:solidFill>
                <a:srgbClr val="000000"/>
              </a:solidFill>
              <a:latin typeface="Arial"/>
            </a:endParaRPr>
          </a:p>
        </p:txBody>
      </p:sp>
      <p:sp>
        <p:nvSpPr>
          <p:cNvPr id="94" name="PlaceHolder 2"/>
          <p:cNvSpPr>
            <a:spLocks noGrp="1"/>
          </p:cNvSpPr>
          <p:nvPr>
            <p:ph/>
          </p:nvPr>
        </p:nvSpPr>
        <p:spPr>
          <a:xfrm>
            <a:off x="1097280" y="1845720"/>
            <a:ext cx="10850400" cy="4023000"/>
          </a:xfrm>
          <a:prstGeom prst="rect">
            <a:avLst/>
          </a:prstGeom>
          <a:noFill/>
          <a:ln w="0">
            <a:noFill/>
          </a:ln>
        </p:spPr>
        <p:txBody>
          <a:bodyPr lIns="0" rIns="0" anchor="t">
            <a:normAutofit/>
          </a:bodyPr>
          <a:lstStyle/>
          <a:p>
            <a:pPr marL="91440" indent="-152280" algn="just">
              <a:lnSpc>
                <a:spcPct val="90000"/>
              </a:lnSpc>
              <a:buClr>
                <a:srgbClr val="E48312"/>
              </a:buClr>
              <a:buFont typeface="Noto Sans Symbols"/>
              <a:buChar char="▪"/>
            </a:pPr>
            <a:r>
              <a:rPr lang="en-US" sz="2400" b="0" strike="noStrike" spc="-1" dirty="0">
                <a:solidFill>
                  <a:srgbClr val="3F3F3F"/>
                </a:solidFill>
                <a:latin typeface="Calibri"/>
                <a:ea typeface="Calibri"/>
              </a:rPr>
              <a:t>If someone steals your bicycle, you no longer have it. If someone takes away a computer belonging to a company, the company no longer has it. </a:t>
            </a:r>
            <a:endParaRPr lang="en-US" sz="2400" b="0" strike="noStrike" spc="-1" dirty="0">
              <a:solidFill>
                <a:srgbClr val="000000"/>
              </a:solidFill>
              <a:latin typeface="Arial"/>
            </a:endParaRPr>
          </a:p>
          <a:p>
            <a:pPr marL="91440" indent="-152280" algn="just">
              <a:lnSpc>
                <a:spcPct val="90000"/>
              </a:lnSpc>
              <a:spcBef>
                <a:spcPts val="1400"/>
              </a:spcBef>
              <a:buClr>
                <a:srgbClr val="E48312"/>
              </a:buClr>
              <a:buFont typeface="Noto Sans Symbols"/>
              <a:buChar char="▪"/>
            </a:pPr>
            <a:r>
              <a:rPr lang="en-US" sz="2400" b="0" strike="noStrike" spc="-1" dirty="0">
                <a:solidFill>
                  <a:srgbClr val="3F3F3F"/>
                </a:solidFill>
                <a:latin typeface="Calibri"/>
                <a:ea typeface="Calibri"/>
              </a:rPr>
              <a:t>If you invent a drug that will cure all known illnesses and leave the formula on your desk, someone can come along, read the formula, remember it, and go away and make a fortune out of manufacturing the drug. But you still have the formula even though the other person now has it as well. </a:t>
            </a:r>
            <a:endParaRPr lang="en-US" sz="2400" b="0" strike="noStrike" spc="-1" dirty="0">
              <a:solidFill>
                <a:srgbClr val="000000"/>
              </a:solidFill>
              <a:latin typeface="Arial"/>
            </a:endParaRPr>
          </a:p>
          <a:p>
            <a:pPr marL="91440" indent="-152280" algn="just">
              <a:lnSpc>
                <a:spcPct val="90000"/>
              </a:lnSpc>
              <a:spcBef>
                <a:spcPts val="1400"/>
              </a:spcBef>
              <a:buClr>
                <a:srgbClr val="E48312"/>
              </a:buClr>
              <a:buFont typeface="Noto Sans Symbols"/>
              <a:buChar char="▪"/>
            </a:pPr>
            <a:r>
              <a:rPr lang="en-US" sz="2400" b="0" strike="noStrike" spc="-1" dirty="0">
                <a:solidFill>
                  <a:srgbClr val="3F3F3F"/>
                </a:solidFill>
                <a:latin typeface="Calibri"/>
                <a:ea typeface="Calibri"/>
              </a:rPr>
              <a:t>This shows that the formula – more generally, any piece of information – is not property in the same way that a bicycle is.</a:t>
            </a:r>
            <a:endParaRPr lang="en-US" sz="24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Intellectual property</a:t>
            </a:r>
            <a:endParaRPr lang="en-US" sz="4800" b="0" strike="noStrike" spc="-1">
              <a:solidFill>
                <a:srgbClr val="000000"/>
              </a:solidFill>
              <a:latin typeface="Arial"/>
            </a:endParaRPr>
          </a:p>
        </p:txBody>
      </p:sp>
      <p:sp>
        <p:nvSpPr>
          <p:cNvPr id="9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nSpc>
                <a:spcPct val="90000"/>
              </a:lnSpc>
              <a:buNone/>
              <a:tabLst>
                <a:tab pos="0" algn="l"/>
              </a:tabLst>
            </a:pPr>
            <a:r>
              <a:rPr lang="en-US" sz="2000" b="0" strike="noStrike" spc="-1" dirty="0">
                <a:solidFill>
                  <a:srgbClr val="3F3F3F"/>
                </a:solidFill>
                <a:latin typeface="Calibri"/>
                <a:ea typeface="Calibri"/>
              </a:rPr>
              <a:t>    Property such as bicycles or computers is called tangible property, that is, property that can be touched. It is protected by laws relating to theft and damage.</a:t>
            </a:r>
            <a:endParaRPr lang="en-US" sz="2000" b="0" strike="noStrike" spc="-1" dirty="0">
              <a:solidFill>
                <a:srgbClr val="000000"/>
              </a:solidFill>
              <a:latin typeface="Arial"/>
            </a:endParaRPr>
          </a:p>
          <a:p>
            <a:pPr>
              <a:lnSpc>
                <a:spcPct val="90000"/>
              </a:lnSpc>
              <a:spcBef>
                <a:spcPts val="1400"/>
              </a:spcBef>
              <a:buNone/>
              <a:tabLst>
                <a:tab pos="0" algn="l"/>
              </a:tabLst>
            </a:pPr>
            <a:r>
              <a:rPr lang="en-US" sz="2000" b="0" strike="noStrike" spc="-1" dirty="0">
                <a:solidFill>
                  <a:srgbClr val="3F3F3F"/>
                </a:solidFill>
                <a:latin typeface="Calibri"/>
                <a:ea typeface="Calibri"/>
              </a:rPr>
              <a:t>    Property that is intangible is known as </a:t>
            </a:r>
            <a:r>
              <a:rPr lang="en-US" sz="2000" b="0" i="1" strike="noStrike" spc="-1" dirty="0">
                <a:solidFill>
                  <a:srgbClr val="3F3F3F"/>
                </a:solidFill>
                <a:latin typeface="Calibri"/>
                <a:ea typeface="Calibri"/>
              </a:rPr>
              <a:t>intellectual property</a:t>
            </a:r>
            <a:r>
              <a:rPr lang="en-US" sz="2000" b="0" strike="noStrike" spc="-1" dirty="0">
                <a:solidFill>
                  <a:srgbClr val="3F3F3F"/>
                </a:solidFill>
                <a:latin typeface="Calibri"/>
                <a:ea typeface="Calibri"/>
              </a:rPr>
              <a:t>. It is governed by a different set of laws, concerned with </a:t>
            </a:r>
            <a:r>
              <a:rPr lang="en-US" sz="2000" b="0" i="1" strike="noStrike" spc="-1" dirty="0">
                <a:solidFill>
                  <a:srgbClr val="3F3F3F"/>
                </a:solidFill>
                <a:latin typeface="Calibri"/>
                <a:ea typeface="Calibri"/>
              </a:rPr>
              <a:t>intellectual property</a:t>
            </a:r>
            <a:r>
              <a:rPr lang="en-US" sz="2000" b="0" strike="noStrike" spc="-1" dirty="0">
                <a:solidFill>
                  <a:srgbClr val="3F3F3F"/>
                </a:solidFill>
                <a:latin typeface="Calibri"/>
                <a:ea typeface="Calibri"/>
              </a:rPr>
              <a:t> </a:t>
            </a:r>
            <a:r>
              <a:rPr lang="en-US" sz="2000" b="0" i="1" strike="noStrike" spc="-1" dirty="0">
                <a:solidFill>
                  <a:srgbClr val="3F3F3F"/>
                </a:solidFill>
                <a:latin typeface="Calibri"/>
                <a:ea typeface="Calibri"/>
              </a:rPr>
              <a:t>rights</a:t>
            </a:r>
            <a:r>
              <a:rPr lang="en-US" sz="2000" b="0" strike="noStrike" spc="-1" dirty="0">
                <a:solidFill>
                  <a:srgbClr val="3F3F3F"/>
                </a:solidFill>
                <a:latin typeface="Calibri"/>
                <a:ea typeface="Calibri"/>
              </a:rPr>
              <a:t>, that is, rights to use, copy, or reveal information about intellectual property.</a:t>
            </a:r>
            <a:endParaRPr lang="en-US" sz="2000" spc="-1" dirty="0">
              <a:solidFill>
                <a:srgbClr val="000000"/>
              </a:solidFill>
              <a:latin typeface="Arial"/>
              <a:ea typeface="Calibri"/>
            </a:endParaRPr>
          </a:p>
          <a:p>
            <a:pPr>
              <a:lnSpc>
                <a:spcPct val="90000"/>
              </a:lnSpc>
              <a:spcBef>
                <a:spcPts val="1400"/>
              </a:spcBef>
              <a:buNone/>
              <a:tabLst>
                <a:tab pos="0" algn="l"/>
              </a:tabLst>
            </a:pPr>
            <a:endParaRPr lang="en-US" sz="2000" b="0" strike="noStrike" spc="-1" dirty="0">
              <a:solidFill>
                <a:srgbClr val="000000"/>
              </a:solidFill>
              <a:latin typeface="Arial"/>
            </a:endParaRPr>
          </a:p>
          <a:p>
            <a:pPr>
              <a:lnSpc>
                <a:spcPct val="90000"/>
              </a:lnSpc>
              <a:buNone/>
              <a:tabLst>
                <a:tab pos="0" algn="l"/>
              </a:tabLst>
            </a:pPr>
            <a:r>
              <a:rPr lang="en-US" sz="2000" b="0" strike="noStrike" spc="-1" dirty="0">
                <a:solidFill>
                  <a:srgbClr val="3F3F3F"/>
                </a:solidFill>
                <a:latin typeface="Calibri"/>
                <a:ea typeface="Calibri"/>
              </a:rPr>
              <a:t>   Software is intangible property. The industry can only therefore protect its assets by using intellectual property</a:t>
            </a:r>
            <a:r>
              <a:rPr lang="en-US" sz="2000" spc="-1" dirty="0">
                <a:solidFill>
                  <a:srgbClr val="000000"/>
                </a:solidFill>
                <a:latin typeface="Arial"/>
              </a:rPr>
              <a:t> </a:t>
            </a:r>
            <a:r>
              <a:rPr lang="en-US" sz="2000" b="0" strike="noStrike" spc="-1" dirty="0">
                <a:solidFill>
                  <a:srgbClr val="3F3F3F"/>
                </a:solidFill>
                <a:latin typeface="Calibri"/>
                <a:ea typeface="Calibri"/>
              </a:rPr>
              <a:t>rights.</a:t>
            </a:r>
            <a:endParaRPr lang="en-US" sz="20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Laws</a:t>
            </a:r>
            <a:endParaRPr lang="en-US" sz="4800" b="0" strike="noStrike" spc="-1">
              <a:solidFill>
                <a:srgbClr val="000000"/>
              </a:solidFill>
              <a:latin typeface="Arial"/>
            </a:endParaRPr>
          </a:p>
        </p:txBody>
      </p:sp>
      <p:sp>
        <p:nvSpPr>
          <p:cNvPr id="9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nSpc>
                <a:spcPct val="90000"/>
              </a:lnSpc>
              <a:buNone/>
              <a:tabLst>
                <a:tab pos="0" algn="l"/>
              </a:tabLst>
            </a:pPr>
            <a:r>
              <a:rPr lang="en-US" sz="2000" b="0" strike="noStrike" spc="-1" dirty="0">
                <a:solidFill>
                  <a:srgbClr val="3F3F3F"/>
                </a:solidFill>
                <a:latin typeface="Calibri"/>
                <a:ea typeface="Calibri"/>
              </a:rPr>
              <a:t>1. The international law relating to trademarks and patents is based on the Paris Convention, which was signed in 1883. </a:t>
            </a:r>
            <a:endParaRPr lang="en-US" sz="2000" b="0" strike="noStrike" spc="-1" dirty="0">
              <a:solidFill>
                <a:srgbClr val="000000"/>
              </a:solidFill>
              <a:latin typeface="Arial"/>
            </a:endParaRPr>
          </a:p>
          <a:p>
            <a:pPr>
              <a:lnSpc>
                <a:spcPct val="90000"/>
              </a:lnSpc>
              <a:buNone/>
              <a:tabLst>
                <a:tab pos="0" algn="l"/>
              </a:tabLst>
            </a:pPr>
            <a:r>
              <a:rPr lang="en-US" sz="2000" b="0" strike="noStrike" spc="-1" dirty="0">
                <a:solidFill>
                  <a:srgbClr val="3F3F3F"/>
                </a:solidFill>
                <a:latin typeface="Calibri"/>
                <a:ea typeface="Calibri"/>
              </a:rPr>
              <a:t>2. The Berne Convention, which lies at the basis of international copyright law, was signed in 1886.</a:t>
            </a:r>
            <a:endParaRPr lang="en-US" sz="2000" b="0" strike="noStrike" spc="-1" dirty="0">
              <a:solidFill>
                <a:srgbClr val="000000"/>
              </a:solidFill>
              <a:latin typeface="Arial"/>
            </a:endParaRPr>
          </a:p>
          <a:p>
            <a:pPr>
              <a:lnSpc>
                <a:spcPct val="90000"/>
              </a:lnSpc>
              <a:buNone/>
              <a:tabLst>
                <a:tab pos="0" algn="l"/>
              </a:tabLst>
            </a:pPr>
            <a:endParaRPr lang="en-US" sz="2000" b="0" strike="noStrike" spc="-1" dirty="0">
              <a:solidFill>
                <a:srgbClr val="000000"/>
              </a:solidFill>
              <a:latin typeface="Arial"/>
            </a:endParaRPr>
          </a:p>
          <a:p>
            <a:pPr>
              <a:lnSpc>
                <a:spcPct val="90000"/>
              </a:lnSpc>
              <a:buNone/>
              <a:tabLst>
                <a:tab pos="0" algn="l"/>
              </a:tabLst>
            </a:pPr>
            <a:endParaRPr lang="en-US" sz="2000" b="0" strike="noStrike" spc="-1" dirty="0">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DIFFERENT TYPES OF INTELLECTUAL PROPERTY RIGHTS</a:t>
            </a:r>
            <a:endParaRPr lang="en-US" sz="4800" b="0" strike="noStrike" spc="-1">
              <a:solidFill>
                <a:srgbClr val="000000"/>
              </a:solidFill>
              <a:latin typeface="Arial"/>
            </a:endParaRPr>
          </a:p>
        </p:txBody>
      </p:sp>
      <p:sp>
        <p:nvSpPr>
          <p:cNvPr id="100"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127080">
              <a:lnSpc>
                <a:spcPct val="90000"/>
              </a:lnSpc>
              <a:buClr>
                <a:srgbClr val="E48312"/>
              </a:buClr>
              <a:buFont typeface="Calibri"/>
              <a:buChar char="●"/>
            </a:pPr>
            <a:r>
              <a:rPr lang="en-US" sz="2000" b="0" i="1" strike="noStrike" spc="-1" dirty="0">
                <a:solidFill>
                  <a:srgbClr val="3F3F3F"/>
                </a:solidFill>
                <a:latin typeface="Calibri"/>
                <a:ea typeface="Calibri"/>
              </a:rPr>
              <a:t>Copyright </a:t>
            </a:r>
            <a:r>
              <a:rPr lang="en-US" sz="2000" b="0" strike="noStrike" spc="-1" dirty="0">
                <a:solidFill>
                  <a:srgbClr val="3F3F3F"/>
                </a:solidFill>
                <a:latin typeface="Calibri"/>
                <a:ea typeface="Calibri"/>
              </a:rPr>
              <a:t>is, as the name suggests, concerned with the right to copy something. It may be a written document, a picture or photograph, a piece of music, a recording, or many other things, including a computer program.</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pPr>
            <a:r>
              <a:rPr lang="en-US" sz="2000" b="0" i="1" strike="noStrike" spc="-1" dirty="0">
                <a:solidFill>
                  <a:srgbClr val="3F3F3F"/>
                </a:solidFill>
                <a:latin typeface="Calibri"/>
                <a:ea typeface="Calibri"/>
              </a:rPr>
              <a:t>Patents </a:t>
            </a:r>
            <a:r>
              <a:rPr lang="en-US" sz="2000" b="0" strike="noStrike" spc="-1" dirty="0">
                <a:solidFill>
                  <a:srgbClr val="3F3F3F"/>
                </a:solidFill>
                <a:latin typeface="Calibri"/>
                <a:ea typeface="Calibri"/>
              </a:rPr>
              <a:t>are primarily intended to protect inventions, by giving inventors a monopoly on exploiting their inventions for a certain period.</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pPr>
            <a:r>
              <a:rPr lang="en-US" sz="2000" b="0" i="1" strike="noStrike" spc="-1" dirty="0">
                <a:solidFill>
                  <a:srgbClr val="3F3F3F"/>
                </a:solidFill>
                <a:latin typeface="Calibri"/>
                <a:ea typeface="Calibri"/>
              </a:rPr>
              <a:t>Confidential information </a:t>
            </a:r>
            <a:r>
              <a:rPr lang="en-US" sz="2000" b="0" strike="noStrike" spc="-1" dirty="0">
                <a:solidFill>
                  <a:srgbClr val="3F3F3F"/>
                </a:solidFill>
                <a:latin typeface="Calibri"/>
                <a:ea typeface="Calibri"/>
              </a:rPr>
              <a:t>is information that a person receives in circumstances that make it clear they must not pass it on.</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pPr>
            <a:r>
              <a:rPr lang="en-US" sz="2000" b="0" i="1" strike="noStrike" spc="-1" dirty="0">
                <a:solidFill>
                  <a:srgbClr val="3F3F3F"/>
                </a:solidFill>
                <a:latin typeface="Calibri"/>
                <a:ea typeface="Calibri"/>
              </a:rPr>
              <a:t>Trademarks </a:t>
            </a:r>
            <a:r>
              <a:rPr lang="en-US" sz="2000" b="0" strike="noStrike" spc="-1" dirty="0">
                <a:solidFill>
                  <a:srgbClr val="3F3F3F"/>
                </a:solidFill>
                <a:latin typeface="Calibri"/>
                <a:ea typeface="Calibri"/>
              </a:rPr>
              <a:t>identify the product of a particular manufacturer or supplier.</a:t>
            </a:r>
            <a:endParaRPr lang="en-US" sz="2000" b="0" strike="noStrike" spc="-1" dirty="0">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Example </a:t>
            </a:r>
            <a:endParaRPr lang="en-US" sz="4800" b="0" strike="noStrike" spc="-1">
              <a:solidFill>
                <a:srgbClr val="000000"/>
              </a:solidFill>
              <a:latin typeface="Arial"/>
            </a:endParaRPr>
          </a:p>
        </p:txBody>
      </p:sp>
      <p:sp>
        <p:nvSpPr>
          <p:cNvPr id="10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133200" algn="just">
              <a:lnSpc>
                <a:spcPct val="90000"/>
              </a:lnSpc>
              <a:spcBef>
                <a:spcPts val="1400"/>
              </a:spcBef>
              <a:buClr>
                <a:srgbClr val="E48312"/>
              </a:buClr>
              <a:buFont typeface="Calibri"/>
              <a:buChar char="●"/>
            </a:pPr>
            <a:r>
              <a:rPr lang="en-US" sz="2100" b="0" i="1" strike="noStrike" spc="-1">
                <a:solidFill>
                  <a:srgbClr val="3F3F3F"/>
                </a:solidFill>
                <a:latin typeface="Calibri"/>
                <a:ea typeface="Calibri"/>
              </a:rPr>
              <a:t>Suppose, for example, that a company has developed an innovative computer game called ‘Spookcatcher’. The game is marketed in packaging that features the name superimposed on the image of a ghost. It comes with an add-on device that the company has invented called a wailer. This attaches to the computer and emits very convincing ghostly wails at suitable points in the action. The software uses some very clever data structures developed within the company that make it possible to achieve very high performance.</a:t>
            </a:r>
            <a:endParaRPr lang="en-US" sz="2100" b="0" strike="noStrike" spc="-1">
              <a:solidFill>
                <a:srgbClr val="000000"/>
              </a:solidFill>
              <a:latin typeface="Arial"/>
            </a:endParaRPr>
          </a:p>
          <a:p>
            <a:pPr algn="just">
              <a:lnSpc>
                <a:spcPct val="90000"/>
              </a:lnSpc>
              <a:spcBef>
                <a:spcPts val="1400"/>
              </a:spcBef>
              <a:buNone/>
              <a:tabLst>
                <a:tab pos="0" algn="l"/>
              </a:tabLst>
            </a:pPr>
            <a:endParaRPr lang="en-US" sz="21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677160" y="609480"/>
            <a:ext cx="8596440" cy="87732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COPYRIGHT</a:t>
            </a:r>
            <a:endParaRPr lang="en-US" sz="4800" b="0" strike="noStrike" spc="-1">
              <a:solidFill>
                <a:srgbClr val="000000"/>
              </a:solidFill>
              <a:latin typeface="Arial"/>
            </a:endParaRPr>
          </a:p>
        </p:txBody>
      </p:sp>
      <p:sp>
        <p:nvSpPr>
          <p:cNvPr id="104" name="PlaceHolder 2"/>
          <p:cNvSpPr>
            <a:spLocks noGrp="1"/>
          </p:cNvSpPr>
          <p:nvPr>
            <p:ph/>
          </p:nvPr>
        </p:nvSpPr>
        <p:spPr>
          <a:xfrm>
            <a:off x="816840" y="1886400"/>
            <a:ext cx="10626120" cy="4407120"/>
          </a:xfrm>
          <a:prstGeom prst="rect">
            <a:avLst/>
          </a:prstGeom>
          <a:noFill/>
          <a:ln w="0">
            <a:noFill/>
          </a:ln>
        </p:spPr>
        <p:txBody>
          <a:bodyPr lIns="0" rIns="0" anchor="t">
            <a:normAutofit/>
          </a:bodyPr>
          <a:lstStyle/>
          <a:p>
            <a:pPr marL="91440" indent="-127080" algn="just">
              <a:lnSpc>
                <a:spcPct val="90000"/>
              </a:lnSpc>
              <a:buClr>
                <a:srgbClr val="E48312"/>
              </a:buClr>
              <a:buFont typeface="Noto Sans Symbols"/>
              <a:buChar char="▪"/>
            </a:pPr>
            <a:r>
              <a:rPr lang="en-US" sz="2000" b="0" strike="noStrike" spc="-1">
                <a:solidFill>
                  <a:srgbClr val="3F3F3F"/>
                </a:solidFill>
                <a:latin typeface="Calibri"/>
                <a:ea typeface="Calibri"/>
              </a:rPr>
              <a:t>Copyright is associated primarily with the right to copy something. The ‘something’ is known as the work.</a:t>
            </a:r>
            <a:endParaRPr lang="en-US" sz="2000" b="0" strike="noStrike" spc="-1">
              <a:solidFill>
                <a:srgbClr val="000000"/>
              </a:solidFill>
              <a:latin typeface="Arial"/>
            </a:endParaRPr>
          </a:p>
          <a:p>
            <a:pPr marL="91440" indent="-127080" algn="just">
              <a:lnSpc>
                <a:spcPct val="90000"/>
              </a:lnSpc>
              <a:spcBef>
                <a:spcPts val="1400"/>
              </a:spcBef>
              <a:buClr>
                <a:srgbClr val="E48312"/>
              </a:buClr>
              <a:buFont typeface="Noto Sans Symbols"/>
              <a:buChar char="▪"/>
            </a:pPr>
            <a:r>
              <a:rPr lang="en-US" sz="2000" b="0" strike="noStrike" spc="-1">
                <a:solidFill>
                  <a:srgbClr val="3F3F3F"/>
                </a:solidFill>
                <a:latin typeface="Calibri"/>
                <a:ea typeface="Calibri"/>
              </a:rPr>
              <a:t>Only certain types of work are protected by copyright law. The types that concern us here are ‘original literary, dramatic, musical or artistic’ works. The 1988 Copyright Design and Patents Act states that the term ‘literary work’ includes a table or compilation, a computer program, preparatory design material for a computer program and certain databases.</a:t>
            </a:r>
            <a:endParaRPr lang="en-US" sz="2000" b="0" strike="noStrike" spc="-1">
              <a:solidFill>
                <a:srgbClr val="000000"/>
              </a:solidFill>
              <a:latin typeface="Arial"/>
            </a:endParaRPr>
          </a:p>
          <a:p>
            <a:pPr marL="91440" indent="-127080" algn="just">
              <a:lnSpc>
                <a:spcPct val="90000"/>
              </a:lnSpc>
              <a:spcBef>
                <a:spcPts val="1400"/>
              </a:spcBef>
              <a:buClr>
                <a:srgbClr val="E48312"/>
              </a:buClr>
              <a:buFont typeface="Noto Sans Symbols"/>
              <a:buChar char="▪"/>
            </a:pPr>
            <a:r>
              <a:rPr lang="en-US" sz="2000" b="0" strike="noStrike" spc="-1">
                <a:solidFill>
                  <a:srgbClr val="3F3F3F"/>
                </a:solidFill>
                <a:latin typeface="Calibri"/>
                <a:ea typeface="Calibri"/>
              </a:rPr>
              <a:t>Copyright comes into existence when the work is written down or recorded in some other way. It is not necessary to register it in any way.</a:t>
            </a:r>
            <a:endParaRPr lang="en-US" sz="20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677160" y="609480"/>
            <a:ext cx="9744120" cy="74340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The rights of the copyright owner</a:t>
            </a:r>
            <a:endParaRPr lang="en-US" sz="4800" b="0" strike="noStrike" spc="-1">
              <a:solidFill>
                <a:srgbClr val="000000"/>
              </a:solidFill>
              <a:latin typeface="Arial"/>
            </a:endParaRPr>
          </a:p>
        </p:txBody>
      </p:sp>
      <p:sp>
        <p:nvSpPr>
          <p:cNvPr id="106" name="PlaceHolder 2"/>
          <p:cNvSpPr>
            <a:spLocks noGrp="1"/>
          </p:cNvSpPr>
          <p:nvPr>
            <p:ph/>
          </p:nvPr>
        </p:nvSpPr>
        <p:spPr>
          <a:xfrm>
            <a:off x="842760" y="1882800"/>
            <a:ext cx="10904760" cy="4602240"/>
          </a:xfrm>
          <a:prstGeom prst="rect">
            <a:avLst/>
          </a:prstGeom>
          <a:noFill/>
          <a:ln w="0">
            <a:noFill/>
          </a:ln>
        </p:spPr>
        <p:txBody>
          <a:bodyPr lIns="0" rIns="0" anchor="t">
            <a:normAutofit/>
          </a:bodyPr>
          <a:lstStyle/>
          <a:p>
            <a:pPr marL="91440">
              <a:lnSpc>
                <a:spcPct val="90000"/>
              </a:lnSpc>
              <a:buNone/>
              <a:tabLst>
                <a:tab pos="0" algn="l"/>
              </a:tabLst>
            </a:pPr>
            <a:r>
              <a:rPr lang="en-US" sz="2400" b="0" strike="noStrike" spc="-1">
                <a:solidFill>
                  <a:srgbClr val="3F3F3F"/>
                </a:solidFill>
                <a:latin typeface="Calibri"/>
                <a:ea typeface="Calibri"/>
              </a:rPr>
              <a:t>Copyright law gives the owner of the copyright certain exclusive rights. The rights that are relevant to software and, more generally, to written documents, are the following:</a:t>
            </a:r>
            <a:endParaRPr lang="en-US" sz="2400" b="0" strike="noStrike" spc="-1">
              <a:solidFill>
                <a:srgbClr val="000000"/>
              </a:solidFill>
              <a:latin typeface="Arial"/>
            </a:endParaRPr>
          </a:p>
          <a:p>
            <a:pPr marL="91440" indent="-152280">
              <a:lnSpc>
                <a:spcPct val="90000"/>
              </a:lnSpc>
              <a:spcBef>
                <a:spcPts val="1400"/>
              </a:spcBef>
              <a:buClr>
                <a:srgbClr val="E48312"/>
              </a:buClr>
              <a:buFont typeface="Noto Sans Symbols"/>
              <a:buChar char="▪"/>
              <a:tabLst>
                <a:tab pos="0" algn="l"/>
              </a:tabLst>
            </a:pPr>
            <a:r>
              <a:rPr lang="en-US" sz="2400" b="0" strike="noStrike" spc="-1">
                <a:solidFill>
                  <a:srgbClr val="3F3F3F"/>
                </a:solidFill>
                <a:latin typeface="Calibri"/>
                <a:ea typeface="Calibri"/>
              </a:rPr>
              <a:t> The right to make copies of the work: Making a copy of a work includes copying code from a disc into RAM (random access memory) in order to execute the code. It also includes downloading a page from the web to view on your computer, whether or not you then store the page on your local disk.</a:t>
            </a:r>
            <a:endParaRPr lang="en-US" sz="2400" b="0" strike="noStrike" spc="-1">
              <a:solidFill>
                <a:srgbClr val="000000"/>
              </a:solidFill>
              <a:latin typeface="Arial"/>
            </a:endParaRPr>
          </a:p>
          <a:p>
            <a:pPr marL="91440" indent="-152280">
              <a:lnSpc>
                <a:spcPct val="90000"/>
              </a:lnSpc>
              <a:spcBef>
                <a:spcPts val="1400"/>
              </a:spcBef>
              <a:buClr>
                <a:srgbClr val="E48312"/>
              </a:buClr>
              <a:buFont typeface="Noto Sans Symbols"/>
              <a:buChar char="▪"/>
              <a:tabLst>
                <a:tab pos="0" algn="l"/>
              </a:tabLst>
            </a:pPr>
            <a:r>
              <a:rPr lang="en-US" sz="2400" b="0" strike="noStrike" spc="-1">
                <a:solidFill>
                  <a:srgbClr val="3F3F3F"/>
                </a:solidFill>
                <a:latin typeface="Calibri"/>
                <a:ea typeface="Calibri"/>
              </a:rPr>
              <a:t> The right to issue copies of the work to the public, whether or not they are charged for it.</a:t>
            </a:r>
            <a:endParaRPr lang="en-US" sz="2400" b="0" strike="noStrike" spc="-1">
              <a:solidFill>
                <a:srgbClr val="000000"/>
              </a:solidFill>
              <a:latin typeface="Arial"/>
            </a:endParaRPr>
          </a:p>
          <a:p>
            <a:pPr marL="91440" indent="-152280">
              <a:lnSpc>
                <a:spcPct val="90000"/>
              </a:lnSpc>
              <a:spcBef>
                <a:spcPts val="1400"/>
              </a:spcBef>
              <a:buClr>
                <a:srgbClr val="E48312"/>
              </a:buClr>
              <a:buFont typeface="Noto Sans Symbols"/>
              <a:buChar char="▪"/>
              <a:tabLst>
                <a:tab pos="0" algn="l"/>
              </a:tabLst>
            </a:pPr>
            <a:r>
              <a:rPr lang="en-US" sz="2400" b="0" strike="noStrike" spc="-1">
                <a:solidFill>
                  <a:srgbClr val="3F3F3F"/>
                </a:solidFill>
                <a:latin typeface="Calibri"/>
                <a:ea typeface="Calibri"/>
              </a:rPr>
              <a:t> The right to adapt the work: This includes translating it – whether from English to Chinese or from C to Java.</a:t>
            </a:r>
            <a:endParaRPr lang="en-US" sz="24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677160" y="609480"/>
            <a:ext cx="10582920" cy="74340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The rights of the copyright owner</a:t>
            </a:r>
            <a:endParaRPr lang="en-US" sz="4800" b="0" strike="noStrike" spc="-1">
              <a:solidFill>
                <a:srgbClr val="000000"/>
              </a:solidFill>
              <a:latin typeface="Arial"/>
            </a:endParaRPr>
          </a:p>
        </p:txBody>
      </p:sp>
      <p:sp>
        <p:nvSpPr>
          <p:cNvPr id="108" name="PlaceHolder 2"/>
          <p:cNvSpPr>
            <a:spLocks noGrp="1"/>
          </p:cNvSpPr>
          <p:nvPr>
            <p:ph/>
          </p:nvPr>
        </p:nvSpPr>
        <p:spPr>
          <a:xfrm>
            <a:off x="842760" y="1882800"/>
            <a:ext cx="10904760" cy="4602240"/>
          </a:xfrm>
          <a:prstGeom prst="rect">
            <a:avLst/>
          </a:prstGeom>
          <a:noFill/>
          <a:ln w="0">
            <a:noFill/>
          </a:ln>
        </p:spPr>
        <p:txBody>
          <a:bodyPr lIns="0" rIns="0" anchor="t">
            <a:normAutofit/>
          </a:bodyPr>
          <a:lstStyle/>
          <a:p>
            <a:pPr marL="91440" indent="-152280" algn="just">
              <a:lnSpc>
                <a:spcPct val="90000"/>
              </a:lnSpc>
              <a:buClr>
                <a:srgbClr val="E48312"/>
              </a:buClr>
              <a:buFont typeface="Noto Sans Symbols"/>
              <a:buChar char="▪"/>
            </a:pPr>
            <a:r>
              <a:rPr lang="en-US" sz="2400" b="0" strike="noStrike" spc="-1">
                <a:solidFill>
                  <a:srgbClr val="3F3F3F"/>
                </a:solidFill>
                <a:latin typeface="Calibri"/>
                <a:ea typeface="Calibri"/>
              </a:rPr>
              <a:t>In general, these rights last for 70 years after the death of the author; there are, however, many exceptions and special cases. This is far longer than is likely to be commercially relevant for software, although there is software still in use that was written well over 30 years ago.</a:t>
            </a:r>
            <a:endParaRPr lang="en-US" sz="2400" b="0" strike="noStrike" spc="-1">
              <a:solidFill>
                <a:srgbClr val="000000"/>
              </a:solidFill>
              <a:latin typeface="Arial"/>
            </a:endParaRPr>
          </a:p>
          <a:p>
            <a:pPr marL="91440" indent="-152280" algn="just">
              <a:lnSpc>
                <a:spcPct val="90000"/>
              </a:lnSpc>
              <a:spcBef>
                <a:spcPts val="1400"/>
              </a:spcBef>
              <a:buClr>
                <a:srgbClr val="E48312"/>
              </a:buClr>
              <a:buFont typeface="Noto Sans Symbols"/>
              <a:buChar char="▪"/>
            </a:pPr>
            <a:r>
              <a:rPr lang="en-US" sz="2400" b="0" strike="noStrike" spc="-1">
                <a:solidFill>
                  <a:srgbClr val="3F3F3F"/>
                </a:solidFill>
                <a:latin typeface="Calibri"/>
                <a:ea typeface="Calibri"/>
              </a:rPr>
              <a:t>It is very important to realize that copyright law does not give the owner of the copyright any power to prevent someone else using or publishing identical material, provided they can show that they did not produce it by copying the copyright work</a:t>
            </a:r>
            <a:endParaRPr lang="en-US" sz="24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677160" y="609480"/>
            <a:ext cx="8596440" cy="743400"/>
          </a:xfrm>
          <a:prstGeom prst="rect">
            <a:avLst/>
          </a:prstGeom>
          <a:noFill/>
          <a:ln w="0">
            <a:noFill/>
          </a:ln>
        </p:spPr>
        <p:txBody>
          <a:bodyPr anchor="b">
            <a:normAutofit fontScale="90000"/>
          </a:bodyPr>
          <a:lstStyle/>
          <a:p>
            <a:pPr>
              <a:lnSpc>
                <a:spcPct val="85000"/>
              </a:lnSpc>
              <a:buNone/>
              <a:tabLst>
                <a:tab pos="0" algn="l"/>
              </a:tabLst>
            </a:pPr>
            <a:r>
              <a:rPr lang="en-US" sz="4800" b="1" strike="noStrike" spc="-1">
                <a:solidFill>
                  <a:srgbClr val="3F3F3F"/>
                </a:solidFill>
                <a:latin typeface="Calibri"/>
                <a:ea typeface="Calibri"/>
              </a:rPr>
              <a:t>What you can do to a copyright work</a:t>
            </a:r>
            <a:endParaRPr lang="en-US" sz="4800" b="0" strike="noStrike" spc="-1">
              <a:solidFill>
                <a:srgbClr val="000000"/>
              </a:solidFill>
              <a:latin typeface="Arial"/>
            </a:endParaRPr>
          </a:p>
        </p:txBody>
      </p:sp>
      <p:sp>
        <p:nvSpPr>
          <p:cNvPr id="110" name="PlaceHolder 2"/>
          <p:cNvSpPr>
            <a:spLocks noGrp="1"/>
          </p:cNvSpPr>
          <p:nvPr>
            <p:ph/>
          </p:nvPr>
        </p:nvSpPr>
        <p:spPr>
          <a:xfrm>
            <a:off x="747000" y="1887840"/>
            <a:ext cx="10965600" cy="4492440"/>
          </a:xfrm>
          <a:prstGeom prst="rect">
            <a:avLst/>
          </a:prstGeom>
          <a:noFill/>
          <a:ln w="0">
            <a:noFill/>
          </a:ln>
        </p:spPr>
        <p:txBody>
          <a:bodyPr lIns="0" rIns="0" anchor="t">
            <a:normAutofit/>
          </a:bodyPr>
          <a:lstStyle/>
          <a:p>
            <a:pPr marL="91440" indent="-127080">
              <a:lnSpc>
                <a:spcPct val="90000"/>
              </a:lnSpc>
              <a:buClr>
                <a:srgbClr val="E48312"/>
              </a:buClr>
              <a:buFont typeface="Noto Sans Symbols"/>
              <a:buChar char="▪"/>
            </a:pPr>
            <a:r>
              <a:rPr lang="en-US" sz="2000" b="0" strike="noStrike" spc="-1">
                <a:solidFill>
                  <a:srgbClr val="3F3F3F"/>
                </a:solidFill>
                <a:latin typeface="Calibri"/>
                <a:ea typeface="Calibri"/>
              </a:rPr>
              <a:t>The law specifically permits certain actions in relation to a copyright work and some of these are of particular relevance to software.</a:t>
            </a:r>
            <a:endParaRPr lang="en-US" sz="2000" b="0" strike="noStrike" spc="-1">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a:solidFill>
                  <a:srgbClr val="3F3F3F"/>
                </a:solidFill>
                <a:latin typeface="Calibri"/>
                <a:ea typeface="Calibri"/>
              </a:rPr>
              <a:t>First, it is explicitly stated that it is not an infringement of copyright to make a backup of a program that you are authorized to use. However, only one such copy is allowed. If the program is stored in a filing system with a sophisticated backup system, multiple backup copies are likely to come into existence.</a:t>
            </a:r>
            <a:endParaRPr lang="en-US" sz="2000" b="0" strike="noStrike" spc="-1">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a:solidFill>
                  <a:srgbClr val="3F3F3F"/>
                </a:solidFill>
                <a:latin typeface="Calibri"/>
                <a:ea typeface="Calibri"/>
              </a:rPr>
              <a:t>Secondly, you can ‘decompile’ a program in order to correct errors in it. You can also decompile a program in order to obtain the information you need to write a program that will ‘interoperate’ with it, provided this information is not available to you in any other way.</a:t>
            </a:r>
            <a:endParaRPr lang="en-US" sz="2000" b="0" strike="noStrike" spc="-1">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a:solidFill>
                  <a:srgbClr val="3F3F3F"/>
                </a:solidFill>
                <a:latin typeface="Calibri"/>
                <a:ea typeface="Calibri"/>
              </a:rPr>
              <a:t>Thirdly, you can sell your right to use a program in much the same way that you can sell a book you own. However, when you do this, you sell all your rights. In particular, you must not retain a copy of the program.</a:t>
            </a:r>
            <a:endParaRPr lang="en-US" sz="20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677160" y="609480"/>
            <a:ext cx="8596440" cy="74340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Copyright Case Studies</a:t>
            </a:r>
            <a:endParaRPr lang="en-US" sz="4800" b="0" strike="noStrike" spc="-1">
              <a:solidFill>
                <a:srgbClr val="000000"/>
              </a:solidFill>
              <a:latin typeface="Arial"/>
            </a:endParaRPr>
          </a:p>
        </p:txBody>
      </p:sp>
      <p:sp>
        <p:nvSpPr>
          <p:cNvPr id="112" name="PlaceHolder 2"/>
          <p:cNvSpPr>
            <a:spLocks noGrp="1"/>
          </p:cNvSpPr>
          <p:nvPr>
            <p:ph/>
          </p:nvPr>
        </p:nvSpPr>
        <p:spPr>
          <a:xfrm>
            <a:off x="747000" y="1887840"/>
            <a:ext cx="10965600" cy="4492440"/>
          </a:xfrm>
          <a:prstGeom prst="rect">
            <a:avLst/>
          </a:prstGeom>
          <a:noFill/>
          <a:ln w="0">
            <a:noFill/>
          </a:ln>
        </p:spPr>
        <p:txBody>
          <a:bodyPr lIns="0" rIns="0" anchor="t">
            <a:normAutofit/>
          </a:bodyPr>
          <a:lstStyle/>
          <a:p>
            <a:pPr marL="91440" indent="-127080">
              <a:lnSpc>
                <a:spcPct val="90000"/>
              </a:lnSpc>
              <a:buClr>
                <a:srgbClr val="E48312"/>
              </a:buClr>
              <a:buFont typeface="Noto Sans Symbols"/>
              <a:buChar char="▪"/>
            </a:pPr>
            <a:r>
              <a:rPr lang="en-US" sz="2000" b="1" strike="noStrike" spc="-1">
                <a:solidFill>
                  <a:srgbClr val="3F3F3F"/>
                </a:solidFill>
                <a:latin typeface="Calibri"/>
                <a:ea typeface="Calibri"/>
              </a:rPr>
              <a:t>Authors Guild v. Google, Inc. (2015)</a:t>
            </a:r>
            <a:r>
              <a:rPr lang="en-US" sz="2000" b="0" strike="noStrike" spc="-1">
                <a:solidFill>
                  <a:srgbClr val="3F3F3F"/>
                </a:solidFill>
                <a:latin typeface="Calibri"/>
                <a:ea typeface="Calibri"/>
              </a:rPr>
              <a:t>: The Authors Guild sued Google over its Google Books project, which scanned millions of books and made portions of them searchable online. Google argued that its use was fair use, as it was transforming the content to create a searchable database, which would help users discover books.</a:t>
            </a:r>
            <a:endParaRPr lang="en-US" sz="2000" b="0" strike="noStrike" spc="-1">
              <a:solidFill>
                <a:srgbClr val="000000"/>
              </a:solidFill>
              <a:latin typeface="Arial"/>
            </a:endParaRPr>
          </a:p>
          <a:p>
            <a:pPr marL="91440" algn="just">
              <a:lnSpc>
                <a:spcPct val="90000"/>
              </a:lnSpc>
              <a:spcBef>
                <a:spcPts val="1400"/>
              </a:spcBef>
              <a:buNone/>
              <a:tabLst>
                <a:tab pos="0" algn="l"/>
              </a:tabLst>
            </a:pPr>
            <a:endParaRPr lang="en-US" sz="2000" b="0" strike="noStrike" spc="-1">
              <a:solidFill>
                <a:srgbClr val="000000"/>
              </a:solidFill>
              <a:latin typeface="Arial"/>
            </a:endParaRPr>
          </a:p>
          <a:p>
            <a:pPr marL="91440" indent="-127080" algn="just">
              <a:lnSpc>
                <a:spcPct val="90000"/>
              </a:lnSpc>
              <a:spcBef>
                <a:spcPts val="1400"/>
              </a:spcBef>
              <a:buClr>
                <a:srgbClr val="E48312"/>
              </a:buClr>
              <a:buFont typeface="Noto Sans Symbols"/>
              <a:buChar char="▪"/>
              <a:tabLst>
                <a:tab pos="0" algn="l"/>
              </a:tabLst>
            </a:pPr>
            <a:r>
              <a:rPr lang="en-US" sz="2000" b="1" strike="noStrike" spc="-1">
                <a:solidFill>
                  <a:srgbClr val="3F3F3F"/>
                </a:solidFill>
                <a:latin typeface="Calibri"/>
                <a:ea typeface="Calibri"/>
              </a:rPr>
              <a:t>Google Inc. v. Oracle America, Inc. (2021): </a:t>
            </a:r>
            <a:r>
              <a:rPr lang="en-US" sz="2000" b="0" strike="noStrike" spc="-1">
                <a:solidFill>
                  <a:srgbClr val="3F3F3F"/>
                </a:solidFill>
                <a:latin typeface="Calibri"/>
                <a:ea typeface="Calibri"/>
              </a:rPr>
              <a:t>Oracle sued Google, claiming that Google had copied Java’s API (Application Programming Interface) code when developing the Android operating system. Oracle argued that Java’s API was copyrighted and that Google’s use of it without a license was infringement. Google, on the other hand, argued that its use was fair use, as it involved using the Java code to create a new platform that was transformative.</a:t>
            </a:r>
            <a:endParaRPr lang="en-US" sz="2000" b="0" strike="noStrike" spc="-1">
              <a:solidFill>
                <a:srgbClr val="000000"/>
              </a:solidFill>
              <a:latin typeface="Arial"/>
            </a:endParaRPr>
          </a:p>
          <a:p>
            <a:pPr marL="91440" algn="just">
              <a:lnSpc>
                <a:spcPct val="90000"/>
              </a:lnSpc>
              <a:spcBef>
                <a:spcPts val="1400"/>
              </a:spcBef>
              <a:buNone/>
              <a:tabLst>
                <a:tab pos="0" algn="l"/>
              </a:tabLst>
            </a:pPr>
            <a:endParaRPr lang="en-US" sz="20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69040" y="862200"/>
            <a:ext cx="8596440" cy="8042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Databases</a:t>
            </a:r>
            <a:endParaRPr lang="en-US" sz="4800" b="0" strike="noStrike" spc="-1">
              <a:solidFill>
                <a:srgbClr val="000000"/>
              </a:solidFill>
              <a:latin typeface="Arial"/>
            </a:endParaRPr>
          </a:p>
        </p:txBody>
      </p:sp>
      <p:sp>
        <p:nvSpPr>
          <p:cNvPr id="114" name="PlaceHolder 2"/>
          <p:cNvSpPr>
            <a:spLocks noGrp="1"/>
          </p:cNvSpPr>
          <p:nvPr>
            <p:ph/>
          </p:nvPr>
        </p:nvSpPr>
        <p:spPr>
          <a:xfrm>
            <a:off x="807840" y="1906200"/>
            <a:ext cx="10939680" cy="4374000"/>
          </a:xfrm>
          <a:prstGeom prst="rect">
            <a:avLst/>
          </a:prstGeom>
          <a:noFill/>
          <a:ln w="0">
            <a:noFill/>
          </a:ln>
        </p:spPr>
        <p:txBody>
          <a:bodyPr lIns="0" rIns="0" anchor="t">
            <a:normAutofit/>
          </a:bodyPr>
          <a:lstStyle/>
          <a:p>
            <a:pPr marL="91440" indent="-127080">
              <a:lnSpc>
                <a:spcPct val="90000"/>
              </a:lnSpc>
              <a:buClr>
                <a:srgbClr val="E48312"/>
              </a:buClr>
              <a:buFont typeface="Noto Sans Symbols"/>
              <a:buChar char="▪"/>
            </a:pPr>
            <a:r>
              <a:rPr lang="en-US" sz="2000" b="0" strike="noStrike" spc="-1" dirty="0">
                <a:solidFill>
                  <a:srgbClr val="3F3F3F"/>
                </a:solidFill>
                <a:latin typeface="Calibri"/>
                <a:ea typeface="Calibri"/>
              </a:rPr>
              <a:t>Copyright subsists in a database if ‘its contents constitute the author’s own intellectual creation’. There are many databases that do not satisfy this criterion but which, nonetheless, require a lot of effort and a lot of money to prepare. Examples might include databases of hotels, pop songs, or geographic data. In order to encourage the production of such modest but useful databases, regulations were introduced in 1997 to create a special intellectual property right called the database right.</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dirty="0">
                <a:solidFill>
                  <a:srgbClr val="3F3F3F"/>
                </a:solidFill>
                <a:latin typeface="Calibri"/>
                <a:ea typeface="Calibri"/>
              </a:rPr>
              <a:t>The database right subsists in a database ‘if there has been substantial investment in obtaining, verifying or presenting the contents of the database’.</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dirty="0">
                <a:solidFill>
                  <a:srgbClr val="3F3F3F"/>
                </a:solidFill>
                <a:latin typeface="Calibri"/>
                <a:ea typeface="Calibri"/>
              </a:rPr>
              <a:t>It lasts for 15 years and prevents anyone from extracting or reusing all, or a substantial part of, the database without the owner’s permission.</a:t>
            </a:r>
            <a:endParaRPr lang="en-US" sz="2000" b="0" strike="noStrike" spc="-1" dirty="0">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Copyright infringement</a:t>
            </a:r>
            <a:endParaRPr lang="en-US" sz="4800" b="0" strike="noStrike" spc="-1">
              <a:solidFill>
                <a:srgbClr val="000000"/>
              </a:solidFill>
              <a:latin typeface="Arial"/>
            </a:endParaRPr>
          </a:p>
        </p:txBody>
      </p:sp>
      <p:sp>
        <p:nvSpPr>
          <p:cNvPr id="11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127080">
              <a:lnSpc>
                <a:spcPct val="90000"/>
              </a:lnSpc>
              <a:buClr>
                <a:srgbClr val="E48312"/>
              </a:buClr>
              <a:buFont typeface="Noto Sans Symbols"/>
              <a:buChar char="▪"/>
            </a:pPr>
            <a:r>
              <a:rPr lang="en-US" sz="2000" b="0" strike="noStrike" spc="-1" dirty="0">
                <a:solidFill>
                  <a:srgbClr val="3F3F3F"/>
                </a:solidFill>
                <a:latin typeface="Calibri"/>
                <a:ea typeface="Calibri"/>
              </a:rPr>
              <a:t>Anyone who, without permission, does one of the things that are the exclusive right of the copyright owner is said to infringe the copyright.</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dirty="0">
                <a:solidFill>
                  <a:srgbClr val="3F3F3F"/>
                </a:solidFill>
                <a:latin typeface="Calibri"/>
                <a:ea typeface="Calibri"/>
              </a:rPr>
              <a:t>Primary infringement takes place whenever any of the exclusive rights of the copyright owner is breached.</a:t>
            </a:r>
            <a:endParaRPr lang="en-US" sz="2000" b="0" strike="noStrike" spc="-1" dirty="0">
              <a:solidFill>
                <a:srgbClr val="000000"/>
              </a:solidFill>
              <a:latin typeface="Arial"/>
            </a:endParaRPr>
          </a:p>
          <a:p>
            <a:pPr marL="384120" lvl="1" indent="-182880">
              <a:lnSpc>
                <a:spcPct val="90000"/>
              </a:lnSpc>
              <a:spcBef>
                <a:spcPts val="400"/>
              </a:spcBef>
              <a:buClr>
                <a:srgbClr val="E48312"/>
              </a:buClr>
              <a:buFont typeface="Noto Sans Symbols"/>
              <a:buChar char="▪"/>
            </a:pPr>
            <a:r>
              <a:rPr lang="en-US" sz="1800" b="0" strike="noStrike" spc="-1" dirty="0">
                <a:solidFill>
                  <a:srgbClr val="3F3F3F"/>
                </a:solidFill>
                <a:latin typeface="Calibri"/>
                <a:ea typeface="Calibri"/>
              </a:rPr>
              <a:t>It is a matter for the civil courts and the usual remedies are available: a claim for damages or an injunction to refrain from the infringement are the most likely.</a:t>
            </a:r>
            <a:endParaRPr lang="en-US" sz="1800" b="0" strike="noStrike" spc="-1" dirty="0">
              <a:solidFill>
                <a:srgbClr val="000000"/>
              </a:solidFill>
              <a:latin typeface="Arial"/>
            </a:endParaRPr>
          </a:p>
          <a:p>
            <a:pPr marL="91440" indent="-127080">
              <a:lnSpc>
                <a:spcPct val="90000"/>
              </a:lnSpc>
              <a:spcBef>
                <a:spcPts val="1599"/>
              </a:spcBef>
              <a:buClr>
                <a:srgbClr val="E48312"/>
              </a:buClr>
              <a:buFont typeface="Noto Sans Symbols"/>
              <a:buChar char="▪"/>
            </a:pPr>
            <a:r>
              <a:rPr lang="en-US" sz="2000" b="0" strike="noStrike" spc="-1" dirty="0">
                <a:solidFill>
                  <a:srgbClr val="3F3F3F"/>
                </a:solidFill>
                <a:latin typeface="Calibri"/>
                <a:ea typeface="Calibri"/>
              </a:rPr>
              <a:t>Secondary infringement occurs when primary infringement occurs in a business or commercial context. In the case of software, this could involve trading in pirated software or it could involve using pirated software within a business.</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Noto Sans Symbols"/>
              <a:buChar char="▪"/>
            </a:pPr>
            <a:r>
              <a:rPr lang="en-US" sz="2000" b="0" strike="noStrike" spc="-1" dirty="0">
                <a:solidFill>
                  <a:srgbClr val="3F3F3F"/>
                </a:solidFill>
                <a:latin typeface="Calibri"/>
                <a:ea typeface="Calibri"/>
              </a:rPr>
              <a:t> This is a much more serious matter and may result in criminal proceedings leading to a substantial fine or imprisonment </a:t>
            </a:r>
            <a:endParaRPr lang="en-US" sz="2000" b="0" strike="noStrike" spc="-1" dirty="0">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dirty="0">
                <a:solidFill>
                  <a:srgbClr val="3F3F3F"/>
                </a:solidFill>
                <a:latin typeface="Calibri"/>
                <a:ea typeface="Calibri"/>
              </a:rPr>
              <a:t>Secondary Copyright infringement</a:t>
            </a:r>
            <a:endParaRPr lang="en-US" sz="4800" b="0" strike="noStrike" spc="-1" dirty="0">
              <a:solidFill>
                <a:srgbClr val="000000"/>
              </a:solidFill>
              <a:latin typeface="Arial"/>
            </a:endParaRPr>
          </a:p>
        </p:txBody>
      </p:sp>
      <p:sp>
        <p:nvSpPr>
          <p:cNvPr id="11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127080" algn="just">
              <a:lnSpc>
                <a:spcPct val="90000"/>
              </a:lnSpc>
              <a:buClr>
                <a:srgbClr val="E48312"/>
              </a:buClr>
              <a:buFont typeface="Noto Sans Symbols"/>
              <a:buChar char="▪"/>
            </a:pPr>
            <a:r>
              <a:rPr lang="en-US" sz="2000" b="0" strike="noStrike" spc="-1">
                <a:solidFill>
                  <a:srgbClr val="3F3F3F"/>
                </a:solidFill>
                <a:latin typeface="Calibri"/>
                <a:ea typeface="Calibri"/>
              </a:rPr>
              <a:t>Websites like </a:t>
            </a:r>
            <a:r>
              <a:rPr lang="en-US" sz="2000" b="1" strike="noStrike" spc="-1">
                <a:solidFill>
                  <a:srgbClr val="3F3F3F"/>
                </a:solidFill>
                <a:latin typeface="Calibri"/>
                <a:ea typeface="Calibri"/>
              </a:rPr>
              <a:t>YouTube</a:t>
            </a:r>
            <a:r>
              <a:rPr lang="en-US" sz="2000" b="0" strike="noStrike" spc="-1">
                <a:solidFill>
                  <a:srgbClr val="3F3F3F"/>
                </a:solidFill>
                <a:latin typeface="Calibri"/>
                <a:ea typeface="Calibri"/>
              </a:rPr>
              <a:t> or </a:t>
            </a:r>
            <a:r>
              <a:rPr lang="en-US" sz="2000" b="1" strike="noStrike" spc="-1">
                <a:solidFill>
                  <a:srgbClr val="3F3F3F"/>
                </a:solidFill>
                <a:latin typeface="Calibri"/>
                <a:ea typeface="Calibri"/>
              </a:rPr>
              <a:t>Facebook</a:t>
            </a:r>
            <a:r>
              <a:rPr lang="en-US" sz="2000" b="0" strike="noStrike" spc="-1">
                <a:solidFill>
                  <a:srgbClr val="3F3F3F"/>
                </a:solidFill>
                <a:latin typeface="Calibri"/>
                <a:ea typeface="Calibri"/>
              </a:rPr>
              <a:t> have faced secondary infringement claims for hosting user-uploaded content that includes copyrighted works (like movies, music videos, or TV shows). Even if the platform itself doesn't upload the content, if it has </a:t>
            </a:r>
            <a:r>
              <a:rPr lang="en-US" sz="2000" b="1" strike="noStrike" spc="-1">
                <a:solidFill>
                  <a:srgbClr val="3F3F3F"/>
                </a:solidFill>
                <a:latin typeface="Calibri"/>
                <a:ea typeface="Calibri"/>
              </a:rPr>
              <a:t>actual knowledge</a:t>
            </a:r>
            <a:r>
              <a:rPr lang="en-US" sz="2000" b="0" strike="noStrike" spc="-1">
                <a:solidFill>
                  <a:srgbClr val="3F3F3F"/>
                </a:solidFill>
                <a:latin typeface="Calibri"/>
                <a:ea typeface="Calibri"/>
              </a:rPr>
              <a:t> of infringement and doesn't take it down or prevent it, it can be held liable for secondary infringement.</a:t>
            </a:r>
            <a:endParaRPr lang="en-US" sz="200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Ownership</a:t>
            </a:r>
            <a:endParaRPr lang="en-US" sz="4800" b="0" strike="noStrike" spc="-1">
              <a:solidFill>
                <a:srgbClr val="000000"/>
              </a:solidFill>
              <a:latin typeface="Arial"/>
            </a:endParaRPr>
          </a:p>
        </p:txBody>
      </p:sp>
      <p:sp>
        <p:nvSpPr>
          <p:cNvPr id="120"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91440" indent="-127080">
              <a:lnSpc>
                <a:spcPct val="90000"/>
              </a:lnSpc>
              <a:buClr>
                <a:srgbClr val="E48312"/>
              </a:buClr>
              <a:buFont typeface="Calibri"/>
              <a:buChar char=" "/>
            </a:pPr>
            <a:r>
              <a:rPr lang="en-US" sz="2000" b="0" strike="noStrike" spc="-1" dirty="0">
                <a:solidFill>
                  <a:srgbClr val="3F3F3F"/>
                </a:solidFill>
                <a:latin typeface="Calibri"/>
                <a:ea typeface="Calibri"/>
              </a:rPr>
              <a:t>As a general rule, the </a:t>
            </a:r>
            <a:r>
              <a:rPr lang="en-US" sz="2000" b="0" strike="noStrike" spc="-1" dirty="0">
                <a:solidFill>
                  <a:srgbClr val="3F3F3F"/>
                </a:solidFill>
                <a:highlight>
                  <a:srgbClr val="FFFF00"/>
                </a:highlight>
                <a:latin typeface="Calibri"/>
                <a:ea typeface="Calibri"/>
              </a:rPr>
              <a:t>copyright in a work belongs initially to its author</a:t>
            </a:r>
            <a:r>
              <a:rPr lang="en-US" sz="2000" b="0" strike="noStrike" spc="-1" dirty="0">
                <a:solidFill>
                  <a:srgbClr val="3F3F3F"/>
                </a:solidFill>
                <a:latin typeface="Calibri"/>
                <a:ea typeface="Calibri"/>
              </a:rPr>
              <a:t>. If the work is jointly written by several authors, </a:t>
            </a:r>
            <a:r>
              <a:rPr lang="en-US" sz="2000" b="0" strike="noStrike" spc="-1" dirty="0">
                <a:solidFill>
                  <a:srgbClr val="3F3F3F"/>
                </a:solidFill>
                <a:highlight>
                  <a:srgbClr val="FFFF00"/>
                </a:highlight>
                <a:latin typeface="Calibri"/>
                <a:ea typeface="Calibri"/>
              </a:rPr>
              <a:t>they jointly own the copyright</a:t>
            </a:r>
            <a:r>
              <a:rPr lang="en-US" sz="2000" b="0" strike="noStrike" spc="-1" dirty="0">
                <a:solidFill>
                  <a:srgbClr val="3F3F3F"/>
                </a:solidFill>
                <a:latin typeface="Calibri"/>
                <a:ea typeface="Calibri"/>
              </a:rPr>
              <a:t>.</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
            </a:pPr>
            <a:r>
              <a:rPr lang="en-US" sz="2000" b="0" strike="noStrike" spc="-1" dirty="0">
                <a:solidFill>
                  <a:srgbClr val="3F3F3F"/>
                </a:solidFill>
                <a:latin typeface="Calibri"/>
                <a:ea typeface="Calibri"/>
              </a:rPr>
              <a:t>If the </a:t>
            </a:r>
            <a:r>
              <a:rPr lang="en-US" sz="2000" b="0" strike="noStrike" spc="-1" dirty="0">
                <a:solidFill>
                  <a:srgbClr val="3F3F3F"/>
                </a:solidFill>
                <a:highlight>
                  <a:srgbClr val="FFFF00"/>
                </a:highlight>
                <a:latin typeface="Calibri"/>
                <a:ea typeface="Calibri"/>
              </a:rPr>
              <a:t>author is an employee and has written the work as part of his or her job, then the copyright belongs to the employer</a:t>
            </a:r>
            <a:r>
              <a:rPr lang="en-US" sz="2000" b="0" strike="noStrike" spc="-1" dirty="0">
                <a:solidFill>
                  <a:srgbClr val="3F3F3F"/>
                </a:solidFill>
                <a:latin typeface="Calibri"/>
                <a:ea typeface="Calibri"/>
              </a:rPr>
              <a:t>, unless there is an explicit, written agreement to the contrary.</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
            </a:pPr>
            <a:r>
              <a:rPr lang="en-US" sz="2000" b="0" strike="noStrike" spc="-1" dirty="0">
                <a:solidFill>
                  <a:srgbClr val="3F3F3F"/>
                </a:solidFill>
                <a:latin typeface="Calibri"/>
                <a:ea typeface="Calibri"/>
              </a:rPr>
              <a:t>The </a:t>
            </a:r>
            <a:r>
              <a:rPr lang="en-US" sz="2000" b="0" strike="noStrike" spc="-1" dirty="0">
                <a:solidFill>
                  <a:srgbClr val="3F3F3F"/>
                </a:solidFill>
                <a:highlight>
                  <a:srgbClr val="FFFF00"/>
                </a:highlight>
                <a:latin typeface="Calibri"/>
                <a:ea typeface="Calibri"/>
              </a:rPr>
              <a:t>employer owns the copyright only if the author is legally an employee</a:t>
            </a:r>
            <a:r>
              <a:rPr lang="en-US" sz="2000" b="0" strike="noStrike" spc="-1" dirty="0">
                <a:solidFill>
                  <a:srgbClr val="3F3F3F"/>
                </a:solidFill>
                <a:latin typeface="Calibri"/>
                <a:ea typeface="Calibri"/>
              </a:rPr>
              <a:t>. If the author is an independent contractor, he or she will own the copyright unless there is an agreement to the contrary. For this reason, if a company commissions an independent contractor (freelance programmer) to write software, it is important to have a formal agreement regarding ownership of the copyright in the resulting software.</a:t>
            </a:r>
            <a:endParaRPr lang="en-US" sz="2000" b="0" strike="noStrike" spc="-1" dirty="0">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Licensing </a:t>
            </a:r>
            <a:endParaRPr lang="en-US" sz="4800" b="0" strike="noStrike" spc="-1">
              <a:solidFill>
                <a:srgbClr val="000000"/>
              </a:solidFill>
              <a:latin typeface="Arial"/>
            </a:endParaRPr>
          </a:p>
        </p:txBody>
      </p:sp>
      <p:sp>
        <p:nvSpPr>
          <p:cNvPr id="122" name="PlaceHolder 2"/>
          <p:cNvSpPr>
            <a:spLocks noGrp="1"/>
          </p:cNvSpPr>
          <p:nvPr>
            <p:ph/>
          </p:nvPr>
        </p:nvSpPr>
        <p:spPr>
          <a:xfrm>
            <a:off x="1097280" y="1845720"/>
            <a:ext cx="10525680" cy="4023000"/>
          </a:xfrm>
          <a:prstGeom prst="rect">
            <a:avLst/>
          </a:prstGeom>
          <a:noFill/>
          <a:ln w="0">
            <a:noFill/>
          </a:ln>
        </p:spPr>
        <p:txBody>
          <a:bodyPr lIns="0" rIns="0" anchor="t">
            <a:normAutofit/>
          </a:bodyPr>
          <a:lstStyle/>
          <a:p>
            <a:pPr marL="457200" indent="-343080">
              <a:lnSpc>
                <a:spcPct val="90000"/>
              </a:lnSpc>
              <a:buClr>
                <a:srgbClr val="E48312"/>
              </a:buClr>
              <a:buFont typeface="Calibri"/>
              <a:buChar char="●"/>
            </a:pPr>
            <a:r>
              <a:rPr lang="en-US" sz="2000" b="0" strike="noStrike" spc="-1">
                <a:solidFill>
                  <a:srgbClr val="3F3F3F"/>
                </a:solidFill>
                <a:latin typeface="Calibri"/>
                <a:ea typeface="Calibri"/>
              </a:rPr>
              <a:t>It is very common for the owner of the copyright in a piece of software to license other people or organizations to carry out some of the activities that are otherwise the exclusive right of the copyright owner. </a:t>
            </a:r>
            <a:endParaRPr lang="en-US" sz="2000" b="0" strike="noStrike" spc="-1">
              <a:solidFill>
                <a:srgbClr val="000000"/>
              </a:solidFill>
              <a:latin typeface="Arial"/>
            </a:endParaRPr>
          </a:p>
          <a:p>
            <a:pPr marL="457200" indent="-343080">
              <a:lnSpc>
                <a:spcPct val="90000"/>
              </a:lnSpc>
              <a:buClr>
                <a:srgbClr val="E48312"/>
              </a:buClr>
              <a:buFont typeface="Calibri"/>
              <a:buChar char="●"/>
            </a:pPr>
            <a:r>
              <a:rPr lang="en-US" sz="2000" b="0" strike="noStrike" spc="-1">
                <a:solidFill>
                  <a:srgbClr val="3F3F3F"/>
                </a:solidFill>
                <a:latin typeface="Calibri"/>
                <a:ea typeface="Calibri"/>
              </a:rPr>
              <a:t>The copyright remains the property of the owner, but the </a:t>
            </a:r>
            <a:r>
              <a:rPr lang="en-US" sz="2000" b="0" i="1" strike="noStrike" spc="-1">
                <a:solidFill>
                  <a:srgbClr val="3F3F3F"/>
                </a:solidFill>
                <a:latin typeface="Calibri"/>
                <a:ea typeface="Calibri"/>
              </a:rPr>
              <a:t>licensees </a:t>
            </a:r>
            <a:r>
              <a:rPr lang="en-US" sz="2000" b="0" strike="noStrike" spc="-1">
                <a:solidFill>
                  <a:srgbClr val="3F3F3F"/>
                </a:solidFill>
                <a:latin typeface="Calibri"/>
                <a:ea typeface="Calibri"/>
              </a:rPr>
              <a:t>(the people to whom the software is licensed) acquire certain rights.</a:t>
            </a:r>
            <a:endParaRPr lang="en-US" sz="20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PATENTS</a:t>
            </a:r>
            <a:endParaRPr lang="en-US" sz="4800" b="0" strike="noStrike" spc="-1">
              <a:solidFill>
                <a:srgbClr val="000000"/>
              </a:solidFill>
              <a:latin typeface="Arial"/>
            </a:endParaRPr>
          </a:p>
        </p:txBody>
      </p:sp>
      <p:sp>
        <p:nvSpPr>
          <p:cNvPr id="124" name="PlaceHolder 2"/>
          <p:cNvSpPr>
            <a:spLocks noGrp="1"/>
          </p:cNvSpPr>
          <p:nvPr>
            <p:ph/>
          </p:nvPr>
        </p:nvSpPr>
        <p:spPr>
          <a:xfrm>
            <a:off x="694080" y="1845720"/>
            <a:ext cx="10461240" cy="4023000"/>
          </a:xfrm>
          <a:prstGeom prst="rect">
            <a:avLst/>
          </a:prstGeom>
          <a:noFill/>
          <a:ln w="0">
            <a:noFill/>
          </a:ln>
        </p:spPr>
        <p:txBody>
          <a:bodyPr lIns="0" rIns="0" anchor="t">
            <a:normAutofit/>
          </a:bodyPr>
          <a:lstStyle/>
          <a:p>
            <a:pPr marL="457200" indent="-355680">
              <a:lnSpc>
                <a:spcPct val="115000"/>
              </a:lnSpc>
              <a:buClr>
                <a:srgbClr val="E48312"/>
              </a:buClr>
              <a:buFont typeface="Calibri"/>
              <a:buChar char="●"/>
            </a:pPr>
            <a:r>
              <a:rPr lang="en-US" sz="2200" b="0" strike="noStrike" spc="-1" dirty="0">
                <a:solidFill>
                  <a:srgbClr val="3F3F3F"/>
                </a:solidFill>
                <a:latin typeface="Calibri"/>
                <a:ea typeface="Calibri"/>
              </a:rPr>
              <a:t>A patent is a temporary right, granted by the state, enabling an inventor to prevent other people from exploiting his invention without his permission.</a:t>
            </a:r>
            <a:endParaRPr lang="en-US" sz="2200" b="0" strike="noStrike" spc="-1" dirty="0">
              <a:solidFill>
                <a:srgbClr val="000000"/>
              </a:solidFill>
              <a:latin typeface="Arial"/>
            </a:endParaRPr>
          </a:p>
          <a:p>
            <a:pPr marL="457200" indent="-355680">
              <a:lnSpc>
                <a:spcPct val="115000"/>
              </a:lnSpc>
              <a:buClr>
                <a:srgbClr val="E48312"/>
              </a:buClr>
              <a:buFont typeface="Calibri"/>
              <a:buChar char="●"/>
            </a:pPr>
            <a:r>
              <a:rPr lang="en-US" sz="2200" b="0" strike="noStrike" spc="-1" dirty="0">
                <a:solidFill>
                  <a:srgbClr val="3F3F3F"/>
                </a:solidFill>
                <a:latin typeface="Calibri"/>
                <a:ea typeface="Calibri"/>
              </a:rPr>
              <a:t>Unlike copyright, </a:t>
            </a:r>
            <a:r>
              <a:rPr lang="en-US" sz="2200" b="0" strike="noStrike" spc="-1" dirty="0">
                <a:solidFill>
                  <a:srgbClr val="3F3F3F"/>
                </a:solidFill>
                <a:highlight>
                  <a:srgbClr val="FFFF00"/>
                </a:highlight>
                <a:latin typeface="Calibri"/>
                <a:ea typeface="Calibri"/>
              </a:rPr>
              <a:t>it does not come into existence automatically; the inventor must apply for the patent to be granted.</a:t>
            </a:r>
            <a:r>
              <a:rPr lang="en-US" sz="2200" b="0" strike="noStrike" spc="-1" dirty="0">
                <a:solidFill>
                  <a:srgbClr val="3F3F3F"/>
                </a:solidFill>
                <a:latin typeface="Calibri"/>
                <a:ea typeface="Calibri"/>
              </a:rPr>
              <a:t> However, the protection it gives is much stronger than copyright, because the grant of a patent allows the person owning it (the </a:t>
            </a:r>
            <a:r>
              <a:rPr lang="en-US" sz="2200" b="0" i="1" strike="noStrike" spc="-1" dirty="0">
                <a:solidFill>
                  <a:srgbClr val="3F3F3F"/>
                </a:solidFill>
                <a:latin typeface="Calibri"/>
                <a:ea typeface="Calibri"/>
              </a:rPr>
              <a:t>patentee</a:t>
            </a:r>
            <a:r>
              <a:rPr lang="en-US" sz="2200" b="0" strike="noStrike" spc="-1" dirty="0">
                <a:solidFill>
                  <a:srgbClr val="3F3F3F"/>
                </a:solidFill>
                <a:latin typeface="Calibri"/>
                <a:ea typeface="Calibri"/>
              </a:rPr>
              <a:t>) to prevent anyone else from exploiting the invention, even if they have discovered it for themselves.</a:t>
            </a:r>
            <a:endParaRPr lang="en-US" sz="2200" b="0" strike="noStrike" spc="-1" dirty="0">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Patents need</a:t>
            </a:r>
            <a:endParaRPr lang="en-US" sz="4800" b="0" strike="noStrike" spc="-1">
              <a:solidFill>
                <a:srgbClr val="000000"/>
              </a:solidFill>
              <a:latin typeface="Arial"/>
            </a:endParaRPr>
          </a:p>
        </p:txBody>
      </p:sp>
      <p:sp>
        <p:nvSpPr>
          <p:cNvPr id="126" name="PlaceHolder 2"/>
          <p:cNvSpPr>
            <a:spLocks noGrp="1"/>
          </p:cNvSpPr>
          <p:nvPr>
            <p:ph/>
          </p:nvPr>
        </p:nvSpPr>
        <p:spPr>
          <a:xfrm>
            <a:off x="1097280" y="1845720"/>
            <a:ext cx="10058040" cy="4023000"/>
          </a:xfrm>
          <a:prstGeom prst="rect">
            <a:avLst/>
          </a:prstGeom>
          <a:noFill/>
          <a:ln w="0">
            <a:noFill/>
          </a:ln>
        </p:spPr>
        <p:txBody>
          <a:bodyPr lIns="0" rIns="0" anchor="t">
            <a:normAutofit fontScale="93500"/>
          </a:bodyPr>
          <a:lstStyle/>
          <a:p>
            <a:pPr marL="91440" indent="-127080">
              <a:lnSpc>
                <a:spcPct val="90000"/>
              </a:lnSpc>
              <a:buClr>
                <a:srgbClr val="E48312"/>
              </a:buClr>
              <a:buFont typeface="Calibri"/>
              <a:buChar char="●"/>
            </a:pPr>
            <a:r>
              <a:rPr lang="en-US" sz="2000" b="0" strike="noStrike" spc="-1" dirty="0">
                <a:solidFill>
                  <a:srgbClr val="3F3F3F"/>
                </a:solidFill>
                <a:latin typeface="Calibri"/>
                <a:ea typeface="Calibri"/>
              </a:rPr>
              <a:t>Patents were originally intended to encourage new inventions, and to </a:t>
            </a:r>
            <a:r>
              <a:rPr lang="en-US" sz="2000" b="0" strike="noStrike" spc="-1" dirty="0">
                <a:solidFill>
                  <a:srgbClr val="3F3F3F"/>
                </a:solidFill>
                <a:highlight>
                  <a:srgbClr val="FFFF00"/>
                </a:highlight>
                <a:latin typeface="Calibri"/>
                <a:ea typeface="Calibri"/>
              </a:rPr>
              <a:t>encourage the disclosure of those new inventions.</a:t>
            </a:r>
            <a:endParaRPr lang="en-US" sz="2000" b="0" strike="noStrike" spc="-1" dirty="0">
              <a:solidFill>
                <a:srgbClr val="000000"/>
              </a:solidFill>
              <a:highlight>
                <a:srgbClr val="FFFF00"/>
              </a:highlight>
              <a:latin typeface="Arial"/>
            </a:endParaRPr>
          </a:p>
          <a:p>
            <a:pPr marL="91440" indent="-127080">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Inventors are often </a:t>
            </a:r>
            <a:r>
              <a:rPr lang="en-US" sz="2000" b="0" strike="noStrike" spc="-1" dirty="0">
                <a:solidFill>
                  <a:srgbClr val="3F3F3F"/>
                </a:solidFill>
                <a:highlight>
                  <a:srgbClr val="FFFF00"/>
                </a:highlight>
                <a:latin typeface="Calibri"/>
                <a:ea typeface="Calibri"/>
              </a:rPr>
              <a:t>hesitant to reveal the details of their invention</a:t>
            </a:r>
            <a:r>
              <a:rPr lang="en-US" sz="2000" b="0" strike="noStrike" spc="-1" dirty="0">
                <a:solidFill>
                  <a:srgbClr val="3F3F3F"/>
                </a:solidFill>
                <a:latin typeface="Calibri"/>
                <a:ea typeface="Calibri"/>
              </a:rPr>
              <a:t>, for fear that someone else might copy it. A </a:t>
            </a:r>
            <a:r>
              <a:rPr lang="en-US" sz="2000" b="0" strike="noStrike" spc="-1" dirty="0">
                <a:solidFill>
                  <a:srgbClr val="3F3F3F"/>
                </a:solidFill>
                <a:highlight>
                  <a:srgbClr val="FFFF00"/>
                </a:highlight>
                <a:latin typeface="Calibri"/>
                <a:ea typeface="Calibri"/>
              </a:rPr>
              <a:t>government-granted temporary monopoly on the commercial use of their invention provides a remedy for this fear and so acts as an incentive to disclose the details of the invention. </a:t>
            </a:r>
            <a:r>
              <a:rPr lang="en-US" sz="2000" b="0" strike="noStrike" spc="-1" dirty="0">
                <a:solidFill>
                  <a:srgbClr val="3F3F3F"/>
                </a:solidFill>
                <a:latin typeface="Calibri"/>
                <a:ea typeface="Calibri"/>
              </a:rPr>
              <a:t>After the monopoly period expires, everyone else is free to practice the invention. And because of the disclosure made by the inventor, it is very easy to do so.</a:t>
            </a:r>
            <a:endParaRPr lang="en-US" sz="2000" b="0" strike="noStrike" spc="-1" dirty="0">
              <a:solidFill>
                <a:srgbClr val="000000"/>
              </a:solidFill>
              <a:latin typeface="Arial"/>
            </a:endParaRPr>
          </a:p>
          <a:p>
            <a:pPr marL="91440" indent="-114480">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The temporary monopoly also gives inventors a chance to </a:t>
            </a:r>
            <a:r>
              <a:rPr lang="en-US" sz="2000" b="0" strike="noStrike" spc="-1" dirty="0">
                <a:solidFill>
                  <a:srgbClr val="3F3F3F"/>
                </a:solidFill>
                <a:highlight>
                  <a:srgbClr val="FFFF00"/>
                </a:highlight>
                <a:latin typeface="Calibri"/>
                <a:ea typeface="Calibri"/>
              </a:rPr>
              <a:t>recoup the investments </a:t>
            </a:r>
            <a:r>
              <a:rPr lang="en-US" sz="2000" b="0" strike="noStrike" spc="-1" dirty="0">
                <a:solidFill>
                  <a:srgbClr val="3F3F3F"/>
                </a:solidFill>
                <a:latin typeface="Calibri"/>
                <a:ea typeface="Calibri"/>
              </a:rPr>
              <a:t>they make during the development of their invention. </a:t>
            </a:r>
            <a:endParaRPr lang="en-US" sz="2000" b="0" strike="noStrike" spc="-1" dirty="0">
              <a:solidFill>
                <a:srgbClr val="000000"/>
              </a:solidFill>
              <a:latin typeface="Arial"/>
            </a:endParaRPr>
          </a:p>
          <a:p>
            <a:pPr marL="91440" indent="-114480">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They can use the patent to monopolize the market, excluding possible competitors by enforcing the patent.</a:t>
            </a:r>
            <a:endParaRPr lang="en-US" sz="2000" b="0" strike="noStrike" spc="-1" dirty="0">
              <a:solidFill>
                <a:srgbClr val="000000"/>
              </a:solidFill>
              <a:latin typeface="Arial"/>
            </a:endParaRPr>
          </a:p>
          <a:p>
            <a:pPr marL="91440" indent="-114480">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They could also request money from others in return for a license </a:t>
            </a:r>
            <a:r>
              <a:rPr lang="en-US" sz="2000" b="0" strike="noStrike" spc="-1" dirty="0">
                <a:solidFill>
                  <a:srgbClr val="3F3F3F"/>
                </a:solidFill>
                <a:highlight>
                  <a:srgbClr val="FFFF00"/>
                </a:highlight>
                <a:latin typeface="Calibri"/>
                <a:ea typeface="Calibri"/>
              </a:rPr>
              <a:t>to exploit the invention</a:t>
            </a:r>
            <a:r>
              <a:rPr lang="en-US" sz="2000" b="0" strike="noStrike" spc="-1" dirty="0">
                <a:solidFill>
                  <a:srgbClr val="3F3F3F"/>
                </a:solidFill>
                <a:latin typeface="Calibri"/>
                <a:ea typeface="Calibri"/>
              </a:rPr>
              <a:t>.</a:t>
            </a:r>
            <a:endParaRPr lang="en-US" sz="2000" b="0" strike="noStrike" spc="-1" dirty="0">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What can be patented?</a:t>
            </a:r>
            <a:endParaRPr lang="en-US" sz="4800" b="0" strike="noStrike" spc="-1">
              <a:solidFill>
                <a:srgbClr val="000000"/>
              </a:solidFill>
              <a:latin typeface="Arial"/>
            </a:endParaRPr>
          </a:p>
        </p:txBody>
      </p:sp>
      <p:sp>
        <p:nvSpPr>
          <p:cNvPr id="12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gn="just">
              <a:lnSpc>
                <a:spcPct val="90000"/>
              </a:lnSpc>
              <a:buNone/>
              <a:tabLst>
                <a:tab pos="0" algn="l"/>
              </a:tabLst>
            </a:pPr>
            <a:r>
              <a:rPr lang="en-US" sz="2000" b="0" strike="noStrike" spc="-1" dirty="0">
                <a:solidFill>
                  <a:srgbClr val="3F3F3F"/>
                </a:solidFill>
                <a:latin typeface="Calibri"/>
                <a:ea typeface="Calibri"/>
              </a:rPr>
              <a:t>    </a:t>
            </a:r>
            <a:r>
              <a:rPr lang="en-US" sz="2000" b="0" strike="noStrike" spc="-1" dirty="0">
                <a:solidFill>
                  <a:srgbClr val="3F3F3F"/>
                </a:solidFill>
                <a:latin typeface="Calibri" panose="020F0502020204030204" pitchFamily="34" charset="0"/>
                <a:ea typeface="Calibri"/>
                <a:cs typeface="Calibri" panose="020F0502020204030204" pitchFamily="34" charset="0"/>
              </a:rPr>
              <a:t>In Europe, the law relating to patents is based on the </a:t>
            </a:r>
            <a:r>
              <a:rPr lang="en-US" sz="2000" b="0" strike="noStrike" spc="-1" dirty="0">
                <a:solidFill>
                  <a:srgbClr val="3F3F3F"/>
                </a:solidFill>
                <a:highlight>
                  <a:srgbClr val="FFFF00"/>
                </a:highlight>
                <a:latin typeface="Calibri" panose="020F0502020204030204" pitchFamily="34" charset="0"/>
                <a:ea typeface="Calibri"/>
                <a:cs typeface="Calibri" panose="020F0502020204030204" pitchFamily="34" charset="0"/>
              </a:rPr>
              <a:t>European Patent Convention. </a:t>
            </a:r>
            <a:r>
              <a:rPr lang="en-US" sz="2000" b="0" strike="noStrike" spc="-1" dirty="0">
                <a:solidFill>
                  <a:srgbClr val="3F3F3F"/>
                </a:solidFill>
                <a:latin typeface="Calibri" panose="020F0502020204030204" pitchFamily="34" charset="0"/>
                <a:ea typeface="Calibri"/>
                <a:cs typeface="Calibri" panose="020F0502020204030204" pitchFamily="34" charset="0"/>
              </a:rPr>
              <a:t>This was signed in </a:t>
            </a:r>
            <a:r>
              <a:rPr lang="en-US" sz="2000" b="0" strike="noStrike" spc="-1" dirty="0">
                <a:solidFill>
                  <a:srgbClr val="3F3F3F"/>
                </a:solidFill>
                <a:highlight>
                  <a:srgbClr val="FFFF00"/>
                </a:highlight>
                <a:latin typeface="Calibri" panose="020F0502020204030204" pitchFamily="34" charset="0"/>
                <a:ea typeface="Calibri"/>
                <a:cs typeface="Calibri" panose="020F0502020204030204" pitchFamily="34" charset="0"/>
              </a:rPr>
              <a:t>1973 by 27 European countries and came into force in 1978</a:t>
            </a:r>
            <a:r>
              <a:rPr lang="en-US" sz="2000" b="0" strike="noStrike" spc="-1" dirty="0">
                <a:solidFill>
                  <a:srgbClr val="3F3F3F"/>
                </a:solidFill>
                <a:latin typeface="Calibri" panose="020F0502020204030204" pitchFamily="34" charset="0"/>
                <a:ea typeface="Calibri"/>
                <a:cs typeface="Calibri" panose="020F0502020204030204" pitchFamily="34" charset="0"/>
              </a:rPr>
              <a:t>. The UK’s obligations under the Convention were implemented in the </a:t>
            </a:r>
            <a:r>
              <a:rPr lang="en-US" sz="2000" b="0" strike="noStrike" spc="-1" dirty="0">
                <a:solidFill>
                  <a:srgbClr val="3F3F3F"/>
                </a:solidFill>
                <a:highlight>
                  <a:srgbClr val="FFFF00"/>
                </a:highlight>
                <a:latin typeface="Calibri" panose="020F0502020204030204" pitchFamily="34" charset="0"/>
                <a:ea typeface="Calibri"/>
                <a:cs typeface="Calibri" panose="020F0502020204030204" pitchFamily="34" charset="0"/>
              </a:rPr>
              <a:t>Patents Act 1977</a:t>
            </a:r>
            <a:r>
              <a:rPr lang="en-US" sz="2000" b="0" strike="noStrike" spc="-1" dirty="0">
                <a:solidFill>
                  <a:srgbClr val="3F3F3F"/>
                </a:solidFill>
                <a:latin typeface="Calibri" panose="020F0502020204030204" pitchFamily="34" charset="0"/>
                <a:ea typeface="Calibri"/>
                <a:cs typeface="Calibri" panose="020F0502020204030204" pitchFamily="34" charset="0"/>
              </a:rPr>
              <a:t>, although there have been some subsequent modifications. The 1977 Act states that an invention can only be patented if it </a:t>
            </a:r>
            <a:r>
              <a:rPr lang="en-US" sz="2000" dirty="0">
                <a:latin typeface="Calibri" panose="020F0502020204030204" pitchFamily="34" charset="0"/>
                <a:cs typeface="Calibri" panose="020F0502020204030204" pitchFamily="34" charset="0"/>
              </a:rPr>
              <a:t>must meet these four conditions:</a:t>
            </a:r>
          </a:p>
          <a:p>
            <a:pPr>
              <a:buFont typeface="+mj-lt"/>
              <a:buAutoNum type="arabicPeriod"/>
            </a:pPr>
            <a:r>
              <a:rPr lang="en-US" sz="2000" b="1" dirty="0">
                <a:latin typeface="Calibri" panose="020F0502020204030204" pitchFamily="34" charset="0"/>
                <a:cs typeface="Calibri" panose="020F0502020204030204" pitchFamily="34" charset="0"/>
              </a:rPr>
              <a:t>It’s new:</a:t>
            </a:r>
            <a:r>
              <a:rPr lang="en-US" sz="2000" dirty="0">
                <a:latin typeface="Calibri" panose="020F0502020204030204" pitchFamily="34" charset="0"/>
                <a:cs typeface="Calibri" panose="020F0502020204030204" pitchFamily="34" charset="0"/>
              </a:rPr>
              <a:t> Nobody else has made or shared this idea before.</a:t>
            </a:r>
          </a:p>
          <a:p>
            <a:pPr>
              <a:buFont typeface="+mj-lt"/>
              <a:buAutoNum type="arabicPeriod"/>
            </a:pPr>
            <a:r>
              <a:rPr lang="en-US" sz="2000" b="1" dirty="0">
                <a:latin typeface="Calibri" panose="020F0502020204030204" pitchFamily="34" charset="0"/>
                <a:cs typeface="Calibri" panose="020F0502020204030204" pitchFamily="34" charset="0"/>
              </a:rPr>
              <a:t>It’s inventive:</a:t>
            </a:r>
            <a:r>
              <a:rPr lang="en-US" sz="2000" dirty="0">
                <a:latin typeface="Calibri" panose="020F0502020204030204" pitchFamily="34" charset="0"/>
                <a:cs typeface="Calibri" panose="020F0502020204030204" pitchFamily="34" charset="0"/>
              </a:rPr>
              <a:t> It’s not an obvious solution that anyone could think of.</a:t>
            </a:r>
          </a:p>
          <a:p>
            <a:pPr>
              <a:buFont typeface="+mj-lt"/>
              <a:buAutoNum type="arabicPeriod"/>
            </a:pPr>
            <a:r>
              <a:rPr lang="en-US" sz="2000" b="1" dirty="0">
                <a:latin typeface="Calibri" panose="020F0502020204030204" pitchFamily="34" charset="0"/>
                <a:cs typeface="Calibri" panose="020F0502020204030204" pitchFamily="34" charset="0"/>
              </a:rPr>
              <a:t>It can be used:</a:t>
            </a:r>
            <a:r>
              <a:rPr lang="en-US" sz="2000" dirty="0">
                <a:latin typeface="Calibri" panose="020F0502020204030204" pitchFamily="34" charset="0"/>
                <a:cs typeface="Calibri" panose="020F0502020204030204" pitchFamily="34" charset="0"/>
              </a:rPr>
              <a:t> The invention should work in real-life industries.</a:t>
            </a:r>
          </a:p>
          <a:p>
            <a:pPr>
              <a:buFont typeface="+mj-lt"/>
              <a:buAutoNum type="arabicPeriod"/>
            </a:pPr>
            <a:r>
              <a:rPr lang="en-US" sz="2000" b="1" dirty="0">
                <a:latin typeface="Calibri" panose="020F0502020204030204" pitchFamily="34" charset="0"/>
                <a:cs typeface="Calibri" panose="020F0502020204030204" pitchFamily="34" charset="0"/>
              </a:rPr>
              <a:t>It’s allowed:</a:t>
            </a:r>
            <a:r>
              <a:rPr lang="en-US" sz="2000" dirty="0">
                <a:latin typeface="Calibri" panose="020F0502020204030204" pitchFamily="34" charset="0"/>
                <a:cs typeface="Calibri" panose="020F0502020204030204" pitchFamily="34" charset="0"/>
              </a:rPr>
              <a:t> It must not fall into categories excluded from patents (like laws of nature or abstract ideas).</a:t>
            </a:r>
            <a:endParaRPr lang="en-US" sz="2000" spc="-1" dirty="0">
              <a:solidFill>
                <a:srgbClr val="3F3F3F"/>
              </a:solidFill>
              <a:latin typeface="Calibri"/>
              <a:ea typeface="Calibri"/>
            </a:endParaRPr>
          </a:p>
          <a:p>
            <a:pPr algn="just">
              <a:lnSpc>
                <a:spcPct val="90000"/>
              </a:lnSpc>
              <a:buNone/>
              <a:tabLst>
                <a:tab pos="0" algn="l"/>
              </a:tabLst>
            </a:pPr>
            <a:r>
              <a:rPr lang="en-US" sz="2000" b="0" strike="noStrike" spc="-1" dirty="0">
                <a:solidFill>
                  <a:srgbClr val="3F3F3F"/>
                </a:solidFill>
                <a:latin typeface="Calibri"/>
                <a:ea typeface="Calibri"/>
              </a:rPr>
              <a:t>Similar criteria apply in all the countries that are signatories to the Convention.</a:t>
            </a:r>
            <a:endParaRPr lang="en-US" sz="2000" b="0" strike="noStrike" spc="-1" dirty="0">
              <a:solidFill>
                <a:srgbClr val="000000"/>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What Patent Act Excludes……</a:t>
            </a:r>
            <a:endParaRPr lang="en-US" sz="4800" b="0" strike="noStrike" spc="-1">
              <a:solidFill>
                <a:srgbClr val="000000"/>
              </a:solidFill>
              <a:latin typeface="Arial"/>
            </a:endParaRPr>
          </a:p>
        </p:txBody>
      </p:sp>
      <p:sp>
        <p:nvSpPr>
          <p:cNvPr id="130" name="PlaceHolder 2"/>
          <p:cNvSpPr>
            <a:spLocks noGrp="1"/>
          </p:cNvSpPr>
          <p:nvPr>
            <p:ph/>
          </p:nvPr>
        </p:nvSpPr>
        <p:spPr>
          <a:xfrm>
            <a:off x="1119240" y="1775829"/>
            <a:ext cx="10014120" cy="4443840"/>
          </a:xfrm>
          <a:prstGeom prst="rect">
            <a:avLst/>
          </a:prstGeom>
          <a:noFill/>
          <a:ln w="0">
            <a:noFill/>
          </a:ln>
        </p:spPr>
        <p:txBody>
          <a:bodyPr lIns="0" rIns="0" anchor="t">
            <a:normAutofit fontScale="97000"/>
          </a:bodyPr>
          <a:lstStyle/>
          <a:p>
            <a:pPr>
              <a:lnSpc>
                <a:spcPct val="90000"/>
              </a:lnSpc>
              <a:buNone/>
              <a:tabLst>
                <a:tab pos="0" algn="l"/>
              </a:tabLst>
            </a:pPr>
            <a:r>
              <a:rPr lang="en-US" sz="2000" b="0" strike="noStrike" spc="-1" dirty="0">
                <a:solidFill>
                  <a:srgbClr val="3F3F3F"/>
                </a:solidFill>
                <a:latin typeface="Calibri"/>
                <a:ea typeface="Calibri"/>
              </a:rPr>
              <a:t>Following the European Patent Convention, the Patents Act 1977 excludes the following:</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tabLst>
                <a:tab pos="0" algn="l"/>
              </a:tabLst>
            </a:pPr>
            <a:r>
              <a:rPr lang="en-US" sz="2000" b="1" strike="noStrike" spc="-1" dirty="0">
                <a:solidFill>
                  <a:srgbClr val="3F3F3F"/>
                </a:solidFill>
                <a:latin typeface="Calibri"/>
                <a:ea typeface="Calibri"/>
              </a:rPr>
              <a:t>Scientific theories:</a:t>
            </a:r>
            <a:r>
              <a:rPr lang="en-US" sz="2000" b="0" strike="noStrike" spc="-1" dirty="0">
                <a:solidFill>
                  <a:srgbClr val="3F3F3F"/>
                </a:solidFill>
                <a:latin typeface="Calibri"/>
                <a:ea typeface="Calibri"/>
              </a:rPr>
              <a:t> The theory of gravity cannot be patented although a machine that uses it in a novel way could be.</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tabLst>
                <a:tab pos="0" algn="l"/>
              </a:tabLst>
            </a:pPr>
            <a:r>
              <a:rPr lang="en-US" sz="2000" b="1" strike="noStrike" spc="-1" dirty="0">
                <a:solidFill>
                  <a:srgbClr val="3F3F3F"/>
                </a:solidFill>
                <a:latin typeface="Calibri"/>
                <a:ea typeface="Calibri"/>
              </a:rPr>
              <a:t> Mathematical methods</a:t>
            </a:r>
            <a:r>
              <a:rPr lang="en-US" sz="2000" b="0" strike="noStrike" spc="-1" dirty="0">
                <a:solidFill>
                  <a:srgbClr val="3F3F3F"/>
                </a:solidFill>
                <a:latin typeface="Calibri"/>
                <a:ea typeface="Calibri"/>
              </a:rPr>
              <a:t>: This means, for example, that the methods used for carrying out floating point arithmetic cannot be patented. A machine that uses the ideas can however be patented.</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tabLst>
                <a:tab pos="0" algn="l"/>
              </a:tabLst>
            </a:pPr>
            <a:r>
              <a:rPr lang="en-US" sz="2000" b="0" strike="noStrike" spc="-1" dirty="0">
                <a:solidFill>
                  <a:srgbClr val="3F3F3F"/>
                </a:solidFill>
                <a:latin typeface="Calibri"/>
                <a:ea typeface="Calibri"/>
              </a:rPr>
              <a:t> </a:t>
            </a:r>
            <a:r>
              <a:rPr lang="en-US" sz="2000" b="1" strike="noStrike" spc="-1" dirty="0">
                <a:solidFill>
                  <a:srgbClr val="3F3F3F"/>
                </a:solidFill>
                <a:latin typeface="Calibri"/>
                <a:ea typeface="Calibri"/>
              </a:rPr>
              <a:t>A literary, dramatic, musical or artistic work or any other aesthetic creation:</a:t>
            </a:r>
            <a:r>
              <a:rPr lang="en-US" sz="2000" b="0" strike="noStrike" spc="-1" dirty="0">
                <a:solidFill>
                  <a:srgbClr val="3F3F3F"/>
                </a:solidFill>
                <a:latin typeface="Calibri"/>
                <a:ea typeface="Calibri"/>
              </a:rPr>
              <a:t> As we have already seen, these are protected by copyright.</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tabLst>
                <a:tab pos="0" algn="l"/>
              </a:tabLst>
            </a:pPr>
            <a:r>
              <a:rPr lang="en-US" sz="2000" b="0" strike="noStrike" spc="-1" dirty="0">
                <a:solidFill>
                  <a:srgbClr val="3F3F3F"/>
                </a:solidFill>
                <a:latin typeface="Calibri"/>
                <a:ea typeface="Calibri"/>
              </a:rPr>
              <a:t> </a:t>
            </a:r>
            <a:r>
              <a:rPr lang="en-US" sz="2000" b="1" strike="noStrike" spc="-1" dirty="0">
                <a:solidFill>
                  <a:srgbClr val="3F3F3F"/>
                </a:solidFill>
                <a:latin typeface="Calibri"/>
                <a:ea typeface="Calibri"/>
              </a:rPr>
              <a:t>The presentation of information: </a:t>
            </a:r>
            <a:r>
              <a:rPr lang="en-US" sz="2000" b="0" strike="noStrike" spc="-1" dirty="0">
                <a:solidFill>
                  <a:srgbClr val="3F3F3F"/>
                </a:solidFill>
                <a:latin typeface="Calibri"/>
                <a:ea typeface="Calibri"/>
              </a:rPr>
              <a:t>Again, this is covered by the law of copyright.</a:t>
            </a:r>
            <a:endParaRPr lang="en-US" sz="2000" b="0" strike="noStrike" spc="-1" dirty="0">
              <a:solidFill>
                <a:srgbClr val="000000"/>
              </a:solidFill>
              <a:latin typeface="Arial"/>
            </a:endParaRPr>
          </a:p>
          <a:p>
            <a:pPr marL="91440" indent="-127080">
              <a:lnSpc>
                <a:spcPct val="90000"/>
              </a:lnSpc>
              <a:spcBef>
                <a:spcPts val="1400"/>
              </a:spcBef>
              <a:buClr>
                <a:srgbClr val="E48312"/>
              </a:buClr>
              <a:buFont typeface="Calibri"/>
              <a:buChar char="●"/>
              <a:tabLst>
                <a:tab pos="0" algn="l"/>
              </a:tabLst>
            </a:pPr>
            <a:r>
              <a:rPr lang="en-US" sz="2000" b="1" strike="noStrike" spc="-1" dirty="0">
                <a:solidFill>
                  <a:srgbClr val="3F3F3F"/>
                </a:solidFill>
                <a:latin typeface="Calibri"/>
                <a:ea typeface="Calibri"/>
              </a:rPr>
              <a:t> A scheme, rule or method for performing a mental act, playing a game or doing business, or a program for a computer.</a:t>
            </a:r>
            <a:endParaRPr lang="en-US" sz="2000" b="0" strike="noStrike" spc="-1" dirty="0">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Obtaining a patent</a:t>
            </a:r>
            <a:endParaRPr lang="en-US" sz="4800" b="0" strike="noStrike" spc="-1">
              <a:solidFill>
                <a:srgbClr val="000000"/>
              </a:solidFill>
              <a:latin typeface="Arial"/>
            </a:endParaRPr>
          </a:p>
        </p:txBody>
      </p:sp>
      <p:sp>
        <p:nvSpPr>
          <p:cNvPr id="13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nSpc>
                <a:spcPct val="90000"/>
              </a:lnSpc>
              <a:buNone/>
              <a:tabLst>
                <a:tab pos="0" algn="l"/>
              </a:tabLst>
            </a:pPr>
            <a:r>
              <a:rPr lang="en-US" sz="2000" b="0" strike="noStrike" spc="-1" dirty="0">
                <a:solidFill>
                  <a:srgbClr val="3F3F3F"/>
                </a:solidFill>
                <a:latin typeface="Calibri"/>
                <a:ea typeface="Calibri"/>
              </a:rPr>
              <a:t>Unlike copyright, which comes into existence automatically when the protected work is recorded, whether in writing or otherwise, </a:t>
            </a:r>
            <a:r>
              <a:rPr lang="en-US" sz="2000" b="0" strike="noStrike" spc="-1" dirty="0">
                <a:solidFill>
                  <a:srgbClr val="3F3F3F"/>
                </a:solidFill>
                <a:highlight>
                  <a:srgbClr val="FFFF00"/>
                </a:highlight>
                <a:latin typeface="Calibri"/>
                <a:ea typeface="Calibri"/>
              </a:rPr>
              <a:t>a patent must be explicitly applied for. Applying for a patent can be an expensive and time-consuming business.</a:t>
            </a:r>
            <a:endParaRPr lang="en-US" sz="2000" b="0" strike="noStrike" spc="-1" dirty="0">
              <a:solidFill>
                <a:srgbClr val="000000"/>
              </a:solidFill>
              <a:highlight>
                <a:srgbClr val="FFFF00"/>
              </a:highlight>
              <a:latin typeface="Arial"/>
            </a:endParaRPr>
          </a:p>
          <a:p>
            <a:pPr>
              <a:lnSpc>
                <a:spcPct val="90000"/>
              </a:lnSpc>
              <a:spcBef>
                <a:spcPts val="1400"/>
              </a:spcBef>
              <a:buNone/>
              <a:tabLst>
                <a:tab pos="0" algn="l"/>
              </a:tabLst>
            </a:pPr>
            <a:r>
              <a:rPr lang="en-US" sz="2000" b="0" strike="noStrike" spc="-1" dirty="0">
                <a:solidFill>
                  <a:srgbClr val="3F3F3F"/>
                </a:solidFill>
                <a:latin typeface="Calibri"/>
                <a:ea typeface="Calibri"/>
              </a:rPr>
              <a:t>Patents are granted by national patent offices. Inventors who want protection in several different countries must, in principle, apply separately to the patent offices of each country.</a:t>
            </a:r>
            <a:endParaRPr lang="en-US" sz="2000" b="0" strike="noStrike" spc="-1" dirty="0">
              <a:solidFill>
                <a:srgbClr val="000000"/>
              </a:solidFill>
              <a:latin typeface="Arial"/>
            </a:endParaRPr>
          </a:p>
          <a:p>
            <a:pPr>
              <a:lnSpc>
                <a:spcPct val="90000"/>
              </a:lnSpc>
              <a:spcBef>
                <a:spcPts val="1400"/>
              </a:spcBef>
              <a:buNone/>
              <a:tabLst>
                <a:tab pos="0" algn="l"/>
              </a:tabLst>
            </a:pPr>
            <a:r>
              <a:rPr lang="en-US" sz="2000" b="0" strike="noStrike" spc="-1" dirty="0">
                <a:solidFill>
                  <a:srgbClr val="3F3F3F"/>
                </a:solidFill>
                <a:latin typeface="Calibri"/>
                <a:ea typeface="Calibri"/>
              </a:rPr>
              <a:t>The full patent specification needs to be prepared by a specialist patent attorney, and it can take up to four years for the process of obtaining patents to be completed.</a:t>
            </a:r>
            <a:endParaRPr lang="en-US" sz="20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C16DD-F3D1-D0DE-0A50-58B8AAE1FB8B}"/>
              </a:ext>
            </a:extLst>
          </p:cNvPr>
          <p:cNvSpPr>
            <a:spLocks noGrp="1"/>
          </p:cNvSpPr>
          <p:nvPr>
            <p:ph type="title"/>
          </p:nvPr>
        </p:nvSpPr>
        <p:spPr/>
        <p:txBody>
          <a:bodyPr/>
          <a:lstStyle/>
          <a:p>
            <a:r>
              <a:rPr lang="en-US" sz="4400" b="1" strike="noStrike" spc="-1" dirty="0">
                <a:solidFill>
                  <a:srgbClr val="3F3F3F"/>
                </a:solidFill>
                <a:latin typeface="Calibri"/>
                <a:ea typeface="Calibri"/>
              </a:rPr>
              <a:t>Enforcing a patent</a:t>
            </a:r>
            <a:endParaRPr lang="en-US" dirty="0"/>
          </a:p>
        </p:txBody>
      </p:sp>
      <p:sp>
        <p:nvSpPr>
          <p:cNvPr id="3" name="Content Placeholder 2">
            <a:extLst>
              <a:ext uri="{FF2B5EF4-FFF2-40B4-BE49-F238E27FC236}">
                <a16:creationId xmlns:a16="http://schemas.microsoft.com/office/drawing/2014/main" id="{1797595E-546C-99D8-3161-58B4B540149B}"/>
              </a:ext>
            </a:extLst>
          </p:cNvPr>
          <p:cNvSpPr>
            <a:spLocks noGrp="1"/>
          </p:cNvSpPr>
          <p:nvPr>
            <p:ph/>
          </p:nvPr>
        </p:nvSpPr>
        <p:spPr>
          <a:xfrm>
            <a:off x="1097280" y="1737000"/>
            <a:ext cx="9875520" cy="3784569"/>
          </a:xfrm>
        </p:spPr>
        <p:txBody>
          <a:bodyPr>
            <a:normAutofit/>
          </a:bodyPr>
          <a:lstStyle/>
          <a:p>
            <a:pPr>
              <a:buClr>
                <a:schemeClr val="accent2"/>
              </a:buClr>
            </a:pPr>
            <a:r>
              <a:rPr lang="en-US" sz="2000" b="1" spc="-1" dirty="0">
                <a:solidFill>
                  <a:srgbClr val="3F3F3F"/>
                </a:solidFill>
                <a:latin typeface="Calibri"/>
              </a:rPr>
              <a:t>Patents don’t guarantee easy protection</a:t>
            </a:r>
            <a:r>
              <a:rPr lang="en-US" sz="2000" spc="-1" dirty="0">
                <a:solidFill>
                  <a:srgbClr val="3F3F3F"/>
                </a:solidFill>
                <a:latin typeface="Calibri"/>
              </a:rPr>
              <a:t>: Even if you have a patent, stopping others from using your idea may require legal action</a:t>
            </a:r>
            <a:r>
              <a:rPr lang="en-US" sz="2000" spc="-1" dirty="0" smtClean="0">
                <a:solidFill>
                  <a:srgbClr val="3F3F3F"/>
                </a:solidFill>
                <a:latin typeface="Calibri"/>
              </a:rPr>
              <a:t>.</a:t>
            </a:r>
          </a:p>
          <a:p>
            <a:pPr>
              <a:buClr>
                <a:schemeClr val="accent2"/>
              </a:buClr>
            </a:pPr>
            <a:endParaRPr lang="en-US" sz="2000" spc="-1" dirty="0">
              <a:solidFill>
                <a:srgbClr val="3F3F3F"/>
              </a:solidFill>
              <a:latin typeface="Calibri"/>
            </a:endParaRPr>
          </a:p>
          <a:p>
            <a:pPr>
              <a:buClr>
                <a:schemeClr val="accent2"/>
              </a:buClr>
            </a:pPr>
            <a:r>
              <a:rPr lang="en-US" sz="2000" b="1" spc="-1" dirty="0">
                <a:solidFill>
                  <a:srgbClr val="3F3F3F"/>
                </a:solidFill>
                <a:latin typeface="Calibri"/>
              </a:rPr>
              <a:t>Main issue</a:t>
            </a:r>
            <a:r>
              <a:rPr lang="en-US" sz="2000" spc="-1" dirty="0">
                <a:solidFill>
                  <a:srgbClr val="3F3F3F"/>
                </a:solidFill>
                <a:latin typeface="Calibri"/>
              </a:rPr>
              <a:t>: ‘Prior art’: A common challenge is proving that your invention is unique and wasn’t already known before</a:t>
            </a:r>
            <a:r>
              <a:rPr lang="en-US" sz="2000" spc="-1" dirty="0" smtClean="0">
                <a:solidFill>
                  <a:srgbClr val="3F3F3F"/>
                </a:solidFill>
                <a:latin typeface="Calibri"/>
              </a:rPr>
              <a:t>.</a:t>
            </a:r>
          </a:p>
          <a:p>
            <a:pPr>
              <a:buClr>
                <a:schemeClr val="accent2"/>
              </a:buClr>
            </a:pPr>
            <a:endParaRPr lang="en-US" sz="2000" spc="-1" dirty="0">
              <a:solidFill>
                <a:srgbClr val="3F3F3F"/>
              </a:solidFill>
              <a:latin typeface="Calibri"/>
            </a:endParaRPr>
          </a:p>
          <a:p>
            <a:pPr>
              <a:buClr>
                <a:schemeClr val="accent2"/>
              </a:buClr>
            </a:pPr>
            <a:r>
              <a:rPr lang="en-US" sz="2000" b="1" spc="-1" dirty="0">
                <a:solidFill>
                  <a:srgbClr val="3F3F3F"/>
                </a:solidFill>
                <a:latin typeface="Calibri"/>
              </a:rPr>
              <a:t>Legal battles are costly</a:t>
            </a:r>
            <a:r>
              <a:rPr lang="en-US" sz="2000" spc="-1" dirty="0">
                <a:solidFill>
                  <a:srgbClr val="3F3F3F"/>
                </a:solidFill>
                <a:latin typeface="Calibri"/>
              </a:rPr>
              <a:t>: Defending your patent or fighting against someone else’s patent takes a lot of time and money.</a:t>
            </a:r>
          </a:p>
          <a:p>
            <a:pPr>
              <a:buClr>
                <a:schemeClr val="accent2"/>
              </a:buClr>
            </a:pPr>
            <a:r>
              <a:rPr lang="en-US" sz="2000" b="0" strike="noStrike" spc="-1" dirty="0">
                <a:solidFill>
                  <a:srgbClr val="3F3F3F"/>
                </a:solidFill>
                <a:latin typeface="Calibri"/>
                <a:ea typeface="Calibri"/>
              </a:rPr>
              <a:t>The problem is that enforcing a patent that you own or challenging a patent held by someone else is a time-consuming and expensive process.</a:t>
            </a:r>
          </a:p>
          <a:p>
            <a:pPr>
              <a:buClr>
                <a:schemeClr val="accent2"/>
              </a:buClr>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306070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328FE-B6E0-FEDE-8650-89D55C4DDAFB}"/>
              </a:ext>
            </a:extLst>
          </p:cNvPr>
          <p:cNvSpPr>
            <a:spLocks noGrp="1"/>
          </p:cNvSpPr>
          <p:nvPr>
            <p:ph type="title"/>
          </p:nvPr>
        </p:nvSpPr>
        <p:spPr/>
        <p:txBody>
          <a:bodyPr/>
          <a:lstStyle/>
          <a:p>
            <a:r>
              <a:rPr lang="en-US" sz="4400" b="1" strike="noStrike" spc="-1" dirty="0">
                <a:solidFill>
                  <a:srgbClr val="3F3F3F"/>
                </a:solidFill>
                <a:latin typeface="Calibri"/>
                <a:ea typeface="Calibri"/>
              </a:rPr>
              <a:t>Software patents</a:t>
            </a:r>
            <a:endParaRPr lang="en-US" dirty="0"/>
          </a:p>
        </p:txBody>
      </p:sp>
      <p:sp>
        <p:nvSpPr>
          <p:cNvPr id="3" name="Content Placeholder 2">
            <a:extLst>
              <a:ext uri="{FF2B5EF4-FFF2-40B4-BE49-F238E27FC236}">
                <a16:creationId xmlns:a16="http://schemas.microsoft.com/office/drawing/2014/main" id="{F68558AD-2E4E-A676-3997-3D0781768ADA}"/>
              </a:ext>
            </a:extLst>
          </p:cNvPr>
          <p:cNvSpPr>
            <a:spLocks noGrp="1"/>
          </p:cNvSpPr>
          <p:nvPr>
            <p:ph/>
          </p:nvPr>
        </p:nvSpPr>
        <p:spPr>
          <a:xfrm>
            <a:off x="1211580" y="2062605"/>
            <a:ext cx="10112912" cy="2632487"/>
          </a:xfrm>
        </p:spPr>
        <p:txBody>
          <a:bodyPr>
            <a:normAutofit lnSpcReduction="10000"/>
          </a:bodyPr>
          <a:lstStyle/>
          <a:p>
            <a:pPr>
              <a:tabLst>
                <a:tab pos="0" algn="l"/>
              </a:tabLst>
            </a:pPr>
            <a:endParaRPr lang="en-US" sz="2400" spc="-1" dirty="0">
              <a:solidFill>
                <a:srgbClr val="3F3F3F"/>
              </a:solidFill>
              <a:latin typeface="Calibri"/>
            </a:endParaRPr>
          </a:p>
          <a:p>
            <a:pPr>
              <a:tabLst>
                <a:tab pos="0" algn="l"/>
              </a:tabLst>
            </a:pPr>
            <a:r>
              <a:rPr lang="en-US" sz="2400" spc="-1" dirty="0">
                <a:solidFill>
                  <a:srgbClr val="3F3F3F"/>
                </a:solidFill>
                <a:latin typeface="Calibri"/>
              </a:rPr>
              <a:t>In the USA, software can be patented if:</a:t>
            </a:r>
          </a:p>
          <a:p>
            <a:pPr marL="514350" indent="-514350">
              <a:buFont typeface="+mj-lt"/>
              <a:buAutoNum type="alphaLcParenR"/>
              <a:tabLst>
                <a:tab pos="0" algn="l"/>
              </a:tabLst>
            </a:pPr>
            <a:r>
              <a:rPr lang="en-US" sz="2400" b="1" spc="-1" dirty="0">
                <a:solidFill>
                  <a:srgbClr val="3F3F3F"/>
                </a:solidFill>
                <a:latin typeface="Calibri"/>
              </a:rPr>
              <a:t>Part of a patentable product: </a:t>
            </a:r>
            <a:r>
              <a:rPr lang="en-US" sz="2400" spc="-1" dirty="0">
                <a:solidFill>
                  <a:srgbClr val="3F3F3F"/>
                </a:solidFill>
                <a:latin typeface="Calibri"/>
              </a:rPr>
              <a:t>The software is included in something that can already be patented.</a:t>
            </a:r>
          </a:p>
          <a:p>
            <a:pPr marL="514350" indent="-514350">
              <a:buFont typeface="+mj-lt"/>
              <a:buAutoNum type="alphaLcParenR"/>
              <a:tabLst>
                <a:tab pos="0" algn="l"/>
              </a:tabLst>
            </a:pPr>
            <a:r>
              <a:rPr lang="en-US" sz="2400" b="1" spc="-1" dirty="0">
                <a:solidFill>
                  <a:srgbClr val="3F3F3F"/>
                </a:solidFill>
                <a:latin typeface="Calibri"/>
              </a:rPr>
              <a:t>Controls physical effects: </a:t>
            </a:r>
            <a:r>
              <a:rPr lang="en-US" sz="2400" spc="-1" dirty="0">
                <a:solidFill>
                  <a:srgbClr val="3F3F3F"/>
                </a:solidFill>
                <a:latin typeface="Calibri"/>
              </a:rPr>
              <a:t>It manages a process that causes a physical change or result.</a:t>
            </a:r>
          </a:p>
          <a:p>
            <a:pPr marL="514350" indent="-514350">
              <a:buFont typeface="+mj-lt"/>
              <a:buAutoNum type="alphaLcParenR"/>
              <a:tabLst>
                <a:tab pos="0" algn="l"/>
              </a:tabLst>
            </a:pPr>
            <a:r>
              <a:rPr lang="en-US" sz="2400" b="1" spc="-1" dirty="0">
                <a:solidFill>
                  <a:srgbClr val="3F3F3F"/>
                </a:solidFill>
                <a:latin typeface="Calibri"/>
              </a:rPr>
              <a:t>Works with real-world data: </a:t>
            </a:r>
            <a:r>
              <a:rPr lang="en-US" sz="2400" spc="-1" dirty="0">
                <a:solidFill>
                  <a:srgbClr val="3F3F3F"/>
                </a:solidFill>
                <a:latin typeface="Calibri"/>
              </a:rPr>
              <a:t>It handles data coming from physical events or interactions.</a:t>
            </a:r>
          </a:p>
          <a:p>
            <a:endParaRPr lang="en-US" sz="2400" dirty="0"/>
          </a:p>
        </p:txBody>
      </p:sp>
      <p:sp>
        <p:nvSpPr>
          <p:cNvPr id="4" name="Rectangle 3"/>
          <p:cNvSpPr/>
          <p:nvPr/>
        </p:nvSpPr>
        <p:spPr>
          <a:xfrm>
            <a:off x="1211580" y="4695092"/>
            <a:ext cx="10058040" cy="1200329"/>
          </a:xfrm>
          <a:prstGeom prst="rect">
            <a:avLst/>
          </a:prstGeom>
        </p:spPr>
        <p:txBody>
          <a:bodyPr wrap="square">
            <a:spAutoFit/>
          </a:bodyPr>
          <a:lstStyle/>
          <a:p>
            <a:r>
              <a:rPr lang="en-US" dirty="0"/>
              <a:t>✅ </a:t>
            </a:r>
            <a:r>
              <a:rPr lang="en-US" b="1" dirty="0"/>
              <a:t>a)</a:t>
            </a:r>
            <a:r>
              <a:rPr lang="en-US" dirty="0"/>
              <a:t> If it’s part of a patentable product (like software inside a medical device).</a:t>
            </a:r>
            <a:br>
              <a:rPr lang="en-US" dirty="0"/>
            </a:br>
            <a:r>
              <a:rPr lang="en-US" dirty="0"/>
              <a:t>✅ </a:t>
            </a:r>
            <a:r>
              <a:rPr lang="en-US" b="1" dirty="0"/>
              <a:t>b)</a:t>
            </a:r>
            <a:r>
              <a:rPr lang="en-US" dirty="0"/>
              <a:t> If it controls a physical process or causes a real-world change (like running a robot arm).</a:t>
            </a:r>
            <a:br>
              <a:rPr lang="en-US" dirty="0"/>
            </a:br>
            <a:r>
              <a:rPr lang="en-US" dirty="0"/>
              <a:t>✅ </a:t>
            </a:r>
            <a:r>
              <a:rPr lang="en-US" b="1" dirty="0"/>
              <a:t>c)</a:t>
            </a:r>
            <a:r>
              <a:rPr lang="en-US" dirty="0"/>
              <a:t> If it processes real-world data (like sensor readings).</a:t>
            </a:r>
          </a:p>
          <a:p>
            <a:r>
              <a:rPr lang="en-US" dirty="0"/>
              <a:t>In short, </a:t>
            </a:r>
            <a:r>
              <a:rPr lang="en-US" b="1" dirty="0"/>
              <a:t>software must interact with or affect the physical world</a:t>
            </a:r>
            <a:r>
              <a:rPr lang="en-US" dirty="0"/>
              <a:t> to be patentable</a:t>
            </a:r>
          </a:p>
        </p:txBody>
      </p:sp>
    </p:spTree>
    <p:extLst>
      <p:ext uri="{BB962C8B-B14F-4D97-AF65-F5344CB8AC3E}">
        <p14:creationId xmlns:p14="http://schemas.microsoft.com/office/powerpoint/2010/main" val="2393859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Software patents</a:t>
            </a:r>
            <a:endParaRPr lang="en-US" sz="4800" b="0" strike="noStrike" spc="-1">
              <a:solidFill>
                <a:srgbClr val="000000"/>
              </a:solidFill>
              <a:latin typeface="Arial"/>
            </a:endParaRPr>
          </a:p>
        </p:txBody>
      </p:sp>
      <p:sp>
        <p:nvSpPr>
          <p:cNvPr id="138" name="PlaceHolder 2"/>
          <p:cNvSpPr>
            <a:spLocks noGrp="1"/>
          </p:cNvSpPr>
          <p:nvPr>
            <p:ph/>
          </p:nvPr>
        </p:nvSpPr>
        <p:spPr>
          <a:xfrm>
            <a:off x="1516296" y="2069869"/>
            <a:ext cx="9220007" cy="3547159"/>
          </a:xfrm>
          <a:prstGeom prst="rect">
            <a:avLst/>
          </a:prstGeom>
          <a:noFill/>
          <a:ln w="0">
            <a:noFill/>
          </a:ln>
        </p:spPr>
        <p:txBody>
          <a:bodyPr lIns="0" rIns="0" anchor="t">
            <a:normAutofit/>
          </a:bodyPr>
          <a:lstStyle/>
          <a:p>
            <a:pPr marL="91440" indent="-177840">
              <a:lnSpc>
                <a:spcPct val="90000"/>
              </a:lnSpc>
              <a:spcBef>
                <a:spcPts val="1400"/>
              </a:spcBef>
              <a:buClr>
                <a:srgbClr val="E48312"/>
              </a:buClr>
              <a:buFont typeface="Calibri"/>
              <a:buChar char="●"/>
            </a:pPr>
            <a:r>
              <a:rPr lang="en-US" sz="2800" b="0" strike="noStrike" spc="-1" dirty="0">
                <a:solidFill>
                  <a:srgbClr val="3F3F3F"/>
                </a:solidFill>
                <a:latin typeface="Calibri"/>
                <a:ea typeface="Calibri"/>
              </a:rPr>
              <a:t>A software patent does not cover the software's code itself (this is typically protected by copyright) but rather the underlying process, system, or method.</a:t>
            </a:r>
            <a:endParaRPr lang="en-US" sz="2800" b="0" strike="noStrike" spc="-1" dirty="0">
              <a:solidFill>
                <a:srgbClr val="000000"/>
              </a:solidFill>
              <a:latin typeface="Arial"/>
            </a:endParaRPr>
          </a:p>
          <a:p>
            <a:pPr marL="91440" indent="-177840">
              <a:lnSpc>
                <a:spcPct val="90000"/>
              </a:lnSpc>
              <a:spcBef>
                <a:spcPts val="1400"/>
              </a:spcBef>
              <a:buClr>
                <a:srgbClr val="E48312"/>
              </a:buClr>
              <a:buFont typeface="Calibri"/>
              <a:buChar char="●"/>
            </a:pPr>
            <a:r>
              <a:rPr lang="en-US" sz="2800" b="0" strike="noStrike" spc="-1" dirty="0">
                <a:solidFill>
                  <a:srgbClr val="3F3F3F"/>
                </a:solidFill>
                <a:latin typeface="Calibri"/>
                <a:ea typeface="Calibri"/>
              </a:rPr>
              <a:t> For example, a new algorithm for improving image processing speed in medical imaging software could potentially be patented if it’s a novel, non-obvious, and technically complex solution.</a:t>
            </a:r>
            <a:endParaRPr lang="en-US" sz="2800" b="0" strike="noStrike" spc="-1" dirty="0">
              <a:solidFill>
                <a:srgbClr val="000000"/>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PlaceHolder 1"/>
          <p:cNvSpPr>
            <a:spLocks noGrp="1"/>
          </p:cNvSpPr>
          <p:nvPr>
            <p:ph/>
          </p:nvPr>
        </p:nvSpPr>
        <p:spPr>
          <a:xfrm>
            <a:off x="1470156" y="2045431"/>
            <a:ext cx="9763901" cy="3440969"/>
          </a:xfrm>
          <a:prstGeom prst="rect">
            <a:avLst/>
          </a:prstGeom>
          <a:noFill/>
          <a:ln w="0">
            <a:noFill/>
          </a:ln>
        </p:spPr>
        <p:txBody>
          <a:bodyPr lIns="0" rIns="0" anchor="t">
            <a:noAutofit/>
          </a:bodyPr>
          <a:lstStyle/>
          <a:p>
            <a:pPr marL="457200" indent="-380880">
              <a:lnSpc>
                <a:spcPct val="90000"/>
              </a:lnSpc>
              <a:buClr>
                <a:srgbClr val="E48312"/>
              </a:buClr>
              <a:buFont typeface="Calibri"/>
              <a:buChar char="●"/>
            </a:pPr>
            <a:r>
              <a:rPr lang="en-US" sz="2400" b="0" strike="noStrike" spc="-1" dirty="0">
                <a:solidFill>
                  <a:srgbClr val="3F3F3F"/>
                </a:solidFill>
                <a:latin typeface="Calibri"/>
                <a:ea typeface="Calibri"/>
              </a:rPr>
              <a:t>The </a:t>
            </a:r>
            <a:r>
              <a:rPr lang="en-US" sz="2400" b="0" strike="noStrike" spc="-1" dirty="0">
                <a:solidFill>
                  <a:srgbClr val="3F3F3F"/>
                </a:solidFill>
                <a:highlight>
                  <a:srgbClr val="FFFF00"/>
                </a:highlight>
                <a:latin typeface="Calibri"/>
                <a:ea typeface="Calibri"/>
              </a:rPr>
              <a:t>European Patent Office </a:t>
            </a:r>
            <a:r>
              <a:rPr lang="en-US" sz="2400" b="0" strike="noStrike" spc="-1" dirty="0">
                <a:solidFill>
                  <a:srgbClr val="3F3F3F"/>
                </a:solidFill>
                <a:latin typeface="Calibri"/>
                <a:ea typeface="Calibri"/>
              </a:rPr>
              <a:t>has been granting patents for software since </a:t>
            </a:r>
            <a:r>
              <a:rPr lang="en-US" sz="2400" b="0" strike="noStrike" spc="-1" dirty="0">
                <a:solidFill>
                  <a:srgbClr val="3F3F3F"/>
                </a:solidFill>
                <a:highlight>
                  <a:srgbClr val="FFFF00"/>
                </a:highlight>
                <a:latin typeface="Calibri"/>
                <a:ea typeface="Calibri"/>
              </a:rPr>
              <a:t>1998</a:t>
            </a:r>
            <a:r>
              <a:rPr lang="en-US" sz="2400" b="0" strike="noStrike" spc="-1" dirty="0">
                <a:solidFill>
                  <a:srgbClr val="3F3F3F"/>
                </a:solidFill>
                <a:latin typeface="Calibri"/>
                <a:ea typeface="Calibri"/>
              </a:rPr>
              <a:t>, as has the </a:t>
            </a:r>
            <a:r>
              <a:rPr lang="en-US" sz="2400" b="0" strike="noStrike" spc="-1" dirty="0">
                <a:solidFill>
                  <a:srgbClr val="3F3F3F"/>
                </a:solidFill>
                <a:highlight>
                  <a:srgbClr val="FFFF00"/>
                </a:highlight>
                <a:latin typeface="Calibri"/>
                <a:ea typeface="Calibri"/>
              </a:rPr>
              <a:t>UK Patent Office</a:t>
            </a:r>
            <a:r>
              <a:rPr lang="en-US" sz="2400" b="0" strike="noStrike" spc="-1" dirty="0">
                <a:solidFill>
                  <a:srgbClr val="3F3F3F"/>
                </a:solidFill>
                <a:latin typeface="Calibri"/>
                <a:ea typeface="Calibri"/>
              </a:rPr>
              <a:t>. </a:t>
            </a:r>
            <a:endParaRPr lang="en-US" sz="2400" b="0" strike="noStrike" spc="-1" dirty="0">
              <a:solidFill>
                <a:srgbClr val="000000"/>
              </a:solidFill>
              <a:latin typeface="Arial"/>
            </a:endParaRPr>
          </a:p>
          <a:p>
            <a:pPr marL="457200" indent="-380880">
              <a:lnSpc>
                <a:spcPct val="90000"/>
              </a:lnSpc>
              <a:buClr>
                <a:srgbClr val="E48312"/>
              </a:buClr>
              <a:buFont typeface="Calibri"/>
              <a:buChar char="●"/>
            </a:pPr>
            <a:r>
              <a:rPr lang="en-US" sz="2400" b="0" strike="noStrike" spc="-1" dirty="0">
                <a:solidFill>
                  <a:srgbClr val="3F3F3F"/>
                </a:solidFill>
                <a:latin typeface="Calibri"/>
                <a:ea typeface="Calibri"/>
              </a:rPr>
              <a:t>Patent offices in the different European countries have adopted different policies towards the patenting of software, with the result that there is much confusion about what is and what is not patentable.</a:t>
            </a:r>
            <a:endParaRPr lang="en-US" sz="2400" b="0" strike="noStrike" spc="-1" dirty="0">
              <a:solidFill>
                <a:srgbClr val="000000"/>
              </a:solidFill>
              <a:latin typeface="Arial"/>
            </a:endParaRPr>
          </a:p>
          <a:p>
            <a:pPr marL="457200" indent="-380880">
              <a:lnSpc>
                <a:spcPct val="90000"/>
              </a:lnSpc>
              <a:buClr>
                <a:srgbClr val="E48312"/>
              </a:buClr>
              <a:buFont typeface="Calibri"/>
              <a:buChar char="●"/>
            </a:pPr>
            <a:r>
              <a:rPr lang="en-US" sz="2400" b="0" strike="noStrike" spc="-1" dirty="0">
                <a:solidFill>
                  <a:srgbClr val="3F3F3F"/>
                </a:solidFill>
                <a:latin typeface="Calibri"/>
                <a:ea typeface="Calibri"/>
              </a:rPr>
              <a:t>The result is that there is a conflict between the law and practice, a very undesirable situation.</a:t>
            </a:r>
            <a:endParaRPr lang="en-US" sz="24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p:txBody>
      </p:sp>
      <p:sp>
        <p:nvSpPr>
          <p:cNvPr id="140" name="PlaceHolder 2"/>
          <p:cNvSpPr>
            <a:spLocks noGrp="1"/>
          </p:cNvSpPr>
          <p:nvPr>
            <p:ph type="title"/>
          </p:nvPr>
        </p:nvSpPr>
        <p:spPr>
          <a:xfrm>
            <a:off x="917280" y="19152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Software patents</a:t>
            </a:r>
            <a:endParaRPr lang="en-US" sz="4800" b="0" strike="noStrike" spc="-1">
              <a:solidFill>
                <a:srgbClr val="000000"/>
              </a:solidFill>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p:nvPr>
        </p:nvSpPr>
        <p:spPr>
          <a:xfrm>
            <a:off x="822535" y="1753191"/>
            <a:ext cx="10058040" cy="4184472"/>
          </a:xfrm>
          <a:prstGeom prst="rect">
            <a:avLst/>
          </a:prstGeom>
          <a:noFill/>
          <a:ln w="0">
            <a:noFill/>
          </a:ln>
        </p:spPr>
        <p:txBody>
          <a:bodyPr lIns="0" rIns="0" anchor="t">
            <a:normAutofit/>
          </a:bodyPr>
          <a:lstStyle/>
          <a:p>
            <a:pPr>
              <a:lnSpc>
                <a:spcPct val="90000"/>
              </a:lnSpc>
              <a:buNone/>
              <a:tabLst>
                <a:tab pos="0" algn="l"/>
              </a:tabLst>
            </a:pPr>
            <a:r>
              <a:rPr lang="en-US" sz="2400" b="0" strike="noStrike" spc="-1" dirty="0">
                <a:solidFill>
                  <a:srgbClr val="3F3F3F"/>
                </a:solidFill>
                <a:latin typeface="Calibri"/>
                <a:ea typeface="Calibri"/>
              </a:rPr>
              <a:t>On the one hand, it is illogical and unfair that something that would be clearly patentable if implemented completely in hardware should not be patentable if implemented in software. Furthermore, patents encourage investment because:</a:t>
            </a:r>
            <a:endParaRPr lang="en-US" sz="2400" b="0" strike="noStrike" spc="-1" dirty="0">
              <a:solidFill>
                <a:srgbClr val="000000"/>
              </a:solidFill>
              <a:latin typeface="Arial"/>
            </a:endParaRPr>
          </a:p>
          <a:p>
            <a:pPr marL="91440" indent="-152280">
              <a:lnSpc>
                <a:spcPct val="90000"/>
              </a:lnSpc>
              <a:spcBef>
                <a:spcPts val="1400"/>
              </a:spcBef>
              <a:buClr>
                <a:srgbClr val="E48312"/>
              </a:buClr>
              <a:buFont typeface="Calibri"/>
              <a:buChar char="●"/>
              <a:tabLst>
                <a:tab pos="0" algn="l"/>
              </a:tabLst>
            </a:pPr>
            <a:r>
              <a:rPr lang="en-US" sz="2400" b="0" strike="noStrike" spc="-1" dirty="0">
                <a:solidFill>
                  <a:srgbClr val="3F3F3F"/>
                </a:solidFill>
                <a:latin typeface="Calibri"/>
                <a:ea typeface="Calibri"/>
              </a:rPr>
              <a:t>a patent is a well-defined asset that allows shareholders and venture capitalists to be confident that their investment is producing something of value;</a:t>
            </a:r>
            <a:endParaRPr lang="en-US" sz="2400" b="0" strike="noStrike" spc="-1" dirty="0">
              <a:solidFill>
                <a:srgbClr val="000000"/>
              </a:solidFill>
              <a:latin typeface="Arial"/>
            </a:endParaRPr>
          </a:p>
          <a:p>
            <a:pPr marL="91440" indent="-152280">
              <a:lnSpc>
                <a:spcPct val="90000"/>
              </a:lnSpc>
              <a:spcBef>
                <a:spcPts val="1400"/>
              </a:spcBef>
              <a:buClr>
                <a:srgbClr val="E48312"/>
              </a:buClr>
              <a:buFont typeface="Calibri"/>
              <a:buChar char="●"/>
              <a:tabLst>
                <a:tab pos="0" algn="l"/>
              </a:tabLst>
            </a:pPr>
            <a:r>
              <a:rPr lang="en-US" sz="2400" b="0" strike="noStrike" spc="-1" dirty="0">
                <a:solidFill>
                  <a:srgbClr val="3F3F3F"/>
                </a:solidFill>
                <a:latin typeface="Calibri"/>
                <a:ea typeface="Calibri"/>
              </a:rPr>
              <a:t>patents ensure that the benefit of research and development accrues to the people who financed it.</a:t>
            </a:r>
            <a:endParaRPr lang="en-US" sz="2400" b="0" strike="noStrike" spc="-1" dirty="0">
              <a:solidFill>
                <a:srgbClr val="000000"/>
              </a:solidFill>
              <a:latin typeface="Arial"/>
            </a:endParaRPr>
          </a:p>
        </p:txBody>
      </p:sp>
      <p:sp>
        <p:nvSpPr>
          <p:cNvPr id="142" name="PlaceHolder 2"/>
          <p:cNvSpPr>
            <a:spLocks noGrp="1"/>
          </p:cNvSpPr>
          <p:nvPr>
            <p:ph type="title"/>
          </p:nvPr>
        </p:nvSpPr>
        <p:spPr>
          <a:xfrm>
            <a:off x="713880" y="14904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Software patents</a:t>
            </a:r>
            <a:endParaRPr lang="en-US" sz="4800" b="0" strike="noStrike" spc="-1">
              <a:solidFill>
                <a:srgbClr val="000000"/>
              </a:solidFill>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PlaceHolder 1"/>
          <p:cNvSpPr>
            <a:spLocks noGrp="1"/>
          </p:cNvSpPr>
          <p:nvPr>
            <p:ph/>
          </p:nvPr>
        </p:nvSpPr>
        <p:spPr>
          <a:xfrm>
            <a:off x="1816513" y="2146241"/>
            <a:ext cx="9338807" cy="2974760"/>
          </a:xfrm>
          <a:prstGeom prst="rect">
            <a:avLst/>
          </a:prstGeom>
          <a:noFill/>
          <a:ln w="0">
            <a:noFill/>
          </a:ln>
        </p:spPr>
        <p:txBody>
          <a:bodyPr lIns="0" rIns="0" anchor="t">
            <a:normAutofit/>
          </a:bodyPr>
          <a:lstStyle/>
          <a:p>
            <a:pPr marL="91440" indent="-152280">
              <a:lnSpc>
                <a:spcPct val="90000"/>
              </a:lnSpc>
              <a:spcBef>
                <a:spcPts val="1400"/>
              </a:spcBef>
              <a:buClr>
                <a:srgbClr val="E48312"/>
              </a:buClr>
              <a:buFont typeface="Calibri"/>
              <a:buChar char="●"/>
            </a:pPr>
            <a:r>
              <a:rPr lang="en-US" sz="2400" b="0" strike="noStrike" spc="-1" dirty="0">
                <a:solidFill>
                  <a:srgbClr val="3F3F3F"/>
                </a:solidFill>
                <a:latin typeface="Calibri"/>
                <a:ea typeface="Calibri"/>
              </a:rPr>
              <a:t> A patent might be granted for an MRI machine that includes software designed to improve the clarity of scanned images. Here, the software is not "software as such" but part of a system with a tangible, technical application. The software plays a critical role in the functioning of the MRI machine and provides a new solution for enhancing image clarity. This contribution makes the invention eligible for a patent.</a:t>
            </a:r>
            <a:endParaRPr lang="en-US" sz="2400" b="0" strike="noStrike" spc="-1" dirty="0">
              <a:solidFill>
                <a:srgbClr val="000000"/>
              </a:solidFill>
              <a:latin typeface="Arial"/>
            </a:endParaRPr>
          </a:p>
        </p:txBody>
      </p:sp>
      <p:sp>
        <p:nvSpPr>
          <p:cNvPr id="144" name="PlaceHolder 2"/>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Software patents (example)</a:t>
            </a:r>
            <a:endParaRPr lang="en-US" sz="4800" b="0" strike="noStrike" spc="-1">
              <a:solidFill>
                <a:srgbClr val="000000"/>
              </a:solidFill>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CONFIDENTIAL INFORMATION</a:t>
            </a:r>
            <a:endParaRPr lang="en-US" sz="4800" b="0" strike="noStrike" spc="-1">
              <a:solidFill>
                <a:srgbClr val="000000"/>
              </a:solidFill>
              <a:latin typeface="Arial"/>
            </a:endParaRPr>
          </a:p>
        </p:txBody>
      </p:sp>
      <p:sp>
        <p:nvSpPr>
          <p:cNvPr id="14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r>
              <a:rPr lang="en-US" sz="2000" b="0" strike="noStrike" spc="-1" dirty="0">
                <a:solidFill>
                  <a:srgbClr val="3F3F3F"/>
                </a:solidFill>
                <a:latin typeface="Calibri"/>
                <a:ea typeface="Calibri"/>
              </a:rPr>
              <a:t>The critical point is that the information must have been given to that person in circumstances that give rise to what is known as an </a:t>
            </a:r>
            <a:r>
              <a:rPr lang="en-US" sz="2000" b="1" strike="noStrike" spc="-1" dirty="0">
                <a:solidFill>
                  <a:srgbClr val="3F3F3F"/>
                </a:solidFill>
                <a:latin typeface="Calibri"/>
                <a:ea typeface="Calibri"/>
              </a:rPr>
              <a:t>obligation of confidence (</a:t>
            </a:r>
            <a:r>
              <a:rPr lang="ur-PK" sz="1400" b="0" i="0" dirty="0">
                <a:solidFill>
                  <a:srgbClr val="1F1F1F"/>
                </a:solidFill>
                <a:effectLst/>
                <a:latin typeface="Arial" panose="020B0604020202020204" pitchFamily="34" charset="0"/>
              </a:rPr>
              <a:t>اعتماد کی ذمہ داری</a:t>
            </a:r>
            <a:r>
              <a:rPr lang="en-US" sz="1400" b="0" i="0" dirty="0">
                <a:solidFill>
                  <a:srgbClr val="1F1F1F"/>
                </a:solidFill>
                <a:effectLst/>
                <a:latin typeface="Arial" panose="020B0604020202020204" pitchFamily="34" charset="0"/>
              </a:rPr>
              <a:t>, </a:t>
            </a:r>
            <a:r>
              <a:rPr lang="ar-AE" sz="1400" dirty="0"/>
              <a:t>رازداری</a:t>
            </a:r>
            <a:r>
              <a:rPr lang="en-US" sz="2000" b="1" strike="noStrike" spc="-1" dirty="0">
                <a:solidFill>
                  <a:srgbClr val="3F3F3F"/>
                </a:solidFill>
                <a:latin typeface="Calibri"/>
                <a:ea typeface="Calibri"/>
              </a:rPr>
              <a:t>).</a:t>
            </a:r>
            <a:endParaRPr lang="en-US" sz="2000" b="0" strike="noStrike" spc="-1" dirty="0">
              <a:solidFill>
                <a:srgbClr val="000000"/>
              </a:solidFill>
              <a:latin typeface="Arial"/>
            </a:endParaRPr>
          </a:p>
          <a:p>
            <a:pPr marL="457200" indent="-343080">
              <a:lnSpc>
                <a:spcPct val="90000"/>
              </a:lnSpc>
              <a:buClr>
                <a:srgbClr val="E48312"/>
              </a:buClr>
              <a:buFont typeface="Calibri"/>
              <a:buChar char="●"/>
              <a:tabLst>
                <a:tab pos="0" algn="l"/>
              </a:tabLst>
            </a:pPr>
            <a:r>
              <a:rPr lang="en-US" sz="2000" b="0" strike="noStrike" spc="-1" dirty="0">
                <a:solidFill>
                  <a:srgbClr val="3F3F3F"/>
                </a:solidFill>
                <a:highlight>
                  <a:srgbClr val="FFFF00"/>
                </a:highlight>
                <a:latin typeface="Calibri"/>
                <a:ea typeface="Calibri"/>
              </a:rPr>
              <a:t>Rights of confidentiality are not intellectual property rights under UK law but are often treated in a similar way.</a:t>
            </a:r>
            <a:endParaRPr lang="en-US" sz="2000" b="0" strike="noStrike" spc="-1" dirty="0">
              <a:solidFill>
                <a:srgbClr val="000000"/>
              </a:solidFill>
              <a:highlight>
                <a:srgbClr val="FFFF00"/>
              </a:highlight>
              <a:latin typeface="Arial"/>
            </a:endParaRPr>
          </a:p>
          <a:p>
            <a:pPr marL="457200" indent="-343080">
              <a:lnSpc>
                <a:spcPct val="90000"/>
              </a:lnSpc>
              <a:buClr>
                <a:srgbClr val="E48312"/>
              </a:buClr>
              <a:buFont typeface="Calibri"/>
              <a:buChar char="●"/>
              <a:tabLst>
                <a:tab pos="0" algn="l"/>
              </a:tabLst>
            </a:pPr>
            <a:r>
              <a:rPr lang="en-US" sz="2000" b="0" strike="noStrike" spc="-1" dirty="0">
                <a:solidFill>
                  <a:srgbClr val="3F3F3F"/>
                </a:solidFill>
                <a:latin typeface="Calibri"/>
                <a:ea typeface="Calibri"/>
              </a:rPr>
              <a:t> It is common for an obligation of confidence to come into existence because of a specific clause in a contract.</a:t>
            </a:r>
            <a:endParaRPr lang="en-US" sz="2000" b="0" strike="noStrike" spc="-1" dirty="0">
              <a:solidFill>
                <a:srgbClr val="000000"/>
              </a:solidFill>
              <a:latin typeface="Arial"/>
            </a:endParaRPr>
          </a:p>
          <a:p>
            <a:pPr marL="457200" indent="-343080">
              <a:lnSpc>
                <a:spcPct val="90000"/>
              </a:lnSpc>
              <a:buClr>
                <a:srgbClr val="E48312"/>
              </a:buClr>
              <a:buFont typeface="Calibri"/>
              <a:buChar char="●"/>
              <a:tabLst>
                <a:tab pos="0" algn="l"/>
              </a:tabLst>
            </a:pPr>
            <a:r>
              <a:rPr lang="en-US" sz="2000" b="0" strike="noStrike" spc="-1" dirty="0">
                <a:solidFill>
                  <a:srgbClr val="3F3F3F"/>
                </a:solidFill>
                <a:latin typeface="Calibri"/>
                <a:ea typeface="Calibri"/>
              </a:rPr>
              <a:t> Non-disclosure agreements are agreements that are specifically intended to set up obligations of confidence. </a:t>
            </a:r>
            <a:endParaRPr lang="en-US" sz="2000" b="0" strike="noStrike" spc="-1" dirty="0">
              <a:solidFill>
                <a:srgbClr val="000000"/>
              </a:solidFill>
              <a:latin typeface="Arial"/>
            </a:endParaRPr>
          </a:p>
          <a:p>
            <a:pPr marL="457200" indent="-343080">
              <a:lnSpc>
                <a:spcPct val="90000"/>
              </a:lnSpc>
              <a:buClr>
                <a:srgbClr val="E48312"/>
              </a:buClr>
              <a:buFont typeface="Calibri"/>
              <a:buChar char="●"/>
              <a:tabLst>
                <a:tab pos="0" algn="l"/>
              </a:tabLst>
            </a:pPr>
            <a:r>
              <a:rPr lang="en-US" sz="2000" b="0" strike="noStrike" spc="-1" dirty="0">
                <a:solidFill>
                  <a:srgbClr val="3F3F3F"/>
                </a:solidFill>
                <a:latin typeface="Calibri"/>
                <a:ea typeface="Calibri"/>
              </a:rPr>
              <a:t>It is common, for example, when two companies are discussing possible collaboration, for each side to sign such a non-disclosure agreement to protect the information that they exchange.</a:t>
            </a:r>
            <a:endParaRPr lang="en-US" sz="2000" b="0" strike="noStrike" spc="-1" dirty="0">
              <a:solidFill>
                <a:srgbClr val="000000"/>
              </a:solidFill>
              <a:latin typeface="Arial"/>
            </a:endParaRPr>
          </a:p>
          <a:p>
            <a:pPr marL="457200">
              <a:lnSpc>
                <a:spcPct val="90000"/>
              </a:lnSpc>
              <a:buNone/>
              <a:tabLst>
                <a:tab pos="0" algn="l"/>
              </a:tabLst>
            </a:pPr>
            <a:endParaRPr lang="en-US" sz="2000" b="0" strike="noStrike" spc="-1" dirty="0">
              <a:solidFill>
                <a:srgbClr val="000000"/>
              </a:solidFill>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ADCB8-2791-AB01-726A-A2D448C8000F}"/>
              </a:ext>
            </a:extLst>
          </p:cNvPr>
          <p:cNvSpPr>
            <a:spLocks noGrp="1"/>
          </p:cNvSpPr>
          <p:nvPr>
            <p:ph type="title"/>
          </p:nvPr>
        </p:nvSpPr>
        <p:spPr/>
        <p:txBody>
          <a:bodyPr/>
          <a:lstStyle/>
          <a:p>
            <a:r>
              <a:rPr lang="en-US" sz="4400" b="1" strike="noStrike" spc="-1" dirty="0">
                <a:solidFill>
                  <a:srgbClr val="3F3F3F"/>
                </a:solidFill>
                <a:latin typeface="Calibri"/>
                <a:ea typeface="Calibri"/>
              </a:rPr>
              <a:t>CONFIDENTIAL INFORMATION</a:t>
            </a:r>
            <a:endParaRPr lang="en-US" dirty="0"/>
          </a:p>
        </p:txBody>
      </p:sp>
      <p:sp>
        <p:nvSpPr>
          <p:cNvPr id="3" name="Content Placeholder 2">
            <a:extLst>
              <a:ext uri="{FF2B5EF4-FFF2-40B4-BE49-F238E27FC236}">
                <a16:creationId xmlns:a16="http://schemas.microsoft.com/office/drawing/2014/main" id="{E360E5F6-FC88-ADCD-15FC-0683946A2D00}"/>
              </a:ext>
            </a:extLst>
          </p:cNvPr>
          <p:cNvSpPr>
            <a:spLocks noGrp="1"/>
          </p:cNvSpPr>
          <p:nvPr>
            <p:ph/>
          </p:nvPr>
        </p:nvSpPr>
        <p:spPr>
          <a:xfrm>
            <a:off x="1097280" y="1983474"/>
            <a:ext cx="9937066" cy="3327079"/>
          </a:xfrm>
        </p:spPr>
        <p:txBody>
          <a:bodyPr>
            <a:normAutofit/>
          </a:bodyPr>
          <a:lstStyle/>
          <a:p>
            <a:endParaRPr lang="en-US" dirty="0"/>
          </a:p>
          <a:p>
            <a:pPr marL="457200" indent="-343080">
              <a:buClr>
                <a:srgbClr val="E48312"/>
              </a:buClr>
              <a:buFont typeface="Calibri"/>
              <a:buChar char="●"/>
            </a:pPr>
            <a:r>
              <a:rPr lang="en-US" sz="2000" spc="-1" dirty="0">
                <a:solidFill>
                  <a:srgbClr val="3F3F3F"/>
                </a:solidFill>
                <a:latin typeface="Calibri"/>
              </a:rPr>
              <a:t>Confidential information is crucial, especially for ideas that might become a patent. If these ideas are made public before applying, the patent could be rejected. That’s why inventors should only share such ideas under confidentiality, like through an NDA</a:t>
            </a:r>
            <a:r>
              <a:rPr lang="en-US" sz="2000" spc="-1" dirty="0" smtClean="0">
                <a:solidFill>
                  <a:srgbClr val="3F3F3F"/>
                </a:solidFill>
                <a:latin typeface="Calibri"/>
              </a:rPr>
              <a:t>.</a:t>
            </a:r>
          </a:p>
          <a:p>
            <a:pPr marL="457200" indent="-343080">
              <a:buClr>
                <a:srgbClr val="E48312"/>
              </a:buClr>
              <a:buFont typeface="Calibri"/>
              <a:buChar char="●"/>
            </a:pPr>
            <a:endParaRPr lang="en-US" sz="2000" spc="-1" dirty="0">
              <a:solidFill>
                <a:srgbClr val="3F3F3F"/>
              </a:solidFill>
              <a:latin typeface="Calibri"/>
            </a:endParaRPr>
          </a:p>
          <a:p>
            <a:pPr marL="114120">
              <a:buClr>
                <a:srgbClr val="E48312"/>
              </a:buClr>
            </a:pPr>
            <a:endParaRPr lang="en-US" sz="2000" spc="-1" dirty="0">
              <a:solidFill>
                <a:srgbClr val="3F3F3F"/>
              </a:solidFill>
              <a:latin typeface="Calibri"/>
            </a:endParaRPr>
          </a:p>
          <a:p>
            <a:pPr marL="457200" indent="-343080">
              <a:buClr>
                <a:srgbClr val="E48312"/>
              </a:buClr>
              <a:buFont typeface="Calibri"/>
              <a:buChar char="●"/>
            </a:pPr>
            <a:r>
              <a:rPr lang="en-US" sz="2000" spc="-1" dirty="0">
                <a:solidFill>
                  <a:srgbClr val="3F3F3F"/>
                </a:solidFill>
                <a:latin typeface="Calibri"/>
              </a:rPr>
              <a:t>Another example is sales prospects. While most software companies don’t have highly sensitive trade secrets, their ongoing sales negotiations are important. If competitors learn about these discussions, they could use the information to gain an advantage.</a:t>
            </a:r>
          </a:p>
          <a:p>
            <a:endParaRPr lang="en-US" dirty="0"/>
          </a:p>
        </p:txBody>
      </p:sp>
    </p:spTree>
    <p:extLst>
      <p:ext uri="{BB962C8B-B14F-4D97-AF65-F5344CB8AC3E}">
        <p14:creationId xmlns:p14="http://schemas.microsoft.com/office/powerpoint/2010/main" val="37217986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8A10-1AF9-E7EC-5277-B7A7FA4D51C8}"/>
              </a:ext>
            </a:extLst>
          </p:cNvPr>
          <p:cNvSpPr>
            <a:spLocks noGrp="1"/>
          </p:cNvSpPr>
          <p:nvPr>
            <p:ph type="title"/>
          </p:nvPr>
        </p:nvSpPr>
        <p:spPr/>
        <p:txBody>
          <a:bodyPr/>
          <a:lstStyle/>
          <a:p>
            <a:r>
              <a:rPr lang="en-US" sz="4400" b="1" strike="noStrike" spc="-1" dirty="0">
                <a:solidFill>
                  <a:srgbClr val="3F3F3F"/>
                </a:solidFill>
                <a:latin typeface="Calibri"/>
                <a:ea typeface="Calibri"/>
              </a:rPr>
              <a:t>CONFIDENTIAL INFORMATION</a:t>
            </a:r>
            <a:endParaRPr lang="en-US" dirty="0"/>
          </a:p>
        </p:txBody>
      </p:sp>
      <p:sp>
        <p:nvSpPr>
          <p:cNvPr id="3" name="Content Placeholder 2">
            <a:extLst>
              <a:ext uri="{FF2B5EF4-FFF2-40B4-BE49-F238E27FC236}">
                <a16:creationId xmlns:a16="http://schemas.microsoft.com/office/drawing/2014/main" id="{EEF056BE-361A-A556-899B-53A48C277086}"/>
              </a:ext>
            </a:extLst>
          </p:cNvPr>
          <p:cNvSpPr>
            <a:spLocks noGrp="1"/>
          </p:cNvSpPr>
          <p:nvPr>
            <p:ph/>
          </p:nvPr>
        </p:nvSpPr>
        <p:spPr>
          <a:xfrm>
            <a:off x="965396" y="2537391"/>
            <a:ext cx="10058040" cy="1450440"/>
          </a:xfrm>
        </p:spPr>
        <p:txBody>
          <a:bodyPr/>
          <a:lstStyle/>
          <a:p>
            <a:pPr marL="571500" indent="-342900">
              <a:buClr>
                <a:schemeClr val="accent1"/>
              </a:buClr>
              <a:buFont typeface="Wingdings" pitchFamily="2" charset="2"/>
              <a:buChar char="Ø"/>
            </a:pPr>
            <a:r>
              <a:rPr lang="en-US" sz="2000" spc="-1" dirty="0">
                <a:solidFill>
                  <a:srgbClr val="3F3F3F"/>
                </a:solidFill>
                <a:latin typeface="Calibri"/>
              </a:rPr>
              <a:t>Confidential information is different from professional skills or knowledge. The obligation to keep information confidential isn’t absolute—courts can decide to reveal it if it serves the public interest</a:t>
            </a:r>
            <a:r>
              <a:rPr lang="en-US" sz="2000" spc="-1" dirty="0" smtClean="0">
                <a:solidFill>
                  <a:srgbClr val="3F3F3F"/>
                </a:solidFill>
                <a:latin typeface="Calibri"/>
              </a:rPr>
              <a:t>.</a:t>
            </a:r>
          </a:p>
          <a:p>
            <a:pPr marL="571500" indent="-342900">
              <a:buClr>
                <a:schemeClr val="accent1"/>
              </a:buClr>
              <a:buFont typeface="Wingdings" pitchFamily="2" charset="2"/>
              <a:buChar char="Ø"/>
            </a:pPr>
            <a:endParaRPr lang="en-US" sz="2000" spc="-1" dirty="0">
              <a:solidFill>
                <a:srgbClr val="3F3F3F"/>
              </a:solidFill>
              <a:latin typeface="Calibri"/>
            </a:endParaRPr>
          </a:p>
          <a:p>
            <a:pPr marL="571500" indent="-342900">
              <a:buClr>
                <a:schemeClr val="accent1"/>
              </a:buClr>
              <a:buFont typeface="Wingdings" pitchFamily="2" charset="2"/>
              <a:buChar char="Ø"/>
            </a:pPr>
            <a:r>
              <a:rPr lang="en-US" sz="2000" spc="-1" dirty="0">
                <a:solidFill>
                  <a:srgbClr val="3F3F3F"/>
                </a:solidFill>
                <a:latin typeface="Calibri"/>
              </a:rPr>
              <a:t>There have been cases where employees exposed their employer’s wrongdoing. To address this, the Public Interest Disclosure Act (1998) was introduced, offering protection to employees who disclose such information under specific conditions.</a:t>
            </a:r>
          </a:p>
          <a:p>
            <a:endParaRPr lang="en-US" dirty="0"/>
          </a:p>
        </p:txBody>
      </p:sp>
    </p:spTree>
    <p:extLst>
      <p:ext uri="{BB962C8B-B14F-4D97-AF65-F5344CB8AC3E}">
        <p14:creationId xmlns:p14="http://schemas.microsoft.com/office/powerpoint/2010/main" val="3050959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CONFIDENTIAL INFORMATION</a:t>
            </a:r>
            <a:endParaRPr lang="en-US" sz="4800" b="0" strike="noStrike" spc="-1">
              <a:solidFill>
                <a:srgbClr val="000000"/>
              </a:solidFill>
              <a:latin typeface="Arial"/>
            </a:endParaRPr>
          </a:p>
        </p:txBody>
      </p:sp>
      <p:sp>
        <p:nvSpPr>
          <p:cNvPr id="152"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457200" indent="-343080">
              <a:lnSpc>
                <a:spcPct val="90000"/>
              </a:lnSpc>
              <a:buClr>
                <a:srgbClr val="E48312"/>
              </a:buClr>
              <a:buFont typeface="Calibri"/>
              <a:buChar char="●"/>
            </a:pPr>
            <a:r>
              <a:rPr lang="en-US" sz="2000" b="0" strike="noStrike" spc="-1" dirty="0">
                <a:solidFill>
                  <a:srgbClr val="3F3F3F"/>
                </a:solidFill>
                <a:latin typeface="Calibri"/>
                <a:ea typeface="Calibri"/>
              </a:rPr>
              <a:t>Disclosure act reasonably believes shows that one or more of the following has occurred or is about to occur: </a:t>
            </a:r>
            <a:endParaRPr lang="en-US" sz="20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a criminal offence;</a:t>
            </a:r>
            <a:endParaRPr lang="en-US" sz="18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 failure to comply with a legal obligation; </a:t>
            </a:r>
            <a:endParaRPr lang="en-US" sz="18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a miscarriage of justice; </a:t>
            </a:r>
            <a:endParaRPr lang="en-US" sz="18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danger to health and safety; </a:t>
            </a:r>
            <a:endParaRPr lang="en-US" sz="18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environmental damage; </a:t>
            </a:r>
            <a:endParaRPr lang="en-US" sz="1800" b="0" strike="noStrike" spc="-1" dirty="0">
              <a:solidFill>
                <a:srgbClr val="000000"/>
              </a:solidFill>
              <a:latin typeface="Arial"/>
            </a:endParaRPr>
          </a:p>
          <a:p>
            <a:pPr marL="914400" lvl="1" indent="-343080">
              <a:lnSpc>
                <a:spcPct val="90000"/>
              </a:lnSpc>
              <a:buClr>
                <a:srgbClr val="E48312"/>
              </a:buClr>
              <a:buFont typeface="Calibri"/>
              <a:buChar char="○"/>
            </a:pPr>
            <a:r>
              <a:rPr lang="en-US" sz="1800" b="0" strike="noStrike" spc="-1" dirty="0">
                <a:solidFill>
                  <a:srgbClr val="3F3F3F"/>
                </a:solidFill>
                <a:latin typeface="Calibri"/>
                <a:ea typeface="Calibri"/>
              </a:rPr>
              <a:t>information showing that any of these has been concealed</a:t>
            </a:r>
            <a:endParaRPr lang="en-US" sz="1800" b="0" strike="noStrike" spc="-1" dirty="0">
              <a:solidFill>
                <a:srgbClr val="000000"/>
              </a:solidFill>
              <a:latin typeface="Arial"/>
            </a:endParaRPr>
          </a:p>
          <a:p>
            <a:pPr marL="457200" indent="-343080">
              <a:lnSpc>
                <a:spcPct val="90000"/>
              </a:lnSpc>
              <a:buClr>
                <a:srgbClr val="E48312"/>
              </a:buClr>
              <a:buFont typeface="Calibri"/>
              <a:buChar char="●"/>
            </a:pPr>
            <a:r>
              <a:rPr lang="en-US" sz="2000" b="0" strike="noStrike" spc="-1" dirty="0">
                <a:solidFill>
                  <a:srgbClr val="3F3F3F"/>
                </a:solidFill>
                <a:latin typeface="Calibri"/>
                <a:ea typeface="Calibri"/>
              </a:rPr>
              <a:t> A worker making a qualifying disclosure will only be protected against victimization if the disclosure is made in the right circumstances. In this case, the disclosure is known as a protected disclosure</a:t>
            </a:r>
            <a:endParaRPr lang="en-US" sz="2000" b="0" strike="noStrike" spc="-1" dirty="0">
              <a:solidFill>
                <a:srgbClr val="000000"/>
              </a:solidFill>
              <a:latin typeface="Arial"/>
            </a:endParaRPr>
          </a:p>
          <a:p>
            <a:pPr>
              <a:lnSpc>
                <a:spcPct val="90000"/>
              </a:lnSpc>
              <a:buNone/>
              <a:tabLst>
                <a:tab pos="0" algn="l"/>
              </a:tabLst>
            </a:pPr>
            <a:endParaRPr lang="en-US" sz="2000" b="0" strike="noStrike" spc="-1" dirty="0">
              <a:solidFill>
                <a:srgbClr val="000000"/>
              </a:solidFill>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a:solidFill>
                  <a:srgbClr val="3F3F3F"/>
                </a:solidFill>
                <a:latin typeface="Calibri"/>
                <a:ea typeface="Calibri"/>
              </a:rPr>
              <a:t>Discussion</a:t>
            </a:r>
            <a:endParaRPr lang="en-US" sz="4800" b="0" strike="noStrike" spc="-1">
              <a:solidFill>
                <a:srgbClr val="000000"/>
              </a:solidFill>
              <a:latin typeface="Arial"/>
            </a:endParaRPr>
          </a:p>
        </p:txBody>
      </p:sp>
      <p:sp>
        <p:nvSpPr>
          <p:cNvPr id="154"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nSpc>
                <a:spcPct val="115000"/>
              </a:lnSpc>
              <a:spcBef>
                <a:spcPts val="1199"/>
              </a:spcBef>
              <a:buNone/>
              <a:tabLst>
                <a:tab pos="0" algn="l"/>
              </a:tabLst>
            </a:pPr>
            <a:r>
              <a:rPr lang="en-US" sz="2400" b="0" strike="noStrike" spc="-1" dirty="0">
                <a:solidFill>
                  <a:srgbClr val="000000"/>
                </a:solidFill>
                <a:latin typeface="Calibri" panose="020F0502020204030204" pitchFamily="34" charset="0"/>
                <a:ea typeface="Arial"/>
                <a:cs typeface="Calibri" panose="020F0502020204030204" pitchFamily="34" charset="0"/>
              </a:rPr>
              <a:t>	   A novelist writes a book about space exploration. At the same time, an engineer develops a new kind of rocket engine that could revolutionize space travel.</a:t>
            </a:r>
            <a:endParaRPr lang="en-US" sz="2400" b="0" strike="noStrike" spc="-1" dirty="0">
              <a:solidFill>
                <a:srgbClr val="000000"/>
              </a:solidFill>
              <a:latin typeface="Calibri" panose="020F0502020204030204" pitchFamily="34" charset="0"/>
              <a:cs typeface="Calibri" panose="020F0502020204030204" pitchFamily="34" charset="0"/>
            </a:endParaRPr>
          </a:p>
          <a:p>
            <a:pPr>
              <a:lnSpc>
                <a:spcPct val="115000"/>
              </a:lnSpc>
              <a:spcBef>
                <a:spcPts val="1199"/>
              </a:spcBef>
              <a:buNone/>
              <a:tabLst>
                <a:tab pos="0" algn="l"/>
              </a:tabLst>
            </a:pPr>
            <a:r>
              <a:rPr lang="en-US" sz="2400" b="1" strike="noStrike" spc="-1" dirty="0">
                <a:solidFill>
                  <a:srgbClr val="000000"/>
                </a:solidFill>
                <a:latin typeface="Calibri" panose="020F0502020204030204" pitchFamily="34" charset="0"/>
                <a:ea typeface="Arial"/>
                <a:cs typeface="Calibri" panose="020F0502020204030204" pitchFamily="34" charset="0"/>
              </a:rPr>
              <a:t>Question:</a:t>
            </a:r>
            <a:endParaRPr lang="en-US" sz="2400" b="0" strike="noStrike" spc="-1" dirty="0">
              <a:solidFill>
                <a:srgbClr val="000000"/>
              </a:solidFill>
              <a:latin typeface="Calibri" panose="020F0502020204030204" pitchFamily="34" charset="0"/>
              <a:cs typeface="Calibri" panose="020F0502020204030204" pitchFamily="34" charset="0"/>
            </a:endParaRPr>
          </a:p>
          <a:p>
            <a:pPr marL="457200" indent="-324000">
              <a:lnSpc>
                <a:spcPct val="115000"/>
              </a:lnSpc>
              <a:spcBef>
                <a:spcPts val="1199"/>
              </a:spcBef>
              <a:buClr>
                <a:srgbClr val="000000"/>
              </a:buClr>
              <a:buFont typeface="Arial"/>
              <a:buChar char="●"/>
              <a:tabLst>
                <a:tab pos="0" algn="l"/>
              </a:tabLst>
            </a:pPr>
            <a:r>
              <a:rPr lang="en-US" sz="2400" b="0" strike="noStrike" spc="-1" dirty="0">
                <a:solidFill>
                  <a:srgbClr val="000000"/>
                </a:solidFill>
                <a:latin typeface="Calibri" panose="020F0502020204030204" pitchFamily="34" charset="0"/>
                <a:ea typeface="Arial"/>
                <a:cs typeface="Calibri" panose="020F0502020204030204" pitchFamily="34" charset="0"/>
              </a:rPr>
              <a:t>The novel is eligible for copyright protection. What specific parts of the novel would be covered under copyright law?</a:t>
            </a:r>
            <a:endParaRPr lang="en-US" sz="2400" b="0" strike="noStrike" spc="-1" dirty="0">
              <a:solidFill>
                <a:srgbClr val="000000"/>
              </a:solidFill>
              <a:latin typeface="Calibri" panose="020F0502020204030204" pitchFamily="34" charset="0"/>
              <a:cs typeface="Calibri" panose="020F0502020204030204" pitchFamily="34" charset="0"/>
            </a:endParaRPr>
          </a:p>
          <a:p>
            <a:pPr marL="457200" indent="-324000">
              <a:lnSpc>
                <a:spcPct val="115000"/>
              </a:lnSpc>
              <a:buClr>
                <a:srgbClr val="000000"/>
              </a:buClr>
              <a:buFont typeface="Arial"/>
              <a:buChar char="●"/>
              <a:tabLst>
                <a:tab pos="0" algn="l"/>
              </a:tabLst>
            </a:pPr>
            <a:r>
              <a:rPr lang="en-US" sz="2400" b="0" strike="noStrike" spc="-1" dirty="0">
                <a:solidFill>
                  <a:srgbClr val="000000"/>
                </a:solidFill>
                <a:latin typeface="Calibri" panose="020F0502020204030204" pitchFamily="34" charset="0"/>
                <a:ea typeface="Arial"/>
                <a:cs typeface="Calibri" panose="020F0502020204030204" pitchFamily="34" charset="0"/>
              </a:rPr>
              <a:t>The rocket engine could be patented. How does a patent differ from a copyright in protecting the engineer's work?</a:t>
            </a:r>
            <a:endParaRPr lang="en-US" sz="2400" b="0" strike="noStrike" spc="-1" dirty="0">
              <a:solidFill>
                <a:srgbClr val="000000"/>
              </a:solidFill>
              <a:latin typeface="Calibri" panose="020F0502020204030204" pitchFamily="34" charset="0"/>
              <a:cs typeface="Calibri" panose="020F0502020204030204" pitchFamily="34" charset="0"/>
            </a:endParaRPr>
          </a:p>
          <a:p>
            <a:pPr>
              <a:lnSpc>
                <a:spcPct val="90000"/>
              </a:lnSpc>
              <a:spcBef>
                <a:spcPts val="1199"/>
              </a:spcBef>
              <a:buNone/>
              <a:tabLst>
                <a:tab pos="0" algn="l"/>
              </a:tabLst>
            </a:pPr>
            <a:endParaRPr lang="en-US" sz="2400" b="0" strike="noStrike" spc="-1" dirty="0">
              <a:solidFill>
                <a:srgbClr val="000000"/>
              </a:solidFill>
              <a:latin typeface="Calibri" panose="020F0502020204030204" pitchFamily="34" charset="0"/>
              <a:cs typeface="Calibri" panose="020F0502020204030204" pitchFamily="34" charset="0"/>
            </a:endParaRPr>
          </a:p>
          <a:p>
            <a:pPr>
              <a:lnSpc>
                <a:spcPct val="90000"/>
              </a:lnSpc>
              <a:buNone/>
              <a:tabLst>
                <a:tab pos="0" algn="l"/>
              </a:tabLst>
            </a:pPr>
            <a:endParaRPr lang="en-US" sz="2400" b="0" strike="noStrike" spc="-1" dirty="0">
              <a:solidFill>
                <a:srgbClr val="000000"/>
              </a:solidFill>
              <a:latin typeface="Calibri" panose="020F0502020204030204" pitchFamily="34" charset="0"/>
              <a:cs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dirty="0">
                <a:solidFill>
                  <a:srgbClr val="3F3F3F"/>
                </a:solidFill>
                <a:latin typeface="Calibri"/>
                <a:ea typeface="Calibri"/>
              </a:rPr>
              <a:t>TRADEMARKS AND PASSING OFF</a:t>
            </a:r>
            <a:endParaRPr lang="en-US" sz="4800" b="0" strike="noStrike" spc="-1" dirty="0">
              <a:solidFill>
                <a:srgbClr val="000000"/>
              </a:solidFill>
              <a:latin typeface="Arial"/>
            </a:endParaRPr>
          </a:p>
        </p:txBody>
      </p:sp>
      <p:sp>
        <p:nvSpPr>
          <p:cNvPr id="156"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a:lnSpc>
                <a:spcPct val="90000"/>
              </a:lnSpc>
              <a:buNone/>
              <a:tabLst>
                <a:tab pos="0" algn="l"/>
              </a:tabLst>
            </a:pPr>
            <a:r>
              <a:rPr lang="en-US" sz="2000" b="0" strike="noStrike" spc="-1" dirty="0">
                <a:solidFill>
                  <a:srgbClr val="3F3F3F"/>
                </a:solidFill>
                <a:latin typeface="Calibri"/>
                <a:ea typeface="Calibri"/>
              </a:rPr>
              <a:t>     The law regarding trademarks in the UK is based on the </a:t>
            </a:r>
            <a:r>
              <a:rPr lang="en-US" sz="2000" b="0" strike="noStrike" spc="-1" dirty="0">
                <a:solidFill>
                  <a:srgbClr val="3F3F3F"/>
                </a:solidFill>
                <a:highlight>
                  <a:srgbClr val="FFFF00"/>
                </a:highlight>
                <a:latin typeface="Calibri"/>
                <a:ea typeface="Calibri"/>
              </a:rPr>
              <a:t>Trademarks Act 1994</a:t>
            </a:r>
            <a:r>
              <a:rPr lang="en-US" sz="2000" b="0" strike="noStrike" spc="-1" dirty="0">
                <a:solidFill>
                  <a:srgbClr val="3F3F3F"/>
                </a:solidFill>
                <a:latin typeface="Calibri"/>
                <a:ea typeface="Calibri"/>
              </a:rPr>
              <a:t>, which consolidated and updated existing legislation. The Act defines a trademark as:</a:t>
            </a:r>
            <a:endParaRPr lang="en-US" sz="2000" b="0" strike="noStrike" spc="-1" dirty="0">
              <a:solidFill>
                <a:srgbClr val="000000"/>
              </a:solidFill>
              <a:latin typeface="Arial"/>
            </a:endParaRPr>
          </a:p>
          <a:p>
            <a:pPr>
              <a:lnSpc>
                <a:spcPct val="90000"/>
              </a:lnSpc>
              <a:spcBef>
                <a:spcPts val="1400"/>
              </a:spcBef>
              <a:buNone/>
              <a:tabLst>
                <a:tab pos="0" algn="l"/>
              </a:tabLst>
            </a:pPr>
            <a:r>
              <a:rPr lang="en-US" sz="2000" b="1" i="1" strike="noStrike" spc="-1" dirty="0">
                <a:solidFill>
                  <a:srgbClr val="3F3F3F"/>
                </a:solidFill>
                <a:latin typeface="Calibri"/>
                <a:ea typeface="Calibri"/>
              </a:rPr>
              <a:t>     Any sign capable of being represented graphically which is capable of distinguishing goods or services of one undertaking from those of other undertakings. A trademark may consist of words (including personal names), designs, letters, numerals or the shape of goods or their packaging.</a:t>
            </a:r>
            <a:endParaRPr lang="en-US" sz="2000" b="0" strike="noStrike" spc="-1" dirty="0">
              <a:solidFill>
                <a:srgbClr val="000000"/>
              </a:solidFill>
              <a:latin typeface="Arial"/>
            </a:endParaRPr>
          </a:p>
          <a:p>
            <a:pPr>
              <a:lnSpc>
                <a:spcPct val="90000"/>
              </a:lnSpc>
              <a:spcBef>
                <a:spcPts val="1400"/>
              </a:spcBef>
              <a:buNone/>
              <a:tabLst>
                <a:tab pos="0" algn="l"/>
              </a:tabLst>
            </a:pPr>
            <a:r>
              <a:rPr lang="en-US" sz="2000" b="0" strike="noStrike" spc="-1" dirty="0">
                <a:solidFill>
                  <a:srgbClr val="3F3F3F"/>
                </a:solidFill>
                <a:latin typeface="Calibri"/>
                <a:ea typeface="Calibri"/>
              </a:rPr>
              <a:t>    Even where a trademark is not registered, action can be taken in the civil courts against products that imitate the appearance or ‘get up’ of an existing product. This is known as the tort of ‘passing off’.</a:t>
            </a:r>
            <a:br>
              <a:rPr lang="en-US" sz="2000" b="0" strike="noStrike" spc="-1" dirty="0">
                <a:solidFill>
                  <a:srgbClr val="3F3F3F"/>
                </a:solidFill>
                <a:latin typeface="Calibri"/>
                <a:ea typeface="Calibri"/>
              </a:rPr>
            </a:br>
            <a:r>
              <a:rPr lang="en-US" sz="2000" b="0" strike="noStrike" spc="-1" dirty="0">
                <a:solidFill>
                  <a:srgbClr val="3F3F3F"/>
                </a:solidFill>
                <a:latin typeface="Calibri"/>
                <a:ea typeface="Calibri"/>
              </a:rPr>
              <a:t/>
            </a:r>
            <a:br>
              <a:rPr lang="en-US" sz="2000" b="0" strike="noStrike" spc="-1" dirty="0">
                <a:solidFill>
                  <a:srgbClr val="3F3F3F"/>
                </a:solidFill>
                <a:latin typeface="Calibri"/>
                <a:ea typeface="Calibri"/>
              </a:rPr>
            </a:br>
            <a:r>
              <a:rPr lang="en-US" sz="2000" b="0" strike="noStrike" spc="-1" dirty="0">
                <a:solidFill>
                  <a:srgbClr val="3F3F3F"/>
                </a:solidFill>
                <a:latin typeface="Calibri"/>
                <a:ea typeface="Calibri"/>
              </a:rPr>
              <a:t>Tort(legal wrong)</a:t>
            </a:r>
            <a:endParaRPr lang="en-US" sz="2000" b="0" strike="noStrike" spc="-1" dirty="0">
              <a:solidFill>
                <a:srgbClr val="000000"/>
              </a:solidFill>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1" strike="noStrike" spc="-1" dirty="0">
                <a:solidFill>
                  <a:srgbClr val="3F3F3F"/>
                </a:solidFill>
                <a:latin typeface="Calibri"/>
                <a:ea typeface="Calibri"/>
              </a:rPr>
              <a:t>TRADEMARKS AND PASSING OFF</a:t>
            </a:r>
            <a:endParaRPr lang="en-US" sz="4800" b="0" strike="noStrike" spc="-1" dirty="0">
              <a:solidFill>
                <a:srgbClr val="000000"/>
              </a:solidFill>
              <a:latin typeface="Arial"/>
            </a:endParaRPr>
          </a:p>
        </p:txBody>
      </p:sp>
      <p:sp>
        <p:nvSpPr>
          <p:cNvPr id="158"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457200" indent="-343080">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Provision is made for registering trademarks and most trademarks are now registered. In the UK this is done through the UKIPO. It maintains a database of registered trademarks and their owners that can be searched over the internet.</a:t>
            </a:r>
            <a:endParaRPr lang="en-US" sz="2000" b="0" strike="noStrike" spc="-1" dirty="0">
              <a:solidFill>
                <a:srgbClr val="000000"/>
              </a:solidFill>
              <a:latin typeface="Arial"/>
            </a:endParaRPr>
          </a:p>
          <a:p>
            <a:pPr marL="457200" indent="-343080">
              <a:lnSpc>
                <a:spcPct val="90000"/>
              </a:lnSpc>
              <a:buClr>
                <a:srgbClr val="E48312"/>
              </a:buClr>
              <a:buFont typeface="Calibri"/>
              <a:buChar char="●"/>
            </a:pPr>
            <a:r>
              <a:rPr lang="en-US" sz="2000" b="0" strike="noStrike" spc="-1" dirty="0">
                <a:solidFill>
                  <a:srgbClr val="3F3F3F"/>
                </a:solidFill>
                <a:latin typeface="Calibri"/>
                <a:ea typeface="Calibri"/>
              </a:rPr>
              <a:t>Trademarks are an effective way of  protecting retail packaged software from piracy.</a:t>
            </a:r>
            <a:endParaRPr lang="en-US" sz="2000" b="0" strike="noStrike" spc="-1" dirty="0">
              <a:solidFill>
                <a:srgbClr val="000000"/>
              </a:solidFill>
              <a:latin typeface="Arial"/>
            </a:endParaRPr>
          </a:p>
          <a:p>
            <a:pPr marL="457200">
              <a:lnSpc>
                <a:spcPct val="90000"/>
              </a:lnSpc>
              <a:spcBef>
                <a:spcPts val="1400"/>
              </a:spcBef>
              <a:buNone/>
              <a:tabLst>
                <a:tab pos="0" algn="l"/>
              </a:tabLst>
            </a:pPr>
            <a:endParaRPr lang="en-US" sz="2000" b="0" strike="noStrike" spc="-1" dirty="0">
              <a:solidFill>
                <a:srgbClr val="000000"/>
              </a:solidFill>
              <a:latin typeface="Arial"/>
            </a:endParaRPr>
          </a:p>
          <a:p>
            <a:pPr>
              <a:lnSpc>
                <a:spcPct val="90000"/>
              </a:lnSpc>
              <a:spcBef>
                <a:spcPts val="1400"/>
              </a:spcBef>
              <a:buNone/>
              <a:tabLst>
                <a:tab pos="0" algn="l"/>
              </a:tabLst>
            </a:pPr>
            <a:endParaRPr lang="en-US" sz="2000" b="0" strike="noStrike" spc="-1" dirty="0">
              <a:solidFill>
                <a:srgbClr val="000000"/>
              </a:solidFill>
              <a:latin typeface="Arial"/>
            </a:endParaRPr>
          </a:p>
        </p:txBody>
      </p:sp>
      <p:pic>
        <p:nvPicPr>
          <p:cNvPr id="159" name="Google Shape;301;g31477c2a325_0_0"/>
          <p:cNvPicPr/>
          <p:nvPr/>
        </p:nvPicPr>
        <p:blipFill>
          <a:blip r:embed="rId2"/>
          <a:stretch/>
        </p:blipFill>
        <p:spPr>
          <a:xfrm>
            <a:off x="5821560" y="3253838"/>
            <a:ext cx="2942430" cy="2290881"/>
          </a:xfrm>
          <a:prstGeom prst="rect">
            <a:avLst/>
          </a:prstGeom>
          <a:ln w="0">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73867-81B4-8788-0215-6DB396FD5E1A}"/>
              </a:ext>
            </a:extLst>
          </p:cNvPr>
          <p:cNvSpPr>
            <a:spLocks noGrp="1"/>
          </p:cNvSpPr>
          <p:nvPr>
            <p:ph type="title"/>
          </p:nvPr>
        </p:nvSpPr>
        <p:spPr/>
        <p:txBody>
          <a:bodyPr/>
          <a:lstStyle/>
          <a:p>
            <a:r>
              <a:rPr lang="en-US" sz="4400" b="1" strike="noStrike" spc="-1" dirty="0">
                <a:solidFill>
                  <a:srgbClr val="3F3F3F"/>
                </a:solidFill>
                <a:latin typeface="Calibri"/>
                <a:ea typeface="Calibri"/>
              </a:rPr>
              <a:t>TRADEMARKS</a:t>
            </a:r>
            <a:endParaRPr lang="en-US" dirty="0"/>
          </a:p>
        </p:txBody>
      </p:sp>
      <p:sp>
        <p:nvSpPr>
          <p:cNvPr id="3" name="Content Placeholder 2">
            <a:extLst>
              <a:ext uri="{FF2B5EF4-FFF2-40B4-BE49-F238E27FC236}">
                <a16:creationId xmlns:a16="http://schemas.microsoft.com/office/drawing/2014/main" id="{8F6C495C-15C7-6A6E-2956-8E65706F166E}"/>
              </a:ext>
            </a:extLst>
          </p:cNvPr>
          <p:cNvSpPr>
            <a:spLocks noGrp="1"/>
          </p:cNvSpPr>
          <p:nvPr>
            <p:ph/>
          </p:nvPr>
        </p:nvSpPr>
        <p:spPr>
          <a:xfrm>
            <a:off x="1097280" y="1957097"/>
            <a:ext cx="10058040" cy="4021671"/>
          </a:xfrm>
        </p:spPr>
        <p:txBody>
          <a:bodyPr>
            <a:normAutofit/>
          </a:bodyPr>
          <a:lstStyle/>
          <a:p>
            <a:pPr>
              <a:lnSpc>
                <a:spcPct val="100000"/>
              </a:lnSpc>
              <a:buClr>
                <a:schemeClr val="accent1"/>
              </a:buClr>
              <a:buFont typeface="Wingdings" pitchFamily="2" charset="2"/>
              <a:buChar char="Ø"/>
              <a:tabLst>
                <a:tab pos="0" algn="l"/>
              </a:tabLst>
            </a:pPr>
            <a:r>
              <a:rPr lang="en-US" sz="2200" spc="-1" dirty="0">
                <a:solidFill>
                  <a:srgbClr val="3F3F3F"/>
                </a:solidFill>
                <a:latin typeface="Calibri"/>
              </a:rPr>
              <a:t>There are rules about what can be registered as a trademark. For example, place names or people’s names usually can’t be trademarked</a:t>
            </a:r>
            <a:r>
              <a:rPr lang="en-US" sz="2200" spc="-1" dirty="0" smtClean="0">
                <a:solidFill>
                  <a:srgbClr val="3F3F3F"/>
                </a:solidFill>
                <a:latin typeface="Calibri"/>
              </a:rPr>
              <a:t>.</a:t>
            </a:r>
          </a:p>
          <a:p>
            <a:pPr>
              <a:lnSpc>
                <a:spcPct val="100000"/>
              </a:lnSpc>
              <a:buClr>
                <a:schemeClr val="accent1"/>
              </a:buClr>
              <a:tabLst>
                <a:tab pos="0" algn="l"/>
              </a:tabLst>
            </a:pPr>
            <a:endParaRPr lang="en-US" sz="2200" spc="-1" dirty="0">
              <a:solidFill>
                <a:srgbClr val="3F3F3F"/>
              </a:solidFill>
              <a:latin typeface="Calibri"/>
            </a:endParaRPr>
          </a:p>
          <a:p>
            <a:pPr>
              <a:lnSpc>
                <a:spcPct val="100000"/>
              </a:lnSpc>
              <a:buClr>
                <a:schemeClr val="accent1"/>
              </a:buClr>
              <a:buFont typeface="Wingdings" pitchFamily="2" charset="2"/>
              <a:buChar char="Ø"/>
              <a:tabLst>
                <a:tab pos="0" algn="l"/>
              </a:tabLst>
            </a:pPr>
            <a:r>
              <a:rPr lang="en-US" sz="2200" spc="-1" dirty="0">
                <a:solidFill>
                  <a:srgbClr val="3F3F3F"/>
                </a:solidFill>
                <a:latin typeface="Calibri"/>
              </a:rPr>
              <a:t>The 1994 Act makes it illegal to:</a:t>
            </a:r>
          </a:p>
          <a:p>
            <a:pPr marL="457200" indent="-457200">
              <a:lnSpc>
                <a:spcPct val="100000"/>
              </a:lnSpc>
              <a:buClr>
                <a:schemeClr val="accent1"/>
              </a:buClr>
              <a:buFont typeface="+mj-lt"/>
              <a:buAutoNum type="arabicPeriod"/>
              <a:tabLst>
                <a:tab pos="0" algn="l"/>
              </a:tabLst>
            </a:pPr>
            <a:r>
              <a:rPr lang="en-US" sz="2200" spc="-1" dirty="0">
                <a:solidFill>
                  <a:srgbClr val="3F3F3F"/>
                </a:solidFill>
                <a:latin typeface="Calibri"/>
              </a:rPr>
              <a:t>Use a trademark that you don’t own or have permission to use on goods.</a:t>
            </a:r>
          </a:p>
          <a:p>
            <a:pPr marL="457200" indent="-457200">
              <a:lnSpc>
                <a:spcPct val="100000"/>
              </a:lnSpc>
              <a:buClr>
                <a:schemeClr val="accent1"/>
              </a:buClr>
              <a:buFont typeface="+mj-lt"/>
              <a:buAutoNum type="arabicPeriod"/>
              <a:tabLst>
                <a:tab pos="0" algn="l"/>
              </a:tabLst>
            </a:pPr>
            <a:r>
              <a:rPr lang="en-US" sz="2200" spc="-1" dirty="0">
                <a:solidFill>
                  <a:srgbClr val="3F3F3F"/>
                </a:solidFill>
                <a:latin typeface="Calibri"/>
              </a:rPr>
              <a:t>Sell or offer goods or packaging with an unauthorized trademark.</a:t>
            </a:r>
          </a:p>
          <a:p>
            <a:pPr marL="457200" indent="-457200">
              <a:lnSpc>
                <a:spcPct val="100000"/>
              </a:lnSpc>
              <a:buClr>
                <a:schemeClr val="accent1"/>
              </a:buClr>
              <a:buFont typeface="+mj-lt"/>
              <a:buAutoNum type="arabicPeriod"/>
              <a:tabLst>
                <a:tab pos="0" algn="l"/>
              </a:tabLst>
            </a:pPr>
            <a:r>
              <a:rPr lang="en-US" sz="2200" spc="-1" dirty="0">
                <a:solidFill>
                  <a:srgbClr val="3F3F3F"/>
                </a:solidFill>
                <a:latin typeface="Calibri"/>
              </a:rPr>
              <a:t>Import or export goods with an unauthorized trademark.</a:t>
            </a:r>
          </a:p>
          <a:p>
            <a:pPr marL="457200" indent="-457200">
              <a:lnSpc>
                <a:spcPct val="100000"/>
              </a:lnSpc>
              <a:buClr>
                <a:schemeClr val="accent1"/>
              </a:buClr>
              <a:buFont typeface="+mj-lt"/>
              <a:buAutoNum type="arabicPeriod"/>
              <a:tabLst>
                <a:tab pos="0" algn="l"/>
              </a:tabLst>
            </a:pPr>
            <a:r>
              <a:rPr lang="en-US" sz="2200" spc="-1" dirty="0">
                <a:solidFill>
                  <a:srgbClr val="3F3F3F"/>
                </a:solidFill>
                <a:latin typeface="Calibri"/>
              </a:rPr>
              <a:t>Have goods or packaging with an unauthorized trademark for sale or hire in business.</a:t>
            </a:r>
          </a:p>
          <a:p>
            <a:endParaRPr lang="en-US" dirty="0"/>
          </a:p>
        </p:txBody>
      </p:sp>
    </p:spTree>
    <p:extLst>
      <p:ext uri="{BB962C8B-B14F-4D97-AF65-F5344CB8AC3E}">
        <p14:creationId xmlns:p14="http://schemas.microsoft.com/office/powerpoint/2010/main" val="4275966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Domain Names</a:t>
            </a:r>
            <a:endParaRPr lang="en-US" sz="4800" b="0" strike="noStrike" spc="-1">
              <a:solidFill>
                <a:srgbClr val="000000"/>
              </a:solidFill>
              <a:latin typeface="Arial"/>
            </a:endParaRPr>
          </a:p>
        </p:txBody>
      </p:sp>
      <p:sp>
        <p:nvSpPr>
          <p:cNvPr id="163" name="PlaceHolder 2"/>
          <p:cNvSpPr>
            <a:spLocks noGrp="1"/>
          </p:cNvSpPr>
          <p:nvPr>
            <p:ph/>
          </p:nvPr>
        </p:nvSpPr>
        <p:spPr>
          <a:xfrm>
            <a:off x="1097280" y="1845720"/>
            <a:ext cx="9772920" cy="4023000"/>
          </a:xfrm>
          <a:prstGeom prst="rect">
            <a:avLst/>
          </a:prstGeom>
          <a:noFill/>
          <a:ln w="0">
            <a:noFill/>
          </a:ln>
        </p:spPr>
        <p:txBody>
          <a:bodyPr lIns="0" rIns="0" anchor="t">
            <a:normAutofit/>
          </a:bodyPr>
          <a:lstStyle/>
          <a:p>
            <a:pPr marL="457200" indent="-343080" algn="just">
              <a:lnSpc>
                <a:spcPct val="115000"/>
              </a:lnSpc>
              <a:buClr>
                <a:srgbClr val="E48312"/>
              </a:buClr>
              <a:buFont typeface="Calibri"/>
              <a:buChar char="●"/>
            </a:pPr>
            <a:r>
              <a:rPr lang="en-US" sz="2000" b="0" strike="noStrike" spc="-1" dirty="0">
                <a:solidFill>
                  <a:srgbClr val="3F3F3F"/>
                </a:solidFill>
                <a:latin typeface="Calibri"/>
                <a:ea typeface="Calibri"/>
              </a:rPr>
              <a:t>Internet domain names are ultimately managed by the Internet Corporation for Assigned Names and Numbers (ICANN). ICANN is an internationally organized, non-profit making corporation. Its main responsibility is ensuring the ‘universal resolvability’ of internet addresses; that is, ensuring that the same domain name will always lead to the same internet location wherever it is used from and whatever the circumstances. </a:t>
            </a:r>
            <a:endParaRPr lang="en-US" sz="2000" b="0" strike="noStrike" spc="-1" dirty="0">
              <a:solidFill>
                <a:srgbClr val="000000"/>
              </a:solidFill>
              <a:latin typeface="Arial"/>
            </a:endParaRPr>
          </a:p>
          <a:p>
            <a:pPr marL="457200" indent="-343080" algn="just">
              <a:lnSpc>
                <a:spcPct val="115000"/>
              </a:lnSpc>
              <a:buClr>
                <a:srgbClr val="E48312"/>
              </a:buClr>
              <a:buFont typeface="Calibri"/>
              <a:buChar char="●"/>
            </a:pPr>
            <a:r>
              <a:rPr lang="en-US" sz="2000" b="0" strike="noStrike" spc="-1" dirty="0">
                <a:solidFill>
                  <a:srgbClr val="3F3F3F"/>
                </a:solidFill>
                <a:latin typeface="Calibri"/>
                <a:ea typeface="Calibri"/>
              </a:rPr>
              <a:t>In practice, ICANN delegates the responsibility for assigning individual domain names to other bodies, subject to strict rules.</a:t>
            </a:r>
            <a:endParaRPr lang="en-US" sz="2000" b="0" strike="noStrike" spc="-1" dirty="0">
              <a:solidFill>
                <a:srgbClr val="000000"/>
              </a:solidFill>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435B-1EBE-C69C-DF4E-FB10046BDB66}"/>
              </a:ext>
            </a:extLst>
          </p:cNvPr>
          <p:cNvSpPr>
            <a:spLocks noGrp="1"/>
          </p:cNvSpPr>
          <p:nvPr>
            <p:ph type="title"/>
          </p:nvPr>
        </p:nvSpPr>
        <p:spPr/>
        <p:txBody>
          <a:bodyPr/>
          <a:lstStyle/>
          <a:p>
            <a:r>
              <a:rPr lang="en-US" sz="4400" b="0" strike="noStrike" spc="-1" dirty="0">
                <a:solidFill>
                  <a:srgbClr val="3F3F3F"/>
                </a:solidFill>
                <a:latin typeface="Calibri"/>
                <a:ea typeface="Calibri"/>
              </a:rPr>
              <a:t>Domain Names</a:t>
            </a:r>
            <a:endParaRPr lang="en-US" dirty="0"/>
          </a:p>
        </p:txBody>
      </p:sp>
      <p:sp>
        <p:nvSpPr>
          <p:cNvPr id="3" name="Content Placeholder 2">
            <a:extLst>
              <a:ext uri="{FF2B5EF4-FFF2-40B4-BE49-F238E27FC236}">
                <a16:creationId xmlns:a16="http://schemas.microsoft.com/office/drawing/2014/main" id="{898C35F0-BA37-2C29-6622-272B6477BCEA}"/>
              </a:ext>
            </a:extLst>
          </p:cNvPr>
          <p:cNvSpPr>
            <a:spLocks noGrp="1"/>
          </p:cNvSpPr>
          <p:nvPr>
            <p:ph/>
          </p:nvPr>
        </p:nvSpPr>
        <p:spPr>
          <a:xfrm>
            <a:off x="1097280" y="2106567"/>
            <a:ext cx="10227212" cy="3520509"/>
          </a:xfrm>
        </p:spPr>
        <p:txBody>
          <a:bodyPr>
            <a:normAutofit lnSpcReduction="10000"/>
          </a:bodyPr>
          <a:lstStyle/>
          <a:p>
            <a:pPr marL="91440" indent="-127080" algn="just">
              <a:lnSpc>
                <a:spcPct val="110000"/>
              </a:lnSpc>
              <a:spcBef>
                <a:spcPts val="1400"/>
              </a:spcBef>
              <a:buClr>
                <a:srgbClr val="E48312"/>
              </a:buClr>
              <a:buFont typeface="Calibri"/>
              <a:buChar char="●"/>
            </a:pPr>
            <a:r>
              <a:rPr lang="en-US" sz="2200" spc="-1" dirty="0">
                <a:solidFill>
                  <a:srgbClr val="3F3F3F"/>
                </a:solidFill>
                <a:latin typeface="Calibri"/>
              </a:rPr>
              <a:t>Domain names were originally created to make it easier for computers to connect on the internet. However, because they are easy to remember, they are now often used by </a:t>
            </a:r>
            <a:r>
              <a:rPr lang="en-US" sz="2200" spc="-1" dirty="0">
                <a:solidFill>
                  <a:srgbClr val="3F3F3F"/>
                </a:solidFill>
                <a:highlight>
                  <a:srgbClr val="FFFF00"/>
                </a:highlight>
                <a:latin typeface="Calibri"/>
              </a:rPr>
              <a:t>businesses to identify themselves and are commonly featured in advertising</a:t>
            </a:r>
            <a:r>
              <a:rPr lang="en-US" sz="2200" spc="-1" dirty="0">
                <a:solidFill>
                  <a:srgbClr val="3F3F3F"/>
                </a:solidFill>
                <a:latin typeface="Calibri"/>
              </a:rPr>
              <a:t>.</a:t>
            </a:r>
          </a:p>
          <a:p>
            <a:pPr marL="91440" indent="-127080" algn="just">
              <a:lnSpc>
                <a:spcPct val="110000"/>
              </a:lnSpc>
              <a:spcBef>
                <a:spcPts val="1400"/>
              </a:spcBef>
              <a:buClr>
                <a:srgbClr val="E48312"/>
              </a:buClr>
              <a:buFont typeface="Calibri"/>
              <a:buChar char="●"/>
            </a:pPr>
            <a:r>
              <a:rPr lang="en-US" sz="2200" spc="-1" dirty="0">
                <a:solidFill>
                  <a:srgbClr val="3F3F3F"/>
                </a:solidFill>
                <a:latin typeface="Calibri"/>
              </a:rPr>
              <a:t>It’s natural that companies want to use </a:t>
            </a:r>
            <a:r>
              <a:rPr lang="en-US" sz="2200" spc="-1" dirty="0">
                <a:solidFill>
                  <a:srgbClr val="3F3F3F"/>
                </a:solidFill>
                <a:highlight>
                  <a:srgbClr val="FFFF00"/>
                </a:highlight>
                <a:latin typeface="Calibri"/>
              </a:rPr>
              <a:t>their trademarks or company names as domain names</a:t>
            </a:r>
            <a:r>
              <a:rPr lang="en-US" sz="2200" spc="-1" dirty="0">
                <a:solidFill>
                  <a:srgbClr val="3F3F3F"/>
                </a:solidFill>
                <a:latin typeface="Calibri"/>
              </a:rPr>
              <a:t>. However, this can lead to conflicts between trademarks and domain names, as the two systems work differently.</a:t>
            </a:r>
          </a:p>
          <a:p>
            <a:pPr marL="91440" indent="-127080" algn="just">
              <a:lnSpc>
                <a:spcPct val="110000"/>
              </a:lnSpc>
              <a:spcBef>
                <a:spcPts val="1400"/>
              </a:spcBef>
              <a:buClr>
                <a:srgbClr val="E48312"/>
              </a:buClr>
              <a:buFont typeface="Calibri"/>
              <a:buChar char="●"/>
            </a:pPr>
            <a:r>
              <a:rPr lang="en-US" sz="2200" spc="-1" dirty="0">
                <a:solidFill>
                  <a:srgbClr val="3F3F3F"/>
                </a:solidFill>
                <a:latin typeface="Calibri"/>
              </a:rPr>
              <a:t>Trademarks are registered with authorities in specific countries or regions, giving the owner rights to the trademark within that area. Different people can own the same trademark for different types of products.</a:t>
            </a:r>
          </a:p>
          <a:p>
            <a:endParaRPr lang="en-US" dirty="0"/>
          </a:p>
        </p:txBody>
      </p:sp>
    </p:spTree>
    <p:extLst>
      <p:ext uri="{BB962C8B-B14F-4D97-AF65-F5344CB8AC3E}">
        <p14:creationId xmlns:p14="http://schemas.microsoft.com/office/powerpoint/2010/main" val="1252201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p:nvPr>
        </p:nvSpPr>
        <p:spPr>
          <a:xfrm>
            <a:off x="845999" y="1962360"/>
            <a:ext cx="10423683" cy="3464663"/>
          </a:xfrm>
          <a:prstGeom prst="rect">
            <a:avLst/>
          </a:prstGeom>
          <a:noFill/>
          <a:ln w="0">
            <a:noFill/>
          </a:ln>
        </p:spPr>
        <p:txBody>
          <a:bodyPr lIns="0" rIns="0" anchor="t">
            <a:normAutofit/>
          </a:bodyPr>
          <a:lstStyle/>
          <a:p>
            <a:pPr marL="91440" indent="-127080" algn="just">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    The owner of the trademark acquires rights over the use of the trademark in a specific country or region. Identical trademarks may be owned by different persons in respect of different categories of product.</a:t>
            </a:r>
            <a:endParaRPr lang="en-US" sz="2000" b="0" strike="noStrike" spc="-1" dirty="0">
              <a:solidFill>
                <a:srgbClr val="000000"/>
              </a:solidFill>
              <a:latin typeface="Arial"/>
            </a:endParaRPr>
          </a:p>
          <a:p>
            <a:pPr marL="91440" indent="-127080" algn="just">
              <a:lnSpc>
                <a:spcPct val="90000"/>
              </a:lnSpc>
              <a:spcBef>
                <a:spcPts val="1400"/>
              </a:spcBef>
              <a:buClr>
                <a:srgbClr val="E48312"/>
              </a:buClr>
              <a:buFont typeface="Calibri"/>
              <a:buChar char="●"/>
            </a:pPr>
            <a:r>
              <a:rPr lang="en-US" sz="2000" b="0" strike="noStrike" spc="-1" dirty="0">
                <a:solidFill>
                  <a:srgbClr val="3F3F3F"/>
                </a:solidFill>
                <a:latin typeface="Calibri"/>
                <a:ea typeface="Calibri"/>
              </a:rPr>
              <a:t>   Domain names are usually allocated by a non-governmental organization and are globally unique; they are normally allocated on a first come, first served basis. This means that if different companies own identical trademarks for different categories of product or for different geographical areas, only one of them can have the trademark as domain name, and that will be the first to apply.</a:t>
            </a:r>
            <a:endParaRPr lang="en-US" sz="2000" b="0" strike="noStrike" spc="-1" dirty="0">
              <a:solidFill>
                <a:srgbClr val="000000"/>
              </a:solidFill>
              <a:latin typeface="Arial"/>
            </a:endParaRPr>
          </a:p>
        </p:txBody>
      </p:sp>
      <p:sp>
        <p:nvSpPr>
          <p:cNvPr id="167" name="PlaceHolder 2"/>
          <p:cNvSpPr>
            <a:spLocks noGrp="1"/>
          </p:cNvSpPr>
          <p:nvPr>
            <p:ph type="title"/>
          </p:nvPr>
        </p:nvSpPr>
        <p:spPr>
          <a:xfrm>
            <a:off x="928800" y="666360"/>
            <a:ext cx="10058040" cy="96948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Domain Names</a:t>
            </a:r>
            <a:endParaRPr lang="en-US" sz="4800" b="0" strike="noStrike" spc="-1">
              <a:solidFill>
                <a:srgbClr val="000000"/>
              </a:solidFill>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Cyber squatting</a:t>
            </a:r>
            <a:endParaRPr lang="en-US" sz="4800" b="0" strike="noStrike" spc="-1">
              <a:solidFill>
                <a:srgbClr val="000000"/>
              </a:solidFill>
              <a:latin typeface="Arial"/>
            </a:endParaRPr>
          </a:p>
        </p:txBody>
      </p:sp>
      <p:sp>
        <p:nvSpPr>
          <p:cNvPr id="169" name="PlaceHolder 2"/>
          <p:cNvSpPr>
            <a:spLocks noGrp="1"/>
          </p:cNvSpPr>
          <p:nvPr>
            <p:ph/>
          </p:nvPr>
        </p:nvSpPr>
        <p:spPr>
          <a:xfrm>
            <a:off x="677160" y="1719000"/>
            <a:ext cx="10970280" cy="4322160"/>
          </a:xfrm>
          <a:prstGeom prst="rect">
            <a:avLst/>
          </a:prstGeom>
          <a:noFill/>
          <a:ln w="0">
            <a:noFill/>
          </a:ln>
        </p:spPr>
        <p:txBody>
          <a:bodyPr lIns="0" rIns="0" anchor="t">
            <a:noAutofit/>
          </a:bodyPr>
          <a:lstStyle/>
          <a:p>
            <a:pPr marL="457200" indent="-406440" algn="just">
              <a:lnSpc>
                <a:spcPct val="90000"/>
              </a:lnSpc>
              <a:buClr>
                <a:srgbClr val="E48312"/>
              </a:buClr>
              <a:buFont typeface="Calibri"/>
              <a:buChar char="●"/>
            </a:pPr>
            <a:r>
              <a:rPr lang="en-US" sz="2800" b="0" strike="noStrike" spc="-1" dirty="0">
                <a:solidFill>
                  <a:srgbClr val="3F3F3F"/>
                </a:solidFill>
                <a:latin typeface="Calibri"/>
                <a:ea typeface="Calibri"/>
              </a:rPr>
              <a:t>The inconsistencies between the two different systems of registration has made it possible for people to register, as their own domain names, trademarks belonging to other companies. This is sometimes known as cyber squatting. They then offer to sell these domain names to the owner of the trademark at an inflated price. </a:t>
            </a:r>
            <a:endParaRPr lang="en-US" sz="2800" b="0" strike="noStrike" spc="-1" dirty="0">
              <a:solidFill>
                <a:srgbClr val="000000"/>
              </a:solidFill>
              <a:latin typeface="Arial"/>
            </a:endParaRPr>
          </a:p>
          <a:p>
            <a:pPr marL="457200" indent="-406440" algn="just">
              <a:lnSpc>
                <a:spcPct val="90000"/>
              </a:lnSpc>
              <a:buClr>
                <a:srgbClr val="E48312"/>
              </a:buClr>
              <a:buFont typeface="Calibri"/>
              <a:buChar char="●"/>
            </a:pPr>
            <a:r>
              <a:rPr lang="en-US" sz="2800" b="0" strike="noStrike" spc="-1" dirty="0">
                <a:solidFill>
                  <a:srgbClr val="3F3F3F"/>
                </a:solidFill>
                <a:latin typeface="Calibri"/>
                <a:ea typeface="Calibri"/>
              </a:rPr>
              <a:t>It is usually cheaper and quicker for the trademark owner to pay up than to pursue legal remedies, even when these are available.</a:t>
            </a:r>
            <a:endParaRPr lang="en-US" sz="2800" b="0" strike="noStrike" spc="-1" dirty="0">
              <a:solidFill>
                <a:srgbClr val="000000"/>
              </a:solidFill>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dirty="0">
                <a:solidFill>
                  <a:srgbClr val="3F3F3F"/>
                </a:solidFill>
                <a:latin typeface="Calibri"/>
                <a:ea typeface="Calibri"/>
              </a:rPr>
              <a:t>Cyber squatting</a:t>
            </a:r>
            <a:endParaRPr lang="en-US" sz="4800" b="0" strike="noStrike" spc="-1" dirty="0">
              <a:solidFill>
                <a:srgbClr val="000000"/>
              </a:solidFill>
              <a:latin typeface="Arial"/>
            </a:endParaRPr>
          </a:p>
        </p:txBody>
      </p:sp>
      <p:sp>
        <p:nvSpPr>
          <p:cNvPr id="171" name="PlaceHolder 2"/>
          <p:cNvSpPr>
            <a:spLocks noGrp="1"/>
          </p:cNvSpPr>
          <p:nvPr>
            <p:ph/>
          </p:nvPr>
        </p:nvSpPr>
        <p:spPr>
          <a:xfrm>
            <a:off x="677160" y="1719000"/>
            <a:ext cx="10970280" cy="4322160"/>
          </a:xfrm>
          <a:prstGeom prst="rect">
            <a:avLst/>
          </a:prstGeom>
          <a:noFill/>
          <a:ln w="0">
            <a:noFill/>
          </a:ln>
        </p:spPr>
        <p:txBody>
          <a:bodyPr lIns="0" rIns="0" anchor="t">
            <a:noAutofit/>
          </a:bodyPr>
          <a:lstStyle/>
          <a:p>
            <a:pPr marL="457200" indent="-361800" algn="just">
              <a:lnSpc>
                <a:spcPct val="115000"/>
              </a:lnSpc>
              <a:buClr>
                <a:srgbClr val="E48312"/>
              </a:buClr>
              <a:buFont typeface="Calibri"/>
              <a:buChar char="●"/>
            </a:pPr>
            <a:r>
              <a:rPr lang="en-US" sz="2100" b="1" strike="noStrike" spc="-1">
                <a:solidFill>
                  <a:srgbClr val="000000"/>
                </a:solidFill>
                <a:latin typeface="Arial"/>
                <a:ea typeface="Arial"/>
              </a:rPr>
              <a:t>Intent to Profit from Brand Recognition</a:t>
            </a:r>
            <a:r>
              <a:rPr lang="en-US" sz="2100" b="0" strike="noStrike" spc="-1">
                <a:solidFill>
                  <a:srgbClr val="000000"/>
                </a:solidFill>
                <a:latin typeface="Arial"/>
                <a:ea typeface="Arial"/>
              </a:rPr>
              <a:t>: Cybersquatters register domains resembling famous brand names or trademarks, hoping the brand owners will pay a premium to recover the domain.</a:t>
            </a:r>
            <a:endParaRPr lang="en-US" sz="2100" b="0" strike="noStrike" spc="-1">
              <a:solidFill>
                <a:srgbClr val="000000"/>
              </a:solidFill>
              <a:latin typeface="Arial"/>
            </a:endParaRPr>
          </a:p>
          <a:p>
            <a:pPr marL="457200" indent="-361800" algn="just">
              <a:lnSpc>
                <a:spcPct val="115000"/>
              </a:lnSpc>
              <a:buClr>
                <a:srgbClr val="E48312"/>
              </a:buClr>
              <a:buFont typeface="Calibri"/>
              <a:buChar char="●"/>
            </a:pPr>
            <a:r>
              <a:rPr lang="en-US" sz="2100" b="1" strike="noStrike" spc="-1">
                <a:solidFill>
                  <a:srgbClr val="000000"/>
                </a:solidFill>
                <a:latin typeface="Arial"/>
                <a:ea typeface="Arial"/>
              </a:rPr>
              <a:t>Confusion and Misrepresentation</a:t>
            </a:r>
            <a:r>
              <a:rPr lang="en-US" sz="2100" b="0" strike="noStrike" spc="-1">
                <a:solidFill>
                  <a:srgbClr val="000000"/>
                </a:solidFill>
                <a:latin typeface="Arial"/>
                <a:ea typeface="Arial"/>
              </a:rPr>
              <a:t>: Some cybersquatters create sites that mimic the look and feel of the brand, potentially misleading customers or damaging the brand’s reputation.</a:t>
            </a:r>
            <a:endParaRPr lang="en-US" sz="2100" b="0" strike="noStrike" spc="-1">
              <a:solidFill>
                <a:srgbClr val="000000"/>
              </a:solidFill>
              <a:latin typeface="Arial"/>
            </a:endParaRPr>
          </a:p>
          <a:p>
            <a:pPr marL="457200" indent="-361800" algn="just">
              <a:lnSpc>
                <a:spcPct val="115000"/>
              </a:lnSpc>
              <a:buClr>
                <a:srgbClr val="E48312"/>
              </a:buClr>
              <a:buFont typeface="Calibri"/>
              <a:buChar char="●"/>
            </a:pPr>
            <a:r>
              <a:rPr lang="en-US" sz="2100" b="1" strike="noStrike" spc="-1">
                <a:solidFill>
                  <a:srgbClr val="000000"/>
                </a:solidFill>
                <a:latin typeface="Arial"/>
                <a:ea typeface="Arial"/>
              </a:rPr>
              <a:t>Legal Protection and Consequences</a:t>
            </a:r>
            <a:r>
              <a:rPr lang="en-US" sz="2100" b="0" strike="noStrike" spc="-1">
                <a:solidFill>
                  <a:srgbClr val="000000"/>
                </a:solidFill>
                <a:latin typeface="Arial"/>
                <a:ea typeface="Arial"/>
              </a:rPr>
              <a:t>: Laws like the U.S. Anti-Cybersquatting Consumer Protection Act (ACPA) provide recourse for trademark owners to recover such domains through legal action if the intent to mislead or profit from the domain is clear.</a:t>
            </a:r>
            <a:endParaRPr lang="en-US" sz="2100" b="0" strike="noStrike" spc="-1">
              <a:solidFill>
                <a:srgbClr val="000000"/>
              </a:solidFill>
              <a:latin typeface="Arial"/>
            </a:endParaRPr>
          </a:p>
          <a:p>
            <a:pPr algn="just">
              <a:lnSpc>
                <a:spcPct val="115000"/>
              </a:lnSpc>
              <a:buNone/>
              <a:tabLst>
                <a:tab pos="0" algn="l"/>
              </a:tabLst>
            </a:pPr>
            <a:endParaRPr lang="en-US" sz="2100" b="0" strike="noStrike" spc="-1">
              <a:solidFill>
                <a:srgbClr val="000000"/>
              </a:solidFill>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WIPO report I</a:t>
            </a:r>
            <a:endParaRPr lang="en-US" sz="4800" b="0" strike="noStrike" spc="-1">
              <a:solidFill>
                <a:srgbClr val="000000"/>
              </a:solidFill>
              <a:latin typeface="Arial"/>
            </a:endParaRPr>
          </a:p>
        </p:txBody>
      </p:sp>
      <p:sp>
        <p:nvSpPr>
          <p:cNvPr id="173" name="PlaceHolder 2"/>
          <p:cNvSpPr>
            <a:spLocks noGrp="1"/>
          </p:cNvSpPr>
          <p:nvPr>
            <p:ph/>
          </p:nvPr>
        </p:nvSpPr>
        <p:spPr>
          <a:xfrm>
            <a:off x="1097280" y="1845720"/>
            <a:ext cx="10058040" cy="4023000"/>
          </a:xfrm>
          <a:prstGeom prst="rect">
            <a:avLst/>
          </a:prstGeom>
          <a:noFill/>
          <a:ln w="0">
            <a:noFill/>
          </a:ln>
        </p:spPr>
        <p:txBody>
          <a:bodyPr lIns="0" rIns="0" anchor="t">
            <a:normAutofit/>
          </a:bodyPr>
          <a:lstStyle/>
          <a:p>
            <a:pPr marL="457200" indent="-343080" algn="just">
              <a:lnSpc>
                <a:spcPct val="115000"/>
              </a:lnSpc>
              <a:buClr>
                <a:srgbClr val="E48312"/>
              </a:buClr>
              <a:buFont typeface="Calibri"/>
              <a:buChar char="●"/>
            </a:pPr>
            <a:r>
              <a:rPr lang="en-US" sz="2000" b="0" strike="noStrike" spc="-1" dirty="0">
                <a:solidFill>
                  <a:srgbClr val="3F3F3F"/>
                </a:solidFill>
                <a:latin typeface="Calibri"/>
                <a:ea typeface="Calibri"/>
              </a:rPr>
              <a:t>In 1999, the WIPO published a report entitled ‘</a:t>
            </a:r>
            <a:r>
              <a:rPr lang="en-US" sz="2000" b="1" strike="noStrike" spc="-1" dirty="0">
                <a:solidFill>
                  <a:srgbClr val="3F3F3F"/>
                </a:solidFill>
                <a:latin typeface="Calibri"/>
                <a:ea typeface="Calibri"/>
              </a:rPr>
              <a:t>The management of internet names and addresses: Intellectual property issues’</a:t>
            </a:r>
            <a:r>
              <a:rPr lang="en-US" sz="2000" b="0" strike="noStrike" spc="-1" dirty="0">
                <a:solidFill>
                  <a:srgbClr val="3F3F3F"/>
                </a:solidFill>
                <a:latin typeface="Calibri"/>
                <a:ea typeface="Calibri"/>
              </a:rPr>
              <a:t>. WIPO is an international organization with 177 states as members. The report recommended that ICANN adopt a policy called the Uniform Domain Name Dispute Resolution Policy (UDRP), which includes specific provisions against cyber squatting. This policy has proved reasonably effective. Within two years, over 3,000 complaints had been dealt with by one of the arbitration </a:t>
            </a:r>
            <a:r>
              <a:rPr lang="en-US" sz="2000" b="0" strike="noStrike" spc="-1" dirty="0" err="1">
                <a:solidFill>
                  <a:srgbClr val="3F3F3F"/>
                </a:solidFill>
                <a:latin typeface="Calibri"/>
                <a:ea typeface="Calibri"/>
              </a:rPr>
              <a:t>centres</a:t>
            </a:r>
            <a:r>
              <a:rPr lang="en-US" sz="2000" b="0" strike="noStrike" spc="-1" dirty="0">
                <a:solidFill>
                  <a:srgbClr val="3F3F3F"/>
                </a:solidFill>
                <a:latin typeface="Calibri"/>
                <a:ea typeface="Calibri"/>
              </a:rPr>
              <a:t> alone, with 80 per cent being resolved.</a:t>
            </a:r>
            <a:endParaRPr lang="en-US" sz="2000" b="0" strike="noStrike" spc="-1" dirty="0">
              <a:solidFill>
                <a:srgbClr val="000000"/>
              </a:solidFill>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WIPO report II</a:t>
            </a:r>
            <a:endParaRPr lang="en-US" sz="4800" b="0" strike="noStrike" spc="-1">
              <a:solidFill>
                <a:srgbClr val="000000"/>
              </a:solidFill>
              <a:latin typeface="Arial"/>
            </a:endParaRPr>
          </a:p>
        </p:txBody>
      </p:sp>
      <p:sp>
        <p:nvSpPr>
          <p:cNvPr id="175" name="PlaceHolder 2"/>
          <p:cNvSpPr>
            <a:spLocks noGrp="1"/>
          </p:cNvSpPr>
          <p:nvPr>
            <p:ph/>
          </p:nvPr>
        </p:nvSpPr>
        <p:spPr>
          <a:xfrm>
            <a:off x="1205457" y="2199838"/>
            <a:ext cx="10058040" cy="3049055"/>
          </a:xfrm>
          <a:prstGeom prst="rect">
            <a:avLst/>
          </a:prstGeom>
          <a:noFill/>
          <a:ln w="0">
            <a:noFill/>
          </a:ln>
        </p:spPr>
        <p:txBody>
          <a:bodyPr lIns="0" rIns="0" anchor="t">
            <a:normAutofit/>
          </a:bodyPr>
          <a:lstStyle/>
          <a:p>
            <a:pPr marL="457200" indent="-343080">
              <a:lnSpc>
                <a:spcPct val="90000"/>
              </a:lnSpc>
              <a:buClr>
                <a:srgbClr val="E48312"/>
              </a:buClr>
              <a:buFont typeface="Calibri"/>
              <a:buChar char="●"/>
            </a:pPr>
            <a:r>
              <a:rPr lang="en-US" sz="2000" b="0" strike="noStrike" spc="-1" dirty="0">
                <a:solidFill>
                  <a:srgbClr val="3F3F3F"/>
                </a:solidFill>
                <a:latin typeface="Calibri"/>
                <a:ea typeface="Calibri"/>
              </a:rPr>
              <a:t>In 2001, WIPO published a second report, ‘The recognition of rights and the use of names in the internet domain system’. This addresses conflicts between domain names and identifiers other than trademarks.</a:t>
            </a:r>
            <a:endParaRPr lang="en-US" sz="2000" b="0" strike="noStrike" spc="-1" dirty="0">
              <a:solidFill>
                <a:srgbClr val="000000"/>
              </a:solidFill>
              <a:latin typeface="Arial"/>
            </a:endParaRPr>
          </a:p>
          <a:p>
            <a:pPr marL="457200" indent="-343080">
              <a:lnSpc>
                <a:spcPct val="90000"/>
              </a:lnSpc>
              <a:buClr>
                <a:srgbClr val="E48312"/>
              </a:buClr>
              <a:buFont typeface="Calibri"/>
              <a:buChar char="●"/>
            </a:pPr>
            <a:r>
              <a:rPr lang="en-US" sz="2000" b="0" strike="noStrike" spc="-1" dirty="0">
                <a:solidFill>
                  <a:srgbClr val="3F3F3F"/>
                </a:solidFill>
                <a:latin typeface="Calibri"/>
                <a:ea typeface="Calibri"/>
              </a:rPr>
              <a:t>Examples:</a:t>
            </a:r>
            <a:r>
              <a:rPr lang="en-US" sz="2000" spc="-1" dirty="0">
                <a:solidFill>
                  <a:srgbClr val="000000"/>
                </a:solidFill>
                <a:latin typeface="Arial"/>
              </a:rPr>
              <a:t> </a:t>
            </a:r>
            <a:r>
              <a:rPr lang="en-US" sz="2000" b="0" strike="noStrike" spc="-1" dirty="0">
                <a:solidFill>
                  <a:srgbClr val="3F3F3F"/>
                </a:solidFill>
                <a:latin typeface="Calibri"/>
                <a:ea typeface="Calibri"/>
              </a:rPr>
              <a:t>Using personal names, the names of specific people, or geographic locations in domain names can lead to conflicts, especially if the organization has no connection to them. These types of conflicts are harder to resolve than trademark-domain name issues because there is no global system like the one that exists for trademarks to address these situations.</a:t>
            </a:r>
            <a:endParaRPr lang="en-US" sz="2000" b="0" strike="noStrike" spc="-1" dirty="0">
              <a:solidFill>
                <a:srgbClr val="000000"/>
              </a:solidFill>
              <a:latin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1097280" y="286560"/>
            <a:ext cx="10058040" cy="1450440"/>
          </a:xfrm>
          <a:prstGeom prst="rect">
            <a:avLst/>
          </a:prstGeom>
          <a:noFill/>
          <a:ln w="0">
            <a:noFill/>
          </a:ln>
        </p:spPr>
        <p:txBody>
          <a:bodyPr anchor="b">
            <a:normAutofit/>
          </a:bodyPr>
          <a:lstStyle/>
          <a:p>
            <a:pPr>
              <a:lnSpc>
                <a:spcPct val="85000"/>
              </a:lnSpc>
              <a:buNone/>
              <a:tabLst>
                <a:tab pos="0" algn="l"/>
              </a:tabLst>
            </a:pPr>
            <a:r>
              <a:rPr lang="en-US" sz="4800" b="0" strike="noStrike" spc="-1">
                <a:solidFill>
                  <a:srgbClr val="3F3F3F"/>
                </a:solidFill>
                <a:latin typeface="Calibri"/>
                <a:ea typeface="Calibri"/>
              </a:rPr>
              <a:t>Use Case </a:t>
            </a:r>
            <a:endParaRPr lang="en-US" sz="4800" b="0" strike="noStrike" spc="-1">
              <a:solidFill>
                <a:srgbClr val="000000"/>
              </a:solidFill>
              <a:latin typeface="Arial"/>
            </a:endParaRPr>
          </a:p>
        </p:txBody>
      </p:sp>
      <p:sp>
        <p:nvSpPr>
          <p:cNvPr id="177" name="PlaceHolder 2"/>
          <p:cNvSpPr>
            <a:spLocks noGrp="1"/>
          </p:cNvSpPr>
          <p:nvPr>
            <p:ph/>
          </p:nvPr>
        </p:nvSpPr>
        <p:spPr>
          <a:xfrm>
            <a:off x="677160" y="1719000"/>
            <a:ext cx="10970280" cy="4322160"/>
          </a:xfrm>
          <a:prstGeom prst="rect">
            <a:avLst/>
          </a:prstGeom>
          <a:noFill/>
          <a:ln w="0">
            <a:noFill/>
          </a:ln>
        </p:spPr>
        <p:txBody>
          <a:bodyPr lIns="0" rIns="0" anchor="t">
            <a:noAutofit/>
          </a:bodyPr>
          <a:lstStyle/>
          <a:p>
            <a:pPr marL="457200" indent="-355680" algn="just">
              <a:lnSpc>
                <a:spcPct val="115000"/>
              </a:lnSpc>
              <a:buClr>
                <a:srgbClr val="E48312"/>
              </a:buClr>
              <a:buFont typeface="Calibri"/>
              <a:buChar char="●"/>
            </a:pPr>
            <a:r>
              <a:rPr lang="en-US" sz="2000" b="0" strike="noStrike" spc="-1" dirty="0">
                <a:solidFill>
                  <a:srgbClr val="000000"/>
                </a:solidFill>
                <a:latin typeface="Arial"/>
                <a:ea typeface="Arial"/>
              </a:rPr>
              <a:t>For many years, Tesla Motors could not use </a:t>
            </a:r>
            <a:r>
              <a:rPr lang="en-US" sz="2000" b="1" strike="noStrike" spc="-1" dirty="0" err="1">
                <a:solidFill>
                  <a:srgbClr val="000000"/>
                </a:solidFill>
                <a:latin typeface="Arial"/>
                <a:ea typeface="Arial"/>
              </a:rPr>
              <a:t>Tesla.com</a:t>
            </a:r>
            <a:r>
              <a:rPr lang="en-US" sz="2000" b="0" strike="noStrike" spc="-1" dirty="0">
                <a:solidFill>
                  <a:srgbClr val="000000"/>
                </a:solidFill>
                <a:latin typeface="Arial"/>
                <a:ea typeface="Arial"/>
              </a:rPr>
              <a:t> because it was owned by a cybersquatted who registered the domain long before Tesla became a household name. Instead, the company used </a:t>
            </a:r>
            <a:r>
              <a:rPr lang="en-US" sz="2000" b="1" strike="noStrike" spc="-1" dirty="0" err="1">
                <a:solidFill>
                  <a:srgbClr val="000000"/>
                </a:solidFill>
                <a:latin typeface="Arial"/>
                <a:ea typeface="Arial"/>
              </a:rPr>
              <a:t>TeslaMotors.com</a:t>
            </a:r>
            <a:r>
              <a:rPr lang="en-US" sz="2000" b="0" strike="noStrike" spc="-1" dirty="0">
                <a:solidFill>
                  <a:srgbClr val="000000"/>
                </a:solidFill>
                <a:latin typeface="Arial"/>
                <a:ea typeface="Arial"/>
              </a:rPr>
              <a:t> until they finally acquired </a:t>
            </a:r>
            <a:r>
              <a:rPr lang="en-US" sz="2000" b="1" strike="noStrike" spc="-1" dirty="0" err="1">
                <a:solidFill>
                  <a:srgbClr val="000000"/>
                </a:solidFill>
                <a:latin typeface="Arial"/>
                <a:ea typeface="Arial"/>
              </a:rPr>
              <a:t>Tesla.com</a:t>
            </a:r>
            <a:r>
              <a:rPr lang="en-US" sz="2000" b="0" strike="noStrike" spc="-1" dirty="0">
                <a:solidFill>
                  <a:srgbClr val="000000"/>
                </a:solidFill>
                <a:latin typeface="Arial"/>
                <a:ea typeface="Arial"/>
              </a:rPr>
              <a:t> in 2016. Reportedly, Tesla purchased the domain for an undisclosed sum, likely in the millions, because the original owner was unwilling to relinquish it for a lower price.</a:t>
            </a:r>
            <a:endParaRPr lang="en-US" sz="2000" b="0" strike="noStrike" spc="-1" dirty="0">
              <a:solidFill>
                <a:srgbClr val="000000"/>
              </a:solidFill>
              <a:latin typeface="Arial"/>
            </a:endParaRPr>
          </a:p>
          <a:p>
            <a:pPr marL="457200" indent="-355680" algn="just">
              <a:lnSpc>
                <a:spcPct val="115000"/>
              </a:lnSpc>
              <a:buClr>
                <a:srgbClr val="000000"/>
              </a:buClr>
              <a:buFont typeface="Arial"/>
              <a:buChar char="●"/>
            </a:pPr>
            <a:r>
              <a:rPr lang="en-US" sz="2000" b="1" strike="noStrike" spc="-1" dirty="0">
                <a:solidFill>
                  <a:srgbClr val="000000"/>
                </a:solidFill>
                <a:latin typeface="Arial"/>
                <a:ea typeface="Arial"/>
              </a:rPr>
              <a:t>Microsoft vs. </a:t>
            </a:r>
            <a:r>
              <a:rPr lang="en-US" sz="2000" b="1" strike="noStrike" spc="-1" dirty="0" err="1">
                <a:solidFill>
                  <a:srgbClr val="000000"/>
                </a:solidFill>
                <a:latin typeface="Arial"/>
                <a:ea typeface="Arial"/>
              </a:rPr>
              <a:t>MikeRoweSoft.com</a:t>
            </a:r>
            <a:r>
              <a:rPr lang="en-US" sz="2000" b="1" strike="noStrike" spc="-1" dirty="0">
                <a:solidFill>
                  <a:srgbClr val="000000"/>
                </a:solidFill>
                <a:latin typeface="Arial"/>
                <a:ea typeface="Arial"/>
              </a:rPr>
              <a:t>: </a:t>
            </a:r>
            <a:r>
              <a:rPr lang="en-US" sz="2000" b="0" strike="noStrike" spc="-1" dirty="0">
                <a:solidFill>
                  <a:srgbClr val="000000"/>
                </a:solidFill>
                <a:latin typeface="Arial"/>
                <a:ea typeface="Arial"/>
              </a:rPr>
              <a:t>Microsoft pursued legal action against a Canadian teenager named Mike Rowe, who had registered the domain </a:t>
            </a:r>
            <a:r>
              <a:rPr lang="en-US" sz="2000" b="1" strike="noStrike" spc="-1" dirty="0" err="1">
                <a:solidFill>
                  <a:srgbClr val="000000"/>
                </a:solidFill>
                <a:latin typeface="Arial"/>
                <a:ea typeface="Arial"/>
              </a:rPr>
              <a:t>MikeRoweSoft.com</a:t>
            </a:r>
            <a:r>
              <a:rPr lang="en-US" sz="2000" b="0" strike="noStrike" spc="-1" dirty="0">
                <a:solidFill>
                  <a:srgbClr val="000000"/>
                </a:solidFill>
                <a:latin typeface="Arial"/>
                <a:ea typeface="Arial"/>
              </a:rPr>
              <a:t> in 2003 as a pun on his own name. Microsoft argued that the name infringed on their trademark. Although Rowe initially resisted, Microsoft and Rowe eventually reached a settlement. This case attracted widespread media attention and illustrated the challenge of balancing trademark rights with issues of fair use and intent, especially when the infringement may not involve clear bad faith.</a:t>
            </a:r>
            <a:endParaRPr lang="en-US" sz="2000" b="0" strike="noStrike" spc="-1" dirty="0">
              <a:solidFill>
                <a:srgbClr val="000000"/>
              </a:solidFill>
              <a:latin typeface="Arial"/>
            </a:endParaRPr>
          </a:p>
          <a:p>
            <a:pPr algn="just">
              <a:lnSpc>
                <a:spcPct val="115000"/>
              </a:lnSpc>
              <a:spcBef>
                <a:spcPts val="400"/>
              </a:spcBef>
              <a:buNone/>
              <a:tabLst>
                <a:tab pos="0" algn="l"/>
              </a:tabLst>
            </a:pPr>
            <a:endParaRPr lang="en-US" sz="1800" b="0" strike="noStrike" spc="-1" dirty="0">
              <a:solidFill>
                <a:srgbClr val="000000"/>
              </a:solidFill>
              <a:latin typeface="Arial"/>
            </a:endParaRPr>
          </a:p>
          <a:p>
            <a:pPr algn="just">
              <a:lnSpc>
                <a:spcPct val="115000"/>
              </a:lnSpc>
              <a:buNone/>
              <a:tabLst>
                <a:tab pos="0" algn="l"/>
              </a:tabLst>
            </a:pPr>
            <a:endParaRPr lang="en-US" sz="1800" b="0" strike="noStrike" spc="-1" dirty="0">
              <a:solidFill>
                <a:srgbClr val="000000"/>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305</TotalTime>
  <Words>4414</Words>
  <Application>Microsoft Office PowerPoint</Application>
  <PresentationFormat>Widescreen</PresentationFormat>
  <Paragraphs>187</Paragraphs>
  <Slides>43</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43</vt:i4>
      </vt:variant>
    </vt:vector>
  </HeadingPairs>
  <TitlesOfParts>
    <vt:vector size="52" baseType="lpstr">
      <vt:lpstr>Arial</vt:lpstr>
      <vt:lpstr>Calibri</vt:lpstr>
      <vt:lpstr>DejaVu Sans</vt:lpstr>
      <vt:lpstr>Noto Sans Symbols</vt:lpstr>
      <vt:lpstr>Symbol</vt:lpstr>
      <vt:lpstr>Times New Roman</vt:lpstr>
      <vt:lpstr>Wingdings</vt:lpstr>
      <vt:lpstr>Office Theme</vt:lpstr>
      <vt:lpstr>Office Theme</vt:lpstr>
      <vt:lpstr>Professional Issues in IT</vt:lpstr>
      <vt:lpstr>Intellectual Property Rights</vt:lpstr>
      <vt:lpstr>Intellectual property</vt:lpstr>
      <vt:lpstr>Laws</vt:lpstr>
      <vt:lpstr>DIFFERENT TYPES OF INTELLECTUAL PROPERTY RIGHTS</vt:lpstr>
      <vt:lpstr>Example </vt:lpstr>
      <vt:lpstr>COPYRIGHT</vt:lpstr>
      <vt:lpstr>The rights of the copyright owner</vt:lpstr>
      <vt:lpstr>The rights of the copyright owner</vt:lpstr>
      <vt:lpstr>What you can do to a copyright work</vt:lpstr>
      <vt:lpstr>Copyright Case Studies</vt:lpstr>
      <vt:lpstr>Databases</vt:lpstr>
      <vt:lpstr>Copyright infringement</vt:lpstr>
      <vt:lpstr>Secondary Copyright infringement</vt:lpstr>
      <vt:lpstr>Ownership</vt:lpstr>
      <vt:lpstr>Licensing </vt:lpstr>
      <vt:lpstr>PATENTS</vt:lpstr>
      <vt:lpstr>Patents need</vt:lpstr>
      <vt:lpstr>What can be patented?</vt:lpstr>
      <vt:lpstr>What Patent Act Excludes……</vt:lpstr>
      <vt:lpstr>Obtaining a patent</vt:lpstr>
      <vt:lpstr>Enforcing a patent</vt:lpstr>
      <vt:lpstr>Software patents</vt:lpstr>
      <vt:lpstr>Software patents</vt:lpstr>
      <vt:lpstr>Software patents</vt:lpstr>
      <vt:lpstr>Software patents</vt:lpstr>
      <vt:lpstr>Software patents (example)</vt:lpstr>
      <vt:lpstr>CONFIDENTIAL INFORMATION</vt:lpstr>
      <vt:lpstr>CONFIDENTIAL INFORMATION</vt:lpstr>
      <vt:lpstr>CONFIDENTIAL INFORMATION</vt:lpstr>
      <vt:lpstr>CONFIDENTIAL INFORMATION</vt:lpstr>
      <vt:lpstr>Discussion</vt:lpstr>
      <vt:lpstr>TRADEMARKS AND PASSING OFF</vt:lpstr>
      <vt:lpstr>TRADEMARKS AND PASSING OFF</vt:lpstr>
      <vt:lpstr>TRADEMARKS</vt:lpstr>
      <vt:lpstr>Domain Names</vt:lpstr>
      <vt:lpstr>Domain Names</vt:lpstr>
      <vt:lpstr>Domain Names</vt:lpstr>
      <vt:lpstr>Cyber squatting</vt:lpstr>
      <vt:lpstr>Cyber squatting</vt:lpstr>
      <vt:lpstr>WIPO report I</vt:lpstr>
      <vt:lpstr>WIPO report II</vt:lpstr>
      <vt:lpstr>Use Case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Professional Issues in IT</dc:title>
  <dc:subject/>
  <dc:creator>SHAHAR BANO</dc:creator>
  <dc:description/>
  <cp:lastModifiedBy>Anum Hamid</cp:lastModifiedBy>
  <cp:revision>6</cp:revision>
  <dcterms:created xsi:type="dcterms:W3CDTF">2015-11-02T05:07:23Z</dcterms:created>
  <dcterms:modified xsi:type="dcterms:W3CDTF">2025-10-14T09:19:13Z</dcterms:modified>
  <dc:language>en-US</dc:language>
</cp:coreProperties>
</file>