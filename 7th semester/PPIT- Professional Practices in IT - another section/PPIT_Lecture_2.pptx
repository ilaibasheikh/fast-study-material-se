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71" r:id="rId8"/>
    <p:sldId id="272" r:id="rId9"/>
    <p:sldId id="264" r:id="rId10"/>
    <p:sldId id="263" r:id="rId11"/>
    <p:sldId id="265" r:id="rId12"/>
    <p:sldId id="266" r:id="rId13"/>
    <p:sldId id="269" r:id="rId14"/>
    <p:sldId id="267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8" autoAdjust="0"/>
    <p:restoredTop sz="91340"/>
  </p:normalViewPr>
  <p:slideViewPr>
    <p:cSldViewPr snapToGrid="0">
      <p:cViewPr varScale="1">
        <p:scale>
          <a:sx n="104" d="100"/>
          <a:sy n="104" d="100"/>
        </p:scale>
        <p:origin x="872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82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9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70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47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497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82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027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89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94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4569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38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8276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325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273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54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43800-BB7D-4C2E-8E3B-0980E51D9A7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2FAD31-D558-4DD1-9A1C-2C0B6F2759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80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827" y="1710268"/>
            <a:ext cx="9685946" cy="1470025"/>
          </a:xfrm>
        </p:spPr>
        <p:txBody>
          <a:bodyPr/>
          <a:lstStyle/>
          <a:p>
            <a:r>
              <a:rPr lang="en-US" dirty="0"/>
              <a:t>CS4001- Professional Practices in 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Instructor: Anaum Hamid</a:t>
            </a:r>
          </a:p>
          <a:p>
            <a:r>
              <a:rPr lang="en-US" dirty="0"/>
              <a:t>Email address: anaum.hamid@nu.edu.pk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358" y="3638252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68479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#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Legal/Illegal</a:t>
            </a:r>
          </a:p>
          <a:p>
            <a:r>
              <a:rPr lang="en-US" sz="4800" dirty="0"/>
              <a:t>Moral/Immoral</a:t>
            </a:r>
          </a:p>
        </p:txBody>
      </p:sp>
    </p:spTree>
    <p:extLst>
      <p:ext uri="{BB962C8B-B14F-4D97-AF65-F5344CB8AC3E}">
        <p14:creationId xmlns:p14="http://schemas.microsoft.com/office/powerpoint/2010/main" val="2858726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5415"/>
            <a:ext cx="8957320" cy="4937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Rights are entitlements or freedoms that people possess, often protected by laws or social norms. </a:t>
            </a:r>
          </a:p>
          <a:p>
            <a:r>
              <a:rPr lang="en-US" sz="2800" dirty="0"/>
              <a:t>They can be legal, social, or ethical principles that define what people are allowed to do or have, or what others owe them. 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/>
              <a:t>Examples:</a:t>
            </a:r>
          </a:p>
          <a:p>
            <a:pPr marL="0" indent="0">
              <a:buNone/>
            </a:pPr>
            <a:r>
              <a:rPr lang="en-US" sz="2800" dirty="0"/>
              <a:t>“You have no right to tell me what to do”</a:t>
            </a:r>
          </a:p>
          <a:p>
            <a:pPr marL="0" indent="0">
              <a:buNone/>
            </a:pPr>
            <a:r>
              <a:rPr lang="en-US" sz="2800" dirty="0"/>
              <a:t>“ I have the right to do that”</a:t>
            </a:r>
          </a:p>
        </p:txBody>
      </p:sp>
    </p:spTree>
    <p:extLst>
      <p:ext uri="{BB962C8B-B14F-4D97-AF65-F5344CB8AC3E}">
        <p14:creationId xmlns:p14="http://schemas.microsoft.com/office/powerpoint/2010/main" val="206798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Categorizing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Philosophers often make an important distinction in the nature and type of (how to consider) rights as:</a:t>
            </a:r>
          </a:p>
          <a:p>
            <a:endParaRPr lang="en-US" sz="2800" dirty="0"/>
          </a:p>
          <a:p>
            <a:r>
              <a:rPr lang="en-US" sz="2800" dirty="0"/>
              <a:t>Negative Rights</a:t>
            </a:r>
          </a:p>
          <a:p>
            <a:r>
              <a:rPr lang="en-US" sz="2800" dirty="0"/>
              <a:t>Positive Rights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02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34531"/>
            <a:ext cx="8596668" cy="4706832"/>
          </a:xfrm>
        </p:spPr>
        <p:txBody>
          <a:bodyPr>
            <a:normAutofit/>
          </a:bodyPr>
          <a:lstStyle/>
          <a:p>
            <a:r>
              <a:rPr lang="en-US" sz="2800" dirty="0"/>
              <a:t>Negative rights are those rights which require restraint by others.</a:t>
            </a:r>
          </a:p>
          <a:p>
            <a:pPr marL="400050" lvl="1" indent="0">
              <a:buNone/>
            </a:pPr>
            <a:r>
              <a:rPr lang="en-US" sz="1400" dirty="0"/>
              <a:t>Examples:</a:t>
            </a:r>
          </a:p>
          <a:p>
            <a:pPr marL="400050" lvl="1" indent="0">
              <a:buNone/>
            </a:pPr>
            <a:r>
              <a:rPr lang="en-US" sz="1400" dirty="0"/>
              <a:t>My right of not to be killed, robbed, poisoned, harmed and so on. It requires others refrain from killing, robbing, poisoning me…….</a:t>
            </a:r>
          </a:p>
          <a:p>
            <a:r>
              <a:rPr lang="en-US" sz="2400" dirty="0"/>
              <a:t>However negative rights does not require that others take action to keep me alive, putting locks and guards to save me from being robbed …………..</a:t>
            </a:r>
          </a:p>
          <a:p>
            <a:r>
              <a:rPr lang="en-US" sz="2000" b="0" i="0" dirty="0">
                <a:solidFill>
                  <a:srgbClr val="404040"/>
                </a:solidFill>
                <a:effectLst/>
                <a:latin typeface="Libre Baskerville" panose="02000000000000000000" pitchFamily="2" charset="0"/>
              </a:rPr>
              <a:t>Negative rights require the government to refrain from acting in certain ways; governments can respect individuals' negative rights simply by doing nothing at all.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47458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Rights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Positive rights are those which implies others have a duty towards the right holder.</a:t>
            </a:r>
          </a:p>
          <a:p>
            <a:pPr marL="457200" lvl="1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	If I have a right to live then not only others have to refrain from killing me but 	also they need to feed me, keep me safe etc.</a:t>
            </a:r>
          </a:p>
        </p:txBody>
      </p:sp>
    </p:spTree>
    <p:extLst>
      <p:ext uri="{BB962C8B-B14F-4D97-AF65-F5344CB8AC3E}">
        <p14:creationId xmlns:p14="http://schemas.microsoft.com/office/powerpoint/2010/main" val="142765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1492-1DA7-8E10-54E6-1C69B3669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Rights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13D4-E6F5-77A1-3001-9FA59F94F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404040"/>
                </a:solidFill>
                <a:effectLst/>
                <a:latin typeface="Libre Baskerville" panose="020F0502020204030204" pitchFamily="34" charset="0"/>
              </a:rPr>
              <a:t>Positive rights require the government to act in certain ways. </a:t>
            </a:r>
          </a:p>
          <a:p>
            <a:r>
              <a:rPr lang="en-US" sz="2400" b="0" i="0" dirty="0">
                <a:solidFill>
                  <a:srgbClr val="404040"/>
                </a:solidFill>
                <a:effectLst/>
                <a:latin typeface="Libre Baskerville" panose="020F0502020204030204" pitchFamily="34" charset="0"/>
              </a:rPr>
              <a:t>The government must take a hands-on approach to ensure that guaranteed positive rights are accessible to the rights-holders. </a:t>
            </a:r>
          </a:p>
          <a:p>
            <a:r>
              <a:rPr lang="en-US" sz="2400" b="0" i="0" dirty="0">
                <a:solidFill>
                  <a:srgbClr val="404040"/>
                </a:solidFill>
                <a:effectLst/>
                <a:latin typeface="Libre Baskerville" panose="020F0502020204030204" pitchFamily="34" charset="0"/>
              </a:rPr>
              <a:t>Positive rights therefore place a heavy burden on the government by requiring that resources be allocated in specific ways, and with limited flexibility.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006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1029ED5-F105-4DD2-99C8-1E4422817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621E68-BF28-4A1C-B1A2-4E55E139E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BBE4D-F0DF-49B9-B75A-99DAC53ACA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E0F07DDC-34A6-46A1-9DE9-2BBE2931A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2CEB2BF9-B8DB-45B9-86EA-D197B5B1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8B5BB34-3801-4E70-A981-FE007635E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38432A75-2CEB-463C-A8F2-ABB50A79F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E7E850B8-C050-4597-8BEB-113FEC9A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4ACC798-9CEC-4B6F-A8DD-F8E6FCCCF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1D58A8C6-1294-4CD9-89BC-F1E981A52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32F2ED6-6143-46C4-A641-72D42732B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C9652B3-A450-4ED6-8FBF-F536BA60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CF78FA21-CBBD-A760-24EA-FB374219D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62"/>
          <a:stretch>
            <a:fillRect/>
          </a:stretch>
        </p:blipFill>
        <p:spPr>
          <a:xfrm>
            <a:off x="568452" y="571500"/>
            <a:ext cx="1105509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11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classes of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Legal Rights</a:t>
            </a:r>
          </a:p>
          <a:p>
            <a:r>
              <a:rPr lang="en-US" dirty="0"/>
              <a:t>Moral Rights</a:t>
            </a:r>
          </a:p>
        </p:txBody>
      </p:sp>
    </p:spTree>
    <p:extLst>
      <p:ext uri="{BB962C8B-B14F-4D97-AF65-F5344CB8AC3E}">
        <p14:creationId xmlns:p14="http://schemas.microsoft.com/office/powerpoint/2010/main" val="405754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Legal rights are rights created and applied by the law. </a:t>
            </a:r>
          </a:p>
          <a:p>
            <a:r>
              <a:rPr lang="en-US" sz="2000" dirty="0"/>
              <a:t>The law enforces a statement or code of conduct, a deed to be done or rule to follow and fixes a punishment against violating the law.</a:t>
            </a:r>
          </a:p>
          <a:p>
            <a:r>
              <a:rPr lang="en-US" sz="2000" dirty="0"/>
              <a:t>Rights formally recognized and protected by law</a:t>
            </a:r>
          </a:p>
        </p:txBody>
      </p:sp>
    </p:spTree>
    <p:extLst>
      <p:ext uri="{BB962C8B-B14F-4D97-AF65-F5344CB8AC3E}">
        <p14:creationId xmlns:p14="http://schemas.microsoft.com/office/powerpoint/2010/main" val="104805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Moral Rights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Moral , natural or human rights are independent from the law.</a:t>
            </a:r>
          </a:p>
          <a:p>
            <a:r>
              <a:rPr lang="en-US" dirty="0"/>
              <a:t>A civilized society’s first line of defense is not the law, police and courts but customs, traditions and moral values. </a:t>
            </a:r>
          </a:p>
          <a:p>
            <a:r>
              <a:rPr lang="en-US" dirty="0"/>
              <a:t>Behavioral norms, mostly transmitted by example, word of mouth and religious teachings, represent a body of wisdom distilled over the ages through experience and trial and error.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59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Moral vs Legal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Moral status</a:t>
            </a:r>
            <a:r>
              <a:rPr lang="en-US" sz="2400" dirty="0"/>
              <a:t> leads to let you decide on the base of good or bad consciousness, religious training, manners etc. Although it does not involve penalty in violating such rights, but a feeling of guilt is always there to follow.</a:t>
            </a:r>
          </a:p>
          <a:p>
            <a:r>
              <a:rPr lang="en-US" sz="2400" b="1" dirty="0"/>
              <a:t>Legal status </a:t>
            </a:r>
            <a:r>
              <a:rPr lang="en-US" sz="2400" dirty="0"/>
              <a:t>enforces your deeds on the grounds of defined law and has a penalty or punishment for those violating such rights or laws.</a:t>
            </a:r>
            <a:endParaRPr lang="en-US" sz="24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7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1  (Polluting the environment)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Moral status</a:t>
            </a:r>
          </a:p>
          <a:p>
            <a:pPr lvl="1"/>
            <a:r>
              <a:rPr lang="en-US" sz="2000" dirty="0"/>
              <a:t>Don’t throw waste papers on the ground it will pollute the environment</a:t>
            </a:r>
          </a:p>
          <a:p>
            <a:r>
              <a:rPr lang="en-US" sz="2400" dirty="0"/>
              <a:t>Legal status</a:t>
            </a:r>
          </a:p>
          <a:p>
            <a:pPr lvl="1"/>
            <a:r>
              <a:rPr lang="en-US" sz="2000" dirty="0"/>
              <a:t>Making the case legal how????</a:t>
            </a:r>
          </a:p>
        </p:txBody>
      </p:sp>
    </p:spTree>
    <p:extLst>
      <p:ext uri="{BB962C8B-B14F-4D97-AF65-F5344CB8AC3E}">
        <p14:creationId xmlns:p14="http://schemas.microsoft.com/office/powerpoint/2010/main" val="4056159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2 (Oldies get a seat in a loaded bus)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Moral Status</a:t>
            </a:r>
          </a:p>
          <a:p>
            <a:pPr lvl="1"/>
            <a:r>
              <a:rPr lang="en-US" sz="2400" dirty="0"/>
              <a:t>Youngers should give the oldies a seat ; good manners</a:t>
            </a:r>
          </a:p>
          <a:p>
            <a:r>
              <a:rPr lang="en-US" sz="2800" dirty="0"/>
              <a:t>Legal Status</a:t>
            </a:r>
          </a:p>
          <a:p>
            <a:pPr lvl="1"/>
            <a:r>
              <a:rPr lang="en-US" sz="2400" dirty="0"/>
              <a:t>Label some seats for the oldies and fine those youngsters who don’t give away the seats for the oldies</a:t>
            </a:r>
          </a:p>
        </p:txBody>
      </p:sp>
    </p:spTree>
    <p:extLst>
      <p:ext uri="{BB962C8B-B14F-4D97-AF65-F5344CB8AC3E}">
        <p14:creationId xmlns:p14="http://schemas.microsoft.com/office/powerpoint/2010/main" val="2401354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3 (Password privacy in an organization)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Moral status</a:t>
            </a:r>
          </a:p>
          <a:p>
            <a:pPr lvl="1"/>
            <a:r>
              <a:rPr lang="en-US" sz="2400" dirty="0"/>
              <a:t>No one is supposed to share their password else their data can be tampered, stolen etc..</a:t>
            </a:r>
          </a:p>
          <a:p>
            <a:r>
              <a:rPr lang="en-US" sz="2800" dirty="0"/>
              <a:t>Legal status</a:t>
            </a:r>
          </a:p>
          <a:p>
            <a:pPr lvl="1"/>
            <a:r>
              <a:rPr lang="en-US" sz="2400" dirty="0"/>
              <a:t>If any one leaks his/her password he/she should pay a fine and suspended for a day. </a:t>
            </a:r>
          </a:p>
        </p:txBody>
      </p:sp>
    </p:spTree>
    <p:extLst>
      <p:ext uri="{BB962C8B-B14F-4D97-AF65-F5344CB8AC3E}">
        <p14:creationId xmlns:p14="http://schemas.microsoft.com/office/powerpoint/2010/main" val="2380233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698702"/>
          </a:xfrm>
        </p:spPr>
        <p:txBody>
          <a:bodyPr>
            <a:normAutofit fontScale="90000"/>
          </a:bodyPr>
          <a:lstStyle/>
          <a:p>
            <a:r>
              <a:rPr lang="en-US" dirty="0"/>
              <a:t>Case 4 (An institute giving degrees to those who are not eligible vs giving degrees which are not recognized)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439364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Moral status</a:t>
            </a:r>
          </a:p>
          <a:p>
            <a:pPr lvl="1"/>
            <a:r>
              <a:rPr lang="en-US" sz="2400" dirty="0"/>
              <a:t>No one is supposed to give degrees unless the requirements are fulfilled. Low standards of required skill are against moral values.</a:t>
            </a:r>
          </a:p>
          <a:p>
            <a:r>
              <a:rPr lang="en-US" sz="2800" dirty="0"/>
              <a:t>Legal status</a:t>
            </a:r>
          </a:p>
          <a:p>
            <a:pPr lvl="1"/>
            <a:r>
              <a:rPr lang="en-US" sz="2400" dirty="0"/>
              <a:t>If some one provides degrees which are not recognized by any higher commission or whose charter is not valid.</a:t>
            </a:r>
          </a:p>
        </p:txBody>
      </p:sp>
    </p:spTree>
    <p:extLst>
      <p:ext uri="{BB962C8B-B14F-4D97-AF65-F5344CB8AC3E}">
        <p14:creationId xmlns:p14="http://schemas.microsoft.com/office/powerpoint/2010/main" val="23802332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9110</TotalTime>
  <Words>723</Words>
  <Application>Microsoft Macintosh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Libre Baskerville</vt:lpstr>
      <vt:lpstr>Trebuchet MS</vt:lpstr>
      <vt:lpstr>Wingdings 3</vt:lpstr>
      <vt:lpstr>Facet</vt:lpstr>
      <vt:lpstr>CS4001- Professional Practices in IT</vt:lpstr>
      <vt:lpstr>Lecture # 2</vt:lpstr>
      <vt:lpstr>Rights</vt:lpstr>
      <vt:lpstr>Categorizing Rights</vt:lpstr>
      <vt:lpstr>Negative Rights</vt:lpstr>
      <vt:lpstr>Positive Rights </vt:lpstr>
      <vt:lpstr>Positive Rights </vt:lpstr>
      <vt:lpstr>PowerPoint Presentation</vt:lpstr>
      <vt:lpstr>Further classes of Rights</vt:lpstr>
      <vt:lpstr>Legal Rights</vt:lpstr>
      <vt:lpstr>Moral Rights</vt:lpstr>
      <vt:lpstr>Moral vs Legal</vt:lpstr>
      <vt:lpstr>Case 1  (Polluting the environment) </vt:lpstr>
      <vt:lpstr>Case 2 (Oldies get a seat in a loaded bus)</vt:lpstr>
      <vt:lpstr>Case 3 (Password privacy in an organization)</vt:lpstr>
      <vt:lpstr>Case 4 (An institute giving degrees to those who are not eligible vs giving degrees which are not recognized)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  Professional Issues in IT</dc:title>
  <dc:creator>SHAHAR BANO</dc:creator>
  <cp:lastModifiedBy>anaum hamid</cp:lastModifiedBy>
  <cp:revision>31</cp:revision>
  <dcterms:created xsi:type="dcterms:W3CDTF">2015-08-13T04:26:07Z</dcterms:created>
  <dcterms:modified xsi:type="dcterms:W3CDTF">2025-08-21T20:06:08Z</dcterms:modified>
</cp:coreProperties>
</file>