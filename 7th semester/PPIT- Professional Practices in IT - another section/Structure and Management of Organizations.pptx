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89" r:id="rId2"/>
    <p:sldId id="259" r:id="rId3"/>
    <p:sldId id="260" r:id="rId4"/>
    <p:sldId id="261" r:id="rId5"/>
    <p:sldId id="265" r:id="rId6"/>
    <p:sldId id="266" r:id="rId7"/>
    <p:sldId id="268" r:id="rId8"/>
    <p:sldId id="262" r:id="rId9"/>
    <p:sldId id="267" r:id="rId10"/>
    <p:sldId id="263" r:id="rId11"/>
    <p:sldId id="264" r:id="rId12"/>
    <p:sldId id="269" r:id="rId13"/>
    <p:sldId id="275" r:id="rId14"/>
    <p:sldId id="273" r:id="rId15"/>
    <p:sldId id="274" r:id="rId16"/>
    <p:sldId id="271" r:id="rId17"/>
    <p:sldId id="276" r:id="rId18"/>
    <p:sldId id="277" r:id="rId19"/>
    <p:sldId id="272" r:id="rId20"/>
    <p:sldId id="278" r:id="rId21"/>
    <p:sldId id="279" r:id="rId22"/>
    <p:sldId id="280" r:id="rId23"/>
    <p:sldId id="281" r:id="rId24"/>
    <p:sldId id="282" r:id="rId25"/>
    <p:sldId id="283" r:id="rId26"/>
    <p:sldId id="284" r:id="rId27"/>
    <p:sldId id="285" r:id="rId28"/>
    <p:sldId id="286" r:id="rId29"/>
    <p:sldId id="287" r:id="rId30"/>
    <p:sldId id="28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8" autoAdjust="0"/>
    <p:restoredTop sz="96283" autoAdjust="0"/>
  </p:normalViewPr>
  <p:slideViewPr>
    <p:cSldViewPr snapToGrid="0">
      <p:cViewPr varScale="1">
        <p:scale>
          <a:sx n="115" d="100"/>
          <a:sy n="115" d="100"/>
        </p:scale>
        <p:origin x="448"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98EDA1-6E22-4369-90C4-5C1652ADCCF2}" type="datetimeFigureOut">
              <a:rPr lang="en-US" smtClean="0"/>
              <a:pPr/>
              <a:t>9/15/25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67B5EB-37BD-4E13-874D-0A40DE435D3E}" type="slidenum">
              <a:rPr lang="en-US" smtClean="0"/>
              <a:pPr/>
              <a:t>‹#›</a:t>
            </a:fld>
            <a:endParaRPr lang="en-US"/>
          </a:p>
        </p:txBody>
      </p:sp>
    </p:spTree>
    <p:extLst>
      <p:ext uri="{BB962C8B-B14F-4D97-AF65-F5344CB8AC3E}">
        <p14:creationId xmlns:p14="http://schemas.microsoft.com/office/powerpoint/2010/main" val="2608246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267B5EB-37BD-4E13-874D-0A40DE435D3E}" type="slidenum">
              <a:rPr lang="en-US" smtClean="0"/>
              <a:pPr/>
              <a:t>4</a:t>
            </a:fld>
            <a:endParaRPr lang="en-US"/>
          </a:p>
        </p:txBody>
      </p:sp>
    </p:spTree>
    <p:extLst>
      <p:ext uri="{BB962C8B-B14F-4D97-AF65-F5344CB8AC3E}">
        <p14:creationId xmlns:p14="http://schemas.microsoft.com/office/powerpoint/2010/main" val="556282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7F26DF3-BC39-473F-90E1-418B07BDC30D}" type="slidenum">
              <a:rPr lang="en-US" altLang="en-US">
                <a:latin typeface="Arial" panose="020B0604020202020204" pitchFamily="34" charset="0"/>
              </a:rPr>
              <a:pPr/>
              <a:t>14</a:t>
            </a:fld>
            <a:endParaRPr lang="en-US" altLang="en-US">
              <a:latin typeface="Arial" panose="020B0604020202020204" pitchFamily="3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Slides 3-10 depict the functional structure, geographic structure, SBU or divisional structure, and the matrix structure.  The pros and cons of each structure are also described.  </a:t>
            </a:r>
          </a:p>
        </p:txBody>
      </p:sp>
    </p:spTree>
    <p:extLst>
      <p:ext uri="{BB962C8B-B14F-4D97-AF65-F5344CB8AC3E}">
        <p14:creationId xmlns:p14="http://schemas.microsoft.com/office/powerpoint/2010/main" val="4031056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67B5EB-37BD-4E13-874D-0A40DE435D3E}" type="slidenum">
              <a:rPr lang="en-US" smtClean="0"/>
              <a:pPr/>
              <a:t>23</a:t>
            </a:fld>
            <a:endParaRPr lang="en-US"/>
          </a:p>
        </p:txBody>
      </p:sp>
    </p:spTree>
    <p:extLst>
      <p:ext uri="{BB962C8B-B14F-4D97-AF65-F5344CB8AC3E}">
        <p14:creationId xmlns:p14="http://schemas.microsoft.com/office/powerpoint/2010/main" val="3036111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 production starts after order</a:t>
            </a:r>
          </a:p>
          <a:p>
            <a:r>
              <a:rPr lang="en-US" dirty="0"/>
              <a:t>Production: </a:t>
            </a:r>
            <a:r>
              <a:rPr lang="en-US" dirty="0" err="1"/>
              <a:t>initiats</a:t>
            </a:r>
            <a:r>
              <a:rPr lang="en-US" dirty="0"/>
              <a:t> before an order</a:t>
            </a:r>
          </a:p>
        </p:txBody>
      </p:sp>
      <p:sp>
        <p:nvSpPr>
          <p:cNvPr id="4" name="Slide Number Placeholder 3"/>
          <p:cNvSpPr>
            <a:spLocks noGrp="1"/>
          </p:cNvSpPr>
          <p:nvPr>
            <p:ph type="sldNum" sz="quarter" idx="10"/>
          </p:nvPr>
        </p:nvSpPr>
        <p:spPr/>
        <p:txBody>
          <a:bodyPr/>
          <a:lstStyle/>
          <a:p>
            <a:fld id="{A267B5EB-37BD-4E13-874D-0A40DE435D3E}" type="slidenum">
              <a:rPr lang="en-US" smtClean="0"/>
              <a:pPr/>
              <a:t>24</a:t>
            </a:fld>
            <a:endParaRPr lang="en-US"/>
          </a:p>
        </p:txBody>
      </p:sp>
    </p:spTree>
    <p:extLst>
      <p:ext uri="{BB962C8B-B14F-4D97-AF65-F5344CB8AC3E}">
        <p14:creationId xmlns:p14="http://schemas.microsoft.com/office/powerpoint/2010/main" val="1096306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If we take a software</a:t>
            </a:r>
          </a:p>
          <a:p>
            <a:r>
              <a:rPr lang="en-US" sz="1200" b="0" i="0" u="none" strike="noStrike" kern="1200" baseline="0" dirty="0">
                <a:solidFill>
                  <a:schemeClr val="tx1"/>
                </a:solidFill>
                <a:latin typeface="+mn-lt"/>
                <a:ea typeface="+mn-ea"/>
                <a:cs typeface="+mn-cs"/>
              </a:rPr>
              <a:t>company as an example, centralization might mean that there were company-</a:t>
            </a:r>
          </a:p>
          <a:p>
            <a:r>
              <a:rPr lang="en-US" sz="1200" b="0" i="0" u="none" strike="noStrike" kern="1200" baseline="0" dirty="0">
                <a:solidFill>
                  <a:schemeClr val="tx1"/>
                </a:solidFill>
                <a:latin typeface="+mn-lt"/>
                <a:ea typeface="+mn-ea"/>
                <a:cs typeface="+mn-cs"/>
              </a:rPr>
              <a:t>wide rules that all programming should be done in C++ and that, whenever</a:t>
            </a:r>
          </a:p>
          <a:p>
            <a:r>
              <a:rPr lang="en-US" sz="1200" b="0" i="0" u="none" strike="noStrike" kern="1200" baseline="0" dirty="0">
                <a:solidFill>
                  <a:schemeClr val="tx1"/>
                </a:solidFill>
                <a:latin typeface="+mn-lt"/>
                <a:ea typeface="+mn-ea"/>
                <a:cs typeface="+mn-cs"/>
              </a:rPr>
              <a:t>a database package was needed, Oracle should be used. Such a policy</a:t>
            </a:r>
          </a:p>
          <a:p>
            <a:r>
              <a:rPr lang="en-US" sz="1200" b="0" i="0" u="none" strike="noStrike" kern="1200" baseline="0" dirty="0">
                <a:solidFill>
                  <a:schemeClr val="tx1"/>
                </a:solidFill>
                <a:latin typeface="+mn-lt"/>
                <a:ea typeface="+mn-ea"/>
                <a:cs typeface="+mn-cs"/>
              </a:rPr>
              <a:t>has the obvious advantages that programmers could be easily moved from</a:t>
            </a:r>
          </a:p>
          <a:p>
            <a:r>
              <a:rPr lang="en-US" sz="1200" b="0" i="0" u="none" strike="noStrike" kern="1200" baseline="0" dirty="0">
                <a:solidFill>
                  <a:schemeClr val="tx1"/>
                </a:solidFill>
                <a:latin typeface="+mn-lt"/>
                <a:ea typeface="+mn-ea"/>
                <a:cs typeface="+mn-cs"/>
              </a:rPr>
              <a:t>one part of the company to another and that it would be possible to build up</a:t>
            </a:r>
          </a:p>
          <a:p>
            <a:r>
              <a:rPr lang="en-US" sz="1200" b="0" i="0" u="none" strike="noStrike" kern="1200" baseline="0" dirty="0">
                <a:solidFill>
                  <a:schemeClr val="tx1"/>
                </a:solidFill>
                <a:latin typeface="+mn-lt"/>
                <a:ea typeface="+mn-ea"/>
                <a:cs typeface="+mn-cs"/>
              </a:rPr>
              <a:t>a close relationship with Oracle. On the other hand, it might mean that C++</a:t>
            </a:r>
          </a:p>
          <a:p>
            <a:r>
              <a:rPr lang="en-US" sz="1200" b="0" i="0" u="none" strike="noStrike" kern="1200" baseline="0" dirty="0">
                <a:solidFill>
                  <a:schemeClr val="tx1"/>
                </a:solidFill>
                <a:latin typeface="+mn-lt"/>
                <a:ea typeface="+mn-ea"/>
                <a:cs typeface="+mn-cs"/>
              </a:rPr>
              <a:t>and Oracle were used for projects that would have been much better done</a:t>
            </a:r>
          </a:p>
          <a:p>
            <a:r>
              <a:rPr lang="en-US" sz="1200" b="0" i="0" u="none" strike="noStrike" kern="1200" baseline="0" dirty="0">
                <a:solidFill>
                  <a:schemeClr val="tx1"/>
                </a:solidFill>
                <a:latin typeface="+mn-lt"/>
                <a:ea typeface="+mn-ea"/>
                <a:cs typeface="+mn-cs"/>
              </a:rPr>
              <a:t>using Java and MySQL or Visual Basic and Access. Decentralization would</a:t>
            </a:r>
          </a:p>
          <a:p>
            <a:r>
              <a:rPr lang="en-US" sz="1200" b="0" i="0" u="none" strike="noStrike" kern="1200" baseline="0" dirty="0">
                <a:solidFill>
                  <a:schemeClr val="tx1"/>
                </a:solidFill>
                <a:latin typeface="+mn-lt"/>
                <a:ea typeface="+mn-ea"/>
                <a:cs typeface="+mn-cs"/>
              </a:rPr>
              <a:t>allow the most suitable tools to be chosen for each project but might mean</a:t>
            </a:r>
          </a:p>
          <a:p>
            <a:r>
              <a:rPr lang="en-US" sz="1200" b="0" i="0" u="none" strike="noStrike" kern="1200" baseline="0" dirty="0">
                <a:solidFill>
                  <a:schemeClr val="tx1"/>
                </a:solidFill>
                <a:latin typeface="+mn-lt"/>
                <a:ea typeface="+mn-ea"/>
                <a:cs typeface="+mn-cs"/>
              </a:rPr>
              <a:t>that the staff were very inflexible. It could also lead to a maintenance nightmare</a:t>
            </a:r>
          </a:p>
          <a:p>
            <a:r>
              <a:rPr lang="en-US" sz="1200" b="0" i="0" u="none" strike="noStrike" kern="1200" baseline="0" dirty="0">
                <a:solidFill>
                  <a:schemeClr val="tx1"/>
                </a:solidFill>
                <a:latin typeface="+mn-lt"/>
                <a:ea typeface="+mn-ea"/>
                <a:cs typeface="+mn-cs"/>
              </a:rPr>
              <a:t>in the future, with maintenance staff needing to be familiar with large</a:t>
            </a:r>
          </a:p>
          <a:p>
            <a:r>
              <a:rPr lang="en-US" sz="1200" b="0" i="0" u="none" strike="noStrike" kern="1200" baseline="0" dirty="0">
                <a:solidFill>
                  <a:schemeClr val="tx1"/>
                </a:solidFill>
                <a:latin typeface="+mn-lt"/>
                <a:ea typeface="+mn-ea"/>
                <a:cs typeface="+mn-cs"/>
              </a:rPr>
              <a:t>numbers of obsolete tools.</a:t>
            </a:r>
            <a:endParaRPr lang="en-US" dirty="0"/>
          </a:p>
        </p:txBody>
      </p:sp>
      <p:sp>
        <p:nvSpPr>
          <p:cNvPr id="4" name="Slide Number Placeholder 3"/>
          <p:cNvSpPr>
            <a:spLocks noGrp="1"/>
          </p:cNvSpPr>
          <p:nvPr>
            <p:ph type="sldNum" sz="quarter" idx="10"/>
          </p:nvPr>
        </p:nvSpPr>
        <p:spPr/>
        <p:txBody>
          <a:bodyPr/>
          <a:lstStyle/>
          <a:p>
            <a:fld id="{A267B5EB-37BD-4E13-874D-0A40DE435D3E}" type="slidenum">
              <a:rPr lang="en-US" smtClean="0"/>
              <a:pPr/>
              <a:t>27</a:t>
            </a:fld>
            <a:endParaRPr lang="en-US"/>
          </a:p>
        </p:txBody>
      </p:sp>
    </p:spTree>
    <p:extLst>
      <p:ext uri="{BB962C8B-B14F-4D97-AF65-F5344CB8AC3E}">
        <p14:creationId xmlns:p14="http://schemas.microsoft.com/office/powerpoint/2010/main" val="39715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1288" y="-8468"/>
            <a:ext cx="12226405"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774566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50739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104418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91061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77258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18434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296459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82269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725108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49676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86738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269098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40893355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1700437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6631766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177493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1289" y="-8468"/>
            <a:ext cx="12226407"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0" y="609600"/>
            <a:ext cx="8463617"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799" y="2160590"/>
            <a:ext cx="846361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7011" y="6041364"/>
            <a:ext cx="91217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3"/>
          </p:nvPr>
        </p:nvSpPr>
        <p:spPr>
          <a:xfrm>
            <a:off x="812799" y="6041364"/>
            <a:ext cx="616396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592902" y="6041364"/>
            <a:ext cx="683517" cy="365125"/>
          </a:xfrm>
          <a:prstGeom prst="rect">
            <a:avLst/>
          </a:prstGeom>
        </p:spPr>
        <p:txBody>
          <a:bodyPr vert="horz" lIns="91440" tIns="45720" rIns="91440" bIns="45720" rtlCol="0" anchor="ctr"/>
          <a:lstStyle>
            <a:lvl1pPr algn="r">
              <a:defRPr sz="900">
                <a:solidFill>
                  <a:schemeClr val="accent1"/>
                </a:solidFill>
              </a:defRPr>
            </a:lvl1p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34523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8955" y="1752600"/>
            <a:ext cx="6870405" cy="686794"/>
          </a:xfrm>
        </p:spPr>
        <p:txBody>
          <a:bodyPr/>
          <a:lstStyle/>
          <a:p>
            <a:pPr algn="l"/>
            <a:r>
              <a:rPr lang="en-US" sz="2800" b="1" dirty="0"/>
              <a:t>CS4001- Professional Practices in IT</a:t>
            </a:r>
          </a:p>
        </p:txBody>
      </p:sp>
      <p:sp>
        <p:nvSpPr>
          <p:cNvPr id="5" name="Subtitle 4"/>
          <p:cNvSpPr>
            <a:spLocks noGrp="1"/>
          </p:cNvSpPr>
          <p:nvPr>
            <p:ph type="subTitle" idx="1"/>
          </p:nvPr>
        </p:nvSpPr>
        <p:spPr>
          <a:xfrm>
            <a:off x="2654597" y="5486401"/>
            <a:ext cx="5826719" cy="1096899"/>
          </a:xfrm>
        </p:spPr>
        <p:txBody>
          <a:bodyPr/>
          <a:lstStyle/>
          <a:p>
            <a:pPr algn="l"/>
            <a:r>
              <a:rPr lang="en-US" dirty="0"/>
              <a:t>Course Instructor: Anaum Hamid</a:t>
            </a:r>
          </a:p>
          <a:p>
            <a:pPr algn="l"/>
            <a:r>
              <a:rPr lang="en-US" dirty="0"/>
              <a:t>Email address: anaum.hamid@nu.edu.pk</a:t>
            </a:r>
          </a:p>
        </p:txBody>
      </p:sp>
      <p:sp>
        <p:nvSpPr>
          <p:cNvPr id="3" name="TextBox 2">
            <a:extLst>
              <a:ext uri="{FF2B5EF4-FFF2-40B4-BE49-F238E27FC236}">
                <a16:creationId xmlns:a16="http://schemas.microsoft.com/office/drawing/2014/main" id="{D1A724A3-FEF6-A29A-25DE-3750EE55AF8D}"/>
              </a:ext>
            </a:extLst>
          </p:cNvPr>
          <p:cNvSpPr txBox="1"/>
          <p:nvPr/>
        </p:nvSpPr>
        <p:spPr>
          <a:xfrm>
            <a:off x="1725498" y="2444970"/>
            <a:ext cx="7084088" cy="461665"/>
          </a:xfrm>
          <a:prstGeom prst="rect">
            <a:avLst/>
          </a:prstGeom>
          <a:noFill/>
        </p:spPr>
        <p:txBody>
          <a:bodyPr wrap="square" rtlCol="0">
            <a:spAutoFit/>
          </a:bodyPr>
          <a:lstStyle/>
          <a:p>
            <a:pPr algn="ctr"/>
            <a:r>
              <a:rPr lang="en-US" sz="2400" dirty="0">
                <a:solidFill>
                  <a:schemeClr val="accent1"/>
                </a:solidFill>
              </a:rPr>
              <a:t>Structure and Management of Organizations</a:t>
            </a:r>
          </a:p>
        </p:txBody>
      </p:sp>
    </p:spTree>
    <p:extLst>
      <p:ext uri="{BB962C8B-B14F-4D97-AF65-F5344CB8AC3E}">
        <p14:creationId xmlns:p14="http://schemas.microsoft.com/office/powerpoint/2010/main" val="3684792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682753" y="1548384"/>
            <a:ext cx="8593666" cy="4492979"/>
          </a:xfrm>
        </p:spPr>
        <p:txBody>
          <a:bodyPr>
            <a:normAutofit/>
          </a:bodyPr>
          <a:lstStyle/>
          <a:p>
            <a:pPr marL="0" indent="0">
              <a:buNone/>
            </a:pPr>
            <a:r>
              <a:rPr lang="en-US" sz="2400" b="1" dirty="0"/>
              <a:t>Definition:</a:t>
            </a:r>
            <a:r>
              <a:rPr lang="en-US" sz="2400" dirty="0"/>
              <a:t>  An organization is a group of people working together in a formal way.</a:t>
            </a:r>
          </a:p>
          <a:p>
            <a:pPr marL="0" indent="0">
              <a:buNone/>
            </a:pPr>
            <a:r>
              <a:rPr lang="en-US" sz="2400" dirty="0"/>
              <a:t> </a:t>
            </a:r>
            <a:r>
              <a:rPr lang="en-US" sz="2400" b="1" dirty="0"/>
              <a:t>Explanation:</a:t>
            </a:r>
            <a:r>
              <a:rPr lang="en-US" sz="2400" dirty="0"/>
              <a:t> The work that must be done is shared between these people and there are rules about who does what. </a:t>
            </a:r>
          </a:p>
          <a:p>
            <a:pPr marL="0" indent="0">
              <a:buNone/>
            </a:pPr>
            <a:r>
              <a:rPr lang="en-US" sz="2400" dirty="0"/>
              <a:t>How the work is shared and how tasks and people are grouped together – the structure of the organization – will vary very much from organization to organization. It is surprising, however, that organizational structures have much more in common than might be expected.</a:t>
            </a:r>
          </a:p>
        </p:txBody>
      </p:sp>
    </p:spTree>
    <p:extLst>
      <p:ext uri="{BB962C8B-B14F-4D97-AF65-F5344CB8AC3E}">
        <p14:creationId xmlns:p14="http://schemas.microsoft.com/office/powerpoint/2010/main" val="3366611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ORGANIZATIONAL MODELS</a:t>
            </a:r>
            <a:endParaRPr lang="en-US" dirty="0"/>
          </a:p>
        </p:txBody>
      </p:sp>
      <p:sp>
        <p:nvSpPr>
          <p:cNvPr id="3" name="Content Placeholder 2"/>
          <p:cNvSpPr>
            <a:spLocks noGrp="1"/>
          </p:cNvSpPr>
          <p:nvPr>
            <p:ph idx="1"/>
          </p:nvPr>
        </p:nvSpPr>
        <p:spPr>
          <a:xfrm>
            <a:off x="812800" y="1548384"/>
            <a:ext cx="8463618" cy="4492979"/>
          </a:xfrm>
        </p:spPr>
        <p:txBody>
          <a:bodyPr>
            <a:normAutofit/>
          </a:bodyPr>
          <a:lstStyle/>
          <a:p>
            <a:r>
              <a:rPr lang="en-US" sz="3200" b="1" dirty="0"/>
              <a:t>The bureaucratic model</a:t>
            </a:r>
          </a:p>
          <a:p>
            <a:r>
              <a:rPr lang="en-US" sz="3200" b="1" dirty="0"/>
              <a:t>The organic model</a:t>
            </a:r>
          </a:p>
          <a:p>
            <a:r>
              <a:rPr lang="en-US" sz="3200" b="1" dirty="0"/>
              <a:t>Matrix management</a:t>
            </a:r>
            <a:endParaRPr lang="en-US" sz="3200" dirty="0"/>
          </a:p>
        </p:txBody>
      </p:sp>
    </p:spTree>
    <p:extLst>
      <p:ext uri="{BB962C8B-B14F-4D97-AF65-F5344CB8AC3E}">
        <p14:creationId xmlns:p14="http://schemas.microsoft.com/office/powerpoint/2010/main" val="1363375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The bureaucratic model</a:t>
            </a:r>
            <a:endParaRPr lang="en-US" dirty="0"/>
          </a:p>
        </p:txBody>
      </p:sp>
      <p:sp>
        <p:nvSpPr>
          <p:cNvPr id="3" name="Content Placeholder 2"/>
          <p:cNvSpPr>
            <a:spLocks noGrp="1"/>
          </p:cNvSpPr>
          <p:nvPr>
            <p:ph idx="1"/>
          </p:nvPr>
        </p:nvSpPr>
        <p:spPr>
          <a:xfrm>
            <a:off x="1166367" y="1743456"/>
            <a:ext cx="7538721" cy="4310099"/>
          </a:xfrm>
        </p:spPr>
        <p:txBody>
          <a:bodyPr/>
          <a:lstStyle/>
          <a:p>
            <a:pPr marL="0" indent="0">
              <a:buNone/>
            </a:pPr>
            <a:r>
              <a:rPr lang="en-US" dirty="0"/>
              <a:t>Organizational theory is the study of how organizations are structured and how they work.(in 19th century)</a:t>
            </a:r>
          </a:p>
          <a:p>
            <a:pPr marL="0" indent="0">
              <a:buNone/>
            </a:pPr>
            <a:r>
              <a:rPr lang="en-US" dirty="0"/>
              <a:t>The founders of the theory were sociologists like Max Weber and Mary Parker Follett, and practical businesspeople like Henri Fayol and Lyndall </a:t>
            </a:r>
            <a:r>
              <a:rPr lang="en-US" dirty="0" err="1"/>
              <a:t>Urwick</a:t>
            </a:r>
            <a:r>
              <a:rPr lang="en-US" dirty="0"/>
              <a:t>.</a:t>
            </a:r>
          </a:p>
          <a:p>
            <a:pPr marL="0" indent="0">
              <a:buNone/>
            </a:pPr>
            <a:r>
              <a:rPr lang="en-US" dirty="0"/>
              <a:t>They developed what is known as the bureaucratic model.</a:t>
            </a:r>
          </a:p>
          <a:p>
            <a:pPr marL="0" indent="0">
              <a:buNone/>
            </a:pPr>
            <a:r>
              <a:rPr lang="en-US" dirty="0"/>
              <a:t>In a modified form, this model still describes the organizational structures found in most large and many smaller organizations.</a:t>
            </a:r>
          </a:p>
        </p:txBody>
      </p:sp>
    </p:spTree>
    <p:extLst>
      <p:ext uri="{BB962C8B-B14F-4D97-AF65-F5344CB8AC3E}">
        <p14:creationId xmlns:p14="http://schemas.microsoft.com/office/powerpoint/2010/main" val="846638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365760"/>
            <a:ext cx="8463617" cy="780288"/>
          </a:xfrm>
        </p:spPr>
        <p:txBody>
          <a:bodyPr>
            <a:normAutofit/>
          </a:bodyPr>
          <a:lstStyle/>
          <a:p>
            <a:r>
              <a:rPr lang="en-US" sz="2800" dirty="0"/>
              <a:t>The bureaucratic model </a:t>
            </a:r>
            <a:r>
              <a:rPr lang="en-US" sz="3200" dirty="0"/>
              <a:t>characteristics</a:t>
            </a:r>
          </a:p>
        </p:txBody>
      </p:sp>
      <p:sp>
        <p:nvSpPr>
          <p:cNvPr id="3" name="Content Placeholder 2"/>
          <p:cNvSpPr>
            <a:spLocks noGrp="1"/>
          </p:cNvSpPr>
          <p:nvPr>
            <p:ph idx="1"/>
          </p:nvPr>
        </p:nvSpPr>
        <p:spPr>
          <a:xfrm>
            <a:off x="812799" y="1267968"/>
            <a:ext cx="8463619" cy="4773395"/>
          </a:xfrm>
        </p:spPr>
        <p:txBody>
          <a:bodyPr>
            <a:noAutofit/>
          </a:bodyPr>
          <a:lstStyle/>
          <a:p>
            <a:pPr marL="0" indent="0">
              <a:buNone/>
            </a:pPr>
            <a:r>
              <a:rPr lang="en-US" sz="2400" dirty="0"/>
              <a:t>The ideal bureaucratic organization was thought to have the following characteristics:</a:t>
            </a:r>
          </a:p>
          <a:p>
            <a:pPr>
              <a:buFont typeface="+mj-lt"/>
              <a:buAutoNum type="arabicPeriod"/>
            </a:pPr>
            <a:r>
              <a:rPr lang="en-US" sz="2400" dirty="0"/>
              <a:t>All tasks are split up into specialized jobs, in which jobholders become experts; management can thereby hold the jobholders responsible for the effective performance of their duties.</a:t>
            </a:r>
          </a:p>
          <a:p>
            <a:pPr>
              <a:buFont typeface="+mj-lt"/>
              <a:buAutoNum type="arabicPeriod"/>
            </a:pPr>
            <a:r>
              <a:rPr lang="en-US" sz="2400" dirty="0"/>
              <a:t>Precise rules govern the performance of each task. This means that there should be no variation in the way tasks are carried out and therefore no problems with the coordination of different tasks.</a:t>
            </a:r>
          </a:p>
          <a:p>
            <a:pPr>
              <a:buFont typeface="+mj-lt"/>
              <a:buAutoNum type="arabicPeriod"/>
            </a:pPr>
            <a:r>
              <a:rPr lang="en-US" sz="2400" dirty="0"/>
              <a:t>Everyone (and hence each unit) in the organization is accountable to one and only one manager.</a:t>
            </a:r>
          </a:p>
        </p:txBody>
      </p:sp>
    </p:spTree>
    <p:extLst>
      <p:ext uri="{BB962C8B-B14F-4D97-AF65-F5344CB8AC3E}">
        <p14:creationId xmlns:p14="http://schemas.microsoft.com/office/powerpoint/2010/main" val="472960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26592"/>
          </a:xfrm>
        </p:spPr>
        <p:txBody>
          <a:bodyPr/>
          <a:lstStyle/>
          <a:p>
            <a:r>
              <a:rPr lang="en-US" dirty="0"/>
              <a:t>Characteristics (</a:t>
            </a:r>
            <a:r>
              <a:rPr lang="en-US" dirty="0" err="1"/>
              <a:t>cont</a:t>
            </a:r>
            <a:r>
              <a:rPr lang="en-US" dirty="0"/>
              <a:t>…)</a:t>
            </a:r>
          </a:p>
        </p:txBody>
      </p:sp>
      <p:sp>
        <p:nvSpPr>
          <p:cNvPr id="3" name="Content Placeholder 2"/>
          <p:cNvSpPr>
            <a:spLocks noGrp="1"/>
          </p:cNvSpPr>
          <p:nvPr>
            <p:ph idx="1"/>
          </p:nvPr>
        </p:nvSpPr>
        <p:spPr>
          <a:xfrm>
            <a:off x="812799" y="1743456"/>
            <a:ext cx="8463619" cy="4297907"/>
          </a:xfrm>
        </p:spPr>
        <p:txBody>
          <a:bodyPr>
            <a:normAutofit/>
          </a:bodyPr>
          <a:lstStyle/>
          <a:p>
            <a:pPr>
              <a:buFont typeface="+mj-lt"/>
              <a:buAutoNum type="arabicPeriod" startAt="4"/>
            </a:pPr>
            <a:r>
              <a:rPr lang="en-US" sz="2400" dirty="0"/>
              <a:t>To ensure that personalities and personal relationships do not interfere with the organization’s performance, employees must relate both to other employees and clients in an impersonal and formal manner.</a:t>
            </a:r>
          </a:p>
          <a:p>
            <a:pPr>
              <a:buFont typeface="+mj-lt"/>
              <a:buAutoNum type="arabicPeriod" startAt="4"/>
            </a:pPr>
            <a:r>
              <a:rPr lang="en-US" sz="2400" u="sng" dirty="0"/>
              <a:t>Recruitment is based on qualifications and employees are protected against arbitrary dismissal</a:t>
            </a:r>
            <a:r>
              <a:rPr lang="en-US" sz="2400" dirty="0"/>
              <a:t>. Promotion is based on seniority and achievement. Lifetime employment is envisaged.</a:t>
            </a:r>
          </a:p>
        </p:txBody>
      </p:sp>
    </p:spTree>
    <p:extLst>
      <p:ext uri="{BB962C8B-B14F-4D97-AF65-F5344CB8AC3E}">
        <p14:creationId xmlns:p14="http://schemas.microsoft.com/office/powerpoint/2010/main" val="1360152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1274" y="1075753"/>
            <a:ext cx="6852832" cy="4348654"/>
          </a:xfrm>
          <a:prstGeom prst="rect">
            <a:avLst/>
          </a:prstGeom>
        </p:spPr>
      </p:pic>
    </p:spTree>
    <p:extLst>
      <p:ext uri="{BB962C8B-B14F-4D97-AF65-F5344CB8AC3E}">
        <p14:creationId xmlns:p14="http://schemas.microsoft.com/office/powerpoint/2010/main" val="2610750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53440"/>
          </a:xfrm>
        </p:spPr>
        <p:txBody>
          <a:bodyPr/>
          <a:lstStyle/>
          <a:p>
            <a:r>
              <a:rPr lang="en-US" b="1" dirty="0"/>
              <a:t>The organic model</a:t>
            </a:r>
            <a:endParaRPr lang="en-US" dirty="0"/>
          </a:p>
        </p:txBody>
      </p:sp>
      <p:sp>
        <p:nvSpPr>
          <p:cNvPr id="3" name="Content Placeholder 2"/>
          <p:cNvSpPr>
            <a:spLocks noGrp="1"/>
          </p:cNvSpPr>
          <p:nvPr>
            <p:ph idx="1"/>
          </p:nvPr>
        </p:nvSpPr>
        <p:spPr>
          <a:xfrm>
            <a:off x="812799" y="1463040"/>
            <a:ext cx="8463619" cy="4389121"/>
          </a:xfrm>
        </p:spPr>
        <p:txBody>
          <a:bodyPr/>
          <a:lstStyle/>
          <a:p>
            <a:pPr marL="0" indent="0">
              <a:buNone/>
            </a:pPr>
            <a:r>
              <a:rPr lang="en-US" dirty="0"/>
              <a:t>The best-known alternative model is the </a:t>
            </a:r>
            <a:r>
              <a:rPr lang="en-US" i="1" dirty="0"/>
              <a:t>organic </a:t>
            </a:r>
            <a:r>
              <a:rPr lang="en-US" dirty="0"/>
              <a:t>model</a:t>
            </a:r>
          </a:p>
          <a:p>
            <a:pPr marL="0" indent="0">
              <a:buNone/>
            </a:pPr>
            <a:r>
              <a:rPr lang="en-US" dirty="0" err="1"/>
              <a:t>Rensis</a:t>
            </a:r>
            <a:r>
              <a:rPr lang="en-US" dirty="0"/>
              <a:t> </a:t>
            </a:r>
            <a:r>
              <a:rPr lang="en-US" dirty="0" err="1"/>
              <a:t>Lickert</a:t>
            </a:r>
            <a:r>
              <a:rPr lang="en-US" dirty="0"/>
              <a:t> expresses the basic assumption of the model in the following (rather verbose) terms:</a:t>
            </a:r>
          </a:p>
          <a:p>
            <a:pPr marL="0" indent="0">
              <a:buNone/>
            </a:pPr>
            <a:r>
              <a:rPr lang="en-US" sz="1600" dirty="0"/>
              <a:t>	</a:t>
            </a:r>
            <a:r>
              <a:rPr lang="en-US" sz="1600" b="1" dirty="0"/>
              <a:t> </a:t>
            </a:r>
            <a:r>
              <a:rPr lang="en-US" b="1" dirty="0"/>
              <a:t>“An organization will be effective to the extent that its structure is such as to ensure a maximum probability that in all interactions and in relationships within the organization, each member, in the light of his background, values, desires, and expectations, will view the experience as supportive and one which builds a sense of personal worth and importance.”</a:t>
            </a:r>
          </a:p>
          <a:p>
            <a:pPr>
              <a:buFont typeface="Arial" panose="020B0604020202020204" pitchFamily="34" charset="0"/>
              <a:buChar char="•"/>
            </a:pPr>
            <a:endParaRPr lang="en-US" dirty="0"/>
          </a:p>
          <a:p>
            <a:pPr marL="0" indent="0">
              <a:buNone/>
            </a:pPr>
            <a:endParaRPr lang="en-US" dirty="0"/>
          </a:p>
        </p:txBody>
      </p:sp>
    </p:spTree>
    <p:extLst>
      <p:ext uri="{BB962C8B-B14F-4D97-AF65-F5344CB8AC3E}">
        <p14:creationId xmlns:p14="http://schemas.microsoft.com/office/powerpoint/2010/main" val="3506757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707136"/>
          </a:xfrm>
        </p:spPr>
        <p:txBody>
          <a:bodyPr/>
          <a:lstStyle/>
          <a:p>
            <a:r>
              <a:rPr lang="en-US" dirty="0"/>
              <a:t>Key features of organic model</a:t>
            </a:r>
          </a:p>
        </p:txBody>
      </p:sp>
      <p:sp>
        <p:nvSpPr>
          <p:cNvPr id="3" name="Content Placeholder 2"/>
          <p:cNvSpPr>
            <a:spLocks noGrp="1"/>
          </p:cNvSpPr>
          <p:nvPr>
            <p:ph idx="1"/>
          </p:nvPr>
        </p:nvSpPr>
        <p:spPr>
          <a:xfrm>
            <a:off x="812798" y="1855790"/>
            <a:ext cx="8463619" cy="3880773"/>
          </a:xfrm>
        </p:spPr>
        <p:txBody>
          <a:bodyPr>
            <a:normAutofit/>
          </a:bodyPr>
          <a:lstStyle/>
          <a:p>
            <a:r>
              <a:rPr lang="en-US" dirty="0"/>
              <a:t>This view underlies the organizational structure of most small professional companies – </a:t>
            </a:r>
            <a:r>
              <a:rPr lang="en-US" u="sng" dirty="0"/>
              <a:t>software houses, advertising agencies, and even solicitors’ and GPs’ practices</a:t>
            </a:r>
          </a:p>
          <a:p>
            <a:r>
              <a:rPr lang="en-US" dirty="0"/>
              <a:t>it is also common in </a:t>
            </a:r>
            <a:r>
              <a:rPr lang="en-US" u="sng" dirty="0"/>
              <a:t>academic institutions, both schools and universities</a:t>
            </a:r>
            <a:r>
              <a:rPr lang="en-US" dirty="0"/>
              <a:t>. The view is not necessarily consciously articulated – nor is this view and the adoption of the structures it suggests sufficient to achieve effectiveness!</a:t>
            </a:r>
          </a:p>
          <a:p>
            <a:r>
              <a:rPr lang="en-US" dirty="0"/>
              <a:t>Proponents of the bureaucratic model claim that it is universally applicable.</a:t>
            </a:r>
          </a:p>
          <a:p>
            <a:r>
              <a:rPr lang="en-US" dirty="0"/>
              <a:t>Proponents of the organic model make similar claims.</a:t>
            </a:r>
          </a:p>
          <a:p>
            <a:r>
              <a:rPr lang="en-US" dirty="0"/>
              <a:t>Common sense is that those who believe each has its appropriate place should be of the contingency school of organizational design.</a:t>
            </a:r>
          </a:p>
        </p:txBody>
      </p:sp>
    </p:spTree>
    <p:extLst>
      <p:ext uri="{BB962C8B-B14F-4D97-AF65-F5344CB8AC3E}">
        <p14:creationId xmlns:p14="http://schemas.microsoft.com/office/powerpoint/2010/main" val="923131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Matrix management</a:t>
            </a:r>
            <a:endParaRPr lang="en-US" dirty="0"/>
          </a:p>
        </p:txBody>
      </p:sp>
      <p:sp>
        <p:nvSpPr>
          <p:cNvPr id="3" name="Content Placeholder 2"/>
          <p:cNvSpPr>
            <a:spLocks noGrp="1"/>
          </p:cNvSpPr>
          <p:nvPr>
            <p:ph idx="1"/>
          </p:nvPr>
        </p:nvSpPr>
        <p:spPr>
          <a:xfrm>
            <a:off x="812799" y="1560576"/>
            <a:ext cx="8463619" cy="4480787"/>
          </a:xfrm>
        </p:spPr>
        <p:txBody>
          <a:bodyPr>
            <a:normAutofit/>
          </a:bodyPr>
          <a:lstStyle/>
          <a:p>
            <a:r>
              <a:rPr lang="en-US" dirty="0"/>
              <a:t>In a bureaucratic model every individual and every unit in the organization is responsible to only one manager. This is not realistic in the context of project-based, high-technology companies. </a:t>
            </a:r>
          </a:p>
          <a:p>
            <a:r>
              <a:rPr lang="en-US" dirty="0"/>
              <a:t>MM believes that individuals may be responsible to more than one manager and requires rules that will enable possible conflicts to be resolved.</a:t>
            </a:r>
          </a:p>
          <a:p>
            <a:r>
              <a:rPr lang="en-US" dirty="0"/>
              <a:t>For instance, a specialist in high-speed communications working for a systems integrator may well find themselves working on two or three projects simultaneously, as well as having a more general responsibility for maintaining the company’s expertise in the area. </a:t>
            </a:r>
          </a:p>
          <a:p>
            <a:pPr marL="0" indent="0">
              <a:buNone/>
            </a:pPr>
            <a:r>
              <a:rPr lang="en-US" dirty="0"/>
              <a:t>In the past 30 years or so the idea of matrix management has become fashionable as a way of addressing such situations. However, The results are not encouraging.</a:t>
            </a:r>
          </a:p>
        </p:txBody>
      </p:sp>
    </p:spTree>
    <p:extLst>
      <p:ext uri="{BB962C8B-B14F-4D97-AF65-F5344CB8AC3E}">
        <p14:creationId xmlns:p14="http://schemas.microsoft.com/office/powerpoint/2010/main" val="2464559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584200"/>
            <a:ext cx="8463617" cy="952500"/>
          </a:xfrm>
        </p:spPr>
        <p:txBody>
          <a:bodyPr/>
          <a:lstStyle/>
          <a:p>
            <a:r>
              <a:rPr lang="en-US" b="1" dirty="0"/>
              <a:t>STRUCTURING PRINCIPLES</a:t>
            </a:r>
            <a:endParaRPr lang="en-US" dirty="0"/>
          </a:p>
        </p:txBody>
      </p:sp>
      <p:sp>
        <p:nvSpPr>
          <p:cNvPr id="3" name="Content Placeholder 2"/>
          <p:cNvSpPr>
            <a:spLocks noGrp="1"/>
          </p:cNvSpPr>
          <p:nvPr>
            <p:ph idx="1"/>
          </p:nvPr>
        </p:nvSpPr>
        <p:spPr/>
        <p:txBody>
          <a:bodyPr/>
          <a:lstStyle/>
          <a:p>
            <a:r>
              <a:rPr lang="en-US" b="1" dirty="0"/>
              <a:t>Structure by function</a:t>
            </a:r>
          </a:p>
          <a:p>
            <a:r>
              <a:rPr lang="en-US" b="1" dirty="0"/>
              <a:t>Structure by geography</a:t>
            </a:r>
          </a:p>
          <a:p>
            <a:r>
              <a:rPr lang="en-US" b="1" dirty="0"/>
              <a:t>Product line structure</a:t>
            </a:r>
          </a:p>
          <a:p>
            <a:r>
              <a:rPr lang="en-US" b="1" dirty="0"/>
              <a:t>Structure by market sector</a:t>
            </a:r>
          </a:p>
          <a:p>
            <a:r>
              <a:rPr lang="en-US" b="1" dirty="0"/>
              <a:t>Structure by technology</a:t>
            </a:r>
          </a:p>
          <a:p>
            <a:r>
              <a:rPr lang="en-US" b="1" dirty="0"/>
              <a:t>Operational structure</a:t>
            </a:r>
            <a:endParaRPr lang="en-US" dirty="0"/>
          </a:p>
        </p:txBody>
      </p:sp>
    </p:spTree>
    <p:extLst>
      <p:ext uri="{BB962C8B-B14F-4D97-AF65-F5344CB8AC3E}">
        <p14:creationId xmlns:p14="http://schemas.microsoft.com/office/powerpoint/2010/main" val="3713835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by function</a:t>
            </a:r>
            <a:br>
              <a:rPr lang="en-US" b="1" dirty="0"/>
            </a:b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There are the activities that are the primary purpose of the organization. These activities are known as </a:t>
            </a:r>
            <a:r>
              <a:rPr lang="en-US" i="1" u="sng" dirty="0"/>
              <a:t>operations</a:t>
            </a:r>
            <a:r>
              <a:rPr lang="en-US" dirty="0"/>
              <a:t>.</a:t>
            </a:r>
          </a:p>
          <a:p>
            <a:pPr marL="0" indent="0">
              <a:buNone/>
            </a:pPr>
            <a:r>
              <a:rPr lang="en-US" dirty="0"/>
              <a:t>All organizations services or pay their bills and pay their employees. They need to ensure that the buildings they use are cleaned regularly. If they charge for their services, they may need to send out bills and ensure that these are paid. They will probably need to hire new employees from time to time. These activities are generally known as </a:t>
            </a:r>
            <a:r>
              <a:rPr lang="en-US" i="1" u="sng" dirty="0"/>
              <a:t>administration</a:t>
            </a:r>
            <a:r>
              <a:rPr lang="en-US" u="sng" dirty="0"/>
              <a:t>.</a:t>
            </a:r>
          </a:p>
          <a:p>
            <a:pPr marL="0" indent="0">
              <a:buNone/>
            </a:pPr>
            <a:r>
              <a:rPr lang="en-US" dirty="0"/>
              <a:t>Many organizations will need to publicize their services or products and try to persuade people to use or buy them. In the business world, these activities are usually known as </a:t>
            </a:r>
            <a:r>
              <a:rPr lang="en-US" i="1" u="sng" dirty="0"/>
              <a:t>sales and marketing</a:t>
            </a:r>
            <a:r>
              <a:rPr lang="en-US" dirty="0"/>
              <a:t>.</a:t>
            </a:r>
          </a:p>
          <a:p>
            <a:pPr marL="0" indent="0">
              <a:buNone/>
            </a:pPr>
            <a:r>
              <a:rPr lang="en-US" dirty="0"/>
              <a:t>Finally, many organizations need to be continually developing new products or services or developing new ways to deliver them. These activities are known as research and development.</a:t>
            </a:r>
          </a:p>
        </p:txBody>
      </p:sp>
    </p:spTree>
    <p:extLst>
      <p:ext uri="{BB962C8B-B14F-4D97-AF65-F5344CB8AC3E}">
        <p14:creationId xmlns:p14="http://schemas.microsoft.com/office/powerpoint/2010/main" val="1650176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04717" y="1588820"/>
            <a:ext cx="9051301" cy="3997351"/>
          </a:xfrm>
          <a:prstGeom prst="rect">
            <a:avLst/>
          </a:prstGeom>
        </p:spPr>
      </p:pic>
      <p:sp>
        <p:nvSpPr>
          <p:cNvPr id="3" name="Title 1"/>
          <p:cNvSpPr txBox="1">
            <a:spLocks/>
          </p:cNvSpPr>
          <p:nvPr/>
        </p:nvSpPr>
        <p:spPr>
          <a:xfrm>
            <a:off x="812800" y="609600"/>
            <a:ext cx="8463617" cy="132080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solidFill>
                  <a:srgbClr val="90C226"/>
                </a:solidFill>
              </a:rPr>
              <a:t>Structure by function</a:t>
            </a:r>
            <a:br>
              <a:rPr lang="en-US" b="1">
                <a:solidFill>
                  <a:srgbClr val="90C226"/>
                </a:solidFill>
              </a:rPr>
            </a:br>
            <a:endParaRPr lang="en-US" dirty="0">
              <a:solidFill>
                <a:srgbClr val="90C226"/>
              </a:solidFill>
            </a:endParaRPr>
          </a:p>
        </p:txBody>
      </p:sp>
    </p:spTree>
    <p:extLst>
      <p:ext uri="{BB962C8B-B14F-4D97-AF65-F5344CB8AC3E}">
        <p14:creationId xmlns:p14="http://schemas.microsoft.com/office/powerpoint/2010/main" val="336755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2" name="Rectangle 4"/>
          <p:cNvSpPr>
            <a:spLocks noGrp="1" noChangeArrowheads="1"/>
          </p:cNvSpPr>
          <p:nvPr>
            <p:ph type="title"/>
          </p:nvPr>
        </p:nvSpPr>
        <p:spPr/>
        <p:txBody>
          <a:bodyPr/>
          <a:lstStyle/>
          <a:p>
            <a:pPr eaLnBrk="1" hangingPunct="1">
              <a:defRPr/>
            </a:pPr>
            <a:r>
              <a:rPr lang="en-US"/>
              <a:t>Functional Organizational Structures:</a:t>
            </a:r>
            <a:r>
              <a:rPr lang="en-US" sz="4000"/>
              <a:t> </a:t>
            </a:r>
            <a:r>
              <a:rPr lang="en-US" sz="2800"/>
              <a:t>“Typical” Functional Organizational Structure</a:t>
            </a:r>
          </a:p>
        </p:txBody>
      </p:sp>
      <p:grpSp>
        <p:nvGrpSpPr>
          <p:cNvPr id="2" name="Organization Chart 7"/>
          <p:cNvGrpSpPr>
            <a:grpSpLocks/>
          </p:cNvGrpSpPr>
          <p:nvPr/>
        </p:nvGrpSpPr>
        <p:grpSpPr bwMode="auto">
          <a:xfrm>
            <a:off x="920496" y="1981200"/>
            <a:ext cx="7772400" cy="1981200"/>
            <a:chOff x="3031" y="359"/>
            <a:chExt cx="10989" cy="1434"/>
          </a:xfrm>
        </p:grpSpPr>
        <p:cxnSp>
          <p:nvCxnSpPr>
            <p:cNvPr id="1028" name="_s1028"/>
            <p:cNvCxnSpPr>
              <a:cxnSpLocks noChangeShapeType="1"/>
              <a:stCxn id="9" idx="0"/>
              <a:endCxn id="3" idx="2"/>
            </p:cNvCxnSpPr>
            <p:nvPr/>
          </p:nvCxnSpPr>
          <p:spPr bwMode="auto">
            <a:xfrm rot="5400000" flipH="1">
              <a:off x="10767" y="-1357"/>
              <a:ext cx="166" cy="4648"/>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cxnSp>
          <p:nvCxnSpPr>
            <p:cNvPr id="1029" name="_s1029"/>
            <p:cNvCxnSpPr>
              <a:cxnSpLocks noChangeShapeType="1"/>
              <a:stCxn id="8" idx="0"/>
              <a:endCxn id="3" idx="2"/>
            </p:cNvCxnSpPr>
            <p:nvPr/>
          </p:nvCxnSpPr>
          <p:spPr bwMode="auto">
            <a:xfrm rot="5400000" flipH="1">
              <a:off x="9838" y="-428"/>
              <a:ext cx="166" cy="2789"/>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cxnSp>
          <p:nvCxnSpPr>
            <p:cNvPr id="1030" name="_s1030"/>
            <p:cNvCxnSpPr>
              <a:cxnSpLocks noChangeShapeType="1"/>
              <a:stCxn id="7" idx="0"/>
              <a:endCxn id="3" idx="2"/>
            </p:cNvCxnSpPr>
            <p:nvPr/>
          </p:nvCxnSpPr>
          <p:spPr bwMode="auto">
            <a:xfrm rot="5400000" flipH="1">
              <a:off x="8908" y="502"/>
              <a:ext cx="166" cy="929"/>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cxnSp>
          <p:nvCxnSpPr>
            <p:cNvPr id="1031" name="_s1031"/>
            <p:cNvCxnSpPr>
              <a:cxnSpLocks noChangeShapeType="1"/>
              <a:stCxn id="6" idx="0"/>
              <a:endCxn id="3" idx="2"/>
            </p:cNvCxnSpPr>
            <p:nvPr/>
          </p:nvCxnSpPr>
          <p:spPr bwMode="auto">
            <a:xfrm rot="16200000">
              <a:off x="7978" y="502"/>
              <a:ext cx="166" cy="930"/>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cxnSp>
          <p:nvCxnSpPr>
            <p:cNvPr id="1032" name="_s1032"/>
            <p:cNvCxnSpPr>
              <a:cxnSpLocks noChangeShapeType="1"/>
              <a:stCxn id="5" idx="0"/>
              <a:endCxn id="3" idx="2"/>
            </p:cNvCxnSpPr>
            <p:nvPr/>
          </p:nvCxnSpPr>
          <p:spPr bwMode="auto">
            <a:xfrm rot="16200000">
              <a:off x="7049" y="-427"/>
              <a:ext cx="166" cy="2788"/>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cxnSp>
          <p:nvCxnSpPr>
            <p:cNvPr id="1033" name="_s1033"/>
            <p:cNvCxnSpPr>
              <a:cxnSpLocks noChangeShapeType="1"/>
              <a:stCxn id="4" idx="0"/>
              <a:endCxn id="3" idx="2"/>
            </p:cNvCxnSpPr>
            <p:nvPr/>
          </p:nvCxnSpPr>
          <p:spPr bwMode="auto">
            <a:xfrm rot="16200000">
              <a:off x="6120" y="-1357"/>
              <a:ext cx="166" cy="4647"/>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sp>
          <p:nvSpPr>
            <p:cNvPr id="3" name="_s1034"/>
            <p:cNvSpPr>
              <a:spLocks noChangeArrowheads="1"/>
            </p:cNvSpPr>
            <p:nvPr/>
          </p:nvSpPr>
          <p:spPr bwMode="auto">
            <a:xfrm>
              <a:off x="7638" y="598"/>
              <a:ext cx="1774" cy="286"/>
            </a:xfrm>
            <a:prstGeom prst="roundRect">
              <a:avLst>
                <a:gd name="adj" fmla="val 16667"/>
              </a:avLst>
            </a:prstGeom>
            <a:gradFill rotWithShape="1">
              <a:gsLst>
                <a:gs pos="0">
                  <a:srgbClr val="F9F67F"/>
                </a:gs>
                <a:gs pos="100000">
                  <a:srgbClr val="FFCC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outerShdw blurRad="38100" dist="38100" dir="2700000" algn="tl">
                      <a:srgbClr val="FFFFFF"/>
                    </a:outerShdw>
                  </a:effectLst>
                  <a:latin typeface="Tahoma" panose="020B0604030504040204" pitchFamily="34" charset="0"/>
                </a:rPr>
                <a:t>General Manager</a:t>
              </a:r>
            </a:p>
          </p:txBody>
        </p:sp>
        <p:sp>
          <p:nvSpPr>
            <p:cNvPr id="4" name="_s1035"/>
            <p:cNvSpPr>
              <a:spLocks noChangeArrowheads="1"/>
            </p:cNvSpPr>
            <p:nvPr/>
          </p:nvSpPr>
          <p:spPr bwMode="auto">
            <a:xfrm>
              <a:off x="3031"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Engineering</a:t>
              </a:r>
            </a:p>
          </p:txBody>
        </p:sp>
        <p:sp>
          <p:nvSpPr>
            <p:cNvPr id="5" name="_s1036"/>
            <p:cNvSpPr>
              <a:spLocks noChangeArrowheads="1"/>
            </p:cNvSpPr>
            <p:nvPr/>
          </p:nvSpPr>
          <p:spPr bwMode="auto">
            <a:xfrm>
              <a:off x="4890"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Manufacturing</a:t>
              </a:r>
            </a:p>
          </p:txBody>
        </p:sp>
        <p:sp>
          <p:nvSpPr>
            <p:cNvPr id="6" name="_s1037"/>
            <p:cNvSpPr>
              <a:spLocks noChangeArrowheads="1"/>
            </p:cNvSpPr>
            <p:nvPr/>
          </p:nvSpPr>
          <p:spPr bwMode="auto">
            <a:xfrm>
              <a:off x="6749"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Marketing</a:t>
              </a:r>
            </a:p>
          </p:txBody>
        </p:sp>
        <p:sp>
          <p:nvSpPr>
            <p:cNvPr id="7" name="_s1038"/>
            <p:cNvSpPr>
              <a:spLocks noChangeArrowheads="1"/>
            </p:cNvSpPr>
            <p:nvPr/>
          </p:nvSpPr>
          <p:spPr bwMode="auto">
            <a:xfrm>
              <a:off x="8608"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outerShdw blurRad="38100" dist="38100" dir="2700000" algn="tl">
                      <a:srgbClr val="FFFFFF"/>
                    </a:outerShdw>
                  </a:effectLst>
                  <a:latin typeface="Tahoma" panose="020B0604030504040204" pitchFamily="34" charset="0"/>
                </a:rPr>
                <a:t>Finance and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outerShdw blurRad="38100" dist="38100" dir="2700000" algn="tl">
                      <a:srgbClr val="FFFFFF"/>
                    </a:outerShdw>
                  </a:effectLst>
                  <a:latin typeface="Tahoma" panose="020B0604030504040204" pitchFamily="34" charset="0"/>
                </a:rPr>
                <a:t>Accounting</a:t>
              </a:r>
            </a:p>
          </p:txBody>
        </p:sp>
        <p:sp>
          <p:nvSpPr>
            <p:cNvPr id="8" name="_s1039"/>
            <p:cNvSpPr>
              <a:spLocks noChangeArrowheads="1"/>
            </p:cNvSpPr>
            <p:nvPr/>
          </p:nvSpPr>
          <p:spPr bwMode="auto">
            <a:xfrm>
              <a:off x="10467"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Personnel</a:t>
              </a:r>
            </a:p>
          </p:txBody>
        </p:sp>
        <p:sp>
          <p:nvSpPr>
            <p:cNvPr id="9" name="_s1040"/>
            <p:cNvSpPr>
              <a:spLocks noChangeArrowheads="1"/>
            </p:cNvSpPr>
            <p:nvPr/>
          </p:nvSpPr>
          <p:spPr bwMode="auto">
            <a:xfrm>
              <a:off x="12326"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9256" tIns="14628" rIns="29256" bIns="14628"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Research and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Development</a:t>
              </a:r>
            </a:p>
          </p:txBody>
        </p:sp>
      </p:grpSp>
      <p:sp>
        <p:nvSpPr>
          <p:cNvPr id="539669" name="Text Box 21"/>
          <p:cNvSpPr txBox="1">
            <a:spLocks noChangeArrowheads="1"/>
          </p:cNvSpPr>
          <p:nvPr/>
        </p:nvSpPr>
        <p:spPr bwMode="auto">
          <a:xfrm>
            <a:off x="1792224" y="3900488"/>
            <a:ext cx="60642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2800" b="1" dirty="0">
                <a:solidFill>
                  <a:schemeClr val="tx2"/>
                </a:solidFill>
                <a:effectLst>
                  <a:outerShdw blurRad="38100" dist="38100" dir="2700000" algn="tl">
                    <a:srgbClr val="000000"/>
                  </a:outerShdw>
                </a:effectLst>
                <a:latin typeface="Garamond" pitchFamily="18" charset="0"/>
              </a:rPr>
              <a:t>Process-Oriented Functional Structure</a:t>
            </a:r>
          </a:p>
        </p:txBody>
      </p:sp>
      <p:grpSp>
        <p:nvGrpSpPr>
          <p:cNvPr id="10" name="Organization Chart 22"/>
          <p:cNvGrpSpPr>
            <a:grpSpLocks/>
          </p:cNvGrpSpPr>
          <p:nvPr/>
        </p:nvGrpSpPr>
        <p:grpSpPr bwMode="auto">
          <a:xfrm>
            <a:off x="874776" y="4495800"/>
            <a:ext cx="8629650" cy="2362200"/>
            <a:chOff x="-4936" y="1952"/>
            <a:chExt cx="11197" cy="1599"/>
          </a:xfrm>
        </p:grpSpPr>
        <p:cxnSp>
          <p:nvCxnSpPr>
            <p:cNvPr id="1043" name="_s1043"/>
            <p:cNvCxnSpPr>
              <a:cxnSpLocks noChangeShapeType="1"/>
              <a:stCxn id="19" idx="0"/>
              <a:endCxn id="11" idx="2"/>
            </p:cNvCxnSpPr>
            <p:nvPr/>
          </p:nvCxnSpPr>
          <p:spPr bwMode="auto">
            <a:xfrm rot="5400000" flipH="1">
              <a:off x="3078" y="98"/>
              <a:ext cx="135" cy="4966"/>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4" name="_s1044"/>
            <p:cNvCxnSpPr>
              <a:cxnSpLocks noChangeShapeType="1"/>
              <a:stCxn id="18" idx="0"/>
              <a:endCxn id="11" idx="2"/>
            </p:cNvCxnSpPr>
            <p:nvPr/>
          </p:nvCxnSpPr>
          <p:spPr bwMode="auto">
            <a:xfrm rot="5400000" flipH="1">
              <a:off x="2368" y="808"/>
              <a:ext cx="135" cy="3546"/>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5" name="_s1045"/>
            <p:cNvCxnSpPr>
              <a:cxnSpLocks noChangeShapeType="1"/>
              <a:stCxn id="17" idx="0"/>
              <a:endCxn id="11" idx="2"/>
            </p:cNvCxnSpPr>
            <p:nvPr/>
          </p:nvCxnSpPr>
          <p:spPr bwMode="auto">
            <a:xfrm rot="5400000" flipH="1">
              <a:off x="1660" y="1516"/>
              <a:ext cx="135" cy="2129"/>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6" name="_s1046"/>
            <p:cNvCxnSpPr>
              <a:cxnSpLocks noChangeShapeType="1"/>
              <a:stCxn id="16" idx="0"/>
              <a:endCxn id="11" idx="2"/>
            </p:cNvCxnSpPr>
            <p:nvPr/>
          </p:nvCxnSpPr>
          <p:spPr bwMode="auto">
            <a:xfrm rot="5400000" flipH="1">
              <a:off x="950" y="2226"/>
              <a:ext cx="135" cy="710"/>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7" name="_s1047"/>
            <p:cNvCxnSpPr>
              <a:cxnSpLocks noChangeShapeType="1"/>
              <a:stCxn id="15" idx="0"/>
              <a:endCxn id="11" idx="2"/>
            </p:cNvCxnSpPr>
            <p:nvPr/>
          </p:nvCxnSpPr>
          <p:spPr bwMode="auto">
            <a:xfrm rot="16200000">
              <a:off x="241" y="2226"/>
              <a:ext cx="135" cy="709"/>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8" name="_s1048"/>
            <p:cNvCxnSpPr>
              <a:cxnSpLocks noChangeShapeType="1"/>
              <a:stCxn id="14" idx="0"/>
              <a:endCxn id="11" idx="2"/>
            </p:cNvCxnSpPr>
            <p:nvPr/>
          </p:nvCxnSpPr>
          <p:spPr bwMode="auto">
            <a:xfrm rot="16200000">
              <a:off x="-469" y="1517"/>
              <a:ext cx="135" cy="2128"/>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9" name="_s1049"/>
            <p:cNvCxnSpPr>
              <a:cxnSpLocks noChangeShapeType="1"/>
              <a:stCxn id="13" idx="0"/>
              <a:endCxn id="11" idx="2"/>
            </p:cNvCxnSpPr>
            <p:nvPr/>
          </p:nvCxnSpPr>
          <p:spPr bwMode="auto">
            <a:xfrm rot="16200000">
              <a:off x="-1178" y="807"/>
              <a:ext cx="135" cy="3547"/>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50" name="_s1050"/>
            <p:cNvCxnSpPr>
              <a:cxnSpLocks noChangeShapeType="1"/>
              <a:stCxn id="12" idx="0"/>
              <a:endCxn id="11" idx="2"/>
            </p:cNvCxnSpPr>
            <p:nvPr/>
          </p:nvCxnSpPr>
          <p:spPr bwMode="auto">
            <a:xfrm rot="16200000">
              <a:off x="-1888" y="97"/>
              <a:ext cx="135" cy="4967"/>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sp>
          <p:nvSpPr>
            <p:cNvPr id="11" name="_s1051"/>
            <p:cNvSpPr>
              <a:spLocks noChangeArrowheads="1"/>
            </p:cNvSpPr>
            <p:nvPr/>
          </p:nvSpPr>
          <p:spPr bwMode="auto">
            <a:xfrm>
              <a:off x="-455" y="2218"/>
              <a:ext cx="2235" cy="285"/>
            </a:xfrm>
            <a:prstGeom prst="roundRect">
              <a:avLst>
                <a:gd name="adj" fmla="val 16667"/>
              </a:avLst>
            </a:prstGeom>
            <a:solidFill>
              <a:srgbClr val="FF0000">
                <a:alpha val="50000"/>
              </a:srgbClr>
            </a:solidFill>
            <a:ln w="28575">
              <a:solidFill>
                <a:srgbClr val="FF0000"/>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General Manager</a:t>
              </a:r>
            </a:p>
          </p:txBody>
        </p:sp>
        <p:sp>
          <p:nvSpPr>
            <p:cNvPr id="12" name="_s1052"/>
            <p:cNvSpPr>
              <a:spLocks noChangeArrowheads="1"/>
            </p:cNvSpPr>
            <p:nvPr/>
          </p:nvSpPr>
          <p:spPr bwMode="auto">
            <a:xfrm>
              <a:off x="-4936"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Foundry</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Castings</a:t>
              </a:r>
            </a:p>
          </p:txBody>
        </p:sp>
        <p:sp>
          <p:nvSpPr>
            <p:cNvPr id="13" name="_s1053"/>
            <p:cNvSpPr>
              <a:spLocks noChangeArrowheads="1"/>
            </p:cNvSpPr>
            <p:nvPr/>
          </p:nvSpPr>
          <p:spPr bwMode="auto">
            <a:xfrm>
              <a:off x="-3517"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Milling</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Grinding</a:t>
              </a:r>
            </a:p>
          </p:txBody>
        </p:sp>
        <p:sp>
          <p:nvSpPr>
            <p:cNvPr id="14" name="_s1054"/>
            <p:cNvSpPr>
              <a:spLocks noChangeArrowheads="1"/>
            </p:cNvSpPr>
            <p:nvPr/>
          </p:nvSpPr>
          <p:spPr bwMode="auto">
            <a:xfrm>
              <a:off x="-2098"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Screw</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Machining</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endParaRPr>
            </a:p>
          </p:txBody>
        </p:sp>
        <p:sp>
          <p:nvSpPr>
            <p:cNvPr id="15" name="_s1055"/>
            <p:cNvSpPr>
              <a:spLocks noChangeArrowheads="1"/>
            </p:cNvSpPr>
            <p:nvPr/>
          </p:nvSpPr>
          <p:spPr bwMode="auto">
            <a:xfrm>
              <a:off x="-679"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Finishing</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And Heat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Treating</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endParaRPr>
            </a:p>
          </p:txBody>
        </p:sp>
        <p:sp>
          <p:nvSpPr>
            <p:cNvPr id="16" name="_s1056"/>
            <p:cNvSpPr>
              <a:spLocks noChangeArrowheads="1"/>
            </p:cNvSpPr>
            <p:nvPr/>
          </p:nvSpPr>
          <p:spPr bwMode="auto">
            <a:xfrm>
              <a:off x="740"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Inspection</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endParaRPr>
            </a:p>
          </p:txBody>
        </p:sp>
        <p:sp>
          <p:nvSpPr>
            <p:cNvPr id="17" name="_s1057"/>
            <p:cNvSpPr>
              <a:spLocks noChangeArrowheads="1"/>
            </p:cNvSpPr>
            <p:nvPr/>
          </p:nvSpPr>
          <p:spPr bwMode="auto">
            <a:xfrm>
              <a:off x="2159"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913" tIns="5956" rIns="11913" bIns="595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Loading</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Shipping</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endParaRPr>
            </a:p>
          </p:txBody>
        </p:sp>
        <p:sp>
          <p:nvSpPr>
            <p:cNvPr id="18" name="_s1058"/>
            <p:cNvSpPr>
              <a:spLocks noChangeArrowheads="1"/>
            </p:cNvSpPr>
            <p:nvPr/>
          </p:nvSpPr>
          <p:spPr bwMode="auto">
            <a:xfrm>
              <a:off x="3578"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37231" tIns="18616" rIns="37231" bIns="1861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Customer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Service</a:t>
              </a:r>
            </a:p>
          </p:txBody>
        </p:sp>
        <p:sp>
          <p:nvSpPr>
            <p:cNvPr id="19" name="_s1059"/>
            <p:cNvSpPr>
              <a:spLocks noChangeArrowheads="1"/>
            </p:cNvSpPr>
            <p:nvPr/>
          </p:nvSpPr>
          <p:spPr bwMode="auto">
            <a:xfrm>
              <a:off x="4997"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37231" tIns="18616" rIns="37231" bIns="1861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Billing</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Accounting</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endParaRPr>
            </a:p>
          </p:txBody>
        </p:sp>
      </p:grpSp>
    </p:spTree>
    <p:extLst>
      <p:ext uri="{BB962C8B-B14F-4D97-AF65-F5344CB8AC3E}">
        <p14:creationId xmlns:p14="http://schemas.microsoft.com/office/powerpoint/2010/main" val="4219709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pPr eaLnBrk="1" hangingPunct="1">
              <a:defRPr/>
            </a:pPr>
            <a:r>
              <a:rPr lang="en-US"/>
              <a:t>Functional Organizational Structures: </a:t>
            </a:r>
            <a:r>
              <a:rPr lang="en-US" sz="3200"/>
              <a:t>Strategic Advantages/Disadvantages</a:t>
            </a:r>
          </a:p>
        </p:txBody>
      </p:sp>
      <p:sp>
        <p:nvSpPr>
          <p:cNvPr id="542724" name="Rectangle 4"/>
          <p:cNvSpPr>
            <a:spLocks noGrp="1" noChangeArrowheads="1"/>
          </p:cNvSpPr>
          <p:nvPr>
            <p:ph type="body" sz="half" idx="1"/>
          </p:nvPr>
        </p:nvSpPr>
        <p:spPr>
          <a:xfrm>
            <a:off x="688848" y="1981200"/>
            <a:ext cx="3907536" cy="4876800"/>
          </a:xfrm>
        </p:spPr>
        <p:txBody>
          <a:bodyPr>
            <a:normAutofit/>
          </a:bodyPr>
          <a:lstStyle/>
          <a:p>
            <a:pPr algn="ctr" eaLnBrk="1" hangingPunct="1">
              <a:lnSpc>
                <a:spcPct val="80000"/>
              </a:lnSpc>
              <a:buFont typeface="Wingdings" panose="05000000000000000000" pitchFamily="2" charset="2"/>
              <a:buNone/>
              <a:defRPr/>
            </a:pPr>
            <a:r>
              <a:rPr lang="en-US" sz="1400" i="1" dirty="0"/>
              <a:t>Strategic Advantages</a:t>
            </a:r>
          </a:p>
          <a:p>
            <a:pPr eaLnBrk="1" hangingPunct="1">
              <a:lnSpc>
                <a:spcPct val="80000"/>
              </a:lnSpc>
              <a:defRPr/>
            </a:pPr>
            <a:r>
              <a:rPr lang="en-US" sz="2400" dirty="0"/>
              <a:t>Permits centralized control of strategic results</a:t>
            </a:r>
          </a:p>
          <a:p>
            <a:pPr eaLnBrk="1" hangingPunct="1">
              <a:lnSpc>
                <a:spcPct val="80000"/>
              </a:lnSpc>
              <a:defRPr/>
            </a:pPr>
            <a:r>
              <a:rPr lang="en-US" sz="2400" dirty="0"/>
              <a:t>Promotes in-depth functional expertise</a:t>
            </a:r>
          </a:p>
          <a:p>
            <a:pPr eaLnBrk="1" hangingPunct="1">
              <a:lnSpc>
                <a:spcPct val="80000"/>
              </a:lnSpc>
              <a:defRPr/>
            </a:pPr>
            <a:r>
              <a:rPr lang="en-US" sz="2400" dirty="0"/>
              <a:t>Enhances operating efficiency where tasks are routine and repetitive</a:t>
            </a:r>
          </a:p>
        </p:txBody>
      </p:sp>
      <p:sp>
        <p:nvSpPr>
          <p:cNvPr id="542725" name="Rectangle 5"/>
          <p:cNvSpPr>
            <a:spLocks noGrp="1" noChangeArrowheads="1"/>
          </p:cNvSpPr>
          <p:nvPr>
            <p:ph type="body" sz="half" idx="2"/>
          </p:nvPr>
        </p:nvSpPr>
        <p:spPr>
          <a:xfrm>
            <a:off x="4890516" y="1981200"/>
            <a:ext cx="3695700" cy="4876800"/>
          </a:xfrm>
        </p:spPr>
        <p:txBody>
          <a:bodyPr>
            <a:normAutofit/>
          </a:bodyPr>
          <a:lstStyle/>
          <a:p>
            <a:pPr algn="ctr" eaLnBrk="1" hangingPunct="1">
              <a:lnSpc>
                <a:spcPct val="80000"/>
              </a:lnSpc>
              <a:buFont typeface="Wingdings" panose="05000000000000000000" pitchFamily="2" charset="2"/>
              <a:buNone/>
              <a:defRPr/>
            </a:pPr>
            <a:r>
              <a:rPr lang="en-US" sz="1400" i="1" dirty="0"/>
              <a:t>Strategic Disadvantages</a:t>
            </a:r>
          </a:p>
          <a:p>
            <a:pPr eaLnBrk="1" hangingPunct="1">
              <a:lnSpc>
                <a:spcPct val="80000"/>
              </a:lnSpc>
              <a:defRPr/>
            </a:pPr>
            <a:r>
              <a:rPr lang="en-US" sz="2400" dirty="0"/>
              <a:t>Poses problems of functional coordination</a:t>
            </a:r>
          </a:p>
          <a:p>
            <a:pPr eaLnBrk="1" hangingPunct="1">
              <a:lnSpc>
                <a:spcPct val="80000"/>
              </a:lnSpc>
              <a:defRPr/>
            </a:pPr>
            <a:r>
              <a:rPr lang="en-US" sz="2400" dirty="0"/>
              <a:t>Can lead to interfunctional rivalry, conflict, and empire-building</a:t>
            </a:r>
          </a:p>
          <a:p>
            <a:pPr eaLnBrk="1" hangingPunct="1">
              <a:lnSpc>
                <a:spcPct val="80000"/>
              </a:lnSpc>
              <a:defRPr/>
            </a:pPr>
            <a:r>
              <a:rPr lang="en-US" sz="2400" dirty="0"/>
              <a:t>May promote overspecialization/ narrow viewpoints</a:t>
            </a:r>
          </a:p>
        </p:txBody>
      </p:sp>
    </p:spTree>
    <p:extLst>
      <p:ext uri="{BB962C8B-B14F-4D97-AF65-F5344CB8AC3E}">
        <p14:creationId xmlns:p14="http://schemas.microsoft.com/office/powerpoint/2010/main" val="96080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by geography</a:t>
            </a:r>
            <a:endParaRPr lang="en-US" dirty="0"/>
          </a:p>
        </p:txBody>
      </p:sp>
      <p:sp>
        <p:nvSpPr>
          <p:cNvPr id="3" name="Content Placeholder 2"/>
          <p:cNvSpPr>
            <a:spLocks noGrp="1"/>
          </p:cNvSpPr>
          <p:nvPr>
            <p:ph idx="1"/>
          </p:nvPr>
        </p:nvSpPr>
        <p:spPr>
          <a:xfrm>
            <a:off x="665024" y="1363288"/>
            <a:ext cx="8395269" cy="4678076"/>
          </a:xfrm>
        </p:spPr>
        <p:txBody>
          <a:bodyPr/>
          <a:lstStyle/>
          <a:p>
            <a:r>
              <a:rPr lang="en-US" dirty="0"/>
              <a:t>In many cases it makes sense to group activities on a geographical basis. Multinational companies, that is, companies that operate in several different countries, are usually forced to have some geographical elements in their structure.</a:t>
            </a:r>
          </a:p>
          <a:p>
            <a:r>
              <a:rPr lang="en-US" dirty="0"/>
              <a:t>The subsidiaries are subject to the laws of the countries in which they are registered, in particular, the laws regarding employment, accounting, and taxation.</a:t>
            </a:r>
          </a:p>
          <a:p>
            <a:r>
              <a:rPr lang="en-US" dirty="0"/>
              <a:t>Within a single country, geographical factors have become less important as a result of the development of modern communications, and, as a result, geographical structures have been replaced by structures based on other factors.</a:t>
            </a:r>
          </a:p>
        </p:txBody>
      </p:sp>
    </p:spTree>
    <p:extLst>
      <p:ext uri="{BB962C8B-B14F-4D97-AF65-F5344CB8AC3E}">
        <p14:creationId xmlns:p14="http://schemas.microsoft.com/office/powerpoint/2010/main" val="2553311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2" name="Rectangle 4"/>
          <p:cNvSpPr>
            <a:spLocks noGrp="1" noChangeArrowheads="1"/>
          </p:cNvSpPr>
          <p:nvPr>
            <p:ph type="title"/>
          </p:nvPr>
        </p:nvSpPr>
        <p:spPr>
          <a:xfrm>
            <a:off x="1615440" y="304800"/>
            <a:ext cx="7543800" cy="990600"/>
          </a:xfrm>
        </p:spPr>
        <p:txBody>
          <a:bodyPr>
            <a:normAutofit fontScale="90000"/>
          </a:bodyPr>
          <a:lstStyle/>
          <a:p>
            <a:pPr eaLnBrk="1" hangingPunct="1">
              <a:defRPr/>
            </a:pPr>
            <a:r>
              <a:rPr lang="en-US" dirty="0"/>
              <a:t>Geographic Organizational Structure</a:t>
            </a:r>
          </a:p>
        </p:txBody>
      </p:sp>
      <p:grpSp>
        <p:nvGrpSpPr>
          <p:cNvPr id="3" name="Group 2"/>
          <p:cNvGrpSpPr/>
          <p:nvPr/>
        </p:nvGrpSpPr>
        <p:grpSpPr>
          <a:xfrm>
            <a:off x="1440564" y="1099560"/>
            <a:ext cx="6934200" cy="5527675"/>
            <a:chOff x="2819400" y="1219201"/>
            <a:chExt cx="6934200" cy="5527675"/>
          </a:xfrm>
        </p:grpSpPr>
        <p:grpSp>
          <p:nvGrpSpPr>
            <p:cNvPr id="2" name="Group 1"/>
            <p:cNvGrpSpPr/>
            <p:nvPr/>
          </p:nvGrpSpPr>
          <p:grpSpPr>
            <a:xfrm>
              <a:off x="2819400" y="1219201"/>
              <a:ext cx="6934200" cy="5527675"/>
              <a:chOff x="2819400" y="1219201"/>
              <a:chExt cx="6934200" cy="5527675"/>
            </a:xfrm>
          </p:grpSpPr>
          <p:sp>
            <p:nvSpPr>
              <p:cNvPr id="544811" name="Text Box 43"/>
              <p:cNvSpPr txBox="1">
                <a:spLocks noChangeArrowheads="1"/>
              </p:cNvSpPr>
              <p:nvPr/>
            </p:nvSpPr>
            <p:spPr bwMode="auto">
              <a:xfrm>
                <a:off x="5334001" y="1219201"/>
                <a:ext cx="1768475" cy="34607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1600" dirty="0">
                    <a:effectLst>
                      <a:outerShdw blurRad="38100" dist="38100" dir="2700000" algn="tl">
                        <a:srgbClr val="000000"/>
                      </a:outerShdw>
                    </a:effectLst>
                    <a:latin typeface="Garamond" pitchFamily="18" charset="0"/>
                  </a:rPr>
                  <a:t>Chief Executive</a:t>
                </a:r>
              </a:p>
            </p:txBody>
          </p:sp>
          <p:sp>
            <p:nvSpPr>
              <p:cNvPr id="544812" name="Text Box 44"/>
              <p:cNvSpPr txBox="1">
                <a:spLocks noChangeArrowheads="1"/>
              </p:cNvSpPr>
              <p:nvPr/>
            </p:nvSpPr>
            <p:spPr bwMode="auto">
              <a:xfrm>
                <a:off x="6477000" y="1752601"/>
                <a:ext cx="2514600" cy="162242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Corporate Staff</a:t>
                </a:r>
              </a:p>
              <a:p>
                <a:pPr>
                  <a:defRPr/>
                </a:pPr>
                <a:r>
                  <a:rPr lang="en-US" sz="1400">
                    <a:effectLst>
                      <a:outerShdw blurRad="38100" dist="38100" dir="2700000" algn="tl">
                        <a:srgbClr val="000000"/>
                      </a:outerShdw>
                    </a:effectLst>
                    <a:latin typeface="Garamond" pitchFamily="18" charset="0"/>
                  </a:rPr>
                  <a:t>Finance and Accounting</a:t>
                </a:r>
              </a:p>
              <a:p>
                <a:pPr>
                  <a:defRPr/>
                </a:pPr>
                <a:r>
                  <a:rPr lang="en-US" sz="1400">
                    <a:effectLst>
                      <a:outerShdw blurRad="38100" dist="38100" dir="2700000" algn="tl">
                        <a:srgbClr val="000000"/>
                      </a:outerShdw>
                    </a:effectLst>
                    <a:latin typeface="Garamond" pitchFamily="18" charset="0"/>
                  </a:rPr>
                  <a:t>Personnel</a:t>
                </a:r>
              </a:p>
              <a:p>
                <a:pPr>
                  <a:defRPr/>
                </a:pPr>
                <a:r>
                  <a:rPr lang="en-US" sz="1400">
                    <a:effectLst>
                      <a:outerShdw blurRad="38100" dist="38100" dir="2700000" algn="tl">
                        <a:srgbClr val="000000"/>
                      </a:outerShdw>
                    </a:effectLst>
                    <a:latin typeface="Garamond" pitchFamily="18" charset="0"/>
                  </a:rPr>
                  <a:t>Marketing Services</a:t>
                </a:r>
              </a:p>
              <a:p>
                <a:pPr>
                  <a:defRPr/>
                </a:pPr>
                <a:r>
                  <a:rPr lang="en-US" sz="1400">
                    <a:effectLst>
                      <a:outerShdw blurRad="38100" dist="38100" dir="2700000" algn="tl">
                        <a:srgbClr val="000000"/>
                      </a:outerShdw>
                    </a:effectLst>
                    <a:latin typeface="Garamond" pitchFamily="18" charset="0"/>
                  </a:rPr>
                  <a:t>Legal</a:t>
                </a:r>
              </a:p>
              <a:p>
                <a:pPr>
                  <a:defRPr/>
                </a:pPr>
                <a:r>
                  <a:rPr lang="en-US" sz="1400">
                    <a:effectLst>
                      <a:outerShdw blurRad="38100" dist="38100" dir="2700000" algn="tl">
                        <a:srgbClr val="000000"/>
                      </a:outerShdw>
                    </a:effectLst>
                    <a:latin typeface="Garamond" pitchFamily="18" charset="0"/>
                  </a:rPr>
                  <a:t>Planning</a:t>
                </a:r>
              </a:p>
              <a:p>
                <a:pPr>
                  <a:defRPr/>
                </a:pPr>
                <a:r>
                  <a:rPr lang="en-US" sz="1400">
                    <a:effectLst>
                      <a:outerShdw blurRad="38100" dist="38100" dir="2700000" algn="tl">
                        <a:srgbClr val="000000"/>
                      </a:outerShdw>
                    </a:effectLst>
                    <a:latin typeface="Garamond" pitchFamily="18" charset="0"/>
                  </a:rPr>
                  <a:t>Research and Development</a:t>
                </a:r>
              </a:p>
            </p:txBody>
          </p:sp>
          <p:sp>
            <p:nvSpPr>
              <p:cNvPr id="544813" name="Text Box 45"/>
              <p:cNvSpPr txBox="1">
                <a:spLocks noChangeArrowheads="1"/>
              </p:cNvSpPr>
              <p:nvPr/>
            </p:nvSpPr>
            <p:spPr bwMode="auto">
              <a:xfrm>
                <a:off x="2819400" y="3810000"/>
                <a:ext cx="990600" cy="1016000"/>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General</a:t>
                </a:r>
              </a:p>
              <a:p>
                <a:pPr>
                  <a:defRPr/>
                </a:pPr>
                <a:r>
                  <a:rPr lang="en-US" sz="1600" b="1">
                    <a:effectLst>
                      <a:outerShdw blurRad="38100" dist="38100" dir="2700000" algn="tl">
                        <a:srgbClr val="000000"/>
                      </a:outerShdw>
                    </a:effectLst>
                    <a:latin typeface="Garamond" pitchFamily="18" charset="0"/>
                  </a:rPr>
                  <a:t>Manager</a:t>
                </a:r>
              </a:p>
              <a:p>
                <a:pPr>
                  <a:defRPr/>
                </a:pPr>
                <a:r>
                  <a:rPr lang="en-US" sz="1400">
                    <a:effectLst>
                      <a:outerShdw blurRad="38100" dist="38100" dir="2700000" algn="tl">
                        <a:srgbClr val="000000"/>
                      </a:outerShdw>
                    </a:effectLst>
                    <a:latin typeface="Garamond" pitchFamily="18" charset="0"/>
                  </a:rPr>
                  <a:t>Western</a:t>
                </a:r>
              </a:p>
              <a:p>
                <a:pPr>
                  <a:defRPr/>
                </a:pPr>
                <a:r>
                  <a:rPr lang="en-US" sz="1400">
                    <a:effectLst>
                      <a:outerShdw blurRad="38100" dist="38100" dir="2700000" algn="tl">
                        <a:srgbClr val="000000"/>
                      </a:outerShdw>
                    </a:effectLst>
                    <a:latin typeface="Garamond" pitchFamily="18" charset="0"/>
                  </a:rPr>
                  <a:t>District</a:t>
                </a:r>
              </a:p>
            </p:txBody>
          </p:sp>
          <p:sp>
            <p:nvSpPr>
              <p:cNvPr id="544814" name="Text Box 46"/>
              <p:cNvSpPr txBox="1">
                <a:spLocks noChangeArrowheads="1"/>
              </p:cNvSpPr>
              <p:nvPr/>
            </p:nvSpPr>
            <p:spPr bwMode="auto">
              <a:xfrm>
                <a:off x="4267200" y="3810000"/>
                <a:ext cx="990600" cy="1016000"/>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General</a:t>
                </a:r>
              </a:p>
              <a:p>
                <a:pPr>
                  <a:defRPr/>
                </a:pPr>
                <a:r>
                  <a:rPr lang="en-US" sz="1600" b="1">
                    <a:effectLst>
                      <a:outerShdw blurRad="38100" dist="38100" dir="2700000" algn="tl">
                        <a:srgbClr val="000000"/>
                      </a:outerShdw>
                    </a:effectLst>
                    <a:latin typeface="Garamond" pitchFamily="18" charset="0"/>
                  </a:rPr>
                  <a:t>Manager</a:t>
                </a:r>
              </a:p>
              <a:p>
                <a:pPr>
                  <a:defRPr/>
                </a:pPr>
                <a:r>
                  <a:rPr lang="en-US" sz="1400">
                    <a:effectLst>
                      <a:outerShdw blurRad="38100" dist="38100" dir="2700000" algn="tl">
                        <a:srgbClr val="000000"/>
                      </a:outerShdw>
                    </a:effectLst>
                    <a:latin typeface="Garamond" pitchFamily="18" charset="0"/>
                  </a:rPr>
                  <a:t>Southern</a:t>
                </a:r>
              </a:p>
              <a:p>
                <a:pPr>
                  <a:defRPr/>
                </a:pPr>
                <a:r>
                  <a:rPr lang="en-US" sz="1400">
                    <a:effectLst>
                      <a:outerShdw blurRad="38100" dist="38100" dir="2700000" algn="tl">
                        <a:srgbClr val="000000"/>
                      </a:outerShdw>
                    </a:effectLst>
                    <a:latin typeface="Garamond" pitchFamily="18" charset="0"/>
                  </a:rPr>
                  <a:t>District</a:t>
                </a:r>
              </a:p>
            </p:txBody>
          </p:sp>
          <p:sp>
            <p:nvSpPr>
              <p:cNvPr id="544815" name="Text Box 47"/>
              <p:cNvSpPr txBox="1">
                <a:spLocks noChangeArrowheads="1"/>
              </p:cNvSpPr>
              <p:nvPr/>
            </p:nvSpPr>
            <p:spPr bwMode="auto">
              <a:xfrm>
                <a:off x="5715000" y="3810000"/>
                <a:ext cx="990600" cy="1016000"/>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General</a:t>
                </a:r>
              </a:p>
              <a:p>
                <a:pPr>
                  <a:defRPr/>
                </a:pPr>
                <a:r>
                  <a:rPr lang="en-US" sz="1600" b="1">
                    <a:effectLst>
                      <a:outerShdw blurRad="38100" dist="38100" dir="2700000" algn="tl">
                        <a:srgbClr val="000000"/>
                      </a:outerShdw>
                    </a:effectLst>
                    <a:latin typeface="Garamond" pitchFamily="18" charset="0"/>
                  </a:rPr>
                  <a:t>Manager</a:t>
                </a:r>
              </a:p>
              <a:p>
                <a:pPr>
                  <a:defRPr/>
                </a:pPr>
                <a:r>
                  <a:rPr lang="en-US" sz="1400">
                    <a:effectLst>
                      <a:outerShdw blurRad="38100" dist="38100" dir="2700000" algn="tl">
                        <a:srgbClr val="000000"/>
                      </a:outerShdw>
                    </a:effectLst>
                    <a:latin typeface="Garamond" pitchFamily="18" charset="0"/>
                  </a:rPr>
                  <a:t>Central</a:t>
                </a:r>
              </a:p>
              <a:p>
                <a:pPr>
                  <a:defRPr/>
                </a:pPr>
                <a:r>
                  <a:rPr lang="en-US" sz="1400">
                    <a:effectLst>
                      <a:outerShdw blurRad="38100" dist="38100" dir="2700000" algn="tl">
                        <a:srgbClr val="000000"/>
                      </a:outerShdw>
                    </a:effectLst>
                    <a:latin typeface="Garamond" pitchFamily="18" charset="0"/>
                  </a:rPr>
                  <a:t>District</a:t>
                </a:r>
              </a:p>
            </p:txBody>
          </p:sp>
          <p:sp>
            <p:nvSpPr>
              <p:cNvPr id="544816" name="Text Box 48"/>
              <p:cNvSpPr txBox="1">
                <a:spLocks noChangeArrowheads="1"/>
              </p:cNvSpPr>
              <p:nvPr/>
            </p:nvSpPr>
            <p:spPr bwMode="auto">
              <a:xfrm>
                <a:off x="6477000" y="5029201"/>
                <a:ext cx="1981200" cy="77152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District Staff</a:t>
                </a:r>
              </a:p>
              <a:p>
                <a:pPr>
                  <a:defRPr/>
                </a:pPr>
                <a:r>
                  <a:rPr lang="en-US" sz="1400">
                    <a:effectLst>
                      <a:outerShdw blurRad="38100" dist="38100" dir="2700000" algn="tl">
                        <a:srgbClr val="000000"/>
                      </a:outerShdw>
                    </a:effectLst>
                    <a:latin typeface="Garamond" pitchFamily="18" charset="0"/>
                  </a:rPr>
                  <a:t>Personnel</a:t>
                </a:r>
              </a:p>
              <a:p>
                <a:pPr>
                  <a:defRPr/>
                </a:pPr>
                <a:r>
                  <a:rPr lang="en-US" sz="1400">
                    <a:effectLst>
                      <a:outerShdw blurRad="38100" dist="38100" dir="2700000" algn="tl">
                        <a:srgbClr val="000000"/>
                      </a:outerShdw>
                    </a:effectLst>
                    <a:latin typeface="Garamond" pitchFamily="18" charset="0"/>
                  </a:rPr>
                  <a:t>Accounting and Control</a:t>
                </a:r>
              </a:p>
            </p:txBody>
          </p:sp>
          <p:sp>
            <p:nvSpPr>
              <p:cNvPr id="544817" name="Text Box 49"/>
              <p:cNvSpPr txBox="1">
                <a:spLocks noChangeArrowheads="1"/>
              </p:cNvSpPr>
              <p:nvPr/>
            </p:nvSpPr>
            <p:spPr bwMode="auto">
              <a:xfrm>
                <a:off x="8763000" y="3810000"/>
                <a:ext cx="990600" cy="1016000"/>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General</a:t>
                </a:r>
              </a:p>
              <a:p>
                <a:pPr>
                  <a:defRPr/>
                </a:pPr>
                <a:r>
                  <a:rPr lang="en-US" sz="1600" b="1">
                    <a:effectLst>
                      <a:outerShdw blurRad="38100" dist="38100" dir="2700000" algn="tl">
                        <a:srgbClr val="000000"/>
                      </a:outerShdw>
                    </a:effectLst>
                    <a:latin typeface="Garamond" pitchFamily="18" charset="0"/>
                  </a:rPr>
                  <a:t>Manager</a:t>
                </a:r>
              </a:p>
              <a:p>
                <a:pPr>
                  <a:defRPr/>
                </a:pPr>
                <a:r>
                  <a:rPr lang="en-US" sz="1400">
                    <a:effectLst>
                      <a:outerShdw blurRad="38100" dist="38100" dir="2700000" algn="tl">
                        <a:srgbClr val="000000"/>
                      </a:outerShdw>
                    </a:effectLst>
                    <a:latin typeface="Garamond" pitchFamily="18" charset="0"/>
                  </a:rPr>
                  <a:t>Eastern</a:t>
                </a:r>
              </a:p>
              <a:p>
                <a:pPr>
                  <a:defRPr/>
                </a:pPr>
                <a:r>
                  <a:rPr lang="en-US" sz="1400">
                    <a:effectLst>
                      <a:outerShdw blurRad="38100" dist="38100" dir="2700000" algn="tl">
                        <a:srgbClr val="000000"/>
                      </a:outerShdw>
                    </a:effectLst>
                    <a:latin typeface="Garamond" pitchFamily="18" charset="0"/>
                  </a:rPr>
                  <a:t>District</a:t>
                </a:r>
              </a:p>
            </p:txBody>
          </p:sp>
          <p:sp>
            <p:nvSpPr>
              <p:cNvPr id="544818" name="Text Box 50"/>
              <p:cNvSpPr txBox="1">
                <a:spLocks noChangeArrowheads="1"/>
              </p:cNvSpPr>
              <p:nvPr/>
            </p:nvSpPr>
            <p:spPr bwMode="auto">
              <a:xfrm>
                <a:off x="7239000" y="3810000"/>
                <a:ext cx="990600" cy="1016000"/>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General</a:t>
                </a:r>
              </a:p>
              <a:p>
                <a:pPr>
                  <a:defRPr/>
                </a:pPr>
                <a:r>
                  <a:rPr lang="en-US" sz="1600" b="1">
                    <a:effectLst>
                      <a:outerShdw blurRad="38100" dist="38100" dir="2700000" algn="tl">
                        <a:srgbClr val="000000"/>
                      </a:outerShdw>
                    </a:effectLst>
                    <a:latin typeface="Garamond" pitchFamily="18" charset="0"/>
                  </a:rPr>
                  <a:t>Manager</a:t>
                </a:r>
              </a:p>
              <a:p>
                <a:pPr>
                  <a:defRPr/>
                </a:pPr>
                <a:r>
                  <a:rPr lang="en-US" sz="1400">
                    <a:effectLst>
                      <a:outerShdw blurRad="38100" dist="38100" dir="2700000" algn="tl">
                        <a:srgbClr val="000000"/>
                      </a:outerShdw>
                    </a:effectLst>
                    <a:latin typeface="Garamond" pitchFamily="18" charset="0"/>
                  </a:rPr>
                  <a:t>Northern</a:t>
                </a:r>
              </a:p>
              <a:p>
                <a:pPr>
                  <a:defRPr/>
                </a:pPr>
                <a:r>
                  <a:rPr lang="en-US" sz="1400">
                    <a:effectLst>
                      <a:outerShdw blurRad="38100" dist="38100" dir="2700000" algn="tl">
                        <a:srgbClr val="000000"/>
                      </a:outerShdw>
                    </a:effectLst>
                    <a:latin typeface="Garamond" pitchFamily="18" charset="0"/>
                  </a:rPr>
                  <a:t>District</a:t>
                </a:r>
              </a:p>
            </p:txBody>
          </p:sp>
          <p:sp>
            <p:nvSpPr>
              <p:cNvPr id="544819" name="Text Box 51"/>
              <p:cNvSpPr txBox="1">
                <a:spLocks noChangeArrowheads="1"/>
              </p:cNvSpPr>
              <p:nvPr/>
            </p:nvSpPr>
            <p:spPr bwMode="auto">
              <a:xfrm>
                <a:off x="3810000" y="6400801"/>
                <a:ext cx="1371600" cy="34607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1600">
                    <a:effectLst>
                      <a:outerShdw blurRad="38100" dist="38100" dir="2700000" algn="tl">
                        <a:srgbClr val="000000"/>
                      </a:outerShdw>
                    </a:effectLst>
                    <a:latin typeface="Garamond" pitchFamily="18" charset="0"/>
                  </a:rPr>
                  <a:t>Engineering</a:t>
                </a:r>
              </a:p>
            </p:txBody>
          </p:sp>
          <p:sp>
            <p:nvSpPr>
              <p:cNvPr id="544820" name="Text Box 52"/>
              <p:cNvSpPr txBox="1">
                <a:spLocks noChangeArrowheads="1"/>
              </p:cNvSpPr>
              <p:nvPr/>
            </p:nvSpPr>
            <p:spPr bwMode="auto">
              <a:xfrm>
                <a:off x="5562600" y="6400801"/>
                <a:ext cx="1295400" cy="34607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1600">
                    <a:effectLst>
                      <a:outerShdw blurRad="38100" dist="38100" dir="2700000" algn="tl">
                        <a:srgbClr val="000000"/>
                      </a:outerShdw>
                    </a:effectLst>
                    <a:latin typeface="Garamond" pitchFamily="18" charset="0"/>
                  </a:rPr>
                  <a:t>Production</a:t>
                </a:r>
              </a:p>
            </p:txBody>
          </p:sp>
          <p:sp>
            <p:nvSpPr>
              <p:cNvPr id="544821" name="Text Box 53"/>
              <p:cNvSpPr txBox="1">
                <a:spLocks noChangeArrowheads="1"/>
              </p:cNvSpPr>
              <p:nvPr/>
            </p:nvSpPr>
            <p:spPr bwMode="auto">
              <a:xfrm>
                <a:off x="7162800" y="6400801"/>
                <a:ext cx="1066800" cy="34607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1600" dirty="0">
                    <a:effectLst>
                      <a:outerShdw blurRad="38100" dist="38100" dir="2700000" algn="tl">
                        <a:srgbClr val="000000"/>
                      </a:outerShdw>
                    </a:effectLst>
                    <a:latin typeface="Garamond" pitchFamily="18" charset="0"/>
                  </a:rPr>
                  <a:t>Marketing</a:t>
                </a:r>
              </a:p>
            </p:txBody>
          </p:sp>
        </p:grpSp>
        <p:cxnSp>
          <p:nvCxnSpPr>
            <p:cNvPr id="8206" name="AutoShape 55"/>
            <p:cNvCxnSpPr>
              <a:cxnSpLocks noChangeShapeType="1"/>
              <a:stCxn id="544811" idx="2"/>
              <a:endCxn id="544812" idx="1"/>
            </p:cNvCxnSpPr>
            <p:nvPr/>
          </p:nvCxnSpPr>
          <p:spPr bwMode="auto">
            <a:xfrm rot="16200000" flipH="1">
              <a:off x="5848350" y="1935163"/>
              <a:ext cx="998538" cy="258762"/>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7" name="AutoShape 57"/>
            <p:cNvCxnSpPr>
              <a:cxnSpLocks noChangeShapeType="1"/>
              <a:stCxn id="544811" idx="2"/>
              <a:endCxn id="544815" idx="0"/>
            </p:cNvCxnSpPr>
            <p:nvPr/>
          </p:nvCxnSpPr>
          <p:spPr bwMode="auto">
            <a:xfrm rot="5400000">
              <a:off x="5091907" y="2683669"/>
              <a:ext cx="2244725" cy="7938"/>
            </a:xfrm>
            <a:prstGeom prst="bentConnector3">
              <a:avLst>
                <a:gd name="adj1" fmla="val 48096"/>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8" name="AutoShape 58"/>
            <p:cNvCxnSpPr>
              <a:cxnSpLocks noChangeShapeType="1"/>
              <a:stCxn id="544813" idx="0"/>
              <a:endCxn id="544817" idx="0"/>
            </p:cNvCxnSpPr>
            <p:nvPr/>
          </p:nvCxnSpPr>
          <p:spPr bwMode="auto">
            <a:xfrm rot="5400000" flipV="1">
              <a:off x="6285706" y="838994"/>
              <a:ext cx="1588" cy="5943600"/>
            </a:xfrm>
            <a:prstGeom prst="bentConnector3">
              <a:avLst>
                <a:gd name="adj1" fmla="val -1440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9" name="AutoShape 59"/>
            <p:cNvCxnSpPr>
              <a:cxnSpLocks noChangeShapeType="1"/>
              <a:stCxn id="544814" idx="0"/>
              <a:endCxn id="544818" idx="0"/>
            </p:cNvCxnSpPr>
            <p:nvPr/>
          </p:nvCxnSpPr>
          <p:spPr bwMode="auto">
            <a:xfrm rot="5400000" flipV="1">
              <a:off x="6247606" y="2324894"/>
              <a:ext cx="1588" cy="2971800"/>
            </a:xfrm>
            <a:prstGeom prst="bentConnector3">
              <a:avLst>
                <a:gd name="adj1" fmla="val -1440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0" name="AutoShape 60"/>
            <p:cNvCxnSpPr>
              <a:cxnSpLocks noChangeShapeType="1"/>
              <a:stCxn id="544815" idx="2"/>
              <a:endCxn id="544816" idx="1"/>
            </p:cNvCxnSpPr>
            <p:nvPr/>
          </p:nvCxnSpPr>
          <p:spPr bwMode="auto">
            <a:xfrm rot="16200000" flipH="1">
              <a:off x="6049169" y="4987132"/>
              <a:ext cx="588963" cy="26670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1" name="AutoShape 61"/>
            <p:cNvCxnSpPr>
              <a:cxnSpLocks noChangeShapeType="1"/>
              <a:stCxn id="544815" idx="2"/>
              <a:endCxn id="544820" idx="0"/>
            </p:cNvCxnSpPr>
            <p:nvPr/>
          </p:nvCxnSpPr>
          <p:spPr bwMode="auto">
            <a:xfrm rot="5400000">
              <a:off x="5422900" y="5613400"/>
              <a:ext cx="157480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2" name="AutoShape 62"/>
            <p:cNvCxnSpPr>
              <a:cxnSpLocks noChangeShapeType="1"/>
              <a:stCxn id="544819" idx="0"/>
              <a:endCxn id="544821" idx="0"/>
            </p:cNvCxnSpPr>
            <p:nvPr/>
          </p:nvCxnSpPr>
          <p:spPr bwMode="auto">
            <a:xfrm rot="5400000" flipV="1">
              <a:off x="6095206" y="4801394"/>
              <a:ext cx="1588" cy="3200400"/>
            </a:xfrm>
            <a:prstGeom prst="bentConnector3">
              <a:avLst>
                <a:gd name="adj1" fmla="val -1440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530329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ChangeArrowheads="1"/>
          </p:cNvSpPr>
          <p:nvPr>
            <p:ph type="title"/>
          </p:nvPr>
        </p:nvSpPr>
        <p:spPr/>
        <p:txBody>
          <a:bodyPr/>
          <a:lstStyle/>
          <a:p>
            <a:pPr eaLnBrk="1" hangingPunct="1">
              <a:defRPr/>
            </a:pPr>
            <a:r>
              <a:rPr lang="en-US"/>
              <a:t>Geographic Organizational Structures: </a:t>
            </a:r>
            <a:r>
              <a:rPr lang="en-US" sz="3200"/>
              <a:t>Strategic Advantages/Disadvantages</a:t>
            </a:r>
          </a:p>
        </p:txBody>
      </p:sp>
      <p:sp>
        <p:nvSpPr>
          <p:cNvPr id="546819" name="Rectangle 3"/>
          <p:cNvSpPr>
            <a:spLocks noGrp="1" noChangeArrowheads="1"/>
          </p:cNvSpPr>
          <p:nvPr>
            <p:ph type="body" sz="half" idx="1"/>
          </p:nvPr>
        </p:nvSpPr>
        <p:spPr>
          <a:xfrm>
            <a:off x="1018032" y="1981200"/>
            <a:ext cx="3870960" cy="4876800"/>
          </a:xfrm>
        </p:spPr>
        <p:txBody>
          <a:bodyPr>
            <a:normAutofit/>
          </a:bodyPr>
          <a:lstStyle/>
          <a:p>
            <a:pPr algn="ctr" eaLnBrk="1" hangingPunct="1">
              <a:lnSpc>
                <a:spcPct val="80000"/>
              </a:lnSpc>
              <a:buFont typeface="Wingdings" panose="05000000000000000000" pitchFamily="2" charset="2"/>
              <a:buNone/>
              <a:defRPr/>
            </a:pPr>
            <a:r>
              <a:rPr lang="en-US" sz="1600" i="1" dirty="0"/>
              <a:t>Strategic Advantages</a:t>
            </a:r>
          </a:p>
          <a:p>
            <a:pPr eaLnBrk="1" hangingPunct="1">
              <a:lnSpc>
                <a:spcPct val="80000"/>
              </a:lnSpc>
              <a:defRPr/>
            </a:pPr>
            <a:r>
              <a:rPr lang="en-US" sz="2400" dirty="0"/>
              <a:t>Allows tailoring of strategy to needs of each geographic market</a:t>
            </a:r>
          </a:p>
          <a:p>
            <a:pPr eaLnBrk="1" hangingPunct="1">
              <a:lnSpc>
                <a:spcPct val="80000"/>
              </a:lnSpc>
              <a:defRPr/>
            </a:pPr>
            <a:r>
              <a:rPr lang="en-US" sz="2400" dirty="0"/>
              <a:t>Improves coordination within the market</a:t>
            </a:r>
          </a:p>
          <a:p>
            <a:pPr eaLnBrk="1" hangingPunct="1">
              <a:lnSpc>
                <a:spcPct val="80000"/>
              </a:lnSpc>
              <a:defRPr/>
            </a:pPr>
            <a:r>
              <a:rPr lang="en-US" sz="2400" dirty="0"/>
              <a:t>Takes advantage of economies of local operations</a:t>
            </a:r>
          </a:p>
        </p:txBody>
      </p:sp>
      <p:sp>
        <p:nvSpPr>
          <p:cNvPr id="546820" name="Rectangle 4"/>
          <p:cNvSpPr>
            <a:spLocks noGrp="1" noChangeArrowheads="1"/>
          </p:cNvSpPr>
          <p:nvPr>
            <p:ph type="body" sz="half" idx="2"/>
          </p:nvPr>
        </p:nvSpPr>
        <p:spPr>
          <a:xfrm>
            <a:off x="5221223" y="1981200"/>
            <a:ext cx="4055195" cy="4876800"/>
          </a:xfrm>
        </p:spPr>
        <p:txBody>
          <a:bodyPr>
            <a:normAutofit/>
          </a:bodyPr>
          <a:lstStyle/>
          <a:p>
            <a:pPr algn="ctr" eaLnBrk="1" hangingPunct="1">
              <a:lnSpc>
                <a:spcPct val="80000"/>
              </a:lnSpc>
              <a:buFont typeface="Wingdings" panose="05000000000000000000" pitchFamily="2" charset="2"/>
              <a:buNone/>
              <a:defRPr/>
            </a:pPr>
            <a:r>
              <a:rPr lang="en-US" sz="1600" i="1" dirty="0"/>
              <a:t>Strategic Disadvantages</a:t>
            </a:r>
          </a:p>
          <a:p>
            <a:pPr eaLnBrk="1" hangingPunct="1">
              <a:lnSpc>
                <a:spcPct val="80000"/>
              </a:lnSpc>
              <a:defRPr/>
            </a:pPr>
            <a:r>
              <a:rPr lang="en-US" sz="2400" dirty="0"/>
              <a:t>Greater difficulty in maintaining consistent company image across areas </a:t>
            </a:r>
          </a:p>
          <a:p>
            <a:pPr eaLnBrk="1" hangingPunct="1">
              <a:lnSpc>
                <a:spcPct val="80000"/>
              </a:lnSpc>
              <a:defRPr/>
            </a:pPr>
            <a:r>
              <a:rPr lang="en-US" sz="2400" dirty="0"/>
              <a:t>Can result in duplication of staff services at headquarters and district levels, making a relative-cost disadvantage</a:t>
            </a:r>
          </a:p>
        </p:txBody>
      </p:sp>
    </p:spTree>
    <p:extLst>
      <p:ext uri="{BB962C8B-B14F-4D97-AF65-F5344CB8AC3E}">
        <p14:creationId xmlns:p14="http://schemas.microsoft.com/office/powerpoint/2010/main" val="817787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02208"/>
          </a:xfrm>
        </p:spPr>
        <p:txBody>
          <a:bodyPr/>
          <a:lstStyle/>
          <a:p>
            <a:r>
              <a:rPr lang="en-US" b="1" dirty="0"/>
              <a:t>Product line structure</a:t>
            </a:r>
            <a:endParaRPr lang="en-US" dirty="0"/>
          </a:p>
        </p:txBody>
      </p:sp>
      <p:sp>
        <p:nvSpPr>
          <p:cNvPr id="3" name="Content Placeholder 2"/>
          <p:cNvSpPr>
            <a:spLocks noGrp="1"/>
          </p:cNvSpPr>
          <p:nvPr>
            <p:ph idx="1"/>
          </p:nvPr>
        </p:nvSpPr>
        <p:spPr>
          <a:xfrm>
            <a:off x="812799" y="1709486"/>
            <a:ext cx="8463619" cy="4508434"/>
          </a:xfrm>
        </p:spPr>
        <p:txBody>
          <a:bodyPr>
            <a:normAutofit/>
          </a:bodyPr>
          <a:lstStyle/>
          <a:p>
            <a:pPr marL="0" indent="0">
              <a:buNone/>
            </a:pPr>
            <a:r>
              <a:rPr lang="en-US" dirty="0"/>
              <a:t>A product line structure is a structure that is based around the different types of product that an organization produces.</a:t>
            </a:r>
          </a:p>
          <a:p>
            <a:pPr marL="0" indent="0">
              <a:buNone/>
            </a:pPr>
            <a:r>
              <a:rPr lang="en-US" dirty="0"/>
              <a:t>For example, where a motor vehicle manufacturer organizes around types of vehicle.</a:t>
            </a:r>
          </a:p>
          <a:p>
            <a:r>
              <a:rPr lang="en-US" dirty="0"/>
              <a:t>Companies that produce and market a substantial piece of software for corporate customers – a multi-user accounting package</a:t>
            </a:r>
          </a:p>
          <a:p>
            <a:r>
              <a:rPr lang="en-US" dirty="0"/>
              <a:t>For example – often organize themselves into three main operational divisions: development and maintenance of the software, consultancy, and training. This should be regarded as a product line structure since the three types of activity, providing software, giving advice to companies in how to use it, and providing training for customer staff, can be considered to be different services that the company provides and they are typically provided by different teams of people.</a:t>
            </a:r>
          </a:p>
        </p:txBody>
      </p:sp>
    </p:spTree>
    <p:extLst>
      <p:ext uri="{BB962C8B-B14F-4D97-AF65-F5344CB8AC3E}">
        <p14:creationId xmlns:p14="http://schemas.microsoft.com/office/powerpoint/2010/main" val="3362967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47241"/>
          </a:xfrm>
        </p:spPr>
        <p:txBody>
          <a:bodyPr/>
          <a:lstStyle/>
          <a:p>
            <a:r>
              <a:rPr lang="en-US" b="1" dirty="0"/>
              <a:t>Structure by market sector</a:t>
            </a:r>
            <a:endParaRPr lang="en-US" dirty="0"/>
          </a:p>
        </p:txBody>
      </p:sp>
      <p:sp>
        <p:nvSpPr>
          <p:cNvPr id="3" name="Content Placeholder 2"/>
          <p:cNvSpPr>
            <a:spLocks noGrp="1"/>
          </p:cNvSpPr>
          <p:nvPr>
            <p:ph idx="1"/>
          </p:nvPr>
        </p:nvSpPr>
        <p:spPr>
          <a:xfrm>
            <a:off x="812799" y="1859798"/>
            <a:ext cx="8463619" cy="4181566"/>
          </a:xfrm>
        </p:spPr>
        <p:txBody>
          <a:bodyPr/>
          <a:lstStyle/>
          <a:p>
            <a:r>
              <a:rPr lang="en-US" dirty="0"/>
              <a:t>Structure by market sector means structure based on the different market sectors to which its customers or prospective customers belong.</a:t>
            </a:r>
          </a:p>
          <a:p>
            <a:r>
              <a:rPr lang="en-US" dirty="0"/>
              <a:t>From the sales and marketing point of view it has the great advantage that each division can readily identify its potential customers, and its staff, both sales and technical, are likely to be familiar with customers’ problems and to speak a language that the customer understands.</a:t>
            </a:r>
          </a:p>
          <a:p>
            <a:r>
              <a:rPr lang="en-US" dirty="0"/>
              <a:t>Example : </a:t>
            </a:r>
          </a:p>
          <a:p>
            <a:pPr marL="0" indent="0">
              <a:buNone/>
            </a:pPr>
            <a:r>
              <a:rPr lang="en-US" dirty="0"/>
              <a:t>	Different branches of BATA</a:t>
            </a:r>
          </a:p>
          <a:p>
            <a:pPr marL="0" indent="0">
              <a:buNone/>
            </a:pPr>
            <a:r>
              <a:rPr lang="en-US" dirty="0"/>
              <a:t>	Automobiles</a:t>
            </a:r>
          </a:p>
          <a:p>
            <a:pPr marL="0" indent="0">
              <a:buNone/>
            </a:pPr>
            <a:endParaRPr lang="en-US" dirty="0"/>
          </a:p>
        </p:txBody>
      </p:sp>
    </p:spTree>
    <p:extLst>
      <p:ext uri="{BB962C8B-B14F-4D97-AF65-F5344CB8AC3E}">
        <p14:creationId xmlns:p14="http://schemas.microsoft.com/office/powerpoint/2010/main" val="1526546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by market sector Disadvantages</a:t>
            </a:r>
            <a:endParaRPr lang="en-US" dirty="0"/>
          </a:p>
        </p:txBody>
      </p:sp>
      <p:sp>
        <p:nvSpPr>
          <p:cNvPr id="3" name="Content Placeholder 2"/>
          <p:cNvSpPr>
            <a:spLocks noGrp="1"/>
          </p:cNvSpPr>
          <p:nvPr>
            <p:ph idx="1"/>
          </p:nvPr>
        </p:nvSpPr>
        <p:spPr/>
        <p:txBody>
          <a:bodyPr>
            <a:normAutofit/>
          </a:bodyPr>
          <a:lstStyle/>
          <a:p>
            <a:pPr marL="0" indent="0">
              <a:buNone/>
            </a:pPr>
            <a:r>
              <a:rPr lang="en-US" dirty="0"/>
              <a:t>There are two dangers with this approach. </a:t>
            </a:r>
          </a:p>
          <a:p>
            <a:r>
              <a:rPr lang="en-US" dirty="0"/>
              <a:t>There is the risk one division may be unaware of technological expertise that exists in another division. This may lead to inefficient use of resources through unnecessarily hiring additional specialists or employing consultants, or, worse, to failing to learn from mistakes that have been made by other parts of the company.</a:t>
            </a:r>
          </a:p>
          <a:p>
            <a:r>
              <a:rPr lang="en-US" dirty="0"/>
              <a:t>The second danger with a structure based on market sector is that, by continuing to concentrate on its traditional areas even when these markets are becoming saturated, the company will miss new opportunities and will stagnate.</a:t>
            </a:r>
          </a:p>
        </p:txBody>
      </p:sp>
    </p:spTree>
    <p:extLst>
      <p:ext uri="{BB962C8B-B14F-4D97-AF65-F5344CB8AC3E}">
        <p14:creationId xmlns:p14="http://schemas.microsoft.com/office/powerpoint/2010/main" val="3165914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77824"/>
          </a:xfrm>
        </p:spPr>
        <p:txBody>
          <a:bodyPr/>
          <a:lstStyle/>
          <a:p>
            <a:r>
              <a:rPr lang="en-US" b="1" dirty="0"/>
              <a:t>Structure by technology</a:t>
            </a:r>
            <a:endParaRPr lang="en-US" dirty="0"/>
          </a:p>
        </p:txBody>
      </p:sp>
      <p:sp>
        <p:nvSpPr>
          <p:cNvPr id="3" name="Content Placeholder 2"/>
          <p:cNvSpPr>
            <a:spLocks noGrp="1"/>
          </p:cNvSpPr>
          <p:nvPr>
            <p:ph idx="1"/>
          </p:nvPr>
        </p:nvSpPr>
        <p:spPr>
          <a:xfrm>
            <a:off x="812799" y="1572768"/>
            <a:ext cx="8463619" cy="4468595"/>
          </a:xfrm>
        </p:spPr>
        <p:txBody>
          <a:bodyPr/>
          <a:lstStyle/>
          <a:p>
            <a:r>
              <a:rPr lang="en-US" dirty="0"/>
              <a:t>A technology-based structure was once a favorite model for software companies.</a:t>
            </a:r>
          </a:p>
          <a:p>
            <a:r>
              <a:rPr lang="en-US" dirty="0"/>
              <a:t>A company might have divisions specializing in artificial intelligence, communications, web-based systems, databases, and real-time systems.</a:t>
            </a:r>
          </a:p>
        </p:txBody>
      </p:sp>
    </p:spTree>
    <p:extLst>
      <p:ext uri="{BB962C8B-B14F-4D97-AF65-F5344CB8AC3E}">
        <p14:creationId xmlns:p14="http://schemas.microsoft.com/office/powerpoint/2010/main" val="1672270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63168"/>
          </a:xfrm>
        </p:spPr>
        <p:txBody>
          <a:bodyPr/>
          <a:lstStyle/>
          <a:p>
            <a:r>
              <a:rPr lang="en-US" b="1" dirty="0"/>
              <a:t>Structure by technology</a:t>
            </a:r>
            <a:endParaRPr lang="en-US" dirty="0"/>
          </a:p>
        </p:txBody>
      </p:sp>
      <p:sp>
        <p:nvSpPr>
          <p:cNvPr id="3" name="Content Placeholder 2"/>
          <p:cNvSpPr>
            <a:spLocks noGrp="1"/>
          </p:cNvSpPr>
          <p:nvPr>
            <p:ph idx="1"/>
          </p:nvPr>
        </p:nvSpPr>
        <p:spPr>
          <a:xfrm>
            <a:off x="812799" y="1514414"/>
            <a:ext cx="8463619" cy="3880773"/>
          </a:xfrm>
        </p:spPr>
        <p:txBody>
          <a:bodyPr>
            <a:normAutofit lnSpcReduction="10000"/>
          </a:bodyPr>
          <a:lstStyle/>
          <a:p>
            <a:r>
              <a:rPr lang="en-US" dirty="0"/>
              <a:t>There are several problems with type of structure:  it usually requires several different technologies to meet a customer’s needs;</a:t>
            </a:r>
          </a:p>
          <a:p>
            <a:r>
              <a:rPr lang="en-US" dirty="0"/>
              <a:t> there are many applications that cannot be said to require specific technologies;</a:t>
            </a:r>
          </a:p>
          <a:p>
            <a:r>
              <a:rPr lang="en-US" dirty="0"/>
              <a:t> there are many competent software engineers whose expertise runs across a number of technologies;</a:t>
            </a:r>
          </a:p>
          <a:p>
            <a:r>
              <a:rPr lang="en-US" dirty="0"/>
              <a:t> it is difficult, if not impossible, for sales and marketing staff to predict which potential clients will need which technology. It is particularly serious and companies that are primarily structured by technology have serious problems finding their clients.</a:t>
            </a:r>
          </a:p>
          <a:p>
            <a:r>
              <a:rPr lang="en-US" dirty="0"/>
              <a:t>They are not sufficiently ‘customer-focused’ – they concentrate on selling the technologies that they have rather than finding out what the customer needs.</a:t>
            </a:r>
          </a:p>
        </p:txBody>
      </p:sp>
    </p:spTree>
    <p:extLst>
      <p:ext uri="{BB962C8B-B14F-4D97-AF65-F5344CB8AC3E}">
        <p14:creationId xmlns:p14="http://schemas.microsoft.com/office/powerpoint/2010/main" val="11644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p>
            <a:r>
              <a:rPr lang="en-US" b="1" dirty="0"/>
              <a:t>Operational structure</a:t>
            </a:r>
            <a:endParaRPr lang="en-US" dirty="0"/>
          </a:p>
        </p:txBody>
      </p:sp>
      <p:sp>
        <p:nvSpPr>
          <p:cNvPr id="3" name="Content Placeholder 2"/>
          <p:cNvSpPr>
            <a:spLocks noGrp="1"/>
          </p:cNvSpPr>
          <p:nvPr>
            <p:ph idx="1"/>
          </p:nvPr>
        </p:nvSpPr>
        <p:spPr>
          <a:xfrm>
            <a:off x="812799" y="1775420"/>
            <a:ext cx="8463619" cy="4110963"/>
          </a:xfrm>
        </p:spPr>
        <p:txBody>
          <a:bodyPr>
            <a:normAutofit/>
          </a:bodyPr>
          <a:lstStyle/>
          <a:p>
            <a:r>
              <a:rPr lang="en-US" dirty="0"/>
              <a:t>The actual operations of a company may be organized on a </a:t>
            </a:r>
            <a:r>
              <a:rPr lang="en-US" i="1" u="sng" dirty="0"/>
              <a:t>project </a:t>
            </a:r>
            <a:r>
              <a:rPr lang="en-US" u="sng" dirty="0"/>
              <a:t>basis or on a </a:t>
            </a:r>
            <a:r>
              <a:rPr lang="en-US" i="1" u="sng" dirty="0"/>
              <a:t>production </a:t>
            </a:r>
            <a:r>
              <a:rPr lang="en-US" u="sng" dirty="0"/>
              <a:t>basis,</a:t>
            </a:r>
            <a:r>
              <a:rPr lang="en-US" dirty="0"/>
              <a:t> although the line separating the two may be vague.</a:t>
            </a:r>
          </a:p>
          <a:p>
            <a:r>
              <a:rPr lang="en-US" dirty="0"/>
              <a:t>Project-based activity is not restricted to operations. Most research and development is organized on a project basis and such administrative activities as introducing a new accounting system or transferring a company’s head office are also to be regarded as projects, in that they last for a fixed length of time, after which they should be complete.</a:t>
            </a:r>
          </a:p>
          <a:p>
            <a:r>
              <a:rPr lang="en-US" dirty="0"/>
              <a:t>Projects last a comparatively long time but the team carrying out the work only stays together for the length of the project. Production activities are comparatively short, but the team carrying them out stays in existence indefinitely.</a:t>
            </a:r>
          </a:p>
        </p:txBody>
      </p:sp>
    </p:spTree>
    <p:extLst>
      <p:ext uri="{BB962C8B-B14F-4D97-AF65-F5344CB8AC3E}">
        <p14:creationId xmlns:p14="http://schemas.microsoft.com/office/powerpoint/2010/main" val="3464290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74643"/>
          </a:xfrm>
        </p:spPr>
        <p:txBody>
          <a:bodyPr/>
          <a:lstStyle/>
          <a:p>
            <a:r>
              <a:rPr lang="en-US" b="1" dirty="0"/>
              <a:t>DEPTH OF STRUCTURE</a:t>
            </a:r>
            <a:endParaRPr lang="en-US" dirty="0"/>
          </a:p>
        </p:txBody>
      </p:sp>
      <p:sp>
        <p:nvSpPr>
          <p:cNvPr id="3" name="Content Placeholder 2"/>
          <p:cNvSpPr>
            <a:spLocks noGrp="1"/>
          </p:cNvSpPr>
          <p:nvPr>
            <p:ph idx="1"/>
          </p:nvPr>
        </p:nvSpPr>
        <p:spPr>
          <a:xfrm>
            <a:off x="812799" y="1643270"/>
            <a:ext cx="8463619" cy="4398093"/>
          </a:xfrm>
        </p:spPr>
        <p:txBody>
          <a:bodyPr/>
          <a:lstStyle/>
          <a:p>
            <a:pPr marL="0" indent="0">
              <a:buNone/>
            </a:pPr>
            <a:r>
              <a:rPr lang="en-US" dirty="0"/>
              <a:t>The depth of an organizational structure is the </a:t>
            </a:r>
            <a:r>
              <a:rPr lang="en-US" u="sng" dirty="0"/>
              <a:t>number of layers in the</a:t>
            </a:r>
          </a:p>
          <a:p>
            <a:pPr marL="0" indent="0">
              <a:buNone/>
            </a:pPr>
            <a:r>
              <a:rPr lang="en-US" u="sng" dirty="0"/>
              <a:t>structure – or, more precisely, the maximum number of layers, since not all</a:t>
            </a:r>
          </a:p>
          <a:p>
            <a:pPr marL="0" indent="0">
              <a:buNone/>
            </a:pPr>
            <a:r>
              <a:rPr lang="en-US" u="sng" dirty="0"/>
              <a:t>parts of the structure will have the same number of layers.</a:t>
            </a:r>
            <a:r>
              <a:rPr lang="en-US" dirty="0"/>
              <a:t> </a:t>
            </a:r>
          </a:p>
          <a:p>
            <a:pPr marL="0" indent="0" algn="just">
              <a:buNone/>
            </a:pPr>
            <a:r>
              <a:rPr lang="en-US" dirty="0"/>
              <a:t>Organizational structures are often described as flat or, in contrast, deep or tall, according to whether the depth is small or large. For a given number of people, the depth of the structure will depend on the number of people reporting directly to each manager; this is sometimes known as the manager’s </a:t>
            </a:r>
            <a:r>
              <a:rPr lang="en-US" i="1" dirty="0"/>
              <a:t>span of control</a:t>
            </a:r>
            <a:r>
              <a:rPr lang="en-US" dirty="0"/>
              <a:t>.</a:t>
            </a:r>
          </a:p>
        </p:txBody>
      </p:sp>
    </p:spTree>
    <p:extLst>
      <p:ext uri="{BB962C8B-B14F-4D97-AF65-F5344CB8AC3E}">
        <p14:creationId xmlns:p14="http://schemas.microsoft.com/office/powerpoint/2010/main" val="4249152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Fifteen people organized into a four-level structure</a:t>
            </a:r>
            <a:endParaRPr lang="en-US" dirty="0"/>
          </a:p>
        </p:txBody>
      </p:sp>
      <p:pic>
        <p:nvPicPr>
          <p:cNvPr id="3" name="Picture 2"/>
          <p:cNvPicPr>
            <a:picLocks noChangeAspect="1"/>
          </p:cNvPicPr>
          <p:nvPr/>
        </p:nvPicPr>
        <p:blipFill>
          <a:blip r:embed="rId2"/>
          <a:stretch>
            <a:fillRect/>
          </a:stretch>
        </p:blipFill>
        <p:spPr>
          <a:xfrm>
            <a:off x="638379" y="2108837"/>
            <a:ext cx="8847901" cy="4416121"/>
          </a:xfrm>
          <a:prstGeom prst="rect">
            <a:avLst/>
          </a:prstGeom>
        </p:spPr>
      </p:pic>
    </p:spTree>
    <p:extLst>
      <p:ext uri="{BB962C8B-B14F-4D97-AF65-F5344CB8AC3E}">
        <p14:creationId xmlns:p14="http://schemas.microsoft.com/office/powerpoint/2010/main" val="26940916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CENTRALIZATION</a:t>
            </a:r>
            <a:endParaRPr lang="en-US" dirty="0"/>
          </a:p>
        </p:txBody>
      </p:sp>
      <p:sp>
        <p:nvSpPr>
          <p:cNvPr id="3" name="Content Placeholder 2"/>
          <p:cNvSpPr>
            <a:spLocks noGrp="1"/>
          </p:cNvSpPr>
          <p:nvPr>
            <p:ph idx="1"/>
          </p:nvPr>
        </p:nvSpPr>
        <p:spPr/>
        <p:txBody>
          <a:bodyPr/>
          <a:lstStyle/>
          <a:p>
            <a:r>
              <a:rPr lang="en-US" dirty="0"/>
              <a:t>Organizations may be centralized or decentralized. In a centralized company, as much power as possible is kept at the top of the company, with delegation only when essential. </a:t>
            </a:r>
          </a:p>
          <a:p>
            <a:r>
              <a:rPr lang="en-US" dirty="0"/>
              <a:t>In a decentralized company, as much power and control as possible is delegated to the lowest level.</a:t>
            </a:r>
          </a:p>
        </p:txBody>
      </p:sp>
    </p:spTree>
    <p:extLst>
      <p:ext uri="{BB962C8B-B14F-4D97-AF65-F5344CB8AC3E}">
        <p14:creationId xmlns:p14="http://schemas.microsoft.com/office/powerpoint/2010/main" val="2764125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SETTING UP A STRUCTURE IN PRACTICE</a:t>
            </a:r>
            <a:endParaRPr lang="en-US" dirty="0"/>
          </a:p>
        </p:txBody>
      </p:sp>
      <p:sp>
        <p:nvSpPr>
          <p:cNvPr id="3" name="Content Placeholder 2"/>
          <p:cNvSpPr>
            <a:spLocks noGrp="1"/>
          </p:cNvSpPr>
          <p:nvPr>
            <p:ph idx="1"/>
          </p:nvPr>
        </p:nvSpPr>
        <p:spPr/>
        <p:txBody>
          <a:bodyPr>
            <a:normAutofit/>
          </a:bodyPr>
          <a:lstStyle/>
          <a:p>
            <a:pPr marL="0" indent="0">
              <a:buNone/>
            </a:pPr>
            <a:r>
              <a:rPr lang="en-US" sz="2400" dirty="0"/>
              <a:t>In most cases, an organization of any size will have a structure that includes elements of several of the different types of structure.</a:t>
            </a:r>
          </a:p>
          <a:p>
            <a:pPr marL="0" indent="0">
              <a:buNone/>
            </a:pPr>
            <a:r>
              <a:rPr lang="en-US" sz="2400" dirty="0"/>
              <a:t>A combination of different structures would help when adopted.</a:t>
            </a:r>
          </a:p>
        </p:txBody>
      </p:sp>
    </p:spTree>
    <p:extLst>
      <p:ext uri="{BB962C8B-B14F-4D97-AF65-F5344CB8AC3E}">
        <p14:creationId xmlns:p14="http://schemas.microsoft.com/office/powerpoint/2010/main" val="1492798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808" y="368968"/>
            <a:ext cx="8463617" cy="1074821"/>
          </a:xfrm>
        </p:spPr>
        <p:txBody>
          <a:bodyPr>
            <a:normAutofit fontScale="90000"/>
          </a:bodyPr>
          <a:lstStyle/>
          <a:p>
            <a:r>
              <a:rPr lang="en-US" i="1" dirty="0"/>
              <a:t>An organizational structure for a bespoke software house</a:t>
            </a:r>
            <a:endParaRPr lang="en-US" dirty="0"/>
          </a:p>
        </p:txBody>
      </p:sp>
      <p:pic>
        <p:nvPicPr>
          <p:cNvPr id="4" name="Picture 3"/>
          <p:cNvPicPr>
            <a:picLocks noChangeAspect="1"/>
          </p:cNvPicPr>
          <p:nvPr/>
        </p:nvPicPr>
        <p:blipFill>
          <a:blip r:embed="rId2"/>
          <a:stretch>
            <a:fillRect/>
          </a:stretch>
        </p:blipFill>
        <p:spPr>
          <a:xfrm>
            <a:off x="541505" y="1443789"/>
            <a:ext cx="8962224" cy="5069305"/>
          </a:xfrm>
          <a:prstGeom prst="rect">
            <a:avLst/>
          </a:prstGeom>
        </p:spPr>
      </p:pic>
    </p:spTree>
    <p:extLst>
      <p:ext uri="{BB962C8B-B14F-4D97-AF65-F5344CB8AC3E}">
        <p14:creationId xmlns:p14="http://schemas.microsoft.com/office/powerpoint/2010/main" val="397514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JOB DESIGN</a:t>
            </a:r>
            <a:endParaRPr lang="en-US" dirty="0"/>
          </a:p>
        </p:txBody>
      </p:sp>
      <p:sp>
        <p:nvSpPr>
          <p:cNvPr id="3" name="Content Placeholder 2"/>
          <p:cNvSpPr>
            <a:spLocks noGrp="1"/>
          </p:cNvSpPr>
          <p:nvPr>
            <p:ph idx="1"/>
          </p:nvPr>
        </p:nvSpPr>
        <p:spPr/>
        <p:txBody>
          <a:bodyPr>
            <a:normAutofit lnSpcReduction="10000"/>
          </a:bodyPr>
          <a:lstStyle/>
          <a:p>
            <a:r>
              <a:rPr lang="en-US" dirty="0"/>
              <a:t>Job rotation: Job rotation, that is, rotating staff through a series of jobs, is the most obvious way of preventing employees from becoming bored with a very narrow and specialized task.</a:t>
            </a:r>
          </a:p>
          <a:p>
            <a:r>
              <a:rPr lang="en-US" dirty="0"/>
              <a:t>Job enlargement: </a:t>
            </a:r>
            <a:r>
              <a:rPr lang="en-US" b="1" dirty="0"/>
              <a:t>Job enlargement</a:t>
            </a:r>
            <a:r>
              <a:rPr lang="en-US" dirty="0"/>
              <a:t> means increasing the scope of a job through extending the range of its job duties and responsibilities generally within the same level and periphery. Job enlargement involves combining various activities at the same level in the organization and adding them to the existing job</a:t>
            </a:r>
          </a:p>
          <a:p>
            <a:r>
              <a:rPr lang="en-US" dirty="0"/>
              <a:t>Job enrichment: </a:t>
            </a:r>
            <a:r>
              <a:rPr lang="en-US" b="1" dirty="0"/>
              <a:t>Job enrichment</a:t>
            </a:r>
            <a:r>
              <a:rPr lang="en-US" dirty="0"/>
              <a:t> can be described as a medium through which management can motivate self-driven employees by assigning them additional responsibilities normally reserved for higher-level employees. By doing this, employees </a:t>
            </a:r>
            <a:r>
              <a:rPr lang="en-US" i="1" dirty="0"/>
              <a:t>feel</a:t>
            </a:r>
            <a:r>
              <a:rPr lang="en-US" dirty="0"/>
              <a:t> like their work has meaning and is important to the company</a:t>
            </a:r>
          </a:p>
          <a:p>
            <a:endParaRPr lang="en-US" dirty="0"/>
          </a:p>
        </p:txBody>
      </p:sp>
    </p:spTree>
    <p:extLst>
      <p:ext uri="{BB962C8B-B14F-4D97-AF65-F5344CB8AC3E}">
        <p14:creationId xmlns:p14="http://schemas.microsoft.com/office/powerpoint/2010/main" val="219902368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9535</TotalTime>
  <Words>2383</Words>
  <Application>Microsoft Macintosh PowerPoint</Application>
  <PresentationFormat>Widescreen</PresentationFormat>
  <Paragraphs>207</Paragraphs>
  <Slides>30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Garamond</vt:lpstr>
      <vt:lpstr>Tahoma</vt:lpstr>
      <vt:lpstr>Trebuchet MS</vt:lpstr>
      <vt:lpstr>Wingdings</vt:lpstr>
      <vt:lpstr>Wingdings 3</vt:lpstr>
      <vt:lpstr>Facet</vt:lpstr>
      <vt:lpstr>CS4001- Professional Practices in IT</vt:lpstr>
      <vt:lpstr>Introduction</vt:lpstr>
      <vt:lpstr>ORGANIZATIONAL MODELS</vt:lpstr>
      <vt:lpstr>   The bureaucratic model</vt:lpstr>
      <vt:lpstr>The bureaucratic model characteristics</vt:lpstr>
      <vt:lpstr>Characteristics (cont…)</vt:lpstr>
      <vt:lpstr>PowerPoint Presentation</vt:lpstr>
      <vt:lpstr>The organic model</vt:lpstr>
      <vt:lpstr>Key features of organic model</vt:lpstr>
      <vt:lpstr>Matrix management</vt:lpstr>
      <vt:lpstr>STRUCTURING PRINCIPLES</vt:lpstr>
      <vt:lpstr>Structure by function </vt:lpstr>
      <vt:lpstr>PowerPoint Presentation</vt:lpstr>
      <vt:lpstr>Functional Organizational Structures: “Typical” Functional Organizational Structure</vt:lpstr>
      <vt:lpstr>Functional Organizational Structures: Strategic Advantages/Disadvantages</vt:lpstr>
      <vt:lpstr>Structure by geography</vt:lpstr>
      <vt:lpstr>Geographic Organizational Structure</vt:lpstr>
      <vt:lpstr>Geographic Organizational Structures: Strategic Advantages/Disadvantages</vt:lpstr>
      <vt:lpstr>Product line structure</vt:lpstr>
      <vt:lpstr>Structure by market sector</vt:lpstr>
      <vt:lpstr>Structure by market sector Disadvantages</vt:lpstr>
      <vt:lpstr>Structure by technology</vt:lpstr>
      <vt:lpstr>Structure by technology</vt:lpstr>
      <vt:lpstr>Operational structure</vt:lpstr>
      <vt:lpstr>DEPTH OF STRUCTURE</vt:lpstr>
      <vt:lpstr>Fifteen people organized into a four-level structure</vt:lpstr>
      <vt:lpstr>CENTRALIZATION</vt:lpstr>
      <vt:lpstr>SETTING UP A STRUCTURE IN PRACTICE</vt:lpstr>
      <vt:lpstr>An organizational structure for a bespoke software house</vt:lpstr>
      <vt:lpstr>JOB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anaum hamid</cp:lastModifiedBy>
  <cp:revision>172</cp:revision>
  <dcterms:created xsi:type="dcterms:W3CDTF">2015-09-21T04:09:13Z</dcterms:created>
  <dcterms:modified xsi:type="dcterms:W3CDTF">2025-09-15T07:51:37Z</dcterms:modified>
</cp:coreProperties>
</file>