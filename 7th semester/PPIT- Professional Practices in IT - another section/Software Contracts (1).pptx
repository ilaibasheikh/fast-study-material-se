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0" r:id="rId1"/>
  </p:sldMasterIdLst>
  <p:notesMasterIdLst>
    <p:notesMasterId r:id="rId36"/>
  </p:notesMasterIdLst>
  <p:sldIdLst>
    <p:sldId id="256" r:id="rId2"/>
    <p:sldId id="258" r:id="rId3"/>
    <p:sldId id="259" r:id="rId4"/>
    <p:sldId id="260" r:id="rId5"/>
    <p:sldId id="261" r:id="rId6"/>
    <p:sldId id="289" r:id="rId7"/>
    <p:sldId id="262" r:id="rId8"/>
    <p:sldId id="263" r:id="rId9"/>
    <p:sldId id="264" r:id="rId10"/>
    <p:sldId id="265" r:id="rId11"/>
    <p:sldId id="266" r:id="rId12"/>
    <p:sldId id="267" r:id="rId13"/>
    <p:sldId id="268" r:id="rId14"/>
    <p:sldId id="269" r:id="rId15"/>
    <p:sldId id="290" r:id="rId16"/>
    <p:sldId id="270" r:id="rId17"/>
    <p:sldId id="273" r:id="rId18"/>
    <p:sldId id="274" r:id="rId19"/>
    <p:sldId id="275" r:id="rId20"/>
    <p:sldId id="276" r:id="rId21"/>
    <p:sldId id="277" r:id="rId22"/>
    <p:sldId id="278" r:id="rId23"/>
    <p:sldId id="279" r:id="rId24"/>
    <p:sldId id="280" r:id="rId25"/>
    <p:sldId id="291" r:id="rId26"/>
    <p:sldId id="281" r:id="rId27"/>
    <p:sldId id="282" r:id="rId28"/>
    <p:sldId id="293" r:id="rId29"/>
    <p:sldId id="294" r:id="rId30"/>
    <p:sldId id="295" r:id="rId31"/>
    <p:sldId id="286" r:id="rId32"/>
    <p:sldId id="287" r:id="rId33"/>
    <p:sldId id="288" r:id="rId34"/>
    <p:sldId id="28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6283" autoAdjust="0"/>
  </p:normalViewPr>
  <p:slideViewPr>
    <p:cSldViewPr snapToGrid="0">
      <p:cViewPr varScale="1">
        <p:scale>
          <a:sx n="112" d="100"/>
          <a:sy n="112" d="100"/>
        </p:scale>
        <p:origin x="4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F8ADD2-6A75-4A8C-A7DA-8F84D150B504}" type="datetimeFigureOut">
              <a:rPr lang="en-PK" smtClean="0"/>
              <a:t>19/11/2024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CD2A0-BAED-4591-AE30-49B0AD3B64E6}" type="slidenum">
              <a:rPr lang="en-PK" smtClean="0"/>
              <a:t>‹#›</a:t>
            </a:fld>
            <a:endParaRPr lang="en-PK"/>
          </a:p>
        </p:txBody>
      </p:sp>
    </p:spTree>
    <p:extLst>
      <p:ext uri="{BB962C8B-B14F-4D97-AF65-F5344CB8AC3E}">
        <p14:creationId xmlns:p14="http://schemas.microsoft.com/office/powerpoint/2010/main" val="829469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62972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0198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34315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450010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1458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6055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344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675790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4391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9422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8409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6143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4574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9684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943817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002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978973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a:t>CS4001- Professional Practices in IT</a:t>
            </a:r>
            <a:endParaRPr/>
          </a:p>
        </p:txBody>
      </p:sp>
      <p:sp>
        <p:nvSpPr>
          <p:cNvPr id="148" name="Google Shape;148;p18"/>
          <p:cNvSpPr txBox="1">
            <a:spLocks noGrp="1"/>
          </p:cNvSpPr>
          <p:nvPr>
            <p:ph type="subTitle" idx="1"/>
          </p:nvPr>
        </p:nvSpPr>
        <p:spPr>
          <a:xfrm>
            <a:off x="2682249" y="4407451"/>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dirty="0"/>
              <a:t>Course Instructor: Anaum Hamid</a:t>
            </a:r>
            <a:endParaRPr dirty="0"/>
          </a:p>
          <a:p>
            <a:pPr>
              <a:buSzPts val="1440"/>
            </a:pPr>
            <a:r>
              <a:rPr lang="en-US" dirty="0"/>
              <a:t>Email address: anaum.hamid@nu.edu.pk</a:t>
            </a:r>
            <a:endParaRPr dirty="0"/>
          </a:p>
        </p:txBody>
      </p:sp>
      <p:sp>
        <p:nvSpPr>
          <p:cNvPr id="149" name="Google Shape;149;p18"/>
          <p:cNvSpPr txBox="1"/>
          <p:nvPr/>
        </p:nvSpPr>
        <p:spPr>
          <a:xfrm>
            <a:off x="2739151" y="3427220"/>
            <a:ext cx="6713697" cy="769401"/>
          </a:xfrm>
          <a:prstGeom prst="rect">
            <a:avLst/>
          </a:prstGeom>
          <a:noFill/>
          <a:ln>
            <a:noFill/>
          </a:ln>
        </p:spPr>
        <p:txBody>
          <a:bodyPr spcFirstLastPara="1" wrap="square" lIns="91425" tIns="45700" rIns="91425" bIns="45700" anchor="t" anchorCtr="0">
            <a:spAutoFit/>
          </a:bodyPr>
          <a:lstStyle/>
          <a:p>
            <a:pPr algn="ctr"/>
            <a:r>
              <a:rPr lang="en-US" sz="4400" i="1" dirty="0">
                <a:solidFill>
                  <a:schemeClr val="dk1"/>
                </a:solidFill>
                <a:latin typeface="Trebuchet MS"/>
                <a:sym typeface="Trebuchet MS"/>
              </a:rPr>
              <a:t>Software Contracts</a:t>
            </a:r>
            <a:endParaRPr sz="4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Software Contracts and</a:t>
            </a:r>
            <a:br>
              <a:rPr lang="en-US" b="1" dirty="0"/>
            </a:br>
            <a:r>
              <a:rPr lang="en-US" b="1" dirty="0"/>
              <a:t>Liability</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a:t>What is a contract?</a:t>
            </a:r>
          </a:p>
          <a:p>
            <a:pPr marL="0" indent="0" algn="just">
              <a:buNone/>
            </a:pPr>
            <a:r>
              <a:rPr lang="en-US" sz="2400" dirty="0"/>
              <a:t>A contract is simply an agreement between two or more persons (the </a:t>
            </a:r>
            <a:r>
              <a:rPr lang="en-US" sz="2400" i="1" dirty="0"/>
              <a:t>parties </a:t>
            </a:r>
            <a:r>
              <a:rPr lang="en-US" sz="2400" dirty="0"/>
              <a:t>to the contract) that can be enforced in a court of law. The parties involved may be legal persons or natural persons.</a:t>
            </a:r>
          </a:p>
        </p:txBody>
      </p:sp>
    </p:spTree>
    <p:extLst>
      <p:ext uri="{BB962C8B-B14F-4D97-AF65-F5344CB8AC3E}">
        <p14:creationId xmlns:p14="http://schemas.microsoft.com/office/powerpoint/2010/main" val="1116757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Essentials for a contract</a:t>
            </a:r>
          </a:p>
        </p:txBody>
      </p:sp>
      <p:sp>
        <p:nvSpPr>
          <p:cNvPr id="3" name="Content Placeholder 2"/>
          <p:cNvSpPr>
            <a:spLocks noGrp="1"/>
          </p:cNvSpPr>
          <p:nvPr>
            <p:ph idx="1"/>
          </p:nvPr>
        </p:nvSpPr>
        <p:spPr/>
        <p:txBody>
          <a:bodyPr>
            <a:normAutofit/>
          </a:bodyPr>
          <a:lstStyle/>
          <a:p>
            <a:pPr marL="0" indent="0">
              <a:buNone/>
            </a:pPr>
            <a:r>
              <a:rPr lang="en-US" sz="2000" dirty="0"/>
              <a:t>The most important and essential concerns of a contract are that: </a:t>
            </a:r>
          </a:p>
          <a:p>
            <a:r>
              <a:rPr lang="en-US" sz="2000" dirty="0"/>
              <a:t> All the parties must intend to make a contract;</a:t>
            </a:r>
          </a:p>
          <a:p>
            <a:r>
              <a:rPr lang="en-US" sz="2000" dirty="0"/>
              <a:t> All the parties must be competent to make a contract, they must understand what they are doing;</a:t>
            </a:r>
          </a:p>
          <a:p>
            <a:r>
              <a:rPr lang="en-US" sz="2000" dirty="0"/>
              <a:t>There must be a ‘consideration’, that is, each party must be receiving something and providing something.</a:t>
            </a:r>
          </a:p>
        </p:txBody>
      </p:sp>
    </p:spTree>
    <p:extLst>
      <p:ext uri="{BB962C8B-B14F-4D97-AF65-F5344CB8AC3E}">
        <p14:creationId xmlns:p14="http://schemas.microsoft.com/office/powerpoint/2010/main" val="1158678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BESPOKE SYSTEMS</a:t>
            </a:r>
            <a:endParaRPr lang="en-US" dirty="0"/>
          </a:p>
        </p:txBody>
      </p:sp>
      <p:sp>
        <p:nvSpPr>
          <p:cNvPr id="3" name="Content Placeholder 2"/>
          <p:cNvSpPr>
            <a:spLocks noGrp="1"/>
          </p:cNvSpPr>
          <p:nvPr>
            <p:ph idx="1"/>
          </p:nvPr>
        </p:nvSpPr>
        <p:spPr/>
        <p:txBody>
          <a:bodyPr>
            <a:normAutofit lnSpcReduction="10000"/>
          </a:bodyPr>
          <a:lstStyle/>
          <a:p>
            <a:r>
              <a:rPr lang="en-US" dirty="0"/>
              <a:t>The first type of contract, we consider are </a:t>
            </a:r>
            <a:r>
              <a:rPr lang="en-US" i="1" dirty="0"/>
              <a:t>tailor-made </a:t>
            </a:r>
            <a:r>
              <a:rPr lang="en-US" dirty="0"/>
              <a:t>or </a:t>
            </a:r>
            <a:r>
              <a:rPr lang="en-US" i="1" dirty="0"/>
              <a:t>bespoke </a:t>
            </a:r>
            <a:r>
              <a:rPr lang="en-US" dirty="0"/>
              <a:t>systems, that are custom-designed specifically designed and developed to meet the unique needs of a particular organization or individual.</a:t>
            </a:r>
          </a:p>
          <a:p>
            <a:r>
              <a:rPr lang="en-US" dirty="0"/>
              <a:t>A bespoke system may consist of a single PC equipped with a word processor, a spreadsheet, and a set of macros adapted to the customer’s needs or it may consist of several thousand PCs spread across 50 offices in different parts of the world, connected by a wide-area network, with large database servers and a million lines of specially written software.</a:t>
            </a:r>
          </a:p>
          <a:p>
            <a:r>
              <a:rPr lang="en-US" dirty="0">
                <a:solidFill>
                  <a:srgbClr val="FF0000"/>
                </a:solidFill>
              </a:rPr>
              <a:t>Bespoke software solution can be created for a wide range of purposes, from automating business processes to managing customer data to facilitating collaboration among employees. Because it is custom-built to fit the specific needs of a particular organization or individual, bespoke software can often provide significant advantages in terms of efficiency, effectiveness, and overall productivity.</a:t>
            </a:r>
          </a:p>
          <a:p>
            <a:endParaRPr lang="en-US" dirty="0"/>
          </a:p>
        </p:txBody>
      </p:sp>
    </p:spTree>
    <p:extLst>
      <p:ext uri="{BB962C8B-B14F-4D97-AF65-F5344CB8AC3E}">
        <p14:creationId xmlns:p14="http://schemas.microsoft.com/office/powerpoint/2010/main" val="3005275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FIXED PRICE CONTRACTS FOR BESPOKE SYSTEMS</a:t>
            </a:r>
            <a:endParaRPr lang="en-US" dirty="0"/>
          </a:p>
        </p:txBody>
      </p:sp>
      <p:sp>
        <p:nvSpPr>
          <p:cNvPr id="3" name="Content Placeholder 2"/>
          <p:cNvSpPr>
            <a:spLocks noGrp="1"/>
          </p:cNvSpPr>
          <p:nvPr>
            <p:ph idx="1"/>
          </p:nvPr>
        </p:nvSpPr>
        <p:spPr/>
        <p:txBody>
          <a:bodyPr>
            <a:normAutofit/>
          </a:bodyPr>
          <a:lstStyle/>
          <a:p>
            <a:pPr marL="0" indent="0">
              <a:buNone/>
            </a:pPr>
            <a:r>
              <a:rPr lang="en-US" dirty="0"/>
              <a:t>The contract for the supply of a requirements system consists of three parts:</a:t>
            </a:r>
          </a:p>
          <a:p>
            <a:r>
              <a:rPr lang="en-US" dirty="0"/>
              <a:t> A </a:t>
            </a:r>
            <a:r>
              <a:rPr lang="en-US" dirty="0">
                <a:highlight>
                  <a:srgbClr val="FFFF00"/>
                </a:highlight>
              </a:rPr>
              <a:t>short </a:t>
            </a:r>
            <a:r>
              <a:rPr lang="en-US" i="1" dirty="0">
                <a:highlight>
                  <a:srgbClr val="FFFF00"/>
                </a:highlight>
              </a:rPr>
              <a:t>agreement</a:t>
            </a:r>
            <a:r>
              <a:rPr lang="en-US" dirty="0"/>
              <a:t>, which is signed by the parties to the contract: This states who the parties are and, anything that may have been said or written before does not form part of the contract.</a:t>
            </a:r>
          </a:p>
          <a:p>
            <a:r>
              <a:rPr lang="en-US" dirty="0"/>
              <a:t>The </a:t>
            </a:r>
            <a:r>
              <a:rPr lang="en-US" i="1" dirty="0">
                <a:highlight>
                  <a:srgbClr val="FFFF00"/>
                </a:highlight>
              </a:rPr>
              <a:t>standard terms and conditions</a:t>
            </a:r>
            <a:r>
              <a:rPr lang="en-US" dirty="0"/>
              <a:t>, which are normally those under which the supplier does business.</a:t>
            </a:r>
          </a:p>
          <a:p>
            <a:r>
              <a:rPr lang="en-US" dirty="0"/>
              <a:t> A set of </a:t>
            </a:r>
            <a:r>
              <a:rPr lang="en-US" i="1" dirty="0">
                <a:highlight>
                  <a:srgbClr val="FFFF00"/>
                </a:highlight>
              </a:rPr>
              <a:t>schedules </a:t>
            </a:r>
            <a:r>
              <a:rPr lang="en-US" dirty="0">
                <a:highlight>
                  <a:srgbClr val="FFFF00"/>
                </a:highlight>
              </a:rPr>
              <a:t>or </a:t>
            </a:r>
            <a:r>
              <a:rPr lang="en-US" i="1" dirty="0">
                <a:highlight>
                  <a:srgbClr val="FFFF00"/>
                </a:highlight>
              </a:rPr>
              <a:t>annexes</a:t>
            </a:r>
            <a:r>
              <a:rPr lang="en-US" dirty="0"/>
              <a:t>, which specify the requirements of this contract, including </a:t>
            </a:r>
            <a:r>
              <a:rPr lang="en-US" u="sng" dirty="0"/>
              <a:t>what is to be supplied, when it is to be supplied, what payments are to be made and when</a:t>
            </a:r>
            <a:r>
              <a:rPr lang="en-US" dirty="0"/>
              <a:t>, and so on.</a:t>
            </a:r>
          </a:p>
        </p:txBody>
      </p:sp>
    </p:spTree>
    <p:extLst>
      <p:ext uri="{BB962C8B-B14F-4D97-AF65-F5344CB8AC3E}">
        <p14:creationId xmlns:p14="http://schemas.microsoft.com/office/powerpoint/2010/main" val="454785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Isosceles Triangle 13">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Isosceles Triangle 17">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9" name="Isosceles Triangle 18">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pSp>
      <p:sp>
        <p:nvSpPr>
          <p:cNvPr id="21" name="Rectangle 20">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8301227"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ocument with a black border&#10;&#10;Description automatically generated with medium confidence">
            <a:extLst>
              <a:ext uri="{FF2B5EF4-FFF2-40B4-BE49-F238E27FC236}">
                <a16:creationId xmlns:a16="http://schemas.microsoft.com/office/drawing/2014/main" id="{63D5F321-D659-5893-5807-2699FF8A62E3}"/>
              </a:ext>
            </a:extLst>
          </p:cNvPr>
          <p:cNvPicPr>
            <a:picLocks noChangeAspect="1"/>
          </p:cNvPicPr>
          <p:nvPr/>
        </p:nvPicPr>
        <p:blipFill>
          <a:blip r:embed="rId2"/>
          <a:stretch>
            <a:fillRect/>
          </a:stretch>
        </p:blipFill>
        <p:spPr>
          <a:xfrm>
            <a:off x="2895221" y="1131994"/>
            <a:ext cx="3465740" cy="4590386"/>
          </a:xfrm>
          <a:prstGeom prst="rect">
            <a:avLst/>
          </a:prstGeom>
        </p:spPr>
      </p:pic>
    </p:spTree>
    <p:extLst>
      <p:ext uri="{BB962C8B-B14F-4D97-AF65-F5344CB8AC3E}">
        <p14:creationId xmlns:p14="http://schemas.microsoft.com/office/powerpoint/2010/main" val="3810618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in contract</a:t>
            </a:r>
          </a:p>
        </p:txBody>
      </p:sp>
      <p:sp>
        <p:nvSpPr>
          <p:cNvPr id="3" name="Content Placeholder 2"/>
          <p:cNvSpPr>
            <a:spLocks noGrp="1"/>
          </p:cNvSpPr>
          <p:nvPr>
            <p:ph idx="1"/>
          </p:nvPr>
        </p:nvSpPr>
        <p:spPr>
          <a:xfrm>
            <a:off x="805521" y="1528200"/>
            <a:ext cx="8596668" cy="4252403"/>
          </a:xfrm>
        </p:spPr>
        <p:txBody>
          <a:bodyPr>
            <a:normAutofit/>
          </a:bodyPr>
          <a:lstStyle/>
          <a:p>
            <a:r>
              <a:rPr lang="en-US" b="1" dirty="0"/>
              <a:t>What is to be produced</a:t>
            </a:r>
          </a:p>
          <a:p>
            <a:r>
              <a:rPr lang="en-US" b="1" dirty="0"/>
              <a:t>What is to be delivered</a:t>
            </a:r>
          </a:p>
          <a:p>
            <a:r>
              <a:rPr lang="en-US" b="1" dirty="0"/>
              <a:t>Ownership of rights</a:t>
            </a:r>
          </a:p>
          <a:p>
            <a:r>
              <a:rPr lang="en-US" b="1" dirty="0"/>
              <a:t>Confidentiality</a:t>
            </a:r>
          </a:p>
          <a:p>
            <a:r>
              <a:rPr lang="en-US" b="1" dirty="0"/>
              <a:t>Payment terms</a:t>
            </a:r>
          </a:p>
          <a:p>
            <a:r>
              <a:rPr lang="en-US" b="1" dirty="0"/>
              <a:t>Penalty clauses</a:t>
            </a:r>
          </a:p>
          <a:p>
            <a:r>
              <a:rPr lang="en-US" b="1" dirty="0"/>
              <a:t>Obligations of the client</a:t>
            </a:r>
          </a:p>
          <a:p>
            <a:r>
              <a:rPr lang="en-US" b="1" dirty="0"/>
              <a:t>Standards and methods of working</a:t>
            </a:r>
          </a:p>
        </p:txBody>
      </p:sp>
    </p:spTree>
    <p:extLst>
      <p:ext uri="{BB962C8B-B14F-4D97-AF65-F5344CB8AC3E}">
        <p14:creationId xmlns:p14="http://schemas.microsoft.com/office/powerpoint/2010/main" val="4123091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to be produced</a:t>
            </a:r>
            <a:br>
              <a:rPr lang="en-US" b="1" dirty="0"/>
            </a:br>
            <a:endParaRPr lang="en-US" dirty="0"/>
          </a:p>
        </p:txBody>
      </p:sp>
      <p:sp>
        <p:nvSpPr>
          <p:cNvPr id="3" name="Content Placeholder 2"/>
          <p:cNvSpPr>
            <a:spLocks noGrp="1"/>
          </p:cNvSpPr>
          <p:nvPr>
            <p:ph idx="1"/>
          </p:nvPr>
        </p:nvSpPr>
        <p:spPr>
          <a:xfrm>
            <a:off x="677334" y="1579475"/>
            <a:ext cx="8596668" cy="3880773"/>
          </a:xfrm>
        </p:spPr>
        <p:txBody>
          <a:bodyPr/>
          <a:lstStyle/>
          <a:p>
            <a:r>
              <a:rPr lang="en-US" dirty="0"/>
              <a:t>It is clearly necessary that the contract states what is to be produced.</a:t>
            </a:r>
          </a:p>
          <a:p>
            <a:r>
              <a:rPr lang="en-US" dirty="0"/>
              <a:t>requirements specification</a:t>
            </a:r>
          </a:p>
          <a:p>
            <a:pPr marL="0" indent="0">
              <a:buNone/>
            </a:pPr>
            <a:r>
              <a:rPr lang="en-US" dirty="0"/>
              <a:t>It is important that the reference to the requirements specification identifies that document uniquely; normally this will mean quoting a date and issue number.</a:t>
            </a:r>
          </a:p>
          <a:p>
            <a:pPr marL="0" indent="0">
              <a:buNone/>
            </a:pPr>
            <a:r>
              <a:rPr lang="en-US" dirty="0"/>
              <a:t>Problem: Any changes needed during the contract life</a:t>
            </a:r>
          </a:p>
        </p:txBody>
      </p:sp>
    </p:spTree>
    <p:extLst>
      <p:ext uri="{BB962C8B-B14F-4D97-AF65-F5344CB8AC3E}">
        <p14:creationId xmlns:p14="http://schemas.microsoft.com/office/powerpoint/2010/main" val="3741199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to be delivered</a:t>
            </a:r>
            <a:br>
              <a:rPr lang="en-US" b="1" dirty="0"/>
            </a:br>
            <a:endParaRPr lang="en-US" dirty="0"/>
          </a:p>
        </p:txBody>
      </p:sp>
      <p:sp>
        <p:nvSpPr>
          <p:cNvPr id="3" name="Content Placeholder 2"/>
          <p:cNvSpPr>
            <a:spLocks noGrp="1"/>
          </p:cNvSpPr>
          <p:nvPr>
            <p:ph idx="1"/>
          </p:nvPr>
        </p:nvSpPr>
        <p:spPr>
          <a:xfrm>
            <a:off x="814067" y="1562383"/>
            <a:ext cx="8596668" cy="3880773"/>
          </a:xfrm>
        </p:spPr>
        <p:txBody>
          <a:bodyPr>
            <a:normAutofit fontScale="92500" lnSpcReduction="10000"/>
          </a:bodyPr>
          <a:lstStyle/>
          <a:p>
            <a:pPr marL="0" indent="0">
              <a:buNone/>
            </a:pPr>
            <a:r>
              <a:rPr lang="en-US" dirty="0"/>
              <a:t>The following is a non-exhaustive list of possibilities:</a:t>
            </a:r>
          </a:p>
          <a:p>
            <a:r>
              <a:rPr lang="en-US" dirty="0"/>
              <a:t> Source Code</a:t>
            </a:r>
          </a:p>
          <a:p>
            <a:r>
              <a:rPr lang="en-US" dirty="0"/>
              <a:t> Command files/ batch files for building the executable code from the source and for installing it.</a:t>
            </a:r>
          </a:p>
          <a:p>
            <a:r>
              <a:rPr lang="en-US" dirty="0"/>
              <a:t> Documentation of the design of the code.</a:t>
            </a:r>
          </a:p>
          <a:p>
            <a:r>
              <a:rPr lang="en-US" dirty="0"/>
              <a:t> Reference manuals, training manuals and operations manuals.</a:t>
            </a:r>
          </a:p>
          <a:p>
            <a:r>
              <a:rPr lang="en-US" dirty="0"/>
              <a:t> Software tools to help maintain the code.</a:t>
            </a:r>
          </a:p>
          <a:p>
            <a:r>
              <a:rPr lang="en-US" dirty="0"/>
              <a:t> User training</a:t>
            </a:r>
          </a:p>
          <a:p>
            <a:r>
              <a:rPr lang="en-US" dirty="0"/>
              <a:t> Training for the client’s maintenance staff;</a:t>
            </a:r>
          </a:p>
          <a:p>
            <a:r>
              <a:rPr lang="en-US" dirty="0"/>
              <a:t> Test Cases and test results.</a:t>
            </a:r>
          </a:p>
          <a:p>
            <a:r>
              <a:rPr lang="en-US" dirty="0"/>
              <a:t>Deployment.</a:t>
            </a:r>
          </a:p>
        </p:txBody>
      </p:sp>
    </p:spTree>
    <p:extLst>
      <p:ext uri="{BB962C8B-B14F-4D97-AF65-F5344CB8AC3E}">
        <p14:creationId xmlns:p14="http://schemas.microsoft.com/office/powerpoint/2010/main" val="3272564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Ownership of rights</a:t>
            </a:r>
            <a:endParaRPr lang="en-US" dirty="0"/>
          </a:p>
        </p:txBody>
      </p:sp>
      <p:sp>
        <p:nvSpPr>
          <p:cNvPr id="3" name="Content Placeholder 2"/>
          <p:cNvSpPr>
            <a:spLocks noGrp="1"/>
          </p:cNvSpPr>
          <p:nvPr>
            <p:ph idx="1"/>
          </p:nvPr>
        </p:nvSpPr>
        <p:spPr>
          <a:xfrm>
            <a:off x="1259422" y="1488613"/>
            <a:ext cx="6815328" cy="3880773"/>
          </a:xfrm>
        </p:spPr>
        <p:txBody>
          <a:bodyPr>
            <a:normAutofit/>
          </a:bodyPr>
          <a:lstStyle/>
          <a:p>
            <a:pPr>
              <a:buFont typeface="Wingdings" panose="05000000000000000000" pitchFamily="2" charset="2"/>
              <a:buChar char="Ø"/>
            </a:pPr>
            <a:r>
              <a:rPr lang="en-US" dirty="0"/>
              <a:t>It is important for the contract to state precisely who is to own these rights and what legal rights are being passed by the software house to the client under the contract.</a:t>
            </a:r>
          </a:p>
          <a:p>
            <a:pPr>
              <a:buFont typeface="Wingdings" panose="05000000000000000000" pitchFamily="2" charset="2"/>
              <a:buChar char="Ø"/>
            </a:pPr>
            <a:r>
              <a:rPr lang="en-US" dirty="0"/>
              <a:t>Ownership in physical items will usually pass from the software house to the client, but other intangible rights (known as intellectual property rights) making more problems.</a:t>
            </a:r>
          </a:p>
          <a:p>
            <a:pPr>
              <a:buFont typeface="Wingdings" panose="05000000000000000000" pitchFamily="2" charset="2"/>
              <a:buChar char="Ø"/>
            </a:pPr>
            <a:r>
              <a:rPr lang="en-US" dirty="0"/>
              <a:t>Software is potentially protectable by a number of intellectual property rights, such as copyright, design rights, confidentiality and trademarks. </a:t>
            </a:r>
          </a:p>
        </p:txBody>
      </p:sp>
    </p:spTree>
    <p:extLst>
      <p:ext uri="{BB962C8B-B14F-4D97-AF65-F5344CB8AC3E}">
        <p14:creationId xmlns:p14="http://schemas.microsoft.com/office/powerpoint/2010/main" val="2055406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Confidentiality</a:t>
            </a:r>
            <a:endParaRPr lang="en-US" dirty="0"/>
          </a:p>
        </p:txBody>
      </p:sp>
      <p:sp>
        <p:nvSpPr>
          <p:cNvPr id="3" name="Content Placeholder 2"/>
          <p:cNvSpPr>
            <a:spLocks noGrp="1"/>
          </p:cNvSpPr>
          <p:nvPr>
            <p:ph idx="1"/>
          </p:nvPr>
        </p:nvSpPr>
        <p:spPr>
          <a:xfrm>
            <a:off x="677334" y="1391468"/>
            <a:ext cx="8596668" cy="3880773"/>
          </a:xfrm>
        </p:spPr>
        <p:txBody>
          <a:bodyPr>
            <a:normAutofit/>
          </a:bodyPr>
          <a:lstStyle/>
          <a:p>
            <a:pPr algn="just"/>
            <a:r>
              <a:rPr lang="en-US" dirty="0"/>
              <a:t>When a major must software system is being developed, Client have to pass confidential information about its business operations to the software house. On the other hand, the software house may not want the client to divulge to other details of the program content.</a:t>
            </a:r>
          </a:p>
          <a:p>
            <a:pPr algn="just"/>
            <a:r>
              <a:rPr lang="en-US" dirty="0"/>
              <a:t>Non of the parties would like the other to disclose its secrets.</a:t>
            </a:r>
          </a:p>
          <a:p>
            <a:pPr algn="just"/>
            <a:r>
              <a:rPr lang="en-US" dirty="0"/>
              <a:t>It is usual in these circumstances for each party to promise to maintain the confidentiality of the other’s secrets, and for express terms to that effect to be included in the contract.</a:t>
            </a:r>
          </a:p>
          <a:p>
            <a:endParaRPr lang="en-US" dirty="0"/>
          </a:p>
        </p:txBody>
      </p:sp>
    </p:spTree>
    <p:extLst>
      <p:ext uri="{BB962C8B-B14F-4D97-AF65-F5344CB8AC3E}">
        <p14:creationId xmlns:p14="http://schemas.microsoft.com/office/powerpoint/2010/main" val="3487768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Payment terms</a:t>
            </a:r>
            <a:endParaRPr lang="en-US" dirty="0"/>
          </a:p>
        </p:txBody>
      </p:sp>
      <p:sp>
        <p:nvSpPr>
          <p:cNvPr id="3" name="Content Placeholder 2"/>
          <p:cNvSpPr>
            <a:spLocks noGrp="1"/>
          </p:cNvSpPr>
          <p:nvPr>
            <p:ph idx="1"/>
          </p:nvPr>
        </p:nvSpPr>
        <p:spPr>
          <a:xfrm>
            <a:off x="677334" y="1562932"/>
            <a:ext cx="8596668" cy="4110962"/>
          </a:xfrm>
        </p:spPr>
        <p:txBody>
          <a:bodyPr>
            <a:normAutofit/>
          </a:bodyPr>
          <a:lstStyle/>
          <a:p>
            <a:pPr marL="0" indent="0">
              <a:buNone/>
            </a:pPr>
            <a:r>
              <a:rPr lang="en-US" dirty="0"/>
              <a:t>A pattern of payments such as the following must be included:</a:t>
            </a:r>
          </a:p>
          <a:p>
            <a:r>
              <a:rPr lang="en-US" dirty="0"/>
              <a:t> an initial payment of 15% of the contract value becomes due on signature of the contract. (Requirement gathering)</a:t>
            </a:r>
          </a:p>
          <a:p>
            <a:r>
              <a:rPr lang="en-US" dirty="0"/>
              <a:t>Further stage payments become due at various points during the development, bringing the total up to 65%. (Development and testing)</a:t>
            </a:r>
          </a:p>
          <a:p>
            <a:r>
              <a:rPr lang="en-US" dirty="0"/>
              <a:t> A further 25% becomes due on acceptance of the software. (Deployment)</a:t>
            </a:r>
          </a:p>
          <a:p>
            <a:r>
              <a:rPr lang="en-US" dirty="0"/>
              <a:t> Final 10% becomes due at the end of the warranty period. (Beta Passed)</a:t>
            </a:r>
          </a:p>
        </p:txBody>
      </p:sp>
    </p:spTree>
    <p:extLst>
      <p:ext uri="{BB962C8B-B14F-4D97-AF65-F5344CB8AC3E}">
        <p14:creationId xmlns:p14="http://schemas.microsoft.com/office/powerpoint/2010/main" val="1340056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Calculating payments for delays and changes</a:t>
            </a:r>
            <a:endParaRPr lang="en-US" dirty="0"/>
          </a:p>
        </p:txBody>
      </p:sp>
      <p:sp>
        <p:nvSpPr>
          <p:cNvPr id="3" name="Content Placeholder 2"/>
          <p:cNvSpPr>
            <a:spLocks noGrp="1"/>
          </p:cNvSpPr>
          <p:nvPr>
            <p:ph idx="1"/>
          </p:nvPr>
        </p:nvSpPr>
        <p:spPr>
          <a:xfrm>
            <a:off x="745701" y="1930400"/>
            <a:ext cx="8596668" cy="3880773"/>
          </a:xfrm>
        </p:spPr>
        <p:txBody>
          <a:bodyPr>
            <a:normAutofit lnSpcReduction="10000"/>
          </a:bodyPr>
          <a:lstStyle/>
          <a:p>
            <a:endParaRPr lang="en-US" dirty="0"/>
          </a:p>
          <a:p>
            <a:r>
              <a:rPr lang="en-US" dirty="0"/>
              <a:t>Both sides of the parties may create less or high loss regarding unable of meeting the timeline. Thus, extra work must be indulged producing extra payments.</a:t>
            </a:r>
          </a:p>
          <a:p>
            <a:r>
              <a:rPr lang="en-US" dirty="0"/>
              <a:t>The contract must specify the process by which these extra payments are to be calculated.</a:t>
            </a:r>
          </a:p>
          <a:p>
            <a:r>
              <a:rPr lang="en-US" dirty="0"/>
              <a:t>The contract should make provision for payments to compensate for the wasted effort, incurred, for example, when the client fails to provide information on a due date or when changes are requested that result in extra work.</a:t>
            </a:r>
          </a:p>
          <a:p>
            <a:r>
              <a:rPr lang="en-US" dirty="0"/>
              <a:t>Delay payments and payments for variations to the original requirements are the most common cause of contractual disputes.</a:t>
            </a:r>
          </a:p>
        </p:txBody>
      </p:sp>
    </p:spTree>
    <p:extLst>
      <p:ext uri="{BB962C8B-B14F-4D97-AF65-F5344CB8AC3E}">
        <p14:creationId xmlns:p14="http://schemas.microsoft.com/office/powerpoint/2010/main" val="1245663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87552"/>
          </a:xfrm>
        </p:spPr>
        <p:txBody>
          <a:bodyPr/>
          <a:lstStyle/>
          <a:p>
            <a:r>
              <a:rPr lang="en-US" b="1" dirty="0"/>
              <a:t>Penalty clauses</a:t>
            </a:r>
            <a:endParaRPr lang="en-US" dirty="0"/>
          </a:p>
        </p:txBody>
      </p:sp>
      <p:sp>
        <p:nvSpPr>
          <p:cNvPr id="3" name="Content Placeholder 2"/>
          <p:cNvSpPr>
            <a:spLocks noGrp="1"/>
          </p:cNvSpPr>
          <p:nvPr>
            <p:ph idx="1"/>
          </p:nvPr>
        </p:nvSpPr>
        <p:spPr>
          <a:xfrm>
            <a:off x="677334" y="1597153"/>
            <a:ext cx="8596668" cy="4444210"/>
          </a:xfrm>
        </p:spPr>
        <p:txBody>
          <a:bodyPr>
            <a:normAutofit/>
          </a:bodyPr>
          <a:lstStyle/>
          <a:p>
            <a:pPr marL="0" indent="0">
              <a:buNone/>
            </a:pPr>
            <a:r>
              <a:rPr lang="en-US" dirty="0"/>
              <a:t>The previous subsection dealt with compensation for delays caused by the client; delays caused by the supplier are handled differently.</a:t>
            </a:r>
          </a:p>
          <a:p>
            <a:pPr marL="0" indent="0">
              <a:buNone/>
            </a:pPr>
            <a:r>
              <a:rPr lang="en-US" dirty="0"/>
              <a:t>Delays in delivering working software are notoriously common; it might therefore be expected that contracts for the supply of software would normally include such a penalty clause. There are three reasons for this:</a:t>
            </a:r>
          </a:p>
          <a:p>
            <a:r>
              <a:rPr lang="en-US" dirty="0"/>
              <a:t> Suppliers are very reluctant to accept penalty clauses and anything stronger than the example quoted above is likely to lead to reputable suppliers refusing to bid.</a:t>
            </a:r>
          </a:p>
          <a:p>
            <a:r>
              <a:rPr lang="en-US" dirty="0"/>
              <a:t> If the contract is to include penalty clauses, the bid price is likely to be increased by at least half the maximum value of the penalty.</a:t>
            </a:r>
          </a:p>
          <a:p>
            <a:r>
              <a:rPr lang="en-US" dirty="0"/>
              <a:t>If the software is seriously late and penalties approach their maximum, there is little incentive for the supplier to complete the work since they will already have received in stage payments as much as they are going to get.</a:t>
            </a:r>
          </a:p>
        </p:txBody>
      </p:sp>
    </p:spTree>
    <p:extLst>
      <p:ext uri="{BB962C8B-B14F-4D97-AF65-F5344CB8AC3E}">
        <p14:creationId xmlns:p14="http://schemas.microsoft.com/office/powerpoint/2010/main" val="123924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48B70-E669-CE08-A44A-EA9CA6898AA7}"/>
              </a:ext>
            </a:extLst>
          </p:cNvPr>
          <p:cNvSpPr>
            <a:spLocks noGrp="1"/>
          </p:cNvSpPr>
          <p:nvPr>
            <p:ph type="title"/>
          </p:nvPr>
        </p:nvSpPr>
        <p:spPr>
          <a:xfrm>
            <a:off x="677334" y="609600"/>
            <a:ext cx="8596668" cy="962826"/>
          </a:xfrm>
        </p:spPr>
        <p:txBody>
          <a:bodyPr/>
          <a:lstStyle/>
          <a:p>
            <a:r>
              <a:rPr lang="en-US" b="1" dirty="0"/>
              <a:t>Obligations of the client</a:t>
            </a:r>
            <a:endParaRPr lang="en-PK" dirty="0"/>
          </a:p>
        </p:txBody>
      </p:sp>
      <p:sp>
        <p:nvSpPr>
          <p:cNvPr id="3" name="Content Placeholder 2">
            <a:extLst>
              <a:ext uri="{FF2B5EF4-FFF2-40B4-BE49-F238E27FC236}">
                <a16:creationId xmlns:a16="http://schemas.microsoft.com/office/drawing/2014/main" id="{94335130-3779-A5FC-92ED-4E407C898CE8}"/>
              </a:ext>
            </a:extLst>
          </p:cNvPr>
          <p:cNvSpPr>
            <a:spLocks noGrp="1"/>
          </p:cNvSpPr>
          <p:nvPr>
            <p:ph idx="1"/>
          </p:nvPr>
        </p:nvSpPr>
        <p:spPr>
          <a:xfrm>
            <a:off x="677334" y="1929852"/>
            <a:ext cx="8596668" cy="3880773"/>
          </a:xfrm>
        </p:spPr>
        <p:txBody>
          <a:bodyPr>
            <a:normAutofit/>
          </a:bodyPr>
          <a:lstStyle/>
          <a:p>
            <a:r>
              <a:rPr lang="en-US" dirty="0"/>
              <a:t>Client usually has some responsibilities to help get the work done smoothly. These might include:</a:t>
            </a:r>
          </a:p>
          <a:p>
            <a:pPr>
              <a:buFont typeface="+mj-lt"/>
              <a:buAutoNum type="arabicPeriod"/>
            </a:pPr>
            <a:r>
              <a:rPr lang="en-US" dirty="0"/>
              <a:t>Sharing relevant documents about their business or the system’s environment.</a:t>
            </a:r>
          </a:p>
          <a:p>
            <a:pPr>
              <a:buFont typeface="+mj-lt"/>
              <a:buAutoNum type="arabicPeriod"/>
            </a:pPr>
            <a:r>
              <a:rPr lang="en-US" dirty="0"/>
              <a:t>Giving access to the right staff members.</a:t>
            </a:r>
          </a:p>
          <a:p>
            <a:pPr>
              <a:buFont typeface="+mj-lt"/>
              <a:buAutoNum type="arabicPeriod"/>
            </a:pPr>
            <a:r>
              <a:rPr lang="en-US" dirty="0"/>
              <a:t>Providing computers and equipment for development and testing.</a:t>
            </a:r>
          </a:p>
          <a:p>
            <a:pPr>
              <a:buFont typeface="+mj-lt"/>
              <a:buAutoNum type="arabicPeriod"/>
            </a:pPr>
            <a:r>
              <a:rPr lang="en-US" dirty="0"/>
              <a:t>Offering workspace, phone, and administrative support if work is done at their location.</a:t>
            </a:r>
          </a:p>
          <a:p>
            <a:pPr>
              <a:buFont typeface="+mj-lt"/>
              <a:buAutoNum type="arabicPeriod"/>
            </a:pPr>
            <a:r>
              <a:rPr lang="en-US" dirty="0"/>
              <a:t>Setting up data communication as needed.</a:t>
            </a:r>
          </a:p>
          <a:p>
            <a:r>
              <a:rPr lang="en-US" dirty="0"/>
              <a:t>These obligations and deadlines are usually listed in the contract. If the client doesn’t meet these, they might have to pay for any delays.</a:t>
            </a:r>
          </a:p>
        </p:txBody>
      </p:sp>
    </p:spTree>
    <p:extLst>
      <p:ext uri="{BB962C8B-B14F-4D97-AF65-F5344CB8AC3E}">
        <p14:creationId xmlns:p14="http://schemas.microsoft.com/office/powerpoint/2010/main" val="2704465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Standards and methods of working</a:t>
            </a:r>
            <a:endParaRPr lang="en-US" dirty="0"/>
          </a:p>
        </p:txBody>
      </p:sp>
      <p:sp>
        <p:nvSpPr>
          <p:cNvPr id="3" name="Content Placeholder 2"/>
          <p:cNvSpPr>
            <a:spLocks noGrp="1"/>
          </p:cNvSpPr>
          <p:nvPr>
            <p:ph idx="1"/>
          </p:nvPr>
        </p:nvSpPr>
        <p:spPr>
          <a:xfrm>
            <a:off x="677334" y="1693889"/>
            <a:ext cx="8596668" cy="4347473"/>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Rectangle 3"/>
          <p:cNvSpPr/>
          <p:nvPr/>
        </p:nvSpPr>
        <p:spPr>
          <a:xfrm>
            <a:off x="677334" y="1859340"/>
            <a:ext cx="9590928" cy="2677656"/>
          </a:xfrm>
          <a:prstGeom prst="rect">
            <a:avLst/>
          </a:prstGeom>
        </p:spPr>
        <p:txBody>
          <a:bodyPr wrap="square">
            <a:spAutoFit/>
          </a:bodyPr>
          <a:lstStyle/>
          <a:p>
            <a:pPr marL="342900" indent="-342900">
              <a:buClr>
                <a:schemeClr val="accent1"/>
              </a:buClr>
              <a:buFont typeface="Wingdings" panose="05000000000000000000" pitchFamily="2" charset="2"/>
              <a:buChar char="Ø"/>
            </a:pPr>
            <a:r>
              <a:rPr lang="en-US" sz="2400" dirty="0">
                <a:latin typeface="Utopia-Regular"/>
              </a:rPr>
              <a:t>The supplier is likely to have company standards, methods of working, quality assurance procedures, and so on, and will normally prefer to use these. </a:t>
            </a:r>
          </a:p>
          <a:p>
            <a:pPr marL="342900" indent="-342900">
              <a:buClr>
                <a:schemeClr val="accent1"/>
              </a:buClr>
              <a:buFont typeface="Wingdings" panose="05000000000000000000" pitchFamily="2" charset="2"/>
              <a:buChar char="Ø"/>
            </a:pPr>
            <a:r>
              <a:rPr lang="en-US" sz="2400" dirty="0">
                <a:latin typeface="Utopia-Regular"/>
              </a:rPr>
              <a:t>More sophisticated clients will have their own procedures and may require that these be adhered to. In some cases, the supplier may be required to allow the client to apply quality control procedures to the project. The contract must specify which is to apply.</a:t>
            </a:r>
            <a:endParaRPr lang="en-US" sz="2400" dirty="0"/>
          </a:p>
        </p:txBody>
      </p:sp>
    </p:spTree>
    <p:extLst>
      <p:ext uri="{BB962C8B-B14F-4D97-AF65-F5344CB8AC3E}">
        <p14:creationId xmlns:p14="http://schemas.microsoft.com/office/powerpoint/2010/main" val="1299775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4387"/>
          </a:xfrm>
        </p:spPr>
        <p:txBody>
          <a:bodyPr/>
          <a:lstStyle/>
          <a:p>
            <a:r>
              <a:rPr lang="en-US" dirty="0"/>
              <a:t>Project meeting</a:t>
            </a:r>
          </a:p>
        </p:txBody>
      </p:sp>
      <p:sp>
        <p:nvSpPr>
          <p:cNvPr id="3" name="Content Placeholder 2"/>
          <p:cNvSpPr>
            <a:spLocks noGrp="1"/>
          </p:cNvSpPr>
          <p:nvPr>
            <p:ph idx="1"/>
          </p:nvPr>
        </p:nvSpPr>
        <p:spPr>
          <a:xfrm>
            <a:off x="922946" y="1648919"/>
            <a:ext cx="8351056" cy="2880352"/>
          </a:xfrm>
        </p:spPr>
        <p:txBody>
          <a:bodyPr>
            <a:normAutofit/>
          </a:bodyPr>
          <a:lstStyle/>
          <a:p>
            <a:pPr>
              <a:buFont typeface="Wingdings" panose="05000000000000000000" pitchFamily="2" charset="2"/>
              <a:buChar char="Ø"/>
            </a:pPr>
            <a:r>
              <a:rPr lang="en-US" dirty="0"/>
              <a:t>Regular progress meetings are essential to the successful completion of a fixed price contract, and it is advisable that standard terms and conditions require them to be held. </a:t>
            </a:r>
          </a:p>
          <a:p>
            <a:pPr>
              <a:buFont typeface="Wingdings" panose="05000000000000000000" pitchFamily="2" charset="2"/>
              <a:buChar char="Ø"/>
            </a:pPr>
            <a:r>
              <a:rPr lang="en-US" dirty="0"/>
              <a:t>The minutes of progress meetings, duly approved and signed, should have contractual significance in that they constitute evidence that milestones have been reached (so that stage payments become due) and that delay payments have been agreed.</a:t>
            </a:r>
          </a:p>
        </p:txBody>
      </p:sp>
    </p:spTree>
    <p:extLst>
      <p:ext uri="{BB962C8B-B14F-4D97-AF65-F5344CB8AC3E}">
        <p14:creationId xmlns:p14="http://schemas.microsoft.com/office/powerpoint/2010/main" val="885554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managers</a:t>
            </a:r>
          </a:p>
        </p:txBody>
      </p:sp>
      <p:sp>
        <p:nvSpPr>
          <p:cNvPr id="3" name="Content Placeholder 2"/>
          <p:cNvSpPr>
            <a:spLocks noGrp="1"/>
          </p:cNvSpPr>
          <p:nvPr>
            <p:ph idx="1"/>
          </p:nvPr>
        </p:nvSpPr>
        <p:spPr>
          <a:xfrm>
            <a:off x="677334" y="1588957"/>
            <a:ext cx="8596668" cy="4452405"/>
          </a:xfrm>
        </p:spPr>
        <p:txBody>
          <a:bodyPr>
            <a:normAutofit/>
          </a:bodyPr>
          <a:lstStyle/>
          <a:p>
            <a:pPr>
              <a:buFont typeface="Wingdings" panose="05000000000000000000" pitchFamily="2" charset="2"/>
              <a:buChar char="Ø"/>
            </a:pPr>
            <a:r>
              <a:rPr lang="en-US" dirty="0"/>
              <a:t>Each party needs to know who, of the other party’s staff, has day-to-day responsibility for the work and what the limits of that person’s authority are.</a:t>
            </a:r>
          </a:p>
          <a:p>
            <a:pPr>
              <a:buFont typeface="Wingdings" panose="05000000000000000000" pitchFamily="2" charset="2"/>
              <a:buChar char="Ø"/>
            </a:pPr>
            <a:r>
              <a:rPr lang="en-US" dirty="0"/>
              <a:t>The standard terms and conditions should therefore require each party to nominate, in writing, a project manager. </a:t>
            </a:r>
          </a:p>
          <a:p>
            <a:pPr>
              <a:buFont typeface="Wingdings" panose="05000000000000000000" pitchFamily="2" charset="2"/>
              <a:buChar char="Ø"/>
            </a:pPr>
            <a:r>
              <a:rPr lang="en-US" dirty="0"/>
              <a:t>The project managers must have at least the authority necessary to fulfil the obligations that the contract places on them. </a:t>
            </a:r>
          </a:p>
          <a:p>
            <a:pPr>
              <a:buFont typeface="Wingdings" panose="05000000000000000000" pitchFamily="2" charset="2"/>
              <a:buChar char="Ø"/>
            </a:pPr>
            <a:r>
              <a:rPr lang="en-US" dirty="0"/>
              <a:t>It is particularly important that the limits of their financial authority are explicitly stated, that is, the extent to which they can authorize changes to the cost of the contract.</a:t>
            </a:r>
          </a:p>
        </p:txBody>
      </p:sp>
    </p:spTree>
    <p:extLst>
      <p:ext uri="{BB962C8B-B14F-4D97-AF65-F5344CB8AC3E}">
        <p14:creationId xmlns:p14="http://schemas.microsoft.com/office/powerpoint/2010/main" val="2068067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Acceptance procedures</a:t>
            </a:r>
          </a:p>
        </p:txBody>
      </p:sp>
      <p:sp>
        <p:nvSpPr>
          <p:cNvPr id="4" name="Rectangle 3"/>
          <p:cNvSpPr/>
          <p:nvPr/>
        </p:nvSpPr>
        <p:spPr>
          <a:xfrm>
            <a:off x="853373" y="1677785"/>
            <a:ext cx="9333214" cy="4093428"/>
          </a:xfrm>
          <a:prstGeom prst="rect">
            <a:avLst/>
          </a:prstGeom>
        </p:spPr>
        <p:txBody>
          <a:bodyPr wrap="square">
            <a:spAutoFit/>
          </a:bodyPr>
          <a:lstStyle/>
          <a:p>
            <a:pPr marL="285750" indent="-285750">
              <a:buClr>
                <a:schemeClr val="accent1"/>
              </a:buClr>
              <a:buFont typeface="Wingdings" panose="05000000000000000000" pitchFamily="2" charset="2"/>
              <a:buChar char="Ø"/>
            </a:pPr>
            <a:r>
              <a:rPr lang="en-US" sz="2000" dirty="0">
                <a:latin typeface="Utopia-Regular"/>
              </a:rPr>
              <a:t>Acceptance procedures are the criteria by which successful completion of the contract is judged.</a:t>
            </a:r>
          </a:p>
          <a:p>
            <a:pPr marL="285750" indent="-285750">
              <a:buClr>
                <a:schemeClr val="accent1"/>
              </a:buClr>
              <a:buFont typeface="Wingdings" panose="05000000000000000000" pitchFamily="2" charset="2"/>
              <a:buChar char="Ø"/>
            </a:pPr>
            <a:r>
              <a:rPr lang="en-US" sz="2000" dirty="0">
                <a:latin typeface="Utopia-Regular"/>
              </a:rPr>
              <a:t>The essence of the acceptance procedure is that the </a:t>
            </a:r>
            <a:r>
              <a:rPr lang="en-US" sz="2000" dirty="0">
                <a:highlight>
                  <a:srgbClr val="FFFF00"/>
                </a:highlight>
                <a:latin typeface="Utopia-Regular"/>
              </a:rPr>
              <a:t>client should provide a fixed set of acceptance tests and expected results and that successful performance  </a:t>
            </a:r>
            <a:r>
              <a:rPr lang="en-US" sz="2000" dirty="0">
                <a:latin typeface="Utopia-Regular"/>
              </a:rPr>
              <a:t>of these tests shall constitute acceptance of the system. </a:t>
            </a:r>
          </a:p>
          <a:p>
            <a:pPr marL="285750" indent="-285750">
              <a:buClr>
                <a:schemeClr val="accent1"/>
              </a:buClr>
              <a:buFont typeface="Wingdings" panose="05000000000000000000" pitchFamily="2" charset="2"/>
              <a:buChar char="Ø"/>
            </a:pPr>
            <a:r>
              <a:rPr lang="en-US" sz="2000" dirty="0">
                <a:latin typeface="Utopia-Regular"/>
              </a:rPr>
              <a:t>The tests must be provided at or before the start of the acceptance procedure; within reason, there may be as many tests as the client wishes, but extra tests cannot be added once the test set has been handed over. </a:t>
            </a:r>
            <a:r>
              <a:rPr lang="en-US" sz="2000" dirty="0">
                <a:highlight>
                  <a:srgbClr val="C0C0C0"/>
                </a:highlight>
                <a:latin typeface="Utopia-Regular"/>
              </a:rPr>
              <a:t>(Requirement gathering)</a:t>
            </a:r>
          </a:p>
          <a:p>
            <a:pPr marL="285750" indent="-285750">
              <a:buClr>
                <a:schemeClr val="accent1"/>
              </a:buClr>
              <a:buFont typeface="Wingdings" panose="05000000000000000000" pitchFamily="2" charset="2"/>
              <a:buChar char="Ø"/>
            </a:pPr>
            <a:r>
              <a:rPr lang="en-US" sz="2000" dirty="0">
                <a:latin typeface="Utopia-Regular"/>
              </a:rPr>
              <a:t>The purpose of this restriction is to ensure that the acceptance procedure can be completed in reasonable time.</a:t>
            </a:r>
          </a:p>
          <a:p>
            <a:pPr marL="285750" indent="-285750">
              <a:buClr>
                <a:schemeClr val="accent1"/>
              </a:buClr>
              <a:buFont typeface="Wingdings" panose="05000000000000000000" pitchFamily="2" charset="2"/>
              <a:buChar char="Ø"/>
            </a:pPr>
            <a:r>
              <a:rPr lang="en-US" sz="2000" dirty="0">
                <a:latin typeface="Utopia-Regular"/>
              </a:rPr>
              <a:t>The term should be included in the contract that who shall be present when the tests are carried out and what happens if the tests are not completed successfully. </a:t>
            </a:r>
            <a:r>
              <a:rPr lang="en-US" sz="2000" dirty="0">
                <a:highlight>
                  <a:srgbClr val="C0C0C0"/>
                </a:highlight>
                <a:latin typeface="Utopia-Regular"/>
              </a:rPr>
              <a:t>(Exceptional Handling)</a:t>
            </a:r>
            <a:endParaRPr lang="en-US" sz="2000" dirty="0">
              <a:highlight>
                <a:srgbClr val="C0C0C0"/>
              </a:highlight>
            </a:endParaRPr>
          </a:p>
        </p:txBody>
      </p:sp>
    </p:spTree>
    <p:extLst>
      <p:ext uri="{BB962C8B-B14F-4D97-AF65-F5344CB8AC3E}">
        <p14:creationId xmlns:p14="http://schemas.microsoft.com/office/powerpoint/2010/main" val="1344123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4447"/>
          </a:xfrm>
        </p:spPr>
        <p:txBody>
          <a:bodyPr/>
          <a:lstStyle/>
          <a:p>
            <a:r>
              <a:rPr lang="en-US" dirty="0"/>
              <a:t>Warranty and maintenance</a:t>
            </a:r>
          </a:p>
        </p:txBody>
      </p:sp>
      <p:sp>
        <p:nvSpPr>
          <p:cNvPr id="4" name="Rectangle 3"/>
          <p:cNvSpPr/>
          <p:nvPr/>
        </p:nvSpPr>
        <p:spPr>
          <a:xfrm>
            <a:off x="875858" y="1454047"/>
            <a:ext cx="8199620" cy="3970318"/>
          </a:xfrm>
          <a:prstGeom prst="rect">
            <a:avLst/>
          </a:prstGeom>
        </p:spPr>
        <p:txBody>
          <a:bodyPr wrap="square">
            <a:spAutoFit/>
          </a:bodyPr>
          <a:lstStyle/>
          <a:p>
            <a:pPr marL="285750" indent="-285750">
              <a:buClr>
                <a:schemeClr val="accent1"/>
              </a:buClr>
              <a:buFont typeface="Wingdings" panose="05000000000000000000" pitchFamily="2" charset="2"/>
              <a:buChar char="Ø"/>
            </a:pPr>
            <a:r>
              <a:rPr lang="en-US" dirty="0">
                <a:latin typeface="Utopia-Regular"/>
              </a:rPr>
              <a:t>Once the product has been accepted </a:t>
            </a:r>
            <a:r>
              <a:rPr lang="en-US" dirty="0">
                <a:highlight>
                  <a:srgbClr val="C0C0C0"/>
                </a:highlight>
                <a:latin typeface="Utopia-Regular"/>
              </a:rPr>
              <a:t>(Deployment done), </a:t>
            </a:r>
            <a:r>
              <a:rPr lang="en-US" dirty="0">
                <a:latin typeface="Utopia-Regular"/>
              </a:rPr>
              <a:t>beta testing required, typically 90 days. Any errors found in the software and reported within this period will be corrected free of charge. This clause is, subject to negotiation, reducing or eliminating the warranty period will reduce the overall cost of the contract and prolonging the period will increase it.</a:t>
            </a:r>
          </a:p>
          <a:p>
            <a:pPr marL="285750" indent="-285750">
              <a:buClr>
                <a:schemeClr val="accent1"/>
              </a:buClr>
              <a:buFont typeface="Wingdings" panose="05000000000000000000" pitchFamily="2" charset="2"/>
              <a:buChar char="Ø"/>
            </a:pPr>
            <a:endParaRPr lang="en-US" dirty="0">
              <a:latin typeface="Utopia-Regular"/>
            </a:endParaRPr>
          </a:p>
          <a:p>
            <a:pPr marL="285750" indent="-285750">
              <a:buClr>
                <a:schemeClr val="accent1"/>
              </a:buClr>
              <a:buFont typeface="Wingdings" panose="05000000000000000000" pitchFamily="2" charset="2"/>
              <a:buChar char="Ø"/>
            </a:pPr>
            <a:r>
              <a:rPr lang="en-US" dirty="0">
                <a:latin typeface="Utopia-Regular"/>
              </a:rPr>
              <a:t>Once the warranty period is over, the supplier may offer, or the client demand, that maintenance will continue to be available on request </a:t>
            </a:r>
            <a:r>
              <a:rPr lang="en-US" dirty="0">
                <a:highlight>
                  <a:srgbClr val="C0C0C0"/>
                </a:highlight>
                <a:latin typeface="Utopia-Regular"/>
              </a:rPr>
              <a:t>(Support). </a:t>
            </a:r>
            <a:r>
              <a:rPr lang="en-US" dirty="0">
                <a:latin typeface="Utopia-Regular"/>
              </a:rPr>
              <a:t>Since such maintenance is likely to involve enhancement of the software rather than simply correction of faults, the resources required are unpredictable –the client almost certainly does not know what enhancements will be required in two years’ time. </a:t>
            </a:r>
          </a:p>
          <a:p>
            <a:pPr marL="285750" indent="-285750">
              <a:buClr>
                <a:schemeClr val="accent1"/>
              </a:buClr>
              <a:buFont typeface="Wingdings" panose="05000000000000000000" pitchFamily="2" charset="2"/>
              <a:buChar char="Ø"/>
            </a:pPr>
            <a:endParaRPr lang="en-US" dirty="0">
              <a:latin typeface="Utopia-Regular"/>
            </a:endParaRPr>
          </a:p>
          <a:p>
            <a:pPr marL="285750" indent="-285750">
              <a:buClr>
                <a:schemeClr val="accent1"/>
              </a:buClr>
              <a:buFont typeface="Wingdings" panose="05000000000000000000" pitchFamily="2" charset="2"/>
              <a:buChar char="Ø"/>
            </a:pPr>
            <a:r>
              <a:rPr lang="en-US" dirty="0">
                <a:latin typeface="Utopia-Regular"/>
              </a:rPr>
              <a:t>For this reason, a fixed price for the maintenance will not be appropriate. Maintenance will therefore usually be charged on a time and materials basis</a:t>
            </a:r>
            <a:endParaRPr lang="en-US" dirty="0"/>
          </a:p>
        </p:txBody>
      </p:sp>
    </p:spTree>
    <p:extLst>
      <p:ext uri="{BB962C8B-B14F-4D97-AF65-F5344CB8AC3E}">
        <p14:creationId xmlns:p14="http://schemas.microsoft.com/office/powerpoint/2010/main" val="3113819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Inflation</a:t>
            </a:r>
          </a:p>
        </p:txBody>
      </p:sp>
      <p:sp>
        <p:nvSpPr>
          <p:cNvPr id="3" name="Content Placeholder 2"/>
          <p:cNvSpPr>
            <a:spLocks noGrp="1"/>
          </p:cNvSpPr>
          <p:nvPr>
            <p:ph idx="1"/>
          </p:nvPr>
        </p:nvSpPr>
        <p:spPr>
          <a:xfrm>
            <a:off x="677334" y="1693889"/>
            <a:ext cx="8596668" cy="2833141"/>
          </a:xfrm>
        </p:spPr>
        <p:txBody>
          <a:bodyPr>
            <a:normAutofit/>
          </a:bodyPr>
          <a:lstStyle/>
          <a:p>
            <a:pPr marL="0" indent="0">
              <a:buNone/>
            </a:pPr>
            <a:r>
              <a:rPr lang="en-US" dirty="0"/>
              <a:t>In long-term projects or project commitments for maintenance, the supplier will wish to ensure protection against the effects of unpredictable inflation. For that inflation clause added which allows charges to be increased in accordance with the rise in costs.</a:t>
            </a:r>
          </a:p>
          <a:p>
            <a:pPr marL="0" indent="0">
              <a:buNone/>
            </a:pPr>
            <a:r>
              <a:rPr lang="en-US" dirty="0"/>
              <a:t>The clause should state how often (once a year, twice a year) charges can be increased and how the effect on the overall price is to be calculated.</a:t>
            </a:r>
          </a:p>
        </p:txBody>
      </p:sp>
    </p:spTree>
    <p:extLst>
      <p:ext uri="{BB962C8B-B14F-4D97-AF65-F5344CB8AC3E}">
        <p14:creationId xmlns:p14="http://schemas.microsoft.com/office/powerpoint/2010/main" val="1184720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4387"/>
          </a:xfrm>
        </p:spPr>
        <p:txBody>
          <a:bodyPr/>
          <a:lstStyle/>
          <a:p>
            <a:r>
              <a:rPr lang="en-US" dirty="0"/>
              <a:t>Indemnity</a:t>
            </a:r>
          </a:p>
        </p:txBody>
      </p:sp>
      <p:sp>
        <p:nvSpPr>
          <p:cNvPr id="3" name="Content Placeholder 2"/>
          <p:cNvSpPr>
            <a:spLocks noGrp="1"/>
          </p:cNvSpPr>
          <p:nvPr>
            <p:ph idx="1"/>
          </p:nvPr>
        </p:nvSpPr>
        <p:spPr>
          <a:xfrm>
            <a:off x="677334" y="1678899"/>
            <a:ext cx="8596668" cy="4362464"/>
          </a:xfrm>
        </p:spPr>
        <p:txBody>
          <a:bodyPr>
            <a:normAutofit/>
          </a:bodyPr>
          <a:lstStyle/>
          <a:p>
            <a:pPr algn="just">
              <a:buFont typeface="Wingdings" panose="05000000000000000000" pitchFamily="2" charset="2"/>
              <a:buChar char="Ø"/>
            </a:pPr>
            <a:r>
              <a:rPr lang="en-US" dirty="0"/>
              <a:t>It could happen that, because of the client’s instructions, the supplier is led unwittingly to infringe the intellectual property rights of a third party or that, through carelessness or dishonesty, the supplier provides a system which infringes such rights – perhaps through using proprietary software as a component of the system delivered. </a:t>
            </a:r>
          </a:p>
          <a:p>
            <a:pPr algn="just">
              <a:buFont typeface="Wingdings" panose="05000000000000000000" pitchFamily="2" charset="2"/>
              <a:buChar char="Ø"/>
            </a:pPr>
            <a:r>
              <a:rPr lang="en-US" dirty="0"/>
              <a:t>For this reason, it is advisable to include a clause under which each party indemnifies the other (that is, guarantees to cover any costs the other party becomes subject to) for liability arising from its own faults in this respect.</a:t>
            </a:r>
          </a:p>
        </p:txBody>
      </p:sp>
    </p:spTree>
    <p:extLst>
      <p:ext uri="{BB962C8B-B14F-4D97-AF65-F5344CB8AC3E}">
        <p14:creationId xmlns:p14="http://schemas.microsoft.com/office/powerpoint/2010/main" val="1314799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Termination of contract</a:t>
            </a:r>
          </a:p>
        </p:txBody>
      </p:sp>
      <p:sp>
        <p:nvSpPr>
          <p:cNvPr id="3" name="Content Placeholder 2"/>
          <p:cNvSpPr>
            <a:spLocks noGrp="1"/>
          </p:cNvSpPr>
          <p:nvPr>
            <p:ph idx="1"/>
          </p:nvPr>
        </p:nvSpPr>
        <p:spPr>
          <a:xfrm>
            <a:off x="677334" y="1648919"/>
            <a:ext cx="8596668" cy="4392444"/>
          </a:xfrm>
        </p:spPr>
        <p:txBody>
          <a:bodyPr>
            <a:normAutofit/>
          </a:bodyPr>
          <a:lstStyle/>
          <a:p>
            <a:pPr>
              <a:buFont typeface="Wingdings" panose="05000000000000000000" pitchFamily="2" charset="2"/>
              <a:buChar char="Ø"/>
            </a:pPr>
            <a:r>
              <a:rPr lang="en-US" dirty="0"/>
              <a:t>There are many reasons to terminate a contract before it has been completed. For example:</a:t>
            </a:r>
          </a:p>
          <a:p>
            <a:pPr lvl="1">
              <a:buFont typeface="Wingdings" panose="05000000000000000000" pitchFamily="2" charset="2"/>
              <a:buChar char="Ø"/>
            </a:pPr>
            <a:r>
              <a:rPr lang="en-US" dirty="0"/>
              <a:t>Client to be taken over by another company that already has a system of the type being developed, </a:t>
            </a:r>
          </a:p>
          <a:p>
            <a:pPr lvl="1">
              <a:buFont typeface="Wingdings" panose="05000000000000000000" pitchFamily="2" charset="2"/>
              <a:buChar char="Ø"/>
            </a:pPr>
            <a:r>
              <a:rPr lang="en-US" dirty="0"/>
              <a:t>For a change in policy on the part of the client to mean that the system is no longer relevant to its needs. </a:t>
            </a:r>
          </a:p>
          <a:p>
            <a:pPr>
              <a:buFont typeface="Wingdings" panose="05000000000000000000" pitchFamily="2" charset="2"/>
              <a:buChar char="Ø"/>
            </a:pPr>
            <a:r>
              <a:rPr lang="en-US" dirty="0"/>
              <a:t>It is essential to make provision in contract for terminating the work in an amicable manner. This usually means that the </a:t>
            </a:r>
            <a:r>
              <a:rPr lang="en-US" dirty="0">
                <a:highlight>
                  <a:srgbClr val="FFFF00"/>
                </a:highlight>
              </a:rPr>
              <a:t>supplier is to be paid for all the work carried out up to the point where the contract is terminated</a:t>
            </a:r>
            <a:r>
              <a:rPr lang="en-US" dirty="0"/>
              <a:t>, together with </a:t>
            </a:r>
            <a:r>
              <a:rPr lang="en-US" dirty="0">
                <a:highlight>
                  <a:srgbClr val="FFFF00"/>
                </a:highlight>
              </a:rPr>
              <a:t>some compensation for the time needed to redeploy staff </a:t>
            </a:r>
            <a:r>
              <a:rPr lang="en-US" dirty="0"/>
              <a:t>on other revenue earning work. The question of ownership of the work so far carried out must also be addressed.</a:t>
            </a:r>
          </a:p>
        </p:txBody>
      </p:sp>
    </p:spTree>
    <p:extLst>
      <p:ext uri="{BB962C8B-B14F-4D97-AF65-F5344CB8AC3E}">
        <p14:creationId xmlns:p14="http://schemas.microsoft.com/office/powerpoint/2010/main" val="2060084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Arbitration</a:t>
            </a:r>
            <a:br>
              <a:rPr lang="en-US" dirty="0"/>
            </a:br>
            <a:endParaRPr lang="en-US" dirty="0"/>
          </a:p>
        </p:txBody>
      </p:sp>
      <p:sp>
        <p:nvSpPr>
          <p:cNvPr id="3" name="Content Placeholder 2"/>
          <p:cNvSpPr>
            <a:spLocks noGrp="1"/>
          </p:cNvSpPr>
          <p:nvPr>
            <p:ph idx="1"/>
          </p:nvPr>
        </p:nvSpPr>
        <p:spPr>
          <a:xfrm>
            <a:off x="677334" y="1528997"/>
            <a:ext cx="8596668" cy="4512365"/>
          </a:xfrm>
        </p:spPr>
        <p:txBody>
          <a:bodyPr>
            <a:normAutofit/>
          </a:bodyPr>
          <a:lstStyle/>
          <a:p>
            <a:pPr marL="0" indent="0">
              <a:buNone/>
            </a:pPr>
            <a:r>
              <a:rPr lang="en-US" sz="2400" dirty="0"/>
              <a:t>Contracts often contain a clause that in the event of a dispute that they cannot solve themselves, the parties agree to accept the decision of an independent arbitrator. </a:t>
            </a:r>
          </a:p>
          <a:p>
            <a:pPr marL="0" indent="0">
              <a:buNone/>
            </a:pPr>
            <a:r>
              <a:rPr lang="en-US" sz="2400" dirty="0"/>
              <a:t>In the case of computer-related contracts, arbitrator is to be appointed either by the President of the BCS or by the President of the IEE. Both bodies maintain lists of qualified arbitrators who have the necessary technical understanding.</a:t>
            </a:r>
          </a:p>
          <a:p>
            <a:pPr marL="0" indent="0">
              <a:buNone/>
            </a:pPr>
            <a:endParaRPr lang="en-US" sz="2400" dirty="0"/>
          </a:p>
        </p:txBody>
      </p:sp>
    </p:spTree>
    <p:extLst>
      <p:ext uri="{BB962C8B-B14F-4D97-AF65-F5344CB8AC3E}">
        <p14:creationId xmlns:p14="http://schemas.microsoft.com/office/powerpoint/2010/main" val="2211533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F31BD-9647-A564-3E29-B84118472FE4}"/>
              </a:ext>
            </a:extLst>
          </p:cNvPr>
          <p:cNvSpPr>
            <a:spLocks noGrp="1"/>
          </p:cNvSpPr>
          <p:nvPr>
            <p:ph type="title"/>
          </p:nvPr>
        </p:nvSpPr>
        <p:spPr/>
        <p:txBody>
          <a:bodyPr/>
          <a:lstStyle/>
          <a:p>
            <a:r>
              <a:rPr lang="en-US" dirty="0"/>
              <a:t>Arbitration</a:t>
            </a:r>
            <a:endParaRPr lang="en-PK" dirty="0"/>
          </a:p>
        </p:txBody>
      </p:sp>
      <p:sp>
        <p:nvSpPr>
          <p:cNvPr id="3" name="Content Placeholder 2">
            <a:extLst>
              <a:ext uri="{FF2B5EF4-FFF2-40B4-BE49-F238E27FC236}">
                <a16:creationId xmlns:a16="http://schemas.microsoft.com/office/drawing/2014/main" id="{3D49AAE1-C9F4-D998-5926-BF86672754C8}"/>
              </a:ext>
            </a:extLst>
          </p:cNvPr>
          <p:cNvSpPr>
            <a:spLocks noGrp="1"/>
          </p:cNvSpPr>
          <p:nvPr>
            <p:ph idx="1"/>
          </p:nvPr>
        </p:nvSpPr>
        <p:spPr>
          <a:xfrm>
            <a:off x="861976" y="1511109"/>
            <a:ext cx="8227384" cy="4086387"/>
          </a:xfrm>
        </p:spPr>
        <p:txBody>
          <a:bodyPr/>
          <a:lstStyle/>
          <a:p>
            <a:pPr>
              <a:buFont typeface="Wingdings" panose="05000000000000000000" pitchFamily="2" charset="2"/>
              <a:buChar char="Ø"/>
            </a:pPr>
            <a:r>
              <a:rPr lang="en-US" sz="2000" dirty="0"/>
              <a:t>If arbitration is required, it will take place in accordance with the Arbitration Act 1996. </a:t>
            </a:r>
          </a:p>
          <a:p>
            <a:pPr>
              <a:buFont typeface="Wingdings" panose="05000000000000000000" pitchFamily="2" charset="2"/>
              <a:buChar char="Ø"/>
            </a:pPr>
            <a:r>
              <a:rPr lang="en-US" sz="2000" dirty="0"/>
              <a:t>This Act of Parliament lays down a set of rules for arbitration that cover many eventualities, and reference to it avoids the need to spell these out in detail. </a:t>
            </a:r>
          </a:p>
          <a:p>
            <a:pPr>
              <a:buFont typeface="Wingdings" panose="05000000000000000000" pitchFamily="2" charset="2"/>
              <a:buChar char="Ø"/>
            </a:pPr>
            <a:r>
              <a:rPr lang="en-US" sz="2000" dirty="0"/>
              <a:t>Most of the provisions of the Act are optional, in the sense that they come into effect only if the contract contains no alternative provision</a:t>
            </a:r>
            <a:r>
              <a:rPr lang="en-US" dirty="0"/>
              <a:t>.</a:t>
            </a:r>
          </a:p>
          <a:p>
            <a:endParaRPr lang="en-PK" dirty="0"/>
          </a:p>
        </p:txBody>
      </p:sp>
    </p:spTree>
    <p:extLst>
      <p:ext uri="{BB962C8B-B14F-4D97-AF65-F5344CB8AC3E}">
        <p14:creationId xmlns:p14="http://schemas.microsoft.com/office/powerpoint/2010/main" val="2449415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14466"/>
          </a:xfrm>
        </p:spPr>
        <p:txBody>
          <a:bodyPr/>
          <a:lstStyle/>
          <a:p>
            <a:r>
              <a:rPr lang="en-US" dirty="0"/>
              <a:t>Applicable law</a:t>
            </a:r>
          </a:p>
        </p:txBody>
      </p:sp>
      <p:sp>
        <p:nvSpPr>
          <p:cNvPr id="3" name="Content Placeholder 2"/>
          <p:cNvSpPr>
            <a:spLocks noGrp="1"/>
          </p:cNvSpPr>
          <p:nvPr>
            <p:ph idx="1"/>
          </p:nvPr>
        </p:nvSpPr>
        <p:spPr>
          <a:xfrm>
            <a:off x="677334" y="1618939"/>
            <a:ext cx="8596668" cy="4422424"/>
          </a:xfrm>
        </p:spPr>
        <p:txBody>
          <a:bodyPr>
            <a:normAutofit/>
          </a:bodyPr>
          <a:lstStyle/>
          <a:p>
            <a:pPr marL="0" indent="0">
              <a:buNone/>
            </a:pPr>
            <a:r>
              <a:rPr lang="en-US" sz="2400" dirty="0"/>
              <a:t>Where the supplier and the client have their registered offices in different legal jurisdictions or performance of the contract involves more than one jurisdiction, it is necessary to state under which laws the contract is to be interpreted.</a:t>
            </a:r>
          </a:p>
        </p:txBody>
      </p:sp>
    </p:spTree>
    <p:extLst>
      <p:ext uri="{BB962C8B-B14F-4D97-AF65-F5344CB8AC3E}">
        <p14:creationId xmlns:p14="http://schemas.microsoft.com/office/powerpoint/2010/main" val="2735990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2804" y="2768600"/>
            <a:ext cx="8886391" cy="1320800"/>
          </a:xfrm>
        </p:spPr>
        <p:txBody>
          <a:bodyPr>
            <a:normAutofit/>
          </a:bodyPr>
          <a:lstStyle/>
          <a:p>
            <a:pPr algn="ctr"/>
            <a:r>
              <a:rPr lang="en-US" b="1" dirty="0"/>
              <a:t>CONSULTANCY AND CONTRACT HIRE</a:t>
            </a:r>
            <a:endParaRPr lang="en-US" dirty="0"/>
          </a:p>
        </p:txBody>
      </p:sp>
    </p:spTree>
    <p:extLst>
      <p:ext uri="{BB962C8B-B14F-4D97-AF65-F5344CB8AC3E}">
        <p14:creationId xmlns:p14="http://schemas.microsoft.com/office/powerpoint/2010/main" val="1438157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2175-4861-703B-52CD-591D3A50282F}"/>
              </a:ext>
            </a:extLst>
          </p:cNvPr>
          <p:cNvSpPr>
            <a:spLocks noGrp="1"/>
          </p:cNvSpPr>
          <p:nvPr>
            <p:ph type="title"/>
          </p:nvPr>
        </p:nvSpPr>
        <p:spPr/>
        <p:txBody>
          <a:bodyPr/>
          <a:lstStyle/>
          <a:p>
            <a:r>
              <a:rPr lang="en-US" b="1" dirty="0"/>
              <a:t>CONTRACT HIRE</a:t>
            </a:r>
            <a:endParaRPr lang="en-US" dirty="0"/>
          </a:p>
        </p:txBody>
      </p:sp>
      <p:sp>
        <p:nvSpPr>
          <p:cNvPr id="3" name="Content Placeholder 2">
            <a:extLst>
              <a:ext uri="{FF2B5EF4-FFF2-40B4-BE49-F238E27FC236}">
                <a16:creationId xmlns:a16="http://schemas.microsoft.com/office/drawing/2014/main" id="{C401A6AB-510E-9288-25BB-A11DA6DC5C3F}"/>
              </a:ext>
            </a:extLst>
          </p:cNvPr>
          <p:cNvSpPr>
            <a:spLocks noGrp="1"/>
          </p:cNvSpPr>
          <p:nvPr>
            <p:ph idx="1"/>
          </p:nvPr>
        </p:nvSpPr>
        <p:spPr>
          <a:xfrm>
            <a:off x="677334" y="1538869"/>
            <a:ext cx="8778900" cy="4502494"/>
          </a:xfrm>
        </p:spPr>
        <p:txBody>
          <a:bodyPr>
            <a:normAutofit/>
          </a:bodyPr>
          <a:lstStyle/>
          <a:p>
            <a:r>
              <a:rPr lang="en-US" dirty="0"/>
              <a:t>Contract hire is an arrangement in which the supplier agrees to supply the customer with the services of a certain number of staff at agreed daily or hourly charge rates. </a:t>
            </a:r>
          </a:p>
          <a:p>
            <a:r>
              <a:rPr lang="en-US" dirty="0"/>
              <a:t>The customer takes responsibility for managing the staff concerned. Either party can terminate the arrangement at short notice. </a:t>
            </a:r>
          </a:p>
          <a:p>
            <a:r>
              <a:rPr lang="en-US" dirty="0"/>
              <a:t>The supplier’s responsibility is limited to providing suitably competent people and replacing them if they become unavailable or are unsuitable by the client.</a:t>
            </a:r>
          </a:p>
          <a:p>
            <a:r>
              <a:rPr lang="en-US" dirty="0"/>
              <a:t>The contract for such an arrangement is usually simple. Payment is based on a fixed rate for each day worked. the rate depends on the experience and qualifications of the staff.</a:t>
            </a:r>
          </a:p>
          <a:p>
            <a:r>
              <a:rPr lang="en-US" sz="1800" dirty="0"/>
              <a:t>Ownership of intellectual property rights generated in the course of the work may be needed to be addressed.</a:t>
            </a:r>
          </a:p>
          <a:p>
            <a:endParaRPr lang="en-US" dirty="0"/>
          </a:p>
        </p:txBody>
      </p:sp>
    </p:spTree>
    <p:extLst>
      <p:ext uri="{BB962C8B-B14F-4D97-AF65-F5344CB8AC3E}">
        <p14:creationId xmlns:p14="http://schemas.microsoft.com/office/powerpoint/2010/main" val="24318499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9FC3-6A2E-B2BA-9B1D-41B17AF407D5}"/>
              </a:ext>
            </a:extLst>
          </p:cNvPr>
          <p:cNvSpPr>
            <a:spLocks noGrp="1"/>
          </p:cNvSpPr>
          <p:nvPr>
            <p:ph type="title"/>
          </p:nvPr>
        </p:nvSpPr>
        <p:spPr/>
        <p:txBody>
          <a:bodyPr/>
          <a:lstStyle/>
          <a:p>
            <a:r>
              <a:rPr lang="en-US" b="1" dirty="0"/>
              <a:t>CONSULTANCY</a:t>
            </a:r>
            <a:endParaRPr lang="en-US" dirty="0"/>
          </a:p>
        </p:txBody>
      </p:sp>
      <p:sp>
        <p:nvSpPr>
          <p:cNvPr id="3" name="Content Placeholder 2">
            <a:extLst>
              <a:ext uri="{FF2B5EF4-FFF2-40B4-BE49-F238E27FC236}">
                <a16:creationId xmlns:a16="http://schemas.microsoft.com/office/drawing/2014/main" id="{2DBA05A1-0B5F-462D-3857-A5D0F26D375D}"/>
              </a:ext>
            </a:extLst>
          </p:cNvPr>
          <p:cNvSpPr>
            <a:spLocks noGrp="1"/>
          </p:cNvSpPr>
          <p:nvPr>
            <p:ph idx="1"/>
          </p:nvPr>
        </p:nvSpPr>
        <p:spPr>
          <a:xfrm>
            <a:off x="677333" y="1571625"/>
            <a:ext cx="8723841" cy="4469737"/>
          </a:xfrm>
        </p:spPr>
        <p:txBody>
          <a:bodyPr>
            <a:normAutofit/>
          </a:bodyPr>
          <a:lstStyle/>
          <a:p>
            <a:r>
              <a:rPr lang="en-US" dirty="0"/>
              <a:t>Consultants are experts who are called in by an organization to assess some aspect of its operations or its strategy and to make proposals for improvements.</a:t>
            </a:r>
          </a:p>
          <a:p>
            <a:r>
              <a:rPr lang="en-US" b="1" dirty="0"/>
              <a:t>Consultancy Project:</a:t>
            </a:r>
            <a:br>
              <a:rPr lang="en-US" dirty="0"/>
            </a:br>
            <a:r>
              <a:rPr lang="en-US" dirty="0"/>
              <a:t>A consultancy project involves providing expert advice or reports for a fixed price. These projects typically have simpler contracts compared to fixed-price contracts due to lower financial stakes and the challenge of objectively assessing the quality of reports.</a:t>
            </a:r>
          </a:p>
          <a:p>
            <a:r>
              <a:rPr lang="en-US" b="1" dirty="0"/>
              <a:t>Approaches:</a:t>
            </a:r>
            <a:endParaRPr lang="en-US" dirty="0"/>
          </a:p>
          <a:p>
            <a:pPr>
              <a:buFont typeface="+mj-lt"/>
              <a:buAutoNum type="arabicPeriod"/>
            </a:pPr>
            <a:r>
              <a:rPr lang="en-US" b="1" dirty="0"/>
              <a:t>Simplified Contracts:</a:t>
            </a:r>
            <a:r>
              <a:rPr lang="en-US" dirty="0"/>
              <a:t> Used because financial risks are minimal for both parties.</a:t>
            </a:r>
          </a:p>
          <a:p>
            <a:pPr>
              <a:buFont typeface="+mj-lt"/>
              <a:buAutoNum type="arabicPeriod"/>
            </a:pPr>
            <a:r>
              <a:rPr lang="en-US" b="1" dirty="0"/>
              <a:t>Reliance on Reputation:</a:t>
            </a:r>
            <a:r>
              <a:rPr lang="en-US" dirty="0"/>
              <a:t> Ensures quality through the supplier’s desire to maintain their professional reputation.</a:t>
            </a:r>
          </a:p>
        </p:txBody>
      </p:sp>
    </p:spTree>
    <p:extLst>
      <p:ext uri="{BB962C8B-B14F-4D97-AF65-F5344CB8AC3E}">
        <p14:creationId xmlns:p14="http://schemas.microsoft.com/office/powerpoint/2010/main" val="2638736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0C0BB-9CA4-5FDC-3703-D93A0DC0F517}"/>
              </a:ext>
            </a:extLst>
          </p:cNvPr>
          <p:cNvSpPr>
            <a:spLocks noGrp="1"/>
          </p:cNvSpPr>
          <p:nvPr>
            <p:ph type="title"/>
          </p:nvPr>
        </p:nvSpPr>
        <p:spPr/>
        <p:txBody>
          <a:bodyPr/>
          <a:lstStyle/>
          <a:p>
            <a:r>
              <a:rPr lang="en-US" b="1" dirty="0"/>
              <a:t>Key Aspects of a Consultancy Contract</a:t>
            </a:r>
            <a:br>
              <a:rPr lang="en-US" dirty="0"/>
            </a:br>
            <a:endParaRPr lang="en-US" dirty="0"/>
          </a:p>
        </p:txBody>
      </p:sp>
      <p:sp>
        <p:nvSpPr>
          <p:cNvPr id="3" name="Content Placeholder 2">
            <a:extLst>
              <a:ext uri="{FF2B5EF4-FFF2-40B4-BE49-F238E27FC236}">
                <a16:creationId xmlns:a16="http://schemas.microsoft.com/office/drawing/2014/main" id="{CE932ED8-A223-DE1D-65A0-D34673457F2C}"/>
              </a:ext>
            </a:extLst>
          </p:cNvPr>
          <p:cNvSpPr>
            <a:spLocks noGrp="1"/>
          </p:cNvSpPr>
          <p:nvPr>
            <p:ph idx="1"/>
          </p:nvPr>
        </p:nvSpPr>
        <p:spPr>
          <a:xfrm>
            <a:off x="677333" y="1614489"/>
            <a:ext cx="9195329" cy="4426874"/>
          </a:xfrm>
        </p:spPr>
        <p:txBody>
          <a:bodyPr>
            <a:normAutofit lnSpcReduction="10000"/>
          </a:bodyPr>
          <a:lstStyle/>
          <a:p>
            <a:pPr>
              <a:buFont typeface="+mj-lt"/>
              <a:buAutoNum type="arabicPeriod"/>
            </a:pPr>
            <a:r>
              <a:rPr lang="en-US" b="1" dirty="0"/>
              <a:t>Confidentiality:</a:t>
            </a:r>
            <a:endParaRPr lang="en-US" dirty="0"/>
          </a:p>
          <a:p>
            <a:pPr marL="742950" lvl="1" indent="-285750">
              <a:buFont typeface="+mj-lt"/>
              <a:buAutoNum type="arabicPeriod"/>
            </a:pPr>
            <a:r>
              <a:rPr lang="en-US" dirty="0"/>
              <a:t>Consultants gain access to sensitive company information.</a:t>
            </a:r>
          </a:p>
          <a:p>
            <a:pPr marL="742950" lvl="1" indent="-285750">
              <a:buFont typeface="+mj-lt"/>
              <a:buAutoNum type="arabicPeriod"/>
            </a:pPr>
            <a:r>
              <a:rPr lang="en-US" dirty="0"/>
              <a:t>Safeguards are necessary to prevent misuse for personal profit.</a:t>
            </a:r>
          </a:p>
          <a:p>
            <a:pPr>
              <a:buFont typeface="+mj-lt"/>
              <a:buAutoNum type="arabicPeriod"/>
            </a:pPr>
            <a:r>
              <a:rPr lang="en-US" b="1" dirty="0"/>
              <a:t>Terms of Reference:</a:t>
            </a:r>
            <a:endParaRPr lang="en-US" dirty="0"/>
          </a:p>
          <a:p>
            <a:pPr marL="742950" lvl="1" indent="-285750">
              <a:buFont typeface="+mj-lt"/>
              <a:buAutoNum type="arabicPeriod"/>
            </a:pPr>
            <a:r>
              <a:rPr lang="en-US" dirty="0"/>
              <a:t>Contracts must clearly define the scope of the consultancy work.</a:t>
            </a:r>
          </a:p>
          <a:p>
            <a:pPr marL="742950" lvl="1" indent="-285750">
              <a:buFont typeface="+mj-lt"/>
              <a:buAutoNum type="arabicPeriod"/>
            </a:pPr>
            <a:r>
              <a:rPr lang="en-US" dirty="0"/>
              <a:t>Disagreements may arise if consultants want to expand beyond the original scope.</a:t>
            </a:r>
          </a:p>
          <a:p>
            <a:pPr>
              <a:buFont typeface="+mj-lt"/>
              <a:buAutoNum type="arabicPeriod"/>
            </a:pPr>
            <a:r>
              <a:rPr lang="en-US" b="1" dirty="0"/>
              <a:t>Liability:</a:t>
            </a:r>
            <a:endParaRPr lang="en-US" dirty="0"/>
          </a:p>
          <a:p>
            <a:pPr marL="742950" lvl="1" indent="-285750">
              <a:buFont typeface="+mj-lt"/>
              <a:buAutoNum type="arabicPeriod"/>
            </a:pPr>
            <a:r>
              <a:rPr lang="en-US" dirty="0"/>
              <a:t>Consultants often limit liability for losses caused by their advice.</a:t>
            </a:r>
          </a:p>
          <a:p>
            <a:pPr marL="742950" lvl="1" indent="-285750">
              <a:buFont typeface="+mj-lt"/>
              <a:buAutoNum type="arabicPeriod"/>
            </a:pPr>
            <a:r>
              <a:rPr lang="en-US" dirty="0"/>
              <a:t>Clients may demand professional liability insurance to mitigate risks.</a:t>
            </a:r>
          </a:p>
          <a:p>
            <a:pPr>
              <a:buFont typeface="+mj-lt"/>
              <a:buAutoNum type="arabicPeriod"/>
            </a:pPr>
            <a:r>
              <a:rPr lang="en-US" b="1" dirty="0"/>
              <a:t>Control Over Final Report:</a:t>
            </a:r>
            <a:endParaRPr lang="en-US" dirty="0"/>
          </a:p>
          <a:p>
            <a:pPr marL="742950" lvl="1" indent="-285750">
              <a:buFont typeface="+mj-lt"/>
              <a:buAutoNum type="arabicPeriod"/>
            </a:pPr>
            <a:r>
              <a:rPr lang="en-US" dirty="0"/>
              <a:t>Contracts usually require a draft report to be reviewed by the client.</a:t>
            </a:r>
          </a:p>
          <a:p>
            <a:pPr marL="742950" lvl="1" indent="-285750">
              <a:buFont typeface="+mj-lt"/>
              <a:buAutoNum type="arabicPeriod"/>
            </a:pPr>
            <a:r>
              <a:rPr lang="en-US" dirty="0"/>
              <a:t>Clients can request changes, after which the consultant submits the final version.</a:t>
            </a:r>
          </a:p>
          <a:p>
            <a:endParaRPr lang="en-US" dirty="0"/>
          </a:p>
        </p:txBody>
      </p:sp>
    </p:spTree>
    <p:extLst>
      <p:ext uri="{BB962C8B-B14F-4D97-AF65-F5344CB8AC3E}">
        <p14:creationId xmlns:p14="http://schemas.microsoft.com/office/powerpoint/2010/main" val="720206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09338"/>
          </a:xfrm>
        </p:spPr>
        <p:txBody>
          <a:bodyPr/>
          <a:lstStyle/>
          <a:p>
            <a:r>
              <a:rPr lang="en-US" dirty="0"/>
              <a:t>Time and Materials</a:t>
            </a:r>
          </a:p>
        </p:txBody>
      </p:sp>
      <p:sp>
        <p:nvSpPr>
          <p:cNvPr id="3" name="Content Placeholder 2"/>
          <p:cNvSpPr>
            <a:spLocks noGrp="1"/>
          </p:cNvSpPr>
          <p:nvPr>
            <p:ph idx="1"/>
          </p:nvPr>
        </p:nvSpPr>
        <p:spPr>
          <a:xfrm>
            <a:off x="677334" y="1770844"/>
            <a:ext cx="8596668" cy="3880773"/>
          </a:xfrm>
        </p:spPr>
        <p:txBody>
          <a:bodyPr>
            <a:normAutofit/>
          </a:bodyPr>
          <a:lstStyle/>
          <a:p>
            <a:pPr marL="0" indent="0" algn="just">
              <a:buNone/>
            </a:pPr>
            <a:r>
              <a:rPr lang="en-US" dirty="0"/>
              <a:t>A time and materials contract (often referred to as a ‘cost plus’ contract) is</a:t>
            </a:r>
          </a:p>
          <a:p>
            <a:pPr marL="0" indent="0" algn="just">
              <a:buNone/>
            </a:pPr>
            <a:r>
              <a:rPr lang="en-US" dirty="0"/>
              <a:t>somewhere between a </a:t>
            </a:r>
            <a:r>
              <a:rPr lang="en-US" b="1" dirty="0"/>
              <a:t>contract hire agreement</a:t>
            </a:r>
            <a:r>
              <a:rPr lang="en-US" dirty="0"/>
              <a:t> and a </a:t>
            </a:r>
            <a:r>
              <a:rPr lang="en-US" b="1" dirty="0"/>
              <a:t>fixed price contract</a:t>
            </a:r>
            <a:r>
              <a:rPr lang="en-US" dirty="0"/>
              <a:t>.</a:t>
            </a:r>
          </a:p>
          <a:p>
            <a:pPr marL="0" indent="0" algn="just">
              <a:buNone/>
            </a:pPr>
            <a:r>
              <a:rPr lang="en-US" dirty="0"/>
              <a:t>The supplier agrees to undertake the development of the software in much</a:t>
            </a:r>
          </a:p>
          <a:p>
            <a:pPr marL="0" indent="0" algn="just">
              <a:buNone/>
            </a:pPr>
            <a:r>
              <a:rPr lang="en-US" dirty="0"/>
              <a:t>the same way as in a fixed price contract, but payment is made based on</a:t>
            </a:r>
          </a:p>
          <a:p>
            <a:pPr marL="0" indent="0" algn="just">
              <a:buNone/>
            </a:pPr>
            <a:r>
              <a:rPr lang="en-US" dirty="0"/>
              <a:t>the costs incurred, with labor charged in the same way as for contract hire.</a:t>
            </a:r>
          </a:p>
          <a:p>
            <a:pPr marL="0" indent="0" algn="just">
              <a:buNone/>
            </a:pPr>
            <a:r>
              <a:rPr lang="en-US" dirty="0"/>
              <a:t>The supplier is not committed to completing the work for a fixed price,</a:t>
            </a:r>
          </a:p>
          <a:p>
            <a:pPr marL="0" indent="0" algn="just">
              <a:buNone/>
            </a:pPr>
            <a:r>
              <a:rPr lang="en-US" dirty="0"/>
              <a:t>although a maximum payment may be fixed beyond which the project may</a:t>
            </a:r>
          </a:p>
          <a:p>
            <a:pPr marL="0" indent="0" algn="just">
              <a:buNone/>
            </a:pPr>
            <a:r>
              <a:rPr lang="en-US" dirty="0"/>
              <a:t>be reviewed.</a:t>
            </a:r>
          </a:p>
        </p:txBody>
      </p:sp>
    </p:spTree>
    <p:extLst>
      <p:ext uri="{BB962C8B-B14F-4D97-AF65-F5344CB8AC3E}">
        <p14:creationId xmlns:p14="http://schemas.microsoft.com/office/powerpoint/2010/main" val="64821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OUTSOURCING</a:t>
            </a:r>
            <a:endParaRPr lang="en-US" dirty="0"/>
          </a:p>
        </p:txBody>
      </p:sp>
      <p:sp>
        <p:nvSpPr>
          <p:cNvPr id="3" name="Content Placeholder 2"/>
          <p:cNvSpPr>
            <a:spLocks noGrp="1"/>
          </p:cNvSpPr>
          <p:nvPr>
            <p:ph idx="1"/>
          </p:nvPr>
        </p:nvSpPr>
        <p:spPr>
          <a:xfrm>
            <a:off x="677334" y="1767841"/>
            <a:ext cx="8596668" cy="4273522"/>
          </a:xfrm>
        </p:spPr>
        <p:txBody>
          <a:bodyPr>
            <a:normAutofit/>
          </a:bodyPr>
          <a:lstStyle/>
          <a:p>
            <a:pPr marL="0" indent="0" algn="just">
              <a:buNone/>
            </a:pPr>
            <a:r>
              <a:rPr lang="en-US" dirty="0"/>
              <a:t>Outsourcing, sometimes known as facilities management, is the commercial arrangement under which a company or organization (the customer) hands over the planning, management and operation of certain functions to another organization (the supplier).</a:t>
            </a:r>
          </a:p>
          <a:p>
            <a:pPr marL="0" indent="0" algn="just">
              <a:buNone/>
            </a:pPr>
            <a:r>
              <a:rPr lang="en-US" dirty="0"/>
              <a:t>IT outsourcing contracts are inherently complex and depend very much on individual circumstances. It is not appropriate to go into detail here about such contracts but the following is a list of just some of the points that need to be addressed:</a:t>
            </a:r>
          </a:p>
        </p:txBody>
      </p:sp>
    </p:spTree>
    <p:extLst>
      <p:ext uri="{BB962C8B-B14F-4D97-AF65-F5344CB8AC3E}">
        <p14:creationId xmlns:p14="http://schemas.microsoft.com/office/powerpoint/2010/main" val="483860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54374"/>
            <a:ext cx="8596668" cy="934386"/>
          </a:xfrm>
        </p:spPr>
        <p:txBody>
          <a:bodyPr/>
          <a:lstStyle/>
          <a:p>
            <a:r>
              <a:rPr lang="en-US" dirty="0"/>
              <a:t>KEY POINTS OF OUTSOURCING </a:t>
            </a:r>
          </a:p>
        </p:txBody>
      </p:sp>
      <p:sp>
        <p:nvSpPr>
          <p:cNvPr id="3" name="Content Placeholder 2"/>
          <p:cNvSpPr>
            <a:spLocks noGrp="1"/>
          </p:cNvSpPr>
          <p:nvPr>
            <p:ph idx="1"/>
          </p:nvPr>
        </p:nvSpPr>
        <p:spPr>
          <a:xfrm>
            <a:off x="779884" y="1888760"/>
            <a:ext cx="8596668" cy="3880773"/>
          </a:xfrm>
        </p:spPr>
        <p:txBody>
          <a:bodyPr/>
          <a:lstStyle/>
          <a:p>
            <a:r>
              <a:rPr lang="en-US" dirty="0"/>
              <a:t> how is performance to be monitored and managed.</a:t>
            </a:r>
          </a:p>
          <a:p>
            <a:r>
              <a:rPr lang="en-US" dirty="0"/>
              <a:t> what happens if performance is unsatisfactory.</a:t>
            </a:r>
          </a:p>
          <a:p>
            <a:r>
              <a:rPr lang="en-US" dirty="0"/>
              <a:t> which assets are being transferred.</a:t>
            </a:r>
          </a:p>
          <a:p>
            <a:r>
              <a:rPr lang="en-US" dirty="0"/>
              <a:t> staff transfers.</a:t>
            </a:r>
          </a:p>
          <a:p>
            <a:r>
              <a:rPr lang="en-US" dirty="0"/>
              <a:t> audit rights.</a:t>
            </a:r>
          </a:p>
          <a:p>
            <a:r>
              <a:rPr lang="en-US" dirty="0"/>
              <a:t> contingency planning and disaster recovery.</a:t>
            </a:r>
          </a:p>
          <a:p>
            <a:r>
              <a:rPr lang="en-US" dirty="0"/>
              <a:t> intellectual property rights in software developed during the contract.</a:t>
            </a:r>
          </a:p>
          <a:p>
            <a:r>
              <a:rPr lang="en-US" dirty="0"/>
              <a:t> duration of the agreement and termination provisions.</a:t>
            </a:r>
          </a:p>
        </p:txBody>
      </p:sp>
    </p:spTree>
    <p:extLst>
      <p:ext uri="{BB962C8B-B14F-4D97-AF65-F5344CB8AC3E}">
        <p14:creationId xmlns:p14="http://schemas.microsoft.com/office/powerpoint/2010/main" val="3279402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4446"/>
          </a:xfrm>
        </p:spPr>
        <p:txBody>
          <a:bodyPr/>
          <a:lstStyle/>
          <a:p>
            <a:r>
              <a:rPr lang="en-US" b="1" dirty="0"/>
              <a:t>HEALTH AND SAFETY</a:t>
            </a:r>
            <a:endParaRPr lang="en-US" dirty="0"/>
          </a:p>
        </p:txBody>
      </p:sp>
      <p:sp>
        <p:nvSpPr>
          <p:cNvPr id="3" name="Content Placeholder 2"/>
          <p:cNvSpPr>
            <a:spLocks noGrp="1"/>
          </p:cNvSpPr>
          <p:nvPr>
            <p:ph idx="1"/>
          </p:nvPr>
        </p:nvSpPr>
        <p:spPr>
          <a:xfrm>
            <a:off x="677334" y="1334124"/>
            <a:ext cx="8596668" cy="4902111"/>
          </a:xfrm>
        </p:spPr>
        <p:txBody>
          <a:bodyPr>
            <a:noAutofit/>
          </a:bodyPr>
          <a:lstStyle/>
          <a:p>
            <a:pPr marL="0" indent="0">
              <a:buNone/>
            </a:pPr>
            <a:r>
              <a:rPr lang="en-US" dirty="0"/>
              <a:t>The ones that are of particular concern to software engineers are:</a:t>
            </a:r>
          </a:p>
          <a:p>
            <a:r>
              <a:rPr lang="en-US" dirty="0"/>
              <a:t> provision and maintenance of safe plant.</a:t>
            </a:r>
          </a:p>
          <a:p>
            <a:r>
              <a:rPr lang="en-US" dirty="0"/>
              <a:t> provision and maintenance of safe systems of work.</a:t>
            </a:r>
          </a:p>
          <a:p>
            <a:r>
              <a:rPr lang="en-US" dirty="0"/>
              <a:t> provision of such information, instruction, training, and supervision, as necessary.</a:t>
            </a:r>
          </a:p>
          <a:p>
            <a:r>
              <a:rPr lang="en-US" dirty="0"/>
              <a:t> ensuring the workplace is maintained in a safe condition.</a:t>
            </a:r>
          </a:p>
          <a:p>
            <a:r>
              <a:rPr lang="en-US" dirty="0"/>
              <a:t> provision and maintenance of a safe working environment and adequate welfare arrangements.</a:t>
            </a:r>
          </a:p>
          <a:p>
            <a:pPr marL="0" indent="0" algn="just">
              <a:buNone/>
            </a:pPr>
            <a:r>
              <a:rPr lang="en-US" dirty="0"/>
              <a:t>The Act also requires employers to ensure that their activities do not expose the public to risks to their health and safety. Manufacturers of equipment to be used at work also have a responsibility to ensure that it is safe.</a:t>
            </a:r>
          </a:p>
          <a:p>
            <a:pPr marL="0" indent="0" algn="just">
              <a:buNone/>
            </a:pPr>
            <a:r>
              <a:rPr lang="en-US" dirty="0"/>
              <a:t>Failure to comply with the Health and Safety at Work Act is a criminal offence and, in serious cases, can lead to criminal proceedings being taken against individuals.</a:t>
            </a:r>
          </a:p>
        </p:txBody>
      </p:sp>
    </p:spTree>
    <p:extLst>
      <p:ext uri="{BB962C8B-B14F-4D97-AF65-F5344CB8AC3E}">
        <p14:creationId xmlns:p14="http://schemas.microsoft.com/office/powerpoint/2010/main" val="86403041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3197</TotalTime>
  <Words>3080</Words>
  <Application>Microsoft Office PowerPoint</Application>
  <PresentationFormat>Widescreen</PresentationFormat>
  <Paragraphs>186</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Trebuchet MS</vt:lpstr>
      <vt:lpstr>Utopia-Regular</vt:lpstr>
      <vt:lpstr>Wingdings</vt:lpstr>
      <vt:lpstr>Wingdings 3</vt:lpstr>
      <vt:lpstr>Facet</vt:lpstr>
      <vt:lpstr>CS4001- Professional Practices in IT</vt:lpstr>
      <vt:lpstr>Software Contracts and Liability</vt:lpstr>
      <vt:lpstr>Essentials for a contract</vt:lpstr>
      <vt:lpstr>BESPOKE SYSTEMS</vt:lpstr>
      <vt:lpstr>FIXED PRICE CONTRACTS FOR BESPOKE SYSTEMS</vt:lpstr>
      <vt:lpstr>PowerPoint Presentation</vt:lpstr>
      <vt:lpstr>Issues in contract</vt:lpstr>
      <vt:lpstr>What is to be produced </vt:lpstr>
      <vt:lpstr>What is to be delivered </vt:lpstr>
      <vt:lpstr>Ownership of rights</vt:lpstr>
      <vt:lpstr>Confidentiality</vt:lpstr>
      <vt:lpstr>Payment terms</vt:lpstr>
      <vt:lpstr>Calculating payments for delays and changes</vt:lpstr>
      <vt:lpstr>Penalty clauses</vt:lpstr>
      <vt:lpstr>Obligations of the client</vt:lpstr>
      <vt:lpstr>Standards and methods of working</vt:lpstr>
      <vt:lpstr>Project meeting</vt:lpstr>
      <vt:lpstr>Project managers</vt:lpstr>
      <vt:lpstr>Acceptance procedures</vt:lpstr>
      <vt:lpstr>Warranty and maintenance</vt:lpstr>
      <vt:lpstr>Inflation</vt:lpstr>
      <vt:lpstr>Indemnity</vt:lpstr>
      <vt:lpstr>Termination of contract</vt:lpstr>
      <vt:lpstr>Software Arbitration </vt:lpstr>
      <vt:lpstr>Arbitration</vt:lpstr>
      <vt:lpstr>Applicable law</vt:lpstr>
      <vt:lpstr>CONSULTANCY AND CONTRACT HIRE</vt:lpstr>
      <vt:lpstr>CONTRACT HIRE</vt:lpstr>
      <vt:lpstr>CONSULTANCY</vt:lpstr>
      <vt:lpstr>Key Aspects of a Consultancy Contract </vt:lpstr>
      <vt:lpstr>Time and Materials</vt:lpstr>
      <vt:lpstr>OUTSOURCING</vt:lpstr>
      <vt:lpstr>KEY POINTS OF OUTSOURCING </vt:lpstr>
      <vt:lpstr>HEALTH AND SAFETY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Salas Akbar BUKC</cp:lastModifiedBy>
  <cp:revision>107</cp:revision>
  <dcterms:created xsi:type="dcterms:W3CDTF">2015-10-22T06:09:44Z</dcterms:created>
  <dcterms:modified xsi:type="dcterms:W3CDTF">2024-11-19T04:08:32Z</dcterms:modified>
</cp:coreProperties>
</file>