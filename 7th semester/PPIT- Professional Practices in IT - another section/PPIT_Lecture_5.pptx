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0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8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288" y="-8468"/>
            <a:ext cx="12226405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461" y="2404534"/>
            <a:ext cx="776895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461" y="4050835"/>
            <a:ext cx="776895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060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457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8" y="2700869"/>
            <a:ext cx="8463620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989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160589"/>
            <a:ext cx="411747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8939" y="2160590"/>
            <a:ext cx="411748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40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9" y="2160983"/>
            <a:ext cx="41208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799" y="2737247"/>
            <a:ext cx="4120896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5520" y="2160983"/>
            <a:ext cx="41208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5520" y="2737247"/>
            <a:ext cx="4120896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66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609600"/>
            <a:ext cx="846361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45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558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1498604"/>
            <a:ext cx="3720243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1701" y="514926"/>
            <a:ext cx="451471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99" y="2777069"/>
            <a:ext cx="3720243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59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9" y="4800600"/>
            <a:ext cx="846361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799" y="609600"/>
            <a:ext cx="846361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799" y="5367338"/>
            <a:ext cx="8463619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71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9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4470400"/>
            <a:ext cx="846361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25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180" y="609600"/>
            <a:ext cx="809624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68099" y="3632200"/>
            <a:ext cx="722640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470400"/>
            <a:ext cx="8463620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3615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6933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443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98" y="1931988"/>
            <a:ext cx="8463620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655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3180" y="609600"/>
            <a:ext cx="809624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6" y="4013200"/>
            <a:ext cx="846362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3615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6933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dirty="0">
                <a:ln w="3175" cmpd="sng">
                  <a:noFill/>
                </a:ln>
                <a:solidFill>
                  <a:srgbClr val="90C226">
                    <a:lumMod val="60000"/>
                    <a:lumOff val="40000"/>
                  </a:srgbClr>
                </a:solidFill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0602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131" y="609600"/>
            <a:ext cx="8455287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6" y="4013200"/>
            <a:ext cx="8463621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8" y="4527448"/>
            <a:ext cx="8463620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48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88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9749" y="609601"/>
            <a:ext cx="130508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99" y="609601"/>
            <a:ext cx="6926701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6989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1289" y="-8468"/>
            <a:ext cx="12226407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799" y="2160590"/>
            <a:ext cx="846361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7011" y="6041364"/>
            <a:ext cx="9121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F2CD5-D831-454C-B1D7-25BEADEE877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8/28/2024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799" y="6041364"/>
            <a:ext cx="61639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2902" y="6041364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7A01A95-A058-49BB-A690-C4A5ACC563D3}" type="slidenum">
              <a:rPr lang="en-US" smtClean="0">
                <a:solidFill>
                  <a:srgbClr val="90C226"/>
                </a:solidFill>
              </a:rPr>
              <a:pPr/>
              <a:t>‹#›</a:t>
            </a:fld>
            <a:endParaRPr lang="en-US">
              <a:solidFill>
                <a:srgbClr val="90C2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69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5120" y="2139952"/>
            <a:ext cx="7264460" cy="1102519"/>
          </a:xfrm>
        </p:spPr>
        <p:txBody>
          <a:bodyPr/>
          <a:lstStyle/>
          <a:p>
            <a:r>
              <a:rPr lang="en-US" dirty="0"/>
              <a:t>CS4001- Professional Practices in IT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Course Instructor: Anaum Hamid</a:t>
            </a:r>
          </a:p>
          <a:p>
            <a:r>
              <a:rPr lang="en-US" dirty="0"/>
              <a:t>Email address: anaum.hamid@nu.edu.pk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0850" y="3431373"/>
            <a:ext cx="21145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368479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829056"/>
          </a:xfrm>
        </p:spPr>
        <p:txBody>
          <a:bodyPr/>
          <a:lstStyle/>
          <a:p>
            <a:r>
              <a:rPr lang="en-US" dirty="0"/>
              <a:t>Washington Accord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880174"/>
            <a:ext cx="8463619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 </a:t>
            </a:r>
            <a:r>
              <a:rPr lang="en-US" b="1" dirty="0"/>
              <a:t>Washington Accord</a:t>
            </a:r>
            <a:r>
              <a:rPr lang="en-US" dirty="0"/>
              <a:t> is an international accreditation agreement for professional engineering academic degrees, between the bodies responsible for accreditation in its signatory countries</a:t>
            </a:r>
          </a:p>
          <a:p>
            <a:pPr marL="0" indent="0">
              <a:buNone/>
            </a:pPr>
            <a:r>
              <a:rPr lang="en-US" dirty="0"/>
              <a:t>There are three agreements covering mutual recognition in respect of qualifications in engineering:</a:t>
            </a:r>
          </a:p>
          <a:p>
            <a:pPr lvl="1"/>
            <a:r>
              <a:rPr lang="en-US" i="1" u="sng" dirty="0"/>
              <a:t>The Washington Accord</a:t>
            </a:r>
            <a:r>
              <a:rPr lang="en-US" dirty="0"/>
              <a:t> signed in 1989 was the first - it recognizes substantial equivalence in the accreditation of qualifications in professional engineering, normally of four years duration.</a:t>
            </a:r>
          </a:p>
          <a:p>
            <a:pPr lvl="1"/>
            <a:r>
              <a:rPr lang="en-US" i="1" u="sng" dirty="0"/>
              <a:t>The Sydney Accord</a:t>
            </a:r>
            <a:r>
              <a:rPr lang="en-US" i="1" dirty="0"/>
              <a:t> </a:t>
            </a:r>
            <a:r>
              <a:rPr lang="en-US" dirty="0"/>
              <a:t>commenced in 2001 and recognizes substantial equivalence in the accreditation of qualifications in engineering technology, normally of three years duration.</a:t>
            </a:r>
          </a:p>
          <a:p>
            <a:pPr lvl="1"/>
            <a:r>
              <a:rPr lang="en-US" i="1" u="sng" dirty="0"/>
              <a:t>The Dublin Accord</a:t>
            </a:r>
            <a:r>
              <a:rPr lang="en-US" dirty="0"/>
              <a:t> is an agreement for substantial equivalence in the accreditation of tertiary qualifications in technician engineering, normally of two years duration. It commenced in 2002.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3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707136"/>
          </a:xfrm>
        </p:spPr>
        <p:txBody>
          <a:bodyPr/>
          <a:lstStyle/>
          <a:p>
            <a:r>
              <a:rPr lang="en-US" dirty="0"/>
              <a:t>Professional Bodies in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526606"/>
            <a:ext cx="8463619" cy="4557202"/>
          </a:xfrm>
        </p:spPr>
        <p:txBody>
          <a:bodyPr>
            <a:normAutofit/>
          </a:bodyPr>
          <a:lstStyle/>
          <a:p>
            <a:r>
              <a:rPr lang="en-US" dirty="0"/>
              <a:t>The development of Professional Bodies in Computing</a:t>
            </a:r>
          </a:p>
          <a:p>
            <a:pPr lvl="1"/>
            <a:r>
              <a:rPr lang="en-US" dirty="0"/>
              <a:t>1946: The Institute of Electrical and Electronic Engineers (IEEE):                      	A professional engineering society basically USA based but with members and activities spread worldwide. This was the IEEE Computer Society (IEEE-CS). It has over 100,000 members.</a:t>
            </a:r>
          </a:p>
          <a:p>
            <a:pPr lvl="1"/>
            <a:r>
              <a:rPr lang="en-US" dirty="0"/>
              <a:t>1947: Association for Computing Machinery (ACM):							USA based but have members and </a:t>
            </a:r>
            <a:r>
              <a:rPr lang="en-US" dirty="0" err="1"/>
              <a:t>activites</a:t>
            </a:r>
            <a:r>
              <a:rPr lang="en-US" dirty="0"/>
              <a:t> in many countries. </a:t>
            </a:r>
            <a:r>
              <a:rPr lang="en-US"/>
              <a:t>It has </a:t>
            </a:r>
            <a:r>
              <a:rPr lang="en-US" dirty="0"/>
              <a:t>over 75,000 members</a:t>
            </a:r>
          </a:p>
          <a:p>
            <a:pPr lvl="1"/>
            <a:r>
              <a:rPr lang="en-US" dirty="0"/>
              <a:t>1957: British Computer Society (BCS): 									UK based society. In mid 1960’s it became a qualification awarding society. Then in 2009 it named itself as BCS- The Chartered Institute of IT. </a:t>
            </a:r>
          </a:p>
          <a:p>
            <a:pPr lvl="1"/>
            <a:r>
              <a:rPr lang="en-US" dirty="0"/>
              <a:t>1871: Institution of Electrical Engineers (IEE): 								It has over 130,000 members.</a:t>
            </a:r>
          </a:p>
          <a:p>
            <a:pPr lvl="1"/>
            <a:r>
              <a:rPr lang="en-US" dirty="0"/>
              <a:t>1961: Italian Association for Informatics and Automatic Computing</a:t>
            </a:r>
          </a:p>
          <a:p>
            <a:pPr lvl="1"/>
            <a:r>
              <a:rPr lang="en-US" dirty="0"/>
              <a:t>1965: The Computer Society of India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533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707136"/>
          </a:xfrm>
        </p:spPr>
        <p:txBody>
          <a:bodyPr/>
          <a:lstStyle/>
          <a:p>
            <a:r>
              <a:rPr lang="en-US" dirty="0"/>
              <a:t>Professional Bodies in Computing…….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526606"/>
            <a:ext cx="8463619" cy="4557202"/>
          </a:xfrm>
        </p:spPr>
        <p:txBody>
          <a:bodyPr>
            <a:normAutofit/>
          </a:bodyPr>
          <a:lstStyle/>
          <a:p>
            <a:r>
              <a:rPr lang="en-US" dirty="0"/>
              <a:t>The development of Professional Bodies in Computing </a:t>
            </a:r>
            <a:r>
              <a:rPr lang="en-US" dirty="0" err="1"/>
              <a:t>cont</a:t>
            </a:r>
            <a:r>
              <a:rPr lang="en-US" dirty="0"/>
              <a:t>…..</a:t>
            </a:r>
          </a:p>
          <a:p>
            <a:pPr lvl="1"/>
            <a:r>
              <a:rPr lang="en-US" dirty="0"/>
              <a:t>1966: Australian Computer Society</a:t>
            </a:r>
          </a:p>
          <a:p>
            <a:pPr lvl="1"/>
            <a:r>
              <a:rPr lang="en-US" dirty="0"/>
              <a:t>1967: the Singapore Computer Society and the Irish Computer Society</a:t>
            </a:r>
          </a:p>
          <a:p>
            <a:pPr lvl="1"/>
            <a:r>
              <a:rPr lang="en-US" dirty="0"/>
              <a:t>1969: German Informatics Society</a:t>
            </a:r>
          </a:p>
          <a:p>
            <a:pPr lvl="1"/>
            <a:r>
              <a:rPr lang="en-US" dirty="0"/>
              <a:t>1976: The Computer Society of Sri Lanka</a:t>
            </a:r>
          </a:p>
          <a:p>
            <a:pPr lvl="1"/>
            <a:r>
              <a:rPr lang="en-US" dirty="0"/>
              <a:t>1998: The Computer Society of </a:t>
            </a:r>
            <a:r>
              <a:rPr lang="en-US" dirty="0" err="1"/>
              <a:t>Maritius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75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877824"/>
          </a:xfrm>
        </p:spPr>
        <p:txBody>
          <a:bodyPr/>
          <a:lstStyle/>
          <a:p>
            <a:r>
              <a:rPr lang="en-US" dirty="0"/>
              <a:t>Code of Conduct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82638"/>
            <a:ext cx="8463619" cy="3880773"/>
          </a:xfrm>
        </p:spPr>
        <p:txBody>
          <a:bodyPr/>
          <a:lstStyle/>
          <a:p>
            <a:r>
              <a:rPr lang="en-US" dirty="0"/>
              <a:t>All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mentioned professional bodies have set a code of conduct that their members need to obey.</a:t>
            </a:r>
          </a:p>
          <a:p>
            <a:r>
              <a:rPr lang="en-US" dirty="0"/>
              <a:t>The BCS’s Code of Conduct:												The Code is divided into the following sections:</a:t>
            </a:r>
          </a:p>
          <a:p>
            <a:pPr lvl="1"/>
            <a:r>
              <a:rPr lang="en-US" dirty="0"/>
              <a:t>The Public Interest</a:t>
            </a:r>
          </a:p>
          <a:p>
            <a:pPr lvl="1"/>
            <a:r>
              <a:rPr lang="en-US" dirty="0"/>
              <a:t>Duty to the Relevant Authority</a:t>
            </a:r>
          </a:p>
          <a:p>
            <a:pPr lvl="1"/>
            <a:r>
              <a:rPr lang="en-US" dirty="0"/>
              <a:t>Duty to the Profession</a:t>
            </a:r>
          </a:p>
          <a:p>
            <a:pPr lvl="1"/>
            <a:r>
              <a:rPr lang="en-US" dirty="0"/>
              <a:t>Professional Competence and Integrity</a:t>
            </a:r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21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609600"/>
            <a:ext cx="8463617" cy="829056"/>
          </a:xfrm>
        </p:spPr>
        <p:txBody>
          <a:bodyPr/>
          <a:lstStyle/>
          <a:p>
            <a:r>
              <a:rPr lang="en-US" b="1" dirty="0"/>
              <a:t>The Public Interest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941134"/>
            <a:ext cx="8463619" cy="3880773"/>
          </a:xfrm>
        </p:spPr>
        <p:txBody>
          <a:bodyPr/>
          <a:lstStyle/>
          <a:p>
            <a:r>
              <a:rPr lang="en-US" dirty="0"/>
              <a:t>Regard public health, privacy, security and wellbeing of public</a:t>
            </a:r>
          </a:p>
          <a:p>
            <a:r>
              <a:rPr lang="en-US" dirty="0"/>
              <a:t>Regard rights of third party </a:t>
            </a:r>
          </a:p>
          <a:p>
            <a:r>
              <a:rPr lang="en-US" dirty="0"/>
              <a:t>conduct your professional activities without personal biasness</a:t>
            </a:r>
          </a:p>
          <a:p>
            <a:r>
              <a:rPr lang="en-US" dirty="0"/>
              <a:t>promote equal access to the benefits of IT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60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Duty to the Relevant Authority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 conflicts of interest.</a:t>
            </a:r>
          </a:p>
          <a:p>
            <a:r>
              <a:rPr lang="en-US" dirty="0"/>
              <a:t>Avoid misrepresentation</a:t>
            </a:r>
          </a:p>
          <a:p>
            <a:r>
              <a:rPr lang="en-US" dirty="0"/>
              <a:t>Don’t pass on confidential information without permission.</a:t>
            </a:r>
          </a:p>
        </p:txBody>
      </p:sp>
    </p:spTree>
    <p:extLst>
      <p:ext uri="{BB962C8B-B14F-4D97-AF65-F5344CB8AC3E}">
        <p14:creationId xmlns:p14="http://schemas.microsoft.com/office/powerpoint/2010/main" val="358542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Duty to the Profession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Accepting personal duty and avoid actions which can harm the image of the profession</a:t>
            </a:r>
          </a:p>
          <a:p>
            <a:r>
              <a:rPr lang="en-US" dirty="0"/>
              <a:t>seek to improve professional standards through participation in their development, use and enforcement. </a:t>
            </a:r>
          </a:p>
          <a:p>
            <a:r>
              <a:rPr lang="en-US" dirty="0"/>
              <a:t>encourage and support fellow members in their professional development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353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Professional Competence and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take a job or offer a service that is within your professional competence. </a:t>
            </a:r>
          </a:p>
          <a:p>
            <a:r>
              <a:rPr lang="en-US" dirty="0"/>
              <a:t>Do not claim for any level of competence that you do not possess.</a:t>
            </a:r>
          </a:p>
          <a:p>
            <a:r>
              <a:rPr lang="en-US" dirty="0"/>
              <a:t>Get up to date knowledge in your relevant field. </a:t>
            </a:r>
          </a:p>
          <a:p>
            <a:r>
              <a:rPr lang="en-US" dirty="0"/>
              <a:t>respect and value alternative viewpoints and, seek, accept and offer honest criticisms of work </a:t>
            </a:r>
          </a:p>
          <a:p>
            <a:r>
              <a:rPr lang="en-US" dirty="0"/>
              <a:t>Avoid harming others by false devilish or negligent actions</a:t>
            </a:r>
          </a:p>
          <a:p>
            <a:r>
              <a:rPr lang="en-US" dirty="0"/>
              <a:t>Reject bribery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391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3277</TotalTime>
  <Words>598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CS4001- Professional Practices in IT</vt:lpstr>
      <vt:lpstr>Washington Accord </vt:lpstr>
      <vt:lpstr>Professional Bodies in Computing</vt:lpstr>
      <vt:lpstr>Professional Bodies in Computing…….</vt:lpstr>
      <vt:lpstr>Code of Conduct</vt:lpstr>
      <vt:lpstr>The Public Interest</vt:lpstr>
      <vt:lpstr>Duty to the Relevant Authority</vt:lpstr>
      <vt:lpstr>Duty to the Profession</vt:lpstr>
      <vt:lpstr>Professional Competence and Integrity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  Professional Issues in IT</dc:title>
  <dc:creator>SHAHAR BANO</dc:creator>
  <cp:lastModifiedBy>Salas Akbar BUKC</cp:lastModifiedBy>
  <cp:revision>81</cp:revision>
  <dcterms:created xsi:type="dcterms:W3CDTF">2015-08-20T04:03:01Z</dcterms:created>
  <dcterms:modified xsi:type="dcterms:W3CDTF">2024-08-28T06:49:13Z</dcterms:modified>
</cp:coreProperties>
</file>