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1"/>
  </p:sldMasterIdLst>
  <p:notesMasterIdLst>
    <p:notesMasterId r:id="rId19"/>
  </p:notesMasterIdLst>
  <p:sldIdLst>
    <p:sldId id="256" r:id="rId2"/>
    <p:sldId id="257" r:id="rId3"/>
    <p:sldId id="258" r:id="rId4"/>
    <p:sldId id="261" r:id="rId5"/>
    <p:sldId id="272" r:id="rId6"/>
    <p:sldId id="277" r:id="rId7"/>
    <p:sldId id="259" r:id="rId8"/>
    <p:sldId id="260" r:id="rId9"/>
    <p:sldId id="276" r:id="rId10"/>
    <p:sldId id="263" r:id="rId11"/>
    <p:sldId id="264" r:id="rId12"/>
    <p:sldId id="265" r:id="rId13"/>
    <p:sldId id="266" r:id="rId14"/>
    <p:sldId id="267" r:id="rId15"/>
    <p:sldId id="274" r:id="rId16"/>
    <p:sldId id="270" r:id="rId17"/>
    <p:sldId id="271" r:id="rId18"/>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1674" y="1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 name="Google Shape;158;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solidFill>
                  <a:schemeClr val="dk1"/>
                </a:solidFill>
                <a:latin typeface="Calibri"/>
                <a:ea typeface="Calibri"/>
                <a:cs typeface="Calibri"/>
                <a:sym typeface="Calibri"/>
              </a:rPr>
              <a:t>Suppose you decide to set up a company that makes computers. The company</a:t>
            </a:r>
            <a:endParaRPr/>
          </a:p>
          <a:p>
            <a:pPr marL="0" lvl="0" indent="0" algn="l" rtl="0">
              <a:spcBef>
                <a:spcPts val="0"/>
              </a:spcBef>
              <a:spcAft>
                <a:spcPts val="0"/>
              </a:spcAft>
              <a:buNone/>
            </a:pPr>
            <a:r>
              <a:rPr lang="en-US" sz="1200">
                <a:solidFill>
                  <a:schemeClr val="dk1"/>
                </a:solidFill>
                <a:latin typeface="Calibri"/>
                <a:ea typeface="Calibri"/>
                <a:cs typeface="Calibri"/>
                <a:sym typeface="Calibri"/>
              </a:rPr>
              <a:t>buys items like processor boards, memory chips, hard disks, and so on.</a:t>
            </a:r>
            <a:endParaRPr/>
          </a:p>
          <a:p>
            <a:pPr marL="0" lvl="0" indent="0" algn="l" rtl="0">
              <a:spcBef>
                <a:spcPts val="0"/>
              </a:spcBef>
              <a:spcAft>
                <a:spcPts val="0"/>
              </a:spcAft>
              <a:buNone/>
            </a:pPr>
            <a:r>
              <a:rPr lang="en-US" sz="1200">
                <a:solidFill>
                  <a:schemeClr val="dk1"/>
                </a:solidFill>
                <a:latin typeface="Calibri"/>
                <a:ea typeface="Calibri"/>
                <a:cs typeface="Calibri"/>
                <a:sym typeface="Calibri"/>
              </a:rPr>
              <a:t>It then assembles the machines, installs and configures the software, and</a:t>
            </a:r>
            <a:endParaRPr/>
          </a:p>
          <a:p>
            <a:pPr marL="0" lvl="0" indent="0" algn="l" rtl="0">
              <a:spcBef>
                <a:spcPts val="0"/>
              </a:spcBef>
              <a:spcAft>
                <a:spcPts val="0"/>
              </a:spcAft>
              <a:buNone/>
            </a:pPr>
            <a:r>
              <a:rPr lang="en-US" sz="1200">
                <a:solidFill>
                  <a:schemeClr val="dk1"/>
                </a:solidFill>
                <a:latin typeface="Calibri"/>
                <a:ea typeface="Calibri"/>
                <a:cs typeface="Calibri"/>
                <a:sym typeface="Calibri"/>
              </a:rPr>
              <a:t>delivers the computer to the customer. There is, in principle, no problem in</a:t>
            </a:r>
            <a:endParaRPr/>
          </a:p>
          <a:p>
            <a:pPr marL="0" lvl="0" indent="0" algn="l" rtl="0">
              <a:spcBef>
                <a:spcPts val="0"/>
              </a:spcBef>
              <a:spcAft>
                <a:spcPts val="0"/>
              </a:spcAft>
              <a:buNone/>
            </a:pPr>
            <a:r>
              <a:rPr lang="en-US" sz="1200">
                <a:solidFill>
                  <a:schemeClr val="dk1"/>
                </a:solidFill>
                <a:latin typeface="Calibri"/>
                <a:ea typeface="Calibri"/>
                <a:cs typeface="Calibri"/>
                <a:sym typeface="Calibri"/>
              </a:rPr>
              <a:t>working out the cost of the components that go into the computers –</a:t>
            </a:r>
            <a:endParaRPr/>
          </a:p>
          <a:p>
            <a:pPr marL="0" lvl="0" indent="0" algn="l" rtl="0">
              <a:spcBef>
                <a:spcPts val="0"/>
              </a:spcBef>
              <a:spcAft>
                <a:spcPts val="0"/>
              </a:spcAft>
              <a:buNone/>
            </a:pPr>
            <a:r>
              <a:rPr lang="en-US" sz="1200">
                <a:solidFill>
                  <a:schemeClr val="dk1"/>
                </a:solidFill>
                <a:latin typeface="Calibri"/>
                <a:ea typeface="Calibri"/>
                <a:cs typeface="Calibri"/>
                <a:sym typeface="Calibri"/>
              </a:rPr>
              <a:t>although it is only too easy to forget to add in the cost of the odd small component.</a:t>
            </a:r>
            <a:endParaRPr/>
          </a:p>
          <a:p>
            <a:pPr marL="0" lvl="0" indent="0" algn="l" rtl="0">
              <a:spcBef>
                <a:spcPts val="0"/>
              </a:spcBef>
              <a:spcAft>
                <a:spcPts val="0"/>
              </a:spcAft>
              <a:buNone/>
            </a:pPr>
            <a:r>
              <a:rPr lang="en-US" sz="1200">
                <a:solidFill>
                  <a:schemeClr val="dk1"/>
                </a:solidFill>
                <a:latin typeface="Calibri"/>
                <a:ea typeface="Calibri"/>
                <a:cs typeface="Calibri"/>
                <a:sym typeface="Calibri"/>
              </a:rPr>
              <a:t>What is more difficult is working out the cost of labour</a:t>
            </a:r>
            <a:endParaRPr/>
          </a:p>
        </p:txBody>
      </p:sp>
      <p:sp>
        <p:nvSpPr>
          <p:cNvPr id="159" name="Google Shape;159;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7" name="Google Shape;177;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78" name="Google Shape;178;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62086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809571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 name="Google Shape;165;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0" name="Google Shape;190;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Since we expect to sell 350 units, this means £181.43 per computer(overhead calculated from budget total over head is 63500 in table 7.4). This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means that the Basic model would cost</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£181.43 + £200 + 10 × £14.62 = £527.63</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The Advanced model would cost</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£181.43 + £300 + 12 × £14.62 = £651.83</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and the Professional model would cost</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£181.43 + £400 + 15 × £14.62 = £802.23</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The second way of allocating the overhead is to make it proportional to the</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number of hours of labour involved. This means adding an overhead component</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to the cost of an hour of a technician’s time. Since we have three technicians,</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each supplying 1,505 hours of productive labour per year, we need to add</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£63500/(3 × 1505) = £14.06</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to the cost of an hour’s labour, making it up to £14.62 + £14.06 = £28.68. Now</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the cost of the three models comes out at:</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£200 + 10 × £28.68 = £486.80 (Basic)</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£300 + 12 × £28.68 = £644.16 (Advanced)</a:t>
            </a:r>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£400 + 15 × £28.68 = £830.20 (Professional)</a:t>
            </a:r>
            <a:endParaRPr/>
          </a:p>
        </p:txBody>
      </p:sp>
      <p:sp>
        <p:nvSpPr>
          <p:cNvPr id="191" name="Google Shape;191;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8" name="Google Shape;198;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8517ae836c_0_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38517ae836c_0_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g38517ae836c_0_1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7" name="Google Shape;217;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9" name="Google Shape;249;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4298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7" name="Google Shape;257;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7997650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852630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188761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91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4801807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0461866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6252733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30730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9755211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6451868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7140523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6884509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775930471"/>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8"/>
          <p:cNvSpPr txBox="1">
            <a:spLocks noGrp="1"/>
          </p:cNvSpPr>
          <p:nvPr>
            <p:ph type="ctrTitle"/>
          </p:nvPr>
        </p:nvSpPr>
        <p:spPr>
          <a:xfrm>
            <a:off x="342900" y="548424"/>
            <a:ext cx="8001000" cy="691291"/>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accent1"/>
              </a:buClr>
              <a:buSzPts val="4800"/>
              <a:buFont typeface="Trebuchet MS"/>
              <a:buNone/>
            </a:pPr>
            <a:r>
              <a:rPr lang="en-US" sz="3200" b="1" dirty="0"/>
              <a:t>CS4001- Professional Practices in IT</a:t>
            </a:r>
            <a:endParaRPr sz="2800" b="1" dirty="0"/>
          </a:p>
        </p:txBody>
      </p:sp>
      <p:sp>
        <p:nvSpPr>
          <p:cNvPr id="148" name="Google Shape;148;p18"/>
          <p:cNvSpPr txBox="1">
            <a:spLocks noGrp="1"/>
          </p:cNvSpPr>
          <p:nvPr>
            <p:ph type="subTitle" idx="1"/>
          </p:nvPr>
        </p:nvSpPr>
        <p:spPr>
          <a:xfrm>
            <a:off x="457200" y="5723792"/>
            <a:ext cx="6471138" cy="72976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1440"/>
              <a:buNone/>
            </a:pPr>
            <a:r>
              <a:rPr lang="en-US" dirty="0"/>
              <a:t>Course Instructor: </a:t>
            </a:r>
            <a:r>
              <a:rPr lang="en-US" dirty="0" err="1"/>
              <a:t>Anaum</a:t>
            </a:r>
            <a:r>
              <a:rPr lang="en-US" dirty="0"/>
              <a:t> Hamid</a:t>
            </a:r>
            <a:endParaRPr dirty="0"/>
          </a:p>
          <a:p>
            <a:pPr marL="0" lvl="0" indent="0" algn="l" rtl="0">
              <a:spcBef>
                <a:spcPts val="1000"/>
              </a:spcBef>
              <a:spcAft>
                <a:spcPts val="0"/>
              </a:spcAft>
              <a:buSzPts val="1440"/>
              <a:buNone/>
            </a:pPr>
            <a:r>
              <a:rPr lang="en-US" dirty="0"/>
              <a:t>Email address: anaum.hamid@nu.edu.pk</a:t>
            </a:r>
            <a:endParaRPr dirty="0"/>
          </a:p>
        </p:txBody>
      </p:sp>
      <p:sp>
        <p:nvSpPr>
          <p:cNvPr id="149" name="Google Shape;149;p18"/>
          <p:cNvSpPr txBox="1"/>
          <p:nvPr/>
        </p:nvSpPr>
        <p:spPr>
          <a:xfrm>
            <a:off x="1071522" y="3097053"/>
            <a:ext cx="7096532" cy="769401"/>
          </a:xfrm>
          <a:prstGeom prst="rect">
            <a:avLst/>
          </a:prstGeom>
          <a:noFill/>
          <a:ln>
            <a:noFill/>
          </a:ln>
        </p:spPr>
        <p:txBody>
          <a:bodyPr spcFirstLastPara="1" wrap="square" lIns="91425" tIns="45700" rIns="91425" bIns="45700" anchor="t" anchorCtr="0">
            <a:spAutoFit/>
          </a:bodyPr>
          <a:lstStyle/>
          <a:p>
            <a:pPr lvl="0" algn="ctr"/>
            <a:r>
              <a:rPr lang="en-US" sz="4400" b="1" dirty="0"/>
              <a:t>Management Accounting</a:t>
            </a:r>
            <a:endParaRPr sz="4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9"/>
          <p:cNvSpPr txBox="1">
            <a:spLocks noGrp="1"/>
          </p:cNvSpPr>
          <p:nvPr>
            <p:ph type="title"/>
          </p:nvPr>
        </p:nvSpPr>
        <p:spPr>
          <a:xfrm>
            <a:off x="628650" y="620104"/>
            <a:ext cx="7886700" cy="900966"/>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b="1" dirty="0"/>
              <a:t>Management Accounting</a:t>
            </a:r>
            <a:endParaRPr dirty="0"/>
          </a:p>
        </p:txBody>
      </p:sp>
      <p:sp>
        <p:nvSpPr>
          <p:cNvPr id="155" name="Google Shape;155;p19"/>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None/>
            </a:pPr>
            <a:r>
              <a:rPr lang="en-US" i="1"/>
              <a:t>After reading this chapter, you should, in simple cases:</a:t>
            </a:r>
            <a:endParaRPr/>
          </a:p>
          <a:p>
            <a:pPr marL="342900" lvl="0" indent="-342900" algn="l" rtl="0">
              <a:spcBef>
                <a:spcPts val="1000"/>
              </a:spcBef>
              <a:spcAft>
                <a:spcPts val="0"/>
              </a:spcAft>
              <a:buSzPts val="1440"/>
              <a:buChar char="►"/>
            </a:pPr>
            <a:r>
              <a:rPr lang="en-US"/>
              <a:t> </a:t>
            </a:r>
            <a:r>
              <a:rPr lang="en-US" i="1"/>
              <a:t>be able to calculate the cost of labor;</a:t>
            </a:r>
            <a:endParaRPr/>
          </a:p>
          <a:p>
            <a:pPr marL="342900" lvl="0" indent="-342900" algn="l" rtl="0">
              <a:spcBef>
                <a:spcPts val="1000"/>
              </a:spcBef>
              <a:spcAft>
                <a:spcPts val="0"/>
              </a:spcAft>
              <a:buSzPts val="1440"/>
              <a:buChar char="►"/>
            </a:pPr>
            <a:r>
              <a:rPr lang="en-US"/>
              <a:t> </a:t>
            </a:r>
            <a:r>
              <a:rPr lang="en-US" i="1"/>
              <a:t>understand the concept of overheads and the different ways in which they may be distributed;</a:t>
            </a:r>
            <a:endParaRPr/>
          </a:p>
          <a:p>
            <a:pPr marL="342900" lvl="0" indent="-342900" algn="l" rtl="0">
              <a:spcBef>
                <a:spcPts val="1000"/>
              </a:spcBef>
              <a:spcAft>
                <a:spcPts val="0"/>
              </a:spcAft>
              <a:buSzPts val="1440"/>
              <a:buChar char="►"/>
            </a:pPr>
            <a:r>
              <a:rPr lang="en-US"/>
              <a:t> </a:t>
            </a:r>
            <a:r>
              <a:rPr lang="en-US" i="1"/>
              <a:t>be able to determine how much it costs to produce a particular product or provide a specific service;</a:t>
            </a:r>
            <a:endParaRPr/>
          </a:p>
          <a:p>
            <a:pPr marL="342900" lvl="0" indent="-342900" algn="l" rtl="0">
              <a:spcBef>
                <a:spcPts val="1000"/>
              </a:spcBef>
              <a:spcAft>
                <a:spcPts val="0"/>
              </a:spcAft>
              <a:buSzPts val="1440"/>
              <a:buChar char="►"/>
            </a:pPr>
            <a:r>
              <a:rPr lang="en-US"/>
              <a:t> </a:t>
            </a:r>
            <a:r>
              <a:rPr lang="en-US" i="1"/>
              <a:t>understand how to produce a budget and a cash flow forecast, and how to monitor them</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0"/>
          <p:cNvSpPr txBox="1">
            <a:spLocks noGrp="1"/>
          </p:cNvSpPr>
          <p:nvPr>
            <p:ph type="title"/>
          </p:nvPr>
        </p:nvSpPr>
        <p:spPr>
          <a:xfrm>
            <a:off x="609599" y="609600"/>
            <a:ext cx="6347713" cy="91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b="1"/>
              <a:t>COST OF LABOUR</a:t>
            </a:r>
            <a:endParaRPr/>
          </a:p>
        </p:txBody>
      </p:sp>
      <p:sp>
        <p:nvSpPr>
          <p:cNvPr id="162" name="Google Shape;162;p20"/>
          <p:cNvSpPr txBox="1">
            <a:spLocks noGrp="1"/>
          </p:cNvSpPr>
          <p:nvPr>
            <p:ph idx="1"/>
          </p:nvPr>
        </p:nvSpPr>
        <p:spPr>
          <a:xfrm>
            <a:off x="609599" y="1752600"/>
            <a:ext cx="6347714" cy="42887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The cost of employing someone is more than just the cost of their salary. </a:t>
            </a:r>
            <a:endParaRPr/>
          </a:p>
          <a:p>
            <a:pPr marL="342900" lvl="0" indent="-342900" algn="l" rtl="0">
              <a:spcBef>
                <a:spcPts val="1000"/>
              </a:spcBef>
              <a:spcAft>
                <a:spcPts val="0"/>
              </a:spcAft>
              <a:buSzPts val="1440"/>
              <a:buChar char="►"/>
            </a:pPr>
            <a:r>
              <a:rPr lang="en-US"/>
              <a:t>In most countries, employers are required to pay a tax for every employee. This tax usually goes by a name such as </a:t>
            </a:r>
            <a:r>
              <a:rPr lang="en-US" i="1"/>
              <a:t>employers’ national insurance contribution </a:t>
            </a:r>
            <a:r>
              <a:rPr lang="en-US"/>
              <a:t>(in the UK) or </a:t>
            </a:r>
            <a:r>
              <a:rPr lang="en-US" i="1"/>
              <a:t>social security contribution; it is proportional to the </a:t>
            </a:r>
            <a:r>
              <a:rPr lang="en-US"/>
              <a:t>employee’s salary. </a:t>
            </a:r>
            <a:endParaRPr/>
          </a:p>
          <a:p>
            <a:pPr marL="342900" lvl="0" indent="-342900" algn="l" rtl="0">
              <a:spcBef>
                <a:spcPts val="1000"/>
              </a:spcBef>
              <a:spcAft>
                <a:spcPts val="0"/>
              </a:spcAft>
              <a:buSzPts val="1440"/>
              <a:buChar char="►"/>
            </a:pPr>
            <a:r>
              <a:rPr lang="en-US"/>
              <a:t>In some countries, this contribution may be as large as 60 per cent of salary, while in others it is very much smaller.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3"/>
          <p:cNvSpPr txBox="1">
            <a:spLocks noGrp="1"/>
          </p:cNvSpPr>
          <p:nvPr>
            <p:ph type="title"/>
          </p:nvPr>
        </p:nvSpPr>
        <p:spPr>
          <a:xfrm>
            <a:off x="609599" y="609600"/>
            <a:ext cx="6347713" cy="8382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b="1" dirty="0"/>
              <a:t>OVERHEADS</a:t>
            </a:r>
            <a:endParaRPr dirty="0"/>
          </a:p>
        </p:txBody>
      </p:sp>
      <p:sp>
        <p:nvSpPr>
          <p:cNvPr id="181" name="Google Shape;181;p23"/>
          <p:cNvSpPr txBox="1">
            <a:spLocks noGrp="1"/>
          </p:cNvSpPr>
          <p:nvPr>
            <p:ph idx="1"/>
          </p:nvPr>
        </p:nvSpPr>
        <p:spPr>
          <a:xfrm>
            <a:off x="609599" y="1720975"/>
            <a:ext cx="7382609" cy="2235564"/>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920"/>
              <a:buChar char="►"/>
            </a:pPr>
            <a:r>
              <a:rPr lang="en-US" sz="2400" dirty="0"/>
              <a:t>Costs that cannot be directly associated with a particular product are known as overheads.</a:t>
            </a:r>
            <a:endParaRPr dirty="0"/>
          </a:p>
          <a:p>
            <a:pPr marL="342900" lvl="0" indent="-251459" algn="l" rtl="0">
              <a:spcBef>
                <a:spcPts val="1000"/>
              </a:spcBef>
              <a:spcAft>
                <a:spcPts val="0"/>
              </a:spcAft>
              <a:buSzPts val="1440"/>
              <a:buNone/>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pic>
        <p:nvPicPr>
          <p:cNvPr id="173" name="Google Shape;173;p22"/>
          <p:cNvPicPr preferRelativeResize="0"/>
          <p:nvPr/>
        </p:nvPicPr>
        <p:blipFill>
          <a:blip r:embed="rId3">
            <a:alphaModFix/>
          </a:blip>
          <a:stretch>
            <a:fillRect/>
          </a:stretch>
        </p:blipFill>
        <p:spPr>
          <a:xfrm>
            <a:off x="576250" y="990775"/>
            <a:ext cx="7911652" cy="4450300"/>
          </a:xfrm>
          <a:prstGeom prst="rect">
            <a:avLst/>
          </a:prstGeom>
          <a:noFill/>
          <a:ln>
            <a:noFill/>
          </a:ln>
        </p:spPr>
      </p:pic>
    </p:spTree>
    <p:extLst>
      <p:ext uri="{BB962C8B-B14F-4D97-AF65-F5344CB8AC3E}">
        <p14:creationId xmlns:p14="http://schemas.microsoft.com/office/powerpoint/2010/main" val="33153718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3"/>
          <p:cNvSpPr txBox="1">
            <a:spLocks noGrp="1"/>
          </p:cNvSpPr>
          <p:nvPr>
            <p:ph type="title"/>
          </p:nvPr>
        </p:nvSpPr>
        <p:spPr>
          <a:xfrm>
            <a:off x="533400" y="381000"/>
            <a:ext cx="6347713" cy="533400"/>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chemeClr val="accent1"/>
              </a:buClr>
              <a:buSzPct val="100000"/>
              <a:buFont typeface="Trebuchet MS"/>
              <a:buNone/>
            </a:pPr>
            <a:r>
              <a:rPr lang="en-US"/>
              <a:t>Example</a:t>
            </a:r>
            <a:endParaRPr/>
          </a:p>
        </p:txBody>
      </p:sp>
      <p:pic>
        <p:nvPicPr>
          <p:cNvPr id="179" name="Google Shape;179;p23"/>
          <p:cNvPicPr preferRelativeResize="0">
            <a:picLocks noGrp="1"/>
          </p:cNvPicPr>
          <p:nvPr>
            <p:ph idx="1"/>
          </p:nvPr>
        </p:nvPicPr>
        <p:blipFill rotWithShape="1">
          <a:blip r:embed="rId3">
            <a:alphaModFix/>
          </a:blip>
          <a:srcRect/>
          <a:stretch/>
        </p:blipFill>
        <p:spPr>
          <a:xfrm>
            <a:off x="2358293" y="190500"/>
            <a:ext cx="6252307" cy="6477000"/>
          </a:xfrm>
          <a:prstGeom prst="rect">
            <a:avLst/>
          </a:prstGeom>
          <a:noFill/>
          <a:ln>
            <a:noFill/>
          </a:ln>
        </p:spPr>
      </p:pic>
    </p:spTree>
    <p:extLst>
      <p:ext uri="{BB962C8B-B14F-4D97-AF65-F5344CB8AC3E}">
        <p14:creationId xmlns:p14="http://schemas.microsoft.com/office/powerpoint/2010/main" val="5029551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1"/>
          <p:cNvSpPr txBox="1">
            <a:spLocks noGrp="1"/>
          </p:cNvSpPr>
          <p:nvPr>
            <p:ph type="title"/>
          </p:nvPr>
        </p:nvSpPr>
        <p:spPr>
          <a:xfrm>
            <a:off x="637442" y="628896"/>
            <a:ext cx="7886700" cy="892174"/>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dirty="0" smtClean="0"/>
              <a:t>Labor w</a:t>
            </a:r>
            <a:r>
              <a:rPr lang="en-US" dirty="0" smtClean="0"/>
              <a:t>orking </a:t>
            </a:r>
            <a:r>
              <a:rPr lang="en-US" dirty="0"/>
              <a:t>h</a:t>
            </a:r>
            <a:r>
              <a:rPr lang="en-US" dirty="0" smtClean="0"/>
              <a:t>ours calculation</a:t>
            </a:r>
            <a:endParaRPr dirty="0"/>
          </a:p>
        </p:txBody>
      </p:sp>
      <p:pic>
        <p:nvPicPr>
          <p:cNvPr id="168" name="Google Shape;168;p21"/>
          <p:cNvPicPr preferRelativeResize="0">
            <a:picLocks noGrp="1"/>
          </p:cNvPicPr>
          <p:nvPr>
            <p:ph idx="1"/>
          </p:nvPr>
        </p:nvPicPr>
        <p:blipFill rotWithShape="1">
          <a:blip r:embed="rId3">
            <a:alphaModFix/>
          </a:blip>
          <a:srcRect/>
          <a:stretch/>
        </p:blipFill>
        <p:spPr>
          <a:xfrm>
            <a:off x="876300" y="2042746"/>
            <a:ext cx="7115908" cy="361070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2"/>
          <p:cNvSpPr txBox="1">
            <a:spLocks noGrp="1"/>
          </p:cNvSpPr>
          <p:nvPr>
            <p:ph type="title"/>
          </p:nvPr>
        </p:nvSpPr>
        <p:spPr>
          <a:xfrm>
            <a:off x="609599" y="609600"/>
            <a:ext cx="6347713" cy="9144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a:t>Payroll</a:t>
            </a:r>
            <a:endParaRPr/>
          </a:p>
        </p:txBody>
      </p:sp>
      <p:sp>
        <p:nvSpPr>
          <p:cNvPr id="174" name="Google Shape;174;p22"/>
          <p:cNvSpPr txBox="1">
            <a:spLocks noGrp="1"/>
          </p:cNvSpPr>
          <p:nvPr>
            <p:ph idx="1"/>
          </p:nvPr>
        </p:nvSpPr>
        <p:spPr>
          <a:xfrm>
            <a:off x="609599" y="1524000"/>
            <a:ext cx="6347714" cy="4517363"/>
          </a:xfrm>
          <a:prstGeom prst="rect">
            <a:avLst/>
          </a:prstGeom>
          <a:noFill/>
          <a:ln>
            <a:noFill/>
          </a:ln>
        </p:spPr>
        <p:txBody>
          <a:bodyPr spcFirstLastPara="1" wrap="square" lIns="91425" tIns="45700" rIns="91425" bIns="45700" anchor="t" anchorCtr="0">
            <a:normAutofit lnSpcReduction="10000"/>
          </a:bodyPr>
          <a:lstStyle/>
          <a:p>
            <a:pPr marL="342900" lvl="0" indent="-342900" algn="just" rtl="0">
              <a:spcBef>
                <a:spcPts val="0"/>
              </a:spcBef>
              <a:spcAft>
                <a:spcPts val="0"/>
              </a:spcAft>
              <a:buSzPct val="80000"/>
              <a:buNone/>
            </a:pPr>
            <a:r>
              <a:rPr lang="en-US" sz="2400" dirty="0"/>
              <a:t> 	</a:t>
            </a:r>
            <a:r>
              <a:rPr lang="en-US" sz="2600" dirty="0">
                <a:solidFill>
                  <a:schemeClr val="tx1"/>
                </a:solidFill>
              </a:rPr>
              <a:t>The total cost of employing a person, that is, the salary plus employers’ social security contributions plus any other costs associated directly with the employee, is sometimes known as the employee’s </a:t>
            </a:r>
            <a:r>
              <a:rPr lang="en-US" sz="2600" i="1" dirty="0">
                <a:solidFill>
                  <a:schemeClr val="tx1"/>
                </a:solidFill>
              </a:rPr>
              <a:t>payroll cost or direct cost.</a:t>
            </a:r>
            <a:r>
              <a:rPr lang="en-US" sz="2400" i="1" dirty="0">
                <a:solidFill>
                  <a:schemeClr val="tx1"/>
                </a:solidFill>
              </a:rPr>
              <a:t> </a:t>
            </a:r>
            <a:endParaRPr dirty="0">
              <a:solidFill>
                <a:schemeClr val="tx1"/>
              </a:solidFill>
            </a:endParaRPr>
          </a:p>
          <a:p>
            <a:pPr marL="342900" lvl="0" indent="-342900" algn="just" rtl="0">
              <a:spcBef>
                <a:spcPts val="1000"/>
              </a:spcBef>
              <a:spcAft>
                <a:spcPts val="0"/>
              </a:spcAft>
              <a:buSzPct val="80000"/>
              <a:buChar char="►"/>
            </a:pPr>
            <a:r>
              <a:rPr lang="en-US" sz="2200" i="1" dirty="0" smtClean="0">
                <a:solidFill>
                  <a:schemeClr val="tx1"/>
                </a:solidFill>
              </a:rPr>
              <a:t>Consider </a:t>
            </a:r>
            <a:r>
              <a:rPr lang="en-US" sz="2200" i="1" dirty="0">
                <a:solidFill>
                  <a:schemeClr val="tx1"/>
                </a:solidFill>
              </a:rPr>
              <a:t>a technician who is employed </a:t>
            </a:r>
            <a:r>
              <a:rPr lang="en-US" sz="2200" dirty="0">
                <a:solidFill>
                  <a:schemeClr val="tx1"/>
                </a:solidFill>
              </a:rPr>
              <a:t>to assemble the computers, and suppose that he is paid an annual salary of £20,000. His payroll costs are £22,000.</a:t>
            </a:r>
            <a:endParaRPr dirty="0">
              <a:solidFill>
                <a:schemeClr val="tx1"/>
              </a:solidFill>
            </a:endParaRPr>
          </a:p>
          <a:p>
            <a:pPr marL="342900" lvl="0" indent="-342900" algn="l" rtl="0">
              <a:spcBef>
                <a:spcPts val="1000"/>
              </a:spcBef>
              <a:spcAft>
                <a:spcPts val="0"/>
              </a:spcAft>
              <a:buSzPct val="80000"/>
              <a:buChar char="►"/>
            </a:pPr>
            <a:r>
              <a:rPr lang="en-US" sz="2400" dirty="0"/>
              <a:t> </a:t>
            </a:r>
            <a:r>
              <a:rPr lang="en-US" sz="2400" dirty="0">
                <a:solidFill>
                  <a:srgbClr val="FF0000"/>
                </a:solidFill>
              </a:rPr>
              <a:t>The direct cost of the technician is £22,000 per year so the direct cost of an hour of their time is £22000/1505 = £14.62.</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Cost of Labor</a:t>
            </a:r>
            <a:endParaRPr lang="en-US" dirty="0"/>
          </a:p>
        </p:txBody>
      </p:sp>
      <p:sp>
        <p:nvSpPr>
          <p:cNvPr id="3" name="Text Placeholder 2"/>
          <p:cNvSpPr>
            <a:spLocks noGrp="1"/>
          </p:cNvSpPr>
          <p:nvPr>
            <p:ph idx="1"/>
          </p:nvPr>
        </p:nvSpPr>
        <p:spPr/>
        <p:txBody>
          <a:bodyPr/>
          <a:lstStyle/>
          <a:p>
            <a:pPr lvl="0"/>
            <a:r>
              <a:rPr lang="en-US" dirty="0">
                <a:solidFill>
                  <a:schemeClr val="dk1"/>
                </a:solidFill>
              </a:rPr>
              <a:t>There are many costs that we have ignored. Even if our technician works as a sole trader, with no assistance, there will be other costs. </a:t>
            </a:r>
            <a:endParaRPr lang="en-US" dirty="0" smtClean="0">
              <a:solidFill>
                <a:schemeClr val="dk1"/>
              </a:solidFill>
            </a:endParaRPr>
          </a:p>
          <a:p>
            <a:r>
              <a:rPr lang="en-US" dirty="0">
                <a:solidFill>
                  <a:schemeClr val="dk1"/>
                </a:solidFill>
              </a:rPr>
              <a:t>He has to pay for a computer, which costs £200, and it takes 10 hours of a technician’s time to assemble the computer, install the software, and configure </a:t>
            </a:r>
            <a:r>
              <a:rPr lang="en-US" dirty="0" smtClean="0">
                <a:solidFill>
                  <a:schemeClr val="dk1"/>
                </a:solidFill>
              </a:rPr>
              <a:t>it, so </a:t>
            </a:r>
            <a:r>
              <a:rPr lang="en-US" dirty="0">
                <a:solidFill>
                  <a:schemeClr val="dk1"/>
                </a:solidFill>
              </a:rPr>
              <a:t>the cost of constructing the finished product is £200 + 10 × £14.62 = £346.20.</a:t>
            </a:r>
            <a:endParaRPr lang="en-US" dirty="0"/>
          </a:p>
          <a:p>
            <a:pPr lvl="0"/>
            <a:endParaRPr lang="en-US" dirty="0">
              <a:solidFill>
                <a:schemeClr val="dk1"/>
              </a:solidFill>
            </a:endParaRPr>
          </a:p>
          <a:p>
            <a:endParaRPr lang="en-US" dirty="0"/>
          </a:p>
        </p:txBody>
      </p:sp>
    </p:spTree>
    <p:extLst>
      <p:ext uri="{BB962C8B-B14F-4D97-AF65-F5344CB8AC3E}">
        <p14:creationId xmlns:p14="http://schemas.microsoft.com/office/powerpoint/2010/main" val="33127294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5"/>
          <p:cNvSpPr txBox="1">
            <a:spLocks noGrp="1"/>
          </p:cNvSpPr>
          <p:nvPr>
            <p:ph type="title"/>
          </p:nvPr>
        </p:nvSpPr>
        <p:spPr>
          <a:xfrm>
            <a:off x="628650" y="637689"/>
            <a:ext cx="7886700" cy="830628"/>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dirty="0"/>
              <a:t>Example </a:t>
            </a:r>
            <a:r>
              <a:rPr lang="en-US" dirty="0" smtClean="0"/>
              <a:t>1- Solution</a:t>
            </a:r>
            <a:endParaRPr dirty="0"/>
          </a:p>
        </p:txBody>
      </p:sp>
      <p:pic>
        <p:nvPicPr>
          <p:cNvPr id="194" name="Google Shape;194;p25"/>
          <p:cNvPicPr preferRelativeResize="0">
            <a:picLocks noGrp="1"/>
          </p:cNvPicPr>
          <p:nvPr>
            <p:ph idx="1"/>
          </p:nvPr>
        </p:nvPicPr>
        <p:blipFill rotWithShape="1">
          <a:blip r:embed="rId3">
            <a:alphaModFix/>
          </a:blip>
          <a:stretch/>
        </p:blipFill>
        <p:spPr>
          <a:xfrm>
            <a:off x="868250" y="3279531"/>
            <a:ext cx="7647100" cy="2897432"/>
          </a:xfrm>
          <a:prstGeom prst="rect">
            <a:avLst/>
          </a:prstGeom>
          <a:noFill/>
          <a:ln>
            <a:noFill/>
          </a:ln>
        </p:spPr>
      </p:pic>
      <p:sp>
        <p:nvSpPr>
          <p:cNvPr id="195" name="Google Shape;195;p25"/>
          <p:cNvSpPr txBox="1"/>
          <p:nvPr/>
        </p:nvSpPr>
        <p:spPr>
          <a:xfrm>
            <a:off x="1444836" y="1690689"/>
            <a:ext cx="5847300" cy="1511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dirty="0">
                <a:solidFill>
                  <a:schemeClr val="dk1"/>
                </a:solidFill>
                <a:latin typeface="Trebuchet MS"/>
                <a:ea typeface="Trebuchet MS"/>
                <a:cs typeface="Trebuchet MS"/>
                <a:sym typeface="Trebuchet MS"/>
              </a:rPr>
              <a:t>Given:</a:t>
            </a:r>
            <a:endParaRPr sz="1800" dirty="0">
              <a:solidFill>
                <a:schemeClr val="dk1"/>
              </a:solidFill>
              <a:latin typeface="Trebuchet MS"/>
              <a:ea typeface="Trebuchet MS"/>
              <a:cs typeface="Trebuchet MS"/>
              <a:sym typeface="Trebuchet MS"/>
            </a:endParaRPr>
          </a:p>
          <a:p>
            <a:pPr marL="0" lvl="0" indent="0" algn="l" rtl="0">
              <a:spcBef>
                <a:spcPts val="0"/>
              </a:spcBef>
              <a:spcAft>
                <a:spcPts val="0"/>
              </a:spcAft>
              <a:buNone/>
            </a:pPr>
            <a:r>
              <a:rPr lang="en-US" sz="1800" dirty="0">
                <a:solidFill>
                  <a:schemeClr val="dk1"/>
                </a:solidFill>
                <a:latin typeface="Trebuchet MS"/>
                <a:ea typeface="Trebuchet MS"/>
                <a:cs typeface="Trebuchet MS"/>
                <a:sym typeface="Trebuchet MS"/>
              </a:rPr>
              <a:t>Overhead cost = 63,500, # of technicians =3</a:t>
            </a:r>
            <a:endParaRPr sz="1800" dirty="0">
              <a:solidFill>
                <a:schemeClr val="dk1"/>
              </a:solidFill>
              <a:latin typeface="Trebuchet MS"/>
              <a:ea typeface="Trebuchet MS"/>
              <a:cs typeface="Trebuchet MS"/>
              <a:sym typeface="Trebuchet MS"/>
            </a:endParaRPr>
          </a:p>
          <a:p>
            <a:pPr marL="0" lvl="0" indent="0" algn="l" rtl="0">
              <a:spcBef>
                <a:spcPts val="0"/>
              </a:spcBef>
              <a:spcAft>
                <a:spcPts val="0"/>
              </a:spcAft>
              <a:buNone/>
            </a:pPr>
            <a:r>
              <a:rPr lang="en-US" sz="1800" dirty="0">
                <a:solidFill>
                  <a:schemeClr val="dk1"/>
                </a:solidFill>
                <a:latin typeface="Trebuchet MS"/>
                <a:ea typeface="Trebuchet MS"/>
                <a:cs typeface="Trebuchet MS"/>
                <a:sym typeface="Trebuchet MS"/>
              </a:rPr>
              <a:t>Pay = 22,000, # of labor hours = 1505</a:t>
            </a:r>
            <a:endParaRPr sz="1800" dirty="0">
              <a:solidFill>
                <a:schemeClr val="dk1"/>
              </a:solidFill>
              <a:latin typeface="Trebuchet MS"/>
              <a:ea typeface="Trebuchet MS"/>
              <a:cs typeface="Trebuchet MS"/>
              <a:sym typeface="Trebuchet MS"/>
            </a:endParaRPr>
          </a:p>
          <a:p>
            <a:pPr marL="0" lvl="0" indent="0" algn="l" rtl="0">
              <a:spcBef>
                <a:spcPts val="0"/>
              </a:spcBef>
              <a:spcAft>
                <a:spcPts val="0"/>
              </a:spcAft>
              <a:buNone/>
            </a:pPr>
            <a:r>
              <a:rPr lang="en-US" sz="1800" dirty="0" smtClean="0">
                <a:solidFill>
                  <a:schemeClr val="dk1"/>
                </a:solidFill>
                <a:latin typeface="Trebuchet MS"/>
                <a:ea typeface="Trebuchet MS"/>
                <a:cs typeface="Trebuchet MS"/>
                <a:sym typeface="Trebuchet MS"/>
              </a:rPr>
              <a:t>Labor </a:t>
            </a:r>
            <a:r>
              <a:rPr lang="en-US" sz="1800" dirty="0">
                <a:solidFill>
                  <a:schemeClr val="dk1"/>
                </a:solidFill>
                <a:latin typeface="Trebuchet MS"/>
                <a:ea typeface="Trebuchet MS"/>
                <a:cs typeface="Trebuchet MS"/>
                <a:sym typeface="Trebuchet MS"/>
              </a:rPr>
              <a:t>per hour cost = 22,000/1505 = 14.62</a:t>
            </a:r>
            <a:endParaRPr sz="1800" dirty="0">
              <a:solidFill>
                <a:schemeClr val="dk1"/>
              </a:solidFill>
              <a:latin typeface="Trebuchet MS"/>
              <a:ea typeface="Trebuchet MS"/>
              <a:cs typeface="Trebuchet MS"/>
              <a:sym typeface="Trebuchet M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6"/>
          <p:cNvSpPr txBox="1">
            <a:spLocks noGrp="1"/>
          </p:cNvSpPr>
          <p:nvPr>
            <p:ph type="title"/>
          </p:nvPr>
        </p:nvSpPr>
        <p:spPr>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1. Fixed Overhead</a:t>
            </a:r>
            <a:endParaRPr/>
          </a:p>
        </p:txBody>
      </p:sp>
      <p:sp>
        <p:nvSpPr>
          <p:cNvPr id="201" name="Google Shape;201;p26"/>
          <p:cNvSpPr txBox="1">
            <a:spLocks noGrp="1"/>
          </p:cNvSpPr>
          <p:nvPr>
            <p:ph idx="1"/>
          </p:nvPr>
        </p:nvSpPr>
        <p:spPr>
          <a:xfrm>
            <a:off x="656824" y="1631590"/>
            <a:ext cx="6347700" cy="38808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solidFill>
                  <a:schemeClr val="dk1"/>
                </a:solidFill>
              </a:rPr>
              <a:t>Overhead over expected sale = 63,500/350 =  £181.43</a:t>
            </a:r>
            <a:endParaRPr>
              <a:solidFill>
                <a:schemeClr val="dk1"/>
              </a:solidFill>
            </a:endParaRPr>
          </a:p>
          <a:p>
            <a:pPr marL="342900" lvl="0" indent="-342900" algn="l" rtl="0">
              <a:spcBef>
                <a:spcPts val="1000"/>
              </a:spcBef>
              <a:spcAft>
                <a:spcPts val="0"/>
              </a:spcAft>
              <a:buSzPts val="1440"/>
              <a:buChar char="►"/>
            </a:pPr>
            <a:r>
              <a:rPr lang="en-US" sz="1800" b="0" i="0" u="none" strike="noStrike">
                <a:solidFill>
                  <a:schemeClr val="dk1"/>
                </a:solidFill>
                <a:latin typeface="Trebuchet MS"/>
                <a:ea typeface="Trebuchet MS"/>
                <a:cs typeface="Trebuchet MS"/>
                <a:sym typeface="Trebuchet MS"/>
              </a:rPr>
              <a:t>Basic model would cost:</a:t>
            </a:r>
            <a:endParaRPr/>
          </a:p>
          <a:p>
            <a:pPr marL="0" lvl="0" indent="0" algn="l" rtl="0">
              <a:spcBef>
                <a:spcPts val="1000"/>
              </a:spcBef>
              <a:spcAft>
                <a:spcPts val="0"/>
              </a:spcAft>
              <a:buSzPts val="1440"/>
              <a:buNone/>
            </a:pPr>
            <a:r>
              <a:rPr lang="en-US">
                <a:solidFill>
                  <a:schemeClr val="dk1"/>
                </a:solidFill>
              </a:rPr>
              <a:t>	</a:t>
            </a:r>
            <a:r>
              <a:rPr lang="en-US" sz="1800" b="0" i="0" u="none" strike="noStrike">
                <a:solidFill>
                  <a:schemeClr val="dk1"/>
                </a:solidFill>
                <a:latin typeface="Trebuchet MS"/>
                <a:ea typeface="Trebuchet MS"/>
                <a:cs typeface="Trebuchet MS"/>
                <a:sym typeface="Trebuchet MS"/>
              </a:rPr>
              <a:t>£181.43 + £200 + 10 × £14.62 = £527.63</a:t>
            </a:r>
            <a:endParaRPr/>
          </a:p>
          <a:p>
            <a:pPr marL="342900" lvl="0" indent="-342900" algn="l" rtl="0">
              <a:spcBef>
                <a:spcPts val="1000"/>
              </a:spcBef>
              <a:spcAft>
                <a:spcPts val="0"/>
              </a:spcAft>
              <a:buSzPts val="1440"/>
              <a:buChar char="►"/>
            </a:pPr>
            <a:r>
              <a:rPr lang="en-US" sz="1800" b="0" i="0" u="none" strike="noStrike">
                <a:solidFill>
                  <a:schemeClr val="dk1"/>
                </a:solidFill>
                <a:latin typeface="Trebuchet MS"/>
                <a:ea typeface="Trebuchet MS"/>
                <a:cs typeface="Trebuchet MS"/>
                <a:sym typeface="Trebuchet MS"/>
              </a:rPr>
              <a:t>Advanced model would cost:</a:t>
            </a:r>
            <a:endParaRPr/>
          </a:p>
          <a:p>
            <a:pPr marL="0" lvl="0" indent="0" algn="l" rtl="0">
              <a:spcBef>
                <a:spcPts val="1000"/>
              </a:spcBef>
              <a:spcAft>
                <a:spcPts val="0"/>
              </a:spcAft>
              <a:buSzPts val="1440"/>
              <a:buNone/>
            </a:pPr>
            <a:r>
              <a:rPr lang="en-US" sz="1800" b="0" i="0" u="none" strike="noStrike">
                <a:solidFill>
                  <a:schemeClr val="dk1"/>
                </a:solidFill>
                <a:latin typeface="Trebuchet MS"/>
                <a:ea typeface="Trebuchet MS"/>
                <a:cs typeface="Trebuchet MS"/>
                <a:sym typeface="Trebuchet MS"/>
              </a:rPr>
              <a:t>	£181.43 + £300 + 12 × £14.62 = £651.83</a:t>
            </a:r>
            <a:endParaRPr/>
          </a:p>
          <a:p>
            <a:pPr marL="342900" lvl="0" indent="-342900" algn="l" rtl="0">
              <a:spcBef>
                <a:spcPts val="1000"/>
              </a:spcBef>
              <a:spcAft>
                <a:spcPts val="0"/>
              </a:spcAft>
              <a:buSzPts val="1440"/>
              <a:buChar char="►"/>
            </a:pPr>
            <a:r>
              <a:rPr lang="en-US" sz="1800" b="0" i="0" u="none" strike="noStrike">
                <a:solidFill>
                  <a:schemeClr val="dk1"/>
                </a:solidFill>
                <a:latin typeface="Trebuchet MS"/>
                <a:ea typeface="Trebuchet MS"/>
                <a:cs typeface="Trebuchet MS"/>
                <a:sym typeface="Trebuchet MS"/>
              </a:rPr>
              <a:t>Professional model would cost:</a:t>
            </a:r>
            <a:endParaRPr/>
          </a:p>
          <a:p>
            <a:pPr marL="0" lvl="0" indent="0" algn="l" rtl="0">
              <a:spcBef>
                <a:spcPts val="1000"/>
              </a:spcBef>
              <a:spcAft>
                <a:spcPts val="0"/>
              </a:spcAft>
              <a:buSzPts val="1440"/>
              <a:buNone/>
            </a:pPr>
            <a:r>
              <a:rPr lang="en-US" sz="1800" b="0" i="0" u="none" strike="noStrike">
                <a:solidFill>
                  <a:schemeClr val="dk1"/>
                </a:solidFill>
                <a:latin typeface="Trebuchet MS"/>
                <a:ea typeface="Trebuchet MS"/>
                <a:cs typeface="Trebuchet MS"/>
                <a:sym typeface="Trebuchet MS"/>
              </a:rPr>
              <a:t>	£181.43 + £400 + 15 × £14.62 = £802.23</a:t>
            </a:r>
            <a:endParaRPr/>
          </a:p>
          <a:p>
            <a:pPr marL="342900" lvl="0" indent="-251459" algn="l" rtl="0">
              <a:spcBef>
                <a:spcPts val="1000"/>
              </a:spcBef>
              <a:spcAft>
                <a:spcPts val="0"/>
              </a:spcAft>
              <a:buSzPts val="1440"/>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27"/>
          <p:cNvSpPr txBox="1">
            <a:spLocks noGrp="1"/>
          </p:cNvSpPr>
          <p:nvPr>
            <p:ph type="title"/>
          </p:nvPr>
        </p:nvSpPr>
        <p:spPr>
          <a:xfrm>
            <a:off x="567104" y="593726"/>
            <a:ext cx="7886700" cy="971305"/>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dirty="0"/>
              <a:t>2. Overhead Proportion to </a:t>
            </a:r>
            <a:r>
              <a:rPr lang="en-US" dirty="0" smtClean="0"/>
              <a:t>Labor </a:t>
            </a:r>
            <a:r>
              <a:rPr lang="en-US" dirty="0"/>
              <a:t>Content</a:t>
            </a:r>
            <a:endParaRPr dirty="0"/>
          </a:p>
        </p:txBody>
      </p:sp>
      <p:sp>
        <p:nvSpPr>
          <p:cNvPr id="207" name="Google Shape;207;p27"/>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349758" algn="l" rtl="0">
              <a:spcBef>
                <a:spcPts val="0"/>
              </a:spcBef>
              <a:spcAft>
                <a:spcPts val="0"/>
              </a:spcAft>
              <a:buSzPts val="1440"/>
              <a:buChar char="►"/>
            </a:pPr>
            <a:r>
              <a:rPr lang="en-US" sz="1800" b="0" i="0" u="none" strike="noStrike">
                <a:solidFill>
                  <a:schemeClr val="dk1"/>
                </a:solidFill>
                <a:latin typeface="Trebuchet MS"/>
                <a:ea typeface="Trebuchet MS"/>
                <a:cs typeface="Trebuchet MS"/>
                <a:sym typeface="Trebuchet MS"/>
              </a:rPr>
              <a:t>£63500/(3 × 1505) = £14.06</a:t>
            </a:r>
            <a:endParaRPr/>
          </a:p>
          <a:p>
            <a:pPr marL="342900" lvl="0" indent="-349758" algn="l" rtl="0">
              <a:spcBef>
                <a:spcPts val="1000"/>
              </a:spcBef>
              <a:spcAft>
                <a:spcPts val="0"/>
              </a:spcAft>
              <a:buSzPts val="1440"/>
              <a:buChar char="►"/>
            </a:pPr>
            <a:r>
              <a:rPr lang="en-US">
                <a:solidFill>
                  <a:schemeClr val="dk1"/>
                </a:solidFill>
              </a:rPr>
              <a:t>C</a:t>
            </a:r>
            <a:r>
              <a:rPr lang="en-US" sz="1800" b="0" i="0" u="none" strike="noStrike">
                <a:solidFill>
                  <a:schemeClr val="dk1"/>
                </a:solidFill>
                <a:latin typeface="Trebuchet MS"/>
                <a:ea typeface="Trebuchet MS"/>
                <a:cs typeface="Trebuchet MS"/>
                <a:sym typeface="Trebuchet MS"/>
              </a:rPr>
              <a:t>ost of an hour’s </a:t>
            </a:r>
            <a:r>
              <a:rPr lang="en-US">
                <a:solidFill>
                  <a:schemeClr val="dk1"/>
                </a:solidFill>
              </a:rPr>
              <a:t>labor</a:t>
            </a:r>
            <a:r>
              <a:rPr lang="en-US" sz="1800" b="0" i="0" u="none" strike="noStrike">
                <a:solidFill>
                  <a:schemeClr val="dk1"/>
                </a:solidFill>
                <a:latin typeface="Trebuchet MS"/>
                <a:ea typeface="Trebuchet MS"/>
                <a:cs typeface="Trebuchet MS"/>
                <a:sym typeface="Trebuchet MS"/>
              </a:rPr>
              <a:t> =  £14.62 + £14.06 = £28.68. </a:t>
            </a:r>
            <a:endParaRPr sz="1800" b="0" i="0" u="none" strike="noStrike">
              <a:solidFill>
                <a:schemeClr val="dk1"/>
              </a:solidFill>
              <a:latin typeface="Trebuchet MS"/>
              <a:ea typeface="Trebuchet MS"/>
              <a:cs typeface="Trebuchet MS"/>
              <a:sym typeface="Trebuchet MS"/>
            </a:endParaRPr>
          </a:p>
          <a:p>
            <a:pPr marL="342900" lvl="0" indent="0" algn="l" rtl="0">
              <a:spcBef>
                <a:spcPts val="1000"/>
              </a:spcBef>
              <a:spcAft>
                <a:spcPts val="0"/>
              </a:spcAft>
              <a:buNone/>
            </a:pPr>
            <a:endParaRPr>
              <a:solidFill>
                <a:schemeClr val="dk1"/>
              </a:solidFill>
            </a:endParaRPr>
          </a:p>
          <a:p>
            <a:pPr marL="0" lvl="0" indent="0" algn="l" rtl="0">
              <a:spcBef>
                <a:spcPts val="1000"/>
              </a:spcBef>
              <a:spcAft>
                <a:spcPts val="0"/>
              </a:spcAft>
              <a:buNone/>
            </a:pPr>
            <a:r>
              <a:rPr lang="en-US" sz="1800" b="0" i="0" u="none" strike="noStrike">
                <a:solidFill>
                  <a:schemeClr val="dk1"/>
                </a:solidFill>
                <a:latin typeface="Trebuchet MS"/>
                <a:ea typeface="Trebuchet MS"/>
                <a:cs typeface="Trebuchet MS"/>
                <a:sym typeface="Trebuchet MS"/>
              </a:rPr>
              <a:t>Now, the cost of the three models comes out at:</a:t>
            </a:r>
            <a:endParaRPr/>
          </a:p>
          <a:p>
            <a:pPr marL="1028700" lvl="0" indent="-348615" algn="l" rtl="0">
              <a:spcBef>
                <a:spcPts val="1000"/>
              </a:spcBef>
              <a:spcAft>
                <a:spcPts val="0"/>
              </a:spcAft>
              <a:buSzPts val="1440"/>
              <a:buChar char="►"/>
            </a:pPr>
            <a:r>
              <a:rPr lang="en-US" sz="1800" b="0" i="0" u="none" strike="noStrike">
                <a:solidFill>
                  <a:schemeClr val="dk1"/>
                </a:solidFill>
                <a:latin typeface="Trebuchet MS"/>
                <a:ea typeface="Trebuchet MS"/>
                <a:cs typeface="Trebuchet MS"/>
                <a:sym typeface="Trebuchet MS"/>
              </a:rPr>
              <a:t>£200 + 10 × £28.68 = £486.80 (Basic)</a:t>
            </a:r>
            <a:endParaRPr/>
          </a:p>
          <a:p>
            <a:pPr marL="1028700" lvl="0" indent="-348615" algn="l" rtl="0">
              <a:spcBef>
                <a:spcPts val="1000"/>
              </a:spcBef>
              <a:spcAft>
                <a:spcPts val="0"/>
              </a:spcAft>
              <a:buSzPts val="1440"/>
              <a:buChar char="►"/>
            </a:pPr>
            <a:r>
              <a:rPr lang="en-US" sz="1800" b="0" i="0" u="none" strike="noStrike">
                <a:solidFill>
                  <a:schemeClr val="dk1"/>
                </a:solidFill>
                <a:latin typeface="Trebuchet MS"/>
                <a:ea typeface="Trebuchet MS"/>
                <a:cs typeface="Trebuchet MS"/>
                <a:sym typeface="Trebuchet MS"/>
              </a:rPr>
              <a:t>£300 + 12 × £28.68 = £644.16 (Advanced)</a:t>
            </a:r>
            <a:endParaRPr/>
          </a:p>
          <a:p>
            <a:pPr marL="1028700" lvl="0" indent="-348615" algn="l" rtl="0">
              <a:spcBef>
                <a:spcPts val="1000"/>
              </a:spcBef>
              <a:spcAft>
                <a:spcPts val="0"/>
              </a:spcAft>
              <a:buSzPts val="1440"/>
              <a:buChar char="►"/>
            </a:pPr>
            <a:r>
              <a:rPr lang="en-US" sz="1800" b="0" i="0" u="none" strike="noStrike">
                <a:solidFill>
                  <a:schemeClr val="dk1"/>
                </a:solidFill>
                <a:latin typeface="Trebuchet MS"/>
                <a:ea typeface="Trebuchet MS"/>
                <a:cs typeface="Trebuchet MS"/>
                <a:sym typeface="Trebuchet MS"/>
              </a:rPr>
              <a:t>£400 + 15 × £28.68 = £830.20 (Professional)</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8"/>
          <p:cNvSpPr txBox="1">
            <a:spLocks noGrp="1"/>
          </p:cNvSpPr>
          <p:nvPr>
            <p:ph type="title"/>
          </p:nvPr>
        </p:nvSpPr>
        <p:spPr>
          <a:xfrm>
            <a:off x="609600" y="532181"/>
            <a:ext cx="7886700" cy="892174"/>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US" dirty="0"/>
              <a:t>3. Overhead Proportion to total cost direct</a:t>
            </a:r>
            <a:endParaRPr dirty="0"/>
          </a:p>
        </p:txBody>
      </p:sp>
      <p:sp>
        <p:nvSpPr>
          <p:cNvPr id="214" name="Google Shape;214;p28"/>
          <p:cNvSpPr txBox="1">
            <a:spLocks noGrp="1"/>
          </p:cNvSpPr>
          <p:nvPr>
            <p:ph idx="1"/>
          </p:nvPr>
        </p:nvSpPr>
        <p:spPr>
          <a:xfrm>
            <a:off x="609600" y="1794800"/>
            <a:ext cx="7051200" cy="4246500"/>
          </a:xfrm>
          <a:prstGeom prst="rect">
            <a:avLst/>
          </a:prstGeom>
        </p:spPr>
        <p:txBody>
          <a:bodyPr spcFirstLastPara="1" wrap="square" lIns="91425" tIns="45700" rIns="91425" bIns="45700" anchor="t" anchorCtr="0">
            <a:normAutofit lnSpcReduction="10000"/>
          </a:bodyPr>
          <a:lstStyle/>
          <a:p>
            <a:pPr marL="0" lvl="0" indent="0" algn="l" rtl="0">
              <a:spcBef>
                <a:spcPts val="1000"/>
              </a:spcBef>
              <a:spcAft>
                <a:spcPts val="0"/>
              </a:spcAft>
              <a:buNone/>
            </a:pPr>
            <a:r>
              <a:rPr lang="en-US" dirty="0">
                <a:solidFill>
                  <a:schemeClr val="dk1"/>
                </a:solidFill>
              </a:rPr>
              <a:t>To calculate this percentage, we divide the total overhead by the total direct cost of all the units we expect to sell.</a:t>
            </a:r>
            <a:endParaRPr dirty="0">
              <a:solidFill>
                <a:schemeClr val="dk1"/>
              </a:solidFill>
            </a:endParaRPr>
          </a:p>
          <a:p>
            <a:pPr marL="342900" lvl="0" indent="-342900" algn="l" rtl="0">
              <a:spcBef>
                <a:spcPts val="1000"/>
              </a:spcBef>
              <a:spcAft>
                <a:spcPts val="0"/>
              </a:spcAft>
              <a:buClr>
                <a:schemeClr val="dk1"/>
              </a:buClr>
              <a:buSzPts val="1440"/>
              <a:buChar char="►"/>
            </a:pPr>
            <a:r>
              <a:rPr lang="en-US" dirty="0">
                <a:solidFill>
                  <a:schemeClr val="dk1"/>
                </a:solidFill>
              </a:rPr>
              <a:t> £200 + 10 × £14.62 = £346.20</a:t>
            </a:r>
            <a:endParaRPr dirty="0">
              <a:solidFill>
                <a:schemeClr val="dk1"/>
              </a:solidFill>
            </a:endParaRPr>
          </a:p>
          <a:p>
            <a:pPr marL="342900" lvl="0" indent="-342900" algn="l" rtl="0">
              <a:spcBef>
                <a:spcPts val="1000"/>
              </a:spcBef>
              <a:spcAft>
                <a:spcPts val="0"/>
              </a:spcAft>
              <a:buClr>
                <a:schemeClr val="dk1"/>
              </a:buClr>
              <a:buSzPts val="1440"/>
              <a:buChar char="►"/>
            </a:pPr>
            <a:r>
              <a:rPr lang="en-US" dirty="0">
                <a:solidFill>
                  <a:schemeClr val="dk1"/>
                </a:solidFill>
              </a:rPr>
              <a:t> £300 + 12 × £14.62 = £475.44</a:t>
            </a:r>
            <a:endParaRPr dirty="0">
              <a:solidFill>
                <a:schemeClr val="dk1"/>
              </a:solidFill>
            </a:endParaRPr>
          </a:p>
          <a:p>
            <a:pPr marL="342900" lvl="0" indent="-342900" algn="l" rtl="0">
              <a:spcBef>
                <a:spcPts val="1000"/>
              </a:spcBef>
              <a:spcAft>
                <a:spcPts val="0"/>
              </a:spcAft>
              <a:buClr>
                <a:schemeClr val="dk1"/>
              </a:buClr>
              <a:buSzPts val="1440"/>
              <a:buChar char="►"/>
            </a:pPr>
            <a:r>
              <a:rPr lang="en-US" dirty="0">
                <a:solidFill>
                  <a:schemeClr val="dk1"/>
                </a:solidFill>
              </a:rPr>
              <a:t> £200 + 10 × £14.62 = £619.30</a:t>
            </a:r>
            <a:endParaRPr dirty="0">
              <a:solidFill>
                <a:schemeClr val="dk1"/>
              </a:solidFill>
            </a:endParaRPr>
          </a:p>
          <a:p>
            <a:pPr marL="342900" lvl="0" indent="0" algn="l" rtl="0">
              <a:spcBef>
                <a:spcPts val="1000"/>
              </a:spcBef>
              <a:spcAft>
                <a:spcPts val="0"/>
              </a:spcAft>
              <a:buNone/>
            </a:pPr>
            <a:r>
              <a:rPr lang="en-US" dirty="0">
                <a:solidFill>
                  <a:schemeClr val="dk1"/>
                </a:solidFill>
              </a:rPr>
              <a:t>Now, 350 sales</a:t>
            </a:r>
            <a:endParaRPr dirty="0">
              <a:solidFill>
                <a:schemeClr val="dk1"/>
              </a:solidFill>
            </a:endParaRPr>
          </a:p>
          <a:p>
            <a:pPr marL="342900" lvl="0" indent="-342900" algn="l" rtl="0">
              <a:spcBef>
                <a:spcPts val="1000"/>
              </a:spcBef>
              <a:spcAft>
                <a:spcPts val="0"/>
              </a:spcAft>
              <a:buClr>
                <a:schemeClr val="dk1"/>
              </a:buClr>
              <a:buSzPts val="1440"/>
              <a:buChar char="►"/>
            </a:pPr>
            <a:r>
              <a:rPr lang="en-US" dirty="0">
                <a:solidFill>
                  <a:schemeClr val="dk1"/>
                </a:solidFill>
              </a:rPr>
              <a:t>63500/(200 × 346.20 + 100 × 475.44 + 50 × 619.30) = 0.43. </a:t>
            </a:r>
            <a:endParaRPr dirty="0">
              <a:solidFill>
                <a:schemeClr val="dk1"/>
              </a:solidFill>
            </a:endParaRPr>
          </a:p>
          <a:p>
            <a:pPr marL="342900" lvl="0" indent="-342900" algn="l" rtl="0">
              <a:spcBef>
                <a:spcPts val="1000"/>
              </a:spcBef>
              <a:spcAft>
                <a:spcPts val="0"/>
              </a:spcAft>
              <a:buClr>
                <a:schemeClr val="dk1"/>
              </a:buClr>
              <a:buSzPts val="1440"/>
              <a:buChar char="►"/>
            </a:pPr>
            <a:r>
              <a:rPr lang="en-US" dirty="0">
                <a:solidFill>
                  <a:schemeClr val="dk1"/>
                </a:solidFill>
              </a:rPr>
              <a:t>Factor  = 1 + 0.43 = </a:t>
            </a:r>
            <a:r>
              <a:rPr lang="en-US" dirty="0" smtClean="0">
                <a:solidFill>
                  <a:schemeClr val="dk1"/>
                </a:solidFill>
              </a:rPr>
              <a:t>1.43 (+1 is the factor added per 1 unit)</a:t>
            </a:r>
            <a:endParaRPr dirty="0">
              <a:solidFill>
                <a:schemeClr val="dk1"/>
              </a:solidFill>
            </a:endParaRPr>
          </a:p>
          <a:p>
            <a:pPr marL="0" lvl="0" indent="0" algn="l" rtl="0">
              <a:spcBef>
                <a:spcPts val="1000"/>
              </a:spcBef>
              <a:spcAft>
                <a:spcPts val="0"/>
              </a:spcAft>
              <a:buNone/>
            </a:pPr>
            <a:r>
              <a:rPr lang="en-US" dirty="0">
                <a:solidFill>
                  <a:schemeClr val="dk1"/>
                </a:solidFill>
              </a:rPr>
              <a:t>The basic model is £346.20 × 1.43 = £495.06.</a:t>
            </a:r>
            <a:endParaRPr dirty="0">
              <a:solidFill>
                <a:schemeClr val="dk1"/>
              </a:solidFill>
            </a:endParaRPr>
          </a:p>
          <a:p>
            <a:pPr marL="0" lvl="0" indent="0" algn="l" rtl="0">
              <a:spcBef>
                <a:spcPts val="1000"/>
              </a:spcBef>
              <a:spcAft>
                <a:spcPts val="0"/>
              </a:spcAft>
              <a:buNone/>
            </a:pPr>
            <a:r>
              <a:rPr lang="en-US" dirty="0">
                <a:solidFill>
                  <a:schemeClr val="dk1"/>
                </a:solidFill>
              </a:rPr>
              <a:t>Advanced model, £679.88 </a:t>
            </a:r>
            <a:endParaRPr dirty="0">
              <a:solidFill>
                <a:schemeClr val="dk1"/>
              </a:solidFill>
            </a:endParaRPr>
          </a:p>
          <a:p>
            <a:pPr marL="0" lvl="0" indent="0" algn="l" rtl="0">
              <a:spcBef>
                <a:spcPts val="1000"/>
              </a:spcBef>
              <a:spcAft>
                <a:spcPts val="0"/>
              </a:spcAft>
              <a:buClr>
                <a:schemeClr val="dk1"/>
              </a:buClr>
              <a:buSzPts val="1100"/>
              <a:buFont typeface="Arial"/>
              <a:buNone/>
            </a:pPr>
            <a:r>
              <a:rPr lang="en-US" dirty="0">
                <a:solidFill>
                  <a:schemeClr val="dk1"/>
                </a:solidFill>
              </a:rPr>
              <a:t>Professional model, £885.60.</a:t>
            </a:r>
            <a:endParaRPr dirty="0">
              <a:solidFill>
                <a:schemeClr val="dk1"/>
              </a:solidFill>
            </a:endParaRPr>
          </a:p>
          <a:p>
            <a:pPr marL="0" lvl="0" indent="0" algn="l" rtl="0">
              <a:spcBef>
                <a:spcPts val="1000"/>
              </a:spcBef>
              <a:spcAft>
                <a:spcPts val="0"/>
              </a:spcAft>
              <a:buNone/>
            </a:pPr>
            <a:endParaRPr dirty="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8"/>
        <p:cNvGrpSpPr/>
        <p:nvPr/>
      </p:nvGrpSpPr>
      <p:grpSpPr>
        <a:xfrm>
          <a:off x="0" y="0"/>
          <a:ext cx="0" cy="0"/>
          <a:chOff x="0" y="0"/>
          <a:chExt cx="0" cy="0"/>
        </a:xfrm>
      </p:grpSpPr>
      <p:grpSp>
        <p:nvGrpSpPr>
          <p:cNvPr id="219" name="Google Shape;219;p29"/>
          <p:cNvGrpSpPr/>
          <p:nvPr/>
        </p:nvGrpSpPr>
        <p:grpSpPr>
          <a:xfrm>
            <a:off x="0" y="-8467"/>
            <a:ext cx="9144001" cy="6866467"/>
            <a:chOff x="0" y="-8467"/>
            <a:chExt cx="12192000" cy="6866467"/>
          </a:xfrm>
        </p:grpSpPr>
        <p:cxnSp>
          <p:nvCxnSpPr>
            <p:cNvPr id="220" name="Google Shape;220;p29"/>
            <p:cNvCxnSpPr/>
            <p:nvPr/>
          </p:nvCxnSpPr>
          <p:spPr>
            <a:xfrm>
              <a:off x="9371012" y="0"/>
              <a:ext cx="1219200" cy="6858000"/>
            </a:xfrm>
            <a:prstGeom prst="straightConnector1">
              <a:avLst/>
            </a:prstGeom>
            <a:noFill/>
            <a:ln w="9525" cap="flat" cmpd="sng">
              <a:solidFill>
                <a:srgbClr val="BFBFBF"/>
              </a:solidFill>
              <a:prstDash val="solid"/>
              <a:round/>
              <a:headEnd type="none" w="sm" len="sm"/>
              <a:tailEnd type="none" w="sm" len="sm"/>
            </a:ln>
          </p:spPr>
        </p:cxnSp>
        <p:cxnSp>
          <p:nvCxnSpPr>
            <p:cNvPr id="221" name="Google Shape;221;p29"/>
            <p:cNvCxnSpPr/>
            <p:nvPr/>
          </p:nvCxnSpPr>
          <p:spPr>
            <a:xfrm flipH="1">
              <a:off x="7425267" y="3681413"/>
              <a:ext cx="4763558" cy="3176587"/>
            </a:xfrm>
            <a:prstGeom prst="straightConnector1">
              <a:avLst/>
            </a:prstGeom>
            <a:noFill/>
            <a:ln w="9525" cap="flat" cmpd="sng">
              <a:solidFill>
                <a:srgbClr val="D8D8D8"/>
              </a:solidFill>
              <a:prstDash val="solid"/>
              <a:round/>
              <a:headEnd type="none" w="sm" len="sm"/>
              <a:tailEnd type="none" w="sm" len="sm"/>
            </a:ln>
          </p:spPr>
        </p:cxnSp>
        <p:sp>
          <p:nvSpPr>
            <p:cNvPr id="222" name="Google Shape;222;p29"/>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29803"/>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23" name="Google Shape;223;p29"/>
            <p:cNvSpPr/>
            <p:nvPr/>
          </p:nvSpPr>
          <p:spPr>
            <a:xfrm>
              <a:off x="9603442" y="-8467"/>
              <a:ext cx="258855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24" name="Google Shape;224;p29"/>
            <p:cNvSpPr/>
            <p:nvPr/>
          </p:nvSpPr>
          <p:spPr>
            <a:xfrm>
              <a:off x="8932333" y="3048000"/>
              <a:ext cx="3259667" cy="3810000"/>
            </a:xfrm>
            <a:prstGeom prst="triangle">
              <a:avLst>
                <a:gd name="adj" fmla="val 100000"/>
              </a:avLst>
            </a:prstGeom>
            <a:solidFill>
              <a:schemeClr val="accent2">
                <a:alpha val="71764"/>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25" name="Google Shape;225;p29"/>
            <p:cNvSpPr/>
            <p:nvPr/>
          </p:nvSpPr>
          <p:spPr>
            <a:xfrm>
              <a:off x="9334500" y="-8467"/>
              <a:ext cx="2854326"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3F7818">
                <a:alpha val="69803"/>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26" name="Google Shape;226;p29"/>
            <p:cNvSpPr/>
            <p:nvPr/>
          </p:nvSpPr>
          <p:spPr>
            <a:xfrm>
              <a:off x="10898730" y="-8467"/>
              <a:ext cx="1290094" cy="6866467"/>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rgbClr val="BFE471">
                <a:alpha val="69803"/>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27" name="Google Shape;227;p29"/>
            <p:cNvSpPr/>
            <p:nvPr/>
          </p:nvSpPr>
          <p:spPr>
            <a:xfrm>
              <a:off x="10938999" y="-8467"/>
              <a:ext cx="1249825" cy="6866467"/>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chemeClr val="accent1">
                <a:alpha val="64705"/>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28" name="Google Shape;228;p29"/>
            <p:cNvSpPr/>
            <p:nvPr/>
          </p:nvSpPr>
          <p:spPr>
            <a:xfrm>
              <a:off x="10371666" y="3589867"/>
              <a:ext cx="1817159" cy="3268133"/>
            </a:xfrm>
            <a:prstGeom prst="triangle">
              <a:avLst>
                <a:gd name="adj" fmla="val 100000"/>
              </a:avLst>
            </a:prstGeom>
            <a:solidFill>
              <a:schemeClr val="accent1">
                <a:alpha val="8000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29" name="Google Shape;229;p29"/>
            <p:cNvSpPr/>
            <p:nvPr/>
          </p:nvSpPr>
          <p:spPr>
            <a:xfrm>
              <a:off x="0" y="4013200"/>
              <a:ext cx="448733" cy="2844800"/>
            </a:xfrm>
            <a:prstGeom prst="triangle">
              <a:avLst>
                <a:gd name="adj" fmla="val 0"/>
              </a:avLst>
            </a:prstGeom>
            <a:solidFill>
              <a:schemeClr val="accent1">
                <a:alpha val="84705"/>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grpSp>
      <p:sp>
        <p:nvSpPr>
          <p:cNvPr id="230" name="Google Shape;230;p29"/>
          <p:cNvSpPr/>
          <p:nvPr/>
        </p:nvSpPr>
        <p:spPr>
          <a:xfrm>
            <a:off x="0" y="0"/>
            <a:ext cx="9141714" cy="6858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grpSp>
        <p:nvGrpSpPr>
          <p:cNvPr id="231" name="Google Shape;231;p29"/>
          <p:cNvGrpSpPr/>
          <p:nvPr/>
        </p:nvGrpSpPr>
        <p:grpSpPr>
          <a:xfrm>
            <a:off x="0" y="-8467"/>
            <a:ext cx="9144001" cy="6866467"/>
            <a:chOff x="0" y="-8467"/>
            <a:chExt cx="12192000" cy="6866467"/>
          </a:xfrm>
        </p:grpSpPr>
        <p:cxnSp>
          <p:nvCxnSpPr>
            <p:cNvPr id="232" name="Google Shape;232;p29"/>
            <p:cNvCxnSpPr/>
            <p:nvPr/>
          </p:nvCxnSpPr>
          <p:spPr>
            <a:xfrm flipH="1">
              <a:off x="7425267" y="3681413"/>
              <a:ext cx="4763558" cy="3176587"/>
            </a:xfrm>
            <a:prstGeom prst="straightConnector1">
              <a:avLst/>
            </a:prstGeom>
            <a:noFill/>
            <a:ln w="9525" cap="flat" cmpd="sng">
              <a:solidFill>
                <a:srgbClr val="D8D8D8"/>
              </a:solidFill>
              <a:prstDash val="solid"/>
              <a:round/>
              <a:headEnd type="none" w="sm" len="sm"/>
              <a:tailEnd type="none" w="sm" len="sm"/>
            </a:ln>
          </p:spPr>
        </p:cxnSp>
        <p:sp>
          <p:nvSpPr>
            <p:cNvPr id="233" name="Google Shape;233;p29"/>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29803"/>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34" name="Google Shape;234;p29"/>
            <p:cNvSpPr/>
            <p:nvPr/>
          </p:nvSpPr>
          <p:spPr>
            <a:xfrm>
              <a:off x="9603442" y="-8467"/>
              <a:ext cx="258855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35" name="Google Shape;235;p29"/>
            <p:cNvSpPr/>
            <p:nvPr/>
          </p:nvSpPr>
          <p:spPr>
            <a:xfrm>
              <a:off x="8932333" y="3048000"/>
              <a:ext cx="3259667" cy="3810000"/>
            </a:xfrm>
            <a:prstGeom prst="triangle">
              <a:avLst>
                <a:gd name="adj" fmla="val 100000"/>
              </a:avLst>
            </a:prstGeom>
            <a:solidFill>
              <a:schemeClr val="accent2">
                <a:alpha val="71764"/>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36" name="Google Shape;236;p29"/>
            <p:cNvSpPr/>
            <p:nvPr/>
          </p:nvSpPr>
          <p:spPr>
            <a:xfrm>
              <a:off x="9334500" y="-8467"/>
              <a:ext cx="2854326"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3F7818">
                <a:alpha val="69803"/>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37" name="Google Shape;237;p29"/>
            <p:cNvSpPr/>
            <p:nvPr/>
          </p:nvSpPr>
          <p:spPr>
            <a:xfrm>
              <a:off x="10898730" y="-8467"/>
              <a:ext cx="1290094" cy="6866467"/>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rgbClr val="BFE471">
                <a:alpha val="69803"/>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38" name="Google Shape;238;p29"/>
            <p:cNvSpPr/>
            <p:nvPr/>
          </p:nvSpPr>
          <p:spPr>
            <a:xfrm>
              <a:off x="10938999" y="-8467"/>
              <a:ext cx="1249825" cy="6866467"/>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chemeClr val="accent1">
                <a:alpha val="64705"/>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39" name="Google Shape;239;p29"/>
            <p:cNvSpPr/>
            <p:nvPr/>
          </p:nvSpPr>
          <p:spPr>
            <a:xfrm>
              <a:off x="10371666" y="3589867"/>
              <a:ext cx="1817159" cy="3268133"/>
            </a:xfrm>
            <a:prstGeom prst="triangle">
              <a:avLst>
                <a:gd name="adj" fmla="val 100000"/>
              </a:avLst>
            </a:prstGeom>
            <a:solidFill>
              <a:schemeClr val="accent1">
                <a:alpha val="8000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sp>
          <p:nvSpPr>
            <p:cNvPr id="240" name="Google Shape;240;p29"/>
            <p:cNvSpPr/>
            <p:nvPr/>
          </p:nvSpPr>
          <p:spPr>
            <a:xfrm>
              <a:off x="0" y="4013200"/>
              <a:ext cx="448733" cy="2844800"/>
            </a:xfrm>
            <a:prstGeom prst="triangle">
              <a:avLst>
                <a:gd name="adj" fmla="val 0"/>
              </a:avLst>
            </a:prstGeom>
            <a:solidFill>
              <a:schemeClr val="accent1">
                <a:alpha val="84705"/>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Trebuchet MS"/>
                <a:ea typeface="Trebuchet MS"/>
                <a:cs typeface="Trebuchet MS"/>
                <a:sym typeface="Trebuchet MS"/>
              </a:endParaRPr>
            </a:p>
          </p:txBody>
        </p:sp>
      </p:grpSp>
      <p:sp>
        <p:nvSpPr>
          <p:cNvPr id="241" name="Google Shape;241;p29"/>
          <p:cNvSpPr/>
          <p:nvPr/>
        </p:nvSpPr>
        <p:spPr>
          <a:xfrm>
            <a:off x="357759" y="480060"/>
            <a:ext cx="8428482" cy="5897880"/>
          </a:xfrm>
          <a:prstGeom prst="rect">
            <a:avLst/>
          </a:prstGeom>
          <a:solidFill>
            <a:srgbClr val="FFFFFF"/>
          </a:solidFill>
          <a:ln>
            <a:noFill/>
          </a:ln>
          <a:effectLst>
            <a:outerShdw blurRad="63500" dist="17780" dir="5400000" algn="t" rotWithShape="0">
              <a:srgbClr val="000000">
                <a:alpha val="4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rebuchet MS"/>
              <a:ea typeface="Trebuchet MS"/>
              <a:cs typeface="Trebuchet MS"/>
              <a:sym typeface="Trebuchet MS"/>
            </a:endParaRPr>
          </a:p>
        </p:txBody>
      </p:sp>
      <p:pic>
        <p:nvPicPr>
          <p:cNvPr id="242" name="Google Shape;242;p29" descr="A table with text on it&#10;&#10;Description automatically generated"/>
          <p:cNvPicPr preferRelativeResize="0">
            <a:picLocks noGrp="1"/>
          </p:cNvPicPr>
          <p:nvPr>
            <p:ph idx="1"/>
          </p:nvPr>
        </p:nvPicPr>
        <p:blipFill rotWithShape="1">
          <a:blip r:embed="rId3">
            <a:alphaModFix/>
          </a:blip>
          <a:srcRect/>
          <a:stretch/>
        </p:blipFill>
        <p:spPr>
          <a:xfrm>
            <a:off x="357750" y="1955375"/>
            <a:ext cx="8428500" cy="2676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31"/>
          <p:cNvSpPr txBox="1">
            <a:spLocks noGrp="1"/>
          </p:cNvSpPr>
          <p:nvPr>
            <p:ph type="title"/>
          </p:nvPr>
        </p:nvSpPr>
        <p:spPr>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b="1"/>
              <a:t>BUDGETING</a:t>
            </a:r>
            <a:endParaRPr/>
          </a:p>
        </p:txBody>
      </p:sp>
      <p:sp>
        <p:nvSpPr>
          <p:cNvPr id="252" name="Google Shape;252;p31"/>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440"/>
              <a:buChar char="►"/>
            </a:pPr>
            <a:r>
              <a:rPr lang="en-US"/>
              <a:t>A budget is a financial plan showing the expected income and expenditure for an organization over a specific period, typically one year.</a:t>
            </a:r>
            <a:endParaRPr/>
          </a:p>
        </p:txBody>
      </p:sp>
    </p:spTree>
    <p:extLst>
      <p:ext uri="{BB962C8B-B14F-4D97-AF65-F5344CB8AC3E}">
        <p14:creationId xmlns:p14="http://schemas.microsoft.com/office/powerpoint/2010/main" val="15626451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32"/>
          <p:cNvSpPr txBox="1">
            <a:spLocks noGrp="1"/>
          </p:cNvSpPr>
          <p:nvPr>
            <p:ph type="title"/>
          </p:nvPr>
        </p:nvSpPr>
        <p:spPr>
          <a:xfrm>
            <a:off x="628650" y="646480"/>
            <a:ext cx="7886700" cy="83942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b="1" dirty="0"/>
              <a:t>BUDGETING</a:t>
            </a:r>
            <a:endParaRPr dirty="0"/>
          </a:p>
        </p:txBody>
      </p:sp>
      <p:sp>
        <p:nvSpPr>
          <p:cNvPr id="260" name="Google Shape;260;p32"/>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ct val="79999"/>
              <a:buChar char="►"/>
            </a:pPr>
            <a:r>
              <a:rPr lang="en-US" dirty="0"/>
              <a:t>For many reasons, particularly with taxation and social security, owners should treat themselves as employees and pay themselves a salary, rather than attempt to live on the company’s profits. This accounts for the item labeled ‘Owner’s payroll costs’.</a:t>
            </a:r>
            <a:endParaRPr dirty="0"/>
          </a:p>
          <a:p>
            <a:pPr marL="342900" lvl="0" indent="-342900" algn="l" rtl="0">
              <a:spcBef>
                <a:spcPts val="1000"/>
              </a:spcBef>
              <a:spcAft>
                <a:spcPts val="0"/>
              </a:spcAft>
              <a:buSzPct val="79999"/>
              <a:buChar char="►"/>
            </a:pPr>
            <a:r>
              <a:rPr lang="en-US" dirty="0"/>
              <a:t>The services of an accountant will be necessary to help prepare the annual accounts and possibly to advise from time to time. The advice lawyer may also be necessary from time to time. These items are covered under the heading ‘Professional fees’. </a:t>
            </a:r>
            <a:endParaRPr dirty="0"/>
          </a:p>
          <a:p>
            <a:pPr marL="342900" lvl="0" indent="-342900" algn="l" rtl="0">
              <a:spcBef>
                <a:spcPts val="1000"/>
              </a:spcBef>
              <a:spcAft>
                <a:spcPts val="0"/>
              </a:spcAft>
              <a:buSzPct val="79999"/>
              <a:buChar char="►"/>
            </a:pPr>
            <a:r>
              <a:rPr lang="en-US" dirty="0"/>
              <a:t>Finally, employers are legally required to carry insurance to cover any claim against them for injuries suffered by employees during their employment; other insurance, against theft from the company’s premises for example, may also be necessary. This explains the heading ‘Insurance’.</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33"/>
          <p:cNvSpPr txBox="1">
            <a:spLocks noGrp="1"/>
          </p:cNvSpPr>
          <p:nvPr>
            <p:ph type="title"/>
          </p:nvPr>
        </p:nvSpPr>
        <p:spPr>
          <a:xfrm>
            <a:off x="609599" y="609600"/>
            <a:ext cx="6347713" cy="8382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3600"/>
              <a:buFont typeface="Trebuchet MS"/>
              <a:buNone/>
            </a:pPr>
            <a:r>
              <a:rPr lang="en-US" b="1"/>
              <a:t>CASH FLOW FORECAST</a:t>
            </a:r>
            <a:endParaRPr/>
          </a:p>
        </p:txBody>
      </p:sp>
      <p:sp>
        <p:nvSpPr>
          <p:cNvPr id="266" name="Google Shape;266;p33"/>
          <p:cNvSpPr txBox="1">
            <a:spLocks noGrp="1"/>
          </p:cNvSpPr>
          <p:nvPr>
            <p:ph idx="1"/>
          </p:nvPr>
        </p:nvSpPr>
        <p:spPr>
          <a:xfrm>
            <a:off x="609598" y="1905000"/>
            <a:ext cx="8085993" cy="4136363"/>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SzPts val="1440"/>
              <a:buNone/>
            </a:pPr>
            <a:r>
              <a:rPr lang="en-US" dirty="0"/>
              <a:t>	</a:t>
            </a:r>
            <a:r>
              <a:rPr lang="en-US" sz="2000" dirty="0"/>
              <a:t>A company may be very profitable but unable to pay its bills. For that reason, it may be forced into receivership. </a:t>
            </a:r>
            <a:r>
              <a:rPr lang="en-US" sz="2000" dirty="0" smtClean="0"/>
              <a:t>This </a:t>
            </a:r>
            <a:r>
              <a:rPr lang="en-US" sz="2000" dirty="0"/>
              <a:t>apparent paradox typically arises because bills have to be met, in particular staff have to be paid, before the income they generate is received. To avoid this difficulty businesses, need to prepare cash flow forecasts, that is, estimates of the amount of money that will flow into and out of the company each month.</a:t>
            </a:r>
            <a:endParaRPr dirty="0"/>
          </a:p>
          <a:p>
            <a:pPr marL="342900" lvl="0" indent="-342900" algn="l" rtl="0">
              <a:spcBef>
                <a:spcPts val="1000"/>
              </a:spcBef>
              <a:spcAft>
                <a:spcPts val="0"/>
              </a:spcAft>
              <a:buSzPts val="1600"/>
              <a:buNone/>
            </a:pPr>
            <a:r>
              <a:rPr lang="en-US" sz="2000" dirty="0"/>
              <a:t>	companies normally try to forecast twelve months. </a:t>
            </a: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27</TotalTime>
  <Words>1052</Words>
  <Application>Microsoft Office PowerPoint</Application>
  <PresentationFormat>On-screen Show (4:3)</PresentationFormat>
  <Paragraphs>95</Paragraphs>
  <Slides>17</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Trebuchet MS</vt:lpstr>
      <vt:lpstr>Office Theme</vt:lpstr>
      <vt:lpstr>CS4001- Professional Practices in IT</vt:lpstr>
      <vt:lpstr>Management Accounting</vt:lpstr>
      <vt:lpstr>COST OF LABOUR</vt:lpstr>
      <vt:lpstr>OVERHEADS</vt:lpstr>
      <vt:lpstr>PowerPoint Presentation</vt:lpstr>
      <vt:lpstr>Example</vt:lpstr>
      <vt:lpstr>Labor working hours calculation</vt:lpstr>
      <vt:lpstr>Payroll</vt:lpstr>
      <vt:lpstr>Cost of Labor</vt:lpstr>
      <vt:lpstr>Example 1- Solution</vt:lpstr>
      <vt:lpstr>1. Fixed Overhead</vt:lpstr>
      <vt:lpstr>2. Overhead Proportion to Labor Content</vt:lpstr>
      <vt:lpstr>3. Overhead Proportion to total cost direct</vt:lpstr>
      <vt:lpstr>PowerPoint Presentation</vt:lpstr>
      <vt:lpstr>BUDGETING</vt:lpstr>
      <vt:lpstr>BUDGETING</vt:lpstr>
      <vt:lpstr>CASH FLOW FORECAST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CS4001- Professional Practices in IT</dc:title>
  <cp:lastModifiedBy>Anum Hamid</cp:lastModifiedBy>
  <cp:revision>5</cp:revision>
  <dcterms:modified xsi:type="dcterms:W3CDTF">2025-10-07T09:50:47Z</dcterms:modified>
</cp:coreProperties>
</file>