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5" r:id="rId1"/>
  </p:sldMasterIdLst>
  <p:notesMasterIdLst>
    <p:notesMasterId r:id="rId20"/>
  </p:notesMasterIdLst>
  <p:sldIdLst>
    <p:sldId id="274"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792" y="6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www.businessdictionary.com/definition/volume.html" TargetMode="External"/><Relationship Id="rId7" Type="http://schemas.openxmlformats.org/officeDocument/2006/relationships/hyperlink" Target="http://www.businessdictionary.com/definition/stock-exchange.html" TargetMode="External"/><Relationship Id="rId2" Type="http://schemas.openxmlformats.org/officeDocument/2006/relationships/slide" Target="../slides/slide9.xml"/><Relationship Id="rId1" Type="http://schemas.openxmlformats.org/officeDocument/2006/relationships/notesMaster" Target="../notesMasters/notesMaster1.xml"/><Relationship Id="rId6" Type="http://schemas.openxmlformats.org/officeDocument/2006/relationships/hyperlink" Target="http://www.businessdictionary.com/definition/trade.html" TargetMode="External"/><Relationship Id="rId5" Type="http://schemas.openxmlformats.org/officeDocument/2006/relationships/hyperlink" Target="http://www.businessdictionary.com/definition/share.html" TargetMode="External"/><Relationship Id="rId4" Type="http://schemas.openxmlformats.org/officeDocument/2006/relationships/hyperlink" Target="http://www.businessdictionary.com/definition/value.html" TargetMode="Externa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2" name="Google Shape;152;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8" name="Google Shape;158;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Need of annual report.</a:t>
            </a:r>
            <a:endParaRPr/>
          </a:p>
          <a:p>
            <a:pPr marL="0" lvl="0" indent="0" algn="l" rtl="0">
              <a:spcBef>
                <a:spcPts val="0"/>
              </a:spcBef>
              <a:spcAft>
                <a:spcPts val="0"/>
              </a:spcAft>
              <a:buNone/>
            </a:pPr>
            <a:endParaRPr/>
          </a:p>
        </p:txBody>
      </p:sp>
      <p:sp>
        <p:nvSpPr>
          <p:cNvPr id="159" name="Google Shape;159;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5" name="Google Shape;165;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Tangible physical present</a:t>
            </a:r>
            <a:endParaRPr/>
          </a:p>
          <a:p>
            <a:pPr marL="0" lvl="0" indent="0" algn="l" rtl="0">
              <a:spcBef>
                <a:spcPts val="0"/>
              </a:spcBef>
              <a:spcAft>
                <a:spcPts val="0"/>
              </a:spcAft>
              <a:buNone/>
            </a:pPr>
            <a:r>
              <a:rPr lang="en-US"/>
              <a:t>Intangible not physically (copyrights , brand name)</a:t>
            </a:r>
            <a:endParaRPr/>
          </a:p>
        </p:txBody>
      </p:sp>
      <p:sp>
        <p:nvSpPr>
          <p:cNvPr id="166" name="Google Shape;166;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2" name="Google Shape;172;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r>
              <a:rPr lang="en-US"/>
              <a:t>DEFINITION of 'Stockholders' Equity'</a:t>
            </a:r>
            <a:endParaRPr/>
          </a:p>
          <a:p>
            <a:pPr marL="0" lvl="0" indent="0" algn="l" rtl="0">
              <a:spcBef>
                <a:spcPts val="0"/>
              </a:spcBef>
              <a:spcAft>
                <a:spcPts val="0"/>
              </a:spcAft>
              <a:buNone/>
            </a:pPr>
            <a:r>
              <a:rPr lang="en-US"/>
              <a:t>The portion of the balance sheet that represents the capital received from investors in exchange for stock (paid-in capital), donated capital and retained earnings. Stockholders' equity represents the equity stake currently held on the books by a firm's equity investors.</a:t>
            </a:r>
            <a:endParaRPr/>
          </a:p>
          <a:p>
            <a:pPr marL="0" lvl="0" indent="0" algn="l" rtl="0">
              <a:spcBef>
                <a:spcPts val="0"/>
              </a:spcBef>
              <a:spcAft>
                <a:spcPts val="0"/>
              </a:spcAft>
              <a:buNone/>
            </a:pPr>
            <a:r>
              <a:rPr lang="en-US"/>
              <a:t>It is calculated either as a </a:t>
            </a:r>
            <a:endParaRPr/>
          </a:p>
          <a:p>
            <a:pPr marL="0" lvl="0" indent="0" algn="l" rtl="0">
              <a:spcBef>
                <a:spcPts val="0"/>
              </a:spcBef>
              <a:spcAft>
                <a:spcPts val="0"/>
              </a:spcAft>
              <a:buNone/>
            </a:pPr>
            <a:r>
              <a:rPr lang="en-US"/>
              <a:t>	firm's total assets - its total liabilities, </a:t>
            </a:r>
            <a:endParaRPr/>
          </a:p>
          <a:p>
            <a:pPr marL="0" lvl="0" indent="0" algn="l" rtl="0">
              <a:spcBef>
                <a:spcPts val="0"/>
              </a:spcBef>
              <a:spcAft>
                <a:spcPts val="0"/>
              </a:spcAft>
              <a:buNone/>
            </a:pPr>
            <a:r>
              <a:rPr lang="en-US"/>
              <a:t>or as </a:t>
            </a:r>
            <a:endParaRPr/>
          </a:p>
          <a:p>
            <a:pPr marL="0" lvl="0" indent="0" algn="l" rtl="0">
              <a:spcBef>
                <a:spcPts val="0"/>
              </a:spcBef>
              <a:spcAft>
                <a:spcPts val="0"/>
              </a:spcAft>
              <a:buNone/>
            </a:pPr>
            <a:r>
              <a:rPr lang="en-US"/>
              <a:t>	share capital + retained earnings - treasury shares</a:t>
            </a:r>
            <a:endParaRPr/>
          </a:p>
          <a:p>
            <a:pPr marL="0" lvl="0" indent="0" algn="l" rtl="0">
              <a:spcBef>
                <a:spcPts val="0"/>
              </a:spcBef>
              <a:spcAft>
                <a:spcPts val="0"/>
              </a:spcAft>
              <a:buNone/>
            </a:pPr>
            <a:endParaRPr/>
          </a:p>
          <a:p>
            <a:pPr marL="0" lvl="0" indent="0" algn="l" rtl="0">
              <a:spcBef>
                <a:spcPts val="0"/>
              </a:spcBef>
              <a:spcAft>
                <a:spcPts val="0"/>
              </a:spcAft>
              <a:buNone/>
            </a:pPr>
            <a:r>
              <a:rPr lang="en-US"/>
              <a:t>Also known as "shareholders' equity".</a:t>
            </a:r>
            <a:endParaRPr/>
          </a:p>
        </p:txBody>
      </p:sp>
      <p:sp>
        <p:nvSpPr>
          <p:cNvPr id="173" name="Google Shape;173;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9" name="Google Shape;179;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5" name="Google Shape;185;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1" name="Google Shape;191;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7" name="Google Shape;197;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0" i="0">
                <a:solidFill>
                  <a:schemeClr val="dk1"/>
                </a:solidFill>
                <a:latin typeface="Calibri"/>
                <a:ea typeface="Calibri"/>
                <a:cs typeface="Calibri"/>
                <a:sym typeface="Calibri"/>
              </a:rPr>
              <a:t>Meaning of turn over in the context of Finance: The </a:t>
            </a:r>
            <a:r>
              <a:rPr lang="en-US" sz="1200" b="0" i="0" u="sng" strike="noStrike">
                <a:solidFill>
                  <a:schemeClr val="hlink"/>
                </a:solidFill>
                <a:latin typeface="Calibri"/>
                <a:ea typeface="Calibri"/>
                <a:cs typeface="Calibri"/>
                <a:sym typeface="Calibri"/>
                <a:hlinkClick r:id="rId3"/>
              </a:rPr>
              <a:t>volume</a:t>
            </a:r>
            <a:r>
              <a:rPr lang="en-US" sz="1200" b="0" i="0">
                <a:solidFill>
                  <a:schemeClr val="dk1"/>
                </a:solidFill>
                <a:latin typeface="Calibri"/>
                <a:ea typeface="Calibri"/>
                <a:cs typeface="Calibri"/>
                <a:sym typeface="Calibri"/>
              </a:rPr>
              <a:t> or </a:t>
            </a:r>
            <a:r>
              <a:rPr lang="en-US" sz="1200" b="0" i="0" u="sng" strike="noStrike">
                <a:solidFill>
                  <a:schemeClr val="hlink"/>
                </a:solidFill>
                <a:latin typeface="Calibri"/>
                <a:ea typeface="Calibri"/>
                <a:cs typeface="Calibri"/>
                <a:sym typeface="Calibri"/>
                <a:hlinkClick r:id="rId4"/>
              </a:rPr>
              <a:t>value</a:t>
            </a:r>
            <a:r>
              <a:rPr lang="en-US" sz="1200" b="0" i="0">
                <a:solidFill>
                  <a:schemeClr val="dk1"/>
                </a:solidFill>
                <a:latin typeface="Calibri"/>
                <a:ea typeface="Calibri"/>
                <a:cs typeface="Calibri"/>
                <a:sym typeface="Calibri"/>
              </a:rPr>
              <a:t> of </a:t>
            </a:r>
            <a:r>
              <a:rPr lang="en-US" sz="1200" b="0" i="0" u="sng" strike="noStrike">
                <a:solidFill>
                  <a:schemeClr val="hlink"/>
                </a:solidFill>
                <a:latin typeface="Calibri"/>
                <a:ea typeface="Calibri"/>
                <a:cs typeface="Calibri"/>
                <a:sym typeface="Calibri"/>
                <a:hlinkClick r:id="rId5"/>
              </a:rPr>
              <a:t>shares</a:t>
            </a:r>
            <a:r>
              <a:rPr lang="en-US" sz="1200" b="0" i="0">
                <a:solidFill>
                  <a:schemeClr val="dk1"/>
                </a:solidFill>
                <a:latin typeface="Calibri"/>
                <a:ea typeface="Calibri"/>
                <a:cs typeface="Calibri"/>
                <a:sym typeface="Calibri"/>
              </a:rPr>
              <a:t> </a:t>
            </a:r>
            <a:r>
              <a:rPr lang="en-US" sz="1200" b="0" i="0" u="sng" strike="noStrike">
                <a:solidFill>
                  <a:schemeClr val="hlink"/>
                </a:solidFill>
                <a:latin typeface="Calibri"/>
                <a:ea typeface="Calibri"/>
                <a:cs typeface="Calibri"/>
                <a:sym typeface="Calibri"/>
                <a:hlinkClick r:id="rId6"/>
              </a:rPr>
              <a:t>traded</a:t>
            </a:r>
            <a:r>
              <a:rPr lang="en-US" sz="1200" b="0" i="0">
                <a:solidFill>
                  <a:schemeClr val="dk1"/>
                </a:solidFill>
                <a:latin typeface="Calibri"/>
                <a:ea typeface="Calibri"/>
                <a:cs typeface="Calibri"/>
                <a:sym typeface="Calibri"/>
              </a:rPr>
              <a:t> on a </a:t>
            </a:r>
            <a:r>
              <a:rPr lang="en-US" sz="1200" b="0" i="0" u="sng" strike="noStrike">
                <a:solidFill>
                  <a:schemeClr val="hlink"/>
                </a:solidFill>
                <a:latin typeface="Calibri"/>
                <a:ea typeface="Calibri"/>
                <a:cs typeface="Calibri"/>
                <a:sym typeface="Calibri"/>
                <a:hlinkClick r:id="rId7"/>
              </a:rPr>
              <a:t>stock exchange</a:t>
            </a:r>
            <a:r>
              <a:rPr lang="en-US" sz="1200" b="0" i="0">
                <a:solidFill>
                  <a:schemeClr val="dk1"/>
                </a:solidFill>
                <a:latin typeface="Calibri"/>
                <a:ea typeface="Calibri"/>
                <a:cs typeface="Calibri"/>
                <a:sym typeface="Calibri"/>
              </a:rPr>
              <a:t> during a day, month, or year.</a:t>
            </a:r>
            <a:br>
              <a:rPr lang="en-US" sz="1200" b="0" i="0">
                <a:solidFill>
                  <a:schemeClr val="dk1"/>
                </a:solidFill>
                <a:latin typeface="Calibri"/>
                <a:ea typeface="Calibri"/>
                <a:cs typeface="Calibri"/>
                <a:sym typeface="Calibri"/>
              </a:rPr>
            </a:br>
            <a:r>
              <a:rPr lang="en-US" sz="1200" b="0" i="0">
                <a:solidFill>
                  <a:schemeClr val="dk1"/>
                </a:solidFill>
                <a:latin typeface="Calibri"/>
                <a:ea typeface="Calibri"/>
                <a:cs typeface="Calibri"/>
                <a:sym typeface="Calibri"/>
              </a:rPr>
              <a:t/>
            </a:r>
            <a:br>
              <a:rPr lang="en-US" sz="1200" b="0" i="0">
                <a:solidFill>
                  <a:schemeClr val="dk1"/>
                </a:solidFill>
                <a:latin typeface="Calibri"/>
                <a:ea typeface="Calibri"/>
                <a:cs typeface="Calibri"/>
                <a:sym typeface="Calibri"/>
              </a:rPr>
            </a:br>
            <a:endParaRPr/>
          </a:p>
        </p:txBody>
      </p:sp>
      <p:sp>
        <p:nvSpPr>
          <p:cNvPr id="198" name="Google Shape;198;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4" name="Google Shape;204;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0" name="Google Shape;210;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6" name="Google Shape;216;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2" name="Google Shape;222;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8" name="Google Shape;228;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5" name="Google Shape;235;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1" name="Google Shape;241;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6" name="Google Shape;246;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2" name="Google Shape;252;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smtClean="0"/>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763180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0025243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1910537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9813949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6205569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7" name="Date Placeholder 2"/>
          <p:cNvSpPr>
            <a:spLocks noGrp="1"/>
          </p:cNvSpPr>
          <p:nvPr>
            <p:ph type="dt" sz="half" idx="10"/>
          </p:nvPr>
        </p:nvSpPr>
        <p:spPr/>
        <p:txBody>
          <a:bodyPr/>
          <a:lstStyle/>
          <a:p>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2670405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300388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7" name="Date Placeholder 4"/>
          <p:cNvSpPr>
            <a:spLocks noGrp="1"/>
          </p:cNvSpPr>
          <p:nvPr>
            <p:ph type="dt" sz="half" idx="10"/>
          </p:nvPr>
        </p:nvSpPr>
        <p:spPr/>
        <p:txBody>
          <a:bodyPr/>
          <a:lstStyle/>
          <a:p>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6077397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104439843"/>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883520690"/>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031135243"/>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smtClean="0"/>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smtClean="0"/>
              <a:t>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937053992"/>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548140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242665536"/>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555786898"/>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84339997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54811523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Picture with Caption" type="picTx">
  <p:cSld name="1_Picture with Caption">
    <p:spTree>
      <p:nvGrpSpPr>
        <p:cNvPr id="1" name="Shape 49"/>
        <p:cNvGrpSpPr/>
        <p:nvPr/>
      </p:nvGrpSpPr>
      <p:grpSpPr>
        <a:xfrm>
          <a:off x="0" y="0"/>
          <a:ext cx="0" cy="0"/>
          <a:chOff x="0" y="0"/>
          <a:chExt cx="0" cy="0"/>
        </a:xfrm>
      </p:grpSpPr>
      <p:sp>
        <p:nvSpPr>
          <p:cNvPr id="50" name="Google Shape;50;p4"/>
          <p:cNvSpPr txBox="1">
            <a:spLocks noGrp="1"/>
          </p:cNvSpPr>
          <p:nvPr>
            <p:ph type="title"/>
          </p:nvPr>
        </p:nvSpPr>
        <p:spPr>
          <a:xfrm>
            <a:off x="812799" y="4800600"/>
            <a:ext cx="8463619"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accent1"/>
              </a:buClr>
              <a:buSzPts val="2400"/>
              <a:buFont typeface="Trebuchet MS"/>
              <a:buNone/>
              <a:defRPr sz="24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4"/>
          <p:cNvSpPr>
            <a:spLocks noGrp="1"/>
          </p:cNvSpPr>
          <p:nvPr>
            <p:ph type="pic" idx="2"/>
          </p:nvPr>
        </p:nvSpPr>
        <p:spPr>
          <a:xfrm>
            <a:off x="812799" y="609600"/>
            <a:ext cx="8463619" cy="3845718"/>
          </a:xfrm>
          <a:prstGeom prst="rect">
            <a:avLst/>
          </a:prstGeom>
          <a:noFill/>
          <a:ln>
            <a:noFill/>
          </a:ln>
        </p:spPr>
      </p:sp>
      <p:sp>
        <p:nvSpPr>
          <p:cNvPr id="52" name="Google Shape;52;p4"/>
          <p:cNvSpPr txBox="1">
            <a:spLocks noGrp="1"/>
          </p:cNvSpPr>
          <p:nvPr>
            <p:ph type="body" idx="1"/>
          </p:nvPr>
        </p:nvSpPr>
        <p:spPr>
          <a:xfrm>
            <a:off x="812799" y="5367338"/>
            <a:ext cx="8463619" cy="674024"/>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960"/>
              <a:buNone/>
              <a:defRPr sz="12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sp>
        <p:nvSpPr>
          <p:cNvPr id="53" name="Google Shape;53;p4"/>
          <p:cNvSpPr txBox="1">
            <a:spLocks noGrp="1"/>
          </p:cNvSpPr>
          <p:nvPr>
            <p:ph type="dt" idx="10"/>
          </p:nvPr>
        </p:nvSpPr>
        <p:spPr>
          <a:xfrm>
            <a:off x="7207011" y="6041364"/>
            <a:ext cx="912176"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4"/>
          <p:cNvSpPr txBox="1">
            <a:spLocks noGrp="1"/>
          </p:cNvSpPr>
          <p:nvPr>
            <p:ph type="ftr" idx="11"/>
          </p:nvPr>
        </p:nvSpPr>
        <p:spPr>
          <a:xfrm>
            <a:off x="812799" y="6041364"/>
            <a:ext cx="6163964"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4"/>
          <p:cNvSpPr txBox="1">
            <a:spLocks noGrp="1"/>
          </p:cNvSpPr>
          <p:nvPr>
            <p:ph type="sldNum" idx="12"/>
          </p:nvPr>
        </p:nvSpPr>
        <p:spPr>
          <a:xfrm>
            <a:off x="8592902" y="6041364"/>
            <a:ext cx="68351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rgbClr val="90C226"/>
                </a:solidFill>
              </a:defRPr>
            </a:lvl1pPr>
            <a:lvl2pPr marL="0" lvl="1" indent="0" algn="r">
              <a:spcBef>
                <a:spcPts val="0"/>
              </a:spcBef>
              <a:buNone/>
              <a:defRPr>
                <a:solidFill>
                  <a:srgbClr val="90C226"/>
                </a:solidFill>
              </a:defRPr>
            </a:lvl2pPr>
            <a:lvl3pPr marL="0" lvl="2" indent="0" algn="r">
              <a:spcBef>
                <a:spcPts val="0"/>
              </a:spcBef>
              <a:buNone/>
              <a:defRPr>
                <a:solidFill>
                  <a:srgbClr val="90C226"/>
                </a:solidFill>
              </a:defRPr>
            </a:lvl3pPr>
            <a:lvl4pPr marL="0" lvl="3" indent="0" algn="r">
              <a:spcBef>
                <a:spcPts val="0"/>
              </a:spcBef>
              <a:buNone/>
              <a:defRPr>
                <a:solidFill>
                  <a:srgbClr val="90C226"/>
                </a:solidFill>
              </a:defRPr>
            </a:lvl4pPr>
            <a:lvl5pPr marL="0" lvl="4" indent="0" algn="r">
              <a:spcBef>
                <a:spcPts val="0"/>
              </a:spcBef>
              <a:buNone/>
              <a:defRPr>
                <a:solidFill>
                  <a:srgbClr val="90C226"/>
                </a:solidFill>
              </a:defRPr>
            </a:lvl5pPr>
            <a:lvl6pPr marL="0" lvl="5" indent="0" algn="r">
              <a:spcBef>
                <a:spcPts val="0"/>
              </a:spcBef>
              <a:buNone/>
              <a:defRPr>
                <a:solidFill>
                  <a:srgbClr val="90C226"/>
                </a:solidFill>
              </a:defRPr>
            </a:lvl6pPr>
            <a:lvl7pPr marL="0" lvl="6" indent="0" algn="r">
              <a:spcBef>
                <a:spcPts val="0"/>
              </a:spcBef>
              <a:buNone/>
              <a:defRPr>
                <a:solidFill>
                  <a:srgbClr val="90C226"/>
                </a:solidFill>
              </a:defRPr>
            </a:lvl7pPr>
            <a:lvl8pPr marL="0" lvl="7" indent="0" algn="r">
              <a:spcBef>
                <a:spcPts val="0"/>
              </a:spcBef>
              <a:buNone/>
              <a:defRPr>
                <a:solidFill>
                  <a:srgbClr val="90C226"/>
                </a:solidFill>
              </a:defRPr>
            </a:lvl8pPr>
            <a:lvl9pPr marL="0" lvl="8" indent="0" algn="r">
              <a:spcBef>
                <a:spcPts val="0"/>
              </a:spcBef>
              <a:buNone/>
              <a:defRPr>
                <a:solidFill>
                  <a:srgbClr val="90C226"/>
                </a:solidFil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41985547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3.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5.png"/><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20">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1">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2">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3">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570014618"/>
      </p:ext>
    </p:extLst>
  </p:cSld>
  <p:clrMap bg1="dk1" tx1="lt1" bg2="dk2" tx2="lt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 id="2147483677" r:id="rId12"/>
    <p:sldLayoutId id="2147483678" r:id="rId13"/>
    <p:sldLayoutId id="2147483679" r:id="rId14"/>
    <p:sldLayoutId id="2147483680" r:id="rId15"/>
    <p:sldLayoutId id="2147483681" r:id="rId16"/>
    <p:sldLayoutId id="2147483682" r:id="rId17"/>
    <p:sldLayoutId id="2147483683" r:id="rId18"/>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secp.gov.pk/"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t>Financial Accounting</a:t>
            </a:r>
            <a:r>
              <a:rPr lang="en-US" dirty="0"/>
              <a:t/>
            </a:r>
            <a:br>
              <a:rPr lang="en-US" dirty="0"/>
            </a:br>
            <a:endParaRPr lang="en-US" dirty="0"/>
          </a:p>
        </p:txBody>
      </p:sp>
      <p:sp>
        <p:nvSpPr>
          <p:cNvPr id="3" name="Subtitle 2"/>
          <p:cNvSpPr>
            <a:spLocks noGrp="1"/>
          </p:cNvSpPr>
          <p:nvPr>
            <p:ph type="subTitle" idx="1"/>
          </p:nvPr>
        </p:nvSpPr>
        <p:spPr/>
        <p:txBody>
          <a:bodyPr/>
          <a:lstStyle/>
          <a:p>
            <a:r>
              <a:rPr lang="en-US" dirty="0" smtClean="0"/>
              <a:t>BSE_PPIT</a:t>
            </a:r>
            <a:endParaRPr lang="en-US" dirty="0"/>
          </a:p>
        </p:txBody>
      </p:sp>
      <p:sp>
        <p:nvSpPr>
          <p:cNvPr id="4" name="Rectangle 3"/>
          <p:cNvSpPr/>
          <p:nvPr/>
        </p:nvSpPr>
        <p:spPr>
          <a:xfrm>
            <a:off x="1336431" y="2560320"/>
            <a:ext cx="6039727" cy="369332"/>
          </a:xfrm>
          <a:prstGeom prst="rect">
            <a:avLst/>
          </a:prstGeom>
        </p:spPr>
        <p:txBody>
          <a:bodyPr wrap="square">
            <a:spAutoFit/>
          </a:bodyPr>
          <a:lstStyle/>
          <a:p>
            <a:endParaRPr lang="en-US" dirty="0"/>
          </a:p>
        </p:txBody>
      </p:sp>
    </p:spTree>
    <p:extLst>
      <p:ext uri="{BB962C8B-B14F-4D97-AF65-F5344CB8AC3E}">
        <p14:creationId xmlns:p14="http://schemas.microsoft.com/office/powerpoint/2010/main" val="24070550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19"/>
          <p:cNvSpPr txBox="1">
            <a:spLocks noGrp="1"/>
          </p:cNvSpPr>
          <p:nvPr>
            <p:ph type="title"/>
          </p:nvPr>
        </p:nvSpPr>
        <p:spPr>
          <a:xfrm>
            <a:off x="812800" y="609600"/>
            <a:ext cx="8463617" cy="9144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n-US" b="1" dirty="0"/>
              <a:t>Financial Accounting</a:t>
            </a:r>
            <a:endParaRPr dirty="0"/>
          </a:p>
        </p:txBody>
      </p:sp>
      <p:sp>
        <p:nvSpPr>
          <p:cNvPr id="155" name="Google Shape;155;p19"/>
          <p:cNvSpPr txBox="1">
            <a:spLocks noGrp="1"/>
          </p:cNvSpPr>
          <p:nvPr>
            <p:ph idx="1"/>
          </p:nvPr>
        </p:nvSpPr>
        <p:spPr>
          <a:xfrm>
            <a:off x="812799" y="1877568"/>
            <a:ext cx="8463619" cy="4163795"/>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1440"/>
              <a:buNone/>
            </a:pPr>
            <a:r>
              <a:rPr lang="en-US" i="1"/>
              <a:t>After studying this chapter, you should understand the purpose of the three most important items in the annual report:</a:t>
            </a:r>
            <a:endParaRPr/>
          </a:p>
          <a:p>
            <a:pPr marL="342900" lvl="0" indent="-342900" algn="l" rtl="0">
              <a:spcBef>
                <a:spcPts val="1000"/>
              </a:spcBef>
              <a:spcAft>
                <a:spcPts val="0"/>
              </a:spcAft>
              <a:buSzPts val="1440"/>
              <a:buChar char="►"/>
            </a:pPr>
            <a:r>
              <a:rPr lang="en-US"/>
              <a:t> </a:t>
            </a:r>
            <a:r>
              <a:rPr lang="en-US" i="1"/>
              <a:t>the balance sheet;</a:t>
            </a:r>
            <a:endParaRPr/>
          </a:p>
          <a:p>
            <a:pPr marL="342900" lvl="0" indent="-342900" algn="l" rtl="0">
              <a:spcBef>
                <a:spcPts val="1000"/>
              </a:spcBef>
              <a:spcAft>
                <a:spcPts val="0"/>
              </a:spcAft>
              <a:buSzPts val="1440"/>
              <a:buChar char="►"/>
            </a:pPr>
            <a:r>
              <a:rPr lang="en-US"/>
              <a:t> </a:t>
            </a:r>
            <a:r>
              <a:rPr lang="en-US" i="1"/>
              <a:t>the profit and loss account; and</a:t>
            </a:r>
            <a:endParaRPr/>
          </a:p>
          <a:p>
            <a:pPr marL="342900" lvl="0" indent="-342900" algn="l" rtl="0">
              <a:spcBef>
                <a:spcPts val="1000"/>
              </a:spcBef>
              <a:spcAft>
                <a:spcPts val="0"/>
              </a:spcAft>
              <a:buSzPts val="1440"/>
              <a:buChar char="►"/>
            </a:pPr>
            <a:r>
              <a:rPr lang="en-US"/>
              <a:t> </a:t>
            </a:r>
            <a:r>
              <a:rPr lang="en-US" i="1"/>
              <a:t>the cash flow statement.</a:t>
            </a:r>
            <a:endParaRPr/>
          </a:p>
          <a:p>
            <a:pPr marL="0" lvl="0" indent="0" algn="l" rtl="0">
              <a:spcBef>
                <a:spcPts val="1000"/>
              </a:spcBef>
              <a:spcAft>
                <a:spcPts val="0"/>
              </a:spcAft>
              <a:buSzPts val="1440"/>
              <a:buNone/>
            </a:pPr>
            <a:r>
              <a:rPr lang="en-US" i="1"/>
              <a:t>These are known as the financial statements and together they provide a picture of the overall financial health of the business. You should be able to interpret them in simple cases.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20"/>
          <p:cNvSpPr txBox="1">
            <a:spLocks noGrp="1"/>
          </p:cNvSpPr>
          <p:nvPr>
            <p:ph type="title"/>
          </p:nvPr>
        </p:nvSpPr>
        <p:spPr>
          <a:xfrm>
            <a:off x="812800" y="609600"/>
            <a:ext cx="8463617" cy="92659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n-US"/>
              <a:t>Annual Report</a:t>
            </a:r>
            <a:endParaRPr/>
          </a:p>
        </p:txBody>
      </p:sp>
      <p:sp>
        <p:nvSpPr>
          <p:cNvPr id="162" name="Google Shape;162;p20"/>
          <p:cNvSpPr txBox="1">
            <a:spLocks noGrp="1"/>
          </p:cNvSpPr>
          <p:nvPr>
            <p:ph idx="1"/>
          </p:nvPr>
        </p:nvSpPr>
        <p:spPr>
          <a:xfrm>
            <a:off x="812799" y="1706880"/>
            <a:ext cx="8463619" cy="4334483"/>
          </a:xfrm>
          <a:prstGeom prst="rect">
            <a:avLst/>
          </a:prstGeom>
          <a:noFill/>
          <a:ln>
            <a:noFill/>
          </a:ln>
        </p:spPr>
        <p:txBody>
          <a:bodyPr spcFirstLastPara="1" wrap="square" lIns="91425" tIns="45700" rIns="91425" bIns="45700" anchor="t" anchorCtr="0">
            <a:normAutofit lnSpcReduction="10000"/>
          </a:bodyPr>
          <a:lstStyle/>
          <a:p>
            <a:pPr marL="0" lvl="0" indent="0" algn="l" rtl="0">
              <a:spcBef>
                <a:spcPts val="0"/>
              </a:spcBef>
              <a:spcAft>
                <a:spcPts val="0"/>
              </a:spcAft>
              <a:buSzPts val="1440"/>
              <a:buNone/>
            </a:pPr>
            <a:r>
              <a:rPr lang="en-US"/>
              <a:t>The limited companies, when liquidify, only looses the amount they have spent. How ever there is a check on the performance of these companies.</a:t>
            </a:r>
            <a:endParaRPr/>
          </a:p>
          <a:p>
            <a:pPr marL="0" lvl="0" indent="0" algn="l" rtl="0">
              <a:spcBef>
                <a:spcPts val="1000"/>
              </a:spcBef>
              <a:spcAft>
                <a:spcPts val="0"/>
              </a:spcAft>
              <a:buSzPts val="1440"/>
              <a:buNone/>
            </a:pPr>
            <a:r>
              <a:rPr lang="en-US"/>
              <a:t>In UK the law requires that, every year, the company produces an annual report, which must be filed at Companies House.</a:t>
            </a:r>
            <a:endParaRPr/>
          </a:p>
          <a:p>
            <a:pPr marL="0" lvl="0" indent="0" algn="l" rtl="0">
              <a:spcBef>
                <a:spcPts val="1000"/>
              </a:spcBef>
              <a:spcAft>
                <a:spcPts val="0"/>
              </a:spcAft>
              <a:buSzPts val="1440"/>
              <a:buNone/>
            </a:pPr>
            <a:r>
              <a:rPr lang="en-US"/>
              <a:t>In Pakistan the companies submit these reports to the license providing authority namely </a:t>
            </a:r>
            <a:r>
              <a:rPr lang="en-US" b="1"/>
              <a:t>SECP</a:t>
            </a:r>
            <a:r>
              <a:rPr lang="en-US"/>
              <a:t>; Securities and Exchange Commission of Pakistan . </a:t>
            </a:r>
            <a:endParaRPr/>
          </a:p>
          <a:p>
            <a:pPr marL="0" lvl="0" indent="0" algn="l" rtl="0">
              <a:spcBef>
                <a:spcPts val="1000"/>
              </a:spcBef>
              <a:spcAft>
                <a:spcPts val="0"/>
              </a:spcAft>
              <a:buSzPts val="1440"/>
              <a:buNone/>
            </a:pPr>
            <a:r>
              <a:rPr lang="en-US"/>
              <a:t>The annual report contains information about the company and its activities during the preceding year.</a:t>
            </a:r>
            <a:endParaRPr/>
          </a:p>
          <a:p>
            <a:pPr marL="0" lvl="0" indent="0" algn="l" rtl="0">
              <a:spcBef>
                <a:spcPts val="1000"/>
              </a:spcBef>
              <a:spcAft>
                <a:spcPts val="0"/>
              </a:spcAft>
              <a:buSzPts val="1440"/>
              <a:buNone/>
            </a:pPr>
            <a:endParaRPr/>
          </a:p>
          <a:p>
            <a:pPr marL="0" lvl="0" indent="0" algn="l" rtl="0">
              <a:spcBef>
                <a:spcPts val="1000"/>
              </a:spcBef>
              <a:spcAft>
                <a:spcPts val="0"/>
              </a:spcAft>
              <a:buSzPts val="1440"/>
              <a:buNone/>
            </a:pPr>
            <a:r>
              <a:rPr lang="en-US"/>
              <a:t>Link:  </a:t>
            </a:r>
            <a:r>
              <a:rPr lang="en-US" u="sng">
                <a:solidFill>
                  <a:schemeClr val="hlink"/>
                </a:solidFill>
                <a:hlinkClick r:id="rId3"/>
              </a:rPr>
              <a:t>https://www.secp.gov.pk/</a:t>
            </a:r>
            <a:r>
              <a:rPr lang="en-US"/>
              <a:t>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21"/>
          <p:cNvSpPr txBox="1">
            <a:spLocks noGrp="1"/>
          </p:cNvSpPr>
          <p:nvPr>
            <p:ph type="title"/>
          </p:nvPr>
        </p:nvSpPr>
        <p:spPr>
          <a:xfrm>
            <a:off x="812800" y="609600"/>
            <a:ext cx="8463617" cy="1011936"/>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n-US" b="1"/>
              <a:t>THE BALANCE SHEET</a:t>
            </a:r>
            <a:endParaRPr/>
          </a:p>
        </p:txBody>
      </p:sp>
      <p:sp>
        <p:nvSpPr>
          <p:cNvPr id="169" name="Google Shape;169;p21"/>
          <p:cNvSpPr txBox="1">
            <a:spLocks noGrp="1"/>
          </p:cNvSpPr>
          <p:nvPr>
            <p:ph idx="1"/>
          </p:nvPr>
        </p:nvSpPr>
        <p:spPr>
          <a:xfrm>
            <a:off x="812799" y="1621536"/>
            <a:ext cx="8463619" cy="4419827"/>
          </a:xfrm>
          <a:prstGeom prst="rect">
            <a:avLst/>
          </a:prstGeom>
          <a:noFill/>
          <a:ln>
            <a:noFill/>
          </a:ln>
        </p:spPr>
        <p:txBody>
          <a:bodyPr spcFirstLastPara="1" wrap="square" lIns="91425" tIns="45700" rIns="91425" bIns="45700" anchor="t" anchorCtr="0">
            <a:normAutofit fontScale="92500" lnSpcReduction="10000"/>
          </a:bodyPr>
          <a:lstStyle/>
          <a:p>
            <a:pPr marL="0" lvl="0" indent="0" algn="l" rtl="0">
              <a:spcBef>
                <a:spcPts val="0"/>
              </a:spcBef>
              <a:spcAft>
                <a:spcPts val="0"/>
              </a:spcAft>
              <a:buSzPts val="1440"/>
              <a:buNone/>
            </a:pPr>
            <a:r>
              <a:rPr lang="en-US"/>
              <a:t> The balance sheet is that financial statement in the annual report which show </a:t>
            </a:r>
            <a:endParaRPr/>
          </a:p>
          <a:p>
            <a:pPr marL="342900" lvl="0" indent="-342900" algn="l" rtl="0">
              <a:spcBef>
                <a:spcPts val="1000"/>
              </a:spcBef>
              <a:spcAft>
                <a:spcPts val="0"/>
              </a:spcAft>
              <a:buSzPts val="1440"/>
              <a:buChar char="►"/>
            </a:pPr>
            <a:r>
              <a:rPr lang="en-US"/>
              <a:t>what the company owns – its </a:t>
            </a:r>
            <a:r>
              <a:rPr lang="en-US" i="1"/>
              <a:t>assets </a:t>
            </a:r>
            <a:endParaRPr/>
          </a:p>
          <a:p>
            <a:pPr marL="342900" lvl="0" indent="-342900" algn="l" rtl="0">
              <a:spcBef>
                <a:spcPts val="1000"/>
              </a:spcBef>
              <a:spcAft>
                <a:spcPts val="0"/>
              </a:spcAft>
              <a:buSzPts val="1440"/>
              <a:buChar char="►"/>
            </a:pPr>
            <a:r>
              <a:rPr lang="en-US"/>
              <a:t>and what it owes – its </a:t>
            </a:r>
            <a:r>
              <a:rPr lang="en-US" i="1"/>
              <a:t>liabilities</a:t>
            </a:r>
            <a:r>
              <a:rPr lang="en-US"/>
              <a:t>.</a:t>
            </a:r>
            <a:endParaRPr/>
          </a:p>
          <a:p>
            <a:pPr marL="0" lvl="0" indent="0" algn="l" rtl="0">
              <a:spcBef>
                <a:spcPts val="1000"/>
              </a:spcBef>
              <a:spcAft>
                <a:spcPts val="0"/>
              </a:spcAft>
              <a:buSzPts val="1440"/>
              <a:buNone/>
            </a:pPr>
            <a:r>
              <a:rPr lang="en-US"/>
              <a:t>Key words</a:t>
            </a:r>
            <a:endParaRPr/>
          </a:p>
          <a:p>
            <a:pPr marL="742950" lvl="1" indent="-285750" algn="l" rtl="0">
              <a:spcBef>
                <a:spcPts val="1000"/>
              </a:spcBef>
              <a:spcAft>
                <a:spcPts val="0"/>
              </a:spcAft>
              <a:buSzPts val="1280"/>
              <a:buChar char="►"/>
            </a:pPr>
            <a:r>
              <a:rPr lang="en-US"/>
              <a:t>Current Assets	</a:t>
            </a:r>
            <a:endParaRPr/>
          </a:p>
          <a:p>
            <a:pPr marL="742950" lvl="1" indent="-285750" algn="l" rtl="0">
              <a:spcBef>
                <a:spcPts val="1000"/>
              </a:spcBef>
              <a:spcAft>
                <a:spcPts val="0"/>
              </a:spcAft>
              <a:buSzPts val="1280"/>
              <a:buChar char="►"/>
            </a:pPr>
            <a:r>
              <a:rPr lang="en-US"/>
              <a:t>Fixed Assets</a:t>
            </a:r>
            <a:endParaRPr/>
          </a:p>
          <a:p>
            <a:pPr marL="742950" lvl="1" indent="-285750" algn="l" rtl="0">
              <a:spcBef>
                <a:spcPts val="1000"/>
              </a:spcBef>
              <a:spcAft>
                <a:spcPts val="0"/>
              </a:spcAft>
              <a:buSzPts val="1280"/>
              <a:buChar char="►"/>
            </a:pPr>
            <a:r>
              <a:rPr lang="en-US"/>
              <a:t>Depreciation </a:t>
            </a:r>
            <a:endParaRPr/>
          </a:p>
          <a:p>
            <a:pPr marL="742950" lvl="1" indent="-285750" algn="l" rtl="0">
              <a:spcBef>
                <a:spcPts val="1000"/>
              </a:spcBef>
              <a:spcAft>
                <a:spcPts val="0"/>
              </a:spcAft>
              <a:buSzPts val="1280"/>
              <a:buChar char="►"/>
            </a:pPr>
            <a:r>
              <a:rPr lang="en-US"/>
              <a:t>Tangible</a:t>
            </a:r>
            <a:endParaRPr/>
          </a:p>
          <a:p>
            <a:pPr marL="742950" lvl="1" indent="-285750" algn="l" rtl="0">
              <a:spcBef>
                <a:spcPts val="1000"/>
              </a:spcBef>
              <a:spcAft>
                <a:spcPts val="0"/>
              </a:spcAft>
              <a:buSzPts val="1280"/>
              <a:buChar char="►"/>
            </a:pPr>
            <a:r>
              <a:rPr lang="en-US"/>
              <a:t>Intangible</a:t>
            </a:r>
            <a:endParaRPr/>
          </a:p>
          <a:p>
            <a:pPr marL="742950" lvl="1" indent="-285750" algn="l" rtl="0">
              <a:spcBef>
                <a:spcPts val="1000"/>
              </a:spcBef>
              <a:spcAft>
                <a:spcPts val="0"/>
              </a:spcAft>
              <a:buSzPts val="1280"/>
              <a:buChar char="►"/>
            </a:pPr>
            <a:r>
              <a:rPr lang="en-US"/>
              <a:t>Current liabilities</a:t>
            </a:r>
            <a:endParaRPr/>
          </a:p>
          <a:p>
            <a:pPr marL="742950" lvl="1" indent="-285750" algn="l" rtl="0">
              <a:spcBef>
                <a:spcPts val="1000"/>
              </a:spcBef>
              <a:spcAft>
                <a:spcPts val="0"/>
              </a:spcAft>
              <a:buSzPts val="1280"/>
              <a:buChar char="►"/>
            </a:pPr>
            <a:r>
              <a:rPr lang="en-US"/>
              <a:t>Fixed liabilities  </a:t>
            </a:r>
            <a:endParaRPr/>
          </a:p>
          <a:p>
            <a:pPr marL="0" lvl="0" indent="0" algn="l" rtl="0">
              <a:spcBef>
                <a:spcPts val="1000"/>
              </a:spcBef>
              <a:spcAft>
                <a:spcPts val="0"/>
              </a:spcAft>
              <a:buSzPts val="1440"/>
              <a:buNone/>
            </a:pP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22"/>
          <p:cNvSpPr txBox="1">
            <a:spLocks noGrp="1"/>
          </p:cNvSpPr>
          <p:nvPr>
            <p:ph type="title"/>
          </p:nvPr>
        </p:nvSpPr>
        <p:spPr>
          <a:xfrm>
            <a:off x="812800" y="272716"/>
            <a:ext cx="8463617" cy="463296"/>
          </a:xfrm>
          <a:prstGeom prst="rect">
            <a:avLst/>
          </a:prstGeom>
          <a:noFill/>
          <a:ln>
            <a:noFill/>
          </a:ln>
        </p:spPr>
        <p:txBody>
          <a:bodyPr spcFirstLastPara="1" wrap="square" lIns="91425" tIns="45700" rIns="91425" bIns="45700" anchor="t" anchorCtr="0">
            <a:normAutofit fontScale="90000"/>
          </a:bodyPr>
          <a:lstStyle/>
          <a:p>
            <a:pPr marL="0" lvl="0" indent="0" algn="l" rtl="0">
              <a:spcBef>
                <a:spcPts val="0"/>
              </a:spcBef>
              <a:spcAft>
                <a:spcPts val="0"/>
              </a:spcAft>
              <a:buClr>
                <a:schemeClr val="accent1"/>
              </a:buClr>
              <a:buSzPct val="100000"/>
              <a:buFont typeface="Trebuchet MS"/>
              <a:buNone/>
            </a:pPr>
            <a:r>
              <a:rPr lang="en-US"/>
              <a:t>Balance Sheet </a:t>
            </a:r>
            <a:endParaRPr/>
          </a:p>
        </p:txBody>
      </p:sp>
      <p:pic>
        <p:nvPicPr>
          <p:cNvPr id="176" name="Google Shape;176;p22"/>
          <p:cNvPicPr preferRelativeResize="0">
            <a:picLocks noGrp="1"/>
          </p:cNvPicPr>
          <p:nvPr>
            <p:ph idx="1"/>
          </p:nvPr>
        </p:nvPicPr>
        <p:blipFill rotWithShape="1">
          <a:blip r:embed="rId3">
            <a:alphaModFix/>
          </a:blip>
          <a:srcRect/>
          <a:stretch/>
        </p:blipFill>
        <p:spPr>
          <a:xfrm>
            <a:off x="4135000" y="328050"/>
            <a:ext cx="5826900" cy="62019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23"/>
          <p:cNvSpPr txBox="1">
            <a:spLocks noGrp="1"/>
          </p:cNvSpPr>
          <p:nvPr>
            <p:ph type="title"/>
          </p:nvPr>
        </p:nvSpPr>
        <p:spPr>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n-US"/>
              <a:t>Balance sheet</a:t>
            </a:r>
            <a:endParaRPr/>
          </a:p>
        </p:txBody>
      </p:sp>
      <p:pic>
        <p:nvPicPr>
          <p:cNvPr id="182" name="Google Shape;182;p23"/>
          <p:cNvPicPr preferRelativeResize="0">
            <a:picLocks noGrp="1"/>
          </p:cNvPicPr>
          <p:nvPr>
            <p:ph idx="1"/>
          </p:nvPr>
        </p:nvPicPr>
        <p:blipFill>
          <a:blip r:embed="rId3">
            <a:alphaModFix/>
          </a:blip>
          <a:stretch>
            <a:fillRect/>
          </a:stretch>
        </p:blipFill>
        <p:spPr>
          <a:xfrm>
            <a:off x="1594123" y="323500"/>
            <a:ext cx="6116100" cy="6116100"/>
          </a:xfrm>
          <a:prstGeom prst="rect">
            <a:avLst/>
          </a:prstGeom>
          <a:noFill/>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24"/>
          <p:cNvSpPr txBox="1">
            <a:spLocks noGrp="1"/>
          </p:cNvSpPr>
          <p:nvPr>
            <p:ph type="title"/>
          </p:nvPr>
        </p:nvSpPr>
        <p:spPr>
          <a:xfrm>
            <a:off x="812800" y="609600"/>
            <a:ext cx="8463617" cy="80467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n-US" b="1"/>
              <a:t>THE PROFIT AND LOSS ACCOUNT</a:t>
            </a:r>
            <a:endParaRPr/>
          </a:p>
        </p:txBody>
      </p:sp>
      <p:sp>
        <p:nvSpPr>
          <p:cNvPr id="188" name="Google Shape;188;p24"/>
          <p:cNvSpPr txBox="1">
            <a:spLocks noGrp="1"/>
          </p:cNvSpPr>
          <p:nvPr>
            <p:ph idx="1"/>
          </p:nvPr>
        </p:nvSpPr>
        <p:spPr>
          <a:xfrm>
            <a:off x="1194816" y="1658112"/>
            <a:ext cx="7620000" cy="4383251"/>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1440"/>
              <a:buNone/>
            </a:pPr>
            <a:r>
              <a:rPr lang="en-US"/>
              <a:t>The </a:t>
            </a:r>
            <a:r>
              <a:rPr lang="en-US" i="1"/>
              <a:t>profit and loss account </a:t>
            </a:r>
            <a:r>
              <a:rPr lang="en-US"/>
              <a:t>shows how much money has been received and how much has been spent in a given period – usually the organization’s financial year.</a:t>
            </a:r>
            <a:endParaRPr/>
          </a:p>
          <a:p>
            <a:pPr marL="0" lvl="0" indent="0" algn="l" rtl="0">
              <a:spcBef>
                <a:spcPts val="1000"/>
              </a:spcBef>
              <a:spcAft>
                <a:spcPts val="0"/>
              </a:spcAft>
              <a:buSzPts val="1440"/>
              <a:buNone/>
            </a:pPr>
            <a:r>
              <a:rPr lang="en-US"/>
              <a:t>In the case of non-profit-making organizations it is usually called an </a:t>
            </a:r>
            <a:r>
              <a:rPr lang="en-US" i="1"/>
              <a:t>income and expenditure </a:t>
            </a:r>
            <a:r>
              <a:rPr lang="en-US"/>
              <a:t>account.</a:t>
            </a:r>
            <a:endParaRPr/>
          </a:p>
          <a:p>
            <a:pPr marL="0" lvl="0" indent="0" algn="l" rtl="0">
              <a:spcBef>
                <a:spcPts val="1000"/>
              </a:spcBef>
              <a:spcAft>
                <a:spcPts val="0"/>
              </a:spcAft>
              <a:buSzPts val="1440"/>
              <a:buNone/>
            </a:pP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25"/>
          <p:cNvSpPr txBox="1">
            <a:spLocks noGrp="1"/>
          </p:cNvSpPr>
          <p:nvPr>
            <p:ph type="title"/>
          </p:nvPr>
        </p:nvSpPr>
        <p:spPr>
          <a:xfrm>
            <a:off x="812800" y="21973"/>
            <a:ext cx="8463617" cy="573024"/>
          </a:xfrm>
          <a:prstGeom prst="rect">
            <a:avLst/>
          </a:prstGeom>
          <a:noFill/>
          <a:ln>
            <a:noFill/>
          </a:ln>
        </p:spPr>
        <p:txBody>
          <a:bodyPr spcFirstLastPara="1" wrap="square" lIns="91425" tIns="45700" rIns="91425" bIns="45700" anchor="t" anchorCtr="0">
            <a:normAutofit fontScale="90000"/>
          </a:bodyPr>
          <a:lstStyle/>
          <a:p>
            <a:pPr marL="0" lvl="0" indent="0" algn="l" rtl="0">
              <a:spcBef>
                <a:spcPts val="0"/>
              </a:spcBef>
              <a:spcAft>
                <a:spcPts val="0"/>
              </a:spcAft>
              <a:buClr>
                <a:schemeClr val="accent1"/>
              </a:buClr>
              <a:buSzPct val="100000"/>
              <a:buFont typeface="Trebuchet MS"/>
              <a:buNone/>
            </a:pPr>
            <a:r>
              <a:rPr lang="en-US"/>
              <a:t>Profit and Loss Account</a:t>
            </a:r>
            <a:endParaRPr/>
          </a:p>
        </p:txBody>
      </p:sp>
      <p:pic>
        <p:nvPicPr>
          <p:cNvPr id="194" name="Google Shape;194;p25"/>
          <p:cNvPicPr preferRelativeResize="0">
            <a:picLocks noGrp="1"/>
          </p:cNvPicPr>
          <p:nvPr>
            <p:ph idx="1"/>
          </p:nvPr>
        </p:nvPicPr>
        <p:blipFill rotWithShape="1">
          <a:blip r:embed="rId3">
            <a:alphaModFix/>
          </a:blip>
          <a:srcRect/>
          <a:stretch/>
        </p:blipFill>
        <p:spPr>
          <a:xfrm>
            <a:off x="2003934" y="516086"/>
            <a:ext cx="6738622" cy="620381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26"/>
          <p:cNvSpPr txBox="1">
            <a:spLocks noGrp="1"/>
          </p:cNvSpPr>
          <p:nvPr>
            <p:ph type="title"/>
          </p:nvPr>
        </p:nvSpPr>
        <p:spPr>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n-US"/>
              <a:t>Profit loss account</a:t>
            </a:r>
            <a:endParaRPr/>
          </a:p>
        </p:txBody>
      </p:sp>
      <p:pic>
        <p:nvPicPr>
          <p:cNvPr id="201" name="Google Shape;201;p26"/>
          <p:cNvPicPr preferRelativeResize="0">
            <a:picLocks noGrp="1"/>
          </p:cNvPicPr>
          <p:nvPr>
            <p:ph idx="1"/>
          </p:nvPr>
        </p:nvPicPr>
        <p:blipFill rotWithShape="1">
          <a:blip r:embed="rId3">
            <a:alphaModFix/>
          </a:blip>
          <a:srcRect/>
          <a:stretch/>
        </p:blipFill>
        <p:spPr>
          <a:xfrm>
            <a:off x="1085088" y="1499616"/>
            <a:ext cx="7680960" cy="496214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27"/>
          <p:cNvSpPr txBox="1">
            <a:spLocks noGrp="1"/>
          </p:cNvSpPr>
          <p:nvPr>
            <p:ph type="title"/>
          </p:nvPr>
        </p:nvSpPr>
        <p:spPr>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n-US"/>
              <a:t>Income expenditure account</a:t>
            </a:r>
            <a:endParaRPr/>
          </a:p>
        </p:txBody>
      </p:sp>
      <p:pic>
        <p:nvPicPr>
          <p:cNvPr id="207" name="Google Shape;207;p27"/>
          <p:cNvPicPr preferRelativeResize="0">
            <a:picLocks noGrp="1"/>
          </p:cNvPicPr>
          <p:nvPr>
            <p:ph idx="1"/>
          </p:nvPr>
        </p:nvPicPr>
        <p:blipFill rotWithShape="1">
          <a:blip r:embed="rId3">
            <a:alphaModFix/>
          </a:blip>
          <a:srcRect/>
          <a:stretch/>
        </p:blipFill>
        <p:spPr>
          <a:xfrm>
            <a:off x="545123" y="1178170"/>
            <a:ext cx="8086813" cy="567983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28"/>
          <p:cNvSpPr txBox="1">
            <a:spLocks noGrp="1"/>
          </p:cNvSpPr>
          <p:nvPr>
            <p:ph type="title"/>
          </p:nvPr>
        </p:nvSpPr>
        <p:spPr>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n-US" b="1"/>
              <a:t>THE CASH FLOW STATEMENT</a:t>
            </a:r>
            <a:endParaRPr/>
          </a:p>
        </p:txBody>
      </p:sp>
      <p:sp>
        <p:nvSpPr>
          <p:cNvPr id="213" name="Google Shape;213;p28"/>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1600"/>
              <a:buNone/>
            </a:pPr>
            <a:r>
              <a:rPr lang="en-US" sz="2000"/>
              <a:t>Parents usually investigate about the expenses of their kids. Often during childhood we were asked for where we spent our money. If we bought any thing we were asked from where did the money come.</a:t>
            </a:r>
            <a:endParaRPr/>
          </a:p>
          <a:p>
            <a:pPr marL="0" lvl="0" indent="0" algn="l" rtl="0">
              <a:spcBef>
                <a:spcPts val="1000"/>
              </a:spcBef>
              <a:spcAft>
                <a:spcPts val="0"/>
              </a:spcAft>
              <a:buSzPts val="1920"/>
              <a:buNone/>
            </a:pPr>
            <a:r>
              <a:rPr lang="en-US" sz="2400"/>
              <a:t>Thus creating a flow “from where to where” these accounts show cash flow.</a:t>
            </a:r>
            <a:endParaRPr/>
          </a:p>
          <a:p>
            <a:pPr marL="0" lvl="0" indent="0" algn="l" rtl="0">
              <a:spcBef>
                <a:spcPts val="1000"/>
              </a:spcBef>
              <a:spcAft>
                <a:spcPts val="0"/>
              </a:spcAft>
              <a:buSzPts val="1920"/>
              <a:buNone/>
            </a:pPr>
            <a:r>
              <a:rPr lang="en-US" sz="2400"/>
              <a:t>The link that ties the balance sheet and the profit and loss account to the capital expenditure is the cash flow statement.</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29"/>
          <p:cNvSpPr txBox="1">
            <a:spLocks noGrp="1"/>
          </p:cNvSpPr>
          <p:nvPr>
            <p:ph type="title"/>
          </p:nvPr>
        </p:nvSpPr>
        <p:spPr>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n-US"/>
              <a:t>Cash flow</a:t>
            </a:r>
            <a:endParaRPr/>
          </a:p>
        </p:txBody>
      </p:sp>
      <p:pic>
        <p:nvPicPr>
          <p:cNvPr id="219" name="Google Shape;219;p29"/>
          <p:cNvPicPr preferRelativeResize="0">
            <a:picLocks noGrp="1"/>
          </p:cNvPicPr>
          <p:nvPr>
            <p:ph idx="1"/>
          </p:nvPr>
        </p:nvPicPr>
        <p:blipFill rotWithShape="1">
          <a:blip r:embed="rId3">
            <a:alphaModFix/>
          </a:blip>
          <a:srcRect/>
          <a:stretch/>
        </p:blipFill>
        <p:spPr>
          <a:xfrm>
            <a:off x="1133856" y="1490028"/>
            <a:ext cx="7360918" cy="456939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30"/>
          <p:cNvSpPr txBox="1">
            <a:spLocks noGrp="1"/>
          </p:cNvSpPr>
          <p:nvPr>
            <p:ph type="title"/>
          </p:nvPr>
        </p:nvSpPr>
        <p:spPr>
          <a:xfrm>
            <a:off x="812800" y="609600"/>
            <a:ext cx="8463617" cy="816864"/>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n-US"/>
              <a:t>Cash Flow</a:t>
            </a:r>
            <a:endParaRPr/>
          </a:p>
        </p:txBody>
      </p:sp>
      <p:pic>
        <p:nvPicPr>
          <p:cNvPr id="225" name="Google Shape;225;p30"/>
          <p:cNvPicPr preferRelativeResize="0">
            <a:picLocks noGrp="1"/>
          </p:cNvPicPr>
          <p:nvPr>
            <p:ph idx="1"/>
          </p:nvPr>
        </p:nvPicPr>
        <p:blipFill rotWithShape="1">
          <a:blip r:embed="rId3">
            <a:alphaModFix/>
          </a:blip>
          <a:srcRect/>
          <a:stretch/>
        </p:blipFill>
        <p:spPr>
          <a:xfrm>
            <a:off x="2097024" y="1427162"/>
            <a:ext cx="5554878" cy="507117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31"/>
          <p:cNvSpPr txBox="1">
            <a:spLocks noGrp="1"/>
          </p:cNvSpPr>
          <p:nvPr>
            <p:ph type="title"/>
          </p:nvPr>
        </p:nvSpPr>
        <p:spPr>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accent1"/>
              </a:buClr>
              <a:buSzPts val="2400"/>
              <a:buFont typeface="Trebuchet MS"/>
              <a:buNone/>
            </a:pPr>
            <a:endParaRPr/>
          </a:p>
        </p:txBody>
      </p:sp>
      <p:pic>
        <p:nvPicPr>
          <p:cNvPr id="231" name="Google Shape;231;p31"/>
          <p:cNvPicPr preferRelativeResize="0">
            <a:picLocks noGrp="1"/>
          </p:cNvPicPr>
          <p:nvPr>
            <p:ph type="pic" idx="2"/>
          </p:nvPr>
        </p:nvPicPr>
        <p:blipFill rotWithShape="1">
          <a:blip r:embed="rId3">
            <a:alphaModFix/>
          </a:blip>
          <a:srcRect t="16006" b="16006"/>
          <a:stretch/>
        </p:blipFill>
        <p:spPr>
          <a:prstGeom prst="rect">
            <a:avLst/>
          </a:prstGeom>
          <a:noFill/>
          <a:ln>
            <a:noFill/>
          </a:ln>
        </p:spPr>
      </p:pic>
      <p:sp>
        <p:nvSpPr>
          <p:cNvPr id="232" name="Google Shape;232;p31"/>
          <p:cNvSpPr txBox="1">
            <a:spLocks noGrp="1"/>
          </p:cNvSpPr>
          <p:nvPr>
            <p:ph type="body" idx="1"/>
          </p:nvPr>
        </p:nvSpPr>
        <p:spPr>
          <a:xfrm>
            <a:off x="879705" y="5813378"/>
            <a:ext cx="8463619" cy="674024"/>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960"/>
              <a:buNone/>
            </a:pPr>
            <a:r>
              <a:rPr lang="en-US" i="1"/>
              <a:t>Sources and destinations of cash flows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32"/>
          <p:cNvSpPr txBox="1">
            <a:spLocks noGrp="1"/>
          </p:cNvSpPr>
          <p:nvPr>
            <p:ph type="title"/>
          </p:nvPr>
        </p:nvSpPr>
        <p:spPr>
          <a:xfrm>
            <a:off x="812800" y="609600"/>
            <a:ext cx="8463617" cy="9144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n-US" b="1"/>
              <a:t>THE OVERALL PICTURE</a:t>
            </a:r>
            <a:endParaRPr/>
          </a:p>
        </p:txBody>
      </p:sp>
      <p:sp>
        <p:nvSpPr>
          <p:cNvPr id="238" name="Google Shape;238;p32"/>
          <p:cNvSpPr txBox="1">
            <a:spLocks noGrp="1"/>
          </p:cNvSpPr>
          <p:nvPr>
            <p:ph idx="1"/>
          </p:nvPr>
        </p:nvSpPr>
        <p:spPr>
          <a:xfrm>
            <a:off x="1365505" y="1819214"/>
            <a:ext cx="5986272" cy="3880773"/>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1440"/>
              <a:buNone/>
            </a:pPr>
            <a:r>
              <a:rPr lang="en-US"/>
              <a:t>The balance sheet, the profit and loss account, and the cash flow statement can none of them be understood or interpreted in isolation. Their relationship to each other needs to be understood and they need to be looked at together when assessing the financial state of a company.</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pic>
        <p:nvPicPr>
          <p:cNvPr id="243" name="Google Shape;243;p33"/>
          <p:cNvPicPr preferRelativeResize="0"/>
          <p:nvPr/>
        </p:nvPicPr>
        <p:blipFill rotWithShape="1">
          <a:blip r:embed="rId3">
            <a:alphaModFix/>
          </a:blip>
          <a:srcRect/>
          <a:stretch/>
        </p:blipFill>
        <p:spPr>
          <a:xfrm>
            <a:off x="992458" y="0"/>
            <a:ext cx="9144000" cy="68580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3"/>
                                        </p:tgtEl>
                                        <p:attrNameLst>
                                          <p:attrName>style.visibility</p:attrName>
                                        </p:attrNameLst>
                                      </p:cBhvr>
                                      <p:to>
                                        <p:strVal val="visible"/>
                                      </p:to>
                                    </p:set>
                                    <p:animEffect transition="in" filter="fade">
                                      <p:cBhvr>
                                        <p:cTn id="7" dur="1000"/>
                                        <p:tgtEl>
                                          <p:spTgt spid="2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34"/>
          <p:cNvSpPr txBox="1">
            <a:spLocks noGrp="1"/>
          </p:cNvSpPr>
          <p:nvPr>
            <p:ph type="title"/>
          </p:nvPr>
        </p:nvSpPr>
        <p:spPr>
          <a:xfrm>
            <a:off x="812800" y="633984"/>
            <a:ext cx="8463617" cy="1231392"/>
          </a:xfrm>
          <a:prstGeom prst="rect">
            <a:avLst/>
          </a:prstGeom>
          <a:noFill/>
          <a:ln>
            <a:noFill/>
          </a:ln>
        </p:spPr>
        <p:txBody>
          <a:bodyPr spcFirstLastPara="1" wrap="square" lIns="91425" tIns="45700" rIns="91425" bIns="45700" anchor="t" anchorCtr="0">
            <a:normAutofit fontScale="90000"/>
          </a:bodyPr>
          <a:lstStyle/>
          <a:p>
            <a:pPr marL="0" lvl="0" indent="0" algn="l" rtl="0">
              <a:spcBef>
                <a:spcPts val="0"/>
              </a:spcBef>
              <a:spcAft>
                <a:spcPts val="0"/>
              </a:spcAft>
              <a:buClr>
                <a:schemeClr val="accent1"/>
              </a:buClr>
              <a:buSzPts val="3600"/>
              <a:buFont typeface="Trebuchet MS"/>
              <a:buNone/>
            </a:pPr>
            <a:r>
              <a:rPr lang="en-US" i="1"/>
              <a:t>The relationship between the three financial statements</a:t>
            </a:r>
            <a:endParaRPr/>
          </a:p>
        </p:txBody>
      </p:sp>
      <p:pic>
        <p:nvPicPr>
          <p:cNvPr id="249" name="Google Shape;249;p34"/>
          <p:cNvPicPr preferRelativeResize="0">
            <a:picLocks noGrp="1"/>
          </p:cNvPicPr>
          <p:nvPr>
            <p:ph idx="1"/>
          </p:nvPr>
        </p:nvPicPr>
        <p:blipFill rotWithShape="1">
          <a:blip r:embed="rId3">
            <a:alphaModFix/>
          </a:blip>
          <a:stretch/>
        </p:blipFill>
        <p:spPr>
          <a:xfrm>
            <a:off x="2111014" y="2052638"/>
            <a:ext cx="6931748" cy="4195762"/>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35"/>
          <p:cNvSpPr txBox="1">
            <a:spLocks noGrp="1"/>
          </p:cNvSpPr>
          <p:nvPr>
            <p:ph type="title"/>
          </p:nvPr>
        </p:nvSpPr>
        <p:spPr>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n-US"/>
              <a:t>Some questions</a:t>
            </a:r>
            <a:endParaRPr/>
          </a:p>
        </p:txBody>
      </p:sp>
      <p:sp>
        <p:nvSpPr>
          <p:cNvPr id="255" name="Google Shape;255;p35"/>
          <p:cNvSpPr txBox="1">
            <a:spLocks noGrp="1"/>
          </p:cNvSpPr>
          <p:nvPr>
            <p:ph idx="1"/>
          </p:nvPr>
        </p:nvSpPr>
        <p:spPr>
          <a:xfrm>
            <a:off x="812799" y="1463040"/>
            <a:ext cx="8849361" cy="4861560"/>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920"/>
              <a:buChar char="►"/>
            </a:pPr>
            <a:r>
              <a:rPr lang="en-US" sz="2400" b="1">
                <a:solidFill>
                  <a:schemeClr val="dk1"/>
                </a:solidFill>
              </a:rPr>
              <a:t>What is the difference between current assets and non-current assets?</a:t>
            </a:r>
            <a:endParaRPr/>
          </a:p>
          <a:p>
            <a:pPr marL="342900" lvl="0" indent="-342900" algn="l" rtl="0">
              <a:spcBef>
                <a:spcPts val="1000"/>
              </a:spcBef>
              <a:spcAft>
                <a:spcPts val="0"/>
              </a:spcAft>
              <a:buSzPts val="1920"/>
              <a:buChar char="►"/>
            </a:pPr>
            <a:r>
              <a:rPr lang="en-US" sz="2400" b="1">
                <a:solidFill>
                  <a:schemeClr val="dk1"/>
                </a:solidFill>
              </a:rPr>
              <a:t>Which financial statement can I find noncurrent assets on?</a:t>
            </a:r>
            <a:endParaRPr/>
          </a:p>
          <a:p>
            <a:pPr marL="342900" lvl="0" indent="-342900" algn="l" rtl="0">
              <a:spcBef>
                <a:spcPts val="1000"/>
              </a:spcBef>
              <a:spcAft>
                <a:spcPts val="0"/>
              </a:spcAft>
              <a:buSzPts val="1920"/>
              <a:buChar char="►"/>
            </a:pPr>
            <a:r>
              <a:rPr lang="en-US" sz="2400" b="1">
                <a:solidFill>
                  <a:schemeClr val="dk1"/>
                </a:solidFill>
              </a:rPr>
              <a:t>On which financial statements does a company report its long-term debt?</a:t>
            </a:r>
            <a:endParaRPr/>
          </a:p>
          <a:p>
            <a:pPr marL="342900" lvl="0" indent="-342900" algn="l" rtl="0">
              <a:spcBef>
                <a:spcPts val="1000"/>
              </a:spcBef>
              <a:spcAft>
                <a:spcPts val="0"/>
              </a:spcAft>
              <a:buSzPts val="1920"/>
              <a:buChar char="►"/>
            </a:pPr>
            <a:r>
              <a:rPr lang="en-US" sz="2400" b="1">
                <a:solidFill>
                  <a:schemeClr val="dk1"/>
                </a:solidFill>
              </a:rPr>
              <a:t>What items on the balance sheet are most important in fundamental analysis?</a:t>
            </a:r>
            <a:endParaRPr/>
          </a:p>
          <a:p>
            <a:pPr marL="342900" lvl="0" indent="-342900" algn="l" rtl="0">
              <a:spcBef>
                <a:spcPts val="1000"/>
              </a:spcBef>
              <a:spcAft>
                <a:spcPts val="0"/>
              </a:spcAft>
              <a:buSzPts val="1920"/>
              <a:buChar char="►"/>
            </a:pPr>
            <a:r>
              <a:rPr lang="en-US" sz="2400" b="1">
                <a:solidFill>
                  <a:schemeClr val="dk1"/>
                </a:solidFill>
              </a:rPr>
              <a:t>What are some common examples of noncurrent assets?</a:t>
            </a:r>
            <a:endParaRPr b="1">
              <a:solidFill>
                <a:schemeClr val="dk1"/>
              </a:solidFill>
            </a:endParaRPr>
          </a:p>
          <a:p>
            <a:pPr marL="342900" lvl="0" indent="-251459" algn="l" rtl="0">
              <a:spcBef>
                <a:spcPts val="1000"/>
              </a:spcBef>
              <a:spcAft>
                <a:spcPts val="0"/>
              </a:spcAft>
              <a:buSzPts val="1440"/>
              <a:buNone/>
            </a:pPr>
            <a:endParaRPr b="1">
              <a:solidFill>
                <a:schemeClr val="dk1"/>
              </a:solidFill>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Ion</Template>
  <TotalTime>0</TotalTime>
  <Words>646</Words>
  <Application>Microsoft Office PowerPoint</Application>
  <PresentationFormat>Widescreen</PresentationFormat>
  <Paragraphs>67</Paragraphs>
  <Slides>18</Slides>
  <Notes>17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Century Gothic</vt:lpstr>
      <vt:lpstr>Trebuchet MS</vt:lpstr>
      <vt:lpstr>Wingdings 3</vt:lpstr>
      <vt:lpstr>Ion</vt:lpstr>
      <vt:lpstr>Financial Accounting </vt:lpstr>
      <vt:lpstr>Financial Accounting</vt:lpstr>
      <vt:lpstr>Annual Report</vt:lpstr>
      <vt:lpstr>THE BALANCE SHEET</vt:lpstr>
      <vt:lpstr>Balance Sheet </vt:lpstr>
      <vt:lpstr>Balance sheet</vt:lpstr>
      <vt:lpstr>THE PROFIT AND LOSS ACCOUNT</vt:lpstr>
      <vt:lpstr>Profit and Loss Account</vt:lpstr>
      <vt:lpstr>Profit loss account</vt:lpstr>
      <vt:lpstr>Income expenditure account</vt:lpstr>
      <vt:lpstr>THE CASH FLOW STATEMENT</vt:lpstr>
      <vt:lpstr>Cash flow</vt:lpstr>
      <vt:lpstr>Cash Flow</vt:lpstr>
      <vt:lpstr>PowerPoint Presentation</vt:lpstr>
      <vt:lpstr>THE OVERALL PICTURE</vt:lpstr>
      <vt:lpstr>PowerPoint Presentation</vt:lpstr>
      <vt:lpstr>The relationship between the three financial statements</vt:lpstr>
      <vt:lpstr>Some 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Financial Accounting </dc:title>
  <dc:creator>student</dc:creator>
  <cp:lastModifiedBy>student</cp:lastModifiedBy>
  <cp:revision>1</cp:revision>
  <dcterms:modified xsi:type="dcterms:W3CDTF">2025-11-04T05:15:57Z</dcterms:modified>
</cp:coreProperties>
</file>