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96" y="47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409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777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203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342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115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56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91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968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499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725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420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413148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7950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056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4389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6366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2010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90114" y="2084323"/>
            <a:ext cx="7282180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DFDF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1249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1792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842644" cy="5666740"/>
          </a:xfrm>
          <a:custGeom>
            <a:avLst/>
            <a:gdLst/>
            <a:ahLst/>
            <a:cxnLst/>
            <a:rect l="l" t="t" r="r" b="b"/>
            <a:pathLst>
              <a:path w="842644" h="5666740">
                <a:moveTo>
                  <a:pt x="842594" y="0"/>
                </a:moveTo>
                <a:lnTo>
                  <a:pt x="0" y="0"/>
                </a:lnTo>
                <a:lnTo>
                  <a:pt x="0" y="5666155"/>
                </a:lnTo>
                <a:lnTo>
                  <a:pt x="842594" y="0"/>
                </a:lnTo>
                <a:close/>
              </a:path>
            </a:pathLst>
          </a:custGeom>
          <a:solidFill>
            <a:srgbClr val="90C225">
              <a:alpha val="847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Professional</a:t>
            </a:r>
            <a:r>
              <a:rPr sz="5400" spc="-95" dirty="0"/>
              <a:t> </a:t>
            </a:r>
            <a:r>
              <a:rPr sz="5400" dirty="0"/>
              <a:t>Issues</a:t>
            </a:r>
            <a:r>
              <a:rPr sz="5400" spc="-140" dirty="0"/>
              <a:t> </a:t>
            </a:r>
            <a:r>
              <a:rPr sz="5400" dirty="0"/>
              <a:t>in</a:t>
            </a:r>
            <a:r>
              <a:rPr sz="5400" spc="-135" dirty="0"/>
              <a:t> </a:t>
            </a:r>
            <a:r>
              <a:rPr sz="5400" spc="-25" dirty="0"/>
              <a:t>IT</a:t>
            </a:r>
            <a:endParaRPr sz="5400"/>
          </a:p>
        </p:txBody>
      </p:sp>
      <p:sp>
        <p:nvSpPr>
          <p:cNvPr id="4" name="object 4"/>
          <p:cNvSpPr txBox="1"/>
          <p:nvPr/>
        </p:nvSpPr>
        <p:spPr>
          <a:xfrm>
            <a:off x="3283458" y="4254245"/>
            <a:ext cx="509016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FDFDFD"/>
                </a:solidFill>
                <a:latin typeface="Trebuchet MS"/>
                <a:cs typeface="Trebuchet MS"/>
              </a:rPr>
              <a:t>INTERNET</a:t>
            </a:r>
            <a:r>
              <a:rPr sz="2100" b="1" spc="-7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100" b="1" dirty="0">
                <a:solidFill>
                  <a:srgbClr val="FDFDFD"/>
                </a:solidFill>
                <a:latin typeface="Trebuchet MS"/>
                <a:cs typeface="Trebuchet MS"/>
              </a:rPr>
              <a:t>ISSUES</a:t>
            </a:r>
            <a:r>
              <a:rPr sz="2100" b="1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100" b="1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2100" b="1" spc="-7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100" b="1" dirty="0">
                <a:solidFill>
                  <a:srgbClr val="FDFDFD"/>
                </a:solidFill>
                <a:latin typeface="Trebuchet MS"/>
                <a:cs typeface="Trebuchet MS"/>
              </a:rPr>
              <a:t>COMPUTER</a:t>
            </a:r>
            <a:r>
              <a:rPr sz="2100" b="1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100" b="1" spc="-10" dirty="0">
                <a:solidFill>
                  <a:srgbClr val="FDFDFD"/>
                </a:solidFill>
                <a:latin typeface="Trebuchet MS"/>
                <a:cs typeface="Trebuchet MS"/>
              </a:rPr>
              <a:t>MISUSE</a:t>
            </a:r>
            <a:endParaRPr sz="2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rebuchet MS"/>
                <a:cs typeface="Trebuchet MS"/>
              </a:rPr>
              <a:t>Internet</a:t>
            </a:r>
            <a:r>
              <a:rPr b="1" spc="-114" dirty="0">
                <a:latin typeface="Trebuchet MS"/>
                <a:cs typeface="Trebuchet MS"/>
              </a:rPr>
              <a:t> </a:t>
            </a:r>
            <a:r>
              <a:rPr b="1" spc="-10" dirty="0">
                <a:latin typeface="Trebuchet MS"/>
                <a:cs typeface="Trebuchet MS"/>
              </a:rPr>
              <a:t>Issues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1510502"/>
            <a:ext cx="10148570" cy="3402965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90"/>
              </a:spcBef>
            </a:pP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Benefits</a:t>
            </a:r>
            <a:r>
              <a:rPr sz="1800" b="1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b="1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DFDFD"/>
                </a:solidFill>
                <a:latin typeface="Trebuchet MS"/>
                <a:cs typeface="Trebuchet MS"/>
              </a:rPr>
              <a:t>internet:</a:t>
            </a:r>
            <a:endParaRPr sz="1800">
              <a:latin typeface="Trebuchet MS"/>
              <a:cs typeface="Trebuchet MS"/>
            </a:endParaRPr>
          </a:p>
          <a:p>
            <a:pPr marL="354965" indent="-342265" algn="just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7777"/>
              <a:buFont typeface="Tahoma"/>
              <a:buChar char="►"/>
              <a:tabLst>
                <a:tab pos="354965" algn="l"/>
              </a:tabLst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2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benefits</a:t>
            </a:r>
            <a:r>
              <a:rPr sz="1800" spc="2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1800" spc="2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2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internet</a:t>
            </a:r>
            <a:r>
              <a:rPr sz="1800" spc="2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has</a:t>
            </a:r>
            <a:r>
              <a:rPr sz="1800" spc="2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brought</a:t>
            </a:r>
            <a:r>
              <a:rPr sz="1800" spc="28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are</a:t>
            </a:r>
            <a:r>
              <a:rPr sz="1800" spc="2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almost</a:t>
            </a:r>
            <a:r>
              <a:rPr sz="1800" spc="3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universally</a:t>
            </a:r>
            <a:r>
              <a:rPr sz="1800" spc="2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recognized.</a:t>
            </a:r>
            <a:r>
              <a:rPr sz="1800" spc="2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It</a:t>
            </a:r>
            <a:r>
              <a:rPr sz="1800" spc="28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has</a:t>
            </a:r>
            <a:r>
              <a:rPr sz="1800" spc="2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made</a:t>
            </a:r>
            <a:endParaRPr sz="1800">
              <a:latin typeface="Trebuchet MS"/>
              <a:cs typeface="Trebuchet MS"/>
            </a:endParaRPr>
          </a:p>
          <a:p>
            <a:pPr marL="355600" algn="just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access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all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sorts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information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much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easier.</a:t>
            </a:r>
            <a:endParaRPr sz="1800">
              <a:latin typeface="Trebuchet MS"/>
              <a:cs typeface="Trebuchet MS"/>
            </a:endParaRPr>
          </a:p>
          <a:p>
            <a:pPr marL="355600" marR="6985" indent="-342900" algn="just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7777"/>
              <a:buFont typeface="Tahoma"/>
              <a:buChar char="►"/>
              <a:tabLst>
                <a:tab pos="355600" algn="l"/>
              </a:tabLst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It</a:t>
            </a:r>
            <a:r>
              <a:rPr sz="1800" spc="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has</a:t>
            </a:r>
            <a:r>
              <a:rPr sz="1800" spc="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made</a:t>
            </a:r>
            <a:r>
              <a:rPr sz="1800" spc="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it</a:t>
            </a:r>
            <a:r>
              <a:rPr sz="1800" spc="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much</a:t>
            </a:r>
            <a:r>
              <a:rPr sz="1800" spc="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easier</a:t>
            </a:r>
            <a:r>
              <a:rPr sz="1800" spc="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for</a:t>
            </a:r>
            <a:r>
              <a:rPr sz="1800" spc="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people</a:t>
            </a:r>
            <a:r>
              <a:rPr sz="1800" spc="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communicate</a:t>
            </a:r>
            <a:r>
              <a:rPr sz="1800" spc="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with</a:t>
            </a:r>
            <a:r>
              <a:rPr sz="1800" spc="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each</a:t>
            </a:r>
            <a:r>
              <a:rPr sz="1800" spc="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other,</a:t>
            </a:r>
            <a:r>
              <a:rPr sz="1800" spc="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on</a:t>
            </a:r>
            <a:r>
              <a:rPr sz="1800" spc="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both</a:t>
            </a:r>
            <a:r>
              <a:rPr sz="1800" spc="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</a:t>
            </a:r>
            <a:r>
              <a:rPr sz="1800" spc="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individual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group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basis.</a:t>
            </a:r>
            <a:endParaRPr sz="1800">
              <a:latin typeface="Trebuchet MS"/>
              <a:cs typeface="Trebuchet MS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77777"/>
              <a:buFont typeface="Tahoma"/>
              <a:buChar char="►"/>
              <a:tabLst>
                <a:tab pos="355600" algn="l"/>
              </a:tabLst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It</a:t>
            </a:r>
            <a:r>
              <a:rPr sz="1800" spc="12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has</a:t>
            </a:r>
            <a:r>
              <a:rPr sz="1800" spc="12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simplified</a:t>
            </a:r>
            <a:r>
              <a:rPr sz="1800" spc="13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1800" spc="12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speeded</a:t>
            </a:r>
            <a:r>
              <a:rPr sz="1800" spc="13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up</a:t>
            </a:r>
            <a:r>
              <a:rPr sz="1800" spc="12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many</a:t>
            </a:r>
            <a:r>
              <a:rPr sz="1800" spc="12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types</a:t>
            </a:r>
            <a:r>
              <a:rPr sz="1800" spc="12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spc="12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commercial</a:t>
            </a:r>
            <a:r>
              <a:rPr sz="1800" spc="11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transaction.</a:t>
            </a:r>
            <a:r>
              <a:rPr sz="1800" spc="12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And,</a:t>
            </a:r>
            <a:r>
              <a:rPr sz="1800" spc="12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most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importantly,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these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benefits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have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been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made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available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very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many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people,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not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just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small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1800" spc="3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privileged</a:t>
            </a:r>
            <a:r>
              <a:rPr sz="1800" spc="3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group</a:t>
            </a:r>
            <a:r>
              <a:rPr sz="1800" spc="3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–</a:t>
            </a:r>
            <a:r>
              <a:rPr sz="1800" spc="3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although,</a:t>
            </a:r>
            <a:r>
              <a:rPr sz="1800" spc="3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spc="3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course,</a:t>
            </a:r>
            <a:r>
              <a:rPr sz="1800" spc="3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3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internet</a:t>
            </a:r>
            <a:r>
              <a:rPr sz="1800" spc="3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1800" spc="3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still</a:t>
            </a:r>
            <a:r>
              <a:rPr sz="1800" spc="3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far</a:t>
            </a:r>
            <a:r>
              <a:rPr sz="1800" spc="3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from</a:t>
            </a:r>
            <a:r>
              <a:rPr sz="1800" spc="3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being</a:t>
            </a:r>
            <a:r>
              <a:rPr sz="1800" spc="3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universally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available,</a:t>
            </a:r>
            <a:r>
              <a:rPr sz="1800" spc="-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even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18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developed</a:t>
            </a:r>
            <a:r>
              <a:rPr sz="1800" spc="-7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countries.</a:t>
            </a:r>
            <a:endParaRPr sz="18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994"/>
              </a:spcBef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Inevitably,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development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on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this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scale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creates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its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own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problems.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Problems</a:t>
            </a:r>
            <a:r>
              <a:rPr spc="-6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internet</a:t>
            </a:r>
            <a:r>
              <a:rPr spc="-60" dirty="0"/>
              <a:t> </a:t>
            </a:r>
            <a:r>
              <a:rPr spc="-10" dirty="0"/>
              <a:t>availability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1510466"/>
            <a:ext cx="9243060" cy="425069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Every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country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has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laws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governing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what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can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be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published</a:t>
            </a:r>
            <a:r>
              <a:rPr sz="1800" spc="-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publicly</a:t>
            </a:r>
            <a:r>
              <a:rPr sz="18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displayed.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ts val="2055"/>
              </a:lnSpc>
              <a:spcBef>
                <a:spcPts val="780"/>
              </a:spcBef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following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three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areas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are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mainly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covered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as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major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problems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arising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due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ts val="2055"/>
              </a:lnSpc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availability</a:t>
            </a:r>
            <a:r>
              <a:rPr sz="18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internet: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780"/>
              </a:spcBef>
              <a:buClr>
                <a:srgbClr val="90C225"/>
              </a:buClr>
              <a:buSzPct val="77777"/>
              <a:buFont typeface="Tahoma"/>
              <a:buChar char="►"/>
              <a:tabLst>
                <a:tab pos="354965" algn="l"/>
              </a:tabLst>
            </a:pP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Defamation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90C225"/>
              </a:buClr>
              <a:buSzPct val="77777"/>
              <a:buFont typeface="Tahoma"/>
              <a:buChar char="►"/>
              <a:tabLst>
                <a:tab pos="354965" algn="l"/>
              </a:tabLst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Sexual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Content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780"/>
              </a:spcBef>
              <a:buClr>
                <a:srgbClr val="90C225"/>
              </a:buClr>
              <a:buSzPct val="77777"/>
              <a:buFont typeface="Tahoma"/>
              <a:buChar char="►"/>
              <a:tabLst>
                <a:tab pos="354965" algn="l"/>
              </a:tabLst>
            </a:pP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Spam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785"/>
              </a:spcBef>
              <a:buClr>
                <a:srgbClr val="90C225"/>
              </a:buClr>
              <a:buSzPct val="77777"/>
              <a:buFont typeface="Tahoma"/>
              <a:buChar char="►"/>
              <a:tabLst>
                <a:tab pos="354965" algn="l"/>
              </a:tabLst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political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religious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comment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90C225"/>
              </a:buClr>
              <a:buSzPct val="77777"/>
              <a:buFont typeface="Tahoma"/>
              <a:buChar char="►"/>
              <a:tabLst>
                <a:tab pos="354965" algn="l"/>
              </a:tabLst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Depiction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violence</a:t>
            </a:r>
            <a:endParaRPr sz="1800">
              <a:latin typeface="Trebuchet MS"/>
              <a:cs typeface="Trebuchet MS"/>
            </a:endParaRPr>
          </a:p>
          <a:p>
            <a:pPr marL="12700" marR="5080" algn="just">
              <a:lnSpc>
                <a:spcPct val="90000"/>
              </a:lnSpc>
              <a:spcBef>
                <a:spcPts val="994"/>
              </a:spcBef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1800" spc="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are</a:t>
            </a:r>
            <a:r>
              <a:rPr sz="1800" spc="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1800" spc="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matter</a:t>
            </a:r>
            <a:r>
              <a:rPr sz="1800" spc="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spc="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concern</a:t>
            </a:r>
            <a:r>
              <a:rPr sz="1800" spc="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everyone</a:t>
            </a:r>
            <a:r>
              <a:rPr sz="1800" spc="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professionally</a:t>
            </a:r>
            <a:r>
              <a:rPr sz="1800" spc="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involved</a:t>
            </a:r>
            <a:r>
              <a:rPr sz="1800" spc="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1800" spc="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internet,</a:t>
            </a:r>
            <a:r>
              <a:rPr sz="1800" spc="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as</a:t>
            </a:r>
            <a:r>
              <a:rPr sz="1800" spc="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well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as</a:t>
            </a:r>
            <a:r>
              <a:rPr sz="1800" spc="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many</a:t>
            </a:r>
            <a:r>
              <a:rPr sz="1800" spc="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other</a:t>
            </a:r>
            <a:r>
              <a:rPr sz="1800" spc="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people.</a:t>
            </a:r>
            <a:r>
              <a:rPr sz="1800" spc="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These</a:t>
            </a:r>
            <a:r>
              <a:rPr sz="1800" spc="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are</a:t>
            </a:r>
            <a:r>
              <a:rPr sz="1800" spc="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topics</a:t>
            </a:r>
            <a:r>
              <a:rPr sz="1800" spc="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1800" spc="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cannot</a:t>
            </a:r>
            <a:r>
              <a:rPr sz="1800" spc="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sensibly</a:t>
            </a:r>
            <a:r>
              <a:rPr sz="1800" spc="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be</a:t>
            </a:r>
            <a:r>
              <a:rPr sz="1800" spc="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discussed</a:t>
            </a:r>
            <a:r>
              <a:rPr sz="1800" spc="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1800" spc="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technical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terms</a:t>
            </a:r>
            <a:r>
              <a:rPr sz="1800" spc="3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alone.</a:t>
            </a:r>
            <a:r>
              <a:rPr sz="1800" spc="3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There</a:t>
            </a:r>
            <a:r>
              <a:rPr sz="1800" spc="3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are</a:t>
            </a:r>
            <a:r>
              <a:rPr sz="1800" spc="3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social,</a:t>
            </a:r>
            <a:r>
              <a:rPr sz="1800" spc="3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cultural</a:t>
            </a:r>
            <a:r>
              <a:rPr sz="1800" spc="3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1800" spc="3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legal</a:t>
            </a:r>
            <a:r>
              <a:rPr sz="1800" spc="3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issues</a:t>
            </a:r>
            <a:r>
              <a:rPr sz="1800" spc="3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1800" spc="3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must</a:t>
            </a:r>
            <a:r>
              <a:rPr sz="1800" spc="3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all</a:t>
            </a:r>
            <a:r>
              <a:rPr sz="1800" spc="3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be</a:t>
            </a:r>
            <a:r>
              <a:rPr sz="1800" spc="3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considered.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Different</a:t>
            </a:r>
            <a:r>
              <a:rPr sz="1800" spc="1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countries</a:t>
            </a:r>
            <a:r>
              <a:rPr sz="1800" spc="1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approach</a:t>
            </a:r>
            <a:r>
              <a:rPr sz="1800" spc="1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these</a:t>
            </a:r>
            <a:r>
              <a:rPr sz="1800" spc="17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issues</a:t>
            </a:r>
            <a:r>
              <a:rPr sz="1800" spc="17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1800" spc="18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very</a:t>
            </a:r>
            <a:r>
              <a:rPr sz="1800" spc="1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different</a:t>
            </a:r>
            <a:r>
              <a:rPr sz="1800" spc="1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ways</a:t>
            </a:r>
            <a:r>
              <a:rPr sz="1800" spc="17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but</a:t>
            </a:r>
            <a:r>
              <a:rPr sz="1800" spc="1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17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internet</a:t>
            </a:r>
            <a:r>
              <a:rPr sz="1800" spc="1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itself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knows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no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boundaries.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1479" y="2093213"/>
            <a:ext cx="8444230" cy="2160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330" marR="5080" indent="-342265" algn="just">
              <a:lnSpc>
                <a:spcPct val="100000"/>
              </a:lnSpc>
              <a:spcBef>
                <a:spcPts val="105"/>
              </a:spcBef>
              <a:buClr>
                <a:srgbClr val="90C225"/>
              </a:buClr>
              <a:buSzPct val="80000"/>
              <a:buFont typeface="Segoe UI Symbol"/>
              <a:buChar char="⮚"/>
              <a:tabLst>
                <a:tab pos="355600" algn="l"/>
              </a:tabLst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Some</a:t>
            </a:r>
            <a:r>
              <a:rPr sz="2000" spc="2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countries,</a:t>
            </a:r>
            <a:r>
              <a:rPr sz="2000" spc="2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for</a:t>
            </a:r>
            <a:r>
              <a:rPr sz="2000" spc="2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example,</a:t>
            </a:r>
            <a:r>
              <a:rPr sz="2000" spc="2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consider</a:t>
            </a:r>
            <a:r>
              <a:rPr sz="2000" spc="2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2000" spc="2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pictures</a:t>
            </a:r>
            <a:r>
              <a:rPr sz="2000" spc="254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2000" spc="2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scantily</a:t>
            </a:r>
            <a:r>
              <a:rPr sz="2000" spc="2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clad 	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women</a:t>
            </a:r>
            <a:r>
              <a:rPr sz="2000" spc="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are</a:t>
            </a:r>
            <a:r>
              <a:rPr sz="2000" spc="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indecent</a:t>
            </a:r>
            <a:r>
              <a:rPr sz="2000" spc="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2000" spc="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have</a:t>
            </a:r>
            <a:r>
              <a:rPr sz="2000" spc="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laws</a:t>
            </a:r>
            <a:r>
              <a:rPr sz="2000" spc="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2000" spc="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prevent</a:t>
            </a:r>
            <a:r>
              <a:rPr sz="2000" spc="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them</a:t>
            </a:r>
            <a:r>
              <a:rPr sz="2000" spc="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from</a:t>
            </a:r>
            <a:r>
              <a:rPr sz="2000" spc="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appearing 	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2000" spc="18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publications</a:t>
            </a:r>
            <a:r>
              <a:rPr sz="2000" spc="18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2000" spc="18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advertisements.</a:t>
            </a:r>
            <a:r>
              <a:rPr sz="2000" spc="1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2000" spc="18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other</a:t>
            </a:r>
            <a:r>
              <a:rPr sz="2000" spc="1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countries,</a:t>
            </a:r>
            <a:r>
              <a:rPr sz="2000" spc="1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such</a:t>
            </a:r>
            <a:r>
              <a:rPr sz="2000" spc="2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pictures 	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are</a:t>
            </a:r>
            <a:r>
              <a:rPr sz="2000" spc="2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perfectly</a:t>
            </a:r>
            <a:r>
              <a:rPr sz="2000" spc="2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acceptable.</a:t>
            </a:r>
            <a:r>
              <a:rPr sz="2000" spc="2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2000" spc="254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some</a:t>
            </a:r>
            <a:r>
              <a:rPr sz="2000" spc="2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countries,</a:t>
            </a:r>
            <a:r>
              <a:rPr sz="2000" spc="254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publication</a:t>
            </a:r>
            <a:r>
              <a:rPr sz="2000" spc="254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2000" spc="2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material 	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criticizing</a:t>
            </a:r>
            <a:r>
              <a:rPr sz="2000" spc="3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3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government</a:t>
            </a:r>
            <a:r>
              <a:rPr sz="2000" spc="4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r>
              <a:rPr sz="2000" spc="40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3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established</a:t>
            </a:r>
            <a:r>
              <a:rPr sz="2000" spc="3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religion</a:t>
            </a:r>
            <a:r>
              <a:rPr sz="2000" spc="3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2000" spc="40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effectively 	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forbidden,</a:t>
            </a:r>
            <a:r>
              <a:rPr sz="2000" spc="1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while</a:t>
            </a:r>
            <a:r>
              <a:rPr sz="2000" spc="10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2000" spc="10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others</a:t>
            </a:r>
            <a:r>
              <a:rPr sz="2000" spc="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it</a:t>
            </a:r>
            <a:r>
              <a:rPr sz="2000" spc="1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2000" spc="1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2000" spc="1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right</a:t>
            </a:r>
            <a:r>
              <a:rPr sz="2000" spc="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guaranteed</a:t>
            </a:r>
            <a:r>
              <a:rPr sz="2000" spc="10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by</a:t>
            </a:r>
            <a:r>
              <a:rPr sz="2000" spc="10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10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constitution 	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vigorously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defended</a:t>
            </a:r>
            <a:r>
              <a:rPr sz="20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by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courts.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Problems</a:t>
            </a:r>
            <a:r>
              <a:rPr spc="-6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internet</a:t>
            </a:r>
            <a:r>
              <a:rPr spc="-60" dirty="0"/>
              <a:t> </a:t>
            </a:r>
            <a:r>
              <a:rPr spc="-10" dirty="0"/>
              <a:t>availability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Availability</a:t>
            </a:r>
            <a:r>
              <a:rPr spc="-3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internet</a:t>
            </a:r>
            <a:r>
              <a:rPr spc="-45" dirty="0"/>
              <a:t> </a:t>
            </a:r>
            <a:r>
              <a:rPr dirty="0"/>
              <a:t>playing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role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1586230"/>
            <a:ext cx="9835515" cy="2718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105"/>
              </a:spcBef>
              <a:buClr>
                <a:srgbClr val="90C225"/>
              </a:buClr>
              <a:buSzPct val="80000"/>
              <a:buFont typeface="Tahoma"/>
              <a:buChar char="►"/>
              <a:tabLst>
                <a:tab pos="354965" algn="l"/>
              </a:tabLst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1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coming</a:t>
            </a:r>
            <a:r>
              <a:rPr sz="2000" spc="1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2000" spc="2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1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internet</a:t>
            </a:r>
            <a:r>
              <a:rPr sz="2000" spc="2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(and</a:t>
            </a:r>
            <a:r>
              <a:rPr sz="2000" spc="2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satellite</a:t>
            </a:r>
            <a:r>
              <a:rPr sz="2000" spc="1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television)</a:t>
            </a:r>
            <a:r>
              <a:rPr sz="2000" spc="2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has</a:t>
            </a:r>
            <a:r>
              <a:rPr sz="2000" spc="204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made</a:t>
            </a:r>
            <a:r>
              <a:rPr sz="2000" spc="18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these</a:t>
            </a:r>
            <a:r>
              <a:rPr sz="2000" spc="2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differences</a:t>
            </a:r>
            <a:endParaRPr sz="2000">
              <a:latin typeface="Trebuchet MS"/>
              <a:cs typeface="Trebuchet MS"/>
            </a:endParaRPr>
          </a:p>
          <a:p>
            <a:pPr marL="355600" algn="just">
              <a:lnSpc>
                <a:spcPct val="100000"/>
              </a:lnSpc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much</a:t>
            </a:r>
            <a:r>
              <a:rPr sz="20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more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apparent</a:t>
            </a:r>
            <a:r>
              <a:rPr sz="20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much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more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important</a:t>
            </a:r>
            <a:r>
              <a:rPr sz="2000" spc="-8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than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they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used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be.</a:t>
            </a:r>
            <a:endParaRPr sz="2000">
              <a:latin typeface="Trebuchet MS"/>
              <a:cs typeface="Trebuchet MS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000"/>
              <a:buFont typeface="Tahoma"/>
              <a:buChar char="►"/>
              <a:tabLst>
                <a:tab pos="355600" algn="l"/>
              </a:tabLst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Since</a:t>
            </a:r>
            <a:r>
              <a:rPr sz="2000" spc="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material</a:t>
            </a:r>
            <a:r>
              <a:rPr sz="2000" spc="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flows</a:t>
            </a:r>
            <a:r>
              <a:rPr sz="2000" spc="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across</a:t>
            </a:r>
            <a:r>
              <a:rPr sz="2000" spc="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borders</a:t>
            </a:r>
            <a:r>
              <a:rPr sz="2000" spc="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so</a:t>
            </a:r>
            <a:r>
              <a:rPr sz="2000" spc="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easily,</a:t>
            </a:r>
            <a:r>
              <a:rPr sz="2000" spc="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it</a:t>
            </a:r>
            <a:r>
              <a:rPr sz="2000" spc="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2000" spc="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both</a:t>
            </a:r>
            <a:r>
              <a:rPr sz="2000" spc="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much</a:t>
            </a:r>
            <a:r>
              <a:rPr sz="2000" spc="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likelier</a:t>
            </a:r>
            <a:r>
              <a:rPr sz="2000" spc="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2000" spc="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material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2000" spc="1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violates</a:t>
            </a:r>
            <a:r>
              <a:rPr sz="2000" spc="1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publication</a:t>
            </a:r>
            <a:r>
              <a:rPr sz="2000" spc="1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laws</a:t>
            </a:r>
            <a:r>
              <a:rPr sz="2000" spc="1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will</a:t>
            </a:r>
            <a:r>
              <a:rPr sz="2000" spc="1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come</a:t>
            </a:r>
            <a:r>
              <a:rPr sz="2000" spc="1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into</a:t>
            </a:r>
            <a:r>
              <a:rPr sz="2000" spc="1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2000" spc="1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country</a:t>
            </a:r>
            <a:r>
              <a:rPr sz="2000" spc="1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2000" spc="1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more</a:t>
            </a:r>
            <a:r>
              <a:rPr sz="2000" spc="1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difficult</a:t>
            </a:r>
            <a:r>
              <a:rPr sz="2000" spc="1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for</a:t>
            </a:r>
            <a:r>
              <a:rPr sz="2000" spc="1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the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country</a:t>
            </a:r>
            <a:r>
              <a:rPr sz="20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enforce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its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own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laws.</a:t>
            </a:r>
            <a:endParaRPr sz="2000">
              <a:latin typeface="Trebuchet MS"/>
              <a:cs typeface="Trebuchet MS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000"/>
              <a:buFont typeface="Tahoma"/>
              <a:buChar char="►"/>
              <a:tabLst>
                <a:tab pos="355600" algn="l"/>
              </a:tabLst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roles</a:t>
            </a:r>
            <a:r>
              <a:rPr sz="2000" spc="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and responsibilities</a:t>
            </a:r>
            <a:r>
              <a:rPr sz="2000" spc="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2000" spc="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ISPs</a:t>
            </a:r>
            <a:r>
              <a:rPr sz="2000" spc="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are a</a:t>
            </a:r>
            <a:r>
              <a:rPr sz="2000" spc="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central</a:t>
            </a:r>
            <a:r>
              <a:rPr sz="2000" spc="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element</a:t>
            </a:r>
            <a:r>
              <a:rPr sz="2000" spc="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2000" spc="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-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way</a:t>
            </a:r>
            <a:r>
              <a:rPr sz="2000" spc="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these</a:t>
            </a:r>
            <a:r>
              <a:rPr sz="2000" spc="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issues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are</a:t>
            </a:r>
            <a:r>
              <a:rPr sz="2000" spc="3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addressed</a:t>
            </a:r>
            <a:r>
              <a:rPr sz="2000" spc="3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2000" spc="3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we</a:t>
            </a:r>
            <a:r>
              <a:rPr sz="2000" spc="3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therefore</a:t>
            </a:r>
            <a:r>
              <a:rPr sz="2000" spc="3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start</a:t>
            </a:r>
            <a:r>
              <a:rPr sz="2000" spc="3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by</a:t>
            </a:r>
            <a:r>
              <a:rPr sz="2000" spc="3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discussing</a:t>
            </a:r>
            <a:r>
              <a:rPr sz="2000" spc="3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3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legal</a:t>
            </a:r>
            <a:r>
              <a:rPr sz="2000" spc="3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framework</a:t>
            </a:r>
            <a:r>
              <a:rPr sz="2000" spc="3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under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which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ISPs</a:t>
            </a:r>
            <a:r>
              <a:rPr sz="2000" spc="-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operate.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Then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we</a:t>
            </a:r>
            <a:r>
              <a:rPr sz="20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shall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look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at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problems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different</a:t>
            </a:r>
            <a:r>
              <a:rPr sz="2000" spc="-7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legal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systems.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rebuchet MS"/>
                <a:cs typeface="Trebuchet MS"/>
              </a:rPr>
              <a:t>INTERNET</a:t>
            </a:r>
            <a:r>
              <a:rPr b="1" spc="-2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SERVICE</a:t>
            </a:r>
            <a:r>
              <a:rPr b="1" spc="-10" dirty="0">
                <a:latin typeface="Trebuchet MS"/>
                <a:cs typeface="Trebuchet MS"/>
              </a:rPr>
              <a:t> PROVIDERS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559" y="1509776"/>
            <a:ext cx="9476740" cy="4370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105"/>
              </a:spcBef>
              <a:buClr>
                <a:srgbClr val="90C225"/>
              </a:buClr>
              <a:buSzPct val="80000"/>
              <a:buFont typeface="Tahoma"/>
              <a:buChar char="►"/>
              <a:tabLst>
                <a:tab pos="354965" algn="l"/>
              </a:tabLst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 central</a:t>
            </a:r>
            <a:r>
              <a:rPr sz="2000" spc="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issue</a:t>
            </a:r>
            <a:r>
              <a:rPr sz="2000" spc="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we</a:t>
            </a:r>
            <a:r>
              <a:rPr sz="2000" spc="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need to</a:t>
            </a:r>
            <a:r>
              <a:rPr sz="2000" spc="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consider</a:t>
            </a:r>
            <a:r>
              <a:rPr sz="2000" spc="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2000" spc="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how</a:t>
            </a:r>
            <a:r>
              <a:rPr sz="2000" spc="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far</a:t>
            </a:r>
            <a:r>
              <a:rPr sz="2000" spc="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an</a:t>
            </a:r>
            <a:r>
              <a:rPr sz="2000" spc="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ISP</a:t>
            </a:r>
            <a:r>
              <a:rPr sz="2000" spc="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can</a:t>
            </a:r>
            <a:r>
              <a:rPr sz="2000" spc="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be</a:t>
            </a:r>
            <a:r>
              <a:rPr sz="2000" spc="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held</a:t>
            </a:r>
            <a:r>
              <a:rPr sz="2000" spc="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responsible</a:t>
            </a:r>
            <a:endParaRPr sz="2000">
              <a:latin typeface="Trebuchet MS"/>
              <a:cs typeface="Trebuchet MS"/>
            </a:endParaRPr>
          </a:p>
          <a:p>
            <a:pPr marL="355600" algn="just">
              <a:lnSpc>
                <a:spcPct val="100000"/>
              </a:lnSpc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for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material</a:t>
            </a:r>
            <a:r>
              <a:rPr sz="20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generated</a:t>
            </a:r>
            <a:r>
              <a:rPr sz="20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by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its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customers.</a:t>
            </a:r>
            <a:endParaRPr sz="2000">
              <a:latin typeface="Trebuchet MS"/>
              <a:cs typeface="Trebuchet MS"/>
            </a:endParaRPr>
          </a:p>
          <a:p>
            <a:pPr marL="354330" marR="5080" indent="-342265" algn="just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000"/>
              <a:buFont typeface="Tahoma"/>
              <a:buChar char="►"/>
              <a:tabLst>
                <a:tab pos="355600" algn="l"/>
              </a:tabLst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2000" spc="1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Europe,</a:t>
            </a:r>
            <a:r>
              <a:rPr sz="2000" spc="1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1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position</a:t>
            </a:r>
            <a:r>
              <a:rPr sz="2000" spc="1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2000" spc="1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governed</a:t>
            </a:r>
            <a:r>
              <a:rPr sz="2000" spc="1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by</a:t>
            </a:r>
            <a:r>
              <a:rPr sz="2000" spc="1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1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European</a:t>
            </a:r>
            <a:r>
              <a:rPr sz="2000" spc="1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Directive</a:t>
            </a:r>
            <a:r>
              <a:rPr sz="2000" spc="1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2000/31/EC.</a:t>
            </a:r>
            <a:r>
              <a:rPr sz="2000" spc="1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In 	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3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UK</a:t>
            </a:r>
            <a:r>
              <a:rPr sz="2000" spc="3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this</a:t>
            </a:r>
            <a:r>
              <a:rPr sz="2000" spc="3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directive</a:t>
            </a:r>
            <a:r>
              <a:rPr sz="2000" spc="4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2000" spc="40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implemented</a:t>
            </a:r>
            <a:r>
              <a:rPr sz="2000" spc="3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through</a:t>
            </a:r>
            <a:r>
              <a:rPr sz="2000" spc="3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38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Electronic</a:t>
            </a:r>
            <a:r>
              <a:rPr sz="2000" spc="3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Commerce</a:t>
            </a:r>
            <a:r>
              <a:rPr sz="2000" spc="4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(EC 	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Directive)</a:t>
            </a:r>
            <a:r>
              <a:rPr sz="2000" spc="4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Regulations</a:t>
            </a:r>
            <a:r>
              <a:rPr sz="2000" spc="5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2002.</a:t>
            </a:r>
            <a:r>
              <a:rPr sz="2000" spc="4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These</a:t>
            </a:r>
            <a:r>
              <a:rPr sz="2000" spc="3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regulations</a:t>
            </a:r>
            <a:r>
              <a:rPr sz="2000" spc="3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follow</a:t>
            </a:r>
            <a:r>
              <a:rPr sz="2000" spc="4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4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EC</a:t>
            </a:r>
            <a:r>
              <a:rPr sz="2000" spc="4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Directive</a:t>
            </a:r>
            <a:r>
              <a:rPr sz="2000" spc="3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in 	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distinguishing</a:t>
            </a:r>
            <a:r>
              <a:rPr sz="2000" spc="3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three</a:t>
            </a:r>
            <a:r>
              <a:rPr sz="2000" spc="3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roles</a:t>
            </a:r>
            <a:r>
              <a:rPr sz="2000" spc="3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2000" spc="3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an</a:t>
            </a:r>
            <a:r>
              <a:rPr sz="2000" spc="3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ISP</a:t>
            </a:r>
            <a:r>
              <a:rPr sz="2000" spc="3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may</a:t>
            </a:r>
            <a:r>
              <a:rPr sz="2000" spc="3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play:</a:t>
            </a:r>
            <a:r>
              <a:rPr sz="2000" spc="3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i="1" dirty="0">
                <a:solidFill>
                  <a:srgbClr val="FDFDFD"/>
                </a:solidFill>
                <a:latin typeface="Trebuchet MS"/>
                <a:cs typeface="Trebuchet MS"/>
              </a:rPr>
              <a:t>mere</a:t>
            </a:r>
            <a:r>
              <a:rPr sz="2000" i="1" spc="3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i="1" dirty="0">
                <a:solidFill>
                  <a:srgbClr val="FDFDFD"/>
                </a:solidFill>
                <a:latin typeface="Trebuchet MS"/>
                <a:cs typeface="Trebuchet MS"/>
              </a:rPr>
              <a:t>conduit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,</a:t>
            </a:r>
            <a:r>
              <a:rPr sz="2000" spc="3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i="1" dirty="0">
                <a:solidFill>
                  <a:srgbClr val="FDFDFD"/>
                </a:solidFill>
                <a:latin typeface="Trebuchet MS"/>
                <a:cs typeface="Trebuchet MS"/>
              </a:rPr>
              <a:t>caching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,</a:t>
            </a:r>
            <a:r>
              <a:rPr sz="2000" spc="3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and 	</a:t>
            </a:r>
            <a:r>
              <a:rPr sz="2000" i="1" spc="-10" dirty="0">
                <a:solidFill>
                  <a:srgbClr val="FDFDFD"/>
                </a:solidFill>
                <a:latin typeface="Trebuchet MS"/>
                <a:cs typeface="Trebuchet MS"/>
              </a:rPr>
              <a:t>hosting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  <a:p>
            <a:pPr marL="354330" marR="5715" indent="-342265" algn="just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80000"/>
              <a:buFont typeface="Tahoma"/>
              <a:buChar char="►"/>
              <a:tabLst>
                <a:tab pos="355600" algn="l"/>
              </a:tabLst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1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role</a:t>
            </a:r>
            <a:r>
              <a:rPr sz="2000" spc="1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2000" spc="10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FDFDFD"/>
                </a:solidFill>
                <a:latin typeface="Trebuchet MS"/>
                <a:cs typeface="Trebuchet MS"/>
              </a:rPr>
              <a:t>mere</a:t>
            </a:r>
            <a:r>
              <a:rPr sz="2000" b="1" spc="114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FDFDFD"/>
                </a:solidFill>
                <a:latin typeface="Trebuchet MS"/>
                <a:cs typeface="Trebuchet MS"/>
              </a:rPr>
              <a:t>conduit</a:t>
            </a:r>
            <a:r>
              <a:rPr sz="2000" b="1" spc="1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2000" spc="1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2000" spc="114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2000" spc="1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which</a:t>
            </a:r>
            <a:r>
              <a:rPr sz="2000" spc="1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1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ISP</a:t>
            </a:r>
            <a:r>
              <a:rPr sz="2000" spc="1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does</a:t>
            </a:r>
            <a:r>
              <a:rPr sz="2000" spc="1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no</a:t>
            </a:r>
            <a:r>
              <a:rPr sz="2000" spc="1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more</a:t>
            </a:r>
            <a:r>
              <a:rPr sz="2000" spc="1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than</a:t>
            </a:r>
            <a:r>
              <a:rPr sz="2000" spc="1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transmit 	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data;</a:t>
            </a:r>
            <a:r>
              <a:rPr sz="2000" spc="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2000" spc="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particular,</a:t>
            </a:r>
            <a:r>
              <a:rPr sz="2000" spc="8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ISP</a:t>
            </a:r>
            <a:r>
              <a:rPr sz="2000" spc="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does</a:t>
            </a:r>
            <a:r>
              <a:rPr sz="2000" spc="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not</a:t>
            </a:r>
            <a:r>
              <a:rPr sz="2000" spc="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initiate</a:t>
            </a:r>
            <a:r>
              <a:rPr sz="2000" spc="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transmissions,</a:t>
            </a:r>
            <a:r>
              <a:rPr sz="2000" spc="7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does</a:t>
            </a:r>
            <a:r>
              <a:rPr sz="2000" spc="8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not</a:t>
            </a:r>
            <a:r>
              <a:rPr sz="2000" spc="8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select</a:t>
            </a:r>
            <a:r>
              <a:rPr sz="2000" spc="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the 	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receivers</a:t>
            </a:r>
            <a:r>
              <a:rPr sz="2000" spc="9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2000" spc="8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9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transmissions,</a:t>
            </a:r>
            <a:r>
              <a:rPr sz="2000" spc="8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2000" spc="8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does</a:t>
            </a:r>
            <a:r>
              <a:rPr sz="2000" spc="9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not</a:t>
            </a:r>
            <a:r>
              <a:rPr sz="2000" spc="8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select</a:t>
            </a:r>
            <a:r>
              <a:rPr sz="2000" spc="9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r>
              <a:rPr sz="2000" spc="8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modify</a:t>
            </a:r>
            <a:r>
              <a:rPr sz="2000" spc="9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8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data 	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transmitted.</a:t>
            </a:r>
            <a:endParaRPr sz="2000">
              <a:latin typeface="Trebuchet MS"/>
              <a:cs typeface="Trebuchet MS"/>
            </a:endParaRPr>
          </a:p>
          <a:p>
            <a:pPr marL="354330" marR="8890" indent="-342265" algn="just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80000"/>
              <a:buFont typeface="Tahoma"/>
              <a:buChar char="►"/>
              <a:tabLst>
                <a:tab pos="355600" algn="l"/>
              </a:tabLst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It</a:t>
            </a:r>
            <a:r>
              <a:rPr sz="2000" spc="1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2000" spc="17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compatible</a:t>
            </a:r>
            <a:r>
              <a:rPr sz="2000" spc="1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with</a:t>
            </a:r>
            <a:r>
              <a:rPr sz="2000" spc="17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1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role</a:t>
            </a:r>
            <a:r>
              <a:rPr sz="2000" spc="1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2000" spc="1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mere</a:t>
            </a:r>
            <a:r>
              <a:rPr sz="2000" spc="1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conduit</a:t>
            </a:r>
            <a:r>
              <a:rPr sz="2000" spc="1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for</a:t>
            </a:r>
            <a:r>
              <a:rPr sz="2000" spc="1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an</a:t>
            </a:r>
            <a:r>
              <a:rPr sz="2000" spc="1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ISP</a:t>
            </a:r>
            <a:r>
              <a:rPr sz="2000" spc="1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000" spc="17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store</a:t>
            </a:r>
            <a:r>
              <a:rPr sz="2000" spc="17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information 	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temporarily,</a:t>
            </a:r>
            <a:r>
              <a:rPr sz="20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provided</a:t>
            </a:r>
            <a:r>
              <a:rPr sz="20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this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20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only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done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as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part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transmission</a:t>
            </a:r>
            <a:r>
              <a:rPr sz="20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process.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Caching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1490217"/>
            <a:ext cx="9261475" cy="5049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5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1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caching</a:t>
            </a:r>
            <a:r>
              <a:rPr sz="1800" spc="1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role</a:t>
            </a:r>
            <a:r>
              <a:rPr sz="1800" spc="1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arises</a:t>
            </a:r>
            <a:r>
              <a:rPr sz="1800" spc="1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when</a:t>
            </a:r>
            <a:r>
              <a:rPr sz="1800" spc="1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1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information</a:t>
            </a:r>
            <a:r>
              <a:rPr sz="1800" spc="1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1800" spc="1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1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subject</a:t>
            </a:r>
            <a:r>
              <a:rPr sz="1800" spc="1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spc="1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automatic,</a:t>
            </a:r>
            <a:r>
              <a:rPr sz="1800" spc="1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intermediate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1800" spc="7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temporary</a:t>
            </a:r>
            <a:r>
              <a:rPr sz="1800" spc="7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storage,</a:t>
            </a:r>
            <a:r>
              <a:rPr sz="1800" spc="8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for</a:t>
            </a:r>
            <a:r>
              <a:rPr sz="1800" spc="7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8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sole</a:t>
            </a:r>
            <a:r>
              <a:rPr sz="1800" spc="7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purpose</a:t>
            </a:r>
            <a:r>
              <a:rPr sz="1800" spc="7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spc="7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increasing</a:t>
            </a:r>
            <a:r>
              <a:rPr sz="1800" spc="8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8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efficiency</a:t>
            </a:r>
            <a:r>
              <a:rPr sz="1800" spc="7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spc="7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the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transmission</a:t>
            </a:r>
            <a:r>
              <a:rPr sz="1800" spc="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spc="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information</a:t>
            </a:r>
            <a:r>
              <a:rPr sz="1800" spc="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other</a:t>
            </a:r>
            <a:r>
              <a:rPr sz="1800" spc="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recipients</a:t>
            </a:r>
            <a:r>
              <a:rPr sz="1800" spc="7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spc="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service</a:t>
            </a:r>
            <a:r>
              <a:rPr sz="1800" spc="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upon</a:t>
            </a:r>
            <a:r>
              <a:rPr sz="1800" spc="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their</a:t>
            </a:r>
            <a:r>
              <a:rPr sz="1800" spc="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request.</a:t>
            </a:r>
            <a:r>
              <a:rPr sz="1800" spc="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An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ISP</a:t>
            </a:r>
            <a:r>
              <a:rPr sz="1800" spc="1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acting</a:t>
            </a:r>
            <a:r>
              <a:rPr sz="1800" spc="1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1800" spc="1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10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caching</a:t>
            </a:r>
            <a:r>
              <a:rPr sz="1800" spc="1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role</a:t>
            </a:r>
            <a:r>
              <a:rPr sz="1800" spc="10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1800" spc="1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not</a:t>
            </a:r>
            <a:r>
              <a:rPr sz="1800" spc="1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liable</a:t>
            </a:r>
            <a:r>
              <a:rPr sz="1800" spc="1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for</a:t>
            </a:r>
            <a:r>
              <a:rPr sz="1800" spc="10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damages</a:t>
            </a:r>
            <a:r>
              <a:rPr sz="1800" spc="114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r>
              <a:rPr sz="1800" spc="10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for</a:t>
            </a:r>
            <a:r>
              <a:rPr sz="1800" spc="10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any</a:t>
            </a:r>
            <a:r>
              <a:rPr sz="1800" spc="114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criminal</a:t>
            </a:r>
            <a:r>
              <a:rPr sz="1800" spc="1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sanction</a:t>
            </a:r>
            <a:r>
              <a:rPr sz="1800" spc="1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as</a:t>
            </a:r>
            <a:r>
              <a:rPr sz="1800" spc="1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a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result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transmission,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provided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it:</a:t>
            </a:r>
            <a:endParaRPr sz="1800">
              <a:latin typeface="Trebuchet MS"/>
              <a:cs typeface="Trebuchet MS"/>
            </a:endParaRPr>
          </a:p>
          <a:p>
            <a:pPr marL="354965" indent="-342265" algn="just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7777"/>
              <a:buFont typeface="Tahoma"/>
              <a:buChar char="►"/>
              <a:tabLst>
                <a:tab pos="354965" algn="l"/>
              </a:tabLst>
            </a:pP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does</a:t>
            </a:r>
            <a:r>
              <a:rPr sz="1800" b="1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not</a:t>
            </a:r>
            <a:r>
              <a:rPr sz="1800" b="1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modify</a:t>
            </a:r>
            <a:r>
              <a:rPr sz="1800" b="1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b="1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DFDFD"/>
                </a:solidFill>
                <a:latin typeface="Trebuchet MS"/>
                <a:cs typeface="Trebuchet MS"/>
              </a:rPr>
              <a:t>information;</a:t>
            </a:r>
            <a:endParaRPr sz="1800">
              <a:latin typeface="Trebuchet MS"/>
              <a:cs typeface="Trebuchet MS"/>
            </a:endParaRPr>
          </a:p>
          <a:p>
            <a:pPr marL="354965" indent="-342265" algn="just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77777"/>
              <a:buFont typeface="Tahoma"/>
              <a:buChar char="►"/>
              <a:tabLst>
                <a:tab pos="354965" algn="l"/>
              </a:tabLst>
            </a:pP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complies</a:t>
            </a:r>
            <a:r>
              <a:rPr sz="1800" b="1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with</a:t>
            </a:r>
            <a:r>
              <a:rPr sz="1800" b="1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conditions</a:t>
            </a:r>
            <a:r>
              <a:rPr sz="1800" b="1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on</a:t>
            </a:r>
            <a:r>
              <a:rPr sz="1800" b="1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access</a:t>
            </a:r>
            <a:r>
              <a:rPr sz="1800" b="1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b="1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b="1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DFDFD"/>
                </a:solidFill>
                <a:latin typeface="Trebuchet MS"/>
                <a:cs typeface="Trebuchet MS"/>
              </a:rPr>
              <a:t>information;</a:t>
            </a:r>
            <a:endParaRPr sz="1800">
              <a:latin typeface="Trebuchet MS"/>
              <a:cs typeface="Trebuchet MS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77777"/>
              <a:buFont typeface="Tahoma"/>
              <a:buChar char="►"/>
              <a:tabLst>
                <a:tab pos="355600" algn="l"/>
              </a:tabLst>
            </a:pP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complies</a:t>
            </a:r>
            <a:r>
              <a:rPr sz="1800" b="1" spc="114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with</a:t>
            </a:r>
            <a:r>
              <a:rPr sz="1800" b="1" spc="10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any</a:t>
            </a:r>
            <a:r>
              <a:rPr sz="1800" b="1" spc="1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rules</a:t>
            </a:r>
            <a:r>
              <a:rPr sz="1800" b="1" spc="1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regarding</a:t>
            </a:r>
            <a:r>
              <a:rPr sz="1800" b="1" spc="114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b="1" spc="114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updating</a:t>
            </a:r>
            <a:r>
              <a:rPr sz="1800" b="1" spc="1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b="1" spc="114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b="1" spc="114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information,</a:t>
            </a:r>
            <a:r>
              <a:rPr sz="1800" b="1" spc="1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specified</a:t>
            </a:r>
            <a:r>
              <a:rPr sz="1800" b="1" spc="114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1800" b="1" spc="1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spc="-50" dirty="0">
                <a:solidFill>
                  <a:srgbClr val="FDFDFD"/>
                </a:solidFill>
                <a:latin typeface="Trebuchet MS"/>
                <a:cs typeface="Trebuchet MS"/>
              </a:rPr>
              <a:t>a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manner</a:t>
            </a:r>
            <a:r>
              <a:rPr sz="1800" b="1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widely</a:t>
            </a:r>
            <a:r>
              <a:rPr sz="1800" b="1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recognized</a:t>
            </a:r>
            <a:r>
              <a:rPr sz="1800" b="1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1800" b="1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used</a:t>
            </a:r>
            <a:r>
              <a:rPr sz="1800" b="1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by</a:t>
            </a:r>
            <a:r>
              <a:rPr sz="1800" b="1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DFDFD"/>
                </a:solidFill>
                <a:latin typeface="Trebuchet MS"/>
                <a:cs typeface="Trebuchet MS"/>
              </a:rPr>
              <a:t>industry;</a:t>
            </a:r>
            <a:endParaRPr sz="1800">
              <a:latin typeface="Trebuchet MS"/>
              <a:cs typeface="Trebuchet MS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7777"/>
              <a:buFont typeface="Tahoma"/>
              <a:buChar char="►"/>
              <a:tabLst>
                <a:tab pos="355600" algn="l"/>
              </a:tabLst>
            </a:pP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does</a:t>
            </a:r>
            <a:r>
              <a:rPr sz="1800" b="1" spc="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not</a:t>
            </a:r>
            <a:r>
              <a:rPr sz="1800" b="1" spc="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interfere</a:t>
            </a:r>
            <a:r>
              <a:rPr sz="1800" b="1" spc="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with</a:t>
            </a:r>
            <a:r>
              <a:rPr sz="1800" b="1" spc="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b="1" spc="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lawful</a:t>
            </a:r>
            <a:r>
              <a:rPr sz="1800" b="1" spc="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use</a:t>
            </a:r>
            <a:r>
              <a:rPr sz="1800" b="1" spc="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b="1" spc="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technology,</a:t>
            </a:r>
            <a:r>
              <a:rPr sz="1800" b="1" spc="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widely</a:t>
            </a:r>
            <a:r>
              <a:rPr sz="1800" b="1" spc="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recognized</a:t>
            </a:r>
            <a:r>
              <a:rPr sz="1800" b="1" spc="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1800" b="1" spc="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FDFDFD"/>
                </a:solidFill>
                <a:latin typeface="Trebuchet MS"/>
                <a:cs typeface="Trebuchet MS"/>
              </a:rPr>
              <a:t>used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by</a:t>
            </a:r>
            <a:r>
              <a:rPr sz="1800" b="1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industry,</a:t>
            </a:r>
            <a:r>
              <a:rPr sz="1800" b="1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b="1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obtain</a:t>
            </a:r>
            <a:r>
              <a:rPr sz="1800" b="1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data</a:t>
            </a:r>
            <a:r>
              <a:rPr sz="1800" b="1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on</a:t>
            </a:r>
            <a:r>
              <a:rPr sz="1800" b="1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b="1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use</a:t>
            </a:r>
            <a:r>
              <a:rPr sz="1800" b="1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b="1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b="1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DFDFD"/>
                </a:solidFill>
                <a:latin typeface="Trebuchet MS"/>
                <a:cs typeface="Trebuchet MS"/>
              </a:rPr>
              <a:t>information;</a:t>
            </a:r>
            <a:endParaRPr sz="1800">
              <a:latin typeface="Trebuchet MS"/>
              <a:cs typeface="Trebuchet MS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7777"/>
              <a:buFont typeface="Tahoma"/>
              <a:buChar char="►"/>
              <a:tabLst>
                <a:tab pos="355600" algn="l"/>
              </a:tabLst>
            </a:pP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acts</a:t>
            </a:r>
            <a:r>
              <a:rPr sz="1800" b="1" spc="3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expeditiously</a:t>
            </a:r>
            <a:r>
              <a:rPr sz="1800" b="1" spc="4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b="1" spc="3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remove</a:t>
            </a:r>
            <a:r>
              <a:rPr sz="1800" b="1" spc="38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r>
              <a:rPr sz="1800" b="1" spc="3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b="1" spc="3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disable</a:t>
            </a:r>
            <a:r>
              <a:rPr sz="1800" b="1" spc="3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access</a:t>
            </a:r>
            <a:r>
              <a:rPr sz="1800" b="1" spc="4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b="1" spc="4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b="1" spc="38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information</a:t>
            </a:r>
            <a:r>
              <a:rPr sz="1800" b="1" spc="3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1800" b="1" spc="38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spc="-25" dirty="0">
                <a:solidFill>
                  <a:srgbClr val="FDFDFD"/>
                </a:solidFill>
                <a:latin typeface="Trebuchet MS"/>
                <a:cs typeface="Trebuchet MS"/>
              </a:rPr>
              <a:t>has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stored</a:t>
            </a:r>
            <a:r>
              <a:rPr sz="1800" b="1" spc="2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upon</a:t>
            </a:r>
            <a:r>
              <a:rPr sz="1800" b="1" spc="2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obtaining</a:t>
            </a:r>
            <a:r>
              <a:rPr sz="1800" b="1" spc="2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actual</a:t>
            </a:r>
            <a:r>
              <a:rPr sz="1800" b="1" spc="254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knowledge</a:t>
            </a:r>
            <a:r>
              <a:rPr sz="1800" b="1" spc="2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b="1" spc="2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b="1" spc="2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fact</a:t>
            </a:r>
            <a:r>
              <a:rPr sz="1800" b="1" spc="2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1800" b="1" spc="2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b="1" spc="2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information</a:t>
            </a:r>
            <a:r>
              <a:rPr sz="1800" b="1" spc="2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at</a:t>
            </a:r>
            <a:r>
              <a:rPr sz="1800" b="1" spc="2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spc="-25" dirty="0">
                <a:solidFill>
                  <a:srgbClr val="FDFDFD"/>
                </a:solidFill>
                <a:latin typeface="Trebuchet MS"/>
                <a:cs typeface="Trebuchet MS"/>
              </a:rPr>
              <a:t>the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initial</a:t>
            </a:r>
            <a:r>
              <a:rPr sz="1800" b="1" spc="1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source</a:t>
            </a:r>
            <a:r>
              <a:rPr sz="1800" b="1" spc="1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b="1" spc="1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b="1" spc="1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transmission</a:t>
            </a:r>
            <a:r>
              <a:rPr sz="1800" b="1" spc="1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has</a:t>
            </a:r>
            <a:r>
              <a:rPr sz="1800" b="1" spc="1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been</a:t>
            </a:r>
            <a:r>
              <a:rPr sz="1800" b="1" spc="1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removed</a:t>
            </a:r>
            <a:r>
              <a:rPr sz="1800" b="1" spc="1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from</a:t>
            </a:r>
            <a:r>
              <a:rPr sz="1800" b="1" spc="1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b="1" spc="1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network,</a:t>
            </a:r>
            <a:r>
              <a:rPr sz="1800" b="1" spc="1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r>
              <a:rPr sz="1800" b="1" spc="1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DFDFD"/>
                </a:solidFill>
                <a:latin typeface="Trebuchet MS"/>
                <a:cs typeface="Trebuchet MS"/>
              </a:rPr>
              <a:t>access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b="1" spc="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it</a:t>
            </a:r>
            <a:r>
              <a:rPr sz="1800" b="1" spc="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has</a:t>
            </a:r>
            <a:r>
              <a:rPr sz="1800" b="1" spc="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been</a:t>
            </a:r>
            <a:r>
              <a:rPr sz="1800" b="1" spc="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disabled,</a:t>
            </a:r>
            <a:r>
              <a:rPr sz="1800" b="1" spc="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r>
              <a:rPr sz="1800" b="1" spc="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1800" b="1" spc="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1800" b="1" spc="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court</a:t>
            </a:r>
            <a:r>
              <a:rPr sz="1800" b="1" spc="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r>
              <a:rPr sz="1800" b="1" spc="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an</a:t>
            </a:r>
            <a:r>
              <a:rPr sz="1800" b="1" spc="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administrative</a:t>
            </a:r>
            <a:r>
              <a:rPr sz="1800" b="1" spc="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authority</a:t>
            </a:r>
            <a:r>
              <a:rPr sz="1800" b="1" spc="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has</a:t>
            </a:r>
            <a:r>
              <a:rPr sz="1800" b="1" spc="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DFDFD"/>
                </a:solidFill>
                <a:latin typeface="Trebuchet MS"/>
                <a:cs typeface="Trebuchet MS"/>
              </a:rPr>
              <a:t>ordered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such</a:t>
            </a:r>
            <a:r>
              <a:rPr sz="1800" b="1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removal</a:t>
            </a:r>
            <a:r>
              <a:rPr sz="1800" b="1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r>
              <a:rPr sz="1800" b="1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DFDFD"/>
                </a:solidFill>
                <a:latin typeface="Trebuchet MS"/>
                <a:cs typeface="Trebuchet MS"/>
              </a:rPr>
              <a:t>disablement.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Hosting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1445228"/>
            <a:ext cx="10604500" cy="3384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919095">
              <a:lnSpc>
                <a:spcPct val="146200"/>
              </a:lnSpc>
              <a:spcBef>
                <a:spcPts val="105"/>
              </a:spcBef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Where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ISP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stores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information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provided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by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its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customers,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it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acting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a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hosting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role.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this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case,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it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not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liable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for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damage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criminal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sanctions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provided</a:t>
            </a:r>
            <a:r>
              <a:rPr sz="18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that:</a:t>
            </a:r>
            <a:endParaRPr sz="1800">
              <a:latin typeface="Trebuchet MS"/>
              <a:cs typeface="Trebuchet MS"/>
            </a:endParaRPr>
          </a:p>
          <a:p>
            <a:pPr marL="423545" indent="-410845">
              <a:lnSpc>
                <a:spcPct val="100000"/>
              </a:lnSpc>
              <a:spcBef>
                <a:spcPts val="1005"/>
              </a:spcBef>
              <a:buClr>
                <a:srgbClr val="90C225"/>
              </a:buClr>
              <a:buSzPct val="77777"/>
              <a:buFont typeface="Tahoma"/>
              <a:buChar char="►"/>
              <a:tabLst>
                <a:tab pos="423545" algn="l"/>
              </a:tabLst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it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did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not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know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anything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unlawful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was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going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on;</a:t>
            </a:r>
            <a:endParaRPr sz="1800">
              <a:latin typeface="Trebuchet MS"/>
              <a:cs typeface="Trebuchet MS"/>
            </a:endParaRPr>
          </a:p>
          <a:p>
            <a:pPr marL="423545" indent="-41084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7777"/>
              <a:buFont typeface="Tahoma"/>
              <a:buChar char="►"/>
              <a:tabLst>
                <a:tab pos="423545" algn="l"/>
              </a:tabLst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where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claim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for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damages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made,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it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did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not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know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anything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should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have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led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it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think</a:t>
            </a:r>
            <a:r>
              <a:rPr sz="18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endParaRPr sz="18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something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unlawful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might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be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going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on;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endParaRPr sz="180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spcBef>
                <a:spcPts val="994"/>
              </a:spcBef>
              <a:buChar char="►"/>
              <a:tabLst>
                <a:tab pos="355600" algn="l"/>
                <a:tab pos="423545" algn="l"/>
              </a:tabLst>
            </a:pPr>
            <a:r>
              <a:rPr sz="1400" dirty="0">
                <a:solidFill>
                  <a:srgbClr val="90C225"/>
                </a:solidFill>
                <a:latin typeface="Tahoma"/>
                <a:cs typeface="Tahoma"/>
              </a:rPr>
              <a:t>	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when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it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found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out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something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unlawful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was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going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on,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it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acted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expeditiously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remove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the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information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prevent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access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it,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endParaRPr sz="1800">
              <a:latin typeface="Trebuchet MS"/>
              <a:cs typeface="Trebuchet MS"/>
            </a:endParaRPr>
          </a:p>
          <a:p>
            <a:pPr marL="423545" indent="-410845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77777"/>
              <a:buFont typeface="Tahoma"/>
              <a:buChar char="►"/>
              <a:tabLst>
                <a:tab pos="423545" algn="l"/>
              </a:tabLst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customer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was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not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acting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under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authority</a:t>
            </a:r>
            <a:r>
              <a:rPr sz="18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control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service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provider.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ISP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5272" y="1608201"/>
            <a:ext cx="10516870" cy="2413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8419" indent="-342900">
              <a:lnSpc>
                <a:spcPct val="100000"/>
              </a:lnSpc>
              <a:spcBef>
                <a:spcPts val="105"/>
              </a:spcBef>
              <a:buClr>
                <a:srgbClr val="90C225"/>
              </a:buClr>
              <a:buSzPct val="80000"/>
              <a:buFont typeface="Tahoma"/>
              <a:buChar char="►"/>
              <a:tabLst>
                <a:tab pos="355600" algn="l"/>
              </a:tabLst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It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seems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very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reasonable</a:t>
            </a:r>
            <a:r>
              <a:rPr sz="20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an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ISP</a:t>
            </a:r>
            <a:r>
              <a:rPr sz="2000" spc="-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should</a:t>
            </a:r>
            <a:r>
              <a:rPr sz="20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cease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enjoy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immunity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if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it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fails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0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remove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unlawful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material</a:t>
            </a:r>
            <a:r>
              <a:rPr sz="20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once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it</a:t>
            </a:r>
            <a:r>
              <a:rPr sz="20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has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been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informed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about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it.</a:t>
            </a:r>
            <a:endParaRPr sz="200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spcBef>
                <a:spcPts val="995"/>
              </a:spcBef>
              <a:buClr>
                <a:srgbClr val="90C225"/>
              </a:buClr>
              <a:buSzPct val="80000"/>
              <a:buFont typeface="Tahoma"/>
              <a:buChar char="►"/>
              <a:tabLst>
                <a:tab pos="355600" algn="l"/>
              </a:tabLst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further</a:t>
            </a:r>
            <a:r>
              <a:rPr sz="20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issue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regarding</a:t>
            </a:r>
            <a:r>
              <a:rPr sz="20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ISPs</a:t>
            </a:r>
            <a:r>
              <a:rPr sz="2000" spc="-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2000" spc="-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question</a:t>
            </a:r>
            <a:r>
              <a:rPr sz="20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anonymous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pseudonymous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postings.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It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20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common</a:t>
            </a:r>
            <a:r>
              <a:rPr sz="20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for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contributors</a:t>
            </a:r>
            <a:r>
              <a:rPr sz="20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0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online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communities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social</a:t>
            </a:r>
            <a:r>
              <a:rPr sz="20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media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use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pseudonyms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for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their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postings.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Their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ISP will</a:t>
            </a:r>
            <a:r>
              <a:rPr sz="20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be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aware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their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true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identity.</a:t>
            </a:r>
            <a:endParaRPr sz="2000">
              <a:latin typeface="Trebuchet MS"/>
              <a:cs typeface="Trebuchet MS"/>
            </a:endParaRPr>
          </a:p>
          <a:p>
            <a:pPr marL="355600" marR="502920" indent="-34290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000"/>
              <a:buFont typeface="Tahoma"/>
              <a:buChar char="►"/>
              <a:tabLst>
                <a:tab pos="355600" algn="l"/>
              </a:tabLst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ISP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allowed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release,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can</a:t>
            </a:r>
            <a:r>
              <a:rPr sz="20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it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be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compelled</a:t>
            </a:r>
            <a:r>
              <a:rPr sz="20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release,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this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information</a:t>
            </a:r>
            <a:r>
              <a:rPr sz="20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to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someone</a:t>
            </a:r>
            <a:r>
              <a:rPr sz="20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wishing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000" spc="-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take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legal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action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against</a:t>
            </a:r>
            <a:r>
              <a:rPr sz="20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contributor?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Law</a:t>
            </a:r>
            <a:r>
              <a:rPr spc="-55" dirty="0"/>
              <a:t> </a:t>
            </a:r>
            <a:r>
              <a:rPr dirty="0"/>
              <a:t>across</a:t>
            </a:r>
            <a:r>
              <a:rPr spc="-40" dirty="0"/>
              <a:t> </a:t>
            </a:r>
            <a:r>
              <a:rPr dirty="0"/>
              <a:t>National</a:t>
            </a:r>
            <a:r>
              <a:rPr spc="-65" dirty="0"/>
              <a:t> </a:t>
            </a:r>
            <a:r>
              <a:rPr spc="-10" dirty="0"/>
              <a:t>Boundaries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2043576"/>
            <a:ext cx="4879975" cy="1988185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35"/>
              </a:spcBef>
              <a:buClr>
                <a:srgbClr val="90C225"/>
              </a:buClr>
              <a:buSzPct val="77777"/>
              <a:buFont typeface="Tahoma"/>
              <a:buChar char="►"/>
              <a:tabLst>
                <a:tab pos="354965" algn="l"/>
              </a:tabLst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Criminal</a:t>
            </a:r>
            <a:r>
              <a:rPr sz="1800" spc="-1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law</a:t>
            </a:r>
            <a:endParaRPr sz="1800">
              <a:latin typeface="Trebuchet MS"/>
              <a:cs typeface="Trebuchet MS"/>
            </a:endParaRPr>
          </a:p>
          <a:p>
            <a:pPr marL="757555" lvl="1" indent="-287655">
              <a:lnSpc>
                <a:spcPct val="100000"/>
              </a:lnSpc>
              <a:spcBef>
                <a:spcPts val="1005"/>
              </a:spcBef>
              <a:buClr>
                <a:srgbClr val="90C225"/>
              </a:buClr>
              <a:buSzPct val="81250"/>
              <a:buFont typeface="Tahoma"/>
              <a:buChar char="►"/>
              <a:tabLst>
                <a:tab pos="757555" algn="l"/>
              </a:tabLst>
            </a:pPr>
            <a:r>
              <a:rPr sz="1600" dirty="0">
                <a:solidFill>
                  <a:srgbClr val="FDFDFD"/>
                </a:solidFill>
                <a:latin typeface="Trebuchet MS"/>
                <a:cs typeface="Trebuchet MS"/>
              </a:rPr>
              <a:t>extradition</a:t>
            </a:r>
            <a:r>
              <a:rPr sz="1600" spc="-8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DFDFD"/>
                </a:solidFill>
                <a:latin typeface="Trebuchet MS"/>
                <a:cs typeface="Trebuchet MS"/>
              </a:rPr>
              <a:t>treaty</a:t>
            </a:r>
            <a:endParaRPr sz="1600">
              <a:latin typeface="Trebuchet MS"/>
              <a:cs typeface="Trebuchet MS"/>
            </a:endParaRPr>
          </a:p>
          <a:p>
            <a:pPr marL="757555" lvl="1" indent="-28765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1250"/>
              <a:buFont typeface="Tahoma"/>
              <a:buChar char="►"/>
              <a:tabLst>
                <a:tab pos="757555" algn="l"/>
              </a:tabLst>
            </a:pPr>
            <a:r>
              <a:rPr sz="1600" dirty="0">
                <a:solidFill>
                  <a:srgbClr val="FDFDFD"/>
                </a:solidFill>
                <a:latin typeface="Trebuchet MS"/>
                <a:cs typeface="Trebuchet MS"/>
              </a:rPr>
              <a:t>extraterritorial</a:t>
            </a:r>
            <a:r>
              <a:rPr sz="1600" spc="-1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DFDFD"/>
                </a:solidFill>
                <a:latin typeface="Trebuchet MS"/>
                <a:cs typeface="Trebuchet MS"/>
              </a:rPr>
              <a:t>jurisdiction</a:t>
            </a:r>
            <a:endParaRPr sz="16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77777"/>
              <a:buFont typeface="Tahoma"/>
              <a:buChar char="►"/>
              <a:tabLst>
                <a:tab pos="354965" algn="l"/>
              </a:tabLst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international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convention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on</a:t>
            </a:r>
            <a:r>
              <a:rPr sz="1800" spc="-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cybercrime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77777"/>
              <a:buFont typeface="Tahoma"/>
              <a:buChar char="►"/>
              <a:tabLst>
                <a:tab pos="354965" algn="l"/>
              </a:tabLst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Civil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law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Criminal</a:t>
            </a:r>
            <a:r>
              <a:rPr spc="-40" dirty="0"/>
              <a:t> </a:t>
            </a:r>
            <a:r>
              <a:rPr spc="-25" dirty="0"/>
              <a:t>law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1696974"/>
            <a:ext cx="9119235" cy="21082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2225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Suppose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20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person,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X,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commits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20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criminal</a:t>
            </a:r>
            <a:r>
              <a:rPr sz="20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offence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country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then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moves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country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B.</a:t>
            </a:r>
            <a:endParaRPr sz="2000">
              <a:latin typeface="Trebuchet MS"/>
              <a:cs typeface="Trebuchet MS"/>
            </a:endParaRPr>
          </a:p>
          <a:p>
            <a:pPr marL="431165" indent="-418465">
              <a:lnSpc>
                <a:spcPct val="100000"/>
              </a:lnSpc>
              <a:spcBef>
                <a:spcPts val="995"/>
              </a:spcBef>
              <a:buClr>
                <a:srgbClr val="90C225"/>
              </a:buClr>
              <a:buSzPct val="80000"/>
              <a:buFont typeface="Tahoma"/>
              <a:buChar char="►"/>
              <a:tabLst>
                <a:tab pos="431165" algn="l"/>
              </a:tabLst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Can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country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ask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X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be</a:t>
            </a:r>
            <a:r>
              <a:rPr sz="20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arrested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country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B</a:t>
            </a:r>
            <a:r>
              <a:rPr sz="20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sent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back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so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that</a:t>
            </a:r>
            <a:endParaRPr sz="20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he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can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be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put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on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trial?</a:t>
            </a:r>
            <a:endParaRPr sz="2000">
              <a:latin typeface="Trebuchet MS"/>
              <a:cs typeface="Trebuchet MS"/>
            </a:endParaRPr>
          </a:p>
          <a:p>
            <a:pPr marL="355600" marR="241935" indent="-342900">
              <a:lnSpc>
                <a:spcPct val="100000"/>
              </a:lnSpc>
              <a:spcBef>
                <a:spcPts val="994"/>
              </a:spcBef>
              <a:buChar char="►"/>
              <a:tabLst>
                <a:tab pos="355600" algn="l"/>
                <a:tab pos="431165" algn="l"/>
              </a:tabLst>
            </a:pPr>
            <a:r>
              <a:rPr sz="1600" dirty="0">
                <a:solidFill>
                  <a:srgbClr val="90C225"/>
                </a:solidFill>
                <a:latin typeface="Tahoma"/>
                <a:cs typeface="Tahoma"/>
              </a:rPr>
              <a:t>	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can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X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be</a:t>
            </a:r>
            <a:r>
              <a:rPr sz="20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prosecuted</a:t>
            </a:r>
            <a:r>
              <a:rPr sz="20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country</a:t>
            </a:r>
            <a:r>
              <a:rPr sz="20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B</a:t>
            </a:r>
            <a:r>
              <a:rPr sz="2000" spc="-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for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offence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committed</a:t>
            </a:r>
            <a:r>
              <a:rPr sz="20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20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country 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A?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1205" y="866013"/>
            <a:ext cx="9845040" cy="5106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330" marR="5080" indent="-342265" algn="just">
              <a:lnSpc>
                <a:spcPct val="100000"/>
              </a:lnSpc>
              <a:spcBef>
                <a:spcPts val="105"/>
              </a:spcBef>
              <a:buClr>
                <a:srgbClr val="90C225"/>
              </a:buClr>
              <a:buSzPct val="80000"/>
              <a:buFont typeface="Tahoma"/>
              <a:buChar char="►"/>
              <a:tabLst>
                <a:tab pos="355600" algn="l"/>
              </a:tabLst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answer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-1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first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2000" spc="-1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these</a:t>
            </a:r>
            <a:r>
              <a:rPr sz="2000" spc="-1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questions</a:t>
            </a:r>
            <a:r>
              <a:rPr sz="2000" spc="-1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that,</a:t>
            </a:r>
            <a:r>
              <a:rPr sz="2000" spc="-1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provided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there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exists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an 	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agreement</a:t>
            </a:r>
            <a:r>
              <a:rPr sz="2000" spc="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(usually</a:t>
            </a:r>
            <a:r>
              <a:rPr sz="2000" spc="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called</a:t>
            </a:r>
            <a:r>
              <a:rPr sz="2000" spc="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an</a:t>
            </a:r>
            <a:r>
              <a:rPr sz="2000" spc="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i="1" dirty="0">
                <a:solidFill>
                  <a:srgbClr val="FDFDFD"/>
                </a:solidFill>
                <a:latin typeface="Trebuchet MS"/>
                <a:cs typeface="Trebuchet MS"/>
              </a:rPr>
              <a:t>extradition</a:t>
            </a:r>
            <a:r>
              <a:rPr sz="2000" i="1" spc="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i="1" dirty="0">
                <a:solidFill>
                  <a:srgbClr val="FDFDFD"/>
                </a:solidFill>
                <a:latin typeface="Trebuchet MS"/>
                <a:cs typeface="Trebuchet MS"/>
              </a:rPr>
              <a:t>treaty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)</a:t>
            </a:r>
            <a:r>
              <a:rPr sz="2000" spc="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between</a:t>
            </a:r>
            <a:r>
              <a:rPr sz="2000" spc="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two</a:t>
            </a:r>
            <a:r>
              <a:rPr sz="2000" spc="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countries,</a:t>
            </a:r>
            <a:r>
              <a:rPr sz="2000" spc="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then 	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principle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X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can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be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extradited,</a:t>
            </a:r>
            <a:r>
              <a:rPr sz="20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is,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arrested</a:t>
            </a:r>
            <a:r>
              <a:rPr sz="20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sent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back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face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trial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A.</a:t>
            </a:r>
            <a:endParaRPr sz="2000">
              <a:latin typeface="Trebuchet MS"/>
              <a:cs typeface="Trebuchet MS"/>
            </a:endParaRPr>
          </a:p>
          <a:p>
            <a:pPr marL="354330" marR="5080" indent="-342265" algn="just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000"/>
              <a:buFont typeface="Tahoma"/>
              <a:buChar char="►"/>
              <a:tabLst>
                <a:tab pos="355600" algn="l"/>
              </a:tabLst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However,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this</a:t>
            </a:r>
            <a:r>
              <a:rPr sz="2000" spc="-1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can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only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be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done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under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very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important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provison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the 	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offence</a:t>
            </a:r>
            <a:r>
              <a:rPr sz="2000" spc="17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2000" spc="1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X</a:t>
            </a:r>
            <a:r>
              <a:rPr sz="2000" spc="18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2000" spc="18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alleged</a:t>
            </a:r>
            <a:r>
              <a:rPr sz="2000" spc="18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000" spc="18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have</a:t>
            </a:r>
            <a:r>
              <a:rPr sz="2000" spc="1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committed</a:t>
            </a:r>
            <a:r>
              <a:rPr sz="2000" spc="18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2000" spc="1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2000" spc="18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would</a:t>
            </a:r>
            <a:r>
              <a:rPr sz="2000" spc="17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also</a:t>
            </a:r>
            <a:r>
              <a:rPr sz="2000" spc="18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be</a:t>
            </a:r>
            <a:r>
              <a:rPr sz="2000" spc="1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an</a:t>
            </a:r>
            <a:r>
              <a:rPr sz="2000" spc="18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offence</a:t>
            </a:r>
            <a:r>
              <a:rPr sz="2000" spc="18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2000" spc="1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B. 	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What</a:t>
            </a:r>
            <a:r>
              <a:rPr sz="2000" spc="4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2000" spc="4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more,</a:t>
            </a:r>
            <a:r>
              <a:rPr sz="2000" spc="4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extradition</a:t>
            </a:r>
            <a:r>
              <a:rPr sz="2000" spc="-5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procedures</a:t>
            </a:r>
            <a:r>
              <a:rPr sz="2000" spc="4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are</a:t>
            </a:r>
            <a:r>
              <a:rPr sz="2000" spc="4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usually</a:t>
            </a:r>
            <a:r>
              <a:rPr sz="2000" spc="47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extremely</a:t>
            </a:r>
            <a:r>
              <a:rPr sz="2000" spc="484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complex,</a:t>
            </a:r>
            <a:r>
              <a:rPr sz="2000" spc="4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so</a:t>
            </a:r>
            <a:r>
              <a:rPr sz="2000" spc="4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that 	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attempts</a:t>
            </a:r>
            <a:r>
              <a:rPr sz="20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at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extradition</a:t>
            </a:r>
            <a:r>
              <a:rPr sz="20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often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fail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because</a:t>
            </a:r>
            <a:r>
              <a:rPr sz="20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procedural</a:t>
            </a:r>
            <a:r>
              <a:rPr sz="20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weaknesses.</a:t>
            </a:r>
            <a:endParaRPr sz="2000">
              <a:latin typeface="Trebuchet MS"/>
              <a:cs typeface="Trebuchet MS"/>
            </a:endParaRPr>
          </a:p>
          <a:p>
            <a:pPr marL="354330" marR="6350" indent="-342265" algn="just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80000"/>
              <a:buFont typeface="Tahoma"/>
              <a:buChar char="►"/>
              <a:tabLst>
                <a:tab pos="355600" algn="l"/>
              </a:tabLst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2000" spc="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general,</a:t>
            </a:r>
            <a:r>
              <a:rPr sz="2000" spc="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answer</a:t>
            </a:r>
            <a:r>
              <a:rPr sz="2000" spc="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000" spc="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second</a:t>
            </a:r>
            <a:r>
              <a:rPr sz="2000" spc="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question</a:t>
            </a:r>
            <a:r>
              <a:rPr sz="2000" spc="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2000" spc="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2000" spc="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X</a:t>
            </a:r>
            <a:r>
              <a:rPr sz="2000" spc="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cannot</a:t>
            </a:r>
            <a:r>
              <a:rPr sz="2000" spc="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be</a:t>
            </a:r>
            <a:r>
              <a:rPr sz="2000" spc="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prosecuted</a:t>
            </a:r>
            <a:r>
              <a:rPr sz="2000" spc="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2000" spc="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FDFDFD"/>
                </a:solidFill>
                <a:latin typeface="Trebuchet MS"/>
                <a:cs typeface="Trebuchet MS"/>
              </a:rPr>
              <a:t>B 	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for</a:t>
            </a:r>
            <a:r>
              <a:rPr sz="2000" spc="5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an</a:t>
            </a:r>
            <a:r>
              <a:rPr sz="2000" spc="6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offence</a:t>
            </a:r>
            <a:r>
              <a:rPr sz="2000" spc="5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committed</a:t>
            </a:r>
            <a:r>
              <a:rPr sz="2000" spc="6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2000" spc="5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A.</a:t>
            </a:r>
            <a:r>
              <a:rPr sz="2000" spc="6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However,</a:t>
            </a:r>
            <a:r>
              <a:rPr sz="2000" spc="6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2000" spc="6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certain</a:t>
            </a:r>
            <a:r>
              <a:rPr sz="2000" spc="5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cases</a:t>
            </a:r>
            <a:r>
              <a:rPr sz="2000" spc="5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some</a:t>
            </a:r>
            <a:r>
              <a:rPr sz="2000" spc="5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countries, 	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including</a:t>
            </a:r>
            <a:r>
              <a:rPr sz="2000" spc="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UK</a:t>
            </a:r>
            <a:r>
              <a:rPr sz="2000" spc="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2000" spc="7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USA,</a:t>
            </a:r>
            <a:r>
              <a:rPr sz="2000" spc="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claim</a:t>
            </a:r>
            <a:r>
              <a:rPr sz="2000" spc="7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i="1" dirty="0">
                <a:solidFill>
                  <a:srgbClr val="FDFDFD"/>
                </a:solidFill>
                <a:latin typeface="Trebuchet MS"/>
                <a:cs typeface="Trebuchet MS"/>
              </a:rPr>
              <a:t>extraterritorial</a:t>
            </a:r>
            <a:r>
              <a:rPr sz="2000" i="1" spc="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i="1" dirty="0">
                <a:solidFill>
                  <a:srgbClr val="FDFDFD"/>
                </a:solidFill>
                <a:latin typeface="Trebuchet MS"/>
                <a:cs typeface="Trebuchet MS"/>
              </a:rPr>
              <a:t>jurisdiction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,</a:t>
            </a:r>
            <a:r>
              <a:rPr sz="2000" spc="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2000" spc="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2000" spc="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right 	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try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citizens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other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residents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for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crimes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committed</a:t>
            </a:r>
            <a:r>
              <a:rPr sz="20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other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countries;</a:t>
            </a:r>
            <a:endParaRPr sz="2000">
              <a:latin typeface="Trebuchet MS"/>
              <a:cs typeface="Trebuchet MS"/>
            </a:endParaRPr>
          </a:p>
          <a:p>
            <a:pPr marL="354330" marR="5715" indent="-342265" algn="just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80000"/>
              <a:buFont typeface="Tahoma"/>
              <a:buChar char="►"/>
              <a:tabLst>
                <a:tab pos="355600" algn="l"/>
              </a:tabLst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2000" spc="2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particular,</a:t>
            </a:r>
            <a:r>
              <a:rPr sz="2000" spc="2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this</a:t>
            </a:r>
            <a:r>
              <a:rPr sz="2000" spc="3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right</a:t>
            </a:r>
            <a:r>
              <a:rPr sz="2000" spc="3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2000" spc="2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used</a:t>
            </a:r>
            <a:r>
              <a:rPr sz="2000" spc="3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000" spc="30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allow</a:t>
            </a:r>
            <a:r>
              <a:rPr sz="2000" spc="2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2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prosecution</a:t>
            </a:r>
            <a:r>
              <a:rPr sz="2000" spc="2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2000" spc="3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people</a:t>
            </a:r>
            <a:r>
              <a:rPr sz="2000" spc="2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who</a:t>
            </a:r>
            <a:r>
              <a:rPr sz="2000" spc="30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commit 	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sexual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offences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involving</a:t>
            </a:r>
            <a:r>
              <a:rPr sz="20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children</a:t>
            </a:r>
            <a:r>
              <a:rPr sz="20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while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they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are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abroad.</a:t>
            </a:r>
            <a:endParaRPr sz="2000">
              <a:latin typeface="Trebuchet MS"/>
              <a:cs typeface="Trebuchet MS"/>
            </a:endParaRPr>
          </a:p>
          <a:p>
            <a:pPr marL="354965" indent="-342265" algn="just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000"/>
              <a:buFont typeface="Tahoma"/>
              <a:buChar char="►"/>
              <a:tabLst>
                <a:tab pos="354965" algn="l"/>
              </a:tabLst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However,</a:t>
            </a:r>
            <a:r>
              <a:rPr sz="20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issue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extraterritoriality</a:t>
            </a:r>
            <a:r>
              <a:rPr sz="20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much</a:t>
            </a:r>
            <a:r>
              <a:rPr sz="20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wider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than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this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attempts</a:t>
            </a:r>
            <a:r>
              <a:rPr sz="20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endParaRPr sz="2000">
              <a:latin typeface="Trebuchet MS"/>
              <a:cs typeface="Trebuchet MS"/>
            </a:endParaRPr>
          </a:p>
          <a:p>
            <a:pPr marL="355600" algn="just">
              <a:lnSpc>
                <a:spcPct val="100000"/>
              </a:lnSpc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claim</a:t>
            </a:r>
            <a:r>
              <a:rPr sz="20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extraterritorial</a:t>
            </a:r>
            <a:r>
              <a:rPr sz="2000" spc="-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jurisdiction</a:t>
            </a:r>
            <a:r>
              <a:rPr sz="20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make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countries</a:t>
            </a:r>
            <a:r>
              <a:rPr sz="20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very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unpopular.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Internet</a:t>
            </a:r>
            <a:r>
              <a:rPr spc="-50" dirty="0"/>
              <a:t> </a:t>
            </a:r>
            <a:r>
              <a:rPr spc="-10" dirty="0"/>
              <a:t>Crime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 algn="just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79166"/>
              <a:buFont typeface="Tahoma"/>
              <a:buChar char="►"/>
              <a:tabLst>
                <a:tab pos="354965" algn="l"/>
              </a:tabLst>
            </a:pPr>
            <a:r>
              <a:rPr dirty="0"/>
              <a:t>Suppose</a:t>
            </a:r>
            <a:r>
              <a:rPr spc="265" dirty="0"/>
              <a:t> </a:t>
            </a:r>
            <a:r>
              <a:rPr dirty="0"/>
              <a:t>that</a:t>
            </a:r>
            <a:r>
              <a:rPr spc="254" dirty="0"/>
              <a:t> </a:t>
            </a:r>
            <a:r>
              <a:rPr dirty="0"/>
              <a:t>you</a:t>
            </a:r>
            <a:r>
              <a:rPr spc="260" dirty="0"/>
              <a:t> </a:t>
            </a:r>
            <a:r>
              <a:rPr dirty="0"/>
              <a:t>live</a:t>
            </a:r>
            <a:r>
              <a:rPr spc="265" dirty="0"/>
              <a:t> </a:t>
            </a:r>
            <a:r>
              <a:rPr dirty="0"/>
              <a:t>in</a:t>
            </a:r>
            <a:r>
              <a:rPr spc="260" dirty="0"/>
              <a:t> </a:t>
            </a:r>
            <a:r>
              <a:rPr dirty="0"/>
              <a:t>country</a:t>
            </a:r>
            <a:r>
              <a:rPr spc="265" dirty="0"/>
              <a:t> </a:t>
            </a:r>
            <a:r>
              <a:rPr dirty="0"/>
              <a:t>A</a:t>
            </a:r>
            <a:r>
              <a:rPr spc="250" dirty="0"/>
              <a:t> </a:t>
            </a:r>
            <a:r>
              <a:rPr dirty="0"/>
              <a:t>and</a:t>
            </a:r>
            <a:r>
              <a:rPr spc="254" dirty="0"/>
              <a:t> </a:t>
            </a:r>
            <a:r>
              <a:rPr dirty="0"/>
              <a:t>on</a:t>
            </a:r>
            <a:r>
              <a:rPr spc="254" dirty="0"/>
              <a:t> </a:t>
            </a:r>
            <a:r>
              <a:rPr dirty="0"/>
              <a:t>your</a:t>
            </a:r>
            <a:r>
              <a:rPr spc="250" dirty="0"/>
              <a:t> </a:t>
            </a:r>
            <a:r>
              <a:rPr dirty="0"/>
              <a:t>website</a:t>
            </a:r>
            <a:r>
              <a:rPr spc="254" dirty="0"/>
              <a:t> </a:t>
            </a:r>
            <a:r>
              <a:rPr dirty="0"/>
              <a:t>there</a:t>
            </a:r>
            <a:r>
              <a:rPr spc="250" dirty="0"/>
              <a:t> </a:t>
            </a:r>
            <a:r>
              <a:rPr spc="-25" dirty="0"/>
              <a:t>you </a:t>
            </a:r>
            <a:r>
              <a:rPr dirty="0"/>
              <a:t>publish</a:t>
            </a:r>
            <a:r>
              <a:rPr spc="-35" dirty="0"/>
              <a:t> </a:t>
            </a:r>
            <a:r>
              <a:rPr dirty="0"/>
              <a:t>material</a:t>
            </a:r>
            <a:r>
              <a:rPr spc="-10" dirty="0"/>
              <a:t> </a:t>
            </a:r>
            <a:r>
              <a:rPr dirty="0"/>
              <a:t>that</a:t>
            </a:r>
            <a:r>
              <a:rPr spc="-10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perfectly</a:t>
            </a:r>
            <a:r>
              <a:rPr spc="-10" dirty="0"/>
              <a:t> </a:t>
            </a:r>
            <a:r>
              <a:rPr dirty="0"/>
              <a:t>legal</a:t>
            </a:r>
            <a:r>
              <a:rPr spc="-20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acceptable</a:t>
            </a:r>
            <a:r>
              <a:rPr spc="-1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country </a:t>
            </a:r>
            <a:r>
              <a:rPr spc="-25" dirty="0"/>
              <a:t>A, </a:t>
            </a:r>
            <a:r>
              <a:rPr dirty="0"/>
              <a:t>but</a:t>
            </a:r>
            <a:r>
              <a:rPr spc="65" dirty="0"/>
              <a:t> </a:t>
            </a:r>
            <a:r>
              <a:rPr dirty="0"/>
              <a:t>which</a:t>
            </a:r>
            <a:r>
              <a:rPr spc="90" dirty="0"/>
              <a:t> </a:t>
            </a:r>
            <a:r>
              <a:rPr dirty="0"/>
              <a:t>it</a:t>
            </a:r>
            <a:r>
              <a:rPr spc="75" dirty="0"/>
              <a:t> </a:t>
            </a:r>
            <a:r>
              <a:rPr dirty="0"/>
              <a:t>is</a:t>
            </a:r>
            <a:r>
              <a:rPr spc="90" dirty="0"/>
              <a:t> </a:t>
            </a:r>
            <a:r>
              <a:rPr dirty="0"/>
              <a:t>a</a:t>
            </a:r>
            <a:r>
              <a:rPr spc="80" dirty="0"/>
              <a:t> </a:t>
            </a:r>
            <a:r>
              <a:rPr dirty="0"/>
              <a:t>criminal</a:t>
            </a:r>
            <a:r>
              <a:rPr spc="85" dirty="0"/>
              <a:t> </a:t>
            </a:r>
            <a:r>
              <a:rPr dirty="0"/>
              <a:t>offence</a:t>
            </a:r>
            <a:r>
              <a:rPr spc="90" dirty="0"/>
              <a:t> </a:t>
            </a:r>
            <a:r>
              <a:rPr dirty="0"/>
              <a:t>to</a:t>
            </a:r>
            <a:r>
              <a:rPr spc="85" dirty="0"/>
              <a:t> </a:t>
            </a:r>
            <a:r>
              <a:rPr dirty="0"/>
              <a:t>publish</a:t>
            </a:r>
            <a:r>
              <a:rPr spc="75" dirty="0"/>
              <a:t> </a:t>
            </a:r>
            <a:r>
              <a:rPr dirty="0"/>
              <a:t>in</a:t>
            </a:r>
            <a:r>
              <a:rPr spc="75" dirty="0"/>
              <a:t> </a:t>
            </a:r>
            <a:r>
              <a:rPr dirty="0"/>
              <a:t>country</a:t>
            </a:r>
            <a:r>
              <a:rPr spc="90" dirty="0"/>
              <a:t> </a:t>
            </a:r>
            <a:r>
              <a:rPr dirty="0"/>
              <a:t>B.</a:t>
            </a:r>
            <a:r>
              <a:rPr spc="80" dirty="0"/>
              <a:t> </a:t>
            </a:r>
            <a:r>
              <a:rPr dirty="0"/>
              <a:t>Then</a:t>
            </a:r>
            <a:r>
              <a:rPr spc="100" dirty="0"/>
              <a:t> </a:t>
            </a:r>
            <a:r>
              <a:rPr spc="-25" dirty="0"/>
              <a:t>you </a:t>
            </a:r>
            <a:r>
              <a:rPr dirty="0"/>
              <a:t>can’t</a:t>
            </a:r>
            <a:r>
              <a:rPr spc="350" dirty="0"/>
              <a:t> </a:t>
            </a:r>
            <a:r>
              <a:rPr dirty="0"/>
              <a:t>be</a:t>
            </a:r>
            <a:r>
              <a:rPr spc="360" dirty="0"/>
              <a:t> </a:t>
            </a:r>
            <a:r>
              <a:rPr dirty="0"/>
              <a:t>prosecuted</a:t>
            </a:r>
            <a:r>
              <a:rPr spc="365" dirty="0"/>
              <a:t> </a:t>
            </a:r>
            <a:r>
              <a:rPr dirty="0"/>
              <a:t>in</a:t>
            </a:r>
            <a:r>
              <a:rPr spc="345" dirty="0"/>
              <a:t> </a:t>
            </a:r>
            <a:r>
              <a:rPr dirty="0"/>
              <a:t>country</a:t>
            </a:r>
            <a:r>
              <a:rPr spc="365" dirty="0"/>
              <a:t> </a:t>
            </a:r>
            <a:r>
              <a:rPr dirty="0"/>
              <a:t>A</a:t>
            </a:r>
            <a:r>
              <a:rPr spc="350" dirty="0"/>
              <a:t> </a:t>
            </a:r>
            <a:r>
              <a:rPr dirty="0"/>
              <a:t>and</a:t>
            </a:r>
            <a:r>
              <a:rPr spc="340" dirty="0"/>
              <a:t> </a:t>
            </a:r>
            <a:r>
              <a:rPr dirty="0"/>
              <a:t>it</a:t>
            </a:r>
            <a:r>
              <a:rPr spc="345" dirty="0"/>
              <a:t> </a:t>
            </a:r>
            <a:r>
              <a:rPr dirty="0"/>
              <a:t>is</a:t>
            </a:r>
            <a:r>
              <a:rPr spc="350" dirty="0"/>
              <a:t> </a:t>
            </a:r>
            <a:r>
              <a:rPr dirty="0"/>
              <a:t>very</a:t>
            </a:r>
            <a:r>
              <a:rPr spc="350" dirty="0"/>
              <a:t> </a:t>
            </a:r>
            <a:r>
              <a:rPr dirty="0"/>
              <a:t>unlikely</a:t>
            </a:r>
            <a:r>
              <a:rPr spc="355" dirty="0"/>
              <a:t> </a:t>
            </a:r>
            <a:r>
              <a:rPr dirty="0"/>
              <a:t>that</a:t>
            </a:r>
            <a:r>
              <a:rPr spc="360" dirty="0"/>
              <a:t> </a:t>
            </a:r>
            <a:r>
              <a:rPr spc="-25" dirty="0"/>
              <a:t>you </a:t>
            </a:r>
            <a:r>
              <a:rPr dirty="0"/>
              <a:t>would</a:t>
            </a:r>
            <a:r>
              <a:rPr spc="195" dirty="0"/>
              <a:t> </a:t>
            </a:r>
            <a:r>
              <a:rPr dirty="0"/>
              <a:t>be</a:t>
            </a:r>
            <a:r>
              <a:rPr spc="204" dirty="0"/>
              <a:t> </a:t>
            </a:r>
            <a:r>
              <a:rPr dirty="0"/>
              <a:t>extradited</a:t>
            </a:r>
            <a:r>
              <a:rPr spc="204" dirty="0"/>
              <a:t> </a:t>
            </a:r>
            <a:r>
              <a:rPr dirty="0"/>
              <a:t>to</a:t>
            </a:r>
            <a:r>
              <a:rPr spc="190" dirty="0"/>
              <a:t> </a:t>
            </a:r>
            <a:r>
              <a:rPr dirty="0"/>
              <a:t>country</a:t>
            </a:r>
            <a:r>
              <a:rPr spc="215" dirty="0"/>
              <a:t> </a:t>
            </a:r>
            <a:r>
              <a:rPr dirty="0"/>
              <a:t>B.</a:t>
            </a:r>
            <a:r>
              <a:rPr spc="200" dirty="0"/>
              <a:t> </a:t>
            </a:r>
            <a:r>
              <a:rPr dirty="0"/>
              <a:t>You</a:t>
            </a:r>
            <a:r>
              <a:rPr spc="190" dirty="0"/>
              <a:t> </a:t>
            </a:r>
            <a:r>
              <a:rPr dirty="0"/>
              <a:t>might,</a:t>
            </a:r>
            <a:r>
              <a:rPr spc="204" dirty="0"/>
              <a:t> </a:t>
            </a:r>
            <a:r>
              <a:rPr dirty="0"/>
              <a:t>however,</a:t>
            </a:r>
            <a:r>
              <a:rPr spc="210" dirty="0"/>
              <a:t> </a:t>
            </a:r>
            <a:r>
              <a:rPr dirty="0"/>
              <a:t>be</a:t>
            </a:r>
            <a:r>
              <a:rPr spc="204" dirty="0"/>
              <a:t> </a:t>
            </a:r>
            <a:r>
              <a:rPr spc="-10" dirty="0"/>
              <a:t>unwise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visit</a:t>
            </a:r>
            <a:r>
              <a:rPr spc="-35" dirty="0"/>
              <a:t> </a:t>
            </a:r>
            <a:r>
              <a:rPr dirty="0"/>
              <a:t>country</a:t>
            </a:r>
            <a:r>
              <a:rPr spc="-15" dirty="0"/>
              <a:t> </a:t>
            </a:r>
            <a:r>
              <a:rPr dirty="0"/>
              <a:t>B</a:t>
            </a:r>
            <a:r>
              <a:rPr spc="-35" dirty="0"/>
              <a:t> </a:t>
            </a:r>
            <a:r>
              <a:rPr spc="-10" dirty="0"/>
              <a:t>voluntarily.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Convention</a:t>
            </a:r>
            <a:r>
              <a:rPr spc="-80" dirty="0"/>
              <a:t> </a:t>
            </a:r>
            <a:r>
              <a:rPr dirty="0"/>
              <a:t>on</a:t>
            </a:r>
            <a:r>
              <a:rPr spc="-60" dirty="0"/>
              <a:t> </a:t>
            </a:r>
            <a:r>
              <a:rPr spc="-10" dirty="0"/>
              <a:t>Cybercrime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0745" y="1482039"/>
            <a:ext cx="974979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marR="6350" indent="-342900" algn="r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79166"/>
              <a:buFont typeface="Tahoma"/>
              <a:buChar char="►"/>
              <a:tabLst>
                <a:tab pos="342900" algn="l"/>
                <a:tab pos="827405" algn="l"/>
                <a:tab pos="1814830" algn="l"/>
                <a:tab pos="2500630" algn="l"/>
                <a:tab pos="3742690" algn="l"/>
                <a:tab pos="4253230" algn="l"/>
                <a:tab pos="5434965" algn="l"/>
                <a:tab pos="6938009" algn="l"/>
                <a:tab pos="7625080" algn="l"/>
                <a:tab pos="9392920" algn="l"/>
              </a:tabLst>
            </a:pPr>
            <a:r>
              <a:rPr sz="2400" spc="-25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FDFDFD"/>
                </a:solidFill>
                <a:latin typeface="Trebuchet MS"/>
                <a:cs typeface="Trebuchet MS"/>
              </a:rPr>
              <a:t>2001,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Council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2400" spc="-35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Europe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approved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Convention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FDFDFD"/>
                </a:solidFill>
                <a:latin typeface="Trebuchet MS"/>
                <a:cs typeface="Trebuchet MS"/>
              </a:rPr>
              <a:t>on</a:t>
            </a:r>
            <a:endParaRPr sz="24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  <a:tabLst>
                <a:tab pos="1833245" algn="l"/>
                <a:tab pos="2194560" algn="l"/>
                <a:tab pos="3061335" algn="l"/>
                <a:tab pos="3818890" algn="l"/>
                <a:tab pos="4875530" algn="l"/>
                <a:tab pos="6517005" algn="l"/>
                <a:tab pos="7003415" algn="l"/>
                <a:tab pos="7613015" algn="l"/>
                <a:tab pos="8884285" algn="l"/>
              </a:tabLst>
            </a:pP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Cybercrime.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FDFDFD"/>
                </a:solidFill>
                <a:latin typeface="Trebuchet MS"/>
                <a:cs typeface="Trebuchet MS"/>
              </a:rPr>
              <a:t>It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deals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FDFDFD"/>
                </a:solidFill>
                <a:latin typeface="Trebuchet MS"/>
                <a:cs typeface="Trebuchet MS"/>
              </a:rPr>
              <a:t>with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crimes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committed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FDFDFD"/>
                </a:solidFill>
                <a:latin typeface="Trebuchet MS"/>
                <a:cs typeface="Trebuchet MS"/>
              </a:rPr>
              <a:t>on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internet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90181" y="2214117"/>
            <a:ext cx="13061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copyright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3645" y="2579878"/>
            <a:ext cx="4174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80970" algn="l"/>
                <a:tab pos="3663950" algn="l"/>
              </a:tabLst>
            </a:pP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computer-related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fraud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3645" y="2214117"/>
            <a:ext cx="55803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9530" algn="r">
              <a:lnSpc>
                <a:spcPct val="100000"/>
              </a:lnSpc>
              <a:spcBef>
                <a:spcPts val="100"/>
              </a:spcBef>
              <a:tabLst>
                <a:tab pos="1090930" algn="l"/>
                <a:tab pos="2800985" algn="l"/>
                <a:tab pos="4395470" algn="l"/>
              </a:tabLst>
            </a:pP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other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networks,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including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criminal</a:t>
            </a:r>
            <a:endParaRPr sz="2400">
              <a:latin typeface="Trebuchet MS"/>
              <a:cs typeface="Trebuchet MS"/>
            </a:endParaRPr>
          </a:p>
          <a:p>
            <a:pPr marR="5715" algn="r">
              <a:lnSpc>
                <a:spcPct val="100000"/>
              </a:lnSpc>
            </a:pP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hacking,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32269" y="2214117"/>
            <a:ext cx="35985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696085">
              <a:lnSpc>
                <a:spcPct val="100000"/>
              </a:lnSpc>
              <a:spcBef>
                <a:spcPts val="100"/>
              </a:spcBef>
              <a:tabLst>
                <a:tab pos="762635" algn="l"/>
                <a:tab pos="1684655" algn="l"/>
                <a:tab pos="2797175" algn="l"/>
              </a:tabLst>
            </a:pP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infringement, </a:t>
            </a:r>
            <a:r>
              <a:rPr sz="2400" spc="-25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FDFDFD"/>
                </a:solidFill>
                <a:latin typeface="Trebuchet MS"/>
                <a:cs typeface="Trebuchet MS"/>
              </a:rPr>
              <a:t>child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sexual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abuse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0745" y="2818765"/>
            <a:ext cx="9749155" cy="1010919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4965">
              <a:lnSpc>
                <a:spcPct val="100000"/>
              </a:lnSpc>
              <a:spcBef>
                <a:spcPts val="1095"/>
              </a:spcBef>
            </a:pP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imagery</a:t>
            </a:r>
            <a:r>
              <a:rPr sz="24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on</a:t>
            </a:r>
            <a:r>
              <a:rPr sz="24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4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internet.</a:t>
            </a:r>
            <a:endParaRPr sz="24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79166"/>
              <a:buFont typeface="Tahoma"/>
              <a:buChar char="►"/>
              <a:tabLst>
                <a:tab pos="355600" algn="l"/>
                <a:tab pos="2378075" algn="l"/>
                <a:tab pos="4253865" algn="l"/>
                <a:tab pos="5854700" algn="l"/>
                <a:tab pos="6550659" algn="l"/>
                <a:tab pos="7406005" algn="l"/>
                <a:tab pos="7941309" algn="l"/>
                <a:tab pos="8792845" algn="l"/>
              </a:tabLst>
            </a:pP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International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conventions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inevitably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FDFDFD"/>
                </a:solidFill>
                <a:latin typeface="Trebuchet MS"/>
                <a:cs typeface="Trebuchet MS"/>
              </a:rPr>
              <a:t>are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FDFDFD"/>
                </a:solidFill>
                <a:latin typeface="Trebuchet MS"/>
                <a:cs typeface="Trebuchet MS"/>
              </a:rPr>
              <a:t>slow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FDFDFD"/>
                </a:solidFill>
                <a:latin typeface="Trebuchet MS"/>
                <a:cs typeface="Trebuchet MS"/>
              </a:rPr>
              <a:t>take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effect.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3645" y="3804030"/>
            <a:ext cx="940752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Governments</a:t>
            </a:r>
            <a:r>
              <a:rPr sz="2400" spc="3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sign</a:t>
            </a:r>
            <a:r>
              <a:rPr sz="2400" spc="2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400" spc="3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treaty</a:t>
            </a:r>
            <a:r>
              <a:rPr sz="2400" spc="3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showing</a:t>
            </a:r>
            <a:r>
              <a:rPr sz="2400" spc="3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2400" spc="3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they</a:t>
            </a:r>
            <a:r>
              <a:rPr sz="2400" spc="3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approve</a:t>
            </a:r>
            <a:r>
              <a:rPr sz="2400" spc="3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2400" spc="3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400" spc="-25" dirty="0">
                <a:solidFill>
                  <a:srgbClr val="FDFDFD"/>
                </a:solidFill>
                <a:latin typeface="Trebuchet MS"/>
                <a:cs typeface="Trebuchet MS"/>
              </a:rPr>
              <a:t>it.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However,</a:t>
            </a:r>
            <a:r>
              <a:rPr sz="2400" spc="-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2400" spc="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many</a:t>
            </a:r>
            <a:r>
              <a:rPr sz="2400" spc="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cases they</a:t>
            </a:r>
            <a:r>
              <a:rPr sz="2400" spc="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will</a:t>
            </a:r>
            <a:r>
              <a:rPr sz="2400" spc="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have to persuade</a:t>
            </a:r>
            <a:r>
              <a:rPr sz="2400" spc="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their</a:t>
            </a:r>
            <a:r>
              <a:rPr sz="2400" spc="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legislature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400" spc="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approve</a:t>
            </a:r>
            <a:r>
              <a:rPr sz="2400" spc="8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it</a:t>
            </a:r>
            <a:r>
              <a:rPr sz="2400" spc="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2400" spc="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400" spc="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laws</a:t>
            </a:r>
            <a:r>
              <a:rPr sz="2400" spc="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necessary</a:t>
            </a:r>
            <a:r>
              <a:rPr sz="2400" spc="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400" spc="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implement</a:t>
            </a:r>
            <a:r>
              <a:rPr sz="2400" spc="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it.</a:t>
            </a:r>
            <a:r>
              <a:rPr sz="2400" spc="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This</a:t>
            </a:r>
            <a:r>
              <a:rPr sz="2400" spc="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process,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known</a:t>
            </a:r>
            <a:r>
              <a:rPr sz="24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as</a:t>
            </a:r>
            <a:r>
              <a:rPr sz="24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FDFDFD"/>
                </a:solidFill>
                <a:latin typeface="Trebuchet MS"/>
                <a:cs typeface="Trebuchet MS"/>
              </a:rPr>
              <a:t>ratification.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Civil</a:t>
            </a:r>
            <a:r>
              <a:rPr spc="-5" dirty="0"/>
              <a:t> </a:t>
            </a:r>
            <a:r>
              <a:rPr spc="-25" dirty="0"/>
              <a:t>Law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 algn="just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79166"/>
              <a:buFont typeface="Tahoma"/>
              <a:buChar char="►"/>
              <a:tabLst>
                <a:tab pos="354965" algn="l"/>
              </a:tabLst>
            </a:pPr>
            <a:r>
              <a:rPr dirty="0"/>
              <a:t>Consider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case</a:t>
            </a:r>
            <a:r>
              <a:rPr spc="25" dirty="0"/>
              <a:t> </a:t>
            </a:r>
            <a:r>
              <a:rPr dirty="0"/>
              <a:t>of</a:t>
            </a:r>
            <a:r>
              <a:rPr spc="30" dirty="0"/>
              <a:t> </a:t>
            </a:r>
            <a:r>
              <a:rPr dirty="0"/>
              <a:t>an</a:t>
            </a:r>
            <a:r>
              <a:rPr spc="10" dirty="0"/>
              <a:t> </a:t>
            </a:r>
            <a:r>
              <a:rPr dirty="0"/>
              <a:t>ISP</a:t>
            </a:r>
            <a:r>
              <a:rPr spc="20" dirty="0"/>
              <a:t> </a:t>
            </a:r>
            <a:r>
              <a:rPr dirty="0"/>
              <a:t>based in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USA</a:t>
            </a:r>
            <a:r>
              <a:rPr spc="15" dirty="0"/>
              <a:t> </a:t>
            </a:r>
            <a:r>
              <a:rPr dirty="0"/>
              <a:t>with</a:t>
            </a:r>
            <a:r>
              <a:rPr spc="15" dirty="0"/>
              <a:t> </a:t>
            </a:r>
            <a:r>
              <a:rPr dirty="0"/>
              <a:t>a</a:t>
            </a:r>
            <a:r>
              <a:rPr spc="10" dirty="0"/>
              <a:t> </a:t>
            </a:r>
            <a:r>
              <a:rPr dirty="0"/>
              <a:t>European</a:t>
            </a:r>
            <a:r>
              <a:rPr spc="20" dirty="0"/>
              <a:t> </a:t>
            </a:r>
            <a:r>
              <a:rPr spc="-10" dirty="0"/>
              <a:t>office </a:t>
            </a:r>
            <a:r>
              <a:rPr dirty="0"/>
              <a:t>in</a:t>
            </a:r>
            <a:r>
              <a:rPr spc="100" dirty="0"/>
              <a:t> </a:t>
            </a:r>
            <a:r>
              <a:rPr dirty="0"/>
              <a:t>London.</a:t>
            </a:r>
            <a:r>
              <a:rPr spc="110" dirty="0"/>
              <a:t> </a:t>
            </a:r>
            <a:r>
              <a:rPr dirty="0"/>
              <a:t>One</a:t>
            </a:r>
            <a:r>
              <a:rPr spc="105" dirty="0"/>
              <a:t> </a:t>
            </a:r>
            <a:r>
              <a:rPr dirty="0"/>
              <a:t>of</a:t>
            </a:r>
            <a:r>
              <a:rPr spc="114" dirty="0"/>
              <a:t> </a:t>
            </a:r>
            <a:r>
              <a:rPr dirty="0"/>
              <a:t>its</a:t>
            </a:r>
            <a:r>
              <a:rPr spc="110" dirty="0"/>
              <a:t> </a:t>
            </a:r>
            <a:r>
              <a:rPr dirty="0"/>
              <a:t>customers</a:t>
            </a:r>
            <a:r>
              <a:rPr spc="120" dirty="0"/>
              <a:t> </a:t>
            </a:r>
            <a:r>
              <a:rPr dirty="0"/>
              <a:t>is</a:t>
            </a:r>
            <a:r>
              <a:rPr spc="114" dirty="0"/>
              <a:t> </a:t>
            </a:r>
            <a:r>
              <a:rPr dirty="0"/>
              <a:t>an</a:t>
            </a:r>
            <a:r>
              <a:rPr spc="100" dirty="0"/>
              <a:t> </a:t>
            </a:r>
            <a:r>
              <a:rPr dirty="0"/>
              <a:t>Italian,</a:t>
            </a:r>
            <a:r>
              <a:rPr spc="105" dirty="0"/>
              <a:t> </a:t>
            </a:r>
            <a:r>
              <a:rPr dirty="0"/>
              <a:t>resident</a:t>
            </a:r>
            <a:r>
              <a:rPr spc="110" dirty="0"/>
              <a:t> </a:t>
            </a:r>
            <a:r>
              <a:rPr dirty="0"/>
              <a:t>in</a:t>
            </a:r>
            <a:r>
              <a:rPr spc="114" dirty="0"/>
              <a:t> </a:t>
            </a:r>
            <a:r>
              <a:rPr dirty="0"/>
              <a:t>Italy,</a:t>
            </a:r>
            <a:r>
              <a:rPr spc="114" dirty="0"/>
              <a:t> </a:t>
            </a:r>
            <a:r>
              <a:rPr spc="-25" dirty="0"/>
              <a:t>who </a:t>
            </a:r>
            <a:r>
              <a:rPr dirty="0"/>
              <a:t>posts</a:t>
            </a:r>
            <a:r>
              <a:rPr spc="45" dirty="0"/>
              <a:t> </a:t>
            </a:r>
            <a:r>
              <a:rPr dirty="0"/>
              <a:t>an</a:t>
            </a:r>
            <a:r>
              <a:rPr spc="50" dirty="0"/>
              <a:t> </a:t>
            </a:r>
            <a:r>
              <a:rPr dirty="0"/>
              <a:t>accusation</a:t>
            </a:r>
            <a:r>
              <a:rPr spc="60" dirty="0"/>
              <a:t> </a:t>
            </a:r>
            <a:r>
              <a:rPr dirty="0"/>
              <a:t>about</a:t>
            </a:r>
            <a:r>
              <a:rPr spc="50" dirty="0"/>
              <a:t> </a:t>
            </a:r>
            <a:r>
              <a:rPr dirty="0"/>
              <a:t>a</a:t>
            </a:r>
            <a:r>
              <a:rPr spc="55" dirty="0"/>
              <a:t> </a:t>
            </a:r>
            <a:r>
              <a:rPr dirty="0"/>
              <a:t>French</a:t>
            </a:r>
            <a:r>
              <a:rPr spc="55" dirty="0"/>
              <a:t> </a:t>
            </a:r>
            <a:r>
              <a:rPr dirty="0"/>
              <a:t>politician</a:t>
            </a:r>
            <a:r>
              <a:rPr spc="60" dirty="0"/>
              <a:t> </a:t>
            </a:r>
            <a:r>
              <a:rPr dirty="0"/>
              <a:t>on</a:t>
            </a:r>
            <a:r>
              <a:rPr spc="55" dirty="0"/>
              <a:t> </a:t>
            </a:r>
            <a:r>
              <a:rPr dirty="0"/>
              <a:t>his</a:t>
            </a:r>
            <a:r>
              <a:rPr spc="65" dirty="0"/>
              <a:t> </a:t>
            </a:r>
            <a:r>
              <a:rPr dirty="0"/>
              <a:t>website</a:t>
            </a:r>
            <a:r>
              <a:rPr spc="70" dirty="0"/>
              <a:t> </a:t>
            </a:r>
            <a:r>
              <a:rPr spc="-10" dirty="0"/>
              <a:t>(which </a:t>
            </a:r>
            <a:r>
              <a:rPr dirty="0"/>
              <a:t>is</a:t>
            </a:r>
            <a:r>
              <a:rPr spc="275" dirty="0"/>
              <a:t> </a:t>
            </a:r>
            <a:r>
              <a:rPr dirty="0"/>
              <a:t>hosted</a:t>
            </a:r>
            <a:r>
              <a:rPr spc="280" dirty="0"/>
              <a:t> </a:t>
            </a:r>
            <a:r>
              <a:rPr dirty="0"/>
              <a:t>by</a:t>
            </a:r>
            <a:r>
              <a:rPr spc="270" dirty="0"/>
              <a:t> </a:t>
            </a:r>
            <a:r>
              <a:rPr dirty="0"/>
              <a:t>the</a:t>
            </a:r>
            <a:r>
              <a:rPr spc="285" dirty="0"/>
              <a:t> </a:t>
            </a:r>
            <a:r>
              <a:rPr dirty="0"/>
              <a:t>ISP).</a:t>
            </a:r>
            <a:r>
              <a:rPr spc="270" dirty="0"/>
              <a:t> </a:t>
            </a:r>
            <a:r>
              <a:rPr dirty="0"/>
              <a:t>The</a:t>
            </a:r>
            <a:r>
              <a:rPr spc="280" dirty="0"/>
              <a:t> </a:t>
            </a:r>
            <a:r>
              <a:rPr dirty="0"/>
              <a:t>French</a:t>
            </a:r>
            <a:r>
              <a:rPr spc="275" dirty="0"/>
              <a:t> </a:t>
            </a:r>
            <a:r>
              <a:rPr dirty="0"/>
              <a:t>politician</a:t>
            </a:r>
            <a:r>
              <a:rPr spc="275" dirty="0"/>
              <a:t> </a:t>
            </a:r>
            <a:r>
              <a:rPr dirty="0"/>
              <a:t>complains</a:t>
            </a:r>
            <a:r>
              <a:rPr spc="285" dirty="0"/>
              <a:t> </a:t>
            </a:r>
            <a:r>
              <a:rPr dirty="0"/>
              <a:t>but</a:t>
            </a:r>
            <a:r>
              <a:rPr spc="265" dirty="0"/>
              <a:t> </a:t>
            </a:r>
            <a:r>
              <a:rPr dirty="0"/>
              <a:t>the</a:t>
            </a:r>
            <a:r>
              <a:rPr spc="280" dirty="0"/>
              <a:t> </a:t>
            </a:r>
            <a:r>
              <a:rPr spc="-25" dirty="0"/>
              <a:t>ISP </a:t>
            </a:r>
            <a:r>
              <a:rPr dirty="0"/>
              <a:t>does</a:t>
            </a:r>
            <a:r>
              <a:rPr spc="-45" dirty="0"/>
              <a:t> </a:t>
            </a:r>
            <a:r>
              <a:rPr dirty="0"/>
              <a:t>nothing</a:t>
            </a:r>
            <a:r>
              <a:rPr spc="-45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dirty="0"/>
              <a:t>remove</a:t>
            </a:r>
            <a:r>
              <a:rPr spc="-45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spc="-10" dirty="0"/>
              <a:t>allegation.</a:t>
            </a:r>
          </a:p>
          <a:p>
            <a:pPr marL="354965" marR="5080" indent="-342900" algn="just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79166"/>
              <a:buFont typeface="Tahoma"/>
              <a:buChar char="►"/>
              <a:tabLst>
                <a:tab pos="354965" algn="l"/>
              </a:tabLst>
            </a:pPr>
            <a:r>
              <a:rPr dirty="0"/>
              <a:t>If</a:t>
            </a:r>
            <a:r>
              <a:rPr spc="40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dirty="0"/>
              <a:t>French</a:t>
            </a:r>
            <a:r>
              <a:rPr spc="55" dirty="0"/>
              <a:t> </a:t>
            </a:r>
            <a:r>
              <a:rPr dirty="0"/>
              <a:t>politician</a:t>
            </a:r>
            <a:r>
              <a:rPr spc="40" dirty="0"/>
              <a:t> </a:t>
            </a:r>
            <a:r>
              <a:rPr dirty="0"/>
              <a:t>wishes</a:t>
            </a:r>
            <a:r>
              <a:rPr spc="60" dirty="0"/>
              <a:t> </a:t>
            </a:r>
            <a:r>
              <a:rPr dirty="0"/>
              <a:t>to</a:t>
            </a:r>
            <a:r>
              <a:rPr spc="50" dirty="0"/>
              <a:t> </a:t>
            </a:r>
            <a:r>
              <a:rPr dirty="0"/>
              <a:t>take</a:t>
            </a:r>
            <a:r>
              <a:rPr spc="55" dirty="0"/>
              <a:t> </a:t>
            </a:r>
            <a:r>
              <a:rPr dirty="0"/>
              <a:t>action,</a:t>
            </a:r>
            <a:r>
              <a:rPr spc="60" dirty="0"/>
              <a:t> </a:t>
            </a:r>
            <a:r>
              <a:rPr dirty="0"/>
              <a:t>he</a:t>
            </a:r>
            <a:r>
              <a:rPr spc="50" dirty="0"/>
              <a:t> </a:t>
            </a:r>
            <a:r>
              <a:rPr dirty="0"/>
              <a:t>can,</a:t>
            </a:r>
            <a:r>
              <a:rPr spc="60" dirty="0"/>
              <a:t> </a:t>
            </a:r>
            <a:r>
              <a:rPr dirty="0"/>
              <a:t>in</a:t>
            </a:r>
            <a:r>
              <a:rPr spc="50" dirty="0"/>
              <a:t> </a:t>
            </a:r>
            <a:r>
              <a:rPr dirty="0"/>
              <a:t>theory,</a:t>
            </a:r>
            <a:r>
              <a:rPr spc="70" dirty="0"/>
              <a:t> </a:t>
            </a:r>
            <a:r>
              <a:rPr spc="-25" dirty="0"/>
              <a:t>do </a:t>
            </a:r>
            <a:r>
              <a:rPr dirty="0"/>
              <a:t>so</a:t>
            </a:r>
            <a:r>
              <a:rPr spc="175" dirty="0"/>
              <a:t> </a:t>
            </a:r>
            <a:r>
              <a:rPr dirty="0"/>
              <a:t>in</a:t>
            </a:r>
            <a:r>
              <a:rPr spc="175" dirty="0"/>
              <a:t> </a:t>
            </a:r>
            <a:r>
              <a:rPr dirty="0"/>
              <a:t>any</a:t>
            </a:r>
            <a:r>
              <a:rPr spc="180" dirty="0"/>
              <a:t> </a:t>
            </a:r>
            <a:r>
              <a:rPr dirty="0"/>
              <a:t>of</a:t>
            </a:r>
            <a:r>
              <a:rPr spc="170" dirty="0"/>
              <a:t> </a:t>
            </a:r>
            <a:r>
              <a:rPr dirty="0"/>
              <a:t>the</a:t>
            </a:r>
            <a:r>
              <a:rPr spc="170" dirty="0"/>
              <a:t> </a:t>
            </a:r>
            <a:r>
              <a:rPr dirty="0"/>
              <a:t>four</a:t>
            </a:r>
            <a:r>
              <a:rPr spc="195" dirty="0"/>
              <a:t> </a:t>
            </a:r>
            <a:r>
              <a:rPr dirty="0"/>
              <a:t>countries</a:t>
            </a:r>
            <a:r>
              <a:rPr spc="180" dirty="0"/>
              <a:t> </a:t>
            </a:r>
            <a:r>
              <a:rPr dirty="0"/>
              <a:t>involved</a:t>
            </a:r>
            <a:r>
              <a:rPr spc="180" dirty="0"/>
              <a:t> </a:t>
            </a:r>
            <a:r>
              <a:rPr dirty="0"/>
              <a:t>–</a:t>
            </a:r>
            <a:r>
              <a:rPr spc="185" dirty="0"/>
              <a:t> </a:t>
            </a:r>
            <a:r>
              <a:rPr dirty="0"/>
              <a:t>England,</a:t>
            </a:r>
            <a:r>
              <a:rPr spc="180" dirty="0"/>
              <a:t> </a:t>
            </a:r>
            <a:r>
              <a:rPr dirty="0"/>
              <a:t>France,</a:t>
            </a:r>
            <a:r>
              <a:rPr spc="180" dirty="0"/>
              <a:t> </a:t>
            </a:r>
            <a:r>
              <a:rPr dirty="0"/>
              <a:t>Italy</a:t>
            </a:r>
            <a:r>
              <a:rPr spc="170" dirty="0"/>
              <a:t> </a:t>
            </a:r>
            <a:r>
              <a:rPr spc="-25" dirty="0"/>
              <a:t>or </a:t>
            </a:r>
            <a:r>
              <a:rPr dirty="0"/>
              <a:t>the</a:t>
            </a:r>
            <a:r>
              <a:rPr spc="350" dirty="0"/>
              <a:t> </a:t>
            </a:r>
            <a:r>
              <a:rPr dirty="0"/>
              <a:t>USA.</a:t>
            </a:r>
            <a:r>
              <a:rPr spc="350" dirty="0"/>
              <a:t> </a:t>
            </a:r>
            <a:r>
              <a:rPr dirty="0"/>
              <a:t>His</a:t>
            </a:r>
            <a:r>
              <a:rPr spc="360" dirty="0"/>
              <a:t> </a:t>
            </a:r>
            <a:r>
              <a:rPr dirty="0"/>
              <a:t>best</a:t>
            </a:r>
            <a:r>
              <a:rPr spc="355" dirty="0"/>
              <a:t> </a:t>
            </a:r>
            <a:r>
              <a:rPr dirty="0"/>
              <a:t>hope</a:t>
            </a:r>
            <a:r>
              <a:rPr spc="360" dirty="0"/>
              <a:t> </a:t>
            </a:r>
            <a:r>
              <a:rPr dirty="0"/>
              <a:t>of</a:t>
            </a:r>
            <a:r>
              <a:rPr spc="355" dirty="0"/>
              <a:t> </a:t>
            </a:r>
            <a:r>
              <a:rPr dirty="0"/>
              <a:t>winning</a:t>
            </a:r>
            <a:r>
              <a:rPr spc="345" dirty="0"/>
              <a:t> </a:t>
            </a:r>
            <a:r>
              <a:rPr dirty="0"/>
              <a:t>a</a:t>
            </a:r>
            <a:r>
              <a:rPr spc="355" dirty="0"/>
              <a:t> </a:t>
            </a:r>
            <a:r>
              <a:rPr dirty="0"/>
              <a:t>court</a:t>
            </a:r>
            <a:r>
              <a:rPr spc="360" dirty="0"/>
              <a:t> </a:t>
            </a:r>
            <a:r>
              <a:rPr dirty="0"/>
              <a:t>action</a:t>
            </a:r>
            <a:r>
              <a:rPr spc="345" dirty="0"/>
              <a:t> </a:t>
            </a:r>
            <a:r>
              <a:rPr dirty="0"/>
              <a:t>may</a:t>
            </a:r>
            <a:r>
              <a:rPr spc="360" dirty="0"/>
              <a:t> </a:t>
            </a:r>
            <a:r>
              <a:rPr dirty="0"/>
              <a:t>well</a:t>
            </a:r>
            <a:r>
              <a:rPr spc="365" dirty="0"/>
              <a:t> </a:t>
            </a:r>
            <a:r>
              <a:rPr dirty="0"/>
              <a:t>be</a:t>
            </a:r>
            <a:r>
              <a:rPr spc="355" dirty="0"/>
              <a:t> </a:t>
            </a:r>
            <a:r>
              <a:rPr spc="-25" dirty="0"/>
              <a:t>in </a:t>
            </a:r>
            <a:r>
              <a:rPr dirty="0"/>
              <a:t>France</a:t>
            </a:r>
            <a:r>
              <a:rPr spc="-25" dirty="0"/>
              <a:t> </a:t>
            </a:r>
            <a:r>
              <a:rPr dirty="0"/>
              <a:t>but</a:t>
            </a:r>
            <a:r>
              <a:rPr spc="-25" dirty="0"/>
              <a:t> </a:t>
            </a:r>
            <a:r>
              <a:rPr dirty="0"/>
              <a:t>there</a:t>
            </a:r>
            <a:r>
              <a:rPr spc="-20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little</a:t>
            </a:r>
            <a:r>
              <a:rPr spc="-35" dirty="0"/>
              <a:t> </a:t>
            </a:r>
            <a:r>
              <a:rPr dirty="0"/>
              <a:t>point</a:t>
            </a:r>
            <a:r>
              <a:rPr spc="-2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dirty="0"/>
              <a:t>bringing</a:t>
            </a:r>
            <a:r>
              <a:rPr spc="-35" dirty="0"/>
              <a:t> </a:t>
            </a:r>
            <a:r>
              <a:rPr dirty="0"/>
              <a:t>an</a:t>
            </a:r>
            <a:r>
              <a:rPr spc="-40" dirty="0"/>
              <a:t> </a:t>
            </a:r>
            <a:r>
              <a:rPr dirty="0"/>
              <a:t>action</a:t>
            </a:r>
            <a:r>
              <a:rPr spc="-5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France</a:t>
            </a:r>
            <a:r>
              <a:rPr spc="-20" dirty="0"/>
              <a:t> </a:t>
            </a:r>
            <a:r>
              <a:rPr spc="-10" dirty="0"/>
              <a:t>unless </a:t>
            </a:r>
            <a:r>
              <a:rPr dirty="0"/>
              <a:t>the</a:t>
            </a:r>
            <a:r>
              <a:rPr spc="110" dirty="0"/>
              <a:t> </a:t>
            </a:r>
            <a:r>
              <a:rPr dirty="0"/>
              <a:t>ISP</a:t>
            </a:r>
            <a:r>
              <a:rPr spc="125" dirty="0"/>
              <a:t> </a:t>
            </a:r>
            <a:r>
              <a:rPr dirty="0"/>
              <a:t>has</a:t>
            </a:r>
            <a:r>
              <a:rPr spc="125" dirty="0"/>
              <a:t> </a:t>
            </a:r>
            <a:r>
              <a:rPr dirty="0"/>
              <a:t>some</a:t>
            </a:r>
            <a:r>
              <a:rPr spc="114" dirty="0"/>
              <a:t> </a:t>
            </a:r>
            <a:r>
              <a:rPr dirty="0"/>
              <a:t>sort</a:t>
            </a:r>
            <a:r>
              <a:rPr spc="125" dirty="0"/>
              <a:t> </a:t>
            </a:r>
            <a:r>
              <a:rPr dirty="0"/>
              <a:t>of</a:t>
            </a:r>
            <a:r>
              <a:rPr spc="120" dirty="0"/>
              <a:t> </a:t>
            </a:r>
            <a:r>
              <a:rPr dirty="0"/>
              <a:t>legal</a:t>
            </a:r>
            <a:r>
              <a:rPr spc="135" dirty="0"/>
              <a:t> </a:t>
            </a:r>
            <a:r>
              <a:rPr dirty="0"/>
              <a:t>presence</a:t>
            </a:r>
            <a:r>
              <a:rPr spc="120" dirty="0"/>
              <a:t> </a:t>
            </a:r>
            <a:r>
              <a:rPr dirty="0"/>
              <a:t>there.</a:t>
            </a:r>
            <a:r>
              <a:rPr spc="105" dirty="0"/>
              <a:t> </a:t>
            </a:r>
            <a:r>
              <a:rPr dirty="0"/>
              <a:t>The</a:t>
            </a:r>
            <a:r>
              <a:rPr spc="130" dirty="0"/>
              <a:t> </a:t>
            </a:r>
            <a:r>
              <a:rPr dirty="0"/>
              <a:t>same</a:t>
            </a:r>
            <a:r>
              <a:rPr spc="110" dirty="0"/>
              <a:t> </a:t>
            </a:r>
            <a:r>
              <a:rPr dirty="0"/>
              <a:t>applies</a:t>
            </a:r>
            <a:r>
              <a:rPr spc="125" dirty="0"/>
              <a:t> </a:t>
            </a:r>
            <a:r>
              <a:rPr spc="-25" dirty="0"/>
              <a:t>to </a:t>
            </a:r>
            <a:r>
              <a:rPr spc="-10" dirty="0"/>
              <a:t>Italy.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Trebuchet MS"/>
                <a:cs typeface="Trebuchet MS"/>
              </a:rPr>
              <a:t>DEFAMATION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1292479"/>
            <a:ext cx="8834120" cy="260159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95"/>
              </a:spcBef>
            </a:pP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Defamation</a:t>
            </a:r>
            <a:r>
              <a:rPr sz="2400" spc="-1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means</a:t>
            </a:r>
            <a:endParaRPr sz="2400">
              <a:latin typeface="Trebuchet MS"/>
              <a:cs typeface="Trebuchet MS"/>
            </a:endParaRPr>
          </a:p>
          <a:p>
            <a:pPr marL="12700" marR="5715" algn="just">
              <a:lnSpc>
                <a:spcPct val="100000"/>
              </a:lnSpc>
              <a:spcBef>
                <a:spcPts val="994"/>
              </a:spcBef>
            </a:pP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“making</a:t>
            </a:r>
            <a:r>
              <a:rPr sz="2400" spc="5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statements</a:t>
            </a:r>
            <a:r>
              <a:rPr sz="2400" spc="58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2400" spc="5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will</a:t>
            </a:r>
            <a:r>
              <a:rPr sz="2400" spc="58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damage</a:t>
            </a:r>
            <a:r>
              <a:rPr sz="2400" spc="5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someone’s</a:t>
            </a:r>
            <a:r>
              <a:rPr sz="2400" spc="57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reputation,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bring</a:t>
            </a:r>
            <a:r>
              <a:rPr sz="24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them</a:t>
            </a:r>
            <a:r>
              <a:rPr sz="24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into</a:t>
            </a:r>
            <a:r>
              <a:rPr sz="24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contempt,</a:t>
            </a:r>
            <a:r>
              <a:rPr sz="24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make</a:t>
            </a:r>
            <a:r>
              <a:rPr sz="24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them</a:t>
            </a:r>
            <a:r>
              <a:rPr sz="24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disliked,</a:t>
            </a: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24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so</a:t>
            </a:r>
            <a:r>
              <a:rPr sz="24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FDFDFD"/>
                </a:solidFill>
                <a:latin typeface="Trebuchet MS"/>
                <a:cs typeface="Trebuchet MS"/>
              </a:rPr>
              <a:t>on.”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2400" spc="2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England</a:t>
            </a:r>
            <a:r>
              <a:rPr sz="2400" spc="28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2400" spc="2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Wales,</a:t>
            </a:r>
            <a:r>
              <a:rPr sz="2400" spc="28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2400" spc="2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distinction</a:t>
            </a:r>
            <a:r>
              <a:rPr sz="2400" spc="2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2400" spc="28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made</a:t>
            </a:r>
            <a:r>
              <a:rPr sz="2400" spc="2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between</a:t>
            </a:r>
            <a:r>
              <a:rPr sz="2400" spc="2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slander,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which</a:t>
            </a:r>
            <a:r>
              <a:rPr sz="24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24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spoken,</a:t>
            </a:r>
            <a:r>
              <a:rPr sz="24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24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libel,</a:t>
            </a:r>
            <a:r>
              <a:rPr sz="24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which</a:t>
            </a:r>
            <a:r>
              <a:rPr sz="24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24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written</a:t>
            </a:r>
            <a:r>
              <a:rPr sz="24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r>
              <a:rPr sz="24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recorded</a:t>
            </a:r>
            <a:r>
              <a:rPr sz="24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24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FDFDFD"/>
                </a:solidFill>
                <a:latin typeface="Trebuchet MS"/>
                <a:cs typeface="Trebuchet MS"/>
              </a:rPr>
              <a:t>some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other</a:t>
            </a:r>
            <a:r>
              <a:rPr sz="24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FDFDFD"/>
                </a:solidFill>
                <a:latin typeface="Trebuchet MS"/>
                <a:cs typeface="Trebuchet MS"/>
              </a:rPr>
              <a:t>way.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Trebuchet MS"/>
                <a:cs typeface="Trebuchet MS"/>
              </a:rPr>
              <a:t>DEFAMATION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1286081"/>
            <a:ext cx="8126095" cy="470979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000" b="1" dirty="0">
                <a:solidFill>
                  <a:srgbClr val="FDFDFD"/>
                </a:solidFill>
                <a:latin typeface="Trebuchet MS"/>
                <a:cs typeface="Trebuchet MS"/>
              </a:rPr>
              <a:t>Possible</a:t>
            </a:r>
            <a:r>
              <a:rPr sz="2000" b="1" spc="-8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FDFDFD"/>
                </a:solidFill>
                <a:latin typeface="Trebuchet MS"/>
                <a:cs typeface="Trebuchet MS"/>
              </a:rPr>
              <a:t>defences</a:t>
            </a:r>
            <a:endParaRPr sz="2000">
              <a:latin typeface="Trebuchet MS"/>
              <a:cs typeface="Trebuchet MS"/>
            </a:endParaRPr>
          </a:p>
          <a:p>
            <a:pPr marL="12700" marR="307340" indent="288925">
              <a:lnSpc>
                <a:spcPct val="123700"/>
              </a:lnSpc>
              <a:spcBef>
                <a:spcPts val="5"/>
              </a:spcBef>
              <a:buAutoNum type="alphaLcPeriod"/>
              <a:tabLst>
                <a:tab pos="301625" algn="l"/>
              </a:tabLst>
            </a:pP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defendant</a:t>
            </a:r>
            <a:r>
              <a:rPr sz="19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19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not</a:t>
            </a:r>
            <a:r>
              <a:rPr sz="19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author,</a:t>
            </a:r>
            <a:r>
              <a:rPr sz="19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editor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publisher</a:t>
            </a:r>
            <a:r>
              <a:rPr sz="19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9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FDFDFD"/>
                </a:solidFill>
                <a:latin typeface="Trebuchet MS"/>
                <a:cs typeface="Trebuchet MS"/>
              </a:rPr>
              <a:t>statement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complained</a:t>
            </a:r>
            <a:r>
              <a:rPr sz="1900" spc="-1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spc="-25" dirty="0">
                <a:solidFill>
                  <a:srgbClr val="FDFDFD"/>
                </a:solidFill>
                <a:latin typeface="Trebuchet MS"/>
                <a:cs typeface="Trebuchet MS"/>
              </a:rPr>
              <a:t>of;</a:t>
            </a:r>
            <a:endParaRPr sz="1900">
              <a:latin typeface="Trebuchet MS"/>
              <a:cs typeface="Trebuchet MS"/>
            </a:endParaRPr>
          </a:p>
          <a:p>
            <a:pPr marL="308610" indent="-295910">
              <a:lnSpc>
                <a:spcPct val="100000"/>
              </a:lnSpc>
              <a:spcBef>
                <a:spcPts val="550"/>
              </a:spcBef>
              <a:buAutoNum type="alphaLcPeriod"/>
              <a:tabLst>
                <a:tab pos="308610" algn="l"/>
              </a:tabLst>
            </a:pP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900" spc="-8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statement</a:t>
            </a:r>
            <a:r>
              <a:rPr sz="19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complained</a:t>
            </a:r>
            <a:r>
              <a:rPr sz="19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900" spc="-8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19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substantially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FDFDFD"/>
                </a:solidFill>
                <a:latin typeface="Trebuchet MS"/>
                <a:cs typeface="Trebuchet MS"/>
              </a:rPr>
              <a:t>true;</a:t>
            </a:r>
            <a:endParaRPr sz="1900">
              <a:latin typeface="Trebuchet MS"/>
              <a:cs typeface="Trebuchet MS"/>
            </a:endParaRPr>
          </a:p>
          <a:p>
            <a:pPr marL="12700" marR="473075" indent="279400">
              <a:lnSpc>
                <a:spcPct val="123700"/>
              </a:lnSpc>
              <a:spcBef>
                <a:spcPts val="5"/>
              </a:spcBef>
              <a:buAutoNum type="alphaLcPeriod"/>
              <a:tabLst>
                <a:tab pos="292100" algn="l"/>
              </a:tabLst>
            </a:pP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9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statement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complained</a:t>
            </a:r>
            <a:r>
              <a:rPr sz="19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was</a:t>
            </a:r>
            <a:r>
              <a:rPr sz="19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19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statement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9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opinion</a:t>
            </a:r>
            <a:r>
              <a:rPr sz="19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it</a:t>
            </a:r>
            <a:r>
              <a:rPr sz="19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spc="-25" dirty="0">
                <a:solidFill>
                  <a:srgbClr val="FDFDFD"/>
                </a:solidFill>
                <a:latin typeface="Trebuchet MS"/>
                <a:cs typeface="Trebuchet MS"/>
              </a:rPr>
              <a:t>was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made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clear</a:t>
            </a:r>
            <a:r>
              <a:rPr sz="19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19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9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statement</a:t>
            </a:r>
            <a:r>
              <a:rPr sz="19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what</a:t>
            </a:r>
            <a:r>
              <a:rPr sz="19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9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basis</a:t>
            </a:r>
            <a:r>
              <a:rPr sz="19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was</a:t>
            </a:r>
            <a:r>
              <a:rPr sz="19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for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9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FDFDFD"/>
                </a:solidFill>
                <a:latin typeface="Trebuchet MS"/>
                <a:cs typeface="Trebuchet MS"/>
              </a:rPr>
              <a:t>opinion;</a:t>
            </a:r>
            <a:endParaRPr sz="1900">
              <a:latin typeface="Trebuchet MS"/>
              <a:cs typeface="Trebuchet MS"/>
            </a:endParaRPr>
          </a:p>
          <a:p>
            <a:pPr marL="309245" indent="-296545">
              <a:lnSpc>
                <a:spcPct val="100000"/>
              </a:lnSpc>
              <a:spcBef>
                <a:spcPts val="550"/>
              </a:spcBef>
              <a:buAutoNum type="alphaLcPeriod"/>
              <a:tabLst>
                <a:tab pos="309245" algn="l"/>
              </a:tabLst>
            </a:pP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9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statement</a:t>
            </a:r>
            <a:r>
              <a:rPr sz="19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was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published</a:t>
            </a:r>
            <a:r>
              <a:rPr sz="19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as</a:t>
            </a:r>
            <a:r>
              <a:rPr sz="19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19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matter</a:t>
            </a:r>
            <a:r>
              <a:rPr sz="19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9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public</a:t>
            </a:r>
            <a:r>
              <a:rPr sz="19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FDFDFD"/>
                </a:solidFill>
                <a:latin typeface="Trebuchet MS"/>
                <a:cs typeface="Trebuchet MS"/>
              </a:rPr>
              <a:t>interest;</a:t>
            </a:r>
            <a:endParaRPr sz="1900">
              <a:latin typeface="Trebuchet MS"/>
              <a:cs typeface="Trebuchet MS"/>
            </a:endParaRPr>
          </a:p>
          <a:p>
            <a:pPr marL="306070" indent="-293370">
              <a:lnSpc>
                <a:spcPct val="100000"/>
              </a:lnSpc>
              <a:spcBef>
                <a:spcPts val="540"/>
              </a:spcBef>
              <a:buAutoNum type="alphaLcPeriod"/>
              <a:tabLst>
                <a:tab pos="306070" algn="l"/>
              </a:tabLst>
            </a:pP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statement</a:t>
            </a:r>
            <a:r>
              <a:rPr sz="19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was</a:t>
            </a:r>
            <a:r>
              <a:rPr sz="19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posted</a:t>
            </a:r>
            <a:r>
              <a:rPr sz="19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on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19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website</a:t>
            </a:r>
            <a:r>
              <a:rPr sz="19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operator</a:t>
            </a:r>
            <a:r>
              <a:rPr sz="19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9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FDFDFD"/>
                </a:solidFill>
                <a:latin typeface="Trebuchet MS"/>
                <a:cs typeface="Trebuchet MS"/>
              </a:rPr>
              <a:t>website</a:t>
            </a:r>
            <a:endParaRPr sz="1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was</a:t>
            </a:r>
            <a:r>
              <a:rPr sz="19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not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responsible for</a:t>
            </a:r>
            <a:r>
              <a:rPr sz="19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posting</a:t>
            </a:r>
            <a:r>
              <a:rPr sz="19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9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FDFDFD"/>
                </a:solidFill>
                <a:latin typeface="Trebuchet MS"/>
                <a:cs typeface="Trebuchet MS"/>
              </a:rPr>
              <a:t>statement;</a:t>
            </a:r>
            <a:endParaRPr sz="1900">
              <a:latin typeface="Trebuchet MS"/>
              <a:cs typeface="Trebuchet MS"/>
            </a:endParaRPr>
          </a:p>
          <a:p>
            <a:pPr marL="12700" marR="1003935" indent="251460">
              <a:lnSpc>
                <a:spcPct val="123700"/>
              </a:lnSpc>
              <a:spcBef>
                <a:spcPts val="10"/>
              </a:spcBef>
              <a:buAutoNum type="alphaLcPeriod" startAt="6"/>
              <a:tabLst>
                <a:tab pos="264160" algn="l"/>
              </a:tabLst>
            </a:pP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9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statement</a:t>
            </a:r>
            <a:r>
              <a:rPr sz="19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complained</a:t>
            </a:r>
            <a:r>
              <a:rPr sz="19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9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was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published</a:t>
            </a:r>
            <a:r>
              <a:rPr sz="19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19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19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spc="-20" dirty="0">
                <a:solidFill>
                  <a:srgbClr val="FDFDFD"/>
                </a:solidFill>
                <a:latin typeface="Trebuchet MS"/>
                <a:cs typeface="Trebuchet MS"/>
              </a:rPr>
              <a:t>peer-</a:t>
            </a:r>
            <a:r>
              <a:rPr sz="1900" spc="-10" dirty="0">
                <a:solidFill>
                  <a:srgbClr val="FDFDFD"/>
                </a:solidFill>
                <a:latin typeface="Trebuchet MS"/>
                <a:cs typeface="Trebuchet MS"/>
              </a:rPr>
              <a:t>reviewed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scientific</a:t>
            </a:r>
            <a:r>
              <a:rPr sz="1900" spc="-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r>
              <a:rPr sz="19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academic</a:t>
            </a:r>
            <a:r>
              <a:rPr sz="19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FDFDFD"/>
                </a:solidFill>
                <a:latin typeface="Trebuchet MS"/>
                <a:cs typeface="Trebuchet MS"/>
              </a:rPr>
              <a:t>journal;</a:t>
            </a:r>
            <a:endParaRPr sz="1900">
              <a:latin typeface="Trebuchet MS"/>
              <a:cs typeface="Trebuchet MS"/>
            </a:endParaRPr>
          </a:p>
          <a:p>
            <a:pPr marL="12700" marR="472440" indent="281305">
              <a:lnSpc>
                <a:spcPts val="2830"/>
              </a:lnSpc>
              <a:spcBef>
                <a:spcPts val="95"/>
              </a:spcBef>
              <a:buAutoNum type="alphaLcPeriod" startAt="6"/>
              <a:tabLst>
                <a:tab pos="294005" algn="l"/>
              </a:tabLst>
            </a:pP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statement</a:t>
            </a:r>
            <a:r>
              <a:rPr sz="19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was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report</a:t>
            </a:r>
            <a:r>
              <a:rPr sz="19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19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protected</a:t>
            </a:r>
            <a:r>
              <a:rPr sz="19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by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privilege,</a:t>
            </a:r>
            <a:r>
              <a:rPr sz="19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such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as</a:t>
            </a:r>
            <a:r>
              <a:rPr sz="19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a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report</a:t>
            </a:r>
            <a:r>
              <a:rPr sz="19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900" spc="-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proceedings</a:t>
            </a:r>
            <a:r>
              <a:rPr sz="19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at</a:t>
            </a:r>
            <a:r>
              <a:rPr sz="19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FDFDFD"/>
                </a:solidFill>
                <a:latin typeface="Trebuchet MS"/>
                <a:cs typeface="Trebuchet MS"/>
              </a:rPr>
              <a:t>court.</a:t>
            </a:r>
            <a:endParaRPr sz="1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310" y="629158"/>
            <a:ext cx="4806290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3475" algn="l"/>
              </a:tabLst>
            </a:pPr>
            <a:r>
              <a:rPr b="1" spc="-20" dirty="0">
                <a:latin typeface="Trebuchet MS"/>
                <a:cs typeface="Trebuchet MS"/>
              </a:rPr>
              <a:t>Case</a:t>
            </a:r>
            <a:r>
              <a:rPr b="1" dirty="0">
                <a:latin typeface="Trebuchet MS"/>
                <a:cs typeface="Trebuchet MS"/>
              </a:rPr>
              <a:t>	</a:t>
            </a:r>
            <a:r>
              <a:rPr b="1" spc="-10" dirty="0">
                <a:latin typeface="Trebuchet MS"/>
                <a:cs typeface="Trebuchet MS"/>
              </a:rPr>
              <a:t>Study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1364716"/>
            <a:ext cx="9604375" cy="3226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50000"/>
              </a:lnSpc>
              <a:spcBef>
                <a:spcPts val="100"/>
              </a:spcBef>
              <a:buClr>
                <a:srgbClr val="90C225"/>
              </a:buClr>
              <a:buSzPct val="80000"/>
              <a:buFont typeface="Tahoma"/>
              <a:buChar char="►"/>
              <a:tabLst>
                <a:tab pos="355600" algn="l"/>
              </a:tabLst>
            </a:pPr>
            <a:r>
              <a:rPr sz="2000" b="1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b="1" spc="305" dirty="0">
                <a:solidFill>
                  <a:srgbClr val="FDFDFD"/>
                </a:solidFill>
                <a:latin typeface="Trebuchet MS"/>
                <a:cs typeface="Trebuchet MS"/>
              </a:rPr>
              <a:t>    </a:t>
            </a:r>
            <a:r>
              <a:rPr sz="2000" b="1" dirty="0">
                <a:solidFill>
                  <a:srgbClr val="FDFDFD"/>
                </a:solidFill>
                <a:latin typeface="Trebuchet MS"/>
                <a:cs typeface="Trebuchet MS"/>
              </a:rPr>
              <a:t>Silk</a:t>
            </a:r>
            <a:r>
              <a:rPr sz="2000" b="1" spc="305" dirty="0">
                <a:solidFill>
                  <a:srgbClr val="FDFDFD"/>
                </a:solidFill>
                <a:latin typeface="Trebuchet MS"/>
                <a:cs typeface="Trebuchet MS"/>
              </a:rPr>
              <a:t>    </a:t>
            </a:r>
            <a:r>
              <a:rPr sz="2000" b="1" dirty="0">
                <a:solidFill>
                  <a:srgbClr val="FDFDFD"/>
                </a:solidFill>
                <a:latin typeface="Trebuchet MS"/>
                <a:cs typeface="Trebuchet MS"/>
              </a:rPr>
              <a:t>Road</a:t>
            </a:r>
            <a:r>
              <a:rPr sz="2000" b="1" spc="310" dirty="0">
                <a:solidFill>
                  <a:srgbClr val="FDFDFD"/>
                </a:solidFill>
                <a:latin typeface="Trebuchet MS"/>
                <a:cs typeface="Trebuchet MS"/>
              </a:rPr>
              <a:t>    </a:t>
            </a:r>
            <a:r>
              <a:rPr sz="2000" b="1" dirty="0">
                <a:solidFill>
                  <a:srgbClr val="FDFDFD"/>
                </a:solidFill>
                <a:latin typeface="Trebuchet MS"/>
                <a:cs typeface="Trebuchet MS"/>
              </a:rPr>
              <a:t>Dark</a:t>
            </a:r>
            <a:r>
              <a:rPr sz="2000" b="1" spc="305" dirty="0">
                <a:solidFill>
                  <a:srgbClr val="FDFDFD"/>
                </a:solidFill>
                <a:latin typeface="Trebuchet MS"/>
                <a:cs typeface="Trebuchet MS"/>
              </a:rPr>
              <a:t>    </a:t>
            </a:r>
            <a:r>
              <a:rPr sz="2000" b="1" dirty="0">
                <a:solidFill>
                  <a:srgbClr val="FDFDFD"/>
                </a:solidFill>
                <a:latin typeface="Trebuchet MS"/>
                <a:cs typeface="Trebuchet MS"/>
              </a:rPr>
              <a:t>Web</a:t>
            </a:r>
            <a:r>
              <a:rPr sz="2000" b="1" spc="305" dirty="0">
                <a:solidFill>
                  <a:srgbClr val="FDFDFD"/>
                </a:solidFill>
                <a:latin typeface="Trebuchet MS"/>
                <a:cs typeface="Trebuchet MS"/>
              </a:rPr>
              <a:t>    </a:t>
            </a:r>
            <a:r>
              <a:rPr sz="2000" b="1" dirty="0">
                <a:solidFill>
                  <a:srgbClr val="FDFDFD"/>
                </a:solidFill>
                <a:latin typeface="Trebuchet MS"/>
                <a:cs typeface="Trebuchet MS"/>
              </a:rPr>
              <a:t>Marketplace</a:t>
            </a:r>
            <a:r>
              <a:rPr sz="2000" b="1" spc="310" dirty="0">
                <a:solidFill>
                  <a:srgbClr val="FDFDFD"/>
                </a:solidFill>
                <a:latin typeface="Trebuchet MS"/>
                <a:cs typeface="Trebuchet MS"/>
              </a:rPr>
              <a:t>    </a:t>
            </a:r>
            <a:r>
              <a:rPr sz="2000" b="1" dirty="0">
                <a:solidFill>
                  <a:srgbClr val="FDFDFD"/>
                </a:solidFill>
                <a:latin typeface="Trebuchet MS"/>
                <a:cs typeface="Trebuchet MS"/>
              </a:rPr>
              <a:t>Takedown</a:t>
            </a:r>
            <a:r>
              <a:rPr sz="2000" b="1" spc="310" dirty="0">
                <a:solidFill>
                  <a:srgbClr val="FDFDFD"/>
                </a:solidFill>
                <a:latin typeface="Trebuchet MS"/>
                <a:cs typeface="Trebuchet MS"/>
              </a:rPr>
              <a:t>    </a:t>
            </a:r>
            <a:r>
              <a:rPr sz="2000" b="1" spc="-10" dirty="0">
                <a:solidFill>
                  <a:srgbClr val="FDFDFD"/>
                </a:solidFill>
                <a:latin typeface="Trebuchet MS"/>
                <a:cs typeface="Trebuchet MS"/>
              </a:rPr>
              <a:t>(2013)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Silk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Road</a:t>
            </a:r>
            <a:r>
              <a:rPr sz="2000" spc="-1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was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notorious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dark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web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marketplace</a:t>
            </a:r>
            <a:r>
              <a:rPr sz="2000" spc="-1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where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users</a:t>
            </a:r>
            <a:r>
              <a:rPr sz="2000" spc="-1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anonymously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traded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illegal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goods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like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drugs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weapons.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FBI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dismantled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this</a:t>
            </a:r>
            <a:r>
              <a:rPr sz="20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platform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by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leveraging</a:t>
            </a:r>
            <a:r>
              <a:rPr sz="2000" spc="434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digital</a:t>
            </a:r>
            <a:r>
              <a:rPr sz="2000" spc="4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forensics</a:t>
            </a:r>
            <a:r>
              <a:rPr sz="2000" spc="4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000" spc="4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trace</a:t>
            </a:r>
            <a:r>
              <a:rPr sz="2000" spc="4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Bitcoin</a:t>
            </a:r>
            <a:r>
              <a:rPr sz="2000" spc="4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transactions</a:t>
            </a:r>
            <a:r>
              <a:rPr sz="2000" spc="4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2000" spc="434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uncover</a:t>
            </a:r>
            <a:r>
              <a:rPr sz="2000" spc="4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hidden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server</a:t>
            </a:r>
            <a:r>
              <a:rPr sz="2000" spc="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locations. Ross</a:t>
            </a:r>
            <a:r>
              <a:rPr sz="2000" spc="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Ulbricht, the</a:t>
            </a:r>
            <a:r>
              <a:rPr sz="2000" spc="-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creator,</a:t>
            </a:r>
            <a:r>
              <a:rPr sz="2000" spc="-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was convicted</a:t>
            </a:r>
            <a:r>
              <a:rPr sz="2000" spc="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2000" spc="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sentenced to</a:t>
            </a:r>
            <a:r>
              <a:rPr sz="2000" spc="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life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imprisonment.</a:t>
            </a:r>
            <a:r>
              <a:rPr sz="2000" spc="1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This</a:t>
            </a:r>
            <a:r>
              <a:rPr sz="2000" spc="1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case</a:t>
            </a:r>
            <a:r>
              <a:rPr sz="2000" spc="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demonstrated</a:t>
            </a:r>
            <a:r>
              <a:rPr sz="2000" spc="1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1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effectiveness</a:t>
            </a:r>
            <a:r>
              <a:rPr sz="2000" spc="1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2000" spc="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digital</a:t>
            </a:r>
            <a:r>
              <a:rPr sz="2000" spc="1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forensic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techniques</a:t>
            </a:r>
            <a:r>
              <a:rPr sz="20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addressing</a:t>
            </a:r>
            <a:r>
              <a:rPr sz="20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internet-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enabled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criminal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networks</a:t>
            </a:r>
            <a:endParaRPr sz="20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Defamation</a:t>
            </a:r>
            <a:r>
              <a:rPr spc="-90" dirty="0"/>
              <a:t> </a:t>
            </a:r>
            <a:r>
              <a:rPr spc="-25" dirty="0"/>
              <a:t>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1742948"/>
            <a:ext cx="9030970" cy="1677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105"/>
              </a:spcBef>
              <a:buClr>
                <a:srgbClr val="90C225"/>
              </a:buClr>
              <a:buSzPct val="80000"/>
              <a:buFont typeface="Tahoma"/>
              <a:buChar char="►"/>
              <a:tabLst>
                <a:tab pos="354965" algn="l"/>
              </a:tabLst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Prior</a:t>
            </a:r>
            <a:r>
              <a:rPr sz="2000" spc="-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2014, the UK</a:t>
            </a:r>
            <a:r>
              <a:rPr sz="2000" spc="-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law on defamation</a:t>
            </a:r>
            <a:r>
              <a:rPr sz="2000" spc="-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would have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allowed</a:t>
            </a:r>
            <a:r>
              <a:rPr sz="20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referee</a:t>
            </a:r>
            <a:r>
              <a:rPr sz="2000" spc="-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endParaRPr sz="2000">
              <a:latin typeface="Trebuchet MS"/>
              <a:cs typeface="Trebuchet MS"/>
            </a:endParaRPr>
          </a:p>
          <a:p>
            <a:pPr marL="355600" algn="just">
              <a:lnSpc>
                <a:spcPct val="100000"/>
              </a:lnSpc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start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20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case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based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damage</a:t>
            </a:r>
            <a:r>
              <a:rPr sz="20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 reputation.</a:t>
            </a:r>
            <a:endParaRPr sz="2000">
              <a:latin typeface="Trebuchet MS"/>
              <a:cs typeface="Trebuchet MS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000"/>
              <a:buFont typeface="Tahoma"/>
              <a:buChar char="►"/>
              <a:tabLst>
                <a:tab pos="355600" algn="l"/>
              </a:tabLst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However,</a:t>
            </a:r>
            <a:r>
              <a:rPr sz="2000" spc="2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28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Defamation</a:t>
            </a:r>
            <a:r>
              <a:rPr sz="2000" spc="2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Act</a:t>
            </a:r>
            <a:r>
              <a:rPr sz="2000" spc="2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2013</a:t>
            </a:r>
            <a:r>
              <a:rPr sz="2000" spc="27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modified</a:t>
            </a:r>
            <a:r>
              <a:rPr sz="2000" spc="2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2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situations</a:t>
            </a:r>
            <a:r>
              <a:rPr sz="2000" spc="28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where</a:t>
            </a:r>
            <a:r>
              <a:rPr sz="2000" spc="27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2000" spc="28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case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can</a:t>
            </a:r>
            <a:r>
              <a:rPr sz="2000" spc="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be</a:t>
            </a:r>
            <a:r>
              <a:rPr sz="2000" spc="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brought.</a:t>
            </a:r>
            <a:r>
              <a:rPr sz="2000" spc="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It</a:t>
            </a:r>
            <a:r>
              <a:rPr sz="2000" spc="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2000" spc="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now</a:t>
            </a:r>
            <a:r>
              <a:rPr sz="2000" spc="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necessary</a:t>
            </a:r>
            <a:r>
              <a:rPr sz="2000" spc="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000" spc="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show</a:t>
            </a:r>
            <a:r>
              <a:rPr sz="2000" spc="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2000" spc="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there</a:t>
            </a:r>
            <a:r>
              <a:rPr sz="2000" spc="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2000" spc="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2000" spc="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case</a:t>
            </a:r>
            <a:r>
              <a:rPr sz="2000" spc="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2000" spc="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‘serious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harm’,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which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means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there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is,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likely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be,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serious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financial</a:t>
            </a:r>
            <a:r>
              <a:rPr sz="20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loss.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310" y="629158"/>
            <a:ext cx="604647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963930" algn="l"/>
              </a:tabLst>
            </a:pPr>
            <a:r>
              <a:rPr b="1" spc="-25" dirty="0">
                <a:latin typeface="Trebuchet MS"/>
                <a:cs typeface="Trebuchet MS"/>
              </a:rPr>
              <a:t>The</a:t>
            </a:r>
            <a:r>
              <a:rPr b="1" dirty="0">
                <a:latin typeface="Trebuchet MS"/>
                <a:cs typeface="Trebuchet MS"/>
              </a:rPr>
              <a:t>	Internet</a:t>
            </a:r>
            <a:r>
              <a:rPr b="1" spc="-8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Content</a:t>
            </a:r>
            <a:r>
              <a:rPr b="1" spc="-105" dirty="0">
                <a:latin typeface="Trebuchet MS"/>
                <a:cs typeface="Trebuchet MS"/>
              </a:rPr>
              <a:t> </a:t>
            </a:r>
            <a:r>
              <a:rPr b="1" spc="-10" dirty="0">
                <a:latin typeface="Trebuchet MS"/>
                <a:cs typeface="Trebuchet MS"/>
              </a:rPr>
              <a:t>Rating Association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1705" y="1883155"/>
            <a:ext cx="956056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Internet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Content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Rating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Association</a:t>
            </a:r>
            <a:r>
              <a:rPr sz="18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(ICRA)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international,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independent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organization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whose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mission,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it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claims,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is: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‘to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help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parents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protect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their</a:t>
            </a:r>
            <a:r>
              <a:rPr sz="18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children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from</a:t>
            </a:r>
            <a:r>
              <a:rPr sz="18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potentially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harmful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material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on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internet,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whilst</a:t>
            </a:r>
            <a:r>
              <a:rPr sz="1800" spc="-7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respecting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content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providers’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freedom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expression.’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Its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board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includes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representatives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from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major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players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internet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communications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markets,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including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AOL,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BT,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Cable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Wireless,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IBM,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Microsoft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Novell.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3200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0" y="0"/>
                </a:moveTo>
                <a:lnTo>
                  <a:pt x="0" y="2844799"/>
                </a:lnTo>
                <a:lnTo>
                  <a:pt x="448729" y="2844799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47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6310" y="629158"/>
            <a:ext cx="11576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20" dirty="0">
                <a:solidFill>
                  <a:srgbClr val="90C225"/>
                </a:solidFill>
                <a:latin typeface="Trebuchet MS"/>
                <a:cs typeface="Trebuchet MS"/>
              </a:rPr>
              <a:t>SPAM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6310" y="1526540"/>
            <a:ext cx="7834630" cy="1228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6100"/>
              </a:lnSpc>
              <a:spcBef>
                <a:spcPts val="100"/>
              </a:spcBef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Spam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best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defined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as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‘unsolicited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email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sent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without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consent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the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addressee</a:t>
            </a:r>
            <a:r>
              <a:rPr sz="18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without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any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attempt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at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targeting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recipients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who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are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likely</a:t>
            </a:r>
            <a:r>
              <a:rPr sz="18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to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be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interested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its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contents’.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Stopping</a:t>
            </a:r>
            <a:r>
              <a:rPr spc="-5" dirty="0"/>
              <a:t> </a:t>
            </a:r>
            <a:r>
              <a:rPr spc="-20" dirty="0"/>
              <a:t>Spams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2061464"/>
            <a:ext cx="8196580" cy="258000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There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are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some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technical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means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fighting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spam,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for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example:</a:t>
            </a:r>
            <a:endParaRPr sz="1800">
              <a:latin typeface="Trebuchet MS"/>
              <a:cs typeface="Trebuchet MS"/>
            </a:endParaRPr>
          </a:p>
          <a:p>
            <a:pPr marL="423545" indent="-41084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7777"/>
              <a:buFont typeface="Tahoma"/>
              <a:buChar char="►"/>
              <a:tabLst>
                <a:tab pos="423545" algn="l"/>
              </a:tabLst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closing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loopholes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enable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spammers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use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other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people’s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computers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endParaRPr sz="18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relay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bulk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messages;</a:t>
            </a:r>
            <a:endParaRPr sz="1800">
              <a:latin typeface="Trebuchet MS"/>
              <a:cs typeface="Trebuchet MS"/>
            </a:endParaRPr>
          </a:p>
          <a:p>
            <a:pPr marL="355600" marR="424815" indent="-342900">
              <a:lnSpc>
                <a:spcPct val="100000"/>
              </a:lnSpc>
              <a:spcBef>
                <a:spcPts val="1000"/>
              </a:spcBef>
              <a:buChar char="►"/>
              <a:tabLst>
                <a:tab pos="355600" algn="l"/>
                <a:tab pos="423545" algn="l"/>
              </a:tabLst>
            </a:pPr>
            <a:r>
              <a:rPr sz="1400" dirty="0">
                <a:solidFill>
                  <a:srgbClr val="90C225"/>
                </a:solidFill>
                <a:latin typeface="Tahoma"/>
                <a:cs typeface="Tahoma"/>
              </a:rPr>
              <a:t>	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use</a:t>
            </a:r>
            <a:r>
              <a:rPr sz="18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machine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learning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other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techniques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identify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suspicious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features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message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headers;</a:t>
            </a:r>
            <a:endParaRPr sz="1800">
              <a:latin typeface="Trebuchet MS"/>
              <a:cs typeface="Trebuchet MS"/>
            </a:endParaRPr>
          </a:p>
          <a:p>
            <a:pPr marL="423545" indent="-410845">
              <a:lnSpc>
                <a:spcPct val="100000"/>
              </a:lnSpc>
              <a:spcBef>
                <a:spcPts val="1005"/>
              </a:spcBef>
              <a:buClr>
                <a:srgbClr val="90C225"/>
              </a:buClr>
              <a:buSzPct val="77777"/>
              <a:buFont typeface="Tahoma"/>
              <a:buChar char="►"/>
              <a:tabLst>
                <a:tab pos="423545" algn="l"/>
              </a:tabLst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use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virus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detection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software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reject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emails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carrying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viruses;</a:t>
            </a:r>
            <a:endParaRPr sz="1800">
              <a:latin typeface="Trebuchet MS"/>
              <a:cs typeface="Trebuchet MS"/>
            </a:endParaRPr>
          </a:p>
          <a:p>
            <a:pPr marL="423545" indent="-41084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7777"/>
              <a:buFont typeface="Tahoma"/>
              <a:buChar char="►"/>
              <a:tabLst>
                <a:tab pos="423545" algn="l"/>
              </a:tabLst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keeping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‘stop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lists’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sites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are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known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send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spam.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rebuchet MS"/>
                <a:cs typeface="Trebuchet MS"/>
              </a:rPr>
              <a:t>European</a:t>
            </a:r>
            <a:r>
              <a:rPr b="1" spc="-200" dirty="0">
                <a:latin typeface="Trebuchet MS"/>
                <a:cs typeface="Trebuchet MS"/>
              </a:rPr>
              <a:t> </a:t>
            </a:r>
            <a:r>
              <a:rPr b="1" spc="-10" dirty="0">
                <a:latin typeface="Trebuchet MS"/>
                <a:cs typeface="Trebuchet MS"/>
              </a:rPr>
              <a:t>legislation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2607" y="1704797"/>
            <a:ext cx="926719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28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European</a:t>
            </a:r>
            <a:r>
              <a:rPr sz="1800" spc="29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Community</a:t>
            </a:r>
            <a:r>
              <a:rPr sz="1800" spc="28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Directive</a:t>
            </a:r>
            <a:r>
              <a:rPr sz="1800" spc="28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on</a:t>
            </a:r>
            <a:r>
              <a:rPr sz="1800" spc="28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Privacy</a:t>
            </a:r>
            <a:r>
              <a:rPr sz="1800" spc="29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1800" spc="29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Electronic</a:t>
            </a:r>
            <a:r>
              <a:rPr sz="1800" spc="28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Communications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(2002/58/EC)</a:t>
            </a:r>
            <a:r>
              <a:rPr sz="1800" spc="1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was</a:t>
            </a:r>
            <a:r>
              <a:rPr sz="1800" spc="1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issued</a:t>
            </a:r>
            <a:r>
              <a:rPr sz="1800" spc="1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1800" spc="1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2002</a:t>
            </a:r>
            <a:r>
              <a:rPr sz="1800" spc="1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1800" spc="1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required</a:t>
            </a:r>
            <a:r>
              <a:rPr sz="1800" spc="1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member</a:t>
            </a:r>
            <a:r>
              <a:rPr sz="1800" spc="1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nations</a:t>
            </a:r>
            <a:r>
              <a:rPr sz="1800" spc="114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1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introduce</a:t>
            </a:r>
            <a:r>
              <a:rPr sz="1800" spc="1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regulations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2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implement</a:t>
            </a:r>
            <a:r>
              <a:rPr sz="1800" spc="2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it</a:t>
            </a:r>
            <a:r>
              <a:rPr sz="1800" spc="2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by</a:t>
            </a:r>
            <a:r>
              <a:rPr sz="1800" spc="2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December</a:t>
            </a:r>
            <a:r>
              <a:rPr sz="1800" spc="2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2003.</a:t>
            </a:r>
            <a:r>
              <a:rPr sz="1800" spc="2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1800" spc="229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2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UK,</a:t>
            </a:r>
            <a:r>
              <a:rPr sz="1800" spc="2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2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directive</a:t>
            </a:r>
            <a:r>
              <a:rPr sz="1800" spc="2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was</a:t>
            </a:r>
            <a:r>
              <a:rPr sz="1800" spc="229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implemented</a:t>
            </a:r>
            <a:r>
              <a:rPr sz="1800" spc="2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by</a:t>
            </a:r>
            <a:r>
              <a:rPr sz="1800" spc="2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the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Privacy</a:t>
            </a:r>
            <a:r>
              <a:rPr sz="1800" spc="-7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Electronic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Communications</a:t>
            </a:r>
            <a:r>
              <a:rPr sz="18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(EC</a:t>
            </a:r>
            <a:r>
              <a:rPr sz="1800" spc="-8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Directive)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Regulations</a:t>
            </a:r>
            <a:r>
              <a:rPr sz="1800" spc="-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2003.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Essential</a:t>
            </a:r>
            <a:r>
              <a:rPr spc="-50" dirty="0"/>
              <a:t> </a:t>
            </a:r>
            <a:r>
              <a:rPr spc="-10" dirty="0"/>
              <a:t>features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1754504"/>
            <a:ext cx="8406130" cy="34245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224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directive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addresses</a:t>
            </a:r>
            <a:r>
              <a:rPr sz="1800" spc="-8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many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issues</a:t>
            </a:r>
            <a:r>
              <a:rPr sz="1800" spc="-7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are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not</a:t>
            </a:r>
            <a:r>
              <a:rPr sz="18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relevant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here,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but</a:t>
            </a:r>
            <a:r>
              <a:rPr sz="1800" spc="-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its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essential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features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relating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unsolicited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email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are:</a:t>
            </a:r>
            <a:endParaRPr sz="180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spcBef>
                <a:spcPts val="994"/>
              </a:spcBef>
              <a:buChar char="►"/>
              <a:tabLst>
                <a:tab pos="355600" algn="l"/>
                <a:tab pos="423545" algn="l"/>
              </a:tabLst>
            </a:pPr>
            <a:r>
              <a:rPr sz="1400" dirty="0">
                <a:solidFill>
                  <a:srgbClr val="90C225"/>
                </a:solidFill>
                <a:latin typeface="Tahoma"/>
                <a:cs typeface="Tahoma"/>
              </a:rPr>
              <a:t>	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Unsolicited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email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can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only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be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sent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individuals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(as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opposed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companies)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if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they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have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previously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given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their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consent.</a:t>
            </a:r>
            <a:endParaRPr sz="1800">
              <a:latin typeface="Trebuchet MS"/>
              <a:cs typeface="Trebuchet MS"/>
            </a:endParaRPr>
          </a:p>
          <a:p>
            <a:pPr marL="355600" marR="10795" indent="-342900">
              <a:lnSpc>
                <a:spcPct val="100000"/>
              </a:lnSpc>
              <a:spcBef>
                <a:spcPts val="1000"/>
              </a:spcBef>
              <a:buChar char="►"/>
              <a:tabLst>
                <a:tab pos="355600" algn="l"/>
                <a:tab pos="423545" algn="l"/>
              </a:tabLst>
            </a:pPr>
            <a:r>
              <a:rPr sz="1400" dirty="0">
                <a:solidFill>
                  <a:srgbClr val="90C225"/>
                </a:solidFill>
                <a:latin typeface="Tahoma"/>
                <a:cs typeface="Tahoma"/>
              </a:rPr>
              <a:t>	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Sending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unsolicited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email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conceals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address</a:t>
            </a:r>
            <a:r>
              <a:rPr sz="18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sender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does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not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provide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valid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address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which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recipient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can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send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request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for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such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mailings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cease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unlawful.</a:t>
            </a:r>
            <a:endParaRPr sz="1800">
              <a:latin typeface="Trebuchet MS"/>
              <a:cs typeface="Trebuchet MS"/>
            </a:endParaRPr>
          </a:p>
          <a:p>
            <a:pPr marL="355600" marR="50165" indent="-342900">
              <a:lnSpc>
                <a:spcPct val="100000"/>
              </a:lnSpc>
              <a:spcBef>
                <a:spcPts val="1005"/>
              </a:spcBef>
              <a:buClr>
                <a:srgbClr val="90C225"/>
              </a:buClr>
              <a:buSzPct val="77777"/>
              <a:buFont typeface="Tahoma"/>
              <a:buChar char="►"/>
              <a:tabLst>
                <a:tab pos="355600" algn="l"/>
              </a:tabLst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If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email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address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has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been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obtained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course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sale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goods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or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services,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seller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may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use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address</a:t>
            </a:r>
            <a:r>
              <a:rPr sz="18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for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direct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mailings,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provided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the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recipient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given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opportunity,</a:t>
            </a:r>
            <a:r>
              <a:rPr sz="18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easily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free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charge,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with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every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message,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request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such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mailings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cease.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rebuchet MS"/>
                <a:cs typeface="Trebuchet MS"/>
              </a:rPr>
              <a:t>Legislation</a:t>
            </a:r>
            <a:r>
              <a:rPr b="1" spc="-90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in</a:t>
            </a:r>
            <a:r>
              <a:rPr b="1" spc="-8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the</a:t>
            </a:r>
            <a:r>
              <a:rPr b="1" spc="-75" dirty="0">
                <a:latin typeface="Trebuchet MS"/>
                <a:cs typeface="Trebuchet MS"/>
              </a:rPr>
              <a:t> </a:t>
            </a:r>
            <a:r>
              <a:rPr b="1" spc="-25" dirty="0">
                <a:latin typeface="Trebuchet MS"/>
                <a:cs typeface="Trebuchet MS"/>
              </a:rPr>
              <a:t>USA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1475612"/>
            <a:ext cx="8335009" cy="33839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44475">
              <a:lnSpc>
                <a:spcPct val="146300"/>
              </a:lnSpc>
              <a:spcBef>
                <a:spcPts val="95"/>
              </a:spcBef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superficially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similar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Act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came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into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force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USA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at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start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2004.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This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Controlling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Assault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Non-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Solicited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sexual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content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Marketing</a:t>
            </a:r>
            <a:r>
              <a:rPr sz="1800" spc="5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Act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2003,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otherwise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known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as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CAN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SPAM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Act.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Unfortunately,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Act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has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fundamental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weaknesses,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which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main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one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it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legal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send</a:t>
            </a:r>
            <a:r>
              <a:rPr sz="1800" spc="5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spam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provided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that:</a:t>
            </a:r>
            <a:endParaRPr sz="180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7777"/>
              <a:buFont typeface="Tahoma"/>
              <a:buChar char="►"/>
              <a:tabLst>
                <a:tab pos="355600" algn="l"/>
              </a:tabLst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person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sending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spam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has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not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been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informed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by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receiver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they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do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not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wish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receive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spam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from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source;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endParaRPr sz="1800">
              <a:latin typeface="Trebuchet MS"/>
              <a:cs typeface="Trebuchet MS"/>
            </a:endParaRPr>
          </a:p>
          <a:p>
            <a:pPr marL="355600" marR="146685" indent="-342900">
              <a:lnSpc>
                <a:spcPct val="100000"/>
              </a:lnSpc>
              <a:spcBef>
                <a:spcPts val="1010"/>
              </a:spcBef>
              <a:buChar char="►"/>
              <a:tabLst>
                <a:tab pos="355600" algn="l"/>
                <a:tab pos="423545" algn="l"/>
              </a:tabLst>
            </a:pPr>
            <a:r>
              <a:rPr sz="1400" dirty="0">
                <a:solidFill>
                  <a:srgbClr val="90C225"/>
                </a:solidFill>
                <a:latin typeface="Tahoma"/>
                <a:cs typeface="Tahoma"/>
              </a:rPr>
              <a:t>	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spam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contains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address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receiver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can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use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ask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no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more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spam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be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sent.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rebuchet MS"/>
                <a:cs typeface="Trebuchet MS"/>
              </a:rPr>
              <a:t>Legislation</a:t>
            </a:r>
            <a:r>
              <a:rPr b="1" spc="-90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in</a:t>
            </a:r>
            <a:r>
              <a:rPr b="1" spc="-8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the</a:t>
            </a:r>
            <a:r>
              <a:rPr b="1" spc="-75" dirty="0">
                <a:latin typeface="Trebuchet MS"/>
                <a:cs typeface="Trebuchet MS"/>
              </a:rPr>
              <a:t> </a:t>
            </a:r>
            <a:r>
              <a:rPr b="1" spc="-25" dirty="0">
                <a:latin typeface="Trebuchet MS"/>
                <a:cs typeface="Trebuchet MS"/>
              </a:rPr>
              <a:t>USA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005" y="1702689"/>
            <a:ext cx="9216390" cy="2234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 algn="just">
              <a:lnSpc>
                <a:spcPct val="114999"/>
              </a:lnSpc>
              <a:spcBef>
                <a:spcPts val="100"/>
              </a:spcBef>
              <a:buClr>
                <a:srgbClr val="90C225"/>
              </a:buClr>
              <a:buSzPct val="77777"/>
              <a:buFont typeface="Tahoma"/>
              <a:buChar char="►"/>
              <a:tabLst>
                <a:tab pos="355600" algn="l"/>
              </a:tabLst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1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CAN-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SPAM</a:t>
            </a:r>
            <a:r>
              <a:rPr sz="1800" spc="1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Act</a:t>
            </a:r>
            <a:r>
              <a:rPr sz="1800" spc="1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allows</a:t>
            </a:r>
            <a:r>
              <a:rPr sz="1800" spc="18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ISPs</a:t>
            </a:r>
            <a:r>
              <a:rPr sz="1800" spc="1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18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sue</a:t>
            </a:r>
            <a:r>
              <a:rPr sz="1800" spc="2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for</a:t>
            </a:r>
            <a:r>
              <a:rPr sz="1800" spc="18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damages</a:t>
            </a:r>
            <a:r>
              <a:rPr sz="1800" spc="2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1800" spc="1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certain</a:t>
            </a:r>
            <a:r>
              <a:rPr sz="1800" spc="2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cases</a:t>
            </a:r>
            <a:r>
              <a:rPr sz="1800" spc="2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1800" spc="18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several</a:t>
            </a:r>
            <a:r>
              <a:rPr sz="1800" spc="1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ISPs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have</a:t>
            </a:r>
            <a:r>
              <a:rPr sz="1800" spc="27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initiated</a:t>
            </a:r>
            <a:r>
              <a:rPr sz="1800" spc="2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successful</a:t>
            </a:r>
            <a:r>
              <a:rPr sz="1800" spc="2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court</a:t>
            </a:r>
            <a:r>
              <a:rPr sz="1800" spc="2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action</a:t>
            </a:r>
            <a:r>
              <a:rPr sz="1800" spc="2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against</a:t>
            </a:r>
            <a:r>
              <a:rPr sz="1800" spc="2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spammers.</a:t>
            </a:r>
            <a:r>
              <a:rPr sz="1800" spc="27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1800" spc="27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2005,</a:t>
            </a:r>
            <a:r>
              <a:rPr sz="1800" spc="28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Microsoft</a:t>
            </a:r>
            <a:r>
              <a:rPr sz="1800" spc="2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won</a:t>
            </a:r>
            <a:r>
              <a:rPr sz="1800" spc="27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endParaRPr sz="1800">
              <a:latin typeface="Trebuchet MS"/>
              <a:cs typeface="Trebuchet MS"/>
            </a:endParaRPr>
          </a:p>
          <a:p>
            <a:pPr marL="355600" marR="6350" algn="just">
              <a:lnSpc>
                <a:spcPts val="2490"/>
              </a:lnSpc>
              <a:spcBef>
                <a:spcPts val="130"/>
              </a:spcBef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$7.8</a:t>
            </a:r>
            <a:r>
              <a:rPr sz="1800" spc="2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million</a:t>
            </a:r>
            <a:r>
              <a:rPr sz="1800" spc="2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civil</a:t>
            </a:r>
            <a:r>
              <a:rPr sz="1800" spc="204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judgement</a:t>
            </a:r>
            <a:r>
              <a:rPr sz="1800" spc="2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against</a:t>
            </a:r>
            <a:r>
              <a:rPr sz="1800" spc="2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Robert</a:t>
            </a:r>
            <a:r>
              <a:rPr sz="1800" spc="204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Soloway</a:t>
            </a:r>
            <a:r>
              <a:rPr sz="1800" spc="2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for</a:t>
            </a:r>
            <a:r>
              <a:rPr sz="1800" spc="204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sending</a:t>
            </a:r>
            <a:r>
              <a:rPr sz="1800" spc="204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spam</a:t>
            </a:r>
            <a:r>
              <a:rPr sz="1800" spc="2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through</a:t>
            </a:r>
            <a:r>
              <a:rPr sz="1800" spc="204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MSN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1800" spc="8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Hotmail</a:t>
            </a:r>
            <a:r>
              <a:rPr sz="1800" spc="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services</a:t>
            </a:r>
            <a:r>
              <a:rPr sz="1800" spc="8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1800" spc="8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Robert</a:t>
            </a:r>
            <a:r>
              <a:rPr sz="1800" spc="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Braver,</a:t>
            </a:r>
            <a:r>
              <a:rPr sz="1800" spc="7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1800" spc="8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small</a:t>
            </a:r>
            <a:r>
              <a:rPr sz="1800" spc="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ISP</a:t>
            </a:r>
            <a:r>
              <a:rPr sz="1800" spc="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1800" spc="7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Oklahoma,</a:t>
            </a:r>
            <a:r>
              <a:rPr sz="1800" spc="8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was</a:t>
            </a:r>
            <a:r>
              <a:rPr sz="1800" spc="8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awarded</a:t>
            </a:r>
            <a:r>
              <a:rPr sz="1800" spc="8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over</a:t>
            </a:r>
            <a:endParaRPr sz="1800">
              <a:latin typeface="Trebuchet MS"/>
              <a:cs typeface="Trebuchet MS"/>
            </a:endParaRPr>
          </a:p>
          <a:p>
            <a:pPr marL="355600" marR="6350" algn="just">
              <a:lnSpc>
                <a:spcPts val="2480"/>
              </a:lnSpc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$10</a:t>
            </a:r>
            <a:r>
              <a:rPr sz="1800" spc="1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million</a:t>
            </a:r>
            <a:r>
              <a:rPr sz="1800" spc="1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1800" spc="1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1800" spc="1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judgement</a:t>
            </a:r>
            <a:r>
              <a:rPr sz="1800" spc="1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against</a:t>
            </a:r>
            <a:r>
              <a:rPr sz="1800" spc="1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Soloway.</a:t>
            </a:r>
            <a:r>
              <a:rPr sz="1800" spc="1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It</a:t>
            </a:r>
            <a:r>
              <a:rPr sz="1800" spc="1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1800" spc="1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not</a:t>
            </a:r>
            <a:r>
              <a:rPr sz="1800" spc="1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clear</a:t>
            </a:r>
            <a:r>
              <a:rPr sz="1800" spc="1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whether</a:t>
            </a:r>
            <a:r>
              <a:rPr sz="1800" spc="1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either</a:t>
            </a:r>
            <a:r>
              <a:rPr sz="1800" spc="1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claimant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actually</a:t>
            </a:r>
            <a:r>
              <a:rPr sz="1800" spc="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received</a:t>
            </a:r>
            <a:r>
              <a:rPr sz="1800" spc="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money</a:t>
            </a:r>
            <a:r>
              <a:rPr sz="1800" spc="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awarded.</a:t>
            </a:r>
            <a:r>
              <a:rPr sz="1800" spc="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1800" spc="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2008,</a:t>
            </a:r>
            <a:r>
              <a:rPr sz="1800" spc="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Soloway</a:t>
            </a:r>
            <a:r>
              <a:rPr sz="1800" spc="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was</a:t>
            </a:r>
            <a:r>
              <a:rPr sz="1800" spc="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sentenced</a:t>
            </a:r>
            <a:r>
              <a:rPr sz="1800" spc="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47</a:t>
            </a:r>
            <a:r>
              <a:rPr sz="1800" spc="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months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imprisonment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18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ordered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pay</a:t>
            </a:r>
            <a:r>
              <a:rPr sz="18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$700,000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on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email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fraud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related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charges.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Trebuchet MS"/>
                <a:cs typeface="Trebuchet MS"/>
              </a:rPr>
              <a:t>Registration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1614373"/>
            <a:ext cx="8352155" cy="315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77777"/>
              <a:buFont typeface="Tahoma"/>
              <a:buChar char="►"/>
              <a:tabLst>
                <a:tab pos="355600" algn="l"/>
              </a:tabLst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Both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USA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UK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operate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successful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schemes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allow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individuals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to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register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their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telephone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numbers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as</a:t>
            </a:r>
            <a:r>
              <a:rPr sz="18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ones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which</a:t>
            </a:r>
            <a:r>
              <a:rPr sz="18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unsolicited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direct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marketing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calls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must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not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be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made.</a:t>
            </a:r>
            <a:endParaRPr sz="1800">
              <a:latin typeface="Trebuchet MS"/>
              <a:cs typeface="Trebuchet MS"/>
            </a:endParaRPr>
          </a:p>
          <a:p>
            <a:pPr marL="355600" marR="111125" indent="-342900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77777"/>
              <a:buFont typeface="Tahoma"/>
              <a:buChar char="►"/>
              <a:tabLst>
                <a:tab pos="355600" algn="l"/>
              </a:tabLst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order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enforce</a:t>
            </a:r>
            <a:r>
              <a:rPr sz="18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law,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it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necessary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be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able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identify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reliably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the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source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communication.</a:t>
            </a:r>
            <a:endParaRPr sz="1800">
              <a:latin typeface="Trebuchet MS"/>
              <a:cs typeface="Trebuchet MS"/>
            </a:endParaRPr>
          </a:p>
          <a:p>
            <a:pPr marL="355600" marR="464184" indent="-34290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7777"/>
              <a:buFont typeface="Tahoma"/>
              <a:buChar char="►"/>
              <a:tabLst>
                <a:tab pos="355600" algn="l"/>
              </a:tabLst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Telephone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operators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keep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records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calls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showing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originator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the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destination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call;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such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records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are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needed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for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billing</a:t>
            </a:r>
            <a:r>
              <a:rPr sz="18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purposes.</a:t>
            </a:r>
            <a:endParaRPr sz="1800">
              <a:latin typeface="Trebuchet MS"/>
              <a:cs typeface="Trebuchet MS"/>
            </a:endParaRPr>
          </a:p>
          <a:p>
            <a:pPr marL="355600" marR="258445" indent="-342900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77777"/>
              <a:buFont typeface="Tahoma"/>
              <a:buChar char="►"/>
              <a:tabLst>
                <a:tab pos="355600" algn="l"/>
              </a:tabLst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It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therefore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easy,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most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cases,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identify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source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any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direct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marketing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call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about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which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consumer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complains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then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take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action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necessary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enforce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law.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Trebuchet MS"/>
                <a:cs typeface="Trebuchet MS"/>
              </a:rPr>
              <a:t>Registration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005" y="1741423"/>
            <a:ext cx="9113520" cy="179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77777"/>
              <a:buFont typeface="Tahoma"/>
              <a:buChar char="►"/>
              <a:tabLst>
                <a:tab pos="355600" algn="l"/>
              </a:tabLst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most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cases,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use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internet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not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charged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on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basis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individual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communications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but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on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basis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data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transfer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limits,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so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there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no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recording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of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individual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emails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it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costs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no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more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send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email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from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Australia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UK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than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it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does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send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</a:t>
            </a:r>
            <a:r>
              <a:rPr sz="18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email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one’s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colleague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next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office.</a:t>
            </a:r>
            <a:endParaRPr sz="1800">
              <a:latin typeface="Trebuchet MS"/>
              <a:cs typeface="Trebuchet MS"/>
            </a:endParaRPr>
          </a:p>
          <a:p>
            <a:pPr marL="355600" marR="53340" indent="-34353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7777"/>
              <a:buFont typeface="Tahoma"/>
              <a:buChar char="►"/>
              <a:tabLst>
                <a:tab pos="355600" algn="l"/>
              </a:tabLst>
            </a:pP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Furthermore,</a:t>
            </a:r>
            <a:r>
              <a:rPr sz="18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spoofing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(forging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sender’s</a:t>
            </a:r>
            <a:r>
              <a:rPr sz="18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address</a:t>
            </a:r>
            <a:r>
              <a:rPr sz="1800" spc="-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on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email)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relaying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(using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other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people’s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mail</a:t>
            </a:r>
            <a:r>
              <a:rPr sz="18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servers</a:t>
            </a:r>
            <a:r>
              <a:rPr sz="18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send</a:t>
            </a:r>
            <a:r>
              <a:rPr sz="18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your</a:t>
            </a:r>
            <a:r>
              <a:rPr sz="18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spam)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are</a:t>
            </a:r>
            <a:r>
              <a:rPr sz="18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DFDFD"/>
                </a:solidFill>
                <a:latin typeface="Trebuchet MS"/>
                <a:cs typeface="Trebuchet MS"/>
              </a:rPr>
              <a:t>easily</a:t>
            </a:r>
            <a:r>
              <a:rPr sz="18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DFDFD"/>
                </a:solidFill>
                <a:latin typeface="Trebuchet MS"/>
                <a:cs typeface="Trebuchet MS"/>
              </a:rPr>
              <a:t>achieved.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310" y="819099"/>
            <a:ext cx="63881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rebuchet MS"/>
                <a:cs typeface="Trebuchet MS"/>
              </a:rPr>
              <a:t>COOKIES</a:t>
            </a:r>
            <a:r>
              <a:rPr b="1" spc="-7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AND</a:t>
            </a:r>
            <a:r>
              <a:rPr b="1" spc="-60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USER</a:t>
            </a:r>
            <a:r>
              <a:rPr b="1" spc="-60" dirty="0">
                <a:latin typeface="Trebuchet MS"/>
                <a:cs typeface="Trebuchet MS"/>
              </a:rPr>
              <a:t> </a:t>
            </a:r>
            <a:r>
              <a:rPr b="1" spc="-10" dirty="0">
                <a:latin typeface="Trebuchet MS"/>
                <a:cs typeface="Trebuchet MS"/>
              </a:rPr>
              <a:t>TRACKING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005" y="1741423"/>
            <a:ext cx="9315450" cy="3465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95"/>
              </a:spcBef>
              <a:buSzPct val="78947"/>
              <a:buFont typeface="Tahoma"/>
              <a:buChar char="►"/>
              <a:tabLst>
                <a:tab pos="355600" algn="l"/>
                <a:tab pos="362585" algn="l"/>
              </a:tabLst>
            </a:pPr>
            <a:r>
              <a:rPr sz="1900" dirty="0">
                <a:solidFill>
                  <a:srgbClr val="90C225"/>
                </a:solidFill>
                <a:latin typeface="Trebuchet MS"/>
                <a:cs typeface="Trebuchet MS"/>
              </a:rPr>
              <a:t>	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Cookies</a:t>
            </a:r>
            <a:r>
              <a:rPr sz="1900" spc="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are</a:t>
            </a:r>
            <a:r>
              <a:rPr sz="1900" spc="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items</a:t>
            </a:r>
            <a:r>
              <a:rPr sz="1900" spc="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900" spc="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data</a:t>
            </a:r>
            <a:r>
              <a:rPr sz="1900" spc="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1900" spc="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can</a:t>
            </a:r>
            <a:r>
              <a:rPr sz="1900" spc="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be</a:t>
            </a:r>
            <a:r>
              <a:rPr sz="1900" spc="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stored</a:t>
            </a:r>
            <a:r>
              <a:rPr sz="1900" spc="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1900" spc="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1900" spc="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browser</a:t>
            </a:r>
            <a:r>
              <a:rPr sz="1900" spc="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when</a:t>
            </a:r>
            <a:r>
              <a:rPr sz="1900" spc="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1900" spc="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user</a:t>
            </a:r>
            <a:r>
              <a:rPr sz="1900" spc="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accesses</a:t>
            </a:r>
            <a:r>
              <a:rPr sz="1900" spc="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a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site.</a:t>
            </a:r>
            <a:r>
              <a:rPr sz="1900" spc="1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1900" spc="18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cookie</a:t>
            </a:r>
            <a:r>
              <a:rPr sz="1900" spc="18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might</a:t>
            </a:r>
            <a:r>
              <a:rPr sz="1900" spc="1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be</a:t>
            </a:r>
            <a:r>
              <a:rPr sz="1900" spc="17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used</a:t>
            </a:r>
            <a:r>
              <a:rPr sz="1900" spc="1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by</a:t>
            </a:r>
            <a:r>
              <a:rPr sz="1900" spc="1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900" spc="1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site</a:t>
            </a:r>
            <a:r>
              <a:rPr sz="1900" spc="18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1900" spc="1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900" spc="1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user</a:t>
            </a:r>
            <a:r>
              <a:rPr sz="1900" spc="1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1900" spc="1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visiting</a:t>
            </a:r>
            <a:r>
              <a:rPr sz="1900" spc="1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(e.g.</a:t>
            </a:r>
            <a:r>
              <a:rPr sz="1900" spc="1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900" spc="1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FDFDFD"/>
                </a:solidFill>
                <a:latin typeface="Trebuchet MS"/>
                <a:cs typeface="Trebuchet MS"/>
              </a:rPr>
              <a:t>handle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login</a:t>
            </a:r>
            <a:r>
              <a:rPr sz="1900" spc="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information</a:t>
            </a:r>
            <a:r>
              <a:rPr sz="1900" spc="1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r>
              <a:rPr sz="1900" spc="1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analytics</a:t>
            </a:r>
            <a:r>
              <a:rPr sz="1900" spc="1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information</a:t>
            </a:r>
            <a:r>
              <a:rPr sz="1900" spc="1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900" spc="10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monitor</a:t>
            </a:r>
            <a:r>
              <a:rPr sz="1900" spc="114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site</a:t>
            </a:r>
            <a:r>
              <a:rPr sz="1900" spc="10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usage).</a:t>
            </a:r>
            <a:r>
              <a:rPr sz="1900" spc="10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Some</a:t>
            </a:r>
            <a:r>
              <a:rPr sz="1900" spc="114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sites</a:t>
            </a:r>
            <a:r>
              <a:rPr sz="1900" spc="1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spc="-25" dirty="0">
                <a:solidFill>
                  <a:srgbClr val="FDFDFD"/>
                </a:solidFill>
                <a:latin typeface="Trebuchet MS"/>
                <a:cs typeface="Trebuchet MS"/>
              </a:rPr>
              <a:t>use </a:t>
            </a:r>
            <a:r>
              <a:rPr sz="1900" spc="-20" dirty="0">
                <a:solidFill>
                  <a:srgbClr val="FDFDFD"/>
                </a:solidFill>
                <a:latin typeface="Trebuchet MS"/>
                <a:cs typeface="Trebuchet MS"/>
              </a:rPr>
              <a:t>third-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party</a:t>
            </a:r>
            <a:r>
              <a:rPr sz="19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cookies,</a:t>
            </a:r>
            <a:r>
              <a:rPr sz="19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which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can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be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used</a:t>
            </a:r>
            <a:r>
              <a:rPr sz="19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track</a:t>
            </a:r>
            <a:r>
              <a:rPr sz="19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users</a:t>
            </a:r>
            <a:r>
              <a:rPr sz="19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across</a:t>
            </a:r>
            <a:r>
              <a:rPr sz="19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different</a:t>
            </a:r>
            <a:r>
              <a:rPr sz="19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FDFDFD"/>
                </a:solidFill>
                <a:latin typeface="Trebuchet MS"/>
                <a:cs typeface="Trebuchet MS"/>
              </a:rPr>
              <a:t>sites.</a:t>
            </a:r>
            <a:endParaRPr sz="1900">
              <a:latin typeface="Trebuchet MS"/>
              <a:cs typeface="Trebuchet MS"/>
            </a:endParaRPr>
          </a:p>
          <a:p>
            <a:pPr marL="355600" marR="287020" indent="-343535">
              <a:lnSpc>
                <a:spcPct val="100000"/>
              </a:lnSpc>
              <a:spcBef>
                <a:spcPts val="994"/>
              </a:spcBef>
              <a:buChar char="►"/>
              <a:tabLst>
                <a:tab pos="355600" algn="l"/>
                <a:tab pos="361315" algn="l"/>
              </a:tabLst>
            </a:pPr>
            <a:r>
              <a:rPr sz="1500" dirty="0">
                <a:solidFill>
                  <a:srgbClr val="90C225"/>
                </a:solidFill>
                <a:latin typeface="Tahoma"/>
                <a:cs typeface="Tahoma"/>
              </a:rPr>
              <a:t>	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9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PECR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also</a:t>
            </a:r>
            <a:r>
              <a:rPr sz="19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cover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use</a:t>
            </a:r>
            <a:r>
              <a:rPr sz="19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cookies.</a:t>
            </a:r>
            <a:r>
              <a:rPr sz="19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There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are</a:t>
            </a:r>
            <a:r>
              <a:rPr sz="19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requirements</a:t>
            </a:r>
            <a:r>
              <a:rPr sz="1900" spc="-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inform</a:t>
            </a:r>
            <a:r>
              <a:rPr sz="19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FDFDFD"/>
                </a:solidFill>
                <a:latin typeface="Trebuchet MS"/>
                <a:cs typeface="Trebuchet MS"/>
              </a:rPr>
              <a:t>users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cookies</a:t>
            </a:r>
            <a:r>
              <a:rPr sz="19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are</a:t>
            </a:r>
            <a:r>
              <a:rPr sz="19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being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used</a:t>
            </a:r>
            <a:r>
              <a:rPr sz="19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provide</a:t>
            </a:r>
            <a:r>
              <a:rPr sz="19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an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option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decline</a:t>
            </a:r>
            <a:r>
              <a:rPr sz="19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cookies</a:t>
            </a:r>
            <a:r>
              <a:rPr sz="19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FDFDFD"/>
                </a:solidFill>
                <a:latin typeface="Trebuchet MS"/>
                <a:cs typeface="Trebuchet MS"/>
              </a:rPr>
              <a:t>being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stored</a:t>
            </a:r>
            <a:r>
              <a:rPr sz="19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9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browser.</a:t>
            </a:r>
            <a:r>
              <a:rPr sz="19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If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19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user</a:t>
            </a:r>
            <a:r>
              <a:rPr sz="19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declines</a:t>
            </a:r>
            <a:r>
              <a:rPr sz="19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use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9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cookies,</a:t>
            </a:r>
            <a:r>
              <a:rPr sz="19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this</a:t>
            </a:r>
            <a:r>
              <a:rPr sz="19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may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have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spc="-25" dirty="0">
                <a:solidFill>
                  <a:srgbClr val="FDFDFD"/>
                </a:solidFill>
                <a:latin typeface="Trebuchet MS"/>
                <a:cs typeface="Trebuchet MS"/>
              </a:rPr>
              <a:t>an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impact</a:t>
            </a:r>
            <a:r>
              <a:rPr sz="19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on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what</a:t>
            </a:r>
            <a:r>
              <a:rPr sz="19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functionality</a:t>
            </a:r>
            <a:r>
              <a:rPr sz="19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FDFDFD"/>
                </a:solidFill>
                <a:latin typeface="Trebuchet MS"/>
                <a:cs typeface="Trebuchet MS"/>
              </a:rPr>
              <a:t>available</a:t>
            </a:r>
            <a:endParaRPr sz="1900">
              <a:latin typeface="Trebuchet MS"/>
              <a:cs typeface="Trebuchet MS"/>
            </a:endParaRPr>
          </a:p>
          <a:p>
            <a:pPr marL="355600" marR="331470" indent="-343535" algn="just">
              <a:lnSpc>
                <a:spcPct val="100000"/>
              </a:lnSpc>
              <a:spcBef>
                <a:spcPts val="1010"/>
              </a:spcBef>
              <a:buSzPct val="78947"/>
              <a:buFont typeface="Tahoma"/>
              <a:buChar char="►"/>
              <a:tabLst>
                <a:tab pos="355600" algn="l"/>
                <a:tab pos="362585" algn="l"/>
              </a:tabLst>
            </a:pPr>
            <a:r>
              <a:rPr sz="1900" dirty="0">
                <a:solidFill>
                  <a:srgbClr val="90C225"/>
                </a:solidFill>
                <a:latin typeface="Trebuchet MS"/>
                <a:cs typeface="Trebuchet MS"/>
              </a:rPr>
              <a:t>	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As</a:t>
            </a:r>
            <a:r>
              <a:rPr sz="19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19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result</a:t>
            </a:r>
            <a:r>
              <a:rPr sz="19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9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PECR,</a:t>
            </a:r>
            <a:r>
              <a:rPr sz="19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websites</a:t>
            </a:r>
            <a:r>
              <a:rPr sz="19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use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cookies</a:t>
            </a:r>
            <a:r>
              <a:rPr sz="19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started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add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statements</a:t>
            </a:r>
            <a:r>
              <a:rPr sz="1900" spc="-25" dirty="0">
                <a:solidFill>
                  <a:srgbClr val="FDFDFD"/>
                </a:solidFill>
                <a:latin typeface="Trebuchet MS"/>
                <a:cs typeface="Trebuchet MS"/>
              </a:rPr>
              <a:t> to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inform</a:t>
            </a:r>
            <a:r>
              <a:rPr sz="19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users</a:t>
            </a:r>
            <a:r>
              <a:rPr sz="19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9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this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fact,</a:t>
            </a:r>
            <a:r>
              <a:rPr sz="19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with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an</a:t>
            </a:r>
            <a:r>
              <a:rPr sz="19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option</a:t>
            </a:r>
            <a:r>
              <a:rPr sz="19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9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accept</a:t>
            </a:r>
            <a:r>
              <a:rPr sz="19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use</a:t>
            </a:r>
            <a:r>
              <a:rPr sz="19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9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cookies</a:t>
            </a:r>
            <a:r>
              <a:rPr sz="19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r>
              <a:rPr sz="19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FDFDFD"/>
                </a:solidFill>
                <a:latin typeface="Trebuchet MS"/>
                <a:cs typeface="Trebuchet MS"/>
              </a:rPr>
              <a:t>decline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9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use</a:t>
            </a:r>
            <a:r>
              <a:rPr sz="1900" spc="-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9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FDFDFD"/>
                </a:solidFill>
                <a:latin typeface="Trebuchet MS"/>
                <a:cs typeface="Trebuchet MS"/>
              </a:rPr>
              <a:t>cookies.</a:t>
            </a:r>
            <a:endParaRPr sz="1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rebuchet MS"/>
                <a:cs typeface="Trebuchet MS"/>
              </a:rPr>
              <a:t>THE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COMPUTER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MISUSE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ACT</a:t>
            </a:r>
            <a:r>
              <a:rPr b="1" spc="-50" dirty="0">
                <a:latin typeface="Trebuchet MS"/>
                <a:cs typeface="Trebuchet MS"/>
              </a:rPr>
              <a:t> </a:t>
            </a:r>
            <a:r>
              <a:rPr b="1" spc="-20" dirty="0">
                <a:latin typeface="Trebuchet MS"/>
                <a:cs typeface="Trebuchet MS"/>
              </a:rPr>
              <a:t>1990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1219922"/>
            <a:ext cx="8291830" cy="248983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Computer</a:t>
            </a:r>
            <a:r>
              <a:rPr sz="20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Misuse</a:t>
            </a:r>
            <a:r>
              <a:rPr sz="20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Act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creates</a:t>
            </a:r>
            <a:r>
              <a:rPr sz="20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three</a:t>
            </a:r>
            <a:r>
              <a:rPr sz="20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new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offences</a:t>
            </a:r>
            <a:r>
              <a:rPr sz="20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can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briefly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be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described</a:t>
            </a:r>
            <a:r>
              <a:rPr sz="20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as:</a:t>
            </a:r>
            <a:endParaRPr sz="2000">
              <a:latin typeface="Trebuchet MS"/>
              <a:cs typeface="Trebuchet MS"/>
            </a:endParaRPr>
          </a:p>
          <a:p>
            <a:pPr marL="431165" indent="-418465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80000"/>
              <a:buFont typeface="Tahoma"/>
              <a:buChar char="►"/>
              <a:tabLst>
                <a:tab pos="431165" algn="l"/>
              </a:tabLst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unauthorized</a:t>
            </a:r>
            <a:r>
              <a:rPr sz="20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access</a:t>
            </a:r>
            <a:r>
              <a:rPr sz="20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computer;</a:t>
            </a:r>
            <a:endParaRPr sz="2000">
              <a:latin typeface="Trebuchet MS"/>
              <a:cs typeface="Trebuchet MS"/>
            </a:endParaRPr>
          </a:p>
          <a:p>
            <a:pPr marL="431165" indent="-418465">
              <a:lnSpc>
                <a:spcPct val="100000"/>
              </a:lnSpc>
              <a:spcBef>
                <a:spcPts val="1005"/>
              </a:spcBef>
              <a:buClr>
                <a:srgbClr val="90C225"/>
              </a:buClr>
              <a:buSzPct val="80000"/>
              <a:buFont typeface="Tahoma"/>
              <a:buChar char="►"/>
              <a:tabLst>
                <a:tab pos="431165" algn="l"/>
              </a:tabLst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unauthorized</a:t>
            </a:r>
            <a:r>
              <a:rPr sz="20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access</a:t>
            </a:r>
            <a:r>
              <a:rPr sz="20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computer</a:t>
            </a:r>
            <a:r>
              <a:rPr sz="20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with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intention</a:t>
            </a:r>
            <a:r>
              <a:rPr sz="20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commit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endParaRPr sz="20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serious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crime;</a:t>
            </a:r>
            <a:endParaRPr sz="2000">
              <a:latin typeface="Trebuchet MS"/>
              <a:cs typeface="Trebuchet MS"/>
            </a:endParaRPr>
          </a:p>
          <a:p>
            <a:pPr marL="431165" indent="-418465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80000"/>
              <a:buFont typeface="Tahoma"/>
              <a:buChar char="►"/>
              <a:tabLst>
                <a:tab pos="431165" algn="l"/>
              </a:tabLst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unauthorized</a:t>
            </a:r>
            <a:r>
              <a:rPr sz="20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modification</a:t>
            </a:r>
            <a:r>
              <a:rPr sz="20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contents</a:t>
            </a:r>
            <a:r>
              <a:rPr sz="20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computer.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310" y="629158"/>
            <a:ext cx="770128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Section</a:t>
            </a:r>
            <a:r>
              <a:rPr spc="-35" dirty="0"/>
              <a:t> </a:t>
            </a:r>
            <a:r>
              <a:rPr dirty="0"/>
              <a:t>1</a:t>
            </a:r>
            <a:r>
              <a:rPr spc="-3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Computer</a:t>
            </a:r>
            <a:r>
              <a:rPr spc="-35" dirty="0"/>
              <a:t> </a:t>
            </a:r>
            <a:r>
              <a:rPr dirty="0"/>
              <a:t>Misuse</a:t>
            </a:r>
            <a:r>
              <a:rPr spc="-25" dirty="0"/>
              <a:t> Act </a:t>
            </a:r>
            <a:r>
              <a:rPr spc="-20" dirty="0"/>
              <a:t>1990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2061464"/>
            <a:ext cx="8413750" cy="217932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1800" b="1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person</a:t>
            </a:r>
            <a:r>
              <a:rPr sz="1800" b="1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1800" b="1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guilty</a:t>
            </a:r>
            <a:r>
              <a:rPr sz="1800" b="1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800" b="1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an</a:t>
            </a:r>
            <a:r>
              <a:rPr sz="1800" b="1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offence</a:t>
            </a:r>
            <a:r>
              <a:rPr sz="1800" b="1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spc="-25" dirty="0">
                <a:solidFill>
                  <a:srgbClr val="FDFDFD"/>
                </a:solidFill>
                <a:latin typeface="Trebuchet MS"/>
                <a:cs typeface="Trebuchet MS"/>
              </a:rPr>
              <a:t>if</a:t>
            </a:r>
            <a:endParaRPr sz="180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7777"/>
              <a:buFont typeface="Tahoma"/>
              <a:buChar char="►"/>
              <a:tabLst>
                <a:tab pos="355600" algn="l"/>
              </a:tabLst>
            </a:pP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he</a:t>
            </a:r>
            <a:r>
              <a:rPr sz="1800" b="1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causes</a:t>
            </a:r>
            <a:r>
              <a:rPr sz="1800" b="1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1800" b="1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computer</a:t>
            </a:r>
            <a:r>
              <a:rPr sz="1800" b="1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b="1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perform</a:t>
            </a:r>
            <a:r>
              <a:rPr sz="1800" b="1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any</a:t>
            </a:r>
            <a:r>
              <a:rPr sz="1800" b="1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function</a:t>
            </a:r>
            <a:r>
              <a:rPr sz="1800" b="1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with</a:t>
            </a:r>
            <a:r>
              <a:rPr sz="1800" b="1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intent</a:t>
            </a:r>
            <a:r>
              <a:rPr sz="1800" b="1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b="1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secure</a:t>
            </a:r>
            <a:r>
              <a:rPr sz="1800" b="1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DFDFD"/>
                </a:solidFill>
                <a:latin typeface="Trebuchet MS"/>
                <a:cs typeface="Trebuchet MS"/>
              </a:rPr>
              <a:t>access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b="1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any</a:t>
            </a:r>
            <a:r>
              <a:rPr sz="1800" b="1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program</a:t>
            </a:r>
            <a:r>
              <a:rPr sz="1800" b="1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r>
              <a:rPr sz="1800" b="1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data</a:t>
            </a:r>
            <a:r>
              <a:rPr sz="1800" b="1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held</a:t>
            </a:r>
            <a:r>
              <a:rPr sz="1800" b="1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1800" b="1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any</a:t>
            </a:r>
            <a:r>
              <a:rPr sz="1800" b="1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DFDFD"/>
                </a:solidFill>
                <a:latin typeface="Trebuchet MS"/>
                <a:cs typeface="Trebuchet MS"/>
              </a:rPr>
              <a:t>computer;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77777"/>
              <a:buFont typeface="Tahoma"/>
              <a:buChar char="►"/>
              <a:tabLst>
                <a:tab pos="354965" algn="l"/>
              </a:tabLst>
            </a:pP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b="1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access</a:t>
            </a:r>
            <a:r>
              <a:rPr sz="1800" b="1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he</a:t>
            </a:r>
            <a:r>
              <a:rPr sz="1800" b="1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intends</a:t>
            </a:r>
            <a:r>
              <a:rPr sz="1800" b="1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b="1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secure</a:t>
            </a:r>
            <a:r>
              <a:rPr sz="1800" b="1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1800" b="1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DFDFD"/>
                </a:solidFill>
                <a:latin typeface="Trebuchet MS"/>
                <a:cs typeface="Trebuchet MS"/>
              </a:rPr>
              <a:t>unauthorized;</a:t>
            </a:r>
            <a:r>
              <a:rPr sz="1800" b="1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spc="-25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endParaRPr sz="1800">
              <a:latin typeface="Trebuchet MS"/>
              <a:cs typeface="Trebuchet MS"/>
            </a:endParaRPr>
          </a:p>
          <a:p>
            <a:pPr marL="355600" marR="786130" indent="-342900">
              <a:lnSpc>
                <a:spcPct val="100000"/>
              </a:lnSpc>
              <a:spcBef>
                <a:spcPts val="1005"/>
              </a:spcBef>
              <a:buChar char="►"/>
              <a:tabLst>
                <a:tab pos="355600" algn="l"/>
                <a:tab pos="423545" algn="l"/>
              </a:tabLst>
            </a:pPr>
            <a:r>
              <a:rPr sz="1400" dirty="0">
                <a:solidFill>
                  <a:srgbClr val="90C225"/>
                </a:solidFill>
                <a:latin typeface="Tahoma"/>
                <a:cs typeface="Tahoma"/>
              </a:rPr>
              <a:t>	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he</a:t>
            </a:r>
            <a:r>
              <a:rPr sz="1800" b="1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knows</a:t>
            </a:r>
            <a:r>
              <a:rPr sz="1800" b="1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at</a:t>
            </a:r>
            <a:r>
              <a:rPr sz="1800" b="1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b="1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time</a:t>
            </a:r>
            <a:r>
              <a:rPr sz="1800" b="1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when</a:t>
            </a:r>
            <a:r>
              <a:rPr sz="1800" b="1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he</a:t>
            </a:r>
            <a:r>
              <a:rPr sz="1800" b="1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causes</a:t>
            </a:r>
            <a:r>
              <a:rPr sz="1800" b="1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b="1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computer</a:t>
            </a:r>
            <a:r>
              <a:rPr sz="1800" b="1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800" b="1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perform</a:t>
            </a:r>
            <a:r>
              <a:rPr sz="1800" b="1" spc="-25" dirty="0">
                <a:solidFill>
                  <a:srgbClr val="FDFDFD"/>
                </a:solidFill>
                <a:latin typeface="Trebuchet MS"/>
                <a:cs typeface="Trebuchet MS"/>
              </a:rPr>
              <a:t> the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function</a:t>
            </a:r>
            <a:r>
              <a:rPr sz="1800" b="1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1800" b="1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1800" b="1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1800" b="1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800" b="1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FDFDFD"/>
                </a:solidFill>
                <a:latin typeface="Trebuchet MS"/>
                <a:cs typeface="Trebuchet MS"/>
              </a:rPr>
              <a:t>case.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Section</a:t>
            </a:r>
            <a:r>
              <a:rPr spc="-140" dirty="0"/>
              <a:t> 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4514" y="1408836"/>
            <a:ext cx="9004935" cy="2670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1315" marR="5080" indent="-349250" algn="just">
              <a:lnSpc>
                <a:spcPct val="114999"/>
              </a:lnSpc>
              <a:spcBef>
                <a:spcPts val="95"/>
              </a:spcBef>
              <a:buClr>
                <a:srgbClr val="90C225"/>
              </a:buClr>
              <a:buFont typeface="Tahoma"/>
              <a:buChar char="►"/>
              <a:tabLst>
                <a:tab pos="361315" algn="l"/>
              </a:tabLst>
            </a:pP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Section</a:t>
            </a:r>
            <a:r>
              <a:rPr sz="1900" spc="-1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2</a:t>
            </a:r>
            <a:r>
              <a:rPr sz="1900" spc="-1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900" spc="-1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900" spc="-1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Act</a:t>
            </a:r>
            <a:r>
              <a:rPr sz="1900" spc="-1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1900" spc="-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concerned</a:t>
            </a:r>
            <a:r>
              <a:rPr sz="1900" spc="-1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with</a:t>
            </a:r>
            <a:r>
              <a:rPr sz="1900" spc="-1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gaining</a:t>
            </a:r>
            <a:r>
              <a:rPr sz="1900" spc="-2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unauthorized</a:t>
            </a:r>
            <a:r>
              <a:rPr sz="1900" spc="-1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access</a:t>
            </a:r>
            <a:r>
              <a:rPr sz="1900" spc="-1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900" spc="-1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a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computer</a:t>
            </a:r>
            <a:r>
              <a:rPr sz="1900" spc="12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with</a:t>
            </a:r>
            <a:r>
              <a:rPr sz="1900" spc="12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1900" spc="12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intention</a:t>
            </a:r>
            <a:r>
              <a:rPr sz="1900" spc="12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1900" spc="12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committing</a:t>
            </a:r>
            <a:r>
              <a:rPr sz="1900" spc="13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1900" spc="12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more</a:t>
            </a:r>
            <a:r>
              <a:rPr sz="1900" spc="13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serious</a:t>
            </a:r>
            <a:r>
              <a:rPr sz="1900" spc="13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offence.</a:t>
            </a:r>
            <a:r>
              <a:rPr sz="1900" spc="13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A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blackmailer</a:t>
            </a:r>
            <a:r>
              <a:rPr sz="19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might</a:t>
            </a:r>
            <a:r>
              <a:rPr sz="19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attempt</a:t>
            </a:r>
            <a:r>
              <a:rPr sz="19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9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gain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unauthorized</a:t>
            </a:r>
            <a:r>
              <a:rPr sz="19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access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9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medical</a:t>
            </a:r>
            <a:r>
              <a:rPr sz="19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FDFDFD"/>
                </a:solidFill>
                <a:latin typeface="Trebuchet MS"/>
                <a:cs typeface="Trebuchet MS"/>
              </a:rPr>
              <a:t>records.</a:t>
            </a:r>
            <a:endParaRPr sz="1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35"/>
              </a:spcBef>
              <a:buClr>
                <a:srgbClr val="90C225"/>
              </a:buClr>
              <a:buFont typeface="Tahoma"/>
              <a:buChar char="►"/>
            </a:pPr>
            <a:endParaRPr sz="1900">
              <a:latin typeface="Trebuchet MS"/>
              <a:cs typeface="Trebuchet MS"/>
            </a:endParaRPr>
          </a:p>
          <a:p>
            <a:pPr marL="361315" marR="67310" indent="-349250">
              <a:lnSpc>
                <a:spcPct val="100000"/>
              </a:lnSpc>
              <a:buClr>
                <a:srgbClr val="90C225"/>
              </a:buClr>
              <a:buFont typeface="Tahoma"/>
              <a:buChar char="►"/>
              <a:tabLst>
                <a:tab pos="361315" algn="l"/>
              </a:tabLst>
            </a:pP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for</a:t>
            </a:r>
            <a:r>
              <a:rPr sz="19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example,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order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9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identify</a:t>
            </a:r>
            <a:r>
              <a:rPr sz="19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people</a:t>
            </a:r>
            <a:r>
              <a:rPr sz="19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19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prominent</a:t>
            </a:r>
            <a:r>
              <a:rPr sz="19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positions</a:t>
            </a:r>
            <a:r>
              <a:rPr sz="19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who</a:t>
            </a:r>
            <a:r>
              <a:rPr sz="19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had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spc="-20" dirty="0">
                <a:solidFill>
                  <a:srgbClr val="FDFDFD"/>
                </a:solidFill>
                <a:latin typeface="Trebuchet MS"/>
                <a:cs typeface="Trebuchet MS"/>
              </a:rPr>
              <a:t>been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treated</a:t>
            </a:r>
            <a:r>
              <a:rPr sz="19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for</a:t>
            </a:r>
            <a:r>
              <a:rPr sz="19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transmitted</a:t>
            </a:r>
            <a:r>
              <a:rPr sz="19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diseases,</a:t>
            </a:r>
            <a:r>
              <a:rPr sz="19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with</a:t>
            </a:r>
            <a:r>
              <a:rPr sz="19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19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view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9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blackmailing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them.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19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FDFDFD"/>
                </a:solidFill>
                <a:latin typeface="Trebuchet MS"/>
                <a:cs typeface="Trebuchet MS"/>
              </a:rPr>
              <a:t>terrorist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might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try</a:t>
            </a:r>
            <a:r>
              <a:rPr sz="19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9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get</a:t>
            </a:r>
            <a:r>
              <a:rPr sz="19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access</a:t>
            </a:r>
            <a:r>
              <a:rPr sz="1900" spc="-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9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19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computer</a:t>
            </a:r>
            <a:r>
              <a:rPr sz="19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system</a:t>
            </a:r>
            <a:r>
              <a:rPr sz="19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for</a:t>
            </a:r>
            <a:r>
              <a:rPr sz="19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air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traffic</a:t>
            </a:r>
            <a:r>
              <a:rPr sz="19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control</a:t>
            </a:r>
            <a:r>
              <a:rPr sz="19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with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19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spc="-20" dirty="0">
                <a:solidFill>
                  <a:srgbClr val="FDFDFD"/>
                </a:solidFill>
                <a:latin typeface="Trebuchet MS"/>
                <a:cs typeface="Trebuchet MS"/>
              </a:rPr>
              <a:t>view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issuing</a:t>
            </a:r>
            <a:r>
              <a:rPr sz="19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false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instructions</a:t>
            </a:r>
            <a:r>
              <a:rPr sz="19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pilots</a:t>
            </a:r>
            <a:r>
              <a:rPr sz="19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19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order</a:t>
            </a:r>
            <a:r>
              <a:rPr sz="19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cause</a:t>
            </a:r>
            <a:r>
              <a:rPr sz="19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accidents</a:t>
            </a:r>
            <a:r>
              <a:rPr sz="19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19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FDFDFD"/>
                </a:solidFill>
                <a:latin typeface="Trebuchet MS"/>
                <a:cs typeface="Trebuchet MS"/>
              </a:rPr>
              <a:t>happen.</a:t>
            </a:r>
            <a:endParaRPr sz="1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Section</a:t>
            </a:r>
            <a:r>
              <a:rPr spc="-140" dirty="0"/>
              <a:t> </a:t>
            </a:r>
            <a:r>
              <a:rPr spc="-50" dirty="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005" y="1458620"/>
            <a:ext cx="8796655" cy="254254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2800" b="1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person</a:t>
            </a:r>
            <a:r>
              <a:rPr sz="2800" b="1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2800" b="1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guilty</a:t>
            </a:r>
            <a:r>
              <a:rPr sz="2800" b="1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2800" b="1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an</a:t>
            </a:r>
            <a:r>
              <a:rPr sz="2800" b="1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offence</a:t>
            </a:r>
            <a:r>
              <a:rPr sz="2800" b="1" spc="-25" dirty="0">
                <a:solidFill>
                  <a:srgbClr val="FDFDFD"/>
                </a:solidFill>
                <a:latin typeface="Trebuchet MS"/>
                <a:cs typeface="Trebuchet MS"/>
              </a:rPr>
              <a:t> if</a:t>
            </a:r>
            <a:endParaRPr sz="2800">
              <a:latin typeface="Trebuchet MS"/>
              <a:cs typeface="Trebuchet MS"/>
            </a:endParaRPr>
          </a:p>
          <a:p>
            <a:pPr marL="355600" marR="5080" indent="-343535">
              <a:lnSpc>
                <a:spcPct val="100000"/>
              </a:lnSpc>
              <a:spcBef>
                <a:spcPts val="1010"/>
              </a:spcBef>
              <a:buChar char="►"/>
              <a:tabLst>
                <a:tab pos="355600" algn="l"/>
                <a:tab pos="462280" algn="l"/>
              </a:tabLst>
            </a:pPr>
            <a:r>
              <a:rPr sz="2200" dirty="0">
                <a:solidFill>
                  <a:srgbClr val="90C225"/>
                </a:solidFill>
                <a:latin typeface="Tahoma"/>
                <a:cs typeface="Tahoma"/>
              </a:rPr>
              <a:t>	</a:t>
            </a: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he</a:t>
            </a:r>
            <a:r>
              <a:rPr sz="2800" b="1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does</a:t>
            </a:r>
            <a:r>
              <a:rPr sz="2800" b="1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any</a:t>
            </a:r>
            <a:r>
              <a:rPr sz="2800" b="1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act</a:t>
            </a:r>
            <a:r>
              <a:rPr sz="2800" b="1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which</a:t>
            </a:r>
            <a:r>
              <a:rPr sz="2800" b="1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causes</a:t>
            </a:r>
            <a:r>
              <a:rPr sz="2800" b="1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an</a:t>
            </a:r>
            <a:r>
              <a:rPr sz="2800" b="1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800" b="1" spc="-10" dirty="0">
                <a:solidFill>
                  <a:srgbClr val="FDFDFD"/>
                </a:solidFill>
                <a:latin typeface="Trebuchet MS"/>
                <a:cs typeface="Trebuchet MS"/>
              </a:rPr>
              <a:t>unauthorized </a:t>
            </a: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modification</a:t>
            </a:r>
            <a:r>
              <a:rPr sz="2800" b="1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2800" b="1" spc="-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800" b="1" spc="-8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contents</a:t>
            </a:r>
            <a:r>
              <a:rPr sz="2800" b="1" spc="-8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2800" b="1" spc="-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any</a:t>
            </a:r>
            <a:r>
              <a:rPr sz="2800" b="1" spc="-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computer;</a:t>
            </a:r>
            <a:r>
              <a:rPr sz="2800" b="1" spc="-8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800" b="1" spc="-25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endParaRPr sz="2800">
              <a:latin typeface="Trebuchet MS"/>
              <a:cs typeface="Trebuchet MS"/>
            </a:endParaRPr>
          </a:p>
          <a:p>
            <a:pPr marL="355600" marR="842644" indent="-343535">
              <a:lnSpc>
                <a:spcPct val="100000"/>
              </a:lnSpc>
              <a:spcBef>
                <a:spcPts val="994"/>
              </a:spcBef>
              <a:buChar char="►"/>
              <a:tabLst>
                <a:tab pos="355600" algn="l"/>
                <a:tab pos="462280" algn="l"/>
              </a:tabLst>
            </a:pPr>
            <a:r>
              <a:rPr sz="2200" dirty="0">
                <a:solidFill>
                  <a:srgbClr val="90C225"/>
                </a:solidFill>
                <a:latin typeface="Tahoma"/>
                <a:cs typeface="Tahoma"/>
              </a:rPr>
              <a:t>	</a:t>
            </a: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at</a:t>
            </a:r>
            <a:r>
              <a:rPr sz="2800" b="1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800" b="1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time</a:t>
            </a:r>
            <a:r>
              <a:rPr sz="2800" b="1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when</a:t>
            </a:r>
            <a:r>
              <a:rPr sz="2800" b="1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he</a:t>
            </a:r>
            <a:r>
              <a:rPr sz="2800" b="1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does</a:t>
            </a:r>
            <a:r>
              <a:rPr sz="2800" b="1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800" b="1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act</a:t>
            </a:r>
            <a:r>
              <a:rPr sz="2800" b="1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he</a:t>
            </a:r>
            <a:r>
              <a:rPr sz="2800" b="1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has</a:t>
            </a:r>
            <a:r>
              <a:rPr sz="2800" b="1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800" b="1" spc="-25" dirty="0">
                <a:solidFill>
                  <a:srgbClr val="FDFDFD"/>
                </a:solidFill>
                <a:latin typeface="Trebuchet MS"/>
                <a:cs typeface="Trebuchet MS"/>
              </a:rPr>
              <a:t>the </a:t>
            </a: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requisite</a:t>
            </a:r>
            <a:r>
              <a:rPr sz="2800" b="1" spc="-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intent</a:t>
            </a:r>
            <a:r>
              <a:rPr sz="2800" b="1" spc="-8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2800" b="1" spc="-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800" b="1" spc="-8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FDFDFD"/>
                </a:solidFill>
                <a:latin typeface="Trebuchet MS"/>
                <a:cs typeface="Trebuchet MS"/>
              </a:rPr>
              <a:t>requisite</a:t>
            </a:r>
            <a:r>
              <a:rPr sz="2800" b="1" spc="-8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800" b="1" spc="-10" dirty="0">
                <a:solidFill>
                  <a:srgbClr val="FDFDFD"/>
                </a:solidFill>
                <a:latin typeface="Trebuchet MS"/>
                <a:cs typeface="Trebuchet MS"/>
              </a:rPr>
              <a:t>knowledge.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310" y="1714880"/>
            <a:ext cx="8376284" cy="2967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540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400" b="1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requisite</a:t>
            </a:r>
            <a:r>
              <a:rPr sz="2400" b="1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intent</a:t>
            </a:r>
            <a:r>
              <a:rPr sz="2400" b="1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2400" b="1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an</a:t>
            </a:r>
            <a:r>
              <a:rPr sz="2400" b="1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intent</a:t>
            </a:r>
            <a:r>
              <a:rPr sz="2400" b="1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400" b="1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cause</a:t>
            </a:r>
            <a:r>
              <a:rPr sz="2400" b="1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2400" b="1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modification</a:t>
            </a:r>
            <a:r>
              <a:rPr sz="2400" b="1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spc="-25" dirty="0">
                <a:solidFill>
                  <a:srgbClr val="FDFDFD"/>
                </a:solidFill>
                <a:latin typeface="Trebuchet MS"/>
                <a:cs typeface="Trebuchet MS"/>
              </a:rPr>
              <a:t>of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400" b="1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contents</a:t>
            </a:r>
            <a:r>
              <a:rPr sz="2400" b="1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2400" b="1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any</a:t>
            </a:r>
            <a:r>
              <a:rPr sz="2400" b="1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computer</a:t>
            </a:r>
            <a:r>
              <a:rPr sz="2400" b="1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2400" b="1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by</a:t>
            </a:r>
            <a:r>
              <a:rPr sz="2400" b="1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so</a:t>
            </a:r>
            <a:r>
              <a:rPr sz="2400" b="1" spc="-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FDFDFD"/>
                </a:solidFill>
                <a:latin typeface="Trebuchet MS"/>
                <a:cs typeface="Trebuchet MS"/>
              </a:rPr>
              <a:t>doing</a:t>
            </a:r>
            <a:endParaRPr sz="24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9166"/>
              <a:buFont typeface="Tahoma"/>
              <a:buChar char="►"/>
              <a:tabLst>
                <a:tab pos="355600" algn="l"/>
              </a:tabLst>
            </a:pP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400" b="1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impair</a:t>
            </a:r>
            <a:r>
              <a:rPr sz="2400" b="1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400" b="1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operation</a:t>
            </a:r>
            <a:r>
              <a:rPr sz="2400" b="1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2400" b="1" spc="-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any</a:t>
            </a:r>
            <a:r>
              <a:rPr sz="2400" b="1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FDFDFD"/>
                </a:solidFill>
                <a:latin typeface="Trebuchet MS"/>
                <a:cs typeface="Trebuchet MS"/>
              </a:rPr>
              <a:t>computer;</a:t>
            </a:r>
            <a:endParaRPr sz="240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79166"/>
              <a:buFont typeface="Tahoma"/>
              <a:buChar char="►"/>
              <a:tabLst>
                <a:tab pos="355600" algn="l"/>
              </a:tabLst>
            </a:pP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400" b="1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prevent</a:t>
            </a:r>
            <a:r>
              <a:rPr sz="2400" b="1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r>
              <a:rPr sz="2400" b="1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hinder</a:t>
            </a:r>
            <a:r>
              <a:rPr sz="2400" b="1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access</a:t>
            </a:r>
            <a:r>
              <a:rPr sz="2400" b="1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400" b="1" spc="-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any</a:t>
            </a:r>
            <a:r>
              <a:rPr sz="2400" b="1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program</a:t>
            </a:r>
            <a:r>
              <a:rPr sz="2400" b="1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r>
              <a:rPr sz="2400" b="1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data</a:t>
            </a:r>
            <a:r>
              <a:rPr sz="2400" b="1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spc="-20" dirty="0">
                <a:solidFill>
                  <a:srgbClr val="FDFDFD"/>
                </a:solidFill>
                <a:latin typeface="Trebuchet MS"/>
                <a:cs typeface="Trebuchet MS"/>
              </a:rPr>
              <a:t>held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2400" b="1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any</a:t>
            </a:r>
            <a:r>
              <a:rPr sz="2400" b="1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computer;</a:t>
            </a:r>
            <a:r>
              <a:rPr sz="2400" b="1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spc="-25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endParaRPr sz="2400">
              <a:latin typeface="Trebuchet MS"/>
              <a:cs typeface="Trebuchet MS"/>
            </a:endParaRPr>
          </a:p>
          <a:p>
            <a:pPr marL="355600" marR="718185" indent="-342900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79166"/>
              <a:buFont typeface="Tahoma"/>
              <a:buChar char="►"/>
              <a:tabLst>
                <a:tab pos="355600" algn="l"/>
              </a:tabLst>
            </a:pP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400" b="1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impair</a:t>
            </a:r>
            <a:r>
              <a:rPr sz="2400" b="1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400" b="1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operation</a:t>
            </a:r>
            <a:r>
              <a:rPr sz="2400" b="1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2400" b="1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any</a:t>
            </a:r>
            <a:r>
              <a:rPr sz="2400" b="1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such</a:t>
            </a:r>
            <a:r>
              <a:rPr sz="2400" b="1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program</a:t>
            </a:r>
            <a:r>
              <a:rPr sz="2400" b="1" spc="-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r>
              <a:rPr sz="2400" b="1" spc="-25" dirty="0">
                <a:solidFill>
                  <a:srgbClr val="FDFDFD"/>
                </a:solidFill>
                <a:latin typeface="Trebuchet MS"/>
                <a:cs typeface="Trebuchet MS"/>
              </a:rPr>
              <a:t> the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reliability</a:t>
            </a:r>
            <a:r>
              <a:rPr sz="2400" b="1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2400" b="1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any</a:t>
            </a:r>
            <a:r>
              <a:rPr sz="2400" b="1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DFDFD"/>
                </a:solidFill>
                <a:latin typeface="Trebuchet MS"/>
                <a:cs typeface="Trebuchet MS"/>
              </a:rPr>
              <a:t>such</a:t>
            </a:r>
            <a:r>
              <a:rPr sz="2400" b="1" spc="-10" dirty="0">
                <a:solidFill>
                  <a:srgbClr val="FDFDFD"/>
                </a:solidFill>
                <a:latin typeface="Trebuchet MS"/>
                <a:cs typeface="Trebuchet MS"/>
              </a:rPr>
              <a:t> data.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6310" y="781558"/>
            <a:ext cx="3434690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Section</a:t>
            </a:r>
            <a:r>
              <a:rPr spc="-140" dirty="0"/>
              <a:t> </a:t>
            </a:r>
            <a:r>
              <a:rPr spc="-50" dirty="0"/>
              <a:t>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3508" y="1449705"/>
            <a:ext cx="8166100" cy="3277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5430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It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</a:t>
            </a:r>
            <a:r>
              <a:rPr sz="2000" spc="-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offence</a:t>
            </a:r>
            <a:r>
              <a:rPr sz="20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created</a:t>
            </a:r>
            <a:r>
              <a:rPr sz="20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by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Section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3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gives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Act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its</a:t>
            </a:r>
            <a:r>
              <a:rPr sz="20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power.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For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example,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it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makes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each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following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20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criminal</a:t>
            </a:r>
            <a:r>
              <a:rPr sz="20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offence:</a:t>
            </a:r>
            <a:endParaRPr sz="2000">
              <a:latin typeface="Trebuchet MS"/>
              <a:cs typeface="Trebuchet MS"/>
            </a:endParaRPr>
          </a:p>
          <a:p>
            <a:pPr marL="431165" indent="-418465">
              <a:lnSpc>
                <a:spcPct val="100000"/>
              </a:lnSpc>
              <a:spcBef>
                <a:spcPts val="995"/>
              </a:spcBef>
              <a:buClr>
                <a:srgbClr val="90C225"/>
              </a:buClr>
              <a:buSzPct val="80000"/>
              <a:buFont typeface="Tahoma"/>
              <a:buChar char="►"/>
              <a:tabLst>
                <a:tab pos="431165" algn="l"/>
              </a:tabLst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intentionally</a:t>
            </a:r>
            <a:r>
              <a:rPr sz="2000" spc="-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spreading</a:t>
            </a:r>
            <a:r>
              <a:rPr sz="20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virus,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worm,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other</a:t>
            </a:r>
            <a:r>
              <a:rPr sz="20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pest;</a:t>
            </a:r>
            <a:endParaRPr sz="2000">
              <a:latin typeface="Trebuchet MS"/>
              <a:cs typeface="Trebuchet MS"/>
            </a:endParaRPr>
          </a:p>
          <a:p>
            <a:pPr marL="431165" indent="-418465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80000"/>
              <a:buFont typeface="Tahoma"/>
              <a:buChar char="►"/>
              <a:tabLst>
                <a:tab pos="431165" algn="l"/>
              </a:tabLst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encrypting</a:t>
            </a:r>
            <a:r>
              <a:rPr sz="20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company’s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data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files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demanding</a:t>
            </a:r>
            <a:r>
              <a:rPr sz="20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ransom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for</a:t>
            </a:r>
            <a:endParaRPr sz="20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revealing</a:t>
            </a:r>
            <a:r>
              <a:rPr sz="2000" spc="-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key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required</a:t>
            </a:r>
            <a:r>
              <a:rPr sz="20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decrypt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it;</a:t>
            </a:r>
            <a:endParaRPr sz="2000">
              <a:latin typeface="Trebuchet MS"/>
              <a:cs typeface="Trebuchet MS"/>
            </a:endParaRPr>
          </a:p>
          <a:p>
            <a:pPr marL="431165" indent="-418465">
              <a:lnSpc>
                <a:spcPct val="100000"/>
              </a:lnSpc>
              <a:spcBef>
                <a:spcPts val="1005"/>
              </a:spcBef>
              <a:buClr>
                <a:srgbClr val="90C225"/>
              </a:buClr>
              <a:buSzPct val="80000"/>
              <a:buFont typeface="Tahoma"/>
              <a:buChar char="►"/>
              <a:tabLst>
                <a:tab pos="431165" algn="l"/>
              </a:tabLst>
            </a:pP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concealed</a:t>
            </a:r>
            <a:r>
              <a:rPr sz="20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redirection</a:t>
            </a:r>
            <a:r>
              <a:rPr sz="2000" spc="-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browser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home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pages;</a:t>
            </a:r>
            <a:endParaRPr sz="200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spcBef>
                <a:spcPts val="994"/>
              </a:spcBef>
              <a:buChar char="►"/>
              <a:tabLst>
                <a:tab pos="355600" algn="l"/>
                <a:tab pos="431165" algn="l"/>
              </a:tabLst>
            </a:pPr>
            <a:r>
              <a:rPr sz="1600" dirty="0">
                <a:solidFill>
                  <a:srgbClr val="90C225"/>
                </a:solidFill>
                <a:latin typeface="Tahoma"/>
                <a:cs typeface="Tahoma"/>
              </a:rPr>
              <a:t>	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implanting</a:t>
            </a:r>
            <a:r>
              <a:rPr sz="20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premium</a:t>
            </a:r>
            <a:r>
              <a:rPr sz="20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rate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dialers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(that</a:t>
            </a:r>
            <a:r>
              <a:rPr sz="20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is,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programs</a:t>
            </a:r>
            <a:r>
              <a:rPr sz="20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20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replace</a:t>
            </a:r>
            <a:r>
              <a:rPr sz="20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the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normal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dial-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up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code</a:t>
            </a:r>
            <a:r>
              <a:rPr sz="20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for</a:t>
            </a:r>
            <a:r>
              <a:rPr sz="20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computer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with</a:t>
            </a:r>
            <a:r>
              <a:rPr sz="2000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0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code</a:t>
            </a:r>
            <a:r>
              <a:rPr sz="20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for</a:t>
            </a:r>
            <a:r>
              <a:rPr sz="20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2000" spc="-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premium </a:t>
            </a:r>
            <a:r>
              <a:rPr sz="2000" dirty="0">
                <a:solidFill>
                  <a:srgbClr val="FDFDFD"/>
                </a:solidFill>
                <a:latin typeface="Trebuchet MS"/>
                <a:cs typeface="Trebuchet MS"/>
              </a:rPr>
              <a:t>rate</a:t>
            </a:r>
            <a:r>
              <a:rPr sz="20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DFDFD"/>
                </a:solidFill>
                <a:latin typeface="Trebuchet MS"/>
                <a:cs typeface="Trebuchet MS"/>
              </a:rPr>
              <a:t>service).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Section</a:t>
            </a:r>
            <a:r>
              <a:rPr spc="-140" dirty="0"/>
              <a:t> </a:t>
            </a:r>
            <a:r>
              <a:rPr spc="-50" dirty="0"/>
              <a:t>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Computer </a:t>
            </a:r>
            <a:r>
              <a:rPr spc="-10" dirty="0"/>
              <a:t>fraud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1217886"/>
            <a:ext cx="8211820" cy="428053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4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Law</a:t>
            </a:r>
            <a:r>
              <a:rPr sz="2400" spc="-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Commission</a:t>
            </a:r>
            <a:r>
              <a:rPr sz="24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defined</a:t>
            </a:r>
            <a:r>
              <a:rPr sz="24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computer</a:t>
            </a:r>
            <a:r>
              <a:rPr sz="24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fraud</a:t>
            </a:r>
            <a:r>
              <a:rPr sz="24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FDFDFD"/>
                </a:solidFill>
                <a:latin typeface="Trebuchet MS"/>
                <a:cs typeface="Trebuchet MS"/>
              </a:rPr>
              <a:t>as:</a:t>
            </a: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ct val="80000"/>
              </a:lnSpc>
              <a:spcBef>
                <a:spcPts val="994"/>
              </a:spcBef>
            </a:pP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.</a:t>
            </a:r>
            <a:r>
              <a:rPr sz="24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.</a:t>
            </a:r>
            <a:r>
              <a:rPr sz="24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.</a:t>
            </a:r>
            <a:r>
              <a:rPr sz="24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FDFDFD"/>
                </a:solidFill>
                <a:latin typeface="Trebuchet MS"/>
                <a:cs typeface="Trebuchet MS"/>
              </a:rPr>
              <a:t>conduct</a:t>
            </a:r>
            <a:r>
              <a:rPr sz="2400" i="1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2400" i="1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FDFDFD"/>
                </a:solidFill>
                <a:latin typeface="Trebuchet MS"/>
                <a:cs typeface="Trebuchet MS"/>
              </a:rPr>
              <a:t>involves</a:t>
            </a:r>
            <a:r>
              <a:rPr sz="2400" i="1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400" i="1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FDFDFD"/>
                </a:solidFill>
                <a:latin typeface="Trebuchet MS"/>
                <a:cs typeface="Trebuchet MS"/>
              </a:rPr>
              <a:t>manipulation</a:t>
            </a:r>
            <a:r>
              <a:rPr sz="2400" i="1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2400" i="1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2400" i="1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i="1" spc="-10" dirty="0">
                <a:solidFill>
                  <a:srgbClr val="FDFDFD"/>
                </a:solidFill>
                <a:latin typeface="Trebuchet MS"/>
                <a:cs typeface="Trebuchet MS"/>
              </a:rPr>
              <a:t>computer, </a:t>
            </a:r>
            <a:r>
              <a:rPr sz="2400" i="1" dirty="0">
                <a:solidFill>
                  <a:srgbClr val="FDFDFD"/>
                </a:solidFill>
                <a:latin typeface="Trebuchet MS"/>
                <a:cs typeface="Trebuchet MS"/>
              </a:rPr>
              <a:t>by</a:t>
            </a:r>
            <a:r>
              <a:rPr sz="2400" i="1" spc="-8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FDFDFD"/>
                </a:solidFill>
                <a:latin typeface="Trebuchet MS"/>
                <a:cs typeface="Trebuchet MS"/>
              </a:rPr>
              <a:t>whatever</a:t>
            </a:r>
            <a:r>
              <a:rPr sz="2400" i="1" spc="-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FDFDFD"/>
                </a:solidFill>
                <a:latin typeface="Trebuchet MS"/>
                <a:cs typeface="Trebuchet MS"/>
              </a:rPr>
              <a:t>method,</a:t>
            </a:r>
            <a:r>
              <a:rPr sz="2400" i="1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FDFDFD"/>
                </a:solidFill>
                <a:latin typeface="Trebuchet MS"/>
                <a:cs typeface="Trebuchet MS"/>
              </a:rPr>
              <a:t>dishonestly</a:t>
            </a:r>
            <a:r>
              <a:rPr sz="2400" i="1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FDFDFD"/>
                </a:solidFill>
                <a:latin typeface="Trebuchet MS"/>
                <a:cs typeface="Trebuchet MS"/>
              </a:rPr>
              <a:t>obtain</a:t>
            </a:r>
            <a:r>
              <a:rPr sz="2400" i="1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FDFDFD"/>
                </a:solidFill>
                <a:latin typeface="Trebuchet MS"/>
                <a:cs typeface="Trebuchet MS"/>
              </a:rPr>
              <a:t>money,</a:t>
            </a:r>
            <a:r>
              <a:rPr sz="2400" i="1" spc="-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i="1" spc="-10" dirty="0">
                <a:solidFill>
                  <a:srgbClr val="FDFDFD"/>
                </a:solidFill>
                <a:latin typeface="Trebuchet MS"/>
                <a:cs typeface="Trebuchet MS"/>
              </a:rPr>
              <a:t>property, </a:t>
            </a:r>
            <a:r>
              <a:rPr sz="2400" i="1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r>
              <a:rPr sz="2400" i="1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FDFDFD"/>
                </a:solidFill>
                <a:latin typeface="Trebuchet MS"/>
                <a:cs typeface="Trebuchet MS"/>
              </a:rPr>
              <a:t>some</a:t>
            </a:r>
            <a:r>
              <a:rPr sz="2400" i="1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FDFDFD"/>
                </a:solidFill>
                <a:latin typeface="Trebuchet MS"/>
                <a:cs typeface="Trebuchet MS"/>
              </a:rPr>
              <a:t>other</a:t>
            </a:r>
            <a:r>
              <a:rPr sz="2400" i="1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FDFDFD"/>
                </a:solidFill>
                <a:latin typeface="Trebuchet MS"/>
                <a:cs typeface="Trebuchet MS"/>
              </a:rPr>
              <a:t>advantage</a:t>
            </a:r>
            <a:r>
              <a:rPr sz="2400" i="1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2400" i="1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FDFDFD"/>
                </a:solidFill>
                <a:latin typeface="Trebuchet MS"/>
                <a:cs typeface="Trebuchet MS"/>
              </a:rPr>
              <a:t>value,</a:t>
            </a:r>
            <a:r>
              <a:rPr sz="2400" i="1" spc="-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r>
              <a:rPr sz="2400" i="1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400" i="1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FDFDFD"/>
                </a:solidFill>
                <a:latin typeface="Trebuchet MS"/>
                <a:cs typeface="Trebuchet MS"/>
              </a:rPr>
              <a:t>cause</a:t>
            </a:r>
            <a:r>
              <a:rPr sz="2400" i="1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i="1" spc="-10" dirty="0">
                <a:solidFill>
                  <a:srgbClr val="FDFDFD"/>
                </a:solidFill>
                <a:latin typeface="Trebuchet MS"/>
                <a:cs typeface="Trebuchet MS"/>
              </a:rPr>
              <a:t>loss.</a:t>
            </a:r>
            <a:endParaRPr sz="2400">
              <a:latin typeface="Trebuchet MS"/>
              <a:cs typeface="Trebuchet MS"/>
            </a:endParaRPr>
          </a:p>
          <a:p>
            <a:pPr marL="12700" marR="1315720">
              <a:lnSpc>
                <a:spcPct val="100000"/>
              </a:lnSpc>
              <a:spcBef>
                <a:spcPts val="1010"/>
              </a:spcBef>
            </a:pP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Computer</a:t>
            </a:r>
            <a:r>
              <a:rPr sz="24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fraud</a:t>
            </a:r>
            <a:r>
              <a:rPr sz="2400" spc="-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involves</a:t>
            </a:r>
            <a:r>
              <a:rPr sz="2400" spc="-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manipulating</a:t>
            </a:r>
            <a:r>
              <a:rPr sz="24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2400" spc="-8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computer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dishonestly</a:t>
            </a:r>
            <a:r>
              <a:rPr sz="24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2400" spc="-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order</a:t>
            </a:r>
            <a:r>
              <a:rPr sz="24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400" spc="-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obtain</a:t>
            </a:r>
            <a:endParaRPr sz="24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9166"/>
              <a:buFont typeface="Tahoma"/>
              <a:buChar char="►"/>
              <a:tabLst>
                <a:tab pos="355600" algn="l"/>
              </a:tabLst>
            </a:pP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money,</a:t>
            </a:r>
            <a:endParaRPr sz="24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79166"/>
              <a:buFont typeface="Tahoma"/>
              <a:buChar char="►"/>
              <a:tabLst>
                <a:tab pos="355600" algn="l"/>
              </a:tabLst>
            </a:pP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property,</a:t>
            </a:r>
            <a:endParaRPr sz="24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005"/>
              </a:spcBef>
              <a:buClr>
                <a:srgbClr val="90C225"/>
              </a:buClr>
              <a:buSzPct val="79166"/>
              <a:buFont typeface="Tahoma"/>
              <a:buChar char="►"/>
              <a:tabLst>
                <a:tab pos="355600" algn="l"/>
              </a:tabLst>
            </a:pP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r>
              <a:rPr sz="2400" spc="-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services,</a:t>
            </a:r>
            <a:endParaRPr sz="24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79166"/>
              <a:buFont typeface="Tahoma"/>
              <a:buChar char="►"/>
              <a:tabLst>
                <a:tab pos="355600" algn="l"/>
              </a:tabLst>
            </a:pP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r>
              <a:rPr sz="24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24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cause</a:t>
            </a:r>
            <a:r>
              <a:rPr sz="24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loss.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Fraud</a:t>
            </a:r>
            <a:r>
              <a:rPr spc="-35" dirty="0"/>
              <a:t> </a:t>
            </a:r>
            <a:r>
              <a:rPr spc="-10" dirty="0"/>
              <a:t>techniques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1774063"/>
            <a:ext cx="8023859" cy="2967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144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Most</a:t>
            </a:r>
            <a:r>
              <a:rPr sz="24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24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4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techniques</a:t>
            </a:r>
            <a:r>
              <a:rPr sz="2400" spc="-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24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are</a:t>
            </a:r>
            <a:r>
              <a:rPr sz="24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used</a:t>
            </a:r>
            <a:r>
              <a:rPr sz="24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are</a:t>
            </a:r>
            <a:r>
              <a:rPr sz="24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much</a:t>
            </a:r>
            <a:r>
              <a:rPr sz="24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older</a:t>
            </a:r>
            <a:r>
              <a:rPr sz="24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FDFDFD"/>
                </a:solidFill>
                <a:latin typeface="Trebuchet MS"/>
                <a:cs typeface="Trebuchet MS"/>
              </a:rPr>
              <a:t>than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computers.</a:t>
            </a:r>
            <a:r>
              <a:rPr sz="24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Such</a:t>
            </a:r>
            <a:r>
              <a:rPr sz="2400" spc="-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tricks</a:t>
            </a:r>
            <a:r>
              <a:rPr sz="24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FDFDFD"/>
                </a:solidFill>
                <a:latin typeface="Trebuchet MS"/>
                <a:cs typeface="Trebuchet MS"/>
              </a:rPr>
              <a:t>as</a:t>
            </a:r>
            <a:endParaRPr sz="24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9166"/>
              <a:buFont typeface="Tahoma"/>
              <a:buChar char="►"/>
              <a:tabLst>
                <a:tab pos="355600" algn="l"/>
              </a:tabLst>
            </a:pP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placing</a:t>
            </a:r>
            <a:r>
              <a:rPr sz="2400" spc="-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fictitious</a:t>
            </a:r>
            <a:r>
              <a:rPr sz="24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employees</a:t>
            </a:r>
            <a:r>
              <a:rPr sz="2400" spc="-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on</a:t>
            </a:r>
            <a:r>
              <a:rPr sz="2400" spc="-8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400" spc="-8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payroll</a:t>
            </a:r>
            <a:r>
              <a:rPr sz="24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endParaRPr sz="2400">
              <a:latin typeface="Trebuchet MS"/>
              <a:cs typeface="Trebuchet MS"/>
            </a:endParaRPr>
          </a:p>
          <a:p>
            <a:pPr marL="355600" marR="52705" indent="-342900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79166"/>
              <a:buFont typeface="Tahoma"/>
              <a:buChar char="►"/>
              <a:tabLst>
                <a:tab pos="355600" algn="l"/>
              </a:tabLst>
            </a:pP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setting</a:t>
            </a:r>
            <a:r>
              <a:rPr sz="2400" spc="-7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up</a:t>
            </a:r>
            <a:r>
              <a:rPr sz="2400" spc="-8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false</a:t>
            </a:r>
            <a:r>
              <a:rPr sz="24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supplier</a:t>
            </a:r>
            <a:r>
              <a:rPr sz="2400" spc="-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accounts</a:t>
            </a:r>
            <a:r>
              <a:rPr sz="2400" spc="-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2400" spc="-9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creating</a:t>
            </a:r>
            <a:r>
              <a:rPr sz="2400" spc="-7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spurious invoices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are</a:t>
            </a:r>
            <a:r>
              <a:rPr sz="24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still</a:t>
            </a:r>
            <a:r>
              <a:rPr sz="24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24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commonest</a:t>
            </a:r>
            <a:r>
              <a:rPr sz="24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type</a:t>
            </a:r>
            <a:r>
              <a:rPr sz="24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2400" spc="-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fraud</a:t>
            </a:r>
            <a:r>
              <a:rPr sz="2400" spc="-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as</a:t>
            </a:r>
            <a:r>
              <a:rPr sz="2400" spc="-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they</a:t>
            </a:r>
            <a:r>
              <a:rPr sz="2400" spc="-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were</a:t>
            </a:r>
            <a:r>
              <a:rPr sz="2400" spc="-3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before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FDFDFD"/>
                </a:solidFill>
                <a:latin typeface="Trebuchet MS"/>
                <a:cs typeface="Trebuchet MS"/>
              </a:rPr>
              <a:t>computers</a:t>
            </a:r>
            <a:r>
              <a:rPr sz="2400" spc="-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DFDFD"/>
                </a:solidFill>
                <a:latin typeface="Trebuchet MS"/>
                <a:cs typeface="Trebuchet MS"/>
              </a:rPr>
              <a:t>appeared.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310" y="630682"/>
            <a:ext cx="30137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90C225"/>
                </a:solidFill>
                <a:latin typeface="Trebuchet MS"/>
                <a:cs typeface="Trebuchet MS"/>
              </a:rPr>
              <a:t>Computer</a:t>
            </a:r>
            <a:r>
              <a:rPr sz="3200" spc="-70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90C225"/>
                </a:solidFill>
                <a:latin typeface="Trebuchet MS"/>
                <a:cs typeface="Trebuchet MS"/>
              </a:rPr>
              <a:t>Crime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6310" y="1384172"/>
            <a:ext cx="42373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703830" algn="l"/>
              </a:tabLst>
            </a:pPr>
            <a:r>
              <a:rPr sz="3200" spc="-10" dirty="0">
                <a:solidFill>
                  <a:srgbClr val="FDFDFD"/>
                </a:solidFill>
                <a:latin typeface="Trebuchet MS"/>
                <a:cs typeface="Trebuchet MS"/>
              </a:rPr>
              <a:t>Alternatively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3200" spc="-10" dirty="0">
                <a:solidFill>
                  <a:srgbClr val="FDFDFD"/>
                </a:solidFill>
                <a:latin typeface="Trebuchet MS"/>
                <a:cs typeface="Trebuchet MS"/>
              </a:rPr>
              <a:t>referred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01234" y="1384172"/>
            <a:ext cx="40703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5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13196" y="1384172"/>
            <a:ext cx="38201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23900" algn="l"/>
                <a:tab pos="2066925" algn="l"/>
                <a:tab pos="3584575" algn="l"/>
              </a:tabLst>
            </a:pPr>
            <a:r>
              <a:rPr sz="3200" spc="-25" dirty="0">
                <a:solidFill>
                  <a:srgbClr val="FDFDFD"/>
                </a:solidFill>
                <a:latin typeface="Trebuchet MS"/>
                <a:cs typeface="Trebuchet MS"/>
              </a:rPr>
              <a:t>as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3200" spc="-10" dirty="0">
                <a:solidFill>
                  <a:srgbClr val="FDFDFD"/>
                </a:solidFill>
                <a:latin typeface="Trebuchet MS"/>
                <a:cs typeface="Trebuchet MS"/>
              </a:rPr>
              <a:t>cyber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3200" spc="-10" dirty="0">
                <a:solidFill>
                  <a:srgbClr val="FDFDFD"/>
                </a:solidFill>
                <a:latin typeface="Trebuchet MS"/>
                <a:cs typeface="Trebuchet MS"/>
              </a:rPr>
              <a:t>crime,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3200" spc="-50" dirty="0">
                <a:solidFill>
                  <a:srgbClr val="FDFDFD"/>
                </a:solidFill>
                <a:latin typeface="Trebuchet MS"/>
                <a:cs typeface="Trebuchet MS"/>
              </a:rPr>
              <a:t>e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6310" y="1774317"/>
            <a:ext cx="38461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88820" algn="l"/>
              </a:tabLst>
            </a:pPr>
            <a:r>
              <a:rPr sz="3200" spc="-10" dirty="0">
                <a:solidFill>
                  <a:srgbClr val="FDFDFD"/>
                </a:solidFill>
                <a:latin typeface="Trebuchet MS"/>
                <a:cs typeface="Trebuchet MS"/>
              </a:rPr>
              <a:t>crime,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3200" spc="-10" dirty="0">
                <a:solidFill>
                  <a:srgbClr val="FDFDFD"/>
                </a:solidFill>
                <a:latin typeface="Trebuchet MS"/>
                <a:cs typeface="Trebuchet MS"/>
              </a:rPr>
              <a:t>electronic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68290" y="1774317"/>
            <a:ext cx="44640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87550" algn="l"/>
                <a:tab pos="3155315" algn="l"/>
              </a:tabLst>
            </a:pPr>
            <a:r>
              <a:rPr sz="3200" spc="-10" dirty="0">
                <a:solidFill>
                  <a:srgbClr val="FDFDFD"/>
                </a:solidFill>
                <a:latin typeface="Trebuchet MS"/>
                <a:cs typeface="Trebuchet MS"/>
              </a:rPr>
              <a:t>crime,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3200" spc="-25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3200" spc="-10" dirty="0">
                <a:solidFill>
                  <a:srgbClr val="FDFDFD"/>
                </a:solidFill>
                <a:latin typeface="Trebuchet MS"/>
                <a:cs typeface="Trebuchet MS"/>
              </a:rPr>
              <a:t>hi-</a:t>
            </a:r>
            <a:r>
              <a:rPr sz="3200" spc="-20" dirty="0">
                <a:solidFill>
                  <a:srgbClr val="FDFDFD"/>
                </a:solidFill>
                <a:latin typeface="Trebuchet MS"/>
                <a:cs typeface="Trebuchet MS"/>
              </a:rPr>
              <a:t>tech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6310" y="2164156"/>
            <a:ext cx="90766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82395" algn="l"/>
                <a:tab pos="4744720" algn="l"/>
                <a:tab pos="5367020" algn="l"/>
                <a:tab pos="6129020" algn="l"/>
                <a:tab pos="8236584" algn="l"/>
                <a:tab pos="8849360" algn="l"/>
              </a:tabLst>
            </a:pPr>
            <a:r>
              <a:rPr sz="3200" spc="-10" dirty="0">
                <a:solidFill>
                  <a:srgbClr val="FDFDFD"/>
                </a:solidFill>
                <a:latin typeface="Trebuchet MS"/>
                <a:cs typeface="Trebuchet MS"/>
              </a:rPr>
              <a:t>crime.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	Computer</a:t>
            </a:r>
            <a:r>
              <a:rPr sz="3200" spc="47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FDFDFD"/>
                </a:solidFill>
                <a:latin typeface="Trebuchet MS"/>
                <a:cs typeface="Trebuchet MS"/>
              </a:rPr>
              <a:t>crimes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3200" spc="-25" dirty="0">
                <a:solidFill>
                  <a:srgbClr val="FDFDFD"/>
                </a:solidFill>
                <a:latin typeface="Trebuchet MS"/>
                <a:cs typeface="Trebuchet MS"/>
              </a:rPr>
              <a:t>an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3200" spc="-25" dirty="0">
                <a:solidFill>
                  <a:srgbClr val="FDFDFD"/>
                </a:solidFill>
                <a:latin typeface="Trebuchet MS"/>
                <a:cs typeface="Trebuchet MS"/>
              </a:rPr>
              <a:t>act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3200" spc="-10" dirty="0">
                <a:solidFill>
                  <a:srgbClr val="FDFDFD"/>
                </a:solidFill>
                <a:latin typeface="Trebuchet MS"/>
                <a:cs typeface="Trebuchet MS"/>
              </a:rPr>
              <a:t>performed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3200" spc="-25" dirty="0">
                <a:solidFill>
                  <a:srgbClr val="FDFDFD"/>
                </a:solidFill>
                <a:latin typeface="Trebuchet MS"/>
                <a:cs typeface="Trebuchet MS"/>
              </a:rPr>
              <a:t>by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	</a:t>
            </a:r>
            <a:r>
              <a:rPr sz="3200" spc="-5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6310" y="2554986"/>
            <a:ext cx="27514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FDFDFD"/>
                </a:solidFill>
                <a:latin typeface="Trebuchet MS"/>
                <a:cs typeface="Trebuchet MS"/>
              </a:rPr>
              <a:t>knowledgeable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54602" y="2554986"/>
            <a:ext cx="17735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FDFDFD"/>
                </a:solidFill>
                <a:latin typeface="Trebuchet MS"/>
                <a:cs typeface="Trebuchet MS"/>
              </a:rPr>
              <a:t>computer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72859" y="2554986"/>
            <a:ext cx="9436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FDFDFD"/>
                </a:solidFill>
                <a:latin typeface="Trebuchet MS"/>
                <a:cs typeface="Trebuchet MS"/>
              </a:rPr>
              <a:t>user,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60538" y="2554986"/>
            <a:ext cx="19723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FDFDFD"/>
                </a:solidFill>
                <a:latin typeface="Trebuchet MS"/>
                <a:cs typeface="Trebuchet MS"/>
              </a:rPr>
              <a:t>sometimes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6310" y="2945130"/>
            <a:ext cx="9076690" cy="207454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 marR="5080" algn="just">
              <a:lnSpc>
                <a:spcPct val="80000"/>
              </a:lnSpc>
              <a:spcBef>
                <a:spcPts val="869"/>
              </a:spcBef>
            </a:pP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referred</a:t>
            </a:r>
            <a:r>
              <a:rPr sz="3200" spc="2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to</a:t>
            </a:r>
            <a:r>
              <a:rPr sz="3200" spc="23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as</a:t>
            </a:r>
            <a:r>
              <a:rPr sz="3200" spc="24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3200" spc="2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hacker</a:t>
            </a:r>
            <a:r>
              <a:rPr sz="3200" spc="25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that</a:t>
            </a:r>
            <a:r>
              <a:rPr sz="3200" spc="2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illegally</a:t>
            </a:r>
            <a:r>
              <a:rPr sz="3200" spc="2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browses</a:t>
            </a:r>
            <a:r>
              <a:rPr sz="3200" spc="24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200" spc="-25" dirty="0">
                <a:solidFill>
                  <a:srgbClr val="FDFDFD"/>
                </a:solidFill>
                <a:latin typeface="Trebuchet MS"/>
                <a:cs typeface="Trebuchet MS"/>
              </a:rPr>
              <a:t>or 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steals</a:t>
            </a:r>
            <a:r>
              <a:rPr sz="3200" spc="78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a</a:t>
            </a:r>
            <a:r>
              <a:rPr sz="3200" spc="78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company's</a:t>
            </a:r>
            <a:r>
              <a:rPr sz="3200" spc="78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r>
              <a:rPr sz="3200" spc="780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individual's</a:t>
            </a:r>
            <a:r>
              <a:rPr sz="3200" spc="785" dirty="0">
                <a:solidFill>
                  <a:srgbClr val="FDFDFD"/>
                </a:solidFill>
                <a:latin typeface="Trebuchet MS"/>
                <a:cs typeface="Trebuchet MS"/>
              </a:rPr>
              <a:t>  </a:t>
            </a:r>
            <a:r>
              <a:rPr sz="3200" spc="-10" dirty="0">
                <a:solidFill>
                  <a:srgbClr val="FDFDFD"/>
                </a:solidFill>
                <a:latin typeface="Trebuchet MS"/>
                <a:cs typeface="Trebuchet MS"/>
              </a:rPr>
              <a:t>private 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information.</a:t>
            </a:r>
            <a:r>
              <a:rPr sz="3200" spc="2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In</a:t>
            </a:r>
            <a:r>
              <a:rPr sz="3200" spc="21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some</a:t>
            </a:r>
            <a:r>
              <a:rPr sz="3200" spc="2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cases,</a:t>
            </a:r>
            <a:r>
              <a:rPr sz="3200" spc="21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this</a:t>
            </a:r>
            <a:r>
              <a:rPr sz="3200" spc="229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person</a:t>
            </a:r>
            <a:r>
              <a:rPr sz="3200" spc="22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r>
              <a:rPr sz="3200" spc="22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FDFDFD"/>
                </a:solidFill>
                <a:latin typeface="Trebuchet MS"/>
                <a:cs typeface="Trebuchet MS"/>
              </a:rPr>
              <a:t>group 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of</a:t>
            </a:r>
            <a:r>
              <a:rPr sz="3200" spc="55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individuals</a:t>
            </a:r>
            <a:r>
              <a:rPr sz="3200" spc="5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may</a:t>
            </a:r>
            <a:r>
              <a:rPr sz="3200" spc="56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be</a:t>
            </a:r>
            <a:r>
              <a:rPr sz="3200" spc="5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malicious</a:t>
            </a:r>
            <a:r>
              <a:rPr sz="3200" spc="5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and</a:t>
            </a:r>
            <a:r>
              <a:rPr sz="3200" spc="57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destroy</a:t>
            </a:r>
            <a:r>
              <a:rPr sz="3200" spc="56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200" spc="-25" dirty="0">
                <a:solidFill>
                  <a:srgbClr val="FDFDFD"/>
                </a:solidFill>
                <a:latin typeface="Trebuchet MS"/>
                <a:cs typeface="Trebuchet MS"/>
              </a:rPr>
              <a:t>or 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otherwise</a:t>
            </a:r>
            <a:r>
              <a:rPr sz="3200" spc="-10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corrupt</a:t>
            </a:r>
            <a:r>
              <a:rPr sz="3200" spc="-8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the</a:t>
            </a:r>
            <a:r>
              <a:rPr sz="3200" spc="-10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computer</a:t>
            </a:r>
            <a:r>
              <a:rPr sz="3200" spc="-9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or</a:t>
            </a:r>
            <a:r>
              <a:rPr sz="3200" spc="-105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DFDFD"/>
                </a:solidFill>
                <a:latin typeface="Trebuchet MS"/>
                <a:cs typeface="Trebuchet MS"/>
              </a:rPr>
              <a:t>data</a:t>
            </a:r>
            <a:r>
              <a:rPr sz="3200" spc="-80" dirty="0">
                <a:solidFill>
                  <a:srgbClr val="FDFDFD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FDFDFD"/>
                </a:solidFill>
                <a:latin typeface="Trebuchet MS"/>
                <a:cs typeface="Trebuchet MS"/>
              </a:rPr>
              <a:t>files.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</TotalTime>
  <Words>3571</Words>
  <Application>Microsoft Office PowerPoint</Application>
  <PresentationFormat>Widescreen</PresentationFormat>
  <Paragraphs>201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Century Gothic</vt:lpstr>
      <vt:lpstr>Segoe UI Symbol</vt:lpstr>
      <vt:lpstr>Tahoma</vt:lpstr>
      <vt:lpstr>Trebuchet MS</vt:lpstr>
      <vt:lpstr>Wingdings 3</vt:lpstr>
      <vt:lpstr>Ion</vt:lpstr>
      <vt:lpstr>Professional Issues in IT</vt:lpstr>
      <vt:lpstr>Internet Issues</vt:lpstr>
      <vt:lpstr>Problems of internet availability</vt:lpstr>
      <vt:lpstr>Problems of internet availability</vt:lpstr>
      <vt:lpstr>Availability of internet playing the role</vt:lpstr>
      <vt:lpstr>INTERNET SERVICE PROVIDERS</vt:lpstr>
      <vt:lpstr>Caching</vt:lpstr>
      <vt:lpstr>Hosting</vt:lpstr>
      <vt:lpstr>ISP</vt:lpstr>
      <vt:lpstr>Law across National Boundaries</vt:lpstr>
      <vt:lpstr>Criminal law</vt:lpstr>
      <vt:lpstr>PowerPoint Presentation</vt:lpstr>
      <vt:lpstr>Internet Crime</vt:lpstr>
      <vt:lpstr>Convention on Cybercrime</vt:lpstr>
      <vt:lpstr>Civil Law</vt:lpstr>
      <vt:lpstr>DEFAMATION</vt:lpstr>
      <vt:lpstr>DEFAMATION</vt:lpstr>
      <vt:lpstr>Case Study</vt:lpstr>
      <vt:lpstr>Defamation Act</vt:lpstr>
      <vt:lpstr>The Internet Content Rating Association</vt:lpstr>
      <vt:lpstr>PowerPoint Presentation</vt:lpstr>
      <vt:lpstr>Stopping Spams</vt:lpstr>
      <vt:lpstr>European legislation</vt:lpstr>
      <vt:lpstr>Essential features</vt:lpstr>
      <vt:lpstr>Legislation in the USA</vt:lpstr>
      <vt:lpstr>Legislation in the USA</vt:lpstr>
      <vt:lpstr>Registration</vt:lpstr>
      <vt:lpstr>Registration</vt:lpstr>
      <vt:lpstr>COOKIES AND USER TRACKING</vt:lpstr>
      <vt:lpstr>THE COMPUTER MISUSE ACT 1990</vt:lpstr>
      <vt:lpstr>Section 1 of the Computer Misuse Act 1990</vt:lpstr>
      <vt:lpstr>Section 2</vt:lpstr>
      <vt:lpstr>Section 3</vt:lpstr>
      <vt:lpstr>Section 3</vt:lpstr>
      <vt:lpstr>Section 3</vt:lpstr>
      <vt:lpstr>Computer fraud</vt:lpstr>
      <vt:lpstr>Fraud techniques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SHAHAR BANO</dc:creator>
  <cp:lastModifiedBy>Murk</cp:lastModifiedBy>
  <cp:revision>2</cp:revision>
  <dcterms:created xsi:type="dcterms:W3CDTF">2025-11-30T10:45:36Z</dcterms:created>
  <dcterms:modified xsi:type="dcterms:W3CDTF">2025-11-30T11:14:12Z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2024-11-29T00:00:00Z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2025-11-30T00:00:00Z</vt:filetime>
  </property>
  <property fmtid="{D5CDD505-2E9C-101B-9397-08002B2CF9AE}" pid="5" name="Producer">
    <vt:lpwstr>Microsoft® PowerPoint® 2019</vt:lpwstr>
  </property>
</Properties>
</file>