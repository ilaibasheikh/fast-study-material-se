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15"/>
  </p:notesMasterIdLst>
  <p:sldIdLst>
    <p:sldId id="531" r:id="rId2"/>
    <p:sldId id="566" r:id="rId3"/>
    <p:sldId id="567" r:id="rId4"/>
    <p:sldId id="568" r:id="rId5"/>
    <p:sldId id="569" r:id="rId6"/>
    <p:sldId id="570" r:id="rId7"/>
    <p:sldId id="571" r:id="rId8"/>
    <p:sldId id="572" r:id="rId9"/>
    <p:sldId id="573" r:id="rId10"/>
    <p:sldId id="574" r:id="rId11"/>
    <p:sldId id="575" r:id="rId12"/>
    <p:sldId id="577" r:id="rId13"/>
    <p:sldId id="576" r:id="rId1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12 - Book 1" id="{6AD22094-E808-4B57-8356-FF58102D8959}">
          <p14:sldIdLst>
            <p14:sldId id="531"/>
            <p14:sldId id="566"/>
            <p14:sldId id="567"/>
            <p14:sldId id="568"/>
            <p14:sldId id="569"/>
            <p14:sldId id="570"/>
            <p14:sldId id="571"/>
            <p14:sldId id="572"/>
            <p14:sldId id="573"/>
            <p14:sldId id="574"/>
            <p14:sldId id="575"/>
            <p14:sldId id="577"/>
            <p14:sldId id="5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76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079A92-CCBC-4662-B3EF-2EA1436E014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8939EE-192C-4DE6-925D-8DC66260A5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Self-Contained: Services should ideally operate independently, though they may have some dependencies.</a:t>
          </a:r>
        </a:p>
      </dgm:t>
    </dgm:pt>
    <dgm:pt modelId="{3414F9EC-8D21-405D-AC9B-4472BA74A0BB}" type="parTrans" cxnId="{83E250A7-C96C-4EEE-90F6-74EBE5FC5857}">
      <dgm:prSet/>
      <dgm:spPr/>
      <dgm:t>
        <a:bodyPr/>
        <a:lstStyle/>
        <a:p>
          <a:endParaRPr lang="en-US"/>
        </a:p>
      </dgm:t>
    </dgm:pt>
    <dgm:pt modelId="{10716330-11F4-4120-8107-18DE7071EA87}" type="sibTrans" cxnId="{83E250A7-C96C-4EEE-90F6-74EBE5FC5857}">
      <dgm:prSet/>
      <dgm:spPr/>
      <dgm:t>
        <a:bodyPr/>
        <a:lstStyle/>
        <a:p>
          <a:endParaRPr lang="en-US"/>
        </a:p>
      </dgm:t>
    </dgm:pt>
    <dgm:pt modelId="{19F704F0-AFBF-4ED0-A55F-5C6B0515B4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Coarse-Grained: Services should be larger in scope to improve performance and security.</a:t>
          </a:r>
        </a:p>
      </dgm:t>
    </dgm:pt>
    <dgm:pt modelId="{1AC23DBC-A2BA-43CF-8539-E6B819A248CD}" type="parTrans" cxnId="{29CB624F-BE95-42AE-A440-812A6DCEABA9}">
      <dgm:prSet/>
      <dgm:spPr/>
      <dgm:t>
        <a:bodyPr/>
        <a:lstStyle/>
        <a:p>
          <a:endParaRPr lang="en-US"/>
        </a:p>
      </dgm:t>
    </dgm:pt>
    <dgm:pt modelId="{296CD492-EE58-4C57-9A1B-4B3A29C51CEC}" type="sibTrans" cxnId="{29CB624F-BE95-42AE-A440-812A6DCEABA9}">
      <dgm:prSet/>
      <dgm:spPr/>
      <dgm:t>
        <a:bodyPr/>
        <a:lstStyle/>
        <a:p>
          <a:endParaRPr lang="en-US"/>
        </a:p>
      </dgm:t>
    </dgm:pt>
    <dgm:pt modelId="{013B5382-07F6-4045-A233-7F46936519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Stateless: Services should not maintain state between transactions, making them easier to manage.</a:t>
          </a:r>
        </a:p>
      </dgm:t>
    </dgm:pt>
    <dgm:pt modelId="{8AB86451-7D22-445E-A00E-5332FE9C64BB}" type="parTrans" cxnId="{48B2B8CF-6BA9-427A-A498-D146C9AD31EC}">
      <dgm:prSet/>
      <dgm:spPr/>
      <dgm:t>
        <a:bodyPr/>
        <a:lstStyle/>
        <a:p>
          <a:endParaRPr lang="en-US"/>
        </a:p>
      </dgm:t>
    </dgm:pt>
    <dgm:pt modelId="{F19DB3FA-6865-4D1A-B32D-F63B3CA915FF}" type="sibTrans" cxnId="{48B2B8CF-6BA9-427A-A498-D146C9AD31EC}">
      <dgm:prSet/>
      <dgm:spPr/>
      <dgm:t>
        <a:bodyPr/>
        <a:lstStyle/>
        <a:p>
          <a:endParaRPr lang="en-US"/>
        </a:p>
      </dgm:t>
    </dgm:pt>
    <dgm:pt modelId="{20B67A91-29CC-4D44-B89B-963DDD3B5B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Reusable: Services should be designed for reusability across different applications and business functions, avoiding redundancy.</a:t>
          </a:r>
        </a:p>
      </dgm:t>
    </dgm:pt>
    <dgm:pt modelId="{D9483213-70A6-480F-8F8E-158E5BD5D828}" type="parTrans" cxnId="{EA5D97C4-F6FE-4E4C-A681-74F10AFF453B}">
      <dgm:prSet/>
      <dgm:spPr/>
      <dgm:t>
        <a:bodyPr/>
        <a:lstStyle/>
        <a:p>
          <a:endParaRPr lang="en-US"/>
        </a:p>
      </dgm:t>
    </dgm:pt>
    <dgm:pt modelId="{C3DE01E5-996B-4E4D-989A-7CB8F0AF5EFF}" type="sibTrans" cxnId="{EA5D97C4-F6FE-4E4C-A681-74F10AFF453B}">
      <dgm:prSet/>
      <dgm:spPr/>
      <dgm:t>
        <a:bodyPr/>
        <a:lstStyle/>
        <a:p>
          <a:endParaRPr lang="en-US"/>
        </a:p>
      </dgm:t>
    </dgm:pt>
    <dgm:pt modelId="{84A80A09-B079-481C-A5A9-113FA7E8AD4C}" type="pres">
      <dgm:prSet presAssocID="{82079A92-CCBC-4662-B3EF-2EA1436E0141}" presName="root" presStyleCnt="0">
        <dgm:presLayoutVars>
          <dgm:dir/>
          <dgm:resizeHandles val="exact"/>
        </dgm:presLayoutVars>
      </dgm:prSet>
      <dgm:spPr/>
    </dgm:pt>
    <dgm:pt modelId="{B52DEDC7-E741-4296-94D2-009D7AD8C874}" type="pres">
      <dgm:prSet presAssocID="{658939EE-192C-4DE6-925D-8DC66260A5A3}" presName="compNode" presStyleCnt="0"/>
      <dgm:spPr/>
    </dgm:pt>
    <dgm:pt modelId="{CE8F98DC-66CC-4C9D-89F0-998A100939A7}" type="pres">
      <dgm:prSet presAssocID="{658939EE-192C-4DE6-925D-8DC66260A5A3}" presName="bgRect" presStyleLbl="bgShp" presStyleIdx="0" presStyleCnt="4"/>
      <dgm:spPr/>
    </dgm:pt>
    <dgm:pt modelId="{A245BFBA-CABC-47F0-82C4-724721ABBC91}" type="pres">
      <dgm:prSet presAssocID="{658939EE-192C-4DE6-925D-8DC66260A5A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09F2986E-BF29-4A39-982A-72DF54EB2B97}" type="pres">
      <dgm:prSet presAssocID="{658939EE-192C-4DE6-925D-8DC66260A5A3}" presName="spaceRect" presStyleCnt="0"/>
      <dgm:spPr/>
    </dgm:pt>
    <dgm:pt modelId="{D8FB7445-F451-443B-8790-14C05B681D7A}" type="pres">
      <dgm:prSet presAssocID="{658939EE-192C-4DE6-925D-8DC66260A5A3}" presName="parTx" presStyleLbl="revTx" presStyleIdx="0" presStyleCnt="4">
        <dgm:presLayoutVars>
          <dgm:chMax val="0"/>
          <dgm:chPref val="0"/>
        </dgm:presLayoutVars>
      </dgm:prSet>
      <dgm:spPr/>
    </dgm:pt>
    <dgm:pt modelId="{D1FFED71-EAFF-45BF-B4F0-E84155BABDBA}" type="pres">
      <dgm:prSet presAssocID="{10716330-11F4-4120-8107-18DE7071EA87}" presName="sibTrans" presStyleCnt="0"/>
      <dgm:spPr/>
    </dgm:pt>
    <dgm:pt modelId="{DE1C9053-12DE-4DF3-A5A9-FEC506B44FD6}" type="pres">
      <dgm:prSet presAssocID="{19F704F0-AFBF-4ED0-A55F-5C6B0515B49B}" presName="compNode" presStyleCnt="0"/>
      <dgm:spPr/>
    </dgm:pt>
    <dgm:pt modelId="{E282846F-851E-4D33-A5AD-8E73BAC98226}" type="pres">
      <dgm:prSet presAssocID="{19F704F0-AFBF-4ED0-A55F-5C6B0515B49B}" presName="bgRect" presStyleLbl="bgShp" presStyleIdx="1" presStyleCnt="4"/>
      <dgm:spPr/>
    </dgm:pt>
    <dgm:pt modelId="{E1D64ED1-009C-461A-A499-5C3DF15FDE20}" type="pres">
      <dgm:prSet presAssocID="{19F704F0-AFBF-4ED0-A55F-5C6B0515B49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lo"/>
        </a:ext>
      </dgm:extLst>
    </dgm:pt>
    <dgm:pt modelId="{B88E4441-7372-43E3-9DFB-5413C05C9DCF}" type="pres">
      <dgm:prSet presAssocID="{19F704F0-AFBF-4ED0-A55F-5C6B0515B49B}" presName="spaceRect" presStyleCnt="0"/>
      <dgm:spPr/>
    </dgm:pt>
    <dgm:pt modelId="{A529663C-ADFB-440E-A2BB-AE801B6F4C07}" type="pres">
      <dgm:prSet presAssocID="{19F704F0-AFBF-4ED0-A55F-5C6B0515B49B}" presName="parTx" presStyleLbl="revTx" presStyleIdx="1" presStyleCnt="4">
        <dgm:presLayoutVars>
          <dgm:chMax val="0"/>
          <dgm:chPref val="0"/>
        </dgm:presLayoutVars>
      </dgm:prSet>
      <dgm:spPr/>
    </dgm:pt>
    <dgm:pt modelId="{06EBCD99-031C-4C8B-9A09-F95EA01C368C}" type="pres">
      <dgm:prSet presAssocID="{296CD492-EE58-4C57-9A1B-4B3A29C51CEC}" presName="sibTrans" presStyleCnt="0"/>
      <dgm:spPr/>
    </dgm:pt>
    <dgm:pt modelId="{F62F0883-0532-49EE-A6FA-EEEE9550D722}" type="pres">
      <dgm:prSet presAssocID="{013B5382-07F6-4045-A233-7F4693651982}" presName="compNode" presStyleCnt="0"/>
      <dgm:spPr/>
    </dgm:pt>
    <dgm:pt modelId="{60337F53-DE46-49E0-8048-7EBB44BFE7F3}" type="pres">
      <dgm:prSet presAssocID="{013B5382-07F6-4045-A233-7F4693651982}" presName="bgRect" presStyleLbl="bgShp" presStyleIdx="2" presStyleCnt="4"/>
      <dgm:spPr/>
    </dgm:pt>
    <dgm:pt modelId="{48779843-6353-4420-8571-119CCDE04498}" type="pres">
      <dgm:prSet presAssocID="{013B5382-07F6-4045-A233-7F469365198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ilding Brick Wall with solid fill"/>
        </a:ext>
      </dgm:extLst>
    </dgm:pt>
    <dgm:pt modelId="{87CED6D2-64C4-4C85-8305-062F3019A37A}" type="pres">
      <dgm:prSet presAssocID="{013B5382-07F6-4045-A233-7F4693651982}" presName="spaceRect" presStyleCnt="0"/>
      <dgm:spPr/>
    </dgm:pt>
    <dgm:pt modelId="{BF563E8D-7F15-491C-BE2A-72E26EE4C8B9}" type="pres">
      <dgm:prSet presAssocID="{013B5382-07F6-4045-A233-7F4693651982}" presName="parTx" presStyleLbl="revTx" presStyleIdx="2" presStyleCnt="4">
        <dgm:presLayoutVars>
          <dgm:chMax val="0"/>
          <dgm:chPref val="0"/>
        </dgm:presLayoutVars>
      </dgm:prSet>
      <dgm:spPr/>
    </dgm:pt>
    <dgm:pt modelId="{8451848D-5D24-4947-89E2-A8FAFD8D5501}" type="pres">
      <dgm:prSet presAssocID="{F19DB3FA-6865-4D1A-B32D-F63B3CA915FF}" presName="sibTrans" presStyleCnt="0"/>
      <dgm:spPr/>
    </dgm:pt>
    <dgm:pt modelId="{16DCA37A-8093-4C96-9D14-AC39EBDE1939}" type="pres">
      <dgm:prSet presAssocID="{20B67A91-29CC-4D44-B89B-963DDD3B5BE4}" presName="compNode" presStyleCnt="0"/>
      <dgm:spPr/>
    </dgm:pt>
    <dgm:pt modelId="{AA4156BC-9D6E-4B12-9232-2A01616D54B6}" type="pres">
      <dgm:prSet presAssocID="{20B67A91-29CC-4D44-B89B-963DDD3B5BE4}" presName="bgRect" presStyleLbl="bgShp" presStyleIdx="3" presStyleCnt="4"/>
      <dgm:spPr/>
    </dgm:pt>
    <dgm:pt modelId="{1E7262D6-95B6-4E8F-BD4A-8FA8B727E982}" type="pres">
      <dgm:prSet presAssocID="{20B67A91-29CC-4D44-B89B-963DDD3B5BE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 with solid fill"/>
        </a:ext>
      </dgm:extLst>
    </dgm:pt>
    <dgm:pt modelId="{CF2575CB-C314-4321-A535-67C28701E303}" type="pres">
      <dgm:prSet presAssocID="{20B67A91-29CC-4D44-B89B-963DDD3B5BE4}" presName="spaceRect" presStyleCnt="0"/>
      <dgm:spPr/>
    </dgm:pt>
    <dgm:pt modelId="{95E0ADEE-FAB6-4DB9-8FDE-3F6DE7BB1D90}" type="pres">
      <dgm:prSet presAssocID="{20B67A91-29CC-4D44-B89B-963DDD3B5BE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9C3231E-6EA2-407D-934B-054DB4472CFB}" type="presOf" srcId="{20B67A91-29CC-4D44-B89B-963DDD3B5BE4}" destId="{95E0ADEE-FAB6-4DB9-8FDE-3F6DE7BB1D90}" srcOrd="0" destOrd="0" presId="urn:microsoft.com/office/officeart/2018/2/layout/IconVerticalSolidList"/>
    <dgm:cxn modelId="{56CFF05B-3E17-4913-92FF-22D3E06E44A1}" type="presOf" srcId="{82079A92-CCBC-4662-B3EF-2EA1436E0141}" destId="{84A80A09-B079-481C-A5A9-113FA7E8AD4C}" srcOrd="0" destOrd="0" presId="urn:microsoft.com/office/officeart/2018/2/layout/IconVerticalSolidList"/>
    <dgm:cxn modelId="{29CB624F-BE95-42AE-A440-812A6DCEABA9}" srcId="{82079A92-CCBC-4662-B3EF-2EA1436E0141}" destId="{19F704F0-AFBF-4ED0-A55F-5C6B0515B49B}" srcOrd="1" destOrd="0" parTransId="{1AC23DBC-A2BA-43CF-8539-E6B819A248CD}" sibTransId="{296CD492-EE58-4C57-9A1B-4B3A29C51CEC}"/>
    <dgm:cxn modelId="{83E250A7-C96C-4EEE-90F6-74EBE5FC5857}" srcId="{82079A92-CCBC-4662-B3EF-2EA1436E0141}" destId="{658939EE-192C-4DE6-925D-8DC66260A5A3}" srcOrd="0" destOrd="0" parTransId="{3414F9EC-8D21-405D-AC9B-4472BA74A0BB}" sibTransId="{10716330-11F4-4120-8107-18DE7071EA87}"/>
    <dgm:cxn modelId="{D4A865BD-8665-47D1-B327-53611772E29A}" type="presOf" srcId="{013B5382-07F6-4045-A233-7F4693651982}" destId="{BF563E8D-7F15-491C-BE2A-72E26EE4C8B9}" srcOrd="0" destOrd="0" presId="urn:microsoft.com/office/officeart/2018/2/layout/IconVerticalSolidList"/>
    <dgm:cxn modelId="{EA5D97C4-F6FE-4E4C-A681-74F10AFF453B}" srcId="{82079A92-CCBC-4662-B3EF-2EA1436E0141}" destId="{20B67A91-29CC-4D44-B89B-963DDD3B5BE4}" srcOrd="3" destOrd="0" parTransId="{D9483213-70A6-480F-8F8E-158E5BD5D828}" sibTransId="{C3DE01E5-996B-4E4D-989A-7CB8F0AF5EFF}"/>
    <dgm:cxn modelId="{48B2B8CF-6BA9-427A-A498-D146C9AD31EC}" srcId="{82079A92-CCBC-4662-B3EF-2EA1436E0141}" destId="{013B5382-07F6-4045-A233-7F4693651982}" srcOrd="2" destOrd="0" parTransId="{8AB86451-7D22-445E-A00E-5332FE9C64BB}" sibTransId="{F19DB3FA-6865-4D1A-B32D-F63B3CA915FF}"/>
    <dgm:cxn modelId="{078365D1-A3D3-4534-B9CA-C1A7CDB0BD58}" type="presOf" srcId="{658939EE-192C-4DE6-925D-8DC66260A5A3}" destId="{D8FB7445-F451-443B-8790-14C05B681D7A}" srcOrd="0" destOrd="0" presId="urn:microsoft.com/office/officeart/2018/2/layout/IconVerticalSolidList"/>
    <dgm:cxn modelId="{05891AE9-6AE9-4F67-9E52-5EA22DA9D58E}" type="presOf" srcId="{19F704F0-AFBF-4ED0-A55F-5C6B0515B49B}" destId="{A529663C-ADFB-440E-A2BB-AE801B6F4C07}" srcOrd="0" destOrd="0" presId="urn:microsoft.com/office/officeart/2018/2/layout/IconVerticalSolidList"/>
    <dgm:cxn modelId="{B204D5B3-B29C-4F3B-8DB6-4363D1BFF9EB}" type="presParOf" srcId="{84A80A09-B079-481C-A5A9-113FA7E8AD4C}" destId="{B52DEDC7-E741-4296-94D2-009D7AD8C874}" srcOrd="0" destOrd="0" presId="urn:microsoft.com/office/officeart/2018/2/layout/IconVerticalSolidList"/>
    <dgm:cxn modelId="{4F0FDA0F-71BC-40A2-B84B-A0F579BADB7F}" type="presParOf" srcId="{B52DEDC7-E741-4296-94D2-009D7AD8C874}" destId="{CE8F98DC-66CC-4C9D-89F0-998A100939A7}" srcOrd="0" destOrd="0" presId="urn:microsoft.com/office/officeart/2018/2/layout/IconVerticalSolidList"/>
    <dgm:cxn modelId="{CD29C039-51A1-4BB0-8C4B-DC410025D4EC}" type="presParOf" srcId="{B52DEDC7-E741-4296-94D2-009D7AD8C874}" destId="{A245BFBA-CABC-47F0-82C4-724721ABBC91}" srcOrd="1" destOrd="0" presId="urn:microsoft.com/office/officeart/2018/2/layout/IconVerticalSolidList"/>
    <dgm:cxn modelId="{F05E216E-BFE0-410A-AF83-A794B5FB55D7}" type="presParOf" srcId="{B52DEDC7-E741-4296-94D2-009D7AD8C874}" destId="{09F2986E-BF29-4A39-982A-72DF54EB2B97}" srcOrd="2" destOrd="0" presId="urn:microsoft.com/office/officeart/2018/2/layout/IconVerticalSolidList"/>
    <dgm:cxn modelId="{620EAA56-D14B-47F6-99EE-40A8B4674B14}" type="presParOf" srcId="{B52DEDC7-E741-4296-94D2-009D7AD8C874}" destId="{D8FB7445-F451-443B-8790-14C05B681D7A}" srcOrd="3" destOrd="0" presId="urn:microsoft.com/office/officeart/2018/2/layout/IconVerticalSolidList"/>
    <dgm:cxn modelId="{54E87779-0F5F-431B-A0E6-290AE0236F23}" type="presParOf" srcId="{84A80A09-B079-481C-A5A9-113FA7E8AD4C}" destId="{D1FFED71-EAFF-45BF-B4F0-E84155BABDBA}" srcOrd="1" destOrd="0" presId="urn:microsoft.com/office/officeart/2018/2/layout/IconVerticalSolidList"/>
    <dgm:cxn modelId="{63FC635A-5813-41D8-93A0-35F38DE74D7B}" type="presParOf" srcId="{84A80A09-B079-481C-A5A9-113FA7E8AD4C}" destId="{DE1C9053-12DE-4DF3-A5A9-FEC506B44FD6}" srcOrd="2" destOrd="0" presId="urn:microsoft.com/office/officeart/2018/2/layout/IconVerticalSolidList"/>
    <dgm:cxn modelId="{FB41767D-CC26-489C-9CA0-42BF94876DDF}" type="presParOf" srcId="{DE1C9053-12DE-4DF3-A5A9-FEC506B44FD6}" destId="{E282846F-851E-4D33-A5AD-8E73BAC98226}" srcOrd="0" destOrd="0" presId="urn:microsoft.com/office/officeart/2018/2/layout/IconVerticalSolidList"/>
    <dgm:cxn modelId="{2E325D23-599F-4763-8922-A77159947DB7}" type="presParOf" srcId="{DE1C9053-12DE-4DF3-A5A9-FEC506B44FD6}" destId="{E1D64ED1-009C-461A-A499-5C3DF15FDE20}" srcOrd="1" destOrd="0" presId="urn:microsoft.com/office/officeart/2018/2/layout/IconVerticalSolidList"/>
    <dgm:cxn modelId="{DAE006E5-9B74-4D8C-B956-7ED6E5CE60ED}" type="presParOf" srcId="{DE1C9053-12DE-4DF3-A5A9-FEC506B44FD6}" destId="{B88E4441-7372-43E3-9DFB-5413C05C9DCF}" srcOrd="2" destOrd="0" presId="urn:microsoft.com/office/officeart/2018/2/layout/IconVerticalSolidList"/>
    <dgm:cxn modelId="{8F29D2E4-C519-47DD-A97E-5014EDB676FB}" type="presParOf" srcId="{DE1C9053-12DE-4DF3-A5A9-FEC506B44FD6}" destId="{A529663C-ADFB-440E-A2BB-AE801B6F4C07}" srcOrd="3" destOrd="0" presId="urn:microsoft.com/office/officeart/2018/2/layout/IconVerticalSolidList"/>
    <dgm:cxn modelId="{2DA8EDE8-2809-46BA-8C4C-A26466ECEA75}" type="presParOf" srcId="{84A80A09-B079-481C-A5A9-113FA7E8AD4C}" destId="{06EBCD99-031C-4C8B-9A09-F95EA01C368C}" srcOrd="3" destOrd="0" presId="urn:microsoft.com/office/officeart/2018/2/layout/IconVerticalSolidList"/>
    <dgm:cxn modelId="{4DB81688-0FEB-4E8F-9F92-C947388BC994}" type="presParOf" srcId="{84A80A09-B079-481C-A5A9-113FA7E8AD4C}" destId="{F62F0883-0532-49EE-A6FA-EEEE9550D722}" srcOrd="4" destOrd="0" presId="urn:microsoft.com/office/officeart/2018/2/layout/IconVerticalSolidList"/>
    <dgm:cxn modelId="{3AA19F95-C320-42A1-AA2A-516681C90CDA}" type="presParOf" srcId="{F62F0883-0532-49EE-A6FA-EEEE9550D722}" destId="{60337F53-DE46-49E0-8048-7EBB44BFE7F3}" srcOrd="0" destOrd="0" presId="urn:microsoft.com/office/officeart/2018/2/layout/IconVerticalSolidList"/>
    <dgm:cxn modelId="{E7393AFD-011B-4A74-B5AB-AF6232AD8226}" type="presParOf" srcId="{F62F0883-0532-49EE-A6FA-EEEE9550D722}" destId="{48779843-6353-4420-8571-119CCDE04498}" srcOrd="1" destOrd="0" presId="urn:microsoft.com/office/officeart/2018/2/layout/IconVerticalSolidList"/>
    <dgm:cxn modelId="{98570D9E-2C21-4DA5-A968-1A135B732AB1}" type="presParOf" srcId="{F62F0883-0532-49EE-A6FA-EEEE9550D722}" destId="{87CED6D2-64C4-4C85-8305-062F3019A37A}" srcOrd="2" destOrd="0" presId="urn:microsoft.com/office/officeart/2018/2/layout/IconVerticalSolidList"/>
    <dgm:cxn modelId="{F005758E-7002-4148-9B5F-10CF31939950}" type="presParOf" srcId="{F62F0883-0532-49EE-A6FA-EEEE9550D722}" destId="{BF563E8D-7F15-491C-BE2A-72E26EE4C8B9}" srcOrd="3" destOrd="0" presId="urn:microsoft.com/office/officeart/2018/2/layout/IconVerticalSolidList"/>
    <dgm:cxn modelId="{84C83489-CE86-4E94-AC94-70ABBB0B6BF1}" type="presParOf" srcId="{84A80A09-B079-481C-A5A9-113FA7E8AD4C}" destId="{8451848D-5D24-4947-89E2-A8FAFD8D5501}" srcOrd="5" destOrd="0" presId="urn:microsoft.com/office/officeart/2018/2/layout/IconVerticalSolidList"/>
    <dgm:cxn modelId="{3528CC95-47EF-40D0-A26C-13626DAC5DF3}" type="presParOf" srcId="{84A80A09-B079-481C-A5A9-113FA7E8AD4C}" destId="{16DCA37A-8093-4C96-9D14-AC39EBDE1939}" srcOrd="6" destOrd="0" presId="urn:microsoft.com/office/officeart/2018/2/layout/IconVerticalSolidList"/>
    <dgm:cxn modelId="{D5976980-1B64-4807-83BA-2D246E7B7F0A}" type="presParOf" srcId="{16DCA37A-8093-4C96-9D14-AC39EBDE1939}" destId="{AA4156BC-9D6E-4B12-9232-2A01616D54B6}" srcOrd="0" destOrd="0" presId="urn:microsoft.com/office/officeart/2018/2/layout/IconVerticalSolidList"/>
    <dgm:cxn modelId="{7CFFE327-BA16-4CB8-BBAF-31F525412B0D}" type="presParOf" srcId="{16DCA37A-8093-4C96-9D14-AC39EBDE1939}" destId="{1E7262D6-95B6-4E8F-BD4A-8FA8B727E982}" srcOrd="1" destOrd="0" presId="urn:microsoft.com/office/officeart/2018/2/layout/IconVerticalSolidList"/>
    <dgm:cxn modelId="{78A355D6-BC15-4A46-ABF0-38D96704C033}" type="presParOf" srcId="{16DCA37A-8093-4C96-9D14-AC39EBDE1939}" destId="{CF2575CB-C314-4321-A535-67C28701E303}" srcOrd="2" destOrd="0" presId="urn:microsoft.com/office/officeart/2018/2/layout/IconVerticalSolidList"/>
    <dgm:cxn modelId="{453D4D83-878A-43B8-9A93-55D9580F15B4}" type="presParOf" srcId="{16DCA37A-8093-4C96-9D14-AC39EBDE1939}" destId="{95E0ADEE-FAB6-4DB9-8FDE-3F6DE7BB1D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8F98DC-66CC-4C9D-89F0-998A100939A7}">
      <dsp:nvSpPr>
        <dsp:cNvPr id="0" name=""/>
        <dsp:cNvSpPr/>
      </dsp:nvSpPr>
      <dsp:spPr>
        <a:xfrm>
          <a:off x="0" y="1508"/>
          <a:ext cx="11029615" cy="7645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5BFBA-CABC-47F0-82C4-724721ABBC91}">
      <dsp:nvSpPr>
        <dsp:cNvPr id="0" name=""/>
        <dsp:cNvSpPr/>
      </dsp:nvSpPr>
      <dsp:spPr>
        <a:xfrm>
          <a:off x="231267" y="173525"/>
          <a:ext cx="420485" cy="4204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FB7445-F451-443B-8790-14C05B681D7A}">
      <dsp:nvSpPr>
        <dsp:cNvPr id="0" name=""/>
        <dsp:cNvSpPr/>
      </dsp:nvSpPr>
      <dsp:spPr>
        <a:xfrm>
          <a:off x="883020" y="1508"/>
          <a:ext cx="10146594" cy="76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12" tIns="80912" rIns="80912" bIns="809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Self-Contained: Services should ideally operate independently, though they may have some dependencies.</a:t>
          </a:r>
        </a:p>
      </dsp:txBody>
      <dsp:txXfrm>
        <a:off x="883020" y="1508"/>
        <a:ext cx="10146594" cy="764519"/>
      </dsp:txXfrm>
    </dsp:sp>
    <dsp:sp modelId="{E282846F-851E-4D33-A5AD-8E73BAC98226}">
      <dsp:nvSpPr>
        <dsp:cNvPr id="0" name=""/>
        <dsp:cNvSpPr/>
      </dsp:nvSpPr>
      <dsp:spPr>
        <a:xfrm>
          <a:off x="0" y="957158"/>
          <a:ext cx="11029615" cy="7645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D64ED1-009C-461A-A499-5C3DF15FDE20}">
      <dsp:nvSpPr>
        <dsp:cNvPr id="0" name=""/>
        <dsp:cNvSpPr/>
      </dsp:nvSpPr>
      <dsp:spPr>
        <a:xfrm>
          <a:off x="231267" y="1129175"/>
          <a:ext cx="420485" cy="4204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29663C-ADFB-440E-A2BB-AE801B6F4C07}">
      <dsp:nvSpPr>
        <dsp:cNvPr id="0" name=""/>
        <dsp:cNvSpPr/>
      </dsp:nvSpPr>
      <dsp:spPr>
        <a:xfrm>
          <a:off x="883020" y="957158"/>
          <a:ext cx="10146594" cy="76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12" tIns="80912" rIns="80912" bIns="809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Coarse-Grained: Services should be larger in scope to improve performance and security.</a:t>
          </a:r>
        </a:p>
      </dsp:txBody>
      <dsp:txXfrm>
        <a:off x="883020" y="957158"/>
        <a:ext cx="10146594" cy="764519"/>
      </dsp:txXfrm>
    </dsp:sp>
    <dsp:sp modelId="{60337F53-DE46-49E0-8048-7EBB44BFE7F3}">
      <dsp:nvSpPr>
        <dsp:cNvPr id="0" name=""/>
        <dsp:cNvSpPr/>
      </dsp:nvSpPr>
      <dsp:spPr>
        <a:xfrm>
          <a:off x="0" y="1912807"/>
          <a:ext cx="11029615" cy="7645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779843-6353-4420-8571-119CCDE04498}">
      <dsp:nvSpPr>
        <dsp:cNvPr id="0" name=""/>
        <dsp:cNvSpPr/>
      </dsp:nvSpPr>
      <dsp:spPr>
        <a:xfrm>
          <a:off x="231267" y="2084824"/>
          <a:ext cx="420485" cy="4204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563E8D-7F15-491C-BE2A-72E26EE4C8B9}">
      <dsp:nvSpPr>
        <dsp:cNvPr id="0" name=""/>
        <dsp:cNvSpPr/>
      </dsp:nvSpPr>
      <dsp:spPr>
        <a:xfrm>
          <a:off x="883020" y="1912807"/>
          <a:ext cx="10146594" cy="76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12" tIns="80912" rIns="80912" bIns="809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Stateless: Services should not maintain state between transactions, making them easier to manage.</a:t>
          </a:r>
        </a:p>
      </dsp:txBody>
      <dsp:txXfrm>
        <a:off x="883020" y="1912807"/>
        <a:ext cx="10146594" cy="764519"/>
      </dsp:txXfrm>
    </dsp:sp>
    <dsp:sp modelId="{AA4156BC-9D6E-4B12-9232-2A01616D54B6}">
      <dsp:nvSpPr>
        <dsp:cNvPr id="0" name=""/>
        <dsp:cNvSpPr/>
      </dsp:nvSpPr>
      <dsp:spPr>
        <a:xfrm>
          <a:off x="0" y="2868457"/>
          <a:ext cx="11029615" cy="7645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7262D6-95B6-4E8F-BD4A-8FA8B727E982}">
      <dsp:nvSpPr>
        <dsp:cNvPr id="0" name=""/>
        <dsp:cNvSpPr/>
      </dsp:nvSpPr>
      <dsp:spPr>
        <a:xfrm>
          <a:off x="231267" y="3040474"/>
          <a:ext cx="420485" cy="4204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E0ADEE-FAB6-4DB9-8FDE-3F6DE7BB1D90}">
      <dsp:nvSpPr>
        <dsp:cNvPr id="0" name=""/>
        <dsp:cNvSpPr/>
      </dsp:nvSpPr>
      <dsp:spPr>
        <a:xfrm>
          <a:off x="883020" y="2868457"/>
          <a:ext cx="10146594" cy="76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12" tIns="80912" rIns="80912" bIns="809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Reusable: Services should be designed for reusability across different applications and business functions, avoiding redundancy.</a:t>
          </a:r>
        </a:p>
      </dsp:txBody>
      <dsp:txXfrm>
        <a:off x="883020" y="2868457"/>
        <a:ext cx="10146594" cy="7645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02/10/2025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012536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CHAPTER 12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Service Oriented Architecture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8529" y="4942982"/>
            <a:ext cx="3313471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Cloud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717216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B4CAC-2F3A-3994-3C9A-2DE48E03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SOA (Service-Oriented Architecture):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870A8-4D1F-3B14-84FD-7D9A02CD2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000" dirty="0"/>
              <a:t>A design pattern where software components (services) are designed to provide specific functionality.</a:t>
            </a:r>
          </a:p>
          <a:p>
            <a:pPr lvl="1"/>
            <a:r>
              <a:rPr lang="en-US" sz="2000" dirty="0"/>
              <a:t>Focuses on defining services that can be accessed over a network</a:t>
            </a:r>
          </a:p>
          <a:p>
            <a:pPr lvl="1"/>
            <a:r>
              <a:rPr lang="en-US" sz="2000" dirty="0"/>
              <a:t>Allowing for communication and integration across different systems.</a:t>
            </a:r>
          </a:p>
          <a:p>
            <a:pPr lvl="1"/>
            <a:r>
              <a:rPr lang="en-US" sz="2000" dirty="0"/>
              <a:t>Aimed at breaking down applications into smaller, reusable components (services) to increase efficiency and scalability.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BC2D2-31B0-3B61-AFF8-24BB135D3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842928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ACCA2-510B-6188-EFF7-76C7DEB3A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7B86-E45D-9262-1263-07F44D009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SOA</a:t>
            </a:r>
            <a:br>
              <a:rPr lang="en-US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6FED0-7F65-9209-B65C-E00E854B1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81317"/>
            <a:ext cx="11029615" cy="4621160"/>
          </a:xfrm>
        </p:spPr>
        <p:txBody>
          <a:bodyPr>
            <a:normAutofit/>
          </a:bodyPr>
          <a:lstStyle/>
          <a:p>
            <a:r>
              <a:rPr lang="en-US" dirty="0"/>
              <a:t>Loose Coupling:</a:t>
            </a:r>
          </a:p>
          <a:p>
            <a:pPr lvl="1"/>
            <a:r>
              <a:rPr lang="en-US" dirty="0"/>
              <a:t>Services should operate independently from each other with minimal dependencies.</a:t>
            </a:r>
          </a:p>
          <a:p>
            <a:pPr lvl="1"/>
            <a:r>
              <a:rPr lang="en-US" dirty="0"/>
              <a:t>Loose coupling allows for flexibility in how services are composed and modified without disrupting the entire system.</a:t>
            </a:r>
          </a:p>
          <a:p>
            <a:r>
              <a:rPr lang="en-US" dirty="0"/>
              <a:t>Interoperability:</a:t>
            </a:r>
          </a:p>
          <a:p>
            <a:pPr lvl="1"/>
            <a:r>
              <a:rPr lang="en-US" dirty="0"/>
              <a:t>SOA enables different platforms, technologies, and systems to communicate and interact seamlessly.</a:t>
            </a:r>
          </a:p>
          <a:p>
            <a:r>
              <a:rPr lang="en-US" dirty="0"/>
              <a:t>Discoverability:</a:t>
            </a:r>
          </a:p>
          <a:p>
            <a:pPr lvl="1"/>
            <a:r>
              <a:rPr lang="en-US" dirty="0"/>
              <a:t>Services are registered and can be discovered dynamically by consumers to interact with them.</a:t>
            </a:r>
          </a:p>
          <a:p>
            <a:r>
              <a:rPr lang="en-US" dirty="0"/>
              <a:t>Reusability:</a:t>
            </a:r>
          </a:p>
          <a:p>
            <a:pPr lvl="1"/>
            <a:r>
              <a:rPr lang="en-US" dirty="0"/>
              <a:t>Services are designed to be reused across different applications and business processes.</a:t>
            </a:r>
          </a:p>
          <a:p>
            <a:r>
              <a:rPr lang="en-US" dirty="0"/>
              <a:t>Composability:</a:t>
            </a:r>
          </a:p>
          <a:p>
            <a:pPr lvl="1"/>
            <a:r>
              <a:rPr lang="en-US" dirty="0"/>
              <a:t>Services can be combined together to create complex business processes or solutions.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9198E3-765E-BCE3-C75A-6871627D6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583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C524-BC46-C751-9B24-047999DB8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SOA?</a:t>
            </a:r>
            <a:br>
              <a:rPr lang="en-US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B2E8D-63AD-4672-6283-FF37CCC41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Challenges in Traditional Systems:</a:t>
            </a:r>
          </a:p>
          <a:p>
            <a:pPr lvl="1"/>
            <a:r>
              <a:rPr lang="en-US" dirty="0"/>
              <a:t>In traditional systems, applications are monolithic and tightly integrated, making changes and scaling difficult.</a:t>
            </a:r>
          </a:p>
          <a:p>
            <a:pPr lvl="1"/>
            <a:r>
              <a:rPr lang="en-US" dirty="0"/>
              <a:t>SOA offers a solution to these challenges by creating smaller, more manageable components (services) that are loosely coupled and can be easily modified or replaced.</a:t>
            </a:r>
          </a:p>
          <a:p>
            <a:r>
              <a:rPr lang="en-US" dirty="0"/>
              <a:t>Business Benefits:</a:t>
            </a:r>
          </a:p>
          <a:p>
            <a:pPr lvl="1"/>
            <a:r>
              <a:rPr lang="en-US" dirty="0"/>
              <a:t>SOA supports rapid application development and deployment by allowing services to be reused.</a:t>
            </a:r>
          </a:p>
          <a:p>
            <a:pPr lvl="1"/>
            <a:r>
              <a:rPr lang="en-US" dirty="0"/>
              <a:t>Reduces redundancy and improves efficiency by providing well-defined services that can be shared across the organization.</a:t>
            </a:r>
          </a:p>
          <a:p>
            <a:pPr lvl="1"/>
            <a:r>
              <a:rPr lang="en-US" dirty="0"/>
              <a:t>Promotes agility and faster response to business changes.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41127-1BF9-A1C9-5D8E-12AF8DB50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839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EBC18-5851-4938-2112-E0F234CE3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C93013-D6A1-F50E-232E-333225396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Goal of System Designing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FB51A-E40A-C5D0-AF87-9490BFD49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597643"/>
            <a:ext cx="6725899" cy="575730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1700" dirty="0"/>
              <a:t>Two Primary Goals: Decoupling &amp; Composability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Decoupling: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Tight coupling complicates system changes, while decoupling allows for greater flexibility.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SOA allows for easy integration or removal of services, improving system flexibility and reducing maintenance costs.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Composability: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Design Principle:</a:t>
            </a:r>
          </a:p>
          <a:p>
            <a:pPr lvl="2">
              <a:lnSpc>
                <a:spcPct val="110000"/>
              </a:lnSpc>
            </a:pPr>
            <a:r>
              <a:rPr lang="en-US" sz="1700" dirty="0"/>
              <a:t>A composable system is built by assembling independent components to meet specific business needs.</a:t>
            </a:r>
          </a:p>
          <a:p>
            <a:pPr lvl="2">
              <a:lnSpc>
                <a:spcPct val="110000"/>
              </a:lnSpc>
            </a:pPr>
            <a:r>
              <a:rPr lang="en-US" sz="1700" dirty="0"/>
              <a:t>Components should be modular, stateless, and reusable.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Key Characteristics of Composable Components:</a:t>
            </a:r>
          </a:p>
          <a:p>
            <a:pPr lvl="2">
              <a:lnSpc>
                <a:spcPct val="110000"/>
              </a:lnSpc>
            </a:pPr>
            <a:r>
              <a:rPr lang="en-US" sz="1700" dirty="0"/>
              <a:t>Modular: Components are self-contained and replaceable.</a:t>
            </a:r>
          </a:p>
          <a:p>
            <a:pPr lvl="2">
              <a:lnSpc>
                <a:spcPct val="110000"/>
              </a:lnSpc>
            </a:pPr>
            <a:r>
              <a:rPr lang="en-US" sz="1700" dirty="0"/>
              <a:t>Stateless: Services operate independently, without maintaining state between transactions.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SOA allows the composition of services to create complex, customized systems, enhancing system flexibility and functionality.</a:t>
            </a:r>
            <a:endParaRPr lang="en-PK" sz="1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7829C-905B-A6EF-B6C2-19BD09118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220669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8294-6CC4-1E31-613B-FD4D91B0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Represents Business Functionality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7D0DB-4F5D-0A69-DEFA-D30BF16D9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Business Analogy:</a:t>
            </a:r>
          </a:p>
          <a:p>
            <a:pPr lvl="1"/>
            <a:r>
              <a:rPr lang="en-US" dirty="0"/>
              <a:t>Just as businesses provide services (e.g., medical, transport), SOA services represent business functions that deliver value.</a:t>
            </a:r>
          </a:p>
          <a:p>
            <a:pPr lvl="1"/>
            <a:r>
              <a:rPr lang="en-US" dirty="0"/>
              <a:t>Businesses decompose their operations into specialized services, and software systems similarly use services to encapsulate specific functions.</a:t>
            </a:r>
          </a:p>
          <a:p>
            <a:r>
              <a:rPr lang="en-US" dirty="0"/>
              <a:t>A Service in SOA:</a:t>
            </a:r>
          </a:p>
          <a:p>
            <a:pPr lvl="1"/>
            <a:r>
              <a:rPr lang="en-US" dirty="0"/>
              <a:t>Provider: The entity responsible for building and managing the service.</a:t>
            </a:r>
          </a:p>
          <a:p>
            <a:pPr lvl="1"/>
            <a:r>
              <a:rPr lang="en-US" dirty="0"/>
              <a:t>Consumer: The entity that uses the service based on the service contract.</a:t>
            </a: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AEB8A-626C-A5FB-8E47-DBEF6181D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7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01CA8-433D-748D-A1F4-B5315276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A04C-D907-2442-5CBB-36D1DA54B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a Service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C6EA6-4A2E-7781-F3C8-A5AD7A7C8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5445"/>
            <a:ext cx="11029615" cy="3949905"/>
          </a:xfrm>
        </p:spPr>
        <p:txBody>
          <a:bodyPr>
            <a:normAutofit/>
          </a:bodyPr>
          <a:lstStyle/>
          <a:p>
            <a:r>
              <a:rPr lang="en-US" sz="2000" dirty="0"/>
              <a:t>Key Components:</a:t>
            </a:r>
          </a:p>
          <a:p>
            <a:pPr lvl="1"/>
            <a:r>
              <a:rPr lang="en-US" sz="1800" dirty="0"/>
              <a:t>Contract: Defines the service’s offerings, expected outcomes, and constraints.</a:t>
            </a:r>
          </a:p>
          <a:p>
            <a:pPr lvl="1"/>
            <a:r>
              <a:rPr lang="en-US" sz="1800" dirty="0"/>
              <a:t>Interface: Specifies how the service can be accessed and interacted with.</a:t>
            </a:r>
          </a:p>
          <a:p>
            <a:pPr lvl="1"/>
            <a:r>
              <a:rPr lang="en-US" sz="1800" dirty="0"/>
              <a:t>Implementation: The internal workings of the service, hidden from consumers.</a:t>
            </a:r>
          </a:p>
          <a:p>
            <a:r>
              <a:rPr lang="en-US" sz="2000" dirty="0"/>
              <a:t>Service Registry:</a:t>
            </a:r>
          </a:p>
          <a:p>
            <a:pPr lvl="1"/>
            <a:r>
              <a:rPr lang="en-US" sz="1800" dirty="0"/>
              <a:t>A centralized directory that stores service information such as availability, usage instructions, and dependencies.</a:t>
            </a:r>
          </a:p>
          <a:p>
            <a:pPr lvl="1"/>
            <a:r>
              <a:rPr lang="en-US" sz="1800" dirty="0"/>
              <a:t>Regular updates with new services and interfaces ensure accurate discovery and usage.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D8C50-3151-DC39-740F-8A8F823C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546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14AA3-6801-94F7-068D-ED51423FE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C500-680C-8FCE-E362-6A85DC70F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Implementation Approaches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76F9F-47B0-267A-82A1-246F2B2E4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Top-Down Approach:</a:t>
            </a:r>
          </a:p>
          <a:p>
            <a:pPr lvl="1"/>
            <a:r>
              <a:rPr lang="en-US" dirty="0"/>
              <a:t>Service interface is defined first, followed by the implementation.</a:t>
            </a:r>
          </a:p>
          <a:p>
            <a:pPr lvl="1"/>
            <a:r>
              <a:rPr lang="en-US" dirty="0"/>
              <a:t>Ensures that services adhere to a contract before the actual development begins.</a:t>
            </a:r>
          </a:p>
          <a:p>
            <a:r>
              <a:rPr lang="en-US" dirty="0"/>
              <a:t>Bottom-Up Approach:</a:t>
            </a:r>
          </a:p>
          <a:p>
            <a:pPr lvl="1"/>
            <a:r>
              <a:rPr lang="en-US" dirty="0"/>
              <a:t>Service implementation exists before the interface.</a:t>
            </a:r>
          </a:p>
          <a:p>
            <a:pPr lvl="1"/>
            <a:r>
              <a:rPr lang="en-US" dirty="0"/>
              <a:t>Easier but may lead to a mismatch between the interface and the implementation.</a:t>
            </a:r>
          </a:p>
          <a:p>
            <a:r>
              <a:rPr lang="en-US" dirty="0"/>
              <a:t>Meeting in the Middle Approach:</a:t>
            </a:r>
          </a:p>
          <a:p>
            <a:pPr lvl="1"/>
            <a:r>
              <a:rPr lang="en-US" dirty="0"/>
              <a:t>A hybrid approach combining both top-down and bottom-up methodologies.</a:t>
            </a:r>
          </a:p>
          <a:p>
            <a:pPr lvl="1"/>
            <a:r>
              <a:rPr lang="en-US" dirty="0"/>
              <a:t>Ensures complete control over interface definition, especially when the implementation is already in place.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6AFD1-C467-D162-C35E-C0F3D82F4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570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4A7A7-8C9B-8B76-828E-163DCC01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B023-9E38-505F-6247-4F3EA5B07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of Services</a:t>
            </a:r>
            <a:endParaRPr lang="en-PK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156A7CE-A659-E686-CC43-C87870E183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742140"/>
              </p:ext>
            </p:extLst>
          </p:nvPr>
        </p:nvGraphicFramePr>
        <p:xfrm>
          <a:off x="581192" y="2340864"/>
          <a:ext cx="11029615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67D3D6-7F19-604B-0080-FF6420877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646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66AD-66EB-DCE1-22C1-FEB3142B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Standard Implementation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8D759-BFB4-A51E-8320-9B2D8BF2B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Open standards are key to SOA, making it easier to implement and integrate services using industry-standard protocols and technologies.</a:t>
            </a:r>
          </a:p>
          <a:p>
            <a:r>
              <a:rPr lang="en-US" dirty="0"/>
              <a:t>Key Open Group Standards:</a:t>
            </a:r>
          </a:p>
          <a:p>
            <a:pPr lvl="1"/>
            <a:r>
              <a:rPr lang="en-US" dirty="0"/>
              <a:t>SOA Reference Architecture.</a:t>
            </a:r>
          </a:p>
          <a:p>
            <a:pPr lvl="1"/>
            <a:r>
              <a:rPr lang="en-US" dirty="0"/>
              <a:t>SOA Governance Framework.</a:t>
            </a:r>
          </a:p>
          <a:p>
            <a:pPr lvl="1"/>
            <a:r>
              <a:rPr lang="en-US" dirty="0"/>
              <a:t>Service-Oriented Cloud Computing Infrastructure (SOCCI).</a:t>
            </a:r>
          </a:p>
          <a:p>
            <a:r>
              <a:rPr lang="en-US" dirty="0"/>
              <a:t>Message Exchange &amp; Service Description Technologies:</a:t>
            </a:r>
          </a:p>
          <a:p>
            <a:pPr lvl="1"/>
            <a:r>
              <a:rPr lang="en-US" dirty="0"/>
              <a:t>XML: Used for message exchange in SOA, providing a flexible, platform-independent format.</a:t>
            </a:r>
          </a:p>
          <a:p>
            <a:pPr lvl="1"/>
            <a:r>
              <a:rPr lang="en-US" dirty="0"/>
              <a:t>WSDL (Web Services Description Language): Defines service interfaces using XML, enabling service discovery.</a:t>
            </a:r>
          </a:p>
          <a:p>
            <a:pPr lvl="1"/>
            <a:r>
              <a:rPr lang="en-US" dirty="0"/>
              <a:t>SOAP (Simple Object Access Protocol): A protocol for exchanging messages between services over a network, independent of platforms and languages.</a:t>
            </a:r>
          </a:p>
          <a:p>
            <a:pPr lvl="1"/>
            <a:r>
              <a:rPr lang="en-US" dirty="0"/>
              <a:t>UDDI (Universal Description, Discovery, and Integration): A directory for registering and discovering services via WSDL and SOAP.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435FD-C06B-2250-6837-6DBA84023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903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D709F-04D7-FD65-6CD5-1643FC36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9892-48FD-2FE8-7B46-D7A262D1E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SOA : Architectural Benefits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47117-B2FC-0B12-F51F-B41F0C411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Flexibility: </a:t>
            </a:r>
            <a:r>
              <a:rPr lang="en-US" dirty="0"/>
              <a:t>Easier to change or update services without affecting the whole system.</a:t>
            </a:r>
          </a:p>
          <a:p>
            <a:r>
              <a:rPr lang="en-US" b="1" dirty="0"/>
              <a:t>Reusability: </a:t>
            </a:r>
            <a:r>
              <a:rPr lang="en-US" dirty="0"/>
              <a:t>Services can be reused across various applications, reducing development time and cost.</a:t>
            </a:r>
          </a:p>
          <a:p>
            <a:r>
              <a:rPr lang="en-US" b="1" dirty="0"/>
              <a:t>Simplified Integration: </a:t>
            </a:r>
            <a:r>
              <a:rPr lang="en-US" dirty="0"/>
              <a:t>SOA makes it easier to integrate different systems by using well-defined interfaces, reducing complexity and improving interoperability.</a:t>
            </a:r>
          </a:p>
          <a:p>
            <a:r>
              <a:rPr lang="en-US" b="1" dirty="0"/>
              <a:t>Improved Scalability: </a:t>
            </a:r>
            <a:r>
              <a:rPr lang="en-US" dirty="0"/>
              <a:t>Modular services can be scaled independently, optimizing resource utilization.</a:t>
            </a: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5D497B-BCB6-4193-EF3A-F8E23797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88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DB165-0D36-98B4-B09B-A4C2174C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22298-7DD9-9CB1-D810-49434BE2E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SOA : Business Benefits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50774-6AFA-8ED7-9781-B9E569530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Agility: </a:t>
            </a:r>
            <a:r>
              <a:rPr lang="en-US" dirty="0"/>
              <a:t>Service-orientated architecture is based on the assumption that system changes over time. Hence, a well-designed SOA-based development protects a system from the impact of this evolution. The flexibility of SOA enables a system to respond quickly to new requirements. </a:t>
            </a:r>
          </a:p>
          <a:p>
            <a:r>
              <a:rPr lang="en-US" b="1" dirty="0"/>
              <a:t>Cost reduction: </a:t>
            </a:r>
            <a:r>
              <a:rPr lang="en-US" dirty="0"/>
              <a:t>Services once developed can be reused by disparate systems for different kind of purposes. Integration of services in a system is also easy. Therefore, the reuse of already existing assets (services) makes it cheaper as reusability means lower development and testing cost. </a:t>
            </a:r>
          </a:p>
          <a:p>
            <a:r>
              <a:rPr lang="en-US" b="1" dirty="0"/>
              <a:t>Increase in quality: </a:t>
            </a:r>
            <a:r>
              <a:rPr lang="en-US" dirty="0"/>
              <a:t>Reuse of a service by multiple consumers make a service well tested and flawless. Its quality improves and thus SOA provides high performance and delivers good return-on-investment (ROI). </a:t>
            </a:r>
          </a:p>
          <a:p>
            <a:r>
              <a:rPr lang="en-US" b="1" dirty="0"/>
              <a:t>Quicker release to market: </a:t>
            </a:r>
            <a:r>
              <a:rPr lang="en-US" dirty="0"/>
              <a:t>Service-oriented approach takes lesser time for system development or even for a system up-gradation. It thus makes the launch of a system quicker to market by diminishing the development time. </a:t>
            </a:r>
          </a:p>
          <a:p>
            <a:r>
              <a:rPr lang="en-US" b="1" dirty="0"/>
              <a:t>Standardization: </a:t>
            </a:r>
            <a:r>
              <a:rPr lang="en-US" dirty="0"/>
              <a:t>Services in SOA are generally developed following open standards. This standardization makes services more vendor-independent and any kind of system can use a service as long as it uses the proper (standard) service interface.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3519A-5F9F-82C4-5E7F-51B25ED6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031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18871-7F79-0DE6-3BAA-58FC5B6AA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SOA AND CLOUD COMPUTING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ED5FD-0BDB-46DA-8E59-1CAB1DEE1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86116"/>
            <a:ext cx="11029615" cy="4267200"/>
          </a:xfrm>
        </p:spPr>
        <p:txBody>
          <a:bodyPr>
            <a:normAutofit/>
          </a:bodyPr>
          <a:lstStyle/>
          <a:p>
            <a:r>
              <a:rPr lang="en-US" dirty="0"/>
              <a:t>Common Goals: Both aim to improve system agility and flexibility through service reuse and distributed software assets.</a:t>
            </a:r>
          </a:p>
          <a:p>
            <a:r>
              <a:rPr lang="en-US" dirty="0"/>
              <a:t>Key Differences:</a:t>
            </a:r>
          </a:p>
          <a:p>
            <a:pPr lvl="1"/>
            <a:r>
              <a:rPr lang="en-US" sz="1300" dirty="0"/>
              <a:t>SOA: An architectural approach for designing reusable services.</a:t>
            </a:r>
          </a:p>
          <a:p>
            <a:pPr lvl="1"/>
            <a:r>
              <a:rPr lang="en-US" sz="1300" dirty="0"/>
              <a:t>Cloud Computing: Provides on-demand access to computing resources and services.</a:t>
            </a:r>
          </a:p>
          <a:p>
            <a:r>
              <a:rPr lang="en-US" dirty="0"/>
              <a:t>SOA applications can run on traditional servers as well as cloud environments.</a:t>
            </a:r>
          </a:p>
          <a:p>
            <a:r>
              <a:rPr lang="en-US" dirty="0"/>
              <a:t>SOA at the Cloud's Top Layer: SOA is critical for the Software-as-a-Service (SaaS) layer, structuring software services within cloud infrastructure.</a:t>
            </a:r>
          </a:p>
          <a:p>
            <a:r>
              <a:rPr lang="en-US" dirty="0"/>
              <a:t>Adapting SOA for Cloud Consumers: To fully benefit from cloud computing, consumers should adapt SOA as their application architecture.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2D0FE-5893-31DD-7630-415DB05A1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88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3675</TotalTime>
  <Words>1274</Words>
  <Application>Microsoft Office PowerPoint</Application>
  <PresentationFormat>Widescreen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 Nova Light</vt:lpstr>
      <vt:lpstr>Wingdings 2</vt:lpstr>
      <vt:lpstr>DividendVTI</vt:lpstr>
      <vt:lpstr>CHAPTER 12 Service Oriented Architecture</vt:lpstr>
      <vt:lpstr>SOA (Service-Oriented Architecture): INTRODUCTION</vt:lpstr>
      <vt:lpstr>Principles of SOA </vt:lpstr>
      <vt:lpstr>Why SOA? </vt:lpstr>
      <vt:lpstr>Goal of System Designing</vt:lpstr>
      <vt:lpstr>Service Represents Business Functionality</vt:lpstr>
      <vt:lpstr>Elements of a Service</vt:lpstr>
      <vt:lpstr>Service Implementation Approaches</vt:lpstr>
      <vt:lpstr>Attributes of Services</vt:lpstr>
      <vt:lpstr>Open Standard Implementation</vt:lpstr>
      <vt:lpstr>Benefits of SOA : Architectural Benefits </vt:lpstr>
      <vt:lpstr>Benefits of SOA : Business Benefits</vt:lpstr>
      <vt:lpstr>SOA AND CLOUD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35</cp:revision>
  <dcterms:created xsi:type="dcterms:W3CDTF">2024-08-20T00:20:53Z</dcterms:created>
  <dcterms:modified xsi:type="dcterms:W3CDTF">2025-10-03T08:50:31Z</dcterms:modified>
</cp:coreProperties>
</file>