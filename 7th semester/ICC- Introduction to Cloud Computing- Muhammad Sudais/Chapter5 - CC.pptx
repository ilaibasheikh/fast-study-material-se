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31"/>
  </p:notesMasterIdLst>
  <p:sldIdLst>
    <p:sldId id="421" r:id="rId2"/>
    <p:sldId id="422" r:id="rId3"/>
    <p:sldId id="423" r:id="rId4"/>
    <p:sldId id="424" r:id="rId5"/>
    <p:sldId id="425" r:id="rId6"/>
    <p:sldId id="426" r:id="rId7"/>
    <p:sldId id="427" r:id="rId8"/>
    <p:sldId id="428" r:id="rId9"/>
    <p:sldId id="429" r:id="rId10"/>
    <p:sldId id="430" r:id="rId11"/>
    <p:sldId id="431" r:id="rId12"/>
    <p:sldId id="432" r:id="rId13"/>
    <p:sldId id="433" r:id="rId14"/>
    <p:sldId id="434" r:id="rId15"/>
    <p:sldId id="435" r:id="rId16"/>
    <p:sldId id="436" r:id="rId17"/>
    <p:sldId id="437" r:id="rId18"/>
    <p:sldId id="439" r:id="rId19"/>
    <p:sldId id="440" r:id="rId20"/>
    <p:sldId id="441" r:id="rId21"/>
    <p:sldId id="442" r:id="rId22"/>
    <p:sldId id="444" r:id="rId23"/>
    <p:sldId id="445" r:id="rId24"/>
    <p:sldId id="446" r:id="rId25"/>
    <p:sldId id="447" r:id="rId26"/>
    <p:sldId id="448" r:id="rId27"/>
    <p:sldId id="449" r:id="rId28"/>
    <p:sldId id="450" r:id="rId29"/>
    <p:sldId id="451" r:id="rId3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5 - Book 1" id="{A0011FD7-BDD4-4DC7-BF8E-77FBDD481D64}">
          <p14:sldIdLst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9"/>
            <p14:sldId id="440"/>
            <p14:sldId id="441"/>
            <p14:sldId id="442"/>
            <p14:sldId id="444"/>
            <p14:sldId id="445"/>
            <p14:sldId id="446"/>
            <p14:sldId id="447"/>
            <p14:sldId id="448"/>
            <p14:sldId id="449"/>
            <p14:sldId id="450"/>
            <p14:sldId id="45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941"/>
    <a:srgbClr val="3E62DB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18/08/2025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301603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CHAPTER 5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Cloud Computing SERVICES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9601" y="4942982"/>
            <a:ext cx="3622399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Cloud Computing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  <a:endParaRPr lang="en-US" sz="1000" kern="1200" cap="all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7204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9587-D913-88A9-AAC8-BC6F113F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 Services Overview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BE1A7-62B8-1255-F7A3-9C3DC2B2C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Introduction: </a:t>
            </a:r>
            <a:r>
              <a:rPr lang="en-US" dirty="0"/>
              <a:t>Cloud computing offers scalable and on-demand computing resources over the Internet.</a:t>
            </a:r>
          </a:p>
          <a:p>
            <a:r>
              <a:rPr lang="en-US" b="1" dirty="0"/>
              <a:t>Deployment Models:</a:t>
            </a:r>
          </a:p>
          <a:p>
            <a:pPr lvl="1"/>
            <a:r>
              <a:rPr lang="en-US" dirty="0"/>
              <a:t>Public Cloud: Services are delivered over the public Internet and shared across multiple organizations.</a:t>
            </a:r>
          </a:p>
          <a:p>
            <a:pPr lvl="1"/>
            <a:r>
              <a:rPr lang="en-US" dirty="0"/>
              <a:t>Private Cloud: Services are maintained on a private network, offering more control and security.</a:t>
            </a:r>
          </a:p>
          <a:p>
            <a:pPr lvl="1"/>
            <a:r>
              <a:rPr lang="en-US" dirty="0"/>
              <a:t>Hybrid Cloud: Combines public and private clouds, allowing data and applications to be shared.</a:t>
            </a:r>
          </a:p>
          <a:p>
            <a:pPr lvl="1"/>
            <a:r>
              <a:rPr lang="en-US" dirty="0"/>
              <a:t>Community Cloud: Shared infrastructure for a specific community of organizations with common concerns.</a:t>
            </a:r>
          </a:p>
          <a:p>
            <a:r>
              <a:rPr lang="en-US" b="1" dirty="0"/>
              <a:t>Service Models:</a:t>
            </a:r>
          </a:p>
          <a:p>
            <a:pPr lvl="1"/>
            <a:r>
              <a:rPr lang="en-US" dirty="0"/>
              <a:t>Infrastructure-as-a-Service (IaaS)</a:t>
            </a:r>
          </a:p>
          <a:p>
            <a:pPr lvl="1"/>
            <a:r>
              <a:rPr lang="en-US" dirty="0"/>
              <a:t>Platform-as-a-Service (PaaS)</a:t>
            </a:r>
          </a:p>
          <a:p>
            <a:pPr lvl="1"/>
            <a:r>
              <a:rPr lang="en-US" dirty="0"/>
              <a:t>Software-as-a-Service (SaaS)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5ECCDE-6C2C-4A55-E145-25680DEA4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259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DFC18-E909-16F8-7E22-153334516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Delivery Models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EE988-3EBC-7519-39CD-9173694FC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Infrastructure-as-a-Service (IaaS):</a:t>
            </a:r>
          </a:p>
          <a:p>
            <a:pPr lvl="1"/>
            <a:r>
              <a:rPr lang="en-US" dirty="0"/>
              <a:t>Description: Provides virtualized computing resources over the Internet.</a:t>
            </a:r>
          </a:p>
          <a:p>
            <a:pPr lvl="1"/>
            <a:r>
              <a:rPr lang="en-US" dirty="0"/>
              <a:t>Benefits: Scalability, cost-efficiency, and flexibility in managing computing resources.</a:t>
            </a:r>
          </a:p>
          <a:p>
            <a:r>
              <a:rPr lang="en-US" b="1" dirty="0"/>
              <a:t>Platform-as-a-Service (PaaS):</a:t>
            </a:r>
          </a:p>
          <a:p>
            <a:pPr lvl="1"/>
            <a:r>
              <a:rPr lang="en-US" dirty="0"/>
              <a:t>Description: Provides a platform allowing customers to develop, run, and manage applications without dealing with the underlying infrastructure.</a:t>
            </a:r>
          </a:p>
          <a:p>
            <a:pPr lvl="1"/>
            <a:r>
              <a:rPr lang="en-US" dirty="0"/>
              <a:t>Benefits: Simplifies application development, reduces infrastructure management, and supports collaborative development.</a:t>
            </a:r>
          </a:p>
          <a:p>
            <a:r>
              <a:rPr lang="en-US" b="1" dirty="0"/>
              <a:t>Software-as-a-Service (SaaS):</a:t>
            </a:r>
          </a:p>
          <a:p>
            <a:pPr lvl="1"/>
            <a:r>
              <a:rPr lang="en-US" dirty="0"/>
              <a:t>Description: Delivers software applications over the Internet on a subscription basis.</a:t>
            </a:r>
          </a:p>
          <a:p>
            <a:pPr lvl="1"/>
            <a:r>
              <a:rPr lang="en-US" dirty="0"/>
              <a:t>Benefits: No need for installation, automatic updates, and accessibility from any device with an Internet connection.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9D72B8-576D-9CB3-989C-A1DF6801E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521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9FD756-483D-A6F6-F827-DD77E88DD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Infrastructure-as-a-Service (IaaS)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85B1-96C3-8F84-5EDD-5875FECCF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>
                <a:solidFill>
                  <a:srgbClr val="FFFFFF"/>
                </a:solidFill>
              </a:rPr>
              <a:t>Definition: </a:t>
            </a:r>
            <a:r>
              <a:rPr lang="en-US">
                <a:solidFill>
                  <a:srgbClr val="FFFFFF"/>
                </a:solidFill>
              </a:rPr>
              <a:t>Delivers virtualized hardware resources such as servers, storage, and networking.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>
                <a:solidFill>
                  <a:srgbClr val="FFFFFF"/>
                </a:solidFill>
              </a:rPr>
              <a:t>Features:</a:t>
            </a:r>
          </a:p>
          <a:p>
            <a:pPr lvl="1">
              <a:lnSpc>
                <a:spcPct val="110000"/>
              </a:lnSpc>
            </a:pPr>
            <a:r>
              <a:rPr lang="en-US">
                <a:solidFill>
                  <a:srgbClr val="FFFFFF"/>
                </a:solidFill>
              </a:rPr>
              <a:t>Virtual Resources: Virtual processors, memory, storage, and networking.</a:t>
            </a:r>
          </a:p>
          <a:p>
            <a:pPr lvl="1">
              <a:lnSpc>
                <a:spcPct val="110000"/>
              </a:lnSpc>
            </a:pPr>
            <a:r>
              <a:rPr lang="en-US">
                <a:solidFill>
                  <a:srgbClr val="FFFFFF"/>
                </a:solidFill>
              </a:rPr>
              <a:t>Cost Model: Pay-as-you-go for the resources used.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>
                <a:solidFill>
                  <a:srgbClr val="FFFFFF"/>
                </a:solidFill>
              </a:rPr>
              <a:t>Examples: </a:t>
            </a:r>
            <a:r>
              <a:rPr lang="en-US">
                <a:solidFill>
                  <a:srgbClr val="FFFFFF"/>
                </a:solidFill>
              </a:rPr>
              <a:t>Amazon EC2, Google Compute Engine, Microsoft Azure VMs.</a:t>
            </a:r>
          </a:p>
          <a:p>
            <a:pPr marL="0" indent="0">
              <a:lnSpc>
                <a:spcPct val="110000"/>
              </a:lnSpc>
              <a:buNone/>
            </a:pPr>
            <a:endParaRPr lang="en-PK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7FCB22-AB45-283C-D87E-4D58DFADD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163" y="936141"/>
            <a:ext cx="3279639" cy="496830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70E2B-098A-CD02-4033-192BD4C7C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822056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8625A1-ED67-C98D-C68C-94439C1B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IaaS Component Stack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ADD70-B1DD-12ED-7F5C-D50F9BA8D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1700" dirty="0">
                <a:solidFill>
                  <a:srgbClr val="FFFFFF"/>
                </a:solidFill>
              </a:rPr>
              <a:t>Components:</a:t>
            </a:r>
          </a:p>
          <a:p>
            <a:pPr lvl="1">
              <a:lnSpc>
                <a:spcPct val="110000"/>
              </a:lnSpc>
            </a:pPr>
            <a:r>
              <a:rPr lang="en-US" sz="1700" dirty="0">
                <a:solidFill>
                  <a:srgbClr val="FFFFFF"/>
                </a:solidFill>
              </a:rPr>
              <a:t>Managed by Provider: Hardware, networking, storage.</a:t>
            </a:r>
          </a:p>
          <a:p>
            <a:pPr lvl="1">
              <a:lnSpc>
                <a:spcPct val="110000"/>
              </a:lnSpc>
            </a:pPr>
            <a:r>
              <a:rPr lang="en-US" sz="1700" dirty="0">
                <a:solidFill>
                  <a:srgbClr val="FFFFFF"/>
                </a:solidFill>
              </a:rPr>
              <a:t>Managed by Consumer: Applications, operating systems, runtime environments.</a:t>
            </a:r>
          </a:p>
          <a:p>
            <a:pPr>
              <a:lnSpc>
                <a:spcPct val="110000"/>
              </a:lnSpc>
            </a:pPr>
            <a:r>
              <a:rPr lang="en-US" sz="1700" dirty="0">
                <a:solidFill>
                  <a:srgbClr val="FFFFFF"/>
                </a:solidFill>
              </a:rPr>
              <a:t>Benefits: Outsources management of physical hardware while allowing customization of virtual resources.</a:t>
            </a:r>
          </a:p>
          <a:p>
            <a:pPr marL="0" indent="0">
              <a:lnSpc>
                <a:spcPct val="110000"/>
              </a:lnSpc>
              <a:buNone/>
            </a:pPr>
            <a:endParaRPr lang="en-PK" sz="1700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B865E-9A67-4684-A813-89AF6167E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231" y="1046346"/>
            <a:ext cx="6831503" cy="474789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83992-1EFC-81F0-F395-BF7D3E7D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143941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29077-05C4-6BED-80BB-9AC6F197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Platform-as-a-Service (PaaS)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14C3D-39E8-E81D-CD59-454C511E3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>
                <a:solidFill>
                  <a:srgbClr val="FFFFFF"/>
                </a:solidFill>
              </a:rPr>
              <a:t>Definition: Provides a platform for developers to build, deploy, and manage applications without managing the underlying infrastructure.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>
                <a:solidFill>
                  <a:srgbClr val="FFFFFF"/>
                </a:solidFill>
              </a:rPr>
              <a:t>Features:</a:t>
            </a:r>
          </a:p>
          <a:p>
            <a:pPr lvl="1"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</a:rPr>
              <a:t>Integrated Development Environment: Tools and services for application development.</a:t>
            </a:r>
          </a:p>
          <a:p>
            <a:pPr lvl="1"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</a:rPr>
              <a:t>Managed Environment: Includes operating systems, middleware, and runtime libraries.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>
                <a:solidFill>
                  <a:srgbClr val="FFFFFF"/>
                </a:solidFill>
              </a:rPr>
              <a:t>Examples: Google App Engine, Microsoft Azure App Services, Heroku.</a:t>
            </a:r>
          </a:p>
          <a:p>
            <a:pPr marL="0" indent="0">
              <a:lnSpc>
                <a:spcPct val="110000"/>
              </a:lnSpc>
              <a:buNone/>
            </a:pPr>
            <a:endParaRPr lang="en-PK" sz="170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EDC7DD-1E69-9A29-8243-A9AFA5875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724" y="936141"/>
            <a:ext cx="6494516" cy="496830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96587F-EC7F-E87D-E58D-3053CC97F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0320297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5742BE-3B61-B661-C7C2-5166EAA2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PaaS–IaaS Integration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A3881-EF1D-471B-52E6-7DAFCC64F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FFFFFF"/>
                </a:solidFill>
              </a:rPr>
              <a:t>Integration Mechanism: </a:t>
            </a:r>
            <a:r>
              <a:rPr lang="en-US" dirty="0">
                <a:solidFill>
                  <a:srgbClr val="FFFFFF"/>
                </a:solidFill>
              </a:rPr>
              <a:t>PaaS utilizes APIs provided by IaaS to access and manage underlying infrastructure resources.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FFFFFF"/>
                </a:solidFill>
              </a:rPr>
              <a:t>Benefits: </a:t>
            </a:r>
            <a:r>
              <a:rPr lang="en-US" dirty="0">
                <a:solidFill>
                  <a:srgbClr val="FFFFFF"/>
                </a:solidFill>
              </a:rPr>
              <a:t>Simplifies application development and deployment by abstracting infrastructure management.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FFFFFF"/>
                </a:solidFill>
              </a:rPr>
              <a:t>Example: </a:t>
            </a:r>
            <a:r>
              <a:rPr lang="en-US" dirty="0">
                <a:solidFill>
                  <a:srgbClr val="FFFFFF"/>
                </a:solidFill>
              </a:rPr>
              <a:t>Google App Engine uses Google Cloud’s IaaS resources for scalable infrastructure.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EB496B-77FD-A165-0FCB-58321F30D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231" y="1985678"/>
            <a:ext cx="6831503" cy="286923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42CB1-67D4-DB19-B499-3E7A86E3D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99432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23BD3-3A00-BDC7-CD2E-9E15E5D57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Software-as-a-Service (SaaS)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CDC16-232F-4125-71EB-03F763D6F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Definition: </a:t>
            </a:r>
            <a:r>
              <a:rPr lang="en-US" dirty="0">
                <a:solidFill>
                  <a:srgbClr val="FFFFFF"/>
                </a:solidFill>
              </a:rPr>
              <a:t>Provides software applications over the Internet without the need for local installation.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Features:</a:t>
            </a:r>
          </a:p>
          <a:p>
            <a:pPr lvl="1"/>
            <a:r>
              <a:rPr lang="en-US" b="1" dirty="0">
                <a:solidFill>
                  <a:srgbClr val="FFFFFF"/>
                </a:solidFill>
              </a:rPr>
              <a:t>Accessibility: </a:t>
            </a:r>
            <a:r>
              <a:rPr lang="en-US" dirty="0">
                <a:solidFill>
                  <a:srgbClr val="FFFFFF"/>
                </a:solidFill>
              </a:rPr>
              <a:t>Available from any device with Internet access.</a:t>
            </a:r>
          </a:p>
          <a:p>
            <a:pPr lvl="1"/>
            <a:r>
              <a:rPr lang="en-US" b="1" dirty="0">
                <a:solidFill>
                  <a:srgbClr val="FFFFFF"/>
                </a:solidFill>
              </a:rPr>
              <a:t>Cost Model: </a:t>
            </a:r>
            <a:r>
              <a:rPr lang="en-US" dirty="0">
                <a:solidFill>
                  <a:srgbClr val="FFFFFF"/>
                </a:solidFill>
              </a:rPr>
              <a:t>Subscription-based, often with a pay-as-you-go model.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Examples: </a:t>
            </a:r>
            <a:r>
              <a:rPr lang="en-US" dirty="0">
                <a:solidFill>
                  <a:srgbClr val="FFFFFF"/>
                </a:solidFill>
              </a:rPr>
              <a:t>Salesforce, Microsoft Office 365, Google Workspace.</a:t>
            </a:r>
          </a:p>
          <a:p>
            <a:pPr marL="0" indent="0">
              <a:buNone/>
            </a:pPr>
            <a:endParaRPr lang="en-PK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E88005-51CE-A73E-6816-9B9339B2D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001" y="936141"/>
            <a:ext cx="5121963" cy="496830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9AC18-16EC-2E5F-F069-49B4432A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011103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23BD3-3A00-BDC7-CD2E-9E15E5D57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SaaS–PaaS Integration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CDC16-232F-4125-71EB-03F763D6F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Integration Mechanism: </a:t>
            </a:r>
            <a:r>
              <a:rPr lang="en-US" dirty="0">
                <a:solidFill>
                  <a:srgbClr val="FFFFFF"/>
                </a:solidFill>
              </a:rPr>
              <a:t>SaaS applications leverage PaaS environments to operate efficiently.</a:t>
            </a:r>
          </a:p>
          <a:p>
            <a:r>
              <a:rPr lang="en-US" b="1" dirty="0">
                <a:solidFill>
                  <a:srgbClr val="FFFFFF"/>
                </a:solidFill>
              </a:rPr>
              <a:t>Runtime Support: </a:t>
            </a:r>
            <a:r>
              <a:rPr lang="en-US" dirty="0">
                <a:solidFill>
                  <a:srgbClr val="FFFFFF"/>
                </a:solidFill>
              </a:rPr>
              <a:t>PaaS provides the necessary runtime environments (Java, .NET, Python) for SaaS applications.</a:t>
            </a:r>
          </a:p>
          <a:p>
            <a:r>
              <a:rPr lang="en-US" b="1" dirty="0">
                <a:solidFill>
                  <a:srgbClr val="FFFFFF"/>
                </a:solidFill>
              </a:rPr>
              <a:t>Example: </a:t>
            </a:r>
            <a:r>
              <a:rPr lang="en-US" dirty="0">
                <a:solidFill>
                  <a:srgbClr val="FFFFFF"/>
                </a:solidFill>
              </a:rPr>
              <a:t>SaaS applications running on Microsoft Azure use Azure’s PaaS services.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7FB450-6753-4DCD-1DBD-DEA030171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231" y="1968599"/>
            <a:ext cx="6831503" cy="290338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9AC18-16EC-2E5F-F069-49B4432A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666209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23BD3-3A00-BDC7-CD2E-9E15E5D57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Levels of Service Abstraction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CDC16-232F-4125-71EB-03F763D6F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Abstraction Levels:</a:t>
            </a:r>
          </a:p>
          <a:p>
            <a:pPr lvl="1"/>
            <a:r>
              <a:rPr lang="en-US" b="1" dirty="0">
                <a:solidFill>
                  <a:srgbClr val="FFFFFF"/>
                </a:solidFill>
              </a:rPr>
              <a:t>IaaS: </a:t>
            </a:r>
            <a:r>
              <a:rPr lang="en-US" dirty="0">
                <a:solidFill>
                  <a:srgbClr val="FFFFFF"/>
                </a:solidFill>
              </a:rPr>
              <a:t>Provides virtualized hardware resources.</a:t>
            </a:r>
          </a:p>
          <a:p>
            <a:pPr lvl="1"/>
            <a:r>
              <a:rPr lang="en-US" b="1" dirty="0">
                <a:solidFill>
                  <a:srgbClr val="FFFFFF"/>
                </a:solidFill>
              </a:rPr>
              <a:t>PaaS: </a:t>
            </a:r>
            <a:r>
              <a:rPr lang="en-US" dirty="0">
                <a:solidFill>
                  <a:srgbClr val="FFFFFF"/>
                </a:solidFill>
              </a:rPr>
              <a:t>Provides a development platform on top of IaaS.</a:t>
            </a:r>
          </a:p>
          <a:p>
            <a:pPr lvl="1"/>
            <a:r>
              <a:rPr lang="en-US" b="1" dirty="0">
                <a:solidFill>
                  <a:srgbClr val="FFFFFF"/>
                </a:solidFill>
              </a:rPr>
              <a:t>SaaS: </a:t>
            </a:r>
            <a:r>
              <a:rPr lang="en-US" dirty="0">
                <a:solidFill>
                  <a:srgbClr val="FFFFFF"/>
                </a:solidFill>
              </a:rPr>
              <a:t>Delivers end-user applications on top of PaaS.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F3C027-ED5F-C392-4580-D073B704B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168" y="936141"/>
            <a:ext cx="6581629" cy="496830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9AC18-16EC-2E5F-F069-49B4432A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755213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23BD3-3A00-BDC7-CD2E-9E15E5D57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SPI Model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CDC16-232F-4125-71EB-03F763D6F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Definition: </a:t>
            </a:r>
            <a:r>
              <a:rPr lang="en-US" dirty="0">
                <a:solidFill>
                  <a:srgbClr val="FFFFFF"/>
                </a:solidFill>
              </a:rPr>
              <a:t>The SPI model combines SaaS, PaaS, and IaaS into a layered architecture where each layer builds upon the previous one.</a:t>
            </a:r>
          </a:p>
          <a:p>
            <a:r>
              <a:rPr lang="en-US" b="1" dirty="0">
                <a:solidFill>
                  <a:srgbClr val="FFFFFF"/>
                </a:solidFill>
              </a:rPr>
              <a:t>Benefits: </a:t>
            </a:r>
            <a:r>
              <a:rPr lang="en-US" dirty="0">
                <a:solidFill>
                  <a:srgbClr val="FFFFFF"/>
                </a:solidFill>
              </a:rPr>
              <a:t>Ensures a structured approach to delivering cloud services.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1CCB07-51FC-C89C-EFD8-0818D96DC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231" y="1942981"/>
            <a:ext cx="6831503" cy="295462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9AC18-16EC-2E5F-F069-49B4432A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874025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23BD3-3A00-BDC7-CD2E-9E15E5D57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00930"/>
            <a:ext cx="3568661" cy="2256390"/>
          </a:xfrm>
        </p:spPr>
        <p:txBody>
          <a:bodyPr anchor="ctr">
            <a:normAutofit/>
          </a:bodyPr>
          <a:lstStyle/>
          <a:p>
            <a:r>
              <a:rPr lang="en-US"/>
              <a:t>Traditional vs Cloud Computing Models</a:t>
            </a:r>
            <a:endParaRPr lang="en-PK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B19935-C760-4698-9DD1-973C8A428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90612-E008-4F02-AEBB-B140BE75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10A41F-3A14-4150-B6CF-0A577DDD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CDC16-232F-4125-71EB-03F763D6F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800930"/>
            <a:ext cx="7183597" cy="225639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0000"/>
              </a:lnSpc>
              <a:buClr>
                <a:srgbClr val="94A3C5"/>
              </a:buClr>
              <a:buNone/>
            </a:pPr>
            <a:r>
              <a:rPr lang="en-US" sz="1500" b="1" dirty="0"/>
              <a:t>Traditional Model:</a:t>
            </a:r>
          </a:p>
          <a:p>
            <a:pPr lvl="1">
              <a:lnSpc>
                <a:spcPct val="110000"/>
              </a:lnSpc>
              <a:buClr>
                <a:srgbClr val="94A3C5"/>
              </a:buClr>
            </a:pPr>
            <a:r>
              <a:rPr lang="en-US" sz="1500" b="1" dirty="0"/>
              <a:t>Responsibilities: </a:t>
            </a:r>
            <a:r>
              <a:rPr lang="en-US" sz="1500" dirty="0"/>
              <a:t>Managing all layers (hardware, platform, applications) by the user.</a:t>
            </a:r>
          </a:p>
          <a:p>
            <a:pPr lvl="1">
              <a:lnSpc>
                <a:spcPct val="110000"/>
              </a:lnSpc>
              <a:buClr>
                <a:srgbClr val="94A3C5"/>
              </a:buClr>
            </a:pPr>
            <a:r>
              <a:rPr lang="en-US" sz="1300" b="1" dirty="0"/>
              <a:t>Diagram:</a:t>
            </a:r>
            <a:r>
              <a:rPr lang="en-US" sz="1300" dirty="0"/>
              <a:t> Figure 5.9 showing traditional computing stack.</a:t>
            </a:r>
          </a:p>
          <a:p>
            <a:pPr marL="0" indent="0">
              <a:lnSpc>
                <a:spcPct val="110000"/>
              </a:lnSpc>
              <a:buClr>
                <a:srgbClr val="94A3C5"/>
              </a:buClr>
              <a:buNone/>
            </a:pPr>
            <a:r>
              <a:rPr lang="en-US" sz="1500" b="1" dirty="0"/>
              <a:t>Cloud Model:</a:t>
            </a:r>
          </a:p>
          <a:p>
            <a:pPr lvl="1">
              <a:lnSpc>
                <a:spcPct val="110000"/>
              </a:lnSpc>
              <a:buClr>
                <a:srgbClr val="94A3C5"/>
              </a:buClr>
            </a:pPr>
            <a:r>
              <a:rPr lang="en-US" sz="1500" b="1" dirty="0"/>
              <a:t>Responsibilities: </a:t>
            </a:r>
            <a:r>
              <a:rPr lang="en-US" sz="1500" dirty="0"/>
              <a:t>Varies by service model (IaaS, PaaS, SaaS).</a:t>
            </a:r>
          </a:p>
          <a:p>
            <a:pPr lvl="1">
              <a:lnSpc>
                <a:spcPct val="110000"/>
              </a:lnSpc>
              <a:buClr>
                <a:srgbClr val="94A3C5"/>
              </a:buClr>
            </a:pPr>
            <a:r>
              <a:rPr lang="en-US" sz="1300" b="1" dirty="0"/>
              <a:t>Diagram: </a:t>
            </a:r>
            <a:r>
              <a:rPr lang="en-US" sz="1300" dirty="0"/>
              <a:t>Figure 5.10 showing cloud computing stack with reduced responsibilities for users.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30DB1-0B82-3861-C2FF-E765DA031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81" y="3261798"/>
            <a:ext cx="4337260" cy="30469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8D4C98-7871-0081-AE15-EA9F75317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21" y="3628885"/>
            <a:ext cx="5489646" cy="267983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9AC18-16EC-2E5F-F069-49B4432A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94A3C5"/>
                </a:solidFill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945401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0601-C526-C130-39C8-50DF81B9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Software-as-a-Service (SaaS) vs. Application Service Provider (ASP)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8C22E-7CBC-F392-F6A3-015DE5A1E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814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SaaS: </a:t>
            </a:r>
            <a:r>
              <a:rPr lang="en-US" dirty="0"/>
              <a:t>Software delivered over the web with cloud computing attributes</a:t>
            </a:r>
          </a:p>
          <a:p>
            <a:pPr lvl="1"/>
            <a:r>
              <a:rPr lang="en-US" b="1" dirty="0"/>
              <a:t>Core Attributes:</a:t>
            </a:r>
          </a:p>
          <a:p>
            <a:pPr lvl="2"/>
            <a:r>
              <a:rPr lang="en-US" dirty="0"/>
              <a:t>Rapid elasticity</a:t>
            </a:r>
          </a:p>
          <a:p>
            <a:pPr lvl="2"/>
            <a:r>
              <a:rPr lang="en-US" dirty="0"/>
              <a:t>On-demand self-service</a:t>
            </a:r>
          </a:p>
          <a:p>
            <a:pPr lvl="2"/>
            <a:r>
              <a:rPr lang="en-US" dirty="0"/>
              <a:t>Measured service</a:t>
            </a:r>
          </a:p>
          <a:p>
            <a:pPr marL="0" indent="0">
              <a:buNone/>
            </a:pPr>
            <a:r>
              <a:rPr lang="en-US" b="1" dirty="0"/>
              <a:t>ASP (1990s): </a:t>
            </a:r>
            <a:r>
              <a:rPr lang="en-US" dirty="0"/>
              <a:t>Hosted software via the web</a:t>
            </a:r>
          </a:p>
          <a:p>
            <a:pPr lvl="1"/>
            <a:r>
              <a:rPr lang="en-US" b="1" dirty="0"/>
              <a:t>Key Points:</a:t>
            </a:r>
          </a:p>
          <a:p>
            <a:pPr lvl="2"/>
            <a:r>
              <a:rPr lang="en-US" dirty="0"/>
              <a:t>Similar to traditional models</a:t>
            </a:r>
          </a:p>
          <a:p>
            <a:pPr lvl="2"/>
            <a:r>
              <a:rPr lang="en-US" dirty="0"/>
              <a:t>Not inherently multi-tenant or scalable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D7916-A2F9-F70A-CB15-32A0F4B49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210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7C427EA3-1645-4B27-A5C2-55E8E24C6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85CDBF6-7B87-4A58-92CA-E887CA36A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BFF2B2E-1CF1-403F-BB44-3F9C3E7F6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D8B4D3C-0DE0-43B9-B032-32B536B9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10" name="Picture 9" descr="A table with text on it&#10;&#10;Description automatically generated">
            <a:extLst>
              <a:ext uri="{FF2B5EF4-FFF2-40B4-BE49-F238E27FC236}">
                <a16:creationId xmlns:a16="http://schemas.microsoft.com/office/drawing/2014/main" id="{720614DA-0939-4E69-E100-B2D65D7B83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94" r="1609"/>
          <a:stretch/>
        </p:blipFill>
        <p:spPr>
          <a:xfrm>
            <a:off x="931166" y="1343376"/>
            <a:ext cx="6518800" cy="4465379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707788D3-E467-4E25-A5E9-FD41795BD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601200"/>
            <a:ext cx="3703320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80601-C526-C130-39C8-50DF81B9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>
                <a:solidFill>
                  <a:srgbClr val="FFFFFF"/>
                </a:solidFill>
              </a:rPr>
              <a:t>Key Differences Between ASP and SaaS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D7916-A2F9-F70A-CB15-32A0F4B49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sz="900" kern="1200" cap="all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4241928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0601-C526-C130-39C8-50DF81B9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SaaS Compared to Traditional Models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8C22E-7CBC-F392-F6A3-015DE5A1E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340152"/>
            <a:ext cx="11029615" cy="3634486"/>
          </a:xfrm>
        </p:spPr>
        <p:txBody>
          <a:bodyPr>
            <a:normAutofit/>
          </a:bodyPr>
          <a:lstStyle/>
          <a:p>
            <a:pPr marL="0" marR="0" lvl="0" indent="0" fontAlgn="base">
              <a:lnSpc>
                <a:spcPct val="130000"/>
              </a:lnSpc>
              <a:buNone/>
              <a:tabLst/>
            </a:pPr>
            <a:r>
              <a:rPr lang="en-PK" altLang="en-PK" b="1" dirty="0"/>
              <a:t>Licensing:</a:t>
            </a:r>
          </a:p>
          <a:p>
            <a:pPr lvl="1" fontAlgn="base">
              <a:lnSpc>
                <a:spcPct val="130000"/>
              </a:lnSpc>
            </a:pPr>
            <a:r>
              <a:rPr lang="en-PK" altLang="en-PK" dirty="0"/>
              <a:t>SaaS uses a subscription model, eliminating the need for upfront software licensing fees. This contrasts with traditional software, which typically requires a one-time license purchase.</a:t>
            </a:r>
          </a:p>
          <a:p>
            <a:pPr marL="0" marR="0" lvl="0" indent="0" fontAlgn="base">
              <a:lnSpc>
                <a:spcPct val="130000"/>
              </a:lnSpc>
              <a:buNone/>
              <a:tabLst/>
            </a:pPr>
            <a:r>
              <a:rPr lang="en-PK" altLang="en-PK" b="1" dirty="0"/>
              <a:t>Risks of Software Acquisition:</a:t>
            </a:r>
          </a:p>
          <a:p>
            <a:pPr lvl="1" fontAlgn="base">
              <a:lnSpc>
                <a:spcPct val="130000"/>
              </a:lnSpc>
            </a:pPr>
            <a:r>
              <a:rPr lang="en-PK" altLang="en-PK" dirty="0"/>
              <a:t>SaaS mitigates risks associated with deploying large-scale applications such as ERP or CRM systems by managing the complexity of deployment, resources, and expertise required.</a:t>
            </a:r>
          </a:p>
          <a:p>
            <a:pPr marL="0" marR="0" lvl="0" indent="0" fontAlgn="base">
              <a:lnSpc>
                <a:spcPct val="130000"/>
              </a:lnSpc>
              <a:buNone/>
              <a:tabLst/>
            </a:pPr>
            <a:r>
              <a:rPr lang="en-PK" altLang="en-PK" b="1" dirty="0"/>
              <a:t>Business Focus:</a:t>
            </a:r>
          </a:p>
          <a:p>
            <a:pPr lvl="1" fontAlgn="base">
              <a:lnSpc>
                <a:spcPct val="130000"/>
              </a:lnSpc>
            </a:pPr>
            <a:r>
              <a:rPr lang="en-PK" altLang="en-PK" dirty="0"/>
              <a:t>By shifting responsibilities like upgrades and performance monitoring to the provider, businesses can focus on their core goals and high-value activities.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D7916-A2F9-F70A-CB15-32A0F4B49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620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0601-C526-C130-39C8-50DF81B9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Salesforce.com and Force.com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8C22E-7CBC-F392-F6A3-015DE5A1E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2328118"/>
          </a:xfrm>
        </p:spPr>
        <p:txBody>
          <a:bodyPr/>
          <a:lstStyle/>
          <a:p>
            <a:r>
              <a:rPr lang="en-US" b="1" dirty="0"/>
              <a:t>Salesforce.com: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Pioneering SaaS provider, launched in 1999, offering a hosted CRM system.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Enabled customization and extension of its services through its PaaS platform, Force.com.</a:t>
            </a:r>
          </a:p>
          <a:p>
            <a:r>
              <a:rPr lang="en-US" b="1" dirty="0"/>
              <a:t>Force.com: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Introduced as a PaaS solution by Salesforce.com for users to develop custom functionalities and extend the core CRM offerings.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D7916-A2F9-F70A-CB15-32A0F4B49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628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0601-C526-C130-39C8-50DF81B9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XaaS</a:t>
            </a:r>
            <a:r>
              <a:rPr lang="en-US" dirty="0"/>
              <a:t> (Anything-as-a-Service) and Its Categories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8C22E-7CBC-F392-F6A3-015DE5A1E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Definition: </a:t>
            </a:r>
            <a:r>
              <a:rPr lang="en-US" dirty="0"/>
              <a:t>A general term encompassing various cloud services beyond the core SPI model.</a:t>
            </a:r>
          </a:p>
          <a:p>
            <a:r>
              <a:rPr lang="en-US" b="1" dirty="0"/>
              <a:t>Categories:</a:t>
            </a:r>
          </a:p>
          <a:p>
            <a:pPr lvl="1"/>
            <a:r>
              <a:rPr lang="en-US" dirty="0"/>
              <a:t>Security Management-as-a-Service (</a:t>
            </a:r>
            <a:r>
              <a:rPr lang="en-US" dirty="0" err="1"/>
              <a:t>SMaaS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Identity Management-as-a-Service (</a:t>
            </a:r>
            <a:r>
              <a:rPr lang="en-US" dirty="0" err="1"/>
              <a:t>IDaaS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Storage-as-a-Service (</a:t>
            </a:r>
            <a:r>
              <a:rPr lang="en-US" dirty="0" err="1"/>
              <a:t>STaaS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Database-as-a-Service (DBaaS)</a:t>
            </a:r>
          </a:p>
          <a:p>
            <a:pPr lvl="1"/>
            <a:r>
              <a:rPr lang="en-US" dirty="0"/>
              <a:t>Backup-as-a-Service (BaaS)</a:t>
            </a:r>
          </a:p>
          <a:p>
            <a:pPr lvl="1"/>
            <a:r>
              <a:rPr lang="en-US" dirty="0"/>
              <a:t>Compliance-as-a-Service (CaaS)</a:t>
            </a:r>
          </a:p>
          <a:p>
            <a:pPr lvl="1"/>
            <a:r>
              <a:rPr lang="en-US" dirty="0"/>
              <a:t>Desktop-as-a-Service (DaaS)</a:t>
            </a:r>
          </a:p>
          <a:p>
            <a:pPr lvl="1"/>
            <a:r>
              <a:rPr lang="en-US" dirty="0"/>
              <a:t>Monitoring-as-a-Service (</a:t>
            </a:r>
            <a:r>
              <a:rPr lang="en-US" dirty="0" err="1"/>
              <a:t>MaaS</a:t>
            </a:r>
            <a:r>
              <a:rPr lang="en-US" dirty="0"/>
              <a:t>)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D7916-A2F9-F70A-CB15-32A0F4B49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534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0601-C526-C130-39C8-50DF81B9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Management-as-a-Service (</a:t>
            </a:r>
            <a:r>
              <a:rPr lang="en-US" dirty="0" err="1"/>
              <a:t>SMaaS</a:t>
            </a:r>
            <a:r>
              <a:rPr lang="en-US" dirty="0"/>
              <a:t>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8C22E-7CBC-F392-F6A3-015DE5A1E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808736"/>
          </a:xfrm>
        </p:spPr>
        <p:txBody>
          <a:bodyPr/>
          <a:lstStyle/>
          <a:p>
            <a:r>
              <a:rPr lang="en-US" dirty="0"/>
              <a:t>Purpose: Manages security tasks like virus updates, logs, and audits.</a:t>
            </a:r>
          </a:p>
          <a:p>
            <a:r>
              <a:rPr lang="en-US" dirty="0"/>
              <a:t>Examples: Cisco, McAfee, Symantec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D7916-A2F9-F70A-CB15-32A0F4B49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07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0601-C526-C130-39C8-50DF81B9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Identity Management-as-a-Service (</a:t>
            </a:r>
            <a:r>
              <a:rPr lang="en-US" dirty="0" err="1"/>
              <a:t>IDaaS</a:t>
            </a:r>
            <a:r>
              <a:rPr lang="en-US" dirty="0"/>
              <a:t>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8C22E-7CBC-F392-F6A3-015DE5A1E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1631696"/>
          </a:xfrm>
        </p:spPr>
        <p:txBody>
          <a:bodyPr/>
          <a:lstStyle/>
          <a:p>
            <a:r>
              <a:rPr lang="en-US" dirty="0"/>
              <a:t>Purpose: Handles authentication, authorization, and access control.</a:t>
            </a:r>
          </a:p>
          <a:p>
            <a:r>
              <a:rPr lang="en-US" dirty="0"/>
              <a:t>Features: Federated identity, single sign-on.</a:t>
            </a:r>
          </a:p>
          <a:p>
            <a:r>
              <a:rPr lang="en-US" dirty="0"/>
              <a:t>Examples: </a:t>
            </a:r>
            <a:r>
              <a:rPr lang="en-US" dirty="0" err="1"/>
              <a:t>Symplified</a:t>
            </a:r>
            <a:r>
              <a:rPr lang="en-US" dirty="0"/>
              <a:t>, Ping Identity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D7916-A2F9-F70A-CB15-32A0F4B49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859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0601-C526-C130-39C8-50DF81B9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Storage-as-a-Service (</a:t>
            </a:r>
            <a:r>
              <a:rPr lang="en-US" dirty="0" err="1"/>
              <a:t>STaaS</a:t>
            </a:r>
            <a:r>
              <a:rPr lang="en-US" dirty="0"/>
              <a:t>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8C22E-7CBC-F392-F6A3-015DE5A1E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1601216"/>
          </a:xfrm>
        </p:spPr>
        <p:txBody>
          <a:bodyPr/>
          <a:lstStyle/>
          <a:p>
            <a:r>
              <a:rPr lang="en-US" dirty="0"/>
              <a:t>Purpose: Provides cloud storage on a pay-per-use basis.</a:t>
            </a:r>
          </a:p>
          <a:p>
            <a:r>
              <a:rPr lang="en-US" dirty="0"/>
              <a:t>Benefits: Cost-effective, disaster recovery.</a:t>
            </a:r>
          </a:p>
          <a:p>
            <a:r>
              <a:rPr lang="en-US" dirty="0"/>
              <a:t>Examples: Amazon S3, Rackspace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D7916-A2F9-F70A-CB15-32A0F4B49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856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0601-C526-C130-39C8-50DF81B9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Database-as-a-Service (DBaaS)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8C22E-7CBC-F392-F6A3-015DE5A1E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1784096"/>
          </a:xfrm>
        </p:spPr>
        <p:txBody>
          <a:bodyPr/>
          <a:lstStyle/>
          <a:p>
            <a:r>
              <a:rPr lang="en-US" dirty="0"/>
              <a:t>Purpose: Manages database provisioning, configuration, and maintenance.</a:t>
            </a:r>
          </a:p>
          <a:p>
            <a:r>
              <a:rPr lang="en-US" dirty="0"/>
              <a:t>Features: On-demand and self-service.</a:t>
            </a:r>
          </a:p>
          <a:p>
            <a:r>
              <a:rPr lang="en-US" dirty="0"/>
              <a:t>Examples: Amazon RDS, Microsoft SQL Azure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D7916-A2F9-F70A-CB15-32A0F4B49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436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C0CE2-0522-18D7-88B0-26EA8BDFD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Backup-as-a-Service (BaaS)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69E38-0CC6-1902-C9E7-BB7D0646B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1088136"/>
          </a:xfrm>
        </p:spPr>
        <p:txBody>
          <a:bodyPr/>
          <a:lstStyle/>
          <a:p>
            <a:r>
              <a:rPr lang="en-US" dirty="0"/>
              <a:t>Purpose: Offers data backup and recovery solutions.</a:t>
            </a:r>
          </a:p>
          <a:p>
            <a:r>
              <a:rPr lang="en-US" dirty="0"/>
              <a:t>Benefits: Specialized expertise, cost-effective.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BCF53-48A1-8A8B-43E6-0C972A16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182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C0CE2-0522-18D7-88B0-26EA8BDFD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Compliance-as-a-Service (CaaS)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69E38-0CC6-1902-C9E7-BB7D0646B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1326896"/>
          </a:xfrm>
        </p:spPr>
        <p:txBody>
          <a:bodyPr/>
          <a:lstStyle/>
          <a:p>
            <a:r>
              <a:rPr lang="en-US" dirty="0"/>
              <a:t>Purpose: Ensures adherence to laws and regulations.</a:t>
            </a:r>
          </a:p>
          <a:p>
            <a:r>
              <a:rPr lang="en-US" dirty="0"/>
              <a:t>Role: Acts as an intermediary for regulatory compliance.</a:t>
            </a:r>
          </a:p>
          <a:p>
            <a:r>
              <a:rPr lang="en-US" dirty="0"/>
              <a:t>Features: Specialized in industry-specific regulations.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BCF53-48A1-8A8B-43E6-0C972A16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911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C0CE2-0522-18D7-88B0-26EA8BDFD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Desktop-as-a-Service (DaaS)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69E38-0CC6-1902-C9E7-BB7D0646B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1560576"/>
          </a:xfrm>
        </p:spPr>
        <p:txBody>
          <a:bodyPr/>
          <a:lstStyle/>
          <a:p>
            <a:r>
              <a:rPr lang="en-US" dirty="0"/>
              <a:t>Purpose: Delivers personalized desktop environments via the cloud.</a:t>
            </a:r>
          </a:p>
          <a:p>
            <a:r>
              <a:rPr lang="en-US" dirty="0"/>
              <a:t>Benefits: Consistent desktop experience across devices.</a:t>
            </a:r>
          </a:p>
          <a:p>
            <a:r>
              <a:rPr lang="en-US" dirty="0"/>
              <a:t>Examples: Amazon </a:t>
            </a:r>
            <a:r>
              <a:rPr lang="en-US" dirty="0" err="1"/>
              <a:t>WorkSpaces</a:t>
            </a:r>
            <a:r>
              <a:rPr lang="en-US" dirty="0"/>
              <a:t>, Citrix, </a:t>
            </a:r>
            <a:r>
              <a:rPr lang="en-US" dirty="0" err="1"/>
              <a:t>Desktone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BCF53-48A1-8A8B-43E6-0C972A16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404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C0CE2-0522-18D7-88B0-26EA8BDFD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Monitoring-as-a-Service (</a:t>
            </a:r>
            <a:r>
              <a:rPr lang="en-US" dirty="0" err="1"/>
              <a:t>MaaS</a:t>
            </a:r>
            <a:r>
              <a:rPr lang="en-US" dirty="0"/>
              <a:t>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69E38-0CC6-1902-C9E7-BB7D0646B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1088136"/>
          </a:xfrm>
        </p:spPr>
        <p:txBody>
          <a:bodyPr/>
          <a:lstStyle/>
          <a:p>
            <a:r>
              <a:rPr lang="en-US" dirty="0"/>
              <a:t>Purpose: Tracks performance and functionality of cloud services.</a:t>
            </a:r>
          </a:p>
          <a:p>
            <a:r>
              <a:rPr lang="en-US" dirty="0"/>
              <a:t>Benefits: Helps in performance optimization and issue resolution.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BCF53-48A1-8A8B-43E6-0C972A16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139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C0CE2-0522-18D7-88B0-26EA8BDFD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Cloud Services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69E38-0CC6-1902-C9E7-BB7D0646B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Focus: Primarily for private cloud environments.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Eucalyptus: IaaS for hybrid cloud; compatible with Amazon Cloud.</a:t>
            </a:r>
          </a:p>
          <a:p>
            <a:pPr lvl="1"/>
            <a:r>
              <a:rPr lang="en-US" dirty="0" err="1"/>
              <a:t>OpenNebula</a:t>
            </a:r>
            <a:r>
              <a:rPr lang="en-US" dirty="0"/>
              <a:t>: IaaS for public, private, and hybrid clouds.</a:t>
            </a:r>
          </a:p>
          <a:p>
            <a:pPr lvl="1"/>
            <a:r>
              <a:rPr lang="en-US" dirty="0"/>
              <a:t>Nebula: Developed by NASA; IaaS for large datasets.</a:t>
            </a:r>
          </a:p>
          <a:p>
            <a:pPr lvl="1"/>
            <a:r>
              <a:rPr lang="en-US" dirty="0"/>
              <a:t>Nimbus: IaaS for scientific communities; compatible with Amazon Cloud.</a:t>
            </a:r>
          </a:p>
          <a:p>
            <a:pPr lvl="1"/>
            <a:r>
              <a:rPr lang="en-US" dirty="0"/>
              <a:t>OpenStack: Open-source IaaS; supported by a wide range of contributors.</a:t>
            </a:r>
          </a:p>
          <a:p>
            <a:pPr lvl="1"/>
            <a:r>
              <a:rPr lang="en-US" dirty="0"/>
              <a:t>Apache VCL: Remote access to computing resources.</a:t>
            </a:r>
          </a:p>
          <a:p>
            <a:pPr lvl="1"/>
            <a:r>
              <a:rPr lang="en-US" dirty="0"/>
              <a:t>Apache </a:t>
            </a:r>
            <a:r>
              <a:rPr lang="en-US" dirty="0" err="1"/>
              <a:t>CloudStack</a:t>
            </a:r>
            <a:r>
              <a:rPr lang="en-US" dirty="0"/>
              <a:t>: IaaS with support for AWS APIs.</a:t>
            </a:r>
          </a:p>
          <a:p>
            <a:pPr lvl="1"/>
            <a:r>
              <a:rPr lang="en-US" dirty="0" err="1"/>
              <a:t>Enomaly</a:t>
            </a:r>
            <a:r>
              <a:rPr lang="en-US" dirty="0"/>
              <a:t> ECP: Early open-source IaaS solution; now commercially available.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BCF53-48A1-8A8B-43E6-0C972A16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146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F7011-22CC-FC31-B764-A995C6463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Cloud Services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5B523-3FB7-FB8E-9B0B-A4FDDC79F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46049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Eucalyptus: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Description: Open-source IaaS for building private or hybrid clouds.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Key Features: Compatible with Amazon Cloud, supports hybrid cloud environments.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History: Developed at the University of California, commercialized by Eucalyptus Systems in 2009.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 err="1"/>
              <a:t>OpenNebula</a:t>
            </a:r>
            <a:r>
              <a:rPr lang="en-US" b="1" dirty="0"/>
              <a:t>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Description: Open-source IaaS for public, private, and hybrid clouds.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Key Features: Compatibility with Amazon Cloud, integrated into Ubuntu and Red Hat distributions.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History: Originated as a research project in 2005, managed by C12G Labs.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Nebula: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Description: Open-source IaaS developed by NASA for handling large datasets.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Key Features: Provides compute and storage facilities.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History: Released in 2008, commercialized by Nebula Inc. in 2013.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2A2FB5-64F6-44AD-E535-63E71DA6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261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F7011-22CC-FC31-B764-A995C6463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Cloud Services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5B523-3FB7-FB8E-9B0B-A4FDDC79F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104896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Nimbus: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Description: Open-source IaaS developed for scientific computing.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Key Features: Compatible with Amazon Cloud services.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History: Developed at the University of Chicago, licensed under Apache License 2.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OpenStack: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Description: Open-source IaaS solution launched by Rackspace and NASA.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Key Features: Supports both public and private clouds, over 200 contributing companies.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History: Initiated in 2010, governed by the OpenStack Foundation.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Apache VCL: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Description: Open-source platform for remote computing access.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Key Features: Built with Linux, Apache, MySQL, and PHP.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History: Started by NC State University, contributed to Apache Software Foundation in 2008.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2A2FB5-64F6-44AD-E535-63E71DA6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25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F7011-22CC-FC31-B764-A995C6463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Cloud Services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5B523-3FB7-FB8E-9B0B-A4FDDC79F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2180336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Apache </a:t>
            </a:r>
            <a:r>
              <a:rPr lang="en-US" b="1" dirty="0" err="1"/>
              <a:t>CloudStack</a:t>
            </a:r>
            <a:r>
              <a:rPr lang="en-US" b="1" dirty="0"/>
              <a:t>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Description: Open-source IaaS solution for cloud management.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Key Features: Supports AWS APIs, facilitates hybrid cloud deployment.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History: Acquired by Citrix in 2011, contributed to Apache Software Foundation.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 err="1"/>
              <a:t>Enomaly</a:t>
            </a:r>
            <a:r>
              <a:rPr lang="en-US" b="1" dirty="0"/>
              <a:t> ECP (Elastic Computing Platform):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Description: Early IaaS solution for building cloud environments.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Key Features: Initially open-source, later offered commercially.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History: Developed by </a:t>
            </a:r>
            <a:r>
              <a:rPr lang="en-US" dirty="0" err="1"/>
              <a:t>Enomaly</a:t>
            </a:r>
            <a:r>
              <a:rPr lang="en-US" dirty="0"/>
              <a:t> Inc., launched in 2009.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2A2FB5-64F6-44AD-E535-63E71DA6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992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3037</TotalTime>
  <Words>1710</Words>
  <Application>Microsoft Office PowerPoint</Application>
  <PresentationFormat>Widescreen</PresentationFormat>
  <Paragraphs>208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Arial</vt:lpstr>
      <vt:lpstr>Arial Nova Light</vt:lpstr>
      <vt:lpstr>Wingdings 2</vt:lpstr>
      <vt:lpstr>DividendVTI</vt:lpstr>
      <vt:lpstr> CHAPTER 5 Cloud Computing SERVICES</vt:lpstr>
      <vt:lpstr>Cloud Computing Services Overview</vt:lpstr>
      <vt:lpstr>Service Delivery Models</vt:lpstr>
      <vt:lpstr>Infrastructure-as-a-Service (IaaS)</vt:lpstr>
      <vt:lpstr>IaaS Component Stack</vt:lpstr>
      <vt:lpstr>Platform-as-a-Service (PaaS)</vt:lpstr>
      <vt:lpstr>PaaS–IaaS Integration</vt:lpstr>
      <vt:lpstr>Software-as-a-Service (SaaS)</vt:lpstr>
      <vt:lpstr>SaaS–PaaS Integration</vt:lpstr>
      <vt:lpstr>Levels of Service Abstraction</vt:lpstr>
      <vt:lpstr>The SPI Model</vt:lpstr>
      <vt:lpstr>Traditional vs Cloud Computing Models</vt:lpstr>
      <vt:lpstr>Software-as-a-Service (SaaS) vs. Application Service Provider (ASP)</vt:lpstr>
      <vt:lpstr>Key Differences Between ASP and SaaS</vt:lpstr>
      <vt:lpstr>Advantages of SaaS Compared to Traditional Models</vt:lpstr>
      <vt:lpstr>Salesforce.com and Force.com</vt:lpstr>
      <vt:lpstr>XaaS (Anything-as-a-Service) and Its Categories</vt:lpstr>
      <vt:lpstr>Security Management-as-a-Service (SMaaS)</vt:lpstr>
      <vt:lpstr>Identity Management-as-a-Service (IDaaS)</vt:lpstr>
      <vt:lpstr>Storage-as-a-Service (STaaS)</vt:lpstr>
      <vt:lpstr>Database-as-a-Service (DBaaS)</vt:lpstr>
      <vt:lpstr>Backup-as-a-Service (BaaS)</vt:lpstr>
      <vt:lpstr>Compliance-as-a-Service (CaaS)</vt:lpstr>
      <vt:lpstr>Desktop-as-a-Service (DaaS)</vt:lpstr>
      <vt:lpstr>Monitoring-as-a-Service (MaaS)</vt:lpstr>
      <vt:lpstr>Open Cloud Services</vt:lpstr>
      <vt:lpstr>Open Cloud Services</vt:lpstr>
      <vt:lpstr>Open Cloud Services</vt:lpstr>
      <vt:lpstr>Open Cloud Services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17</cp:revision>
  <dcterms:created xsi:type="dcterms:W3CDTF">2024-08-20T00:20:53Z</dcterms:created>
  <dcterms:modified xsi:type="dcterms:W3CDTF">2025-08-18T14:20:49Z</dcterms:modified>
</cp:coreProperties>
</file>