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27"/>
  </p:notesMasterIdLst>
  <p:sldIdLst>
    <p:sldId id="343" r:id="rId2"/>
    <p:sldId id="350" r:id="rId3"/>
    <p:sldId id="349" r:id="rId4"/>
    <p:sldId id="348" r:id="rId5"/>
    <p:sldId id="351" r:id="rId6"/>
    <p:sldId id="352" r:id="rId7"/>
    <p:sldId id="353" r:id="rId8"/>
    <p:sldId id="354" r:id="rId9"/>
    <p:sldId id="356" r:id="rId10"/>
    <p:sldId id="357" r:id="rId11"/>
    <p:sldId id="358" r:id="rId12"/>
    <p:sldId id="359" r:id="rId13"/>
    <p:sldId id="360" r:id="rId14"/>
    <p:sldId id="361" r:id="rId15"/>
    <p:sldId id="367" r:id="rId16"/>
    <p:sldId id="355" r:id="rId17"/>
    <p:sldId id="362" r:id="rId18"/>
    <p:sldId id="363" r:id="rId19"/>
    <p:sldId id="365" r:id="rId20"/>
    <p:sldId id="364" r:id="rId21"/>
    <p:sldId id="366" r:id="rId22"/>
    <p:sldId id="368" r:id="rId23"/>
    <p:sldId id="369" r:id="rId24"/>
    <p:sldId id="370" r:id="rId25"/>
    <p:sldId id="371" r:id="rId26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2 - Book 1" id="{1DF3478D-BD28-4469-B514-70E7D33688A2}">
          <p14:sldIdLst>
            <p14:sldId id="343"/>
            <p14:sldId id="350"/>
            <p14:sldId id="349"/>
            <p14:sldId id="348"/>
            <p14:sldId id="351"/>
            <p14:sldId id="352"/>
            <p14:sldId id="353"/>
            <p14:sldId id="354"/>
            <p14:sldId id="356"/>
            <p14:sldId id="357"/>
            <p14:sldId id="358"/>
            <p14:sldId id="359"/>
            <p14:sldId id="360"/>
            <p14:sldId id="361"/>
            <p14:sldId id="367"/>
            <p14:sldId id="355"/>
            <p14:sldId id="362"/>
            <p14:sldId id="363"/>
            <p14:sldId id="365"/>
            <p14:sldId id="364"/>
            <p14:sldId id="366"/>
            <p14:sldId id="368"/>
            <p14:sldId id="369"/>
            <p14:sldId id="370"/>
            <p14:sldId id="3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941"/>
    <a:srgbClr val="3E62DB"/>
    <a:srgbClr val="82D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F5BD8-AB19-415A-A6E8-2C02BC4B51DD}" type="datetimeFigureOut">
              <a:rPr lang="en-PK" smtClean="0"/>
              <a:t>18/08/2025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6FAB4-9C4C-4B5F-AFD2-1EBD9F3DC8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1873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F3511-33AF-40AE-82D0-F33732B7D14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047BF-ED07-45D6-BE38-A9AEB24EAF9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3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6B55-DA85-497A-A47D-E5AD3FB1E09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9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DA88-1C6C-455D-BD3E-4309786BA0F9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6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1C80-0345-43F3-9621-4C7DC2C05A5A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0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72C0-8626-407D-A7C9-4D25B4156BA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92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C96B-941D-41C4-B3C5-9C8283BBCCD3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7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611126C9-D3D6-4A6D-BD80-931F70242AF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0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DA07-CC06-426F-A7E9-CF6138A41C3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22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4AF1F-39F2-4B31-8139-B1BB4A980734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8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1853-5107-4B00-83AD-32E4F7B18F30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6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A8E0D95-E414-403E-B8FF-E99C0A1E76A0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416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loud shaped hard drive with cables">
            <a:extLst>
              <a:ext uri="{FF2B5EF4-FFF2-40B4-BE49-F238E27FC236}">
                <a16:creationId xmlns:a16="http://schemas.microsoft.com/office/drawing/2014/main" id="{E06FCEF4-3A55-C0E4-2BE9-193E2A25E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6"/>
          <a:stretch/>
        </p:blipFill>
        <p:spPr>
          <a:xfrm>
            <a:off x="20" y="12170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8AA8E5-D86F-57AD-77C7-B603600C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16" y="301560"/>
            <a:ext cx="7301603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CHAPTER 2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4400" b="1" dirty="0">
                <a:solidFill>
                  <a:schemeClr val="tx1"/>
                </a:solidFill>
              </a:rPr>
              <a:t>Evolution and Enabling </a:t>
            </a:r>
            <a:br>
              <a:rPr lang="en-US" sz="4400" b="1" dirty="0">
                <a:solidFill>
                  <a:schemeClr val="tx1"/>
                </a:solidFill>
              </a:rPr>
            </a:br>
            <a:r>
              <a:rPr lang="en-US" sz="4400" b="1" dirty="0">
                <a:solidFill>
                  <a:schemeClr val="tx1"/>
                </a:solidFill>
              </a:rPr>
              <a:t>Technologies 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23D3D-099D-40B4-2DFB-4B808DE51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9601" y="4942982"/>
            <a:ext cx="3622399" cy="16634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600" cap="all" dirty="0">
                <a:solidFill>
                  <a:schemeClr val="tx1"/>
                </a:solidFill>
              </a:rPr>
              <a:t>|</a:t>
            </a:r>
            <a:r>
              <a:rPr lang="en-US" sz="2400" cap="all" dirty="0">
                <a:solidFill>
                  <a:schemeClr val="tx1"/>
                </a:solidFill>
              </a:rPr>
              <a:t>Cloud Computing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745E2-B198-1C04-3E74-A82C4935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813" y="6423913"/>
            <a:ext cx="2304288" cy="3651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>
              <a:spcAft>
                <a:spcPts val="600"/>
              </a:spcAft>
            </a:pPr>
            <a:r>
              <a:rPr lang="en-US" sz="1000" kern="120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CS4037 - Muhammad Sudais</a:t>
            </a:r>
            <a:endParaRPr lang="en-US" sz="1000" kern="1200" cap="all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4551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5644B63-A263-40F8-9273-8ED1263D3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Picture 5" descr="White clouds on a blue background&#10;&#10;Description automatically generated">
            <a:extLst>
              <a:ext uri="{FF2B5EF4-FFF2-40B4-BE49-F238E27FC236}">
                <a16:creationId xmlns:a16="http://schemas.microsoft.com/office/drawing/2014/main" id="{D2A66509-BEB3-22B4-36DA-A5825CDB4A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1" b="4317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02A5C3C-2A94-4EB3-B70A-313330494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838" y="585410"/>
            <a:ext cx="11305200" cy="5774265"/>
          </a:xfrm>
          <a:prstGeom prst="rect">
            <a:avLst/>
          </a:prstGeom>
          <a:solidFill>
            <a:schemeClr val="bg1">
              <a:alpha val="91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90F029-172C-C054-6F71-5CF9DCFC2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571" y="1131195"/>
            <a:ext cx="10620390" cy="1247938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Evolution &amp; ENABLING of CLOUD Computing</a:t>
            </a:r>
            <a:endParaRPr lang="en-PK" dirty="0">
              <a:solidFill>
                <a:schemeClr val="tx1"/>
              </a:solidFill>
            </a:endParaRP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B3808B6F-D825-202D-6468-BD6D603AD8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1571" y="2561968"/>
            <a:ext cx="10617384" cy="3211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Gradual Development</a:t>
            </a:r>
            <a:endParaRPr kumimoji="0" lang="en-PK" altLang="en-PK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computing is not an abrupt innovation but a result of decades of advancements in computing technology.</a:t>
            </a:r>
          </a:p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Historical Context:</a:t>
            </a:r>
            <a:endParaRPr kumimoji="0" lang="en-PK" altLang="en-PK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idea of cloud computing dates back to the 1960s.</a:t>
            </a:r>
          </a:p>
          <a:p>
            <a:pPr lvl="1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John McCarthy's Vision: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 suggested that "computation may someday be organized as a public utility."</a:t>
            </a:r>
          </a:p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Technological Advancements:</a:t>
            </a:r>
            <a:endParaRPr kumimoji="0" lang="en-PK" altLang="en-PK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 time, progress in hardware, communication, and web-based software architecture enabled the realization of cloud computing.</a:t>
            </a:r>
          </a:p>
          <a:p>
            <a:pPr lvl="1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development of the Internet played a crucial role in changing how computing services were delivered.</a:t>
            </a:r>
          </a:p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endParaRPr kumimoji="0" lang="en-PK" altLang="en-PK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B327C8-E341-FC44-A84C-24BAFC80C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139" y="5884078"/>
            <a:ext cx="1062039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15615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5644B63-A263-40F8-9273-8ED1263D3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Picture 5" descr="White clouds on a blue background&#10;&#10;Description automatically generated">
            <a:extLst>
              <a:ext uri="{FF2B5EF4-FFF2-40B4-BE49-F238E27FC236}">
                <a16:creationId xmlns:a16="http://schemas.microsoft.com/office/drawing/2014/main" id="{D2A66509-BEB3-22B4-36DA-A5825CDB4A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1" b="4317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02A5C3C-2A94-4EB3-B70A-313330494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838" y="585410"/>
            <a:ext cx="11305200" cy="5774265"/>
          </a:xfrm>
          <a:prstGeom prst="rect">
            <a:avLst/>
          </a:prstGeom>
          <a:solidFill>
            <a:schemeClr val="bg1">
              <a:alpha val="91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90F029-172C-C054-6F71-5CF9DCFC2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571" y="1131195"/>
            <a:ext cx="10620390" cy="124793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Evolution &amp; ENABLING of CLOUD Computing</a:t>
            </a:r>
            <a:endParaRPr lang="en-PK" dirty="0">
              <a:solidFill>
                <a:schemeClr val="tx1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3808B6F-D825-202D-6468-BD6D603AD8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1571" y="2561968"/>
            <a:ext cx="10617384" cy="3211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Overcoming Limitations:</a:t>
            </a:r>
            <a:endParaRPr kumimoji="0" lang="en-PK" altLang="en-P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Earlier technological constraints prevented cloud computing from becoming a reality.</a:t>
            </a:r>
          </a:p>
          <a:p>
            <a:pPr lvl="1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Advancements in associated fields overcame these limitations, making cloud computing possible.</a:t>
            </a:r>
          </a:p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Evolution of Computing Models:</a:t>
            </a:r>
            <a:endParaRPr kumimoji="0" lang="en-PK" altLang="en-P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chapter traces the evolution of cloud computing through stages:</a:t>
            </a:r>
          </a:p>
          <a:p>
            <a:pPr marL="1012950" lvl="2" indent="-28575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Computing</a:t>
            </a:r>
            <a:endParaRPr kumimoji="0" lang="en-PK" altLang="en-PK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012950" lvl="2" indent="-28575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Client-Server Computing</a:t>
            </a:r>
            <a:endParaRPr kumimoji="0" lang="en-PK" altLang="en-PK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012950" lvl="2" indent="-28575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Distributed Computing</a:t>
            </a:r>
            <a:endParaRPr kumimoji="0" lang="en-PK" altLang="en-PK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012950" lvl="2" indent="-28575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Grid Computing</a:t>
            </a:r>
            <a:endParaRPr kumimoji="0" lang="en-PK" altLang="en-PK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012950" lvl="2" indent="-28575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Computing</a:t>
            </a:r>
            <a:endParaRPr kumimoji="0" lang="en-PK" altLang="en-PK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as a Public Utility:</a:t>
            </a:r>
            <a:endParaRPr kumimoji="0" lang="en-PK" altLang="en-P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computing has finally realized the vision of computing as a public utility, providing on-demand services to users.</a:t>
            </a:r>
          </a:p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endParaRPr kumimoji="0" lang="en-PK" altLang="en-PK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B327C8-E341-FC44-A84C-24BAFC80C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139" y="5884078"/>
            <a:ext cx="1062039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123602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White clouds on a blue background&#10;&#10;Description automatically generated">
            <a:extLst>
              <a:ext uri="{FF2B5EF4-FFF2-40B4-BE49-F238E27FC236}">
                <a16:creationId xmlns:a16="http://schemas.microsoft.com/office/drawing/2014/main" id="{D2A66509-BEB3-22B4-36DA-A5825CDB4A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1" b="4317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36B822CC-7DA9-4417-AA94-64CEB676F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219240"/>
            <a:ext cx="11301984" cy="94997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FA01E88-71CC-4FF3-9E81-51E0C32B4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376057"/>
            <a:ext cx="11303626" cy="2034709"/>
          </a:xfrm>
          <a:prstGeom prst="rect">
            <a:avLst/>
          </a:prstGeom>
          <a:solidFill>
            <a:schemeClr val="bg1">
              <a:alpha val="95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90F029-172C-C054-6F71-5CF9DCFC2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600" y="4613395"/>
            <a:ext cx="3353432" cy="1336485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Evolution of CLOUD Computing</a:t>
            </a:r>
            <a:endParaRPr lang="en-PK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CD877-E8D2-A7D6-2848-1F67D427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1491" y="4613396"/>
            <a:ext cx="7240909" cy="13041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Several decades of research, particularly in the domain of parallel and distributed computing, have paved the way for cloud computing</a:t>
            </a:r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B327C8-E341-FC44-A84C-24BAFC80C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61793" y="5981897"/>
            <a:ext cx="5187601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296523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92F87-084E-4725-147D-075AB5D8E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CLOUD COMPUTING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A4B25-B815-917B-290A-B7A5FF805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15537B0-2C66-ADD6-2B5A-6B85A65EA1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449948"/>
            <a:ext cx="1036722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Mainframe Architecture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 the 1970s, organizations used expensive, large mainframes for tasks like payroll management. Time-sharing systems allowed multiple users to access the same computer resources concurrently, reducing the need for multiple mainframes. Dumb terminals were used to access the mainframes remotely.</a:t>
            </a: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Intelligent Terminal and Client-Server Computing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As processing demands grew, technologists developed intelligent terminals (or client systems) capable of minimal processing. This led to client-server computing, where the load was partially shifted from servers to clients.</a:t>
            </a: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PC Revolution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introduction of personal computers (PCs) in the 1970s further reduced dependence on mainframes. Organizations could perform all computing tasks locally on affordable PCs, which decreased the need for time-sharing systems.</a:t>
            </a:r>
          </a:p>
        </p:txBody>
      </p:sp>
    </p:spTree>
    <p:extLst>
      <p:ext uri="{BB962C8B-B14F-4D97-AF65-F5344CB8AC3E}">
        <p14:creationId xmlns:p14="http://schemas.microsoft.com/office/powerpoint/2010/main" val="881656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92F87-084E-4725-147D-075AB5D8E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CLOUD COMPUTING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A4B25-B815-917B-290A-B7A5FF805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15537B0-2C66-ADD6-2B5A-6B85A65EA1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311448"/>
            <a:ext cx="959912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of PCs and Peer-to-Peer Computing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As PCs became widespread, the need for direct communication between distant computers emerged. The development of LAN and WAN technologies enabled peer-to-peer (P2P) computing, allowing PCs to act as both clients and servers, decentralizing control.</a:t>
            </a: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Parallel and Distributed Computing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By the 1980s, parallel processing and distributed computing were introduced. Parallel processing allowed multiple processors to work on a task simultaneously, while distributed computing combined multiple systems to create a powerful computing network.</a:t>
            </a: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 Computing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Clusters of interconnected computers performing similar tasks provided faster execution by distributing jobs across multiple nodes. Clustering also introduced the concept of resource pooling, improving reliability through redundancy.</a:t>
            </a:r>
          </a:p>
        </p:txBody>
      </p:sp>
    </p:spTree>
    <p:extLst>
      <p:ext uri="{BB962C8B-B14F-4D97-AF65-F5344CB8AC3E}">
        <p14:creationId xmlns:p14="http://schemas.microsoft.com/office/powerpoint/2010/main" val="4027118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92F87-084E-4725-147D-075AB5D8E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CLOUD COMPUTING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A4B25-B815-917B-290A-B7A5FF805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15537B0-2C66-ADD6-2B5A-6B85A65EA1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588447"/>
            <a:ext cx="1102961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Grid Computing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Grid computing took cluster computing a step further by decentralizing control and allowing nodes to perform tasks without a central 'head.' This architecture could scale across geographic locations and accommodate heterogeneous systems.</a:t>
            </a: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Virtualization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Virtualization allowed the decoupling of software systems from physical hardware, enabling dynamic resource scaling. This introduced the concept of virtual machines (</a:t>
            </a:r>
            <a:r>
              <a:rPr kumimoji="0" lang="en-PK" altLang="en-PK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VMs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which could simulate physical systems and manage resources more flexibly.</a:t>
            </a: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Advancement in Web Services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growth of web services, particularly with Web 2.0, facilitated group collaboration over the web. This enabled real-time collaboration across geographically dispersed users, making it easier to integrate and share data across platforms.</a:t>
            </a:r>
          </a:p>
        </p:txBody>
      </p:sp>
    </p:spTree>
    <p:extLst>
      <p:ext uri="{BB962C8B-B14F-4D97-AF65-F5344CB8AC3E}">
        <p14:creationId xmlns:p14="http://schemas.microsoft.com/office/powerpoint/2010/main" val="4165263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511" name="Rectangle 21510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89A4D4-EAAE-EC10-B185-F5D4C7BAE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/>
              <a:t>Evolution OF CLOUD COMPUTING : Mainframe Architecture</a:t>
            </a:r>
            <a:endParaRPr lang="en-PK"/>
          </a:p>
        </p:txBody>
      </p:sp>
      <p:sp>
        <p:nvSpPr>
          <p:cNvPr id="21513" name="Rectangle 21512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1515" name="Rectangle 21514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1517" name="Rectangle 21516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1519" name="Rectangle 21518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506" name="Picture 2" descr="Types of Operating Systems (OS) - javatpoint">
            <a:extLst>
              <a:ext uri="{FF2B5EF4-FFF2-40B4-BE49-F238E27FC236}">
                <a16:creationId xmlns:a16="http://schemas.microsoft.com/office/drawing/2014/main" id="{65F6A1CE-08BC-F844-5A48-C8B76B0C24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38" r="-4642" b="7922"/>
          <a:stretch/>
        </p:blipFill>
        <p:spPr bwMode="auto">
          <a:xfrm>
            <a:off x="1033382" y="2499053"/>
            <a:ext cx="4243372" cy="3405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5893C-8893-1A7B-143A-E53C764CA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Mainframe Architecture: Introduction of Time-Sharing System</a:t>
            </a:r>
          </a:p>
          <a:p>
            <a:pPr>
              <a:spcBef>
                <a:spcPts val="0"/>
              </a:spcBef>
            </a:pPr>
            <a:r>
              <a:rPr lang="en-US" dirty="0"/>
              <a:t>Early computing (1970s) used mainframes for data processing (e.g., payroll).</a:t>
            </a:r>
          </a:p>
          <a:p>
            <a:pPr>
              <a:spcBef>
                <a:spcPts val="0"/>
              </a:spcBef>
            </a:pPr>
            <a:r>
              <a:rPr lang="en-US" dirty="0"/>
              <a:t>Time-sharing allowed multiple users to access a single mainframe.</a:t>
            </a:r>
          </a:p>
          <a:p>
            <a:pPr>
              <a:spcBef>
                <a:spcPts val="0"/>
              </a:spcBef>
            </a:pPr>
            <a:r>
              <a:rPr lang="en-US" dirty="0"/>
              <a:t>Dumb terminals enabled remote access to centralized systems, but without local processing power.</a:t>
            </a:r>
          </a:p>
          <a:p>
            <a:pPr marL="0" indent="0">
              <a:spcBef>
                <a:spcPts val="0"/>
              </a:spcBef>
              <a:buNone/>
            </a:pP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F065C-F08C-751A-0217-3A56BE25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59B3D7-82C4-99CA-5BFB-2243F5C0389D}"/>
              </a:ext>
            </a:extLst>
          </p:cNvPr>
          <p:cNvSpPr/>
          <p:nvPr/>
        </p:nvSpPr>
        <p:spPr>
          <a:xfrm>
            <a:off x="8396063" y="5702959"/>
            <a:ext cx="115448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1970s</a:t>
            </a:r>
          </a:p>
        </p:txBody>
      </p:sp>
    </p:spTree>
    <p:extLst>
      <p:ext uri="{BB962C8B-B14F-4D97-AF65-F5344CB8AC3E}">
        <p14:creationId xmlns:p14="http://schemas.microsoft.com/office/powerpoint/2010/main" val="2946820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583" name="Rectangle 24582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89A4D4-EAAE-EC10-B185-F5D4C7BAE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Evolution OF CLOUD COMPUTING : Intelligent Terminal</a:t>
            </a:r>
            <a:endParaRPr lang="en-PK" dirty="0"/>
          </a:p>
        </p:txBody>
      </p:sp>
      <p:sp>
        <p:nvSpPr>
          <p:cNvPr id="24585" name="Rectangle 24584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4587" name="Rectangle 24586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4589" name="Rectangle 24588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4591" name="Rectangle 24590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578" name="Picture 2" descr="Client Server Applications Services in J.P Nagar II Phase, Bengaluru ...">
            <a:extLst>
              <a:ext uri="{FF2B5EF4-FFF2-40B4-BE49-F238E27FC236}">
                <a16:creationId xmlns:a16="http://schemas.microsoft.com/office/drawing/2014/main" id="{FBF693C8-C56D-4FB0-8885-8411C0076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1194" y="2499053"/>
            <a:ext cx="4127749" cy="3405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5893C-8893-1A7B-143A-E53C764CA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Intelligent Terminal: Beginning of Client-Server Computing</a:t>
            </a:r>
            <a:endParaRPr lang="en-US" b="1"/>
          </a:p>
          <a:p>
            <a:pPr>
              <a:spcBef>
                <a:spcPts val="0"/>
              </a:spcBef>
            </a:pPr>
            <a:r>
              <a:rPr lang="en-US" dirty="0"/>
              <a:t>Dumb terminals were limited in handling concurrent tasks.</a:t>
            </a:r>
            <a:endParaRPr lang="en-US"/>
          </a:p>
          <a:p>
            <a:pPr>
              <a:spcBef>
                <a:spcPts val="0"/>
              </a:spcBef>
            </a:pPr>
            <a:r>
              <a:rPr lang="en-US" dirty="0"/>
              <a:t>Intelligent terminals with some processing power emerged due to low-cost microprocessors.</a:t>
            </a:r>
            <a:endParaRPr lang="en-US"/>
          </a:p>
          <a:p>
            <a:pPr>
              <a:spcBef>
                <a:spcPts val="0"/>
              </a:spcBef>
            </a:pPr>
            <a:r>
              <a:rPr lang="en-US" dirty="0"/>
              <a:t>This was the beginning of client-server computing, reducing load on central servers by distributing tasks.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F065C-F08C-751A-0217-3A56BE25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603896-84FA-A86B-AB5E-BED2F7C793EF}"/>
              </a:ext>
            </a:extLst>
          </p:cNvPr>
          <p:cNvSpPr/>
          <p:nvPr/>
        </p:nvSpPr>
        <p:spPr>
          <a:xfrm>
            <a:off x="8396063" y="5702959"/>
            <a:ext cx="115448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1970s</a:t>
            </a:r>
          </a:p>
        </p:txBody>
      </p:sp>
    </p:spTree>
    <p:extLst>
      <p:ext uri="{BB962C8B-B14F-4D97-AF65-F5344CB8AC3E}">
        <p14:creationId xmlns:p14="http://schemas.microsoft.com/office/powerpoint/2010/main" val="3923427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609" name="Rectangle 25608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89A4D4-EAAE-EC10-B185-F5D4C7BAE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Evolution OF CLOUD COMPUTING : </a:t>
            </a:r>
            <a:r>
              <a:rPr lang="en-US"/>
              <a:t>The PC Revolution</a:t>
            </a:r>
            <a:endParaRPr lang="en-PK" dirty="0"/>
          </a:p>
        </p:txBody>
      </p:sp>
      <p:sp>
        <p:nvSpPr>
          <p:cNvPr id="25611" name="Rectangle 25610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5613" name="Rectangle 25612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5615" name="Rectangle 25614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5617" name="Rectangle 25616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604" name="Picture 4" descr="In the 1970s, the personal computer, like the lever &amp; the abacus before ...">
            <a:extLst>
              <a:ext uri="{FF2B5EF4-FFF2-40B4-BE49-F238E27FC236}">
                <a16:creationId xmlns:a16="http://schemas.microsoft.com/office/drawing/2014/main" id="{423794FC-A5A6-5986-4866-DE9525FB6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46020" y="2499053"/>
            <a:ext cx="3218096" cy="3405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5893C-8893-1A7B-143A-E53C764CA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b="1"/>
              <a:t>The PC Revolution: Scope for Computing Everything Locally</a:t>
            </a:r>
          </a:p>
          <a:p>
            <a:pPr>
              <a:spcBef>
                <a:spcPts val="0"/>
              </a:spcBef>
            </a:pPr>
            <a:r>
              <a:rPr lang="en-US"/>
              <a:t>Microprocessors enabled personal computers (PCs) to perform tasks locally.</a:t>
            </a:r>
          </a:p>
          <a:p>
            <a:pPr>
              <a:spcBef>
                <a:spcPts val="0"/>
              </a:spcBef>
            </a:pPr>
            <a:r>
              <a:rPr lang="en-US"/>
              <a:t>PCs were affordable, reducing reliance on expensive mainframe systems.</a:t>
            </a:r>
          </a:p>
          <a:p>
            <a:pPr>
              <a:spcBef>
                <a:spcPts val="0"/>
              </a:spcBef>
            </a:pPr>
            <a:r>
              <a:rPr lang="en-US"/>
              <a:t>This allowed organizations to handle more computing tasks internally.</a:t>
            </a:r>
          </a:p>
          <a:p>
            <a:pPr marL="0" indent="0">
              <a:spcBef>
                <a:spcPts val="0"/>
              </a:spcBef>
              <a:buNone/>
            </a:pPr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F065C-F08C-751A-0217-3A56BE25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D78676-D42F-AA2F-66B2-1F07F6A94748}"/>
              </a:ext>
            </a:extLst>
          </p:cNvPr>
          <p:cNvSpPr/>
          <p:nvPr/>
        </p:nvSpPr>
        <p:spPr>
          <a:xfrm>
            <a:off x="8065044" y="5702959"/>
            <a:ext cx="181652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Mid 1970s</a:t>
            </a:r>
          </a:p>
        </p:txBody>
      </p:sp>
    </p:spTree>
    <p:extLst>
      <p:ext uri="{BB962C8B-B14F-4D97-AF65-F5344CB8AC3E}">
        <p14:creationId xmlns:p14="http://schemas.microsoft.com/office/powerpoint/2010/main" val="408453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631" name="Rectangle 26630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89A4D4-EAAE-EC10-B185-F5D4C7BAE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Evolution OF CLOUD COMPUTING : PEER TO PEER</a:t>
            </a:r>
            <a:endParaRPr lang="en-PK" dirty="0"/>
          </a:p>
        </p:txBody>
      </p:sp>
      <p:sp>
        <p:nvSpPr>
          <p:cNvPr id="26633" name="Rectangle 26632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6635" name="Rectangle 26634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6637" name="Rectangle 26636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6639" name="Rectangle 26638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626" name="Picture 2" descr="Réseaux P2P Quels sont-ils, quels sont leurs avantages et inconvénients ...">
            <a:extLst>
              <a:ext uri="{FF2B5EF4-FFF2-40B4-BE49-F238E27FC236}">
                <a16:creationId xmlns:a16="http://schemas.microsoft.com/office/drawing/2014/main" id="{9AA166D5-75DF-D914-A558-CF131F7CA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0698" y="2978949"/>
            <a:ext cx="4748741" cy="2445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5893C-8893-1A7B-143A-E53C764CA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Network of PCs: Emergence of Direct or Peer-to-Peer Communication</a:t>
            </a:r>
            <a:endParaRPr lang="en-US" b="1"/>
          </a:p>
          <a:p>
            <a:pPr>
              <a:spcBef>
                <a:spcPts val="0"/>
              </a:spcBef>
            </a:pPr>
            <a:r>
              <a:rPr lang="en-US" dirty="0"/>
              <a:t>Organizations installed multiple PCs, but they couldn't communicate directly.</a:t>
            </a:r>
            <a:endParaRPr lang="en-US"/>
          </a:p>
          <a:p>
            <a:pPr>
              <a:spcBef>
                <a:spcPts val="0"/>
              </a:spcBef>
            </a:pPr>
            <a:r>
              <a:rPr lang="en-US" dirty="0"/>
              <a:t>Network communication (LAN, WAN) solved this issue, enabling PCs to communicate without needing a central server.</a:t>
            </a:r>
            <a:endParaRPr lang="en-US"/>
          </a:p>
          <a:p>
            <a:pPr>
              <a:spcBef>
                <a:spcPts val="0"/>
              </a:spcBef>
            </a:pPr>
            <a:r>
              <a:rPr lang="en-US" dirty="0"/>
              <a:t>Peer-to-peer (P2P) computing emerged, decentralizing control.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F065C-F08C-751A-0217-3A56BE25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268905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9A4D4-EAAE-EC10-B185-F5D4C7BAE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CLOUD COMPUTING : DISTRIBUTED COMPUTING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5893C-8893-1A7B-143A-E53C764CA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40360"/>
            <a:ext cx="11029615" cy="2088062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Fast Network Communication: Laid the Way for Distributed Computing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Parallel processing (multiple processors solving a task) was a key innovation.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Distributed computing extended this concept, allowing multiple computers to work together as one system.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Faster network communication enabled distributed computing to function efficiently.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F065C-F08C-751A-0217-3A56BE25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810718-645D-7E58-F7C7-D25A10803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283" y="3331504"/>
            <a:ext cx="6143432" cy="258142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1BE758C-3CB8-5D20-8201-F656C23CDBA7}"/>
              </a:ext>
            </a:extLst>
          </p:cNvPr>
          <p:cNvSpPr/>
          <p:nvPr/>
        </p:nvSpPr>
        <p:spPr>
          <a:xfrm>
            <a:off x="5518757" y="5963306"/>
            <a:ext cx="115448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1980s</a:t>
            </a:r>
          </a:p>
        </p:txBody>
      </p:sp>
    </p:spTree>
    <p:extLst>
      <p:ext uri="{BB962C8B-B14F-4D97-AF65-F5344CB8AC3E}">
        <p14:creationId xmlns:p14="http://schemas.microsoft.com/office/powerpoint/2010/main" val="315245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04BED40-EAF7-4E55-AFF7-2CD840EBD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89A4D4-EAAE-EC10-B185-F5D4C7BAE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2156"/>
            <a:ext cx="6540462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Evolution OF CLOUD COMPUTING : Cluster Computing</a:t>
            </a:r>
            <a:endParaRPr lang="en-PK">
              <a:solidFill>
                <a:schemeClr val="tx2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67CCF1-BB1E-41CF-8499-94A870C33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66751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5893C-8893-1A7B-143A-E53C764CA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1896533"/>
            <a:ext cx="6309003" cy="396226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b="1">
                <a:solidFill>
                  <a:schemeClr val="tx2"/>
                </a:solidFill>
              </a:rPr>
              <a:t>Cluster Computing: Creation of Resource Pool</a:t>
            </a:r>
          </a:p>
          <a:p>
            <a:pPr>
              <a:spcBef>
                <a:spcPts val="0"/>
              </a:spcBef>
            </a:pPr>
            <a:r>
              <a:rPr lang="en-US">
                <a:solidFill>
                  <a:schemeClr val="tx2"/>
                </a:solidFill>
              </a:rPr>
              <a:t>Clustering allowed multiple nodes to work together, appearing as a single system.</a:t>
            </a:r>
          </a:p>
          <a:p>
            <a:pPr>
              <a:spcBef>
                <a:spcPts val="0"/>
              </a:spcBef>
            </a:pPr>
            <a:r>
              <a:rPr lang="en-US">
                <a:solidFill>
                  <a:schemeClr val="tx2"/>
                </a:solidFill>
              </a:rPr>
              <a:t>Nodes shared computing tasks, creating a more reliable system through redundancy.</a:t>
            </a:r>
          </a:p>
          <a:p>
            <a:pPr>
              <a:spcBef>
                <a:spcPts val="0"/>
              </a:spcBef>
            </a:pPr>
            <a:r>
              <a:rPr lang="en-US">
                <a:solidFill>
                  <a:schemeClr val="tx2"/>
                </a:solidFill>
              </a:rPr>
              <a:t>Cluster computing enabled the pooling of resources for faster and more reliable execution.</a:t>
            </a:r>
            <a:endParaRPr lang="en-PK">
              <a:solidFill>
                <a:schemeClr val="tx2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DBF6D9-462F-0FC0-C91B-975CAFF61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667" y="3350325"/>
            <a:ext cx="4882021" cy="25996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723C9E-3B42-4D8E-BBF6-CD7205758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654" y="1254353"/>
            <a:ext cx="4630048" cy="170154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F065C-F08C-751A-0217-3A56BE25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903985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89A4D4-EAAE-EC10-B185-F5D4C7BAE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Evolution OF CLOUD COMPUTING : Grid Computing</a:t>
            </a:r>
            <a:endParaRPr lang="en-PK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B6D333-FB6E-279C-353A-EDAE75A60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98" y="2907718"/>
            <a:ext cx="4748741" cy="258806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5893C-8893-1A7B-143A-E53C764CA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Grid Computing: Decentralization of Control</a:t>
            </a:r>
          </a:p>
          <a:p>
            <a:pPr>
              <a:spcBef>
                <a:spcPts val="0"/>
              </a:spcBef>
            </a:pPr>
            <a:r>
              <a:rPr lang="en-US" dirty="0"/>
              <a:t>Grid computing removed the dependency on a single cluster head, decentralizing control.</a:t>
            </a:r>
          </a:p>
          <a:p>
            <a:pPr>
              <a:spcBef>
                <a:spcPts val="0"/>
              </a:spcBef>
            </a:pPr>
            <a:r>
              <a:rPr lang="en-US" dirty="0"/>
              <a:t>It introduced heterogeneous systems (different hardware/software) into the same computing grid.</a:t>
            </a:r>
          </a:p>
          <a:p>
            <a:pPr>
              <a:spcBef>
                <a:spcPts val="0"/>
              </a:spcBef>
            </a:pPr>
            <a:r>
              <a:rPr lang="en-US" dirty="0"/>
              <a:t>Grid computing scaled distributed systems across geographic locations and administrative domains.</a:t>
            </a:r>
          </a:p>
          <a:p>
            <a:pPr marL="0" indent="0">
              <a:spcBef>
                <a:spcPts val="0"/>
              </a:spcBef>
              <a:buNone/>
            </a:pP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F065C-F08C-751A-0217-3A56BE25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080729-315E-67F9-52F6-3B8E5856C968}"/>
              </a:ext>
            </a:extLst>
          </p:cNvPr>
          <p:cNvSpPr/>
          <p:nvPr/>
        </p:nvSpPr>
        <p:spPr>
          <a:xfrm>
            <a:off x="7970884" y="5702959"/>
            <a:ext cx="200484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Early 1990s</a:t>
            </a:r>
          </a:p>
        </p:txBody>
      </p:sp>
    </p:spTree>
    <p:extLst>
      <p:ext uri="{BB962C8B-B14F-4D97-AF65-F5344CB8AC3E}">
        <p14:creationId xmlns:p14="http://schemas.microsoft.com/office/powerpoint/2010/main" val="2108285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6B4480E-B7FF-4481-890E-043A69AE6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394E1F-0B5F-497D-B2A6-8383A2A54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3"/>
            <a:chOff x="438068" y="457200"/>
            <a:chExt cx="3703320" cy="593513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F1FF39A-AC3C-4066-9D4C-519AA2281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01201"/>
              <a:ext cx="3702134" cy="5791132"/>
            </a:xfrm>
            <a:prstGeom prst="rect">
              <a:avLst/>
            </a:prstGeom>
            <a:solidFill>
              <a:srgbClr val="465359">
                <a:alpha val="97000"/>
              </a:srgb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4C13BAB-7C00-4D21-A857-E3D41C0A2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rgbClr val="4653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589A4D4-EAAE-EC10-B185-F5D4C7BAE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524001"/>
            <a:ext cx="3412067" cy="34783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Evolution OF CLOUD COMPUTING : CLUSTER VS Grid Computing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F065C-F08C-751A-0217-3A56BE25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884078"/>
            <a:ext cx="34320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r>
              <a:rPr lang="en-US" sz="900" kern="1200" cap="all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CS4037 - Muhammad Sudais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87C98C7-2707-DF40-0ED7-74D6839600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86736" y="1524001"/>
            <a:ext cx="6980413" cy="394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399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679" name="Rectangle 28678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89A4D4-EAAE-EC10-B185-F5D4C7BAE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Evolution OF CLOUD COMPUTING : Hardware Virtualization</a:t>
            </a:r>
            <a:endParaRPr lang="en-PK" dirty="0"/>
          </a:p>
        </p:txBody>
      </p:sp>
      <p:sp>
        <p:nvSpPr>
          <p:cNvPr id="28681" name="Rectangle 28680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8683" name="Rectangle 28682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8685" name="Rectangle 28684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8687" name="Rectangle 28686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674" name="Picture 2" descr="Hypervisors: A Comprehensive Guide | Virtasant">
            <a:extLst>
              <a:ext uri="{FF2B5EF4-FFF2-40B4-BE49-F238E27FC236}">
                <a16:creationId xmlns:a16="http://schemas.microsoft.com/office/drawing/2014/main" id="{2861C9E6-D6C5-DDEE-041A-568E00AB61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22"/>
          <a:stretch/>
        </p:blipFill>
        <p:spPr bwMode="auto">
          <a:xfrm>
            <a:off x="774481" y="2696404"/>
            <a:ext cx="4748741" cy="3013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5893C-8893-1A7B-143A-E53C764CA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Hardware Virtualization: Weapon for Designing Dynamic Computing Systems</a:t>
            </a:r>
          </a:p>
          <a:p>
            <a:pPr>
              <a:spcBef>
                <a:spcPts val="0"/>
              </a:spcBef>
            </a:pPr>
            <a:r>
              <a:rPr lang="en-US" dirty="0"/>
              <a:t>Virtualization decoupled software from physical hardware, enabling dynamic resource allocation.</a:t>
            </a:r>
          </a:p>
          <a:p>
            <a:pPr>
              <a:spcBef>
                <a:spcPts val="0"/>
              </a:spcBef>
            </a:pPr>
            <a:r>
              <a:rPr lang="en-US" dirty="0"/>
              <a:t>Virtual machines (VMs) allowed real-time scaling, increasing system flexibility and scalability.</a:t>
            </a:r>
          </a:p>
          <a:p>
            <a:pPr>
              <a:spcBef>
                <a:spcPts val="0"/>
              </a:spcBef>
            </a:pPr>
            <a:r>
              <a:rPr lang="en-US" dirty="0"/>
              <a:t>Virtualization was a key factor in the growth of cloud computing, enabling efficient resource management.</a:t>
            </a:r>
          </a:p>
          <a:p>
            <a:pPr marL="0" indent="0">
              <a:spcBef>
                <a:spcPts val="0"/>
              </a:spcBef>
              <a:buNone/>
            </a:pP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F065C-F08C-751A-0217-3A56BE25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675324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655" name="Rectangle 27654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89A4D4-EAAE-EC10-B185-F5D4C7BAE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Evolution OF CLOUD COMPUTING : Advancement in Web Services</a:t>
            </a:r>
            <a:endParaRPr lang="en-PK" dirty="0"/>
          </a:p>
        </p:txBody>
      </p:sp>
      <p:sp>
        <p:nvSpPr>
          <p:cNvPr id="27657" name="Rectangle 27656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7659" name="Rectangle 27658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7661" name="Rectangle 27660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7663" name="Rectangle 27662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650" name="Picture 2" descr="High-level architecture of a mashup application [15] | Download Scientific  Diagram">
            <a:extLst>
              <a:ext uri="{FF2B5EF4-FFF2-40B4-BE49-F238E27FC236}">
                <a16:creationId xmlns:a16="http://schemas.microsoft.com/office/drawing/2014/main" id="{14E4E70E-1D5B-6987-096D-D87D07040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63183" y="2499053"/>
            <a:ext cx="3783770" cy="3405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5893C-8893-1A7B-143A-E53C764CA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Advancement in Web Services: Ease in Group Collaboration</a:t>
            </a:r>
            <a:endParaRPr lang="en-US" b="1"/>
          </a:p>
          <a:p>
            <a:pPr>
              <a:spcBef>
                <a:spcPts val="0"/>
              </a:spcBef>
            </a:pPr>
            <a:r>
              <a:rPr lang="en-US" dirty="0"/>
              <a:t>Web services enabled real-time collaboration across distributed systems.</a:t>
            </a:r>
            <a:endParaRPr lang="en-US"/>
          </a:p>
          <a:p>
            <a:pPr>
              <a:spcBef>
                <a:spcPts val="0"/>
              </a:spcBef>
            </a:pPr>
            <a:r>
              <a:rPr lang="en-US" dirty="0"/>
              <a:t>Web 2.0 and Mashup technologies made it easier to combine data from different platforms and share user-generated content.</a:t>
            </a:r>
            <a:endParaRPr lang="en-US"/>
          </a:p>
          <a:p>
            <a:pPr>
              <a:spcBef>
                <a:spcPts val="0"/>
              </a:spcBef>
            </a:pPr>
            <a:r>
              <a:rPr lang="en-US" dirty="0"/>
              <a:t>This facilitated large-scale collaboration over the internet.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F065C-F08C-751A-0217-3A56BE25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C62AF9-9DFC-7790-DF32-018C8475D03C}"/>
              </a:ext>
            </a:extLst>
          </p:cNvPr>
          <p:cNvSpPr/>
          <p:nvPr/>
        </p:nvSpPr>
        <p:spPr>
          <a:xfrm>
            <a:off x="8480223" y="5702959"/>
            <a:ext cx="98616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2002</a:t>
            </a:r>
          </a:p>
        </p:txBody>
      </p:sp>
    </p:spTree>
    <p:extLst>
      <p:ext uri="{BB962C8B-B14F-4D97-AF65-F5344CB8AC3E}">
        <p14:creationId xmlns:p14="http://schemas.microsoft.com/office/powerpoint/2010/main" val="267499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775" name="Rectangle 32774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89A4D4-EAAE-EC10-B185-F5D4C7BAE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Evolution OF CLOUD COMPUTING : Service-Oriented Architecture</a:t>
            </a:r>
            <a:endParaRPr lang="en-PK" dirty="0"/>
          </a:p>
        </p:txBody>
      </p:sp>
      <p:sp>
        <p:nvSpPr>
          <p:cNvPr id="32777" name="Rectangle 32776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2779" name="Rectangle 32778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2781" name="Rectangle 32780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2783" name="Rectangle 32782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770" name="Picture 2" descr="What is Service Oriented Architecture | by Adeel Sarwar | Medium">
            <a:extLst>
              <a:ext uri="{FF2B5EF4-FFF2-40B4-BE49-F238E27FC236}">
                <a16:creationId xmlns:a16="http://schemas.microsoft.com/office/drawing/2014/main" id="{8FBD6971-DD13-032B-7D42-EDB47F020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89709" y="2489005"/>
            <a:ext cx="4310623" cy="3405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5893C-8893-1A7B-143A-E53C764CA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SOA (Service-Oriented Architecture): Flexible Software Design Model</a:t>
            </a:r>
            <a:endParaRPr lang="en-US" b="1"/>
          </a:p>
          <a:p>
            <a:pPr>
              <a:spcBef>
                <a:spcPts val="0"/>
              </a:spcBef>
            </a:pPr>
            <a:r>
              <a:rPr lang="en-US" dirty="0"/>
              <a:t>SOA allowed the creation of loosely coupled services that could be reused across applications.</a:t>
            </a:r>
            <a:endParaRPr lang="en-US"/>
          </a:p>
          <a:p>
            <a:pPr>
              <a:spcBef>
                <a:spcPts val="0"/>
              </a:spcBef>
            </a:pPr>
            <a:r>
              <a:rPr lang="en-US" dirty="0"/>
              <a:t>Web services integrated these services, making it easier to develop large distributed applications.</a:t>
            </a:r>
            <a:endParaRPr lang="en-US"/>
          </a:p>
          <a:p>
            <a:pPr>
              <a:spcBef>
                <a:spcPts val="0"/>
              </a:spcBef>
            </a:pPr>
            <a:r>
              <a:rPr lang="en-US" dirty="0"/>
              <a:t>This model supported cloud service delivery.</a:t>
            </a:r>
            <a:endParaRPr lang="en-US"/>
          </a:p>
          <a:p>
            <a:pPr marL="0" indent="0">
              <a:spcBef>
                <a:spcPts val="0"/>
              </a:spcBef>
              <a:buNone/>
            </a:pPr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F065C-F08C-751A-0217-3A56BE25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4145714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9A4D4-EAAE-EC10-B185-F5D4C7BAE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/>
              <a:t>Evolution OF CLOUD COMPUTING : Utility Computing</a:t>
            </a:r>
            <a:endParaRPr lang="en-PK" dirty="0"/>
          </a:p>
        </p:txBody>
      </p:sp>
      <p:sp>
        <p:nvSpPr>
          <p:cNvPr id="33799" name="Rectangle 33798">
            <a:extLst>
              <a:ext uri="{FF2B5EF4-FFF2-40B4-BE49-F238E27FC236}">
                <a16:creationId xmlns:a16="http://schemas.microsoft.com/office/drawing/2014/main" id="{7A4CA679-3546-4E14-8FB8-F57168C37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801" name="Rectangle 33800">
            <a:extLst>
              <a:ext uri="{FF2B5EF4-FFF2-40B4-BE49-F238E27FC236}">
                <a16:creationId xmlns:a16="http://schemas.microsoft.com/office/drawing/2014/main" id="{44D16E90-7C64-4C04-A50A-B866A1A92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803" name="Rectangle 33802">
            <a:extLst>
              <a:ext uri="{FF2B5EF4-FFF2-40B4-BE49-F238E27FC236}">
                <a16:creationId xmlns:a16="http://schemas.microsoft.com/office/drawing/2014/main" id="{DBE4DD59-5AA2-46C6-B6A8-9B4C62D19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805" name="Rectangle 33804">
            <a:extLst>
              <a:ext uri="{FF2B5EF4-FFF2-40B4-BE49-F238E27FC236}">
                <a16:creationId xmlns:a16="http://schemas.microsoft.com/office/drawing/2014/main" id="{160CE81C-67DC-489E-BFFB-877C8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rgbClr val="FFFFFF">
              <a:alpha val="80000"/>
            </a:srgbClr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794" name="Picture 2" descr="What Is Utility Computing? Definition, Process, Examples, and Best  Practices - Spiceworks">
            <a:extLst>
              <a:ext uri="{FF2B5EF4-FFF2-40B4-BE49-F238E27FC236}">
                <a16:creationId xmlns:a16="http://schemas.microsoft.com/office/drawing/2014/main" id="{4EBA2FF2-97A5-00D2-5F64-01FAD1A2C5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89" r="-2" b="-2"/>
          <a:stretch/>
        </p:blipFill>
        <p:spPr bwMode="auto">
          <a:xfrm>
            <a:off x="611392" y="2347105"/>
            <a:ext cx="5074920" cy="371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5893C-8893-1A7B-143A-E53C764CA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830" y="2340864"/>
            <a:ext cx="5269977" cy="2740814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Utility Computing: A Pay-as-You-Go Model</a:t>
            </a:r>
          </a:p>
          <a:p>
            <a:pPr>
              <a:spcBef>
                <a:spcPts val="0"/>
              </a:spcBef>
            </a:pPr>
            <a:r>
              <a:rPr lang="en-US" dirty="0"/>
              <a:t>Utility computing introduced the concept of delivering computing resources as a service, similar to utilities like water or electricity.</a:t>
            </a:r>
          </a:p>
          <a:p>
            <a:pPr>
              <a:spcBef>
                <a:spcPts val="0"/>
              </a:spcBef>
            </a:pPr>
            <a:r>
              <a:rPr lang="en-US" dirty="0"/>
              <a:t>Users paid only for what they used, making computing more cost-efficient.</a:t>
            </a:r>
          </a:p>
          <a:p>
            <a:pPr>
              <a:spcBef>
                <a:spcPts val="0"/>
              </a:spcBef>
            </a:pPr>
            <a:r>
              <a:rPr lang="en-US" dirty="0"/>
              <a:t>This model laid the foundation for cloud service models (IaaS, PaaS, SaaS).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F065C-F08C-751A-0217-3A56BE25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C279E-303D-992B-CB55-8D9B4F19D456}"/>
              </a:ext>
            </a:extLst>
          </p:cNvPr>
          <p:cNvSpPr txBox="1"/>
          <p:nvPr/>
        </p:nvSpPr>
        <p:spPr>
          <a:xfrm>
            <a:off x="6340830" y="5272072"/>
            <a:ext cx="48399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/>
              <a:t>Utility Computing is the packaging and delivery of computing resources, similar to traditional public utilities like electricity, water, or telephone. The model follows pay-per-use mode of payment and on-demand service facility.</a:t>
            </a:r>
            <a:endParaRPr lang="en-PK" sz="1400" i="1" dirty="0"/>
          </a:p>
        </p:txBody>
      </p:sp>
    </p:spTree>
    <p:extLst>
      <p:ext uri="{BB962C8B-B14F-4D97-AF65-F5344CB8AC3E}">
        <p14:creationId xmlns:p14="http://schemas.microsoft.com/office/powerpoint/2010/main" val="1796823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9A4D4-EAAE-EC10-B185-F5D4C7BAE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CLOUD COMPUTING : </a:t>
            </a:r>
            <a:r>
              <a:rPr lang="en-US" sz="2800" dirty="0"/>
              <a:t>Autonomic Systems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5893C-8893-1A7B-143A-E53C764CA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882650"/>
            <a:ext cx="11029615" cy="384175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Autonomic Systems: Self-Management in Computing Systems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Autonomic systems were designed to manage themselves without human intervention.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They handled monitoring, resource optimization, and recovery autonomously.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This concept was crucial for the development of self-scaling and self-healing cloud systems.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F065C-F08C-751A-0217-3A56BE25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40C60B-2324-82B2-7A40-DAC3D3E68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949" y="3590390"/>
            <a:ext cx="7804099" cy="206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197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9A4D4-EAAE-EC10-B185-F5D4C7BAE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Evolution OF CLOUD COMPUTING : Cloud Computing</a:t>
            </a:r>
            <a:endParaRPr lang="en-PK" dirty="0"/>
          </a:p>
        </p:txBody>
      </p:sp>
      <p:sp>
        <p:nvSpPr>
          <p:cNvPr id="34825" name="Rectangle 34824">
            <a:extLst>
              <a:ext uri="{FF2B5EF4-FFF2-40B4-BE49-F238E27FC236}">
                <a16:creationId xmlns:a16="http://schemas.microsoft.com/office/drawing/2014/main" id="{7A4CA679-3546-4E14-8FB8-F57168C37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827" name="Rectangle 34826">
            <a:extLst>
              <a:ext uri="{FF2B5EF4-FFF2-40B4-BE49-F238E27FC236}">
                <a16:creationId xmlns:a16="http://schemas.microsoft.com/office/drawing/2014/main" id="{44D16E90-7C64-4C04-A50A-B866A1A92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829" name="Rectangle 34828">
            <a:extLst>
              <a:ext uri="{FF2B5EF4-FFF2-40B4-BE49-F238E27FC236}">
                <a16:creationId xmlns:a16="http://schemas.microsoft.com/office/drawing/2014/main" id="{DBE4DD59-5AA2-46C6-B6A8-9B4C62D19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831" name="Rectangle 34830">
            <a:extLst>
              <a:ext uri="{FF2B5EF4-FFF2-40B4-BE49-F238E27FC236}">
                <a16:creationId xmlns:a16="http://schemas.microsoft.com/office/drawing/2014/main" id="{160CE81C-67DC-489E-BFFB-877C8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rgbClr val="FFFFFF">
              <a:alpha val="80000"/>
            </a:srgbClr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820" name="Picture 4">
            <a:extLst>
              <a:ext uri="{FF2B5EF4-FFF2-40B4-BE49-F238E27FC236}">
                <a16:creationId xmlns:a16="http://schemas.microsoft.com/office/drawing/2014/main" id="{657557FB-0C43-6E99-CB5C-9A3219E3B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15" r="-2" b="6751"/>
          <a:stretch/>
        </p:blipFill>
        <p:spPr bwMode="auto">
          <a:xfrm>
            <a:off x="611392" y="2347105"/>
            <a:ext cx="5074920" cy="371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5893C-8893-1A7B-143A-E53C764CA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830" y="2340864"/>
            <a:ext cx="5269977" cy="363448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b="1"/>
              <a:t>Emergence of Cloud Computing</a:t>
            </a:r>
          </a:p>
          <a:p>
            <a:pPr>
              <a:spcBef>
                <a:spcPts val="0"/>
              </a:spcBef>
            </a:pPr>
            <a:r>
              <a:rPr lang="en-US"/>
              <a:t>Cloud computing is a combination of advancements in virtualization, distributed systems, grid computing, and utility computing.</a:t>
            </a:r>
          </a:p>
          <a:p>
            <a:pPr>
              <a:spcBef>
                <a:spcPts val="0"/>
              </a:spcBef>
            </a:pPr>
            <a:r>
              <a:rPr lang="en-US"/>
              <a:t>It allows on-demand access to shared computing resources over the internet.</a:t>
            </a:r>
          </a:p>
          <a:p>
            <a:pPr>
              <a:spcBef>
                <a:spcPts val="0"/>
              </a:spcBef>
            </a:pPr>
            <a:r>
              <a:rPr lang="en-US"/>
              <a:t>Cloud computing offers scalability, flexibility, and cost-efficiency, making it a preferred model for modern computing.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F065C-F08C-751A-0217-3A56BE25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4164147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4272AC3-8B9C-AD57-C19B-4221720DC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5463" y="702156"/>
            <a:ext cx="9636370" cy="6045537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D6D6C3-1CBD-AFB6-B96C-3FEB14882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CLOUD COMPUTING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A1B25-E92C-FF2A-7720-657194C10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94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F2D86-C6F4-BE5F-2B66-3393F6B2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CLOUD COMPUTING</a:t>
            </a:r>
            <a:endParaRPr lang="en-P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8A3D372-F6C7-3CD3-830D-57D4DF8D64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5521" y="1857097"/>
            <a:ext cx="5136685" cy="411825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1E5C60-ABCD-A838-3CA6-6293A00D4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270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D3415-D31A-7A06-9314-FE9593159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how philosophies have converged into cloud computing</a:t>
            </a:r>
            <a:endParaRPr lang="en-PK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9EC692-C4DF-BE8C-7486-208F5B34E8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803"/>
          <a:stretch/>
        </p:blipFill>
        <p:spPr>
          <a:xfrm>
            <a:off x="496418" y="2512088"/>
            <a:ext cx="5258193" cy="330655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8E137DF-D126-7805-F785-53BC7788FE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35805" y="2180496"/>
            <a:ext cx="5275001" cy="40456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PK" altLang="en-PK" sz="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Ubiquitous Presence of Computing</a:t>
            </a:r>
            <a:r>
              <a:rPr kumimoji="0" lang="en-PK" altLang="en-PK" sz="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32400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kumimoji="0" lang="en-PK" altLang="en-PK" sz="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Computing resources available from any location, at any time.</a:t>
            </a:r>
          </a:p>
          <a:p>
            <a:pPr marL="32400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kumimoji="0" lang="en-PK" altLang="en-PK" sz="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Achieved through cloud infrastructure providing remote access and multi-device support.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PK" altLang="en-PK" sz="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Collaboration Among Users</a:t>
            </a:r>
            <a:r>
              <a:rPr kumimoji="0" lang="en-PK" altLang="en-PK" sz="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32400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kumimoji="0" lang="en-PK" altLang="en-PK" sz="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Cloud platforms enable real-time collaboration across different locations.</a:t>
            </a:r>
          </a:p>
          <a:p>
            <a:pPr marL="32400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kumimoji="0" lang="en-PK" altLang="en-PK" sz="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Implemented via tools like Google Docs, Microsoft 365, and collaborative software hosted on the cloud.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PK" altLang="en-PK" sz="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Composable Design Pattern</a:t>
            </a:r>
            <a:r>
              <a:rPr kumimoji="0" lang="en-PK" altLang="en-PK" sz="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32400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kumimoji="0" lang="en-PK" altLang="en-PK" sz="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Systems are designed using a service-oriented architecture (SOA).</a:t>
            </a:r>
          </a:p>
          <a:p>
            <a:pPr marL="32400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kumimoji="0" lang="en-PK" altLang="en-PK" sz="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Components can be reused and recomposed to create flexible applications.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PK" altLang="en-PK" sz="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Resource Pooling</a:t>
            </a:r>
            <a:r>
              <a:rPr kumimoji="0" lang="en-PK" altLang="en-PK" sz="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32400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kumimoji="0" lang="en-PK" altLang="en-PK" sz="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Shared infrastructure to serve multiple users efficiently.</a:t>
            </a:r>
          </a:p>
          <a:p>
            <a:pPr marL="32400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kumimoji="0" lang="en-PK" altLang="en-PK" sz="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Virtualization technology helps in the pooling of resources for dynamic allocation.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PK" altLang="en-PK" sz="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Dynamic System Architecture</a:t>
            </a:r>
            <a:r>
              <a:rPr kumimoji="0" lang="en-PK" altLang="en-PK" sz="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32400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kumimoji="0" lang="en-PK" altLang="en-PK" sz="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Elastic scaling based on demand without manual intervention.</a:t>
            </a:r>
          </a:p>
          <a:p>
            <a:pPr marL="32400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kumimoji="0" lang="en-PK" altLang="en-PK" sz="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Enabled by auto-scaling features and load balancing in cloud systems.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PK" altLang="en-PK" sz="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Intelligent Infrastructure</a:t>
            </a:r>
            <a:r>
              <a:rPr kumimoji="0" lang="en-PK" altLang="en-PK" sz="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32400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kumimoji="0" lang="en-PK" altLang="en-PK" sz="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Systems can intelligently manage resources and self-heal.</a:t>
            </a:r>
          </a:p>
          <a:p>
            <a:pPr marL="32400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kumimoji="0" lang="en-PK" altLang="en-PK" sz="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Achieved through AI-driven operations, automated monitoring, and management.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PK" altLang="en-PK" sz="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On-Demand Delivery</a:t>
            </a:r>
            <a:r>
              <a:rPr kumimoji="0" lang="en-PK" altLang="en-PK" sz="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32400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kumimoji="0" lang="en-PK" altLang="en-PK" sz="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Resources are provided as needed without upfront investments.</a:t>
            </a:r>
          </a:p>
          <a:p>
            <a:pPr marL="32400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kumimoji="0" lang="en-PK" altLang="en-PK" sz="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Implemented via pay-per-use models and automated provisioning in cloud services.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PK" altLang="en-PK" sz="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C320F9-5A9B-1096-3E97-FECFE4D0C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095183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6B4480E-B7FF-4481-890E-043A69AE6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9394E1F-0B5F-497D-B2A6-8383A2A54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3"/>
            <a:chOff x="438068" y="457200"/>
            <a:chExt cx="3703320" cy="593513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F1FF39A-AC3C-4066-9D4C-519AA2281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01201"/>
              <a:ext cx="3702134" cy="5791132"/>
            </a:xfrm>
            <a:prstGeom prst="rect">
              <a:avLst/>
            </a:prstGeom>
            <a:solidFill>
              <a:srgbClr val="465359">
                <a:alpha val="97000"/>
              </a:srgb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4C13BAB-7C00-4D21-A857-E3D41C0A2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rgbClr val="4653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4A870A8-6139-F4C9-DE37-BAB168428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524001"/>
            <a:ext cx="3412067" cy="34783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COMPARISON BETWEEN CLUSTER, GRID AND CLOUD COMPUTING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03CA3-8AFF-24C9-B5E0-E3D0FAC94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884078"/>
            <a:ext cx="34320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r>
              <a:rPr lang="en-US" sz="900" kern="1200" cap="all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CS4037 - Muhammad Sudais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EAB59C-E1D7-ABAC-1D72-B5A813611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580" y="429014"/>
            <a:ext cx="7007401" cy="596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004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AnalogousFromLightSeedLeftStep">
      <a:dk1>
        <a:srgbClr val="000000"/>
      </a:dk1>
      <a:lt1>
        <a:srgbClr val="FFFFFF"/>
      </a:lt1>
      <a:dk2>
        <a:srgbClr val="243941"/>
      </a:dk2>
      <a:lt2>
        <a:srgbClr val="E8E6E2"/>
      </a:lt2>
      <a:accent1>
        <a:srgbClr val="94A3C5"/>
      </a:accent1>
      <a:accent2>
        <a:srgbClr val="7FAABA"/>
      </a:accent2>
      <a:accent3>
        <a:srgbClr val="82ACA6"/>
      </a:accent3>
      <a:accent4>
        <a:srgbClr val="77AE8F"/>
      </a:accent4>
      <a:accent5>
        <a:srgbClr val="81AD82"/>
      </a:accent5>
      <a:accent6>
        <a:srgbClr val="8AAB75"/>
      </a:accent6>
      <a:hlink>
        <a:srgbClr val="938159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879</TotalTime>
  <Words>1686</Words>
  <Application>Microsoft Office PowerPoint</Application>
  <PresentationFormat>Widescreen</PresentationFormat>
  <Paragraphs>168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Arial</vt:lpstr>
      <vt:lpstr>Arial Nova Light</vt:lpstr>
      <vt:lpstr>Wingdings 2</vt:lpstr>
      <vt:lpstr>DividendVTI</vt:lpstr>
      <vt:lpstr> CHAPTER 2 Evolution and Enabling  Technologies </vt:lpstr>
      <vt:lpstr>Evolution &amp; ENABLING of CLOUD Computing</vt:lpstr>
      <vt:lpstr>Evolution &amp; ENABLING of CLOUD Computing</vt:lpstr>
      <vt:lpstr>Evolution of CLOUD Computing</vt:lpstr>
      <vt:lpstr>Evolution OF CLOUD COMPUTING</vt:lpstr>
      <vt:lpstr>Evolution OF CLOUD COMPUTING</vt:lpstr>
      <vt:lpstr>Evolution OF CLOUD COMPUTING</vt:lpstr>
      <vt:lpstr>Evolution OF CLOUD COMPUTING : Mainframe Architecture</vt:lpstr>
      <vt:lpstr>Evolution OF CLOUD COMPUTING : Intelligent Terminal</vt:lpstr>
      <vt:lpstr>Evolution OF CLOUD COMPUTING : The PC Revolution</vt:lpstr>
      <vt:lpstr>Evolution OF CLOUD COMPUTING : PEER TO PEER</vt:lpstr>
      <vt:lpstr>Evolution OF CLOUD COMPUTING : DISTRIBUTED COMPUTING</vt:lpstr>
      <vt:lpstr>Evolution OF CLOUD COMPUTING : Cluster Computing</vt:lpstr>
      <vt:lpstr>Evolution OF CLOUD COMPUTING : Grid Computing</vt:lpstr>
      <vt:lpstr>Evolution OF CLOUD COMPUTING : CLUSTER VS Grid Computing</vt:lpstr>
      <vt:lpstr>Evolution OF CLOUD COMPUTING : Hardware Virtualization</vt:lpstr>
      <vt:lpstr>Evolution OF CLOUD COMPUTING : Advancement in Web Services</vt:lpstr>
      <vt:lpstr>Evolution OF CLOUD COMPUTING : Service-Oriented Architecture</vt:lpstr>
      <vt:lpstr>Evolution OF CLOUD COMPUTING : Utility Computing</vt:lpstr>
      <vt:lpstr>Evolution OF CLOUD COMPUTING : Autonomic Systems</vt:lpstr>
      <vt:lpstr>Evolution OF CLOUD COMPUTING : Cloud Computing</vt:lpstr>
      <vt:lpstr>Evolution OF CLOUD COMPUTING</vt:lpstr>
      <vt:lpstr>Evolution OF CLOUD COMPUTING</vt:lpstr>
      <vt:lpstr>how philosophies have converged into cloud computing</vt:lpstr>
      <vt:lpstr>COMPARISON BETWEEN CLUSTER, GRID AND CLOUD COMPUTING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Sudais MSM</dc:creator>
  <cp:lastModifiedBy>Muhammad Sudais</cp:lastModifiedBy>
  <cp:revision>13</cp:revision>
  <dcterms:created xsi:type="dcterms:W3CDTF">2024-08-20T00:20:53Z</dcterms:created>
  <dcterms:modified xsi:type="dcterms:W3CDTF">2025-08-18T14:01:01Z</dcterms:modified>
</cp:coreProperties>
</file>