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43"/>
  </p:notesMasterIdLst>
  <p:sldIdLst>
    <p:sldId id="372" r:id="rId2"/>
    <p:sldId id="386" r:id="rId3"/>
    <p:sldId id="387" r:id="rId4"/>
    <p:sldId id="388" r:id="rId5"/>
    <p:sldId id="389" r:id="rId6"/>
    <p:sldId id="394" r:id="rId7"/>
    <p:sldId id="395" r:id="rId8"/>
    <p:sldId id="396" r:id="rId9"/>
    <p:sldId id="397" r:id="rId10"/>
    <p:sldId id="398" r:id="rId11"/>
    <p:sldId id="391" r:id="rId12"/>
    <p:sldId id="392" r:id="rId13"/>
    <p:sldId id="399" r:id="rId14"/>
    <p:sldId id="400" r:id="rId15"/>
    <p:sldId id="393" r:id="rId16"/>
    <p:sldId id="401" r:id="rId17"/>
    <p:sldId id="390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3" r:id="rId26"/>
    <p:sldId id="411" r:id="rId27"/>
    <p:sldId id="412" r:id="rId28"/>
    <p:sldId id="402" r:id="rId29"/>
    <p:sldId id="403" r:id="rId30"/>
    <p:sldId id="414" r:id="rId31"/>
    <p:sldId id="415" r:id="rId32"/>
    <p:sldId id="419" r:id="rId33"/>
    <p:sldId id="420" r:id="rId34"/>
    <p:sldId id="418" r:id="rId35"/>
    <p:sldId id="421" r:id="rId36"/>
    <p:sldId id="424" r:id="rId37"/>
    <p:sldId id="425" r:id="rId38"/>
    <p:sldId id="423" r:id="rId39"/>
    <p:sldId id="427" r:id="rId40"/>
    <p:sldId id="426" r:id="rId41"/>
    <p:sldId id="422" r:id="rId4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2 - Book 2" id="{A67FD584-A4A7-4D57-9F74-BD3C2D2A3684}">
          <p14:sldIdLst>
            <p14:sldId id="372"/>
            <p14:sldId id="386"/>
            <p14:sldId id="387"/>
            <p14:sldId id="388"/>
            <p14:sldId id="389"/>
            <p14:sldId id="394"/>
            <p14:sldId id="395"/>
            <p14:sldId id="396"/>
            <p14:sldId id="397"/>
            <p14:sldId id="398"/>
            <p14:sldId id="391"/>
            <p14:sldId id="392"/>
            <p14:sldId id="399"/>
            <p14:sldId id="400"/>
            <p14:sldId id="393"/>
            <p14:sldId id="401"/>
            <p14:sldId id="390"/>
            <p14:sldId id="404"/>
            <p14:sldId id="405"/>
            <p14:sldId id="406"/>
            <p14:sldId id="407"/>
            <p14:sldId id="408"/>
            <p14:sldId id="409"/>
            <p14:sldId id="410"/>
            <p14:sldId id="413"/>
            <p14:sldId id="411"/>
            <p14:sldId id="412"/>
            <p14:sldId id="402"/>
            <p14:sldId id="403"/>
            <p14:sldId id="414"/>
            <p14:sldId id="415"/>
            <p14:sldId id="419"/>
            <p14:sldId id="420"/>
            <p14:sldId id="418"/>
            <p14:sldId id="421"/>
            <p14:sldId id="424"/>
            <p14:sldId id="425"/>
            <p14:sldId id="423"/>
            <p14:sldId id="427"/>
            <p14:sldId id="426"/>
            <p14:sldId id="4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0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9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us/" TargetMode="External"/><Relationship Id="rId2" Type="http://schemas.openxmlformats.org/officeDocument/2006/relationships/hyperlink" Target="https://portal.azur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azure.cn/" TargetMode="External"/><Relationship Id="rId4" Type="http://schemas.openxmlformats.org/officeDocument/2006/relationships/hyperlink" Target="https://portal.microsoftazure.de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pps.apple.com/us/app/azure/id121901362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owershell/azure/new-azurepsmodule-azurerm" TargetMode="External"/><Relationship Id="rId2" Type="http://schemas.openxmlformats.org/officeDocument/2006/relationships/hyperlink" Target="https://docs.microsoft.com/en-us/cli/azure/install-azure-cli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2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MICROSOFT AZURE Fundamentals</a:t>
            </a:r>
            <a:br>
              <a:rPr lang="en-US" sz="44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2853" y="4942982"/>
            <a:ext cx="4739148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935752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226A3-A216-6336-E1EA-AAB57BA7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Microsoft Azure:</a:t>
            </a:r>
            <a:br>
              <a:rPr lang="en-US" dirty="0">
                <a:solidFill>
                  <a:srgbClr val="FFFEFF"/>
                </a:solidFill>
              </a:rPr>
            </a:br>
            <a:r>
              <a:rPr lang="en-US" dirty="0">
                <a:solidFill>
                  <a:srgbClr val="FFFEFF"/>
                </a:solidFill>
              </a:rPr>
              <a:t>History &amp; Evolution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30130-70B1-5E8C-E014-157590651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Origins: Microsoft Azure, initially known as Windows Azure, was launched in 2010. It was built on Windows Server 2008 and renamed Microsoft Azure in 2014.</a:t>
            </a:r>
          </a:p>
          <a:p>
            <a:r>
              <a:rPr lang="en-US" dirty="0"/>
              <a:t>Early Development: Azure started with the code name “Red Dog” and has evolved into a comprehensive cloud platform.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E148-0A94-F46C-C52A-4D1547E9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133479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226A3-A216-6336-E1EA-AAB57BA7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Microsoft Azure:</a:t>
            </a:r>
            <a:br>
              <a:rPr lang="en-US" dirty="0">
                <a:solidFill>
                  <a:srgbClr val="FFFEFF"/>
                </a:solidFill>
              </a:rPr>
            </a:br>
            <a:r>
              <a:rPr lang="en-US" dirty="0">
                <a:solidFill>
                  <a:srgbClr val="FFFEFF"/>
                </a:solidFill>
              </a:rPr>
              <a:t>Purpose &amp; Impact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30130-70B1-5E8C-E014-157590651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Global Reach: Azure is used by 95% of Fortune 500 companies.</a:t>
            </a:r>
          </a:p>
          <a:p>
            <a:r>
              <a:rPr lang="en-US" dirty="0"/>
              <a:t>Flexibility: Azure allows organizations to minimize upfront costs, scale resources on demand, and pay only for what they use.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E148-0A94-F46C-C52A-4D1547E9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2416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226A3-A216-6336-E1EA-AAB57BA7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Microsoft Azure:</a:t>
            </a:r>
            <a:br>
              <a:rPr lang="en-US" dirty="0">
                <a:solidFill>
                  <a:srgbClr val="FFFEFF"/>
                </a:solidFill>
              </a:rPr>
            </a:br>
            <a:r>
              <a:rPr lang="en-US" dirty="0">
                <a:solidFill>
                  <a:srgbClr val="FFFEFF"/>
                </a:solidFill>
              </a:rPr>
              <a:t>CLOUD MODELS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30130-70B1-5E8C-E014-157590651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Public Cloud: Azure is a public cloud provider, but it also supports private, hybrid, and multi-cloud solutions.</a:t>
            </a:r>
          </a:p>
          <a:p>
            <a:r>
              <a:rPr lang="en-US" dirty="0"/>
              <a:t>Innovative Solutions: Azure offers a wide range of services for different use cases, including computing, networking, storage, and more.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E148-0A94-F46C-C52A-4D1547E9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657292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46184-F8C8-E6E6-C0C1-9E12AB128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Core Concepts of Azure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BB00-B22B-9A76-41B5-9BD8C4DDC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b="1" dirty="0"/>
              <a:t>Azure Geographies, Regions, and Availability Zones: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Geographies:</a:t>
            </a:r>
            <a:r>
              <a:rPr lang="en-US" dirty="0"/>
              <a:t> Define the global locations where Azure data centers are located.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Regions:</a:t>
            </a:r>
            <a:r>
              <a:rPr lang="en-US" dirty="0"/>
              <a:t> Specific geographic locations within a geography, each containing multiple data centers.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Availability Zones:</a:t>
            </a:r>
            <a:r>
              <a:rPr lang="en-US" dirty="0"/>
              <a:t> Isolated locations within regions to ensure high availability and fault tolerance.</a:t>
            </a:r>
          </a:p>
          <a:p>
            <a:r>
              <a:rPr lang="en-US" b="1" dirty="0"/>
              <a:t>Azure Resource Manager (ARM):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Overview:</a:t>
            </a:r>
            <a:r>
              <a:rPr lang="en-US" dirty="0"/>
              <a:t> A management framework that provides a unified way to manage Azure resources.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Capabilities:</a:t>
            </a:r>
            <a:r>
              <a:rPr lang="en-US" dirty="0"/>
              <a:t> Organizes resources into resource groups, applies policies, and manages deployments.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72BF9-8435-C5F0-2D04-E5653E73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284929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63D2F-B178-E40A-8DA6-A39189C0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Geographies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2C01E-494B-0226-A357-41FDBD03B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Geographies</a:t>
            </a:r>
            <a:r>
              <a:rPr lang="en-US" dirty="0"/>
              <a:t> are global areas that represent a collection of regions. They help meet data residency and compliance requirements by providing geographical boundaries for data storage and processing.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Data Residency:</a:t>
            </a:r>
            <a:r>
              <a:rPr lang="en-US" dirty="0"/>
              <a:t> Ensures that data is stored and processed within specific legal and regulatory boundaries.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Supports various legal and regulatory requirements by offering data residency options.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United States:</a:t>
            </a:r>
            <a:r>
              <a:rPr lang="en-US" dirty="0"/>
              <a:t> Contains multiple regions like East US, West US, Central US,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Europe:</a:t>
            </a:r>
            <a:r>
              <a:rPr lang="en-US" dirty="0"/>
              <a:t> Includes regions like West Europe, North Europe, UK South, etc.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D008E-C811-4A29-3616-0420F523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339801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63D2F-B178-E40A-8DA6-A39189C0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Regions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2C01E-494B-0226-A357-41FDBD03B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Regions</a:t>
            </a:r>
            <a:r>
              <a:rPr lang="en-US" dirty="0"/>
              <a:t> are specific geographic locations within a geography where Azure data centers are located. Each region is designed to provide high availability and disaster recovery capabilities.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/>
              <a:t>Purpose:</a:t>
            </a:r>
            <a:endParaRPr lang="en-US"/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Localization:</a:t>
            </a:r>
            <a:r>
              <a:rPr lang="en-US" dirty="0"/>
              <a:t> Allows organizations to deploy applications closer to their users to reduce latency and improve performance.</a:t>
            </a:r>
            <a:endParaRPr lang="en-US"/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Redundancy:</a:t>
            </a:r>
            <a:r>
              <a:rPr lang="en-US" dirty="0"/>
              <a:t> Provides multiple data centers within a region for redundancy and failover.</a:t>
            </a:r>
            <a:endParaRPr lang="en-US"/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> Enables the scaling of applications and resources across regions to handle varying demand.</a:t>
            </a:r>
            <a:endParaRPr lang="en-US"/>
          </a:p>
          <a:p>
            <a:pPr marL="0" lvl="0" indent="0">
              <a:lnSpc>
                <a:spcPct val="11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PK" b="1" dirty="0"/>
              <a:t>Azure Region Pairs:</a:t>
            </a:r>
            <a:endParaRPr lang="en-PK" b="1"/>
          </a:p>
          <a:p>
            <a:pPr marL="74295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dirty="0"/>
              <a:t>Purpose: </a:t>
            </a:r>
            <a:r>
              <a:rPr lang="en-PK" dirty="0"/>
              <a:t>Pairing of regions within the same geography for disaster recovery and redundancy.</a:t>
            </a:r>
            <a:endParaRPr lang="en-PK"/>
          </a:p>
          <a:p>
            <a:pPr marL="742950" lvl="1" indent="-285750">
              <a:lnSpc>
                <a:spcPct val="11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dirty="0"/>
              <a:t>Function: </a:t>
            </a:r>
            <a:r>
              <a:rPr lang="en-PK" dirty="0"/>
              <a:t>Provides automatic failover if one region fails.</a:t>
            </a:r>
            <a:endParaRPr lang="en-PK"/>
          </a:p>
          <a:p>
            <a:pPr marL="324000" lvl="1" indent="0">
              <a:lnSpc>
                <a:spcPct val="110000"/>
              </a:lnSpc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D008E-C811-4A29-3616-0420F523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539913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63D2F-B178-E40A-8DA6-A39189C0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Regions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2C01E-494B-0226-A357-41FDBD03B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b="1" dirty="0"/>
              <a:t>Examples: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East US:</a:t>
            </a:r>
            <a:r>
              <a:rPr lang="en-US" dirty="0"/>
              <a:t> Located in Virginia, USA.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West Europe:</a:t>
            </a:r>
            <a:r>
              <a:rPr lang="en-US" dirty="0"/>
              <a:t> Located in Amsterdam, Netherlands.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Southeast Asia:</a:t>
            </a:r>
            <a:r>
              <a:rPr lang="en-US" dirty="0"/>
              <a:t> Located in Singapore.</a:t>
            </a:r>
          </a:p>
          <a:p>
            <a:r>
              <a:rPr lang="en-US" b="1" dirty="0"/>
              <a:t>Selecting a Region: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Performance:</a:t>
            </a:r>
            <a:r>
              <a:rPr lang="en-US" dirty="0"/>
              <a:t> Choose a region closer to your users for lower latency.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Compliance:</a:t>
            </a:r>
            <a:r>
              <a:rPr lang="en-US" dirty="0"/>
              <a:t> Select regions based on data residency requirements and regulatory compliance.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Service Availability:</a:t>
            </a:r>
            <a:r>
              <a:rPr lang="en-US" dirty="0"/>
              <a:t> Different regions may have varying availability of Azure services.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D008E-C811-4A29-3616-0420F523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60085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63D2F-B178-E40A-8DA6-A39189C0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Availability Zones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2C01E-494B-0226-A357-41FDBD03B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Availability Zones</a:t>
            </a:r>
            <a:r>
              <a:rPr lang="en-US" dirty="0"/>
              <a:t> are physically separate locations within an Azure region, each with its own power, cooling, and networking to ensure high availability.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High Availability:</a:t>
            </a:r>
            <a:r>
              <a:rPr lang="en-US" dirty="0"/>
              <a:t> Ensures that applications remain available and resilient to failures, including data center outages.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Fault Tolerance:</a:t>
            </a:r>
            <a:r>
              <a:rPr lang="en-US" dirty="0"/>
              <a:t> Distributes resources across multiple zones to minimize the impact of hardware failures or other disruptions.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Disaster Recovery:</a:t>
            </a:r>
            <a:r>
              <a:rPr lang="en-US" dirty="0"/>
              <a:t> Facilitates disaster recovery strategies by replicating data and applications across zones.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D008E-C811-4A29-3616-0420F523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256528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63D2F-B178-E40A-8DA6-A39189C0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Availability Zones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2C01E-494B-0226-A357-41FDBD03B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b="1" dirty="0"/>
              <a:t>Structure: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Multiple Zones per Region:</a:t>
            </a:r>
            <a:r>
              <a:rPr lang="en-US" dirty="0"/>
              <a:t> Each region typically has at least three Availability Zones, though the number can vary.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Independent Infrastructure:</a:t>
            </a:r>
            <a:r>
              <a:rPr lang="en-US" dirty="0"/>
              <a:t> Each zone has independent power, cooling, and networking to ensure resilience.</a:t>
            </a:r>
          </a:p>
          <a:p>
            <a:r>
              <a:rPr lang="en-US" b="1" dirty="0"/>
              <a:t>How to Use: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Deploying Across Zones:</a:t>
            </a:r>
            <a:r>
              <a:rPr lang="en-US" dirty="0"/>
              <a:t> Distribute critical resources and applications across multiple zones to enhance reliability.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Zone-Aware Services:</a:t>
            </a:r>
            <a:r>
              <a:rPr lang="en-US" dirty="0"/>
              <a:t> Use Azure services that support Availability Zones to automatically handle zone-level failures.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D008E-C811-4A29-3616-0420F523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889551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FF0BD-8DD1-C88F-05A7-BE207298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BENEFITS OF AZURE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177FC6-77E8-2ACF-5E00-9B47577A93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5905" y="1113764"/>
            <a:ext cx="6108179" cy="46243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Availability: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Ensured by global data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centers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99.95% availability.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Geo-Distribution: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Enables compliance with regional regulations and international enterprises.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Scalability and Elasticity: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Automatic scaling based on demand and flexibility to handle complex requirements.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Disaster Recovery: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Secured end-to-end backup and disaster recovery solutions.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Cost Management: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Consumption-based pricing model with tools for budget alerts and cost tracking.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Advanced Security: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Data protection with encryption, multi-level authentication, and high physical security standards.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Operational vs. Capital Expenditures: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Cost-effective operational expenditure (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OpEx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versus capital expenditures (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CapEx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64FFF-5C41-937F-8D23-F13517BC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796024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99B8B-BA2A-423B-E948-531D846A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PORTAL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9B824A-A06A-DBE6-CCB5-D036F433FE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727587"/>
            <a:ext cx="7126123" cy="55552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/>
              <a:t>Using a Web Browser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Open Your Browser:</a:t>
            </a:r>
            <a:r>
              <a:rPr lang="en-US" sz="1500"/>
              <a:t> Use any modern web browser like Google Chrome, Microsoft Edge, Mozilla Firefox, or Safari.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Navigate to the Azure Portal URL:</a:t>
            </a:r>
            <a:endParaRPr lang="en-US" sz="1500"/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For Commercial Use or Azure Public Cloud:</a:t>
            </a:r>
            <a:r>
              <a:rPr lang="en-US" sz="1500"/>
              <a:t> </a:t>
            </a:r>
            <a:r>
              <a:rPr lang="en-US" sz="1500">
                <a:hlinkClick r:id="rId2"/>
              </a:rPr>
              <a:t>https://portal.azure.com</a:t>
            </a:r>
            <a:endParaRPr lang="en-US" sz="1500"/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For Azure United States Government Cloud:</a:t>
            </a:r>
            <a:r>
              <a:rPr lang="en-US" sz="1500"/>
              <a:t> </a:t>
            </a:r>
            <a:r>
              <a:rPr lang="en-US" sz="1500">
                <a:hlinkClick r:id="rId3"/>
              </a:rPr>
              <a:t>https://portal.azure.us</a:t>
            </a:r>
            <a:endParaRPr lang="en-US" sz="1500"/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For Azure Germany:</a:t>
            </a:r>
            <a:r>
              <a:rPr lang="en-US" sz="1500"/>
              <a:t> </a:t>
            </a:r>
            <a:r>
              <a:rPr lang="en-US" sz="1500">
                <a:hlinkClick r:id="rId4"/>
              </a:rPr>
              <a:t>https://portal.microsoftazure.de</a:t>
            </a:r>
            <a:endParaRPr lang="en-US" sz="1500"/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For Azure China:</a:t>
            </a:r>
            <a:r>
              <a:rPr lang="en-US" sz="1500"/>
              <a:t> </a:t>
            </a:r>
            <a:r>
              <a:rPr lang="en-US" sz="1500">
                <a:hlinkClick r:id="rId5"/>
              </a:rPr>
              <a:t>https://portal.azure.cn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Sign In:</a:t>
            </a:r>
            <a:r>
              <a:rPr lang="en-US" sz="1500"/>
              <a:t> Enter your Microsoft account credentials associated with your Azure subscription. If your organization uses Azure Active Directory (AAD), you might need to use your corporate credentials.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500" b="1"/>
              <a:t>Access the Dashboard:</a:t>
            </a:r>
            <a:r>
              <a:rPr lang="en-US" sz="1500"/>
              <a:t> After signing in, you’ll be directed to the Azure Portal dashboard, where you can start managing your Azure resources.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500" b="1"/>
              <a:t>Tips:</a:t>
            </a:r>
            <a:endParaRPr lang="en-US" sz="1500"/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Bookmark the URL</a:t>
            </a:r>
            <a:r>
              <a:rPr lang="en-US" sz="1500"/>
              <a:t> for quick access in the future.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Check your browser settings</a:t>
            </a:r>
            <a:r>
              <a:rPr lang="en-US" sz="1500"/>
              <a:t> if you experience issues accessing the portal (e.g., ensure that cookies and JavaScript are enabled).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4085F-DFA6-04A2-06FA-71B4526A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816494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99B8B-BA2A-423B-E948-531D846A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PORTAL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9B824A-A06A-DBE6-CCB5-D036F433FE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Using Mobile App</a:t>
            </a:r>
            <a:endParaRPr lang="en-US" b="1"/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Download the Azure Mobile App:</a:t>
            </a:r>
            <a:r>
              <a:rPr lang="en-US" dirty="0"/>
              <a:t> The app is available for both iOS and Android. You can find it on the </a:t>
            </a:r>
            <a:r>
              <a:rPr lang="en-US" dirty="0">
                <a:hlinkClick r:id="rId2"/>
              </a:rPr>
              <a:t>Apple App Store</a:t>
            </a:r>
            <a:r>
              <a:rPr lang="en-US" dirty="0"/>
              <a:t> or Google Play Store.</a:t>
            </a:r>
            <a:endParaRPr lang="en-US"/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Install and Open the App:</a:t>
            </a:r>
            <a:r>
              <a:rPr lang="en-US" dirty="0"/>
              <a:t> Follow the installation instructions specific to your device.</a:t>
            </a:r>
            <a:endParaRPr lang="en-US"/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Sign In:</a:t>
            </a:r>
            <a:r>
              <a:rPr lang="en-US" dirty="0"/>
              <a:t> Use your Microsoft account credentials or Azure Active Directory credentials.</a:t>
            </a:r>
            <a:endParaRPr lang="en-US"/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Manage Resources:</a:t>
            </a:r>
            <a:r>
              <a:rPr lang="en-US" dirty="0"/>
              <a:t> Use the mobile app to monitor and manage your Azure resources on the go. You can view notifications, check resource health, and even manage specific Azure services.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/>
              <a:t>Tips:</a:t>
            </a:r>
            <a:endParaRPr lang="en-US"/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Enable Notifications:</a:t>
            </a:r>
            <a:r>
              <a:rPr lang="en-US" dirty="0"/>
              <a:t> To stay updated on resource status and alerts.</a:t>
            </a:r>
            <a:endParaRPr lang="en-US"/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Use the App’s Features:</a:t>
            </a:r>
            <a:r>
              <a:rPr lang="en-US" dirty="0"/>
              <a:t> Leverage the mobile app for quick management tasks while on the move.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4085F-DFA6-04A2-06FA-71B4526A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433784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99B8B-BA2A-423B-E948-531D846A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CLI &amp; POWERSHELL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E998B0-6F48-31CD-5A35-1AF95B403C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For advanced users and automation scenarios, Azure CLI and Azure PowerShell can be used to interact with Azure resources.</a:t>
            </a: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Azure CLI:</a:t>
            </a:r>
            <a:endParaRPr kumimoji="0" lang="en-PK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Install Azure CLI: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Follow the installation instructions from the 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  <a:hlinkClick r:id="rId2"/>
              </a:rPr>
              <a:t>Azure CLI documentation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AutoNum type="arabicPeriod" startAt="2"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Open Command Line Interface: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Use a terminal or command prompt.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AutoNum type="arabicPeriod" startAt="3"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Sign In: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Run the command </a:t>
            </a:r>
            <a:r>
              <a:rPr kumimoji="0" lang="en-PK" altLang="en-PK" sz="1500" b="1" i="0" u="none" strike="noStrike" cap="none" normalizeH="0" baseline="0" err="1">
                <a:ln>
                  <a:noFill/>
                </a:ln>
                <a:effectLst/>
                <a:latin typeface="+mj-lt"/>
              </a:rPr>
              <a:t>az</a:t>
            </a: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 login 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and follow the instructions to authenticate.</a:t>
            </a: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endParaRPr kumimoji="0" lang="en-PK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Azure PowerShell:</a:t>
            </a:r>
            <a:endParaRPr kumimoji="0" lang="en-PK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Install Azure PowerShell: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Follow the installation instructions from the 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  <a:hlinkClick r:id="rId3"/>
              </a:rPr>
              <a:t>Azure PowerShell documentation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AutoNum type="arabicPeriod" startAt="2"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Open PowerShell: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Use PowerShell on Windows or a compatible shell on other platforms.</a:t>
            </a: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AutoNum type="arabicPeriod" startAt="3"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Sign In: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Run the command </a:t>
            </a: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Connect-</a:t>
            </a:r>
            <a:r>
              <a:rPr kumimoji="0" lang="en-PK" altLang="en-PK" sz="1500" b="1" i="0" u="none" strike="noStrike" cap="none" normalizeH="0" baseline="0" err="1">
                <a:ln>
                  <a:noFill/>
                </a:ln>
                <a:effectLst/>
                <a:latin typeface="+mj-lt"/>
              </a:rPr>
              <a:t>AzAccount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and follow the instructions to authenticate.</a:t>
            </a:r>
            <a:endParaRPr kumimoji="0" lang="en-US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324000" lvl="1" indent="0" defTabSz="914400" eaLnBrk="0" fontAlgn="base" hangingPunct="0"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endParaRPr kumimoji="0" lang="en-PK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Tips:</a:t>
            </a:r>
            <a:endParaRPr kumimoji="0" lang="en-PK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sz="1500" b="1" i="0" u="none" strike="noStrike" cap="none" normalizeH="0" baseline="0">
                <a:ln>
                  <a:noFill/>
                </a:ln>
                <a:effectLst/>
                <a:latin typeface="+mj-lt"/>
              </a:rPr>
              <a:t>Automate Tasks:</a:t>
            </a:r>
            <a:r>
              <a:rPr kumimoji="0" lang="en-PK" altLang="en-PK" sz="1500" b="0" i="0" u="none" strike="noStrike" cap="none" normalizeH="0" baseline="0">
                <a:ln>
                  <a:noFill/>
                </a:ln>
                <a:effectLst/>
                <a:latin typeface="+mj-lt"/>
              </a:rPr>
              <a:t> Use scripts for regular management tasks and automation.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PK" altLang="en-PK" sz="1500" b="0" i="0" u="none" strike="noStrike" cap="none" normalizeH="0" baseline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4085F-DFA6-04A2-06FA-71B4526A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229931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99B8B-BA2A-423B-E948-531D846A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PORTAL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9B824A-A06A-DBE6-CCB5-D036F433FE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/>
              <a:t>Key Features:</a:t>
            </a:r>
            <a:endParaRPr 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/>
              <a:t>Unified Management:</a:t>
            </a:r>
            <a:r>
              <a:rPr lang="en-US"/>
              <a:t> Create, build, manage, and monitor Azure services.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/>
              <a:t>Command-Line Tools:</a:t>
            </a:r>
            <a:r>
              <a:rPr lang="en-US"/>
              <a:t> Use Cloud Shell for quick tasks and deployments.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/>
              <a:t>Resource Management:</a:t>
            </a:r>
            <a:r>
              <a:rPr lang="en-US"/>
              <a:t> Organize and manage Azure subscriptions, create management groups, and use Microsoft Entra ID for identity and access management.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/>
              <a:t>Customization:</a:t>
            </a:r>
            <a:r>
              <a:rPr lang="en-US"/>
              <a:t> Personalize dashboards to view resource statuses and set budget alerts.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/>
              <a:t>Marketplace:</a:t>
            </a:r>
            <a:r>
              <a:rPr lang="en-US"/>
              <a:t> Access and try applications and services from Microsoft partners through Azure Marketplace.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4085F-DFA6-04A2-06FA-71B4526A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36156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MICROSOFT AZURE CORE SERVICES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Microsoft Azure offers a comprehensive range of services categorized to help you build, deploy, and manage applications and infrastructure in the cloud.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275801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49463-9397-B035-0D69-56014BBF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MICROSOFT AZURE CORE SERVICES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BB804E-D823-1B51-159D-563DBA2DCC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Computing: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Virtual Machines (VMs), App Services, and Containers.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Networking: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Virtual Networks, Load Balancers, and VPN Gateways.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Storage: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Blob Storage, File Storage, and Table Storage.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Databases: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Azure SQL Database, Cosmos DB, and MySQL.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Analytics: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Azure Synapse Analytics, HDInsight, and Stream Analytics.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Machine Learning and AI: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Azure Machine Learning, Cognitive Services, and Bot Services.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IoT: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IoT Hub, IoT Central, and Digital Twins.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Security: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Azure Security Center, Key Vault, and Sentinel.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B7AFA-7086-D9E1-A168-A75ADCE8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548419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COMPUTE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Provide scalable computing resources.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Virtual Machines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Scalable virtualized computing resources.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App Service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Platform for building and hosting web apps.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Functions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Serverless compute service for event-driven applications.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811601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Containers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Build and manage containerized applications.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Kubernetes Service (AKS)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Managed Kubernetes container orchestration.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Container Instances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Run containers without managing virtual machines.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328480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DATABASES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Manage and store data with various database solutions.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SQL Database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Fully managed relational database service.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Cosmos DB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Globally distributed, multi-model NoSQL database.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Database for PostgreSQL/MySQL/MariaDB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Managed relational database services.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14168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Developer Tools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Support development, debugging, and deployment of applications.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DevOps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Complete suite for managing the software development lifecycle.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 Studio Code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Lightweight code editor.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Pipelines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CI/CD service for building, testing, and deploying code.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672777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INTEGRATIONS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Integrate applications and data across services and environments.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Logic Apps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Automate workflows and integrate apps.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Service Bus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Messaging service for connecting applications and services.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409650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NETWORKING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Connect and secure Azure resources and on-premises infrastructure.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Virtual Network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Create private networks in the cloud.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Firewall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Managed firewall service.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VPN Gateway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Securely connect Azure virtual networks to on-premises networks.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2062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Internet OF THINGS (IOT)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Build and manage IoT solutions.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IoT Hub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Central hub for managing IoT devices.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IoT Central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IoT application platform for managing devices and data.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17419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Identity &amp; Security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Secure and manage identities and access.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Entra ID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Identity and access management service.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Key Vault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 secrets, keys, and certificates.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Defender for Cloud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Comprehensive security management and threat protection.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669340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Monitoring, and Testing Services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Support application development, monitoring, and 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testing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practices.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Monitor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Monitor and </a:t>
            </a:r>
            <a:r>
              <a:rPr lang="en-PK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application performance.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 Insights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Application performance management (APM) tool.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DevTest Labs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Create and manage environments for development and testing.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034825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Ligh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Cloud Migration and Hybrid + Multi-Cloud Services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Facilitate migration to and management of hybrid and multi-cloud environments.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Migrate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Tools and guidance for migrating to Azure.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Arc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 and secure resources across on-premises, multi-cloud, and edge environments.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Stack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Run Azure services on-premises.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ova Light" panose="020B0502020104020203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018519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Artificial Intelligence (AI) + Machine Learning (ML)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Build modern cloud applications with AI and cognitive capabilities.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Cognitive Services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APIs for vision, speech, language, and decision-making.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Machine Learning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End-to-end machine learning lifecycle management.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Databricks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Apache Spark-based analytics platform.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678578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298F4-52A2-DFB1-3A52-EB4FE4B3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AZURE CORE SERVICES: Analytics</a:t>
            </a:r>
            <a:endParaRPr lang="en-PK" dirty="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FE0F-D1BC-375E-7E42-9C2C28B5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Gather, </a:t>
            </a:r>
            <a:r>
              <a:rPr lang="en-PK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visualize data.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Services:</a:t>
            </a:r>
            <a:endParaRPr lang="en-PK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Synapse Analytics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Integrated analytics service for big data and data warehousing.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Data Factory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Data integration and transformation service.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Data Lake Storage</a:t>
            </a:r>
            <a:r>
              <a:rPr lang="en-PK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Scalable storage for big data analytics.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F11D5-BEA2-8F68-0104-27944701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309372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672C1-EC60-480D-56E2-5C2F114F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Management Groups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9C8B9-2434-B879-4DF5-471F4673A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133200" indent="0"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b="1">
                <a:latin typeface="+mj-lt"/>
              </a:rPr>
              <a:t>Azure Management Groups</a:t>
            </a:r>
            <a:r>
              <a:rPr lang="en-US">
                <a:latin typeface="+mj-lt"/>
              </a:rPr>
              <a:t> are a crucial part of Azure's organizational structure. They help you manage and apply governance policies, compliance, and user access control across multiple Azure subscriptions. </a:t>
            </a:r>
            <a:endParaRPr lang="en-US" b="1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76100" indent="-342900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PK" b="1" kern="1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PK" kern="1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>
                <a:latin typeface="+mj-lt"/>
              </a:rPr>
              <a:t>Azure Management Groups are designed to manage and control access to multiple Azure subscriptions efficiently. They provide a hierarchical way to organize your Azure resources and enforce policies at scale. </a:t>
            </a:r>
          </a:p>
          <a:p>
            <a:pPr marL="476100" indent="-342900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PK" b="1" kern="1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Inheritance</a:t>
            </a:r>
            <a:r>
              <a:rPr lang="en-PK" kern="1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Subscriptions within a management group inherit settings and policies.</a:t>
            </a:r>
          </a:p>
          <a:p>
            <a:pPr marL="476100" indent="-342900"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PK" b="1" kern="1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Role-Based Access Control (RBAC)</a:t>
            </a:r>
            <a:r>
              <a:rPr lang="en-PK" kern="1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 Supports Azure RBAC for managing user roles and access within the management group.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E9CB2-1BA8-B904-6488-CDC79826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65784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0F3D6-4A57-1387-53FB-892064DF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Subscriptions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B8194-57FE-F067-5DD3-B35F4827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418950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Containers for managing user accounts and resources. Each subscription has resource limits and is used for cost control and resource management.</a:t>
            </a:r>
          </a:p>
          <a:p>
            <a:pPr marL="418950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Management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Helps track and control resources and costs, and manage resource creation, updates, or deletions.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4B57C-82C4-206B-73C1-7130D1D5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429756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0F3D6-4A57-1387-53FB-892064DF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Resource Groups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B8194-57FE-F067-5DD3-B35F4827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418950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Logical containers for managing resources like servers, web applications, databases, and storage.</a:t>
            </a:r>
          </a:p>
          <a:p>
            <a:pPr marL="418950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Distinction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Unlike availability sets (which manage </a:t>
            </a:r>
            <a:r>
              <a:rPr lang="en-PK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VMs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 resource groups organize various types of resources.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4B57C-82C4-206B-73C1-7130D1D5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336678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0F3D6-4A57-1387-53FB-892064DF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Resources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B8194-57FE-F067-5DD3-B35F48271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418950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The individual services or resources created within Azure (e.g., </a:t>
            </a:r>
            <a:r>
              <a:rPr lang="en-PK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VMs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databases).</a:t>
            </a:r>
          </a:p>
          <a:p>
            <a:pPr marL="418950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Organization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Must be added to a resource group. Tags can be used for categorization, billing, and environment management.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4B57C-82C4-206B-73C1-7130D1D5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886718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A1F9A-FCD3-914D-101D-0858FEB3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Azure Resource Manager (ARM)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5526-ECEF-E77C-F18E-2ECFFA2B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Manages the deployment, update, and deletion of Azure resources. Supports infrastructure as code (</a:t>
            </a:r>
            <a:r>
              <a:rPr lang="en-PK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IaC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with ARM templates, Azure Bicep, and Terraform.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Automation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Facilitates automated deployments and infrastructure management to minimize environment drift.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E34E8-F2A0-A814-0CFA-EA3E73C7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355651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A1F9A-FCD3-914D-101D-0858FEB3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Cost Management in Microsoft Azure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5526-ECEF-E77C-F18E-2ECFFA2B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Cost Management in Azure helps organizations monitor, control, and optimize their spending on Azure resources. </a:t>
            </a:r>
          </a:p>
          <a:p>
            <a:r>
              <a:rPr lang="en-US" dirty="0"/>
              <a:t>Effective cost management is crucial for ensuring that you stay within budget and get the most value from your cloud investments.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E34E8-F2A0-A814-0CFA-EA3E73C7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506674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CBD3E-0899-FCF7-32EF-66A0DC1E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Key Components of Azure Cost Management</a:t>
            </a:r>
            <a:br>
              <a:rPr lang="en-US">
                <a:solidFill>
                  <a:srgbClr val="FFFEFF"/>
                </a:solidFill>
              </a:rPr>
            </a:b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33DC6-95F3-570B-D46B-7DBA7886D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Cost Analysis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Purpose</a:t>
            </a:r>
            <a:r>
              <a:rPr lang="en-US" dirty="0"/>
              <a:t>: Allows you to visualize and analyze your spending over time. You can break down costs by resource, subscription, department, or other dimensions.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Features</a:t>
            </a:r>
            <a:r>
              <a:rPr lang="en-US" dirty="0"/>
              <a:t>: Provides detailed reports and insights into your spending patterns, helping you identify areas where you can save costs.</a:t>
            </a:r>
          </a:p>
          <a:p>
            <a:pPr marL="0" indent="0">
              <a:buNone/>
            </a:pPr>
            <a:r>
              <a:rPr lang="en-US" b="1" dirty="0"/>
              <a:t>2. Budgeting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Purpose</a:t>
            </a:r>
            <a:r>
              <a:rPr lang="en-US" dirty="0"/>
              <a:t>: Helps you set and manage budgets for your Azure resources to avoid overspending.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Features</a:t>
            </a:r>
            <a:r>
              <a:rPr lang="en-US" dirty="0"/>
              <a:t>: You can create budgets for subscriptions, resource groups, or specific services, and set up alerts to notify you when spending approaches or exceeds the budget.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4B1AB-3828-2CA7-C225-1BB87479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980699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CBD3E-0899-FCF7-32EF-66A0DC1E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Key Components of Azure Cost Management</a:t>
            </a:r>
            <a:br>
              <a:rPr lang="en-US">
                <a:solidFill>
                  <a:srgbClr val="FFFEFF"/>
                </a:solidFill>
              </a:rPr>
            </a:b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33DC6-95F3-570B-D46B-7DBA7886D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Cost Forecasting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Purpose</a:t>
            </a:r>
            <a:r>
              <a:rPr lang="en-US" dirty="0"/>
              <a:t>: Provides estimates of future costs based on current spending patterns and historical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Features</a:t>
            </a:r>
            <a:r>
              <a:rPr lang="en-US" dirty="0"/>
              <a:t>: Helps in planning and forecasting future expenditures, allowing you to adjust budgets and optimize resources accordingly.</a:t>
            </a:r>
          </a:p>
          <a:p>
            <a:pPr marL="0" indent="0">
              <a:buNone/>
            </a:pPr>
            <a:r>
              <a:rPr lang="en-US" b="1" dirty="0"/>
              <a:t>4. Cost Optimization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Purpose</a:t>
            </a:r>
            <a:r>
              <a:rPr lang="en-US" dirty="0"/>
              <a:t>: Identifies opportunities to reduce costs by analyzing resource usage and recommending optimizations.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Features</a:t>
            </a:r>
            <a:r>
              <a:rPr lang="en-US" dirty="0"/>
              <a:t>: Includes recommendations for resizing or deallocating underused resources, purchasing reserved instances, and more.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4B1AB-3828-2CA7-C225-1BB87479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749022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A1F9A-FCD3-914D-101D-0858FEB3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Tools for Azure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5526-ECEF-E77C-F18E-2ECFFA2B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en-US" sz="1700" b="1"/>
              <a:t>Azure Cost Management + Billing</a:t>
            </a:r>
            <a:r>
              <a:rPr lang="en-US" sz="170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700" b="1"/>
              <a:t>Overview</a:t>
            </a:r>
            <a:r>
              <a:rPr lang="en-US" sz="1700"/>
              <a:t>: A comprehensive tool available in the Azure Portal that provides cost analysis, budgeting, and optimization capabilities.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700" b="1"/>
              <a:t>Features</a:t>
            </a:r>
            <a:r>
              <a:rPr lang="en-US" sz="170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700" b="1"/>
              <a:t>Cost Analysis</a:t>
            </a:r>
            <a:r>
              <a:rPr lang="en-US" sz="1700"/>
              <a:t>: View and analyze your spending using interactive charts and reports.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700" b="1"/>
              <a:t>Budgets</a:t>
            </a:r>
            <a:r>
              <a:rPr lang="en-US" sz="1700"/>
              <a:t>: Set up budgets and receive alerts when spending exceeds predefined thresholds.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700" b="1"/>
              <a:t>Recommendations</a:t>
            </a:r>
            <a:r>
              <a:rPr lang="en-US" sz="1700"/>
              <a:t>: Get recommendations for cost-saving actions based on your usage patterns.</a:t>
            </a:r>
          </a:p>
          <a:p>
            <a:pPr>
              <a:buFont typeface="+mj-lt"/>
              <a:buAutoNum type="arabicPeriod"/>
            </a:pPr>
            <a:r>
              <a:rPr lang="en-US" sz="1700" b="1"/>
              <a:t>Azure Pricing Calculator</a:t>
            </a:r>
            <a:r>
              <a:rPr lang="en-US" sz="170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700" b="1"/>
              <a:t>Overview</a:t>
            </a:r>
            <a:r>
              <a:rPr lang="en-US" sz="1700"/>
              <a:t>: A web-based tool that helps you estimate the costs of Azure services based on your specific requirements.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700" b="1"/>
              <a:t>Features</a:t>
            </a:r>
            <a:r>
              <a:rPr lang="en-US" sz="170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700" b="1"/>
              <a:t>Configuration</a:t>
            </a:r>
            <a:r>
              <a:rPr lang="en-US" sz="1700"/>
              <a:t>: Customize configurations for various Azure services to estimate costs.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700" b="1"/>
              <a:t>Export/Share</a:t>
            </a:r>
            <a:r>
              <a:rPr lang="en-US" sz="1700"/>
              <a:t>: Save and share cost estimates for planning and budgeting purposes.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E34E8-F2A0-A814-0CFA-EA3E73C7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86628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A1F9A-FCD3-914D-101D-0858FEB3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Tools for Azure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5526-ECEF-E77C-F18E-2ECFFA2B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lnSpc>
                <a:spcPct val="110000"/>
              </a:lnSpc>
              <a:buFont typeface="+mj-lt"/>
              <a:buAutoNum type="arabicPeriod" startAt="3"/>
            </a:pPr>
            <a:r>
              <a:rPr lang="en-US" sz="1400" b="1" dirty="0"/>
              <a:t>Total Cost of Ownership (TCO) Calculator</a:t>
            </a:r>
            <a:r>
              <a:rPr lang="en-US" sz="1400" dirty="0"/>
              <a:t>:</a:t>
            </a: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Overview</a:t>
            </a:r>
            <a:r>
              <a:rPr lang="en-US" dirty="0"/>
              <a:t>: Helps you estimate cost savings by migrating workloads to Azure from on-premises environments.</a:t>
            </a: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marL="11430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Comparison</a:t>
            </a:r>
            <a:r>
              <a:rPr lang="en-US" sz="1400" dirty="0"/>
              <a:t>: Compare costs between on-premises infrastructure and Azure cloud services.</a:t>
            </a:r>
          </a:p>
          <a:p>
            <a:pPr marL="11430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Reports</a:t>
            </a:r>
            <a:r>
              <a:rPr lang="en-US" sz="1400" dirty="0"/>
              <a:t>: Generate reports to support cost-benefit analyses for cloud migrations.</a:t>
            </a:r>
          </a:p>
          <a:p>
            <a:pPr>
              <a:lnSpc>
                <a:spcPct val="110000"/>
              </a:lnSpc>
              <a:buFont typeface="+mj-lt"/>
              <a:buAutoNum type="arabicPeriod" startAt="3"/>
            </a:pPr>
            <a:r>
              <a:rPr lang="en-US" sz="1400" b="1" dirty="0"/>
              <a:t>Azure Advisor</a:t>
            </a:r>
            <a:r>
              <a:rPr lang="en-US" sz="1400" dirty="0"/>
              <a:t>:</a:t>
            </a: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Overview</a:t>
            </a:r>
            <a:r>
              <a:rPr lang="en-US" dirty="0"/>
              <a:t>: Provides personalized best practices and recommendations for optimizing your Azure environment, including cost-saving opportunities.</a:t>
            </a: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marL="11430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Cost Optimization</a:t>
            </a:r>
            <a:r>
              <a:rPr lang="en-US" sz="1400" dirty="0"/>
              <a:t>: Recommendations for rightsizing or deleting unused resources.</a:t>
            </a:r>
          </a:p>
          <a:p>
            <a:pPr marL="11430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Performance Improvements</a:t>
            </a:r>
            <a:r>
              <a:rPr lang="en-US" sz="1400" dirty="0"/>
              <a:t>: Tips for improving the performance and efficiency of your Azure resources.</a:t>
            </a:r>
          </a:p>
          <a:p>
            <a:pPr>
              <a:lnSpc>
                <a:spcPct val="110000"/>
              </a:lnSpc>
              <a:buFont typeface="+mj-lt"/>
              <a:buAutoNum type="arabicPeriod" startAt="3"/>
            </a:pPr>
            <a:r>
              <a:rPr lang="en-US" sz="1400" b="1" dirty="0"/>
              <a:t>Azure Resource Graph</a:t>
            </a:r>
            <a:r>
              <a:rPr lang="en-US" sz="1400" dirty="0"/>
              <a:t>:</a:t>
            </a: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Overview</a:t>
            </a:r>
            <a:r>
              <a:rPr lang="en-US" dirty="0"/>
              <a:t>: Allows for efficient querying and exploration of your Azure resources and their costs.</a:t>
            </a: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en-US" b="1" dirty="0"/>
              <a:t>Features</a:t>
            </a:r>
            <a:r>
              <a:rPr lang="en-US" dirty="0"/>
              <a:t>:</a:t>
            </a:r>
          </a:p>
          <a:p>
            <a:pPr marL="11430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Queries</a:t>
            </a:r>
            <a:r>
              <a:rPr lang="en-US" sz="1400" dirty="0"/>
              <a:t>: Write queries to explore resource usage and spending patterns across subscriptions.</a:t>
            </a:r>
          </a:p>
          <a:p>
            <a:pPr marL="1143000" lvl="2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Integration</a:t>
            </a:r>
            <a:r>
              <a:rPr lang="en-US" sz="1400" dirty="0"/>
              <a:t>: Integrate with other Azure management tools for a comprehensive view of costs.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E34E8-F2A0-A814-0CFA-EA3E73C7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295742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A1F9A-FCD3-914D-101D-0858FEB3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Best Practices for Azure 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5526-ECEF-E77C-F18E-2ECFFA2B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700" b="1"/>
              <a:t>Regular Monitoring</a:t>
            </a:r>
            <a:r>
              <a:rPr lang="en-US" sz="1700"/>
              <a:t>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700"/>
              <a:t>Regularly review your spending and resource usage to stay on top of unexpected costs.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700" b="1"/>
              <a:t>Set Up Alerts and Budgets</a:t>
            </a:r>
            <a:r>
              <a:rPr lang="en-US" sz="1700"/>
              <a:t>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700"/>
              <a:t>Configure budgets and alerts to keep spending within limits and receive notifications of cost overruns.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700" b="1"/>
              <a:t>Optimize Resource Usage</a:t>
            </a:r>
            <a:r>
              <a:rPr lang="en-US" sz="1700"/>
              <a:t>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700"/>
              <a:t>Use recommendations from Azure Advisor to optimize resource configurations and reduce costs.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700" b="1"/>
              <a:t>Use Reserved Instances</a:t>
            </a:r>
            <a:r>
              <a:rPr lang="en-US" sz="1700"/>
              <a:t>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700"/>
              <a:t>Purchase reserved instances for predictable workloads to save on long-term costs compared to pay-as-you-go pricing.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700" b="1"/>
              <a:t>Tag Resources</a:t>
            </a:r>
            <a:r>
              <a:rPr lang="en-US" sz="1700"/>
              <a:t>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1700"/>
              <a:t>Apply tags to resources to categorize and track spending by department, project, or other dimensions.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E34E8-F2A0-A814-0CFA-EA3E73C7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723145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A1F9A-FCD3-914D-101D-0858FEB3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User Identities, Roles, and Active Directories in Azure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5526-ECEF-E77C-F18E-2ECFFA2B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PK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Entra ID</a:t>
            </a:r>
            <a:r>
              <a:rPr lang="en-PK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Manages user identities, roles, logins, and access permissions for Azure resources and services.</a:t>
            </a: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PK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Azure Role-Based Access Control (RBAC)</a:t>
            </a:r>
            <a:r>
              <a:rPr lang="en-PK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Manages authorization and user access for Azure resources.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Components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1143000" lvl="2" indent="-228600"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 Principal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Represents identities (users, groups, processes).</a:t>
            </a:r>
          </a:p>
          <a:p>
            <a:pPr marL="1143000" lvl="2" indent="-228600"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Role Definition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Sets permissions for resource activities (e.g., read, write, delete).</a:t>
            </a:r>
          </a:p>
          <a:p>
            <a:pPr marL="1143000" lvl="2" indent="-228600"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PK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</a:t>
            </a:r>
            <a:r>
              <a:rPr lang="en-PK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Defines the resource levels (management group, subscription, resource group, resource) to which a role applies.</a:t>
            </a:r>
          </a:p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E34E8-F2A0-A814-0CFA-EA3E73C7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486915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</TotalTime>
  <Words>3269</Words>
  <Application>Microsoft Office PowerPoint</Application>
  <PresentationFormat>Widescreen</PresentationFormat>
  <Paragraphs>313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</vt:lpstr>
      <vt:lpstr>Arial</vt:lpstr>
      <vt:lpstr>Arial Nova Light</vt:lpstr>
      <vt:lpstr>Courier New</vt:lpstr>
      <vt:lpstr>Symbol</vt:lpstr>
      <vt:lpstr>Wingdings</vt:lpstr>
      <vt:lpstr>Wingdings 2</vt:lpstr>
      <vt:lpstr>DividendVTI</vt:lpstr>
      <vt:lpstr> CHAPTER 2 MICROSOFT AZURE Fundamentals </vt:lpstr>
      <vt:lpstr>Microsoft Azure: History &amp; Evolution</vt:lpstr>
      <vt:lpstr>Microsoft Azure: Purpose &amp; Impact</vt:lpstr>
      <vt:lpstr>Microsoft Azure: CLOUD MODELS</vt:lpstr>
      <vt:lpstr>Core Concepts of Azure</vt:lpstr>
      <vt:lpstr>Azure Geographies</vt:lpstr>
      <vt:lpstr>Azure Regions</vt:lpstr>
      <vt:lpstr>Azure Regions</vt:lpstr>
      <vt:lpstr>Azure Availability Zones</vt:lpstr>
      <vt:lpstr>Azure Availability Zones</vt:lpstr>
      <vt:lpstr>BENEFITS OF AZURE</vt:lpstr>
      <vt:lpstr>AZURE PORTAL</vt:lpstr>
      <vt:lpstr>AZURE PORTAL</vt:lpstr>
      <vt:lpstr>AZURE CLI &amp; POWERSHELL</vt:lpstr>
      <vt:lpstr>AZURE PORTAL</vt:lpstr>
      <vt:lpstr>MICROSOFT AZURE CORE SERVICES</vt:lpstr>
      <vt:lpstr>MICROSOFT AZURE CORE SERVICES</vt:lpstr>
      <vt:lpstr>AZURE CORE SERVICES: COMPUTE</vt:lpstr>
      <vt:lpstr>AZURE CORE SERVICES: Containers</vt:lpstr>
      <vt:lpstr>AZURE CORE SERVICES: DATABASES</vt:lpstr>
      <vt:lpstr>AZURE CORE SERVICES: Developer Tools</vt:lpstr>
      <vt:lpstr>AZURE CORE SERVICES: INTEGRATIONS</vt:lpstr>
      <vt:lpstr>AZURE CORE SERVICES: NETWORKING</vt:lpstr>
      <vt:lpstr>AZURE CORE SERVICES: Internet OF THINGS (IOT)</vt:lpstr>
      <vt:lpstr>AZURE CORE SERVICES: Identity &amp; Security</vt:lpstr>
      <vt:lpstr>AZURE CORE SERVICES: Monitoring, and Testing Services</vt:lpstr>
      <vt:lpstr>AZURE CORE SERVICES: Cloud Migration and Hybrid + Multi-Cloud Services</vt:lpstr>
      <vt:lpstr>AZURE CORE SERVICES: Artificial Intelligence (AI) + Machine Learning (ML)</vt:lpstr>
      <vt:lpstr>AZURE CORE SERVICES: Analytics</vt:lpstr>
      <vt:lpstr>Azure Management Groups</vt:lpstr>
      <vt:lpstr>Azure Subscriptions</vt:lpstr>
      <vt:lpstr>Azure Resource Groups</vt:lpstr>
      <vt:lpstr>Azure Resources</vt:lpstr>
      <vt:lpstr>Azure Resource Manager (ARM)</vt:lpstr>
      <vt:lpstr>Cost Management in Microsoft Azure</vt:lpstr>
      <vt:lpstr>Key Components of Azure Cost Management </vt:lpstr>
      <vt:lpstr>Key Components of Azure Cost Management </vt:lpstr>
      <vt:lpstr>Tools for Azure Cost Management</vt:lpstr>
      <vt:lpstr>Tools for Azure Cost Management</vt:lpstr>
      <vt:lpstr>Best Practices for Azure Cost Management</vt:lpstr>
      <vt:lpstr>User Identities, Roles, and Active Directories in Azure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23</cp:revision>
  <dcterms:created xsi:type="dcterms:W3CDTF">2024-08-20T00:20:53Z</dcterms:created>
  <dcterms:modified xsi:type="dcterms:W3CDTF">2025-08-18T14:06:37Z</dcterms:modified>
</cp:coreProperties>
</file>