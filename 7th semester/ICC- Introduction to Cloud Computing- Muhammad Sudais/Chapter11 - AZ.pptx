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36"/>
  </p:notesMasterIdLst>
  <p:sldIdLst>
    <p:sldId id="531" r:id="rId2"/>
    <p:sldId id="257" r:id="rId3"/>
    <p:sldId id="258" r:id="rId4"/>
    <p:sldId id="260" r:id="rId5"/>
    <p:sldId id="262" r:id="rId6"/>
    <p:sldId id="263" r:id="rId7"/>
    <p:sldId id="264" r:id="rId8"/>
    <p:sldId id="266" r:id="rId9"/>
    <p:sldId id="267" r:id="rId10"/>
    <p:sldId id="268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4" r:id="rId19"/>
    <p:sldId id="285" r:id="rId20"/>
    <p:sldId id="265" r:id="rId21"/>
    <p:sldId id="288" r:id="rId22"/>
    <p:sldId id="289" r:id="rId23"/>
    <p:sldId id="290" r:id="rId24"/>
    <p:sldId id="292" r:id="rId25"/>
    <p:sldId id="293" r:id="rId26"/>
    <p:sldId id="294" r:id="rId27"/>
    <p:sldId id="295" r:id="rId28"/>
    <p:sldId id="296" r:id="rId29"/>
    <p:sldId id="532" r:id="rId30"/>
    <p:sldId id="535" r:id="rId31"/>
    <p:sldId id="536" r:id="rId32"/>
    <p:sldId id="537" r:id="rId33"/>
    <p:sldId id="538" r:id="rId34"/>
    <p:sldId id="539" r:id="rId3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1 - Book 2" id="{6AD22094-E808-4B57-8356-FF58102D8959}">
          <p14:sldIdLst>
            <p14:sldId id="531"/>
            <p14:sldId id="257"/>
            <p14:sldId id="258"/>
            <p14:sldId id="260"/>
            <p14:sldId id="262"/>
            <p14:sldId id="263"/>
            <p14:sldId id="264"/>
            <p14:sldId id="266"/>
            <p14:sldId id="267"/>
            <p14:sldId id="268"/>
            <p14:sldId id="275"/>
            <p14:sldId id="276"/>
            <p14:sldId id="277"/>
            <p14:sldId id="278"/>
            <p14:sldId id="279"/>
            <p14:sldId id="280"/>
            <p14:sldId id="281"/>
            <p14:sldId id="284"/>
            <p14:sldId id="285"/>
            <p14:sldId id="265"/>
            <p14:sldId id="288"/>
            <p14:sldId id="289"/>
            <p14:sldId id="290"/>
            <p14:sldId id="292"/>
            <p14:sldId id="293"/>
            <p14:sldId id="294"/>
            <p14:sldId id="295"/>
            <p14:sldId id="296"/>
            <p14:sldId id="532"/>
            <p14:sldId id="535"/>
            <p14:sldId id="536"/>
            <p14:sldId id="537"/>
            <p14:sldId id="538"/>
            <p14:sldId id="5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5C2367-8B18-4B04-BA27-60637390616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FBC357-D7DB-40C6-BBBE-0C5EA3FDD019}">
      <dgm:prSet/>
      <dgm:spPr/>
      <dgm:t>
        <a:bodyPr/>
        <a:lstStyle/>
        <a:p>
          <a:r>
            <a:rPr lang="en-US"/>
            <a:t>Compute Services: Virtual Machines, Azure App Service, Azure Kubernetes Service (AKS).</a:t>
          </a:r>
        </a:p>
      </dgm:t>
    </dgm:pt>
    <dgm:pt modelId="{B5C112EB-FD91-4965-90C5-77E1437A90D2}" type="parTrans" cxnId="{7770C046-BAFF-4EFD-9EF8-D94C660F8DB0}">
      <dgm:prSet/>
      <dgm:spPr/>
      <dgm:t>
        <a:bodyPr/>
        <a:lstStyle/>
        <a:p>
          <a:endParaRPr lang="en-US"/>
        </a:p>
      </dgm:t>
    </dgm:pt>
    <dgm:pt modelId="{08A39F61-BB0A-47CC-B4BE-C201E22D7B85}" type="sibTrans" cxnId="{7770C046-BAFF-4EFD-9EF8-D94C660F8DB0}">
      <dgm:prSet/>
      <dgm:spPr/>
      <dgm:t>
        <a:bodyPr/>
        <a:lstStyle/>
        <a:p>
          <a:endParaRPr lang="en-US"/>
        </a:p>
      </dgm:t>
    </dgm:pt>
    <dgm:pt modelId="{2A0B3C08-A16A-44DF-B77C-9F21E5686849}">
      <dgm:prSet/>
      <dgm:spPr/>
      <dgm:t>
        <a:bodyPr/>
        <a:lstStyle/>
        <a:p>
          <a:r>
            <a:rPr lang="en-US"/>
            <a:t>Storage Solutions: Azure Blob Storage, Azure Data Lake, Azure SQL Database.</a:t>
          </a:r>
        </a:p>
      </dgm:t>
    </dgm:pt>
    <dgm:pt modelId="{EAB8DA96-34F3-4C6A-B459-6ED9E02CF6A1}" type="parTrans" cxnId="{E6336D47-8CD0-4FC6-B286-52D5F112E319}">
      <dgm:prSet/>
      <dgm:spPr/>
      <dgm:t>
        <a:bodyPr/>
        <a:lstStyle/>
        <a:p>
          <a:endParaRPr lang="en-US"/>
        </a:p>
      </dgm:t>
    </dgm:pt>
    <dgm:pt modelId="{6BC4BAA3-B540-4632-BF19-A640452C2D2C}" type="sibTrans" cxnId="{E6336D47-8CD0-4FC6-B286-52D5F112E319}">
      <dgm:prSet/>
      <dgm:spPr/>
      <dgm:t>
        <a:bodyPr/>
        <a:lstStyle/>
        <a:p>
          <a:endParaRPr lang="en-US"/>
        </a:p>
      </dgm:t>
    </dgm:pt>
    <dgm:pt modelId="{66BBE0C6-B552-4997-A9D1-C75573072742}">
      <dgm:prSet/>
      <dgm:spPr/>
      <dgm:t>
        <a:bodyPr/>
        <a:lstStyle/>
        <a:p>
          <a:r>
            <a:rPr lang="en-US"/>
            <a:t>Networking Services: Virtual Networks, Load Balancers, Azure Front Door.</a:t>
          </a:r>
        </a:p>
      </dgm:t>
    </dgm:pt>
    <dgm:pt modelId="{798C72BD-46E0-4EC3-94D7-E1C23C82828C}" type="parTrans" cxnId="{0951378D-A1C8-4CAF-B0FC-D9B179740475}">
      <dgm:prSet/>
      <dgm:spPr/>
      <dgm:t>
        <a:bodyPr/>
        <a:lstStyle/>
        <a:p>
          <a:endParaRPr lang="en-US"/>
        </a:p>
      </dgm:t>
    </dgm:pt>
    <dgm:pt modelId="{BB20D3AE-B17D-43EA-9818-7E317562E6F4}" type="sibTrans" cxnId="{0951378D-A1C8-4CAF-B0FC-D9B179740475}">
      <dgm:prSet/>
      <dgm:spPr/>
      <dgm:t>
        <a:bodyPr/>
        <a:lstStyle/>
        <a:p>
          <a:endParaRPr lang="en-US"/>
        </a:p>
      </dgm:t>
    </dgm:pt>
    <dgm:pt modelId="{68302D3D-B4A3-4F03-A34E-B6DCCB233D83}">
      <dgm:prSet/>
      <dgm:spPr/>
      <dgm:t>
        <a:bodyPr/>
        <a:lstStyle/>
        <a:p>
          <a:r>
            <a:rPr lang="en-US"/>
            <a:t>Management Tools: Azure Resource Manager, Azure Monitor, Azure Automation.</a:t>
          </a:r>
        </a:p>
      </dgm:t>
    </dgm:pt>
    <dgm:pt modelId="{B32025B8-5C57-4500-A2F6-D21E0AA73C2D}" type="parTrans" cxnId="{258B537C-173C-49D8-A887-C9267D5AB193}">
      <dgm:prSet/>
      <dgm:spPr/>
      <dgm:t>
        <a:bodyPr/>
        <a:lstStyle/>
        <a:p>
          <a:endParaRPr lang="en-US"/>
        </a:p>
      </dgm:t>
    </dgm:pt>
    <dgm:pt modelId="{FA3938D9-7E2D-47BF-BFA3-A98D30F8569F}" type="sibTrans" cxnId="{258B537C-173C-49D8-A887-C9267D5AB193}">
      <dgm:prSet/>
      <dgm:spPr/>
      <dgm:t>
        <a:bodyPr/>
        <a:lstStyle/>
        <a:p>
          <a:endParaRPr lang="en-US"/>
        </a:p>
      </dgm:t>
    </dgm:pt>
    <dgm:pt modelId="{B2F9A589-C8FC-426C-BE80-8C57406C9E19}" type="pres">
      <dgm:prSet presAssocID="{015C2367-8B18-4B04-BA27-60637390616D}" presName="linear" presStyleCnt="0">
        <dgm:presLayoutVars>
          <dgm:animLvl val="lvl"/>
          <dgm:resizeHandles val="exact"/>
        </dgm:presLayoutVars>
      </dgm:prSet>
      <dgm:spPr/>
    </dgm:pt>
    <dgm:pt modelId="{9EDD2AC3-D372-46BA-8B77-E8B006961B32}" type="pres">
      <dgm:prSet presAssocID="{06FBC357-D7DB-40C6-BBBE-0C5EA3FDD0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64A1A0-B049-404F-A852-AF834EB5D033}" type="pres">
      <dgm:prSet presAssocID="{08A39F61-BB0A-47CC-B4BE-C201E22D7B85}" presName="spacer" presStyleCnt="0"/>
      <dgm:spPr/>
    </dgm:pt>
    <dgm:pt modelId="{385D4919-0864-4146-8417-A33F67E6FC27}" type="pres">
      <dgm:prSet presAssocID="{2A0B3C08-A16A-44DF-B77C-9F21E568684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D6015CE-EC54-460E-9791-B3ED897CB1EE}" type="pres">
      <dgm:prSet presAssocID="{6BC4BAA3-B540-4632-BF19-A640452C2D2C}" presName="spacer" presStyleCnt="0"/>
      <dgm:spPr/>
    </dgm:pt>
    <dgm:pt modelId="{08023671-26F8-471C-96FE-240A49FFCB11}" type="pres">
      <dgm:prSet presAssocID="{66BBE0C6-B552-4997-A9D1-C755730727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9E71954-6F1D-4489-8DFB-3F4D63CFF5DD}" type="pres">
      <dgm:prSet presAssocID="{BB20D3AE-B17D-43EA-9818-7E317562E6F4}" presName="spacer" presStyleCnt="0"/>
      <dgm:spPr/>
    </dgm:pt>
    <dgm:pt modelId="{BCB269D4-70B8-4F54-BBEC-7BED8C0F5731}" type="pres">
      <dgm:prSet presAssocID="{68302D3D-B4A3-4F03-A34E-B6DCCB233D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C0172B-6015-4E22-BF37-D308CE5C368B}" type="presOf" srcId="{66BBE0C6-B552-4997-A9D1-C75573072742}" destId="{08023671-26F8-471C-96FE-240A49FFCB11}" srcOrd="0" destOrd="0" presId="urn:microsoft.com/office/officeart/2005/8/layout/vList2"/>
    <dgm:cxn modelId="{7770C046-BAFF-4EFD-9EF8-D94C660F8DB0}" srcId="{015C2367-8B18-4B04-BA27-60637390616D}" destId="{06FBC357-D7DB-40C6-BBBE-0C5EA3FDD019}" srcOrd="0" destOrd="0" parTransId="{B5C112EB-FD91-4965-90C5-77E1437A90D2}" sibTransId="{08A39F61-BB0A-47CC-B4BE-C201E22D7B85}"/>
    <dgm:cxn modelId="{E6336D47-8CD0-4FC6-B286-52D5F112E319}" srcId="{015C2367-8B18-4B04-BA27-60637390616D}" destId="{2A0B3C08-A16A-44DF-B77C-9F21E5686849}" srcOrd="1" destOrd="0" parTransId="{EAB8DA96-34F3-4C6A-B459-6ED9E02CF6A1}" sibTransId="{6BC4BAA3-B540-4632-BF19-A640452C2D2C}"/>
    <dgm:cxn modelId="{258B537C-173C-49D8-A887-C9267D5AB193}" srcId="{015C2367-8B18-4B04-BA27-60637390616D}" destId="{68302D3D-B4A3-4F03-A34E-B6DCCB233D83}" srcOrd="3" destOrd="0" parTransId="{B32025B8-5C57-4500-A2F6-D21E0AA73C2D}" sibTransId="{FA3938D9-7E2D-47BF-BFA3-A98D30F8569F}"/>
    <dgm:cxn modelId="{C7F58D7F-2B42-4113-A5B3-C7148AB16BF7}" type="presOf" srcId="{2A0B3C08-A16A-44DF-B77C-9F21E5686849}" destId="{385D4919-0864-4146-8417-A33F67E6FC27}" srcOrd="0" destOrd="0" presId="urn:microsoft.com/office/officeart/2005/8/layout/vList2"/>
    <dgm:cxn modelId="{0951378D-A1C8-4CAF-B0FC-D9B179740475}" srcId="{015C2367-8B18-4B04-BA27-60637390616D}" destId="{66BBE0C6-B552-4997-A9D1-C75573072742}" srcOrd="2" destOrd="0" parTransId="{798C72BD-46E0-4EC3-94D7-E1C23C82828C}" sibTransId="{BB20D3AE-B17D-43EA-9818-7E317562E6F4}"/>
    <dgm:cxn modelId="{B37152AE-0BF7-43E5-B20C-C6833334762A}" type="presOf" srcId="{06FBC357-D7DB-40C6-BBBE-0C5EA3FDD019}" destId="{9EDD2AC3-D372-46BA-8B77-E8B006961B32}" srcOrd="0" destOrd="0" presId="urn:microsoft.com/office/officeart/2005/8/layout/vList2"/>
    <dgm:cxn modelId="{47B0EAE1-FB88-44C5-8E29-E61251DB1829}" type="presOf" srcId="{015C2367-8B18-4B04-BA27-60637390616D}" destId="{B2F9A589-C8FC-426C-BE80-8C57406C9E19}" srcOrd="0" destOrd="0" presId="urn:microsoft.com/office/officeart/2005/8/layout/vList2"/>
    <dgm:cxn modelId="{9513C0FF-C9ED-4666-976E-ADBF068785C9}" type="presOf" srcId="{68302D3D-B4A3-4F03-A34E-B6DCCB233D83}" destId="{BCB269D4-70B8-4F54-BBEC-7BED8C0F5731}" srcOrd="0" destOrd="0" presId="urn:microsoft.com/office/officeart/2005/8/layout/vList2"/>
    <dgm:cxn modelId="{22B51CDF-F22A-45FB-B146-559629DD19B6}" type="presParOf" srcId="{B2F9A589-C8FC-426C-BE80-8C57406C9E19}" destId="{9EDD2AC3-D372-46BA-8B77-E8B006961B32}" srcOrd="0" destOrd="0" presId="urn:microsoft.com/office/officeart/2005/8/layout/vList2"/>
    <dgm:cxn modelId="{BAE2250B-CDCE-4924-81A2-F7EDC7D5EDDC}" type="presParOf" srcId="{B2F9A589-C8FC-426C-BE80-8C57406C9E19}" destId="{4E64A1A0-B049-404F-A852-AF834EB5D033}" srcOrd="1" destOrd="0" presId="urn:microsoft.com/office/officeart/2005/8/layout/vList2"/>
    <dgm:cxn modelId="{95C40528-354D-477C-B8C8-CF3708CE9992}" type="presParOf" srcId="{B2F9A589-C8FC-426C-BE80-8C57406C9E19}" destId="{385D4919-0864-4146-8417-A33F67E6FC27}" srcOrd="2" destOrd="0" presId="urn:microsoft.com/office/officeart/2005/8/layout/vList2"/>
    <dgm:cxn modelId="{20C94819-BF72-485C-8691-9D8203306889}" type="presParOf" srcId="{B2F9A589-C8FC-426C-BE80-8C57406C9E19}" destId="{AD6015CE-EC54-460E-9791-B3ED897CB1EE}" srcOrd="3" destOrd="0" presId="urn:microsoft.com/office/officeart/2005/8/layout/vList2"/>
    <dgm:cxn modelId="{AACF3080-ACB8-4D55-8697-3F267CAED114}" type="presParOf" srcId="{B2F9A589-C8FC-426C-BE80-8C57406C9E19}" destId="{08023671-26F8-471C-96FE-240A49FFCB11}" srcOrd="4" destOrd="0" presId="urn:microsoft.com/office/officeart/2005/8/layout/vList2"/>
    <dgm:cxn modelId="{FAC9099A-6315-4450-8921-B8C5A0E86B49}" type="presParOf" srcId="{B2F9A589-C8FC-426C-BE80-8C57406C9E19}" destId="{D9E71954-6F1D-4489-8DFB-3F4D63CFF5DD}" srcOrd="5" destOrd="0" presId="urn:microsoft.com/office/officeart/2005/8/layout/vList2"/>
    <dgm:cxn modelId="{65CB70AB-BB7A-4E6D-92E7-0B1C4D6DED2C}" type="presParOf" srcId="{B2F9A589-C8FC-426C-BE80-8C57406C9E19}" destId="{BCB269D4-70B8-4F54-BBEC-7BED8C0F57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D2AC3-D372-46BA-8B77-E8B006961B32}">
      <dsp:nvSpPr>
        <dsp:cNvPr id="0" name=""/>
        <dsp:cNvSpPr/>
      </dsp:nvSpPr>
      <dsp:spPr>
        <a:xfrm>
          <a:off x="0" y="61780"/>
          <a:ext cx="11029950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Compute Services: Virtual Machines, Azure App Service, Azure Kubernetes Service (AKS).</a:t>
          </a:r>
        </a:p>
      </dsp:txBody>
      <dsp:txXfrm>
        <a:off x="42722" y="104502"/>
        <a:ext cx="10944506" cy="789716"/>
      </dsp:txXfrm>
    </dsp:sp>
    <dsp:sp modelId="{385D4919-0864-4146-8417-A33F67E6FC27}">
      <dsp:nvSpPr>
        <dsp:cNvPr id="0" name=""/>
        <dsp:cNvSpPr/>
      </dsp:nvSpPr>
      <dsp:spPr>
        <a:xfrm>
          <a:off x="0" y="1000300"/>
          <a:ext cx="11029950" cy="875160"/>
        </a:xfrm>
        <a:prstGeom prst="roundRect">
          <a:avLst/>
        </a:prstGeom>
        <a:solidFill>
          <a:schemeClr val="accent2">
            <a:hueOff val="-496807"/>
            <a:satOff val="-3252"/>
            <a:lumOff val="-71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Storage Solutions: Azure Blob Storage, Azure Data Lake, Azure SQL Database.</a:t>
          </a:r>
        </a:p>
      </dsp:txBody>
      <dsp:txXfrm>
        <a:off x="42722" y="1043022"/>
        <a:ext cx="10944506" cy="789716"/>
      </dsp:txXfrm>
    </dsp:sp>
    <dsp:sp modelId="{08023671-26F8-471C-96FE-240A49FFCB11}">
      <dsp:nvSpPr>
        <dsp:cNvPr id="0" name=""/>
        <dsp:cNvSpPr/>
      </dsp:nvSpPr>
      <dsp:spPr>
        <a:xfrm>
          <a:off x="0" y="1938820"/>
          <a:ext cx="11029950" cy="875160"/>
        </a:xfrm>
        <a:prstGeom prst="roundRect">
          <a:avLst/>
        </a:prstGeom>
        <a:solidFill>
          <a:schemeClr val="accent2">
            <a:hueOff val="-993614"/>
            <a:satOff val="-6505"/>
            <a:lumOff val="-143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Networking Services: Virtual Networks, Load Balancers, Azure Front Door.</a:t>
          </a:r>
        </a:p>
      </dsp:txBody>
      <dsp:txXfrm>
        <a:off x="42722" y="1981542"/>
        <a:ext cx="10944506" cy="789716"/>
      </dsp:txXfrm>
    </dsp:sp>
    <dsp:sp modelId="{BCB269D4-70B8-4F54-BBEC-7BED8C0F5731}">
      <dsp:nvSpPr>
        <dsp:cNvPr id="0" name=""/>
        <dsp:cNvSpPr/>
      </dsp:nvSpPr>
      <dsp:spPr>
        <a:xfrm>
          <a:off x="0" y="2877340"/>
          <a:ext cx="11029950" cy="87516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Management Tools: Azure Resource Manager, Azure Monitor, Azure Automation.</a:t>
          </a:r>
        </a:p>
      </dsp:txBody>
      <dsp:txXfrm>
        <a:off x="42722" y="2920062"/>
        <a:ext cx="10944506" cy="789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012536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CHAPTER 11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cloud Infrastructure, DevOps, and Monitoring in Azure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361" y="4942982"/>
            <a:ext cx="482763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717216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Introduction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1900"/>
              <a:t>Overview:</a:t>
            </a:r>
          </a:p>
          <a:p>
            <a:pPr lvl="1"/>
            <a:r>
              <a:rPr lang="en-US" sz="1900"/>
              <a:t>Understanding Azure’s offerings in cloud infrastructure and development.</a:t>
            </a:r>
          </a:p>
          <a:p>
            <a:pPr lvl="1"/>
            <a:r>
              <a:rPr lang="en-US" sz="1900"/>
              <a:t>Key focus on automation, scalability, and efficient monitoring practices.</a:t>
            </a:r>
          </a:p>
          <a:p>
            <a:r>
              <a:rPr lang="en-US" sz="1900"/>
              <a:t>Objectives:</a:t>
            </a:r>
          </a:p>
          <a:p>
            <a:pPr lvl="1"/>
            <a:r>
              <a:rPr lang="en-US" sz="1900"/>
              <a:t>Discover benefits of cloud-native architecture.</a:t>
            </a:r>
          </a:p>
          <a:p>
            <a:pPr lvl="1"/>
            <a:r>
              <a:rPr lang="en-US" sz="1900"/>
              <a:t>Explore DevOps practices for continuous delivery.</a:t>
            </a:r>
          </a:p>
          <a:p>
            <a:pPr lvl="1"/>
            <a:r>
              <a:rPr lang="en-US" sz="1900"/>
              <a:t>Learn how Azure facilitates effective monitoring and management.</a:t>
            </a:r>
          </a:p>
          <a:p>
            <a:endParaRPr lang="en-US" sz="19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3400">
                <a:solidFill>
                  <a:schemeClr val="accent1"/>
                </a:solidFill>
              </a:rPr>
              <a:t>Why Cloud-Native Infrastructure?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688258"/>
            <a:ext cx="6143248" cy="571254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Definition: Architecture built to fully leverage cloud capabilities, focusing on flexibility, scalability, and resilience.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Key Characteristics: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Microservices-based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API-driven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Automation-centric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t>Core Components of Cloud Infrastructure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A30956-BA08-9082-F287-B456D7CEE8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777431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3700">
                <a:solidFill>
                  <a:schemeClr val="accent1"/>
                </a:solidFill>
              </a:rPr>
              <a:t>Introduction to Microservices Architecture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/>
              <a:t>Concept: Dividing applications into small, independent services.</a:t>
            </a:r>
          </a:p>
          <a:p>
            <a:r>
              <a:rPr lang="en-US" sz="2000"/>
              <a:t>Advantages:</a:t>
            </a:r>
          </a:p>
          <a:p>
            <a:pPr lvl="1"/>
            <a:r>
              <a:rPr lang="en-US" sz="2000"/>
              <a:t>Independent scaling and deployment.</a:t>
            </a:r>
          </a:p>
          <a:p>
            <a:pPr lvl="1"/>
            <a:r>
              <a:rPr lang="en-US" sz="2000"/>
              <a:t>Enhanced fault tolerance.</a:t>
            </a:r>
          </a:p>
          <a:p>
            <a:pPr lvl="1"/>
            <a:r>
              <a:rPr lang="en-US" sz="2000"/>
              <a:t>Technology-agnostic: Services can use different programming languages or databases.</a:t>
            </a:r>
          </a:p>
          <a:p>
            <a:r>
              <a:rPr lang="en-US" sz="2000"/>
              <a:t>Use Cases: Netflix, Amazon, and Uber.</a:t>
            </a:r>
          </a:p>
          <a:p>
            <a:endParaRPr lang="en-US" sz="20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chemeClr val="accent1"/>
                </a:solidFill>
              </a:rPr>
              <a:t>Containerization in Azure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 dirty="0"/>
              <a:t>What is Containerization?</a:t>
            </a:r>
          </a:p>
          <a:p>
            <a:pPr lvl="1"/>
            <a:r>
              <a:rPr lang="en-US" sz="2000" dirty="0"/>
              <a:t>Packaging software with its dependencies into a 'container' for easy deployment.</a:t>
            </a:r>
          </a:p>
          <a:p>
            <a:r>
              <a:rPr lang="en-US" sz="2000" dirty="0"/>
              <a:t>Technologies: Docker, Kubernetes, and Azure Container Instances.</a:t>
            </a:r>
          </a:p>
          <a:p>
            <a:endParaRPr lang="en-US" sz="20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3700">
                <a:solidFill>
                  <a:schemeClr val="accent1"/>
                </a:solidFill>
              </a:rPr>
              <a:t>Understanding Orchestration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 dirty="0"/>
              <a:t>Definition: Coordinating and managing container deployment at scale.</a:t>
            </a:r>
          </a:p>
          <a:p>
            <a:r>
              <a:rPr lang="en-US" sz="2000" dirty="0"/>
              <a:t>Kubernetes Functions:</a:t>
            </a:r>
          </a:p>
          <a:p>
            <a:pPr lvl="1"/>
            <a:r>
              <a:rPr lang="en-US" sz="2000" dirty="0"/>
              <a:t>Load Balancing: Distributes network traffic evenly across services.</a:t>
            </a:r>
          </a:p>
          <a:p>
            <a:pPr lvl="1"/>
            <a:r>
              <a:rPr lang="en-US" sz="2000" dirty="0"/>
              <a:t>Auto-Scaling: Automatically adjusts the number of running containers.</a:t>
            </a:r>
          </a:p>
          <a:p>
            <a:pPr lvl="1"/>
            <a:r>
              <a:rPr lang="en-US" sz="2000" dirty="0"/>
              <a:t>Self-Healing: Replaces or restarts failed containers automatically.</a:t>
            </a:r>
          </a:p>
          <a:p>
            <a:endParaRPr lang="en-US" sz="20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Modern Application Development with DevOps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/>
              <a:t>Definition of DevOps:</a:t>
            </a:r>
          </a:p>
          <a:p>
            <a:pPr lvl="1"/>
            <a:r>
              <a:rPr lang="en-US" sz="2000"/>
              <a:t>Cultural shift that unifies development (Dev) and operations (Ops) teams.</a:t>
            </a:r>
          </a:p>
          <a:p>
            <a:r>
              <a:rPr lang="en-US" sz="2000"/>
              <a:t>Key Principles:</a:t>
            </a:r>
          </a:p>
          <a:p>
            <a:pPr lvl="1"/>
            <a:r>
              <a:rPr lang="en-US" sz="2000"/>
              <a:t>Automation: Automate repetitive tasks, including testing and deployments.</a:t>
            </a:r>
          </a:p>
          <a:p>
            <a:pPr lvl="1"/>
            <a:r>
              <a:rPr lang="en-US" sz="2000"/>
              <a:t>Collaboration: Continuous feedback and integration between teams.</a:t>
            </a:r>
          </a:p>
          <a:p>
            <a:pPr lvl="1"/>
            <a:r>
              <a:rPr lang="en-US" sz="2000"/>
              <a:t>Continuous Improvement: Regular updates and enhancements.</a:t>
            </a:r>
          </a:p>
          <a:p>
            <a:endParaRPr lang="en-US" sz="20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Continuous Integration (CI)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/>
              <a:t>Concept: Integrate code into a shared repository multiple times per day.</a:t>
            </a:r>
          </a:p>
          <a:p>
            <a:r>
              <a:rPr lang="en-US" sz="2000"/>
              <a:t>CI Pipeline Stages:</a:t>
            </a:r>
          </a:p>
          <a:p>
            <a:pPr lvl="1"/>
            <a:r>
              <a:rPr lang="en-US" sz="2000"/>
              <a:t>Code Compilation: Verifies code builds correctly.</a:t>
            </a:r>
          </a:p>
          <a:p>
            <a:pPr lvl="1"/>
            <a:r>
              <a:rPr lang="en-US" sz="2000"/>
              <a:t>Automated Testing: Unit, integration, and functional tests.</a:t>
            </a:r>
          </a:p>
          <a:p>
            <a:pPr lvl="1"/>
            <a:r>
              <a:rPr lang="en-US" sz="2000"/>
              <a:t>Artifact Storage: Compiled code stored for deployment.</a:t>
            </a:r>
          </a:p>
          <a:p>
            <a:r>
              <a:rPr lang="en-US" sz="2000"/>
              <a:t>Azure DevOps Tools for CI: Azure Pipelines, GitHub Actions.</a:t>
            </a:r>
          </a:p>
          <a:p>
            <a:endParaRPr lang="en-US" sz="20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Continuous Deployment (CD)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Definition: Automatically deploying code to production after passing CI tests.</a:t>
            </a:r>
          </a:p>
          <a:p>
            <a:pPr>
              <a:lnSpc>
                <a:spcPct val="110000"/>
              </a:lnSpc>
            </a:pPr>
            <a:r>
              <a:rPr lang="en-US" sz="1700"/>
              <a:t>CD Pipeline Steps: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Pre-Deployment Approvals: Optional manual checks.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Deployment to Staging: Testing in a production-like environment.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Production Release: Gradual or complete rollout.</a:t>
            </a:r>
          </a:p>
          <a:p>
            <a:pPr>
              <a:lnSpc>
                <a:spcPct val="110000"/>
              </a:lnSpc>
            </a:pPr>
            <a:r>
              <a:rPr lang="en-US" sz="1700"/>
              <a:t>Advantages: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Rapid delivery of features and fixes.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Improved product stability and security.</a:t>
            </a:r>
          </a:p>
          <a:p>
            <a:pPr>
              <a:lnSpc>
                <a:spcPct val="110000"/>
              </a:lnSpc>
            </a:pPr>
            <a:endParaRPr lang="en-US" sz="17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Introduction to Azure DevOps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/>
              <a:t>What is Azure DevOps?</a:t>
            </a:r>
          </a:p>
          <a:p>
            <a:pPr lvl="1"/>
            <a:r>
              <a:rPr lang="en-US" sz="2000"/>
              <a:t>A cloud-based suite of tools for DevOps practices.</a:t>
            </a:r>
          </a:p>
          <a:p>
            <a:pPr lvl="1"/>
            <a:r>
              <a:rPr lang="en-US" sz="2000"/>
              <a:t>Supports the entire software development lifecycle (SDLC).</a:t>
            </a:r>
          </a:p>
          <a:p>
            <a:r>
              <a:rPr lang="en-US" sz="2000"/>
              <a:t>Key Components:</a:t>
            </a:r>
          </a:p>
          <a:p>
            <a:pPr lvl="1"/>
            <a:r>
              <a:rPr lang="en-US" sz="2000"/>
              <a:t>Collaboration tools to enable teams (developers, project managers, and stakeholders).</a:t>
            </a:r>
          </a:p>
          <a:p>
            <a:pPr lvl="1"/>
            <a:r>
              <a:rPr lang="en-US" sz="2000"/>
              <a:t>Focus on agile methodologies and continuous improvement.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zure Boards | Microsoft Azure">
            <a:extLst>
              <a:ext uri="{FF2B5EF4-FFF2-40B4-BE49-F238E27FC236}">
                <a16:creationId xmlns:a16="http://schemas.microsoft.com/office/drawing/2014/main" id="{85F9A168-EE77-4F49-6803-3024924A3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5" b="969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5" name="Rectangle 2064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76057"/>
            <a:ext cx="11303626" cy="2034709"/>
          </a:xfrm>
          <a:prstGeom prst="rect">
            <a:avLst/>
          </a:prstGeom>
          <a:solidFill>
            <a:schemeClr val="bg1">
              <a:alpha val="95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600" y="4613395"/>
            <a:ext cx="3353432" cy="1336485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Azure DevOps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3032" y="4494726"/>
            <a:ext cx="7240909" cy="179737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Overview: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Central hub for managing DevOps projects.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Customizable dashboards to track progress and metrics.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Components of the Dashboard: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Azure Boards: Work items, backlogs, and sprint progress.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Azure Pipelines: Build and release statuses.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Azure Repos: Code repository activity.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Boards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Purpose: Agile project management and planning.</a:t>
            </a:r>
          </a:p>
          <a:p>
            <a:pPr>
              <a:lnSpc>
                <a:spcPct val="110000"/>
              </a:lnSpc>
            </a:pPr>
            <a:r>
              <a:rPr lang="en-US" sz="1700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Work Items: Create and manage user stories, tasks, and bugs.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Backlogs: Prioritize tasks for sprints.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Sprints: Plan and track progress of work in iterations.</a:t>
            </a:r>
          </a:p>
          <a:p>
            <a:pPr>
              <a:lnSpc>
                <a:spcPct val="110000"/>
              </a:lnSpc>
            </a:pPr>
            <a:r>
              <a:rPr lang="en-US" sz="1700"/>
              <a:t>Integration with Azure Repos: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Automatically link commits and pull requests to work items for traceability.	</a:t>
            </a:r>
          </a:p>
          <a:p>
            <a:pPr>
              <a:lnSpc>
                <a:spcPct val="110000"/>
              </a:lnSpc>
            </a:pPr>
            <a:r>
              <a:rPr lang="en-US" sz="1700"/>
              <a:t>Ideal For: Teams practicing Scrum or Kanban methodologies.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Pipelines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Purpose: Implement Continuous Integration/Continuous Deployment (CI/CD).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Build Automation: Compile code, run tests, and create artifacts.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Release Automation: Deploy applications to various environments.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Multi-platform Support: Works with any language and cloud.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Use Case Example: Automatically trigger builds on code commits, ensuring fast feedback loops.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Repos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/>
              <a:t>Purpose: Version control system for source code.</a:t>
            </a:r>
          </a:p>
          <a:p>
            <a:pPr>
              <a:lnSpc>
                <a:spcPct val="110000"/>
              </a:lnSpc>
            </a:pPr>
            <a:r>
              <a:rPr lang="en-US" sz="2000"/>
              <a:t>Key Features: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Git Repository: Supports both centralized and distributed version control.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Branch Policies: Set up code quality gates before merging code.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Pull Requests: Facilitate code reviews and discussions.</a:t>
            </a:r>
          </a:p>
          <a:p>
            <a:pPr>
              <a:lnSpc>
                <a:spcPct val="110000"/>
              </a:lnSpc>
            </a:pPr>
            <a:r>
              <a:rPr lang="en-US" sz="2000"/>
              <a:t>Benefits: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Collaboration on code changes with a structured review process.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Test Plans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/>
              <a:t>Purpose: Manage and execute tests for quality assurance.</a:t>
            </a:r>
          </a:p>
          <a:p>
            <a:r>
              <a:rPr lang="en-US" sz="2000"/>
              <a:t>Key Features:</a:t>
            </a:r>
          </a:p>
          <a:p>
            <a:pPr lvl="1"/>
            <a:r>
              <a:rPr lang="en-US" sz="2000"/>
              <a:t>Test Management: Create and manage test cases and suites.</a:t>
            </a:r>
          </a:p>
          <a:p>
            <a:pPr lvl="1"/>
            <a:r>
              <a:rPr lang="en-US" sz="2000"/>
              <a:t>Manual Testing: Execute tests and log results.</a:t>
            </a:r>
          </a:p>
          <a:p>
            <a:pPr lvl="1"/>
            <a:r>
              <a:rPr lang="en-US" sz="2000"/>
              <a:t>Automated Testing Integration: Link automated tests with CI/CD pipelines.</a:t>
            </a:r>
          </a:p>
          <a:p>
            <a:r>
              <a:rPr lang="en-US" sz="2000"/>
              <a:t>Benefit: Ensures quality by identifying defects early in the development process.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Built-in Analytics and Reporting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/>
              <a:t>Analytics Features:</a:t>
            </a:r>
          </a:p>
          <a:p>
            <a:pPr lvl="1"/>
            <a:r>
              <a:rPr lang="en-US" sz="2000"/>
              <a:t>Dashboards: Visualize project health and team performance.</a:t>
            </a:r>
          </a:p>
          <a:p>
            <a:r>
              <a:rPr lang="en-US" sz="2000"/>
              <a:t>Reports: Generate reports on build success rates, release quality, and team velocity.</a:t>
            </a:r>
          </a:p>
          <a:p>
            <a:r>
              <a:rPr lang="en-US" sz="2000"/>
              <a:t>Benefits:</a:t>
            </a:r>
          </a:p>
          <a:p>
            <a:pPr lvl="1"/>
            <a:r>
              <a:rPr lang="en-US" sz="2000"/>
              <a:t>Data-driven decision-making helps identify bottlenecks and improve processes.</a:t>
            </a:r>
          </a:p>
          <a:p>
            <a:pPr lvl="1"/>
            <a:r>
              <a:rPr lang="en-US" sz="2000"/>
              <a:t>Track team performance against KPIs for accountability.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GitHub for DevOps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dirty="0"/>
              <a:t>Overview: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1600"/>
              <a:t>GitHub: A leading platform for version control and collaboration.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Popular among open-source communities and education sectors.</a:t>
            </a:r>
          </a:p>
          <a:p>
            <a:pPr>
              <a:lnSpc>
                <a:spcPct val="110000"/>
              </a:lnSpc>
            </a:pPr>
            <a:r>
              <a:rPr dirty="0"/>
              <a:t>Key Features: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1600"/>
              <a:t>Repositories: Store code with version control.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Actions: Implement CI/CD directly within GitHub.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Community: Extensive network for collaboration on open-source projects.</a:t>
            </a:r>
          </a:p>
          <a:p>
            <a:pPr>
              <a:lnSpc>
                <a:spcPct val="110000"/>
              </a:lnSpc>
            </a:pPr>
            <a:r>
              <a:rPr dirty="0"/>
              <a:t>Use Case Example: Educational institutions using GitHub to teach version control and collaborative software development.</a:t>
            </a:r>
            <a:endParaRPr lang="en-PK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GitHub for Education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/>
              <a:t>Applications in Education:</a:t>
            </a:r>
          </a:p>
          <a:p>
            <a:pPr lvl="1"/>
            <a:r>
              <a:rPr lang="en-US" sz="2000"/>
              <a:t>Teaching version control and collaboration through real-world projects.</a:t>
            </a:r>
          </a:p>
          <a:p>
            <a:pPr lvl="1"/>
            <a:r>
              <a:rPr lang="en-US" sz="2000"/>
              <a:t>Facilitating student participation in open-source initiatives.</a:t>
            </a:r>
          </a:p>
          <a:p>
            <a:r>
              <a:rPr lang="en-US" sz="2000"/>
              <a:t>Benefits:</a:t>
            </a:r>
          </a:p>
          <a:p>
            <a:pPr lvl="1"/>
            <a:r>
              <a:rPr lang="en-US" sz="2000"/>
              <a:t>Encourages hands-on learning and engagement.</a:t>
            </a:r>
          </a:p>
          <a:p>
            <a:pPr lvl="1"/>
            <a:r>
              <a:rPr lang="en-US" sz="2000"/>
              <a:t>Provides students with practical experience in software development.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fr-FR" sz="3400" dirty="0">
                <a:solidFill>
                  <a:schemeClr val="accent1"/>
                </a:solidFill>
              </a:rPr>
              <a:t>Infrastructure Automation </a:t>
            </a:r>
            <a:r>
              <a:rPr lang="fr-FR" sz="3400" dirty="0" err="1">
                <a:solidFill>
                  <a:schemeClr val="accent1"/>
                </a:solidFill>
              </a:rPr>
              <a:t>with</a:t>
            </a:r>
            <a:r>
              <a:rPr lang="fr-FR" sz="3400" dirty="0">
                <a:solidFill>
                  <a:schemeClr val="accent1"/>
                </a:solidFill>
              </a:rPr>
              <a:t> </a:t>
            </a:r>
            <a:r>
              <a:rPr lang="fr-FR" sz="3400" dirty="0" err="1">
                <a:solidFill>
                  <a:schemeClr val="accent1"/>
                </a:solidFill>
              </a:rPr>
              <a:t>IaC</a:t>
            </a:r>
            <a:r>
              <a:rPr lang="fr-FR" sz="3400" dirty="0">
                <a:solidFill>
                  <a:schemeClr val="accent1"/>
                </a:solidFill>
              </a:rPr>
              <a:t> (Infrastructure as Code)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/>
              <a:t>What is </a:t>
            </a:r>
            <a:r>
              <a:rPr lang="en-US" sz="1400" dirty="0" err="1"/>
              <a:t>IaC</a:t>
            </a:r>
            <a:r>
              <a:rPr lang="en-US" sz="1400" dirty="0"/>
              <a:t>?</a:t>
            </a:r>
          </a:p>
          <a:p>
            <a:pPr lvl="1">
              <a:lnSpc>
                <a:spcPct val="110000"/>
              </a:lnSpc>
            </a:pPr>
            <a:r>
              <a:rPr dirty="0"/>
              <a:t>Managing and provisioning computing resources using machine-readable configuration files.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1400" dirty="0"/>
              <a:t>Tools in Use:</a:t>
            </a:r>
          </a:p>
          <a:p>
            <a:pPr lvl="1">
              <a:lnSpc>
                <a:spcPct val="110000"/>
              </a:lnSpc>
            </a:pPr>
            <a:r>
              <a:rPr dirty="0"/>
              <a:t>Azure Resource Manager (ARM): Declarative templates for Azure resources.</a:t>
            </a:r>
            <a:endParaRPr lang="en-PK" dirty="0"/>
          </a:p>
          <a:p>
            <a:pPr lvl="1">
              <a:lnSpc>
                <a:spcPct val="110000"/>
              </a:lnSpc>
            </a:pPr>
            <a:r>
              <a:rPr dirty="0"/>
              <a:t>Terraform: Open-source </a:t>
            </a:r>
            <a:r>
              <a:rPr lang="en-US" dirty="0" err="1"/>
              <a:t>IaC</a:t>
            </a:r>
            <a:r>
              <a:rPr dirty="0"/>
              <a:t> tool supporting multiple cloud providers.</a:t>
            </a:r>
            <a:endParaRPr lang="en-PK" dirty="0"/>
          </a:p>
          <a:p>
            <a:pPr lvl="1">
              <a:lnSpc>
                <a:spcPct val="110000"/>
              </a:lnSpc>
            </a:pPr>
            <a:r>
              <a:rPr dirty="0"/>
              <a:t>Bicep: Simplified syntax for ARM templates.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040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DF5B57-ED3E-36B5-32A5-E35B3340B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66163" y="447234"/>
            <a:ext cx="8264126" cy="345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600" y="4596992"/>
            <a:ext cx="3353432" cy="160701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IaC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1491" y="4490720"/>
            <a:ext cx="7240909" cy="17132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1400" dirty="0">
                <a:solidFill>
                  <a:srgbClr val="FFFFFF"/>
                </a:solidFill>
              </a:rPr>
              <a:t>Process Flow:</a:t>
            </a:r>
          </a:p>
          <a:p>
            <a:pPr lvl="1">
              <a:lnSpc>
                <a:spcPct val="110000"/>
              </a:lnSpc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</a:rPr>
              <a:t>Design: Define infrastructure requirements.</a:t>
            </a:r>
          </a:p>
          <a:p>
            <a:pPr lvl="1">
              <a:lnSpc>
                <a:spcPct val="110000"/>
              </a:lnSpc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</a:rPr>
              <a:t>Code: Write infrastructure configuration.</a:t>
            </a:r>
          </a:p>
          <a:p>
            <a:pPr lvl="1">
              <a:lnSpc>
                <a:spcPct val="110000"/>
              </a:lnSpc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</a:rPr>
              <a:t>Implement: Deploy infrastructure using scripts.</a:t>
            </a:r>
          </a:p>
          <a:p>
            <a:pPr lvl="1">
              <a:lnSpc>
                <a:spcPct val="110000"/>
              </a:lnSpc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</a:rPr>
              <a:t>Update: Modify configurations as needed.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1400" dirty="0">
                <a:solidFill>
                  <a:srgbClr val="FFFFFF"/>
                </a:solidFill>
              </a:rPr>
              <a:t>Outcome: Faster and more reliable infrastructure deployments.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B01F6-BC95-41DE-3F45-042300F0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Azure Resource Manager (ARM) Templates</a:t>
            </a:r>
            <a:endParaRPr lang="en-PK" sz="4000" dirty="0">
              <a:solidFill>
                <a:schemeClr val="accent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656B2-2BEB-A6CA-A49C-D0343FB05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690880"/>
            <a:ext cx="6143248" cy="578104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/>
              <a:t>Overview: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 management framework for deploying and managing Azure resources.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Deployment and Management: Uses declarative JSON templates.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Features: Resource grouping, role-based access control, and tags for organization.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Components of ARM Templates: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Parameters: Input values at deployment time for </a:t>
            </a:r>
            <a:r>
              <a:rPr lang="en-US" sz="1600" dirty="0"/>
              <a:t>reusability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Variables: Internal values used throughout the template.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Functions: Custom logic defined within the template.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Resources: Specification of resources to deploy.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Outputs: Returns values upon deployment completion.</a:t>
            </a:r>
          </a:p>
        </p:txBody>
      </p:sp>
    </p:spTree>
    <p:extLst>
      <p:ext uri="{BB962C8B-B14F-4D97-AF65-F5344CB8AC3E}">
        <p14:creationId xmlns:p14="http://schemas.microsoft.com/office/powerpoint/2010/main" val="1819976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8383B-B206-CB19-F44F-3C47B02F5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Azure Bicep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3911-D7F6-2A78-E430-CDD74BF26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606" y="2340864"/>
            <a:ext cx="4597758" cy="379323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 domain-specific language (DSL) for Azure resource deployment.</a:t>
            </a:r>
          </a:p>
          <a:p>
            <a:r>
              <a:rPr lang="en-US">
                <a:solidFill>
                  <a:srgbClr val="FFFFFF"/>
                </a:solidFill>
              </a:rPr>
              <a:t>Advantages of Bicep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Simpler syntax, improved readability, and modularity.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Transpilation to ARM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Bicep templates are converted to ARM templates for deployment.</a:t>
            </a: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162E02-F1AA-8A70-1A39-6A5A0BD7D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675004"/>
              </p:ext>
            </p:extLst>
          </p:nvPr>
        </p:nvGraphicFramePr>
        <p:xfrm>
          <a:off x="720636" y="1466999"/>
          <a:ext cx="5476376" cy="412447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30232">
                  <a:extLst>
                    <a:ext uri="{9D8B030D-6E8A-4147-A177-3AD203B41FA5}">
                      <a16:colId xmlns:a16="http://schemas.microsoft.com/office/drawing/2014/main" val="3867701438"/>
                    </a:ext>
                  </a:extLst>
                </a:gridCol>
                <a:gridCol w="1873196">
                  <a:extLst>
                    <a:ext uri="{9D8B030D-6E8A-4147-A177-3AD203B41FA5}">
                      <a16:colId xmlns:a16="http://schemas.microsoft.com/office/drawing/2014/main" val="3026690113"/>
                    </a:ext>
                  </a:extLst>
                </a:gridCol>
                <a:gridCol w="1772948">
                  <a:extLst>
                    <a:ext uri="{9D8B030D-6E8A-4147-A177-3AD203B41FA5}">
                      <a16:colId xmlns:a16="http://schemas.microsoft.com/office/drawing/2014/main" val="1390335933"/>
                    </a:ext>
                  </a:extLst>
                </a:gridCol>
              </a:tblGrid>
              <a:tr h="453692">
                <a:tc>
                  <a:txBody>
                    <a:bodyPr/>
                    <a:lstStyle/>
                    <a:p>
                      <a:endParaRPr lang="en-PK" sz="160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ARM</a:t>
                      </a:r>
                      <a:endParaRPr lang="en-PK" sz="160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Bicep</a:t>
                      </a:r>
                      <a:endParaRPr lang="en-PK" sz="1600"/>
                    </a:p>
                  </a:txBody>
                  <a:tcPr marL="103112" marR="103112" marT="51556" marB="51556"/>
                </a:tc>
                <a:extLst>
                  <a:ext uri="{0D108BD9-81ED-4DB2-BD59-A6C34878D82A}">
                    <a16:rowId xmlns:a16="http://schemas.microsoft.com/office/drawing/2014/main" val="2999324683"/>
                  </a:ext>
                </a:extLst>
              </a:tr>
              <a:tr h="763027">
                <a:tc>
                  <a:txBody>
                    <a:bodyPr/>
                    <a:lstStyle/>
                    <a:p>
                      <a:r>
                        <a:rPr lang="en-US" sz="1600"/>
                        <a:t>Syntax</a:t>
                      </a:r>
                      <a:endParaRPr lang="en-PK" sz="160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JSON</a:t>
                      </a:r>
                      <a:endParaRPr lang="en-PK" sz="160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Simplified syntax</a:t>
                      </a:r>
                      <a:endParaRPr lang="en-PK" sz="1600"/>
                    </a:p>
                  </a:txBody>
                  <a:tcPr marL="103112" marR="103112" marT="51556" marB="51556"/>
                </a:tc>
                <a:extLst>
                  <a:ext uri="{0D108BD9-81ED-4DB2-BD59-A6C34878D82A}">
                    <a16:rowId xmlns:a16="http://schemas.microsoft.com/office/drawing/2014/main" val="937661466"/>
                  </a:ext>
                </a:extLst>
              </a:tr>
              <a:tr h="763027">
                <a:tc>
                  <a:txBody>
                    <a:bodyPr/>
                    <a:lstStyle/>
                    <a:p>
                      <a:r>
                        <a:rPr lang="en-US" sz="1600"/>
                        <a:t>Integration</a:t>
                      </a:r>
                      <a:endParaRPr lang="en-PK" sz="160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Deep Azure integration</a:t>
                      </a:r>
                      <a:endParaRPr lang="en-PK" sz="160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Focused on ease of use</a:t>
                      </a:r>
                      <a:endParaRPr lang="en-PK" sz="1600"/>
                    </a:p>
                  </a:txBody>
                  <a:tcPr marL="103112" marR="103112" marT="51556" marB="51556"/>
                </a:tc>
                <a:extLst>
                  <a:ext uri="{0D108BD9-81ED-4DB2-BD59-A6C34878D82A}">
                    <a16:rowId xmlns:a16="http://schemas.microsoft.com/office/drawing/2014/main" val="2706822809"/>
                  </a:ext>
                </a:extLst>
              </a:tr>
              <a:tr h="763027">
                <a:tc>
                  <a:txBody>
                    <a:bodyPr/>
                    <a:lstStyle/>
                    <a:p>
                      <a:r>
                        <a:rPr lang="en-US" sz="1600"/>
                        <a:t>Features</a:t>
                      </a:r>
                      <a:endParaRPr lang="en-PK" sz="160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Rich features</a:t>
                      </a:r>
                      <a:endParaRPr lang="en-PK" sz="160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Streamlined for simplicity</a:t>
                      </a:r>
                      <a:endParaRPr lang="en-PK" sz="1600"/>
                    </a:p>
                  </a:txBody>
                  <a:tcPr marL="103112" marR="103112" marT="51556" marB="51556"/>
                </a:tc>
                <a:extLst>
                  <a:ext uri="{0D108BD9-81ED-4DB2-BD59-A6C34878D82A}">
                    <a16:rowId xmlns:a16="http://schemas.microsoft.com/office/drawing/2014/main" val="3060147237"/>
                  </a:ext>
                </a:extLst>
              </a:tr>
              <a:tr h="1381697">
                <a:tc>
                  <a:txBody>
                    <a:bodyPr/>
                    <a:lstStyle/>
                    <a:p>
                      <a:r>
                        <a:rPr lang="en-US" sz="1600"/>
                        <a:t>Compatibility</a:t>
                      </a:r>
                      <a:endParaRPr lang="en-PK" sz="160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Widely used</a:t>
                      </a:r>
                      <a:endParaRPr lang="en-PK" sz="1600" dirty="0"/>
                    </a:p>
                  </a:txBody>
                  <a:tcPr marL="103112" marR="103112" marT="51556" marB="51556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Compatible with Kubernetes and ARM</a:t>
                      </a:r>
                      <a:endParaRPr lang="en-PK" sz="1600" dirty="0"/>
                    </a:p>
                  </a:txBody>
                  <a:tcPr marL="103112" marR="103112" marT="51556" marB="51556"/>
                </a:tc>
                <a:extLst>
                  <a:ext uri="{0D108BD9-81ED-4DB2-BD59-A6C34878D82A}">
                    <a16:rowId xmlns:a16="http://schemas.microsoft.com/office/drawing/2014/main" val="3595188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532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5122" name="Picture 2" descr="The Terraform workflow has three steps: Write, Plan, and Apply">
            <a:extLst>
              <a:ext uri="{FF2B5EF4-FFF2-40B4-BE49-F238E27FC236}">
                <a16:creationId xmlns:a16="http://schemas.microsoft.com/office/drawing/2014/main" id="{AB4E5CA2-F3DD-7D91-11D3-6EA6965D5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0636" y="1147090"/>
            <a:ext cx="5476375" cy="476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8FEEF-ED5E-2815-58A4-F03EF710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Terraform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F681A-BE7C-2937-BA33-F408D6F03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606" y="2340865"/>
            <a:ext cx="4597758" cy="2810256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Use Cases for Terraform</a:t>
            </a:r>
          </a:p>
          <a:p>
            <a:pPr lvl="1"/>
            <a:r>
              <a:rPr lang="en-US" sz="1600" dirty="0">
                <a:solidFill>
                  <a:srgbClr val="FFFFFF"/>
                </a:solidFill>
              </a:rPr>
              <a:t>Multi-cloud infrastructure deployment.</a:t>
            </a:r>
          </a:p>
          <a:p>
            <a:pPr lvl="1"/>
            <a:r>
              <a:rPr lang="en-US" sz="1600" dirty="0">
                <a:solidFill>
                  <a:srgbClr val="FFFFFF"/>
                </a:solidFill>
              </a:rPr>
              <a:t>Large-scale deployments.</a:t>
            </a:r>
          </a:p>
          <a:p>
            <a:r>
              <a:rPr lang="en-US" sz="1800" dirty="0">
                <a:solidFill>
                  <a:srgbClr val="FFFFFF"/>
                </a:solidFill>
              </a:rPr>
              <a:t>Benefits of Terraform</a:t>
            </a:r>
          </a:p>
          <a:p>
            <a:pPr lvl="1"/>
            <a:r>
              <a:rPr lang="en-US" sz="1600" dirty="0">
                <a:solidFill>
                  <a:srgbClr val="FFFFFF"/>
                </a:solidFill>
              </a:rPr>
              <a:t>State management, clear preview of changes.</a:t>
            </a:r>
          </a:p>
          <a:p>
            <a:pPr lvl="1"/>
            <a:r>
              <a:rPr lang="en-US" sz="1600" dirty="0">
                <a:solidFill>
                  <a:srgbClr val="FFFFFF"/>
                </a:solidFill>
              </a:rPr>
              <a:t>Flexibility for different cloud providers.</a:t>
            </a:r>
            <a:endParaRPr lang="en-PK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146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2388E-DDAF-FD4B-2CD5-42116153C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CaC &amp; PaC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5DD61-9095-B505-74A7-398CBAAA8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Configuration as Code (</a:t>
            </a:r>
            <a:r>
              <a:rPr lang="en-US"/>
              <a:t>CaC</a:t>
            </a:r>
            <a:r>
              <a:rPr lang="en-US" dirty="0"/>
              <a:t>)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1600"/>
              <a:t>Managing configurations through source code.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Benefits</a:t>
            </a:r>
          </a:p>
          <a:p>
            <a:pPr lvl="2">
              <a:lnSpc>
                <a:spcPct val="110000"/>
              </a:lnSpc>
            </a:pPr>
            <a:r>
              <a:rPr lang="en-US" sz="1600"/>
              <a:t>Version control, reusability, and automation.</a:t>
            </a:r>
          </a:p>
          <a:p>
            <a:pPr lvl="2">
              <a:lnSpc>
                <a:spcPct val="110000"/>
              </a:lnSpc>
            </a:pPr>
            <a:r>
              <a:rPr lang="en-US" sz="1600"/>
              <a:t>Enables collaboration and auditing.</a:t>
            </a:r>
          </a:p>
          <a:p>
            <a:pPr>
              <a:lnSpc>
                <a:spcPct val="110000"/>
              </a:lnSpc>
            </a:pPr>
            <a:r>
              <a:rPr lang="en-US" dirty="0"/>
              <a:t>Policy as Code (</a:t>
            </a:r>
            <a:r>
              <a:rPr lang="en-US"/>
              <a:t>PaC</a:t>
            </a:r>
            <a:r>
              <a:rPr lang="en-US" dirty="0"/>
              <a:t>)</a:t>
            </a:r>
            <a:endParaRPr lang="en-US"/>
          </a:p>
          <a:p>
            <a:pPr lvl="1">
              <a:lnSpc>
                <a:spcPct val="110000"/>
              </a:lnSpc>
            </a:pPr>
            <a:r>
              <a:rPr lang="en-US" sz="1600"/>
              <a:t>Defining policies using code for compliance and security.</a:t>
            </a:r>
          </a:p>
          <a:p>
            <a:pPr lvl="1">
              <a:lnSpc>
                <a:spcPct val="110000"/>
              </a:lnSpc>
            </a:pPr>
            <a:r>
              <a:rPr lang="en-US" sz="1600"/>
              <a:t>Benefits</a:t>
            </a:r>
          </a:p>
          <a:p>
            <a:pPr lvl="2">
              <a:lnSpc>
                <a:spcPct val="110000"/>
              </a:lnSpc>
            </a:pPr>
            <a:r>
              <a:rPr lang="en-US" sz="1600"/>
              <a:t>Enforces standards, improves governance.</a:t>
            </a:r>
          </a:p>
          <a:p>
            <a:pPr lvl="2">
              <a:lnSpc>
                <a:spcPct val="110000"/>
              </a:lnSpc>
            </a:pPr>
            <a:r>
              <a:rPr lang="en-US" sz="1600"/>
              <a:t>Implementation in Azure</a:t>
            </a:r>
          </a:p>
          <a:p>
            <a:pPr lvl="2">
              <a:lnSpc>
                <a:spcPct val="110000"/>
              </a:lnSpc>
            </a:pPr>
            <a:r>
              <a:rPr lang="en-US" sz="1600"/>
              <a:t>Use of Azure Policy for managing compliance and security rules.</a:t>
            </a:r>
            <a:endParaRPr lang="en-PK" sz="1600"/>
          </a:p>
        </p:txBody>
      </p:sp>
    </p:spTree>
    <p:extLst>
      <p:ext uri="{BB962C8B-B14F-4D97-AF65-F5344CB8AC3E}">
        <p14:creationId xmlns:p14="http://schemas.microsoft.com/office/powerpoint/2010/main" val="1049181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D176C-426D-B11B-A832-D9D458EC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 to Azure Monitoring Tools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74CF-1E1A-03ED-7E81-9874B0F2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1523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Importance of monitoring tools in facilitating IT operations.</a:t>
            </a:r>
          </a:p>
          <a:p>
            <a:r>
              <a:rPr lang="en-US" dirty="0"/>
              <a:t>Benefits: Reduced costs, improved performance, reliability, and security of cloud infrastructure.</a:t>
            </a:r>
          </a:p>
        </p:txBody>
      </p:sp>
      <p:pic>
        <p:nvPicPr>
          <p:cNvPr id="6148" name="Picture 4" descr="Microsoft Announces Azure Monitor SQL Insights for Azure SQL in Public  Preview - InfoQ">
            <a:extLst>
              <a:ext uri="{FF2B5EF4-FFF2-40B4-BE49-F238E27FC236}">
                <a16:creationId xmlns:a16="http://schemas.microsoft.com/office/drawing/2014/main" id="{0FCDE76E-A202-14C5-C4BF-90E90433E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90349" y="4149588"/>
            <a:ext cx="5526638" cy="219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685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B5DE2-DA0C-27A9-34BE-1CF8BB07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Monitoring Service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AE1E-09D6-F305-92EC-CDF67AF3A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690880"/>
            <a:ext cx="6143248" cy="5709920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Azure Monitor: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Overview: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Centralized tool for monitoring Azure applications and resources.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Provides real-time visibility into health and performance.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Key Features: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Tracks application and service availability.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Configurable alerts via various methods.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Integrates with event-driven services for proactive issue resolution.</a:t>
            </a:r>
          </a:p>
          <a:p>
            <a:pPr>
              <a:lnSpc>
                <a:spcPct val="110000"/>
              </a:lnSpc>
            </a:pPr>
            <a:r>
              <a:rPr lang="en-US" dirty="0"/>
              <a:t>Application Insights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Subcomponent of Azure Monitor focused on application metrics and telemetry.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Capabilities: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Observes infrastructure impacting application performance.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Identifies user-related issues and provides insights.</a:t>
            </a:r>
          </a:p>
        </p:txBody>
      </p:sp>
    </p:spTree>
    <p:extLst>
      <p:ext uri="{BB962C8B-B14F-4D97-AF65-F5344CB8AC3E}">
        <p14:creationId xmlns:p14="http://schemas.microsoft.com/office/powerpoint/2010/main" val="3311757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2476C-5974-51A6-9A36-04FBC536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C897D7-BC6C-D74C-2E62-67CE1DE7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Azure Monitoring Service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11930-D8AB-492F-D7A6-182D09214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546884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Azure Log Analytics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Gathers performance data from applications and infrastructure.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Use Cases: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Identifies and troubleshoots issues impacting cloud resources.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Aggregates logs for comprehensive analysis.</a:t>
            </a:r>
          </a:p>
          <a:p>
            <a:pPr>
              <a:lnSpc>
                <a:spcPct val="110000"/>
              </a:lnSpc>
            </a:pPr>
            <a:r>
              <a:rPr lang="en-US" dirty="0"/>
              <a:t>Azure Network Watcher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Monitors networking infrastructure for cloud workloads.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Benefits: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Diagnoses and visualizes networking architecture.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Identifies issues and security risks in network configurations.</a:t>
            </a:r>
          </a:p>
          <a:p>
            <a:pPr>
              <a:lnSpc>
                <a:spcPct val="110000"/>
              </a:lnSpc>
            </a:pPr>
            <a:r>
              <a:rPr lang="en-US" dirty="0"/>
              <a:t>Azure Advisor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AI-powered service providing customized suggestions.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Key Features: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Offers performance improvements, cost reductions, and security enhancements.</a:t>
            </a:r>
          </a:p>
          <a:p>
            <a:pPr lvl="2">
              <a:lnSpc>
                <a:spcPct val="110000"/>
              </a:lnSpc>
            </a:pPr>
            <a:r>
              <a:rPr lang="en-US" sz="1600" dirty="0"/>
              <a:t>Acts as an assistant for optimizing Azure resources.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2471683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CE077-B32A-B93E-461F-30182C46E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890B4E44-54AE-5590-47A1-56AF2ADE6D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FA29F6-CF5C-9D0A-AC76-293195625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012536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CHAPTER 12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Cloud Management and Governance in Azure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54CAD-64EE-666C-B2AF-3377D460B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361" y="4942982"/>
            <a:ext cx="482763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3B40D-49E3-1B30-FA60-699AC517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781209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17830-729D-9A88-030E-7444133D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CCF32-56AD-48A3-67D9-52E9F5F6F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Key Reasons for Cloud Management and Governance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6F7E-F979-5EEA-8FC4-9171F3FA8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5" y="659220"/>
            <a:ext cx="6583679" cy="598613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Effective Management of Cloud Resources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Compliance with Regulatory Standards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Consistent Organizational Policies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Optimized Cloud Cost Management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Enhanced Security and Risk Management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Disaster Recovery Management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7451E-F3F8-8DF3-B105-6CD9760B5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123089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63D33-383F-C75B-0200-1DA60A10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A56E8-9CD0-7946-0394-982D9D39F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Azure Resource Locks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54FB6-7E1D-6077-7CAD-0C94D39ED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 dirty="0"/>
              <a:t>Azure resource locks protect cloud assets from accidental deletion or modification. </a:t>
            </a:r>
          </a:p>
          <a:p>
            <a:r>
              <a:rPr lang="en-US" sz="2000" dirty="0"/>
              <a:t>There are two main lock types: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 err="1"/>
              <a:t>ReadOnly</a:t>
            </a:r>
            <a:r>
              <a:rPr lang="en-US" sz="2000" b="1" dirty="0"/>
              <a:t>:</a:t>
            </a:r>
            <a:r>
              <a:rPr lang="en-US" sz="2000" dirty="0"/>
              <a:t> Prevents all users from modifying or deleting resources while allowing read access.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 err="1"/>
              <a:t>CannotDelete</a:t>
            </a:r>
            <a:r>
              <a:rPr lang="en-US" sz="2000" b="1" dirty="0"/>
              <a:t>:</a:t>
            </a:r>
            <a:r>
              <a:rPr lang="en-US" sz="2000" dirty="0"/>
              <a:t> Allows authorized users to read and modify resources but prohibits deletion.</a:t>
            </a:r>
          </a:p>
          <a:p>
            <a:r>
              <a:rPr lang="en-US" sz="2000" dirty="0"/>
              <a:t>Resource locks follow a parent-child hierarchy, meaning if a lock is applied at the resource group level, all contained resources inherit the same lock.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8F997-57D1-C220-F6C0-A9D05E5C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749458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2321A-551B-8ABB-BA13-C32B9925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4C4D3E-DCBB-3349-3746-FF25416F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Azure Blueprints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4BFF1-78F9-02E2-533D-EE2AA7295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Azure Blueprints provide predefined templates that help organizations deploy compliant cloud environments efficiently. </a:t>
            </a:r>
          </a:p>
          <a:p>
            <a:pPr>
              <a:lnSpc>
                <a:spcPct val="110000"/>
              </a:lnSpc>
            </a:pPr>
            <a:r>
              <a:rPr lang="en-US" sz="1700" b="1"/>
              <a:t>Features:</a:t>
            </a:r>
          </a:p>
          <a:p>
            <a:pPr lvl="1">
              <a:lnSpc>
                <a:spcPct val="110000"/>
              </a:lnSpc>
            </a:pPr>
            <a:r>
              <a:rPr lang="en-US" sz="1700" b="1"/>
              <a:t>Standardization of Cloud Resources:</a:t>
            </a:r>
            <a:r>
              <a:rPr lang="en-US" sz="1700"/>
              <a:t> Automate the deployment of standardized resources adhering to organizational standards and compliance requirements.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Integration with CI/CD Pipelines:</a:t>
            </a:r>
            <a:r>
              <a:rPr lang="en-US" sz="1700"/>
              <a:t> Manage blueprints as code for integration with Azure DevOps, facilitating version control and collaboration.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Artifact Management:</a:t>
            </a:r>
            <a:r>
              <a:rPr lang="en-US" sz="1700"/>
              <a:t> Each blueprint consists of artifacts like Azure RBAC roles, policies, and resource groups, enabling the creation of compliant cloud infrastructures.</a:t>
            </a:r>
          </a:p>
          <a:p>
            <a:pPr>
              <a:lnSpc>
                <a:spcPct val="110000"/>
              </a:lnSpc>
            </a:pPr>
            <a:endParaRPr lang="en-PK" sz="17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6D5D3-E8A0-B557-C42A-276356F9B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474190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39F8E-8A8C-6690-A9B4-1CF74CD3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Azure Monitor for Monitoring and Reliability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CCC8-8C5A-F4E9-5AB2-EDC0B9D44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5" y="1124998"/>
            <a:ext cx="6583679" cy="5295359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b="1" dirty="0"/>
              <a:t>Overview:</a:t>
            </a:r>
            <a:r>
              <a:rPr lang="en-US" sz="1800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Azure Monitor is a comprehensive cloud-based monitoring service provided by Microsoft Azure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It enables organizations to track the performance and health of their applications and infrastructure. 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It offers insights into application health, allowing proactive identification and resolution of issues.</a:t>
            </a:r>
          </a:p>
          <a:p>
            <a:pPr>
              <a:lnSpc>
                <a:spcPct val="110000"/>
              </a:lnSpc>
            </a:pPr>
            <a:endParaRPr lang="en-PK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4714A-9A0F-EF43-CB81-B5F1C2E32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872445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AF05E-99E1-AAB3-7AD3-FF0F2759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025E6-7002-5B96-B2AF-1262CC3FE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Azure Automation</a:t>
            </a:r>
            <a:endParaRPr lang="en-PK" sz="400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8C0A-4BE2-A139-DC06-4A0F0470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5" y="1124998"/>
            <a:ext cx="6583679" cy="554161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Overview:</a:t>
            </a:r>
            <a:r>
              <a:rPr lang="en-US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Azure Automation is a cloud-based service that automates repetitive and time-consuming tasks related to Azure resource management.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It aims to streamline workflows and reduce manual effort.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Use Cases:</a:t>
            </a:r>
            <a:endParaRPr lang="en-US" dirty="0"/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Provisioning and Managing Virtual Machines:</a:t>
            </a:r>
            <a:r>
              <a:rPr lang="en-US" sz="1600" dirty="0"/>
              <a:t> Automate the creation, management, and scaling of VMs.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Managing Backups and Disaster Recovery:</a:t>
            </a:r>
            <a:r>
              <a:rPr lang="en-US" sz="1600" dirty="0"/>
              <a:t> Streamline backup processes and disaster recovery planning.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Monitoring System Health:</a:t>
            </a:r>
            <a:r>
              <a:rPr lang="en-US" sz="1600" dirty="0"/>
              <a:t> Automate responses to health alerts and maintain system uptime.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DevOps Automation:</a:t>
            </a:r>
            <a:r>
              <a:rPr lang="en-US" sz="1600" dirty="0"/>
              <a:t> Integrate with Azure DevOps to enhance release pipelines and automate testing.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F8E01-3D44-A981-A3E9-886BA86F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021096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2249</TotalTime>
  <Words>1907</Words>
  <Application>Microsoft Office PowerPoint</Application>
  <PresentationFormat>Widescreen</PresentationFormat>
  <Paragraphs>270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Arial Nova Light</vt:lpstr>
      <vt:lpstr>Wingdings 2</vt:lpstr>
      <vt:lpstr>DividendVTI</vt:lpstr>
      <vt:lpstr>CHAPTER 11 cloud Infrastructure, DevOps, and Monitoring in Azure</vt:lpstr>
      <vt:lpstr>Introduction</vt:lpstr>
      <vt:lpstr>Why Cloud-Native Infrastructure?</vt:lpstr>
      <vt:lpstr>Core Components of Cloud Infrastructure</vt:lpstr>
      <vt:lpstr>Introduction to Microservices Architecture</vt:lpstr>
      <vt:lpstr>Containerization in Azure</vt:lpstr>
      <vt:lpstr>Understanding Orchestration</vt:lpstr>
      <vt:lpstr>Modern Application Development with DevOps</vt:lpstr>
      <vt:lpstr>Continuous Integration (CI)</vt:lpstr>
      <vt:lpstr>Continuous Deployment (CD)</vt:lpstr>
      <vt:lpstr>Introduction to Azure DevOps</vt:lpstr>
      <vt:lpstr>Azure DevOps Dashboard</vt:lpstr>
      <vt:lpstr>Azure Boards</vt:lpstr>
      <vt:lpstr>Azure Pipelines</vt:lpstr>
      <vt:lpstr>Azure Repos</vt:lpstr>
      <vt:lpstr>Azure Test Plans</vt:lpstr>
      <vt:lpstr>Built-in Analytics and Reporting</vt:lpstr>
      <vt:lpstr>GitHub for DevOps</vt:lpstr>
      <vt:lpstr>GitHub for Education</vt:lpstr>
      <vt:lpstr>Infrastructure Automation with IaC (Infrastructure as Code)</vt:lpstr>
      <vt:lpstr>IaC Workflow</vt:lpstr>
      <vt:lpstr>Azure Resource Manager (ARM) Templates</vt:lpstr>
      <vt:lpstr>Azure Bicep</vt:lpstr>
      <vt:lpstr>Terraform</vt:lpstr>
      <vt:lpstr>CaC &amp; PaC</vt:lpstr>
      <vt:lpstr>Introduction to Azure Monitoring Tools</vt:lpstr>
      <vt:lpstr>Azure Monitoring Service</vt:lpstr>
      <vt:lpstr>Azure Monitoring Service</vt:lpstr>
      <vt:lpstr>CHAPTER 12 Cloud Management and Governance in Azure</vt:lpstr>
      <vt:lpstr>Key Reasons for Cloud Management and Governance</vt:lpstr>
      <vt:lpstr>Azure Resource Locks</vt:lpstr>
      <vt:lpstr>Azure Blueprints</vt:lpstr>
      <vt:lpstr>Azure Monitor for Monitoring and Reliability</vt:lpstr>
      <vt:lpstr>Azure Automation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31</cp:revision>
  <dcterms:created xsi:type="dcterms:W3CDTF">2024-08-20T00:20:53Z</dcterms:created>
  <dcterms:modified xsi:type="dcterms:W3CDTF">2025-10-02T12:16:48Z</dcterms:modified>
</cp:coreProperties>
</file>