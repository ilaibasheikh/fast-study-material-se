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</p:sldMasterIdLst>
  <p:notesMasterIdLst>
    <p:notesMasterId r:id="rId22"/>
  </p:notesMasterIdLst>
  <p:sldIdLst>
    <p:sldId id="517" r:id="rId2"/>
    <p:sldId id="306" r:id="rId3"/>
    <p:sldId id="307" r:id="rId4"/>
    <p:sldId id="308" r:id="rId5"/>
    <p:sldId id="309" r:id="rId6"/>
    <p:sldId id="310" r:id="rId7"/>
    <p:sldId id="311" r:id="rId8"/>
    <p:sldId id="312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320" r:id="rId17"/>
    <p:sldId id="321" r:id="rId18"/>
    <p:sldId id="322" r:id="rId19"/>
    <p:sldId id="323" r:id="rId20"/>
    <p:sldId id="324" r:id="rId21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 9 - Book 1" id="{87B01F29-2951-4AB5-BA0E-DD8A0655BDA6}">
          <p14:sldIdLst>
            <p14:sldId id="517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62DB"/>
    <a:srgbClr val="0B5CA8"/>
    <a:srgbClr val="243941"/>
    <a:srgbClr val="82D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28" autoAdjust="0"/>
    <p:restoredTop sz="94641" autoAdjust="0"/>
  </p:normalViewPr>
  <p:slideViewPr>
    <p:cSldViewPr snapToGrid="0">
      <p:cViewPr varScale="1">
        <p:scale>
          <a:sx n="105" d="100"/>
          <a:sy n="105" d="100"/>
        </p:scale>
        <p:origin x="762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D38CBE-F4D8-4FA0-B34D-401A28549AFD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66F4B42-1282-47DC-B393-417C95511426}">
      <dgm:prSet/>
      <dgm:spPr/>
      <dgm:t>
        <a:bodyPr/>
        <a:lstStyle/>
        <a:p>
          <a:pPr>
            <a:lnSpc>
              <a:spcPct val="100000"/>
            </a:lnSpc>
          </a:pPr>
          <a:r>
            <a:rPr lang="en-PK"/>
            <a:t>Optimized performance and cost-efficiency through automatic scaling.</a:t>
          </a:r>
          <a:endParaRPr lang="en-US"/>
        </a:p>
      </dgm:t>
    </dgm:pt>
    <dgm:pt modelId="{BB652CCF-E3B1-4DF9-97F6-935B6364F1F4}" type="parTrans" cxnId="{08AABE59-4B2C-4F7D-A29D-DE6FA32F8FBC}">
      <dgm:prSet/>
      <dgm:spPr/>
      <dgm:t>
        <a:bodyPr/>
        <a:lstStyle/>
        <a:p>
          <a:endParaRPr lang="en-US"/>
        </a:p>
      </dgm:t>
    </dgm:pt>
    <dgm:pt modelId="{26BAFCFF-7D63-41C3-8268-F33A2AD1A5C9}" type="sibTrans" cxnId="{08AABE59-4B2C-4F7D-A29D-DE6FA32F8FB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483A4EE-2D52-4931-A42E-CD88118C06C4}">
      <dgm:prSet/>
      <dgm:spPr/>
      <dgm:t>
        <a:bodyPr/>
        <a:lstStyle/>
        <a:p>
          <a:pPr>
            <a:lnSpc>
              <a:spcPct val="100000"/>
            </a:lnSpc>
          </a:pPr>
          <a:r>
            <a:rPr lang="en-PK"/>
            <a:t>Reduced downtime due to the dynamic adjustment of resources.</a:t>
          </a:r>
          <a:endParaRPr lang="en-US"/>
        </a:p>
      </dgm:t>
    </dgm:pt>
    <dgm:pt modelId="{EE1CA8EC-CAB3-45AB-94D0-EBB1CD87C702}" type="parTrans" cxnId="{7565CF46-88AF-4C14-9373-30FC1AADB6B1}">
      <dgm:prSet/>
      <dgm:spPr/>
      <dgm:t>
        <a:bodyPr/>
        <a:lstStyle/>
        <a:p>
          <a:endParaRPr lang="en-US"/>
        </a:p>
      </dgm:t>
    </dgm:pt>
    <dgm:pt modelId="{7DDCF520-F58D-4644-91F5-2FA6500762F1}" type="sibTrans" cxnId="{7565CF46-88AF-4C14-9373-30FC1AADB6B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813F000-A632-4D83-9FE2-475F7A09E89F}">
      <dgm:prSet/>
      <dgm:spPr/>
      <dgm:t>
        <a:bodyPr/>
        <a:lstStyle/>
        <a:p>
          <a:pPr>
            <a:lnSpc>
              <a:spcPct val="100000"/>
            </a:lnSpc>
          </a:pPr>
          <a:r>
            <a:rPr lang="en-PK"/>
            <a:t>Flexibility to handle unpredictable workload patterns.</a:t>
          </a:r>
          <a:endParaRPr lang="en-US"/>
        </a:p>
      </dgm:t>
    </dgm:pt>
    <dgm:pt modelId="{9C6C9ECA-BC61-485E-9293-77DB793147F6}" type="parTrans" cxnId="{B1DAA014-12AA-4190-8409-D5B20EC12BC8}">
      <dgm:prSet/>
      <dgm:spPr/>
      <dgm:t>
        <a:bodyPr/>
        <a:lstStyle/>
        <a:p>
          <a:endParaRPr lang="en-US"/>
        </a:p>
      </dgm:t>
    </dgm:pt>
    <dgm:pt modelId="{2E3845E1-B2AC-42D5-8125-7DFDE3B60260}" type="sibTrans" cxnId="{B1DAA014-12AA-4190-8409-D5B20EC12BC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F9DEE6F-9501-4932-B91E-F22989F203AB}">
      <dgm:prSet/>
      <dgm:spPr/>
      <dgm:t>
        <a:bodyPr/>
        <a:lstStyle/>
        <a:p>
          <a:pPr>
            <a:lnSpc>
              <a:spcPct val="100000"/>
            </a:lnSpc>
          </a:pPr>
          <a:r>
            <a:rPr lang="en-PK"/>
            <a:t>Infinite scalability illusion created by dynamic resource pools.</a:t>
          </a:r>
          <a:endParaRPr lang="en-US"/>
        </a:p>
      </dgm:t>
    </dgm:pt>
    <dgm:pt modelId="{3D1F3BCB-170F-41AF-A5D4-2A9E32D67DC3}" type="parTrans" cxnId="{DF13F7BC-C47C-4D93-91AC-8ADB1551E0AE}">
      <dgm:prSet/>
      <dgm:spPr/>
      <dgm:t>
        <a:bodyPr/>
        <a:lstStyle/>
        <a:p>
          <a:endParaRPr lang="en-US"/>
        </a:p>
      </dgm:t>
    </dgm:pt>
    <dgm:pt modelId="{53B4C4C7-882A-44E6-96D6-E5A6BBA8A4FA}" type="sibTrans" cxnId="{DF13F7BC-C47C-4D93-91AC-8ADB1551E0AE}">
      <dgm:prSet/>
      <dgm:spPr/>
      <dgm:t>
        <a:bodyPr/>
        <a:lstStyle/>
        <a:p>
          <a:endParaRPr lang="en-US"/>
        </a:p>
      </dgm:t>
    </dgm:pt>
    <dgm:pt modelId="{BE7A584E-2B36-4E01-910D-66D745E2C606}" type="pres">
      <dgm:prSet presAssocID="{65D38CBE-F4D8-4FA0-B34D-401A28549AFD}" presName="root" presStyleCnt="0">
        <dgm:presLayoutVars>
          <dgm:dir/>
          <dgm:resizeHandles val="exact"/>
        </dgm:presLayoutVars>
      </dgm:prSet>
      <dgm:spPr/>
    </dgm:pt>
    <dgm:pt modelId="{5DB68C5F-58BE-4209-AF68-2A9F67F95D45}" type="pres">
      <dgm:prSet presAssocID="{65D38CBE-F4D8-4FA0-B34D-401A28549AFD}" presName="container" presStyleCnt="0">
        <dgm:presLayoutVars>
          <dgm:dir/>
          <dgm:resizeHandles val="exact"/>
        </dgm:presLayoutVars>
      </dgm:prSet>
      <dgm:spPr/>
    </dgm:pt>
    <dgm:pt modelId="{C095910E-E372-4C66-8A33-36EDD2A3B45C}" type="pres">
      <dgm:prSet presAssocID="{566F4B42-1282-47DC-B393-417C95511426}" presName="compNode" presStyleCnt="0"/>
      <dgm:spPr/>
    </dgm:pt>
    <dgm:pt modelId="{1F9F83BC-2059-4BF1-881A-9321B2E44686}" type="pres">
      <dgm:prSet presAssocID="{566F4B42-1282-47DC-B393-417C95511426}" presName="iconBgRect" presStyleLbl="bgShp" presStyleIdx="0" presStyleCnt="4"/>
      <dgm:spPr/>
    </dgm:pt>
    <dgm:pt modelId="{59F41B4B-28A1-4325-9DEA-81DF51DA0624}" type="pres">
      <dgm:prSet presAssocID="{566F4B42-1282-47DC-B393-417C9551142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5B028D3-AB7D-41D6-8C64-89584F8E3357}" type="pres">
      <dgm:prSet presAssocID="{566F4B42-1282-47DC-B393-417C95511426}" presName="spaceRect" presStyleCnt="0"/>
      <dgm:spPr/>
    </dgm:pt>
    <dgm:pt modelId="{A18658CD-A09E-444C-B1B7-7DDDF7EB302C}" type="pres">
      <dgm:prSet presAssocID="{566F4B42-1282-47DC-B393-417C95511426}" presName="textRect" presStyleLbl="revTx" presStyleIdx="0" presStyleCnt="4">
        <dgm:presLayoutVars>
          <dgm:chMax val="1"/>
          <dgm:chPref val="1"/>
        </dgm:presLayoutVars>
      </dgm:prSet>
      <dgm:spPr/>
    </dgm:pt>
    <dgm:pt modelId="{D2B52479-B492-404B-9715-192F3932F9FF}" type="pres">
      <dgm:prSet presAssocID="{26BAFCFF-7D63-41C3-8268-F33A2AD1A5C9}" presName="sibTrans" presStyleLbl="sibTrans2D1" presStyleIdx="0" presStyleCnt="0"/>
      <dgm:spPr/>
    </dgm:pt>
    <dgm:pt modelId="{BFA6043B-324C-4D17-BA8C-97A7CDBBF2B3}" type="pres">
      <dgm:prSet presAssocID="{D483A4EE-2D52-4931-A42E-CD88118C06C4}" presName="compNode" presStyleCnt="0"/>
      <dgm:spPr/>
    </dgm:pt>
    <dgm:pt modelId="{CBD324E3-2060-4416-8D0A-9DB17302ACA7}" type="pres">
      <dgm:prSet presAssocID="{D483A4EE-2D52-4931-A42E-CD88118C06C4}" presName="iconBgRect" presStyleLbl="bgShp" presStyleIdx="1" presStyleCnt="4"/>
      <dgm:spPr/>
    </dgm:pt>
    <dgm:pt modelId="{D0F91175-B97C-4C1A-9FDC-894EDFD85D64}" type="pres">
      <dgm:prSet presAssocID="{D483A4EE-2D52-4931-A42E-CD88118C06C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CCE7FAD5-3434-401F-A98F-5E8B78891496}" type="pres">
      <dgm:prSet presAssocID="{D483A4EE-2D52-4931-A42E-CD88118C06C4}" presName="spaceRect" presStyleCnt="0"/>
      <dgm:spPr/>
    </dgm:pt>
    <dgm:pt modelId="{EB8E57E0-76FC-487A-B816-4CED4F54500C}" type="pres">
      <dgm:prSet presAssocID="{D483A4EE-2D52-4931-A42E-CD88118C06C4}" presName="textRect" presStyleLbl="revTx" presStyleIdx="1" presStyleCnt="4">
        <dgm:presLayoutVars>
          <dgm:chMax val="1"/>
          <dgm:chPref val="1"/>
        </dgm:presLayoutVars>
      </dgm:prSet>
      <dgm:spPr/>
    </dgm:pt>
    <dgm:pt modelId="{9230C6C2-CF19-4BDE-BE71-2A9E7715DF3C}" type="pres">
      <dgm:prSet presAssocID="{7DDCF520-F58D-4644-91F5-2FA6500762F1}" presName="sibTrans" presStyleLbl="sibTrans2D1" presStyleIdx="0" presStyleCnt="0"/>
      <dgm:spPr/>
    </dgm:pt>
    <dgm:pt modelId="{BD2637A8-0966-4D0D-B799-5E244FBD8A88}" type="pres">
      <dgm:prSet presAssocID="{F813F000-A632-4D83-9FE2-475F7A09E89F}" presName="compNode" presStyleCnt="0"/>
      <dgm:spPr/>
    </dgm:pt>
    <dgm:pt modelId="{6DDD2711-0BB1-40D3-92AA-7C350B9B8A72}" type="pres">
      <dgm:prSet presAssocID="{F813F000-A632-4D83-9FE2-475F7A09E89F}" presName="iconBgRect" presStyleLbl="bgShp" presStyleIdx="2" presStyleCnt="4"/>
      <dgm:spPr/>
    </dgm:pt>
    <dgm:pt modelId="{67CE3C32-BACD-4FD4-8880-A9E5796C3EDB}" type="pres">
      <dgm:prSet presAssocID="{F813F000-A632-4D83-9FE2-475F7A09E89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uscle Arm"/>
        </a:ext>
      </dgm:extLst>
    </dgm:pt>
    <dgm:pt modelId="{77E24ACB-B58D-4AD2-B59C-878BEF6FB123}" type="pres">
      <dgm:prSet presAssocID="{F813F000-A632-4D83-9FE2-475F7A09E89F}" presName="spaceRect" presStyleCnt="0"/>
      <dgm:spPr/>
    </dgm:pt>
    <dgm:pt modelId="{AE4A6E3C-C350-480E-8A1F-E388EF8A3A75}" type="pres">
      <dgm:prSet presAssocID="{F813F000-A632-4D83-9FE2-475F7A09E89F}" presName="textRect" presStyleLbl="revTx" presStyleIdx="2" presStyleCnt="4">
        <dgm:presLayoutVars>
          <dgm:chMax val="1"/>
          <dgm:chPref val="1"/>
        </dgm:presLayoutVars>
      </dgm:prSet>
      <dgm:spPr/>
    </dgm:pt>
    <dgm:pt modelId="{12AA3633-288C-460E-85C8-3876E05BD93D}" type="pres">
      <dgm:prSet presAssocID="{2E3845E1-B2AC-42D5-8125-7DFDE3B60260}" presName="sibTrans" presStyleLbl="sibTrans2D1" presStyleIdx="0" presStyleCnt="0"/>
      <dgm:spPr/>
    </dgm:pt>
    <dgm:pt modelId="{581E3302-DBE3-4F63-ACD3-FE29DD868008}" type="pres">
      <dgm:prSet presAssocID="{2F9DEE6F-9501-4932-B91E-F22989F203AB}" presName="compNode" presStyleCnt="0"/>
      <dgm:spPr/>
    </dgm:pt>
    <dgm:pt modelId="{F8D30DE0-AA76-4383-8915-035549B6F5E8}" type="pres">
      <dgm:prSet presAssocID="{2F9DEE6F-9501-4932-B91E-F22989F203AB}" presName="iconBgRect" presStyleLbl="bgShp" presStyleIdx="3" presStyleCnt="4"/>
      <dgm:spPr/>
    </dgm:pt>
    <dgm:pt modelId="{7D10B210-B258-4186-B6F3-5B187EEA0075}" type="pres">
      <dgm:prSet presAssocID="{2F9DEE6F-9501-4932-B91E-F22989F203A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finity"/>
        </a:ext>
      </dgm:extLst>
    </dgm:pt>
    <dgm:pt modelId="{EEEECD80-90FB-411E-BDA7-16F017E84514}" type="pres">
      <dgm:prSet presAssocID="{2F9DEE6F-9501-4932-B91E-F22989F203AB}" presName="spaceRect" presStyleCnt="0"/>
      <dgm:spPr/>
    </dgm:pt>
    <dgm:pt modelId="{E4F193A6-9B99-44CF-ABF4-31C6E8A95034}" type="pres">
      <dgm:prSet presAssocID="{2F9DEE6F-9501-4932-B91E-F22989F203A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FADC600-386B-4ADB-A017-00D1C84E048A}" type="presOf" srcId="{7DDCF520-F58D-4644-91F5-2FA6500762F1}" destId="{9230C6C2-CF19-4BDE-BE71-2A9E7715DF3C}" srcOrd="0" destOrd="0" presId="urn:microsoft.com/office/officeart/2018/2/layout/IconCircleList"/>
    <dgm:cxn modelId="{1B0A0504-46D7-490E-ADBB-BC424103D01C}" type="presOf" srcId="{566F4B42-1282-47DC-B393-417C95511426}" destId="{A18658CD-A09E-444C-B1B7-7DDDF7EB302C}" srcOrd="0" destOrd="0" presId="urn:microsoft.com/office/officeart/2018/2/layout/IconCircleList"/>
    <dgm:cxn modelId="{7FF9E707-7789-49CA-B8A3-7B19095F122C}" type="presOf" srcId="{D483A4EE-2D52-4931-A42E-CD88118C06C4}" destId="{EB8E57E0-76FC-487A-B816-4CED4F54500C}" srcOrd="0" destOrd="0" presId="urn:microsoft.com/office/officeart/2018/2/layout/IconCircleList"/>
    <dgm:cxn modelId="{B1DAA014-12AA-4190-8409-D5B20EC12BC8}" srcId="{65D38CBE-F4D8-4FA0-B34D-401A28549AFD}" destId="{F813F000-A632-4D83-9FE2-475F7A09E89F}" srcOrd="2" destOrd="0" parTransId="{9C6C9ECA-BC61-485E-9293-77DB793147F6}" sibTransId="{2E3845E1-B2AC-42D5-8125-7DFDE3B60260}"/>
    <dgm:cxn modelId="{9EFA8637-4F10-4013-BE68-8825F12E750D}" type="presOf" srcId="{26BAFCFF-7D63-41C3-8268-F33A2AD1A5C9}" destId="{D2B52479-B492-404B-9715-192F3932F9FF}" srcOrd="0" destOrd="0" presId="urn:microsoft.com/office/officeart/2018/2/layout/IconCircleList"/>
    <dgm:cxn modelId="{7565CF46-88AF-4C14-9373-30FC1AADB6B1}" srcId="{65D38CBE-F4D8-4FA0-B34D-401A28549AFD}" destId="{D483A4EE-2D52-4931-A42E-CD88118C06C4}" srcOrd="1" destOrd="0" parTransId="{EE1CA8EC-CAB3-45AB-94D0-EBB1CD87C702}" sibTransId="{7DDCF520-F58D-4644-91F5-2FA6500762F1}"/>
    <dgm:cxn modelId="{D79FC64D-CA9F-4796-8EF4-1B907056C307}" type="presOf" srcId="{2E3845E1-B2AC-42D5-8125-7DFDE3B60260}" destId="{12AA3633-288C-460E-85C8-3876E05BD93D}" srcOrd="0" destOrd="0" presId="urn:microsoft.com/office/officeart/2018/2/layout/IconCircleList"/>
    <dgm:cxn modelId="{08AABE59-4B2C-4F7D-A29D-DE6FA32F8FBC}" srcId="{65D38CBE-F4D8-4FA0-B34D-401A28549AFD}" destId="{566F4B42-1282-47DC-B393-417C95511426}" srcOrd="0" destOrd="0" parTransId="{BB652CCF-E3B1-4DF9-97F6-935B6364F1F4}" sibTransId="{26BAFCFF-7D63-41C3-8268-F33A2AD1A5C9}"/>
    <dgm:cxn modelId="{2EBE818F-AB5B-4D0C-AA3C-28C1EFC6BA96}" type="presOf" srcId="{65D38CBE-F4D8-4FA0-B34D-401A28549AFD}" destId="{BE7A584E-2B36-4E01-910D-66D745E2C606}" srcOrd="0" destOrd="0" presId="urn:microsoft.com/office/officeart/2018/2/layout/IconCircleList"/>
    <dgm:cxn modelId="{DF13F7BC-C47C-4D93-91AC-8ADB1551E0AE}" srcId="{65D38CBE-F4D8-4FA0-B34D-401A28549AFD}" destId="{2F9DEE6F-9501-4932-B91E-F22989F203AB}" srcOrd="3" destOrd="0" parTransId="{3D1F3BCB-170F-41AF-A5D4-2A9E32D67DC3}" sibTransId="{53B4C4C7-882A-44E6-96D6-E5A6BBA8A4FA}"/>
    <dgm:cxn modelId="{02C8B1D7-FC36-4AD7-9F72-FD8BEC4E884E}" type="presOf" srcId="{F813F000-A632-4D83-9FE2-475F7A09E89F}" destId="{AE4A6E3C-C350-480E-8A1F-E388EF8A3A75}" srcOrd="0" destOrd="0" presId="urn:microsoft.com/office/officeart/2018/2/layout/IconCircleList"/>
    <dgm:cxn modelId="{D16588DA-C704-4A0C-AE82-8960FBBC000E}" type="presOf" srcId="{2F9DEE6F-9501-4932-B91E-F22989F203AB}" destId="{E4F193A6-9B99-44CF-ABF4-31C6E8A95034}" srcOrd="0" destOrd="0" presId="urn:microsoft.com/office/officeart/2018/2/layout/IconCircleList"/>
    <dgm:cxn modelId="{BFC94CAF-38CF-42CA-8E48-AB8A75A98951}" type="presParOf" srcId="{BE7A584E-2B36-4E01-910D-66D745E2C606}" destId="{5DB68C5F-58BE-4209-AF68-2A9F67F95D45}" srcOrd="0" destOrd="0" presId="urn:microsoft.com/office/officeart/2018/2/layout/IconCircleList"/>
    <dgm:cxn modelId="{0B2BDA9E-0AC0-44D7-951D-A51C7406CF21}" type="presParOf" srcId="{5DB68C5F-58BE-4209-AF68-2A9F67F95D45}" destId="{C095910E-E372-4C66-8A33-36EDD2A3B45C}" srcOrd="0" destOrd="0" presId="urn:microsoft.com/office/officeart/2018/2/layout/IconCircleList"/>
    <dgm:cxn modelId="{7382B6B8-BB23-42F7-BAF2-9E6611400202}" type="presParOf" srcId="{C095910E-E372-4C66-8A33-36EDD2A3B45C}" destId="{1F9F83BC-2059-4BF1-881A-9321B2E44686}" srcOrd="0" destOrd="0" presId="urn:microsoft.com/office/officeart/2018/2/layout/IconCircleList"/>
    <dgm:cxn modelId="{33F765B5-6EDA-43DD-8B35-4D1EEF57A692}" type="presParOf" srcId="{C095910E-E372-4C66-8A33-36EDD2A3B45C}" destId="{59F41B4B-28A1-4325-9DEA-81DF51DA0624}" srcOrd="1" destOrd="0" presId="urn:microsoft.com/office/officeart/2018/2/layout/IconCircleList"/>
    <dgm:cxn modelId="{9CC7D9C9-7EAB-4862-A527-531DCBBEA8DC}" type="presParOf" srcId="{C095910E-E372-4C66-8A33-36EDD2A3B45C}" destId="{05B028D3-AB7D-41D6-8C64-89584F8E3357}" srcOrd="2" destOrd="0" presId="urn:microsoft.com/office/officeart/2018/2/layout/IconCircleList"/>
    <dgm:cxn modelId="{972C06CE-C27F-44B4-8823-B07B97E882D5}" type="presParOf" srcId="{C095910E-E372-4C66-8A33-36EDD2A3B45C}" destId="{A18658CD-A09E-444C-B1B7-7DDDF7EB302C}" srcOrd="3" destOrd="0" presId="urn:microsoft.com/office/officeart/2018/2/layout/IconCircleList"/>
    <dgm:cxn modelId="{2B57F84F-662D-4B6B-9722-EDE3F6EF334A}" type="presParOf" srcId="{5DB68C5F-58BE-4209-AF68-2A9F67F95D45}" destId="{D2B52479-B492-404B-9715-192F3932F9FF}" srcOrd="1" destOrd="0" presId="urn:microsoft.com/office/officeart/2018/2/layout/IconCircleList"/>
    <dgm:cxn modelId="{D0F0A53D-4826-444D-B7CB-9E3AC3545B12}" type="presParOf" srcId="{5DB68C5F-58BE-4209-AF68-2A9F67F95D45}" destId="{BFA6043B-324C-4D17-BA8C-97A7CDBBF2B3}" srcOrd="2" destOrd="0" presId="urn:microsoft.com/office/officeart/2018/2/layout/IconCircleList"/>
    <dgm:cxn modelId="{37B9D24B-72B6-4192-A932-2D061A04407B}" type="presParOf" srcId="{BFA6043B-324C-4D17-BA8C-97A7CDBBF2B3}" destId="{CBD324E3-2060-4416-8D0A-9DB17302ACA7}" srcOrd="0" destOrd="0" presId="urn:microsoft.com/office/officeart/2018/2/layout/IconCircleList"/>
    <dgm:cxn modelId="{17ED0123-44D4-4AFE-9B96-9DA2F2E349F3}" type="presParOf" srcId="{BFA6043B-324C-4D17-BA8C-97A7CDBBF2B3}" destId="{D0F91175-B97C-4C1A-9FDC-894EDFD85D64}" srcOrd="1" destOrd="0" presId="urn:microsoft.com/office/officeart/2018/2/layout/IconCircleList"/>
    <dgm:cxn modelId="{B9C2050F-759E-49B9-887A-5F7AC7FBBAF4}" type="presParOf" srcId="{BFA6043B-324C-4D17-BA8C-97A7CDBBF2B3}" destId="{CCE7FAD5-3434-401F-A98F-5E8B78891496}" srcOrd="2" destOrd="0" presId="urn:microsoft.com/office/officeart/2018/2/layout/IconCircleList"/>
    <dgm:cxn modelId="{8E6B24D5-D1D0-482B-8DB7-C25BF39473C0}" type="presParOf" srcId="{BFA6043B-324C-4D17-BA8C-97A7CDBBF2B3}" destId="{EB8E57E0-76FC-487A-B816-4CED4F54500C}" srcOrd="3" destOrd="0" presId="urn:microsoft.com/office/officeart/2018/2/layout/IconCircleList"/>
    <dgm:cxn modelId="{65EDD922-7A14-4453-BE5C-FC0C0CDE4873}" type="presParOf" srcId="{5DB68C5F-58BE-4209-AF68-2A9F67F95D45}" destId="{9230C6C2-CF19-4BDE-BE71-2A9E7715DF3C}" srcOrd="3" destOrd="0" presId="urn:microsoft.com/office/officeart/2018/2/layout/IconCircleList"/>
    <dgm:cxn modelId="{3CDF31CD-5ADF-4C26-A12E-270427515190}" type="presParOf" srcId="{5DB68C5F-58BE-4209-AF68-2A9F67F95D45}" destId="{BD2637A8-0966-4D0D-B799-5E244FBD8A88}" srcOrd="4" destOrd="0" presId="urn:microsoft.com/office/officeart/2018/2/layout/IconCircleList"/>
    <dgm:cxn modelId="{24ABCEBF-43F8-497B-A467-785450EBC25E}" type="presParOf" srcId="{BD2637A8-0966-4D0D-B799-5E244FBD8A88}" destId="{6DDD2711-0BB1-40D3-92AA-7C350B9B8A72}" srcOrd="0" destOrd="0" presId="urn:microsoft.com/office/officeart/2018/2/layout/IconCircleList"/>
    <dgm:cxn modelId="{4FA30268-F4C3-4047-8A54-DC61873667FA}" type="presParOf" srcId="{BD2637A8-0966-4D0D-B799-5E244FBD8A88}" destId="{67CE3C32-BACD-4FD4-8880-A9E5796C3EDB}" srcOrd="1" destOrd="0" presId="urn:microsoft.com/office/officeart/2018/2/layout/IconCircleList"/>
    <dgm:cxn modelId="{9AEBFDB9-02DE-4D8F-854F-6B85CCDF7475}" type="presParOf" srcId="{BD2637A8-0966-4D0D-B799-5E244FBD8A88}" destId="{77E24ACB-B58D-4AD2-B59C-878BEF6FB123}" srcOrd="2" destOrd="0" presId="urn:microsoft.com/office/officeart/2018/2/layout/IconCircleList"/>
    <dgm:cxn modelId="{E4A9D904-C801-4A66-80D1-6AC7D5958540}" type="presParOf" srcId="{BD2637A8-0966-4D0D-B799-5E244FBD8A88}" destId="{AE4A6E3C-C350-480E-8A1F-E388EF8A3A75}" srcOrd="3" destOrd="0" presId="urn:microsoft.com/office/officeart/2018/2/layout/IconCircleList"/>
    <dgm:cxn modelId="{472CCC9F-C479-4B45-9A18-8573433C1C3F}" type="presParOf" srcId="{5DB68C5F-58BE-4209-AF68-2A9F67F95D45}" destId="{12AA3633-288C-460E-85C8-3876E05BD93D}" srcOrd="5" destOrd="0" presId="urn:microsoft.com/office/officeart/2018/2/layout/IconCircleList"/>
    <dgm:cxn modelId="{9C7A3269-0EB9-48C3-9CA9-A643A9265692}" type="presParOf" srcId="{5DB68C5F-58BE-4209-AF68-2A9F67F95D45}" destId="{581E3302-DBE3-4F63-ACD3-FE29DD868008}" srcOrd="6" destOrd="0" presId="urn:microsoft.com/office/officeart/2018/2/layout/IconCircleList"/>
    <dgm:cxn modelId="{652809AF-ECAB-4CC9-8F1F-14FC5F9C7612}" type="presParOf" srcId="{581E3302-DBE3-4F63-ACD3-FE29DD868008}" destId="{F8D30DE0-AA76-4383-8915-035549B6F5E8}" srcOrd="0" destOrd="0" presId="urn:microsoft.com/office/officeart/2018/2/layout/IconCircleList"/>
    <dgm:cxn modelId="{F3050C39-C6BB-4A65-9A8A-742DC263E102}" type="presParOf" srcId="{581E3302-DBE3-4F63-ACD3-FE29DD868008}" destId="{7D10B210-B258-4186-B6F3-5B187EEA0075}" srcOrd="1" destOrd="0" presId="urn:microsoft.com/office/officeart/2018/2/layout/IconCircleList"/>
    <dgm:cxn modelId="{9F41ACE8-6A88-417B-A689-7C18B4923235}" type="presParOf" srcId="{581E3302-DBE3-4F63-ACD3-FE29DD868008}" destId="{EEEECD80-90FB-411E-BDA7-16F017E84514}" srcOrd="2" destOrd="0" presId="urn:microsoft.com/office/officeart/2018/2/layout/IconCircleList"/>
    <dgm:cxn modelId="{FE76D8C6-B53A-4DB3-A7FE-D382B6EE7CE0}" type="presParOf" srcId="{581E3302-DBE3-4F63-ACD3-FE29DD868008}" destId="{E4F193A6-9B99-44CF-ABF4-31C6E8A9503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76697B8-21D0-41FE-924B-0409ABACA81A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9806562-ED26-4ADB-9ADE-D9151C089199}">
      <dgm:prSet/>
      <dgm:spPr/>
      <dgm:t>
        <a:bodyPr/>
        <a:lstStyle/>
        <a:p>
          <a:r>
            <a:rPr lang="en-PK" dirty="0"/>
            <a:t>Performance: User experience in terms of response time.</a:t>
          </a:r>
          <a:endParaRPr lang="en-US" dirty="0"/>
        </a:p>
      </dgm:t>
    </dgm:pt>
    <dgm:pt modelId="{B7D6DF51-1AB1-4320-B044-8AB452BD220C}" type="parTrans" cxnId="{BFA158A3-9A41-43C3-9D57-1BD2C1CB42EC}">
      <dgm:prSet/>
      <dgm:spPr/>
      <dgm:t>
        <a:bodyPr/>
        <a:lstStyle/>
        <a:p>
          <a:endParaRPr lang="en-US"/>
        </a:p>
      </dgm:t>
    </dgm:pt>
    <dgm:pt modelId="{2CE8B90C-CC05-49A6-B782-1A18F534A23C}" type="sibTrans" cxnId="{BFA158A3-9A41-43C3-9D57-1BD2C1CB42EC}">
      <dgm:prSet/>
      <dgm:spPr/>
      <dgm:t>
        <a:bodyPr/>
        <a:lstStyle/>
        <a:p>
          <a:endParaRPr lang="en-US"/>
        </a:p>
      </dgm:t>
    </dgm:pt>
    <dgm:pt modelId="{5C3BB7BA-5BB4-46EF-A238-7053473C803D}">
      <dgm:prSet/>
      <dgm:spPr/>
      <dgm:t>
        <a:bodyPr/>
        <a:lstStyle/>
        <a:p>
          <a:r>
            <a:rPr lang="en-PK" dirty="0"/>
            <a:t>Scalability: Ability to maintain performance as user load increases.</a:t>
          </a:r>
          <a:endParaRPr lang="en-US" dirty="0"/>
        </a:p>
      </dgm:t>
    </dgm:pt>
    <dgm:pt modelId="{169084BC-1CDB-47BF-9516-7A4CF2F46049}" type="parTrans" cxnId="{E3E2A88F-8204-464F-8F8A-6003CF2EE3F3}">
      <dgm:prSet/>
      <dgm:spPr/>
      <dgm:t>
        <a:bodyPr/>
        <a:lstStyle/>
        <a:p>
          <a:endParaRPr lang="en-US"/>
        </a:p>
      </dgm:t>
    </dgm:pt>
    <dgm:pt modelId="{7E5D6EDC-FD27-4A79-86FE-C2F4A861BB61}" type="sibTrans" cxnId="{E3E2A88F-8204-464F-8F8A-6003CF2EE3F3}">
      <dgm:prSet/>
      <dgm:spPr/>
      <dgm:t>
        <a:bodyPr/>
        <a:lstStyle/>
        <a:p>
          <a:endParaRPr lang="en-US"/>
        </a:p>
      </dgm:t>
    </dgm:pt>
    <dgm:pt modelId="{315DED4F-C7D6-4FB2-A4A7-3D1C8213E261}">
      <dgm:prSet/>
      <dgm:spPr/>
      <dgm:t>
        <a:bodyPr/>
        <a:lstStyle/>
        <a:p>
          <a:r>
            <a:rPr lang="en-PK"/>
            <a:t>Key Insight: An application can be scalable but not necessarily performant.</a:t>
          </a:r>
          <a:endParaRPr lang="en-US"/>
        </a:p>
      </dgm:t>
    </dgm:pt>
    <dgm:pt modelId="{7C17EACA-A84F-4BDF-8D1D-8013381C5FF9}" type="parTrans" cxnId="{A831EFE8-4858-448A-ADBE-722EF0B04D78}">
      <dgm:prSet/>
      <dgm:spPr/>
      <dgm:t>
        <a:bodyPr/>
        <a:lstStyle/>
        <a:p>
          <a:endParaRPr lang="en-US"/>
        </a:p>
      </dgm:t>
    </dgm:pt>
    <dgm:pt modelId="{FC775ED4-C0C9-464D-B70E-B687107CD0FE}" type="sibTrans" cxnId="{A831EFE8-4858-448A-ADBE-722EF0B04D78}">
      <dgm:prSet/>
      <dgm:spPr/>
      <dgm:t>
        <a:bodyPr/>
        <a:lstStyle/>
        <a:p>
          <a:endParaRPr lang="en-US"/>
        </a:p>
      </dgm:t>
    </dgm:pt>
    <dgm:pt modelId="{E7F8DEE3-EA7A-4FC7-AC58-588E2DAFBE8B}" type="pres">
      <dgm:prSet presAssocID="{976697B8-21D0-41FE-924B-0409ABACA81A}" presName="linear" presStyleCnt="0">
        <dgm:presLayoutVars>
          <dgm:animLvl val="lvl"/>
          <dgm:resizeHandles val="exact"/>
        </dgm:presLayoutVars>
      </dgm:prSet>
      <dgm:spPr/>
    </dgm:pt>
    <dgm:pt modelId="{F49BA04C-2826-4F5F-AB7B-A425DB545230}" type="pres">
      <dgm:prSet presAssocID="{C9806562-ED26-4ADB-9ADE-D9151C08919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622A54D-275C-4F3D-A27A-99053D090E04}" type="pres">
      <dgm:prSet presAssocID="{2CE8B90C-CC05-49A6-B782-1A18F534A23C}" presName="spacer" presStyleCnt="0"/>
      <dgm:spPr/>
    </dgm:pt>
    <dgm:pt modelId="{8CCE7869-AFF6-4657-B590-0B02C3B7576D}" type="pres">
      <dgm:prSet presAssocID="{5C3BB7BA-5BB4-46EF-A238-7053473C803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3F70696-5FE3-45F5-A399-AAEB03624428}" type="pres">
      <dgm:prSet presAssocID="{7E5D6EDC-FD27-4A79-86FE-C2F4A861BB61}" presName="spacer" presStyleCnt="0"/>
      <dgm:spPr/>
    </dgm:pt>
    <dgm:pt modelId="{B6311FEE-CBD8-4229-9B62-2B852EADFFF9}" type="pres">
      <dgm:prSet presAssocID="{315DED4F-C7D6-4FB2-A4A7-3D1C8213E26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8B34724-A923-40F2-985E-DC2FD90D60B2}" type="presOf" srcId="{315DED4F-C7D6-4FB2-A4A7-3D1C8213E261}" destId="{B6311FEE-CBD8-4229-9B62-2B852EADFFF9}" srcOrd="0" destOrd="0" presId="urn:microsoft.com/office/officeart/2005/8/layout/vList2"/>
    <dgm:cxn modelId="{ABA92986-91D6-40B5-B743-8CFE210A7818}" type="presOf" srcId="{976697B8-21D0-41FE-924B-0409ABACA81A}" destId="{E7F8DEE3-EA7A-4FC7-AC58-588E2DAFBE8B}" srcOrd="0" destOrd="0" presId="urn:microsoft.com/office/officeart/2005/8/layout/vList2"/>
    <dgm:cxn modelId="{E3E2A88F-8204-464F-8F8A-6003CF2EE3F3}" srcId="{976697B8-21D0-41FE-924B-0409ABACA81A}" destId="{5C3BB7BA-5BB4-46EF-A238-7053473C803D}" srcOrd="1" destOrd="0" parTransId="{169084BC-1CDB-47BF-9516-7A4CF2F46049}" sibTransId="{7E5D6EDC-FD27-4A79-86FE-C2F4A861BB61}"/>
    <dgm:cxn modelId="{BFA158A3-9A41-43C3-9D57-1BD2C1CB42EC}" srcId="{976697B8-21D0-41FE-924B-0409ABACA81A}" destId="{C9806562-ED26-4ADB-9ADE-D9151C089199}" srcOrd="0" destOrd="0" parTransId="{B7D6DF51-1AB1-4320-B044-8AB452BD220C}" sibTransId="{2CE8B90C-CC05-49A6-B782-1A18F534A23C}"/>
    <dgm:cxn modelId="{916924A7-212B-418B-9153-E664D089E58E}" type="presOf" srcId="{C9806562-ED26-4ADB-9ADE-D9151C089199}" destId="{F49BA04C-2826-4F5F-AB7B-A425DB545230}" srcOrd="0" destOrd="0" presId="urn:microsoft.com/office/officeart/2005/8/layout/vList2"/>
    <dgm:cxn modelId="{A831EFE8-4858-448A-ADBE-722EF0B04D78}" srcId="{976697B8-21D0-41FE-924B-0409ABACA81A}" destId="{315DED4F-C7D6-4FB2-A4A7-3D1C8213E261}" srcOrd="2" destOrd="0" parTransId="{7C17EACA-A84F-4BDF-8D1D-8013381C5FF9}" sibTransId="{FC775ED4-C0C9-464D-B70E-B687107CD0FE}"/>
    <dgm:cxn modelId="{1DF931F7-AC6B-4961-B538-6398B78773D7}" type="presOf" srcId="{5C3BB7BA-5BB4-46EF-A238-7053473C803D}" destId="{8CCE7869-AFF6-4657-B590-0B02C3B7576D}" srcOrd="0" destOrd="0" presId="urn:microsoft.com/office/officeart/2005/8/layout/vList2"/>
    <dgm:cxn modelId="{3A5FC9F9-ED11-4F41-A910-8E9EB08B4555}" type="presParOf" srcId="{E7F8DEE3-EA7A-4FC7-AC58-588E2DAFBE8B}" destId="{F49BA04C-2826-4F5F-AB7B-A425DB545230}" srcOrd="0" destOrd="0" presId="urn:microsoft.com/office/officeart/2005/8/layout/vList2"/>
    <dgm:cxn modelId="{DFFA6893-B4E9-4F26-909E-FE5780C2375E}" type="presParOf" srcId="{E7F8DEE3-EA7A-4FC7-AC58-588E2DAFBE8B}" destId="{5622A54D-275C-4F3D-A27A-99053D090E04}" srcOrd="1" destOrd="0" presId="urn:microsoft.com/office/officeart/2005/8/layout/vList2"/>
    <dgm:cxn modelId="{E8E298DE-190F-4E12-9767-75191F8B1107}" type="presParOf" srcId="{E7F8DEE3-EA7A-4FC7-AC58-588E2DAFBE8B}" destId="{8CCE7869-AFF6-4657-B590-0B02C3B7576D}" srcOrd="2" destOrd="0" presId="urn:microsoft.com/office/officeart/2005/8/layout/vList2"/>
    <dgm:cxn modelId="{E4E1D724-3309-45AA-893B-3E92495B5FD4}" type="presParOf" srcId="{E7F8DEE3-EA7A-4FC7-AC58-588E2DAFBE8B}" destId="{F3F70696-5FE3-45F5-A399-AAEB03624428}" srcOrd="3" destOrd="0" presId="urn:microsoft.com/office/officeart/2005/8/layout/vList2"/>
    <dgm:cxn modelId="{0E667C7A-FFE0-4A93-8841-CC65631B9841}" type="presParOf" srcId="{E7F8DEE3-EA7A-4FC7-AC58-588E2DAFBE8B}" destId="{B6311FEE-CBD8-4229-9B62-2B852EADFFF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9F83BC-2059-4BF1-881A-9321B2E44686}">
      <dsp:nvSpPr>
        <dsp:cNvPr id="0" name=""/>
        <dsp:cNvSpPr/>
      </dsp:nvSpPr>
      <dsp:spPr>
        <a:xfrm>
          <a:off x="6363" y="49811"/>
          <a:ext cx="1458500" cy="14585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F41B4B-28A1-4325-9DEA-81DF51DA0624}">
      <dsp:nvSpPr>
        <dsp:cNvPr id="0" name=""/>
        <dsp:cNvSpPr/>
      </dsp:nvSpPr>
      <dsp:spPr>
        <a:xfrm>
          <a:off x="312648" y="356096"/>
          <a:ext cx="845930" cy="8459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8658CD-A09E-444C-B1B7-7DDDF7EB302C}">
      <dsp:nvSpPr>
        <dsp:cNvPr id="0" name=""/>
        <dsp:cNvSpPr/>
      </dsp:nvSpPr>
      <dsp:spPr>
        <a:xfrm>
          <a:off x="1777400" y="49811"/>
          <a:ext cx="3437893" cy="1458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300" kern="1200"/>
            <a:t>Optimized performance and cost-efficiency through automatic scaling.</a:t>
          </a:r>
          <a:endParaRPr lang="en-US" sz="2300" kern="1200"/>
        </a:p>
      </dsp:txBody>
      <dsp:txXfrm>
        <a:off x="1777400" y="49811"/>
        <a:ext cx="3437893" cy="1458500"/>
      </dsp:txXfrm>
    </dsp:sp>
    <dsp:sp modelId="{CBD324E3-2060-4416-8D0A-9DB17302ACA7}">
      <dsp:nvSpPr>
        <dsp:cNvPr id="0" name=""/>
        <dsp:cNvSpPr/>
      </dsp:nvSpPr>
      <dsp:spPr>
        <a:xfrm>
          <a:off x="5814320" y="49811"/>
          <a:ext cx="1458500" cy="14585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F91175-B97C-4C1A-9FDC-894EDFD85D64}">
      <dsp:nvSpPr>
        <dsp:cNvPr id="0" name=""/>
        <dsp:cNvSpPr/>
      </dsp:nvSpPr>
      <dsp:spPr>
        <a:xfrm>
          <a:off x="6120606" y="356096"/>
          <a:ext cx="845930" cy="8459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8E57E0-76FC-487A-B816-4CED4F54500C}">
      <dsp:nvSpPr>
        <dsp:cNvPr id="0" name=""/>
        <dsp:cNvSpPr/>
      </dsp:nvSpPr>
      <dsp:spPr>
        <a:xfrm>
          <a:off x="7585357" y="49811"/>
          <a:ext cx="3437893" cy="1458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300" kern="1200"/>
            <a:t>Reduced downtime due to the dynamic adjustment of resources.</a:t>
          </a:r>
          <a:endParaRPr lang="en-US" sz="2300" kern="1200"/>
        </a:p>
      </dsp:txBody>
      <dsp:txXfrm>
        <a:off x="7585357" y="49811"/>
        <a:ext cx="3437893" cy="1458500"/>
      </dsp:txXfrm>
    </dsp:sp>
    <dsp:sp modelId="{6DDD2711-0BB1-40D3-92AA-7C350B9B8A72}">
      <dsp:nvSpPr>
        <dsp:cNvPr id="0" name=""/>
        <dsp:cNvSpPr/>
      </dsp:nvSpPr>
      <dsp:spPr>
        <a:xfrm>
          <a:off x="6363" y="2126174"/>
          <a:ext cx="1458500" cy="14585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CE3C32-BACD-4FD4-8880-A9E5796C3EDB}">
      <dsp:nvSpPr>
        <dsp:cNvPr id="0" name=""/>
        <dsp:cNvSpPr/>
      </dsp:nvSpPr>
      <dsp:spPr>
        <a:xfrm>
          <a:off x="312648" y="2432459"/>
          <a:ext cx="845930" cy="8459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4A6E3C-C350-480E-8A1F-E388EF8A3A75}">
      <dsp:nvSpPr>
        <dsp:cNvPr id="0" name=""/>
        <dsp:cNvSpPr/>
      </dsp:nvSpPr>
      <dsp:spPr>
        <a:xfrm>
          <a:off x="1777400" y="2126174"/>
          <a:ext cx="3437893" cy="1458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300" kern="1200"/>
            <a:t>Flexibility to handle unpredictable workload patterns.</a:t>
          </a:r>
          <a:endParaRPr lang="en-US" sz="2300" kern="1200"/>
        </a:p>
      </dsp:txBody>
      <dsp:txXfrm>
        <a:off x="1777400" y="2126174"/>
        <a:ext cx="3437893" cy="1458500"/>
      </dsp:txXfrm>
    </dsp:sp>
    <dsp:sp modelId="{F8D30DE0-AA76-4383-8915-035549B6F5E8}">
      <dsp:nvSpPr>
        <dsp:cNvPr id="0" name=""/>
        <dsp:cNvSpPr/>
      </dsp:nvSpPr>
      <dsp:spPr>
        <a:xfrm>
          <a:off x="5814320" y="2126174"/>
          <a:ext cx="1458500" cy="14585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10B210-B258-4186-B6F3-5B187EEA0075}">
      <dsp:nvSpPr>
        <dsp:cNvPr id="0" name=""/>
        <dsp:cNvSpPr/>
      </dsp:nvSpPr>
      <dsp:spPr>
        <a:xfrm>
          <a:off x="6120606" y="2432459"/>
          <a:ext cx="845930" cy="8459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F193A6-9B99-44CF-ABF4-31C6E8A95034}">
      <dsp:nvSpPr>
        <dsp:cNvPr id="0" name=""/>
        <dsp:cNvSpPr/>
      </dsp:nvSpPr>
      <dsp:spPr>
        <a:xfrm>
          <a:off x="7585357" y="2126174"/>
          <a:ext cx="3437893" cy="1458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300" kern="1200"/>
            <a:t>Infinite scalability illusion created by dynamic resource pools.</a:t>
          </a:r>
          <a:endParaRPr lang="en-US" sz="2300" kern="1200"/>
        </a:p>
      </dsp:txBody>
      <dsp:txXfrm>
        <a:off x="7585357" y="2126174"/>
        <a:ext cx="3437893" cy="14585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9BA04C-2826-4F5F-AB7B-A425DB545230}">
      <dsp:nvSpPr>
        <dsp:cNvPr id="0" name=""/>
        <dsp:cNvSpPr/>
      </dsp:nvSpPr>
      <dsp:spPr>
        <a:xfrm>
          <a:off x="0" y="478065"/>
          <a:ext cx="7012370" cy="11934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3000" kern="1200" dirty="0"/>
            <a:t>Performance: User experience in terms of response time.</a:t>
          </a:r>
          <a:endParaRPr lang="en-US" sz="3000" kern="1200" dirty="0"/>
        </a:p>
      </dsp:txBody>
      <dsp:txXfrm>
        <a:off x="58257" y="536322"/>
        <a:ext cx="6895856" cy="1076886"/>
      </dsp:txXfrm>
    </dsp:sp>
    <dsp:sp modelId="{8CCE7869-AFF6-4657-B590-0B02C3B7576D}">
      <dsp:nvSpPr>
        <dsp:cNvPr id="0" name=""/>
        <dsp:cNvSpPr/>
      </dsp:nvSpPr>
      <dsp:spPr>
        <a:xfrm>
          <a:off x="0" y="1757865"/>
          <a:ext cx="7012370" cy="1193400"/>
        </a:xfrm>
        <a:prstGeom prst="roundRect">
          <a:avLst/>
        </a:prstGeom>
        <a:gradFill rotWithShape="0">
          <a:gsLst>
            <a:gs pos="0">
              <a:schemeClr val="accent2">
                <a:hueOff val="-745210"/>
                <a:satOff val="-4879"/>
                <a:lumOff val="-1078"/>
                <a:alphaOff val="0"/>
                <a:tint val="98000"/>
                <a:lumMod val="110000"/>
              </a:schemeClr>
            </a:gs>
            <a:gs pos="84000">
              <a:schemeClr val="accent2">
                <a:hueOff val="-745210"/>
                <a:satOff val="-4879"/>
                <a:lumOff val="-1078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3000" kern="1200" dirty="0"/>
            <a:t>Scalability: Ability to maintain performance as user load increases.</a:t>
          </a:r>
          <a:endParaRPr lang="en-US" sz="3000" kern="1200" dirty="0"/>
        </a:p>
      </dsp:txBody>
      <dsp:txXfrm>
        <a:off x="58257" y="1816122"/>
        <a:ext cx="6895856" cy="1076886"/>
      </dsp:txXfrm>
    </dsp:sp>
    <dsp:sp modelId="{B6311FEE-CBD8-4229-9B62-2B852EADFFF9}">
      <dsp:nvSpPr>
        <dsp:cNvPr id="0" name=""/>
        <dsp:cNvSpPr/>
      </dsp:nvSpPr>
      <dsp:spPr>
        <a:xfrm>
          <a:off x="0" y="3037665"/>
          <a:ext cx="7012370" cy="1193400"/>
        </a:xfrm>
        <a:prstGeom prst="roundRect">
          <a:avLst/>
        </a:prstGeom>
        <a:gradFill rotWithShape="0">
          <a:gsLst>
            <a:gs pos="0">
              <a:schemeClr val="accent2">
                <a:hueOff val="-1490421"/>
                <a:satOff val="-9757"/>
                <a:lumOff val="-2156"/>
                <a:alphaOff val="0"/>
                <a:tint val="98000"/>
                <a:lumMod val="110000"/>
              </a:schemeClr>
            </a:gs>
            <a:gs pos="84000">
              <a:schemeClr val="accent2">
                <a:hueOff val="-1490421"/>
                <a:satOff val="-9757"/>
                <a:lumOff val="-2156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3000" kern="1200"/>
            <a:t>Key Insight: An application can be scalable but not necessarily performant.</a:t>
          </a:r>
          <a:endParaRPr lang="en-US" sz="3000" kern="1200"/>
        </a:p>
      </dsp:txBody>
      <dsp:txXfrm>
        <a:off x="58257" y="3095922"/>
        <a:ext cx="6895856" cy="10768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F5BD8-AB19-415A-A6E8-2C02BC4B51DD}" type="datetimeFigureOut">
              <a:rPr lang="en-PK" smtClean="0"/>
              <a:t>18/08/2025</a:t>
            </a:fld>
            <a:endParaRPr lang="en-PK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86FAB4-9C4C-4B5F-AFD2-1EBD9F3DC86B}" type="slidenum">
              <a:rPr lang="en-PK" smtClean="0"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18734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F3511-33AF-40AE-82D0-F33732B7D147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2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047BF-ED07-45D6-BE38-A9AEB24EAF9B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439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6B55-DA85-497A-A47D-E5AD3FB1E09B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699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1DA88-1C6C-455D-BD3E-4309786BA0F9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069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C1C80-0345-43F3-9621-4C7DC2C05A5A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101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572C0-8626-407D-A7C9-4D25B4156BA5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692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C96B-941D-41C4-B3C5-9C8283BBCCD3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572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611126C9-D3D6-4A6D-BD80-931F70242AF5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803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DA07-CC06-426F-A7E9-CF6138A41C37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CS4037 - Muhammad Sudais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022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4AF1F-39F2-4B31-8139-B1BB4A980734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82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1853-5107-4B00-83AD-32E4F7B18F30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265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A8E0D95-E414-403E-B8FF-E99C0A1E76A0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CS4037 - Muhammad Sudais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14166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7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Cloud shaped hard drive with cables">
            <a:extLst>
              <a:ext uri="{FF2B5EF4-FFF2-40B4-BE49-F238E27FC236}">
                <a16:creationId xmlns:a16="http://schemas.microsoft.com/office/drawing/2014/main" id="{E06FCEF4-3A55-C0E4-2BE9-193E2A25E0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6"/>
          <a:stretch/>
        </p:blipFill>
        <p:spPr>
          <a:xfrm>
            <a:off x="20" y="12170"/>
            <a:ext cx="12191977" cy="68580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8AA8E5-D86F-57AD-77C7-B603600C1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16" y="301560"/>
            <a:ext cx="7301603" cy="3569242"/>
          </a:xfrm>
        </p:spPr>
        <p:txBody>
          <a:bodyPr vert="horz" lIns="91440" tIns="45720" rIns="91440" bIns="45720" rtlCol="0" anchor="t">
            <a:normAutofit/>
          </a:bodyPr>
          <a:lstStyle/>
          <a:p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dirty="0">
                <a:solidFill>
                  <a:schemeClr val="tx1"/>
                </a:solidFill>
              </a:rPr>
              <a:t>CHAPTER 9</a:t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4400" b="1" dirty="0">
                <a:solidFill>
                  <a:schemeClr val="tx1"/>
                </a:solidFill>
              </a:rPr>
              <a:t>Scaling in the Cloud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23D3D-099D-40B4-2DFB-4B808DE51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9601" y="4942982"/>
            <a:ext cx="3622399" cy="16634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3600" cap="all" dirty="0">
                <a:solidFill>
                  <a:schemeClr val="tx1"/>
                </a:solidFill>
              </a:rPr>
              <a:t>|</a:t>
            </a:r>
            <a:r>
              <a:rPr lang="en-US" sz="2400" cap="all" dirty="0">
                <a:solidFill>
                  <a:schemeClr val="tx1"/>
                </a:solidFill>
              </a:rPr>
              <a:t>Cloud Computing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B745E2-B198-1C04-3E74-A82C49351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813" y="6423913"/>
            <a:ext cx="2304288" cy="36512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457200">
              <a:spcAft>
                <a:spcPts val="600"/>
              </a:spcAft>
            </a:pPr>
            <a:r>
              <a:rPr lang="en-US" sz="1000" kern="1200" cap="all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505298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5548-E5E1-54D6-FA68-CBB6ECF9E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K" sz="4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Scaling in the Cloud</a:t>
            </a:r>
            <a:br>
              <a:rPr lang="en-PK" sz="4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94E41-AEFC-77DB-4C33-FB6385891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612490"/>
            <a:ext cx="11029615" cy="4362860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is Scaling?</a:t>
            </a:r>
            <a:endParaRPr lang="en-US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Resource virtualization enables dynamic resource provisioning.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Dynamic provisioning allows scalability of systems and applications.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Systems must efficiently manage resources to balance performance and cost.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Scaling is the ability of a system or function to grow or shrink as required.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Importance: Handles varying workloads without impacting performance or cost.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scalable system can handle workload increases without performance degradation.</a:t>
            </a:r>
          </a:p>
          <a:p>
            <a:pPr marL="0" indent="0">
              <a:buNone/>
            </a:pP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466157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0218-2510-715E-65CD-F80281C1E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K" sz="4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Scalability Metrics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C727F-5CE3-7108-7AF7-1B63661B3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Maximum workload a system can handle is its scalability limit.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Scalability is constrained by system architecture and hardware resources (CPU, memory, disk I/O).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system's scalability is its ability to maintain performance under increasing demand.</a:t>
            </a:r>
          </a:p>
        </p:txBody>
      </p:sp>
    </p:spTree>
    <p:extLst>
      <p:ext uri="{BB962C8B-B14F-4D97-AF65-F5344CB8AC3E}">
        <p14:creationId xmlns:p14="http://schemas.microsoft.com/office/powerpoint/2010/main" val="29959760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2607B-44BF-4F85-2A96-6223DBBA2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K" sz="4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Traditional Computing Scaling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53B6C-CC7A-F15A-9980-4CBFF01E6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Resource capacity was enhanced manually and remained static even if underutilized.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Resource wastage occurred due to the lack of dynamic infrastructure.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Static scaling often required system restarts, making it inefficient.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Capacity was planned for peak demand, leading to resource wastage.</a:t>
            </a:r>
          </a:p>
          <a:p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1731833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F7A40-B84B-76DB-4518-B3B708A3F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K" sz="4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Cloud Computing Scaling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1EB55-5E98-FEAD-CBE5-1266921FE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Dynamic and automatic scaling is possible in the cloud.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Cloud systems adjust capacity without system restarts.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Cloud gives the impression of infinite scalability with virtualized resources.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Reversible Scaling in the Cloud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Dynamic provisioning enables resources to be added or removed on the fly.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Both upward and downward scaling are essential for cost-efficiency.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Downward scaling is more challenging but critical for maintaining performance.</a:t>
            </a:r>
          </a:p>
          <a:p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29062527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F7A40-B84B-76DB-4518-B3B708A3F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PK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Foundation of Cloud Scaling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1EB55-5E98-FEAD-CBE5-1266921F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340864"/>
            <a:ext cx="7024758" cy="3634486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en-PK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Cloud scaling relies on three main pillars:</a:t>
            </a:r>
          </a:p>
          <a:p>
            <a:pPr lvl="1"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Resource virtualization: Simplifies management.</a:t>
            </a:r>
          </a:p>
          <a:p>
            <a:pPr lvl="1"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Resource sharing: Enables optimal utilization.</a:t>
            </a:r>
          </a:p>
          <a:p>
            <a:pPr lvl="1"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Dynamic provisioning: Ensures on-demand scalability.</a:t>
            </a:r>
          </a:p>
          <a:p>
            <a:pPr>
              <a:spcAft>
                <a:spcPts val="800"/>
              </a:spcAft>
            </a:pPr>
            <a:r>
              <a:rPr lang="en-PK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Together, these create a flexible, scalable cloud system.</a:t>
            </a:r>
          </a:p>
          <a:p>
            <a:endParaRPr lang="en-PK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A13C5E-01FF-617E-6348-819B6DDF67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41" r="13261" b="-1"/>
          <a:stretch/>
        </p:blipFill>
        <p:spPr>
          <a:xfrm>
            <a:off x="8051799" y="2340864"/>
            <a:ext cx="3683001" cy="363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288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F7A40-B84B-76DB-4518-B3B708A3F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K" sz="4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Scalable Application Architecture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1EB55-5E98-FEAD-CBE5-1266921FE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Applications must be designed for scalability.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Scalable system architecture alone is not enough.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Scalable applications use efficient algorithms, data structures, and database systems.</a:t>
            </a:r>
          </a:p>
          <a:p>
            <a:pPr marL="0" indent="0">
              <a:buNone/>
            </a:pP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20249412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F7A40-B84B-76DB-4518-B3B708A3F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K" sz="4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Scaling Strategies in Cloud</a:t>
            </a:r>
            <a:br>
              <a:rPr lang="en-PK" sz="4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1EB55-5E98-FEAD-CBE5-1266921FE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Dynamic scaling happens either manually or automatically.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Auto-scaling is the core feature of cloud scaling, adjusting capacity based on demand.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Two types of auto-scaling: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Proactive scaling: Scheduled, based on expected demand.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Reactive scaling: Adjusts in real-time based on resource utilization</a:t>
            </a:r>
            <a:r>
              <a:rPr lang="en-US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PK" sz="2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5192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F7A40-B84B-76DB-4518-B3B708A3F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K" sz="4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Proactive Scaling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1EB55-5E98-FEAD-CBE5-1266921FE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Anticipates resource demand in advance based on pre-defined schedules.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Two subtypes: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Proactive cyclic scaling: Scales based on regular intervals.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Proactive event-based scaling: Scales during known business events like campaigns.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Ensures resources are provisioned in anticipation of demand spikes.</a:t>
            </a:r>
          </a:p>
          <a:p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42325001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F7A40-B84B-76DB-4518-B3B708A3F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K" sz="4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Reactive Scaling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1EB55-5E98-FEAD-CBE5-1266921FE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Adjusts capacity based on actual resource utilization in real-time.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Adds or removes resources automatically when certain thresholds are met (e.g., CPU or memory usage).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More efficient for handling unpredictable or sudden workload spikes.</a:t>
            </a:r>
          </a:p>
          <a:p>
            <a:pPr marL="0" indent="0">
              <a:buNone/>
            </a:pP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705933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F7A40-B84B-76DB-4518-B3B708A3F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K" sz="4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Benefits of Cloud Scaling</a:t>
            </a:r>
            <a:endParaRPr lang="en-PK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FAEA420-9156-6C1E-EE73-282E41FB5DE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1192" y="2340864"/>
          <a:ext cx="11029615" cy="36344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2124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4" name="Rectangle 5133">
            <a:extLst>
              <a:ext uri="{FF2B5EF4-FFF2-40B4-BE49-F238E27FC236}">
                <a16:creationId xmlns:a16="http://schemas.microsoft.com/office/drawing/2014/main" id="{F875149D-F692-45DA-8324-D5E0193D5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6" name="Rectangle 5135">
            <a:extLst>
              <a:ext uri="{FF2B5EF4-FFF2-40B4-BE49-F238E27FC236}">
                <a16:creationId xmlns:a16="http://schemas.microsoft.com/office/drawing/2014/main" id="{C0B19935-C760-4698-9DD1-973C8A428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5137" name="Rectangle 5136">
            <a:extLst>
              <a:ext uri="{FF2B5EF4-FFF2-40B4-BE49-F238E27FC236}">
                <a16:creationId xmlns:a16="http://schemas.microsoft.com/office/drawing/2014/main" id="{08990612-E008-4F02-AEBB-B140BE753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5133" name="Rectangle 5132">
            <a:extLst>
              <a:ext uri="{FF2B5EF4-FFF2-40B4-BE49-F238E27FC236}">
                <a16:creationId xmlns:a16="http://schemas.microsoft.com/office/drawing/2014/main" id="{A310A41F-3A14-4150-B6CF-0A577DDDE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5135" name="Rectangle 5134">
            <a:extLst>
              <a:ext uri="{FF2B5EF4-FFF2-40B4-BE49-F238E27FC236}">
                <a16:creationId xmlns:a16="http://schemas.microsoft.com/office/drawing/2014/main" id="{7B89EEFD-93BC-4ACF-962C-E6279E72B0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436" y="723899"/>
            <a:ext cx="3703320" cy="566666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FF7A40-B84B-76DB-4518-B3B708A3F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189" y="1209184"/>
            <a:ext cx="3089189" cy="4734416"/>
          </a:xfrm>
        </p:spPr>
        <p:txBody>
          <a:bodyPr anchor="ctr">
            <a:normAutofit/>
          </a:bodyPr>
          <a:lstStyle/>
          <a:p>
            <a:r>
              <a:rPr lang="en-PK" kern="100">
                <a:solidFill>
                  <a:srgbClr val="FFFFFF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Challenges in Cloud Scaling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1EB55-5E98-FEAD-CBE5-1266921F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1870" y="723900"/>
            <a:ext cx="7183597" cy="3152362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en-PK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Scaling down is more challenging than scaling up.</a:t>
            </a:r>
          </a:p>
          <a:p>
            <a:pPr>
              <a:spcAft>
                <a:spcPts val="800"/>
              </a:spcAft>
            </a:pPr>
            <a:r>
              <a:rPr lang="en-PK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Performance must be maintained when releasing resources.</a:t>
            </a:r>
          </a:p>
          <a:p>
            <a:pPr>
              <a:spcAft>
                <a:spcPts val="800"/>
              </a:spcAft>
            </a:pPr>
            <a:r>
              <a:rPr lang="en-PK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Overprovisioning due to inaccurate scaling predictions.</a:t>
            </a:r>
          </a:p>
          <a:p>
            <a:pPr marL="0" indent="0">
              <a:buNone/>
            </a:pPr>
            <a:endParaRPr lang="en-PK" dirty="0"/>
          </a:p>
        </p:txBody>
      </p:sp>
      <p:pic>
        <p:nvPicPr>
          <p:cNvPr id="5122" name="Picture 2" descr="The cases of over-provisioning, under-provisioning and delay caused by... |  Download Scientific Diagram">
            <a:extLst>
              <a:ext uri="{FF2B5EF4-FFF2-40B4-BE49-F238E27FC236}">
                <a16:creationId xmlns:a16="http://schemas.microsoft.com/office/drawing/2014/main" id="{B3F846E2-E861-1900-8D1D-A5FEAB839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61870" y="4183144"/>
            <a:ext cx="7183597" cy="212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78432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3" name="Rectangle 4112">
            <a:extLst>
              <a:ext uri="{FF2B5EF4-FFF2-40B4-BE49-F238E27FC236}">
                <a16:creationId xmlns:a16="http://schemas.microsoft.com/office/drawing/2014/main" id="{E9751CB9-7B25-4EB8-9A6F-82F822549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4" name="Rectangle 4113">
            <a:extLst>
              <a:ext uri="{FF2B5EF4-FFF2-40B4-BE49-F238E27FC236}">
                <a16:creationId xmlns:a16="http://schemas.microsoft.com/office/drawing/2014/main" id="{E1317383-CF3B-4B02-9512-BECBEF636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115" name="Rectangle 4114">
            <a:extLst>
              <a:ext uri="{FF2B5EF4-FFF2-40B4-BE49-F238E27FC236}">
                <a16:creationId xmlns:a16="http://schemas.microsoft.com/office/drawing/2014/main" id="{B1D4C7A0-6DF2-4F2D-A45D-F11158297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116" name="Rectangle 4115">
            <a:extLst>
              <a:ext uri="{FF2B5EF4-FFF2-40B4-BE49-F238E27FC236}">
                <a16:creationId xmlns:a16="http://schemas.microsoft.com/office/drawing/2014/main" id="{DBF3943D-BCB6-4B31-809D-A00568648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117" name="Rectangle 4116">
            <a:extLst>
              <a:ext uri="{FF2B5EF4-FFF2-40B4-BE49-F238E27FC236}">
                <a16:creationId xmlns:a16="http://schemas.microsoft.com/office/drawing/2014/main" id="{39373A6F-2E1F-4613-8E1D-D68057D29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01200"/>
            <a:ext cx="3707477" cy="562497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FF7A40-B84B-76DB-4518-B3B708A3F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5"/>
            <a:ext cx="3409783" cy="1300365"/>
          </a:xfrm>
        </p:spPr>
        <p:txBody>
          <a:bodyPr>
            <a:normAutofit/>
          </a:bodyPr>
          <a:lstStyle/>
          <a:p>
            <a:r>
              <a:rPr lang="en-US" kern="100">
                <a:solidFill>
                  <a:srgbClr val="FFFFFF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Type of </a:t>
            </a:r>
            <a:r>
              <a:rPr lang="en-PK" kern="100">
                <a:solidFill>
                  <a:srgbClr val="FFFFFF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Scaling</a:t>
            </a:r>
            <a:br>
              <a:rPr lang="en-PK" kern="100">
                <a:solidFill>
                  <a:srgbClr val="FFFFFF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PK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1EB55-5E98-FEAD-CBE5-1266921F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5" y="2177142"/>
            <a:ext cx="3409782" cy="3823607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en-PK" kern="100">
                <a:solidFill>
                  <a:srgbClr val="FFFFFF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Vertical Scaling (Scaling Up)</a:t>
            </a:r>
          </a:p>
          <a:p>
            <a:pPr>
              <a:spcAft>
                <a:spcPts val="800"/>
              </a:spcAft>
            </a:pPr>
            <a:r>
              <a:rPr lang="en-PK" kern="100">
                <a:solidFill>
                  <a:srgbClr val="FFFFFF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Horizontal Scaling (Scaling Out)</a:t>
            </a:r>
          </a:p>
          <a:p>
            <a:endParaRPr lang="en-PK">
              <a:solidFill>
                <a:srgbClr val="FFFFFF"/>
              </a:solidFill>
            </a:endParaRPr>
          </a:p>
        </p:txBody>
      </p:sp>
      <p:pic>
        <p:nvPicPr>
          <p:cNvPr id="4098" name="Picture 2" descr="Scalability in Cloud Computing: Horizontal vs. Vertical Scaling">
            <a:extLst>
              <a:ext uri="{FF2B5EF4-FFF2-40B4-BE49-F238E27FC236}">
                <a16:creationId xmlns:a16="http://schemas.microsoft.com/office/drawing/2014/main" id="{3E595133-6AE0-135D-C25B-2F5AC0ED6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92231" y="1483684"/>
            <a:ext cx="6831503" cy="3873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04631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FF7A40-B84B-76DB-4518-B3B708A3F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PK" kern="100">
                <a:solidFill>
                  <a:srgbClr val="FFFEFF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Vertical Scaling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1EB55-5E98-FEAD-CBE5-1266921F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597643"/>
            <a:ext cx="6725899" cy="5871983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PK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Overview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Definition: Vertical scaling, or scaling up, involves enhancing the capacity of existing resources by upgrading components.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Replacing a dual-processor with a quad-processor to increase processing power.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PK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 Vertical Scaling Works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Upgrading hardware components (CPU, RAM) within a single node.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Increasing resource capacity without altering the system architecture.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PK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Advantages of Vertical Scaling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Simplicity: Easier to implement with less complexity in management.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Less Risk: Minimal disruption to existing architecture and services.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Familiar Environment: Utilizes existing system setup with upgraded components.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PK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Disadvantages of Vertical Scaling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Cost: High-performance hardware can be expensive and may not be affordable.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Upper Limit: Resources have maximum capacities, leading to potential shortages.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Downtime Risk: Replacing hardware may cause service interruptions and downtime.</a:t>
            </a:r>
          </a:p>
        </p:txBody>
      </p:sp>
    </p:spTree>
    <p:extLst>
      <p:ext uri="{BB962C8B-B14F-4D97-AF65-F5344CB8AC3E}">
        <p14:creationId xmlns:p14="http://schemas.microsoft.com/office/powerpoint/2010/main" val="419937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FF7A40-B84B-76DB-4518-B3B708A3F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PK" kern="100">
                <a:solidFill>
                  <a:srgbClr val="FFFEFF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Horizontal Scaling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1EB55-5E98-FEAD-CBE5-1266921F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597643"/>
            <a:ext cx="6725899" cy="580315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PK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Overview</a:t>
            </a:r>
            <a:r>
              <a:rPr lang="en-US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PK" sz="1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Definition: Horizontal scaling, or scaling out, involves adding more resources to the system without replacing existing ones.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Adding additional dual-processor servers to increase total processing power.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PK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 Horizontal Scaling Works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Introducing additional nodes (servers) to distribute load.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Each new node operates alongside existing nodes, increasing overall capacity.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PK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Advantages of Horizontal Scaling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 Downtime: New nodes can be added without service interruption.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Cost-Effective: Utilizes commodity hardware, reducing overall expenses.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Unlimited Scalability: Additional resources can be added without dependency on individual component capabilities.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PK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Disadvantages of Horizontal Scaling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Complexity: Managing numerous distributed nodes can increase system complexity.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Design Challenges: Existing applications may need redesigning for a distributed architecture.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Synchronization: Requires effective load balancing and synchronization between nodes.</a:t>
            </a:r>
          </a:p>
          <a:p>
            <a:pPr>
              <a:lnSpc>
                <a:spcPct val="110000"/>
              </a:lnSpc>
            </a:pPr>
            <a:endParaRPr lang="en-PK" sz="1400" dirty="0"/>
          </a:p>
        </p:txBody>
      </p:sp>
    </p:spTree>
    <p:extLst>
      <p:ext uri="{BB962C8B-B14F-4D97-AF65-F5344CB8AC3E}">
        <p14:creationId xmlns:p14="http://schemas.microsoft.com/office/powerpoint/2010/main" val="3665224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BB53F82-F191-4EEB-AB7B-F69E634FA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FF7A40-B84B-76DB-4518-B3B708A3F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en-PK" sz="2800" dirty="0"/>
              <a:t>Scaling – ANALOGY &amp; TRADE-OFF</a:t>
            </a:r>
            <a:endParaRPr lang="en-US" sz="2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16AA08-3831-473D-B61B-89484A33C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31B918-3A1C-46BA-9430-CAD97D9DA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00935A-2F82-4DC4-A4E1-E12EFB8C2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D5D599-1CAE-4C92-B5AE-8E51AF6D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solidFill>
            <a:schemeClr val="bg1"/>
          </a:solidFill>
          <a:ln w="38100">
            <a:solidFill>
              <a:srgbClr val="4653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D345408-8AC0-BC27-0075-7E790C2BD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5805" y="2180496"/>
            <a:ext cx="5275001" cy="404568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285750" indent="-285750" defTabSz="45720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altLang="en-PK" sz="1500">
                <a:solidFill>
                  <a:schemeClr val="tx1">
                    <a:lumMod val="75000"/>
                    <a:lumOff val="25000"/>
                  </a:schemeClr>
                </a:solidFill>
              </a:rPr>
              <a:t>Road Infrastructure Analogy:</a:t>
            </a:r>
          </a:p>
          <a:p>
            <a:pPr marL="742950" lvl="1" indent="-285750" defTabSz="45720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altLang="en-PK" sz="1500">
                <a:solidFill>
                  <a:schemeClr val="tx1">
                    <a:lumMod val="75000"/>
                    <a:lumOff val="25000"/>
                  </a:schemeClr>
                </a:solidFill>
              </a:rPr>
              <a:t>Vertical Scaling: Upgrading road quality (e.g., better materials) for higher speed (like upgrading hardware).</a:t>
            </a:r>
          </a:p>
          <a:p>
            <a:pPr marL="742950" lvl="1" indent="-285750" defTabSz="45720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altLang="en-PK" sz="1500">
                <a:solidFill>
                  <a:schemeClr val="tx1">
                    <a:lumMod val="75000"/>
                    <a:lumOff val="25000"/>
                  </a:schemeClr>
                </a:solidFill>
              </a:rPr>
              <a:t>Horizontal Scaling: Widening roads to accommodate more lanes (adding more servers).</a:t>
            </a:r>
          </a:p>
          <a:p>
            <a:pPr marL="285750" indent="-285750" defTabSz="45720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altLang="en-PK" sz="1500">
                <a:solidFill>
                  <a:schemeClr val="tx1">
                    <a:lumMod val="75000"/>
                    <a:lumOff val="25000"/>
                  </a:schemeClr>
                </a:solidFill>
              </a:rPr>
              <a:t>Trade-offs: Decision depends on:</a:t>
            </a:r>
          </a:p>
          <a:p>
            <a:pPr marL="742950" lvl="1" indent="-285750" defTabSz="45720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altLang="en-PK" sz="1500">
                <a:solidFill>
                  <a:schemeClr val="tx1">
                    <a:lumMod val="75000"/>
                    <a:lumOff val="25000"/>
                  </a:schemeClr>
                </a:solidFill>
              </a:rPr>
              <a:t>Computational Requirements: System architecture and application design.</a:t>
            </a:r>
          </a:p>
          <a:p>
            <a:pPr marL="742950" lvl="1" indent="-285750" defTabSz="45720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altLang="en-PK" sz="1500">
                <a:solidFill>
                  <a:schemeClr val="tx1">
                    <a:lumMod val="75000"/>
                    <a:lumOff val="25000"/>
                  </a:schemeClr>
                </a:solidFill>
              </a:rPr>
              <a:t>Business Factors: Cost, availability, and performance needs.</a:t>
            </a:r>
          </a:p>
          <a:p>
            <a:pPr marL="742950" lvl="1" indent="-285750" defTabSz="45720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altLang="en-PK" sz="1500">
                <a:solidFill>
                  <a:schemeClr val="tx1">
                    <a:lumMod val="75000"/>
                    <a:lumOff val="25000"/>
                  </a:schemeClr>
                </a:solidFill>
              </a:rPr>
              <a:t>Flexibility: Both scaling types can be used together based on specific use cases.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3D9A214-2E18-42CD-45F4-A7A826867C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1101153"/>
              </p:ext>
            </p:extLst>
          </p:nvPr>
        </p:nvGraphicFramePr>
        <p:xfrm>
          <a:off x="780698" y="2953788"/>
          <a:ext cx="4748743" cy="24959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04146">
                  <a:extLst>
                    <a:ext uri="{9D8B030D-6E8A-4147-A177-3AD203B41FA5}">
                      <a16:colId xmlns:a16="http://schemas.microsoft.com/office/drawing/2014/main" val="211828409"/>
                    </a:ext>
                  </a:extLst>
                </a:gridCol>
                <a:gridCol w="1513425">
                  <a:extLst>
                    <a:ext uri="{9D8B030D-6E8A-4147-A177-3AD203B41FA5}">
                      <a16:colId xmlns:a16="http://schemas.microsoft.com/office/drawing/2014/main" val="2198838767"/>
                    </a:ext>
                  </a:extLst>
                </a:gridCol>
                <a:gridCol w="1831172">
                  <a:extLst>
                    <a:ext uri="{9D8B030D-6E8A-4147-A177-3AD203B41FA5}">
                      <a16:colId xmlns:a16="http://schemas.microsoft.com/office/drawing/2014/main" val="168302257"/>
                    </a:ext>
                  </a:extLst>
                </a:gridCol>
              </a:tblGrid>
              <a:tr h="24074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200" kern="100">
                          <a:effectLst/>
                        </a:rPr>
                        <a:t>Feature</a:t>
                      </a:r>
                      <a:endParaRPr lang="en-PK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87" marR="10087" marT="10087" marB="100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200" kern="100">
                          <a:effectLst/>
                        </a:rPr>
                        <a:t>Vertical Scaling</a:t>
                      </a:r>
                      <a:endParaRPr lang="en-PK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87" marR="10087" marT="10087" marB="100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200" kern="100">
                          <a:effectLst/>
                        </a:rPr>
                        <a:t>Horizontal Scaling</a:t>
                      </a:r>
                      <a:endParaRPr lang="en-PK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87" marR="10087" marT="10087" marB="10087" anchor="ctr"/>
                </a:tc>
                <a:extLst>
                  <a:ext uri="{0D108BD9-81ED-4DB2-BD59-A6C34878D82A}">
                    <a16:rowId xmlns:a16="http://schemas.microsoft.com/office/drawing/2014/main" val="1204815404"/>
                  </a:ext>
                </a:extLst>
              </a:tr>
              <a:tr h="24074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200" kern="100">
                          <a:effectLst/>
                        </a:rPr>
                        <a:t>Known As</a:t>
                      </a:r>
                      <a:endParaRPr lang="en-PK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87" marR="10087" marT="10087" marB="100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200" kern="100">
                          <a:effectLst/>
                        </a:rPr>
                        <a:t>Scaling Up</a:t>
                      </a:r>
                      <a:endParaRPr lang="en-PK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87" marR="10087" marT="10087" marB="100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200" kern="100">
                          <a:effectLst/>
                        </a:rPr>
                        <a:t>Scaling Out</a:t>
                      </a:r>
                      <a:endParaRPr lang="en-PK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87" marR="10087" marT="10087" marB="10087" anchor="ctr"/>
                </a:tc>
                <a:extLst>
                  <a:ext uri="{0D108BD9-81ED-4DB2-BD59-A6C34878D82A}">
                    <a16:rowId xmlns:a16="http://schemas.microsoft.com/office/drawing/2014/main" val="3744885749"/>
                  </a:ext>
                </a:extLst>
              </a:tr>
              <a:tr h="24074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200" kern="100">
                          <a:effectLst/>
                        </a:rPr>
                        <a:t>Method</a:t>
                      </a:r>
                      <a:endParaRPr lang="en-PK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87" marR="10087" marT="10087" marB="100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200" kern="100">
                          <a:effectLst/>
                        </a:rPr>
                        <a:t>Replace components</a:t>
                      </a:r>
                      <a:endParaRPr lang="en-PK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87" marR="10087" marT="10087" marB="100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200" kern="100">
                          <a:effectLst/>
                        </a:rPr>
                        <a:t>Add more components</a:t>
                      </a:r>
                      <a:endParaRPr lang="en-PK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87" marR="10087" marT="10087" marB="10087" anchor="ctr"/>
                </a:tc>
                <a:extLst>
                  <a:ext uri="{0D108BD9-81ED-4DB2-BD59-A6C34878D82A}">
                    <a16:rowId xmlns:a16="http://schemas.microsoft.com/office/drawing/2014/main" val="1125542292"/>
                  </a:ext>
                </a:extLst>
              </a:tr>
              <a:tr h="4307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200" kern="100">
                          <a:effectLst/>
                        </a:rPr>
                        <a:t>Implementation</a:t>
                      </a:r>
                      <a:endParaRPr lang="en-PK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87" marR="10087" marT="10087" marB="100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200" kern="100">
                          <a:effectLst/>
                        </a:rPr>
                        <a:t>Any computing environment</a:t>
                      </a:r>
                      <a:endParaRPr lang="en-PK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87" marR="10087" marT="10087" marB="100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200" kern="100">
                          <a:effectLst/>
                        </a:rPr>
                        <a:t>Distributed environments only</a:t>
                      </a:r>
                      <a:endParaRPr lang="en-PK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87" marR="10087" marT="10087" marB="10087" anchor="ctr"/>
                </a:tc>
                <a:extLst>
                  <a:ext uri="{0D108BD9-81ED-4DB2-BD59-A6C34878D82A}">
                    <a16:rowId xmlns:a16="http://schemas.microsoft.com/office/drawing/2014/main" val="946531266"/>
                  </a:ext>
                </a:extLst>
              </a:tr>
              <a:tr h="4307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200" kern="100">
                          <a:effectLst/>
                        </a:rPr>
                        <a:t>Complexity</a:t>
                      </a:r>
                      <a:endParaRPr lang="en-PK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87" marR="10087" marT="10087" marB="100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200" kern="100">
                          <a:effectLst/>
                        </a:rPr>
                        <a:t>Lower management complexity</a:t>
                      </a:r>
                      <a:endParaRPr lang="en-PK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87" marR="10087" marT="10087" marB="100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200" kern="100">
                          <a:effectLst/>
                        </a:rPr>
                        <a:t>Higher due to more nodes</a:t>
                      </a:r>
                      <a:endParaRPr lang="en-PK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87" marR="10087" marT="10087" marB="10087" anchor="ctr"/>
                </a:tc>
                <a:extLst>
                  <a:ext uri="{0D108BD9-81ED-4DB2-BD59-A6C34878D82A}">
                    <a16:rowId xmlns:a16="http://schemas.microsoft.com/office/drawing/2014/main" val="2121874115"/>
                  </a:ext>
                </a:extLst>
              </a:tr>
              <a:tr h="24074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200" kern="100">
                          <a:effectLst/>
                        </a:rPr>
                        <a:t>Service Interruption</a:t>
                      </a:r>
                      <a:endParaRPr lang="en-PK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87" marR="10087" marT="10087" marB="100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200" kern="100">
                          <a:effectLst/>
                        </a:rPr>
                        <a:t>May cause downtime</a:t>
                      </a:r>
                      <a:endParaRPr lang="en-PK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87" marR="10087" marT="10087" marB="100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200" kern="100">
                          <a:effectLst/>
                        </a:rPr>
                        <a:t>No downtime</a:t>
                      </a:r>
                      <a:endParaRPr lang="en-PK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87" marR="10087" marT="10087" marB="10087" anchor="ctr"/>
                </a:tc>
                <a:extLst>
                  <a:ext uri="{0D108BD9-81ED-4DB2-BD59-A6C34878D82A}">
                    <a16:rowId xmlns:a16="http://schemas.microsoft.com/office/drawing/2014/main" val="4052849114"/>
                  </a:ext>
                </a:extLst>
              </a:tr>
              <a:tr h="24074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200" kern="100">
                          <a:effectLst/>
                        </a:rPr>
                        <a:t>Hardware Type</a:t>
                      </a:r>
                      <a:endParaRPr lang="en-PK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87" marR="10087" marT="10087" marB="100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200" kern="100">
                          <a:effectLst/>
                        </a:rPr>
                        <a:t>High-end hardware</a:t>
                      </a:r>
                      <a:endParaRPr lang="en-PK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87" marR="10087" marT="10087" marB="100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200" kern="100">
                          <a:effectLst/>
                        </a:rPr>
                        <a:t>Commodity hardware</a:t>
                      </a:r>
                      <a:endParaRPr lang="en-PK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87" marR="10087" marT="10087" marB="10087" anchor="ctr"/>
                </a:tc>
                <a:extLst>
                  <a:ext uri="{0D108BD9-81ED-4DB2-BD59-A6C34878D82A}">
                    <a16:rowId xmlns:a16="http://schemas.microsoft.com/office/drawing/2014/main" val="324209917"/>
                  </a:ext>
                </a:extLst>
              </a:tr>
              <a:tr h="4307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200" kern="100">
                          <a:effectLst/>
                        </a:rPr>
                        <a:t>Cost</a:t>
                      </a:r>
                      <a:endParaRPr lang="en-PK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87" marR="10087" marT="10087" marB="100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200" kern="100">
                          <a:effectLst/>
                        </a:rPr>
                        <a:t>Can become very expensive</a:t>
                      </a:r>
                      <a:endParaRPr lang="en-PK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87" marR="10087" marT="10087" marB="100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200" kern="100">
                          <a:effectLst/>
                        </a:rPr>
                        <a:t>More economical and scalable</a:t>
                      </a:r>
                      <a:endParaRPr lang="en-PK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87" marR="10087" marT="10087" marB="10087" anchor="ctr"/>
                </a:tc>
                <a:extLst>
                  <a:ext uri="{0D108BD9-81ED-4DB2-BD59-A6C34878D82A}">
                    <a16:rowId xmlns:a16="http://schemas.microsoft.com/office/drawing/2014/main" val="2876946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4910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FF7A40-B84B-76DB-4518-B3B708A3F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PK" kern="100">
                <a:solidFill>
                  <a:srgbClr val="FFFEFF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Cloud-Native Scaling</a:t>
            </a:r>
            <a:r>
              <a:rPr lang="en-US" kern="100">
                <a:solidFill>
                  <a:srgbClr val="FFFEFF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- Horizontal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1EB55-5E98-FEAD-CBE5-1266921F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en-PK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Cloud Scalability Promise: Horizontal scaling supports infinite scalability without the constraints of vertical scaling.</a:t>
            </a:r>
          </a:p>
          <a:p>
            <a:pPr>
              <a:spcAft>
                <a:spcPts val="800"/>
              </a:spcAft>
            </a:pPr>
            <a:r>
              <a:rPr lang="en-PK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Auto-Scaling: Automatically adding/removing resources based on load is more aligned with horizontal scaling.</a:t>
            </a:r>
          </a:p>
          <a:p>
            <a:pPr marL="0" indent="0">
              <a:buNone/>
            </a:pP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1395483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C453BB-FA50-D49C-018D-F71B965B6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PK" kern="100">
                <a:solidFill>
                  <a:schemeClr val="bg1">
                    <a:lumMod val="85000"/>
                    <a:lumOff val="1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Performance vs. Scalability</a:t>
            </a:r>
            <a:br>
              <a:rPr lang="en-PK" kern="100">
                <a:solidFill>
                  <a:schemeClr val="bg1">
                    <a:lumMod val="85000"/>
                    <a:lumOff val="1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PK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C7EA7B-802E-41F4-8926-C4475287A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F0CDBBE-184C-0EDE-223D-5DC9476409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1443142"/>
              </p:ext>
            </p:extLst>
          </p:nvPr>
        </p:nvGraphicFramePr>
        <p:xfrm>
          <a:off x="4598438" y="1207783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55114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EA5BD5-5952-C914-4186-7C9635940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PK" kern="100">
                <a:solidFill>
                  <a:srgbClr val="FFFEFF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Resource Contention Problem</a:t>
            </a:r>
            <a:br>
              <a:rPr lang="en-PK" kern="100">
                <a:solidFill>
                  <a:srgbClr val="FFFEFF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806DF-8C11-7917-6778-D39781CD2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en-PK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Definition: Issues arise when multiple users compete for limited resources, causing bottlenecks.</a:t>
            </a:r>
          </a:p>
          <a:p>
            <a:pPr>
              <a:spcAft>
                <a:spcPts val="800"/>
              </a:spcAft>
            </a:pPr>
            <a:r>
              <a:rPr lang="en-PK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Stress Points: Identify areas where performance may degrade under load: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spcAft>
                <a:spcPts val="800"/>
              </a:spcAft>
            </a:pPr>
            <a:r>
              <a:rPr lang="en-PK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Network bandwidth</a:t>
            </a:r>
          </a:p>
          <a:p>
            <a:pPr lvl="1">
              <a:spcAft>
                <a:spcPts val="800"/>
              </a:spcAft>
            </a:pPr>
            <a:r>
              <a:rPr lang="en-PK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Application server speed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– Process and Memory Speed</a:t>
            </a:r>
            <a:endParaRPr lang="en-PK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spcAft>
                <a:spcPts val="800"/>
              </a:spcAft>
            </a:pPr>
            <a:r>
              <a:rPr lang="en-PK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Database I/O</a:t>
            </a:r>
          </a:p>
          <a:p>
            <a:pPr>
              <a:spcAft>
                <a:spcPts val="800"/>
              </a:spcAft>
            </a:pPr>
            <a:r>
              <a:rPr lang="en-PK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Solution: Addressing these bottlenecks through careful design and resource management.</a:t>
            </a:r>
          </a:p>
        </p:txBody>
      </p:sp>
    </p:spTree>
    <p:extLst>
      <p:ext uri="{BB962C8B-B14F-4D97-AF65-F5344CB8AC3E}">
        <p14:creationId xmlns:p14="http://schemas.microsoft.com/office/powerpoint/2010/main" val="2241363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504E87-017C-249C-1383-CE2608C48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PK" kern="100">
                <a:solidFill>
                  <a:srgbClr val="FFFEFF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Cloud Bursting and Flexible Scaling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52CCD03-206C-EDD5-6805-D198AED2B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Definition: Cloud bursting allows for temporary resource scaling into the cloud during peak demand.</a:t>
            </a:r>
          </a:p>
          <a:p>
            <a:pPr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 Scenario: An application that runs on-premises can utilize cloud resources during high traffic periods.</a:t>
            </a:r>
          </a:p>
          <a:p>
            <a:pPr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Benefits: Provides flexibility and can optimize costs during off-peak periods.</a:t>
            </a:r>
          </a:p>
        </p:txBody>
      </p:sp>
    </p:spTree>
    <p:extLst>
      <p:ext uri="{BB962C8B-B14F-4D97-AF65-F5344CB8AC3E}">
        <p14:creationId xmlns:p14="http://schemas.microsoft.com/office/powerpoint/2010/main" val="3026518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ividendVTI">
  <a:themeElements>
    <a:clrScheme name="AnalogousFromLightSeedLeftStep">
      <a:dk1>
        <a:srgbClr val="000000"/>
      </a:dk1>
      <a:lt1>
        <a:srgbClr val="FFFFFF"/>
      </a:lt1>
      <a:dk2>
        <a:srgbClr val="243941"/>
      </a:dk2>
      <a:lt2>
        <a:srgbClr val="E8E6E2"/>
      </a:lt2>
      <a:accent1>
        <a:srgbClr val="94A3C5"/>
      </a:accent1>
      <a:accent2>
        <a:srgbClr val="7FAABA"/>
      </a:accent2>
      <a:accent3>
        <a:srgbClr val="82ACA6"/>
      </a:accent3>
      <a:accent4>
        <a:srgbClr val="77AE8F"/>
      </a:accent4>
      <a:accent5>
        <a:srgbClr val="81AD82"/>
      </a:accent5>
      <a:accent6>
        <a:srgbClr val="8AAB75"/>
      </a:accent6>
      <a:hlink>
        <a:srgbClr val="938159"/>
      </a:hlink>
      <a:folHlink>
        <a:srgbClr val="7F7F7F"/>
      </a:folHlink>
    </a:clrScheme>
    <a:fontScheme name="Dividend">
      <a:maj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2237</TotalTime>
  <Words>1161</Words>
  <Application>Microsoft Office PowerPoint</Application>
  <PresentationFormat>Widescreen</PresentationFormat>
  <Paragraphs>146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 Nova Light</vt:lpstr>
      <vt:lpstr>Wingdings 2</vt:lpstr>
      <vt:lpstr>DividendVTI</vt:lpstr>
      <vt:lpstr> CHAPTER 9 Scaling in the Cloud</vt:lpstr>
      <vt:lpstr>Scaling in the Cloud </vt:lpstr>
      <vt:lpstr>Scalability Metrics</vt:lpstr>
      <vt:lpstr>Traditional Computing Scaling</vt:lpstr>
      <vt:lpstr>Cloud Computing Scaling</vt:lpstr>
      <vt:lpstr>Foundation of Cloud Scaling</vt:lpstr>
      <vt:lpstr>Scalable Application Architecture</vt:lpstr>
      <vt:lpstr>Scaling Strategies in Cloud </vt:lpstr>
      <vt:lpstr>Proactive Scaling</vt:lpstr>
      <vt:lpstr>Reactive Scaling</vt:lpstr>
      <vt:lpstr>Benefits of Cloud Scaling</vt:lpstr>
      <vt:lpstr>Challenges in Cloud Scaling</vt:lpstr>
      <vt:lpstr>Type of Scaling </vt:lpstr>
      <vt:lpstr>Vertical Scaling</vt:lpstr>
      <vt:lpstr>Horizontal Scaling</vt:lpstr>
      <vt:lpstr>Scaling – ANALOGY &amp; TRADE-OFF</vt:lpstr>
      <vt:lpstr>Cloud-Native Scaling - Horizontal</vt:lpstr>
      <vt:lpstr>Performance vs. Scalability </vt:lpstr>
      <vt:lpstr>Resource Contention Problem </vt:lpstr>
      <vt:lpstr>Cloud Bursting and Flexible Scaling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Sudais MSM</dc:creator>
  <cp:lastModifiedBy>Muhammad Sudais</cp:lastModifiedBy>
  <cp:revision>25</cp:revision>
  <dcterms:created xsi:type="dcterms:W3CDTF">2024-08-20T00:20:53Z</dcterms:created>
  <dcterms:modified xsi:type="dcterms:W3CDTF">2025-08-18T14:37:36Z</dcterms:modified>
</cp:coreProperties>
</file>