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0" roundtripDataSignature="AMtx7mg+fjLTswp9+tUmStCY86Sz0Hx1R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customschemas.google.com/relationships/presentationmetadata" Target="metadata"/><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11" Type="http://schemas.openxmlformats.org/officeDocument/2006/relationships/slide" Target="slides/slide7.xml"/><Relationship Id="rId33" Type="http://schemas.openxmlformats.org/officeDocument/2006/relationships/slide" Target="slides/slide29.xml"/><Relationship Id="rId10" Type="http://schemas.openxmlformats.org/officeDocument/2006/relationships/slide" Target="slides/slide6.xml"/><Relationship Id="rId32" Type="http://schemas.openxmlformats.org/officeDocument/2006/relationships/slide" Target="slides/slide28.xml"/><Relationship Id="rId13" Type="http://schemas.openxmlformats.org/officeDocument/2006/relationships/slide" Target="slides/slide9.xml"/><Relationship Id="rId35" Type="http://schemas.openxmlformats.org/officeDocument/2006/relationships/slide" Target="slides/slide31.xml"/><Relationship Id="rId12" Type="http://schemas.openxmlformats.org/officeDocument/2006/relationships/slide" Target="slides/slide8.xml"/><Relationship Id="rId34" Type="http://schemas.openxmlformats.org/officeDocument/2006/relationships/slide" Target="slides/slide30.xml"/><Relationship Id="rId15" Type="http://schemas.openxmlformats.org/officeDocument/2006/relationships/slide" Target="slides/slide11.xml"/><Relationship Id="rId37" Type="http://schemas.openxmlformats.org/officeDocument/2006/relationships/slide" Target="slides/slide33.xml"/><Relationship Id="rId14" Type="http://schemas.openxmlformats.org/officeDocument/2006/relationships/slide" Target="slides/slide10.xml"/><Relationship Id="rId36" Type="http://schemas.openxmlformats.org/officeDocument/2006/relationships/slide" Target="slides/slide32.xml"/><Relationship Id="rId17" Type="http://schemas.openxmlformats.org/officeDocument/2006/relationships/slide" Target="slides/slide13.xml"/><Relationship Id="rId39" Type="http://schemas.openxmlformats.org/officeDocument/2006/relationships/slide" Target="slides/slide35.xml"/><Relationship Id="rId16" Type="http://schemas.openxmlformats.org/officeDocument/2006/relationships/slide" Target="slides/slide12.xml"/><Relationship Id="rId38" Type="http://schemas.openxmlformats.org/officeDocument/2006/relationships/slide" Target="slides/slide34.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3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3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37"/>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37"/>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3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3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3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3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3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3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3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3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39"/>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39"/>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6" name="Google Shape;26;p3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3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3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4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40"/>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40"/>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4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4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4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41"/>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41"/>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41"/>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41"/>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41"/>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4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4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4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4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4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4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4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4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4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4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4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44"/>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44"/>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4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4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4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4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45"/>
          <p:cNvSpPr/>
          <p:nvPr>
            <p:ph idx="2" type="pic"/>
          </p:nvPr>
        </p:nvSpPr>
        <p:spPr>
          <a:xfrm>
            <a:off x="5183188" y="987425"/>
            <a:ext cx="6172200" cy="4873625"/>
          </a:xfrm>
          <a:prstGeom prst="rect">
            <a:avLst/>
          </a:prstGeom>
          <a:noFill/>
          <a:ln>
            <a:noFill/>
          </a:ln>
        </p:spPr>
      </p:sp>
      <p:sp>
        <p:nvSpPr>
          <p:cNvPr id="64" name="Google Shape;64;p45"/>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4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4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4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4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46"/>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4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4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4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47"/>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47"/>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4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4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4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3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3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3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3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3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3.png"/><Relationship Id="rId4" Type="http://schemas.openxmlformats.org/officeDocument/2006/relationships/image" Target="../media/image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6000"/>
              <a:buFont typeface="Calibri"/>
              <a:buNone/>
            </a:pPr>
            <a:r>
              <a:rPr lang="en-US"/>
              <a:t>“Risk Management and Tools”</a:t>
            </a:r>
            <a:endParaRPr/>
          </a:p>
        </p:txBody>
      </p:sp>
      <p:sp>
        <p:nvSpPr>
          <p:cNvPr id="85" name="Google Shape;85;p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Risks</a:t>
            </a:r>
            <a:endParaRPr/>
          </a:p>
        </p:txBody>
      </p:sp>
      <p:sp>
        <p:nvSpPr>
          <p:cNvPr id="91" name="Google Shape;91;p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As a project manager, knowing what could go wrong during your project can help you set your team members up for success. For example, what if project stakeholders propose a new app and you don’t consider the time and resources it will take to create it? When the app heads to the development team, the project is at risk of falling apart before it starts.</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When you know the potential risks for each project, you can create reasonable project objectives and keep the team on track.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97" name="Google Shape;97;p3"/>
          <p:cNvPicPr preferRelativeResize="0"/>
          <p:nvPr>
            <p:ph idx="1" type="body"/>
          </p:nvPr>
        </p:nvPicPr>
        <p:blipFill rotWithShape="1">
          <a:blip r:embed="rId3">
            <a:alphaModFix/>
          </a:blip>
          <a:srcRect b="0" l="0" r="0" t="0"/>
          <a:stretch/>
        </p:blipFill>
        <p:spPr>
          <a:xfrm>
            <a:off x="0" y="0"/>
            <a:ext cx="12192635" cy="699071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Risks Maangement</a:t>
            </a:r>
            <a:endParaRPr/>
          </a:p>
        </p:txBody>
      </p:sp>
      <p:sp>
        <p:nvSpPr>
          <p:cNvPr id="103" name="Google Shape;103;p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Risk management involves identifying what risk categories are most likely to affect your project and making a plan to mitigate those risks.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p:txBody>
      </p:sp>
      <p:pic>
        <p:nvPicPr>
          <p:cNvPr id="104" name="Google Shape;104;p4"/>
          <p:cNvPicPr preferRelativeResize="0"/>
          <p:nvPr/>
        </p:nvPicPr>
        <p:blipFill rotWithShape="1">
          <a:blip r:embed="rId3">
            <a:alphaModFix/>
          </a:blip>
          <a:srcRect b="0" l="0" r="0" t="0"/>
          <a:stretch/>
        </p:blipFill>
        <p:spPr>
          <a:xfrm>
            <a:off x="3887470" y="2667635"/>
            <a:ext cx="4337685" cy="399605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5"/>
          <p:cNvSpPr txBox="1"/>
          <p:nvPr>
            <p:ph type="title"/>
          </p:nvPr>
        </p:nvSpPr>
        <p:spPr>
          <a:xfrm>
            <a:off x="838200" y="0"/>
            <a:ext cx="10515600" cy="1325563"/>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br>
              <a:rPr lang="en-US"/>
            </a:br>
            <a:br>
              <a:rPr lang="en-US"/>
            </a:br>
            <a:r>
              <a:rPr lang="en-US"/>
              <a:t>Risk identification</a:t>
            </a:r>
            <a:endParaRPr/>
          </a:p>
        </p:txBody>
      </p:sp>
      <p:sp>
        <p:nvSpPr>
          <p:cNvPr id="110" name="Google Shape;110;p5"/>
          <p:cNvSpPr txBox="1"/>
          <p:nvPr>
            <p:ph idx="1" type="body"/>
          </p:nvPr>
        </p:nvSpPr>
        <p:spPr>
          <a:xfrm>
            <a:off x="733425" y="1556385"/>
            <a:ext cx="10515600" cy="5301615"/>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400"/>
              <a:buChar char="•"/>
            </a:pPr>
            <a:r>
              <a:rPr lang="en-US" sz="2400"/>
              <a:t>The first step in the risk analysis process is identifying risks you think could affect your project. We mentioned the seven most common risk events above, but other project risks could include contractor failure, unexpected life events, data transfer issues, shifting priorities, legal risk, market risk, and project deferral. </a:t>
            </a:r>
            <a:endParaRPr sz="2400"/>
          </a:p>
          <a:p>
            <a:pPr indent="-228600" lvl="0" marL="228600" rtl="0" algn="l">
              <a:lnSpc>
                <a:spcPct val="90000"/>
              </a:lnSpc>
              <a:spcBef>
                <a:spcPts val="1000"/>
              </a:spcBef>
              <a:spcAft>
                <a:spcPts val="0"/>
              </a:spcAft>
              <a:buClr>
                <a:schemeClr val="dk1"/>
              </a:buClr>
              <a:buSzPts val="2400"/>
              <a:buChar char="•"/>
            </a:pPr>
            <a:r>
              <a:rPr lang="en-US" sz="2400"/>
              <a:t>Ask yourself these questions below to begin the risk identification process:</a:t>
            </a:r>
            <a:endParaRPr sz="2400"/>
          </a:p>
          <a:p>
            <a:pPr indent="-228600" lvl="0" marL="228600" rtl="0" algn="l">
              <a:lnSpc>
                <a:spcPct val="90000"/>
              </a:lnSpc>
              <a:spcBef>
                <a:spcPts val="1000"/>
              </a:spcBef>
              <a:spcAft>
                <a:spcPts val="0"/>
              </a:spcAft>
              <a:buClr>
                <a:schemeClr val="dk1"/>
              </a:buClr>
              <a:buSzPts val="2400"/>
              <a:buChar char="•"/>
            </a:pPr>
            <a:r>
              <a:rPr lang="en-US" sz="2400"/>
              <a:t>What is the likelihood of this risk event?</a:t>
            </a:r>
            <a:endParaRPr sz="2400"/>
          </a:p>
          <a:p>
            <a:pPr indent="-228600" lvl="0" marL="228600" rtl="0" algn="l">
              <a:lnSpc>
                <a:spcPct val="90000"/>
              </a:lnSpc>
              <a:spcBef>
                <a:spcPts val="1000"/>
              </a:spcBef>
              <a:spcAft>
                <a:spcPts val="0"/>
              </a:spcAft>
              <a:buClr>
                <a:schemeClr val="dk1"/>
              </a:buClr>
              <a:buSzPts val="2400"/>
              <a:buChar char="•"/>
            </a:pPr>
            <a:r>
              <a:rPr lang="en-US" sz="2400"/>
              <a:t>What are the impact and severity if the risk occurs?</a:t>
            </a:r>
            <a:endParaRPr sz="2400"/>
          </a:p>
          <a:p>
            <a:pPr indent="-228600" lvl="0" marL="228600" rtl="0" algn="l">
              <a:lnSpc>
                <a:spcPct val="90000"/>
              </a:lnSpc>
              <a:spcBef>
                <a:spcPts val="1000"/>
              </a:spcBef>
              <a:spcAft>
                <a:spcPts val="0"/>
              </a:spcAft>
              <a:buClr>
                <a:schemeClr val="dk1"/>
              </a:buClr>
              <a:buSzPts val="2400"/>
              <a:buChar char="•"/>
            </a:pPr>
            <a:r>
              <a:rPr lang="en-US" sz="2400"/>
              <a:t>What is our risk response plan?</a:t>
            </a:r>
            <a:endParaRPr sz="2400"/>
          </a:p>
          <a:p>
            <a:pPr indent="-228600" lvl="0" marL="228600" rtl="0" algn="l">
              <a:lnSpc>
                <a:spcPct val="90000"/>
              </a:lnSpc>
              <a:spcBef>
                <a:spcPts val="1000"/>
              </a:spcBef>
              <a:spcAft>
                <a:spcPts val="0"/>
              </a:spcAft>
              <a:buClr>
                <a:schemeClr val="dk1"/>
              </a:buClr>
              <a:buSzPts val="2400"/>
              <a:buChar char="•"/>
            </a:pPr>
            <a:r>
              <a:rPr lang="en-US" sz="2400"/>
              <a:t>Given the likelihood and impact, what is the priority level?</a:t>
            </a:r>
            <a:endParaRPr sz="2400"/>
          </a:p>
          <a:p>
            <a:pPr indent="-228600" lvl="0" marL="228600" rtl="0" algn="l">
              <a:lnSpc>
                <a:spcPct val="90000"/>
              </a:lnSpc>
              <a:spcBef>
                <a:spcPts val="1000"/>
              </a:spcBef>
              <a:spcAft>
                <a:spcPts val="0"/>
              </a:spcAft>
              <a:buClr>
                <a:schemeClr val="dk1"/>
              </a:buClr>
              <a:buSzPts val="2400"/>
              <a:buChar char="•"/>
            </a:pPr>
            <a:r>
              <a:rPr lang="en-US" sz="2400"/>
              <a:t>Who owns this risk?</a:t>
            </a:r>
            <a:endParaRPr sz="2400"/>
          </a:p>
          <a:p>
            <a:pPr indent="-228600" lvl="0" marL="228600" rtl="0" algn="l">
              <a:lnSpc>
                <a:spcPct val="90000"/>
              </a:lnSpc>
              <a:spcBef>
                <a:spcPts val="1000"/>
              </a:spcBef>
              <a:spcAft>
                <a:spcPts val="0"/>
              </a:spcAft>
              <a:buClr>
                <a:schemeClr val="dk1"/>
              </a:buClr>
              <a:buSzPts val="2400"/>
              <a:buChar char="•"/>
            </a:pPr>
            <a:r>
              <a:rPr lang="en-US" sz="2400"/>
              <a:t>Once you have an answer to these questions, you’ll continue the risk management process through prioritization of risks, actionable solutions, and regular monitoring. </a:t>
            </a:r>
            <a:endParaRPr sz="24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Determine the likelihood and impact</a:t>
            </a:r>
            <a:endParaRPr/>
          </a:p>
        </p:txBody>
      </p:sp>
      <p:sp>
        <p:nvSpPr>
          <p:cNvPr id="116" name="Google Shape;116;p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You can sort through your list of risks by determining which ones are most likely to occur. Placing the risks in order of likelihood will give you a better idea of which risks to prioritize as you prepare a plan of action. </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Not only is the likelihood of occurrence important when prioritizing risks, but assessing the business impact of each risk matters as well. You should plan more carefully for the risks that have the potential to cause significant business impact.</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Find solutions for each risk</a:t>
            </a:r>
            <a:endParaRPr/>
          </a:p>
        </p:txBody>
      </p:sp>
      <p:sp>
        <p:nvSpPr>
          <p:cNvPr id="122" name="Google Shape;122;p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Creating a game plan on how your team will deal with each risk is the goal when conducting risk assessments. Sorting risks based on likelihood and business impact will give you a starting point for finding solutions. Conducting a risk assessment will make your projects more successful because you can prevent risk along the way.</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 You can meet with relevant project stakeholders to proactively identify reasonable solutions for project risks that might be top of mind for them</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Monitor your risk assessment regularly</a:t>
            </a:r>
            <a:endParaRPr/>
          </a:p>
        </p:txBody>
      </p:sp>
      <p:sp>
        <p:nvSpPr>
          <p:cNvPr id="128" name="Google Shape;128;p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Once you’ve developed your risk assessment, it’s important to monitor it regularly because circumstances can change. The likelihood of risk can shift and so can the business impact. </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It’s also possible that new risks can come into play or risks that were once possible may become less likely. Monitoring your risk assessment regularly can make you feel the most prepared for uncertain events.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Project risk management tools</a:t>
            </a:r>
            <a:endParaRPr/>
          </a:p>
        </p:txBody>
      </p:sp>
      <p:sp>
        <p:nvSpPr>
          <p:cNvPr id="134" name="Google Shape;134;p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The right tools can make the risk assessment process easier because they allow you to analyze and prioritize risk. With real-time tracking and shared information in one place, everyone on your team can have instant access to project materials and you can monitor team progress. </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Project management tools can also help your team develop strong project planning skills. Knowing your process and the project management phases can prevent risks before they occur.</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Risk register</a:t>
            </a:r>
            <a:endParaRPr/>
          </a:p>
        </p:txBody>
      </p:sp>
      <p:sp>
        <p:nvSpPr>
          <p:cNvPr id="140" name="Google Shape;140;p1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A risk register is the ultimate tool for identifying and prioritizing risk. A risk register should include the likelihood of each risk, the business impact, how you hope to prevent the risk, how you plan to respond to the risk if it occurs, and who will take action.</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After completing a risk register, you’ll have a living document to use when working through projects. You can reference this information as you encounter risks and use it to reduce long-term damage.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Risk Register Uses</a:t>
            </a:r>
            <a:endParaRPr/>
          </a:p>
        </p:txBody>
      </p:sp>
      <p:sp>
        <p:nvSpPr>
          <p:cNvPr id="146" name="Google Shape;146;p1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There are many instances when a risk register comes in handy. Ideally, it should be used—or available for use when needed—for every project. It can be used for both small and large projects, though your risk log may look different depending on the scope and complexity of your initiative. </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While a small project may only include basic information about the risk such as likelihood, priority, and solutions, a more complicated project may require around 10 different document fields.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Risk Pirority</a:t>
            </a:r>
            <a:endParaRPr/>
          </a:p>
        </p:txBody>
      </p:sp>
      <p:sp>
        <p:nvSpPr>
          <p:cNvPr id="152" name="Google Shape;152;p1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0000" lnSpcReduction="10000"/>
          </a:bodyPr>
          <a:lstStyle/>
          <a:p>
            <a:pPr indent="-228600" lvl="0" marL="228600" rtl="0" algn="l">
              <a:lnSpc>
                <a:spcPct val="90000"/>
              </a:lnSpc>
              <a:spcBef>
                <a:spcPts val="0"/>
              </a:spcBef>
              <a:spcAft>
                <a:spcPts val="0"/>
              </a:spcAft>
              <a:buClr>
                <a:schemeClr val="dk1"/>
              </a:buClr>
              <a:buSzPct val="100000"/>
              <a:buChar char="•"/>
            </a:pPr>
            <a:r>
              <a:rPr lang="en-US"/>
              <a:t>Low priority: Risks such as lack of communication and scheduling errors can leave projects open to scope creep and missed deliverables. </a:t>
            </a:r>
            <a:endParaRPr/>
          </a:p>
          <a:p>
            <a:pPr indent="-68579" lvl="0" marL="228600" rtl="0" algn="l">
              <a:lnSpc>
                <a:spcPct val="90000"/>
              </a:lnSpc>
              <a:spcBef>
                <a:spcPts val="1000"/>
              </a:spcBef>
              <a:spcAft>
                <a:spcPts val="0"/>
              </a:spcAft>
              <a:buClr>
                <a:schemeClr val="dk1"/>
              </a:buClr>
              <a:buSzPct val="100000"/>
              <a:buNone/>
            </a:pPr>
            <a:r>
              <a:t/>
            </a:r>
            <a:endParaRPr/>
          </a:p>
          <a:p>
            <a:pPr indent="-228600" lvl="0" marL="228600" rtl="0" algn="l">
              <a:lnSpc>
                <a:spcPct val="90000"/>
              </a:lnSpc>
              <a:spcBef>
                <a:spcPts val="1000"/>
              </a:spcBef>
              <a:spcAft>
                <a:spcPts val="0"/>
              </a:spcAft>
              <a:buClr>
                <a:schemeClr val="dk1"/>
              </a:buClr>
              <a:buSzPct val="100000"/>
              <a:buChar char="•"/>
            </a:pPr>
            <a:r>
              <a:rPr lang="en-US"/>
              <a:t>Medium priority: Risks such as unplanned or additional work can cause teams to struggle with productivity and create unclear objectives. </a:t>
            </a:r>
            <a:endParaRPr/>
          </a:p>
          <a:p>
            <a:pPr indent="-68579" lvl="0" marL="228600" rtl="0" algn="l">
              <a:lnSpc>
                <a:spcPct val="90000"/>
              </a:lnSpc>
              <a:spcBef>
                <a:spcPts val="1000"/>
              </a:spcBef>
              <a:spcAft>
                <a:spcPts val="0"/>
              </a:spcAft>
              <a:buClr>
                <a:schemeClr val="dk1"/>
              </a:buClr>
              <a:buSzPct val="100000"/>
              <a:buNone/>
            </a:pPr>
            <a:r>
              <a:t/>
            </a:r>
            <a:endParaRPr/>
          </a:p>
          <a:p>
            <a:pPr indent="-228600" lvl="0" marL="228600" rtl="0" algn="l">
              <a:lnSpc>
                <a:spcPct val="90000"/>
              </a:lnSpc>
              <a:spcBef>
                <a:spcPts val="1000"/>
              </a:spcBef>
              <a:spcAft>
                <a:spcPts val="0"/>
              </a:spcAft>
              <a:buClr>
                <a:schemeClr val="dk1"/>
              </a:buClr>
              <a:buSzPct val="100000"/>
              <a:buChar char="•"/>
            </a:pPr>
            <a:r>
              <a:rPr lang="en-US"/>
              <a:t>High priority: Risks such as data security and theft can leave your company open to revenue loss and should be prioritized. </a:t>
            </a:r>
            <a:endParaRPr/>
          </a:p>
          <a:p>
            <a:pPr indent="-68579" lvl="0" marL="228600" rtl="0" algn="l">
              <a:lnSpc>
                <a:spcPct val="90000"/>
              </a:lnSpc>
              <a:spcBef>
                <a:spcPts val="1000"/>
              </a:spcBef>
              <a:spcAft>
                <a:spcPts val="0"/>
              </a:spcAft>
              <a:buClr>
                <a:schemeClr val="dk1"/>
              </a:buClr>
              <a:buSzPct val="100000"/>
              <a:buNone/>
            </a:pPr>
            <a:r>
              <a:t/>
            </a:r>
            <a:endParaRPr/>
          </a:p>
          <a:p>
            <a:pPr indent="-228600" lvl="0" marL="228600" rtl="0" algn="l">
              <a:lnSpc>
                <a:spcPct val="90000"/>
              </a:lnSpc>
              <a:spcBef>
                <a:spcPts val="1000"/>
              </a:spcBef>
              <a:spcAft>
                <a:spcPts val="0"/>
              </a:spcAft>
              <a:buClr>
                <a:schemeClr val="dk1"/>
              </a:buClr>
              <a:buSzPct val="100000"/>
              <a:buChar char="•"/>
            </a:pPr>
            <a:r>
              <a:rPr lang="en-US"/>
              <a:t>Once you know when to use a risk register, you can properly define high priority risks when you come across them.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Risks Senarios</a:t>
            </a:r>
            <a:endParaRPr/>
          </a:p>
        </p:txBody>
      </p:sp>
      <p:sp>
        <p:nvSpPr>
          <p:cNvPr id="158" name="Google Shape;158;p1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Multiple risks could arise during a new project. Anything from data security to unplanned work can risk projects going over budget and scope. Nobody wants to imagine the consequences of missed due dates, which is why it’s important to identify potential risks before they happen.</a:t>
            </a:r>
            <a:endParaRPr/>
          </a:p>
        </p:txBody>
      </p:sp>
      <p:pic>
        <p:nvPicPr>
          <p:cNvPr id="159" name="Google Shape;159;p13"/>
          <p:cNvPicPr preferRelativeResize="0"/>
          <p:nvPr/>
        </p:nvPicPr>
        <p:blipFill rotWithShape="1">
          <a:blip r:embed="rId3">
            <a:alphaModFix/>
          </a:blip>
          <a:srcRect b="0" l="0" r="0" t="0"/>
          <a:stretch/>
        </p:blipFill>
        <p:spPr>
          <a:xfrm>
            <a:off x="7848600" y="3494405"/>
            <a:ext cx="4343400" cy="336359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Risk Register Fields</a:t>
            </a:r>
            <a:endParaRPr/>
          </a:p>
        </p:txBody>
      </p:sp>
      <p:sp>
        <p:nvSpPr>
          <p:cNvPr id="165" name="Google Shape;165;p1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A risk register is made of a list of risks and tracking fields. Your team’s risk log will most likely look different than others as you’ll have unique risks associated with your projects. </a:t>
            </a:r>
            <a:endParaRPr/>
          </a:p>
        </p:txBody>
      </p:sp>
      <p:pic>
        <p:nvPicPr>
          <p:cNvPr id="166" name="Google Shape;166;p14"/>
          <p:cNvPicPr preferRelativeResize="0"/>
          <p:nvPr/>
        </p:nvPicPr>
        <p:blipFill rotWithShape="1">
          <a:blip r:embed="rId3">
            <a:alphaModFix/>
          </a:blip>
          <a:srcRect b="0" l="0" r="0" t="0"/>
          <a:stretch/>
        </p:blipFill>
        <p:spPr>
          <a:xfrm>
            <a:off x="8211185" y="2334260"/>
            <a:ext cx="3980815" cy="43434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Risk Register Example</a:t>
            </a:r>
            <a:endParaRPr/>
          </a:p>
        </p:txBody>
      </p:sp>
      <p:pic>
        <p:nvPicPr>
          <p:cNvPr id="172" name="Google Shape;172;p15"/>
          <p:cNvPicPr preferRelativeResize="0"/>
          <p:nvPr>
            <p:ph idx="1" type="body"/>
          </p:nvPr>
        </p:nvPicPr>
        <p:blipFill rotWithShape="1">
          <a:blip r:embed="rId3">
            <a:alphaModFix/>
          </a:blip>
          <a:srcRect b="0" l="0" r="0" t="0"/>
          <a:stretch/>
        </p:blipFill>
        <p:spPr>
          <a:xfrm>
            <a:off x="207645" y="3604260"/>
            <a:ext cx="11984355" cy="3253740"/>
          </a:xfrm>
          <a:prstGeom prst="rect">
            <a:avLst/>
          </a:prstGeom>
          <a:noFill/>
          <a:ln>
            <a:noFill/>
          </a:ln>
        </p:spPr>
      </p:pic>
      <p:sp>
        <p:nvSpPr>
          <p:cNvPr id="173" name="Google Shape;173;p15"/>
          <p:cNvSpPr txBox="1"/>
          <p:nvPr/>
        </p:nvSpPr>
        <p:spPr>
          <a:xfrm>
            <a:off x="1064895" y="1952625"/>
            <a:ext cx="10258425" cy="1892935"/>
          </a:xfrm>
          <a:prstGeom prst="rect">
            <a:avLst/>
          </a:prstGeom>
          <a:noFill/>
          <a:ln>
            <a:noFill/>
          </a:ln>
        </p:spPr>
        <p:txBody>
          <a:bodyPr anchorCtr="0" anchor="t" bIns="45700" lIns="91425" spcFirstLastPara="1" rIns="91425" wrap="square" tIns="45700">
            <a:noAutofit/>
          </a:bodyPr>
          <a:lstStyle/>
          <a:p>
            <a:pPr indent="-285750" lvl="0" marL="285750" marR="0" rtl="0" algn="l">
              <a:spcBef>
                <a:spcPts val="0"/>
              </a:spcBef>
              <a:spcAft>
                <a:spcPts val="0"/>
              </a:spcAft>
              <a:buClr>
                <a:schemeClr val="dk1"/>
              </a:buClr>
              <a:buSzPts val="1800"/>
              <a:buFont typeface="Arial"/>
              <a:buChar char="•"/>
            </a:pPr>
            <a:r>
              <a:rPr b="0" i="0" lang="en-US" sz="1800" u="none" cap="none" strike="noStrike">
                <a:solidFill>
                  <a:schemeClr val="dk1"/>
                </a:solidFill>
                <a:latin typeface="Calibri"/>
                <a:ea typeface="Calibri"/>
                <a:cs typeface="Calibri"/>
                <a:sym typeface="Calibri"/>
              </a:rPr>
              <a:t>The key objective of a risk register is to log the information of potential risks, so don’t get too caught up in the details. You should choose the fields necessary to communicate potential risks to your team members. </a:t>
            </a:r>
            <a:endParaRPr b="0" i="0" sz="1800" u="none" cap="none" strike="noStrike">
              <a:solidFill>
                <a:schemeClr val="dk1"/>
              </a:solidFill>
              <a:latin typeface="Calibri"/>
              <a:ea typeface="Calibri"/>
              <a:cs typeface="Calibri"/>
              <a:sym typeface="Calibri"/>
            </a:endParaRPr>
          </a:p>
          <a:p>
            <a:pPr indent="-171450" lvl="0" marL="285750" marR="0" rtl="0" algn="l">
              <a:spcBef>
                <a:spcPts val="0"/>
              </a:spcBef>
              <a:spcAft>
                <a:spcPts val="0"/>
              </a:spcAft>
              <a:buClr>
                <a:schemeClr val="dk1"/>
              </a:buClr>
              <a:buSzPts val="1800"/>
              <a:buFont typeface="Arial"/>
              <a:buNone/>
            </a:pPr>
            <a:r>
              <a:t/>
            </a:r>
            <a:endParaRPr b="0" i="0" sz="1800" u="none" cap="none" strike="noStrike">
              <a:solidFill>
                <a:schemeClr val="dk1"/>
              </a:solidFill>
              <a:latin typeface="Calibri"/>
              <a:ea typeface="Calibri"/>
              <a:cs typeface="Calibri"/>
              <a:sym typeface="Calibri"/>
            </a:endParaRPr>
          </a:p>
          <a:p>
            <a:pPr indent="-285750" lvl="0" marL="285750" marR="0" rtl="0" algn="l">
              <a:spcBef>
                <a:spcPts val="0"/>
              </a:spcBef>
              <a:spcAft>
                <a:spcPts val="0"/>
              </a:spcAft>
              <a:buClr>
                <a:schemeClr val="dk1"/>
              </a:buClr>
              <a:buSzPts val="1800"/>
              <a:buFont typeface="Arial"/>
              <a:buChar char="•"/>
            </a:pPr>
            <a:r>
              <a:rPr b="0" i="0" lang="en-US" sz="1800" u="none" cap="none" strike="noStrike">
                <a:solidFill>
                  <a:schemeClr val="dk1"/>
                </a:solidFill>
                <a:latin typeface="Calibri"/>
                <a:ea typeface="Calibri"/>
                <a:cs typeface="Calibri"/>
                <a:sym typeface="Calibri"/>
              </a:rPr>
              <a:t>Some teams may only need a simple risk register with few fields, while others may need something more complex. It may be helpful to start simple and work your way up to a more complex log if needed.</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16"/>
          <p:cNvSpPr txBox="1"/>
          <p:nvPr>
            <p:ph type="title"/>
          </p:nvPr>
        </p:nvSpPr>
        <p:spPr>
          <a:xfrm>
            <a:off x="37592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Risk Register Example</a:t>
            </a:r>
            <a:endParaRPr/>
          </a:p>
        </p:txBody>
      </p:sp>
      <p:pic>
        <p:nvPicPr>
          <p:cNvPr id="179" name="Google Shape;179;p16"/>
          <p:cNvPicPr preferRelativeResize="0"/>
          <p:nvPr>
            <p:ph idx="1" type="body"/>
          </p:nvPr>
        </p:nvPicPr>
        <p:blipFill rotWithShape="1">
          <a:blip r:embed="rId3">
            <a:alphaModFix/>
          </a:blip>
          <a:srcRect b="0" l="0" r="0" t="0"/>
          <a:stretch/>
        </p:blipFill>
        <p:spPr>
          <a:xfrm>
            <a:off x="90170" y="1781810"/>
            <a:ext cx="11996420" cy="505841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Risk Matrix</a:t>
            </a:r>
            <a:endParaRPr/>
          </a:p>
        </p:txBody>
      </p:sp>
      <p:sp>
        <p:nvSpPr>
          <p:cNvPr id="185" name="Google Shape;185;p1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A risk matrix is a risk analysis tool to assess risk likelihood and severity during the project planning process. </a:t>
            </a:r>
            <a:endParaRPr/>
          </a:p>
          <a:p>
            <a:pPr indent="-228600" lvl="0" marL="228600" rtl="0" algn="l">
              <a:lnSpc>
                <a:spcPct val="90000"/>
              </a:lnSpc>
              <a:spcBef>
                <a:spcPts val="1000"/>
              </a:spcBef>
              <a:spcAft>
                <a:spcPts val="0"/>
              </a:spcAft>
              <a:buClr>
                <a:schemeClr val="dk1"/>
              </a:buClr>
              <a:buSzPts val="2800"/>
              <a:buChar char="•"/>
            </a:pPr>
            <a:r>
              <a:rPr lang="en-US"/>
              <a:t>Once you assess the likelihood and severity of each risk, you can chart them along the matrix to calculate risk impact ratings.</a:t>
            </a:r>
            <a:endParaRPr/>
          </a:p>
          <a:p>
            <a:pPr indent="-228600" lvl="0" marL="228600" rtl="0" algn="l">
              <a:lnSpc>
                <a:spcPct val="90000"/>
              </a:lnSpc>
              <a:spcBef>
                <a:spcPts val="1000"/>
              </a:spcBef>
              <a:spcAft>
                <a:spcPts val="0"/>
              </a:spcAft>
              <a:buClr>
                <a:schemeClr val="dk1"/>
              </a:buClr>
              <a:buSzPts val="2800"/>
              <a:buChar char="•"/>
            </a:pPr>
            <a:r>
              <a:rPr lang="en-US"/>
              <a:t> These ratings will help your team prioritize project risks and effectively manage them.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Types of risks</a:t>
            </a:r>
            <a:endParaRPr/>
          </a:p>
        </p:txBody>
      </p:sp>
      <p:sp>
        <p:nvSpPr>
          <p:cNvPr id="191" name="Google Shape;191;p18"/>
          <p:cNvSpPr txBox="1"/>
          <p:nvPr>
            <p:ph idx="1" type="body"/>
          </p:nvPr>
        </p:nvSpPr>
        <p:spPr>
          <a:xfrm>
            <a:off x="838200" y="1438275"/>
            <a:ext cx="10515600" cy="4351338"/>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400"/>
              <a:buChar char="•"/>
            </a:pPr>
            <a:r>
              <a:rPr lang="en-US" sz="2400"/>
              <a:t>As part of the process, you’ll need to brainstorm a list of risks to chart in your risk matrix. The risks you may face will likely fall into these categories:</a:t>
            </a:r>
            <a:endParaRPr sz="2400"/>
          </a:p>
          <a:p>
            <a:pPr indent="-228600" lvl="0" marL="228600" rtl="0" algn="l">
              <a:lnSpc>
                <a:spcPct val="90000"/>
              </a:lnSpc>
              <a:spcBef>
                <a:spcPts val="1000"/>
              </a:spcBef>
              <a:spcAft>
                <a:spcPts val="0"/>
              </a:spcAft>
              <a:buClr>
                <a:schemeClr val="dk1"/>
              </a:buClr>
              <a:buSzPts val="2400"/>
              <a:buChar char="•"/>
            </a:pPr>
            <a:r>
              <a:rPr lang="en-US" sz="2400"/>
              <a:t>Strategic risk: Strategic risks involve performance or decision errors, such as choosing the wrong vendor or software for a project.</a:t>
            </a:r>
            <a:endParaRPr sz="2400"/>
          </a:p>
          <a:p>
            <a:pPr indent="-228600" lvl="0" marL="228600" rtl="0" algn="l">
              <a:lnSpc>
                <a:spcPct val="90000"/>
              </a:lnSpc>
              <a:spcBef>
                <a:spcPts val="1000"/>
              </a:spcBef>
              <a:spcAft>
                <a:spcPts val="0"/>
              </a:spcAft>
              <a:buClr>
                <a:schemeClr val="dk1"/>
              </a:buClr>
              <a:buSzPts val="2400"/>
              <a:buChar char="•"/>
            </a:pPr>
            <a:r>
              <a:rPr lang="en-US" sz="2400"/>
              <a:t>Operational risk: Operational risks are process errors or procedural mistakes, like poor planning or a lack of communication among teams.</a:t>
            </a:r>
            <a:endParaRPr sz="2400"/>
          </a:p>
          <a:p>
            <a:pPr indent="-228600" lvl="0" marL="228600" rtl="0" algn="l">
              <a:lnSpc>
                <a:spcPct val="90000"/>
              </a:lnSpc>
              <a:spcBef>
                <a:spcPts val="1000"/>
              </a:spcBef>
              <a:spcAft>
                <a:spcPts val="0"/>
              </a:spcAft>
              <a:buClr>
                <a:schemeClr val="dk1"/>
              </a:buClr>
              <a:buSzPts val="2400"/>
              <a:buChar char="•"/>
            </a:pPr>
            <a:r>
              <a:rPr lang="en-US" sz="2400"/>
              <a:t>Financial risk: Financial risk can involve various events that cause a loss of company profit, including market changes, lawsuits, or competitors.</a:t>
            </a:r>
            <a:endParaRPr sz="2400"/>
          </a:p>
          <a:p>
            <a:pPr indent="-228600" lvl="0" marL="228600" rtl="0" algn="l">
              <a:lnSpc>
                <a:spcPct val="90000"/>
              </a:lnSpc>
              <a:spcBef>
                <a:spcPts val="1000"/>
              </a:spcBef>
              <a:spcAft>
                <a:spcPts val="0"/>
              </a:spcAft>
              <a:buClr>
                <a:schemeClr val="dk1"/>
              </a:buClr>
              <a:buSzPts val="2400"/>
              <a:buChar char="•"/>
            </a:pPr>
            <a:r>
              <a:rPr lang="en-US" sz="2400"/>
              <a:t>Technical risk: Technical risk may include anything related to company technology, such as a security breach, power outage, loss of internet, or damage to property.</a:t>
            </a:r>
            <a:endParaRPr sz="2400"/>
          </a:p>
          <a:p>
            <a:pPr indent="-228600" lvl="0" marL="228600" rtl="0" algn="l">
              <a:lnSpc>
                <a:spcPct val="90000"/>
              </a:lnSpc>
              <a:spcBef>
                <a:spcPts val="1000"/>
              </a:spcBef>
              <a:spcAft>
                <a:spcPts val="0"/>
              </a:spcAft>
              <a:buClr>
                <a:schemeClr val="dk1"/>
              </a:buClr>
              <a:buSzPts val="2400"/>
              <a:buChar char="•"/>
            </a:pPr>
            <a:r>
              <a:rPr lang="en-US" sz="2400"/>
              <a:t>External risk: External risks are out of your control, like floods, fires, natural disasters, or pandemics.</a:t>
            </a:r>
            <a:endParaRPr sz="24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Risk Categories and Risk Severity</a:t>
            </a:r>
            <a:endParaRPr/>
          </a:p>
        </p:txBody>
      </p:sp>
      <p:sp>
        <p:nvSpPr>
          <p:cNvPr id="197" name="Google Shape;197;p1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There are other risk categories to consider depending on your work industry. For example, if you have government clients, then you also want to brainstorm legal risks. If your company sells a physical product, you may have to think about manufacturing risks.</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When creating your risk matrix template, you’ll first identify your scale of severity, which you’ll place in the columns of your matrix. ​​The scale of severity measures how severe the consequences will be for each risk. In a five-by-five matrix, there are five levels in your scale of severity.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Risk Severity</a:t>
            </a:r>
            <a:endParaRPr/>
          </a:p>
        </p:txBody>
      </p:sp>
      <p:sp>
        <p:nvSpPr>
          <p:cNvPr id="203" name="Google Shape;203;p2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90000" lnSpcReduction="20000"/>
          </a:bodyPr>
          <a:lstStyle/>
          <a:p>
            <a:pPr indent="-228600" lvl="0" marL="228600" rtl="0" algn="l">
              <a:lnSpc>
                <a:spcPct val="90000"/>
              </a:lnSpc>
              <a:spcBef>
                <a:spcPts val="0"/>
              </a:spcBef>
              <a:spcAft>
                <a:spcPts val="0"/>
              </a:spcAft>
              <a:buClr>
                <a:schemeClr val="dk1"/>
              </a:buClr>
              <a:buSzPct val="100000"/>
              <a:buChar char="•"/>
            </a:pPr>
            <a:r>
              <a:rPr lang="en-US"/>
              <a:t>Negligible (1): The risk will have little consequences if it occurs.</a:t>
            </a:r>
            <a:endParaRPr/>
          </a:p>
          <a:p>
            <a:pPr indent="-68579" lvl="0" marL="228600" rtl="0" algn="l">
              <a:lnSpc>
                <a:spcPct val="90000"/>
              </a:lnSpc>
              <a:spcBef>
                <a:spcPts val="1000"/>
              </a:spcBef>
              <a:spcAft>
                <a:spcPts val="0"/>
              </a:spcAft>
              <a:buClr>
                <a:schemeClr val="dk1"/>
              </a:buClr>
              <a:buSzPct val="100000"/>
              <a:buNone/>
            </a:pPr>
            <a:r>
              <a:t/>
            </a:r>
            <a:endParaRPr/>
          </a:p>
          <a:p>
            <a:pPr indent="-228600" lvl="0" marL="228600" rtl="0" algn="l">
              <a:lnSpc>
                <a:spcPct val="90000"/>
              </a:lnSpc>
              <a:spcBef>
                <a:spcPts val="1000"/>
              </a:spcBef>
              <a:spcAft>
                <a:spcPts val="0"/>
              </a:spcAft>
              <a:buClr>
                <a:schemeClr val="dk1"/>
              </a:buClr>
              <a:buSzPct val="100000"/>
              <a:buChar char="•"/>
            </a:pPr>
            <a:r>
              <a:rPr lang="en-US"/>
              <a:t>Minor (2): The consequences of the risk will be easy to manage.</a:t>
            </a:r>
            <a:endParaRPr/>
          </a:p>
          <a:p>
            <a:pPr indent="-68579" lvl="0" marL="228600" rtl="0" algn="l">
              <a:lnSpc>
                <a:spcPct val="90000"/>
              </a:lnSpc>
              <a:spcBef>
                <a:spcPts val="1000"/>
              </a:spcBef>
              <a:spcAft>
                <a:spcPts val="0"/>
              </a:spcAft>
              <a:buClr>
                <a:schemeClr val="dk1"/>
              </a:buClr>
              <a:buSzPct val="100000"/>
              <a:buNone/>
            </a:pPr>
            <a:r>
              <a:t/>
            </a:r>
            <a:endParaRPr/>
          </a:p>
          <a:p>
            <a:pPr indent="-228600" lvl="0" marL="228600" rtl="0" algn="l">
              <a:lnSpc>
                <a:spcPct val="90000"/>
              </a:lnSpc>
              <a:spcBef>
                <a:spcPts val="1000"/>
              </a:spcBef>
              <a:spcAft>
                <a:spcPts val="0"/>
              </a:spcAft>
              <a:buClr>
                <a:schemeClr val="dk1"/>
              </a:buClr>
              <a:buSzPct val="100000"/>
              <a:buChar char="•"/>
            </a:pPr>
            <a:r>
              <a:rPr lang="en-US"/>
              <a:t>Moderate (3): The consequences of the risk will take time to mitigate.</a:t>
            </a:r>
            <a:endParaRPr/>
          </a:p>
          <a:p>
            <a:pPr indent="-68579" lvl="0" marL="228600" rtl="0" algn="l">
              <a:lnSpc>
                <a:spcPct val="90000"/>
              </a:lnSpc>
              <a:spcBef>
                <a:spcPts val="1000"/>
              </a:spcBef>
              <a:spcAft>
                <a:spcPts val="0"/>
              </a:spcAft>
              <a:buClr>
                <a:schemeClr val="dk1"/>
              </a:buClr>
              <a:buSzPct val="100000"/>
              <a:buNone/>
            </a:pPr>
            <a:r>
              <a:t/>
            </a:r>
            <a:endParaRPr/>
          </a:p>
          <a:p>
            <a:pPr indent="-228600" lvl="0" marL="228600" rtl="0" algn="l">
              <a:lnSpc>
                <a:spcPct val="90000"/>
              </a:lnSpc>
              <a:spcBef>
                <a:spcPts val="1000"/>
              </a:spcBef>
              <a:spcAft>
                <a:spcPts val="0"/>
              </a:spcAft>
              <a:buClr>
                <a:schemeClr val="dk1"/>
              </a:buClr>
              <a:buSzPct val="100000"/>
              <a:buChar char="•"/>
            </a:pPr>
            <a:r>
              <a:rPr lang="en-US"/>
              <a:t>Major (4): The consequences of this risk will be significant and may cause long-term damage.</a:t>
            </a:r>
            <a:endParaRPr/>
          </a:p>
          <a:p>
            <a:pPr indent="-68579" lvl="0" marL="228600" rtl="0" algn="l">
              <a:lnSpc>
                <a:spcPct val="90000"/>
              </a:lnSpc>
              <a:spcBef>
                <a:spcPts val="1000"/>
              </a:spcBef>
              <a:spcAft>
                <a:spcPts val="0"/>
              </a:spcAft>
              <a:buClr>
                <a:schemeClr val="dk1"/>
              </a:buClr>
              <a:buSzPct val="100000"/>
              <a:buNone/>
            </a:pPr>
            <a:r>
              <a:t/>
            </a:r>
            <a:endParaRPr/>
          </a:p>
          <a:p>
            <a:pPr indent="-228600" lvl="0" marL="228600" rtl="0" algn="l">
              <a:lnSpc>
                <a:spcPct val="90000"/>
              </a:lnSpc>
              <a:spcBef>
                <a:spcPts val="1000"/>
              </a:spcBef>
              <a:spcAft>
                <a:spcPts val="0"/>
              </a:spcAft>
              <a:buClr>
                <a:schemeClr val="dk1"/>
              </a:buClr>
              <a:buSzPct val="100000"/>
              <a:buChar char="•"/>
            </a:pPr>
            <a:r>
              <a:rPr lang="en-US"/>
              <a:t>Catastrophic (5): The consequences of this risk will be detrimental and may be hard to recover from</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Risk Likely Hood</a:t>
            </a:r>
            <a:endParaRPr/>
          </a:p>
        </p:txBody>
      </p:sp>
      <p:sp>
        <p:nvSpPr>
          <p:cNvPr id="209" name="Google Shape;209;p21"/>
          <p:cNvSpPr txBox="1"/>
          <p:nvPr>
            <p:ph idx="1" type="body"/>
          </p:nvPr>
        </p:nvSpPr>
        <p:spPr>
          <a:xfrm>
            <a:off x="838200" y="1393190"/>
            <a:ext cx="10515600" cy="4351338"/>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Clr>
                <a:schemeClr val="dk1"/>
              </a:buClr>
              <a:buSzPts val="2000"/>
              <a:buNone/>
            </a:pPr>
            <a:r>
              <a:rPr lang="en-US" sz="2000"/>
              <a:t>You’ll then identify your scale of likelihood, which you’ll place in the rows of your risk matrix template. The scale of likelihood identifies the probability of each risk occurring.  </a:t>
            </a:r>
            <a:endParaRPr sz="2000"/>
          </a:p>
          <a:p>
            <a:pPr indent="-101600" lvl="0" marL="228600" rtl="0" algn="l">
              <a:lnSpc>
                <a:spcPct val="90000"/>
              </a:lnSpc>
              <a:spcBef>
                <a:spcPts val="1000"/>
              </a:spcBef>
              <a:spcAft>
                <a:spcPts val="0"/>
              </a:spcAft>
              <a:buClr>
                <a:schemeClr val="dk1"/>
              </a:buClr>
              <a:buSzPts val="2000"/>
              <a:buNone/>
            </a:pPr>
            <a:r>
              <a:t/>
            </a:r>
            <a:endParaRPr sz="2000"/>
          </a:p>
          <a:p>
            <a:pPr indent="-228600" lvl="0" marL="228600" rtl="0" algn="l">
              <a:lnSpc>
                <a:spcPct val="90000"/>
              </a:lnSpc>
              <a:spcBef>
                <a:spcPts val="1000"/>
              </a:spcBef>
              <a:spcAft>
                <a:spcPts val="0"/>
              </a:spcAft>
              <a:buClr>
                <a:schemeClr val="dk1"/>
              </a:buClr>
              <a:buSzPts val="2000"/>
              <a:buChar char="•"/>
            </a:pPr>
            <a:r>
              <a:rPr lang="en-US" sz="2000"/>
              <a:t>Very likely (5): You can be pretty sure this risk will occur at some point in time.</a:t>
            </a:r>
            <a:endParaRPr sz="2000"/>
          </a:p>
          <a:p>
            <a:pPr indent="-101600" lvl="0" marL="228600" rtl="0" algn="l">
              <a:lnSpc>
                <a:spcPct val="90000"/>
              </a:lnSpc>
              <a:spcBef>
                <a:spcPts val="1000"/>
              </a:spcBef>
              <a:spcAft>
                <a:spcPts val="0"/>
              </a:spcAft>
              <a:buClr>
                <a:schemeClr val="dk1"/>
              </a:buClr>
              <a:buSzPts val="2000"/>
              <a:buNone/>
            </a:pPr>
            <a:r>
              <a:t/>
            </a:r>
            <a:endParaRPr sz="2000"/>
          </a:p>
          <a:p>
            <a:pPr indent="-228600" lvl="0" marL="228600" rtl="0" algn="l">
              <a:lnSpc>
                <a:spcPct val="90000"/>
              </a:lnSpc>
              <a:spcBef>
                <a:spcPts val="1000"/>
              </a:spcBef>
              <a:spcAft>
                <a:spcPts val="0"/>
              </a:spcAft>
              <a:buClr>
                <a:schemeClr val="dk1"/>
              </a:buClr>
              <a:buSzPts val="2000"/>
              <a:buChar char="•"/>
            </a:pPr>
            <a:r>
              <a:rPr lang="en-US" sz="2000"/>
              <a:t>Probable (4): There’s a good chance this risk will occur.</a:t>
            </a:r>
            <a:endParaRPr sz="2000"/>
          </a:p>
          <a:p>
            <a:pPr indent="-101600" lvl="0" marL="228600" rtl="0" algn="l">
              <a:lnSpc>
                <a:spcPct val="90000"/>
              </a:lnSpc>
              <a:spcBef>
                <a:spcPts val="1000"/>
              </a:spcBef>
              <a:spcAft>
                <a:spcPts val="0"/>
              </a:spcAft>
              <a:buClr>
                <a:schemeClr val="dk1"/>
              </a:buClr>
              <a:buSzPts val="2000"/>
              <a:buNone/>
            </a:pPr>
            <a:r>
              <a:t/>
            </a:r>
            <a:endParaRPr sz="2000"/>
          </a:p>
          <a:p>
            <a:pPr indent="-228600" lvl="0" marL="228600" rtl="0" algn="l">
              <a:lnSpc>
                <a:spcPct val="90000"/>
              </a:lnSpc>
              <a:spcBef>
                <a:spcPts val="1000"/>
              </a:spcBef>
              <a:spcAft>
                <a:spcPts val="0"/>
              </a:spcAft>
              <a:buClr>
                <a:schemeClr val="dk1"/>
              </a:buClr>
              <a:buSzPts val="2000"/>
              <a:buChar char="•"/>
            </a:pPr>
            <a:r>
              <a:rPr lang="en-US" sz="2000"/>
              <a:t>Possible (3): This risk could happen, but it might not. This risk has split odds.</a:t>
            </a:r>
            <a:endParaRPr sz="2000"/>
          </a:p>
          <a:p>
            <a:pPr indent="-101600" lvl="0" marL="228600" rtl="0" algn="l">
              <a:lnSpc>
                <a:spcPct val="90000"/>
              </a:lnSpc>
              <a:spcBef>
                <a:spcPts val="1000"/>
              </a:spcBef>
              <a:spcAft>
                <a:spcPts val="0"/>
              </a:spcAft>
              <a:buClr>
                <a:schemeClr val="dk1"/>
              </a:buClr>
              <a:buSzPts val="2000"/>
              <a:buNone/>
            </a:pPr>
            <a:r>
              <a:t/>
            </a:r>
            <a:endParaRPr sz="2000"/>
          </a:p>
          <a:p>
            <a:pPr indent="-228600" lvl="0" marL="228600" rtl="0" algn="l">
              <a:lnSpc>
                <a:spcPct val="90000"/>
              </a:lnSpc>
              <a:spcBef>
                <a:spcPts val="1000"/>
              </a:spcBef>
              <a:spcAft>
                <a:spcPts val="0"/>
              </a:spcAft>
              <a:buClr>
                <a:schemeClr val="dk1"/>
              </a:buClr>
              <a:buSzPts val="2000"/>
              <a:buChar char="•"/>
            </a:pPr>
            <a:r>
              <a:rPr lang="en-US" sz="2000"/>
              <a:t>Not likely (2): There’s a good chance this risk won’t occur.</a:t>
            </a:r>
            <a:endParaRPr sz="2000"/>
          </a:p>
          <a:p>
            <a:pPr indent="-101600" lvl="0" marL="228600" rtl="0" algn="l">
              <a:lnSpc>
                <a:spcPct val="90000"/>
              </a:lnSpc>
              <a:spcBef>
                <a:spcPts val="1000"/>
              </a:spcBef>
              <a:spcAft>
                <a:spcPts val="0"/>
              </a:spcAft>
              <a:buClr>
                <a:schemeClr val="dk1"/>
              </a:buClr>
              <a:buSzPts val="2000"/>
              <a:buNone/>
            </a:pPr>
            <a:r>
              <a:t/>
            </a:r>
            <a:endParaRPr sz="2000"/>
          </a:p>
          <a:p>
            <a:pPr indent="-228600" lvl="0" marL="228600" rtl="0" algn="l">
              <a:lnSpc>
                <a:spcPct val="90000"/>
              </a:lnSpc>
              <a:spcBef>
                <a:spcPts val="1000"/>
              </a:spcBef>
              <a:spcAft>
                <a:spcPts val="0"/>
              </a:spcAft>
              <a:buClr>
                <a:schemeClr val="dk1"/>
              </a:buClr>
              <a:buSzPts val="2000"/>
              <a:buChar char="•"/>
            </a:pPr>
            <a:r>
              <a:rPr lang="en-US" sz="2000"/>
              <a:t>Very unlikely (1): It’s a long shot that this risk will occur.</a:t>
            </a:r>
            <a:endParaRPr sz="20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22"/>
          <p:cNvSpPr txBox="1"/>
          <p:nvPr>
            <p:ph type="title"/>
          </p:nvPr>
        </p:nvSpPr>
        <p:spPr>
          <a:xfrm>
            <a:off x="838200" y="142240"/>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Risk Impact</a:t>
            </a:r>
            <a:endParaRPr/>
          </a:p>
        </p:txBody>
      </p:sp>
      <p:sp>
        <p:nvSpPr>
          <p:cNvPr id="215" name="Google Shape;215;p22"/>
          <p:cNvSpPr txBox="1"/>
          <p:nvPr>
            <p:ph idx="1" type="body"/>
          </p:nvPr>
        </p:nvSpPr>
        <p:spPr>
          <a:xfrm>
            <a:off x="688975" y="1253490"/>
            <a:ext cx="10515600" cy="4351338"/>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000"/>
              <a:buChar char="•"/>
            </a:pPr>
            <a:r>
              <a:rPr lang="en-US" sz="2000"/>
              <a:t>When you place a risk in your matrix based on its likelihood and severity, you’ll find the level of risk impact. The risk impact is both color-coded from green to red and rated on a one through 25 scale. </a:t>
            </a:r>
            <a:endParaRPr sz="2000"/>
          </a:p>
          <a:p>
            <a:pPr indent="-101600" lvl="0" marL="228600" rtl="0" algn="l">
              <a:lnSpc>
                <a:spcPct val="90000"/>
              </a:lnSpc>
              <a:spcBef>
                <a:spcPts val="1000"/>
              </a:spcBef>
              <a:spcAft>
                <a:spcPts val="0"/>
              </a:spcAft>
              <a:buClr>
                <a:schemeClr val="dk1"/>
              </a:buClr>
              <a:buSzPts val="2000"/>
              <a:buNone/>
            </a:pPr>
            <a:r>
              <a:t/>
            </a:r>
            <a:endParaRPr sz="2000"/>
          </a:p>
          <a:p>
            <a:pPr indent="-228600" lvl="0" marL="228600" rtl="0" algn="l">
              <a:lnSpc>
                <a:spcPct val="90000"/>
              </a:lnSpc>
              <a:spcBef>
                <a:spcPts val="1000"/>
              </a:spcBef>
              <a:spcAft>
                <a:spcPts val="0"/>
              </a:spcAft>
              <a:buClr>
                <a:schemeClr val="dk1"/>
              </a:buClr>
              <a:buSzPts val="2000"/>
              <a:buChar char="•"/>
            </a:pPr>
            <a:r>
              <a:rPr lang="en-US" sz="2000"/>
              <a:t>Low (1-6): Low-risk events likely won’t happen, and if they do, they won’t cause significant consequences for your project or company. You can label these as low priority in your risk management plan.</a:t>
            </a:r>
            <a:endParaRPr sz="2000"/>
          </a:p>
          <a:p>
            <a:pPr indent="-101600" lvl="0" marL="228600" rtl="0" algn="l">
              <a:lnSpc>
                <a:spcPct val="90000"/>
              </a:lnSpc>
              <a:spcBef>
                <a:spcPts val="1000"/>
              </a:spcBef>
              <a:spcAft>
                <a:spcPts val="0"/>
              </a:spcAft>
              <a:buClr>
                <a:schemeClr val="dk1"/>
              </a:buClr>
              <a:buSzPts val="2000"/>
              <a:buNone/>
            </a:pPr>
            <a:r>
              <a:t/>
            </a:r>
            <a:endParaRPr sz="2000"/>
          </a:p>
          <a:p>
            <a:pPr indent="-228600" lvl="0" marL="228600" rtl="0" algn="l">
              <a:lnSpc>
                <a:spcPct val="90000"/>
              </a:lnSpc>
              <a:spcBef>
                <a:spcPts val="1000"/>
              </a:spcBef>
              <a:spcAft>
                <a:spcPts val="0"/>
              </a:spcAft>
              <a:buClr>
                <a:schemeClr val="dk1"/>
              </a:buClr>
              <a:buSzPts val="2000"/>
              <a:buChar char="•"/>
            </a:pPr>
            <a:r>
              <a:rPr lang="en-US" sz="2000"/>
              <a:t>Medium (7-12): Medium-risk events are a nuisance and can cause project hiccups, but if you take action during project planning to prevent and mitigate these risks, you’ll set yourself up for project success. You shouldn’t ignore these risks, but they also don’t need to be a top priority.</a:t>
            </a:r>
            <a:endParaRPr sz="2000"/>
          </a:p>
          <a:p>
            <a:pPr indent="-101600" lvl="0" marL="228600" rtl="0" algn="l">
              <a:lnSpc>
                <a:spcPct val="90000"/>
              </a:lnSpc>
              <a:spcBef>
                <a:spcPts val="1000"/>
              </a:spcBef>
              <a:spcAft>
                <a:spcPts val="0"/>
              </a:spcAft>
              <a:buClr>
                <a:schemeClr val="dk1"/>
              </a:buClr>
              <a:buSzPts val="2000"/>
              <a:buNone/>
            </a:pPr>
            <a:r>
              <a:t/>
            </a:r>
            <a:endParaRPr sz="2000"/>
          </a:p>
          <a:p>
            <a:pPr indent="-228600" lvl="0" marL="228600" rtl="0" algn="l">
              <a:lnSpc>
                <a:spcPct val="90000"/>
              </a:lnSpc>
              <a:spcBef>
                <a:spcPts val="1000"/>
              </a:spcBef>
              <a:spcAft>
                <a:spcPts val="0"/>
              </a:spcAft>
              <a:buClr>
                <a:schemeClr val="dk1"/>
              </a:buClr>
              <a:buSzPts val="2000"/>
              <a:buChar char="•"/>
            </a:pPr>
            <a:r>
              <a:rPr lang="en-US" sz="2000"/>
              <a:t>High (13-25): High-risk events can derail your project if you don’t keep them top of mind during project planning. Because these risks are likely to happen and have serious consequences, these are most important in your risk management plan.</a:t>
            </a:r>
            <a:endParaRPr sz="20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221" name="Google Shape;221;p23"/>
          <p:cNvPicPr preferRelativeResize="0"/>
          <p:nvPr>
            <p:ph idx="1" type="body"/>
          </p:nvPr>
        </p:nvPicPr>
        <p:blipFill rotWithShape="1">
          <a:blip r:embed="rId3">
            <a:alphaModFix/>
          </a:blip>
          <a:srcRect b="0" l="0" r="0" t="0"/>
          <a:stretch/>
        </p:blipFill>
        <p:spPr>
          <a:xfrm>
            <a:off x="31750" y="0"/>
            <a:ext cx="12160250" cy="685736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Risk Matrix Uses</a:t>
            </a:r>
            <a:endParaRPr/>
          </a:p>
        </p:txBody>
      </p:sp>
      <p:sp>
        <p:nvSpPr>
          <p:cNvPr id="227" name="Google Shape;227;p2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Once you’ve created a risk matrix, you can use it as a comprehensive analysis tool. The best part about a risk matrix template is that you don’t need to change it for every project. Once you have one, you can reuse it and share it with others. </a:t>
            </a:r>
            <a:endParaRPr/>
          </a:p>
        </p:txBody>
      </p:sp>
      <p:pic>
        <p:nvPicPr>
          <p:cNvPr id="228" name="Google Shape;228;p24"/>
          <p:cNvPicPr preferRelativeResize="0"/>
          <p:nvPr/>
        </p:nvPicPr>
        <p:blipFill rotWithShape="1">
          <a:blip r:embed="rId3">
            <a:alphaModFix/>
          </a:blip>
          <a:srcRect b="0" l="0" r="0" t="0"/>
          <a:stretch/>
        </p:blipFill>
        <p:spPr>
          <a:xfrm>
            <a:off x="7241540" y="3063875"/>
            <a:ext cx="4950460" cy="379412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Risk assessment matrix template</a:t>
            </a:r>
            <a:endParaRPr/>
          </a:p>
        </p:txBody>
      </p:sp>
      <p:sp>
        <p:nvSpPr>
          <p:cNvPr id="234" name="Google Shape;234;p25"/>
          <p:cNvSpPr txBox="1"/>
          <p:nvPr>
            <p:ph idx="1" type="body"/>
          </p:nvPr>
        </p:nvSpPr>
        <p:spPr>
          <a:xfrm>
            <a:off x="838200" y="1452880"/>
            <a:ext cx="10515600" cy="4724400"/>
          </a:xfrm>
          <a:prstGeom prst="rect">
            <a:avLst/>
          </a:prstGeom>
          <a:noFill/>
          <a:ln>
            <a:noFill/>
          </a:ln>
        </p:spPr>
        <p:txBody>
          <a:bodyPr anchorCtr="0" anchor="t" bIns="45700" lIns="91425" spcFirstLastPara="1" rIns="91425" wrap="square" tIns="45700">
            <a:normAutofit fontScale="90000" lnSpcReduction="10000"/>
          </a:bodyPr>
          <a:lstStyle/>
          <a:p>
            <a:pPr indent="-228600" lvl="0" marL="228600" rtl="0" algn="l">
              <a:lnSpc>
                <a:spcPct val="90000"/>
              </a:lnSpc>
              <a:spcBef>
                <a:spcPts val="0"/>
              </a:spcBef>
              <a:spcAft>
                <a:spcPts val="0"/>
              </a:spcAft>
              <a:buClr>
                <a:schemeClr val="dk1"/>
              </a:buClr>
              <a:buSzPct val="100000"/>
              <a:buChar char="•"/>
            </a:pPr>
            <a:r>
              <a:rPr lang="en-US"/>
              <a:t>The size of your risk matrix template determines how closely you can analyze your project risks. A larger risk matrix template offers more room on the risk impact spectrum, while a smaller risk matrix template keeps your risk impact rating simpler and less subjective. </a:t>
            </a:r>
            <a:endParaRPr/>
          </a:p>
          <a:p>
            <a:pPr indent="-68579" lvl="0" marL="228600" rtl="0" algn="l">
              <a:lnSpc>
                <a:spcPct val="90000"/>
              </a:lnSpc>
              <a:spcBef>
                <a:spcPts val="1000"/>
              </a:spcBef>
              <a:spcAft>
                <a:spcPts val="0"/>
              </a:spcAft>
              <a:buClr>
                <a:schemeClr val="dk1"/>
              </a:buClr>
              <a:buSzPct val="100000"/>
              <a:buNone/>
            </a:pPr>
            <a:r>
              <a:t/>
            </a:r>
            <a:endParaRPr/>
          </a:p>
          <a:p>
            <a:pPr indent="-228600" lvl="0" marL="228600" rtl="0" algn="l">
              <a:lnSpc>
                <a:spcPct val="90000"/>
              </a:lnSpc>
              <a:spcBef>
                <a:spcPts val="1000"/>
              </a:spcBef>
              <a:spcAft>
                <a:spcPts val="0"/>
              </a:spcAft>
              <a:buClr>
                <a:schemeClr val="dk1"/>
              </a:buClr>
              <a:buSzPct val="100000"/>
              <a:buChar char="•"/>
            </a:pPr>
            <a:r>
              <a:rPr lang="en-US"/>
              <a:t>Each square in your matrix represents a risk level of likelihood and severity, so you shouldn’t make your risk matrix smaller than three squares in length and width.</a:t>
            </a:r>
            <a:endParaRPr/>
          </a:p>
          <a:p>
            <a:pPr indent="-68579" lvl="0" marL="228600" rtl="0" algn="l">
              <a:lnSpc>
                <a:spcPct val="90000"/>
              </a:lnSpc>
              <a:spcBef>
                <a:spcPts val="1000"/>
              </a:spcBef>
              <a:spcAft>
                <a:spcPts val="0"/>
              </a:spcAft>
              <a:buClr>
                <a:schemeClr val="dk1"/>
              </a:buClr>
              <a:buSzPct val="100000"/>
              <a:buNone/>
            </a:pPr>
            <a:r>
              <a:t/>
            </a:r>
            <a:endParaRPr/>
          </a:p>
          <a:p>
            <a:pPr indent="-228600" lvl="0" marL="228600" rtl="0" algn="l">
              <a:lnSpc>
                <a:spcPct val="90000"/>
              </a:lnSpc>
              <a:spcBef>
                <a:spcPts val="1000"/>
              </a:spcBef>
              <a:spcAft>
                <a:spcPts val="0"/>
              </a:spcAft>
              <a:buClr>
                <a:schemeClr val="dk1"/>
              </a:buClr>
              <a:buSzPct val="100000"/>
              <a:buChar char="•"/>
            </a:pPr>
            <a:r>
              <a:rPr lang="en-US"/>
              <a:t>A five-by-five risk matrix is ideal so you can further analyze each risk. Once you chart your risks along your finished risk matrix template, this matrix creates a larger color spectrum to see the impact of each risk as high, medium, or low.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pic>
        <p:nvPicPr>
          <p:cNvPr id="239" name="Google Shape;239;p26"/>
          <p:cNvPicPr preferRelativeResize="0"/>
          <p:nvPr>
            <p:ph idx="1" type="body"/>
          </p:nvPr>
        </p:nvPicPr>
        <p:blipFill rotWithShape="1">
          <a:blip r:embed="rId3">
            <a:alphaModFix/>
          </a:blip>
          <a:srcRect b="0" l="0" r="0" t="0"/>
          <a:stretch/>
        </p:blipFill>
        <p:spPr>
          <a:xfrm>
            <a:off x="2429510" y="0"/>
            <a:ext cx="6884670" cy="68580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Decision Tree</a:t>
            </a:r>
            <a:endParaRPr/>
          </a:p>
        </p:txBody>
      </p:sp>
      <p:sp>
        <p:nvSpPr>
          <p:cNvPr id="245" name="Google Shape;245;p27"/>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A decision tree is a flowchart that starts with one main idea and then branches out based on the consequences of your decisions. It’s called a “decision tree” because the model typically looks like a tree with branches. </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These trees are used for decision tree analysis, which involves visually outlining the potential outcomes, costs, and consequences of a complex decision. </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2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Decison Tree</a:t>
            </a:r>
            <a:endParaRPr/>
          </a:p>
        </p:txBody>
      </p:sp>
      <p:sp>
        <p:nvSpPr>
          <p:cNvPr id="251" name="Google Shape;251;p2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use a decision tree to calculate the expected value of each outcome based on the decisions and consequences that led to it. Then, by comparing the outcomes to one another, </a:t>
            </a:r>
            <a:endParaRPr/>
          </a:p>
          <a:p>
            <a:pPr indent="-228600" lvl="0" marL="228600" rtl="0" algn="l">
              <a:lnSpc>
                <a:spcPct val="90000"/>
              </a:lnSpc>
              <a:spcBef>
                <a:spcPts val="1000"/>
              </a:spcBef>
              <a:spcAft>
                <a:spcPts val="0"/>
              </a:spcAft>
              <a:buClr>
                <a:schemeClr val="dk1"/>
              </a:buClr>
              <a:buSzPts val="2800"/>
              <a:buChar char="•"/>
            </a:pPr>
            <a:r>
              <a:rPr lang="en-US"/>
              <a:t>you can quickly assess the best course of action. You can also use a decision tree to solve problems, manage costs, and reveal opportunities</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2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Decision tree symbols</a:t>
            </a:r>
            <a:endParaRPr/>
          </a:p>
        </p:txBody>
      </p:sp>
      <p:sp>
        <p:nvSpPr>
          <p:cNvPr id="257" name="Google Shape;257;p2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300"/>
              <a:buChar char="•"/>
            </a:pPr>
            <a:r>
              <a:rPr lang="en-US" sz="2300"/>
              <a:t>A decision tree includes the following symbols:</a:t>
            </a:r>
            <a:endParaRPr sz="2300"/>
          </a:p>
          <a:p>
            <a:pPr indent="-82550" lvl="0" marL="228600" rtl="0" algn="l">
              <a:lnSpc>
                <a:spcPct val="90000"/>
              </a:lnSpc>
              <a:spcBef>
                <a:spcPts val="1000"/>
              </a:spcBef>
              <a:spcAft>
                <a:spcPts val="0"/>
              </a:spcAft>
              <a:buClr>
                <a:schemeClr val="dk1"/>
              </a:buClr>
              <a:buSzPts val="2300"/>
              <a:buNone/>
            </a:pPr>
            <a:r>
              <a:t/>
            </a:r>
            <a:endParaRPr sz="2300"/>
          </a:p>
          <a:p>
            <a:pPr indent="-228600" lvl="0" marL="228600" rtl="0" algn="l">
              <a:lnSpc>
                <a:spcPct val="90000"/>
              </a:lnSpc>
              <a:spcBef>
                <a:spcPts val="1000"/>
              </a:spcBef>
              <a:spcAft>
                <a:spcPts val="0"/>
              </a:spcAft>
              <a:buClr>
                <a:schemeClr val="dk1"/>
              </a:buClr>
              <a:buSzPts val="2300"/>
              <a:buChar char="•"/>
            </a:pPr>
            <a:r>
              <a:rPr lang="en-US" sz="2300"/>
              <a:t>Alternative branches: Alternative branches are two lines that branch out from one decision on your decision tree. These branches show two outcomes or decisions that stem from the initial decision on your tree.</a:t>
            </a:r>
            <a:endParaRPr sz="2300"/>
          </a:p>
          <a:p>
            <a:pPr indent="-82550" lvl="0" marL="228600" rtl="0" algn="l">
              <a:lnSpc>
                <a:spcPct val="90000"/>
              </a:lnSpc>
              <a:spcBef>
                <a:spcPts val="1000"/>
              </a:spcBef>
              <a:spcAft>
                <a:spcPts val="0"/>
              </a:spcAft>
              <a:buClr>
                <a:schemeClr val="dk1"/>
              </a:buClr>
              <a:buSzPts val="2300"/>
              <a:buNone/>
            </a:pPr>
            <a:r>
              <a:t/>
            </a:r>
            <a:endParaRPr sz="2300"/>
          </a:p>
          <a:p>
            <a:pPr indent="-228600" lvl="0" marL="228600" rtl="0" algn="l">
              <a:lnSpc>
                <a:spcPct val="90000"/>
              </a:lnSpc>
              <a:spcBef>
                <a:spcPts val="1000"/>
              </a:spcBef>
              <a:spcAft>
                <a:spcPts val="0"/>
              </a:spcAft>
              <a:buClr>
                <a:schemeClr val="dk1"/>
              </a:buClr>
              <a:buSzPts val="2300"/>
              <a:buChar char="•"/>
            </a:pPr>
            <a:r>
              <a:rPr lang="en-US" sz="2300"/>
              <a:t>Decision nodes: Decision nodes are squares and represent a decision being made on your tree. Every decision tree starts with a decision node. </a:t>
            </a:r>
            <a:endParaRPr sz="2300"/>
          </a:p>
          <a:p>
            <a:pPr indent="-82550" lvl="0" marL="228600" rtl="0" algn="l">
              <a:lnSpc>
                <a:spcPct val="90000"/>
              </a:lnSpc>
              <a:spcBef>
                <a:spcPts val="1000"/>
              </a:spcBef>
              <a:spcAft>
                <a:spcPts val="0"/>
              </a:spcAft>
              <a:buClr>
                <a:schemeClr val="dk1"/>
              </a:buClr>
              <a:buSzPts val="2300"/>
              <a:buNone/>
            </a:pPr>
            <a:r>
              <a:t/>
            </a:r>
            <a:endParaRPr sz="2300"/>
          </a:p>
          <a:p>
            <a:pPr indent="-228600" lvl="0" marL="228600" rtl="0" algn="l">
              <a:lnSpc>
                <a:spcPct val="90000"/>
              </a:lnSpc>
              <a:spcBef>
                <a:spcPts val="1000"/>
              </a:spcBef>
              <a:spcAft>
                <a:spcPts val="0"/>
              </a:spcAft>
              <a:buClr>
                <a:schemeClr val="dk1"/>
              </a:buClr>
              <a:buSzPts val="2300"/>
              <a:buChar char="•"/>
            </a:pPr>
            <a:r>
              <a:rPr lang="en-US" sz="2300"/>
              <a:t>Chance nodes: Chance nodes are circles that show multiple possible outcomes.</a:t>
            </a:r>
            <a:endParaRPr sz="2300"/>
          </a:p>
          <a:p>
            <a:pPr indent="-82550" lvl="0" marL="228600" rtl="0" algn="l">
              <a:lnSpc>
                <a:spcPct val="90000"/>
              </a:lnSpc>
              <a:spcBef>
                <a:spcPts val="1000"/>
              </a:spcBef>
              <a:spcAft>
                <a:spcPts val="0"/>
              </a:spcAft>
              <a:buClr>
                <a:schemeClr val="dk1"/>
              </a:buClr>
              <a:buSzPts val="2300"/>
              <a:buNone/>
            </a:pPr>
            <a:r>
              <a:t/>
            </a:r>
            <a:endParaRPr sz="2300"/>
          </a:p>
          <a:p>
            <a:pPr indent="-228600" lvl="0" marL="228600" rtl="0" algn="l">
              <a:lnSpc>
                <a:spcPct val="90000"/>
              </a:lnSpc>
              <a:spcBef>
                <a:spcPts val="1000"/>
              </a:spcBef>
              <a:spcAft>
                <a:spcPts val="0"/>
              </a:spcAft>
              <a:buClr>
                <a:schemeClr val="dk1"/>
              </a:buClr>
              <a:buSzPts val="2300"/>
              <a:buChar char="•"/>
            </a:pPr>
            <a:r>
              <a:rPr lang="en-US" sz="2300"/>
              <a:t>End nodes: End nodes are triangles that show a final outcome.</a:t>
            </a:r>
            <a:endParaRPr sz="2300"/>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sp>
        <p:nvSpPr>
          <p:cNvPr id="262" name="Google Shape;262;p3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sp>
        <p:nvSpPr>
          <p:cNvPr id="263" name="Google Shape;263;p3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You can use decision tree analysis to make decisions in many areas including operations, budget planning, and project management. Where possible, include quantitative data and numbers to create an effective tree. The more data you have, the easier it will be for you to determine expected values and analyze solutions based on numbers. </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2800"/>
              <a:buChar char="•"/>
            </a:pPr>
            <a:r>
              <a:rPr lang="en-US"/>
              <a:t>For example, if you’re trying to determine which project is most cost-effective, you can use a decision tree to analyze the potential outcomes of each project and choose the project that will most likely result in highest earnings.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1"/>
          <p:cNvSpPr txBox="1"/>
          <p:nvPr>
            <p:ph type="title"/>
          </p:nvPr>
        </p:nvSpPr>
        <p:spPr>
          <a:xfrm>
            <a:off x="838200" y="0"/>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How to create a decision tree</a:t>
            </a:r>
            <a:endParaRPr/>
          </a:p>
        </p:txBody>
      </p:sp>
      <p:pic>
        <p:nvPicPr>
          <p:cNvPr id="269" name="Google Shape;269;p31"/>
          <p:cNvPicPr preferRelativeResize="0"/>
          <p:nvPr>
            <p:ph idx="1" type="body"/>
          </p:nvPr>
        </p:nvPicPr>
        <p:blipFill rotWithShape="1">
          <a:blip r:embed="rId3">
            <a:alphaModFix/>
          </a:blip>
          <a:srcRect b="8315" l="0" r="0" t="0"/>
          <a:stretch/>
        </p:blipFill>
        <p:spPr>
          <a:xfrm>
            <a:off x="0" y="1099820"/>
            <a:ext cx="4531995" cy="5758180"/>
          </a:xfrm>
          <a:prstGeom prst="rect">
            <a:avLst/>
          </a:prstGeom>
          <a:noFill/>
          <a:ln>
            <a:noFill/>
          </a:ln>
        </p:spPr>
      </p:pic>
      <p:pic>
        <p:nvPicPr>
          <p:cNvPr id="270" name="Google Shape;270;p31"/>
          <p:cNvPicPr preferRelativeResize="0"/>
          <p:nvPr/>
        </p:nvPicPr>
        <p:blipFill rotWithShape="1">
          <a:blip r:embed="rId4">
            <a:alphaModFix/>
          </a:blip>
          <a:srcRect b="12212" l="0" r="0" t="0"/>
          <a:stretch/>
        </p:blipFill>
        <p:spPr>
          <a:xfrm>
            <a:off x="4450715" y="1099820"/>
            <a:ext cx="7741285" cy="575818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3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Expected Value</a:t>
            </a:r>
            <a:endParaRPr/>
          </a:p>
        </p:txBody>
      </p:sp>
      <p:sp>
        <p:nvSpPr>
          <p:cNvPr id="276" name="Google Shape;276;p3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fontScale="60000"/>
          </a:bodyPr>
          <a:lstStyle/>
          <a:p>
            <a:pPr indent="-228600" lvl="0" marL="228600" rtl="0" algn="l">
              <a:lnSpc>
                <a:spcPct val="90000"/>
              </a:lnSpc>
              <a:spcBef>
                <a:spcPts val="0"/>
              </a:spcBef>
              <a:spcAft>
                <a:spcPts val="0"/>
              </a:spcAft>
              <a:buClr>
                <a:schemeClr val="dk1"/>
              </a:buClr>
              <a:buSzPct val="100000"/>
              <a:buChar char="•"/>
            </a:pPr>
            <a:r>
              <a:rPr lang="en-US"/>
              <a:t>For example, it’ll cost your company a specific amount of money to build or upgrade an app. It’ll also cost more or less money to create one app over another. Writing these values in your tree under each decision can help you in the decision-making process. </a:t>
            </a:r>
            <a:endParaRPr/>
          </a:p>
          <a:p>
            <a:pPr indent="-121920" lvl="0" marL="228600" rtl="0" algn="l">
              <a:lnSpc>
                <a:spcPct val="90000"/>
              </a:lnSpc>
              <a:spcBef>
                <a:spcPts val="1000"/>
              </a:spcBef>
              <a:spcAft>
                <a:spcPts val="0"/>
              </a:spcAft>
              <a:buClr>
                <a:schemeClr val="dk1"/>
              </a:buClr>
              <a:buSzPct val="100000"/>
              <a:buNone/>
            </a:pPr>
            <a:r>
              <a:t/>
            </a:r>
            <a:endParaRPr/>
          </a:p>
          <a:p>
            <a:pPr indent="-228600" lvl="0" marL="228600" rtl="0" algn="l">
              <a:lnSpc>
                <a:spcPct val="90000"/>
              </a:lnSpc>
              <a:spcBef>
                <a:spcPts val="1000"/>
              </a:spcBef>
              <a:spcAft>
                <a:spcPts val="0"/>
              </a:spcAft>
              <a:buClr>
                <a:schemeClr val="dk1"/>
              </a:buClr>
              <a:buSzPct val="100000"/>
              <a:buChar char="•"/>
            </a:pPr>
            <a:r>
              <a:rPr lang="en-US"/>
              <a:t>You can also try to estimate expected value you’ll create, whether large or small, for each decision. Once you know the cost of each outcome and the probability it will occur, you can calculate the expected value of each outcome using the following formula:</a:t>
            </a:r>
            <a:endParaRPr/>
          </a:p>
          <a:p>
            <a:pPr indent="-121920" lvl="0" marL="228600" rtl="0" algn="l">
              <a:lnSpc>
                <a:spcPct val="90000"/>
              </a:lnSpc>
              <a:spcBef>
                <a:spcPts val="1000"/>
              </a:spcBef>
              <a:spcAft>
                <a:spcPts val="0"/>
              </a:spcAft>
              <a:buClr>
                <a:schemeClr val="dk1"/>
              </a:buClr>
              <a:buSzPct val="100000"/>
              <a:buNone/>
            </a:pPr>
            <a:r>
              <a:t/>
            </a:r>
            <a:endParaRPr/>
          </a:p>
          <a:p>
            <a:pPr indent="-228600" lvl="0" marL="228600" rtl="0" algn="l">
              <a:lnSpc>
                <a:spcPct val="90000"/>
              </a:lnSpc>
              <a:spcBef>
                <a:spcPts val="1000"/>
              </a:spcBef>
              <a:spcAft>
                <a:spcPts val="0"/>
              </a:spcAft>
              <a:buClr>
                <a:schemeClr val="dk1"/>
              </a:buClr>
              <a:buSzPct val="100000"/>
              <a:buChar char="•"/>
            </a:pPr>
            <a:r>
              <a:rPr b="1" lang="en-US"/>
              <a:t>Expected value (EV) = (First possible outcome x Likelihood of outcome) + (Second possible outcome x Likelihood of outcome) - Cost </a:t>
            </a:r>
            <a:endParaRPr b="1"/>
          </a:p>
          <a:p>
            <a:pPr indent="-121920" lvl="0" marL="228600" rtl="0" algn="l">
              <a:lnSpc>
                <a:spcPct val="90000"/>
              </a:lnSpc>
              <a:spcBef>
                <a:spcPts val="1000"/>
              </a:spcBef>
              <a:spcAft>
                <a:spcPts val="0"/>
              </a:spcAft>
              <a:buClr>
                <a:schemeClr val="dk1"/>
              </a:buClr>
              <a:buSzPct val="100000"/>
              <a:buNone/>
            </a:pPr>
            <a:r>
              <a:t/>
            </a:r>
            <a:endParaRPr/>
          </a:p>
          <a:p>
            <a:pPr indent="-228600" lvl="0" marL="228600" rtl="0" algn="l">
              <a:lnSpc>
                <a:spcPct val="90000"/>
              </a:lnSpc>
              <a:spcBef>
                <a:spcPts val="1000"/>
              </a:spcBef>
              <a:spcAft>
                <a:spcPts val="0"/>
              </a:spcAft>
              <a:buClr>
                <a:schemeClr val="dk1"/>
              </a:buClr>
              <a:buSzPct val="100000"/>
              <a:buChar char="•"/>
            </a:pPr>
            <a:r>
              <a:rPr lang="en-US"/>
              <a:t>Calculate the expected value by multiplying both possible outcomes by the likelihood that each outcome will occur and then adding those values. You’ll also need to subtract any initial costs from your total.</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33"/>
          <p:cNvSpPr txBox="1"/>
          <p:nvPr>
            <p:ph type="title"/>
          </p:nvPr>
        </p:nvSpPr>
        <p:spPr>
          <a:xfrm>
            <a:off x="838200" y="160020"/>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Decision tree analysis example</a:t>
            </a:r>
            <a:endParaRPr/>
          </a:p>
        </p:txBody>
      </p:sp>
      <p:sp>
        <p:nvSpPr>
          <p:cNvPr id="282" name="Google Shape;282;p33"/>
          <p:cNvSpPr txBox="1"/>
          <p:nvPr>
            <p:ph idx="1" type="body"/>
          </p:nvPr>
        </p:nvSpPr>
        <p:spPr>
          <a:xfrm>
            <a:off x="838200" y="1485900"/>
            <a:ext cx="10515600" cy="4758690"/>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000"/>
              <a:buChar char="•"/>
            </a:pPr>
            <a:r>
              <a:rPr lang="en-US" sz="2000"/>
              <a:t>In the decision tree analysis example below, you can see how you would map out your tree diagram if you were choosing between building or upgrading a new software app. </a:t>
            </a:r>
            <a:endParaRPr sz="2000"/>
          </a:p>
          <a:p>
            <a:pPr indent="-101600" lvl="0" marL="228600" rtl="0" algn="l">
              <a:lnSpc>
                <a:spcPct val="90000"/>
              </a:lnSpc>
              <a:spcBef>
                <a:spcPts val="1000"/>
              </a:spcBef>
              <a:spcAft>
                <a:spcPts val="0"/>
              </a:spcAft>
              <a:buClr>
                <a:schemeClr val="dk1"/>
              </a:buClr>
              <a:buSzPts val="2000"/>
              <a:buNone/>
            </a:pPr>
            <a:r>
              <a:t/>
            </a:r>
            <a:endParaRPr sz="2000"/>
          </a:p>
          <a:p>
            <a:pPr indent="-228600" lvl="0" marL="228600" rtl="0" algn="l">
              <a:lnSpc>
                <a:spcPct val="90000"/>
              </a:lnSpc>
              <a:spcBef>
                <a:spcPts val="1000"/>
              </a:spcBef>
              <a:spcAft>
                <a:spcPts val="0"/>
              </a:spcAft>
              <a:buClr>
                <a:schemeClr val="dk1"/>
              </a:buClr>
              <a:buSzPts val="2000"/>
              <a:buChar char="•"/>
            </a:pPr>
            <a:r>
              <a:rPr lang="en-US" sz="2000"/>
              <a:t>As the tree branches out, your outcomes involve large and small revenues and your project costs are taken out of your expected values.</a:t>
            </a:r>
            <a:endParaRPr sz="2000"/>
          </a:p>
          <a:p>
            <a:pPr indent="-101600" lvl="0" marL="228600" rtl="0" algn="l">
              <a:lnSpc>
                <a:spcPct val="90000"/>
              </a:lnSpc>
              <a:spcBef>
                <a:spcPts val="1000"/>
              </a:spcBef>
              <a:spcAft>
                <a:spcPts val="0"/>
              </a:spcAft>
              <a:buClr>
                <a:schemeClr val="dk1"/>
              </a:buClr>
              <a:buSzPts val="2000"/>
              <a:buNone/>
            </a:pPr>
            <a:r>
              <a:t/>
            </a:r>
            <a:endParaRPr sz="2000"/>
          </a:p>
          <a:p>
            <a:pPr indent="-228600" lvl="0" marL="228600" rtl="0" algn="l">
              <a:lnSpc>
                <a:spcPct val="90000"/>
              </a:lnSpc>
              <a:spcBef>
                <a:spcPts val="1000"/>
              </a:spcBef>
              <a:spcAft>
                <a:spcPts val="0"/>
              </a:spcAft>
              <a:buClr>
                <a:schemeClr val="dk1"/>
              </a:buClr>
              <a:buSzPts val="2000"/>
              <a:buChar char="•"/>
            </a:pPr>
            <a:r>
              <a:rPr lang="en-US" sz="2000"/>
              <a:t>Decision nodes from this example: </a:t>
            </a:r>
            <a:endParaRPr sz="2000"/>
          </a:p>
          <a:p>
            <a:pPr indent="-101600" lvl="0" marL="228600" rtl="0" algn="l">
              <a:lnSpc>
                <a:spcPct val="90000"/>
              </a:lnSpc>
              <a:spcBef>
                <a:spcPts val="1000"/>
              </a:spcBef>
              <a:spcAft>
                <a:spcPts val="0"/>
              </a:spcAft>
              <a:buClr>
                <a:schemeClr val="dk1"/>
              </a:buClr>
              <a:buSzPts val="2000"/>
              <a:buNone/>
            </a:pPr>
            <a:r>
              <a:t/>
            </a:r>
            <a:endParaRPr sz="2000"/>
          </a:p>
          <a:p>
            <a:pPr indent="-228600" lvl="0" marL="228600" rtl="0" algn="l">
              <a:lnSpc>
                <a:spcPct val="90000"/>
              </a:lnSpc>
              <a:spcBef>
                <a:spcPts val="1000"/>
              </a:spcBef>
              <a:spcAft>
                <a:spcPts val="0"/>
              </a:spcAft>
              <a:buClr>
                <a:schemeClr val="dk1"/>
              </a:buClr>
              <a:buSzPts val="2000"/>
              <a:buChar char="•"/>
            </a:pPr>
            <a:r>
              <a:rPr lang="en-US" sz="2000"/>
              <a:t>Build new scheduling app: $50K</a:t>
            </a:r>
            <a:endParaRPr sz="2000"/>
          </a:p>
          <a:p>
            <a:pPr indent="-101600" lvl="0" marL="228600" rtl="0" algn="l">
              <a:lnSpc>
                <a:spcPct val="90000"/>
              </a:lnSpc>
              <a:spcBef>
                <a:spcPts val="1000"/>
              </a:spcBef>
              <a:spcAft>
                <a:spcPts val="0"/>
              </a:spcAft>
              <a:buClr>
                <a:schemeClr val="dk1"/>
              </a:buClr>
              <a:buSzPts val="2000"/>
              <a:buNone/>
            </a:pPr>
            <a:r>
              <a:t/>
            </a:r>
            <a:endParaRPr sz="2000"/>
          </a:p>
          <a:p>
            <a:pPr indent="-228600" lvl="0" marL="228600" rtl="0" algn="l">
              <a:lnSpc>
                <a:spcPct val="90000"/>
              </a:lnSpc>
              <a:spcBef>
                <a:spcPts val="1000"/>
              </a:spcBef>
              <a:spcAft>
                <a:spcPts val="0"/>
              </a:spcAft>
              <a:buClr>
                <a:schemeClr val="dk1"/>
              </a:buClr>
              <a:buSzPts val="2000"/>
              <a:buChar char="•"/>
            </a:pPr>
            <a:r>
              <a:rPr lang="en-US" sz="2000"/>
              <a:t>Upgrade existing scheduling app: $25K</a:t>
            </a:r>
            <a:endParaRPr sz="2000"/>
          </a:p>
          <a:p>
            <a:pPr indent="-101600" lvl="0" marL="228600" rtl="0" algn="l">
              <a:lnSpc>
                <a:spcPct val="90000"/>
              </a:lnSpc>
              <a:spcBef>
                <a:spcPts val="1000"/>
              </a:spcBef>
              <a:spcAft>
                <a:spcPts val="0"/>
              </a:spcAft>
              <a:buClr>
                <a:schemeClr val="dk1"/>
              </a:buClr>
              <a:buSzPts val="2000"/>
              <a:buNone/>
            </a:pPr>
            <a:r>
              <a:t/>
            </a:r>
            <a:endParaRPr sz="2000"/>
          </a:p>
          <a:p>
            <a:pPr indent="-228600" lvl="0" marL="228600" rtl="0" algn="l">
              <a:lnSpc>
                <a:spcPct val="90000"/>
              </a:lnSpc>
              <a:spcBef>
                <a:spcPts val="1000"/>
              </a:spcBef>
              <a:spcAft>
                <a:spcPts val="0"/>
              </a:spcAft>
              <a:buClr>
                <a:schemeClr val="dk1"/>
              </a:buClr>
              <a:buSzPts val="2000"/>
              <a:buChar char="•"/>
            </a:pPr>
            <a:r>
              <a:rPr lang="en-US" sz="2000"/>
              <a:t>Build team productivity app: $75K</a:t>
            </a:r>
            <a:endParaRPr sz="2000"/>
          </a:p>
          <a:p>
            <a:pPr indent="-101600" lvl="0" marL="228600" rtl="0" algn="l">
              <a:lnSpc>
                <a:spcPct val="90000"/>
              </a:lnSpc>
              <a:spcBef>
                <a:spcPts val="1000"/>
              </a:spcBef>
              <a:spcAft>
                <a:spcPts val="0"/>
              </a:spcAft>
              <a:buClr>
                <a:schemeClr val="dk1"/>
              </a:buClr>
              <a:buSzPts val="2000"/>
              <a:buNone/>
            </a:pPr>
            <a:r>
              <a:t/>
            </a:r>
            <a:endParaRPr sz="2000"/>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34"/>
          <p:cNvSpPr txBox="1"/>
          <p:nvPr>
            <p:ph type="title"/>
          </p:nvPr>
        </p:nvSpPr>
        <p:spPr>
          <a:xfrm>
            <a:off x="838200" y="12001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Chance nodes from this example:</a:t>
            </a:r>
            <a:endParaRPr/>
          </a:p>
        </p:txBody>
      </p:sp>
      <p:sp>
        <p:nvSpPr>
          <p:cNvPr id="288" name="Google Shape;288;p34"/>
          <p:cNvSpPr txBox="1"/>
          <p:nvPr>
            <p:ph idx="1" type="body"/>
          </p:nvPr>
        </p:nvSpPr>
        <p:spPr>
          <a:xfrm>
            <a:off x="742950" y="1253490"/>
            <a:ext cx="10515600" cy="4351338"/>
          </a:xfrm>
          <a:prstGeom prst="rect">
            <a:avLst/>
          </a:prstGeom>
          <a:noFill/>
          <a:ln>
            <a:noFill/>
          </a:ln>
        </p:spPr>
        <p:txBody>
          <a:bodyPr anchorCtr="0" anchor="t" bIns="45700" lIns="91425" spcFirstLastPara="1" rIns="91425" wrap="square" tIns="45700">
            <a:noAutofit/>
          </a:bodyPr>
          <a:lstStyle/>
          <a:p>
            <a:pPr indent="-158750" lvl="0" marL="228600" rtl="0" algn="l">
              <a:lnSpc>
                <a:spcPct val="90000"/>
              </a:lnSpc>
              <a:spcBef>
                <a:spcPts val="0"/>
              </a:spcBef>
              <a:spcAft>
                <a:spcPts val="0"/>
              </a:spcAft>
              <a:buClr>
                <a:schemeClr val="dk1"/>
              </a:buClr>
              <a:buSzPts val="1100"/>
              <a:buNone/>
            </a:pPr>
            <a:r>
              <a:t/>
            </a:r>
            <a:endParaRPr sz="1100"/>
          </a:p>
          <a:p>
            <a:pPr indent="-228600" lvl="0" marL="228600" rtl="0" algn="l">
              <a:lnSpc>
                <a:spcPct val="90000"/>
              </a:lnSpc>
              <a:spcBef>
                <a:spcPts val="1000"/>
              </a:spcBef>
              <a:spcAft>
                <a:spcPts val="0"/>
              </a:spcAft>
              <a:buClr>
                <a:schemeClr val="dk1"/>
              </a:buClr>
              <a:buSzPts val="1900"/>
              <a:buChar char="•"/>
            </a:pPr>
            <a:r>
              <a:rPr lang="en-US" sz="1900"/>
              <a:t>Large and small revenue for decision one: 40 and 55%</a:t>
            </a:r>
            <a:endParaRPr sz="1900"/>
          </a:p>
          <a:p>
            <a:pPr indent="-107950" lvl="0" marL="228600" rtl="0" algn="l">
              <a:lnSpc>
                <a:spcPct val="90000"/>
              </a:lnSpc>
              <a:spcBef>
                <a:spcPts val="1000"/>
              </a:spcBef>
              <a:spcAft>
                <a:spcPts val="0"/>
              </a:spcAft>
              <a:buClr>
                <a:schemeClr val="dk1"/>
              </a:buClr>
              <a:buSzPts val="1900"/>
              <a:buNone/>
            </a:pPr>
            <a:r>
              <a:t/>
            </a:r>
            <a:endParaRPr sz="1900"/>
          </a:p>
          <a:p>
            <a:pPr indent="-228600" lvl="0" marL="228600" rtl="0" algn="l">
              <a:lnSpc>
                <a:spcPct val="90000"/>
              </a:lnSpc>
              <a:spcBef>
                <a:spcPts val="1000"/>
              </a:spcBef>
              <a:spcAft>
                <a:spcPts val="0"/>
              </a:spcAft>
              <a:buClr>
                <a:schemeClr val="dk1"/>
              </a:buClr>
              <a:buSzPts val="1900"/>
              <a:buChar char="•"/>
            </a:pPr>
            <a:r>
              <a:rPr lang="en-US" sz="1900"/>
              <a:t>Large and small revenue for decision two: 60 and 38%</a:t>
            </a:r>
            <a:endParaRPr sz="1900"/>
          </a:p>
          <a:p>
            <a:pPr indent="-107950" lvl="0" marL="228600" rtl="0" algn="l">
              <a:lnSpc>
                <a:spcPct val="90000"/>
              </a:lnSpc>
              <a:spcBef>
                <a:spcPts val="1000"/>
              </a:spcBef>
              <a:spcAft>
                <a:spcPts val="0"/>
              </a:spcAft>
              <a:buClr>
                <a:schemeClr val="dk1"/>
              </a:buClr>
              <a:buSzPts val="1900"/>
              <a:buNone/>
            </a:pPr>
            <a:r>
              <a:t/>
            </a:r>
            <a:endParaRPr sz="1900"/>
          </a:p>
          <a:p>
            <a:pPr indent="-228600" lvl="0" marL="228600" rtl="0" algn="l">
              <a:lnSpc>
                <a:spcPct val="90000"/>
              </a:lnSpc>
              <a:spcBef>
                <a:spcPts val="1000"/>
              </a:spcBef>
              <a:spcAft>
                <a:spcPts val="0"/>
              </a:spcAft>
              <a:buClr>
                <a:schemeClr val="dk1"/>
              </a:buClr>
              <a:buSzPts val="1900"/>
              <a:buChar char="•"/>
            </a:pPr>
            <a:r>
              <a:rPr lang="en-US" sz="1900"/>
              <a:t>Large and small revenue for decision three: 55 and 45%</a:t>
            </a:r>
            <a:endParaRPr sz="1900"/>
          </a:p>
          <a:p>
            <a:pPr indent="-107950" lvl="0" marL="228600" rtl="0" algn="l">
              <a:lnSpc>
                <a:spcPct val="90000"/>
              </a:lnSpc>
              <a:spcBef>
                <a:spcPts val="1000"/>
              </a:spcBef>
              <a:spcAft>
                <a:spcPts val="0"/>
              </a:spcAft>
              <a:buClr>
                <a:schemeClr val="dk1"/>
              </a:buClr>
              <a:buSzPts val="1900"/>
              <a:buNone/>
            </a:pPr>
            <a:r>
              <a:t/>
            </a:r>
            <a:endParaRPr sz="1900"/>
          </a:p>
          <a:p>
            <a:pPr indent="-228600" lvl="0" marL="228600" rtl="0" algn="l">
              <a:lnSpc>
                <a:spcPct val="90000"/>
              </a:lnSpc>
              <a:spcBef>
                <a:spcPts val="1000"/>
              </a:spcBef>
              <a:spcAft>
                <a:spcPts val="0"/>
              </a:spcAft>
              <a:buClr>
                <a:schemeClr val="dk1"/>
              </a:buClr>
              <a:buSzPts val="1900"/>
              <a:buChar char="•"/>
            </a:pPr>
            <a:r>
              <a:rPr lang="en-US" sz="1900"/>
              <a:t>End nodes from this example:</a:t>
            </a:r>
            <a:endParaRPr sz="1900"/>
          </a:p>
          <a:p>
            <a:pPr indent="-107950" lvl="0" marL="228600" rtl="0" algn="l">
              <a:lnSpc>
                <a:spcPct val="90000"/>
              </a:lnSpc>
              <a:spcBef>
                <a:spcPts val="1000"/>
              </a:spcBef>
              <a:spcAft>
                <a:spcPts val="0"/>
              </a:spcAft>
              <a:buClr>
                <a:schemeClr val="dk1"/>
              </a:buClr>
              <a:buSzPts val="1900"/>
              <a:buNone/>
            </a:pPr>
            <a:r>
              <a:t/>
            </a:r>
            <a:endParaRPr sz="1900"/>
          </a:p>
          <a:p>
            <a:pPr indent="-228600" lvl="0" marL="228600" rtl="0" algn="l">
              <a:lnSpc>
                <a:spcPct val="90000"/>
              </a:lnSpc>
              <a:spcBef>
                <a:spcPts val="1000"/>
              </a:spcBef>
              <a:spcAft>
                <a:spcPts val="0"/>
              </a:spcAft>
              <a:buClr>
                <a:schemeClr val="dk1"/>
              </a:buClr>
              <a:buSzPts val="1900"/>
              <a:buChar char="•"/>
            </a:pPr>
            <a:r>
              <a:rPr lang="en-US" sz="1900"/>
              <a:t>Potential profits for decision one: $200K or $150K</a:t>
            </a:r>
            <a:endParaRPr sz="1900"/>
          </a:p>
          <a:p>
            <a:pPr indent="-107950" lvl="0" marL="228600" rtl="0" algn="l">
              <a:lnSpc>
                <a:spcPct val="90000"/>
              </a:lnSpc>
              <a:spcBef>
                <a:spcPts val="1000"/>
              </a:spcBef>
              <a:spcAft>
                <a:spcPts val="0"/>
              </a:spcAft>
              <a:buClr>
                <a:schemeClr val="dk1"/>
              </a:buClr>
              <a:buSzPts val="1900"/>
              <a:buNone/>
            </a:pPr>
            <a:r>
              <a:t/>
            </a:r>
            <a:endParaRPr sz="1900"/>
          </a:p>
          <a:p>
            <a:pPr indent="-228600" lvl="0" marL="228600" rtl="0" algn="l">
              <a:lnSpc>
                <a:spcPct val="90000"/>
              </a:lnSpc>
              <a:spcBef>
                <a:spcPts val="1000"/>
              </a:spcBef>
              <a:spcAft>
                <a:spcPts val="0"/>
              </a:spcAft>
              <a:buClr>
                <a:schemeClr val="dk1"/>
              </a:buClr>
              <a:buSzPts val="1900"/>
              <a:buChar char="•"/>
            </a:pPr>
            <a:r>
              <a:rPr lang="en-US" sz="1900"/>
              <a:t>Potential profits for decision two: $100K or $80K</a:t>
            </a:r>
            <a:endParaRPr sz="1900"/>
          </a:p>
          <a:p>
            <a:pPr indent="-107950" lvl="0" marL="228600" rtl="0" algn="l">
              <a:lnSpc>
                <a:spcPct val="90000"/>
              </a:lnSpc>
              <a:spcBef>
                <a:spcPts val="1000"/>
              </a:spcBef>
              <a:spcAft>
                <a:spcPts val="0"/>
              </a:spcAft>
              <a:buClr>
                <a:schemeClr val="dk1"/>
              </a:buClr>
              <a:buSzPts val="1900"/>
              <a:buNone/>
            </a:pPr>
            <a:r>
              <a:t/>
            </a:r>
            <a:endParaRPr sz="1900"/>
          </a:p>
          <a:p>
            <a:pPr indent="-228600" lvl="0" marL="228600" rtl="0" algn="l">
              <a:lnSpc>
                <a:spcPct val="90000"/>
              </a:lnSpc>
              <a:spcBef>
                <a:spcPts val="1000"/>
              </a:spcBef>
              <a:spcAft>
                <a:spcPts val="0"/>
              </a:spcAft>
              <a:buClr>
                <a:schemeClr val="dk1"/>
              </a:buClr>
              <a:buSzPts val="1900"/>
              <a:buChar char="•"/>
            </a:pPr>
            <a:r>
              <a:rPr lang="en-US" sz="1900"/>
              <a:t>Potential profits for decision three: $250K or $200K</a:t>
            </a:r>
            <a:endParaRPr sz="1900"/>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3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294" name="Google Shape;294;p35"/>
          <p:cNvPicPr preferRelativeResize="0"/>
          <p:nvPr>
            <p:ph idx="1" type="body"/>
          </p:nvPr>
        </p:nvPicPr>
        <p:blipFill rotWithShape="1">
          <a:blip r:embed="rId3">
            <a:alphaModFix/>
          </a:blip>
          <a:srcRect b="0" l="0" r="0" t="0"/>
          <a:stretch/>
        </p:blipFill>
        <p:spPr>
          <a:xfrm>
            <a:off x="3129280" y="0"/>
            <a:ext cx="4581525" cy="685863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2024-11-25T08:00:00Z</dcterms:created>
  <dc:creator>Muhammad Minhal Raxa</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1DE5BAE5E8674FD0992B7D143AE51805_11</vt:lpwstr>
  </property>
  <property fmtid="{D5CDD505-2E9C-101B-9397-08002B2CF9AE}" pid="3" name="KSOProductBuildVer">
    <vt:lpwstr>1033-12.2.0.18911</vt:lpwstr>
  </property>
</Properties>
</file>