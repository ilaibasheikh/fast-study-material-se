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7" r:id="rId45"/>
    <p:sldId id="298" r:id="rId46"/>
    <p:sldId id="304" r:id="rId47"/>
    <p:sldId id="305" r:id="rId48"/>
    <p:sldId id="307" r:id="rId49"/>
    <p:sldId id="310" r:id="rId50"/>
    <p:sldId id="311" r:id="rId51"/>
    <p:sldId id="313" r:id="rId52"/>
    <p:sldId id="317" r:id="rId53"/>
    <p:sldId id="318" r:id="rId54"/>
    <p:sldId id="319" r:id="rId55"/>
    <p:sldId id="320" r:id="rId56"/>
    <p:sldId id="321" r:id="rId57"/>
    <p:sldId id="322" r:id="rId58"/>
    <p:sldId id="349" r:id="rId59"/>
    <p:sldId id="323" r:id="rId60"/>
    <p:sldId id="324" r:id="rId61"/>
    <p:sldId id="325" r:id="rId62"/>
    <p:sldId id="326" r:id="rId63"/>
    <p:sldId id="327" r:id="rId64"/>
    <p:sldId id="328" r:id="rId65"/>
    <p:sldId id="32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345" r:id="rId82"/>
    <p:sldId id="346" r:id="rId83"/>
    <p:sldId id="347" r:id="rId84"/>
    <p:sldId id="348" r:id="rId85"/>
  </p:sldIdLst>
  <p:sldSz cx="12192000" cy="6858000"/>
  <p:notesSz cx="6858000" cy="9144000"/>
  <p:embeddedFontLst>
    <p:embeddedFont>
      <p:font typeface="Tahoma" panose="020B0604030504040204"/>
      <p:regular r:id="rId89"/>
    </p:embeddedFont>
    <p:embeddedFont>
      <p:font typeface="Book Antiqua" panose="02040602050305030304"/>
      <p:regular r:id="rId90"/>
    </p:embeddedFont>
    <p:embeddedFont>
      <p:font typeface="Calibri" panose="020F0502020204030204"/>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4" autoAdjust="0"/>
    <p:restoredTop sz="85234" autoAdjust="0"/>
  </p:normalViewPr>
  <p:slideViewPr>
    <p:cSldViewPr snapToGrid="0">
      <p:cViewPr varScale="1">
        <p:scale>
          <a:sx n="61" d="100"/>
          <a:sy n="61" d="100"/>
        </p:scale>
        <p:origin x="110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4" Type="http://schemas.openxmlformats.org/officeDocument/2006/relationships/font" Target="fonts/font6.fntdata"/><Relationship Id="rId93" Type="http://schemas.openxmlformats.org/officeDocument/2006/relationships/font" Target="fonts/font5.fntdata"/><Relationship Id="rId92" Type="http://schemas.openxmlformats.org/officeDocument/2006/relationships/font" Target="fonts/font4.fntdata"/><Relationship Id="rId91" Type="http://schemas.openxmlformats.org/officeDocument/2006/relationships/font" Target="fonts/font3.fntdata"/><Relationship Id="rId90" Type="http://schemas.openxmlformats.org/officeDocument/2006/relationships/font" Target="fonts/font2.fntdata"/><Relationship Id="rId9" Type="http://schemas.openxmlformats.org/officeDocument/2006/relationships/slide" Target="slides/slide5.xml"/><Relationship Id="rId89" Type="http://schemas.openxmlformats.org/officeDocument/2006/relationships/font" Target="fonts/font1.fntdata"/><Relationship Id="rId88" Type="http://schemas.openxmlformats.org/officeDocument/2006/relationships/tableStyles" Target="tableStyles.xml"/><Relationship Id="rId87" Type="http://schemas.openxmlformats.org/officeDocument/2006/relationships/viewProps" Target="viewProps.xml"/><Relationship Id="rId86" Type="http://schemas.openxmlformats.org/officeDocument/2006/relationships/presProps" Target="presProps.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4" Type="http://schemas.openxmlformats.org/officeDocument/2006/relationships/hyperlink" Target="https://www.projectmanager.com/blog/wbs-dictionary" TargetMode="External"/><Relationship Id="rId3" Type="http://schemas.openxmlformats.org/officeDocument/2006/relationships/hyperlink" Target="https://www.projectmanager.com/work-breakdown-structure" TargetMode="External"/><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0" name="Google Shape;14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fld>
            <a:endParaRP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2" name="Google Shape;15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49 processes, 10 knowledge areas</a:t>
            </a:r>
            <a:endParaRPr lang="en-US"/>
          </a:p>
        </p:txBody>
      </p:sp>
      <p:sp>
        <p:nvSpPr>
          <p:cNvPr id="159" name="Google Shape;15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panose="020F0502020204030204"/>
              <a:buNone/>
            </a:pPr>
            <a:r>
              <a:rPr lang="en-US"/>
              <a:t>A </a:t>
            </a:r>
            <a:r>
              <a:rPr lang="en-US" b="1"/>
              <a:t>process</a:t>
            </a:r>
            <a:r>
              <a:rPr lang="en-US"/>
              <a:t> is a series of actions directed toward a particular result</a:t>
            </a:r>
            <a:endParaRPr lang="en-US"/>
          </a:p>
          <a:p>
            <a:pPr marL="0" marR="0" lvl="0" indent="0" algn="l" rtl="0">
              <a:lnSpc>
                <a:spcPct val="100000"/>
              </a:lnSpc>
              <a:spcBef>
                <a:spcPts val="0"/>
              </a:spcBef>
              <a:spcAft>
                <a:spcPts val="0"/>
              </a:spcAft>
              <a:buClr>
                <a:schemeClr val="dk1"/>
              </a:buClr>
              <a:buSzPts val="1200"/>
              <a:buFont typeface="Calibri" panose="020F0502020204030204"/>
              <a:buNone/>
            </a:pPr>
            <a:r>
              <a:rPr lang="en-US" sz="1200">
                <a:solidFill>
                  <a:schemeClr val="dk1"/>
                </a:solidFill>
                <a:latin typeface="Calibri" panose="020F0502020204030204"/>
                <a:ea typeface="Calibri" panose="020F0502020204030204"/>
                <a:cs typeface="Calibri" panose="020F0502020204030204"/>
                <a:sym typeface="Calibri" panose="020F0502020204030204"/>
              </a:rPr>
              <a:t>Process groups and their constituent processes are guides for applying appropriate project management knowledge and skills during the project.’</a:t>
            </a:r>
            <a:endParaRPr lang="en-US" sz="120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p>
        </p:txBody>
      </p:sp>
      <p:sp>
        <p:nvSpPr>
          <p:cNvPr id="166" name="Google Shape;16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2"/>
        <p:cNvGrpSpPr/>
        <p:nvPr/>
      </p:nvGrpSpPr>
      <p:grpSpPr>
        <a:xfrm>
          <a:off x="0" y="0"/>
          <a:ext cx="0" cy="0"/>
          <a:chOff x="0" y="0"/>
          <a:chExt cx="0" cy="0"/>
        </a:xfrm>
      </p:grpSpPr>
      <p:sp>
        <p:nvSpPr>
          <p:cNvPr id="183" name="Google Shape;18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4" name="Google Shape;1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0" name="Google Shape;19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4"/>
        <p:cNvGrpSpPr/>
        <p:nvPr/>
      </p:nvGrpSpPr>
      <p:grpSpPr>
        <a:xfrm>
          <a:off x="0" y="0"/>
          <a:ext cx="0" cy="0"/>
          <a:chOff x="0" y="0"/>
          <a:chExt cx="0" cy="0"/>
        </a:xfrm>
      </p:grpSpPr>
      <p:sp>
        <p:nvSpPr>
          <p:cNvPr id="195" name="Google Shape;195;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6" name="Google Shape;1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2" name="Google Shape;20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6"/>
        <p:cNvGrpSpPr/>
        <p:nvPr/>
      </p:nvGrpSpPr>
      <p:grpSpPr>
        <a:xfrm>
          <a:off x="0" y="0"/>
          <a:ext cx="0" cy="0"/>
          <a:chOff x="0" y="0"/>
          <a:chExt cx="0" cy="0"/>
        </a:xfrm>
      </p:grpSpPr>
      <p:sp>
        <p:nvSpPr>
          <p:cNvPr id="207" name="Google Shape;20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8" name="Google Shape;20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2"/>
        <p:cNvGrpSpPr/>
        <p:nvPr/>
      </p:nvGrpSpPr>
      <p:grpSpPr>
        <a:xfrm>
          <a:off x="0" y="0"/>
          <a:ext cx="0" cy="0"/>
          <a:chOff x="0" y="0"/>
          <a:chExt cx="0" cy="0"/>
        </a:xfrm>
      </p:grpSpPr>
      <p:sp>
        <p:nvSpPr>
          <p:cNvPr id="213" name="Google Shape;21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4" name="Google Shape;21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8"/>
        <p:cNvGrpSpPr/>
        <p:nvPr/>
      </p:nvGrpSpPr>
      <p:grpSpPr>
        <a:xfrm>
          <a:off x="0" y="0"/>
          <a:ext cx="0" cy="0"/>
          <a:chOff x="0" y="0"/>
          <a:chExt cx="0" cy="0"/>
        </a:xfrm>
      </p:grpSpPr>
      <p:sp>
        <p:nvSpPr>
          <p:cNvPr id="219" name="Google Shape;21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0" name="Google Shape;22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6" name="Google Shape;22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0"/>
        <p:cNvGrpSpPr/>
        <p:nvPr/>
      </p:nvGrpSpPr>
      <p:grpSpPr>
        <a:xfrm>
          <a:off x="0" y="0"/>
          <a:ext cx="0" cy="0"/>
          <a:chOff x="0" y="0"/>
          <a:chExt cx="0" cy="0"/>
        </a:xfrm>
      </p:grpSpPr>
      <p:sp>
        <p:nvSpPr>
          <p:cNvPr id="231" name="Google Shape;2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2" name="Google Shape;2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6"/>
        <p:cNvGrpSpPr/>
        <p:nvPr/>
      </p:nvGrpSpPr>
      <p:grpSpPr>
        <a:xfrm>
          <a:off x="0" y="0"/>
          <a:ext cx="0" cy="0"/>
          <a:chOff x="0" y="0"/>
          <a:chExt cx="0" cy="0"/>
        </a:xfrm>
      </p:grpSpPr>
      <p:sp>
        <p:nvSpPr>
          <p:cNvPr id="237" name="Google Shape;23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Project Managers must not only strive to meet specific scope, time, cost and quality goals of projects, they must also facilitate the entire process to meet the needs and expectations of the people involved in or effected by project activities.</a:t>
            </a:r>
            <a:endParaRPr lang="en-US"/>
          </a:p>
          <a:p>
            <a:pPr marL="0" lvl="0" indent="0" algn="l" rtl="0">
              <a:spcBef>
                <a:spcPts val="0"/>
              </a:spcBef>
              <a:spcAft>
                <a:spcPts val="0"/>
              </a:spcAft>
              <a:buNone/>
            </a:pPr>
          </a:p>
        </p:txBody>
      </p:sp>
      <p:sp>
        <p:nvSpPr>
          <p:cNvPr id="239" name="Google Shape;239;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panose="020F0502020204030204"/>
              <a:buNone/>
            </a:pPr>
            <a:fld id="{00000000-1234-1234-1234-123412341234}" type="slidenum">
              <a:rPr lang="en-US" sz="1200"/>
            </a:fld>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5"/>
        <p:cNvGrpSpPr/>
        <p:nvPr/>
      </p:nvGrpSpPr>
      <p:grpSpPr>
        <a:xfrm>
          <a:off x="0" y="0"/>
          <a:ext cx="0" cy="0"/>
          <a:chOff x="0" y="0"/>
          <a:chExt cx="0" cy="0"/>
        </a:xfrm>
      </p:grpSpPr>
      <p:sp>
        <p:nvSpPr>
          <p:cNvPr id="246" name="Google Shape;24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5"/>
        <p:cNvGrpSpPr/>
        <p:nvPr/>
      </p:nvGrpSpPr>
      <p:grpSpPr>
        <a:xfrm>
          <a:off x="0" y="0"/>
          <a:ext cx="0" cy="0"/>
          <a:chOff x="0" y="0"/>
          <a:chExt cx="0" cy="0"/>
        </a:xfrm>
      </p:grpSpPr>
      <p:sp>
        <p:nvSpPr>
          <p:cNvPr id="256" name="Google Shape;256;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7" name="Google Shape;25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1"/>
        <p:cNvGrpSpPr/>
        <p:nvPr/>
      </p:nvGrpSpPr>
      <p:grpSpPr>
        <a:xfrm>
          <a:off x="0" y="0"/>
          <a:ext cx="0" cy="0"/>
          <a:chOff x="0" y="0"/>
          <a:chExt cx="0" cy="0"/>
        </a:xfrm>
      </p:grpSpPr>
      <p:sp>
        <p:nvSpPr>
          <p:cNvPr id="262" name="Google Shape;262;g2fe654d6980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3" name="Google Shape;263;g2fe654d698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7"/>
        <p:cNvGrpSpPr/>
        <p:nvPr/>
      </p:nvGrpSpPr>
      <p:grpSpPr>
        <a:xfrm>
          <a:off x="0" y="0"/>
          <a:ext cx="0" cy="0"/>
          <a:chOff x="0" y="0"/>
          <a:chExt cx="0" cy="0"/>
        </a:xfrm>
      </p:grpSpPr>
      <p:sp>
        <p:nvSpPr>
          <p:cNvPr id="268" name="Google Shape;26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457200" lvl="0" indent="-307975" algn="l" rtl="0">
              <a:spcBef>
                <a:spcPts val="0"/>
              </a:spcBef>
              <a:spcAft>
                <a:spcPts val="0"/>
              </a:spcAft>
              <a:buClr>
                <a:schemeClr val="dk1"/>
              </a:buClr>
              <a:buSzPts val="1250"/>
              <a:buFont typeface="Arial" panose="020B0604020202020204"/>
              <a:buChar char="●"/>
            </a:pPr>
            <a:r>
              <a:rPr lang="en-US" sz="1250">
                <a:latin typeface="Arial" panose="020B0604020202020204"/>
                <a:ea typeface="Arial" panose="020B0604020202020204"/>
                <a:cs typeface="Arial" panose="020B0604020202020204"/>
                <a:sym typeface="Arial" panose="020B0604020202020204"/>
              </a:rPr>
              <a:t>This process is essential to ensure that the project includes </a:t>
            </a:r>
            <a:r>
              <a:rPr lang="en-US" sz="1250" b="1">
                <a:latin typeface="Arial" panose="020B0604020202020204"/>
                <a:ea typeface="Arial" panose="020B0604020202020204"/>
                <a:cs typeface="Arial" panose="020B0604020202020204"/>
                <a:sym typeface="Arial" panose="020B0604020202020204"/>
              </a:rPr>
              <a:t>all</a:t>
            </a:r>
            <a:r>
              <a:rPr lang="en-US" sz="1250">
                <a:latin typeface="Arial" panose="020B0604020202020204"/>
                <a:ea typeface="Arial" panose="020B0604020202020204"/>
                <a:cs typeface="Arial" panose="020B0604020202020204"/>
                <a:sym typeface="Arial" panose="020B0604020202020204"/>
              </a:rPr>
              <a:t> the necessary </a:t>
            </a:r>
            <a:r>
              <a:rPr lang="en-US" sz="1250" b="1">
                <a:latin typeface="Arial" panose="020B0604020202020204"/>
                <a:ea typeface="Arial" panose="020B0604020202020204"/>
                <a:cs typeface="Arial" panose="020B0604020202020204"/>
                <a:sym typeface="Arial" panose="020B0604020202020204"/>
              </a:rPr>
              <a:t>work</a:t>
            </a:r>
            <a:r>
              <a:rPr lang="en-US" sz="1250">
                <a:latin typeface="Arial" panose="020B0604020202020204"/>
                <a:ea typeface="Arial" panose="020B0604020202020204"/>
                <a:cs typeface="Arial" panose="020B0604020202020204"/>
                <a:sym typeface="Arial" panose="020B0604020202020204"/>
              </a:rPr>
              <a:t> while excluding any unnecessary </a:t>
            </a:r>
            <a:r>
              <a:rPr lang="en-US" sz="1250" b="1">
                <a:latin typeface="Arial" panose="020B0604020202020204"/>
                <a:ea typeface="Arial" panose="020B0604020202020204"/>
                <a:cs typeface="Arial" panose="020B0604020202020204"/>
                <a:sym typeface="Arial" panose="020B0604020202020204"/>
              </a:rPr>
              <a:t>work</a:t>
            </a:r>
            <a:r>
              <a:rPr lang="en-US" sz="1250">
                <a:latin typeface="Arial" panose="020B0604020202020204"/>
                <a:ea typeface="Arial" panose="020B0604020202020204"/>
                <a:cs typeface="Arial" panose="020B0604020202020204"/>
                <a:sym typeface="Arial" panose="020B0604020202020204"/>
              </a:rPr>
              <a:t>.</a:t>
            </a:r>
            <a:endParaRPr sz="1350">
              <a:highlight>
                <a:srgbClr val="ECF1F7"/>
              </a:highlight>
              <a:latin typeface="Arial" panose="020B0604020202020204"/>
              <a:ea typeface="Arial" panose="020B0604020202020204"/>
              <a:cs typeface="Arial" panose="020B0604020202020204"/>
              <a:sym typeface="Arial" panose="020B0604020202020204"/>
            </a:endParaRPr>
          </a:p>
          <a:p>
            <a:pPr marL="457200" lvl="0" indent="-314325" algn="l" rtl="0">
              <a:spcBef>
                <a:spcPts val="0"/>
              </a:spcBef>
              <a:spcAft>
                <a:spcPts val="0"/>
              </a:spcAft>
              <a:buClr>
                <a:schemeClr val="dk1"/>
              </a:buClr>
              <a:buSzPts val="1350"/>
              <a:buFont typeface="Arial" panose="020B0604020202020204"/>
              <a:buChar char="●"/>
            </a:pPr>
            <a:r>
              <a:rPr lang="en-US" sz="1350">
                <a:highlight>
                  <a:srgbClr val="ECF1F7"/>
                </a:highlight>
                <a:latin typeface="Arial" panose="020B0604020202020204"/>
                <a:ea typeface="Arial" panose="020B0604020202020204"/>
                <a:cs typeface="Arial" panose="020B0604020202020204"/>
                <a:sym typeface="Arial" panose="020B0604020202020204"/>
              </a:rPr>
              <a:t>A scope baseline is an approved version of your project scope, which is documented in a scope statement, </a:t>
            </a:r>
            <a:r>
              <a:rPr lang="en-US" sz="1350">
                <a:highlight>
                  <a:srgbClr val="ECF1F7"/>
                </a:highlight>
                <a:uFill>
                  <a:noFill/>
                </a:uFill>
                <a:latin typeface="Arial" panose="020B0604020202020204"/>
                <a:ea typeface="Arial" panose="020B0604020202020204"/>
                <a:cs typeface="Arial" panose="020B0604020202020204"/>
                <a:sym typeface="Arial" panose="020B0604020202020204"/>
                <a:hlinkClick r:id="rId3"/>
              </a:rPr>
              <a:t>work breakdown structure (WBS)</a:t>
            </a:r>
            <a:r>
              <a:rPr lang="en-US" sz="1350">
                <a:highlight>
                  <a:srgbClr val="ECF1F7"/>
                </a:highlight>
                <a:latin typeface="Arial" panose="020B0604020202020204"/>
                <a:ea typeface="Arial" panose="020B0604020202020204"/>
                <a:cs typeface="Arial" panose="020B0604020202020204"/>
                <a:sym typeface="Arial" panose="020B0604020202020204"/>
              </a:rPr>
              <a:t> and </a:t>
            </a:r>
            <a:r>
              <a:rPr lang="en-US" sz="1350">
                <a:highlight>
                  <a:srgbClr val="ECF1F7"/>
                </a:highlight>
                <a:uFill>
                  <a:noFill/>
                </a:uFill>
                <a:latin typeface="Arial" panose="020B0604020202020204"/>
                <a:ea typeface="Arial" panose="020B0604020202020204"/>
                <a:cs typeface="Arial" panose="020B0604020202020204"/>
                <a:sym typeface="Arial" panose="020B0604020202020204"/>
                <a:hlinkClick r:id="rId4"/>
              </a:rPr>
              <a:t>WBS dictionary</a:t>
            </a:r>
            <a:r>
              <a:rPr lang="en-US" sz="1350">
                <a:highlight>
                  <a:srgbClr val="ECF1F7"/>
                </a:highlight>
                <a:latin typeface="Arial" panose="020B0604020202020204"/>
                <a:ea typeface="Arial" panose="020B0604020202020204"/>
                <a:cs typeface="Arial" panose="020B0604020202020204"/>
                <a:sym typeface="Arial" panose="020B0604020202020204"/>
              </a:rPr>
              <a:t>. </a:t>
            </a:r>
            <a:endParaRPr sz="1350">
              <a:highlight>
                <a:srgbClr val="ECF1F7"/>
              </a:highlight>
              <a:latin typeface="Arial" panose="020B0604020202020204"/>
              <a:ea typeface="Arial" panose="020B0604020202020204"/>
              <a:cs typeface="Arial" panose="020B0604020202020204"/>
              <a:sym typeface="Arial" panose="020B0604020202020204"/>
            </a:endParaRPr>
          </a:p>
          <a:p>
            <a:pPr marL="457200" lvl="0" indent="-314325" algn="l" rtl="0">
              <a:spcBef>
                <a:spcPts val="0"/>
              </a:spcBef>
              <a:spcAft>
                <a:spcPts val="0"/>
              </a:spcAft>
              <a:buClr>
                <a:schemeClr val="dk1"/>
              </a:buClr>
              <a:buSzPts val="1350"/>
              <a:buFont typeface="Arial" panose="020B0604020202020204"/>
              <a:buChar char="●"/>
            </a:pPr>
            <a:r>
              <a:rPr lang="en-US" sz="1350">
                <a:highlight>
                  <a:srgbClr val="ECF1F7"/>
                </a:highlight>
                <a:latin typeface="Arial" panose="020B0604020202020204"/>
                <a:ea typeface="Arial" panose="020B0604020202020204"/>
                <a:cs typeface="Arial" panose="020B0604020202020204"/>
                <a:sym typeface="Arial" panose="020B0604020202020204"/>
              </a:rPr>
              <a:t>The scope baseline is used as a reference to monitor project progress and compare actual versus planned results.</a:t>
            </a:r>
            <a:endParaRPr sz="1350">
              <a:highlight>
                <a:srgbClr val="ECF1F7"/>
              </a:highlight>
              <a:latin typeface="Arial" panose="020B0604020202020204"/>
              <a:ea typeface="Arial" panose="020B0604020202020204"/>
              <a:cs typeface="Arial" panose="020B0604020202020204"/>
              <a:sym typeface="Arial" panose="020B0604020202020204"/>
            </a:endParaRPr>
          </a:p>
          <a:p>
            <a:pPr marL="457200" lvl="0" indent="-314325" algn="l" rtl="0">
              <a:spcBef>
                <a:spcPts val="0"/>
              </a:spcBef>
              <a:spcAft>
                <a:spcPts val="0"/>
              </a:spcAft>
              <a:buSzPts val="1350"/>
              <a:buFont typeface="Arial" panose="020B0604020202020204"/>
              <a:buChar char="●"/>
            </a:pPr>
            <a:r>
              <a:rPr lang="en-US" sz="1350">
                <a:solidFill>
                  <a:srgbClr val="101423"/>
                </a:solidFill>
                <a:highlight>
                  <a:srgbClr val="ECF1F7"/>
                </a:highlight>
                <a:latin typeface="Arial" panose="020B0604020202020204"/>
                <a:ea typeface="Arial" panose="020B0604020202020204"/>
                <a:cs typeface="Arial" panose="020B0604020202020204"/>
                <a:sym typeface="Arial" panose="020B0604020202020204"/>
              </a:rPr>
              <a:t>A WBS dictionary is where the details of the tasks, activities, and deliverables of the work breakdown structure are located.</a:t>
            </a:r>
            <a:endParaRPr sz="1350">
              <a:highlight>
                <a:srgbClr val="ECF1F7"/>
              </a:highlight>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None/>
            </a:pPr>
            <a:endParaRPr sz="1250">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None/>
            </a:pPr>
            <a:endParaRPr sz="1250">
              <a:highlight>
                <a:srgbClr val="FFFFFF"/>
              </a:highlight>
              <a:latin typeface="Arial" panose="020B0604020202020204"/>
              <a:ea typeface="Arial" panose="020B0604020202020204"/>
              <a:cs typeface="Arial" panose="020B0604020202020204"/>
              <a:sym typeface="Arial" panose="020B0604020202020204"/>
            </a:endParaRPr>
          </a:p>
        </p:txBody>
      </p:sp>
      <p:sp>
        <p:nvSpPr>
          <p:cNvPr id="269" name="Google Shape;26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3"/>
        <p:cNvGrpSpPr/>
        <p:nvPr/>
      </p:nvGrpSpPr>
      <p:grpSpPr>
        <a:xfrm>
          <a:off x="0" y="0"/>
          <a:ext cx="0" cy="0"/>
          <a:chOff x="0" y="0"/>
          <a:chExt cx="0" cy="0"/>
        </a:xfrm>
      </p:grpSpPr>
      <p:sp>
        <p:nvSpPr>
          <p:cNvPr id="274" name="Google Shape;274;g2fe654d6980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sz="1250">
              <a:highlight>
                <a:srgbClr val="FFFFFF"/>
              </a:highlight>
              <a:latin typeface="Arial" panose="020B0604020202020204"/>
              <a:ea typeface="Arial" panose="020B0604020202020204"/>
              <a:cs typeface="Arial" panose="020B0604020202020204"/>
              <a:sym typeface="Arial" panose="020B0604020202020204"/>
            </a:endParaRPr>
          </a:p>
        </p:txBody>
      </p:sp>
      <p:sp>
        <p:nvSpPr>
          <p:cNvPr id="275" name="Google Shape;275;g2fe654d6980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9"/>
        <p:cNvGrpSpPr/>
        <p:nvPr/>
      </p:nvGrpSpPr>
      <p:grpSpPr>
        <a:xfrm>
          <a:off x="0" y="0"/>
          <a:ext cx="0" cy="0"/>
          <a:chOff x="0" y="0"/>
          <a:chExt cx="0" cy="0"/>
        </a:xfrm>
      </p:grpSpPr>
      <p:sp>
        <p:nvSpPr>
          <p:cNvPr id="280" name="Google Shape;28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1" name="Google Shape;28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5"/>
        <p:cNvGrpSpPr/>
        <p:nvPr/>
      </p:nvGrpSpPr>
      <p:grpSpPr>
        <a:xfrm>
          <a:off x="0" y="0"/>
          <a:ext cx="0" cy="0"/>
          <a:chOff x="0" y="0"/>
          <a:chExt cx="0" cy="0"/>
        </a:xfrm>
      </p:grpSpPr>
      <p:sp>
        <p:nvSpPr>
          <p:cNvPr id="286" name="Google Shape;286;g2fe654d6980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7" name="Google Shape;287;g2fe654d698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1"/>
        <p:cNvGrpSpPr/>
        <p:nvPr/>
      </p:nvGrpSpPr>
      <p:grpSpPr>
        <a:xfrm>
          <a:off x="0" y="0"/>
          <a:ext cx="0" cy="0"/>
          <a:chOff x="0" y="0"/>
          <a:chExt cx="0" cy="0"/>
        </a:xfrm>
      </p:grpSpPr>
      <p:sp>
        <p:nvSpPr>
          <p:cNvPr id="292" name="Google Shape;29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3" name="Google Shape;29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7"/>
        <p:cNvGrpSpPr/>
        <p:nvPr/>
      </p:nvGrpSpPr>
      <p:grpSpPr>
        <a:xfrm>
          <a:off x="0" y="0"/>
          <a:ext cx="0" cy="0"/>
          <a:chOff x="0" y="0"/>
          <a:chExt cx="0" cy="0"/>
        </a:xfrm>
      </p:grpSpPr>
      <p:sp>
        <p:nvSpPr>
          <p:cNvPr id="298" name="Google Shape;298;g2fe654d6980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9" name="Google Shape;299;g2fe654d6980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5" name="Google Shape;30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9"/>
        <p:cNvGrpSpPr/>
        <p:nvPr/>
      </p:nvGrpSpPr>
      <p:grpSpPr>
        <a:xfrm>
          <a:off x="0" y="0"/>
          <a:ext cx="0" cy="0"/>
          <a:chOff x="0" y="0"/>
          <a:chExt cx="0" cy="0"/>
        </a:xfrm>
      </p:grpSpPr>
      <p:sp>
        <p:nvSpPr>
          <p:cNvPr id="310" name="Google Shape;310;g2fe654d6980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1" name="Google Shape;311;g2fe654d6980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5"/>
        <p:cNvGrpSpPr/>
        <p:nvPr/>
      </p:nvGrpSpPr>
      <p:grpSpPr>
        <a:xfrm>
          <a:off x="0" y="0"/>
          <a:ext cx="0" cy="0"/>
          <a:chOff x="0" y="0"/>
          <a:chExt cx="0" cy="0"/>
        </a:xfrm>
      </p:grpSpPr>
      <p:sp>
        <p:nvSpPr>
          <p:cNvPr id="316" name="Google Shape;316;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7" name="Google Shape;31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g2fe654d6980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3" name="Google Shape;323;g2fe654d6980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7"/>
        <p:cNvGrpSpPr/>
        <p:nvPr/>
      </p:nvGrpSpPr>
      <p:grpSpPr>
        <a:xfrm>
          <a:off x="0" y="0"/>
          <a:ext cx="0" cy="0"/>
          <a:chOff x="0" y="0"/>
          <a:chExt cx="0" cy="0"/>
        </a:xfrm>
      </p:grpSpPr>
      <p:sp>
        <p:nvSpPr>
          <p:cNvPr id="328" name="Google Shape;32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9" name="Google Shape;32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3"/>
        <p:cNvGrpSpPr/>
        <p:nvPr/>
      </p:nvGrpSpPr>
      <p:grpSpPr>
        <a:xfrm>
          <a:off x="0" y="0"/>
          <a:ext cx="0" cy="0"/>
          <a:chOff x="0" y="0"/>
          <a:chExt cx="0" cy="0"/>
        </a:xfrm>
      </p:grpSpPr>
      <p:sp>
        <p:nvSpPr>
          <p:cNvPr id="334" name="Google Shape;334;g2fe654d6980_0_6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5" name="Google Shape;335;g2fe654d6980_0_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9"/>
        <p:cNvGrpSpPr/>
        <p:nvPr/>
      </p:nvGrpSpPr>
      <p:grpSpPr>
        <a:xfrm>
          <a:off x="0" y="0"/>
          <a:ext cx="0" cy="0"/>
          <a:chOff x="0" y="0"/>
          <a:chExt cx="0" cy="0"/>
        </a:xfrm>
      </p:grpSpPr>
      <p:sp>
        <p:nvSpPr>
          <p:cNvPr id="340" name="Google Shape;34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050">
                <a:solidFill>
                  <a:srgbClr val="4D5156"/>
                </a:solidFill>
                <a:highlight>
                  <a:srgbClr val="FFFFFF"/>
                </a:highlight>
                <a:latin typeface="Arial" panose="020B0604020202020204"/>
                <a:ea typeface="Arial" panose="020B0604020202020204"/>
                <a:cs typeface="Arial" panose="020B0604020202020204"/>
                <a:sym typeface="Arial" panose="020B0604020202020204"/>
              </a:rPr>
              <a:t>A </a:t>
            </a:r>
            <a:r>
              <a:rPr lang="en-US" sz="1050" b="1">
                <a:solidFill>
                  <a:srgbClr val="5F6368"/>
                </a:solidFill>
                <a:highlight>
                  <a:srgbClr val="FFFFFF"/>
                </a:highlight>
                <a:latin typeface="Arial" panose="020B0604020202020204"/>
                <a:ea typeface="Arial" panose="020B0604020202020204"/>
                <a:cs typeface="Arial" panose="020B0604020202020204"/>
                <a:sym typeface="Arial" panose="020B0604020202020204"/>
              </a:rPr>
              <a:t>risk response plan</a:t>
            </a:r>
            <a:r>
              <a:rPr lang="en-US" sz="1050">
                <a:solidFill>
                  <a:srgbClr val="4D5156"/>
                </a:solidFill>
                <a:highlight>
                  <a:srgbClr val="FFFFFF"/>
                </a:highlight>
                <a:latin typeface="Arial" panose="020B0604020202020204"/>
                <a:ea typeface="Arial" panose="020B0604020202020204"/>
                <a:cs typeface="Arial" panose="020B0604020202020204"/>
                <a:sym typeface="Arial" panose="020B0604020202020204"/>
              </a:rPr>
              <a:t> is a document that explains the strategies that would be taken to mitigate negative project risks.</a:t>
            </a:r>
            <a:endParaRPr lang="en-US" sz="1050">
              <a:solidFill>
                <a:srgbClr val="4D5156"/>
              </a:solidFill>
              <a:highlight>
                <a:srgbClr val="FFFFFF"/>
              </a:highlight>
              <a:latin typeface="Arial" panose="020B0604020202020204"/>
              <a:ea typeface="Arial" panose="020B0604020202020204"/>
              <a:cs typeface="Arial" panose="020B0604020202020204"/>
              <a:sym typeface="Arial" panose="020B0604020202020204"/>
            </a:endParaRPr>
          </a:p>
        </p:txBody>
      </p:sp>
      <p:sp>
        <p:nvSpPr>
          <p:cNvPr id="341" name="Google Shape;3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5"/>
        <p:cNvGrpSpPr/>
        <p:nvPr/>
      </p:nvGrpSpPr>
      <p:grpSpPr>
        <a:xfrm>
          <a:off x="0" y="0"/>
          <a:ext cx="0" cy="0"/>
          <a:chOff x="0" y="0"/>
          <a:chExt cx="0" cy="0"/>
        </a:xfrm>
      </p:grpSpPr>
      <p:sp>
        <p:nvSpPr>
          <p:cNvPr id="346" name="Google Shape;346;g2fe654d6980_0_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7" name="Google Shape;347;g2fe654d6980_0_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1"/>
        <p:cNvGrpSpPr/>
        <p:nvPr/>
      </p:nvGrpSpPr>
      <p:grpSpPr>
        <a:xfrm>
          <a:off x="0" y="0"/>
          <a:ext cx="0" cy="0"/>
          <a:chOff x="0" y="0"/>
          <a:chExt cx="0" cy="0"/>
        </a:xfrm>
      </p:grpSpPr>
      <p:sp>
        <p:nvSpPr>
          <p:cNvPr id="352" name="Google Shape;35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3" name="Google Shape;35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7"/>
        <p:cNvGrpSpPr/>
        <p:nvPr/>
      </p:nvGrpSpPr>
      <p:grpSpPr>
        <a:xfrm>
          <a:off x="0" y="0"/>
          <a:ext cx="0" cy="0"/>
          <a:chOff x="0" y="0"/>
          <a:chExt cx="0" cy="0"/>
        </a:xfrm>
      </p:grpSpPr>
      <p:sp>
        <p:nvSpPr>
          <p:cNvPr id="358" name="Google Shape;358;g2fe654d6980_0_7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9" name="Google Shape;359;g2fe654d6980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3"/>
        <p:cNvGrpSpPr/>
        <p:nvPr/>
      </p:nvGrpSpPr>
      <p:grpSpPr>
        <a:xfrm>
          <a:off x="0" y="0"/>
          <a:ext cx="0" cy="0"/>
          <a:chOff x="0" y="0"/>
          <a:chExt cx="0" cy="0"/>
        </a:xfrm>
      </p:grpSpPr>
      <p:sp>
        <p:nvSpPr>
          <p:cNvPr id="364" name="Google Shape;36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5" name="Google Shape;36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9"/>
        <p:cNvGrpSpPr/>
        <p:nvPr/>
      </p:nvGrpSpPr>
      <p:grpSpPr>
        <a:xfrm>
          <a:off x="0" y="0"/>
          <a:ext cx="0" cy="0"/>
          <a:chOff x="0" y="0"/>
          <a:chExt cx="0" cy="0"/>
        </a:xfrm>
      </p:grpSpPr>
      <p:sp>
        <p:nvSpPr>
          <p:cNvPr id="370" name="Google Shape;370;g2fe654d6980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1" name="Google Shape;371;g2fe654d6980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5"/>
        <p:cNvGrpSpPr/>
        <p:nvPr/>
      </p:nvGrpSpPr>
      <p:grpSpPr>
        <a:xfrm>
          <a:off x="0" y="0"/>
          <a:ext cx="0" cy="0"/>
          <a:chOff x="0" y="0"/>
          <a:chExt cx="0" cy="0"/>
        </a:xfrm>
      </p:grpSpPr>
      <p:sp>
        <p:nvSpPr>
          <p:cNvPr id="376" name="Google Shape;376;g2fdf97de495_1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7" name="Google Shape;377;g2fdf97de495_1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1"/>
        <p:cNvGrpSpPr/>
        <p:nvPr/>
      </p:nvGrpSpPr>
      <p:grpSpPr>
        <a:xfrm>
          <a:off x="0" y="0"/>
          <a:ext cx="0" cy="0"/>
          <a:chOff x="0" y="0"/>
          <a:chExt cx="0" cy="0"/>
        </a:xfrm>
      </p:grpSpPr>
      <p:sp>
        <p:nvSpPr>
          <p:cNvPr id="382" name="Google Shape;38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3" name="Google Shape;38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7"/>
        <p:cNvGrpSpPr/>
        <p:nvPr/>
      </p:nvGrpSpPr>
      <p:grpSpPr>
        <a:xfrm>
          <a:off x="0" y="0"/>
          <a:ext cx="0" cy="0"/>
          <a:chOff x="0" y="0"/>
          <a:chExt cx="0" cy="0"/>
        </a:xfrm>
      </p:grpSpPr>
      <p:sp>
        <p:nvSpPr>
          <p:cNvPr id="388" name="Google Shape;38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9" name="Google Shape;38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1"/>
        <p:cNvGrpSpPr/>
        <p:nvPr/>
      </p:nvGrpSpPr>
      <p:grpSpPr>
        <a:xfrm>
          <a:off x="0" y="0"/>
          <a:ext cx="0" cy="0"/>
          <a:chOff x="0" y="0"/>
          <a:chExt cx="0" cy="0"/>
        </a:xfrm>
      </p:grpSpPr>
      <p:sp>
        <p:nvSpPr>
          <p:cNvPr id="402" name="Google Shape;40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8"/>
        <p:cNvGrpSpPr/>
        <p:nvPr/>
      </p:nvGrpSpPr>
      <p:grpSpPr>
        <a:xfrm>
          <a:off x="0" y="0"/>
          <a:ext cx="0" cy="0"/>
          <a:chOff x="0" y="0"/>
          <a:chExt cx="0" cy="0"/>
        </a:xfrm>
      </p:grpSpPr>
      <p:sp>
        <p:nvSpPr>
          <p:cNvPr id="419" name="Google Shape;41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38:notes"/>
          <p:cNvSpPr>
            <a:spLocks noGrp="1" noRot="1" noChangeAspect="1"/>
          </p:cNvSpPr>
          <p:nvPr>
            <p:ph type="sldImg" idx="2"/>
          </p:nvPr>
        </p:nvSpPr>
        <p:spPr>
          <a:xfrm>
            <a:off x="830263" y="787400"/>
            <a:ext cx="5664200" cy="4248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3"/>
        <p:cNvGrpSpPr/>
        <p:nvPr/>
      </p:nvGrpSpPr>
      <p:grpSpPr>
        <a:xfrm>
          <a:off x="0" y="0"/>
          <a:ext cx="0" cy="0"/>
          <a:chOff x="0" y="0"/>
          <a:chExt cx="0" cy="0"/>
        </a:xfrm>
      </p:grpSpPr>
      <p:sp>
        <p:nvSpPr>
          <p:cNvPr id="484" name="Google Shape;48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7"/>
        <p:cNvGrpSpPr/>
        <p:nvPr/>
      </p:nvGrpSpPr>
      <p:grpSpPr>
        <a:xfrm>
          <a:off x="0" y="0"/>
          <a:ext cx="0" cy="0"/>
          <a:chOff x="0" y="0"/>
          <a:chExt cx="0" cy="0"/>
        </a:xfrm>
      </p:grpSpPr>
      <p:sp>
        <p:nvSpPr>
          <p:cNvPr id="498" name="Google Shape;49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panose="020F0502020204030204"/>
                <a:ea typeface="Calibri" panose="020F0502020204030204"/>
                <a:cs typeface="Calibri" panose="020F0502020204030204"/>
                <a:sym typeface="Calibri" panose="020F0502020204030204"/>
              </a:rPr>
              <a:t>To illustrate the difference between the three terms, assume that a schedule contains a task "Test hardware" estimated to run from 1 January to 10 January and to cost $1000, and that this is a simple effort with no overhead or allocated costs. However on 5 January, halfway through the time allowed, the work is 30% complete and has spent $250.</a:t>
            </a:r>
            <a:endParaRPr sz="1200" b="0" i="0">
              <a:solidFill>
                <a:schemeClr val="dk1"/>
              </a:solidFill>
              <a:latin typeface="Calibri" panose="020F0502020204030204"/>
              <a:ea typeface="Calibri" panose="020F0502020204030204"/>
              <a:cs typeface="Calibri" panose="020F0502020204030204"/>
              <a:sym typeface="Calibri" panose="020F0502020204030204"/>
            </a:endParaRPr>
          </a:p>
          <a:p>
            <a:pPr marL="0" lvl="0" indent="0" algn="l" rtl="0">
              <a:spcBef>
                <a:spcPts val="0"/>
              </a:spcBef>
              <a:spcAft>
                <a:spcPts val="0"/>
              </a:spcAft>
              <a:buNone/>
            </a:pPr>
            <a:r>
              <a:rPr lang="en-US"/>
              <a:t>BCWP is $1000 (budgeted cost) times 30% (work performed), or $300</a:t>
            </a:r>
            <a:endParaRPr lang="en-US"/>
          </a:p>
          <a:p>
            <a:pPr marL="0" lvl="0" indent="0" algn="l" rtl="0">
              <a:spcBef>
                <a:spcPts val="0"/>
              </a:spcBef>
              <a:spcAft>
                <a:spcPts val="0"/>
              </a:spcAft>
              <a:buNone/>
            </a:pPr>
            <a:r>
              <a:rPr lang="en-US"/>
              <a:t>BCWS is $1000 (budgeted cost) times 50% (scheduled amount), or $500</a:t>
            </a:r>
            <a:endParaRPr lang="en-US"/>
          </a:p>
          <a:p>
            <a:pPr marL="0" lvl="0" indent="0" algn="l" rtl="0">
              <a:spcBef>
                <a:spcPts val="0"/>
              </a:spcBef>
              <a:spcAft>
                <a:spcPts val="0"/>
              </a:spcAft>
              <a:buNone/>
            </a:pPr>
            <a:r>
              <a:rPr lang="en-US"/>
              <a:t>ACWP is $250</a:t>
            </a:r>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8"/>
        <p:cNvGrpSpPr/>
        <p:nvPr/>
      </p:nvGrpSpPr>
      <p:grpSpPr>
        <a:xfrm>
          <a:off x="0" y="0"/>
          <a:ext cx="0" cy="0"/>
          <a:chOff x="0" y="0"/>
          <a:chExt cx="0" cy="0"/>
        </a:xfrm>
      </p:grpSpPr>
      <p:sp>
        <p:nvSpPr>
          <p:cNvPr id="519" name="Google Shape;51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25"/>
        <p:cNvGrpSpPr/>
        <p:nvPr/>
      </p:nvGrpSpPr>
      <p:grpSpPr>
        <a:xfrm>
          <a:off x="0" y="0"/>
          <a:ext cx="0" cy="0"/>
          <a:chOff x="0" y="0"/>
          <a:chExt cx="0" cy="0"/>
        </a:xfrm>
      </p:grpSpPr>
      <p:sp>
        <p:nvSpPr>
          <p:cNvPr id="526" name="Google Shape;52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Calibri" panose="020F0502020204030204"/>
              <a:buChar char="-"/>
            </a:pPr>
            <a:r>
              <a:rPr lang="en-US" sz="1200" b="0" i="0">
                <a:solidFill>
                  <a:schemeClr val="dk1"/>
                </a:solidFill>
                <a:latin typeface="Calibri" panose="020F0502020204030204"/>
                <a:ea typeface="Calibri" panose="020F0502020204030204"/>
                <a:cs typeface="Calibri" panose="020F0502020204030204"/>
                <a:sym typeface="Calibri" panose="020F0502020204030204"/>
              </a:rPr>
              <a:t>The work package level is the lowest level of a work breakdown structure (WBS).</a:t>
            </a:r>
            <a:endParaRPr sz="1200" b="0" i="0">
              <a:solidFill>
                <a:schemeClr val="dk1"/>
              </a:solidFill>
              <a:latin typeface="Calibri" panose="020F0502020204030204"/>
              <a:ea typeface="Calibri" panose="020F0502020204030204"/>
              <a:cs typeface="Calibri" panose="020F0502020204030204"/>
              <a:sym typeface="Calibri" panose="020F0502020204030204"/>
            </a:endParaRPr>
          </a:p>
          <a:p>
            <a:pPr marL="171450" lvl="0" indent="-95250" algn="l" rtl="0">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0"/>
        <p:cNvGrpSpPr/>
        <p:nvPr/>
      </p:nvGrpSpPr>
      <p:grpSpPr>
        <a:xfrm>
          <a:off x="0" y="0"/>
          <a:ext cx="0" cy="0"/>
          <a:chOff x="0" y="0"/>
          <a:chExt cx="0" cy="0"/>
        </a:xfrm>
      </p:grpSpPr>
      <p:sp>
        <p:nvSpPr>
          <p:cNvPr id="541" name="Google Shape;541;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2" name="Google Shape;542;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9"/>
        <p:cNvGrpSpPr/>
        <p:nvPr/>
      </p:nvGrpSpPr>
      <p:grpSpPr>
        <a:xfrm>
          <a:off x="0" y="0"/>
          <a:ext cx="0" cy="0"/>
          <a:chOff x="0" y="0"/>
          <a:chExt cx="0" cy="0"/>
        </a:xfrm>
      </p:grpSpPr>
      <p:sp>
        <p:nvSpPr>
          <p:cNvPr id="570" name="Google Shape;570;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1" name="Google Shape;571;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6"/>
        <p:cNvGrpSpPr/>
        <p:nvPr/>
      </p:nvGrpSpPr>
      <p:grpSpPr>
        <a:xfrm>
          <a:off x="0" y="0"/>
          <a:ext cx="0" cy="0"/>
          <a:chOff x="0" y="0"/>
          <a:chExt cx="0" cy="0"/>
        </a:xfrm>
      </p:grpSpPr>
      <p:sp>
        <p:nvSpPr>
          <p:cNvPr id="577" name="Google Shape;577;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8" name="Google Shape;578;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3"/>
        <p:cNvGrpSpPr/>
        <p:nvPr/>
      </p:nvGrpSpPr>
      <p:grpSpPr>
        <a:xfrm>
          <a:off x="0" y="0"/>
          <a:ext cx="0" cy="0"/>
          <a:chOff x="0" y="0"/>
          <a:chExt cx="0" cy="0"/>
        </a:xfrm>
      </p:grpSpPr>
      <p:sp>
        <p:nvSpPr>
          <p:cNvPr id="584" name="Google Shape;58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5" name="Google Shape;58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Phases are the </a:t>
            </a:r>
            <a:r>
              <a:rPr lang="en-US" b="1" dirty="0"/>
              <a:t>Logical Division </a:t>
            </a:r>
            <a:r>
              <a:rPr lang="en-US" dirty="0"/>
              <a:t>of a project. Work being carried out in each phase has a </a:t>
            </a:r>
            <a:r>
              <a:rPr lang="en-US" b="1" dirty="0"/>
              <a:t>distinct focus </a:t>
            </a:r>
            <a:r>
              <a:rPr lang="en-US" dirty="0"/>
              <a:t>i.e. producing detailed design and drawing requirements during design phase, Procurement during construction phase and producing documentation for possession during occupancy phase. </a:t>
            </a:r>
            <a:endParaRPr dirty="0"/>
          </a:p>
          <a:p>
            <a:pPr marL="0" lvl="0" indent="0" algn="l" rtl="0">
              <a:spcBef>
                <a:spcPts val="0"/>
              </a:spcBef>
              <a:spcAft>
                <a:spcPts val="0"/>
              </a:spcAft>
              <a:buNone/>
            </a:pPr>
            <a:r>
              <a:rPr lang="en-US" dirty="0"/>
              <a:t>Each phase has its own </a:t>
            </a:r>
            <a:r>
              <a:rPr lang="en-US" b="1" dirty="0"/>
              <a:t>objectives and deliverables</a:t>
            </a:r>
            <a:r>
              <a:rPr lang="en-US" dirty="0"/>
              <a:t>. i.e. deliverable for Design phase is bill of quantities etc. </a:t>
            </a:r>
            <a:endParaRPr dirty="0"/>
          </a:p>
          <a:p>
            <a:pPr marL="0" lvl="0" indent="0" algn="l" rtl="0">
              <a:spcBef>
                <a:spcPts val="0"/>
              </a:spcBef>
              <a:spcAft>
                <a:spcPts val="0"/>
              </a:spcAft>
              <a:buNone/>
            </a:pPr>
            <a:r>
              <a:rPr lang="en-US" dirty="0"/>
              <a:t>When a phase is formally closed it called </a:t>
            </a:r>
            <a:r>
              <a:rPr lang="en-US" b="1" dirty="0"/>
              <a:t>Stage gate, Phase gate, Milestone or kill point</a:t>
            </a:r>
            <a:r>
              <a:rPr lang="en-US" dirty="0"/>
              <a:t>. </a:t>
            </a:r>
            <a:r>
              <a:rPr lang="en-US" b="1" dirty="0"/>
              <a:t> </a:t>
            </a:r>
            <a:r>
              <a:rPr lang="en-US" dirty="0"/>
              <a:t>Review of phase being closed and decision to move to next phase is made during phase closure.</a:t>
            </a:r>
            <a:endParaRPr dirty="0"/>
          </a:p>
          <a:p>
            <a:pPr marL="0" lvl="0" indent="0" algn="l" rtl="0">
              <a:spcBef>
                <a:spcPts val="0"/>
              </a:spcBef>
              <a:spcAft>
                <a:spcPts val="0"/>
              </a:spcAft>
              <a:buNone/>
            </a:pPr>
            <a:endParaRPr dirty="0"/>
          </a:p>
        </p:txBody>
      </p:sp>
      <p:sp>
        <p:nvSpPr>
          <p:cNvPr id="586" name="Google Shape;586;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panose="020F0502020204030204"/>
              <a:buNone/>
            </a:pPr>
            <a:fld id="{00000000-1234-1234-1234-123412341234}" type="slidenum">
              <a:rPr lang="en-US" sz="1200"/>
            </a:fld>
            <a:endParaRPr sz="120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2"/>
        <p:cNvGrpSpPr/>
        <p:nvPr/>
      </p:nvGrpSpPr>
      <p:grpSpPr>
        <a:xfrm>
          <a:off x="0" y="0"/>
          <a:ext cx="0" cy="0"/>
          <a:chOff x="0" y="0"/>
          <a:chExt cx="0" cy="0"/>
        </a:xfrm>
      </p:grpSpPr>
      <p:sp>
        <p:nvSpPr>
          <p:cNvPr id="593" name="Google Shape;59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4" name="Google Shape;59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 It's also known as a "waterfall" or "plan-driven" approach because the project progresses in a linear, sequential manner through predefined phases, from start to finish.</a:t>
            </a:r>
            <a:endParaRPr lang="en-US" dirty="0"/>
          </a:p>
          <a:p>
            <a:pPr marL="0" lvl="0" indent="0" algn="l" rtl="0">
              <a:spcBef>
                <a:spcPts val="0"/>
              </a:spcBef>
              <a:spcAft>
                <a:spcPts val="0"/>
              </a:spcAft>
              <a:buNone/>
            </a:pPr>
            <a:r>
              <a:rPr lang="en-US" dirty="0"/>
              <a:t>Key characteristics of a predictive life cycle: </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Fixed Scope: The project’s requirements and deliverables are clearly defined from the beginning, and changes are minimized.</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Detailed Planning: A comprehensive project plan is created early, outlining all phases, tasks, timelines, and resources.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Linear Progression: Each phase must be completed before the next one begins. For example, once planning is complete, the team moves to execution without revisiting previous phases. </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Emphasis on Control: This approach is used when the project is well-understood, and changes are not expected, allowing for greater control over the process.</a:t>
            </a:r>
            <a:endParaRPr lang="en-US" dirty="0"/>
          </a:p>
          <a:p>
            <a:pPr marL="0" lvl="0" indent="0" algn="l" rtl="0">
              <a:spcBef>
                <a:spcPts val="0"/>
              </a:spcBef>
              <a:spcAft>
                <a:spcPts val="0"/>
              </a:spcAft>
              <a:buNone/>
            </a:pPr>
            <a:endParaRPr lang="en-US" dirty="0"/>
          </a:p>
          <a:p>
            <a:r>
              <a:rPr lang="en-US" b="1" dirty="0"/>
              <a:t>Difficulty Adapting to Change</a:t>
            </a:r>
            <a:r>
              <a:rPr lang="en-US" dirty="0"/>
              <a:t>:</a:t>
            </a:r>
            <a:endParaRPr lang="en-US" dirty="0"/>
          </a:p>
          <a:p>
            <a:pPr>
              <a:buFont typeface="Arial" panose="020B0604020202020204" pitchFamily="34" charset="0"/>
              <a:buChar char="•"/>
            </a:pPr>
            <a:r>
              <a:rPr lang="en-US" dirty="0"/>
              <a:t>The fixed nature of the scope and plan means it’s hard to accommodate changes in requirements once the project is underway. This can be problematic in dynamic industries where client needs or market conditions change frequently.</a:t>
            </a:r>
            <a:endParaRPr lang="en-US" dirty="0"/>
          </a:p>
          <a:p>
            <a:pPr>
              <a:buFont typeface="Arial" panose="020B0604020202020204" pitchFamily="34" charset="0"/>
              <a:buChar char="•"/>
            </a:pPr>
            <a:endParaRPr lang="en-US" dirty="0"/>
          </a:p>
          <a:p>
            <a:r>
              <a:rPr lang="en-US" b="1" dirty="0"/>
              <a:t>Inaccurate Initial Planning</a:t>
            </a:r>
            <a:r>
              <a:rPr lang="en-US" dirty="0"/>
              <a:t>:</a:t>
            </a:r>
            <a:endParaRPr lang="en-US" dirty="0"/>
          </a:p>
          <a:p>
            <a:pPr>
              <a:buFont typeface="Arial" panose="020B0604020202020204" pitchFamily="34" charset="0"/>
              <a:buChar char="•"/>
            </a:pPr>
            <a:r>
              <a:rPr lang="en-US" dirty="0"/>
              <a:t>Since most of the planning happens early in the project, inaccurate estimates in cost, time, or resources can lead to significant problems later on. If unexpected issues arise, they can cause delays and budget overruns.</a:t>
            </a:r>
            <a:endParaRPr lang="en-US" dirty="0"/>
          </a:p>
          <a:p>
            <a:pPr>
              <a:buFont typeface="Arial" panose="020B0604020202020204" pitchFamily="34" charset="0"/>
              <a:buChar char="•"/>
            </a:pPr>
            <a:endParaRPr lang="en-US" dirty="0"/>
          </a:p>
          <a:p>
            <a:r>
              <a:rPr lang="en-US" b="1" dirty="0"/>
              <a:t>Late Discovery of Problems</a:t>
            </a:r>
            <a:r>
              <a:rPr lang="en-US" dirty="0"/>
              <a:t>:</a:t>
            </a:r>
            <a:endParaRPr lang="en-US" dirty="0"/>
          </a:p>
          <a:p>
            <a:pPr>
              <a:buFont typeface="Arial" panose="020B0604020202020204" pitchFamily="34" charset="0"/>
              <a:buChar char="•"/>
            </a:pPr>
            <a:r>
              <a:rPr lang="en-US" dirty="0"/>
              <a:t>In a linear, sequential approach, problems or defects may only be discovered in later stages, which can be more costly to fix. For example, a flaw in design might not be noticed until testing or implementation, leading to rework.</a:t>
            </a:r>
            <a:endParaRPr lang="en-US" dirty="0"/>
          </a:p>
          <a:p>
            <a:pPr>
              <a:buFont typeface="Arial" panose="020B0604020202020204" pitchFamily="34" charset="0"/>
              <a:buChar char="•"/>
            </a:pPr>
            <a:endParaRPr lang="en-US" dirty="0"/>
          </a:p>
          <a:p>
            <a:r>
              <a:rPr lang="en-US" b="1" dirty="0"/>
              <a:t>Limited Customer Feedback</a:t>
            </a:r>
            <a:r>
              <a:rPr lang="en-US" dirty="0"/>
              <a:t>:</a:t>
            </a:r>
            <a:endParaRPr lang="en-US" dirty="0"/>
          </a:p>
          <a:p>
            <a:pPr>
              <a:buFont typeface="Arial" panose="020B0604020202020204" pitchFamily="34" charset="0"/>
              <a:buChar char="•"/>
            </a:pPr>
            <a:r>
              <a:rPr lang="en-US" dirty="0"/>
              <a:t>Predictive life cycles often involve limited interaction with stakeholders after the initial planning phase. Without regular feedback, the final deliverable might not meet the client’s needs, especially if those needs evolve during the project.</a:t>
            </a:r>
            <a:endParaRPr lang="en-US" dirty="0"/>
          </a:p>
          <a:p>
            <a:pPr>
              <a:buFont typeface="Arial" panose="020B0604020202020204" pitchFamily="34" charset="0"/>
              <a:buChar char="•"/>
            </a:pPr>
            <a:endParaRPr lang="en-US" dirty="0"/>
          </a:p>
          <a:p>
            <a:r>
              <a:rPr lang="en-US" b="1" dirty="0"/>
              <a:t>Reduced Flexibility</a:t>
            </a:r>
            <a:r>
              <a:rPr lang="en-US" dirty="0"/>
              <a:t>:</a:t>
            </a:r>
            <a:endParaRPr lang="en-US" dirty="0"/>
          </a:p>
          <a:p>
            <a:pPr>
              <a:buFont typeface="Arial" panose="020B0604020202020204" pitchFamily="34" charset="0"/>
              <a:buChar char="•"/>
            </a:pPr>
            <a:r>
              <a:rPr lang="en-US" dirty="0"/>
              <a:t>The rigid structure of the predictive approach makes it hard to respond quickly to new opportunities or challenges. Projects in fast-changing industries may suffer from the lack of flexibility.</a:t>
            </a:r>
            <a:endParaRPr lang="en-US" dirty="0"/>
          </a:p>
          <a:p>
            <a:pPr>
              <a:buFont typeface="Arial" panose="020B0604020202020204" pitchFamily="34" charset="0"/>
              <a:buChar char="•"/>
            </a:pPr>
            <a:endParaRPr lang="en-US" dirty="0"/>
          </a:p>
          <a:p>
            <a:r>
              <a:rPr lang="en-US" b="1" dirty="0"/>
              <a:t>High Risk of Project Failure</a:t>
            </a:r>
            <a:r>
              <a:rPr lang="en-US" dirty="0"/>
              <a:t>:</a:t>
            </a:r>
            <a:endParaRPr lang="en-US" dirty="0"/>
          </a:p>
          <a:p>
            <a:pPr>
              <a:buFont typeface="Arial" panose="020B0604020202020204" pitchFamily="34" charset="0"/>
              <a:buChar char="•"/>
            </a:pPr>
            <a:r>
              <a:rPr lang="en-US" dirty="0"/>
              <a:t>If early assumptions about requirements, market conditions, or technical specifications are wrong, the entire project can veer off course, sometimes leading to project failure or significant delays.</a:t>
            </a:r>
            <a:endParaRPr lang="en-US" dirty="0"/>
          </a:p>
          <a:p>
            <a:pPr>
              <a:buFont typeface="Arial" panose="020B0604020202020204" pitchFamily="34" charset="0"/>
              <a:buChar char="•"/>
            </a:pPr>
            <a:endParaRPr lang="en-US" dirty="0"/>
          </a:p>
          <a:p>
            <a:r>
              <a:rPr lang="en-US" b="1" dirty="0"/>
              <a:t>Longer Delivery Time</a:t>
            </a:r>
            <a:r>
              <a:rPr lang="en-US" dirty="0"/>
              <a:t>:</a:t>
            </a:r>
            <a:endParaRPr lang="en-US" dirty="0"/>
          </a:p>
          <a:p>
            <a:pPr>
              <a:buFont typeface="Arial" panose="020B0604020202020204" pitchFamily="34" charset="0"/>
              <a:buChar char="•"/>
            </a:pPr>
            <a:r>
              <a:rPr lang="en-US" dirty="0"/>
              <a:t>Since the deliverable is usually only provided at the end of the project, stakeholders may have to wait a long time before seeing any results, which can be a drawback, especially in fast-paced environments.</a:t>
            </a:r>
            <a:endParaRPr lang="en-US" dirty="0"/>
          </a:p>
          <a:p>
            <a:pPr>
              <a:buFont typeface="Arial" panose="020B0604020202020204" pitchFamily="34" charset="0"/>
              <a:buChar char="•"/>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iterative life cycle is a project management approach where the project is developed in small, repeated cycles or iterations. Each iteration produces a working version of the product that improves or builds upon the previous one. The focus is on gradually refining and evolving the product based on feedback and learning from earlier iterations.</a:t>
            </a:r>
            <a:endParaRPr lang="en-US" dirty="0"/>
          </a:p>
          <a:p>
            <a:pPr marL="0" lvl="0" indent="0" algn="l" rtl="0">
              <a:spcBef>
                <a:spcPts val="0"/>
              </a:spcBef>
              <a:spcAft>
                <a:spcPts val="0"/>
              </a:spcAft>
              <a:buNone/>
            </a:pPr>
            <a:endParaRPr lang="en-US" dirty="0"/>
          </a:p>
          <a:p>
            <a:r>
              <a:rPr lang="en-US" dirty="0"/>
              <a:t>Key characteristics of an iterative life cycle:</a:t>
            </a:r>
            <a:endParaRPr lang="en-US" dirty="0"/>
          </a:p>
          <a:p>
            <a:pPr>
              <a:buFont typeface="Arial" panose="020B0604020202020204" pitchFamily="34" charset="0"/>
              <a:buChar char="•"/>
            </a:pPr>
            <a:r>
              <a:rPr lang="en-US" b="1" dirty="0"/>
              <a:t>Incremental Progress</a:t>
            </a:r>
            <a:r>
              <a:rPr lang="en-US" dirty="0"/>
              <a:t>: Instead of delivering the final product at once, the project is broken down into smaller parts, with each iteration producing a usable version of the product.</a:t>
            </a:r>
            <a:endParaRPr lang="en-US" dirty="0"/>
          </a:p>
          <a:p>
            <a:pPr>
              <a:buFont typeface="Arial" panose="020B0604020202020204" pitchFamily="34" charset="0"/>
              <a:buChar char="•"/>
            </a:pPr>
            <a:r>
              <a:rPr lang="en-US" b="1" dirty="0"/>
              <a:t>Repeated Cycles</a:t>
            </a:r>
            <a:r>
              <a:rPr lang="en-US" dirty="0"/>
              <a:t>: The process is repeated multiple times, with each cycle focusing on improving the product or addressing issues found in previous iterations.</a:t>
            </a:r>
            <a:endParaRPr lang="en-US" dirty="0"/>
          </a:p>
          <a:p>
            <a:pPr>
              <a:buFont typeface="Arial" panose="020B0604020202020204" pitchFamily="34" charset="0"/>
              <a:buChar char="•"/>
            </a:pPr>
            <a:r>
              <a:rPr lang="en-US" b="1" dirty="0"/>
              <a:t>Feedback-Driven</a:t>
            </a:r>
            <a:r>
              <a:rPr lang="en-US" dirty="0"/>
              <a:t>: Feedback from stakeholders and users is collected after each iteration, and this input is used to refine the product in the next cycle.</a:t>
            </a:r>
            <a:endParaRPr lang="en-US" dirty="0"/>
          </a:p>
          <a:p>
            <a:pPr>
              <a:buFont typeface="Arial" panose="020B0604020202020204" pitchFamily="34" charset="0"/>
              <a:buChar char="•"/>
            </a:pPr>
            <a:r>
              <a:rPr lang="en-US" b="1" dirty="0"/>
              <a:t>Flexible Requirements</a:t>
            </a:r>
            <a:r>
              <a:rPr lang="en-US" dirty="0"/>
              <a:t>: Project requirements can evolve over time. This flexibility allows the team to adapt to changes as they go through the cycles.</a:t>
            </a:r>
            <a:endParaRPr lang="en-US" dirty="0"/>
          </a:p>
          <a:p>
            <a:r>
              <a:rPr lang="en-US" b="1" dirty="0"/>
              <a:t>Example of an Iterative Life Cycle:</a:t>
            </a:r>
            <a:endParaRPr lang="en-US" b="1" dirty="0"/>
          </a:p>
          <a:p>
            <a:r>
              <a:rPr lang="en-US" dirty="0"/>
              <a:t>In software development, an iterative life cycle might involve building a simple version of an application in the first iteration, gathering feedback from users, and then enhancing the app with additional features or fixes in subsequent iterations.</a:t>
            </a:r>
            <a:endParaRPr lang="en-US" dirty="0"/>
          </a:p>
          <a:p>
            <a:r>
              <a:rPr lang="en-US" b="1" dirty="0"/>
              <a:t>Advantages:</a:t>
            </a:r>
            <a:endParaRPr lang="en-US" b="1" dirty="0"/>
          </a:p>
          <a:p>
            <a:pPr>
              <a:buFont typeface="+mj-lt"/>
              <a:buAutoNum type="arabicPeriod"/>
            </a:pPr>
            <a:r>
              <a:rPr lang="en-US" b="1" dirty="0"/>
              <a:t>Early Detection of Issues</a:t>
            </a:r>
            <a:r>
              <a:rPr lang="en-US" dirty="0"/>
              <a:t>: Problems or areas for improvement are discovered early in the process, allowing for quicker fixes.</a:t>
            </a:r>
            <a:endParaRPr lang="en-US" dirty="0"/>
          </a:p>
          <a:p>
            <a:pPr>
              <a:buFont typeface="+mj-lt"/>
              <a:buAutoNum type="arabicPeriod"/>
            </a:pPr>
            <a:r>
              <a:rPr lang="en-US" b="1" dirty="0"/>
              <a:t>Stakeholder Engagement</a:t>
            </a:r>
            <a:r>
              <a:rPr lang="en-US" dirty="0"/>
              <a:t>: Regular feedback helps ensure that the final product aligns with stakeholder expectations.</a:t>
            </a:r>
            <a:endParaRPr lang="en-US" dirty="0"/>
          </a:p>
          <a:p>
            <a:pPr>
              <a:buFont typeface="+mj-lt"/>
              <a:buAutoNum type="arabicPeriod"/>
            </a:pPr>
            <a:r>
              <a:rPr lang="en-US" b="1" dirty="0"/>
              <a:t>Flexibility</a:t>
            </a:r>
            <a:r>
              <a:rPr lang="en-US" dirty="0"/>
              <a:t>: The project can adapt to changes in requirements, market conditions, or technology.</a:t>
            </a:r>
            <a:endParaRPr lang="en-US" dirty="0"/>
          </a:p>
          <a:p>
            <a:pPr>
              <a:buFont typeface="+mj-lt"/>
              <a:buAutoNum type="arabicPeriod"/>
            </a:pPr>
            <a:r>
              <a:rPr lang="en-US" b="1" dirty="0"/>
              <a:t>Risk Reduction</a:t>
            </a:r>
            <a:r>
              <a:rPr lang="en-US" dirty="0"/>
              <a:t>: Risks are identified and mitigated earlier since the product evolves gradually, not all at once.</a:t>
            </a:r>
            <a:endParaRPr lang="en-US" dirty="0"/>
          </a:p>
          <a:p>
            <a:r>
              <a:rPr lang="en-US" b="1" dirty="0"/>
              <a:t>Challenges:</a:t>
            </a:r>
            <a:endParaRPr lang="en-US" b="1" dirty="0"/>
          </a:p>
          <a:p>
            <a:pPr>
              <a:buFont typeface="+mj-lt"/>
              <a:buAutoNum type="arabicPeriod"/>
            </a:pPr>
            <a:r>
              <a:rPr lang="en-US" b="1" dirty="0"/>
              <a:t>Scope Creep</a:t>
            </a:r>
            <a:r>
              <a:rPr lang="en-US" dirty="0"/>
              <a:t>: As requirements can change with each iteration, there's a risk of the project growing beyond the original scope.</a:t>
            </a:r>
            <a:endParaRPr lang="en-US" dirty="0"/>
          </a:p>
          <a:p>
            <a:pPr>
              <a:buFont typeface="+mj-lt"/>
              <a:buAutoNum type="arabicPeriod"/>
            </a:pPr>
            <a:r>
              <a:rPr lang="en-US" b="1" dirty="0"/>
              <a:t>Complex Management</a:t>
            </a:r>
            <a:r>
              <a:rPr lang="en-US" dirty="0"/>
              <a:t>: Managing multiple iterations and ensuring each builds properly on the last can be more complex than following a linear plan.</a:t>
            </a:r>
            <a:endParaRPr lang="en-US" dirty="0"/>
          </a:p>
          <a:p>
            <a:pPr>
              <a:buFont typeface="+mj-lt"/>
              <a:buAutoNum type="arabicPeriod"/>
            </a:pPr>
            <a:r>
              <a:rPr lang="en-US" b="1" dirty="0"/>
              <a:t>Time Pressure</a:t>
            </a:r>
            <a:r>
              <a:rPr lang="en-US" dirty="0"/>
              <a:t>: Short iteration cycles might lead to pressure on the team to deliver frequent updates.</a:t>
            </a:r>
            <a:endParaRPr lang="en-US" dirty="0"/>
          </a:p>
          <a:p>
            <a:pPr marL="0" lvl="0" indent="0" algn="l" rtl="0">
              <a:spcBef>
                <a:spcPts val="0"/>
              </a:spcBef>
              <a:spcAft>
                <a:spcPts val="0"/>
              </a:spcAft>
              <a:buNone/>
            </a:pPr>
            <a:endParaRPr dirty="0"/>
          </a:p>
        </p:txBody>
      </p:sp>
      <p:sp>
        <p:nvSpPr>
          <p:cNvPr id="595" name="Google Shape;595;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panose="020F0502020204030204"/>
              <a:buNone/>
            </a:pPr>
            <a:fld id="{00000000-1234-1234-1234-123412341234}" type="slidenum">
              <a:rPr lang="en-US" sz="1200"/>
            </a:fld>
            <a:endParaRPr sz="12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0"/>
        <p:cNvGrpSpPr/>
        <p:nvPr/>
      </p:nvGrpSpPr>
      <p:grpSpPr>
        <a:xfrm>
          <a:off x="0" y="0"/>
          <a:ext cx="0" cy="0"/>
          <a:chOff x="0" y="0"/>
          <a:chExt cx="0" cy="0"/>
        </a:xfrm>
      </p:grpSpPr>
      <p:sp>
        <p:nvSpPr>
          <p:cNvPr id="601" name="Google Shape;601;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a:t>
            </a:r>
            <a:r>
              <a:rPr lang="en-US" b="1" dirty="0"/>
              <a:t>incremental life cycle</a:t>
            </a:r>
            <a:r>
              <a:rPr lang="en-US" dirty="0"/>
              <a:t> is a project management approach where the project is divided into small, manageable sections or increments, with each increment delivering a portion of the final product. Each increment is a working, functional part of the product, and as more increments are completed, the project gradually evolves into the final product.</a:t>
            </a:r>
            <a:endParaRPr lang="en-US" dirty="0"/>
          </a:p>
          <a:p>
            <a:pPr marL="0" lvl="0" indent="0" algn="l" rtl="0">
              <a:spcBef>
                <a:spcPts val="0"/>
              </a:spcBef>
              <a:spcAft>
                <a:spcPts val="0"/>
              </a:spcAft>
              <a:buNone/>
            </a:pPr>
            <a:endParaRPr lang="en-US" dirty="0"/>
          </a:p>
          <a:p>
            <a:r>
              <a:rPr lang="en-US" b="1" dirty="0"/>
              <a:t>Key characteristics of an incremental life cycle:</a:t>
            </a:r>
            <a:endParaRPr lang="en-US" b="1" dirty="0"/>
          </a:p>
          <a:p>
            <a:pPr>
              <a:buFont typeface="Arial" panose="020B0604020202020204" pitchFamily="34" charset="0"/>
              <a:buChar char="•"/>
            </a:pPr>
            <a:r>
              <a:rPr lang="en-US" b="1" dirty="0"/>
              <a:t>Step-by-Step Delivery</a:t>
            </a:r>
            <a:r>
              <a:rPr lang="en-US" dirty="0"/>
              <a:t>: The project is broken down into smaller pieces, with each part delivered separately. Each increment adds functionality or features to the overall product.</a:t>
            </a:r>
            <a:endParaRPr lang="en-US" dirty="0"/>
          </a:p>
          <a:p>
            <a:pPr>
              <a:buFont typeface="Arial" panose="020B0604020202020204" pitchFamily="34" charset="0"/>
              <a:buChar char="•"/>
            </a:pPr>
            <a:r>
              <a:rPr lang="en-US" b="1" dirty="0"/>
              <a:t>Functional Increments</a:t>
            </a:r>
            <a:r>
              <a:rPr lang="en-US" dirty="0"/>
              <a:t>: Every increment is a usable part of the product, even though it may not represent the full system.</a:t>
            </a:r>
            <a:endParaRPr lang="en-US" dirty="0"/>
          </a:p>
          <a:p>
            <a:pPr>
              <a:buFont typeface="Arial" panose="020B0604020202020204" pitchFamily="34" charset="0"/>
              <a:buChar char="•"/>
            </a:pPr>
            <a:r>
              <a:rPr lang="en-US" b="1" dirty="0"/>
              <a:t>Cumulative Progress</a:t>
            </a:r>
            <a:r>
              <a:rPr lang="en-US" dirty="0"/>
              <a:t>: The product grows piece by piece, with each new increment building on what was delivered before.</a:t>
            </a:r>
            <a:endParaRPr lang="en-US" dirty="0"/>
          </a:p>
          <a:p>
            <a:pPr marL="0" lvl="0" indent="0" algn="l" rtl="0">
              <a:spcBef>
                <a:spcPts val="0"/>
              </a:spcBef>
              <a:spcAft>
                <a:spcPts val="0"/>
              </a:spcAft>
              <a:buNone/>
            </a:pPr>
            <a:endParaRPr lang="en-US" dirty="0"/>
          </a:p>
          <a:p>
            <a:r>
              <a:rPr lang="en-US" b="1" dirty="0"/>
              <a:t>Advantages:</a:t>
            </a:r>
            <a:endParaRPr lang="en-US" b="1" dirty="0"/>
          </a:p>
          <a:p>
            <a:pPr>
              <a:buFont typeface="+mj-lt"/>
              <a:buAutoNum type="arabicPeriod"/>
            </a:pPr>
            <a:r>
              <a:rPr lang="en-US" b="1" dirty="0"/>
              <a:t>Early Delivery of Value</a:t>
            </a:r>
            <a:r>
              <a:rPr lang="en-US" dirty="0"/>
              <a:t>: Stakeholders get working parts of the project early, which can provide value even before the full project is completed.</a:t>
            </a:r>
            <a:endParaRPr lang="en-US" dirty="0"/>
          </a:p>
          <a:p>
            <a:pPr>
              <a:buFont typeface="+mj-lt"/>
              <a:buAutoNum type="arabicPeriod"/>
            </a:pPr>
            <a:r>
              <a:rPr lang="en-US" b="1" dirty="0"/>
              <a:t>Lower Risk</a:t>
            </a:r>
            <a:r>
              <a:rPr lang="en-US" dirty="0"/>
              <a:t>: Problems can be addressed incrementally, reducing the chance of major issues at the end of the project.</a:t>
            </a:r>
            <a:endParaRPr lang="en-US" dirty="0"/>
          </a:p>
          <a:p>
            <a:pPr>
              <a:buFont typeface="+mj-lt"/>
              <a:buAutoNum type="arabicPeriod"/>
            </a:pPr>
            <a:r>
              <a:rPr lang="en-US" b="1" dirty="0"/>
              <a:t>Better Stakeholder Feedback</a:t>
            </a:r>
            <a:r>
              <a:rPr lang="en-US" dirty="0"/>
              <a:t>: Since parts of the product are delivered early, feedback can be collected sooner and applied to future increments.</a:t>
            </a:r>
            <a:endParaRPr lang="en-US" dirty="0"/>
          </a:p>
          <a:p>
            <a:pPr>
              <a:buFont typeface="+mj-lt"/>
              <a:buAutoNum type="arabicPeriod"/>
            </a:pPr>
            <a:r>
              <a:rPr lang="en-US" b="1" dirty="0"/>
              <a:t>Flexibility in Prioritization</a:t>
            </a:r>
            <a:r>
              <a:rPr lang="en-US" dirty="0"/>
              <a:t>: Important features can be prioritized and delivered first, ensuring high-value elements are completed early.</a:t>
            </a:r>
            <a:endParaRPr lang="en-US" dirty="0"/>
          </a:p>
          <a:p>
            <a:r>
              <a:rPr lang="en-US" b="1" dirty="0"/>
              <a:t>Challenges:</a:t>
            </a:r>
            <a:endParaRPr lang="en-US" b="1" dirty="0"/>
          </a:p>
          <a:p>
            <a:pPr>
              <a:buFont typeface="+mj-lt"/>
              <a:buAutoNum type="arabicPeriod"/>
            </a:pPr>
            <a:r>
              <a:rPr lang="en-US" b="1" dirty="0"/>
              <a:t>Integration Complexity</a:t>
            </a:r>
            <a:r>
              <a:rPr lang="en-US" dirty="0"/>
              <a:t>: As more increments are added, integrating them smoothly can become challenging.</a:t>
            </a:r>
            <a:endParaRPr lang="en-US" dirty="0"/>
          </a:p>
          <a:p>
            <a:pPr>
              <a:buFont typeface="+mj-lt"/>
              <a:buAutoNum type="arabicPeriod"/>
            </a:pPr>
            <a:r>
              <a:rPr lang="en-US" b="1" dirty="0"/>
              <a:t>Incomplete Product Early On</a:t>
            </a:r>
            <a:r>
              <a:rPr lang="en-US" dirty="0"/>
              <a:t>: Early increments may be functional but lack key features, which might not satisfy all stakeholder expectations until the final product is complete.</a:t>
            </a:r>
            <a:endParaRPr lang="en-US" dirty="0"/>
          </a:p>
          <a:p>
            <a:pPr>
              <a:buFont typeface="+mj-lt"/>
              <a:buAutoNum type="arabicPeriod"/>
            </a:pPr>
            <a:r>
              <a:rPr lang="en-US" b="1" dirty="0"/>
              <a:t>Potential for Scope Creep</a:t>
            </a:r>
            <a:r>
              <a:rPr lang="en-US" dirty="0"/>
              <a:t>: Continuous addition of new features or increments may lead to changes in the original project scope, causing delays or budget overruns.</a:t>
            </a:r>
            <a:endParaRPr lang="en-US" dirty="0"/>
          </a:p>
          <a:p>
            <a:pPr marL="0" lvl="0" indent="0" algn="l" rtl="0">
              <a:spcBef>
                <a:spcPts val="0"/>
              </a:spcBef>
              <a:spcAft>
                <a:spcPts val="0"/>
              </a:spcAft>
              <a:buNone/>
            </a:pPr>
            <a:endParaRPr lang="en-US" dirty="0"/>
          </a:p>
          <a:p>
            <a:r>
              <a:rPr lang="en-US" dirty="0"/>
              <a:t>The </a:t>
            </a:r>
            <a:r>
              <a:rPr lang="en-US" b="1" dirty="0"/>
              <a:t>adaptive life cycle</a:t>
            </a:r>
            <a:r>
              <a:rPr lang="en-US" dirty="0"/>
              <a:t> is a project management approach that emphasizes flexibility and continuous adaptation to change. It is commonly associated with </a:t>
            </a:r>
            <a:r>
              <a:rPr lang="en-US" b="1" dirty="0"/>
              <a:t>Agile</a:t>
            </a:r>
            <a:r>
              <a:rPr lang="en-US" dirty="0"/>
              <a:t> methodologies and is used when the project scope or requirements are not fully defined at the start, or when they are likely to evolve throughout the project.</a:t>
            </a:r>
            <a:endParaRPr lang="en-US" dirty="0"/>
          </a:p>
          <a:p>
            <a:r>
              <a:rPr lang="en-US" b="1" dirty="0"/>
              <a:t>Key characteristics of an adaptive life cycle:</a:t>
            </a:r>
            <a:endParaRPr lang="en-US" b="1" dirty="0"/>
          </a:p>
          <a:p>
            <a:pPr>
              <a:buFont typeface="Arial" panose="020B0604020202020204" pitchFamily="34" charset="0"/>
              <a:buChar char="•"/>
            </a:pPr>
            <a:r>
              <a:rPr lang="en-US" b="1" dirty="0"/>
              <a:t>Iterative and Incremental</a:t>
            </a:r>
            <a:r>
              <a:rPr lang="en-US" dirty="0"/>
              <a:t>: The project is delivered in small, workable increments, and each increment is refined through multiple iterations.</a:t>
            </a:r>
            <a:endParaRPr lang="en-US" dirty="0"/>
          </a:p>
          <a:p>
            <a:pPr>
              <a:buFont typeface="Arial" panose="020B0604020202020204" pitchFamily="34" charset="0"/>
              <a:buChar char="•"/>
            </a:pPr>
            <a:r>
              <a:rPr lang="en-US" b="1" dirty="0"/>
              <a:t>High Flexibility</a:t>
            </a:r>
            <a:r>
              <a:rPr lang="en-US" dirty="0"/>
              <a:t>: The plan is adaptable, and changes to scope, priorities, or requirements are welcomed even late in the process.</a:t>
            </a:r>
            <a:endParaRPr lang="en-US" dirty="0"/>
          </a:p>
          <a:p>
            <a:pPr>
              <a:buFont typeface="Arial" panose="020B0604020202020204" pitchFamily="34" charset="0"/>
              <a:buChar char="•"/>
            </a:pPr>
            <a:r>
              <a:rPr lang="en-US" b="1" dirty="0"/>
              <a:t>Frequent Feedback</a:t>
            </a:r>
            <a:r>
              <a:rPr lang="en-US" dirty="0"/>
              <a:t>: Stakeholder feedback is collected frequently (often after each iteration) and used to shape future work.</a:t>
            </a:r>
            <a:endParaRPr lang="en-US" dirty="0"/>
          </a:p>
          <a:p>
            <a:pPr>
              <a:buFont typeface="Arial" panose="020B0604020202020204" pitchFamily="34" charset="0"/>
              <a:buChar char="•"/>
            </a:pPr>
            <a:r>
              <a:rPr lang="en-US" b="1" dirty="0"/>
              <a:t>Collaborative</a:t>
            </a:r>
            <a:r>
              <a:rPr lang="en-US" dirty="0"/>
              <a:t>: There is close collaboration between the project team and stakeholders to ensure the product meets evolving needs.</a:t>
            </a:r>
            <a:endParaRPr lang="en-US" dirty="0"/>
          </a:p>
          <a:p>
            <a:pPr>
              <a:buFont typeface="Arial" panose="020B0604020202020204" pitchFamily="34" charset="0"/>
              <a:buChar char="•"/>
            </a:pPr>
            <a:r>
              <a:rPr lang="en-US" b="1" dirty="0"/>
              <a:t>Short Iterations</a:t>
            </a:r>
            <a:r>
              <a:rPr lang="en-US" dirty="0"/>
              <a:t>: Work is completed in short cycles (e.g., sprints in Agile), often lasting two to four weeks.</a:t>
            </a:r>
            <a:endParaRPr lang="en-US" dirty="0"/>
          </a:p>
          <a:p>
            <a:pPr marL="0" lvl="0" indent="0" algn="l" rtl="0">
              <a:spcBef>
                <a:spcPts val="0"/>
              </a:spcBef>
              <a:spcAft>
                <a:spcPts val="0"/>
              </a:spcAft>
              <a:buNone/>
            </a:pPr>
            <a:endParaRPr lang="en-US" dirty="0"/>
          </a:p>
          <a:p>
            <a:r>
              <a:rPr lang="en-US" b="1" dirty="0"/>
              <a:t>Advantages:</a:t>
            </a:r>
            <a:endParaRPr lang="en-US" b="1" dirty="0"/>
          </a:p>
          <a:p>
            <a:pPr>
              <a:buFont typeface="+mj-lt"/>
              <a:buAutoNum type="arabicPeriod"/>
            </a:pPr>
            <a:r>
              <a:rPr lang="en-US" b="1" dirty="0"/>
              <a:t>Adaptability to Change</a:t>
            </a:r>
            <a:r>
              <a:rPr lang="en-US" dirty="0"/>
              <a:t>: The project can easily accommodate changes in requirements, making it ideal for projects where uncertainty is high.</a:t>
            </a:r>
            <a:endParaRPr lang="en-US" dirty="0"/>
          </a:p>
          <a:p>
            <a:pPr>
              <a:buFont typeface="+mj-lt"/>
              <a:buAutoNum type="arabicPeriod"/>
            </a:pPr>
            <a:r>
              <a:rPr lang="en-US" b="1" dirty="0"/>
              <a:t>Continuous Improvement</a:t>
            </a:r>
            <a:r>
              <a:rPr lang="en-US" dirty="0"/>
              <a:t>: With frequent iterations and feedback, the product evolves and improves with each cycle.</a:t>
            </a:r>
            <a:endParaRPr lang="en-US" dirty="0"/>
          </a:p>
          <a:p>
            <a:pPr>
              <a:buFont typeface="+mj-lt"/>
              <a:buAutoNum type="arabicPeriod"/>
            </a:pPr>
            <a:r>
              <a:rPr lang="en-US" b="1" dirty="0"/>
              <a:t>Early Delivery of Value</a:t>
            </a:r>
            <a:r>
              <a:rPr lang="en-US" dirty="0"/>
              <a:t>: Usable portions of the product are delivered early and often, allowing stakeholders to benefit from the project before it is fully completed.</a:t>
            </a:r>
            <a:endParaRPr lang="en-US" dirty="0"/>
          </a:p>
          <a:p>
            <a:pPr>
              <a:buFont typeface="+mj-lt"/>
              <a:buAutoNum type="arabicPeriod"/>
            </a:pPr>
            <a:r>
              <a:rPr lang="en-US" b="1" dirty="0"/>
              <a:t>Enhanced Collaboration</a:t>
            </a:r>
            <a:r>
              <a:rPr lang="en-US" dirty="0"/>
              <a:t>: Ongoing communication between the team and stakeholders ensures that the project remains aligned with expectations.</a:t>
            </a:r>
            <a:endParaRPr lang="en-US" dirty="0"/>
          </a:p>
          <a:p>
            <a:r>
              <a:rPr lang="en-US" b="1" dirty="0"/>
              <a:t>Challenges:</a:t>
            </a:r>
            <a:endParaRPr lang="en-US" b="1" dirty="0"/>
          </a:p>
          <a:p>
            <a:pPr>
              <a:buFont typeface="+mj-lt"/>
              <a:buAutoNum type="arabicPeriod"/>
            </a:pPr>
            <a:r>
              <a:rPr lang="en-US" b="1" dirty="0"/>
              <a:t>Scope Creep</a:t>
            </a:r>
            <a:r>
              <a:rPr lang="en-US" dirty="0"/>
              <a:t>: The high level of flexibility may lead to uncontrolled changes, causing delays or overruns in cost.</a:t>
            </a:r>
            <a:endParaRPr lang="en-US" dirty="0"/>
          </a:p>
          <a:p>
            <a:pPr>
              <a:buFont typeface="+mj-lt"/>
              <a:buAutoNum type="arabicPeriod"/>
            </a:pPr>
            <a:r>
              <a:rPr lang="en-US" b="1" dirty="0"/>
              <a:t>Complex Management</a:t>
            </a:r>
            <a:r>
              <a:rPr lang="en-US" dirty="0"/>
              <a:t>: Constant adaptation and frequent changes require strong coordination and project management to avoid confusion or wasted effort.</a:t>
            </a:r>
            <a:endParaRPr lang="en-US" dirty="0"/>
          </a:p>
          <a:p>
            <a:pPr>
              <a:buFont typeface="+mj-lt"/>
              <a:buAutoNum type="arabicPeriod"/>
            </a:pPr>
            <a:r>
              <a:rPr lang="en-US" b="1" dirty="0"/>
              <a:t>Unclear End Point</a:t>
            </a:r>
            <a:r>
              <a:rPr lang="en-US" dirty="0"/>
              <a:t>: Because requirements may evolve over time, it can be difficult to define when the project is “complete.</a:t>
            </a:r>
            <a:endParaRPr lang="en-US" dirty="0"/>
          </a:p>
          <a:p>
            <a:pPr marL="0" lvl="0" indent="0" algn="l" rtl="0">
              <a:spcBef>
                <a:spcPts val="0"/>
              </a:spcBef>
              <a:spcAft>
                <a:spcPts val="0"/>
              </a:spcAft>
              <a:buNone/>
            </a:pPr>
            <a:endParaRPr lang="en-US" dirty="0"/>
          </a:p>
          <a:p>
            <a:r>
              <a:rPr lang="en-US" b="1" dirty="0"/>
              <a:t>When to Use the Adaptive Life Cycle:</a:t>
            </a:r>
            <a:endParaRPr lang="en-US" b="1" dirty="0"/>
          </a:p>
          <a:p>
            <a:pPr>
              <a:buFont typeface="Arial" panose="020B0604020202020204" pitchFamily="34" charset="0"/>
              <a:buChar char="•"/>
            </a:pPr>
            <a:r>
              <a:rPr lang="en-US" dirty="0"/>
              <a:t>When requirements are not fully known at the start or are expected to change frequently.</a:t>
            </a:r>
            <a:endParaRPr lang="en-US" dirty="0"/>
          </a:p>
          <a:p>
            <a:pPr>
              <a:buFont typeface="Arial" panose="020B0604020202020204" pitchFamily="34" charset="0"/>
              <a:buChar char="•"/>
            </a:pPr>
            <a:r>
              <a:rPr lang="en-US" dirty="0"/>
              <a:t>When innovation or experimentation is needed.</a:t>
            </a:r>
            <a:endParaRPr lang="en-US" dirty="0"/>
          </a:p>
          <a:p>
            <a:pPr>
              <a:buFont typeface="Arial" panose="020B0604020202020204" pitchFamily="34" charset="0"/>
              <a:buChar char="•"/>
            </a:pPr>
            <a:r>
              <a:rPr lang="en-US" dirty="0"/>
              <a:t>In fast-moving industries, such as software development, where quick adaptation to new technology or market changes is critical.</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a:t>
            </a:r>
            <a:r>
              <a:rPr lang="en-US" b="1" dirty="0"/>
              <a:t>hybrid approach</a:t>
            </a:r>
            <a:r>
              <a:rPr lang="en-US" dirty="0"/>
              <a:t> in project management combines elements of both </a:t>
            </a:r>
            <a:r>
              <a:rPr lang="en-US" b="1" dirty="0"/>
              <a:t>predictive</a:t>
            </a:r>
            <a:r>
              <a:rPr lang="en-US" dirty="0"/>
              <a:t> (traditional, plan-driven) and </a:t>
            </a:r>
            <a:r>
              <a:rPr lang="en-US" b="1" dirty="0"/>
              <a:t>adaptive</a:t>
            </a:r>
            <a:r>
              <a:rPr lang="en-US" dirty="0"/>
              <a:t> (Agile, flexible) life cycles to create a tailored process that meets the unique needs of a project.</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Combination of Methodologies</a:t>
            </a:r>
            <a:r>
              <a:rPr lang="en-US" dirty="0"/>
              <a:t>: It blends predictive techniques for well-defined tasks (like planning and risk management) with adaptive methods for parts of the project that require flexibility and frequent </a:t>
            </a:r>
            <a:r>
              <a:rPr lang="en-US" dirty="0" err="1"/>
              <a:t>iterations.</a:t>
            </a:r>
            <a:r>
              <a:rPr lang="en-US" b="1" dirty="0" err="1"/>
              <a:t>Structured</a:t>
            </a:r>
            <a:r>
              <a:rPr lang="en-US" b="1" dirty="0"/>
              <a:t> Phases with Flexibility</a:t>
            </a:r>
            <a:r>
              <a:rPr lang="en-US" dirty="0"/>
              <a:t>: Some phases of the project, like planning or resource allocation, follow a structured, predictive approach, while others, like product development or prototyping, follow an iterative and incremental </a:t>
            </a:r>
            <a:r>
              <a:rPr lang="en-US" dirty="0" err="1"/>
              <a:t>process.</a:t>
            </a:r>
            <a:r>
              <a:rPr lang="en-US" b="1" dirty="0" err="1"/>
              <a:t>Selective</a:t>
            </a:r>
            <a:r>
              <a:rPr lang="en-US" b="1" dirty="0"/>
              <a:t> Application</a:t>
            </a:r>
            <a:r>
              <a:rPr lang="en-US" dirty="0"/>
              <a:t>: Different parts of the project can use different approaches. For example, stable parts (like infrastructure) might use predictive methods, while innovative parts (like software features) follow Agile.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Example of a Hybrid Approach:</a:t>
            </a:r>
            <a:endParaRPr lang="en-US" b="1" dirty="0"/>
          </a:p>
          <a:p>
            <a:r>
              <a:rPr lang="en-US" dirty="0"/>
              <a:t>In a construction project that includes the development of a custom software system:</a:t>
            </a:r>
            <a:endParaRPr lang="en-US" dirty="0"/>
          </a:p>
          <a:p>
            <a:pPr>
              <a:buFont typeface="Arial" panose="020B0604020202020204" pitchFamily="34" charset="0"/>
              <a:buChar char="•"/>
            </a:pPr>
            <a:r>
              <a:rPr lang="en-US" b="1" dirty="0"/>
              <a:t>Predictive for Construction</a:t>
            </a:r>
            <a:r>
              <a:rPr lang="en-US" dirty="0"/>
              <a:t>: The building’s construction follows a detailed, fixed plan with strict deadlines, cost estimates, and scope (since changes are expensive and difficult to manage).</a:t>
            </a:r>
            <a:endParaRPr lang="en-US" dirty="0"/>
          </a:p>
          <a:p>
            <a:pPr>
              <a:buFont typeface="Arial" panose="020B0604020202020204" pitchFamily="34" charset="0"/>
              <a:buChar char="•"/>
            </a:pPr>
            <a:r>
              <a:rPr lang="en-US" b="1" dirty="0"/>
              <a:t>Adaptive for Software</a:t>
            </a:r>
            <a:r>
              <a:rPr lang="en-US" dirty="0"/>
              <a:t>: The software system is developed using an Agile approach, allowing flexibility in adding or modifying features based on feedback as the project progresses.</a:t>
            </a:r>
            <a:endParaRPr lang="en-US" dirty="0"/>
          </a:p>
          <a:p>
            <a:r>
              <a:rPr lang="en-US" b="1" dirty="0"/>
              <a:t>Advantages:</a:t>
            </a:r>
            <a:endParaRPr lang="en-US" b="1" dirty="0"/>
          </a:p>
          <a:p>
            <a:pPr>
              <a:buFont typeface="+mj-lt"/>
              <a:buAutoNum type="arabicPeriod"/>
            </a:pPr>
            <a:r>
              <a:rPr lang="en-US" b="1" dirty="0"/>
              <a:t>Flexibility with Control</a:t>
            </a:r>
            <a:r>
              <a:rPr lang="en-US" dirty="0"/>
              <a:t>: The hybrid approach allows for adaptability where needed, while maintaining structure and predictability in other areas.</a:t>
            </a:r>
            <a:endParaRPr lang="en-US" dirty="0"/>
          </a:p>
          <a:p>
            <a:pPr>
              <a:buFont typeface="+mj-lt"/>
              <a:buAutoNum type="arabicPeriod"/>
            </a:pPr>
            <a:r>
              <a:rPr lang="en-US" b="1" dirty="0"/>
              <a:t>Best of Both Worlds</a:t>
            </a:r>
            <a:r>
              <a:rPr lang="en-US" dirty="0"/>
              <a:t>: It combines the benefits of detailed upfront planning with the ability to adapt to changes throughout the project, which helps mitigate risks.</a:t>
            </a:r>
            <a:endParaRPr lang="en-US" dirty="0"/>
          </a:p>
          <a:p>
            <a:pPr>
              <a:buFont typeface="+mj-lt"/>
              <a:buAutoNum type="arabicPeriod"/>
            </a:pPr>
            <a:r>
              <a:rPr lang="en-US" b="1" dirty="0"/>
              <a:t>Better Stakeholder Management</a:t>
            </a:r>
            <a:r>
              <a:rPr lang="en-US" dirty="0"/>
              <a:t>: Stakeholders can see early results in adaptive portions while still having the assurance that critical, stable parts of the project are being managed predictively.</a:t>
            </a:r>
            <a:endParaRPr lang="en-US" dirty="0"/>
          </a:p>
          <a:p>
            <a:pPr>
              <a:buFont typeface="+mj-lt"/>
              <a:buAutoNum type="arabicPeriod"/>
            </a:pPr>
            <a:r>
              <a:rPr lang="en-US" b="1" dirty="0"/>
              <a:t>Custom Fit for Complex Projects</a:t>
            </a:r>
            <a:r>
              <a:rPr lang="en-US" dirty="0"/>
              <a:t>: Projects that involve different types of work (e.g., hardware and software) benefit from a hybrid approach because it aligns different phases with the most suitable methodology.</a:t>
            </a:r>
            <a:endParaRPr lang="en-US" dirty="0"/>
          </a:p>
          <a:p>
            <a:r>
              <a:rPr lang="en-US" b="1" dirty="0"/>
              <a:t>Challenges:</a:t>
            </a:r>
            <a:endParaRPr lang="en-US" b="1" dirty="0"/>
          </a:p>
          <a:p>
            <a:pPr>
              <a:buFont typeface="+mj-lt"/>
              <a:buAutoNum type="arabicPeriod"/>
            </a:pPr>
            <a:r>
              <a:rPr lang="en-US" b="1" dirty="0"/>
              <a:t>Complex Integration</a:t>
            </a:r>
            <a:r>
              <a:rPr lang="en-US" dirty="0"/>
              <a:t>: Managing a project that uses multiple methodologies can be more complex, requiring clear communication and coordination between teams working on different phases.</a:t>
            </a:r>
            <a:endParaRPr lang="en-US" dirty="0"/>
          </a:p>
          <a:p>
            <a:pPr>
              <a:buFont typeface="+mj-lt"/>
              <a:buAutoNum type="arabicPeriod"/>
            </a:pPr>
            <a:r>
              <a:rPr lang="en-US" b="1" dirty="0"/>
              <a:t>Inconsistent Approaches</a:t>
            </a:r>
            <a:r>
              <a:rPr lang="en-US" dirty="0"/>
              <a:t>: The transition between adaptive and predictive methods can cause confusion if not managed well, particularly in terms of timelines, responsibilities, and expectations.</a:t>
            </a:r>
            <a:endParaRPr lang="en-US" dirty="0"/>
          </a:p>
          <a:p>
            <a:pPr>
              <a:buFont typeface="+mj-lt"/>
              <a:buAutoNum type="arabicPeriod"/>
            </a:pPr>
            <a:r>
              <a:rPr lang="en-US" b="1" dirty="0"/>
              <a:t>Resource Management</a:t>
            </a:r>
            <a:r>
              <a:rPr lang="en-US" dirty="0"/>
              <a:t>: Allocating resources effectively between teams following different processes can be tricky, especially if both methodologies require different types of oversight or skills.</a:t>
            </a:r>
            <a:endParaRPr lang="en-US" dirty="0"/>
          </a:p>
          <a:p>
            <a:r>
              <a:rPr lang="en-US" b="1" dirty="0"/>
              <a:t>When to Use the Hybrid Approach:</a:t>
            </a:r>
            <a:endParaRPr lang="en-US" b="1" dirty="0"/>
          </a:p>
          <a:p>
            <a:pPr>
              <a:buFont typeface="Arial" panose="020B0604020202020204" pitchFamily="34" charset="0"/>
              <a:buChar char="•"/>
            </a:pPr>
            <a:r>
              <a:rPr lang="en-US" dirty="0"/>
              <a:t>In projects where some aspects are well-defined and predictable (e.g., regulatory requirements), but others are subject to change (e.g., customer preferences or market demands).</a:t>
            </a:r>
            <a:endParaRPr lang="en-US" dirty="0"/>
          </a:p>
          <a:p>
            <a:pPr>
              <a:buFont typeface="Arial" panose="020B0604020202020204" pitchFamily="34" charset="0"/>
              <a:buChar char="•"/>
            </a:pPr>
            <a:r>
              <a:rPr lang="en-US" dirty="0"/>
              <a:t>When both innovation and control are necessary.</a:t>
            </a:r>
            <a:endParaRPr lang="en-US" dirty="0"/>
          </a:p>
          <a:p>
            <a:pPr>
              <a:buFont typeface="Arial" panose="020B0604020202020204" pitchFamily="34" charset="0"/>
              <a:buChar char="•"/>
            </a:pPr>
            <a:r>
              <a:rPr lang="en-US" dirty="0"/>
              <a:t>In industries where both physical products (predictive) and software (adaptive) are developed in parallel.</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602" name="Google Shape;602;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7"/>
        <p:cNvGrpSpPr/>
        <p:nvPr/>
      </p:nvGrpSpPr>
      <p:grpSpPr>
        <a:xfrm>
          <a:off x="0" y="0"/>
          <a:ext cx="0" cy="0"/>
          <a:chOff x="0" y="0"/>
          <a:chExt cx="0" cy="0"/>
        </a:xfrm>
      </p:grpSpPr>
      <p:sp>
        <p:nvSpPr>
          <p:cNvPr id="608" name="Google Shape;60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9" name="Google Shape;609;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endParaRPr lang="en-US" dirty="0"/>
          </a:p>
        </p:txBody>
      </p:sp>
      <p:sp>
        <p:nvSpPr>
          <p:cNvPr id="610" name="Google Shape;610;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panose="020F0502020204030204"/>
              <a:buNone/>
            </a:pPr>
            <a:fld id="{00000000-1234-1234-1234-123412341234}" type="slidenum">
              <a:rPr lang="en-US" sz="1200"/>
            </a:fld>
            <a:endParaRPr sz="120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4"/>
        <p:cNvGrpSpPr/>
        <p:nvPr/>
      </p:nvGrpSpPr>
      <p:grpSpPr>
        <a:xfrm>
          <a:off x="0" y="0"/>
          <a:ext cx="0" cy="0"/>
          <a:chOff x="0" y="0"/>
          <a:chExt cx="0" cy="0"/>
        </a:xfrm>
      </p:grpSpPr>
      <p:sp>
        <p:nvSpPr>
          <p:cNvPr id="615" name="Google Shape;615;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b="1" dirty="0"/>
              <a:t>Project Scope</a:t>
            </a:r>
            <a:r>
              <a:rPr lang="en-US" dirty="0"/>
              <a:t> and </a:t>
            </a:r>
            <a:r>
              <a:rPr lang="en-US" b="1" dirty="0"/>
              <a:t>Product Scope</a:t>
            </a:r>
            <a:r>
              <a:rPr lang="en-US" dirty="0"/>
              <a:t> are two important concepts in project management, but they refer to different aspects of a project. Here’s a breakdown of the differences:</a:t>
            </a:r>
            <a:endParaRPr lang="en-US" dirty="0"/>
          </a:p>
          <a:p>
            <a:r>
              <a:rPr lang="en-US" b="1" dirty="0"/>
              <a:t>Project Scope</a:t>
            </a:r>
            <a:endParaRPr lang="en-US" b="1" dirty="0"/>
          </a:p>
          <a:p>
            <a:pPr>
              <a:buFont typeface="Arial" panose="020B0604020202020204" pitchFamily="34" charset="0"/>
              <a:buChar char="•"/>
            </a:pPr>
            <a:r>
              <a:rPr lang="en-US" b="1" dirty="0"/>
              <a:t>Definition</a:t>
            </a:r>
            <a:r>
              <a:rPr lang="en-US" dirty="0"/>
              <a:t>: Project scope refers to the specific work and tasks that need to be completed to deliver the project successfully. It outlines the boundaries of the project, including what is included and what is excluded.</a:t>
            </a:r>
            <a:endParaRPr lang="en-US" dirty="0"/>
          </a:p>
          <a:p>
            <a:pPr>
              <a:buFont typeface="Arial" panose="020B0604020202020204" pitchFamily="34" charset="0"/>
              <a:buChar char="•"/>
            </a:pPr>
            <a:r>
              <a:rPr lang="en-US" b="1" dirty="0"/>
              <a:t>Focus</a:t>
            </a:r>
            <a:r>
              <a:rPr lang="en-US" dirty="0"/>
              <a:t>: It focuses on the project’s processes, resources, and timelines. It details how the project will be executed, managed, and controlled.</a:t>
            </a:r>
            <a:endParaRPr lang="en-US" dirty="0"/>
          </a:p>
          <a:p>
            <a:pPr>
              <a:buFont typeface="Arial" panose="020B0604020202020204" pitchFamily="34" charset="0"/>
              <a:buChar char="•"/>
            </a:pPr>
            <a:r>
              <a:rPr lang="en-US" b="1" dirty="0"/>
              <a:t>Components</a:t>
            </a:r>
            <a:r>
              <a:rPr lang="en-US" dirty="0"/>
              <a:t>:</a:t>
            </a:r>
            <a:endParaRPr lang="en-US" dirty="0"/>
          </a:p>
          <a:p>
            <a:pPr marL="742950" lvl="1" indent="-285750">
              <a:buFont typeface="Arial" panose="020B0604020202020204" pitchFamily="34" charset="0"/>
              <a:buChar char="•"/>
            </a:pPr>
            <a:r>
              <a:rPr lang="en-US" dirty="0"/>
              <a:t>Tasks to be performed</a:t>
            </a:r>
            <a:endParaRPr lang="en-US" dirty="0"/>
          </a:p>
          <a:p>
            <a:pPr marL="742950" lvl="1" indent="-285750">
              <a:buFont typeface="Arial" panose="020B0604020202020204" pitchFamily="34" charset="0"/>
              <a:buChar char="•"/>
            </a:pPr>
            <a:r>
              <a:rPr lang="en-US" dirty="0"/>
              <a:t>Resources needed (people, tools, materials)</a:t>
            </a:r>
            <a:endParaRPr lang="en-US" dirty="0"/>
          </a:p>
          <a:p>
            <a:pPr marL="742950" lvl="1" indent="-285750">
              <a:buFont typeface="Arial" panose="020B0604020202020204" pitchFamily="34" charset="0"/>
              <a:buChar char="•"/>
            </a:pPr>
            <a:r>
              <a:rPr lang="en-US" dirty="0"/>
              <a:t>Timeframe for completion</a:t>
            </a:r>
            <a:endParaRPr lang="en-US" dirty="0"/>
          </a:p>
          <a:p>
            <a:pPr marL="742950" lvl="1" indent="-285750">
              <a:buFont typeface="Arial" panose="020B0604020202020204" pitchFamily="34" charset="0"/>
              <a:buChar char="•"/>
            </a:pPr>
            <a:r>
              <a:rPr lang="en-US" dirty="0"/>
              <a:t>Project constraints and assumptions</a:t>
            </a:r>
            <a:endParaRPr lang="en-US" dirty="0"/>
          </a:p>
          <a:p>
            <a:pPr>
              <a:buFont typeface="Arial" panose="020B0604020202020204" pitchFamily="34" charset="0"/>
              <a:buChar char="•"/>
            </a:pPr>
            <a:r>
              <a:rPr lang="en-US" b="1" dirty="0"/>
              <a:t>Example</a:t>
            </a:r>
            <a:r>
              <a:rPr lang="en-US" dirty="0"/>
              <a:t>: In a construction project, the project scope might include the design, procurement of materials, and construction of the building, specifying tasks like site preparation, foundation work, and utility installation.</a:t>
            </a:r>
            <a:endParaRPr lang="en-US" dirty="0"/>
          </a:p>
          <a:p>
            <a:r>
              <a:rPr lang="en-US" b="1" dirty="0"/>
              <a:t>Product Scope</a:t>
            </a:r>
            <a:endParaRPr lang="en-US" b="1" dirty="0"/>
          </a:p>
          <a:p>
            <a:pPr>
              <a:buFont typeface="Arial" panose="020B0604020202020204" pitchFamily="34" charset="0"/>
              <a:buChar char="•"/>
            </a:pPr>
            <a:r>
              <a:rPr lang="en-US" b="1" dirty="0"/>
              <a:t>Definition</a:t>
            </a:r>
            <a:r>
              <a:rPr lang="en-US" dirty="0"/>
              <a:t>: Product scope refers to the features, functions, and characteristics of the final product or service that is being delivered. It defines what the product is, its specifications, and its intended quality.</a:t>
            </a:r>
            <a:endParaRPr lang="en-US" dirty="0"/>
          </a:p>
          <a:p>
            <a:pPr>
              <a:buFont typeface="Arial" panose="020B0604020202020204" pitchFamily="34" charset="0"/>
              <a:buChar char="•"/>
            </a:pPr>
            <a:r>
              <a:rPr lang="en-US" b="1" dirty="0"/>
              <a:t>Focus</a:t>
            </a:r>
            <a:r>
              <a:rPr lang="en-US" dirty="0"/>
              <a:t>: It focuses on what the end product will look like and what it will do. It is about meeting user needs and requirements.</a:t>
            </a:r>
            <a:endParaRPr lang="en-US" dirty="0"/>
          </a:p>
          <a:p>
            <a:pPr>
              <a:buFont typeface="Arial" panose="020B0604020202020204" pitchFamily="34" charset="0"/>
              <a:buChar char="•"/>
            </a:pPr>
            <a:r>
              <a:rPr lang="en-US" b="1" dirty="0"/>
              <a:t>Components</a:t>
            </a:r>
            <a:r>
              <a:rPr lang="en-US" dirty="0"/>
              <a:t>:</a:t>
            </a:r>
            <a:endParaRPr lang="en-US" dirty="0"/>
          </a:p>
          <a:p>
            <a:pPr marL="742950" lvl="1" indent="-285750">
              <a:buFont typeface="Arial" panose="020B0604020202020204" pitchFamily="34" charset="0"/>
              <a:buChar char="•"/>
            </a:pPr>
            <a:r>
              <a:rPr lang="en-US" dirty="0"/>
              <a:t>Features and functionalities of the product</a:t>
            </a:r>
            <a:endParaRPr lang="en-US" dirty="0"/>
          </a:p>
          <a:p>
            <a:pPr marL="742950" lvl="1" indent="-285750">
              <a:buFont typeface="Arial" panose="020B0604020202020204" pitchFamily="34" charset="0"/>
              <a:buChar char="•"/>
            </a:pPr>
            <a:r>
              <a:rPr lang="en-US" dirty="0"/>
              <a:t>Quality requirements</a:t>
            </a:r>
            <a:endParaRPr lang="en-US" dirty="0"/>
          </a:p>
          <a:p>
            <a:pPr marL="742950" lvl="1" indent="-285750">
              <a:buFont typeface="Arial" panose="020B0604020202020204" pitchFamily="34" charset="0"/>
              <a:buChar char="•"/>
            </a:pPr>
            <a:r>
              <a:rPr lang="en-US" dirty="0"/>
              <a:t>Specifications and standards</a:t>
            </a:r>
            <a:endParaRPr lang="en-US" dirty="0"/>
          </a:p>
          <a:p>
            <a:pPr>
              <a:buFont typeface="Arial" panose="020B0604020202020204" pitchFamily="34" charset="0"/>
              <a:buChar char="•"/>
            </a:pPr>
            <a:r>
              <a:rPr lang="en-US" b="1" dirty="0"/>
              <a:t>Example</a:t>
            </a:r>
            <a:r>
              <a:rPr lang="en-US" dirty="0"/>
              <a:t>: In the same construction project, the product scope would detail the specifications of the building, such as the number of floors, materials used, layout, and amenities (like parking spaces and landscaping).</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marL="0" lvl="0" indent="0" algn="l" rtl="0">
              <a:spcBef>
                <a:spcPts val="0"/>
              </a:spcBef>
              <a:spcAft>
                <a:spcPts val="0"/>
              </a:spcAft>
              <a:buNone/>
            </a:pPr>
            <a:endParaRPr dirty="0"/>
          </a:p>
        </p:txBody>
      </p:sp>
      <p:sp>
        <p:nvSpPr>
          <p:cNvPr id="616" name="Google Shape;61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2"/>
        <p:cNvGrpSpPr/>
        <p:nvPr/>
      </p:nvGrpSpPr>
      <p:grpSpPr>
        <a:xfrm>
          <a:off x="0" y="0"/>
          <a:ext cx="0" cy="0"/>
          <a:chOff x="0" y="0"/>
          <a:chExt cx="0" cy="0"/>
        </a:xfrm>
      </p:grpSpPr>
      <p:sp>
        <p:nvSpPr>
          <p:cNvPr id="623" name="Google Shape;623;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4" name="Google Shape;62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30"/>
        <p:cNvGrpSpPr/>
        <p:nvPr/>
      </p:nvGrpSpPr>
      <p:grpSpPr>
        <a:xfrm>
          <a:off x="0" y="0"/>
          <a:ext cx="0" cy="0"/>
          <a:chOff x="0" y="0"/>
          <a:chExt cx="0" cy="0"/>
        </a:xfrm>
      </p:grpSpPr>
      <p:sp>
        <p:nvSpPr>
          <p:cNvPr id="631" name="Google Shape;631;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2" name="Google Shape;63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38"/>
        <p:cNvGrpSpPr/>
        <p:nvPr/>
      </p:nvGrpSpPr>
      <p:grpSpPr>
        <a:xfrm>
          <a:off x="0" y="0"/>
          <a:ext cx="0" cy="0"/>
          <a:chOff x="0" y="0"/>
          <a:chExt cx="0" cy="0"/>
        </a:xfrm>
      </p:grpSpPr>
      <p:sp>
        <p:nvSpPr>
          <p:cNvPr id="639" name="Google Shape;63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one size SLC cannot possibly fit all.</a:t>
            </a:r>
            <a:endParaRPr lang="en-US"/>
          </a:p>
          <a:p>
            <a:pPr marL="0" lvl="0" indent="0" algn="l" rtl="0">
              <a:spcBef>
                <a:spcPts val="0"/>
              </a:spcBef>
              <a:spcAft>
                <a:spcPts val="0"/>
              </a:spcAft>
              <a:buNone/>
            </a:pPr>
            <a:r>
              <a:rPr lang="en-US"/>
              <a:t>unique projects require unique models, or combinations of models, to succeed.</a:t>
            </a:r>
            <a:endParaRPr lang="en-US"/>
          </a:p>
        </p:txBody>
      </p:sp>
      <p:sp>
        <p:nvSpPr>
          <p:cNvPr id="641" name="Google Shape;641;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7"/>
        <p:cNvGrpSpPr/>
        <p:nvPr/>
      </p:nvGrpSpPr>
      <p:grpSpPr>
        <a:xfrm>
          <a:off x="0" y="0"/>
          <a:ext cx="0" cy="0"/>
          <a:chOff x="0" y="0"/>
          <a:chExt cx="0" cy="0"/>
        </a:xfrm>
      </p:grpSpPr>
      <p:sp>
        <p:nvSpPr>
          <p:cNvPr id="648" name="Google Shape;648;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9" name="Google Shape;649;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4"/>
        <p:cNvGrpSpPr/>
        <p:nvPr/>
      </p:nvGrpSpPr>
      <p:grpSpPr>
        <a:xfrm>
          <a:off x="0" y="0"/>
          <a:ext cx="0" cy="0"/>
          <a:chOff x="0" y="0"/>
          <a:chExt cx="0" cy="0"/>
        </a:xfrm>
      </p:grpSpPr>
      <p:sp>
        <p:nvSpPr>
          <p:cNvPr id="655" name="Google Shape;655;p6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Times New Roman" panose="02020603050405020304"/>
              <a:buNone/>
            </a:pPr>
            <a:fld id="{00000000-1234-1234-1234-123412341234}" type="slidenum">
              <a:rPr lang="en-US"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6" name="Google Shape;656;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Times New Roman" panose="02020603050405020304"/>
              <a:buChar char="-"/>
            </a:pPr>
            <a:r>
              <a:rPr lang="en-US">
                <a:latin typeface="Times New Roman" panose="02020603050405020304"/>
                <a:ea typeface="Times New Roman" panose="02020603050405020304"/>
                <a:cs typeface="Times New Roman" panose="02020603050405020304"/>
                <a:sym typeface="Times New Roman" panose="02020603050405020304"/>
              </a:rPr>
              <a:t>McConnell refers to “Pillars”</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Times New Roman" panose="02020603050405020304"/>
              <a:buChar char="-"/>
            </a:pPr>
            <a:r>
              <a:rPr lang="en-US">
                <a:latin typeface="Times New Roman" panose="02020603050405020304"/>
                <a:ea typeface="Times New Roman" panose="02020603050405020304"/>
                <a:cs typeface="Times New Roman" panose="02020603050405020304"/>
                <a:sym typeface="Times New Roman" panose="02020603050405020304"/>
              </a:rPr>
              <a:t>These provide balance</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2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2"/>
        <p:cNvGrpSpPr/>
        <p:nvPr/>
      </p:nvGrpSpPr>
      <p:grpSpPr>
        <a:xfrm>
          <a:off x="0" y="0"/>
          <a:ext cx="0" cy="0"/>
          <a:chOff x="0" y="0"/>
          <a:chExt cx="0" cy="0"/>
        </a:xfrm>
      </p:grpSpPr>
      <p:sp>
        <p:nvSpPr>
          <p:cNvPr id="663" name="Google Shape;663;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4" name="Google Shape;664;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7"/>
        <p:cNvGrpSpPr/>
        <p:nvPr/>
      </p:nvGrpSpPr>
      <p:grpSpPr>
        <a:xfrm>
          <a:off x="0" y="0"/>
          <a:ext cx="0" cy="0"/>
          <a:chOff x="0" y="0"/>
          <a:chExt cx="0" cy="0"/>
        </a:xfrm>
      </p:grpSpPr>
      <p:sp>
        <p:nvSpPr>
          <p:cNvPr id="678" name="Google Shape;678;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9" name="Google Shape;679;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4"/>
        <p:cNvGrpSpPr/>
        <p:nvPr/>
      </p:nvGrpSpPr>
      <p:grpSpPr>
        <a:xfrm>
          <a:off x="0" y="0"/>
          <a:ext cx="0" cy="0"/>
          <a:chOff x="0" y="0"/>
          <a:chExt cx="0" cy="0"/>
        </a:xfrm>
      </p:grpSpPr>
      <p:sp>
        <p:nvSpPr>
          <p:cNvPr id="685" name="Google Shape;685;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6" name="Google Shape;686;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1"/>
        <p:cNvGrpSpPr/>
        <p:nvPr/>
      </p:nvGrpSpPr>
      <p:grpSpPr>
        <a:xfrm>
          <a:off x="0" y="0"/>
          <a:ext cx="0" cy="0"/>
          <a:chOff x="0" y="0"/>
          <a:chExt cx="0" cy="0"/>
        </a:xfrm>
      </p:grpSpPr>
      <p:sp>
        <p:nvSpPr>
          <p:cNvPr id="692" name="Google Shape;692;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3" name="Google Shape;693;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8"/>
        <p:cNvGrpSpPr/>
        <p:nvPr/>
      </p:nvGrpSpPr>
      <p:grpSpPr>
        <a:xfrm>
          <a:off x="0" y="0"/>
          <a:ext cx="0" cy="0"/>
          <a:chOff x="0" y="0"/>
          <a:chExt cx="0" cy="0"/>
        </a:xfrm>
      </p:grpSpPr>
      <p:sp>
        <p:nvSpPr>
          <p:cNvPr id="699" name="Google Shape;699;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Balancing these constraints is critical because changes to one often affect the others. </a:t>
            </a:r>
            <a:endParaRPr lang="en-US" dirty="0"/>
          </a:p>
          <a:p>
            <a:pPr marL="0" lvl="0" indent="0" algn="l" rtl="0">
              <a:spcBef>
                <a:spcPts val="0"/>
              </a:spcBef>
              <a:spcAft>
                <a:spcPts val="0"/>
              </a:spcAft>
              <a:buNone/>
            </a:pPr>
            <a:r>
              <a:rPr lang="en-US" b="1" dirty="0"/>
              <a:t>Increasing the scope</a:t>
            </a:r>
            <a:r>
              <a:rPr lang="en-US" dirty="0"/>
              <a:t> might mean additional work is required, leading to higher costs and extended timelines, or it could negatively affect quality if rushed.</a:t>
            </a:r>
            <a:endParaRPr lang="en-US" dirty="0"/>
          </a:p>
          <a:p>
            <a:pPr marL="0" lvl="0" indent="0" algn="l" rtl="0">
              <a:spcBef>
                <a:spcPts val="0"/>
              </a:spcBef>
              <a:spcAft>
                <a:spcPts val="0"/>
              </a:spcAft>
              <a:buNone/>
            </a:pPr>
            <a:r>
              <a:rPr lang="en-US" b="1" dirty="0"/>
              <a:t>Reducing time</a:t>
            </a:r>
            <a:r>
              <a:rPr lang="en-US" dirty="0"/>
              <a:t> might pressure the team to complete tasks faster, risking a compromise in quality, unless additional resources (cost) are allocated.</a:t>
            </a:r>
            <a:endParaRPr lang="en-US" dirty="0"/>
          </a:p>
          <a:p>
            <a:pPr marL="0" lvl="0" indent="0" algn="l" rtl="0">
              <a:spcBef>
                <a:spcPts val="0"/>
              </a:spcBef>
              <a:spcAft>
                <a:spcPts val="0"/>
              </a:spcAft>
              <a:buNone/>
            </a:pPr>
            <a:r>
              <a:rPr lang="en-US" b="1" dirty="0"/>
              <a:t>Cutting costs</a:t>
            </a:r>
            <a:r>
              <a:rPr lang="en-US" dirty="0"/>
              <a:t> might force the project team to reduce scope or quality to stay within budget, or extend the time to complete the work.</a:t>
            </a:r>
            <a:endParaRPr lang="en-US" dirty="0"/>
          </a:p>
          <a:p>
            <a:pPr marL="0" lvl="0" indent="0" algn="l" rtl="0">
              <a:spcBef>
                <a:spcPts val="0"/>
              </a:spcBef>
              <a:spcAft>
                <a:spcPts val="0"/>
              </a:spcAft>
              <a:buNone/>
            </a:pPr>
            <a:endParaRPr dirty="0"/>
          </a:p>
        </p:txBody>
      </p:sp>
      <p:sp>
        <p:nvSpPr>
          <p:cNvPr id="700" name="Google Shape;700;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17"/>
        <p:cNvGrpSpPr/>
        <p:nvPr/>
      </p:nvGrpSpPr>
      <p:grpSpPr>
        <a:xfrm>
          <a:off x="0" y="0"/>
          <a:ext cx="0" cy="0"/>
          <a:chOff x="0" y="0"/>
          <a:chExt cx="0" cy="0"/>
        </a:xfrm>
      </p:grpSpPr>
      <p:sp>
        <p:nvSpPr>
          <p:cNvPr id="718" name="Google Shape;718;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Fast and Cheap – The project can be completed quickly and at a low cost, but the quality may suffer.</a:t>
            </a:r>
            <a:endParaRPr lang="en-US" dirty="0"/>
          </a:p>
          <a:p>
            <a:pPr marL="0" lvl="0" indent="0" algn="l" rtl="0">
              <a:spcBef>
                <a:spcPts val="0"/>
              </a:spcBef>
              <a:spcAft>
                <a:spcPts val="0"/>
              </a:spcAft>
              <a:buNone/>
            </a:pPr>
            <a:r>
              <a:rPr lang="en-US" dirty="0"/>
              <a:t>Fast and Good – The project can be completed quickly and to a high standard, but it will likely be expensive due to the resources required.</a:t>
            </a:r>
            <a:endParaRPr lang="en-US" dirty="0"/>
          </a:p>
          <a:p>
            <a:pPr marL="0" lvl="0" indent="0" algn="l" rtl="0">
              <a:spcBef>
                <a:spcPts val="0"/>
              </a:spcBef>
              <a:spcAft>
                <a:spcPts val="0"/>
              </a:spcAft>
              <a:buNone/>
            </a:pPr>
            <a:r>
              <a:rPr lang="en-US" dirty="0"/>
              <a:t>Cheap and Good – The project can be completed to a high standard without high costs, but it will take longer to complete.</a:t>
            </a:r>
            <a:endParaRPr dirty="0"/>
          </a:p>
        </p:txBody>
      </p:sp>
      <p:sp>
        <p:nvSpPr>
          <p:cNvPr id="719" name="Google Shape;719;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5"/>
        <p:cNvGrpSpPr/>
        <p:nvPr/>
      </p:nvGrpSpPr>
      <p:grpSpPr>
        <a:xfrm>
          <a:off x="0" y="0"/>
          <a:ext cx="0" cy="0"/>
          <a:chOff x="0" y="0"/>
          <a:chExt cx="0" cy="0"/>
        </a:xfrm>
      </p:grpSpPr>
      <p:sp>
        <p:nvSpPr>
          <p:cNvPr id="726" name="Google Shape;726;p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Times New Roman" panose="02020603050405020304"/>
              <a:buNone/>
            </a:pPr>
            <a:fld id="{00000000-1234-1234-1234-123412341234}" type="slidenum">
              <a:rPr lang="en-US"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27" name="Google Shape;727;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12700" cap="flat" cmpd="sng">
            <a:solidFill>
              <a:srgbClr val="000000"/>
            </a:solidFill>
            <a:prstDash val="solid"/>
            <a:round/>
            <a:headEnd type="none" w="sm" len="sm"/>
            <a:tailEnd type="none" w="sm" len="sm"/>
          </a:ln>
        </p:spPr>
      </p:sp>
      <p:sp>
        <p:nvSpPr>
          <p:cNvPr id="728" name="Google Shape;728;p69:notes"/>
          <p:cNvSpPr txBox="1">
            <a:spLocks noGrp="1"/>
          </p:cNvSpPr>
          <p:nvPr>
            <p:ph type="body" idx="1"/>
          </p:nvPr>
        </p:nvSpPr>
        <p:spPr>
          <a:xfrm>
            <a:off x="685800" y="4400550"/>
            <a:ext cx="5486400" cy="360045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r>
              <a:rPr lang="en-US" dirty="0">
                <a:latin typeface="Times New Roman" panose="02020603050405020304"/>
                <a:ea typeface="Times New Roman" panose="02020603050405020304"/>
                <a:cs typeface="Times New Roman" panose="02020603050405020304"/>
                <a:sym typeface="Times New Roman" panose="02020603050405020304"/>
              </a:rPr>
              <a:t>Fixed time (Fast) means you may have to choose between quality and cost.</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dirty="0">
                <a:latin typeface="Times New Roman" panose="02020603050405020304"/>
                <a:ea typeface="Times New Roman" panose="02020603050405020304"/>
                <a:cs typeface="Times New Roman" panose="02020603050405020304"/>
                <a:sym typeface="Times New Roman" panose="02020603050405020304"/>
              </a:rPr>
              <a:t>Fixed cost (Cheap) means you might have to adjust either the timeline or the quality.</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dirty="0">
                <a:latin typeface="Times New Roman" panose="02020603050405020304"/>
                <a:ea typeface="Times New Roman" panose="02020603050405020304"/>
                <a:cs typeface="Times New Roman" panose="02020603050405020304"/>
                <a:sym typeface="Times New Roman" panose="02020603050405020304"/>
              </a:rPr>
              <a:t>Fixed quality (Good) means you may have to spend more or extend the project timeline</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dirty="0">
              <a:latin typeface="Times New Roman" panose="02020603050405020304"/>
              <a:ea typeface="Times New Roman" panose="02020603050405020304"/>
              <a:cs typeface="Times New Roman" panose="02020603050405020304"/>
              <a:sym typeface="Times New Roman" panose="02020603050405020304"/>
            </a:endParaRPr>
          </a:p>
          <a:p>
            <a:r>
              <a:rPr lang="en-US" b="1" dirty="0"/>
              <a:t>Time</a:t>
            </a:r>
            <a:endParaRPr lang="en-US" dirty="0"/>
          </a:p>
          <a:p>
            <a:pPr>
              <a:buFont typeface="Arial" panose="020B0604020202020204" pitchFamily="34" charset="0"/>
              <a:buChar char="•"/>
            </a:pPr>
            <a:r>
              <a:rPr lang="en-US" b="1" dirty="0"/>
              <a:t>Fixed:</a:t>
            </a:r>
            <a:r>
              <a:rPr lang="en-US" dirty="0"/>
              <a:t> If there is a strict deadline (e.g., a product launch date or a critical event), the timeline becomes non-negotiable.</a:t>
            </a:r>
            <a:endParaRPr lang="en-US" dirty="0"/>
          </a:p>
          <a:p>
            <a:pPr>
              <a:buFont typeface="Arial" panose="020B0604020202020204" pitchFamily="34" charset="0"/>
              <a:buChar char="•"/>
            </a:pPr>
            <a:r>
              <a:rPr lang="en-US" b="1" dirty="0"/>
              <a:t>Variable:</a:t>
            </a:r>
            <a:r>
              <a:rPr lang="en-US" dirty="0"/>
              <a:t> If delivery time is flexible and the focus is on other aspects like quality or cost, time can be extended as needed.</a:t>
            </a:r>
            <a:endParaRPr lang="en-US" dirty="0"/>
          </a:p>
          <a:p>
            <a:r>
              <a:rPr lang="en-US" b="1" dirty="0"/>
              <a:t>Cost</a:t>
            </a:r>
            <a:endParaRPr lang="en-US" dirty="0"/>
          </a:p>
          <a:p>
            <a:pPr>
              <a:buFont typeface="Arial" panose="020B0604020202020204" pitchFamily="34" charset="0"/>
              <a:buChar char="•"/>
            </a:pPr>
            <a:r>
              <a:rPr lang="en-US" b="1" dirty="0"/>
              <a:t>Fixed:</a:t>
            </a:r>
            <a:r>
              <a:rPr lang="en-US" dirty="0"/>
              <a:t> When the budget is strictly limited (e.g., government projects or low-budget initiatives), the project must work within these financial constraints.</a:t>
            </a:r>
            <a:endParaRPr lang="en-US" dirty="0"/>
          </a:p>
          <a:p>
            <a:pPr>
              <a:buFont typeface="Arial" panose="020B0604020202020204" pitchFamily="34" charset="0"/>
              <a:buChar char="•"/>
            </a:pPr>
            <a:r>
              <a:rPr lang="en-US" b="1" dirty="0"/>
              <a:t>Variable:</a:t>
            </a:r>
            <a:r>
              <a:rPr lang="en-US" dirty="0"/>
              <a:t> In cases where quality or scope is more important than staying under budget, costs can increase if needed.</a:t>
            </a:r>
            <a:endParaRPr lang="en-US" dirty="0"/>
          </a:p>
          <a:p>
            <a:r>
              <a:rPr lang="en-US" b="1" dirty="0"/>
              <a:t>Scope</a:t>
            </a:r>
            <a:endParaRPr lang="en-US" dirty="0"/>
          </a:p>
          <a:p>
            <a:pPr>
              <a:buFont typeface="Arial" panose="020B0604020202020204" pitchFamily="34" charset="0"/>
              <a:buChar char="•"/>
            </a:pPr>
            <a:r>
              <a:rPr lang="en-US" b="1" dirty="0"/>
              <a:t>Fixed:</a:t>
            </a:r>
            <a:r>
              <a:rPr lang="en-US" dirty="0"/>
              <a:t> If the deliverables are non-negotiable (e.g., contracts that demand certain features or services), the scope is fixed.</a:t>
            </a:r>
            <a:endParaRPr lang="en-US" dirty="0"/>
          </a:p>
          <a:p>
            <a:pPr>
              <a:buFont typeface="Arial" panose="020B0604020202020204" pitchFamily="34" charset="0"/>
              <a:buChar char="•"/>
            </a:pPr>
            <a:r>
              <a:rPr lang="en-US" b="1" dirty="0"/>
              <a:t>Variable:</a:t>
            </a:r>
            <a:r>
              <a:rPr lang="en-US" dirty="0"/>
              <a:t> If the project allows for scope adjustments (e.g., changing features or scaling down the product), the scope can be flexible based on time or cost.</a:t>
            </a:r>
            <a:endParaRPr lang="en-US" dirty="0"/>
          </a:p>
          <a:p>
            <a:r>
              <a:rPr lang="en-US" b="1" dirty="0"/>
              <a:t>Quality</a:t>
            </a:r>
            <a:endParaRPr lang="en-US" dirty="0"/>
          </a:p>
          <a:p>
            <a:pPr>
              <a:buFont typeface="Arial" panose="020B0604020202020204" pitchFamily="34" charset="0"/>
              <a:buChar char="•"/>
            </a:pPr>
            <a:r>
              <a:rPr lang="en-US" b="1" dirty="0"/>
              <a:t>Fixed:</a:t>
            </a:r>
            <a:r>
              <a:rPr lang="en-US" dirty="0"/>
              <a:t> In projects where quality is paramount (e.g., healthcare, aerospace), quality standards cannot be compromised.</a:t>
            </a:r>
            <a:endParaRPr lang="en-US" dirty="0"/>
          </a:p>
          <a:p>
            <a:pPr>
              <a:buFont typeface="Arial" panose="020B0604020202020204" pitchFamily="34" charset="0"/>
              <a:buChar char="•"/>
            </a:pPr>
            <a:r>
              <a:rPr lang="en-US" b="1" dirty="0"/>
              <a:t>Variable:</a:t>
            </a:r>
            <a:r>
              <a:rPr lang="en-US" dirty="0"/>
              <a:t> In cases where less critical deliverables are acceptable (e.g., prototypes or MVPs), the quality can be adjusted to meet time and cost constraints.</a:t>
            </a:r>
            <a:endParaRPr lang="en-US" dirty="0"/>
          </a:p>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4"/>
        <p:cNvGrpSpPr/>
        <p:nvPr/>
      </p:nvGrpSpPr>
      <p:grpSpPr>
        <a:xfrm>
          <a:off x="0" y="0"/>
          <a:ext cx="0" cy="0"/>
          <a:chOff x="0" y="0"/>
          <a:chExt cx="0" cy="0"/>
        </a:xfrm>
      </p:grpSpPr>
      <p:sp>
        <p:nvSpPr>
          <p:cNvPr id="735" name="Google Shape;735;p7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Times New Roman" panose="02020603050405020304"/>
              <a:buNone/>
            </a:pPr>
            <a:fld id="{00000000-1234-1234-1234-123412341234}" type="slidenum">
              <a:rPr lang="en-US"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36" name="Google Shape;736;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Calibri" panose="020F0502020204030204"/>
              <a:buChar char="-"/>
            </a:pPr>
            <a:r>
              <a:rPr lang="en-US" dirty="0">
                <a:latin typeface="Times New Roman" panose="02020603050405020304"/>
                <a:ea typeface="Times New Roman" panose="02020603050405020304"/>
                <a:cs typeface="Times New Roman" panose="02020603050405020304"/>
                <a:sym typeface="Times New Roman" panose="02020603050405020304"/>
              </a:rPr>
              <a:t>People manage the process of creating the product using technology.</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Calibri" panose="020F0502020204030204"/>
              <a:buChar char="-"/>
            </a:pPr>
            <a:r>
              <a:rPr lang="en-US" dirty="0">
                <a:latin typeface="Times New Roman" panose="02020603050405020304"/>
                <a:ea typeface="Times New Roman" panose="02020603050405020304"/>
                <a:cs typeface="Times New Roman" panose="02020603050405020304"/>
                <a:sym typeface="Times New Roman" panose="02020603050405020304"/>
              </a:rPr>
              <a:t>Effective collaboration between these dimensions ensures the project is delivered on time, within budget, and to the expected quality.</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Calibri" panose="020F0502020204030204"/>
              <a:buChar char="-"/>
            </a:pPr>
            <a:endParaRPr lang="en-US" dirty="0">
              <a:latin typeface="Times New Roman" panose="02020603050405020304"/>
              <a:ea typeface="Times New Roman" panose="02020603050405020304"/>
              <a:cs typeface="Times New Roman" panose="02020603050405020304"/>
              <a:sym typeface="Times New Roman" panose="02020603050405020304"/>
            </a:endParaRPr>
          </a:p>
          <a:p>
            <a:r>
              <a:rPr lang="en-US" b="1" dirty="0"/>
              <a:t>People</a:t>
            </a:r>
            <a:endParaRPr lang="en-US" dirty="0"/>
          </a:p>
          <a:p>
            <a:pPr>
              <a:buFont typeface="Arial" panose="020B0604020202020204" pitchFamily="34" charset="0"/>
              <a:buChar char="•"/>
            </a:pPr>
            <a:r>
              <a:rPr lang="en-US" dirty="0"/>
              <a:t>This dimension includes all stakeholders involved in the project, such as the project team, clients, users, and management. managing human resources, communication, collaboration, Key activities: Team management, stakeholder engagement, communication, and leadership.</a:t>
            </a:r>
            <a:endParaRPr lang="en-US" dirty="0"/>
          </a:p>
          <a:p>
            <a:r>
              <a:rPr lang="en-US" b="1" dirty="0"/>
              <a:t>Process</a:t>
            </a:r>
            <a:endParaRPr lang="en-US" dirty="0"/>
          </a:p>
          <a:p>
            <a:pPr>
              <a:buFont typeface="Arial" panose="020B0604020202020204" pitchFamily="34" charset="0"/>
              <a:buChar char="•"/>
            </a:pPr>
            <a:r>
              <a:rPr lang="en-US" dirty="0"/>
              <a:t>methodologies, workflows, and procedures used to execute the project. </a:t>
            </a:r>
            <a:endParaRPr lang="en-US" dirty="0"/>
          </a:p>
          <a:p>
            <a:pPr>
              <a:buFont typeface="Arial" panose="020B0604020202020204" pitchFamily="34" charset="0"/>
              <a:buChar char="•"/>
            </a:pPr>
            <a:r>
              <a:rPr lang="en-US" dirty="0"/>
              <a:t>Key activities: Project planning, monitoring, risk management, and implementing best practices (e.g., Agile, Waterfall).</a:t>
            </a:r>
            <a:endParaRPr lang="en-US" dirty="0"/>
          </a:p>
          <a:p>
            <a:pPr marL="228600" indent="0">
              <a:buFont typeface="Arial" panose="020B0604020202020204" pitchFamily="34" charset="0"/>
              <a:buNone/>
            </a:pPr>
            <a:endParaRPr lang="en-US" dirty="0"/>
          </a:p>
          <a:p>
            <a:r>
              <a:rPr lang="en-US" b="1" dirty="0"/>
              <a:t>Technology</a:t>
            </a:r>
            <a:endParaRPr lang="en-US" dirty="0"/>
          </a:p>
          <a:p>
            <a:pPr>
              <a:buFont typeface="Arial" panose="020B0604020202020204" pitchFamily="34" charset="0"/>
              <a:buChar char="•"/>
            </a:pPr>
            <a:r>
              <a:rPr lang="en-US" dirty="0"/>
              <a:t>Technology includes the tools, systems, and infrastructure that support the project. It refers to the software, hardware, and platforms</a:t>
            </a:r>
            <a:endParaRPr lang="en-US" dirty="0"/>
          </a:p>
          <a:p>
            <a:pPr>
              <a:buFont typeface="Arial" panose="020B0604020202020204" pitchFamily="34" charset="0"/>
              <a:buChar char="•"/>
            </a:pPr>
            <a:r>
              <a:rPr lang="en-US" dirty="0"/>
              <a:t>Key activities: Selecting appropriate tools, ensuring compatibility, and managing technological risks.</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marL="0" lvl="0" indent="-76200" algn="l" rtl="0">
              <a:spcBef>
                <a:spcPts val="0"/>
              </a:spcBef>
              <a:spcAft>
                <a:spcPts val="0"/>
              </a:spcAft>
              <a:buClr>
                <a:schemeClr val="dk1"/>
              </a:buClr>
              <a:buSzPts val="1200"/>
              <a:buFont typeface="Calibri" panose="020F0502020204030204"/>
              <a:buChar char="-"/>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2"/>
        <p:cNvGrpSpPr/>
        <p:nvPr/>
      </p:nvGrpSpPr>
      <p:grpSpPr>
        <a:xfrm>
          <a:off x="0" y="0"/>
          <a:ext cx="0" cy="0"/>
          <a:chOff x="0" y="0"/>
          <a:chExt cx="0" cy="0"/>
        </a:xfrm>
      </p:grpSpPr>
      <p:sp>
        <p:nvSpPr>
          <p:cNvPr id="743" name="Google Shape;743;p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Times New Roman" panose="02020603050405020304"/>
              <a:buNone/>
            </a:pPr>
            <a:fld id="{00000000-1234-1234-1234-123412341234}" type="slidenum">
              <a:rPr lang="en-US"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4" name="Google Shape;74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chemeClr val="dk1"/>
              </a:buClr>
              <a:buSzPts val="1200"/>
              <a:buFont typeface="Times New Roman" panose="02020603050405020304"/>
              <a:buChar char="-"/>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Times New Roman" panose="02020603050405020304"/>
              <a:buChar char="-"/>
            </a:pPr>
            <a:r>
              <a:rPr lang="en-US" dirty="0">
                <a:latin typeface="Times New Roman" panose="02020603050405020304"/>
                <a:ea typeface="Times New Roman" panose="02020603050405020304"/>
                <a:cs typeface="Times New Roman" panose="02020603050405020304"/>
                <a:sym typeface="Times New Roman" panose="02020603050405020304"/>
              </a:rPr>
              <a:t>The "10-to-1 range" in developer productivity refers to the observation that the productivity of software developers can vary dramatically, often by a factor of 10 or more. This means that the most productive developers can sometimes be 10 times more effective than the least productive ones, even when working in the same environment or on similar tasks. </a:t>
            </a:r>
            <a:r>
              <a:rPr lang="en-US" dirty="0"/>
              <a:t>Experience and Skill, Problem-Solving Ability, Code Quality and Efficiency, Tool Mastery and Automation, Focus and Concentration, Collaboration and Communication, Adaptability to New Technologies</a:t>
            </a: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Times New Roman" panose="02020603050405020304"/>
              <a:buChar char="-"/>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Times New Roman" panose="02020603050405020304"/>
              <a:buChar char="-"/>
            </a:pPr>
            <a:r>
              <a:rPr lang="en-US" b="1" dirty="0"/>
              <a:t>Team Composition:</a:t>
            </a:r>
            <a:r>
              <a:rPr lang="en-US" dirty="0"/>
              <a:t> When building teams, understanding this range is critical. A highly productive developer can significantly boost a project's success, while a poorly performing developer might slow things down. Not Just Lines of Code: Productivity isn't just about writing more code. It’s about writing effective, efficient, and maintainable code.</a:t>
            </a:r>
            <a:endParaRPr lang="en-US" dirty="0"/>
          </a:p>
          <a:p>
            <a:pPr marL="0" lvl="0" indent="-76200" algn="l" rtl="0">
              <a:spcBef>
                <a:spcPts val="0"/>
              </a:spcBef>
              <a:spcAft>
                <a:spcPts val="0"/>
              </a:spcAft>
              <a:buClr>
                <a:schemeClr val="dk1"/>
              </a:buClr>
              <a:buSzPts val="1200"/>
              <a:buFont typeface="Times New Roman" panose="02020603050405020304"/>
              <a:buChar char="-"/>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76200" algn="l" rtl="0">
              <a:spcBef>
                <a:spcPts val="0"/>
              </a:spcBef>
              <a:spcAft>
                <a:spcPts val="0"/>
              </a:spcAft>
              <a:buClr>
                <a:schemeClr val="dk1"/>
              </a:buClr>
              <a:buSzPts val="1200"/>
              <a:buFont typeface="Times New Roman" panose="02020603050405020304"/>
              <a:buChar char="-"/>
            </a:pPr>
            <a:r>
              <a:rPr lang="en-US" dirty="0">
                <a:latin typeface="Times New Roman" panose="02020603050405020304"/>
                <a:ea typeface="Times New Roman" panose="02020603050405020304"/>
                <a:cs typeface="Times New Roman" panose="02020603050405020304"/>
                <a:sym typeface="Times New Roman" panose="02020603050405020304"/>
              </a:rPr>
              <a:t>Mentoring and Support: Providing training and mentorship to less productive developers can help narrow the productivity gap.</a:t>
            </a: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0"/>
        <p:cNvGrpSpPr/>
        <p:nvPr/>
      </p:nvGrpSpPr>
      <p:grpSpPr>
        <a:xfrm>
          <a:off x="0" y="0"/>
          <a:ext cx="0" cy="0"/>
          <a:chOff x="0" y="0"/>
          <a:chExt cx="0" cy="0"/>
        </a:xfrm>
      </p:grpSpPr>
      <p:sp>
        <p:nvSpPr>
          <p:cNvPr id="751" name="Google Shape;751;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2" name="Google Shape;752;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7"/>
        <p:cNvGrpSpPr/>
        <p:nvPr/>
      </p:nvGrpSpPr>
      <p:grpSpPr>
        <a:xfrm>
          <a:off x="0" y="0"/>
          <a:ext cx="0" cy="0"/>
          <a:chOff x="0" y="0"/>
          <a:chExt cx="0" cy="0"/>
        </a:xfrm>
      </p:grpSpPr>
      <p:sp>
        <p:nvSpPr>
          <p:cNvPr id="758" name="Google Shape;758;p7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Times New Roman" panose="02020603050405020304"/>
              <a:buNone/>
            </a:pPr>
            <a:fld id="{00000000-1234-1234-1234-123412341234}" type="slidenum">
              <a:rPr lang="en-US" sz="1200">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9" name="Google Shape;759;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r>
              <a:rPr lang="en-US" b="1" dirty="0"/>
              <a:t>Process stifling</a:t>
            </a:r>
            <a:r>
              <a:rPr lang="en-US" dirty="0"/>
              <a:t> refers to the situation where established processes or procedures become overly rigid, bureaucratic, or complex, leading to reduced productivity, creativity, and morale among team members. </a:t>
            </a:r>
            <a:endParaRPr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None/>
            </a:pPr>
            <a:endParaRPr lang="en-US" dirty="0">
              <a:latin typeface="Times New Roman" panose="02020603050405020304"/>
              <a:ea typeface="Times New Roman" panose="02020603050405020304"/>
              <a:cs typeface="Times New Roman" panose="02020603050405020304"/>
              <a:sym typeface="Times New Roman" panose="02020603050405020304"/>
            </a:endParaRPr>
          </a:p>
          <a:p>
            <a:r>
              <a:rPr lang="en-US" b="1" dirty="0"/>
              <a:t>Characteristics of Process Stifling:</a:t>
            </a:r>
            <a:endParaRPr lang="en-US" b="1" dirty="0"/>
          </a:p>
          <a:p>
            <a:pPr>
              <a:buFont typeface="+mj-lt"/>
              <a:buAutoNum type="arabicPeriod"/>
            </a:pPr>
            <a:r>
              <a:rPr lang="en-US" b="1" dirty="0"/>
              <a:t>Rigidity</a:t>
            </a:r>
            <a:endParaRPr lang="en-US" dirty="0"/>
          </a:p>
          <a:p>
            <a:pPr marL="742950" lvl="1" indent="-285750">
              <a:buFont typeface="+mj-lt"/>
              <a:buAutoNum type="arabicPeriod"/>
            </a:pPr>
            <a:r>
              <a:rPr lang="en-US" dirty="0"/>
              <a:t>Processes are enforced strictly, leaving little room for flexibility or adaptation to unique circumstances or challenges.</a:t>
            </a:r>
            <a:endParaRPr lang="en-US" dirty="0"/>
          </a:p>
          <a:p>
            <a:pPr>
              <a:buFont typeface="+mj-lt"/>
              <a:buAutoNum type="arabicPeriod"/>
            </a:pPr>
            <a:r>
              <a:rPr lang="en-US" b="1" dirty="0"/>
              <a:t>Excessive Bureaucracy</a:t>
            </a:r>
            <a:endParaRPr lang="en-US" dirty="0"/>
          </a:p>
          <a:p>
            <a:pPr marL="742950" lvl="1" indent="-285750">
              <a:buFont typeface="+mj-lt"/>
              <a:buAutoNum type="arabicPeriod"/>
            </a:pPr>
            <a:r>
              <a:rPr lang="en-US" dirty="0"/>
              <a:t>A high number of approvals, reviews, and documentation requirements slow down decision-making and action, creating bottlenecks.</a:t>
            </a:r>
            <a:endParaRPr lang="en-US" dirty="0"/>
          </a:p>
          <a:p>
            <a:pPr>
              <a:buFont typeface="+mj-lt"/>
              <a:buAutoNum type="arabicPeriod"/>
            </a:pPr>
            <a:r>
              <a:rPr lang="en-US" b="1" dirty="0"/>
              <a:t>Lack of Empowerment</a:t>
            </a:r>
            <a:endParaRPr lang="en-US" dirty="0"/>
          </a:p>
          <a:p>
            <a:pPr marL="742950" lvl="1" indent="-285750">
              <a:buFont typeface="+mj-lt"/>
              <a:buAutoNum type="arabicPeriod"/>
            </a:pPr>
            <a:r>
              <a:rPr lang="en-US" dirty="0"/>
              <a:t>Employees feel disempowered because they must adhere to processes without the ability to make decisions or adjustments based on their expertise or insights.</a:t>
            </a:r>
            <a:endParaRPr lang="en-US" dirty="0"/>
          </a:p>
          <a:p>
            <a:pPr>
              <a:buFont typeface="+mj-lt"/>
              <a:buAutoNum type="arabicPeriod"/>
            </a:pPr>
            <a:r>
              <a:rPr lang="en-US" b="1" dirty="0"/>
              <a:t>One-Size-Fits-All Approach</a:t>
            </a:r>
            <a:endParaRPr lang="en-US" dirty="0"/>
          </a:p>
          <a:p>
            <a:pPr marL="742950" lvl="1" indent="-285750">
              <a:buFont typeface="+mj-lt"/>
              <a:buAutoNum type="arabicPeriod"/>
            </a:pPr>
            <a:r>
              <a:rPr lang="en-US" dirty="0"/>
              <a:t>Processes that are applied uniformly across different projects or teams, regardless of specific needs, can hinder effectiveness and adaptability.</a:t>
            </a:r>
            <a:endParaRPr lang="en-US" dirty="0"/>
          </a:p>
          <a:p>
            <a:pPr>
              <a:buFont typeface="+mj-lt"/>
              <a:buAutoNum type="arabicPeriod"/>
            </a:pPr>
            <a:r>
              <a:rPr lang="en-US" b="1" dirty="0"/>
              <a:t>Fear of Failure</a:t>
            </a:r>
            <a:endParaRPr lang="en-US" dirty="0"/>
          </a:p>
          <a:p>
            <a:pPr marL="742950" lvl="1" indent="-285750">
              <a:buFont typeface="+mj-lt"/>
              <a:buAutoNum type="arabicPeriod"/>
            </a:pPr>
            <a:r>
              <a:rPr lang="en-US" dirty="0"/>
              <a:t>Teams may become risk-averse, avoiding experimentation and innovation because deviations from the established process are discouraged or penalized.</a:t>
            </a:r>
            <a:endParaRPr lang="en-US" dirty="0"/>
          </a:p>
          <a:p>
            <a:r>
              <a:rPr lang="en-US" b="1" dirty="0"/>
              <a:t>Consequences of Process Stifling:</a:t>
            </a:r>
            <a:endParaRPr lang="en-US" b="1" dirty="0"/>
          </a:p>
          <a:p>
            <a:pPr>
              <a:buFont typeface="+mj-lt"/>
              <a:buAutoNum type="arabicPeriod"/>
            </a:pPr>
            <a:r>
              <a:rPr lang="en-US" b="1" dirty="0"/>
              <a:t>Reduced Efficiency</a:t>
            </a:r>
            <a:endParaRPr lang="en-US" dirty="0"/>
          </a:p>
          <a:p>
            <a:pPr marL="742950" lvl="1" indent="-285750">
              <a:buFont typeface="+mj-lt"/>
              <a:buAutoNum type="arabicPeriod"/>
            </a:pPr>
            <a:r>
              <a:rPr lang="en-US" dirty="0"/>
              <a:t>Teams spend more time following cumbersome procedures than focusing on their core work, leading to wasted time and effort.</a:t>
            </a:r>
            <a:endParaRPr lang="en-US" dirty="0"/>
          </a:p>
          <a:p>
            <a:pPr>
              <a:buFont typeface="+mj-lt"/>
              <a:buAutoNum type="arabicPeriod"/>
            </a:pPr>
            <a:r>
              <a:rPr lang="en-US" b="1" dirty="0"/>
              <a:t>Decreased Morale and Engagement</a:t>
            </a:r>
            <a:endParaRPr lang="en-US" dirty="0"/>
          </a:p>
          <a:p>
            <a:pPr marL="742950" lvl="1" indent="-285750">
              <a:buFont typeface="+mj-lt"/>
              <a:buAutoNum type="arabicPeriod"/>
            </a:pPr>
            <a:r>
              <a:rPr lang="en-US" dirty="0"/>
              <a:t>Employees may feel frustrated and disengaged when they believe that processes limit their ability to contribute meaningfully or utilize their skills effectively.</a:t>
            </a:r>
            <a:endParaRPr lang="en-US" dirty="0"/>
          </a:p>
          <a:p>
            <a:pPr>
              <a:buFont typeface="+mj-lt"/>
              <a:buAutoNum type="arabicPeriod"/>
            </a:pPr>
            <a:r>
              <a:rPr lang="en-US" b="1" dirty="0"/>
              <a:t>Lowered Innovation</a:t>
            </a:r>
            <a:endParaRPr lang="en-US" dirty="0"/>
          </a:p>
          <a:p>
            <a:pPr marL="742950" lvl="1" indent="-285750">
              <a:buFont typeface="+mj-lt"/>
              <a:buAutoNum type="arabicPeriod"/>
            </a:pPr>
            <a:r>
              <a:rPr lang="en-US" dirty="0"/>
              <a:t>A stifling process environment can discourage creative thinking and problem-solving, leading to a lack of new ideas or improvements.</a:t>
            </a:r>
            <a:endParaRPr lang="en-US" dirty="0"/>
          </a:p>
          <a:p>
            <a:pPr>
              <a:buFont typeface="+mj-lt"/>
              <a:buAutoNum type="arabicPeriod"/>
            </a:pPr>
            <a:r>
              <a:rPr lang="en-US" b="1" dirty="0"/>
              <a:t>Increased Turnover</a:t>
            </a:r>
            <a:endParaRPr lang="en-US" dirty="0"/>
          </a:p>
          <a:p>
            <a:pPr marL="742950" lvl="1" indent="-285750">
              <a:buFont typeface="+mj-lt"/>
              <a:buAutoNum type="arabicPeriod"/>
            </a:pPr>
            <a:r>
              <a:rPr lang="en-US" dirty="0"/>
              <a:t>High levels of frustration and dissatisfaction can lead to increased employee turnover, resulting in loss of talent and additional hiring costs.</a:t>
            </a:r>
            <a:endParaRPr lang="en-US" dirty="0"/>
          </a:p>
          <a:p>
            <a:pPr>
              <a:buFont typeface="+mj-lt"/>
              <a:buAutoNum type="arabicPeriod"/>
            </a:pPr>
            <a:r>
              <a:rPr lang="en-US" b="1" dirty="0"/>
              <a:t>Bottlenecks and Delays</a:t>
            </a:r>
            <a:endParaRPr lang="en-US" dirty="0"/>
          </a:p>
          <a:p>
            <a:pPr marL="742950" lvl="1" indent="-285750">
              <a:buFont typeface="+mj-lt"/>
              <a:buAutoNum type="arabicPeriod"/>
            </a:pPr>
            <a:r>
              <a:rPr lang="en-US" dirty="0"/>
              <a:t>Rigid processes can create bottlenecks that slow down project timelines, leading to missed deadlines and opportunities.</a:t>
            </a:r>
            <a:endParaRPr lang="en-US" dirty="0"/>
          </a:p>
          <a:p>
            <a:r>
              <a:rPr lang="en-US" b="1" dirty="0"/>
              <a:t>Addressing Process Stifling:</a:t>
            </a:r>
            <a:endParaRPr lang="en-US" b="1" dirty="0"/>
          </a:p>
          <a:p>
            <a:r>
              <a:rPr lang="en-US" dirty="0"/>
              <a:t>To mitigate process stifling, organizations can:</a:t>
            </a:r>
            <a:endParaRPr lang="en-US" dirty="0"/>
          </a:p>
          <a:p>
            <a:pPr>
              <a:buFont typeface="Arial" panose="020B0604020202020204" pitchFamily="34" charset="0"/>
              <a:buChar char="•"/>
            </a:pPr>
            <a:r>
              <a:rPr lang="en-US" b="1" dirty="0"/>
              <a:t>Encourage Feedback:</a:t>
            </a:r>
            <a:r>
              <a:rPr lang="en-US" dirty="0"/>
              <a:t> Regularly solicit input from team members about the effectiveness of current processes and areas for improvement.</a:t>
            </a:r>
            <a:endParaRPr lang="en-US" dirty="0"/>
          </a:p>
          <a:p>
            <a:pPr>
              <a:buFont typeface="Arial" panose="020B0604020202020204" pitchFamily="34" charset="0"/>
              <a:buChar char="•"/>
            </a:pPr>
            <a:r>
              <a:rPr lang="en-US" b="1" dirty="0"/>
              <a:t>Foster a Culture of Flexibility:</a:t>
            </a:r>
            <a:r>
              <a:rPr lang="en-US" dirty="0"/>
              <a:t> Allow teams to adapt processes to fit their unique needs, encouraging innovation and creative problem-solving.</a:t>
            </a:r>
            <a:endParaRPr lang="en-US" dirty="0"/>
          </a:p>
          <a:p>
            <a:pPr>
              <a:buFont typeface="Arial" panose="020B0604020202020204" pitchFamily="34" charset="0"/>
              <a:buChar char="•"/>
            </a:pPr>
            <a:r>
              <a:rPr lang="en-US" b="1" dirty="0"/>
              <a:t>Streamline Procedures:</a:t>
            </a:r>
            <a:r>
              <a:rPr lang="en-US" dirty="0"/>
              <a:t> Simplify processes by eliminating unnecessary steps, reducing bureaucracy, and focusing on essential actions that drive value.</a:t>
            </a:r>
            <a:endParaRPr lang="en-US" dirty="0"/>
          </a:p>
          <a:p>
            <a:pPr>
              <a:buFont typeface="Arial" panose="020B0604020202020204" pitchFamily="34" charset="0"/>
              <a:buChar char="•"/>
            </a:pPr>
            <a:r>
              <a:rPr lang="en-US" b="1" dirty="0"/>
              <a:t>Implement Agile Methodologies:</a:t>
            </a:r>
            <a:r>
              <a:rPr lang="en-US" dirty="0"/>
              <a:t> Consider using agile or iterative approaches that promote flexibility and adaptability, allowing teams to adjust processes based on real-time feedback.</a:t>
            </a:r>
            <a:endParaRPr lang="en-US" dirty="0"/>
          </a:p>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5"/>
        <p:cNvGrpSpPr/>
        <p:nvPr/>
      </p:nvGrpSpPr>
      <p:grpSpPr>
        <a:xfrm>
          <a:off x="0" y="0"/>
          <a:ext cx="0" cy="0"/>
          <a:chOff x="0" y="0"/>
          <a:chExt cx="0" cy="0"/>
        </a:xfrm>
      </p:grpSpPr>
      <p:sp>
        <p:nvSpPr>
          <p:cNvPr id="766" name="Google Shape;766;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1" dirty="0"/>
              <a:t>Product Size Management</a:t>
            </a:r>
            <a:r>
              <a:rPr lang="en-US" dirty="0"/>
              <a:t> refers to the strategies and practices used to effectively control and influence the size, complexity, and scope of a product throughout its lifecycle.</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Feature creep management</a:t>
            </a:r>
            <a:r>
              <a:rPr lang="en-US" dirty="0"/>
              <a:t> refers to the practices and strategies used to control the gradual expansion of a product's features beyond its original scope. Feature creep can lead to increased complexity, extended timelines, and inflated costs, potentially compromising the product’s quality and effectiveness. </a:t>
            </a:r>
            <a:endParaRPr dirty="0"/>
          </a:p>
        </p:txBody>
      </p:sp>
      <p:sp>
        <p:nvSpPr>
          <p:cNvPr id="767" name="Google Shape;767;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72"/>
        <p:cNvGrpSpPr/>
        <p:nvPr/>
      </p:nvGrpSpPr>
      <p:grpSpPr>
        <a:xfrm>
          <a:off x="0" y="0"/>
          <a:ext cx="0" cy="0"/>
          <a:chOff x="0" y="0"/>
          <a:chExt cx="0" cy="0"/>
        </a:xfrm>
      </p:grpSpPr>
      <p:sp>
        <p:nvSpPr>
          <p:cNvPr id="773" name="Google Shape;773;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4" name="Google Shape;774;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79"/>
        <p:cNvGrpSpPr/>
        <p:nvPr/>
      </p:nvGrpSpPr>
      <p:grpSpPr>
        <a:xfrm>
          <a:off x="0" y="0"/>
          <a:ext cx="0" cy="0"/>
          <a:chOff x="0" y="0"/>
          <a:chExt cx="0" cy="0"/>
        </a:xfrm>
      </p:grpSpPr>
      <p:sp>
        <p:nvSpPr>
          <p:cNvPr id="780" name="Google Shape;780;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1" name="Google Shape;781;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5"/>
        <p:cNvGrpSpPr/>
        <p:nvPr/>
      </p:nvGrpSpPr>
      <p:grpSpPr>
        <a:xfrm>
          <a:off x="0" y="0"/>
          <a:ext cx="0" cy="0"/>
          <a:chOff x="0" y="0"/>
          <a:chExt cx="0" cy="0"/>
        </a:xfrm>
      </p:grpSpPr>
      <p:sp>
        <p:nvSpPr>
          <p:cNvPr id="786" name="Google Shape;786;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 the context of project management, "heroics" may refer to situations where team members step up to resolve issues, meet deadlines, or overcome significant obstacles, often compensating for inadequate planning or resources. While such efforts can lead to short-term successes, they may not be sustainable or advisable as a regular practice.</a:t>
            </a:r>
            <a:endParaRPr dirty="0"/>
          </a:p>
        </p:txBody>
      </p:sp>
      <p:sp>
        <p:nvSpPr>
          <p:cNvPr id="787" name="Google Shape;787;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1"/>
        <p:cNvGrpSpPr/>
        <p:nvPr/>
      </p:nvGrpSpPr>
      <p:grpSpPr>
        <a:xfrm>
          <a:off x="0" y="0"/>
          <a:ext cx="0" cy="0"/>
          <a:chOff x="0" y="0"/>
          <a:chExt cx="0" cy="0"/>
        </a:xfrm>
      </p:grpSpPr>
      <p:sp>
        <p:nvSpPr>
          <p:cNvPr id="792" name="Google Shape;792;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3" name="Google Shape;793;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7"/>
        <p:cNvGrpSpPr/>
        <p:nvPr/>
      </p:nvGrpSpPr>
      <p:grpSpPr>
        <a:xfrm>
          <a:off x="0" y="0"/>
          <a:ext cx="0" cy="0"/>
          <a:chOff x="0" y="0"/>
          <a:chExt cx="0" cy="0"/>
        </a:xfrm>
      </p:grpSpPr>
      <p:sp>
        <p:nvSpPr>
          <p:cNvPr id="798" name="Google Shape;798;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9" name="Google Shape;799;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3"/>
        <p:cNvGrpSpPr/>
        <p:nvPr/>
      </p:nvGrpSpPr>
      <p:grpSpPr>
        <a:xfrm>
          <a:off x="0" y="0"/>
          <a:ext cx="0" cy="0"/>
          <a:chOff x="0" y="0"/>
          <a:chExt cx="0" cy="0"/>
        </a:xfrm>
      </p:grpSpPr>
      <p:sp>
        <p:nvSpPr>
          <p:cNvPr id="804" name="Google Shape;804;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5" name="Google Shape;805;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9"/>
        <p:cNvGrpSpPr/>
        <p:nvPr/>
      </p:nvGrpSpPr>
      <p:grpSpPr>
        <a:xfrm>
          <a:off x="0" y="0"/>
          <a:ext cx="0" cy="0"/>
          <a:chOff x="0" y="0"/>
          <a:chExt cx="0" cy="0"/>
        </a:xfrm>
      </p:grpSpPr>
      <p:sp>
        <p:nvSpPr>
          <p:cNvPr id="810" name="Google Shape;810;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1" name="Google Shape;811;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5"/>
        <p:cNvGrpSpPr/>
        <p:nvPr/>
      </p:nvGrpSpPr>
      <p:grpSpPr>
        <a:xfrm>
          <a:off x="0" y="0"/>
          <a:ext cx="0" cy="0"/>
          <a:chOff x="0" y="0"/>
          <a:chExt cx="0" cy="0"/>
        </a:xfrm>
      </p:grpSpPr>
      <p:sp>
        <p:nvSpPr>
          <p:cNvPr id="816" name="Google Shape;816;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7" name="Google Shape;817;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8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8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Clr>
                <a:schemeClr val="dk1"/>
              </a:buClr>
              <a:buSzPts val="2400"/>
              <a:buFont typeface="Tahoma" panose="020B0604030504040204"/>
              <a:buNone/>
              <a:defRPr sz="2400"/>
            </a:lvl1pPr>
            <a:lvl2pPr lvl="1" algn="ctr">
              <a:spcBef>
                <a:spcPts val="400"/>
              </a:spcBef>
              <a:spcAft>
                <a:spcPts val="0"/>
              </a:spcAft>
              <a:buClr>
                <a:schemeClr val="dk1"/>
              </a:buClr>
              <a:buSzPts val="2000"/>
              <a:buFont typeface="Tahoma" panose="020B0604030504040204"/>
              <a:buNone/>
              <a:defRPr sz="2000"/>
            </a:lvl2pPr>
            <a:lvl3pPr lvl="2" algn="ctr">
              <a:spcBef>
                <a:spcPts val="360"/>
              </a:spcBef>
              <a:spcAft>
                <a:spcPts val="0"/>
              </a:spcAft>
              <a:buClr>
                <a:schemeClr val="dk1"/>
              </a:buClr>
              <a:buSzPts val="1800"/>
              <a:buFont typeface="Tahoma" panose="020B0604030504040204"/>
              <a:buNone/>
              <a:defRPr sz="1800"/>
            </a:lvl3pPr>
            <a:lvl4pPr lvl="3" algn="ctr">
              <a:spcBef>
                <a:spcPts val="320"/>
              </a:spcBef>
              <a:spcAft>
                <a:spcPts val="0"/>
              </a:spcAft>
              <a:buClr>
                <a:schemeClr val="dk1"/>
              </a:buClr>
              <a:buSzPts val="1600"/>
              <a:buFont typeface="Tahoma" panose="020B0604030504040204"/>
              <a:buNone/>
              <a:defRPr sz="1600"/>
            </a:lvl4pPr>
            <a:lvl5pPr lvl="4" algn="ctr">
              <a:spcBef>
                <a:spcPts val="320"/>
              </a:spcBef>
              <a:spcAft>
                <a:spcPts val="0"/>
              </a:spcAft>
              <a:buClr>
                <a:schemeClr val="dk1"/>
              </a:buClr>
              <a:buSzPts val="1600"/>
              <a:buFont typeface="Tahoma" panose="020B0604030504040204"/>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84"/>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85"/>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85"/>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22" name="Google Shape;22;p85"/>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标题和内容">
  <p:cSld name="标题和内容">
    <p:bg>
      <p:bgPr>
        <a:solidFill>
          <a:srgbClr val="CEF6D5"/>
        </a:solidFill>
        <a:effectLst/>
      </p:bgPr>
    </p:bg>
    <p:spTree>
      <p:nvGrpSpPr>
        <p:cNvPr id="1" name="Shape 23"/>
        <p:cNvGrpSpPr/>
        <p:nvPr/>
      </p:nvGrpSpPr>
      <p:grpSpPr>
        <a:xfrm>
          <a:off x="0" y="0"/>
          <a:ext cx="0" cy="0"/>
          <a:chOff x="0" y="0"/>
          <a:chExt cx="0" cy="0"/>
        </a:xfrm>
      </p:grpSpPr>
      <p:sp>
        <p:nvSpPr>
          <p:cNvPr id="24" name="Google Shape;24;p89"/>
          <p:cNvSpPr txBox="1">
            <a:spLocks noGrp="1"/>
          </p:cNvSpPr>
          <p:nvPr>
            <p:ph type="body" idx="1"/>
          </p:nvPr>
        </p:nvSpPr>
        <p:spPr>
          <a:xfrm>
            <a:off x="1016000" y="1600200"/>
            <a:ext cx="10672064" cy="4572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25" name="Google Shape;25;p89"/>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89"/>
          <p:cNvSpPr txBox="1">
            <a:spLocks noGrp="1"/>
          </p:cNvSpPr>
          <p:nvPr>
            <p:ph type="dt" idx="10"/>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Tahoma" panose="020B0604030504040204"/>
                <a:ea typeface="Tahoma" panose="020B0604030504040204"/>
                <a:cs typeface="Tahoma" panose="020B0604030504040204"/>
                <a:sym typeface="Tahoma" panose="020B0604030504040204"/>
              </a:defRPr>
            </a:lvl1pPr>
            <a:lvl2pPr marR="0" lvl="1"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2pPr>
            <a:lvl3pPr marR="0" lvl="2"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3pPr>
            <a:lvl4pPr marR="0" lvl="3"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4pPr>
            <a:lvl5pPr marR="0" lvl="4"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5pPr>
            <a:lvl6pPr marR="0" lvl="5"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6pPr>
            <a:lvl7pPr marR="0" lvl="6"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7pPr>
            <a:lvl8pPr marR="0" lvl="7"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8pPr>
            <a:lvl9pPr marR="0" lvl="8"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9pPr>
          </a:lstStyle>
          <a:p/>
        </p:txBody>
      </p:sp>
      <p:sp>
        <p:nvSpPr>
          <p:cNvPr id="27" name="Google Shape;27;p89"/>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
        <p:nvSpPr>
          <p:cNvPr id="28" name="Google Shape;28;p89"/>
          <p:cNvSpPr txBox="1">
            <a:spLocks noGrp="1"/>
          </p:cNvSpPr>
          <p:nvPr>
            <p:ph type="ftr" idx="11"/>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Tahoma" panose="020B0604030504040204"/>
                <a:ea typeface="Tahoma" panose="020B0604030504040204"/>
                <a:cs typeface="Tahoma" panose="020B0604030504040204"/>
                <a:sym typeface="Tahoma" panose="020B0604030504040204"/>
              </a:defRPr>
            </a:lvl1pPr>
            <a:lvl2pPr marR="0" lvl="1"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2pPr>
            <a:lvl3pPr marR="0" lvl="2"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3pPr>
            <a:lvl4pPr marR="0" lvl="3"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4pPr>
            <a:lvl5pPr marR="0" lvl="4"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5pPr>
            <a:lvl6pPr marR="0" lvl="5"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6pPr>
            <a:lvl7pPr marR="0" lvl="6"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7pPr>
            <a:lvl8pPr marR="0" lvl="7"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8pPr>
            <a:lvl9pPr marR="0" lvl="8"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9"/>
        <p:cNvGrpSpPr/>
        <p:nvPr/>
      </p:nvGrpSpPr>
      <p:grpSpPr>
        <a:xfrm>
          <a:off x="0" y="0"/>
          <a:ext cx="0" cy="0"/>
          <a:chOff x="0" y="0"/>
          <a:chExt cx="0" cy="0"/>
        </a:xfrm>
      </p:grpSpPr>
      <p:sp>
        <p:nvSpPr>
          <p:cNvPr id="30" name="Google Shape;30;p90"/>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90"/>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2"/>
        <p:cNvGrpSpPr/>
        <p:nvPr/>
      </p:nvGrpSpPr>
      <p:grpSpPr>
        <a:xfrm>
          <a:off x="0" y="0"/>
          <a:ext cx="0" cy="0"/>
          <a:chOff x="0" y="0"/>
          <a:chExt cx="0" cy="0"/>
        </a:xfrm>
      </p:grpSpPr>
      <p:sp>
        <p:nvSpPr>
          <p:cNvPr id="33" name="Google Shape;33;p92"/>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92"/>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Tahoma" panose="020B0604030504040204"/>
              <a:buNone/>
              <a:defRPr sz="2400"/>
            </a:lvl1pPr>
            <a:lvl2pPr marL="914400" lvl="1" indent="-228600" algn="l">
              <a:spcBef>
                <a:spcPts val="400"/>
              </a:spcBef>
              <a:spcAft>
                <a:spcPts val="0"/>
              </a:spcAft>
              <a:buClr>
                <a:schemeClr val="dk1"/>
              </a:buClr>
              <a:buSzPts val="2000"/>
              <a:buFont typeface="Tahoma" panose="020B0604030504040204"/>
              <a:buNone/>
              <a:defRPr sz="2000"/>
            </a:lvl2pPr>
            <a:lvl3pPr marL="1371600" lvl="2" indent="-228600" algn="l">
              <a:spcBef>
                <a:spcPts val="360"/>
              </a:spcBef>
              <a:spcAft>
                <a:spcPts val="0"/>
              </a:spcAft>
              <a:buClr>
                <a:schemeClr val="dk1"/>
              </a:buClr>
              <a:buSzPts val="1800"/>
              <a:buFont typeface="Tahoma" panose="020B0604030504040204"/>
              <a:buNone/>
              <a:defRPr sz="1800"/>
            </a:lvl3pPr>
            <a:lvl4pPr marL="1828800" lvl="3" indent="-228600" algn="l">
              <a:spcBef>
                <a:spcPts val="320"/>
              </a:spcBef>
              <a:spcAft>
                <a:spcPts val="0"/>
              </a:spcAft>
              <a:buClr>
                <a:schemeClr val="dk1"/>
              </a:buClr>
              <a:buSzPts val="1600"/>
              <a:buFont typeface="Tahoma" panose="020B0604030504040204"/>
              <a:buNone/>
              <a:defRPr sz="1600"/>
            </a:lvl4pPr>
            <a:lvl5pPr marL="2286000" lvl="4" indent="-228600" algn="l">
              <a:spcBef>
                <a:spcPts val="320"/>
              </a:spcBef>
              <a:spcAft>
                <a:spcPts val="0"/>
              </a:spcAft>
              <a:buClr>
                <a:schemeClr val="dk1"/>
              </a:buClr>
              <a:buSzPts val="1600"/>
              <a:buFont typeface="Tahoma" panose="020B0604030504040204"/>
              <a:buNone/>
              <a:defRPr sz="1600"/>
            </a:lvl5pPr>
            <a:lvl6pPr marL="2743200" lvl="5" indent="-228600" algn="l">
              <a:lnSpc>
                <a:spcPct val="90000"/>
              </a:lnSpc>
              <a:spcBef>
                <a:spcPts val="500"/>
              </a:spcBef>
              <a:spcAft>
                <a:spcPts val="0"/>
              </a:spcAft>
              <a:buClr>
                <a:schemeClr val="lt1"/>
              </a:buClr>
              <a:buSzPts val="1600"/>
              <a:buNone/>
              <a:defRPr sz="1600"/>
            </a:lvl6pPr>
            <a:lvl7pPr marL="3200400" lvl="6" indent="-228600" algn="l">
              <a:lnSpc>
                <a:spcPct val="90000"/>
              </a:lnSpc>
              <a:spcBef>
                <a:spcPts val="500"/>
              </a:spcBef>
              <a:spcAft>
                <a:spcPts val="0"/>
              </a:spcAft>
              <a:buClr>
                <a:schemeClr val="lt1"/>
              </a:buClr>
              <a:buSzPts val="1600"/>
              <a:buNone/>
              <a:defRPr sz="1600"/>
            </a:lvl7pPr>
            <a:lvl8pPr marL="3657600" lvl="7" indent="-228600" algn="l">
              <a:lnSpc>
                <a:spcPct val="90000"/>
              </a:lnSpc>
              <a:spcBef>
                <a:spcPts val="500"/>
              </a:spcBef>
              <a:spcAft>
                <a:spcPts val="0"/>
              </a:spcAft>
              <a:buClr>
                <a:schemeClr val="lt1"/>
              </a:buClr>
              <a:buSzPts val="1600"/>
              <a:buNone/>
              <a:defRPr sz="1600"/>
            </a:lvl8pPr>
            <a:lvl9pPr marL="4114800" lvl="8" indent="-228600" algn="l">
              <a:lnSpc>
                <a:spcPct val="90000"/>
              </a:lnSpc>
              <a:spcBef>
                <a:spcPts val="500"/>
              </a:spcBef>
              <a:spcAft>
                <a:spcPts val="0"/>
              </a:spcAft>
              <a:buClr>
                <a:schemeClr val="lt1"/>
              </a:buClr>
              <a:buSzPts val="1600"/>
              <a:buNone/>
              <a:defRPr sz="1600"/>
            </a:lvl9pPr>
          </a:lstStyle>
          <a:p/>
        </p:txBody>
      </p:sp>
      <p:sp>
        <p:nvSpPr>
          <p:cNvPr id="35" name="Google Shape;35;p92"/>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6"/>
        <p:cNvGrpSpPr/>
        <p:nvPr/>
      </p:nvGrpSpPr>
      <p:grpSpPr>
        <a:xfrm>
          <a:off x="0" y="0"/>
          <a:ext cx="0" cy="0"/>
          <a:chOff x="0" y="0"/>
          <a:chExt cx="0" cy="0"/>
        </a:xfrm>
      </p:grpSpPr>
      <p:sp>
        <p:nvSpPr>
          <p:cNvPr id="37" name="Google Shape;37;p9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93"/>
          <p:cNvSpPr txBox="1">
            <a:spLocks noGrp="1"/>
          </p:cNvSpPr>
          <p:nvPr>
            <p:ph type="body" idx="1"/>
          </p:nvPr>
        </p:nvSpPr>
        <p:spPr>
          <a:xfrm>
            <a:off x="9144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39" name="Google Shape;39;p93"/>
          <p:cNvSpPr txBox="1">
            <a:spLocks noGrp="1"/>
          </p:cNvSpPr>
          <p:nvPr>
            <p:ph type="body" idx="2"/>
          </p:nvPr>
        </p:nvSpPr>
        <p:spPr>
          <a:xfrm>
            <a:off x="61976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40" name="Google Shape;40;p93"/>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1"/>
        <p:cNvGrpSpPr/>
        <p:nvPr/>
      </p:nvGrpSpPr>
      <p:grpSpPr>
        <a:xfrm>
          <a:off x="0" y="0"/>
          <a:ext cx="0" cy="0"/>
          <a:chOff x="0" y="0"/>
          <a:chExt cx="0" cy="0"/>
        </a:xfrm>
      </p:grpSpPr>
      <p:sp>
        <p:nvSpPr>
          <p:cNvPr id="42" name="Google Shape;42;p94"/>
          <p:cNvSpPr txBox="1">
            <a:spLocks noGrp="1"/>
          </p:cNvSpPr>
          <p:nvPr>
            <p:ph type="title"/>
          </p:nvPr>
        </p:nvSpPr>
        <p:spPr>
          <a:xfrm>
            <a:off x="840317" y="365125"/>
            <a:ext cx="10515600" cy="1325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94"/>
          <p:cNvSpPr txBox="1">
            <a:spLocks noGrp="1"/>
          </p:cNvSpPr>
          <p:nvPr>
            <p:ph type="body" idx="1"/>
          </p:nvPr>
        </p:nvSpPr>
        <p:spPr>
          <a:xfrm>
            <a:off x="840317" y="1681163"/>
            <a:ext cx="5158316"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panose="020B0604030504040204"/>
              <a:buNone/>
              <a:defRPr sz="2400" b="1"/>
            </a:lvl1pPr>
            <a:lvl2pPr marL="914400" lvl="1" indent="-228600" algn="l">
              <a:spcBef>
                <a:spcPts val="400"/>
              </a:spcBef>
              <a:spcAft>
                <a:spcPts val="0"/>
              </a:spcAft>
              <a:buClr>
                <a:schemeClr val="dk1"/>
              </a:buClr>
              <a:buSzPts val="2000"/>
              <a:buFont typeface="Tahoma" panose="020B0604030504040204"/>
              <a:buNone/>
              <a:defRPr sz="2000" b="1"/>
            </a:lvl2pPr>
            <a:lvl3pPr marL="1371600" lvl="2" indent="-228600" algn="l">
              <a:spcBef>
                <a:spcPts val="360"/>
              </a:spcBef>
              <a:spcAft>
                <a:spcPts val="0"/>
              </a:spcAft>
              <a:buClr>
                <a:schemeClr val="dk1"/>
              </a:buClr>
              <a:buSzPts val="1800"/>
              <a:buFont typeface="Tahoma" panose="020B0604030504040204"/>
              <a:buNone/>
              <a:defRPr sz="1800" b="1"/>
            </a:lvl3pPr>
            <a:lvl4pPr marL="1828800" lvl="3" indent="-228600" algn="l">
              <a:spcBef>
                <a:spcPts val="320"/>
              </a:spcBef>
              <a:spcAft>
                <a:spcPts val="0"/>
              </a:spcAft>
              <a:buClr>
                <a:schemeClr val="dk1"/>
              </a:buClr>
              <a:buSzPts val="1600"/>
              <a:buFont typeface="Tahoma" panose="020B0604030504040204"/>
              <a:buNone/>
              <a:defRPr sz="1600" b="1"/>
            </a:lvl4pPr>
            <a:lvl5pPr marL="2286000" lvl="4" indent="-228600" algn="l">
              <a:spcBef>
                <a:spcPts val="320"/>
              </a:spcBef>
              <a:spcAft>
                <a:spcPts val="0"/>
              </a:spcAft>
              <a:buClr>
                <a:schemeClr val="dk1"/>
              </a:buClr>
              <a:buSzPts val="1600"/>
              <a:buFont typeface="Tahoma" panose="020B0604030504040204"/>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p:txBody>
      </p:sp>
      <p:sp>
        <p:nvSpPr>
          <p:cNvPr id="44" name="Google Shape;44;p94"/>
          <p:cNvSpPr txBox="1">
            <a:spLocks noGrp="1"/>
          </p:cNvSpPr>
          <p:nvPr>
            <p:ph type="body" idx="2"/>
          </p:nvPr>
        </p:nvSpPr>
        <p:spPr>
          <a:xfrm>
            <a:off x="840317" y="2505075"/>
            <a:ext cx="5158316"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45" name="Google Shape;45;p94"/>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panose="020B0604030504040204"/>
              <a:buNone/>
              <a:defRPr sz="2400" b="1"/>
            </a:lvl1pPr>
            <a:lvl2pPr marL="914400" lvl="1" indent="-228600" algn="l">
              <a:spcBef>
                <a:spcPts val="400"/>
              </a:spcBef>
              <a:spcAft>
                <a:spcPts val="0"/>
              </a:spcAft>
              <a:buClr>
                <a:schemeClr val="dk1"/>
              </a:buClr>
              <a:buSzPts val="2000"/>
              <a:buFont typeface="Tahoma" panose="020B0604030504040204"/>
              <a:buNone/>
              <a:defRPr sz="2000" b="1"/>
            </a:lvl2pPr>
            <a:lvl3pPr marL="1371600" lvl="2" indent="-228600" algn="l">
              <a:spcBef>
                <a:spcPts val="360"/>
              </a:spcBef>
              <a:spcAft>
                <a:spcPts val="0"/>
              </a:spcAft>
              <a:buClr>
                <a:schemeClr val="dk1"/>
              </a:buClr>
              <a:buSzPts val="1800"/>
              <a:buFont typeface="Tahoma" panose="020B0604030504040204"/>
              <a:buNone/>
              <a:defRPr sz="1800" b="1"/>
            </a:lvl3pPr>
            <a:lvl4pPr marL="1828800" lvl="3" indent="-228600" algn="l">
              <a:spcBef>
                <a:spcPts val="320"/>
              </a:spcBef>
              <a:spcAft>
                <a:spcPts val="0"/>
              </a:spcAft>
              <a:buClr>
                <a:schemeClr val="dk1"/>
              </a:buClr>
              <a:buSzPts val="1600"/>
              <a:buFont typeface="Tahoma" panose="020B0604030504040204"/>
              <a:buNone/>
              <a:defRPr sz="1600" b="1"/>
            </a:lvl4pPr>
            <a:lvl5pPr marL="2286000" lvl="4" indent="-228600" algn="l">
              <a:spcBef>
                <a:spcPts val="320"/>
              </a:spcBef>
              <a:spcAft>
                <a:spcPts val="0"/>
              </a:spcAft>
              <a:buClr>
                <a:schemeClr val="dk1"/>
              </a:buClr>
              <a:buSzPts val="1600"/>
              <a:buFont typeface="Tahoma" panose="020B0604030504040204"/>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p:txBody>
      </p:sp>
      <p:sp>
        <p:nvSpPr>
          <p:cNvPr id="46" name="Google Shape;46;p94"/>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47" name="Google Shape;47;p94"/>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95"/>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0"/>
        <p:cNvGrpSpPr/>
        <p:nvPr/>
      </p:nvGrpSpPr>
      <p:grpSpPr>
        <a:xfrm>
          <a:off x="0" y="0"/>
          <a:ext cx="0" cy="0"/>
          <a:chOff x="0" y="0"/>
          <a:chExt cx="0" cy="0"/>
        </a:xfrm>
      </p:grpSpPr>
      <p:sp>
        <p:nvSpPr>
          <p:cNvPr id="51" name="Google Shape;51;p96"/>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96"/>
          <p:cNvSpPr txBox="1">
            <a:spLocks noGrp="1"/>
          </p:cNvSpPr>
          <p:nvPr>
            <p:ph type="body" idx="1"/>
          </p:nvPr>
        </p:nvSpPr>
        <p:spPr>
          <a:xfrm>
            <a:off x="5183717"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ahoma" panose="020B0604030504040204"/>
              <a:buChar char="•"/>
              <a:defRPr sz="3200"/>
            </a:lvl1pPr>
            <a:lvl2pPr marL="914400" lvl="1" indent="-406400" algn="l">
              <a:spcBef>
                <a:spcPts val="560"/>
              </a:spcBef>
              <a:spcAft>
                <a:spcPts val="0"/>
              </a:spcAft>
              <a:buClr>
                <a:schemeClr val="dk1"/>
              </a:buClr>
              <a:buSzPts val="2800"/>
              <a:buFont typeface="Tahoma" panose="020B0604030504040204"/>
              <a:buChar char="–"/>
              <a:defRPr sz="2800"/>
            </a:lvl2pPr>
            <a:lvl3pPr marL="1371600" lvl="2" indent="-381000" algn="l">
              <a:spcBef>
                <a:spcPts val="480"/>
              </a:spcBef>
              <a:spcAft>
                <a:spcPts val="0"/>
              </a:spcAft>
              <a:buClr>
                <a:schemeClr val="dk1"/>
              </a:buClr>
              <a:buSzPts val="2400"/>
              <a:buFont typeface="Tahoma" panose="020B0604030504040204"/>
              <a:buChar char="•"/>
              <a:defRPr sz="2400"/>
            </a:lvl3pPr>
            <a:lvl4pPr marL="1828800" lvl="3" indent="-355600" algn="l">
              <a:spcBef>
                <a:spcPts val="400"/>
              </a:spcBef>
              <a:spcAft>
                <a:spcPts val="0"/>
              </a:spcAft>
              <a:buClr>
                <a:schemeClr val="dk1"/>
              </a:buClr>
              <a:buSzPts val="2000"/>
              <a:buFont typeface="Tahoma" panose="020B0604030504040204"/>
              <a:buChar char="–"/>
              <a:defRPr sz="2000"/>
            </a:lvl4pPr>
            <a:lvl5pPr marL="2286000" lvl="4" indent="-355600" algn="l">
              <a:spcBef>
                <a:spcPts val="400"/>
              </a:spcBef>
              <a:spcAft>
                <a:spcPts val="0"/>
              </a:spcAft>
              <a:buClr>
                <a:schemeClr val="dk1"/>
              </a:buClr>
              <a:buSzPts val="2000"/>
              <a:buFont typeface="Tahoma" panose="020B0604030504040204"/>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p:txBody>
      </p:sp>
      <p:sp>
        <p:nvSpPr>
          <p:cNvPr id="53" name="Google Shape;53;p96"/>
          <p:cNvSpPr txBox="1">
            <a:spLocks noGrp="1"/>
          </p:cNvSpPr>
          <p:nvPr>
            <p:ph type="body" idx="2"/>
          </p:nvPr>
        </p:nvSpPr>
        <p:spPr>
          <a:xfrm>
            <a:off x="840317"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ahoma" panose="020B0604030504040204"/>
              <a:buNone/>
              <a:defRPr sz="1600"/>
            </a:lvl1pPr>
            <a:lvl2pPr marL="914400" lvl="1" indent="-228600" algn="l">
              <a:spcBef>
                <a:spcPts val="280"/>
              </a:spcBef>
              <a:spcAft>
                <a:spcPts val="0"/>
              </a:spcAft>
              <a:buClr>
                <a:schemeClr val="dk1"/>
              </a:buClr>
              <a:buSzPts val="1400"/>
              <a:buFont typeface="Tahoma" panose="020B0604030504040204"/>
              <a:buNone/>
              <a:defRPr sz="1400"/>
            </a:lvl2pPr>
            <a:lvl3pPr marL="1371600" lvl="2" indent="-228600" algn="l">
              <a:spcBef>
                <a:spcPts val="240"/>
              </a:spcBef>
              <a:spcAft>
                <a:spcPts val="0"/>
              </a:spcAft>
              <a:buClr>
                <a:schemeClr val="dk1"/>
              </a:buClr>
              <a:buSzPts val="1200"/>
              <a:buFont typeface="Tahoma" panose="020B0604030504040204"/>
              <a:buNone/>
              <a:defRPr sz="1200"/>
            </a:lvl3pPr>
            <a:lvl4pPr marL="1828800" lvl="3" indent="-228600" algn="l">
              <a:spcBef>
                <a:spcPts val="200"/>
              </a:spcBef>
              <a:spcAft>
                <a:spcPts val="0"/>
              </a:spcAft>
              <a:buClr>
                <a:schemeClr val="dk1"/>
              </a:buClr>
              <a:buSzPts val="1000"/>
              <a:buFont typeface="Tahoma" panose="020B0604030504040204"/>
              <a:buNone/>
              <a:defRPr sz="1000"/>
            </a:lvl4pPr>
            <a:lvl5pPr marL="2286000" lvl="4" indent="-228600" algn="l">
              <a:spcBef>
                <a:spcPts val="200"/>
              </a:spcBef>
              <a:spcAft>
                <a:spcPts val="0"/>
              </a:spcAft>
              <a:buClr>
                <a:schemeClr val="dk1"/>
              </a:buClr>
              <a:buSzPts val="1000"/>
              <a:buFont typeface="Tahoma" panose="020B0604030504040204"/>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p:txBody>
      </p:sp>
      <p:sp>
        <p:nvSpPr>
          <p:cNvPr id="54" name="Google Shape;54;p96"/>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55"/>
        <p:cNvGrpSpPr/>
        <p:nvPr/>
      </p:nvGrpSpPr>
      <p:grpSpPr>
        <a:xfrm>
          <a:off x="0" y="0"/>
          <a:ext cx="0" cy="0"/>
          <a:chOff x="0" y="0"/>
          <a:chExt cx="0" cy="0"/>
        </a:xfrm>
      </p:grpSpPr>
      <p:sp>
        <p:nvSpPr>
          <p:cNvPr id="56" name="Google Shape;56;p97"/>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97"/>
          <p:cNvSpPr>
            <a:spLocks noGrp="1"/>
          </p:cNvSpPr>
          <p:nvPr>
            <p:ph type="pic" idx="2"/>
          </p:nvPr>
        </p:nvSpPr>
        <p:spPr>
          <a:xfrm>
            <a:off x="5183717" y="987425"/>
            <a:ext cx="6172200" cy="4873625"/>
          </a:xfrm>
          <a:prstGeom prst="rect">
            <a:avLst/>
          </a:prstGeom>
          <a:noFill/>
          <a:ln>
            <a:noFill/>
          </a:ln>
        </p:spPr>
      </p:sp>
      <p:sp>
        <p:nvSpPr>
          <p:cNvPr id="58" name="Google Shape;58;p97"/>
          <p:cNvSpPr txBox="1">
            <a:spLocks noGrp="1"/>
          </p:cNvSpPr>
          <p:nvPr>
            <p:ph type="body" idx="1"/>
          </p:nvPr>
        </p:nvSpPr>
        <p:spPr>
          <a:xfrm>
            <a:off x="840317"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ahoma" panose="020B0604030504040204"/>
              <a:buNone/>
              <a:defRPr sz="1600"/>
            </a:lvl1pPr>
            <a:lvl2pPr marL="914400" lvl="1" indent="-228600" algn="l">
              <a:spcBef>
                <a:spcPts val="280"/>
              </a:spcBef>
              <a:spcAft>
                <a:spcPts val="0"/>
              </a:spcAft>
              <a:buClr>
                <a:schemeClr val="dk1"/>
              </a:buClr>
              <a:buSzPts val="1400"/>
              <a:buFont typeface="Tahoma" panose="020B0604030504040204"/>
              <a:buNone/>
              <a:defRPr sz="1400"/>
            </a:lvl2pPr>
            <a:lvl3pPr marL="1371600" lvl="2" indent="-228600" algn="l">
              <a:spcBef>
                <a:spcPts val="240"/>
              </a:spcBef>
              <a:spcAft>
                <a:spcPts val="0"/>
              </a:spcAft>
              <a:buClr>
                <a:schemeClr val="dk1"/>
              </a:buClr>
              <a:buSzPts val="1200"/>
              <a:buFont typeface="Tahoma" panose="020B0604030504040204"/>
              <a:buNone/>
              <a:defRPr sz="1200"/>
            </a:lvl3pPr>
            <a:lvl4pPr marL="1828800" lvl="3" indent="-228600" algn="l">
              <a:spcBef>
                <a:spcPts val="200"/>
              </a:spcBef>
              <a:spcAft>
                <a:spcPts val="0"/>
              </a:spcAft>
              <a:buClr>
                <a:schemeClr val="dk1"/>
              </a:buClr>
              <a:buSzPts val="1000"/>
              <a:buFont typeface="Tahoma" panose="020B0604030504040204"/>
              <a:buNone/>
              <a:defRPr sz="1000"/>
            </a:lvl4pPr>
            <a:lvl5pPr marL="2286000" lvl="4" indent="-228600" algn="l">
              <a:spcBef>
                <a:spcPts val="200"/>
              </a:spcBef>
              <a:spcAft>
                <a:spcPts val="0"/>
              </a:spcAft>
              <a:buClr>
                <a:schemeClr val="dk1"/>
              </a:buClr>
              <a:buSzPts val="1000"/>
              <a:buFont typeface="Tahoma" panose="020B0604030504040204"/>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p:txBody>
      </p:sp>
      <p:sp>
        <p:nvSpPr>
          <p:cNvPr id="59" name="Google Shape;59;p97"/>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0"/>
        <p:cNvGrpSpPr/>
        <p:nvPr/>
      </p:nvGrpSpPr>
      <p:grpSpPr>
        <a:xfrm>
          <a:off x="0" y="0"/>
          <a:ext cx="0" cy="0"/>
          <a:chOff x="0" y="0"/>
          <a:chExt cx="0" cy="0"/>
        </a:xfrm>
      </p:grpSpPr>
      <p:sp>
        <p:nvSpPr>
          <p:cNvPr id="61" name="Google Shape;61;p9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2" name="Google Shape;62;p98"/>
          <p:cNvSpPr txBox="1">
            <a:spLocks noGrp="1"/>
          </p:cNvSpPr>
          <p:nvPr>
            <p:ph type="body" idx="1"/>
          </p:nvPr>
        </p:nvSpPr>
        <p:spPr>
          <a:xfrm rot="5400000">
            <a:off x="4038600" y="-1143000"/>
            <a:ext cx="4114800" cy="10363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63" name="Google Shape;63;p98"/>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64"/>
        <p:cNvGrpSpPr/>
        <p:nvPr/>
      </p:nvGrpSpPr>
      <p:grpSpPr>
        <a:xfrm>
          <a:off x="0" y="0"/>
          <a:ext cx="0" cy="0"/>
          <a:chOff x="0" y="0"/>
          <a:chExt cx="0" cy="0"/>
        </a:xfrm>
      </p:grpSpPr>
      <p:sp>
        <p:nvSpPr>
          <p:cNvPr id="65" name="Google Shape;65;p99"/>
          <p:cNvSpPr txBox="1">
            <a:spLocks noGrp="1"/>
          </p:cNvSpPr>
          <p:nvPr>
            <p:ph type="title"/>
          </p:nvPr>
        </p:nvSpPr>
        <p:spPr>
          <a:xfrm rot="5400000">
            <a:off x="7239000" y="2057400"/>
            <a:ext cx="5486400" cy="2590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99"/>
          <p:cNvSpPr txBox="1">
            <a:spLocks noGrp="1"/>
          </p:cNvSpPr>
          <p:nvPr>
            <p:ph type="body" idx="1"/>
          </p:nvPr>
        </p:nvSpPr>
        <p:spPr>
          <a:xfrm rot="5400000">
            <a:off x="1955800" y="-431800"/>
            <a:ext cx="5486400" cy="7569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67" name="Google Shape;67;p99"/>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matchingName="Title, Text, and Content">
  <p:cSld name="TEXT_AND_OBJECT">
    <p:spTree>
      <p:nvGrpSpPr>
        <p:cNvPr id="1" name="Shape 68"/>
        <p:cNvGrpSpPr/>
        <p:nvPr/>
      </p:nvGrpSpPr>
      <p:grpSpPr>
        <a:xfrm>
          <a:off x="0" y="0"/>
          <a:ext cx="0" cy="0"/>
          <a:chOff x="0" y="0"/>
          <a:chExt cx="0" cy="0"/>
        </a:xfrm>
      </p:grpSpPr>
      <p:sp>
        <p:nvSpPr>
          <p:cNvPr id="69" name="Google Shape;69;p100"/>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100"/>
          <p:cNvSpPr txBox="1">
            <a:spLocks noGrp="1"/>
          </p:cNvSpPr>
          <p:nvPr>
            <p:ph type="body" idx="1"/>
          </p:nvPr>
        </p:nvSpPr>
        <p:spPr>
          <a:xfrm>
            <a:off x="9144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71" name="Google Shape;71;p100"/>
          <p:cNvSpPr txBox="1">
            <a:spLocks noGrp="1"/>
          </p:cNvSpPr>
          <p:nvPr>
            <p:ph type="body" idx="2"/>
          </p:nvPr>
        </p:nvSpPr>
        <p:spPr>
          <a:xfrm>
            <a:off x="61976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72" name="Google Shape;72;p100"/>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79"/>
        <p:cNvGrpSpPr/>
        <p:nvPr/>
      </p:nvGrpSpPr>
      <p:grpSpPr>
        <a:xfrm>
          <a:off x="0" y="0"/>
          <a:ext cx="0" cy="0"/>
          <a:chOff x="0" y="0"/>
          <a:chExt cx="0" cy="0"/>
        </a:xfrm>
      </p:grpSpPr>
      <p:sp>
        <p:nvSpPr>
          <p:cNvPr id="80" name="Google Shape;80;p87"/>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87"/>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82" name="Google Shape;82;p87"/>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83"/>
        <p:cNvGrpSpPr/>
        <p:nvPr/>
      </p:nvGrpSpPr>
      <p:grpSpPr>
        <a:xfrm>
          <a:off x="0" y="0"/>
          <a:ext cx="0" cy="0"/>
          <a:chOff x="0" y="0"/>
          <a:chExt cx="0" cy="0"/>
        </a:xfrm>
      </p:grpSpPr>
      <p:sp>
        <p:nvSpPr>
          <p:cNvPr id="84" name="Google Shape;84;p8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5" name="Google Shape;85;p88"/>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标题和内容">
  <p:cSld name="标题和内容">
    <p:bg>
      <p:bgPr>
        <a:solidFill>
          <a:srgbClr val="CEF6D5"/>
        </a:solidFill>
        <a:effectLst/>
      </p:bgPr>
    </p:bg>
    <p:spTree>
      <p:nvGrpSpPr>
        <p:cNvPr id="1" name="Shape 86"/>
        <p:cNvGrpSpPr/>
        <p:nvPr/>
      </p:nvGrpSpPr>
      <p:grpSpPr>
        <a:xfrm>
          <a:off x="0" y="0"/>
          <a:ext cx="0" cy="0"/>
          <a:chOff x="0" y="0"/>
          <a:chExt cx="0" cy="0"/>
        </a:xfrm>
      </p:grpSpPr>
      <p:sp>
        <p:nvSpPr>
          <p:cNvPr id="87" name="Google Shape;87;p91"/>
          <p:cNvSpPr txBox="1">
            <a:spLocks noGrp="1"/>
          </p:cNvSpPr>
          <p:nvPr>
            <p:ph type="body" idx="1"/>
          </p:nvPr>
        </p:nvSpPr>
        <p:spPr>
          <a:xfrm>
            <a:off x="1016000" y="1600200"/>
            <a:ext cx="10672064" cy="4572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88" name="Google Shape;88;p91"/>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91"/>
          <p:cNvSpPr txBox="1">
            <a:spLocks noGrp="1"/>
          </p:cNvSpPr>
          <p:nvPr>
            <p:ph type="dt" idx="10"/>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Tahoma" panose="020B0604030504040204"/>
                <a:ea typeface="Tahoma" panose="020B0604030504040204"/>
                <a:cs typeface="Tahoma" panose="020B0604030504040204"/>
                <a:sym typeface="Tahoma" panose="020B0604030504040204"/>
              </a:defRPr>
            </a:lvl1pPr>
            <a:lvl2pPr marR="0" lvl="1"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2pPr>
            <a:lvl3pPr marR="0" lvl="2"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3pPr>
            <a:lvl4pPr marR="0" lvl="3"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4pPr>
            <a:lvl5pPr marR="0" lvl="4"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5pPr>
            <a:lvl6pPr marR="0" lvl="5"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6pPr>
            <a:lvl7pPr marR="0" lvl="6"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7pPr>
            <a:lvl8pPr marR="0" lvl="7"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8pPr>
            <a:lvl9pPr marR="0" lvl="8"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9pPr>
          </a:lstStyle>
          <a:p/>
        </p:txBody>
      </p:sp>
      <p:sp>
        <p:nvSpPr>
          <p:cNvPr id="90" name="Google Shape;90;p91"/>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
        <p:nvSpPr>
          <p:cNvPr id="91" name="Google Shape;91;p91"/>
          <p:cNvSpPr txBox="1">
            <a:spLocks noGrp="1"/>
          </p:cNvSpPr>
          <p:nvPr>
            <p:ph type="ftr" idx="11"/>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lt1"/>
                </a:solidFill>
                <a:latin typeface="Tahoma" panose="020B0604030504040204"/>
                <a:ea typeface="Tahoma" panose="020B0604030504040204"/>
                <a:cs typeface="Tahoma" panose="020B0604030504040204"/>
                <a:sym typeface="Tahoma" panose="020B0604030504040204"/>
              </a:defRPr>
            </a:lvl1pPr>
            <a:lvl2pPr marR="0" lvl="1"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2pPr>
            <a:lvl3pPr marR="0" lvl="2"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3pPr>
            <a:lvl4pPr marR="0" lvl="3"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4pPr>
            <a:lvl5pPr marR="0" lvl="4"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5pPr>
            <a:lvl6pPr marR="0" lvl="5"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6pPr>
            <a:lvl7pPr marR="0" lvl="6"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7pPr>
            <a:lvl8pPr marR="0" lvl="7"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8pPr>
            <a:lvl9pPr marR="0" lvl="8" algn="l" rtl="0">
              <a:spcBef>
                <a:spcPts val="0"/>
              </a:spcBef>
              <a:spcAft>
                <a:spcPts val="0"/>
              </a:spcAft>
              <a:buSzPts val="1400"/>
              <a:buNone/>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2"/>
        <p:cNvGrpSpPr/>
        <p:nvPr/>
      </p:nvGrpSpPr>
      <p:grpSpPr>
        <a:xfrm>
          <a:off x="0" y="0"/>
          <a:ext cx="0" cy="0"/>
          <a:chOff x="0" y="0"/>
          <a:chExt cx="0" cy="0"/>
        </a:xfrm>
      </p:grpSpPr>
      <p:sp>
        <p:nvSpPr>
          <p:cNvPr id="93" name="Google Shape;93;p10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 name="Google Shape;94;p10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Clr>
                <a:schemeClr val="dk1"/>
              </a:buClr>
              <a:buSzPts val="2400"/>
              <a:buFont typeface="Tahoma" panose="020B0604030504040204"/>
              <a:buNone/>
              <a:defRPr sz="2400"/>
            </a:lvl1pPr>
            <a:lvl2pPr lvl="1" algn="ctr">
              <a:spcBef>
                <a:spcPts val="400"/>
              </a:spcBef>
              <a:spcAft>
                <a:spcPts val="0"/>
              </a:spcAft>
              <a:buClr>
                <a:schemeClr val="dk1"/>
              </a:buClr>
              <a:buSzPts val="2000"/>
              <a:buFont typeface="Tahoma" panose="020B0604030504040204"/>
              <a:buNone/>
              <a:defRPr sz="2000"/>
            </a:lvl2pPr>
            <a:lvl3pPr lvl="2" algn="ctr">
              <a:spcBef>
                <a:spcPts val="360"/>
              </a:spcBef>
              <a:spcAft>
                <a:spcPts val="0"/>
              </a:spcAft>
              <a:buClr>
                <a:schemeClr val="dk1"/>
              </a:buClr>
              <a:buSzPts val="1800"/>
              <a:buFont typeface="Tahoma" panose="020B0604030504040204"/>
              <a:buNone/>
              <a:defRPr sz="1800"/>
            </a:lvl3pPr>
            <a:lvl4pPr lvl="3" algn="ctr">
              <a:spcBef>
                <a:spcPts val="320"/>
              </a:spcBef>
              <a:spcAft>
                <a:spcPts val="0"/>
              </a:spcAft>
              <a:buClr>
                <a:schemeClr val="dk1"/>
              </a:buClr>
              <a:buSzPts val="1600"/>
              <a:buFont typeface="Tahoma" panose="020B0604030504040204"/>
              <a:buNone/>
              <a:defRPr sz="1600"/>
            </a:lvl4pPr>
            <a:lvl5pPr lvl="4" algn="ctr">
              <a:spcBef>
                <a:spcPts val="320"/>
              </a:spcBef>
              <a:spcAft>
                <a:spcPts val="0"/>
              </a:spcAft>
              <a:buClr>
                <a:schemeClr val="dk1"/>
              </a:buClr>
              <a:buSzPts val="1600"/>
              <a:buFont typeface="Tahoma" panose="020B0604030504040204"/>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95" name="Google Shape;95;p101"/>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96"/>
        <p:cNvGrpSpPr/>
        <p:nvPr/>
      </p:nvGrpSpPr>
      <p:grpSpPr>
        <a:xfrm>
          <a:off x="0" y="0"/>
          <a:ext cx="0" cy="0"/>
          <a:chOff x="0" y="0"/>
          <a:chExt cx="0" cy="0"/>
        </a:xfrm>
      </p:grpSpPr>
      <p:sp>
        <p:nvSpPr>
          <p:cNvPr id="97" name="Google Shape;97;p102"/>
          <p:cNvSpPr txBox="1">
            <a:spLocks noGrp="1"/>
          </p:cNvSpPr>
          <p:nvPr>
            <p:ph type="title"/>
          </p:nvPr>
        </p:nvSpPr>
        <p:spPr>
          <a:xfrm>
            <a:off x="831851" y="1709738"/>
            <a:ext cx="10515600" cy="2852737"/>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102"/>
          <p:cNvSpPr txBox="1">
            <a:spLocks noGrp="1"/>
          </p:cNvSpPr>
          <p:nvPr>
            <p:ph type="body" idx="1"/>
          </p:nvPr>
        </p:nvSpPr>
        <p:spPr>
          <a:xfrm>
            <a:off x="831851"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Tahoma" panose="020B0604030504040204"/>
              <a:buNone/>
              <a:defRPr sz="2400"/>
            </a:lvl1pPr>
            <a:lvl2pPr marL="914400" lvl="1" indent="-228600" algn="l">
              <a:spcBef>
                <a:spcPts val="400"/>
              </a:spcBef>
              <a:spcAft>
                <a:spcPts val="0"/>
              </a:spcAft>
              <a:buClr>
                <a:schemeClr val="dk1"/>
              </a:buClr>
              <a:buSzPts val="2000"/>
              <a:buFont typeface="Tahoma" panose="020B0604030504040204"/>
              <a:buNone/>
              <a:defRPr sz="2000"/>
            </a:lvl2pPr>
            <a:lvl3pPr marL="1371600" lvl="2" indent="-228600" algn="l">
              <a:spcBef>
                <a:spcPts val="360"/>
              </a:spcBef>
              <a:spcAft>
                <a:spcPts val="0"/>
              </a:spcAft>
              <a:buClr>
                <a:schemeClr val="dk1"/>
              </a:buClr>
              <a:buSzPts val="1800"/>
              <a:buFont typeface="Tahoma" panose="020B0604030504040204"/>
              <a:buNone/>
              <a:defRPr sz="1800"/>
            </a:lvl3pPr>
            <a:lvl4pPr marL="1828800" lvl="3" indent="-228600" algn="l">
              <a:spcBef>
                <a:spcPts val="320"/>
              </a:spcBef>
              <a:spcAft>
                <a:spcPts val="0"/>
              </a:spcAft>
              <a:buClr>
                <a:schemeClr val="dk1"/>
              </a:buClr>
              <a:buSzPts val="1600"/>
              <a:buFont typeface="Tahoma" panose="020B0604030504040204"/>
              <a:buNone/>
              <a:defRPr sz="1600"/>
            </a:lvl4pPr>
            <a:lvl5pPr marL="2286000" lvl="4" indent="-228600" algn="l">
              <a:spcBef>
                <a:spcPts val="320"/>
              </a:spcBef>
              <a:spcAft>
                <a:spcPts val="0"/>
              </a:spcAft>
              <a:buClr>
                <a:schemeClr val="dk1"/>
              </a:buClr>
              <a:buSzPts val="1600"/>
              <a:buFont typeface="Tahoma" panose="020B0604030504040204"/>
              <a:buNone/>
              <a:defRPr sz="1600"/>
            </a:lvl5pPr>
            <a:lvl6pPr marL="2743200" lvl="5" indent="-228600" algn="l">
              <a:lnSpc>
                <a:spcPct val="90000"/>
              </a:lnSpc>
              <a:spcBef>
                <a:spcPts val="500"/>
              </a:spcBef>
              <a:spcAft>
                <a:spcPts val="0"/>
              </a:spcAft>
              <a:buClr>
                <a:schemeClr val="lt1"/>
              </a:buClr>
              <a:buSzPts val="1600"/>
              <a:buNone/>
              <a:defRPr sz="1600"/>
            </a:lvl6pPr>
            <a:lvl7pPr marL="3200400" lvl="6" indent="-228600" algn="l">
              <a:lnSpc>
                <a:spcPct val="90000"/>
              </a:lnSpc>
              <a:spcBef>
                <a:spcPts val="500"/>
              </a:spcBef>
              <a:spcAft>
                <a:spcPts val="0"/>
              </a:spcAft>
              <a:buClr>
                <a:schemeClr val="lt1"/>
              </a:buClr>
              <a:buSzPts val="1600"/>
              <a:buNone/>
              <a:defRPr sz="1600"/>
            </a:lvl7pPr>
            <a:lvl8pPr marL="3657600" lvl="7" indent="-228600" algn="l">
              <a:lnSpc>
                <a:spcPct val="90000"/>
              </a:lnSpc>
              <a:spcBef>
                <a:spcPts val="500"/>
              </a:spcBef>
              <a:spcAft>
                <a:spcPts val="0"/>
              </a:spcAft>
              <a:buClr>
                <a:schemeClr val="lt1"/>
              </a:buClr>
              <a:buSzPts val="1600"/>
              <a:buNone/>
              <a:defRPr sz="1600"/>
            </a:lvl8pPr>
            <a:lvl9pPr marL="4114800" lvl="8" indent="-228600" algn="l">
              <a:lnSpc>
                <a:spcPct val="90000"/>
              </a:lnSpc>
              <a:spcBef>
                <a:spcPts val="500"/>
              </a:spcBef>
              <a:spcAft>
                <a:spcPts val="0"/>
              </a:spcAft>
              <a:buClr>
                <a:schemeClr val="lt1"/>
              </a:buClr>
              <a:buSzPts val="1600"/>
              <a:buNone/>
              <a:defRPr sz="1600"/>
            </a:lvl9pPr>
          </a:lstStyle>
          <a:p/>
        </p:txBody>
      </p:sp>
      <p:sp>
        <p:nvSpPr>
          <p:cNvPr id="99" name="Google Shape;99;p102"/>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00"/>
        <p:cNvGrpSpPr/>
        <p:nvPr/>
      </p:nvGrpSpPr>
      <p:grpSpPr>
        <a:xfrm>
          <a:off x="0" y="0"/>
          <a:ext cx="0" cy="0"/>
          <a:chOff x="0" y="0"/>
          <a:chExt cx="0" cy="0"/>
        </a:xfrm>
      </p:grpSpPr>
      <p:sp>
        <p:nvSpPr>
          <p:cNvPr id="101" name="Google Shape;101;p10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103"/>
          <p:cNvSpPr txBox="1">
            <a:spLocks noGrp="1"/>
          </p:cNvSpPr>
          <p:nvPr>
            <p:ph type="body" idx="1"/>
          </p:nvPr>
        </p:nvSpPr>
        <p:spPr>
          <a:xfrm>
            <a:off x="9144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03" name="Google Shape;103;p103"/>
          <p:cNvSpPr txBox="1">
            <a:spLocks noGrp="1"/>
          </p:cNvSpPr>
          <p:nvPr>
            <p:ph type="body" idx="2"/>
          </p:nvPr>
        </p:nvSpPr>
        <p:spPr>
          <a:xfrm>
            <a:off x="61976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04" name="Google Shape;104;p103"/>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105"/>
        <p:cNvGrpSpPr/>
        <p:nvPr/>
      </p:nvGrpSpPr>
      <p:grpSpPr>
        <a:xfrm>
          <a:off x="0" y="0"/>
          <a:ext cx="0" cy="0"/>
          <a:chOff x="0" y="0"/>
          <a:chExt cx="0" cy="0"/>
        </a:xfrm>
      </p:grpSpPr>
      <p:sp>
        <p:nvSpPr>
          <p:cNvPr id="106" name="Google Shape;106;p104"/>
          <p:cNvSpPr txBox="1">
            <a:spLocks noGrp="1"/>
          </p:cNvSpPr>
          <p:nvPr>
            <p:ph type="title"/>
          </p:nvPr>
        </p:nvSpPr>
        <p:spPr>
          <a:xfrm>
            <a:off x="840317" y="365125"/>
            <a:ext cx="10515600" cy="132556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 name="Google Shape;107;p104"/>
          <p:cNvSpPr txBox="1">
            <a:spLocks noGrp="1"/>
          </p:cNvSpPr>
          <p:nvPr>
            <p:ph type="body" idx="1"/>
          </p:nvPr>
        </p:nvSpPr>
        <p:spPr>
          <a:xfrm>
            <a:off x="840317" y="1681163"/>
            <a:ext cx="5158316"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panose="020B0604030504040204"/>
              <a:buNone/>
              <a:defRPr sz="2400" b="1"/>
            </a:lvl1pPr>
            <a:lvl2pPr marL="914400" lvl="1" indent="-228600" algn="l">
              <a:spcBef>
                <a:spcPts val="400"/>
              </a:spcBef>
              <a:spcAft>
                <a:spcPts val="0"/>
              </a:spcAft>
              <a:buClr>
                <a:schemeClr val="dk1"/>
              </a:buClr>
              <a:buSzPts val="2000"/>
              <a:buFont typeface="Tahoma" panose="020B0604030504040204"/>
              <a:buNone/>
              <a:defRPr sz="2000" b="1"/>
            </a:lvl2pPr>
            <a:lvl3pPr marL="1371600" lvl="2" indent="-228600" algn="l">
              <a:spcBef>
                <a:spcPts val="360"/>
              </a:spcBef>
              <a:spcAft>
                <a:spcPts val="0"/>
              </a:spcAft>
              <a:buClr>
                <a:schemeClr val="dk1"/>
              </a:buClr>
              <a:buSzPts val="1800"/>
              <a:buFont typeface="Tahoma" panose="020B0604030504040204"/>
              <a:buNone/>
              <a:defRPr sz="1800" b="1"/>
            </a:lvl3pPr>
            <a:lvl4pPr marL="1828800" lvl="3" indent="-228600" algn="l">
              <a:spcBef>
                <a:spcPts val="320"/>
              </a:spcBef>
              <a:spcAft>
                <a:spcPts val="0"/>
              </a:spcAft>
              <a:buClr>
                <a:schemeClr val="dk1"/>
              </a:buClr>
              <a:buSzPts val="1600"/>
              <a:buFont typeface="Tahoma" panose="020B0604030504040204"/>
              <a:buNone/>
              <a:defRPr sz="1600" b="1"/>
            </a:lvl4pPr>
            <a:lvl5pPr marL="2286000" lvl="4" indent="-228600" algn="l">
              <a:spcBef>
                <a:spcPts val="320"/>
              </a:spcBef>
              <a:spcAft>
                <a:spcPts val="0"/>
              </a:spcAft>
              <a:buClr>
                <a:schemeClr val="dk1"/>
              </a:buClr>
              <a:buSzPts val="1600"/>
              <a:buFont typeface="Tahoma" panose="020B0604030504040204"/>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p:txBody>
      </p:sp>
      <p:sp>
        <p:nvSpPr>
          <p:cNvPr id="108" name="Google Shape;108;p104"/>
          <p:cNvSpPr txBox="1">
            <a:spLocks noGrp="1"/>
          </p:cNvSpPr>
          <p:nvPr>
            <p:ph type="body" idx="2"/>
          </p:nvPr>
        </p:nvSpPr>
        <p:spPr>
          <a:xfrm>
            <a:off x="840317" y="2505075"/>
            <a:ext cx="5158316"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09" name="Google Shape;109;p104"/>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panose="020B0604030504040204"/>
              <a:buNone/>
              <a:defRPr sz="2400" b="1"/>
            </a:lvl1pPr>
            <a:lvl2pPr marL="914400" lvl="1" indent="-228600" algn="l">
              <a:spcBef>
                <a:spcPts val="400"/>
              </a:spcBef>
              <a:spcAft>
                <a:spcPts val="0"/>
              </a:spcAft>
              <a:buClr>
                <a:schemeClr val="dk1"/>
              </a:buClr>
              <a:buSzPts val="2000"/>
              <a:buFont typeface="Tahoma" panose="020B0604030504040204"/>
              <a:buNone/>
              <a:defRPr sz="2000" b="1"/>
            </a:lvl2pPr>
            <a:lvl3pPr marL="1371600" lvl="2" indent="-228600" algn="l">
              <a:spcBef>
                <a:spcPts val="360"/>
              </a:spcBef>
              <a:spcAft>
                <a:spcPts val="0"/>
              </a:spcAft>
              <a:buClr>
                <a:schemeClr val="dk1"/>
              </a:buClr>
              <a:buSzPts val="1800"/>
              <a:buFont typeface="Tahoma" panose="020B0604030504040204"/>
              <a:buNone/>
              <a:defRPr sz="1800" b="1"/>
            </a:lvl3pPr>
            <a:lvl4pPr marL="1828800" lvl="3" indent="-228600" algn="l">
              <a:spcBef>
                <a:spcPts val="320"/>
              </a:spcBef>
              <a:spcAft>
                <a:spcPts val="0"/>
              </a:spcAft>
              <a:buClr>
                <a:schemeClr val="dk1"/>
              </a:buClr>
              <a:buSzPts val="1600"/>
              <a:buFont typeface="Tahoma" panose="020B0604030504040204"/>
              <a:buNone/>
              <a:defRPr sz="1600" b="1"/>
            </a:lvl4pPr>
            <a:lvl5pPr marL="2286000" lvl="4" indent="-228600" algn="l">
              <a:spcBef>
                <a:spcPts val="320"/>
              </a:spcBef>
              <a:spcAft>
                <a:spcPts val="0"/>
              </a:spcAft>
              <a:buClr>
                <a:schemeClr val="dk1"/>
              </a:buClr>
              <a:buSzPts val="1600"/>
              <a:buFont typeface="Tahoma" panose="020B0604030504040204"/>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p:txBody>
      </p:sp>
      <p:sp>
        <p:nvSpPr>
          <p:cNvPr id="110" name="Google Shape;110;p104"/>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11" name="Google Shape;111;p104"/>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12"/>
        <p:cNvGrpSpPr/>
        <p:nvPr/>
      </p:nvGrpSpPr>
      <p:grpSpPr>
        <a:xfrm>
          <a:off x="0" y="0"/>
          <a:ext cx="0" cy="0"/>
          <a:chOff x="0" y="0"/>
          <a:chExt cx="0" cy="0"/>
        </a:xfrm>
      </p:grpSpPr>
      <p:sp>
        <p:nvSpPr>
          <p:cNvPr id="113" name="Google Shape;113;p105"/>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114"/>
        <p:cNvGrpSpPr/>
        <p:nvPr/>
      </p:nvGrpSpPr>
      <p:grpSpPr>
        <a:xfrm>
          <a:off x="0" y="0"/>
          <a:ext cx="0" cy="0"/>
          <a:chOff x="0" y="0"/>
          <a:chExt cx="0" cy="0"/>
        </a:xfrm>
      </p:grpSpPr>
      <p:sp>
        <p:nvSpPr>
          <p:cNvPr id="115" name="Google Shape;115;p106"/>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6" name="Google Shape;116;p106"/>
          <p:cNvSpPr txBox="1">
            <a:spLocks noGrp="1"/>
          </p:cNvSpPr>
          <p:nvPr>
            <p:ph type="body" idx="1"/>
          </p:nvPr>
        </p:nvSpPr>
        <p:spPr>
          <a:xfrm>
            <a:off x="5183717"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ahoma" panose="020B0604030504040204"/>
              <a:buChar char="•"/>
              <a:defRPr sz="3200"/>
            </a:lvl1pPr>
            <a:lvl2pPr marL="914400" lvl="1" indent="-406400" algn="l">
              <a:spcBef>
                <a:spcPts val="560"/>
              </a:spcBef>
              <a:spcAft>
                <a:spcPts val="0"/>
              </a:spcAft>
              <a:buClr>
                <a:schemeClr val="dk1"/>
              </a:buClr>
              <a:buSzPts val="2800"/>
              <a:buFont typeface="Tahoma" panose="020B0604030504040204"/>
              <a:buChar char="–"/>
              <a:defRPr sz="2800"/>
            </a:lvl2pPr>
            <a:lvl3pPr marL="1371600" lvl="2" indent="-381000" algn="l">
              <a:spcBef>
                <a:spcPts val="480"/>
              </a:spcBef>
              <a:spcAft>
                <a:spcPts val="0"/>
              </a:spcAft>
              <a:buClr>
                <a:schemeClr val="dk1"/>
              </a:buClr>
              <a:buSzPts val="2400"/>
              <a:buFont typeface="Tahoma" panose="020B0604030504040204"/>
              <a:buChar char="•"/>
              <a:defRPr sz="2400"/>
            </a:lvl3pPr>
            <a:lvl4pPr marL="1828800" lvl="3" indent="-355600" algn="l">
              <a:spcBef>
                <a:spcPts val="400"/>
              </a:spcBef>
              <a:spcAft>
                <a:spcPts val="0"/>
              </a:spcAft>
              <a:buClr>
                <a:schemeClr val="dk1"/>
              </a:buClr>
              <a:buSzPts val="2000"/>
              <a:buFont typeface="Tahoma" panose="020B0604030504040204"/>
              <a:buChar char="–"/>
              <a:defRPr sz="2000"/>
            </a:lvl4pPr>
            <a:lvl5pPr marL="2286000" lvl="4" indent="-355600" algn="l">
              <a:spcBef>
                <a:spcPts val="400"/>
              </a:spcBef>
              <a:spcAft>
                <a:spcPts val="0"/>
              </a:spcAft>
              <a:buClr>
                <a:schemeClr val="dk1"/>
              </a:buClr>
              <a:buSzPts val="2000"/>
              <a:buFont typeface="Tahoma" panose="020B0604030504040204"/>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p:txBody>
      </p:sp>
      <p:sp>
        <p:nvSpPr>
          <p:cNvPr id="117" name="Google Shape;117;p106"/>
          <p:cNvSpPr txBox="1">
            <a:spLocks noGrp="1"/>
          </p:cNvSpPr>
          <p:nvPr>
            <p:ph type="body" idx="2"/>
          </p:nvPr>
        </p:nvSpPr>
        <p:spPr>
          <a:xfrm>
            <a:off x="840317"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ahoma" panose="020B0604030504040204"/>
              <a:buNone/>
              <a:defRPr sz="1600"/>
            </a:lvl1pPr>
            <a:lvl2pPr marL="914400" lvl="1" indent="-228600" algn="l">
              <a:spcBef>
                <a:spcPts val="280"/>
              </a:spcBef>
              <a:spcAft>
                <a:spcPts val="0"/>
              </a:spcAft>
              <a:buClr>
                <a:schemeClr val="dk1"/>
              </a:buClr>
              <a:buSzPts val="1400"/>
              <a:buFont typeface="Tahoma" panose="020B0604030504040204"/>
              <a:buNone/>
              <a:defRPr sz="1400"/>
            </a:lvl2pPr>
            <a:lvl3pPr marL="1371600" lvl="2" indent="-228600" algn="l">
              <a:spcBef>
                <a:spcPts val="240"/>
              </a:spcBef>
              <a:spcAft>
                <a:spcPts val="0"/>
              </a:spcAft>
              <a:buClr>
                <a:schemeClr val="dk1"/>
              </a:buClr>
              <a:buSzPts val="1200"/>
              <a:buFont typeface="Tahoma" panose="020B0604030504040204"/>
              <a:buNone/>
              <a:defRPr sz="1200"/>
            </a:lvl3pPr>
            <a:lvl4pPr marL="1828800" lvl="3" indent="-228600" algn="l">
              <a:spcBef>
                <a:spcPts val="200"/>
              </a:spcBef>
              <a:spcAft>
                <a:spcPts val="0"/>
              </a:spcAft>
              <a:buClr>
                <a:schemeClr val="dk1"/>
              </a:buClr>
              <a:buSzPts val="1000"/>
              <a:buFont typeface="Tahoma" panose="020B0604030504040204"/>
              <a:buNone/>
              <a:defRPr sz="1000"/>
            </a:lvl4pPr>
            <a:lvl5pPr marL="2286000" lvl="4" indent="-228600" algn="l">
              <a:spcBef>
                <a:spcPts val="200"/>
              </a:spcBef>
              <a:spcAft>
                <a:spcPts val="0"/>
              </a:spcAft>
              <a:buClr>
                <a:schemeClr val="dk1"/>
              </a:buClr>
              <a:buSzPts val="1000"/>
              <a:buFont typeface="Tahoma" panose="020B0604030504040204"/>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p:txBody>
      </p:sp>
      <p:sp>
        <p:nvSpPr>
          <p:cNvPr id="118" name="Google Shape;118;p106"/>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119"/>
        <p:cNvGrpSpPr/>
        <p:nvPr/>
      </p:nvGrpSpPr>
      <p:grpSpPr>
        <a:xfrm>
          <a:off x="0" y="0"/>
          <a:ext cx="0" cy="0"/>
          <a:chOff x="0" y="0"/>
          <a:chExt cx="0" cy="0"/>
        </a:xfrm>
      </p:grpSpPr>
      <p:sp>
        <p:nvSpPr>
          <p:cNvPr id="120" name="Google Shape;120;p107"/>
          <p:cNvSpPr txBox="1">
            <a:spLocks noGrp="1"/>
          </p:cNvSpPr>
          <p:nvPr>
            <p:ph type="title"/>
          </p:nvPr>
        </p:nvSpPr>
        <p:spPr>
          <a:xfrm>
            <a:off x="840317" y="457200"/>
            <a:ext cx="3932767" cy="1600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107"/>
          <p:cNvSpPr>
            <a:spLocks noGrp="1"/>
          </p:cNvSpPr>
          <p:nvPr>
            <p:ph type="pic" idx="2"/>
          </p:nvPr>
        </p:nvSpPr>
        <p:spPr>
          <a:xfrm>
            <a:off x="5183717" y="987425"/>
            <a:ext cx="6172200" cy="4873625"/>
          </a:xfrm>
          <a:prstGeom prst="rect">
            <a:avLst/>
          </a:prstGeom>
          <a:noFill/>
          <a:ln>
            <a:noFill/>
          </a:ln>
        </p:spPr>
      </p:sp>
      <p:sp>
        <p:nvSpPr>
          <p:cNvPr id="122" name="Google Shape;122;p107"/>
          <p:cNvSpPr txBox="1">
            <a:spLocks noGrp="1"/>
          </p:cNvSpPr>
          <p:nvPr>
            <p:ph type="body" idx="1"/>
          </p:nvPr>
        </p:nvSpPr>
        <p:spPr>
          <a:xfrm>
            <a:off x="840317"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Tahoma" panose="020B0604030504040204"/>
              <a:buNone/>
              <a:defRPr sz="1600"/>
            </a:lvl1pPr>
            <a:lvl2pPr marL="914400" lvl="1" indent="-228600" algn="l">
              <a:spcBef>
                <a:spcPts val="280"/>
              </a:spcBef>
              <a:spcAft>
                <a:spcPts val="0"/>
              </a:spcAft>
              <a:buClr>
                <a:schemeClr val="dk1"/>
              </a:buClr>
              <a:buSzPts val="1400"/>
              <a:buFont typeface="Tahoma" panose="020B0604030504040204"/>
              <a:buNone/>
              <a:defRPr sz="1400"/>
            </a:lvl2pPr>
            <a:lvl3pPr marL="1371600" lvl="2" indent="-228600" algn="l">
              <a:spcBef>
                <a:spcPts val="240"/>
              </a:spcBef>
              <a:spcAft>
                <a:spcPts val="0"/>
              </a:spcAft>
              <a:buClr>
                <a:schemeClr val="dk1"/>
              </a:buClr>
              <a:buSzPts val="1200"/>
              <a:buFont typeface="Tahoma" panose="020B0604030504040204"/>
              <a:buNone/>
              <a:defRPr sz="1200"/>
            </a:lvl3pPr>
            <a:lvl4pPr marL="1828800" lvl="3" indent="-228600" algn="l">
              <a:spcBef>
                <a:spcPts val="200"/>
              </a:spcBef>
              <a:spcAft>
                <a:spcPts val="0"/>
              </a:spcAft>
              <a:buClr>
                <a:schemeClr val="dk1"/>
              </a:buClr>
              <a:buSzPts val="1000"/>
              <a:buFont typeface="Tahoma" panose="020B0604030504040204"/>
              <a:buNone/>
              <a:defRPr sz="1000"/>
            </a:lvl4pPr>
            <a:lvl5pPr marL="2286000" lvl="4" indent="-228600" algn="l">
              <a:spcBef>
                <a:spcPts val="200"/>
              </a:spcBef>
              <a:spcAft>
                <a:spcPts val="0"/>
              </a:spcAft>
              <a:buClr>
                <a:schemeClr val="dk1"/>
              </a:buClr>
              <a:buSzPts val="1000"/>
              <a:buFont typeface="Tahoma" panose="020B0604030504040204"/>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p:txBody>
      </p:sp>
      <p:sp>
        <p:nvSpPr>
          <p:cNvPr id="123" name="Google Shape;123;p107"/>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124"/>
        <p:cNvGrpSpPr/>
        <p:nvPr/>
      </p:nvGrpSpPr>
      <p:grpSpPr>
        <a:xfrm>
          <a:off x="0" y="0"/>
          <a:ext cx="0" cy="0"/>
          <a:chOff x="0" y="0"/>
          <a:chExt cx="0" cy="0"/>
        </a:xfrm>
      </p:grpSpPr>
      <p:sp>
        <p:nvSpPr>
          <p:cNvPr id="125" name="Google Shape;125;p10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6" name="Google Shape;126;p108"/>
          <p:cNvSpPr txBox="1">
            <a:spLocks noGrp="1"/>
          </p:cNvSpPr>
          <p:nvPr>
            <p:ph type="body" idx="1"/>
          </p:nvPr>
        </p:nvSpPr>
        <p:spPr>
          <a:xfrm rot="5400000">
            <a:off x="4038600" y="-1143000"/>
            <a:ext cx="4114800" cy="10363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27" name="Google Shape;127;p108"/>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128"/>
        <p:cNvGrpSpPr/>
        <p:nvPr/>
      </p:nvGrpSpPr>
      <p:grpSpPr>
        <a:xfrm>
          <a:off x="0" y="0"/>
          <a:ext cx="0" cy="0"/>
          <a:chOff x="0" y="0"/>
          <a:chExt cx="0" cy="0"/>
        </a:xfrm>
      </p:grpSpPr>
      <p:sp>
        <p:nvSpPr>
          <p:cNvPr id="129" name="Google Shape;129;p109"/>
          <p:cNvSpPr txBox="1">
            <a:spLocks noGrp="1"/>
          </p:cNvSpPr>
          <p:nvPr>
            <p:ph type="title"/>
          </p:nvPr>
        </p:nvSpPr>
        <p:spPr>
          <a:xfrm rot="5400000">
            <a:off x="7239000" y="2057400"/>
            <a:ext cx="5486400" cy="2590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109"/>
          <p:cNvSpPr txBox="1">
            <a:spLocks noGrp="1"/>
          </p:cNvSpPr>
          <p:nvPr>
            <p:ph type="body" idx="1"/>
          </p:nvPr>
        </p:nvSpPr>
        <p:spPr>
          <a:xfrm rot="5400000">
            <a:off x="1955800" y="-431800"/>
            <a:ext cx="5486400" cy="7569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31" name="Google Shape;131;p109"/>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matchingName="Title, Text, and Content">
  <p:cSld name="TEXT_AND_OBJECT">
    <p:spTree>
      <p:nvGrpSpPr>
        <p:cNvPr id="1" name="Shape 132"/>
        <p:cNvGrpSpPr/>
        <p:nvPr/>
      </p:nvGrpSpPr>
      <p:grpSpPr>
        <a:xfrm>
          <a:off x="0" y="0"/>
          <a:ext cx="0" cy="0"/>
          <a:chOff x="0" y="0"/>
          <a:chExt cx="0" cy="0"/>
        </a:xfrm>
      </p:grpSpPr>
      <p:sp>
        <p:nvSpPr>
          <p:cNvPr id="133" name="Google Shape;133;p110"/>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110"/>
          <p:cNvSpPr txBox="1">
            <a:spLocks noGrp="1"/>
          </p:cNvSpPr>
          <p:nvPr>
            <p:ph type="body" idx="1"/>
          </p:nvPr>
        </p:nvSpPr>
        <p:spPr>
          <a:xfrm>
            <a:off x="9144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35" name="Google Shape;135;p110"/>
          <p:cNvSpPr txBox="1">
            <a:spLocks noGrp="1"/>
          </p:cNvSpPr>
          <p:nvPr>
            <p:ph type="body" idx="2"/>
          </p:nvPr>
        </p:nvSpPr>
        <p:spPr>
          <a:xfrm>
            <a:off x="61976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p:txBody>
      </p:sp>
      <p:sp>
        <p:nvSpPr>
          <p:cNvPr id="136" name="Google Shape;136;p110"/>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1.pn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EF6D5"/>
        </a:solidFill>
        <a:effectLst/>
      </p:bgPr>
    </p:bg>
    <p:spTree>
      <p:nvGrpSpPr>
        <p:cNvPr id="1" name="Shape 9"/>
        <p:cNvGrpSpPr/>
        <p:nvPr/>
      </p:nvGrpSpPr>
      <p:grpSpPr>
        <a:xfrm>
          <a:off x="0" y="0"/>
          <a:ext cx="0" cy="0"/>
          <a:chOff x="0" y="0"/>
          <a:chExt cx="0" cy="0"/>
        </a:xfrm>
      </p:grpSpPr>
      <p:sp>
        <p:nvSpPr>
          <p:cNvPr id="10" name="Google Shape;10;p8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R="0" lvl="1"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R="0" lvl="2"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R="0" lvl="3"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R="0" lvl="4"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R="0" lvl="5"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6pPr>
            <a:lvl7pPr marR="0" lvl="6"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7pPr>
            <a:lvl8pPr marR="0" lvl="7"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8pPr>
            <a:lvl9pPr marR="0" lvl="8"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9pPr>
          </a:lstStyle>
          <a:p/>
        </p:txBody>
      </p:sp>
      <p:sp>
        <p:nvSpPr>
          <p:cNvPr id="11" name="Google Shape;11;p83"/>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ahoma" panose="020B0604030504040204"/>
              <a:buChar char="•"/>
              <a:defRPr sz="32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L="914400" marR="0" lvl="1" indent="-406400" algn="l" rtl="0">
              <a:spcBef>
                <a:spcPts val="560"/>
              </a:spcBef>
              <a:spcAft>
                <a:spcPts val="0"/>
              </a:spcAft>
              <a:buClr>
                <a:schemeClr val="dk1"/>
              </a:buClr>
              <a:buSzPts val="2800"/>
              <a:buFont typeface="Tahoma" panose="020B0604030504040204"/>
              <a:buChar char="–"/>
              <a:defRPr sz="28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L="1371600" marR="0" lvl="2" indent="-381000" algn="l" rtl="0">
              <a:spcBef>
                <a:spcPts val="480"/>
              </a:spcBef>
              <a:spcAft>
                <a:spcPts val="0"/>
              </a:spcAft>
              <a:buClr>
                <a:schemeClr val="dk1"/>
              </a:buClr>
              <a:buSzPts val="2400"/>
              <a:buFont typeface="Tahoma" panose="020B0604030504040204"/>
              <a:buChar char="•"/>
              <a:defRPr sz="24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L="1828800" marR="0" lvl="3" indent="-355600" algn="l" rtl="0">
              <a:spcBef>
                <a:spcPts val="400"/>
              </a:spcBef>
              <a:spcAft>
                <a:spcPts val="0"/>
              </a:spcAft>
              <a:buClr>
                <a:schemeClr val="dk1"/>
              </a:buClr>
              <a:buSzPts val="2000"/>
              <a:buFont typeface="Tahoma" panose="020B0604030504040204"/>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L="2286000" marR="0" lvl="4" indent="-355600" algn="l" rtl="0">
              <a:spcBef>
                <a:spcPts val="400"/>
              </a:spcBef>
              <a:spcAft>
                <a:spcPts val="0"/>
              </a:spcAft>
              <a:buClr>
                <a:schemeClr val="dk1"/>
              </a:buClr>
              <a:buSzPts val="2000"/>
              <a:buFont typeface="Tahoma" panose="020B0604030504040204"/>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L="2743200" marR="0" lvl="5"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6pPr>
            <a:lvl7pPr marL="3200400" marR="0" lvl="6"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7pPr>
            <a:lvl8pPr marL="3657600" marR="0" lvl="7"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8pPr>
            <a:lvl9pPr marL="4114800" marR="0" lvl="8"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9pPr>
          </a:lstStyle>
          <a:p/>
        </p:txBody>
      </p:sp>
      <p:sp>
        <p:nvSpPr>
          <p:cNvPr id="12" name="Google Shape;12;p83"/>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pic>
        <p:nvPicPr>
          <p:cNvPr id="13" name="Google Shape;13;p83" descr="logo_tp"/>
          <p:cNvPicPr preferRelativeResize="0"/>
          <p:nvPr/>
        </p:nvPicPr>
        <p:blipFill rotWithShape="1">
          <a:blip r:embed="rId14"/>
          <a:srcRect/>
          <a:stretch>
            <a:fillRect/>
          </a:stretch>
        </p:blipFill>
        <p:spPr>
          <a:xfrm>
            <a:off x="101600" y="6400800"/>
            <a:ext cx="1727200" cy="358775"/>
          </a:xfrm>
          <a:prstGeom prst="rect">
            <a:avLst/>
          </a:prstGeom>
          <a:noFill/>
          <a:ln>
            <a:noFill/>
          </a:ln>
        </p:spPr>
      </p:pic>
      <p:sp>
        <p:nvSpPr>
          <p:cNvPr id="14" name="Google Shape;14;p83"/>
          <p:cNvSpPr/>
          <p:nvPr/>
        </p:nvSpPr>
        <p:spPr>
          <a:xfrm>
            <a:off x="9753600" y="6478588"/>
            <a:ext cx="2438400" cy="227013"/>
          </a:xfrm>
          <a:prstGeom prst="rect">
            <a:avLst/>
          </a:prstGeom>
          <a:noFill/>
          <a:ln>
            <a:noFill/>
          </a:ln>
        </p:spPr>
        <p:txBody>
          <a:bodyPr spcFirstLastPara="1" wrap="square" lIns="90475" tIns="44450" rIns="90475" bIns="44450" anchor="ctr" anchorCtr="0">
            <a:noAutofit/>
          </a:bodyPr>
          <a:lstStyle/>
          <a:p>
            <a:pPr marL="0" marR="0" lvl="0" indent="-76200" algn="r" rtl="0">
              <a:lnSpc>
                <a:spcPct val="100000"/>
              </a:lnSpc>
              <a:spcBef>
                <a:spcPts val="0"/>
              </a:spcBef>
              <a:spcAft>
                <a:spcPts val="0"/>
              </a:spcAft>
              <a:buClr>
                <a:schemeClr val="lt1"/>
              </a:buClr>
              <a:buSzPts val="1200"/>
              <a:buFont typeface="Book Antiqua" panose="02040602050305030304"/>
              <a:buChar char="©"/>
            </a:pPr>
            <a:r>
              <a:rPr lang="en-US" sz="1200" b="1" i="1" u="none" strike="noStrike" cap="none">
                <a:solidFill>
                  <a:schemeClr val="lt1"/>
                </a:solidFill>
                <a:latin typeface="Book Antiqua" panose="02040602050305030304"/>
                <a:ea typeface="Book Antiqua" panose="02040602050305030304"/>
                <a:cs typeface="Book Antiqua" panose="02040602050305030304"/>
                <a:sym typeface="Book Antiqua" panose="02040602050305030304"/>
              </a:rPr>
              <a:t>The McGraw-Hill Companies, 2005</a:t>
            </a:r>
            <a:endParaRPr sz="1200" b="1" i="1" u="none" strike="noStrike" cap="none">
              <a:solidFill>
                <a:schemeClr val="lt1"/>
              </a:solidFill>
              <a:latin typeface="Book Antiqua" panose="02040602050305030304"/>
              <a:ea typeface="Book Antiqua" panose="02040602050305030304"/>
              <a:cs typeface="Book Antiqua" panose="02040602050305030304"/>
              <a:sym typeface="Book Antiqua" panose="020406020503050303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EF6D5"/>
        </a:solidFill>
        <a:effectLst/>
      </p:bgPr>
    </p:bg>
    <p:spTree>
      <p:nvGrpSpPr>
        <p:cNvPr id="1" name="Shape 73"/>
        <p:cNvGrpSpPr/>
        <p:nvPr/>
      </p:nvGrpSpPr>
      <p:grpSpPr>
        <a:xfrm>
          <a:off x="0" y="0"/>
          <a:ext cx="0" cy="0"/>
          <a:chOff x="0" y="0"/>
          <a:chExt cx="0" cy="0"/>
        </a:xfrm>
      </p:grpSpPr>
      <p:sp>
        <p:nvSpPr>
          <p:cNvPr id="74" name="Google Shape;74;p86"/>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R="0" lvl="1"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R="0" lvl="2"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R="0" lvl="3"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R="0" lvl="4"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R="0" lvl="5"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6pPr>
            <a:lvl7pPr marR="0" lvl="6"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7pPr>
            <a:lvl8pPr marR="0" lvl="7"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8pPr>
            <a:lvl9pPr marR="0" lvl="8" algn="ctr" rtl="0">
              <a:spcBef>
                <a:spcPts val="0"/>
              </a:spcBef>
              <a:spcAft>
                <a:spcPts val="0"/>
              </a:spcAft>
              <a:buSzPts val="1400"/>
              <a:buNone/>
              <a:defRPr sz="4400" b="0" i="0" u="none" strike="noStrike" cap="none">
                <a:solidFill>
                  <a:schemeClr val="dk1"/>
                </a:solidFill>
                <a:latin typeface="Tahoma" panose="020B0604030504040204"/>
                <a:ea typeface="Tahoma" panose="020B0604030504040204"/>
                <a:cs typeface="Tahoma" panose="020B0604030504040204"/>
                <a:sym typeface="Tahoma" panose="020B0604030504040204"/>
              </a:defRPr>
            </a:lvl9pPr>
          </a:lstStyle>
          <a:p/>
        </p:txBody>
      </p:sp>
      <p:sp>
        <p:nvSpPr>
          <p:cNvPr id="75" name="Google Shape;75;p86"/>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ahoma" panose="020B0604030504040204"/>
              <a:buChar char="•"/>
              <a:defRPr sz="3200" b="0" i="0" u="none" strike="noStrike" cap="none">
                <a:solidFill>
                  <a:schemeClr val="dk1"/>
                </a:solidFill>
                <a:latin typeface="Tahoma" panose="020B0604030504040204"/>
                <a:ea typeface="Tahoma" panose="020B0604030504040204"/>
                <a:cs typeface="Tahoma" panose="020B0604030504040204"/>
                <a:sym typeface="Tahoma" panose="020B0604030504040204"/>
              </a:defRPr>
            </a:lvl1pPr>
            <a:lvl2pPr marL="914400" marR="0" lvl="1" indent="-406400" algn="l" rtl="0">
              <a:spcBef>
                <a:spcPts val="560"/>
              </a:spcBef>
              <a:spcAft>
                <a:spcPts val="0"/>
              </a:spcAft>
              <a:buClr>
                <a:schemeClr val="dk1"/>
              </a:buClr>
              <a:buSzPts val="2800"/>
              <a:buFont typeface="Tahoma" panose="020B0604030504040204"/>
              <a:buChar char="–"/>
              <a:defRPr sz="2800" b="0" i="0" u="none" strike="noStrike" cap="none">
                <a:solidFill>
                  <a:schemeClr val="dk1"/>
                </a:solidFill>
                <a:latin typeface="Tahoma" panose="020B0604030504040204"/>
                <a:ea typeface="Tahoma" panose="020B0604030504040204"/>
                <a:cs typeface="Tahoma" panose="020B0604030504040204"/>
                <a:sym typeface="Tahoma" panose="020B0604030504040204"/>
              </a:defRPr>
            </a:lvl2pPr>
            <a:lvl3pPr marL="1371600" marR="0" lvl="2" indent="-381000" algn="l" rtl="0">
              <a:spcBef>
                <a:spcPts val="480"/>
              </a:spcBef>
              <a:spcAft>
                <a:spcPts val="0"/>
              </a:spcAft>
              <a:buClr>
                <a:schemeClr val="dk1"/>
              </a:buClr>
              <a:buSzPts val="2400"/>
              <a:buFont typeface="Tahoma" panose="020B0604030504040204"/>
              <a:buChar char="•"/>
              <a:defRPr sz="2400" b="0" i="0" u="none" strike="noStrike" cap="none">
                <a:solidFill>
                  <a:schemeClr val="dk1"/>
                </a:solidFill>
                <a:latin typeface="Tahoma" panose="020B0604030504040204"/>
                <a:ea typeface="Tahoma" panose="020B0604030504040204"/>
                <a:cs typeface="Tahoma" panose="020B0604030504040204"/>
                <a:sym typeface="Tahoma" panose="020B0604030504040204"/>
              </a:defRPr>
            </a:lvl3pPr>
            <a:lvl4pPr marL="1828800" marR="0" lvl="3" indent="-355600" algn="l" rtl="0">
              <a:spcBef>
                <a:spcPts val="400"/>
              </a:spcBef>
              <a:spcAft>
                <a:spcPts val="0"/>
              </a:spcAft>
              <a:buClr>
                <a:schemeClr val="dk1"/>
              </a:buClr>
              <a:buSzPts val="2000"/>
              <a:buFont typeface="Tahoma" panose="020B0604030504040204"/>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4pPr>
            <a:lvl5pPr marL="2286000" marR="0" lvl="4" indent="-355600" algn="l" rtl="0">
              <a:spcBef>
                <a:spcPts val="400"/>
              </a:spcBef>
              <a:spcAft>
                <a:spcPts val="0"/>
              </a:spcAft>
              <a:buClr>
                <a:schemeClr val="dk1"/>
              </a:buClr>
              <a:buSzPts val="2000"/>
              <a:buFont typeface="Tahoma" panose="020B0604030504040204"/>
              <a:buChar char="»"/>
              <a:defRPr sz="2000" b="0" i="0" u="none" strike="noStrike" cap="none">
                <a:solidFill>
                  <a:schemeClr val="dk1"/>
                </a:solidFill>
                <a:latin typeface="Tahoma" panose="020B0604030504040204"/>
                <a:ea typeface="Tahoma" panose="020B0604030504040204"/>
                <a:cs typeface="Tahoma" panose="020B0604030504040204"/>
                <a:sym typeface="Tahoma" panose="020B0604030504040204"/>
              </a:defRPr>
            </a:lvl5pPr>
            <a:lvl6pPr marL="2743200" marR="0" lvl="5"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6pPr>
            <a:lvl7pPr marL="3200400" marR="0" lvl="6"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7pPr>
            <a:lvl8pPr marL="3657600" marR="0" lvl="7"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8pPr>
            <a:lvl9pPr marL="4114800" marR="0" lvl="8" indent="-342900" algn="l" rtl="0">
              <a:lnSpc>
                <a:spcPct val="90000"/>
              </a:lnSpc>
              <a:spcBef>
                <a:spcPts val="500"/>
              </a:spcBef>
              <a:spcAft>
                <a:spcPts val="0"/>
              </a:spcAft>
              <a:buClr>
                <a:schemeClr val="lt1"/>
              </a:buClr>
              <a:buSzPts val="1800"/>
              <a:buFont typeface="Arial" panose="020B0604020202020204"/>
              <a:buChar char="•"/>
              <a:defRPr sz="1800" b="0" i="0" u="none" strike="noStrike" cap="none">
                <a:solidFill>
                  <a:schemeClr val="lt1"/>
                </a:solidFill>
                <a:latin typeface="Tahoma" panose="020B0604030504040204"/>
                <a:ea typeface="Tahoma" panose="020B0604030504040204"/>
                <a:cs typeface="Tahoma" panose="020B0604030504040204"/>
                <a:sym typeface="Tahoma" panose="020B0604030504040204"/>
              </a:defRPr>
            </a:lvl9pPr>
          </a:lstStyle>
          <a:p/>
        </p:txBody>
      </p:sp>
      <p:sp>
        <p:nvSpPr>
          <p:cNvPr id="76" name="Google Shape;76;p86"/>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1pPr>
            <a:lvl2pPr marL="0" marR="0" lvl="1"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2pPr>
            <a:lvl3pPr marL="0" marR="0" lvl="2"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3pPr>
            <a:lvl4pPr marL="0" marR="0" lvl="3"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4pPr>
            <a:lvl5pPr marL="0" marR="0" lvl="4"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5pPr>
            <a:lvl6pPr marL="0" marR="0" lvl="5"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6pPr>
            <a:lvl7pPr marL="0" marR="0" lvl="6"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7pPr>
            <a:lvl8pPr marL="0" marR="0" lvl="7"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8pPr>
            <a:lvl9pPr marL="0" marR="0" lvl="8" indent="0" algn="r" rtl="0">
              <a:lnSpc>
                <a:spcPct val="100000"/>
              </a:lnSpc>
              <a:spcBef>
                <a:spcPts val="0"/>
              </a:spcBef>
              <a:spcAft>
                <a:spcPts val="0"/>
              </a:spcAft>
              <a:buClr>
                <a:schemeClr val="lt1"/>
              </a:buClr>
              <a:buSzPts val="1400"/>
              <a:buFont typeface="Times New Roman" panose="02020603050405020304"/>
              <a:buNone/>
              <a:def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defRPr>
            </a:lvl9pPr>
          </a:lstStyle>
          <a:p>
            <a:pPr marL="0" lvl="0" indent="0" algn="r" rtl="0">
              <a:spcBef>
                <a:spcPts val="0"/>
              </a:spcBef>
              <a:spcAft>
                <a:spcPts val="0"/>
              </a:spcAft>
              <a:buNone/>
            </a:pPr>
            <a:fld id="{00000000-1234-1234-1234-123412341234}" type="slidenum">
              <a:rPr lang="en-US"/>
            </a:fld>
            <a:endParaRPr lang="en-US"/>
          </a:p>
        </p:txBody>
      </p:sp>
      <p:pic>
        <p:nvPicPr>
          <p:cNvPr id="77" name="Google Shape;77;p86" descr="logo_tp"/>
          <p:cNvPicPr preferRelativeResize="0"/>
          <p:nvPr/>
        </p:nvPicPr>
        <p:blipFill rotWithShape="1">
          <a:blip r:embed="rId14"/>
          <a:srcRect/>
          <a:stretch>
            <a:fillRect/>
          </a:stretch>
        </p:blipFill>
        <p:spPr>
          <a:xfrm>
            <a:off x="101600" y="6400800"/>
            <a:ext cx="1727200" cy="358775"/>
          </a:xfrm>
          <a:prstGeom prst="rect">
            <a:avLst/>
          </a:prstGeom>
          <a:noFill/>
          <a:ln>
            <a:noFill/>
          </a:ln>
        </p:spPr>
      </p:pic>
      <p:sp>
        <p:nvSpPr>
          <p:cNvPr id="78" name="Google Shape;78;p86"/>
          <p:cNvSpPr/>
          <p:nvPr/>
        </p:nvSpPr>
        <p:spPr>
          <a:xfrm>
            <a:off x="9753600" y="6478588"/>
            <a:ext cx="2438400" cy="227013"/>
          </a:xfrm>
          <a:prstGeom prst="rect">
            <a:avLst/>
          </a:prstGeom>
          <a:noFill/>
          <a:ln>
            <a:noFill/>
          </a:ln>
        </p:spPr>
        <p:txBody>
          <a:bodyPr spcFirstLastPara="1" wrap="square" lIns="90475" tIns="44450" rIns="90475" bIns="44450" anchor="ctr" anchorCtr="0">
            <a:noAutofit/>
          </a:bodyPr>
          <a:lstStyle/>
          <a:p>
            <a:pPr marL="0" marR="0" lvl="0" indent="-76200" algn="r" rtl="0">
              <a:lnSpc>
                <a:spcPct val="100000"/>
              </a:lnSpc>
              <a:spcBef>
                <a:spcPts val="0"/>
              </a:spcBef>
              <a:spcAft>
                <a:spcPts val="0"/>
              </a:spcAft>
              <a:buClr>
                <a:schemeClr val="lt1"/>
              </a:buClr>
              <a:buSzPts val="1200"/>
              <a:buFont typeface="Book Antiqua" panose="02040602050305030304"/>
              <a:buChar char="©"/>
            </a:pPr>
            <a:r>
              <a:rPr lang="en-US" sz="1200" b="1" i="1" u="none" strike="noStrike" cap="none">
                <a:solidFill>
                  <a:schemeClr val="lt1"/>
                </a:solidFill>
                <a:latin typeface="Book Antiqua" panose="02040602050305030304"/>
                <a:ea typeface="Book Antiqua" panose="02040602050305030304"/>
                <a:cs typeface="Book Antiqua" panose="02040602050305030304"/>
                <a:sym typeface="Book Antiqua" panose="02040602050305030304"/>
              </a:rPr>
              <a:t>The McGraw-Hill Companies, 2005</a:t>
            </a:r>
            <a:endParaRPr sz="1200" b="1" i="1" u="none" strike="noStrike" cap="none">
              <a:solidFill>
                <a:schemeClr val="lt1"/>
              </a:solidFill>
              <a:latin typeface="Book Antiqua" panose="02040602050305030304"/>
              <a:ea typeface="Book Antiqua" panose="02040602050305030304"/>
              <a:cs typeface="Book Antiqua" panose="02040602050305030304"/>
              <a:sym typeface="Book Antiqua" panose="02040602050305030304"/>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6.xml"/><Relationship Id="rId1" Type="http://schemas.openxmlformats.org/officeDocument/2006/relationships/image" Target="../media/image12.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3.png"/></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oleObject" Target="../embeddings/oleObject1.bin"/></Relationships>
</file>

<file path=ppt/slides/_rels/slide57.xml.rels><?xml version="1.0" encoding="UTF-8" standalone="yes"?>
<Relationships xmlns="http://schemas.openxmlformats.org/package/2006/relationships"><Relationship Id="rId5" Type="http://schemas.openxmlformats.org/officeDocument/2006/relationships/notesSlide" Target="../notesSlides/notesSlide56.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oleObject" Target="../embeddings/oleObject2.bin"/></Relationships>
</file>

<file path=ppt/slides/_rels/slide58.xml.rels><?xml version="1.0" encoding="UTF-8" standalone="yes"?>
<Relationships xmlns="http://schemas.openxmlformats.org/package/2006/relationships"><Relationship Id="rId5" Type="http://schemas.openxmlformats.org/officeDocument/2006/relationships/notesSlide" Target="../notesSlides/notesSlide57.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oleObject" Target="../embeddings/oleObject3.bin"/></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oleObject" Target="../embeddings/oleObject4.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67.xml.rels><?xml version="1.0" encoding="UTF-8" standalone="yes"?>
<Relationships xmlns="http://schemas.openxmlformats.org/package/2006/relationships"><Relationship Id="rId5" Type="http://schemas.openxmlformats.org/officeDocument/2006/relationships/notesSlide" Target="../notesSlides/notesSlide66.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oleObject" Target="../embeddings/oleObject5.bin"/></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oleObject" Target="../embeddings/oleObject6.bin"/></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6" Type="http://schemas.openxmlformats.org/officeDocument/2006/relationships/notesSlide" Target="../notesSlides/notesSlide79.xml"/><Relationship Id="rId5" Type="http://schemas.openxmlformats.org/officeDocument/2006/relationships/slideLayout" Target="../slideLayouts/slideLayout2.xml"/><Relationship Id="rId4" Type="http://schemas.openxmlformats.org/officeDocument/2006/relationships/hyperlink" Target="http://www.free-management-ebooks.com/" TargetMode="External"/><Relationship Id="rId3" Type="http://schemas.openxmlformats.org/officeDocument/2006/relationships/hyperlink" Target="http://www.batimes.com/images/pdfs/The_Ten_Knowledge_Areas_of_PMP.pdf" TargetMode="External"/><Relationship Id="rId2" Type="http://schemas.openxmlformats.org/officeDocument/2006/relationships/hyperlink" Target="https://www.wrike.com/project-management-guide/faq/what-is-pmbok-in-project-management/%20Inicia%C3%A7%C3%A3o%20etc..pdf" TargetMode="External"/><Relationship Id="rId1" Type="http://schemas.openxmlformats.org/officeDocument/2006/relationships/hyperlink" Target="https://www.wrike.com/project-management-guide/faq/what-is-pmi-in-project-management/" TargetMode="Externa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lt1"/>
              </a:buClr>
              <a:buSzPts val="1400"/>
              <a:buFont typeface="Times New Roman" panose="02020603050405020304"/>
              <a:buNone/>
            </a:pPr>
            <a:fld id="{00000000-1234-1234-1234-123412341234}" type="slidenum">
              <a:rPr lang="en-US" sz="14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4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3" name="Google Shape;143;p1"/>
          <p:cNvSpPr/>
          <p:nvPr/>
        </p:nvSpPr>
        <p:spPr>
          <a:xfrm>
            <a:off x="6743700" y="476250"/>
            <a:ext cx="3600450" cy="5473700"/>
          </a:xfrm>
          <a:prstGeom prst="rect">
            <a:avLst/>
          </a:prstGeom>
          <a:noFill/>
          <a:ln w="127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Tahoma" panose="020B060403050404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4" name="Google Shape;144;p1"/>
          <p:cNvSpPr/>
          <p:nvPr/>
        </p:nvSpPr>
        <p:spPr>
          <a:xfrm>
            <a:off x="6888163" y="2276475"/>
            <a:ext cx="3311525" cy="1104265"/>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Clr>
                <a:schemeClr val="dk1"/>
              </a:buClr>
              <a:buSzPts val="3300"/>
              <a:buFont typeface="Arial" panose="020B0604020202020204"/>
              <a:buNone/>
            </a:pPr>
            <a:r>
              <a:rPr lang="en-US" sz="3300" b="1" i="0" u="none" strike="noStrike" cap="none">
                <a:solidFill>
                  <a:schemeClr val="dk1"/>
                </a:solidFill>
                <a:latin typeface="Arial" panose="020B0604020202020204"/>
                <a:ea typeface="Arial" panose="020B0604020202020204"/>
                <a:cs typeface="Arial" panose="020B0604020202020204"/>
                <a:sym typeface="Arial" panose="020B0604020202020204"/>
              </a:rPr>
              <a:t>PM </a:t>
            </a:r>
            <a:r>
              <a:rPr lang="en-US" sz="3300" b="1" i="0" u="sng" strike="noStrike" cap="none">
                <a:solidFill>
                  <a:schemeClr val="dk1"/>
                </a:solidFill>
                <a:latin typeface="Tahoma" panose="020B0604030504040204"/>
                <a:ea typeface="Tahoma" panose="020B0604030504040204"/>
                <a:cs typeface="Tahoma" panose="020B0604030504040204"/>
                <a:sym typeface="Tahoma" panose="020B0604030504040204"/>
              </a:rPr>
              <a:t>Knowledge</a:t>
            </a:r>
            <a:r>
              <a:rPr lang="en-US" sz="3300" b="1" i="0" u="none" strike="noStrike" cap="none">
                <a:solidFill>
                  <a:schemeClr val="dk1"/>
                </a:solidFill>
                <a:latin typeface="Arial" panose="020B0604020202020204"/>
                <a:ea typeface="Arial" panose="020B0604020202020204"/>
                <a:cs typeface="Arial" panose="020B0604020202020204"/>
                <a:sym typeface="Arial" panose="020B0604020202020204"/>
              </a:rPr>
              <a:t> Areas </a:t>
            </a:r>
            <a:endParaRPr sz="33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45" name="Google Shape;145;p1"/>
          <p:cNvSpPr/>
          <p:nvPr/>
        </p:nvSpPr>
        <p:spPr>
          <a:xfrm>
            <a:off x="7248525" y="836613"/>
            <a:ext cx="2509838" cy="609600"/>
          </a:xfrm>
          <a:prstGeom prst="rect">
            <a:avLst/>
          </a:prstGeom>
          <a:noFill/>
          <a:ln>
            <a:noFill/>
          </a:ln>
        </p:spPr>
        <p:txBody>
          <a:bodyPr spcFirstLastPara="1" wrap="square" lIns="90475" tIns="44450" rIns="90475" bIns="44450" anchor="ctr" anchorCtr="0">
            <a:noAutofit/>
          </a:bodyPr>
          <a:lstStyle/>
          <a:p>
            <a:pPr marL="0" marR="0" lvl="0" indent="0" algn="ctr" rtl="0">
              <a:spcBef>
                <a:spcPts val="0"/>
              </a:spcBef>
              <a:spcAft>
                <a:spcPts val="0"/>
              </a:spcAft>
              <a:buClr>
                <a:schemeClr val="dk1"/>
              </a:buClr>
              <a:buSzPts val="3600"/>
              <a:buFont typeface="Tahoma" panose="020B0604030504040204"/>
              <a:buNone/>
            </a:pPr>
            <a:r>
              <a:rPr lang="en-US" sz="3600" b="1" i="0" u="none" strike="noStrike" cap="none">
                <a:solidFill>
                  <a:schemeClr val="dk1"/>
                </a:solidFill>
                <a:latin typeface="Tahoma" panose="020B0604030504040204"/>
                <a:ea typeface="Tahoma" panose="020B0604030504040204"/>
                <a:cs typeface="Tahoma" panose="020B0604030504040204"/>
                <a:sym typeface="Tahoma" panose="020B0604030504040204"/>
              </a:rPr>
              <a:t>Lecture 3</a:t>
            </a:r>
            <a:endParaRPr sz="3600" b="1"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146" name="Google Shape;146;p1"/>
          <p:cNvSpPr/>
          <p:nvPr/>
        </p:nvSpPr>
        <p:spPr>
          <a:xfrm>
            <a:off x="1524000" y="260350"/>
            <a:ext cx="4968875" cy="1762760"/>
          </a:xfrm>
          <a:prstGeom prst="rect">
            <a:avLst/>
          </a:prstGeom>
          <a:noFill/>
          <a:ln>
            <a:noFill/>
          </a:ln>
        </p:spPr>
        <p:txBody>
          <a:bodyPr spcFirstLastPara="1" wrap="square" lIns="90475" tIns="44450" rIns="90475" bIns="44450" anchor="t" anchorCtr="0">
            <a:spAutoFit/>
          </a:bodyPr>
          <a:lstStyle/>
          <a:p>
            <a:pPr marL="0" marR="0" lvl="0" indent="0" algn="ctr" rtl="0">
              <a:spcBef>
                <a:spcPts val="0"/>
              </a:spcBef>
              <a:spcAft>
                <a:spcPts val="0"/>
              </a:spcAft>
              <a:buClr>
                <a:schemeClr val="dk1"/>
              </a:buClr>
              <a:buSzPts val="4000"/>
              <a:buFont typeface="Tahoma" panose="020B0604030504040204"/>
              <a:buNone/>
            </a:pPr>
            <a:r>
              <a:rPr lang="en-US" sz="4000" b="1" i="0" u="none" strike="noStrike" cap="none">
                <a:solidFill>
                  <a:schemeClr val="dk1"/>
                </a:solidFill>
                <a:latin typeface="Tahoma" panose="020B0604030504040204"/>
                <a:ea typeface="Tahoma" panose="020B0604030504040204"/>
                <a:cs typeface="Tahoma" panose="020B0604030504040204"/>
                <a:sym typeface="Tahoma" panose="020B0604030504040204"/>
              </a:rPr>
              <a:t>Software Project Management</a:t>
            </a:r>
            <a:endParaRPr sz="3600" b="1"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ctr" rtl="0">
              <a:lnSpc>
                <a:spcPct val="70000"/>
              </a:lnSpc>
              <a:spcBef>
                <a:spcPts val="1200"/>
              </a:spcBef>
              <a:spcAft>
                <a:spcPts val="0"/>
              </a:spcAft>
              <a:buClr>
                <a:schemeClr val="dk1"/>
              </a:buClr>
              <a:buSzPts val="2400"/>
              <a:buFont typeface="Tahoma" panose="020B0604030504040204"/>
              <a:buNone/>
            </a:pPr>
            <a:r>
              <a:rPr lang="en-US" sz="2400" b="1" i="0" u="none" strike="noStrike" cap="none">
                <a:solidFill>
                  <a:schemeClr val="dk1"/>
                </a:solidFill>
                <a:latin typeface="Tahoma" panose="020B0604030504040204"/>
                <a:ea typeface="Tahoma" panose="020B0604030504040204"/>
                <a:cs typeface="Tahoma" panose="020B0604030504040204"/>
                <a:sym typeface="Tahoma" panose="020B0604030504040204"/>
              </a:rPr>
              <a:t>6</a:t>
            </a:r>
            <a:r>
              <a:rPr lang="en-US" sz="2400" b="1" i="0" u="none" strike="noStrike" cap="none" baseline="30000">
                <a:solidFill>
                  <a:schemeClr val="dk1"/>
                </a:solidFill>
                <a:latin typeface="Tahoma" panose="020B0604030504040204"/>
                <a:ea typeface="Tahoma" panose="020B0604030504040204"/>
                <a:cs typeface="Tahoma" panose="020B0604030504040204"/>
                <a:sym typeface="Tahoma" panose="020B0604030504040204"/>
              </a:rPr>
              <a:t>th</a:t>
            </a:r>
            <a:r>
              <a:rPr lang="en-US" sz="2400" b="1" i="0" u="none" strike="noStrike" cap="none">
                <a:solidFill>
                  <a:schemeClr val="dk1"/>
                </a:solidFill>
                <a:latin typeface="Tahoma" panose="020B0604030504040204"/>
                <a:ea typeface="Tahoma" panose="020B0604030504040204"/>
                <a:cs typeface="Tahoma" panose="020B0604030504040204"/>
                <a:sym typeface="Tahoma" panose="020B0604030504040204"/>
              </a:rPr>
              <a:t> Edition</a:t>
            </a:r>
            <a:endParaRPr sz="2400" b="1"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1"/>
          <p:cNvSpPr/>
          <p:nvPr/>
        </p:nvSpPr>
        <p:spPr>
          <a:xfrm>
            <a:off x="7275513" y="4941888"/>
            <a:ext cx="2890837" cy="704215"/>
          </a:xfrm>
          <a:prstGeom prst="rect">
            <a:avLst/>
          </a:prstGeom>
          <a:noFill/>
          <a:ln>
            <a:noFill/>
          </a:ln>
        </p:spPr>
        <p:txBody>
          <a:bodyPr spcFirstLastPara="1" wrap="square" lIns="90475" tIns="44450" rIns="90475" bIns="44450" anchor="t" anchorCtr="0">
            <a:spAutoFit/>
          </a:bodyPr>
          <a:lstStyle/>
          <a:p>
            <a:pPr marL="0" marR="0" lvl="0" indent="0" algn="r" rtl="0">
              <a:spcBef>
                <a:spcPts val="0"/>
              </a:spcBef>
              <a:spcAft>
                <a:spcPts val="0"/>
              </a:spcAft>
              <a:buClr>
                <a:schemeClr val="dk1"/>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Project Management Institute</a:t>
            </a:r>
            <a:endParaRPr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48" name="Google Shape;148;p1"/>
          <p:cNvSpPr/>
          <p:nvPr/>
        </p:nvSpPr>
        <p:spPr>
          <a:xfrm>
            <a:off x="2495550" y="6092825"/>
            <a:ext cx="3548063" cy="98425"/>
          </a:xfrm>
          <a:prstGeom prst="rect">
            <a:avLst/>
          </a:prstGeom>
          <a:solidFill>
            <a:srgbClr val="000000"/>
          </a:solidFill>
          <a:ln w="127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Tahoma" panose="020B060403050404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49" name="Google Shape;149;p1"/>
          <p:cNvPicPr preferRelativeResize="0"/>
          <p:nvPr/>
        </p:nvPicPr>
        <p:blipFill rotWithShape="1">
          <a:blip r:embed="rId1"/>
          <a:srcRect l="11128" r="9669"/>
          <a:stretch>
            <a:fillRect/>
          </a:stretch>
        </p:blipFill>
        <p:spPr>
          <a:xfrm>
            <a:off x="2711450" y="2376488"/>
            <a:ext cx="2890838" cy="36496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PMI</a:t>
            </a:r>
            <a:endParaRPr b="1" u="sng"/>
          </a:p>
        </p:txBody>
      </p:sp>
      <p:sp>
        <p:nvSpPr>
          <p:cNvPr id="155" name="Google Shape;155;p2"/>
          <p:cNvSpPr txBox="1">
            <a:spLocks noGrp="1"/>
          </p:cNvSpPr>
          <p:nvPr>
            <p:ph type="body" idx="1"/>
          </p:nvPr>
        </p:nvSpPr>
        <p:spPr>
          <a:xfrm>
            <a:off x="2209800" y="1629410"/>
            <a:ext cx="7772400" cy="4114800"/>
          </a:xfrm>
          <a:prstGeom prst="rect">
            <a:avLst/>
          </a:prstGeom>
          <a:noFill/>
          <a:ln>
            <a:noFill/>
          </a:ln>
        </p:spPr>
        <p:txBody>
          <a:bodyPr spcFirstLastPara="1" wrap="square" lIns="91425" tIns="45700" rIns="91425" bIns="45700" anchor="t" anchorCtr="0">
            <a:normAutofit fontScale="67500" lnSpcReduction="20000"/>
          </a:bodyPr>
          <a:lstStyle/>
          <a:p>
            <a:pPr marL="342900" lvl="0" indent="-342900" algn="just" rtl="0">
              <a:spcBef>
                <a:spcPts val="0"/>
              </a:spcBef>
              <a:spcAft>
                <a:spcPts val="0"/>
              </a:spcAft>
              <a:buClr>
                <a:schemeClr val="dk1"/>
              </a:buClr>
              <a:buSzPct val="100000"/>
              <a:buFont typeface="Tahoma" panose="020B0604030504040204"/>
              <a:buChar char="•"/>
            </a:pPr>
            <a:r>
              <a:rPr lang="en-US"/>
              <a:t>PMI stands for the Project Management Institute, and is a not-for-profit professional membership association for project managers and program managers.</a:t>
            </a:r>
            <a:endParaRPr lang="en-US"/>
          </a:p>
          <a:p>
            <a:pPr marL="342900" lvl="0" indent="-342900" algn="just" rtl="0">
              <a:spcBef>
                <a:spcPts val="430"/>
              </a:spcBef>
              <a:spcAft>
                <a:spcPts val="0"/>
              </a:spcAft>
              <a:buClr>
                <a:schemeClr val="dk1"/>
              </a:buClr>
              <a:buSzPct val="100000"/>
              <a:buFont typeface="Tahoma" panose="020B0604030504040204"/>
              <a:buChar char="•"/>
            </a:pPr>
            <a:r>
              <a:rPr lang="en-US"/>
              <a:t>PMI was started in 1969, and now has a membership of more than 2.9 million professionals around the globe.</a:t>
            </a:r>
            <a:endParaRPr lang="en-US"/>
          </a:p>
          <a:p>
            <a:pPr marL="342900" lvl="0" indent="-342900" algn="just" rtl="0">
              <a:spcBef>
                <a:spcPts val="430"/>
              </a:spcBef>
              <a:spcAft>
                <a:spcPts val="0"/>
              </a:spcAft>
              <a:buClr>
                <a:schemeClr val="dk1"/>
              </a:buClr>
              <a:buSzPct val="100000"/>
              <a:buFont typeface="Tahoma" panose="020B0604030504040204"/>
              <a:buChar char="•"/>
            </a:pPr>
            <a:r>
              <a:rPr lang="en-US"/>
              <a:t>The Project Management Institute is the organization that gives out the PMP (Project Management Professional) credential, a globally recognized certificate that assures employers that a person is trained and qualified to manage projects.</a:t>
            </a:r>
            <a:endParaRPr lang="en-US"/>
          </a:p>
          <a:p>
            <a:pPr marL="342900" lvl="0" indent="-342900" algn="just" rtl="0">
              <a:spcBef>
                <a:spcPts val="430"/>
              </a:spcBef>
              <a:spcAft>
                <a:spcPts val="0"/>
              </a:spcAft>
              <a:buClr>
                <a:schemeClr val="dk1"/>
              </a:buClr>
              <a:buSzPct val="100000"/>
              <a:buFont typeface="Tahoma" panose="020B0604030504040204"/>
              <a:buChar char="•"/>
            </a:pPr>
            <a:r>
              <a:rPr lang="en-US"/>
              <a:t>PMI is also the organization that oversees the documentation of the Project Management Body of Knowledge (PMBOK) within the PMBOK Guide.</a:t>
            </a:r>
            <a:endParaRPr lang="en-US"/>
          </a:p>
          <a:p>
            <a:pPr marL="342900" lvl="0" indent="-205740" algn="just" rtl="0">
              <a:spcBef>
                <a:spcPts val="430"/>
              </a:spcBef>
              <a:spcAft>
                <a:spcPts val="0"/>
              </a:spcAft>
              <a:buClr>
                <a:schemeClr val="dk1"/>
              </a:buClr>
              <a:buSzPct val="100000"/>
              <a:buFont typeface="Tahoma" panose="020B0604030504040204"/>
              <a:buNone/>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a:t>
            </a:r>
            <a:endParaRPr b="1" u="sng"/>
          </a:p>
        </p:txBody>
      </p:sp>
      <p:sp>
        <p:nvSpPr>
          <p:cNvPr id="162" name="Google Shape;162;p3"/>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just" rtl="0">
              <a:spcBef>
                <a:spcPts val="0"/>
              </a:spcBef>
              <a:spcAft>
                <a:spcPts val="0"/>
              </a:spcAft>
              <a:buClr>
                <a:schemeClr val="dk1"/>
              </a:buClr>
              <a:buSzPct val="100000"/>
              <a:buFont typeface="Tahoma" panose="020B0604030504040204"/>
              <a:buChar char="•"/>
            </a:pPr>
            <a:r>
              <a:rPr lang="en-US"/>
              <a:t>PMBOK stands for </a:t>
            </a:r>
            <a:r>
              <a:rPr lang="en-US" b="1"/>
              <a:t>Project Management Body of Knowledge</a:t>
            </a:r>
            <a:r>
              <a:rPr lang="en-US"/>
              <a:t> .</a:t>
            </a:r>
            <a:endParaRPr lang="en-US"/>
          </a:p>
          <a:p>
            <a:pPr marL="342900" lvl="0" indent="-342900" algn="just" rtl="0">
              <a:spcBef>
                <a:spcPts val="450"/>
              </a:spcBef>
              <a:spcAft>
                <a:spcPts val="0"/>
              </a:spcAft>
              <a:buClr>
                <a:schemeClr val="dk1"/>
              </a:buClr>
              <a:buSzPct val="100000"/>
              <a:buFont typeface="Tahoma" panose="020B0604030504040204"/>
              <a:buChar char="•"/>
            </a:pPr>
            <a:r>
              <a:rPr lang="en-US"/>
              <a:t>It is the entire collection of processes, best practices, terminologies, and guidelines that are accepted as standards within the project management industry.</a:t>
            </a:r>
            <a:endParaRPr lang="en-US"/>
          </a:p>
          <a:p>
            <a:pPr marL="342900" lvl="0" indent="-342900" algn="just" rtl="0">
              <a:spcBef>
                <a:spcPts val="450"/>
              </a:spcBef>
              <a:spcAft>
                <a:spcPts val="0"/>
              </a:spcAft>
              <a:buClr>
                <a:schemeClr val="dk1"/>
              </a:buClr>
              <a:buSzPct val="100000"/>
              <a:buFont typeface="Tahoma" panose="020B0604030504040204"/>
              <a:buChar char="•"/>
            </a:pPr>
            <a:r>
              <a:rPr lang="en-US"/>
              <a:t>Because the body of knowledge is constantly growing as practitioners discover new methods or best practices, it must be updated and disseminated. </a:t>
            </a:r>
            <a:endParaRPr lang="en-US"/>
          </a:p>
          <a:p>
            <a:pPr marL="342900" lvl="0" indent="-342900" algn="just" rtl="0">
              <a:spcBef>
                <a:spcPts val="450"/>
              </a:spcBef>
              <a:spcAft>
                <a:spcPts val="0"/>
              </a:spcAft>
              <a:buClr>
                <a:schemeClr val="dk1"/>
              </a:buClr>
              <a:buSzPct val="100000"/>
              <a:buFont typeface="Tahoma" panose="020B0604030504040204"/>
              <a:buChar char="•"/>
            </a:pPr>
            <a:r>
              <a:rPr lang="en-US"/>
              <a:t>This is an effort that is overseen by the Project Management Institute (PMI), the global not-for-profit member association of PM professionals which captures and publishes the PMBOK within the book, </a:t>
            </a:r>
            <a:r>
              <a:rPr lang="en-US" i="1"/>
              <a:t>A Guide to the Project Management Body of Knowledge (PMBOK Guide)</a:t>
            </a:r>
            <a:r>
              <a:rPr lang="en-US"/>
              <a:t>.</a:t>
            </a:r>
            <a:endParaRPr lang="en-US"/>
          </a:p>
          <a:p>
            <a:pPr marL="342900" lvl="0" indent="-342900" algn="just" rtl="0">
              <a:spcBef>
                <a:spcPts val="450"/>
              </a:spcBef>
              <a:spcAft>
                <a:spcPts val="0"/>
              </a:spcAft>
              <a:buClr>
                <a:schemeClr val="dk1"/>
              </a:buClr>
              <a:buSzPct val="100000"/>
              <a:buFont typeface="Tahoma" panose="020B0604030504040204"/>
              <a:buChar char="•"/>
            </a:pPr>
            <a:r>
              <a:rPr lang="en-US"/>
              <a:t>The first edition of the PMBOK Guide was published in 1996. It is now on its sixth edition, which was published in 2017.</a:t>
            </a:r>
            <a:endParaRPr lang="en-US"/>
          </a:p>
          <a:p>
            <a:pPr marL="342900" lvl="0" indent="-200660" algn="just" rtl="0">
              <a:spcBef>
                <a:spcPts val="450"/>
              </a:spcBef>
              <a:spcAft>
                <a:spcPts val="0"/>
              </a:spcAft>
              <a:buClr>
                <a:schemeClr val="dk1"/>
              </a:buClr>
              <a:buSzPct val="100000"/>
              <a:buFont typeface="Tahoma" panose="020B0604030504040204"/>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4"/>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b="1" u="sng"/>
          </a:p>
        </p:txBody>
      </p:sp>
      <p:pic>
        <p:nvPicPr>
          <p:cNvPr id="169" name="Google Shape;169;p4" descr="what-is-pmbok-pmti-five-process-groups-project-management-certification-louisville-ky-1048x436.jpg"/>
          <p:cNvPicPr preferRelativeResize="0">
            <a:picLocks noGrp="1"/>
          </p:cNvPicPr>
          <p:nvPr>
            <p:ph type="body" idx="1"/>
          </p:nvPr>
        </p:nvPicPr>
        <p:blipFill rotWithShape="1">
          <a:blip r:embed="rId1"/>
          <a:srcRect t="12837"/>
          <a:stretch>
            <a:fillRect/>
          </a:stretch>
        </p:blipFill>
        <p:spPr>
          <a:xfrm>
            <a:off x="1828800" y="1905000"/>
            <a:ext cx="8229600" cy="342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5"/>
          <p:cNvSpPr txBox="1">
            <a:spLocks noGrp="1"/>
          </p:cNvSpPr>
          <p:nvPr>
            <p:ph type="title"/>
          </p:nvPr>
        </p:nvSpPr>
        <p:spPr>
          <a:xfrm>
            <a:off x="2209800" y="3327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175" name="Google Shape;175;p5"/>
          <p:cNvSpPr txBox="1">
            <a:spLocks noGrp="1"/>
          </p:cNvSpPr>
          <p:nvPr>
            <p:ph type="body" idx="1"/>
          </p:nvPr>
        </p:nvSpPr>
        <p:spPr>
          <a:xfrm>
            <a:off x="2279650" y="1557020"/>
            <a:ext cx="7772400" cy="4114800"/>
          </a:xfrm>
          <a:prstGeom prst="rect">
            <a:avLst/>
          </a:prstGeom>
          <a:noFill/>
          <a:ln>
            <a:noFill/>
          </a:ln>
        </p:spPr>
        <p:txBody>
          <a:bodyPr spcFirstLastPara="1" wrap="square" lIns="91425" tIns="45700" rIns="91425" bIns="45700" anchor="t" anchorCtr="0">
            <a:normAutofit fontScale="90000"/>
          </a:bodyPr>
          <a:lstStyle/>
          <a:p>
            <a:pPr marL="342900" lvl="0" indent="-342900" algn="just" rtl="0">
              <a:spcBef>
                <a:spcPts val="0"/>
              </a:spcBef>
              <a:spcAft>
                <a:spcPts val="0"/>
              </a:spcAft>
              <a:buClr>
                <a:schemeClr val="dk1"/>
              </a:buClr>
              <a:buSzPct val="100000"/>
              <a:buFont typeface="Tahoma" panose="020B0604030504040204"/>
              <a:buChar char="•"/>
            </a:pPr>
            <a:r>
              <a:rPr lang="en-US"/>
              <a:t>The </a:t>
            </a:r>
            <a:r>
              <a:rPr lang="en-US" b="1" i="1"/>
              <a:t>initiating process group </a:t>
            </a:r>
            <a:r>
              <a:rPr lang="en-US"/>
              <a:t>consists of processes necessary to define a new project or a new phase of an existing project </a:t>
            </a:r>
            <a:endParaRPr lang="en-US"/>
          </a:p>
          <a:p>
            <a:pPr marL="742950" lvl="1" indent="-285750" algn="just" rtl="0">
              <a:spcBef>
                <a:spcPts val="505"/>
              </a:spcBef>
              <a:spcAft>
                <a:spcPts val="0"/>
              </a:spcAft>
              <a:buClr>
                <a:schemeClr val="dk1"/>
              </a:buClr>
              <a:buSzPct val="100000"/>
              <a:buFont typeface="Tahoma" panose="020B0604030504040204"/>
              <a:buChar char="–"/>
            </a:pPr>
            <a:r>
              <a:rPr lang="en-US"/>
              <a:t>Involves obtaining authorization for the project or project phase</a:t>
            </a:r>
            <a:endParaRPr lang="en-US"/>
          </a:p>
          <a:p>
            <a:pPr marL="742950" lvl="1" indent="-285750" algn="just" rtl="0">
              <a:spcBef>
                <a:spcPts val="505"/>
              </a:spcBef>
              <a:spcAft>
                <a:spcPts val="0"/>
              </a:spcAft>
              <a:buClr>
                <a:schemeClr val="dk1"/>
              </a:buClr>
              <a:buSzPct val="100000"/>
              <a:buFont typeface="Tahoma" panose="020B0604030504040204"/>
              <a:buChar char="–"/>
            </a:pPr>
            <a:r>
              <a:rPr lang="en-US"/>
              <a:t>Defines objectives, outcomes, and success criteria</a:t>
            </a:r>
            <a:endParaRPr lang="en-US"/>
          </a:p>
          <a:p>
            <a:pPr marL="742950" lvl="1" indent="-285750" algn="just" rtl="0">
              <a:spcBef>
                <a:spcPts val="505"/>
              </a:spcBef>
              <a:spcAft>
                <a:spcPts val="0"/>
              </a:spcAft>
              <a:buClr>
                <a:schemeClr val="dk1"/>
              </a:buClr>
              <a:buSzPct val="100000"/>
              <a:buFont typeface="Tahoma" panose="020B0604030504040204"/>
              <a:buChar char="–"/>
            </a:pPr>
            <a:r>
              <a:rPr lang="en-US"/>
              <a:t>Assigns a Project Manager (usually)</a:t>
            </a:r>
            <a:endParaRPr lang="en-US"/>
          </a:p>
          <a:p>
            <a:pPr marL="742950" lvl="1" indent="-285750" algn="just" rtl="0">
              <a:spcBef>
                <a:spcPts val="505"/>
              </a:spcBef>
              <a:spcAft>
                <a:spcPts val="0"/>
              </a:spcAft>
              <a:buClr>
                <a:schemeClr val="dk1"/>
              </a:buClr>
              <a:buSzPct val="100000"/>
              <a:buFont typeface="Tahoma" panose="020B0604030504040204"/>
              <a:buChar char="–"/>
            </a:pPr>
            <a:r>
              <a:rPr lang="en-US"/>
              <a:t>Allocates funds and resources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181" name="Google Shape;181;p6"/>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1" indent="-342900" algn="l" rtl="0">
              <a:spcBef>
                <a:spcPts val="0"/>
              </a:spcBef>
              <a:spcAft>
                <a:spcPts val="0"/>
              </a:spcAft>
              <a:buClr>
                <a:schemeClr val="dk1"/>
              </a:buClr>
              <a:buSzPts val="2800"/>
              <a:buFont typeface="Arial" panose="020B0604020202020204"/>
              <a:buChar char="•"/>
            </a:pPr>
            <a:r>
              <a:rPr lang="en-US"/>
              <a:t>There are several key outputs that are produced as part of the initiation process group. These are the:</a:t>
            </a:r>
            <a:endParaRPr lang="en-US"/>
          </a:p>
          <a:p>
            <a:pPr marL="742950" lvl="2" indent="-342900" algn="l" rtl="0">
              <a:spcBef>
                <a:spcPts val="480"/>
              </a:spcBef>
              <a:spcAft>
                <a:spcPts val="0"/>
              </a:spcAft>
              <a:buClr>
                <a:schemeClr val="dk1"/>
              </a:buClr>
              <a:buSzPts val="2400"/>
              <a:buFont typeface="Tahoma" panose="020B0604030504040204"/>
              <a:buChar char="•"/>
            </a:pPr>
            <a:r>
              <a:rPr lang="en-US"/>
              <a:t>Project Charter </a:t>
            </a:r>
            <a:endParaRPr lang="en-US"/>
          </a:p>
          <a:p>
            <a:pPr marL="742950" lvl="2" indent="-342900" algn="l" rtl="0">
              <a:spcBef>
                <a:spcPts val="480"/>
              </a:spcBef>
              <a:spcAft>
                <a:spcPts val="0"/>
              </a:spcAft>
              <a:buClr>
                <a:schemeClr val="dk1"/>
              </a:buClr>
              <a:buSzPts val="2400"/>
              <a:buFont typeface="Tahoma" panose="020B0604030504040204"/>
              <a:buChar char="•"/>
            </a:pPr>
            <a:r>
              <a:rPr lang="en-US"/>
              <a:t>Feasibility Study </a:t>
            </a:r>
            <a:endParaRPr lang="en-US"/>
          </a:p>
          <a:p>
            <a:pPr marL="742950" lvl="2" indent="-342900" algn="l" rtl="0">
              <a:spcBef>
                <a:spcPts val="480"/>
              </a:spcBef>
              <a:spcAft>
                <a:spcPts val="0"/>
              </a:spcAft>
              <a:buClr>
                <a:schemeClr val="dk1"/>
              </a:buClr>
              <a:buSzPts val="2400"/>
              <a:buFont typeface="Tahoma" panose="020B0604030504040204"/>
              <a:buChar char="•"/>
            </a:pPr>
            <a:r>
              <a:rPr lang="en-US"/>
              <a:t>Stakeholder-related documents (stakeholder list, stakeholder management plan).</a:t>
            </a:r>
            <a:endParaRPr lang="en-US"/>
          </a:p>
          <a:p>
            <a:pPr marL="342900" lvl="0" indent="-139700" algn="l" rtl="0">
              <a:spcBef>
                <a:spcPts val="640"/>
              </a:spcBef>
              <a:spcAft>
                <a:spcPts val="0"/>
              </a:spcAft>
              <a:buClr>
                <a:schemeClr val="dk1"/>
              </a:buClr>
              <a:buSzPts val="3200"/>
              <a:buFont typeface="Tahoma" panose="020B0604030504040204"/>
              <a:buNone/>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2209800" y="260985"/>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187" name="Google Shape;187;p7"/>
          <p:cNvSpPr txBox="1">
            <a:spLocks noGrp="1"/>
          </p:cNvSpPr>
          <p:nvPr>
            <p:ph type="body" idx="1"/>
          </p:nvPr>
        </p:nvSpPr>
        <p:spPr>
          <a:xfrm>
            <a:off x="2279650" y="1557020"/>
            <a:ext cx="7772400" cy="4114800"/>
          </a:xfrm>
          <a:prstGeom prst="rect">
            <a:avLst/>
          </a:prstGeom>
          <a:noFill/>
          <a:ln>
            <a:noFill/>
          </a:ln>
        </p:spPr>
        <p:txBody>
          <a:bodyPr spcFirstLastPara="1" wrap="square" lIns="91425" tIns="45700" rIns="91425" bIns="45700" anchor="t" anchorCtr="0">
            <a:normAutofit fontScale="90000"/>
          </a:bodyPr>
          <a:lstStyle/>
          <a:p>
            <a:pPr marL="342900" lvl="0" indent="-342900" algn="just" rtl="0">
              <a:spcBef>
                <a:spcPts val="0"/>
              </a:spcBef>
              <a:spcAft>
                <a:spcPts val="0"/>
              </a:spcAft>
              <a:buClr>
                <a:schemeClr val="dk1"/>
              </a:buClr>
              <a:buSzPct val="100000"/>
              <a:buFont typeface="Tahoma" panose="020B0604030504040204"/>
              <a:buChar char="•"/>
            </a:pPr>
            <a:r>
              <a:rPr lang="en-US"/>
              <a:t>The </a:t>
            </a:r>
            <a:r>
              <a:rPr lang="en-US" b="1" i="1"/>
              <a:t>planning process group</a:t>
            </a:r>
            <a:r>
              <a:rPr lang="en-US"/>
              <a:t> involves</a:t>
            </a:r>
            <a:endParaRPr lang="en-US"/>
          </a:p>
          <a:p>
            <a:pPr marL="742950" lvl="1" indent="-285750" algn="just" rtl="0">
              <a:spcBef>
                <a:spcPts val="505"/>
              </a:spcBef>
              <a:spcAft>
                <a:spcPts val="0"/>
              </a:spcAft>
              <a:buClr>
                <a:schemeClr val="dk1"/>
              </a:buClr>
              <a:buSzPct val="100000"/>
              <a:buFont typeface="Tahoma" panose="020B0604030504040204"/>
              <a:buChar char="–"/>
            </a:pPr>
            <a:r>
              <a:rPr lang="en-US"/>
              <a:t>Defining the scope of the project</a:t>
            </a:r>
            <a:endParaRPr lang="en-US"/>
          </a:p>
          <a:p>
            <a:pPr marL="742950" lvl="1" indent="-285750" algn="just" rtl="0">
              <a:spcBef>
                <a:spcPts val="505"/>
              </a:spcBef>
              <a:spcAft>
                <a:spcPts val="0"/>
              </a:spcAft>
              <a:buClr>
                <a:schemeClr val="dk1"/>
              </a:buClr>
              <a:buSzPct val="100000"/>
              <a:buFont typeface="Tahoma" panose="020B0604030504040204"/>
              <a:buChar char="–"/>
            </a:pPr>
            <a:r>
              <a:rPr lang="en-US"/>
              <a:t>Designing the course of action required to achieve the project’s objectives</a:t>
            </a:r>
            <a:endParaRPr lang="en-US"/>
          </a:p>
          <a:p>
            <a:pPr marL="742950" lvl="1" indent="-285750" algn="just" rtl="0">
              <a:spcBef>
                <a:spcPts val="505"/>
              </a:spcBef>
              <a:spcAft>
                <a:spcPts val="0"/>
              </a:spcAft>
              <a:buClr>
                <a:schemeClr val="dk1"/>
              </a:buClr>
              <a:buSzPct val="100000"/>
              <a:buFont typeface="Tahoma" panose="020B0604030504040204"/>
              <a:buChar char="–"/>
            </a:pPr>
            <a:r>
              <a:rPr lang="en-US"/>
              <a:t>Defining the products to be produced and work required</a:t>
            </a:r>
            <a:endParaRPr lang="en-US"/>
          </a:p>
          <a:p>
            <a:pPr marL="742950" lvl="1" indent="-285750" algn="just" rtl="0">
              <a:spcBef>
                <a:spcPts val="505"/>
              </a:spcBef>
              <a:spcAft>
                <a:spcPts val="0"/>
              </a:spcAft>
              <a:buClr>
                <a:schemeClr val="dk1"/>
              </a:buClr>
              <a:buSzPct val="100000"/>
              <a:buFont typeface="Tahoma" panose="020B0604030504040204"/>
              <a:buChar char="–"/>
            </a:pPr>
            <a:r>
              <a:rPr lang="en-US"/>
              <a:t>Sequencing work and creating a schedule</a:t>
            </a:r>
            <a:endParaRPr lang="en-US"/>
          </a:p>
          <a:p>
            <a:pPr marL="742950" lvl="1" indent="-285750" algn="just" rtl="0">
              <a:spcBef>
                <a:spcPts val="505"/>
              </a:spcBef>
              <a:spcAft>
                <a:spcPts val="0"/>
              </a:spcAft>
              <a:buClr>
                <a:schemeClr val="dk1"/>
              </a:buClr>
              <a:buSzPct val="100000"/>
              <a:buFont typeface="Tahoma" panose="020B0604030504040204"/>
              <a:buChar char="–"/>
            </a:pPr>
            <a:r>
              <a:rPr lang="en-US"/>
              <a:t>Estimating the resource and effort requirements</a:t>
            </a:r>
            <a:endParaRPr lang="en-US"/>
          </a:p>
          <a:p>
            <a:pPr marL="742950" lvl="1" indent="-285750" algn="just" rtl="0">
              <a:spcBef>
                <a:spcPts val="505"/>
              </a:spcBef>
              <a:spcAft>
                <a:spcPts val="0"/>
              </a:spcAft>
              <a:buClr>
                <a:schemeClr val="dk1"/>
              </a:buClr>
              <a:buSzPct val="100000"/>
              <a:buFont typeface="Tahoma" panose="020B0604030504040204"/>
              <a:buChar char="–"/>
            </a:pPr>
            <a:r>
              <a:rPr lang="en-US"/>
              <a:t>Estimating costs and creating a budget</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193" name="Google Shape;193;p8"/>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The key outputs of the planning process group are the</a:t>
            </a:r>
            <a:endParaRPr lang="en-US"/>
          </a:p>
          <a:p>
            <a:pPr marL="742950" lvl="1" indent="-285750" algn="l" rtl="0">
              <a:spcBef>
                <a:spcPts val="560"/>
              </a:spcBef>
              <a:spcAft>
                <a:spcPts val="0"/>
              </a:spcAft>
              <a:buClr>
                <a:schemeClr val="dk1"/>
              </a:buClr>
              <a:buSzPts val="2800"/>
              <a:buFont typeface="Tahoma" panose="020B0604030504040204"/>
              <a:buChar char="–"/>
            </a:pPr>
            <a:r>
              <a:rPr lang="en-US"/>
              <a:t>Project Management Plan</a:t>
            </a:r>
            <a:endParaRPr lang="en-US"/>
          </a:p>
          <a:p>
            <a:pPr marL="1143000" lvl="2" indent="-228600" algn="l" rtl="0">
              <a:spcBef>
                <a:spcPts val="480"/>
              </a:spcBef>
              <a:spcAft>
                <a:spcPts val="0"/>
              </a:spcAft>
              <a:buClr>
                <a:schemeClr val="dk1"/>
              </a:buClr>
              <a:buSzPts val="2400"/>
              <a:buFont typeface="Tahoma" panose="020B0604030504040204"/>
              <a:buChar char="•"/>
            </a:pPr>
            <a:r>
              <a:rPr lang="en-US"/>
              <a:t>Work Breakdown Strzcsucture (WBS) </a:t>
            </a:r>
            <a:endParaRPr lang="en-US"/>
          </a:p>
          <a:p>
            <a:pPr marL="1143000" lvl="2" indent="-228600" algn="l" rtl="0">
              <a:spcBef>
                <a:spcPts val="480"/>
              </a:spcBef>
              <a:spcAft>
                <a:spcPts val="0"/>
              </a:spcAft>
              <a:buClr>
                <a:schemeClr val="dk1"/>
              </a:buClr>
              <a:buSzPts val="2400"/>
              <a:buFont typeface="Tahoma" panose="020B0604030504040204"/>
              <a:buChar char="•"/>
            </a:pPr>
            <a:r>
              <a:rPr lang="en-US"/>
              <a:t>Schedule </a:t>
            </a:r>
            <a:endParaRPr lang="en-US"/>
          </a:p>
          <a:p>
            <a:pPr marL="1143000" lvl="2" indent="-228600" algn="l" rtl="0">
              <a:spcBef>
                <a:spcPts val="480"/>
              </a:spcBef>
              <a:spcAft>
                <a:spcPts val="0"/>
              </a:spcAft>
              <a:buClr>
                <a:schemeClr val="dk1"/>
              </a:buClr>
              <a:buSzPts val="2400"/>
              <a:buFont typeface="Tahoma" panose="020B0604030504040204"/>
              <a:buChar char="•"/>
            </a:pPr>
            <a:r>
              <a:rPr lang="en-US"/>
              <a:t>Budget </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9"/>
          <p:cNvSpPr txBox="1">
            <a:spLocks noGrp="1"/>
          </p:cNvSpPr>
          <p:nvPr>
            <p:ph type="title"/>
          </p:nvPr>
        </p:nvSpPr>
        <p:spPr>
          <a:xfrm>
            <a:off x="2207895" y="476885"/>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199" name="Google Shape;199;p9"/>
          <p:cNvSpPr txBox="1">
            <a:spLocks noGrp="1"/>
          </p:cNvSpPr>
          <p:nvPr>
            <p:ph type="body" idx="1"/>
          </p:nvPr>
        </p:nvSpPr>
        <p:spPr>
          <a:xfrm>
            <a:off x="2207895" y="162941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The </a:t>
            </a:r>
            <a:r>
              <a:rPr lang="en-US" b="1" i="1"/>
              <a:t>executing process group</a:t>
            </a:r>
            <a:r>
              <a:rPr lang="en-US"/>
              <a:t> involves:</a:t>
            </a:r>
            <a:endParaRPr lang="en-US"/>
          </a:p>
          <a:p>
            <a:pPr marL="742950" lvl="1" indent="-285750" algn="l" rtl="0">
              <a:spcBef>
                <a:spcPts val="560"/>
              </a:spcBef>
              <a:spcAft>
                <a:spcPts val="0"/>
              </a:spcAft>
              <a:buClr>
                <a:schemeClr val="dk1"/>
              </a:buClr>
              <a:buSzPts val="2800"/>
              <a:buFont typeface="Tahoma" panose="020B0604030504040204"/>
              <a:buChar char="–"/>
            </a:pPr>
            <a:r>
              <a:rPr lang="en-US"/>
              <a:t>Establishing and managing the project team</a:t>
            </a:r>
            <a:endParaRPr lang="en-US"/>
          </a:p>
          <a:p>
            <a:pPr marL="742950" lvl="1" indent="-285750" algn="l" rtl="0">
              <a:spcBef>
                <a:spcPts val="560"/>
              </a:spcBef>
              <a:spcAft>
                <a:spcPts val="0"/>
              </a:spcAft>
              <a:buClr>
                <a:schemeClr val="dk1"/>
              </a:buClr>
              <a:buSzPts val="2800"/>
              <a:buFont typeface="Tahoma" panose="020B0604030504040204"/>
              <a:buChar char="–"/>
            </a:pPr>
            <a:r>
              <a:rPr lang="en-US"/>
              <a:t>Coordinating people and resources</a:t>
            </a:r>
            <a:endParaRPr lang="en-US"/>
          </a:p>
          <a:p>
            <a:pPr marL="742950" lvl="1" indent="-285750" algn="l" rtl="0">
              <a:spcBef>
                <a:spcPts val="560"/>
              </a:spcBef>
              <a:spcAft>
                <a:spcPts val="0"/>
              </a:spcAft>
              <a:buClr>
                <a:schemeClr val="dk1"/>
              </a:buClr>
              <a:buSzPts val="2800"/>
              <a:buFont typeface="Tahoma" panose="020B0604030504040204"/>
              <a:buChar char="–"/>
            </a:pPr>
            <a:r>
              <a:rPr lang="en-US"/>
              <a:t>Monitoring team performance</a:t>
            </a:r>
            <a:endParaRPr lang="en-US"/>
          </a:p>
          <a:p>
            <a:pPr marL="742950" lvl="1" indent="-285750" algn="l" rtl="0">
              <a:spcBef>
                <a:spcPts val="560"/>
              </a:spcBef>
              <a:spcAft>
                <a:spcPts val="0"/>
              </a:spcAft>
              <a:buClr>
                <a:schemeClr val="dk1"/>
              </a:buClr>
              <a:buSzPts val="2800"/>
              <a:buFont typeface="Tahoma" panose="020B0604030504040204"/>
              <a:buChar char="–"/>
            </a:pPr>
            <a:r>
              <a:rPr lang="en-US"/>
              <a:t>Contracting procurements</a:t>
            </a:r>
            <a:endParaRPr lang="en-US"/>
          </a:p>
          <a:p>
            <a:pPr marL="742950" lvl="1" indent="-285750" algn="l" rtl="0">
              <a:spcBef>
                <a:spcPts val="560"/>
              </a:spcBef>
              <a:spcAft>
                <a:spcPts val="0"/>
              </a:spcAft>
              <a:buClr>
                <a:schemeClr val="dk1"/>
              </a:buClr>
              <a:buSzPts val="2800"/>
              <a:buFont typeface="Tahoma" panose="020B0604030504040204"/>
              <a:buChar char="–"/>
            </a:pPr>
            <a:r>
              <a:rPr lang="en-US"/>
              <a:t>Directing and managing project execution</a:t>
            </a:r>
            <a:endParaRPr lang="en-US"/>
          </a:p>
          <a:p>
            <a:pPr marL="742950" lvl="1" indent="-285750" algn="l" rtl="0">
              <a:spcBef>
                <a:spcPts val="560"/>
              </a:spcBef>
              <a:spcAft>
                <a:spcPts val="0"/>
              </a:spcAft>
              <a:buClr>
                <a:schemeClr val="dk1"/>
              </a:buClr>
              <a:buSzPts val="2800"/>
              <a:buFont typeface="Tahoma" panose="020B0604030504040204"/>
              <a:buChar char="–"/>
            </a:pPr>
            <a:r>
              <a:rPr lang="en-US"/>
              <a:t>Distributing information</a:t>
            </a:r>
            <a:endParaRPr lang="en-US"/>
          </a:p>
          <a:p>
            <a:pPr marL="742950" lvl="1" indent="-285750" algn="l" rtl="0">
              <a:spcBef>
                <a:spcPts val="560"/>
              </a:spcBef>
              <a:spcAft>
                <a:spcPts val="0"/>
              </a:spcAft>
              <a:buClr>
                <a:schemeClr val="dk1"/>
              </a:buClr>
              <a:buSzPts val="2800"/>
              <a:buFont typeface="Tahoma" panose="020B0604030504040204"/>
              <a:buChar char="–"/>
            </a:pPr>
            <a:r>
              <a:rPr lang="en-US"/>
              <a:t>Performing quality assurance activities </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0"/>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205" name="Google Shape;205;p10"/>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fontScale="87500" lnSpcReduction="20000"/>
          </a:bodyPr>
          <a:lstStyle/>
          <a:p>
            <a:pPr marL="342900" lvl="0" indent="-342900" algn="just" rtl="0">
              <a:spcBef>
                <a:spcPts val="0"/>
              </a:spcBef>
              <a:spcAft>
                <a:spcPts val="0"/>
              </a:spcAft>
              <a:buClr>
                <a:schemeClr val="dk1"/>
              </a:buClr>
              <a:buSzPct val="100000"/>
              <a:buFont typeface="Tahoma" panose="020B0604030504040204"/>
              <a:buChar char="•"/>
            </a:pPr>
            <a:r>
              <a:rPr lang="en-US"/>
              <a:t>The main outputs of this process group are:</a:t>
            </a:r>
            <a:endParaRPr lang="en-US"/>
          </a:p>
          <a:p>
            <a:pPr marL="742950" lvl="1" indent="-285750" algn="just" rtl="0">
              <a:spcBef>
                <a:spcPts val="490"/>
              </a:spcBef>
              <a:spcAft>
                <a:spcPts val="0"/>
              </a:spcAft>
              <a:buClr>
                <a:schemeClr val="dk1"/>
              </a:buClr>
              <a:buSzPct val="100000"/>
              <a:buFont typeface="Tahoma" panose="020B0604030504040204"/>
              <a:buChar char="–"/>
            </a:pPr>
            <a:r>
              <a:rPr lang="en-US"/>
              <a:t>The risk and issue management responses plus corrective and preventative actions</a:t>
            </a:r>
            <a:endParaRPr lang="en-US"/>
          </a:p>
          <a:p>
            <a:pPr marL="742950" lvl="1" indent="-285750" algn="just" rtl="0">
              <a:spcBef>
                <a:spcPts val="490"/>
              </a:spcBef>
              <a:spcAft>
                <a:spcPts val="0"/>
              </a:spcAft>
              <a:buClr>
                <a:schemeClr val="dk1"/>
              </a:buClr>
              <a:buSzPct val="100000"/>
              <a:buFont typeface="Tahoma" panose="020B0604030504040204"/>
              <a:buChar char="–"/>
            </a:pPr>
            <a:r>
              <a:rPr lang="en-US"/>
              <a:t>The deliverables themselves plus work performance information</a:t>
            </a:r>
            <a:endParaRPr lang="en-US"/>
          </a:p>
          <a:p>
            <a:pPr marL="742950" lvl="1" indent="-285750" algn="just" rtl="0">
              <a:spcBef>
                <a:spcPts val="490"/>
              </a:spcBef>
              <a:spcAft>
                <a:spcPts val="0"/>
              </a:spcAft>
              <a:buClr>
                <a:schemeClr val="dk1"/>
              </a:buClr>
              <a:buSzPct val="100000"/>
              <a:buFont typeface="Tahoma" panose="020B0604030504040204"/>
              <a:buChar char="–"/>
            </a:pPr>
            <a:r>
              <a:rPr lang="en-US"/>
              <a:t>Change requests with regards to utilization and effectiveness of the quality plan</a:t>
            </a:r>
            <a:endParaRPr lang="en-US"/>
          </a:p>
          <a:p>
            <a:pPr marL="742950" lvl="1" indent="-285750" algn="just" rtl="0">
              <a:spcBef>
                <a:spcPts val="490"/>
              </a:spcBef>
              <a:spcAft>
                <a:spcPts val="0"/>
              </a:spcAft>
              <a:buClr>
                <a:schemeClr val="dk1"/>
              </a:buClr>
              <a:buSzPct val="100000"/>
              <a:buFont typeface="Tahoma" panose="020B0604030504040204"/>
              <a:buChar char="–"/>
            </a:pPr>
            <a:r>
              <a:rPr lang="en-US"/>
              <a:t>Negotiation and influence to ensure appropriate staff are assigned</a:t>
            </a:r>
            <a:endParaRPr lang="en-US"/>
          </a:p>
          <a:p>
            <a:pPr marL="742950" lvl="1" indent="-285750" algn="just" rtl="0">
              <a:spcBef>
                <a:spcPts val="490"/>
              </a:spcBef>
              <a:spcAft>
                <a:spcPts val="0"/>
              </a:spcAft>
              <a:buClr>
                <a:schemeClr val="dk1"/>
              </a:buClr>
              <a:buSzPct val="100000"/>
              <a:buFont typeface="Tahoma" panose="020B0604030504040204"/>
              <a:buChar char="–"/>
            </a:pPr>
            <a:r>
              <a:rPr lang="en-US"/>
              <a:t>Motivation building and mentoring to ensure the team performance</a:t>
            </a:r>
            <a:endParaRPr lang="en-US"/>
          </a:p>
          <a:p>
            <a:pPr marL="742950" lvl="1" indent="-285750" algn="just" rtl="0">
              <a:spcBef>
                <a:spcPts val="490"/>
              </a:spcBef>
              <a:spcAft>
                <a:spcPts val="0"/>
              </a:spcAft>
              <a:buClr>
                <a:schemeClr val="dk1"/>
              </a:buClr>
              <a:buSzPct val="100000"/>
              <a:buFont typeface="Tahoma" panose="020B0604030504040204"/>
              <a:buChar char="–"/>
            </a:pPr>
            <a:r>
              <a:rPr lang="en-US"/>
              <a:t>Conflict resolution and problem solving</a:t>
            </a:r>
            <a:endParaRPr lang="en-US"/>
          </a:p>
          <a:p>
            <a:pPr marL="742950" lvl="1" indent="-285750" algn="just" rtl="0">
              <a:spcBef>
                <a:spcPts val="490"/>
              </a:spcBef>
              <a:spcAft>
                <a:spcPts val="0"/>
              </a:spcAft>
              <a:buClr>
                <a:schemeClr val="dk1"/>
              </a:buClr>
              <a:buSzPct val="100000"/>
              <a:buFont typeface="Tahoma" panose="020B0604030504040204"/>
              <a:buChar char="–"/>
            </a:pPr>
            <a:r>
              <a:rPr lang="en-US"/>
              <a:t>Procurements and contracts are negotiated and put in place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1"/>
          <p:cNvSpPr txBox="1">
            <a:spLocks noGrp="1"/>
          </p:cNvSpPr>
          <p:nvPr>
            <p:ph type="title"/>
          </p:nvPr>
        </p:nvSpPr>
        <p:spPr>
          <a:xfrm>
            <a:off x="2209800" y="1892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a:t>
            </a:r>
            <a:endParaRPr u="sng"/>
          </a:p>
        </p:txBody>
      </p:sp>
      <p:sp>
        <p:nvSpPr>
          <p:cNvPr id="211" name="Google Shape;211;p11"/>
          <p:cNvSpPr txBox="1">
            <a:spLocks noGrp="1"/>
          </p:cNvSpPr>
          <p:nvPr>
            <p:ph type="body" idx="1"/>
          </p:nvPr>
        </p:nvSpPr>
        <p:spPr>
          <a:xfrm>
            <a:off x="2136140" y="1341120"/>
            <a:ext cx="7772400" cy="4114800"/>
          </a:xfrm>
          <a:prstGeom prst="rect">
            <a:avLst/>
          </a:prstGeom>
          <a:noFill/>
          <a:ln>
            <a:noFill/>
          </a:ln>
        </p:spPr>
        <p:txBody>
          <a:bodyPr spcFirstLastPara="1" wrap="square" lIns="91425" tIns="45700" rIns="91425" bIns="45700" anchor="t" anchorCtr="0">
            <a:normAutofit fontScale="80000" lnSpcReduction="20000"/>
          </a:bodyPr>
          <a:lstStyle/>
          <a:p>
            <a:pPr marL="342900" lvl="0" indent="-342900" algn="just" rtl="0">
              <a:spcBef>
                <a:spcPts val="0"/>
              </a:spcBef>
              <a:spcAft>
                <a:spcPts val="0"/>
              </a:spcAft>
              <a:buClr>
                <a:schemeClr val="dk1"/>
              </a:buClr>
              <a:buSzPct val="100000"/>
              <a:buFont typeface="Tahoma" panose="020B0604030504040204"/>
              <a:buChar char="•"/>
            </a:pPr>
            <a:r>
              <a:rPr lang="en-US"/>
              <a:t>The</a:t>
            </a:r>
            <a:r>
              <a:rPr lang="en-US" b="1" i="1"/>
              <a:t> Monitoring &amp; Controlling Process Group</a:t>
            </a:r>
            <a:endParaRPr b="1" i="1"/>
          </a:p>
          <a:p>
            <a:pPr marL="742950" lvl="1" indent="-285750" algn="just" rtl="0">
              <a:spcBef>
                <a:spcPts val="405"/>
              </a:spcBef>
              <a:spcAft>
                <a:spcPts val="0"/>
              </a:spcAft>
              <a:buClr>
                <a:schemeClr val="dk1"/>
              </a:buClr>
              <a:buSzPct val="100000"/>
              <a:buFont typeface="Tahoma" panose="020B0604030504040204"/>
              <a:buChar char="–"/>
            </a:pPr>
            <a:r>
              <a:rPr lang="en-US"/>
              <a:t>Involves tracking, reviewing, and regulating project progress</a:t>
            </a:r>
            <a:endParaRPr lang="en-US"/>
          </a:p>
          <a:p>
            <a:pPr marL="742950" lvl="1" indent="-285750" algn="just" rtl="0">
              <a:spcBef>
                <a:spcPts val="405"/>
              </a:spcBef>
              <a:spcAft>
                <a:spcPts val="0"/>
              </a:spcAft>
              <a:buClr>
                <a:schemeClr val="dk1"/>
              </a:buClr>
              <a:buSzPct val="100000"/>
              <a:buFont typeface="Tahoma" panose="020B0604030504040204"/>
              <a:buChar char="–"/>
            </a:pPr>
            <a:r>
              <a:rPr lang="en-US"/>
              <a:t>Includes status reporting, progress measurement, and forecasting</a:t>
            </a:r>
            <a:endParaRPr lang="en-US"/>
          </a:p>
          <a:p>
            <a:pPr marL="742950" lvl="1" indent="-285750" algn="just" rtl="0">
              <a:spcBef>
                <a:spcPts val="405"/>
              </a:spcBef>
              <a:spcAft>
                <a:spcPts val="0"/>
              </a:spcAft>
              <a:buClr>
                <a:schemeClr val="dk1"/>
              </a:buClr>
              <a:buSzPct val="100000"/>
              <a:buFont typeface="Tahoma" panose="020B0604030504040204"/>
              <a:buChar char="–"/>
            </a:pPr>
            <a:r>
              <a:rPr lang="en-US"/>
              <a:t>Reports on scope, schedule, cost, resources, quality, and risks</a:t>
            </a:r>
            <a:endParaRPr lang="en-US"/>
          </a:p>
          <a:p>
            <a:pPr marL="742950" lvl="1" indent="-285750" algn="just" rtl="0">
              <a:spcBef>
                <a:spcPts val="405"/>
              </a:spcBef>
              <a:spcAft>
                <a:spcPts val="0"/>
              </a:spcAft>
              <a:buClr>
                <a:schemeClr val="dk1"/>
              </a:buClr>
              <a:buSzPct val="100000"/>
              <a:buFont typeface="Tahoma" panose="020B0604030504040204"/>
              <a:buChar char="–"/>
            </a:pPr>
            <a:r>
              <a:rPr lang="en-US"/>
              <a:t>Controls project and project document changes Includes control of scope, schedule, costs, and risks</a:t>
            </a:r>
            <a:endParaRPr lang="en-US"/>
          </a:p>
          <a:p>
            <a:pPr marL="742950" lvl="1" indent="-285750" algn="just" rtl="0">
              <a:spcBef>
                <a:spcPts val="405"/>
              </a:spcBef>
              <a:spcAft>
                <a:spcPts val="0"/>
              </a:spcAft>
              <a:buClr>
                <a:schemeClr val="dk1"/>
              </a:buClr>
              <a:buSzPct val="100000"/>
              <a:buFont typeface="Tahoma" panose="020B0604030504040204"/>
              <a:buChar char="–"/>
            </a:pPr>
            <a:r>
              <a:rPr lang="en-US"/>
              <a:t>Records quality control results</a:t>
            </a:r>
            <a:endParaRPr lang="en-US"/>
          </a:p>
          <a:p>
            <a:pPr marL="742950" lvl="1" indent="-285750" algn="just" rtl="0">
              <a:spcBef>
                <a:spcPts val="405"/>
              </a:spcBef>
              <a:spcAft>
                <a:spcPts val="0"/>
              </a:spcAft>
              <a:buClr>
                <a:schemeClr val="dk1"/>
              </a:buClr>
              <a:buSzPct val="100000"/>
              <a:buFont typeface="Tahoma" panose="020B0604030504040204"/>
              <a:buChar char="–"/>
            </a:pPr>
            <a:r>
              <a:rPr lang="en-US"/>
              <a:t>Implements risk treatment plans and actions</a:t>
            </a:r>
            <a:endParaRPr lang="en-US"/>
          </a:p>
          <a:p>
            <a:pPr marL="742950" lvl="1" indent="-285750" algn="just" rtl="0">
              <a:spcBef>
                <a:spcPts val="405"/>
              </a:spcBef>
              <a:spcAft>
                <a:spcPts val="0"/>
              </a:spcAft>
              <a:buClr>
                <a:schemeClr val="dk1"/>
              </a:buClr>
              <a:buSzPct val="100000"/>
              <a:buFont typeface="Tahoma" panose="020B0604030504040204"/>
              <a:buChar char="–"/>
            </a:pPr>
            <a:r>
              <a:rPr lang="en-US"/>
              <a:t>Administers procurements </a:t>
            </a:r>
            <a:endParaRPr lang="en-US"/>
          </a:p>
          <a:p>
            <a:pPr marL="342900" lvl="0" indent="-195580" algn="just" rtl="0">
              <a:spcBef>
                <a:spcPts val="465"/>
              </a:spcBef>
              <a:spcAft>
                <a:spcPts val="0"/>
              </a:spcAft>
              <a:buClr>
                <a:schemeClr val="dk1"/>
              </a:buClr>
              <a:buSzPct val="100000"/>
              <a:buFont typeface="Tahoma" panose="020B0604030504040204"/>
              <a:buNone/>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 </a:t>
            </a:r>
            <a:endParaRPr u="sng"/>
          </a:p>
        </p:txBody>
      </p:sp>
      <p:sp>
        <p:nvSpPr>
          <p:cNvPr id="217" name="Google Shape;217;p12"/>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The key outputs are</a:t>
            </a:r>
            <a:endParaRPr lang="en-US"/>
          </a:p>
          <a:p>
            <a:pPr marL="742950" lvl="1" indent="-285750" algn="l" rtl="0">
              <a:spcBef>
                <a:spcPts val="560"/>
              </a:spcBef>
              <a:spcAft>
                <a:spcPts val="0"/>
              </a:spcAft>
              <a:buClr>
                <a:schemeClr val="dk1"/>
              </a:buClr>
              <a:buSzPts val="2800"/>
              <a:buFont typeface="Tahoma" panose="020B0604030504040204"/>
              <a:buChar char="–"/>
            </a:pPr>
            <a:r>
              <a:rPr lang="en-US"/>
              <a:t>Progress and status reports</a:t>
            </a:r>
            <a:endParaRPr lang="en-US"/>
          </a:p>
          <a:p>
            <a:pPr marL="742950" lvl="1" indent="-285750" algn="l" rtl="0">
              <a:spcBef>
                <a:spcPts val="560"/>
              </a:spcBef>
              <a:spcAft>
                <a:spcPts val="0"/>
              </a:spcAft>
              <a:buClr>
                <a:schemeClr val="dk1"/>
              </a:buClr>
              <a:buSzPts val="2800"/>
              <a:buFont typeface="Tahoma" panose="020B0604030504040204"/>
              <a:buChar char="–"/>
            </a:pPr>
            <a:r>
              <a:rPr lang="en-US"/>
              <a:t>Plan updates</a:t>
            </a:r>
            <a:endParaRPr lang="en-US"/>
          </a:p>
          <a:p>
            <a:pPr marL="742950" lvl="1" indent="-285750" algn="l" rtl="0">
              <a:spcBef>
                <a:spcPts val="560"/>
              </a:spcBef>
              <a:spcAft>
                <a:spcPts val="0"/>
              </a:spcAft>
              <a:buClr>
                <a:schemeClr val="dk1"/>
              </a:buClr>
              <a:buSzPts val="2800"/>
              <a:buFont typeface="Tahoma" panose="020B0604030504040204"/>
              <a:buChar char="–"/>
            </a:pPr>
            <a:r>
              <a:rPr lang="en-US"/>
              <a:t>Risks registers</a:t>
            </a:r>
            <a:endParaRPr lang="en-US"/>
          </a:p>
          <a:p>
            <a:pPr marL="742950" lvl="1" indent="-285750" algn="l" rtl="0">
              <a:spcBef>
                <a:spcPts val="560"/>
              </a:spcBef>
              <a:spcAft>
                <a:spcPts val="0"/>
              </a:spcAft>
              <a:buClr>
                <a:schemeClr val="dk1"/>
              </a:buClr>
              <a:buSzPts val="2800"/>
              <a:buFont typeface="Tahoma" panose="020B0604030504040204"/>
              <a:buChar char="–"/>
            </a:pPr>
            <a:r>
              <a:rPr lang="en-US"/>
              <a:t>Change requests</a:t>
            </a:r>
            <a:endParaRPr lang="en-US"/>
          </a:p>
          <a:p>
            <a:pPr marL="742950" lvl="1" indent="-285750" algn="l" rtl="0">
              <a:spcBef>
                <a:spcPts val="560"/>
              </a:spcBef>
              <a:spcAft>
                <a:spcPts val="0"/>
              </a:spcAft>
              <a:buClr>
                <a:schemeClr val="dk1"/>
              </a:buClr>
              <a:buSzPts val="2800"/>
              <a:buFont typeface="Tahoma" panose="020B0604030504040204"/>
              <a:buChar char="–"/>
            </a:pPr>
            <a:r>
              <a:rPr lang="en-US"/>
              <a:t>Work products/deliverables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 </a:t>
            </a:r>
            <a:endParaRPr u="sng"/>
          </a:p>
        </p:txBody>
      </p:sp>
      <p:sp>
        <p:nvSpPr>
          <p:cNvPr id="223" name="Google Shape;223;p13"/>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spcBef>
                <a:spcPts val="0"/>
              </a:spcBef>
              <a:spcAft>
                <a:spcPts val="0"/>
              </a:spcAft>
              <a:buClr>
                <a:schemeClr val="dk1"/>
              </a:buClr>
              <a:buSzPct val="100000"/>
              <a:buFont typeface="Tahoma" panose="020B0604030504040204"/>
              <a:buChar char="•"/>
            </a:pPr>
            <a:r>
              <a:rPr lang="en-US"/>
              <a:t>The key activities for the </a:t>
            </a:r>
            <a:r>
              <a:rPr lang="en-US" b="1" i="1"/>
              <a:t>closing process group </a:t>
            </a:r>
            <a:r>
              <a:rPr lang="en-US"/>
              <a:t>are</a:t>
            </a:r>
            <a:endParaRPr lang="en-US"/>
          </a:p>
          <a:p>
            <a:pPr marL="742950" lvl="1" indent="-285750" algn="just" rtl="0">
              <a:spcBef>
                <a:spcPts val="520"/>
              </a:spcBef>
              <a:spcAft>
                <a:spcPts val="0"/>
              </a:spcAft>
              <a:buClr>
                <a:schemeClr val="dk1"/>
              </a:buClr>
              <a:buSzPct val="100000"/>
              <a:buFont typeface="Tahoma" panose="020B0604030504040204"/>
              <a:buChar char="–"/>
            </a:pPr>
            <a:r>
              <a:rPr lang="en-US"/>
              <a:t>Obtaining acceptance by the customer or sponsor (approval to close)</a:t>
            </a:r>
            <a:endParaRPr lang="en-US"/>
          </a:p>
          <a:p>
            <a:pPr marL="742950" lvl="1" indent="-285750" algn="just" rtl="0">
              <a:spcBef>
                <a:spcPts val="520"/>
              </a:spcBef>
              <a:spcAft>
                <a:spcPts val="0"/>
              </a:spcAft>
              <a:buClr>
                <a:schemeClr val="dk1"/>
              </a:buClr>
              <a:buSzPct val="100000"/>
              <a:buFont typeface="Tahoma" panose="020B0604030504040204"/>
              <a:buChar char="–"/>
            </a:pPr>
            <a:r>
              <a:rPr lang="en-US"/>
              <a:t>Releasing people and resources</a:t>
            </a:r>
            <a:endParaRPr lang="en-US"/>
          </a:p>
          <a:p>
            <a:pPr marL="742950" lvl="1" indent="-285750" algn="just" rtl="0">
              <a:spcBef>
                <a:spcPts val="520"/>
              </a:spcBef>
              <a:spcAft>
                <a:spcPts val="0"/>
              </a:spcAft>
              <a:buClr>
                <a:schemeClr val="dk1"/>
              </a:buClr>
              <a:buSzPct val="100000"/>
              <a:buFont typeface="Tahoma" panose="020B0604030504040204"/>
              <a:buChar char="–"/>
            </a:pPr>
            <a:r>
              <a:rPr lang="en-US"/>
              <a:t>Reporting on team performance and lessons learned</a:t>
            </a:r>
            <a:endParaRPr lang="en-US"/>
          </a:p>
          <a:p>
            <a:pPr marL="742950" lvl="1" indent="-285750" algn="just" rtl="0">
              <a:spcBef>
                <a:spcPts val="520"/>
              </a:spcBef>
              <a:spcAft>
                <a:spcPts val="0"/>
              </a:spcAft>
              <a:buClr>
                <a:schemeClr val="dk1"/>
              </a:buClr>
              <a:buSzPct val="100000"/>
              <a:buFont typeface="Tahoma" panose="020B0604030504040204"/>
              <a:buChar char="–"/>
            </a:pPr>
            <a:r>
              <a:rPr lang="en-US"/>
              <a:t>Updating or finalizing documents, project records, and results</a:t>
            </a:r>
            <a:endParaRPr lang="en-US"/>
          </a:p>
          <a:p>
            <a:pPr marL="742950" lvl="1" indent="-285750" algn="just" rtl="0">
              <a:spcBef>
                <a:spcPts val="520"/>
              </a:spcBef>
              <a:spcAft>
                <a:spcPts val="0"/>
              </a:spcAft>
              <a:buClr>
                <a:schemeClr val="dk1"/>
              </a:buClr>
              <a:buSzPct val="100000"/>
              <a:buFont typeface="Tahoma" panose="020B0604030504040204"/>
              <a:buChar char="–"/>
            </a:pPr>
            <a:r>
              <a:rPr lang="en-US"/>
              <a:t>Finalizing procurements</a:t>
            </a:r>
            <a:endParaRPr lang="en-US"/>
          </a:p>
          <a:p>
            <a:pPr marL="742950" lvl="1" indent="-285750" algn="just" rtl="0">
              <a:spcBef>
                <a:spcPts val="520"/>
              </a:spcBef>
              <a:spcAft>
                <a:spcPts val="0"/>
              </a:spcAft>
              <a:buClr>
                <a:schemeClr val="dk1"/>
              </a:buClr>
              <a:buSzPct val="100000"/>
              <a:buFont typeface="Tahoma" panose="020B0604030504040204"/>
              <a:buChar char="–"/>
            </a:pPr>
            <a:r>
              <a:rPr lang="en-US"/>
              <a:t>Performing quality assurance activities </a:t>
            </a:r>
            <a:endParaRPr lang="en-US"/>
          </a:p>
          <a:p>
            <a:pPr marL="742950" lvl="1" indent="-285750" algn="just" rtl="0">
              <a:spcBef>
                <a:spcPts val="520"/>
              </a:spcBef>
              <a:spcAft>
                <a:spcPts val="0"/>
              </a:spcAft>
              <a:buClr>
                <a:schemeClr val="dk1"/>
              </a:buClr>
              <a:buSzPct val="100000"/>
              <a:buFont typeface="Tahoma" panose="020B0604030504040204"/>
              <a:buChar char="–"/>
            </a:pPr>
            <a:r>
              <a:rPr lang="en-US"/>
              <a:t>Storing or archiving information </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4"/>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Process Groups </a:t>
            </a:r>
            <a:endParaRPr u="sng"/>
          </a:p>
        </p:txBody>
      </p:sp>
      <p:sp>
        <p:nvSpPr>
          <p:cNvPr id="229" name="Google Shape;229;p14"/>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The key outputs of this group are</a:t>
            </a:r>
            <a:endParaRPr lang="en-US"/>
          </a:p>
          <a:p>
            <a:pPr marL="742950" lvl="1" indent="-285750" algn="l" rtl="0">
              <a:spcBef>
                <a:spcPts val="560"/>
              </a:spcBef>
              <a:spcAft>
                <a:spcPts val="0"/>
              </a:spcAft>
              <a:buClr>
                <a:schemeClr val="dk1"/>
              </a:buClr>
              <a:buSzPts val="2800"/>
              <a:buFont typeface="Tahoma" panose="020B0604030504040204"/>
              <a:buChar char="–"/>
            </a:pPr>
            <a:r>
              <a:rPr lang="en-US"/>
              <a:t>Certificate of Completion/Closeout Report</a:t>
            </a:r>
            <a:endParaRPr lang="en-US"/>
          </a:p>
          <a:p>
            <a:pPr marL="742950" lvl="1" indent="-285750" algn="l" rtl="0">
              <a:spcBef>
                <a:spcPts val="560"/>
              </a:spcBef>
              <a:spcAft>
                <a:spcPts val="0"/>
              </a:spcAft>
              <a:buClr>
                <a:schemeClr val="dk1"/>
              </a:buClr>
              <a:buSzPts val="2800"/>
              <a:buFont typeface="Tahoma" panose="020B0604030504040204"/>
              <a:buChar char="–"/>
            </a:pPr>
            <a:r>
              <a:rPr lang="en-US"/>
              <a:t>Staff work assignments</a:t>
            </a:r>
            <a:endParaRPr lang="en-US"/>
          </a:p>
          <a:p>
            <a:pPr marL="742950" lvl="1" indent="-285750" algn="l" rtl="0">
              <a:spcBef>
                <a:spcPts val="560"/>
              </a:spcBef>
              <a:spcAft>
                <a:spcPts val="0"/>
              </a:spcAft>
              <a:buClr>
                <a:schemeClr val="dk1"/>
              </a:buClr>
              <a:buSzPts val="2800"/>
              <a:buFont typeface="Tahoma" panose="020B0604030504040204"/>
              <a:buChar char="–"/>
            </a:pPr>
            <a:r>
              <a:rPr lang="en-US"/>
              <a:t>Resource calendars</a:t>
            </a:r>
            <a:endParaRPr lang="en-US"/>
          </a:p>
          <a:p>
            <a:pPr marL="742950" lvl="1" indent="-285750" algn="l" rtl="0">
              <a:spcBef>
                <a:spcPts val="560"/>
              </a:spcBef>
              <a:spcAft>
                <a:spcPts val="0"/>
              </a:spcAft>
              <a:buClr>
                <a:schemeClr val="dk1"/>
              </a:buClr>
              <a:buSzPts val="2800"/>
              <a:buFont typeface="Tahoma" panose="020B0604030504040204"/>
              <a:buChar char="–"/>
            </a:pPr>
            <a:r>
              <a:rPr lang="en-US"/>
              <a:t>Plan updates</a:t>
            </a:r>
            <a:endParaRPr lang="en-US"/>
          </a:p>
          <a:p>
            <a:pPr marL="742950" lvl="1" indent="-285750" algn="l" rtl="0">
              <a:spcBef>
                <a:spcPts val="560"/>
              </a:spcBef>
              <a:spcAft>
                <a:spcPts val="0"/>
              </a:spcAft>
              <a:buClr>
                <a:schemeClr val="dk1"/>
              </a:buClr>
              <a:buSzPts val="2800"/>
              <a:buFont typeface="Tahoma" panose="020B0604030504040204"/>
              <a:buChar char="–"/>
            </a:pPr>
            <a:r>
              <a:rPr lang="en-US"/>
              <a:t>Final work products/deliverables or services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5"/>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b="1" u="sng"/>
          </a:p>
        </p:txBody>
      </p:sp>
      <p:sp>
        <p:nvSpPr>
          <p:cNvPr id="235" name="Google Shape;235;p15"/>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Font typeface="Tahoma" panose="020B0604030504040204"/>
              <a:buChar char="•"/>
            </a:pPr>
            <a:r>
              <a:rPr lang="en-US"/>
              <a:t>The ten knowledge areas are the skills a project manager must practice and master to manage a project efficiently. </a:t>
            </a:r>
            <a:endParaRPr lang="en-US"/>
          </a:p>
          <a:p>
            <a:pPr marL="342900" lvl="0" indent="-342900" algn="just" rtl="0">
              <a:spcBef>
                <a:spcPts val="640"/>
              </a:spcBef>
              <a:spcAft>
                <a:spcPts val="0"/>
              </a:spcAft>
              <a:buClr>
                <a:schemeClr val="dk1"/>
              </a:buClr>
              <a:buSzPts val="3200"/>
              <a:buFont typeface="Tahoma" panose="020B0604030504040204"/>
              <a:buChar char="•"/>
            </a:pPr>
            <a:r>
              <a:rPr lang="en-US"/>
              <a:t>Main activities of each process group can be mapped into the Ten knowledge areas using the PMBOK® Guide 2017.</a:t>
            </a:r>
            <a:endParaRPr lang="en-US"/>
          </a:p>
          <a:p>
            <a:pPr marL="342900" lvl="0" indent="-139700" algn="just" rtl="0">
              <a:spcBef>
                <a:spcPts val="640"/>
              </a:spcBef>
              <a:spcAft>
                <a:spcPts val="0"/>
              </a:spcAft>
              <a:buClr>
                <a:schemeClr val="dk1"/>
              </a:buClr>
              <a:buSzPts val="3200"/>
              <a:buFont typeface="Tahoma" panose="020B0604030504040204"/>
              <a:buNone/>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6"/>
          <p:cNvSpPr txBox="1">
            <a:spLocks noGrp="1"/>
          </p:cNvSpPr>
          <p:nvPr>
            <p:ph type="title"/>
          </p:nvPr>
        </p:nvSpPr>
        <p:spPr>
          <a:xfrm>
            <a:off x="2209800" y="4445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PMI Knowledge Areas</a:t>
            </a:r>
            <a:endParaRPr lang="en-US"/>
          </a:p>
        </p:txBody>
      </p:sp>
      <p:sp>
        <p:nvSpPr>
          <p:cNvPr id="242" name="Google Shape;242;p16"/>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SzPts val="1400"/>
              <a:buFont typeface="Times New Roman" panose="02020603050405020304"/>
              <a:buNone/>
            </a:pPr>
            <a:fld id="{00000000-1234-1234-1234-123412341234}" type="slidenum">
              <a:rPr lang="en-US"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4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43" name="Google Shape;243;p16"/>
          <p:cNvPicPr preferRelativeResize="0">
            <a:picLocks noGrp="1"/>
          </p:cNvPicPr>
          <p:nvPr>
            <p:ph type="body" idx="1"/>
          </p:nvPr>
        </p:nvPicPr>
        <p:blipFill rotWithShape="1">
          <a:blip r:embed="rId1"/>
          <a:srcRect/>
          <a:stretch>
            <a:fillRect/>
          </a:stretch>
        </p:blipFill>
        <p:spPr>
          <a:xfrm>
            <a:off x="1919288" y="1976438"/>
            <a:ext cx="8062912" cy="4405312"/>
          </a:xfrm>
          <a:prstGeom prst="rect">
            <a:avLst/>
          </a:prstGeom>
          <a:noFill/>
          <a:ln>
            <a:noFill/>
          </a:ln>
        </p:spPr>
      </p:pic>
      <p:sp>
        <p:nvSpPr>
          <p:cNvPr id="244" name="Google Shape;244;p16"/>
          <p:cNvSpPr txBox="1"/>
          <p:nvPr/>
        </p:nvSpPr>
        <p:spPr>
          <a:xfrm>
            <a:off x="1919288" y="1052513"/>
            <a:ext cx="8062912" cy="9220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Project Management Knowledge Area: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An identified area of project management defined by its knowledge requirements and described in terms of its component processes, practices, inputs, outputs, tools, and techniques.</a:t>
            </a: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dk2"/>
                </a:solidFill>
              </a:rPr>
              <a:t>Overview of Knowledge Areas</a:t>
            </a:r>
            <a:endParaRPr>
              <a:solidFill>
                <a:schemeClr val="dk2"/>
              </a:solidFill>
            </a:endParaRPr>
          </a:p>
        </p:txBody>
      </p:sp>
      <p:sp>
        <p:nvSpPr>
          <p:cNvPr id="250" name="Google Shape;250;p18"/>
          <p:cNvSpPr/>
          <p:nvPr/>
        </p:nvSpPr>
        <p:spPr>
          <a:xfrm>
            <a:off x="2743200" y="1600200"/>
            <a:ext cx="6605588" cy="4046838"/>
          </a:xfrm>
          <a:prstGeom prst="triangle">
            <a:avLst>
              <a:gd name="adj" fmla="val 50000"/>
            </a:avLst>
          </a:prstGeom>
          <a:solidFill>
            <a:srgbClr val="A61C00"/>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accent1"/>
              </a:buClr>
              <a:buSzPts val="1350"/>
              <a:buFont typeface="Noto Sans Symbols"/>
              <a:buNone/>
            </a:pPr>
            <a:endParaRPr sz="1800" b="0" i="0" u="none" strike="noStrike" cap="none">
              <a:solidFill>
                <a:schemeClr val="dk2"/>
              </a:solidFill>
              <a:latin typeface="Tahoma" panose="020B0604030504040204"/>
              <a:ea typeface="Tahoma" panose="020B0604030504040204"/>
              <a:cs typeface="Tahoma" panose="020B0604030504040204"/>
              <a:sym typeface="Tahoma" panose="020B0604030504040204"/>
            </a:endParaRPr>
          </a:p>
        </p:txBody>
      </p:sp>
      <p:sp>
        <p:nvSpPr>
          <p:cNvPr id="251" name="Google Shape;251;p18"/>
          <p:cNvSpPr txBox="1"/>
          <p:nvPr/>
        </p:nvSpPr>
        <p:spPr>
          <a:xfrm>
            <a:off x="2971800" y="2743200"/>
            <a:ext cx="1143000" cy="451485"/>
          </a:xfrm>
          <a:prstGeom prst="rect">
            <a:avLst/>
          </a:prstGeom>
          <a:noFill/>
          <a:ln>
            <a:noFill/>
          </a:ln>
        </p:spPr>
        <p:txBody>
          <a:bodyPr spcFirstLastPara="1" wrap="square" lIns="83800" tIns="41900" rIns="83800" bIns="41900" anchor="t" anchorCtr="0">
            <a:spAutoFit/>
          </a:bodyPr>
          <a:lstStyle/>
          <a:p>
            <a:pPr marL="0" marR="0" lvl="0" indent="0" algn="ctr" rtl="0">
              <a:lnSpc>
                <a:spcPct val="100000"/>
              </a:lnSpc>
              <a:spcBef>
                <a:spcPts val="0"/>
              </a:spcBef>
              <a:spcAft>
                <a:spcPts val="0"/>
              </a:spcAft>
              <a:buClr>
                <a:schemeClr val="accent1"/>
              </a:buClr>
              <a:buSzPts val="1800"/>
              <a:buFont typeface="Noto Sans Symbols"/>
              <a:buNone/>
            </a:pPr>
            <a:r>
              <a:rPr lang="en-US" sz="2400" b="0" i="0" u="none" strike="noStrike" cap="none">
                <a:solidFill>
                  <a:schemeClr val="dk2"/>
                </a:solidFill>
                <a:latin typeface="Arial" panose="020B0604020202020204"/>
                <a:ea typeface="Arial" panose="020B0604020202020204"/>
                <a:cs typeface="Arial" panose="020B0604020202020204"/>
                <a:sym typeface="Arial" panose="020B0604020202020204"/>
              </a:rPr>
              <a:t>Cost</a:t>
            </a:r>
            <a:endParaRPr sz="2800" b="0" i="1" u="none" strike="noStrike" cap="none">
              <a:solidFill>
                <a:schemeClr val="dk2"/>
              </a:solidFill>
              <a:latin typeface="Arial" panose="020B0604020202020204"/>
              <a:ea typeface="Arial" panose="020B0604020202020204"/>
              <a:cs typeface="Arial" panose="020B0604020202020204"/>
              <a:sym typeface="Arial" panose="020B0604020202020204"/>
            </a:endParaRPr>
          </a:p>
        </p:txBody>
      </p:sp>
      <p:sp>
        <p:nvSpPr>
          <p:cNvPr id="252" name="Google Shape;252;p18"/>
          <p:cNvSpPr txBox="1"/>
          <p:nvPr/>
        </p:nvSpPr>
        <p:spPr>
          <a:xfrm>
            <a:off x="7772400" y="2743200"/>
            <a:ext cx="1143000" cy="451485"/>
          </a:xfrm>
          <a:prstGeom prst="rect">
            <a:avLst/>
          </a:prstGeom>
          <a:noFill/>
          <a:ln>
            <a:noFill/>
          </a:ln>
        </p:spPr>
        <p:txBody>
          <a:bodyPr spcFirstLastPara="1" wrap="square" lIns="83800" tIns="41900" rIns="83800" bIns="41900" anchor="t" anchorCtr="0">
            <a:spAutoFit/>
          </a:bodyPr>
          <a:lstStyle/>
          <a:p>
            <a:pPr marL="0" marR="0" lvl="0" indent="0" algn="ctr" rtl="0">
              <a:lnSpc>
                <a:spcPct val="100000"/>
              </a:lnSpc>
              <a:spcBef>
                <a:spcPts val="0"/>
              </a:spcBef>
              <a:spcAft>
                <a:spcPts val="0"/>
              </a:spcAft>
              <a:buClr>
                <a:schemeClr val="accent1"/>
              </a:buClr>
              <a:buSzPts val="1800"/>
              <a:buFont typeface="Noto Sans Symbols"/>
              <a:buNone/>
            </a:pPr>
            <a:r>
              <a:rPr lang="en-US" sz="2400" b="0" i="0" u="none" strike="noStrike" cap="none">
                <a:solidFill>
                  <a:schemeClr val="dk2"/>
                </a:solidFill>
                <a:latin typeface="Arial" panose="020B0604020202020204"/>
                <a:ea typeface="Arial" panose="020B0604020202020204"/>
                <a:cs typeface="Arial" panose="020B0604020202020204"/>
                <a:sym typeface="Arial" panose="020B0604020202020204"/>
              </a:rPr>
              <a:t>Time</a:t>
            </a:r>
            <a:endParaRPr sz="2800" b="0" i="1" u="none" strike="noStrike" cap="none">
              <a:solidFill>
                <a:schemeClr val="dk2"/>
              </a:solidFill>
              <a:latin typeface="Arial" panose="020B0604020202020204"/>
              <a:ea typeface="Arial" panose="020B0604020202020204"/>
              <a:cs typeface="Arial" panose="020B0604020202020204"/>
              <a:sym typeface="Arial" panose="020B0604020202020204"/>
            </a:endParaRPr>
          </a:p>
        </p:txBody>
      </p:sp>
      <p:sp>
        <p:nvSpPr>
          <p:cNvPr id="253" name="Google Shape;253;p18"/>
          <p:cNvSpPr txBox="1"/>
          <p:nvPr/>
        </p:nvSpPr>
        <p:spPr>
          <a:xfrm>
            <a:off x="3505200" y="2286000"/>
            <a:ext cx="5105400" cy="3009300"/>
          </a:xfrm>
          <a:prstGeom prst="rect">
            <a:avLst/>
          </a:prstGeom>
          <a:noFill/>
          <a:ln>
            <a:noFill/>
          </a:ln>
        </p:spPr>
        <p:txBody>
          <a:bodyPr spcFirstLastPara="1" wrap="square" lIns="83800" tIns="41900" rIns="83800" bIns="41900" anchor="t" anchorCtr="0">
            <a:spAutoFit/>
          </a:bodyPr>
          <a:lstStyle/>
          <a:p>
            <a:pPr marL="0" marR="0" lvl="0" indent="0" algn="ctr" rtl="0">
              <a:lnSpc>
                <a:spcPct val="100000"/>
              </a:lnSpc>
              <a:spcBef>
                <a:spcPts val="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Scope </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100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Integration</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100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Human Resources</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100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Communications </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100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Risk </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100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Procurement</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1000"/>
              </a:spcBef>
              <a:spcAft>
                <a:spcPts val="0"/>
              </a:spcAft>
              <a:buClr>
                <a:schemeClr val="accent1"/>
              </a:buClr>
              <a:buSzPts val="1500"/>
              <a:buFont typeface="Noto Sans Symbols"/>
              <a:buNone/>
            </a:pPr>
            <a:r>
              <a:rPr lang="en-US" sz="2000" b="0" i="0" u="none" strike="noStrike" cap="none">
                <a:solidFill>
                  <a:srgbClr val="FFFF00"/>
                </a:solidFill>
                <a:latin typeface="Arial" panose="020B0604020202020204"/>
                <a:ea typeface="Arial" panose="020B0604020202020204"/>
                <a:cs typeface="Arial" panose="020B0604020202020204"/>
                <a:sym typeface="Arial" panose="020B0604020202020204"/>
              </a:rPr>
              <a:t>Stakeholder management</a:t>
            </a:r>
            <a:endParaRPr sz="2000" b="0" i="0" u="none" strike="noStrike" cap="none">
              <a:solidFill>
                <a:srgbClr val="FFFF00"/>
              </a:solidFill>
              <a:latin typeface="Arial" panose="020B0604020202020204"/>
              <a:ea typeface="Arial" panose="020B0604020202020204"/>
              <a:cs typeface="Arial" panose="020B0604020202020204"/>
              <a:sym typeface="Arial" panose="020B0604020202020204"/>
            </a:endParaRPr>
          </a:p>
        </p:txBody>
      </p:sp>
      <p:sp>
        <p:nvSpPr>
          <p:cNvPr id="254" name="Google Shape;254;p18"/>
          <p:cNvSpPr txBox="1"/>
          <p:nvPr/>
        </p:nvSpPr>
        <p:spPr>
          <a:xfrm>
            <a:off x="5562600" y="5778844"/>
            <a:ext cx="1143000" cy="451485"/>
          </a:xfrm>
          <a:prstGeom prst="rect">
            <a:avLst/>
          </a:prstGeom>
          <a:noFill/>
          <a:ln>
            <a:noFill/>
          </a:ln>
        </p:spPr>
        <p:txBody>
          <a:bodyPr spcFirstLastPara="1" wrap="square" lIns="83800" tIns="41900" rIns="83800" bIns="41900" anchor="t" anchorCtr="0">
            <a:spAutoFit/>
          </a:bodyPr>
          <a:lstStyle/>
          <a:p>
            <a:pPr marL="0" marR="0" lvl="0" indent="0" algn="ctr" rtl="0">
              <a:lnSpc>
                <a:spcPct val="100000"/>
              </a:lnSpc>
              <a:spcBef>
                <a:spcPts val="0"/>
              </a:spcBef>
              <a:spcAft>
                <a:spcPts val="0"/>
              </a:spcAft>
              <a:buClr>
                <a:schemeClr val="accent1"/>
              </a:buClr>
              <a:buSzPts val="1800"/>
              <a:buFont typeface="Noto Sans Symbols"/>
              <a:buNone/>
            </a:pPr>
            <a:r>
              <a:rPr lang="en-US" sz="2400" b="0" i="0" u="none" strike="noStrike" cap="none">
                <a:solidFill>
                  <a:schemeClr val="dk2"/>
                </a:solidFill>
                <a:latin typeface="Arial" panose="020B0604020202020204"/>
                <a:ea typeface="Arial" panose="020B0604020202020204"/>
                <a:cs typeface="Arial" panose="020B0604020202020204"/>
                <a:sym typeface="Arial" panose="020B0604020202020204"/>
              </a:rPr>
              <a:t>Quality</a:t>
            </a:r>
            <a:endParaRPr sz="2800" b="0" i="1" u="none" strike="noStrike" cap="none">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7"/>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60" name="Google Shape;260;p17"/>
          <p:cNvSpPr txBox="1">
            <a:spLocks noGrp="1"/>
          </p:cNvSpPr>
          <p:nvPr>
            <p:ph type="body" idx="1"/>
          </p:nvPr>
        </p:nvSpPr>
        <p:spPr>
          <a:xfrm>
            <a:off x="914400" y="1842925"/>
            <a:ext cx="11049300" cy="46980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Integration Management: </a:t>
            </a:r>
            <a:endParaRPr b="1"/>
          </a:p>
          <a:p>
            <a:pPr marL="742950" lvl="1" indent="-285750" algn="just" rtl="0">
              <a:spcBef>
                <a:spcPts val="560"/>
              </a:spcBef>
              <a:spcAft>
                <a:spcPts val="0"/>
              </a:spcAft>
              <a:buClr>
                <a:schemeClr val="dk1"/>
              </a:buClr>
              <a:buSzPts val="2800"/>
              <a:buFont typeface="Tahoma" panose="020B0604030504040204"/>
              <a:buChar char="–"/>
            </a:pPr>
            <a:r>
              <a:rPr lang="en-US"/>
              <a:t>The knowledge area which is devoted to identify and define the work in the project is known as the Integration Management. </a:t>
            </a:r>
            <a:endParaRPr lang="en-US"/>
          </a:p>
          <a:p>
            <a:pPr marL="742950" lvl="1" indent="-285750" algn="just" rtl="0">
              <a:spcBef>
                <a:spcPts val="560"/>
              </a:spcBef>
              <a:spcAft>
                <a:spcPts val="0"/>
              </a:spcAft>
              <a:buClr>
                <a:schemeClr val="dk1"/>
              </a:buClr>
              <a:buSzPts val="2800"/>
              <a:buFont typeface="Tahoma" panose="020B0604030504040204"/>
              <a:buChar char="–"/>
            </a:pPr>
            <a:r>
              <a:rPr lang="en-US"/>
              <a:t>This knowledge area also deals with efficiently integrating changes into the project.</a:t>
            </a:r>
            <a:endParaRPr lang="en-US"/>
          </a:p>
          <a:p>
            <a:pPr marL="742950" lvl="1" indent="-285750" algn="just" rtl="0">
              <a:spcBef>
                <a:spcPts val="560"/>
              </a:spcBef>
              <a:spcAft>
                <a:spcPts val="0"/>
              </a:spcAft>
              <a:buClr>
                <a:schemeClr val="dk1"/>
              </a:buClr>
              <a:buSzPts val="2800"/>
              <a:buFont typeface="Tahoma" panose="020B0604030504040204"/>
              <a:buChar char="–"/>
            </a:pPr>
            <a:r>
              <a:rPr lang="en-US"/>
              <a:t>Includes the processes and activities to identify, define, combine, unify, and coordinate the various processes and project management activities within the Project Management Process Groups.</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2fe654d6980_0_0"/>
          <p:cNvSpPr txBox="1">
            <a:spLocks noGrp="1"/>
          </p:cNvSpPr>
          <p:nvPr>
            <p:ph type="title"/>
          </p:nvPr>
        </p:nvSpPr>
        <p:spPr>
          <a:xfrm>
            <a:off x="914400" y="0"/>
            <a:ext cx="10363200" cy="9456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66" name="Google Shape;266;g2fe654d6980_0_0"/>
          <p:cNvSpPr txBox="1">
            <a:spLocks noGrp="1"/>
          </p:cNvSpPr>
          <p:nvPr>
            <p:ph type="body" idx="1"/>
          </p:nvPr>
        </p:nvSpPr>
        <p:spPr>
          <a:xfrm>
            <a:off x="450675" y="853425"/>
            <a:ext cx="11669700" cy="57519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Integration Management: </a:t>
            </a:r>
            <a:endParaRPr b="1"/>
          </a:p>
          <a:p>
            <a:pPr marL="742950" marR="0" lvl="1" indent="-285750" algn="just" rtl="0">
              <a:lnSpc>
                <a:spcPct val="100000"/>
              </a:lnSpc>
              <a:spcBef>
                <a:spcPts val="560"/>
              </a:spcBef>
              <a:spcAft>
                <a:spcPts val="0"/>
              </a:spcAft>
              <a:buSzPts val="2800"/>
              <a:buChar char="–"/>
            </a:pPr>
            <a:r>
              <a:rPr lang="en-US" b="1"/>
              <a:t>The project Integration</a:t>
            </a:r>
            <a:r>
              <a:rPr lang="en-US" sz="3200" b="1"/>
              <a:t> </a:t>
            </a:r>
            <a:r>
              <a:rPr lang="en-US" b="1"/>
              <a:t>management processes are:</a:t>
            </a:r>
            <a:endParaRPr b="1"/>
          </a:p>
          <a:p>
            <a:pPr marL="742950" marR="0" lvl="1" indent="-222250" algn="just" rtl="0">
              <a:lnSpc>
                <a:spcPct val="100000"/>
              </a:lnSpc>
              <a:spcBef>
                <a:spcPts val="560"/>
              </a:spcBef>
              <a:spcAft>
                <a:spcPts val="0"/>
              </a:spcAft>
              <a:buSzPts val="1800"/>
              <a:buChar char="–"/>
            </a:pPr>
            <a:r>
              <a:rPr lang="en-US" sz="1800" b="1"/>
              <a:t>Develop Project Charter—</a:t>
            </a:r>
            <a:r>
              <a:rPr lang="en-US" sz="1800"/>
              <a:t>The process of developing a document that formally authorizes the existence of a project and provides the project manager with the authority to apply organizational resources to project activities.</a:t>
            </a:r>
            <a:endParaRPr sz="1800"/>
          </a:p>
          <a:p>
            <a:pPr marL="742950" marR="0" lvl="1" indent="-222250" algn="just" rtl="0">
              <a:lnSpc>
                <a:spcPct val="100000"/>
              </a:lnSpc>
              <a:spcBef>
                <a:spcPts val="560"/>
              </a:spcBef>
              <a:spcAft>
                <a:spcPts val="0"/>
              </a:spcAft>
              <a:buSzPts val="1800"/>
              <a:buChar char="–"/>
            </a:pPr>
            <a:r>
              <a:rPr lang="en-US" sz="1800" b="1"/>
              <a:t>Develop Project Management Plan—</a:t>
            </a:r>
            <a:r>
              <a:rPr lang="en-US" sz="1800"/>
              <a:t>The process of defining, preparing, and coordinating all subsidiary plans and integrating them into a comprehensive project management plan.</a:t>
            </a:r>
            <a:endParaRPr sz="1800"/>
          </a:p>
          <a:p>
            <a:pPr marL="742950" marR="0" lvl="1" indent="-222250" algn="just" rtl="0">
              <a:lnSpc>
                <a:spcPct val="100000"/>
              </a:lnSpc>
              <a:spcBef>
                <a:spcPts val="560"/>
              </a:spcBef>
              <a:spcAft>
                <a:spcPts val="0"/>
              </a:spcAft>
              <a:buSzPts val="1800"/>
              <a:buChar char="–"/>
            </a:pPr>
            <a:r>
              <a:rPr lang="en-US" sz="1800" b="1"/>
              <a:t>Direct and Manage Project Work—</a:t>
            </a:r>
            <a:r>
              <a:rPr lang="en-US" sz="1800"/>
              <a:t>The process of leading and performing the work defined in the project management plan and implementing approved changes to achieve the project's objectives.</a:t>
            </a:r>
            <a:endParaRPr sz="1800"/>
          </a:p>
          <a:p>
            <a:pPr marL="742950" marR="0" lvl="1" indent="-222250" algn="just" rtl="0">
              <a:lnSpc>
                <a:spcPct val="100000"/>
              </a:lnSpc>
              <a:spcBef>
                <a:spcPts val="560"/>
              </a:spcBef>
              <a:spcAft>
                <a:spcPts val="0"/>
              </a:spcAft>
              <a:buSzPts val="1800"/>
              <a:buChar char="–"/>
            </a:pPr>
            <a:r>
              <a:rPr lang="en-US" sz="1800" b="1"/>
              <a:t>Monitor and Control Project Work—</a:t>
            </a:r>
            <a:r>
              <a:rPr lang="en-US" sz="1800"/>
              <a:t>The process of tracking, reviewing, and reporting project progress against the performance objectives defined in the project management plan.</a:t>
            </a:r>
            <a:endParaRPr sz="1800"/>
          </a:p>
          <a:p>
            <a:pPr marL="742950" marR="0" lvl="1" indent="-222250" algn="just" rtl="0">
              <a:lnSpc>
                <a:spcPct val="100000"/>
              </a:lnSpc>
              <a:spcBef>
                <a:spcPts val="560"/>
              </a:spcBef>
              <a:spcAft>
                <a:spcPts val="0"/>
              </a:spcAft>
              <a:buSzPts val="1800"/>
              <a:buChar char="–"/>
            </a:pPr>
            <a:r>
              <a:rPr lang="en-US" sz="1800" b="1"/>
              <a:t>Perform Integrated Change Control—</a:t>
            </a:r>
            <a:r>
              <a:rPr lang="en-US" sz="1800"/>
              <a:t>The process of reviewing all change requests; approving changes and managing changes to deliverables, organizational process assets, project documents, and the project management plan; and communicating their disposition.</a:t>
            </a:r>
            <a:endParaRPr sz="1800"/>
          </a:p>
          <a:p>
            <a:pPr marL="742950" marR="0" lvl="1" indent="-285750" algn="just" rtl="0">
              <a:lnSpc>
                <a:spcPct val="100000"/>
              </a:lnSpc>
              <a:spcBef>
                <a:spcPts val="0"/>
              </a:spcBef>
              <a:spcAft>
                <a:spcPts val="0"/>
              </a:spcAft>
              <a:buSzPts val="2800"/>
              <a:buChar char="–"/>
            </a:pPr>
            <a:r>
              <a:rPr lang="en-US" sz="1800" b="1"/>
              <a:t>Close Project or Phase—</a:t>
            </a:r>
            <a:r>
              <a:rPr lang="en-US" sz="1800"/>
              <a:t>The process of finalizing all activities across all of the Project Management Process Groups to formally complete the phase or project.</a:t>
            </a:r>
            <a:endParaRPr sz="1800"/>
          </a:p>
          <a:p>
            <a:pPr marL="742950" lvl="1" indent="-222250" algn="just" rtl="0">
              <a:spcBef>
                <a:spcPts val="560"/>
              </a:spcBef>
              <a:spcAft>
                <a:spcPts val="0"/>
              </a:spcAft>
              <a:buSzPts val="1800"/>
              <a:buChar char="–"/>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9"/>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72" name="Google Shape;272;p19"/>
          <p:cNvSpPr txBox="1">
            <a:spLocks noGrp="1"/>
          </p:cNvSpPr>
          <p:nvPr>
            <p:ph type="body" idx="1"/>
          </p:nvPr>
        </p:nvSpPr>
        <p:spPr>
          <a:xfrm>
            <a:off x="914400" y="1752600"/>
            <a:ext cx="10363200" cy="47196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Scope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This knowledge area deals with defining the project scope, project requirement scope, project work, making the work breakdown structure, making the scope baselines and managing the scope of the project. </a:t>
            </a:r>
            <a:endParaRPr lang="en-US"/>
          </a:p>
          <a:p>
            <a:pPr marL="742950" lvl="1" indent="-285750" algn="just" rtl="0">
              <a:spcBef>
                <a:spcPts val="560"/>
              </a:spcBef>
              <a:spcAft>
                <a:spcPts val="0"/>
              </a:spcAft>
              <a:buClr>
                <a:schemeClr val="dk1"/>
              </a:buClr>
              <a:buSzPts val="2800"/>
              <a:buFont typeface="Tahoma" panose="020B0604030504040204"/>
              <a:buChar char="–"/>
            </a:pPr>
            <a:r>
              <a:rPr lang="en-US"/>
              <a:t>This is one point where you can plan the ways of keeping the project within the established boundaries.</a:t>
            </a:r>
            <a:endParaRPr lang="en-US"/>
          </a:p>
          <a:p>
            <a:pPr marL="742950" lvl="1" indent="-349250" algn="just" rtl="0">
              <a:spcBef>
                <a:spcPts val="560"/>
              </a:spcBef>
              <a:spcAft>
                <a:spcPts val="0"/>
              </a:spcAft>
              <a:buSzPts val="2800"/>
              <a:buChar char="–"/>
            </a:pPr>
            <a:r>
              <a:rPr lang="en-US"/>
              <a:t>Encompasses the processes required to ensure the project includes all the work required, and only the work required, to complete the project successfully. </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2fe654d6980_0_6"/>
          <p:cNvSpPr txBox="1">
            <a:spLocks noGrp="1"/>
          </p:cNvSpPr>
          <p:nvPr>
            <p:ph type="title"/>
          </p:nvPr>
        </p:nvSpPr>
        <p:spPr>
          <a:xfrm>
            <a:off x="914400" y="333075"/>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78" name="Google Shape;278;g2fe654d6980_0_6"/>
          <p:cNvSpPr txBox="1">
            <a:spLocks noGrp="1"/>
          </p:cNvSpPr>
          <p:nvPr>
            <p:ph type="body" idx="1"/>
          </p:nvPr>
        </p:nvSpPr>
        <p:spPr>
          <a:xfrm>
            <a:off x="914400" y="1476075"/>
            <a:ext cx="10363200" cy="49728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Scope Management</a:t>
            </a:r>
            <a:endParaRPr b="1"/>
          </a:p>
          <a:p>
            <a:pPr marL="742950" lvl="1" indent="-349250" algn="just" rtl="0">
              <a:spcBef>
                <a:spcPts val="560"/>
              </a:spcBef>
              <a:spcAft>
                <a:spcPts val="0"/>
              </a:spcAft>
              <a:buSzPts val="2800"/>
              <a:buChar char="–"/>
            </a:pPr>
            <a:r>
              <a:rPr lang="en-US" b="1"/>
              <a:t>T</a:t>
            </a:r>
            <a:r>
              <a:rPr lang="en-US" sz="2800" b="1"/>
              <a:t>he project scope management processes are:</a:t>
            </a:r>
            <a:endParaRPr sz="2800" b="1"/>
          </a:p>
          <a:p>
            <a:pPr marL="742950" marR="0" lvl="1" indent="-222250" algn="just" rtl="0">
              <a:lnSpc>
                <a:spcPct val="100000"/>
              </a:lnSpc>
              <a:spcBef>
                <a:spcPts val="560"/>
              </a:spcBef>
              <a:spcAft>
                <a:spcPts val="0"/>
              </a:spcAft>
              <a:buSzPts val="1800"/>
              <a:buChar char="–"/>
            </a:pPr>
            <a:r>
              <a:rPr lang="en-US" sz="1800" b="1"/>
              <a:t>Plan Scope Management—</a:t>
            </a:r>
            <a:r>
              <a:rPr lang="en-US" sz="1800"/>
              <a:t>The process of creating a scope management plan that documents how the project scope will be defined, validated, and controlled.</a:t>
            </a:r>
            <a:endParaRPr sz="1800"/>
          </a:p>
          <a:p>
            <a:pPr marL="742950" marR="0" lvl="1" indent="-222250" algn="just" rtl="0">
              <a:lnSpc>
                <a:spcPct val="100000"/>
              </a:lnSpc>
              <a:spcBef>
                <a:spcPts val="560"/>
              </a:spcBef>
              <a:spcAft>
                <a:spcPts val="0"/>
              </a:spcAft>
              <a:buSzPts val="1800"/>
              <a:buChar char="–"/>
            </a:pPr>
            <a:r>
              <a:rPr lang="en-US" sz="1800" b="1"/>
              <a:t>Collect Requirements—</a:t>
            </a:r>
            <a:r>
              <a:rPr lang="en-US" sz="1800"/>
              <a:t>The process of determining, documenting, and managing stakeholder needs and requirements to meet project objectives.</a:t>
            </a:r>
            <a:endParaRPr sz="1800"/>
          </a:p>
          <a:p>
            <a:pPr marL="742950" marR="0" lvl="1" indent="-222250" algn="just" rtl="0">
              <a:lnSpc>
                <a:spcPct val="100000"/>
              </a:lnSpc>
              <a:spcBef>
                <a:spcPts val="560"/>
              </a:spcBef>
              <a:spcAft>
                <a:spcPts val="0"/>
              </a:spcAft>
              <a:buSzPts val="1800"/>
              <a:buChar char="–"/>
            </a:pPr>
            <a:r>
              <a:rPr lang="en-US" sz="1800" b="1"/>
              <a:t>Define Scope—</a:t>
            </a:r>
            <a:r>
              <a:rPr lang="en-US" sz="1800"/>
              <a:t>The process of developing a detailed description of the project and product.</a:t>
            </a:r>
            <a:endParaRPr sz="1800"/>
          </a:p>
          <a:p>
            <a:pPr marL="742950" marR="0" lvl="1" indent="-222250" algn="just" rtl="0">
              <a:lnSpc>
                <a:spcPct val="100000"/>
              </a:lnSpc>
              <a:spcBef>
                <a:spcPts val="560"/>
              </a:spcBef>
              <a:spcAft>
                <a:spcPts val="0"/>
              </a:spcAft>
              <a:buSzPts val="1800"/>
              <a:buChar char="–"/>
            </a:pPr>
            <a:r>
              <a:rPr lang="en-US" sz="1800" b="1"/>
              <a:t>Create WBS—</a:t>
            </a:r>
            <a:r>
              <a:rPr lang="en-US" sz="1800"/>
              <a:t>The process of subdividing project deliverables and project work into smaller, more manageable components.</a:t>
            </a:r>
            <a:endParaRPr sz="1800"/>
          </a:p>
          <a:p>
            <a:pPr marL="742950" marR="0" lvl="1" indent="-222250" algn="just" rtl="0">
              <a:lnSpc>
                <a:spcPct val="100000"/>
              </a:lnSpc>
              <a:spcBef>
                <a:spcPts val="560"/>
              </a:spcBef>
              <a:spcAft>
                <a:spcPts val="0"/>
              </a:spcAft>
              <a:buSzPts val="1800"/>
              <a:buChar char="–"/>
            </a:pPr>
            <a:r>
              <a:rPr lang="en-US" sz="1800" b="1"/>
              <a:t>Validate Scope—</a:t>
            </a:r>
            <a:r>
              <a:rPr lang="en-US" sz="1800"/>
              <a:t>The process of formalizing acceptance of the completed project deliverables.</a:t>
            </a:r>
            <a:endParaRPr sz="1800"/>
          </a:p>
          <a:p>
            <a:pPr marL="742950" marR="0" lvl="1" indent="-222250" algn="just" rtl="0">
              <a:lnSpc>
                <a:spcPct val="100000"/>
              </a:lnSpc>
              <a:spcBef>
                <a:spcPts val="560"/>
              </a:spcBef>
              <a:spcAft>
                <a:spcPts val="0"/>
              </a:spcAft>
              <a:buSzPts val="1800"/>
              <a:buChar char="–"/>
            </a:pPr>
            <a:r>
              <a:rPr lang="en-US" sz="1800" b="1"/>
              <a:t>Control Scope—</a:t>
            </a:r>
            <a:r>
              <a:rPr lang="en-US" sz="1800"/>
              <a:t>The process of monitoring the status of the project and product scope and managing changes to the scope baseline.</a:t>
            </a:r>
            <a:endParaRPr sz="2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0"/>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84" name="Google Shape;284;p20"/>
          <p:cNvSpPr txBox="1">
            <a:spLocks noGrp="1"/>
          </p:cNvSpPr>
          <p:nvPr>
            <p:ph type="body" idx="1"/>
          </p:nvPr>
        </p:nvSpPr>
        <p:spPr>
          <a:xfrm>
            <a:off x="1307925" y="1629400"/>
            <a:ext cx="9706200" cy="47271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Time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The project managers estimate the duration of the tasks in this knowledge area. </a:t>
            </a:r>
            <a:endParaRPr lang="en-US"/>
          </a:p>
          <a:p>
            <a:pPr marL="742950" lvl="1" indent="-285750" algn="just" rtl="0">
              <a:spcBef>
                <a:spcPts val="560"/>
              </a:spcBef>
              <a:spcAft>
                <a:spcPts val="0"/>
              </a:spcAft>
              <a:buClr>
                <a:schemeClr val="dk1"/>
              </a:buClr>
              <a:buSzPts val="2800"/>
              <a:buFont typeface="Tahoma" panose="020B0604030504040204"/>
              <a:buChar char="–"/>
            </a:pPr>
            <a:r>
              <a:rPr lang="en-US"/>
              <a:t>This is where the project manager sequences the tasks and chooses the number of resources required to achieve the objectives of the project. </a:t>
            </a:r>
            <a:endParaRPr lang="en-US"/>
          </a:p>
          <a:p>
            <a:pPr marL="742950" lvl="1" indent="-285750" algn="just" rtl="0">
              <a:spcBef>
                <a:spcPts val="560"/>
              </a:spcBef>
              <a:spcAft>
                <a:spcPts val="0"/>
              </a:spcAft>
              <a:buClr>
                <a:schemeClr val="dk1"/>
              </a:buClr>
              <a:buSzPts val="2800"/>
              <a:buFont typeface="Tahoma" panose="020B0604030504040204"/>
              <a:buChar char="–"/>
            </a:pPr>
            <a:r>
              <a:rPr lang="en-US"/>
              <a:t>Schedule is monitored and managed here in this area to keep the project on the track. </a:t>
            </a:r>
            <a:endParaRPr lang="en-US"/>
          </a:p>
          <a:p>
            <a:pPr marL="742950" lvl="1" indent="-285750" algn="just" rtl="0">
              <a:spcBef>
                <a:spcPts val="560"/>
              </a:spcBef>
              <a:spcAft>
                <a:spcPts val="0"/>
              </a:spcAft>
              <a:buClr>
                <a:schemeClr val="dk1"/>
              </a:buClr>
              <a:buSzPts val="2800"/>
              <a:buFont typeface="Tahoma" panose="020B0604030504040204"/>
              <a:buChar char="–"/>
            </a:pPr>
            <a:r>
              <a:rPr lang="en-US"/>
              <a:t>Includes the processes required to manage the timely completion of the project. </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2fe654d6980_0_13"/>
          <p:cNvSpPr txBox="1">
            <a:spLocks noGrp="1"/>
          </p:cNvSpPr>
          <p:nvPr>
            <p:ph type="title"/>
          </p:nvPr>
        </p:nvSpPr>
        <p:spPr>
          <a:xfrm>
            <a:off x="2209795" y="119055"/>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90" name="Google Shape;290;g2fe654d6980_0_13"/>
          <p:cNvSpPr txBox="1">
            <a:spLocks noGrp="1"/>
          </p:cNvSpPr>
          <p:nvPr>
            <p:ph type="body" idx="1"/>
          </p:nvPr>
        </p:nvSpPr>
        <p:spPr>
          <a:xfrm>
            <a:off x="210300" y="1136550"/>
            <a:ext cx="11981700" cy="50946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Time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b="1"/>
              <a:t>The project time management processes are:</a:t>
            </a:r>
            <a:r>
              <a:rPr lang="en-US"/>
              <a:t> </a:t>
            </a:r>
            <a:endParaRPr lang="en-US"/>
          </a:p>
          <a:p>
            <a:pPr marL="1143000" lvl="2" indent="-285750" algn="just" rtl="0">
              <a:spcBef>
                <a:spcPts val="560"/>
              </a:spcBef>
              <a:spcAft>
                <a:spcPts val="0"/>
              </a:spcAft>
              <a:buClr>
                <a:schemeClr val="dk1"/>
              </a:buClr>
              <a:buSzPts val="2700"/>
              <a:buFont typeface="Tahoma" panose="020B0604030504040204"/>
              <a:buChar char="•"/>
            </a:pPr>
            <a:r>
              <a:rPr lang="en-US" sz="2300" b="1"/>
              <a:t>Plan schedule management.</a:t>
            </a:r>
            <a:endParaRPr sz="2300" b="1"/>
          </a:p>
          <a:p>
            <a:pPr marL="1143000" marR="0" lvl="2" indent="-285750" algn="just" rtl="0">
              <a:lnSpc>
                <a:spcPct val="100000"/>
              </a:lnSpc>
              <a:spcBef>
                <a:spcPts val="560"/>
              </a:spcBef>
              <a:spcAft>
                <a:spcPts val="0"/>
              </a:spcAft>
              <a:buSzPts val="2700"/>
              <a:buChar char="•"/>
            </a:pPr>
            <a:r>
              <a:rPr lang="en-US" sz="2300" b="1"/>
              <a:t>Define Activities:</a:t>
            </a:r>
            <a:r>
              <a:rPr lang="en-US" sz="2300"/>
              <a:t> Process of identifying and documenting the specific actions.</a:t>
            </a:r>
            <a:endParaRPr sz="2300"/>
          </a:p>
          <a:p>
            <a:pPr marL="1143000" marR="0" lvl="2" indent="-285750" algn="just" rtl="0">
              <a:lnSpc>
                <a:spcPct val="100000"/>
              </a:lnSpc>
              <a:spcBef>
                <a:spcPts val="560"/>
              </a:spcBef>
              <a:spcAft>
                <a:spcPts val="0"/>
              </a:spcAft>
              <a:buSzPts val="2700"/>
              <a:buChar char="•"/>
            </a:pPr>
            <a:r>
              <a:rPr lang="en-US" sz="2300" b="1"/>
              <a:t>Sequence Activities:</a:t>
            </a:r>
            <a:r>
              <a:rPr lang="en-US" sz="2300"/>
              <a:t> Process of identifying and documenting relationships.</a:t>
            </a:r>
            <a:endParaRPr sz="2300"/>
          </a:p>
          <a:p>
            <a:pPr marL="1143000" marR="0" lvl="2" indent="-285750" algn="just" rtl="0">
              <a:lnSpc>
                <a:spcPct val="100000"/>
              </a:lnSpc>
              <a:spcBef>
                <a:spcPts val="560"/>
              </a:spcBef>
              <a:spcAft>
                <a:spcPts val="0"/>
              </a:spcAft>
              <a:buSzPts val="2700"/>
              <a:buChar char="•"/>
            </a:pPr>
            <a:r>
              <a:rPr lang="en-US" sz="2300" b="1"/>
              <a:t>Estimate Activity Resources:</a:t>
            </a:r>
            <a:r>
              <a:rPr lang="en-US" sz="2300"/>
              <a:t> Process of estimating the type and quantities of material, human resources, equipment, or supplies.</a:t>
            </a:r>
            <a:endParaRPr sz="2300"/>
          </a:p>
          <a:p>
            <a:pPr marL="1143000" marR="0" lvl="2" indent="-285750" algn="just" rtl="0">
              <a:lnSpc>
                <a:spcPct val="100000"/>
              </a:lnSpc>
              <a:spcBef>
                <a:spcPts val="560"/>
              </a:spcBef>
              <a:spcAft>
                <a:spcPts val="0"/>
              </a:spcAft>
              <a:buSzPts val="2700"/>
              <a:buChar char="•"/>
            </a:pPr>
            <a:r>
              <a:rPr lang="en-US" sz="2300" b="1"/>
              <a:t>Estimate Activity Durations:</a:t>
            </a:r>
            <a:r>
              <a:rPr lang="en-US" sz="2300"/>
              <a:t> Process of estimating the number of work periods.</a:t>
            </a:r>
            <a:endParaRPr sz="2300"/>
          </a:p>
          <a:p>
            <a:pPr marL="1143000" marR="0" lvl="2" indent="-285750" algn="just" rtl="0">
              <a:lnSpc>
                <a:spcPct val="100000"/>
              </a:lnSpc>
              <a:spcBef>
                <a:spcPts val="560"/>
              </a:spcBef>
              <a:spcAft>
                <a:spcPts val="0"/>
              </a:spcAft>
              <a:buSzPts val="2700"/>
              <a:buChar char="•"/>
            </a:pPr>
            <a:r>
              <a:rPr lang="en-US" sz="2300" b="1"/>
              <a:t>Develop Schedule:</a:t>
            </a:r>
            <a:r>
              <a:rPr lang="en-US" sz="2300"/>
              <a:t> Process of analyzing activity sequences, durations, resource requirements, and schedule constraints.</a:t>
            </a:r>
            <a:endParaRPr sz="2300"/>
          </a:p>
          <a:p>
            <a:pPr marL="1143000" marR="0" lvl="2" indent="-285750" algn="just" rtl="0">
              <a:lnSpc>
                <a:spcPct val="100000"/>
              </a:lnSpc>
              <a:spcBef>
                <a:spcPts val="560"/>
              </a:spcBef>
              <a:spcAft>
                <a:spcPts val="0"/>
              </a:spcAft>
              <a:buSzPts val="2700"/>
              <a:buChar char="•"/>
            </a:pPr>
            <a:r>
              <a:rPr lang="en-US" sz="2300" b="1"/>
              <a:t>Control Schedule:</a:t>
            </a:r>
            <a:r>
              <a:rPr lang="en-US" sz="2300"/>
              <a:t> Process of monitoring the status of project activities.</a:t>
            </a:r>
            <a:endParaRPr sz="23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1"/>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296" name="Google Shape;296;p21"/>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Cost Management: </a:t>
            </a:r>
            <a:endParaRPr b="1"/>
          </a:p>
          <a:p>
            <a:pPr marL="742950" lvl="1" indent="-285750" algn="just" rtl="0">
              <a:spcBef>
                <a:spcPts val="560"/>
              </a:spcBef>
              <a:spcAft>
                <a:spcPts val="0"/>
              </a:spcAft>
              <a:buClr>
                <a:schemeClr val="dk1"/>
              </a:buClr>
              <a:buSzPts val="2800"/>
              <a:buFont typeface="Tahoma" panose="020B0604030504040204"/>
              <a:buChar char="–"/>
            </a:pPr>
            <a:r>
              <a:rPr lang="en-US"/>
              <a:t>Budget baseline is established and costs are estimated in this knowledge area. </a:t>
            </a:r>
            <a:endParaRPr lang="en-US"/>
          </a:p>
          <a:p>
            <a:pPr marL="742950" lvl="1" indent="-285750" algn="just" rtl="0">
              <a:spcBef>
                <a:spcPts val="560"/>
              </a:spcBef>
              <a:spcAft>
                <a:spcPts val="0"/>
              </a:spcAft>
              <a:buClr>
                <a:schemeClr val="dk1"/>
              </a:buClr>
              <a:buSzPts val="2800"/>
              <a:buFont typeface="Tahoma" panose="020B0604030504040204"/>
              <a:buChar char="–"/>
            </a:pPr>
            <a:r>
              <a:rPr lang="en-US"/>
              <a:t>The plan to manage the costs is categorized in the cost management knowledge area too.</a:t>
            </a:r>
            <a:endParaRPr lang="en-US"/>
          </a:p>
          <a:p>
            <a:pPr marL="742950" lvl="1" indent="-285750" algn="just" rtl="0">
              <a:spcBef>
                <a:spcPts val="560"/>
              </a:spcBef>
              <a:spcAft>
                <a:spcPts val="0"/>
              </a:spcAft>
              <a:buClr>
                <a:schemeClr val="dk1"/>
              </a:buClr>
              <a:buSzPts val="2800"/>
              <a:buFont typeface="Tahoma" panose="020B0604030504040204"/>
              <a:buChar char="–"/>
            </a:pPr>
            <a:r>
              <a:rPr lang="en-US"/>
              <a:t>Includes the processes involved in planning, estimating, budgeting, financing, funding, managing, and controlling costs so the project can be completed within the approved budget. </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2fe654d6980_0_26"/>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02" name="Google Shape;302;g2fe654d6980_0_26"/>
          <p:cNvSpPr txBox="1">
            <a:spLocks noGrp="1"/>
          </p:cNvSpPr>
          <p:nvPr>
            <p:ph type="body" idx="1"/>
          </p:nvPr>
        </p:nvSpPr>
        <p:spPr>
          <a:xfrm>
            <a:off x="1307925" y="1629400"/>
            <a:ext cx="10683300" cy="50499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Cost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b="1"/>
              <a:t>The project cost management processes are:</a:t>
            </a:r>
            <a:r>
              <a:rPr lang="en-US"/>
              <a:t> </a:t>
            </a:r>
            <a:endParaRPr lang="en-US"/>
          </a:p>
          <a:p>
            <a:pPr marL="1143000" marR="0" lvl="2" indent="-241300" algn="just" rtl="0">
              <a:lnSpc>
                <a:spcPct val="150000"/>
              </a:lnSpc>
              <a:spcBef>
                <a:spcPts val="0"/>
              </a:spcBef>
              <a:spcAft>
                <a:spcPts val="0"/>
              </a:spcAft>
              <a:buSzPts val="2000"/>
              <a:buChar char="•"/>
            </a:pPr>
            <a:r>
              <a:rPr lang="en-US" sz="2000" b="1"/>
              <a:t>Plan Cost Management—</a:t>
            </a:r>
            <a:r>
              <a:rPr lang="en-US" sz="2000"/>
              <a:t>The process that establishes the policies, procedures, and documentation for planning, managing, expending, and controlling project costs.</a:t>
            </a:r>
            <a:endParaRPr sz="2000"/>
          </a:p>
          <a:p>
            <a:pPr marL="1143000" marR="0" lvl="2" indent="-241300" algn="just" rtl="0">
              <a:lnSpc>
                <a:spcPct val="150000"/>
              </a:lnSpc>
              <a:spcBef>
                <a:spcPts val="0"/>
              </a:spcBef>
              <a:spcAft>
                <a:spcPts val="0"/>
              </a:spcAft>
              <a:buSzPts val="2000"/>
              <a:buChar char="•"/>
            </a:pPr>
            <a:r>
              <a:rPr lang="en-US" sz="2000" b="1"/>
              <a:t>Estimate Costs—</a:t>
            </a:r>
            <a:r>
              <a:rPr lang="en-US" sz="2000"/>
              <a:t>The process of developing an approximation of the monetary resources needed to complete project activities.</a:t>
            </a:r>
            <a:endParaRPr sz="2000"/>
          </a:p>
          <a:p>
            <a:pPr marL="1143000" marR="0" lvl="2" indent="-241300" algn="just" rtl="0">
              <a:lnSpc>
                <a:spcPct val="150000"/>
              </a:lnSpc>
              <a:spcBef>
                <a:spcPts val="0"/>
              </a:spcBef>
              <a:spcAft>
                <a:spcPts val="0"/>
              </a:spcAft>
              <a:buSzPts val="2000"/>
              <a:buChar char="•"/>
            </a:pPr>
            <a:r>
              <a:rPr lang="en-US" sz="2000" b="1"/>
              <a:t>Determine Budget—</a:t>
            </a:r>
            <a:r>
              <a:rPr lang="en-US" sz="2000"/>
              <a:t>The process of aggregating the estimated costs of individual activities or work packages to establish an authorized cost baseline.</a:t>
            </a:r>
            <a:endParaRPr sz="2000"/>
          </a:p>
          <a:p>
            <a:pPr marL="1143000" marR="0" lvl="2" indent="-241300" algn="just" rtl="0">
              <a:lnSpc>
                <a:spcPct val="150000"/>
              </a:lnSpc>
              <a:spcBef>
                <a:spcPts val="0"/>
              </a:spcBef>
              <a:spcAft>
                <a:spcPts val="0"/>
              </a:spcAft>
              <a:buSzPts val="2000"/>
              <a:buChar char="•"/>
            </a:pPr>
            <a:r>
              <a:rPr lang="en-US" sz="2000" b="1"/>
              <a:t>Control Costs—</a:t>
            </a:r>
            <a:r>
              <a:rPr lang="en-US" sz="2000"/>
              <a:t>The process of monitoring the status of the project to update the project costs and managing changes to the cost baseline.</a:t>
            </a:r>
            <a:endParaRPr sz="2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08" name="Google Shape;308;p22"/>
          <p:cNvSpPr txBox="1">
            <a:spLocks noGrp="1"/>
          </p:cNvSpPr>
          <p:nvPr>
            <p:ph type="body" idx="1"/>
          </p:nvPr>
        </p:nvSpPr>
        <p:spPr>
          <a:xfrm>
            <a:off x="914400" y="1981200"/>
            <a:ext cx="10564500" cy="43590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Quality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It is the knowledge area where the quality requirements for project deliverables are planned and tracked. </a:t>
            </a:r>
            <a:endParaRPr lang="en-US"/>
          </a:p>
          <a:p>
            <a:pPr marL="742950" lvl="1" indent="-285750" algn="just" rtl="0">
              <a:spcBef>
                <a:spcPts val="560"/>
              </a:spcBef>
              <a:spcAft>
                <a:spcPts val="0"/>
              </a:spcAft>
              <a:buClr>
                <a:schemeClr val="dk1"/>
              </a:buClr>
              <a:buSzPts val="2800"/>
              <a:buFont typeface="Tahoma" panose="020B0604030504040204"/>
              <a:buChar char="–"/>
            </a:pPr>
            <a:r>
              <a:rPr lang="en-US"/>
              <a:t>In this area, all the quality issues are monitored and fixed.</a:t>
            </a:r>
            <a:endParaRPr lang="en-US"/>
          </a:p>
          <a:p>
            <a:pPr marL="742950" lvl="1" indent="-285750" algn="just" rtl="0">
              <a:spcBef>
                <a:spcPts val="560"/>
              </a:spcBef>
              <a:spcAft>
                <a:spcPts val="0"/>
              </a:spcAft>
              <a:buClr>
                <a:schemeClr val="dk1"/>
              </a:buClr>
              <a:buSzPts val="2800"/>
              <a:buFont typeface="Tahoma" panose="020B0604030504040204"/>
              <a:buChar char="–"/>
            </a:pPr>
            <a:r>
              <a:rPr lang="en-US"/>
              <a:t>Includes the processes for incorporating the organization's quality policy regarding planning, managing, and controlling project and product quality requirements, in order to meet stakeholders’ expectations.</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2fe654d6980_0_41"/>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14" name="Google Shape;314;g2fe654d6980_0_41"/>
          <p:cNvSpPr txBox="1">
            <a:spLocks noGrp="1"/>
          </p:cNvSpPr>
          <p:nvPr>
            <p:ph type="body" idx="1"/>
          </p:nvPr>
        </p:nvSpPr>
        <p:spPr>
          <a:xfrm>
            <a:off x="856250" y="1629400"/>
            <a:ext cx="11153700" cy="47733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quality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b="1"/>
              <a:t>The project quality management processes are:</a:t>
            </a:r>
            <a:r>
              <a:rPr lang="en-US"/>
              <a:t> </a:t>
            </a:r>
            <a:endParaRPr lang="en-US"/>
          </a:p>
          <a:p>
            <a:pPr marL="1143000" marR="0" lvl="2" indent="-241300" algn="just" rtl="0">
              <a:lnSpc>
                <a:spcPct val="150000"/>
              </a:lnSpc>
              <a:spcBef>
                <a:spcPts val="0"/>
              </a:spcBef>
              <a:spcAft>
                <a:spcPts val="0"/>
              </a:spcAft>
              <a:buSzPts val="2000"/>
              <a:buChar char="•"/>
            </a:pPr>
            <a:r>
              <a:rPr lang="en-US" sz="2000" b="1"/>
              <a:t>Plan Quality Management—</a:t>
            </a:r>
            <a:r>
              <a:rPr lang="en-US" sz="2000"/>
              <a:t>The process of identifying quality requirements and/or standards for the project and its deliverables and documenting how the project will demonstrate compliance with quality requirements.</a:t>
            </a:r>
            <a:endParaRPr sz="2000"/>
          </a:p>
          <a:p>
            <a:pPr marL="1143000" marR="0" lvl="2" indent="-241300" algn="just" rtl="0">
              <a:lnSpc>
                <a:spcPct val="150000"/>
              </a:lnSpc>
              <a:spcBef>
                <a:spcPts val="0"/>
              </a:spcBef>
              <a:spcAft>
                <a:spcPts val="0"/>
              </a:spcAft>
              <a:buSzPts val="2000"/>
              <a:buChar char="•"/>
            </a:pPr>
            <a:r>
              <a:rPr lang="en-US" sz="2000" b="1"/>
              <a:t>Perform Quality Assurance—</a:t>
            </a:r>
            <a:r>
              <a:rPr lang="en-US" sz="2000"/>
              <a:t>The process of auditing the quality requirements and the results from quality control measurements to ensure that appropriate quality standards and operational definitions are used.</a:t>
            </a:r>
            <a:endParaRPr sz="2000"/>
          </a:p>
          <a:p>
            <a:pPr marL="1143000" marR="0" lvl="2" indent="-241300" algn="just" rtl="0">
              <a:lnSpc>
                <a:spcPct val="150000"/>
              </a:lnSpc>
              <a:spcBef>
                <a:spcPts val="0"/>
              </a:spcBef>
              <a:spcAft>
                <a:spcPts val="0"/>
              </a:spcAft>
              <a:buSzPts val="2000"/>
              <a:buChar char="•"/>
            </a:pPr>
            <a:r>
              <a:rPr lang="en-US" sz="2000" b="1"/>
              <a:t>Control Quality—</a:t>
            </a:r>
            <a:r>
              <a:rPr lang="en-US" sz="2000"/>
              <a:t>The process of monitoring and recording results of executing the quality activities to assess performance and recommend necessary changes.</a:t>
            </a:r>
            <a:endParaRPr sz="2600"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20" name="Google Shape;320;p23"/>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Human Resources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This knowledge area, which is the HR management of the project.</a:t>
            </a:r>
            <a:endParaRPr lang="en-US"/>
          </a:p>
          <a:p>
            <a:pPr marL="742950" lvl="1" indent="-285750" algn="just" rtl="0">
              <a:spcBef>
                <a:spcPts val="560"/>
              </a:spcBef>
              <a:spcAft>
                <a:spcPts val="0"/>
              </a:spcAft>
              <a:buClr>
                <a:schemeClr val="dk1"/>
              </a:buClr>
              <a:buSzPts val="2800"/>
              <a:buFont typeface="Tahoma" panose="020B0604030504040204"/>
              <a:buChar char="–"/>
            </a:pPr>
            <a:r>
              <a:rPr lang="en-US"/>
              <a:t>It comprises of the processes very essential to define the ways human resources will be utilized, developed, acquired and managed.</a:t>
            </a:r>
            <a:endParaRPr lang="en-US"/>
          </a:p>
          <a:p>
            <a:pPr marL="742950" lvl="1" indent="-222250" algn="just" rtl="0">
              <a:spcBef>
                <a:spcPts val="560"/>
              </a:spcBef>
              <a:spcAft>
                <a:spcPts val="0"/>
              </a:spcAft>
              <a:buSzPts val="1800"/>
              <a:buChar char="–"/>
            </a:pPr>
            <a:r>
              <a:rPr lang="en-US"/>
              <a:t>Includes the processes to identify, acquire, and manage the resources needed for the successful completion of the project. </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2fe654d6980_0_54"/>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26" name="Google Shape;326;g2fe654d6980_0_54"/>
          <p:cNvSpPr txBox="1">
            <a:spLocks noGrp="1"/>
          </p:cNvSpPr>
          <p:nvPr>
            <p:ph type="body" idx="1"/>
          </p:nvPr>
        </p:nvSpPr>
        <p:spPr>
          <a:xfrm>
            <a:off x="966875" y="1629400"/>
            <a:ext cx="11015100" cy="51399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human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b="1"/>
              <a:t>The project human management processes are:</a:t>
            </a:r>
            <a:r>
              <a:rPr lang="en-US"/>
              <a:t> </a:t>
            </a:r>
            <a:endParaRPr lang="en-US"/>
          </a:p>
          <a:p>
            <a:pPr marL="1143000" marR="0" lvl="2" indent="-273050" algn="just" rtl="0">
              <a:lnSpc>
                <a:spcPct val="100000"/>
              </a:lnSpc>
              <a:spcBef>
                <a:spcPts val="560"/>
              </a:spcBef>
              <a:spcAft>
                <a:spcPts val="0"/>
              </a:spcAft>
              <a:buSzPts val="2500"/>
              <a:buChar char="•"/>
            </a:pPr>
            <a:r>
              <a:rPr lang="en-US" sz="2100" b="1"/>
              <a:t>Plan Human Resource Management</a:t>
            </a:r>
            <a:r>
              <a:rPr lang="en-US" sz="2100"/>
              <a:t>—The process of identifying and documenting project roles, responsibilities, required skills, reporting relationships, and creating a staffing management plan.</a:t>
            </a:r>
            <a:endParaRPr sz="2100"/>
          </a:p>
          <a:p>
            <a:pPr marL="1143000" marR="0" lvl="2" indent="-273050" algn="just" rtl="0">
              <a:lnSpc>
                <a:spcPct val="100000"/>
              </a:lnSpc>
              <a:spcBef>
                <a:spcPts val="560"/>
              </a:spcBef>
              <a:spcAft>
                <a:spcPts val="0"/>
              </a:spcAft>
              <a:buSzPts val="2500"/>
              <a:buChar char="•"/>
            </a:pPr>
            <a:r>
              <a:rPr lang="en-US" sz="2100" b="1"/>
              <a:t>Acquire Project Team</a:t>
            </a:r>
            <a:r>
              <a:rPr lang="en-US" sz="2100"/>
              <a:t>—The process of confirming human resource availability and obtaining the team necessary to complete project activities.</a:t>
            </a:r>
            <a:endParaRPr sz="2100"/>
          </a:p>
          <a:p>
            <a:pPr marL="1143000" marR="0" lvl="2" indent="-273050" algn="just" rtl="0">
              <a:lnSpc>
                <a:spcPct val="100000"/>
              </a:lnSpc>
              <a:spcBef>
                <a:spcPts val="560"/>
              </a:spcBef>
              <a:spcAft>
                <a:spcPts val="0"/>
              </a:spcAft>
              <a:buSzPts val="2500"/>
              <a:buChar char="•"/>
            </a:pPr>
            <a:r>
              <a:rPr lang="en-US" sz="2100" b="1"/>
              <a:t>Develop Project Team</a:t>
            </a:r>
            <a:r>
              <a:rPr lang="en-US" sz="2100"/>
              <a:t>—The process of improving competencies, team member interaction, and overall team environment to enhance project performance.</a:t>
            </a:r>
            <a:endParaRPr sz="2100"/>
          </a:p>
          <a:p>
            <a:pPr marL="1143000" marR="0" lvl="2" indent="-273050" algn="just" rtl="0">
              <a:lnSpc>
                <a:spcPct val="100000"/>
              </a:lnSpc>
              <a:spcBef>
                <a:spcPts val="560"/>
              </a:spcBef>
              <a:spcAft>
                <a:spcPts val="0"/>
              </a:spcAft>
              <a:buSzPts val="2500"/>
              <a:buChar char="•"/>
            </a:pPr>
            <a:r>
              <a:rPr lang="en-US" sz="2100" b="1"/>
              <a:t>Manage Project Team</a:t>
            </a:r>
            <a:r>
              <a:rPr lang="en-US" sz="2100"/>
              <a:t>—The process of tracking team member performance, providing feedback, resolving issues, and managing changes to optimize project performance.</a:t>
            </a:r>
            <a:endParaRPr sz="2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4"/>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32" name="Google Shape;332;p24"/>
          <p:cNvSpPr txBox="1">
            <a:spLocks noGrp="1"/>
          </p:cNvSpPr>
          <p:nvPr>
            <p:ph type="body" idx="1"/>
          </p:nvPr>
        </p:nvSpPr>
        <p:spPr>
          <a:xfrm>
            <a:off x="914400" y="1981200"/>
            <a:ext cx="10363200" cy="46611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Communications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Communications management is the knowledge area that defines how communications within the project will work. </a:t>
            </a:r>
            <a:endParaRPr lang="en-US"/>
          </a:p>
          <a:p>
            <a:pPr marL="742950" lvl="1" indent="-285750" algn="just" rtl="0">
              <a:spcBef>
                <a:spcPts val="560"/>
              </a:spcBef>
              <a:spcAft>
                <a:spcPts val="0"/>
              </a:spcAft>
              <a:buClr>
                <a:schemeClr val="dk1"/>
              </a:buClr>
              <a:buSzPts val="2800"/>
              <a:buFont typeface="Tahoma" panose="020B0604030504040204"/>
              <a:buChar char="–"/>
            </a:pPr>
            <a:r>
              <a:rPr lang="en-US"/>
              <a:t>In these processes, the project manager makes the communication management plan, ensures the plan is followed, and controls information flow within the project.</a:t>
            </a:r>
            <a:endParaRPr lang="en-US"/>
          </a:p>
          <a:p>
            <a:pPr marL="742950" lvl="1" indent="-285750" algn="just" rtl="0">
              <a:spcBef>
                <a:spcPts val="560"/>
              </a:spcBef>
              <a:spcAft>
                <a:spcPts val="0"/>
              </a:spcAft>
              <a:buClr>
                <a:schemeClr val="dk1"/>
              </a:buClr>
              <a:buSzPts val="2800"/>
              <a:buFont typeface="Tahoma" panose="020B0604030504040204"/>
              <a:buChar char="–"/>
            </a:pPr>
            <a:r>
              <a:rPr lang="en-US"/>
              <a:t>Includes the processes required to ensure timely and appropriate planning, collection, creation, distribution, storage, retrieval, management, control, monitoring, and ultimate disposition of project information.  </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2fe654d6980_0_63"/>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38" name="Google Shape;338;g2fe654d6980_0_63"/>
          <p:cNvSpPr txBox="1">
            <a:spLocks noGrp="1"/>
          </p:cNvSpPr>
          <p:nvPr>
            <p:ph type="body" idx="1"/>
          </p:nvPr>
        </p:nvSpPr>
        <p:spPr>
          <a:xfrm>
            <a:off x="966875" y="1629400"/>
            <a:ext cx="11015100" cy="51399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Communications Management:</a:t>
            </a:r>
            <a:endParaRPr b="1"/>
          </a:p>
          <a:p>
            <a:pPr marL="742950" marR="0" lvl="1" indent="-349250" algn="just" rtl="0">
              <a:lnSpc>
                <a:spcPct val="100000"/>
              </a:lnSpc>
              <a:spcBef>
                <a:spcPts val="560"/>
              </a:spcBef>
              <a:spcAft>
                <a:spcPts val="0"/>
              </a:spcAft>
              <a:buSzPts val="2800"/>
              <a:buChar char="–"/>
            </a:pPr>
            <a:r>
              <a:rPr lang="en-US" sz="2700" b="1"/>
              <a:t>The project Communications</a:t>
            </a:r>
            <a:r>
              <a:rPr lang="en-US" sz="3100" b="1"/>
              <a:t> </a:t>
            </a:r>
            <a:r>
              <a:rPr lang="en-US" sz="2700" b="1"/>
              <a:t>management processes are:</a:t>
            </a:r>
            <a:r>
              <a:rPr lang="en-US" sz="2700"/>
              <a:t> </a:t>
            </a:r>
            <a:endParaRPr sz="2700"/>
          </a:p>
          <a:p>
            <a:pPr marL="1143000" marR="0" lvl="2" indent="-273050" algn="just" rtl="0">
              <a:lnSpc>
                <a:spcPct val="100000"/>
              </a:lnSpc>
              <a:spcBef>
                <a:spcPts val="560"/>
              </a:spcBef>
              <a:spcAft>
                <a:spcPts val="0"/>
              </a:spcAft>
              <a:buSzPts val="2500"/>
              <a:buChar char="•"/>
            </a:pPr>
            <a:r>
              <a:rPr lang="en-US" sz="2100" b="1"/>
              <a:t>Plan Communications Management—</a:t>
            </a:r>
            <a:r>
              <a:rPr lang="en-US" sz="2100"/>
              <a:t>The process of developing an appropriate approach and plan for project communications based on stakeholder's information needs and requirements, and available organizational assets.</a:t>
            </a:r>
            <a:endParaRPr sz="2100"/>
          </a:p>
          <a:p>
            <a:pPr marL="1143000" marR="0" lvl="2" indent="-273050" algn="just" rtl="0">
              <a:lnSpc>
                <a:spcPct val="100000"/>
              </a:lnSpc>
              <a:spcBef>
                <a:spcPts val="560"/>
              </a:spcBef>
              <a:spcAft>
                <a:spcPts val="0"/>
              </a:spcAft>
              <a:buSzPts val="2500"/>
              <a:buChar char="•"/>
            </a:pPr>
            <a:r>
              <a:rPr lang="en-US" sz="2100" b="1"/>
              <a:t>Manage Communications—</a:t>
            </a:r>
            <a:r>
              <a:rPr lang="en-US" sz="2100"/>
              <a:t>The process of creating, collecting, distributing, storing, retrieving and the ultimate disposition of project information in accordance with the communications management plan.</a:t>
            </a:r>
            <a:endParaRPr sz="2100"/>
          </a:p>
          <a:p>
            <a:pPr marL="1143000" marR="0" lvl="2" indent="-273050" algn="just" rtl="0">
              <a:lnSpc>
                <a:spcPct val="100000"/>
              </a:lnSpc>
              <a:spcBef>
                <a:spcPts val="560"/>
              </a:spcBef>
              <a:spcAft>
                <a:spcPts val="0"/>
              </a:spcAft>
              <a:buSzPts val="2500"/>
              <a:buChar char="•"/>
            </a:pPr>
            <a:r>
              <a:rPr lang="en-US" sz="2100" b="1"/>
              <a:t>Control Communications—</a:t>
            </a:r>
            <a:r>
              <a:rPr lang="en-US" sz="2100"/>
              <a:t>The process of monitoring and controlling communications throughout the entire project life cycle to ensure the information needs of the project stakeholders are met.</a:t>
            </a:r>
            <a:endParaRPr sz="2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5"/>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44" name="Google Shape;344;p25"/>
          <p:cNvSpPr txBox="1">
            <a:spLocks noGrp="1"/>
          </p:cNvSpPr>
          <p:nvPr>
            <p:ph type="body" idx="1"/>
          </p:nvPr>
        </p:nvSpPr>
        <p:spPr>
          <a:xfrm>
            <a:off x="914400" y="1981200"/>
            <a:ext cx="10643700" cy="41148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Risk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Project Risk Management consists of identifying risks, planning risk management, conducting risk assessments, and controlling risks. </a:t>
            </a:r>
            <a:endParaRPr lang="en-US"/>
          </a:p>
          <a:p>
            <a:pPr marL="742950" lvl="1" indent="-285750" algn="just" rtl="0">
              <a:spcBef>
                <a:spcPts val="560"/>
              </a:spcBef>
              <a:spcAft>
                <a:spcPts val="0"/>
              </a:spcAft>
              <a:buClr>
                <a:schemeClr val="dk1"/>
              </a:buClr>
              <a:buSzPts val="2800"/>
              <a:buFont typeface="Tahoma" panose="020B0604030504040204"/>
              <a:buChar char="–"/>
            </a:pPr>
            <a:r>
              <a:rPr lang="en-US"/>
              <a:t>Project Risk Management includes the processes of conducting risk management planning, identification, analysis, response planning, response implementation, and monitoring risk on a project. </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fe654d6980_0_69"/>
          <p:cNvSpPr txBox="1">
            <a:spLocks noGrp="1"/>
          </p:cNvSpPr>
          <p:nvPr>
            <p:ph type="title"/>
          </p:nvPr>
        </p:nvSpPr>
        <p:spPr>
          <a:xfrm>
            <a:off x="2209795" y="17468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50" name="Google Shape;350;g2fe654d6980_0_69"/>
          <p:cNvSpPr txBox="1">
            <a:spLocks noGrp="1"/>
          </p:cNvSpPr>
          <p:nvPr>
            <p:ph type="body" idx="1"/>
          </p:nvPr>
        </p:nvSpPr>
        <p:spPr>
          <a:xfrm>
            <a:off x="91175" y="1225500"/>
            <a:ext cx="12028800" cy="54885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Risk Management:</a:t>
            </a:r>
            <a:endParaRPr b="1"/>
          </a:p>
          <a:p>
            <a:pPr marL="742950" marR="0" lvl="1" indent="-285750" algn="just" rtl="0">
              <a:lnSpc>
                <a:spcPct val="100000"/>
              </a:lnSpc>
              <a:spcBef>
                <a:spcPts val="560"/>
              </a:spcBef>
              <a:spcAft>
                <a:spcPts val="0"/>
              </a:spcAft>
              <a:buSzPts val="2800"/>
              <a:buChar char="–"/>
            </a:pPr>
            <a:r>
              <a:rPr lang="en-US" b="1"/>
              <a:t>The project Risk management processes are:</a:t>
            </a:r>
            <a:r>
              <a:rPr lang="en-US"/>
              <a:t> </a:t>
            </a:r>
            <a:endParaRPr lang="en-US"/>
          </a:p>
          <a:p>
            <a:pPr marL="1143000" marR="0" lvl="2" indent="-273050" algn="just" rtl="0">
              <a:lnSpc>
                <a:spcPct val="100000"/>
              </a:lnSpc>
              <a:spcBef>
                <a:spcPts val="560"/>
              </a:spcBef>
              <a:spcAft>
                <a:spcPts val="0"/>
              </a:spcAft>
              <a:buSzPts val="2500"/>
              <a:buChar char="•"/>
            </a:pPr>
            <a:r>
              <a:rPr lang="en-US" sz="2100" b="1"/>
              <a:t>Plan Risk Management—</a:t>
            </a:r>
            <a:r>
              <a:rPr lang="en-US" sz="1800"/>
              <a:t>The process of defining how to conduct risk management activities for a project.</a:t>
            </a:r>
            <a:endParaRPr sz="2000"/>
          </a:p>
          <a:p>
            <a:pPr marL="1143000" marR="0" lvl="2" indent="-273050" algn="just" rtl="0">
              <a:lnSpc>
                <a:spcPct val="100000"/>
              </a:lnSpc>
              <a:spcBef>
                <a:spcPts val="560"/>
              </a:spcBef>
              <a:spcAft>
                <a:spcPts val="0"/>
              </a:spcAft>
              <a:buSzPts val="2500"/>
              <a:buChar char="•"/>
            </a:pPr>
            <a:r>
              <a:rPr lang="en-US" sz="2100" b="1"/>
              <a:t>Identify Risks—</a:t>
            </a:r>
            <a:r>
              <a:rPr lang="en-US" sz="1800"/>
              <a:t>The process of determining which risks may affect the project and documenting their characteristics.</a:t>
            </a:r>
            <a:endParaRPr sz="2000"/>
          </a:p>
          <a:p>
            <a:pPr marL="1143000" marR="0" lvl="2" indent="-273050" algn="just" rtl="0">
              <a:lnSpc>
                <a:spcPct val="100000"/>
              </a:lnSpc>
              <a:spcBef>
                <a:spcPts val="560"/>
              </a:spcBef>
              <a:spcAft>
                <a:spcPts val="0"/>
              </a:spcAft>
              <a:buSzPts val="2500"/>
              <a:buChar char="•"/>
            </a:pPr>
            <a:r>
              <a:rPr lang="en-US" sz="2100" b="1"/>
              <a:t>Perform Qualitative Risk Analysis—</a:t>
            </a:r>
            <a:r>
              <a:rPr lang="en-US" sz="1800"/>
              <a:t>The process of prioritizing risks for further analysis or action by assessing and combining their probability of occurrence and impact.</a:t>
            </a:r>
            <a:endParaRPr sz="2000"/>
          </a:p>
          <a:p>
            <a:pPr marL="1143000" marR="0" lvl="2" indent="-273050" algn="just" rtl="0">
              <a:lnSpc>
                <a:spcPct val="100000"/>
              </a:lnSpc>
              <a:spcBef>
                <a:spcPts val="560"/>
              </a:spcBef>
              <a:spcAft>
                <a:spcPts val="0"/>
              </a:spcAft>
              <a:buSzPts val="2500"/>
              <a:buChar char="•"/>
            </a:pPr>
            <a:r>
              <a:rPr lang="en-US" sz="2100" b="1"/>
              <a:t>Perform Quantitative Risk Analysis—</a:t>
            </a:r>
            <a:r>
              <a:rPr lang="en-US" sz="1800"/>
              <a:t>The process of numerically analyzing the effect of identified risks on overall project objectives.</a:t>
            </a:r>
            <a:endParaRPr sz="2000"/>
          </a:p>
          <a:p>
            <a:pPr marL="1143000" marR="0" lvl="2" indent="-273050" algn="just" rtl="0">
              <a:lnSpc>
                <a:spcPct val="100000"/>
              </a:lnSpc>
              <a:spcBef>
                <a:spcPts val="560"/>
              </a:spcBef>
              <a:spcAft>
                <a:spcPts val="0"/>
              </a:spcAft>
              <a:buSzPts val="2500"/>
              <a:buChar char="•"/>
            </a:pPr>
            <a:r>
              <a:rPr lang="en-US" sz="2100" b="1"/>
              <a:t>Plan Risk Responses—</a:t>
            </a:r>
            <a:r>
              <a:rPr lang="en-US" sz="1800"/>
              <a:t>The process of developing options and actions to enhance opportunities and to reduce threats to project objectives</a:t>
            </a:r>
            <a:r>
              <a:rPr lang="en-US" sz="2000"/>
              <a:t>.</a:t>
            </a:r>
            <a:endParaRPr sz="2000"/>
          </a:p>
          <a:p>
            <a:pPr marL="1143000" marR="0" lvl="2" indent="-273050" algn="just" rtl="0">
              <a:lnSpc>
                <a:spcPct val="100000"/>
              </a:lnSpc>
              <a:spcBef>
                <a:spcPts val="560"/>
              </a:spcBef>
              <a:spcAft>
                <a:spcPts val="0"/>
              </a:spcAft>
              <a:buSzPts val="2500"/>
              <a:buChar char="•"/>
            </a:pPr>
            <a:r>
              <a:rPr lang="en-US" sz="2100" b="1"/>
              <a:t>Control Risks—</a:t>
            </a:r>
            <a:r>
              <a:rPr lang="en-US" sz="1800"/>
              <a:t>The process of implementing risk response plans, tracking identified risks, monitoring residual risks, identifying new risks, and evaluating risk process effectiveness throughout the project.</a:t>
            </a:r>
            <a:endParaRPr sz="18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6"/>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56" name="Google Shape;356;p26"/>
          <p:cNvSpPr txBox="1">
            <a:spLocks noGrp="1"/>
          </p:cNvSpPr>
          <p:nvPr>
            <p:ph type="body" idx="1"/>
          </p:nvPr>
        </p:nvSpPr>
        <p:spPr>
          <a:xfrm>
            <a:off x="914400" y="1752600"/>
            <a:ext cx="10363200" cy="48345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Char char="•"/>
            </a:pPr>
            <a:r>
              <a:rPr lang="en-US" b="1"/>
              <a:t>Project Procurement Management:</a:t>
            </a:r>
            <a:endParaRPr b="1"/>
          </a:p>
          <a:p>
            <a:pPr marL="742950" lvl="1" indent="-285750" algn="just" rtl="0">
              <a:spcBef>
                <a:spcPts val="560"/>
              </a:spcBef>
              <a:spcAft>
                <a:spcPts val="0"/>
              </a:spcAft>
              <a:buClr>
                <a:schemeClr val="dk1"/>
              </a:buClr>
              <a:buSzPts val="2800"/>
              <a:buFont typeface="Tahoma" panose="020B0604030504040204"/>
              <a:buChar char="–"/>
            </a:pPr>
            <a:r>
              <a:rPr lang="en-US"/>
              <a:t>This knowledge area deals with the processes which project managers usually follow to acquire required material for the successful completion of the project.</a:t>
            </a:r>
            <a:endParaRPr lang="en-US"/>
          </a:p>
          <a:p>
            <a:pPr marL="742950" lvl="1" indent="-285750" algn="just" rtl="0">
              <a:spcBef>
                <a:spcPts val="560"/>
              </a:spcBef>
              <a:spcAft>
                <a:spcPts val="0"/>
              </a:spcAft>
              <a:buClr>
                <a:schemeClr val="dk1"/>
              </a:buClr>
              <a:buSzPts val="2800"/>
              <a:buFont typeface="Tahoma" panose="020B0604030504040204"/>
              <a:buChar char="–"/>
            </a:pPr>
            <a:r>
              <a:rPr lang="en-US"/>
              <a:t>In this knowledge area, project managers come up with the plan for conducting procurements, controlling the procurements and closing out the procurements.</a:t>
            </a:r>
            <a:endParaRPr lang="en-US"/>
          </a:p>
          <a:p>
            <a:pPr marL="742950" lvl="1" indent="-285750" algn="just" rtl="0">
              <a:spcBef>
                <a:spcPts val="560"/>
              </a:spcBef>
              <a:spcAft>
                <a:spcPts val="0"/>
              </a:spcAft>
              <a:buClr>
                <a:schemeClr val="dk1"/>
              </a:buClr>
              <a:buSzPts val="2800"/>
              <a:buFont typeface="Tahoma" panose="020B0604030504040204"/>
              <a:buChar char="–"/>
            </a:pPr>
            <a:r>
              <a:rPr lang="en-US"/>
              <a:t>Project Procurement Management includes the processes necessary to purchase or acquire products, services, or results needed from outside the project team. </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2fe654d6980_0_75"/>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62" name="Google Shape;362;g2fe654d6980_0_75"/>
          <p:cNvSpPr txBox="1">
            <a:spLocks noGrp="1"/>
          </p:cNvSpPr>
          <p:nvPr>
            <p:ph type="body" idx="1"/>
          </p:nvPr>
        </p:nvSpPr>
        <p:spPr>
          <a:xfrm>
            <a:off x="966875" y="1629400"/>
            <a:ext cx="11015100" cy="51399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Procurement Management:</a:t>
            </a:r>
            <a:endParaRPr b="1"/>
          </a:p>
          <a:p>
            <a:pPr marL="742950" marR="0" lvl="1" indent="-349250" algn="just" rtl="0">
              <a:lnSpc>
                <a:spcPct val="100000"/>
              </a:lnSpc>
              <a:spcBef>
                <a:spcPts val="560"/>
              </a:spcBef>
              <a:spcAft>
                <a:spcPts val="0"/>
              </a:spcAft>
              <a:buSzPts val="2800"/>
              <a:buChar char="–"/>
            </a:pPr>
            <a:r>
              <a:rPr lang="en-US" sz="2700" b="1"/>
              <a:t>The project procurement management processes are:</a:t>
            </a:r>
            <a:r>
              <a:rPr lang="en-US" sz="2700"/>
              <a:t> </a:t>
            </a:r>
            <a:endParaRPr sz="2700"/>
          </a:p>
          <a:p>
            <a:pPr marL="1143000" marR="0" lvl="2" indent="-273050" algn="just" rtl="0">
              <a:lnSpc>
                <a:spcPct val="100000"/>
              </a:lnSpc>
              <a:spcBef>
                <a:spcPts val="560"/>
              </a:spcBef>
              <a:spcAft>
                <a:spcPts val="0"/>
              </a:spcAft>
              <a:buSzPts val="2500"/>
              <a:buChar char="•"/>
            </a:pPr>
            <a:r>
              <a:rPr lang="en-US" sz="2100" b="1"/>
              <a:t>Plan Procurement Management—</a:t>
            </a:r>
            <a:r>
              <a:rPr lang="en-US" sz="2100"/>
              <a:t>The process of documenting project procurement decisions, specifying the approach, and identifying potential sellers.</a:t>
            </a:r>
            <a:endParaRPr sz="2100"/>
          </a:p>
          <a:p>
            <a:pPr marL="1143000" marR="0" lvl="2" indent="-273050" algn="just" rtl="0">
              <a:lnSpc>
                <a:spcPct val="100000"/>
              </a:lnSpc>
              <a:spcBef>
                <a:spcPts val="560"/>
              </a:spcBef>
              <a:spcAft>
                <a:spcPts val="0"/>
              </a:spcAft>
              <a:buSzPts val="2500"/>
              <a:buChar char="•"/>
            </a:pPr>
            <a:r>
              <a:rPr lang="en-US" sz="2100" b="1"/>
              <a:t>Conduct Procurements—</a:t>
            </a:r>
            <a:r>
              <a:rPr lang="en-US" sz="2100"/>
              <a:t>The process of obtaining seller responses, selecting a seller, and awarding a contract.</a:t>
            </a:r>
            <a:endParaRPr sz="2100"/>
          </a:p>
          <a:p>
            <a:pPr marL="1143000" marR="0" lvl="2" indent="-273050" algn="just" rtl="0">
              <a:lnSpc>
                <a:spcPct val="100000"/>
              </a:lnSpc>
              <a:spcBef>
                <a:spcPts val="560"/>
              </a:spcBef>
              <a:spcAft>
                <a:spcPts val="0"/>
              </a:spcAft>
              <a:buSzPts val="2500"/>
              <a:buChar char="•"/>
            </a:pPr>
            <a:r>
              <a:rPr lang="en-US" sz="2100" b="1"/>
              <a:t>Control Procurements—</a:t>
            </a:r>
            <a:r>
              <a:rPr lang="en-US" sz="2100"/>
              <a:t>The process of managing procurement relationships, monitoring contract performance, and making changes and corrections as appropriate.</a:t>
            </a:r>
            <a:endParaRPr sz="2100"/>
          </a:p>
          <a:p>
            <a:pPr marL="1143000" marR="0" lvl="2" indent="-273050" algn="just" rtl="0">
              <a:lnSpc>
                <a:spcPct val="100000"/>
              </a:lnSpc>
              <a:spcBef>
                <a:spcPts val="560"/>
              </a:spcBef>
              <a:spcAft>
                <a:spcPts val="0"/>
              </a:spcAft>
              <a:buSzPts val="2500"/>
              <a:buChar char="•"/>
            </a:pPr>
            <a:r>
              <a:rPr lang="en-US" sz="2100" b="1"/>
              <a:t>Close Procurements—</a:t>
            </a:r>
            <a:r>
              <a:rPr lang="en-US" sz="2100"/>
              <a:t>The process of completing each project procurement.</a:t>
            </a:r>
            <a:endParaRPr sz="2100"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7"/>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68" name="Google Shape;368;p27"/>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spcBef>
                <a:spcPts val="0"/>
              </a:spcBef>
              <a:spcAft>
                <a:spcPts val="0"/>
              </a:spcAft>
              <a:buClr>
                <a:schemeClr val="dk1"/>
              </a:buClr>
              <a:buSzPts val="3200"/>
              <a:buFont typeface="Tahoma" panose="020B0604030504040204"/>
              <a:buChar char="•"/>
            </a:pPr>
            <a:r>
              <a:rPr lang="en-US" b="1"/>
              <a:t>Project Stakeholder Management:</a:t>
            </a:r>
            <a:r>
              <a:rPr lang="en-US"/>
              <a:t> </a:t>
            </a:r>
            <a:endParaRPr lang="en-US"/>
          </a:p>
          <a:p>
            <a:pPr marL="742950" lvl="1" indent="-285750" algn="just" rtl="0">
              <a:spcBef>
                <a:spcPts val="560"/>
              </a:spcBef>
              <a:spcAft>
                <a:spcPts val="0"/>
              </a:spcAft>
              <a:buClr>
                <a:schemeClr val="dk1"/>
              </a:buClr>
              <a:buSzPts val="2800"/>
              <a:buFont typeface="Tahoma" panose="020B0604030504040204"/>
              <a:buChar char="–"/>
            </a:pPr>
            <a:r>
              <a:rPr lang="en-US"/>
              <a:t>Project Stakeholder Management area encompasses all the processes which is used by a project manager for recognizing and satisfying the ones who are affected by the project. </a:t>
            </a:r>
            <a:endParaRPr lang="en-US"/>
          </a:p>
          <a:p>
            <a:pPr marL="742950" lvl="1" indent="-285750" algn="just" rtl="0">
              <a:spcBef>
                <a:spcPts val="560"/>
              </a:spcBef>
              <a:spcAft>
                <a:spcPts val="0"/>
              </a:spcAft>
              <a:buClr>
                <a:schemeClr val="dk1"/>
              </a:buClr>
              <a:buSzPts val="2800"/>
              <a:buFont typeface="Tahoma" panose="020B0604030504040204"/>
              <a:buChar char="–"/>
            </a:pPr>
            <a:r>
              <a:rPr lang="en-US"/>
              <a:t>The affected party can either be internal or external, in nature. </a:t>
            </a:r>
            <a:endParaRPr lang="en-US"/>
          </a:p>
          <a:p>
            <a:pPr marL="742950" lvl="1" indent="-285750" algn="just" rtl="0">
              <a:spcBef>
                <a:spcPts val="560"/>
              </a:spcBef>
              <a:spcAft>
                <a:spcPts val="0"/>
              </a:spcAft>
              <a:buClr>
                <a:schemeClr val="dk1"/>
              </a:buClr>
              <a:buSzPts val="2800"/>
              <a:buFont typeface="Tahoma" panose="020B0604030504040204"/>
              <a:buChar char="–"/>
            </a:pPr>
            <a:r>
              <a:rPr lang="en-US"/>
              <a:t>You can pay close attention to those stakeholders who can have a powerful positive or negative impact on the project.</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2fe654d6980_0_81"/>
          <p:cNvSpPr txBox="1">
            <a:spLocks noGrp="1"/>
          </p:cNvSpPr>
          <p:nvPr>
            <p:ph type="title"/>
          </p:nvPr>
        </p:nvSpPr>
        <p:spPr>
          <a:xfrm>
            <a:off x="2209795" y="156255"/>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74" name="Google Shape;374;g2fe654d6980_0_81"/>
          <p:cNvSpPr txBox="1">
            <a:spLocks noGrp="1"/>
          </p:cNvSpPr>
          <p:nvPr>
            <p:ph type="body" idx="1"/>
          </p:nvPr>
        </p:nvSpPr>
        <p:spPr>
          <a:xfrm>
            <a:off x="266325" y="1352850"/>
            <a:ext cx="11761800" cy="53541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3200"/>
              <a:buChar char="•"/>
            </a:pPr>
            <a:r>
              <a:rPr lang="en-US" b="1"/>
              <a:t>Project Stakeholders Management:</a:t>
            </a:r>
            <a:endParaRPr b="1"/>
          </a:p>
          <a:p>
            <a:pPr marL="742950" marR="0" lvl="1" indent="-349250" algn="just" rtl="0">
              <a:lnSpc>
                <a:spcPct val="100000"/>
              </a:lnSpc>
              <a:spcBef>
                <a:spcPts val="560"/>
              </a:spcBef>
              <a:spcAft>
                <a:spcPts val="0"/>
              </a:spcAft>
              <a:buSzPts val="2800"/>
              <a:buChar char="–"/>
            </a:pPr>
            <a:r>
              <a:rPr lang="en-US" sz="2700" b="1"/>
              <a:t>The project stakeholders management processes are:</a:t>
            </a:r>
            <a:r>
              <a:rPr lang="en-US" sz="2700"/>
              <a:t> </a:t>
            </a:r>
            <a:endParaRPr sz="2700"/>
          </a:p>
          <a:p>
            <a:pPr marL="1143000" marR="0" lvl="2" indent="-273050" algn="just" rtl="0">
              <a:lnSpc>
                <a:spcPct val="100000"/>
              </a:lnSpc>
              <a:spcBef>
                <a:spcPts val="560"/>
              </a:spcBef>
              <a:spcAft>
                <a:spcPts val="0"/>
              </a:spcAft>
              <a:buSzPts val="2500"/>
              <a:buChar char="•"/>
            </a:pPr>
            <a:r>
              <a:rPr lang="en-US" sz="2100" b="1"/>
              <a:t>Identify Stakeholders—</a:t>
            </a:r>
            <a:r>
              <a:rPr lang="en-US" sz="2100"/>
              <a:t>The process of identifying the people, groups, or organizations that could impact or be impacted by a decision, activity, or outcome of the project; and analyzing and documenting relevant information regarding their interests, involvement, interdependencies, influence, and potential impact on project success.</a:t>
            </a:r>
            <a:endParaRPr sz="2100"/>
          </a:p>
          <a:p>
            <a:pPr marL="1143000" marR="0" lvl="2" indent="-273050" algn="just" rtl="0">
              <a:lnSpc>
                <a:spcPct val="100000"/>
              </a:lnSpc>
              <a:spcBef>
                <a:spcPts val="560"/>
              </a:spcBef>
              <a:spcAft>
                <a:spcPts val="0"/>
              </a:spcAft>
              <a:buSzPts val="2500"/>
              <a:buChar char="•"/>
            </a:pPr>
            <a:r>
              <a:rPr lang="en-US" sz="2100" b="1"/>
              <a:t>Plan Stakeholder Management—</a:t>
            </a:r>
            <a:r>
              <a:rPr lang="en-US" sz="2100"/>
              <a:t>The process of developing appropriate management strategies to effectively engage stakeholders throughout the project life cycle, based on the analysis of their needs, interests, and potential impact on project success.</a:t>
            </a:r>
            <a:endParaRPr sz="2100"/>
          </a:p>
          <a:p>
            <a:pPr marL="1143000" marR="0" lvl="2" indent="-273050" algn="just" rtl="0">
              <a:lnSpc>
                <a:spcPct val="100000"/>
              </a:lnSpc>
              <a:spcBef>
                <a:spcPts val="560"/>
              </a:spcBef>
              <a:spcAft>
                <a:spcPts val="0"/>
              </a:spcAft>
              <a:buSzPts val="2500"/>
              <a:buChar char="•"/>
            </a:pPr>
            <a:r>
              <a:rPr lang="en-US" sz="2100" b="1"/>
              <a:t>Manage Stakeholder Engagement—</a:t>
            </a:r>
            <a:r>
              <a:rPr lang="en-US" sz="2100"/>
              <a:t>The process of communicating and working with stakeholders to meet their needs/expectations, address issues as they occur, and foster appropriate stakeholder engagement in project activities throughout the project life cycle.</a:t>
            </a:r>
            <a:endParaRPr sz="1050">
              <a:solidFill>
                <a:srgbClr val="575757"/>
              </a:solidFill>
              <a:highlight>
                <a:srgbClr val="FFFFFF"/>
              </a:highlight>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560"/>
              </a:spcBef>
              <a:spcAft>
                <a:spcPts val="0"/>
              </a:spcAft>
              <a:buNone/>
            </a:pPr>
            <a:endParaRPr sz="21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g2fdf97de495_1_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PMBOK Knowledge Areas</a:t>
            </a:r>
            <a:endParaRPr u="sng"/>
          </a:p>
        </p:txBody>
      </p:sp>
      <p:sp>
        <p:nvSpPr>
          <p:cNvPr id="380" name="Google Shape;380;g2fdf97de495_1_3"/>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3200"/>
              <a:buFont typeface="Tahoma" panose="020B0604030504040204"/>
              <a:buChar char="•"/>
            </a:pPr>
            <a:r>
              <a:rPr lang="en-US" b="1"/>
              <a:t>Project Stakeholder Management:</a:t>
            </a:r>
            <a:r>
              <a:rPr lang="en-US"/>
              <a:t> </a:t>
            </a:r>
            <a:endParaRPr lang="en-US"/>
          </a:p>
          <a:p>
            <a:pPr marL="1143000" marR="0" lvl="2" indent="-273050" algn="just" rtl="0">
              <a:lnSpc>
                <a:spcPct val="100000"/>
              </a:lnSpc>
              <a:spcBef>
                <a:spcPts val="560"/>
              </a:spcBef>
              <a:spcAft>
                <a:spcPts val="0"/>
              </a:spcAft>
              <a:buSzPts val="2500"/>
              <a:buChar char="•"/>
            </a:pPr>
            <a:r>
              <a:rPr lang="en-US" sz="2100" b="1"/>
              <a:t>Monitoring Stakeholder Engagement</a:t>
            </a:r>
            <a:r>
              <a:rPr lang="en-US" sz="2100"/>
              <a:t> - In this process, the project manager should monitor stakeholders’ relationships and tailor strategies for engaging stakeholders via modification strategies and plans. Furthermore, monitoring stakeholder engagement helps the project manager enhance the efficiency and productiveness of stakeholder engagement activities. As well as this process is performed throughout the project life cycle.</a:t>
            </a:r>
            <a:endParaRPr lang="en-US" sz="2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2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None/>
            </a:pPr>
            <a:r>
              <a:rPr lang="en-US" b="1" u="sng"/>
              <a:t>Knowledge Areas and Process Groups</a:t>
            </a:r>
            <a:endParaRPr b="1" u="sng"/>
          </a:p>
        </p:txBody>
      </p:sp>
      <p:pic>
        <p:nvPicPr>
          <p:cNvPr id="386" name="Google Shape;386;p28" descr="pmi-project-management-principles-9-638.jpg"/>
          <p:cNvPicPr preferRelativeResize="0">
            <a:picLocks noGrp="1"/>
          </p:cNvPicPr>
          <p:nvPr>
            <p:ph type="body" idx="1"/>
          </p:nvPr>
        </p:nvPicPr>
        <p:blipFill rotWithShape="1">
          <a:blip r:embed="rId1"/>
          <a:srcRect t="21886"/>
          <a:stretch>
            <a:fillRect/>
          </a:stretch>
        </p:blipFill>
        <p:spPr>
          <a:xfrm>
            <a:off x="2514600" y="1828800"/>
            <a:ext cx="6934200" cy="4343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29"/>
          <p:cNvPicPr preferRelativeResize="0">
            <a:picLocks noGrp="1"/>
          </p:cNvPicPr>
          <p:nvPr>
            <p:ph type="body" idx="1"/>
          </p:nvPr>
        </p:nvPicPr>
        <p:blipFill rotWithShape="1">
          <a:blip r:embed="rId1"/>
          <a:srcRect/>
          <a:stretch>
            <a:fillRect/>
          </a:stretch>
        </p:blipFill>
        <p:spPr>
          <a:xfrm>
            <a:off x="3503613" y="641350"/>
            <a:ext cx="5481637" cy="4356100"/>
          </a:xfrm>
          <a:prstGeom prst="rect">
            <a:avLst/>
          </a:prstGeom>
          <a:noFill/>
          <a:ln>
            <a:noFill/>
          </a:ln>
        </p:spPr>
      </p:pic>
      <p:sp>
        <p:nvSpPr>
          <p:cNvPr id="392" name="Google Shape;392;p29"/>
          <p:cNvSpPr txBox="1">
            <a:spLocks noGrp="1"/>
          </p:cNvSpPr>
          <p:nvPr>
            <p:ph type="title"/>
          </p:nvPr>
        </p:nvSpPr>
        <p:spPr>
          <a:xfrm>
            <a:off x="2286000" y="188913"/>
            <a:ext cx="8001000" cy="38417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2400"/>
              <a:buFont typeface="Tahoma" panose="020B0604030504040204"/>
              <a:buNone/>
            </a:pPr>
            <a:r>
              <a:rPr lang="en-US" sz="2400"/>
              <a:t>Tools &amp; Techniques by Knowledge Area</a:t>
            </a:r>
            <a:endParaRPr sz="2400"/>
          </a:p>
        </p:txBody>
      </p:sp>
      <p:pic>
        <p:nvPicPr>
          <p:cNvPr id="393" name="Google Shape;393;p29"/>
          <p:cNvPicPr preferRelativeResize="0"/>
          <p:nvPr/>
        </p:nvPicPr>
        <p:blipFill rotWithShape="1">
          <a:blip r:embed="rId2"/>
          <a:srcRect/>
          <a:stretch>
            <a:fillRect/>
          </a:stretch>
        </p:blipFill>
        <p:spPr>
          <a:xfrm>
            <a:off x="3544888" y="4997450"/>
            <a:ext cx="5483225" cy="179863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cxnSp>
        <p:nvCxnSpPr>
          <p:cNvPr id="406" name="Google Shape;406;p31"/>
          <p:cNvCxnSpPr/>
          <p:nvPr/>
        </p:nvCxnSpPr>
        <p:spPr>
          <a:xfrm rot="10800000">
            <a:off x="4572000" y="2357438"/>
            <a:ext cx="0" cy="1071562"/>
          </a:xfrm>
          <a:prstGeom prst="straightConnector1">
            <a:avLst/>
          </a:prstGeom>
          <a:noFill/>
          <a:ln>
            <a:noFill/>
          </a:ln>
        </p:spPr>
      </p:cxnSp>
      <p:cxnSp>
        <p:nvCxnSpPr>
          <p:cNvPr id="407" name="Google Shape;407;p31"/>
          <p:cNvCxnSpPr/>
          <p:nvPr/>
        </p:nvCxnSpPr>
        <p:spPr>
          <a:xfrm rot="10800000">
            <a:off x="5867400" y="1752600"/>
            <a:ext cx="0" cy="4114800"/>
          </a:xfrm>
          <a:prstGeom prst="straightConnector1">
            <a:avLst/>
          </a:prstGeom>
          <a:noFill/>
          <a:ln w="25400" cap="flat" cmpd="sng">
            <a:solidFill>
              <a:srgbClr val="000000"/>
            </a:solidFill>
            <a:prstDash val="dot"/>
            <a:round/>
            <a:headEnd type="none" w="sm" len="sm"/>
            <a:tailEnd type="none" w="sm" len="sm"/>
          </a:ln>
        </p:spPr>
      </p:cxnSp>
      <p:cxnSp>
        <p:nvCxnSpPr>
          <p:cNvPr id="408" name="Google Shape;408;p31"/>
          <p:cNvCxnSpPr/>
          <p:nvPr/>
        </p:nvCxnSpPr>
        <p:spPr>
          <a:xfrm rot="10800000">
            <a:off x="4322763" y="1535113"/>
            <a:ext cx="0" cy="4332287"/>
          </a:xfrm>
          <a:prstGeom prst="straightConnector1">
            <a:avLst/>
          </a:prstGeom>
          <a:noFill/>
          <a:ln w="25400" cap="flat" cmpd="sng">
            <a:solidFill>
              <a:srgbClr val="000000"/>
            </a:solidFill>
            <a:prstDash val="dot"/>
            <a:round/>
            <a:headEnd type="none" w="sm" len="sm"/>
            <a:tailEnd type="none" w="sm" len="sm"/>
          </a:ln>
        </p:spPr>
      </p:cxnSp>
      <p:sp>
        <p:nvSpPr>
          <p:cNvPr id="409" name="Google Shape;409;p31"/>
          <p:cNvSpPr txBox="1"/>
          <p:nvPr/>
        </p:nvSpPr>
        <p:spPr>
          <a:xfrm>
            <a:off x="2057400" y="1676400"/>
            <a:ext cx="1295400" cy="566738"/>
          </a:xfrm>
          <a:prstGeom prst="rect">
            <a:avLst/>
          </a:prstGeom>
          <a:solidFill>
            <a:schemeClr val="dk2"/>
          </a:solidFill>
          <a:ln w="2540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13000"/>
              </a:lnSpc>
              <a:spcBef>
                <a:spcPts val="0"/>
              </a:spcBef>
              <a:spcAft>
                <a:spcPts val="0"/>
              </a:spcAft>
              <a:buClr>
                <a:schemeClr val="accent1"/>
              </a:buClr>
              <a:buSzPts val="1200"/>
              <a:buFont typeface="Noto Sans Symbols"/>
              <a:buNone/>
            </a:pPr>
            <a:r>
              <a:rPr lang="en-US" sz="1600" b="0">
                <a:solidFill>
                  <a:schemeClr val="lt1"/>
                </a:solidFill>
                <a:latin typeface="Arial" panose="020B0604020202020204"/>
                <a:ea typeface="Arial" panose="020B0604020202020204"/>
                <a:cs typeface="Arial" panose="020B0604020202020204"/>
                <a:sym typeface="Arial" panose="020B0604020202020204"/>
              </a:rPr>
              <a:t>Proposal Request </a:t>
            </a:r>
            <a:endParaRPr sz="1600" b="0">
              <a:solidFill>
                <a:schemeClr val="lt1"/>
              </a:solidFill>
              <a:latin typeface="Arial" panose="020B0604020202020204"/>
              <a:ea typeface="Arial" panose="020B0604020202020204"/>
              <a:cs typeface="Arial" panose="020B0604020202020204"/>
              <a:sym typeface="Arial" panose="020B0604020202020204"/>
            </a:endParaRPr>
          </a:p>
        </p:txBody>
      </p:sp>
      <p:sp>
        <p:nvSpPr>
          <p:cNvPr id="410" name="Google Shape;410;p31"/>
          <p:cNvSpPr txBox="1"/>
          <p:nvPr/>
        </p:nvSpPr>
        <p:spPr>
          <a:xfrm>
            <a:off x="3352800" y="2259013"/>
            <a:ext cx="1600200" cy="566737"/>
          </a:xfrm>
          <a:prstGeom prst="rect">
            <a:avLst/>
          </a:prstGeom>
          <a:solidFill>
            <a:schemeClr val="dk2"/>
          </a:solidFill>
          <a:ln w="2540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13000"/>
              </a:lnSpc>
              <a:spcBef>
                <a:spcPts val="0"/>
              </a:spcBef>
              <a:spcAft>
                <a:spcPts val="0"/>
              </a:spcAft>
              <a:buClr>
                <a:schemeClr val="accent1"/>
              </a:buClr>
              <a:buSzPts val="1200"/>
              <a:buFont typeface="Noto Sans Symbols"/>
              <a:buNone/>
            </a:pPr>
            <a:r>
              <a:rPr lang="en-US" sz="1600" b="0">
                <a:solidFill>
                  <a:schemeClr val="lt1"/>
                </a:solidFill>
                <a:latin typeface="Arial" panose="020B0604020202020204"/>
                <a:ea typeface="Arial" panose="020B0604020202020204"/>
                <a:cs typeface="Arial" panose="020B0604020202020204"/>
                <a:sym typeface="Arial" panose="020B0604020202020204"/>
              </a:rPr>
              <a:t>Proposal Phase</a:t>
            </a:r>
            <a:endParaRPr sz="1600" b="0">
              <a:solidFill>
                <a:schemeClr val="lt1"/>
              </a:solidFill>
              <a:latin typeface="Arial" panose="020B0604020202020204"/>
              <a:ea typeface="Arial" panose="020B0604020202020204"/>
              <a:cs typeface="Arial" panose="020B0604020202020204"/>
              <a:sym typeface="Arial" panose="020B0604020202020204"/>
            </a:endParaRPr>
          </a:p>
        </p:txBody>
      </p:sp>
      <p:sp>
        <p:nvSpPr>
          <p:cNvPr id="411" name="Google Shape;411;p31"/>
          <p:cNvSpPr txBox="1"/>
          <p:nvPr/>
        </p:nvSpPr>
        <p:spPr>
          <a:xfrm>
            <a:off x="3810000" y="2819400"/>
            <a:ext cx="3155950" cy="566738"/>
          </a:xfrm>
          <a:prstGeom prst="rect">
            <a:avLst/>
          </a:prstGeom>
          <a:solidFill>
            <a:schemeClr val="dk2"/>
          </a:solidFill>
          <a:ln w="2540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13000"/>
              </a:lnSpc>
              <a:spcBef>
                <a:spcPts val="0"/>
              </a:spcBef>
              <a:spcAft>
                <a:spcPts val="0"/>
              </a:spcAft>
              <a:buClr>
                <a:schemeClr val="accent1"/>
              </a:buClr>
              <a:buSzPts val="1200"/>
              <a:buFont typeface="Noto Sans Symbols"/>
              <a:buNone/>
            </a:pPr>
            <a:r>
              <a:rPr lang="en-US" sz="1600" b="0">
                <a:solidFill>
                  <a:schemeClr val="lt1"/>
                </a:solidFill>
                <a:latin typeface="Arial" panose="020B0604020202020204"/>
                <a:ea typeface="Arial" panose="020B0604020202020204"/>
                <a:cs typeface="Arial" panose="020B0604020202020204"/>
                <a:sym typeface="Arial" panose="020B0604020202020204"/>
              </a:rPr>
              <a:t>Requirements Analysis Phase</a:t>
            </a:r>
            <a:endParaRPr sz="1600" b="0">
              <a:solidFill>
                <a:schemeClr val="lt1"/>
              </a:solidFill>
              <a:latin typeface="Arial" panose="020B0604020202020204"/>
              <a:ea typeface="Arial" panose="020B0604020202020204"/>
              <a:cs typeface="Arial" panose="020B0604020202020204"/>
              <a:sym typeface="Arial" panose="020B0604020202020204"/>
            </a:endParaRPr>
          </a:p>
        </p:txBody>
      </p:sp>
      <p:sp>
        <p:nvSpPr>
          <p:cNvPr id="412" name="Google Shape;412;p31"/>
          <p:cNvSpPr txBox="1"/>
          <p:nvPr/>
        </p:nvSpPr>
        <p:spPr>
          <a:xfrm>
            <a:off x="4648200" y="3395663"/>
            <a:ext cx="2754313" cy="566737"/>
          </a:xfrm>
          <a:prstGeom prst="rect">
            <a:avLst/>
          </a:prstGeom>
          <a:solidFill>
            <a:schemeClr val="dk2"/>
          </a:solidFill>
          <a:ln w="2540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13000"/>
              </a:lnSpc>
              <a:spcBef>
                <a:spcPts val="0"/>
              </a:spcBef>
              <a:spcAft>
                <a:spcPts val="0"/>
              </a:spcAft>
              <a:buClr>
                <a:schemeClr val="accent1"/>
              </a:buClr>
              <a:buSzPts val="1200"/>
              <a:buFont typeface="Noto Sans Symbols"/>
              <a:buNone/>
            </a:pPr>
            <a:r>
              <a:rPr lang="en-US" sz="1600" b="0">
                <a:solidFill>
                  <a:schemeClr val="lt1"/>
                </a:solidFill>
                <a:latin typeface="Arial" panose="020B0604020202020204"/>
                <a:ea typeface="Arial" panose="020B0604020202020204"/>
                <a:cs typeface="Arial" panose="020B0604020202020204"/>
                <a:sym typeface="Arial" panose="020B0604020202020204"/>
              </a:rPr>
              <a:t>General Design Phase</a:t>
            </a:r>
            <a:endParaRPr sz="1600" b="0">
              <a:solidFill>
                <a:schemeClr val="lt1"/>
              </a:solidFill>
              <a:latin typeface="Arial" panose="020B0604020202020204"/>
              <a:ea typeface="Arial" panose="020B0604020202020204"/>
              <a:cs typeface="Arial" panose="020B0604020202020204"/>
              <a:sym typeface="Arial" panose="020B0604020202020204"/>
            </a:endParaRPr>
          </a:p>
        </p:txBody>
      </p:sp>
      <p:sp>
        <p:nvSpPr>
          <p:cNvPr id="413" name="Google Shape;413;p31"/>
          <p:cNvSpPr txBox="1"/>
          <p:nvPr/>
        </p:nvSpPr>
        <p:spPr>
          <a:xfrm>
            <a:off x="5122863" y="3962400"/>
            <a:ext cx="2573337" cy="566738"/>
          </a:xfrm>
          <a:prstGeom prst="rect">
            <a:avLst/>
          </a:prstGeom>
          <a:solidFill>
            <a:schemeClr val="dk2"/>
          </a:solidFill>
          <a:ln w="2540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13000"/>
              </a:lnSpc>
              <a:spcBef>
                <a:spcPts val="0"/>
              </a:spcBef>
              <a:spcAft>
                <a:spcPts val="0"/>
              </a:spcAft>
              <a:buClr>
                <a:schemeClr val="accent1"/>
              </a:buClr>
              <a:buSzPts val="1200"/>
              <a:buFont typeface="Noto Sans Symbols"/>
              <a:buNone/>
            </a:pPr>
            <a:r>
              <a:rPr lang="en-US" sz="1600" b="0">
                <a:solidFill>
                  <a:schemeClr val="lt1"/>
                </a:solidFill>
                <a:latin typeface="Arial" panose="020B0604020202020204"/>
                <a:ea typeface="Arial" panose="020B0604020202020204"/>
                <a:cs typeface="Arial" panose="020B0604020202020204"/>
                <a:sym typeface="Arial" panose="020B0604020202020204"/>
              </a:rPr>
              <a:t>Detailed Design Phase</a:t>
            </a:r>
            <a:endParaRPr sz="1600" b="0">
              <a:solidFill>
                <a:schemeClr val="lt1"/>
              </a:solidFill>
              <a:latin typeface="Arial" panose="020B0604020202020204"/>
              <a:ea typeface="Arial" panose="020B0604020202020204"/>
              <a:cs typeface="Arial" panose="020B0604020202020204"/>
              <a:sym typeface="Arial" panose="020B0604020202020204"/>
            </a:endParaRPr>
          </a:p>
        </p:txBody>
      </p:sp>
      <p:sp>
        <p:nvSpPr>
          <p:cNvPr id="414" name="Google Shape;414;p31"/>
          <p:cNvSpPr txBox="1"/>
          <p:nvPr/>
        </p:nvSpPr>
        <p:spPr>
          <a:xfrm>
            <a:off x="5562600" y="4538663"/>
            <a:ext cx="2430463" cy="566737"/>
          </a:xfrm>
          <a:prstGeom prst="rect">
            <a:avLst/>
          </a:prstGeom>
          <a:solidFill>
            <a:schemeClr val="dk2"/>
          </a:solidFill>
          <a:ln w="25400"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113000"/>
              </a:lnSpc>
              <a:spcBef>
                <a:spcPts val="0"/>
              </a:spcBef>
              <a:spcAft>
                <a:spcPts val="0"/>
              </a:spcAft>
              <a:buClr>
                <a:schemeClr val="accent1"/>
              </a:buClr>
              <a:buSzPts val="1200"/>
              <a:buFont typeface="Noto Sans Symbols"/>
              <a:buNone/>
            </a:pPr>
            <a:r>
              <a:rPr lang="en-US" sz="1600" b="0">
                <a:solidFill>
                  <a:schemeClr val="lt1"/>
                </a:solidFill>
                <a:latin typeface="Arial" panose="020B0604020202020204"/>
                <a:ea typeface="Arial" panose="020B0604020202020204"/>
                <a:cs typeface="Arial" panose="020B0604020202020204"/>
                <a:sym typeface="Arial" panose="020B0604020202020204"/>
              </a:rPr>
              <a:t>Code and Debug</a:t>
            </a:r>
            <a:endParaRPr sz="1600" b="0">
              <a:solidFill>
                <a:schemeClr val="lt1"/>
              </a:solidFill>
              <a:latin typeface="Arial" panose="020B0604020202020204"/>
              <a:ea typeface="Arial" panose="020B0604020202020204"/>
              <a:cs typeface="Arial" panose="020B0604020202020204"/>
              <a:sym typeface="Arial" panose="020B0604020202020204"/>
            </a:endParaRPr>
          </a:p>
        </p:txBody>
      </p:sp>
      <p:cxnSp>
        <p:nvCxnSpPr>
          <p:cNvPr id="415" name="Google Shape;415;p31"/>
          <p:cNvCxnSpPr/>
          <p:nvPr/>
        </p:nvCxnSpPr>
        <p:spPr>
          <a:xfrm>
            <a:off x="4322763" y="1995488"/>
            <a:ext cx="1530350" cy="0"/>
          </a:xfrm>
          <a:prstGeom prst="straightConnector1">
            <a:avLst/>
          </a:prstGeom>
          <a:noFill/>
          <a:ln w="38100" cap="flat" cmpd="sng">
            <a:solidFill>
              <a:srgbClr val="000000"/>
            </a:solidFill>
            <a:prstDash val="solid"/>
            <a:round/>
            <a:headEnd type="triangle" w="med" len="med"/>
            <a:tailEnd type="triangle" w="med" len="med"/>
          </a:ln>
        </p:spPr>
      </p:cxnSp>
      <p:sp>
        <p:nvSpPr>
          <p:cNvPr id="416" name="Google Shape;416;p31"/>
          <p:cNvSpPr txBox="1"/>
          <p:nvPr/>
        </p:nvSpPr>
        <p:spPr>
          <a:xfrm>
            <a:off x="6096000" y="1624330"/>
            <a:ext cx="3886200" cy="783590"/>
          </a:xfrm>
          <a:prstGeom prst="rect">
            <a:avLst/>
          </a:prstGeom>
          <a:noFill/>
          <a:ln>
            <a:noFill/>
          </a:ln>
        </p:spPr>
        <p:txBody>
          <a:bodyPr spcFirstLastPara="1" wrap="square" lIns="91425" tIns="45700" rIns="91425" bIns="45700" anchor="ctr" anchorCtr="0">
            <a:spAutoFit/>
          </a:bodyPr>
          <a:lstStyle/>
          <a:p>
            <a:pPr marL="0" marR="0" lvl="0" indent="0" algn="l" rtl="0">
              <a:lnSpc>
                <a:spcPct val="113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Overlapped phases can yield cost and schedule benefits but add to the integration challenge </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17" name="Google Shape;417;p31"/>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Integration Challenge</a:t>
            </a:r>
            <a:br>
              <a:rPr lang="en-US"/>
            </a:br>
            <a:r>
              <a:rPr lang="en-US" sz="2400" b="0"/>
              <a:t>Software Product Development Example </a:t>
            </a:r>
            <a:endParaRPr lang="en-US" sz="2400" b="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sp>
        <p:nvSpPr>
          <p:cNvPr id="423" name="Google Shape;423;p32"/>
          <p:cNvSpPr txBox="1">
            <a:spLocks noGrp="1"/>
          </p:cNvSpPr>
          <p:nvPr>
            <p:ph type="title"/>
          </p:nvPr>
        </p:nvSpPr>
        <p:spPr>
          <a:xfrm>
            <a:off x="2207895" y="4051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Characteristics of Effective Integration</a:t>
            </a:r>
            <a:endParaRPr lang="en-US"/>
          </a:p>
        </p:txBody>
      </p:sp>
      <p:sp>
        <p:nvSpPr>
          <p:cNvPr id="424" name="Google Shape;424;p32"/>
          <p:cNvSpPr txBox="1">
            <a:spLocks noGrp="1"/>
          </p:cNvSpPr>
          <p:nvPr>
            <p:ph type="body" idx="1"/>
          </p:nvPr>
        </p:nvSpPr>
        <p:spPr>
          <a:xfrm>
            <a:off x="2209800" y="184531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Tahoma" panose="020B0604030504040204"/>
              <a:buChar char="•"/>
            </a:pPr>
            <a:r>
              <a:rPr lang="en-US" sz="2800"/>
              <a:t>Overlapped processes </a:t>
            </a:r>
            <a:endParaRPr sz="2800"/>
          </a:p>
          <a:p>
            <a:pPr marL="342900" lvl="0" indent="-342900" algn="l" rtl="0">
              <a:spcBef>
                <a:spcPts val="560"/>
              </a:spcBef>
              <a:spcAft>
                <a:spcPts val="0"/>
              </a:spcAft>
              <a:buClr>
                <a:schemeClr val="dk1"/>
              </a:buClr>
              <a:buSzPts val="2800"/>
              <a:buFont typeface="Tahoma" panose="020B0604030504040204"/>
              <a:buChar char="•"/>
            </a:pPr>
            <a:r>
              <a:rPr lang="en-US" sz="2800"/>
              <a:t>Effective change control and communication systems</a:t>
            </a:r>
            <a:endParaRPr sz="2800"/>
          </a:p>
          <a:p>
            <a:pPr marL="342900" lvl="0" indent="-342900" algn="l" rtl="0">
              <a:spcBef>
                <a:spcPts val="560"/>
              </a:spcBef>
              <a:spcAft>
                <a:spcPts val="0"/>
              </a:spcAft>
              <a:buClr>
                <a:schemeClr val="dk1"/>
              </a:buClr>
              <a:buSzPts val="2800"/>
              <a:buFont typeface="Tahoma" panose="020B0604030504040204"/>
              <a:buChar char="•"/>
            </a:pPr>
            <a:r>
              <a:rPr lang="en-US" sz="2800"/>
              <a:t>Reduced development time and cost</a:t>
            </a:r>
            <a:endParaRPr sz="2800"/>
          </a:p>
          <a:p>
            <a:pPr marL="342900" lvl="0" indent="-342900" algn="l" rtl="0">
              <a:spcBef>
                <a:spcPts val="560"/>
              </a:spcBef>
              <a:spcAft>
                <a:spcPts val="0"/>
              </a:spcAft>
              <a:buClr>
                <a:schemeClr val="dk1"/>
              </a:buClr>
              <a:buSzPts val="2800"/>
              <a:buFont typeface="Tahoma" panose="020B0604030504040204"/>
              <a:buChar char="•"/>
            </a:pPr>
            <a:r>
              <a:rPr lang="en-US" sz="2800"/>
              <a:t>Early and ongoing involvement of all stakeholders</a:t>
            </a:r>
            <a:endParaRPr sz="2800"/>
          </a:p>
          <a:p>
            <a:pPr marL="342900" lvl="0" indent="-342900" algn="l" rtl="0">
              <a:spcBef>
                <a:spcPts val="560"/>
              </a:spcBef>
              <a:spcAft>
                <a:spcPts val="0"/>
              </a:spcAft>
              <a:buClr>
                <a:schemeClr val="dk1"/>
              </a:buClr>
              <a:buSzPts val="2800"/>
              <a:buFont typeface="Tahoma" panose="020B0604030504040204"/>
              <a:buChar char="•"/>
            </a:pPr>
            <a:r>
              <a:rPr lang="en-US" sz="2800"/>
              <a:t>Early visibility of results</a:t>
            </a:r>
            <a:endParaRPr sz="2800"/>
          </a:p>
          <a:p>
            <a:pPr marL="342900" lvl="0" indent="-342900" algn="l" rtl="0">
              <a:spcBef>
                <a:spcPts val="560"/>
              </a:spcBef>
              <a:spcAft>
                <a:spcPts val="0"/>
              </a:spcAft>
              <a:buClr>
                <a:schemeClr val="dk1"/>
              </a:buClr>
              <a:buSzPts val="2800"/>
              <a:buFont typeface="Tahoma" panose="020B0604030504040204"/>
              <a:buChar char="•"/>
            </a:pPr>
            <a:r>
              <a:rPr lang="en-US" sz="2800"/>
              <a:t>Early problem identification and resolution</a:t>
            </a:r>
            <a:endParaRPr sz="2800"/>
          </a:p>
          <a:p>
            <a:pPr marL="342900" lvl="0" indent="-342900" algn="l" rtl="0">
              <a:spcBef>
                <a:spcPts val="560"/>
              </a:spcBef>
              <a:spcAft>
                <a:spcPts val="0"/>
              </a:spcAft>
              <a:buClr>
                <a:schemeClr val="dk1"/>
              </a:buClr>
              <a:buSzPts val="2800"/>
              <a:buFont typeface="Tahoma" panose="020B0604030504040204"/>
              <a:buChar char="•"/>
            </a:pPr>
            <a:r>
              <a:rPr lang="en-US" sz="2800"/>
              <a:t>Use all relevant expertise at earliest meaningful time</a:t>
            </a:r>
            <a:endParaRPr sz="2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8"/>
          <p:cNvSpPr txBox="1">
            <a:spLocks noGrp="1"/>
          </p:cNvSpPr>
          <p:nvPr>
            <p:ph type="title"/>
          </p:nvPr>
        </p:nvSpPr>
        <p:spPr>
          <a:xfrm>
            <a:off x="914400" y="609600"/>
            <a:ext cx="10363200" cy="1143000"/>
          </a:xfrm>
          <a:prstGeom prst="rect">
            <a:avLst/>
          </a:prstGeom>
          <a:noFill/>
          <a:ln w="127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dk2"/>
                </a:solidFill>
                <a:latin typeface="Tahoma" panose="020B0604030504040204"/>
                <a:ea typeface="Tahoma" panose="020B0604030504040204"/>
                <a:cs typeface="Tahoma" panose="020B0604030504040204"/>
                <a:sym typeface="Tahoma" panose="020B0604030504040204"/>
              </a:rPr>
              <a:t>Remodel Kitchen WBS</a:t>
            </a:r>
            <a:endParaRPr>
              <a:solidFill>
                <a:schemeClr val="dk2"/>
              </a:solidFill>
            </a:endParaRPr>
          </a:p>
        </p:txBody>
      </p:sp>
      <p:cxnSp>
        <p:nvCxnSpPr>
          <p:cNvPr id="465" name="Google Shape;465;p38"/>
          <p:cNvCxnSpPr/>
          <p:nvPr/>
        </p:nvCxnSpPr>
        <p:spPr>
          <a:xfrm>
            <a:off x="5827713" y="3382963"/>
            <a:ext cx="0" cy="230187"/>
          </a:xfrm>
          <a:prstGeom prst="straightConnector1">
            <a:avLst/>
          </a:prstGeom>
          <a:noFill/>
          <a:ln w="12700" cap="flat" cmpd="sng">
            <a:solidFill>
              <a:schemeClr val="accent1"/>
            </a:solidFill>
            <a:prstDash val="solid"/>
            <a:miter lim="800000"/>
            <a:headEnd type="none" w="sm" len="sm"/>
            <a:tailEnd type="none" w="sm" len="sm"/>
          </a:ln>
        </p:spPr>
      </p:cxnSp>
      <p:sp>
        <p:nvSpPr>
          <p:cNvPr id="466" name="Google Shape;466;p38"/>
          <p:cNvSpPr/>
          <p:nvPr/>
        </p:nvSpPr>
        <p:spPr>
          <a:xfrm>
            <a:off x="5011738" y="3613150"/>
            <a:ext cx="3175" cy="241300"/>
          </a:xfrm>
          <a:custGeom>
            <a:avLst/>
            <a:gdLst/>
            <a:ahLst/>
            <a:cxnLst/>
            <a:rect l="l" t="t" r="r" b="b"/>
            <a:pathLst>
              <a:path w="2" h="152" extrusionOk="0">
                <a:moveTo>
                  <a:pt x="2" y="0"/>
                </a:moveTo>
                <a:lnTo>
                  <a:pt x="0" y="152"/>
                </a:lnTo>
              </a:path>
            </a:pathLst>
          </a:custGeom>
          <a:no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467" name="Google Shape;467;p38"/>
          <p:cNvSpPr/>
          <p:nvPr/>
        </p:nvSpPr>
        <p:spPr>
          <a:xfrm>
            <a:off x="6624638" y="3613150"/>
            <a:ext cx="4762" cy="233363"/>
          </a:xfrm>
          <a:custGeom>
            <a:avLst/>
            <a:gdLst/>
            <a:ahLst/>
            <a:cxnLst/>
            <a:rect l="l" t="t" r="r" b="b"/>
            <a:pathLst>
              <a:path w="3" h="147" extrusionOk="0">
                <a:moveTo>
                  <a:pt x="3" y="0"/>
                </a:moveTo>
                <a:lnTo>
                  <a:pt x="0" y="147"/>
                </a:lnTo>
              </a:path>
            </a:pathLst>
          </a:custGeom>
          <a:no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2"/>
              </a:solidFill>
              <a:latin typeface="Tahoma" panose="020B0604030504040204"/>
              <a:ea typeface="Tahoma" panose="020B0604030504040204"/>
              <a:cs typeface="Tahoma" panose="020B0604030504040204"/>
              <a:sym typeface="Tahoma" panose="020B0604030504040204"/>
            </a:endParaRPr>
          </a:p>
        </p:txBody>
      </p:sp>
      <p:cxnSp>
        <p:nvCxnSpPr>
          <p:cNvPr id="468" name="Google Shape;468;p38"/>
          <p:cNvCxnSpPr/>
          <p:nvPr/>
        </p:nvCxnSpPr>
        <p:spPr>
          <a:xfrm>
            <a:off x="5014913" y="3613150"/>
            <a:ext cx="812800" cy="3175"/>
          </a:xfrm>
          <a:prstGeom prst="straightConnector1">
            <a:avLst/>
          </a:prstGeom>
          <a:noFill/>
          <a:ln w="12700" cap="flat" cmpd="sng">
            <a:solidFill>
              <a:schemeClr val="accent1"/>
            </a:solidFill>
            <a:prstDash val="solid"/>
            <a:miter lim="800000"/>
            <a:headEnd type="none" w="sm" len="sm"/>
            <a:tailEnd type="none" w="sm" len="sm"/>
          </a:ln>
        </p:spPr>
      </p:cxnSp>
      <p:cxnSp>
        <p:nvCxnSpPr>
          <p:cNvPr id="469" name="Google Shape;469;p38"/>
          <p:cNvCxnSpPr/>
          <p:nvPr/>
        </p:nvCxnSpPr>
        <p:spPr>
          <a:xfrm>
            <a:off x="5827713" y="3613150"/>
            <a:ext cx="801687" cy="3175"/>
          </a:xfrm>
          <a:prstGeom prst="straightConnector1">
            <a:avLst/>
          </a:prstGeom>
          <a:noFill/>
          <a:ln w="12700" cap="flat" cmpd="sng">
            <a:solidFill>
              <a:schemeClr val="accent1"/>
            </a:solidFill>
            <a:prstDash val="solid"/>
            <a:miter lim="800000"/>
            <a:headEnd type="none" w="sm" len="sm"/>
            <a:tailEnd type="none" w="sm" len="sm"/>
          </a:ln>
        </p:spPr>
      </p:cxnSp>
      <p:sp>
        <p:nvSpPr>
          <p:cNvPr id="470" name="Google Shape;470;p38"/>
          <p:cNvSpPr/>
          <p:nvPr/>
        </p:nvSpPr>
        <p:spPr>
          <a:xfrm>
            <a:off x="4303713" y="3838575"/>
            <a:ext cx="1393825" cy="796925"/>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Purchase</a:t>
            </a:r>
            <a:endParaRPr sz="1600" b="0">
              <a:solidFill>
                <a:schemeClr val="dk2"/>
              </a:solidFill>
              <a:latin typeface="Tahoma" panose="020B0604030504040204"/>
              <a:ea typeface="Tahoma" panose="020B0604030504040204"/>
              <a:cs typeface="Tahoma" panose="020B0604030504040204"/>
              <a:sym typeface="Tahoma" panose="020B0604030504040204"/>
            </a:endParaRPr>
          </a:p>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Appliances</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71" name="Google Shape;471;p38"/>
          <p:cNvSpPr/>
          <p:nvPr/>
        </p:nvSpPr>
        <p:spPr>
          <a:xfrm>
            <a:off x="5897563" y="3838575"/>
            <a:ext cx="1393825" cy="796925"/>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Purchase</a:t>
            </a:r>
            <a:endParaRPr sz="1600" b="0">
              <a:solidFill>
                <a:schemeClr val="dk2"/>
              </a:solidFill>
              <a:latin typeface="Tahoma" panose="020B0604030504040204"/>
              <a:ea typeface="Tahoma" panose="020B0604030504040204"/>
              <a:cs typeface="Tahoma" panose="020B0604030504040204"/>
              <a:sym typeface="Tahoma" panose="020B0604030504040204"/>
            </a:endParaRPr>
          </a:p>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Fixtures</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72" name="Google Shape;472;p38"/>
          <p:cNvSpPr/>
          <p:nvPr/>
        </p:nvSpPr>
        <p:spPr>
          <a:xfrm>
            <a:off x="5599113" y="1905000"/>
            <a:ext cx="2090737" cy="538163"/>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Remodel Kitchen</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73" name="Google Shape;473;p38"/>
          <p:cNvSpPr/>
          <p:nvPr/>
        </p:nvSpPr>
        <p:spPr>
          <a:xfrm>
            <a:off x="4103688" y="2633663"/>
            <a:ext cx="5089525" cy="223837"/>
          </a:xfrm>
          <a:custGeom>
            <a:avLst/>
            <a:gdLst/>
            <a:ahLst/>
            <a:cxnLst/>
            <a:rect l="l" t="t" r="r" b="b"/>
            <a:pathLst>
              <a:path w="2452" h="108" extrusionOk="0">
                <a:moveTo>
                  <a:pt x="2452" y="100"/>
                </a:moveTo>
                <a:lnTo>
                  <a:pt x="2452" y="0"/>
                </a:lnTo>
                <a:lnTo>
                  <a:pt x="0" y="4"/>
                </a:lnTo>
                <a:lnTo>
                  <a:pt x="0" y="108"/>
                </a:lnTo>
              </a:path>
            </a:pathLst>
          </a:custGeom>
          <a:no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2"/>
              </a:solidFill>
              <a:latin typeface="Tahoma" panose="020B0604030504040204"/>
              <a:ea typeface="Tahoma" panose="020B0604030504040204"/>
              <a:cs typeface="Tahoma" panose="020B0604030504040204"/>
              <a:sym typeface="Tahoma" panose="020B0604030504040204"/>
            </a:endParaRPr>
          </a:p>
        </p:txBody>
      </p:sp>
      <p:cxnSp>
        <p:nvCxnSpPr>
          <p:cNvPr id="474" name="Google Shape;474;p38"/>
          <p:cNvCxnSpPr/>
          <p:nvPr/>
        </p:nvCxnSpPr>
        <p:spPr>
          <a:xfrm>
            <a:off x="6596063" y="2443163"/>
            <a:ext cx="0" cy="198437"/>
          </a:xfrm>
          <a:prstGeom prst="straightConnector1">
            <a:avLst/>
          </a:prstGeom>
          <a:noFill/>
          <a:ln w="12700" cap="flat" cmpd="sng">
            <a:solidFill>
              <a:schemeClr val="accent1"/>
            </a:solidFill>
            <a:prstDash val="solid"/>
            <a:miter lim="800000"/>
            <a:headEnd type="none" w="sm" len="sm"/>
            <a:tailEnd type="none" w="sm" len="sm"/>
          </a:ln>
        </p:spPr>
      </p:cxnSp>
      <p:cxnSp>
        <p:nvCxnSpPr>
          <p:cNvPr id="475" name="Google Shape;475;p38"/>
          <p:cNvCxnSpPr/>
          <p:nvPr/>
        </p:nvCxnSpPr>
        <p:spPr>
          <a:xfrm>
            <a:off x="5797550" y="2641600"/>
            <a:ext cx="0" cy="200025"/>
          </a:xfrm>
          <a:prstGeom prst="straightConnector1">
            <a:avLst/>
          </a:prstGeom>
          <a:noFill/>
          <a:ln w="12700" cap="flat" cmpd="sng">
            <a:solidFill>
              <a:schemeClr val="accent1"/>
            </a:solidFill>
            <a:prstDash val="solid"/>
            <a:miter lim="800000"/>
            <a:headEnd type="none" w="sm" len="sm"/>
            <a:tailEnd type="none" w="sm" len="sm"/>
          </a:ln>
        </p:spPr>
      </p:cxnSp>
      <p:cxnSp>
        <p:nvCxnSpPr>
          <p:cNvPr id="476" name="Google Shape;476;p38"/>
          <p:cNvCxnSpPr/>
          <p:nvPr/>
        </p:nvCxnSpPr>
        <p:spPr>
          <a:xfrm>
            <a:off x="7491413" y="2641600"/>
            <a:ext cx="0" cy="200025"/>
          </a:xfrm>
          <a:prstGeom prst="straightConnector1">
            <a:avLst/>
          </a:prstGeom>
          <a:noFill/>
          <a:ln w="12700" cap="flat" cmpd="sng">
            <a:solidFill>
              <a:schemeClr val="accent1"/>
            </a:solidFill>
            <a:prstDash val="solid"/>
            <a:miter lim="800000"/>
            <a:headEnd type="none" w="sm" len="sm"/>
            <a:tailEnd type="none" w="sm" len="sm"/>
          </a:ln>
        </p:spPr>
      </p:cxnSp>
      <p:sp>
        <p:nvSpPr>
          <p:cNvPr id="477" name="Google Shape;477;p38"/>
          <p:cNvSpPr/>
          <p:nvPr/>
        </p:nvSpPr>
        <p:spPr>
          <a:xfrm>
            <a:off x="3405188" y="2841625"/>
            <a:ext cx="1495425" cy="538163"/>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Design</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78" name="Google Shape;478;p38"/>
          <p:cNvSpPr/>
          <p:nvPr/>
        </p:nvSpPr>
        <p:spPr>
          <a:xfrm>
            <a:off x="5099050" y="2841625"/>
            <a:ext cx="1497013" cy="538163"/>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Purchase</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79" name="Google Shape;479;p38"/>
          <p:cNvSpPr/>
          <p:nvPr/>
        </p:nvSpPr>
        <p:spPr>
          <a:xfrm>
            <a:off x="6792913" y="2841625"/>
            <a:ext cx="1495425" cy="538163"/>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Carpentry</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80" name="Google Shape;480;p38"/>
          <p:cNvSpPr/>
          <p:nvPr/>
        </p:nvSpPr>
        <p:spPr>
          <a:xfrm>
            <a:off x="8488363" y="2841625"/>
            <a:ext cx="1493837" cy="538163"/>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1">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b="0">
                <a:solidFill>
                  <a:schemeClr val="dk2"/>
                </a:solidFill>
                <a:latin typeface="Tahoma" panose="020B0604030504040204"/>
                <a:ea typeface="Tahoma" panose="020B0604030504040204"/>
                <a:cs typeface="Tahoma" panose="020B0604030504040204"/>
                <a:sym typeface="Tahoma" panose="020B0604030504040204"/>
              </a:rPr>
              <a:t>Electrical</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81" name="Google Shape;481;p38"/>
          <p:cNvSpPr/>
          <p:nvPr/>
        </p:nvSpPr>
        <p:spPr>
          <a:xfrm>
            <a:off x="2286000" y="2971800"/>
            <a:ext cx="914400" cy="228600"/>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a:solidFill>
                  <a:schemeClr val="dk2"/>
                </a:solidFill>
                <a:latin typeface="Tahoma" panose="020B0604030504040204"/>
                <a:ea typeface="Tahoma" panose="020B0604030504040204"/>
                <a:cs typeface="Tahoma" panose="020B0604030504040204"/>
                <a:sym typeface="Tahoma" panose="020B0604030504040204"/>
              </a:rPr>
              <a:t>Level 1</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
        <p:nvSpPr>
          <p:cNvPr id="482" name="Google Shape;482;p38"/>
          <p:cNvSpPr/>
          <p:nvPr/>
        </p:nvSpPr>
        <p:spPr>
          <a:xfrm>
            <a:off x="2286000" y="4114800"/>
            <a:ext cx="914400" cy="228600"/>
          </a:xfrm>
          <a:prstGeom prst="rect">
            <a:avLst/>
          </a:prstGeom>
          <a:noFill/>
          <a:ln w="12700" cap="flat" cmpd="sng">
            <a:solidFill>
              <a:schemeClr val="accent1"/>
            </a:solidFill>
            <a:prstDash val="solid"/>
            <a:miter lim="800000"/>
            <a:headEnd type="none" w="sm" len="sm"/>
            <a:tailEnd type="none" w="sm" len="sm"/>
          </a:ln>
        </p:spPr>
        <p:txBody>
          <a:bodyPr spcFirstLastPara="1" wrap="square" lIns="0" tIns="0" rIns="0" bIns="0" anchor="ctr" anchorCtr="0">
            <a:noAutofit/>
          </a:bodyPr>
          <a:lstStyle/>
          <a:p>
            <a:pPr marL="0" marR="0" lvl="0" indent="0" algn="l" rtl="0">
              <a:lnSpc>
                <a:spcPct val="119000"/>
              </a:lnSpc>
              <a:spcBef>
                <a:spcPts val="0"/>
              </a:spcBef>
              <a:spcAft>
                <a:spcPts val="0"/>
              </a:spcAft>
              <a:buClr>
                <a:schemeClr val="accent1"/>
              </a:buClr>
              <a:buSzPts val="1200"/>
              <a:buFont typeface="Noto Sans Symbols"/>
              <a:buNone/>
            </a:pPr>
            <a:r>
              <a:rPr lang="en-US" sz="1600">
                <a:solidFill>
                  <a:schemeClr val="dk2"/>
                </a:solidFill>
                <a:latin typeface="Tahoma" panose="020B0604030504040204"/>
                <a:ea typeface="Tahoma" panose="020B0604030504040204"/>
                <a:cs typeface="Tahoma" panose="020B0604030504040204"/>
                <a:sym typeface="Tahoma" panose="020B0604030504040204"/>
              </a:rPr>
              <a:t>Level 2</a:t>
            </a:r>
            <a:endParaRPr sz="1600" b="0">
              <a:solidFill>
                <a:schemeClr val="dk2"/>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3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pic>
        <p:nvPicPr>
          <p:cNvPr id="488" name="Google Shape;488;p39"/>
          <p:cNvPicPr preferRelativeResize="0"/>
          <p:nvPr/>
        </p:nvPicPr>
        <p:blipFill rotWithShape="1">
          <a:blip r:embed="rId1"/>
          <a:srcRect/>
          <a:stretch>
            <a:fillRect/>
          </a:stretch>
        </p:blipFill>
        <p:spPr>
          <a:xfrm>
            <a:off x="1752600" y="1835150"/>
            <a:ext cx="8686800" cy="4094163"/>
          </a:xfrm>
          <a:prstGeom prst="rect">
            <a:avLst/>
          </a:prstGeom>
          <a:noFill/>
          <a:ln>
            <a:noFill/>
          </a:ln>
        </p:spPr>
      </p:pic>
      <p:sp>
        <p:nvSpPr>
          <p:cNvPr id="489" name="Google Shape;489;p39"/>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Kitchen Remodeling </a:t>
            </a:r>
            <a:br>
              <a:rPr lang="en-US"/>
            </a:br>
            <a:r>
              <a:rPr lang="en-US" sz="2400" b="0"/>
              <a:t>Precedence Relationships</a:t>
            </a:r>
            <a:endParaRPr lang="en-US" sz="2400" b="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4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sp>
        <p:nvSpPr>
          <p:cNvPr id="502" name="Google Shape;502;p41"/>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One Performance Measurement</a:t>
            </a:r>
            <a:endParaRPr lang="en-US"/>
          </a:p>
        </p:txBody>
      </p:sp>
      <p:sp>
        <p:nvSpPr>
          <p:cNvPr id="503" name="Google Shape;503;p41"/>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Earned Value</a:t>
            </a:r>
            <a:endParaRPr lang="en-US"/>
          </a:p>
          <a:p>
            <a:pPr marL="744855" lvl="1" indent="-287655" algn="l" rtl="0">
              <a:lnSpc>
                <a:spcPct val="80000"/>
              </a:lnSpc>
              <a:spcBef>
                <a:spcPts val="1500"/>
              </a:spcBef>
              <a:spcAft>
                <a:spcPts val="0"/>
              </a:spcAft>
              <a:buClr>
                <a:schemeClr val="folHlink"/>
              </a:buClr>
              <a:buSzPts val="1960"/>
              <a:buFont typeface="Tahoma" panose="020B0604030504040204"/>
              <a:buChar char="–"/>
            </a:pPr>
            <a:r>
              <a:rPr lang="en-US"/>
              <a:t>Budgeted Cost of Work Performed (BCWP)</a:t>
            </a:r>
            <a:endParaRPr lang="en-US"/>
          </a:p>
          <a:p>
            <a:pPr marL="342900" lvl="0" indent="-342900" algn="l" rtl="0">
              <a:spcBef>
                <a:spcPts val="1500"/>
              </a:spcBef>
              <a:spcAft>
                <a:spcPts val="0"/>
              </a:spcAft>
              <a:buClr>
                <a:schemeClr val="dk1"/>
              </a:buClr>
              <a:buSzPts val="3200"/>
              <a:buFont typeface="Tahoma" panose="020B0604030504040204"/>
              <a:buChar char="•"/>
            </a:pPr>
            <a:r>
              <a:rPr lang="en-US"/>
              <a:t>Related Terms</a:t>
            </a:r>
            <a:endParaRPr lang="en-US"/>
          </a:p>
          <a:p>
            <a:pPr marL="744855" lvl="1" indent="-287655" algn="l" rtl="0">
              <a:lnSpc>
                <a:spcPct val="80000"/>
              </a:lnSpc>
              <a:spcBef>
                <a:spcPts val="1500"/>
              </a:spcBef>
              <a:spcAft>
                <a:spcPts val="0"/>
              </a:spcAft>
              <a:buClr>
                <a:schemeClr val="folHlink"/>
              </a:buClr>
              <a:buSzPts val="1960"/>
              <a:buFont typeface="Tahoma" panose="020B0604030504040204"/>
              <a:buChar char="–"/>
            </a:pPr>
            <a:r>
              <a:rPr lang="en-US"/>
              <a:t>Budgeted Cost of Work Scheduled (BCWS)</a:t>
            </a:r>
            <a:endParaRPr lang="en-US"/>
          </a:p>
          <a:p>
            <a:pPr marL="744855" lvl="1" indent="-287655" algn="l" rtl="0">
              <a:lnSpc>
                <a:spcPct val="80000"/>
              </a:lnSpc>
              <a:spcBef>
                <a:spcPts val="1500"/>
              </a:spcBef>
              <a:spcAft>
                <a:spcPts val="0"/>
              </a:spcAft>
              <a:buClr>
                <a:schemeClr val="folHlink"/>
              </a:buClr>
              <a:buSzPts val="1960"/>
              <a:buFont typeface="Tahoma" panose="020B0604030504040204"/>
              <a:buChar char="–"/>
            </a:pPr>
            <a:r>
              <a:rPr lang="en-US"/>
              <a:t>Actual Cost of Work Performed (ACWP)</a:t>
            </a:r>
            <a:endParaRPr lang="en-US"/>
          </a:p>
          <a:p>
            <a:pPr marL="744855" lvl="1" indent="-287655" algn="l" rtl="0">
              <a:lnSpc>
                <a:spcPct val="80000"/>
              </a:lnSpc>
              <a:spcBef>
                <a:spcPts val="1500"/>
              </a:spcBef>
              <a:spcAft>
                <a:spcPts val="0"/>
              </a:spcAft>
              <a:buClr>
                <a:schemeClr val="folHlink"/>
              </a:buClr>
              <a:buSzPts val="1960"/>
              <a:buFont typeface="Tahoma" panose="020B0604030504040204"/>
              <a:buChar char="–"/>
            </a:pPr>
            <a:r>
              <a:rPr lang="en-US"/>
              <a:t>Budget at Completion (BAC)</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sp>
        <p:nvSpPr>
          <p:cNvPr id="523" name="Google Shape;523;p44"/>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Responsibility Chart</a:t>
            </a:r>
            <a:endParaRPr lang="en-US"/>
          </a:p>
        </p:txBody>
      </p:sp>
      <p:pic>
        <p:nvPicPr>
          <p:cNvPr id="524" name="Google Shape;524;p44"/>
          <p:cNvPicPr preferRelativeResize="0"/>
          <p:nvPr/>
        </p:nvPicPr>
        <p:blipFill rotWithShape="1">
          <a:blip r:embed="rId1"/>
          <a:srcRect/>
          <a:stretch>
            <a:fillRect/>
          </a:stretch>
        </p:blipFill>
        <p:spPr>
          <a:xfrm>
            <a:off x="2667000" y="1752600"/>
            <a:ext cx="7010400" cy="41211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4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sp>
        <p:nvSpPr>
          <p:cNvPr id="530" name="Google Shape;530;p45"/>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Responsibility Chart Characteristics</a:t>
            </a:r>
            <a:endParaRPr lang="en-US"/>
          </a:p>
        </p:txBody>
      </p:sp>
      <p:sp>
        <p:nvSpPr>
          <p:cNvPr id="531" name="Google Shape;531;p45"/>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rmAutofit fontScale="74999" lnSpcReduction="20000"/>
          </a:bodyPr>
          <a:lstStyle/>
          <a:p>
            <a:pPr marL="287655" lvl="0" indent="-287655" algn="l" rtl="0">
              <a:spcBef>
                <a:spcPts val="0"/>
              </a:spcBef>
              <a:spcAft>
                <a:spcPts val="0"/>
              </a:spcAft>
              <a:buClr>
                <a:schemeClr val="dk1"/>
              </a:buClr>
              <a:buSzPct val="100000"/>
              <a:buFont typeface="Tahoma" panose="020B0604030504040204"/>
              <a:buChar char="•"/>
            </a:pPr>
            <a:r>
              <a:rPr lang="en-US"/>
              <a:t>Work Package Level</a:t>
            </a:r>
            <a:endParaRPr lang="en-US"/>
          </a:p>
          <a:p>
            <a:pPr marL="287655" lvl="0" indent="-287655" algn="l" rtl="0">
              <a:spcBef>
                <a:spcPts val="1500"/>
              </a:spcBef>
              <a:spcAft>
                <a:spcPts val="0"/>
              </a:spcAft>
              <a:buClr>
                <a:schemeClr val="dk1"/>
              </a:buClr>
              <a:buSzPct val="100000"/>
              <a:buFont typeface="Tahoma" panose="020B0604030504040204"/>
              <a:buChar char="•"/>
            </a:pPr>
            <a:r>
              <a:rPr lang="en-US"/>
              <a:t>Components</a:t>
            </a:r>
            <a:endParaRPr lang="en-US"/>
          </a:p>
          <a:p>
            <a:pPr marL="744855" lvl="1" indent="-287655" algn="l" rtl="0">
              <a:lnSpc>
                <a:spcPct val="80000"/>
              </a:lnSpc>
              <a:spcBef>
                <a:spcPts val="1500"/>
              </a:spcBef>
              <a:spcAft>
                <a:spcPts val="0"/>
              </a:spcAft>
              <a:buClr>
                <a:schemeClr val="folHlink"/>
              </a:buClr>
              <a:buSzPct val="70000"/>
              <a:buFont typeface="Tahoma" panose="020B0604030504040204"/>
              <a:buChar char="–"/>
            </a:pPr>
            <a:r>
              <a:rPr lang="en-US"/>
              <a:t>WBS activity</a:t>
            </a:r>
            <a:endParaRPr lang="en-US"/>
          </a:p>
          <a:p>
            <a:pPr marL="744855" lvl="1" indent="-287655" algn="l" rtl="0">
              <a:lnSpc>
                <a:spcPct val="80000"/>
              </a:lnSpc>
              <a:spcBef>
                <a:spcPts val="1500"/>
              </a:spcBef>
              <a:spcAft>
                <a:spcPts val="0"/>
              </a:spcAft>
              <a:buClr>
                <a:schemeClr val="folHlink"/>
              </a:buClr>
              <a:buSzPct val="70000"/>
              <a:buFont typeface="Tahoma" panose="020B0604030504040204"/>
              <a:buChar char="–"/>
            </a:pPr>
            <a:r>
              <a:rPr lang="en-US"/>
              <a:t>Responsible organization</a:t>
            </a:r>
            <a:endParaRPr lang="en-US"/>
          </a:p>
          <a:p>
            <a:pPr marL="744855" lvl="1" indent="-287655" algn="l" rtl="0">
              <a:lnSpc>
                <a:spcPct val="80000"/>
              </a:lnSpc>
              <a:spcBef>
                <a:spcPts val="1500"/>
              </a:spcBef>
              <a:spcAft>
                <a:spcPts val="0"/>
              </a:spcAft>
              <a:buClr>
                <a:schemeClr val="folHlink"/>
              </a:buClr>
              <a:buSzPct val="70000"/>
              <a:buFont typeface="Tahoma" panose="020B0604030504040204"/>
              <a:buChar char="–"/>
            </a:pPr>
            <a:r>
              <a:rPr lang="en-US"/>
              <a:t>Responsible position title or person</a:t>
            </a:r>
            <a:endParaRPr lang="en-US"/>
          </a:p>
          <a:p>
            <a:pPr marL="744855" lvl="1" indent="-287655" algn="l" rtl="0">
              <a:lnSpc>
                <a:spcPct val="80000"/>
              </a:lnSpc>
              <a:spcBef>
                <a:spcPts val="1500"/>
              </a:spcBef>
              <a:spcAft>
                <a:spcPts val="0"/>
              </a:spcAft>
              <a:buClr>
                <a:schemeClr val="folHlink"/>
              </a:buClr>
              <a:buSzPct val="70000"/>
              <a:buFont typeface="Tahoma" panose="020B0604030504040204"/>
              <a:buChar char="–"/>
            </a:pPr>
            <a:r>
              <a:rPr lang="en-US"/>
              <a:t>Type of responsibility</a:t>
            </a:r>
            <a:endParaRPr lang="en-US"/>
          </a:p>
          <a:p>
            <a:pPr marL="1202055" lvl="2" indent="-287655" algn="l" rtl="0">
              <a:spcBef>
                <a:spcPts val="1500"/>
              </a:spcBef>
              <a:spcAft>
                <a:spcPts val="0"/>
              </a:spcAft>
              <a:buClr>
                <a:schemeClr val="folHlink"/>
              </a:buClr>
              <a:buSzPct val="70000"/>
              <a:buFont typeface="Tahoma" panose="020B0604030504040204"/>
              <a:buChar char="•"/>
            </a:pPr>
            <a:r>
              <a:rPr lang="en-US"/>
              <a:t>Approving authority</a:t>
            </a:r>
            <a:endParaRPr lang="en-US"/>
          </a:p>
          <a:p>
            <a:pPr marL="1202055" lvl="2" indent="-287655" algn="l" rtl="0">
              <a:spcBef>
                <a:spcPts val="1500"/>
              </a:spcBef>
              <a:spcAft>
                <a:spcPts val="0"/>
              </a:spcAft>
              <a:buClr>
                <a:schemeClr val="folHlink"/>
              </a:buClr>
              <a:buSzPct val="70000"/>
              <a:buFont typeface="Tahoma" panose="020B0604030504040204"/>
              <a:buChar char="•"/>
            </a:pPr>
            <a:r>
              <a:rPr lang="en-US"/>
              <a:t>Prime implementation accountability</a:t>
            </a:r>
            <a:endParaRPr lang="en-US"/>
          </a:p>
          <a:p>
            <a:pPr marL="1202055" lvl="2" indent="-287655" algn="l" rtl="0">
              <a:spcBef>
                <a:spcPts val="1500"/>
              </a:spcBef>
              <a:spcAft>
                <a:spcPts val="0"/>
              </a:spcAft>
              <a:buClr>
                <a:schemeClr val="folHlink"/>
              </a:buClr>
              <a:buSzPct val="70000"/>
              <a:buFont typeface="Tahoma" panose="020B0604030504040204"/>
              <a:buChar char="•"/>
            </a:pPr>
            <a:r>
              <a:rPr lang="en-US"/>
              <a:t>Support</a:t>
            </a:r>
            <a:endParaRPr lang="en-US"/>
          </a:p>
          <a:p>
            <a:pPr marL="1202055" lvl="2" indent="-287655" algn="l" rtl="0">
              <a:spcBef>
                <a:spcPts val="1500"/>
              </a:spcBef>
              <a:spcAft>
                <a:spcPts val="0"/>
              </a:spcAft>
              <a:buClr>
                <a:schemeClr val="folHlink"/>
              </a:buClr>
              <a:buSzPct val="70000"/>
              <a:buFont typeface="Tahoma" panose="020B0604030504040204"/>
              <a:buChar char="•"/>
            </a:pPr>
            <a:r>
              <a:rPr lang="en-US"/>
              <a:t>Notification</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7"/>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545" name="Google Shape;545;p4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pic>
        <p:nvPicPr>
          <p:cNvPr id="546" name="Google Shape;546;p47"/>
          <p:cNvPicPr preferRelativeResize="0">
            <a:picLocks noGrp="1"/>
          </p:cNvPicPr>
          <p:nvPr>
            <p:ph type="body" idx="1"/>
          </p:nvPr>
        </p:nvPicPr>
        <p:blipFill rotWithShape="1">
          <a:blip r:embed="rId1"/>
          <a:srcRect/>
          <a:stretch>
            <a:fillRect/>
          </a:stretch>
        </p:blipFill>
        <p:spPr>
          <a:xfrm>
            <a:off x="2152650" y="1817011"/>
            <a:ext cx="7685617" cy="472190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51"/>
          <p:cNvSpPr txBox="1">
            <a:spLocks noGrp="1"/>
          </p:cNvSpPr>
          <p:nvPr>
            <p:ph type="body" idx="1"/>
          </p:nvPr>
        </p:nvSpPr>
        <p:spPr>
          <a:xfrm>
            <a:off x="2282825" y="1524000"/>
            <a:ext cx="8004175" cy="40608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Requirements</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Analysis</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Design</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Construction</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Quality Assurance</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Deployment</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640"/>
              </a:spcBef>
              <a:spcAft>
                <a:spcPts val="0"/>
              </a:spcAft>
              <a:buClr>
                <a:schemeClr val="dk1"/>
              </a:buClr>
              <a:buSzPts val="3200"/>
              <a:buFont typeface="Tahoma" panose="020B0604030504040204"/>
              <a:buNone/>
            </a:pP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574" name="Google Shape;574;p51"/>
          <p:cNvSpPr txBox="1">
            <a:spLocks noGrp="1"/>
          </p:cNvSpPr>
          <p:nvPr>
            <p:ph type="title"/>
          </p:nvPr>
        </p:nvSpPr>
        <p:spPr>
          <a:xfrm>
            <a:off x="2209800" y="188913"/>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Technical Fundamentals</a:t>
            </a:r>
            <a:endParaRPr lang="en-US"/>
          </a:p>
        </p:txBody>
      </p:sp>
      <p:sp>
        <p:nvSpPr>
          <p:cNvPr id="575" name="Google Shape;575;p51"/>
          <p:cNvSpPr txBox="1"/>
          <p:nvPr/>
        </p:nvSpPr>
        <p:spPr>
          <a:xfrm>
            <a:off x="1893888" y="5013325"/>
            <a:ext cx="7772400" cy="1143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0000"/>
              </a:buClr>
              <a:buSzPts val="3200"/>
              <a:buFont typeface="Tahoma" panose="020B0604030504040204"/>
              <a:buNone/>
            </a:pPr>
            <a:r>
              <a:rPr lang="en-US" sz="3200" i="1">
                <a:solidFill>
                  <a:srgbClr val="FF0000"/>
                </a:solidFill>
                <a:latin typeface="Tahoma" panose="020B0604030504040204"/>
                <a:ea typeface="Tahoma" panose="020B0604030504040204"/>
                <a:cs typeface="Tahoma" panose="020B0604030504040204"/>
                <a:sym typeface="Tahoma" panose="020B0604030504040204"/>
              </a:rPr>
              <a:t>For details refer to slide 12,13,14,15 of Lecture 1</a:t>
            </a:r>
            <a:endParaRPr sz="3200" i="1">
              <a:solidFill>
                <a:srgbClr val="FF0000"/>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5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1" name="Google Shape;581;p5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Project Phases</a:t>
            </a:r>
            <a:endParaRPr lang="en-US"/>
          </a:p>
        </p:txBody>
      </p:sp>
      <p:sp>
        <p:nvSpPr>
          <p:cNvPr id="582" name="Google Shape;582;p52"/>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All projects are divided into phases</a:t>
            </a:r>
            <a:endParaRPr lang="en-US"/>
          </a:p>
          <a:p>
            <a:pPr marL="342900" lvl="0" indent="-342900" algn="l" rtl="0">
              <a:spcBef>
                <a:spcPts val="640"/>
              </a:spcBef>
              <a:spcAft>
                <a:spcPts val="0"/>
              </a:spcAft>
              <a:buClr>
                <a:schemeClr val="dk1"/>
              </a:buClr>
              <a:buSzPts val="3200"/>
              <a:buFont typeface="Tahoma" panose="020B0604030504040204"/>
              <a:buChar char="•"/>
            </a:pPr>
            <a:r>
              <a:rPr lang="en-US"/>
              <a:t>All phases together are known as the Project Life Cycle</a:t>
            </a:r>
            <a:endParaRPr lang="en-US"/>
          </a:p>
          <a:p>
            <a:pPr marL="342900" lvl="0" indent="-342900" algn="l" rtl="0">
              <a:spcBef>
                <a:spcPts val="640"/>
              </a:spcBef>
              <a:spcAft>
                <a:spcPts val="0"/>
              </a:spcAft>
              <a:buClr>
                <a:schemeClr val="dk1"/>
              </a:buClr>
              <a:buSzPts val="3200"/>
              <a:buFont typeface="Tahoma" panose="020B0604030504040204"/>
              <a:buChar char="•"/>
            </a:pPr>
            <a:r>
              <a:rPr lang="en-US"/>
              <a:t>Each phase is marked by completion of Deliverables</a:t>
            </a:r>
            <a:endParaRPr lang="en-US"/>
          </a:p>
          <a:p>
            <a:pPr marL="342900" lvl="0" indent="-342900" algn="l" rtl="0">
              <a:spcBef>
                <a:spcPts val="640"/>
              </a:spcBef>
              <a:spcAft>
                <a:spcPts val="0"/>
              </a:spcAft>
              <a:buClr>
                <a:schemeClr val="dk1"/>
              </a:buClr>
              <a:buSzPts val="3200"/>
              <a:buFont typeface="Tahoma" panose="020B0604030504040204"/>
              <a:buChar char="•"/>
            </a:pPr>
            <a:r>
              <a:rPr lang="en-US"/>
              <a:t>Identify the primary software project phases</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53"/>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SzPts val="1400"/>
              <a:buFont typeface="Times New Roman" panose="02020603050405020304"/>
              <a:buNone/>
            </a:pPr>
            <a:fld id="{00000000-1234-1234-1234-123412341234}" type="slidenum">
              <a:rPr lang="en-US" sz="14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4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89" name="Google Shape;589;p53"/>
          <p:cNvSpPr txBox="1"/>
          <p:nvPr/>
        </p:nvSpPr>
        <p:spPr>
          <a:xfrm>
            <a:off x="2208213" y="1287463"/>
            <a:ext cx="7343775" cy="28613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Arial" panose="020B0604020202020204"/>
                <a:ea typeface="Arial" panose="020B0604020202020204"/>
                <a:cs typeface="Arial" panose="020B0604020202020204"/>
                <a:sym typeface="Arial" panose="020B0604020202020204"/>
              </a:rPr>
              <a:t>Project Life Cycle: </a:t>
            </a:r>
            <a:r>
              <a:rPr lang="en-US" sz="1800">
                <a:solidFill>
                  <a:srgbClr val="000000"/>
                </a:solidFill>
                <a:latin typeface="Arial" panose="020B0604020202020204"/>
                <a:ea typeface="Arial" panose="020B0604020202020204"/>
                <a:cs typeface="Arial" panose="020B0604020202020204"/>
                <a:sym typeface="Arial" panose="020B0604020202020204"/>
              </a:rPr>
              <a:t>The series of phases that a project passes through from its start to its completion.</a:t>
            </a:r>
            <a:endParaRPr sz="18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8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800" b="1">
                <a:solidFill>
                  <a:srgbClr val="000000"/>
                </a:solidFill>
                <a:latin typeface="Arial" panose="020B0604020202020204"/>
                <a:ea typeface="Arial" panose="020B0604020202020204"/>
                <a:cs typeface="Arial" panose="020B0604020202020204"/>
                <a:sym typeface="Arial" panose="020B0604020202020204"/>
              </a:rPr>
              <a:t>Project Phase: </a:t>
            </a:r>
            <a:r>
              <a:rPr lang="en-US" sz="1800">
                <a:solidFill>
                  <a:srgbClr val="000000"/>
                </a:solidFill>
                <a:latin typeface="Arial" panose="020B0604020202020204"/>
                <a:ea typeface="Arial" panose="020B0604020202020204"/>
                <a:cs typeface="Arial" panose="020B0604020202020204"/>
                <a:sym typeface="Arial" panose="020B0604020202020204"/>
              </a:rPr>
              <a:t>A collection of logically related project activities that culminates in the completion of one or more deliverables.</a:t>
            </a:r>
            <a:endParaRPr sz="18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8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1800" b="1">
                <a:solidFill>
                  <a:srgbClr val="000000"/>
                </a:solidFill>
                <a:latin typeface="Arial" panose="020B0604020202020204"/>
                <a:ea typeface="Arial" panose="020B0604020202020204"/>
                <a:cs typeface="Arial" panose="020B0604020202020204"/>
                <a:sym typeface="Arial" panose="020B0604020202020204"/>
              </a:rPr>
              <a:t>Phase Gate: </a:t>
            </a:r>
            <a:r>
              <a:rPr lang="en-US" sz="1800">
                <a:solidFill>
                  <a:srgbClr val="000000"/>
                </a:solidFill>
                <a:latin typeface="Arial" panose="020B0604020202020204"/>
                <a:ea typeface="Arial" panose="020B0604020202020204"/>
                <a:cs typeface="Arial" panose="020B0604020202020204"/>
                <a:sym typeface="Arial" panose="020B0604020202020204"/>
              </a:rPr>
              <a:t>A review at the end of a phase in which a decision is made to continue to the next phase, to continue with modification, or to end a program or project.</a:t>
            </a:r>
            <a:endParaRPr sz="18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800">
              <a:solidFill>
                <a:srgbClr val="000000"/>
              </a:solidFill>
              <a:latin typeface="Arial" panose="020B0604020202020204"/>
              <a:ea typeface="Arial" panose="020B0604020202020204"/>
              <a:cs typeface="Arial" panose="020B0604020202020204"/>
              <a:sym typeface="Arial" panose="020B0604020202020204"/>
            </a:endParaRPr>
          </a:p>
        </p:txBody>
      </p:sp>
      <p:sp>
        <p:nvSpPr>
          <p:cNvPr id="590" name="Google Shape;590;p53"/>
          <p:cNvSpPr txBox="1">
            <a:spLocks noGrp="1"/>
          </p:cNvSpPr>
          <p:nvPr>
            <p:ph type="title"/>
          </p:nvPr>
        </p:nvSpPr>
        <p:spPr>
          <a:xfrm>
            <a:off x="2209800" y="115888"/>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Project Life cycle</a:t>
            </a:r>
            <a:endParaRPr lang="en-US"/>
          </a:p>
        </p:txBody>
      </p:sp>
      <p:pic>
        <p:nvPicPr>
          <p:cNvPr id="591" name="Google Shape;591;p53"/>
          <p:cNvPicPr preferRelativeResize="0"/>
          <p:nvPr/>
        </p:nvPicPr>
        <p:blipFill rotWithShape="1">
          <a:blip r:embed="rId1"/>
          <a:srcRect/>
          <a:stretch>
            <a:fillRect/>
          </a:stretch>
        </p:blipFill>
        <p:spPr>
          <a:xfrm>
            <a:off x="2276475" y="4005263"/>
            <a:ext cx="7486650" cy="208756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54"/>
          <p:cNvSpPr txBox="1">
            <a:spLocks noGrp="1"/>
          </p:cNvSpPr>
          <p:nvPr>
            <p:ph type="title"/>
          </p:nvPr>
        </p:nvSpPr>
        <p:spPr>
          <a:xfrm>
            <a:off x="1524000" y="115888"/>
            <a:ext cx="9144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3400"/>
              <a:buFont typeface="Tahoma" panose="020B0604030504040204"/>
              <a:buNone/>
            </a:pPr>
            <a:r>
              <a:rPr lang="en-US" sz="3400" b="1"/>
              <a:t>Project and Development Life cycles</a:t>
            </a:r>
            <a:endParaRPr sz="3400" b="1"/>
          </a:p>
        </p:txBody>
      </p:sp>
      <p:sp>
        <p:nvSpPr>
          <p:cNvPr id="598" name="Google Shape;598;p54"/>
          <p:cNvSpPr txBox="1">
            <a:spLocks noGrp="1"/>
          </p:cNvSpPr>
          <p:nvPr>
            <p:ph type="body" idx="1"/>
          </p:nvPr>
        </p:nvSpPr>
        <p:spPr>
          <a:xfrm>
            <a:off x="1631950" y="1325563"/>
            <a:ext cx="8856663" cy="4335462"/>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000"/>
              <a:buFont typeface="Tahoma" panose="020B0604030504040204"/>
              <a:buNone/>
            </a:pPr>
            <a:r>
              <a:rPr lang="en-US" sz="2000"/>
              <a:t>Within a project life cycle, there are generally one or more phases that are associated with the development of the product, service, or result. These are called a development life cycle. Development life cycles can be predictive, iterative, incremental, adaptive, or a hybrid model:</a:t>
            </a:r>
            <a:endParaRPr sz="2000"/>
          </a:p>
          <a:p>
            <a:pPr marL="0" lvl="0" indent="0" algn="just" rtl="0">
              <a:spcBef>
                <a:spcPts val="400"/>
              </a:spcBef>
              <a:spcAft>
                <a:spcPts val="0"/>
              </a:spcAft>
              <a:buClr>
                <a:schemeClr val="dk1"/>
              </a:buClr>
              <a:buSzPts val="2000"/>
              <a:buFont typeface="Tahoma" panose="020B0604030504040204"/>
              <a:buNone/>
            </a:pPr>
            <a:r>
              <a:rPr lang="en-US" sz="2000"/>
              <a:t>In a </a:t>
            </a:r>
            <a:r>
              <a:rPr lang="en-US" sz="2000" b="1"/>
              <a:t>predictive life cycle</a:t>
            </a:r>
            <a:r>
              <a:rPr lang="en-US" sz="2000"/>
              <a:t>, the project scope, time, and cost are determined in the early phases of the life cycle. Any changes to the scope are carefully managed. Predictive life cycles may also be referred to as waterfall life cycles.</a:t>
            </a:r>
            <a:endParaRPr sz="2000"/>
          </a:p>
          <a:p>
            <a:pPr marL="0" lvl="0" indent="0" algn="just" rtl="0">
              <a:spcBef>
                <a:spcPts val="400"/>
              </a:spcBef>
              <a:spcAft>
                <a:spcPts val="0"/>
              </a:spcAft>
              <a:buClr>
                <a:schemeClr val="dk1"/>
              </a:buClr>
              <a:buSzPts val="2000"/>
              <a:buFont typeface="Tahoma" panose="020B0604030504040204"/>
              <a:buNone/>
            </a:pPr>
            <a:r>
              <a:rPr lang="en-US" sz="2000"/>
              <a:t>In  an  </a:t>
            </a:r>
            <a:r>
              <a:rPr lang="en-US" sz="2000" b="1"/>
              <a:t>iterative  life  cycle</a:t>
            </a:r>
            <a:r>
              <a:rPr lang="en-US" sz="2000"/>
              <a:t>,  the  project  scope  is  generally  determined  early  in  the  project  life  cycle,  but  time and  cost  estimates  are  routinely  modiﬁed  as  the  project  team’s  understanding  of  the  product  increases. Iterations develop the product through a series of repeated cycles, while increments successively add to the functionality of the product.</a:t>
            </a:r>
            <a:endParaRPr sz="2000"/>
          </a:p>
        </p:txBody>
      </p:sp>
      <p:sp>
        <p:nvSpPr>
          <p:cNvPr id="599" name="Google Shape;599;p54"/>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SzPts val="1400"/>
              <a:buFont typeface="Times New Roman" panose="02020603050405020304"/>
              <a:buNone/>
            </a:pPr>
            <a:fld id="{00000000-1234-1234-1234-123412341234}" type="slidenum">
              <a:rPr lang="en-US" sz="14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4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55"/>
          <p:cNvSpPr txBox="1">
            <a:spLocks noGrp="1"/>
          </p:cNvSpPr>
          <p:nvPr>
            <p:ph type="body" idx="1"/>
          </p:nvPr>
        </p:nvSpPr>
        <p:spPr>
          <a:xfrm>
            <a:off x="2209800" y="1557338"/>
            <a:ext cx="7772400" cy="4608512"/>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000"/>
              <a:buFont typeface="Tahoma" panose="020B0604030504040204"/>
              <a:buNone/>
            </a:pPr>
            <a:r>
              <a:rPr lang="en-US" sz="2000"/>
              <a:t>In  an  </a:t>
            </a:r>
            <a:r>
              <a:rPr lang="en-US" sz="2000" b="1"/>
              <a:t>incremental  life  cycle</a:t>
            </a:r>
            <a:r>
              <a:rPr lang="en-US" sz="2000"/>
              <a:t>,  the  deliverable  is  produced  through  a  series  of  iterations  that  successively  add functionality within a predetermined time frame. The deliverable contains the necessary and sufﬁcient capability to be considered complete only after the ﬁnal iteration.</a:t>
            </a:r>
            <a:endParaRPr sz="2000"/>
          </a:p>
          <a:p>
            <a:pPr marL="0" lvl="0" indent="0" algn="just" rtl="0">
              <a:spcBef>
                <a:spcPts val="400"/>
              </a:spcBef>
              <a:spcAft>
                <a:spcPts val="0"/>
              </a:spcAft>
              <a:buClr>
                <a:schemeClr val="dk1"/>
              </a:buClr>
              <a:buSzPts val="2000"/>
              <a:buFont typeface="Tahoma" panose="020B0604030504040204"/>
              <a:buNone/>
            </a:pPr>
            <a:r>
              <a:rPr lang="en-US" sz="2000" b="1"/>
              <a:t>Adaptive life cycles </a:t>
            </a:r>
            <a:r>
              <a:rPr lang="en-US" sz="2000"/>
              <a:t>are agile, iterative, or incremental. The detailed scope is deﬁned and approved before the start of an iteration. Adaptive life cycles are also referred to as agile or change-driven life cycles.</a:t>
            </a:r>
            <a:endParaRPr sz="2000"/>
          </a:p>
          <a:p>
            <a:pPr marL="0" lvl="0" indent="0" algn="just" rtl="0">
              <a:spcBef>
                <a:spcPts val="400"/>
              </a:spcBef>
              <a:spcAft>
                <a:spcPts val="0"/>
              </a:spcAft>
              <a:buClr>
                <a:schemeClr val="dk1"/>
              </a:buClr>
              <a:buSzPts val="2000"/>
              <a:buFont typeface="Tahoma" panose="020B0604030504040204"/>
              <a:buNone/>
            </a:pPr>
            <a:r>
              <a:rPr lang="en-US" sz="2000" b="1"/>
              <a:t>A hybrid life cycle </a:t>
            </a:r>
            <a:r>
              <a:rPr lang="en-US" sz="2000"/>
              <a:t>is a combination of a predictive and an adaptive life cycle. Those elements of the project that are well known or have ﬁxed requirements follow a predictive development life cycle, and those elements that are still evolving follow an adaptive development life cycle.</a:t>
            </a:r>
            <a:endParaRPr sz="2000"/>
          </a:p>
          <a:p>
            <a:pPr marL="0" lvl="0" indent="0" algn="just" rtl="0">
              <a:spcBef>
                <a:spcPts val="400"/>
              </a:spcBef>
              <a:spcAft>
                <a:spcPts val="0"/>
              </a:spcAft>
              <a:buClr>
                <a:schemeClr val="dk1"/>
              </a:buClr>
              <a:buSzPts val="2000"/>
              <a:buFont typeface="Tahoma" panose="020B0604030504040204"/>
              <a:buNone/>
            </a:pPr>
            <a:endParaRPr sz="2000"/>
          </a:p>
        </p:txBody>
      </p:sp>
      <p:sp>
        <p:nvSpPr>
          <p:cNvPr id="605" name="Google Shape;605;p55"/>
          <p:cNvSpPr txBox="1">
            <a:spLocks noGrp="1"/>
          </p:cNvSpPr>
          <p:nvPr>
            <p:ph type="sldNum" idx="12"/>
          </p:nvPr>
        </p:nvSpPr>
        <p:spPr>
          <a:xfrm>
            <a:off x="4470400" y="6324600"/>
            <a:ext cx="3048000" cy="381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lt1"/>
              </a:buClr>
              <a:buSzPts val="1400"/>
              <a:buFont typeface="Times New Roman" panose="02020603050405020304"/>
              <a:buNone/>
            </a:pPr>
            <a:fld id="{00000000-1234-1234-1234-123412341234}" type="slidenum">
              <a:rPr lang="en-US" sz="14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400" b="0" i="0" u="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06" name="Google Shape;606;p55"/>
          <p:cNvSpPr txBox="1">
            <a:spLocks noGrp="1"/>
          </p:cNvSpPr>
          <p:nvPr>
            <p:ph type="title"/>
          </p:nvPr>
        </p:nvSpPr>
        <p:spPr>
          <a:xfrm>
            <a:off x="1992313" y="188913"/>
            <a:ext cx="813435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400"/>
              <a:buFont typeface="Tahoma" panose="020B0604030504040204"/>
              <a:buNone/>
            </a:pPr>
            <a:r>
              <a:rPr lang="en-US" sz="3400" b="1"/>
              <a:t>Project and Development Life cycles</a:t>
            </a:r>
            <a:endParaRPr sz="3400" b="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pic>
        <p:nvPicPr>
          <p:cNvPr id="612" name="Google Shape;612;p56"/>
          <p:cNvPicPr preferRelativeResize="0"/>
          <p:nvPr/>
        </p:nvPicPr>
        <p:blipFill rotWithShape="1">
          <a:blip r:embed="rId1"/>
          <a:srcRect t="2914"/>
          <a:stretch>
            <a:fillRect/>
          </a:stretch>
        </p:blipFill>
        <p:spPr>
          <a:xfrm>
            <a:off x="2135188" y="1882775"/>
            <a:ext cx="8335962" cy="4138613"/>
          </a:xfrm>
          <a:prstGeom prst="rect">
            <a:avLst/>
          </a:prstGeom>
          <a:noFill/>
          <a:ln>
            <a:noFill/>
          </a:ln>
        </p:spPr>
      </p:pic>
      <p:sp>
        <p:nvSpPr>
          <p:cNvPr id="613" name="Google Shape;613;p56"/>
          <p:cNvSpPr txBox="1">
            <a:spLocks noGrp="1"/>
          </p:cNvSpPr>
          <p:nvPr>
            <p:ph type="title"/>
          </p:nvPr>
        </p:nvSpPr>
        <p:spPr>
          <a:xfrm>
            <a:off x="2286000" y="381000"/>
            <a:ext cx="80010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A comparison</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344130"/>
            <a:ext cx="10363200" cy="1143000"/>
          </a:xfrm>
        </p:spPr>
        <p:txBody>
          <a:bodyPr/>
          <a:lstStyle/>
          <a:p>
            <a:r>
              <a:rPr lang="en-US" dirty="0"/>
              <a:t>Comparison</a:t>
            </a:r>
            <a:endParaRPr lang="en-US" dirty="0"/>
          </a:p>
        </p:txBody>
      </p:sp>
      <p:pic>
        <p:nvPicPr>
          <p:cNvPr id="5" name="Picture 4"/>
          <p:cNvPicPr>
            <a:picLocks noChangeAspect="1"/>
          </p:cNvPicPr>
          <p:nvPr/>
        </p:nvPicPr>
        <p:blipFill>
          <a:blip r:embed="rId1"/>
          <a:stretch>
            <a:fillRect/>
          </a:stretch>
        </p:blipFill>
        <p:spPr>
          <a:xfrm>
            <a:off x="1198484" y="1857155"/>
            <a:ext cx="9977516" cy="449192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19" name="Google Shape;619;p57"/>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Lifecycle Relationships</a:t>
            </a:r>
            <a:endParaRPr lang="en-US"/>
          </a:p>
        </p:txBody>
      </p:sp>
      <p:sp>
        <p:nvSpPr>
          <p:cNvPr id="620" name="Google Shape;620;p57"/>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None/>
            </a:pPr>
            <a:r>
              <a:rPr lang="en-US"/>
              <a:t> </a:t>
            </a:r>
            <a:endParaRPr lang="en-US"/>
          </a:p>
        </p:txBody>
      </p:sp>
      <p:graphicFrame>
        <p:nvGraphicFramePr>
          <p:cNvPr id="621" name="Google Shape;621;p57"/>
          <p:cNvGraphicFramePr/>
          <p:nvPr/>
        </p:nvGraphicFramePr>
        <p:xfrm>
          <a:off x="1905000" y="1981200"/>
          <a:ext cx="7991475" cy="3962400"/>
        </p:xfrm>
        <a:graphic>
          <a:graphicData uri="http://schemas.openxmlformats.org/presentationml/2006/ole">
            <mc:AlternateContent xmlns:mc="http://schemas.openxmlformats.org/markup-compatibility/2006">
              <mc:Choice xmlns:v="urn:schemas-microsoft-com:vml" Requires="v">
                <p:oleObj spid="_x0000_s2" name="" r:id="rId1" imgW="6743700" imgH="2447925" progId="PBrush">
                  <p:embed/>
                </p:oleObj>
              </mc:Choice>
              <mc:Fallback>
                <p:oleObj name="" r:id="rId1" imgW="6743700" imgH="2447925" progId="PBrush">
                  <p:embed/>
                  <p:pic>
                    <p:nvPicPr>
                      <p:cNvPr id="0" name="Google Shape;621;p57"/>
                      <p:cNvPicPr preferRelativeResize="0"/>
                      <p:nvPr/>
                    </p:nvPicPr>
                    <p:blipFill rotWithShape="1">
                      <a:blip r:embed="rId2"/>
                      <a:srcRect/>
                      <a:stretch>
                        <a:fillRect/>
                      </a:stretch>
                    </p:blipFill>
                    <p:spPr>
                      <a:xfrm>
                        <a:off x="1905000" y="1981200"/>
                        <a:ext cx="7991475" cy="39624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5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27" name="Google Shape;627;p58"/>
          <p:cNvSpPr txBox="1">
            <a:spLocks noGrp="1"/>
          </p:cNvSpPr>
          <p:nvPr>
            <p:ph type="title"/>
          </p:nvPr>
        </p:nvSpPr>
        <p:spPr>
          <a:xfrm>
            <a:off x="2207895" y="18923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a:t>Seven Core Project Phases</a:t>
            </a:r>
            <a:endParaRPr sz="4000"/>
          </a:p>
        </p:txBody>
      </p:sp>
      <p:sp>
        <p:nvSpPr>
          <p:cNvPr id="628" name="Google Shape;628;p58"/>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None/>
            </a:pPr>
            <a:r>
              <a:rPr lang="en-US"/>
              <a:t> </a:t>
            </a:r>
            <a:endParaRPr lang="en-US"/>
          </a:p>
        </p:txBody>
      </p:sp>
      <p:graphicFrame>
        <p:nvGraphicFramePr>
          <p:cNvPr id="629" name="Google Shape;629;p58"/>
          <p:cNvGraphicFramePr/>
          <p:nvPr/>
        </p:nvGraphicFramePr>
        <p:xfrm>
          <a:off x="1981200" y="1371600"/>
          <a:ext cx="8077200" cy="5029200"/>
        </p:xfrm>
        <a:graphic>
          <a:graphicData uri="http://schemas.openxmlformats.org/presentationml/2006/ole">
            <mc:AlternateContent xmlns:mc="http://schemas.openxmlformats.org/markup-compatibility/2006">
              <mc:Choice xmlns:v="urn:schemas-microsoft-com:vml" Requires="v">
                <p:oleObj spid="_x0000_s2" name="" r:id="rId1" imgW="5734050" imgH="4152900" progId="PBrush">
                  <p:embed/>
                </p:oleObj>
              </mc:Choice>
              <mc:Fallback>
                <p:oleObj name="" r:id="rId1" imgW="5734050" imgH="4152900" progId="PBrush">
                  <p:embed/>
                  <p:pic>
                    <p:nvPicPr>
                      <p:cNvPr id="0" name="Google Shape;629;p58"/>
                      <p:cNvPicPr preferRelativeResize="0"/>
                      <p:nvPr/>
                    </p:nvPicPr>
                    <p:blipFill rotWithShape="1">
                      <a:blip r:embed="rId2"/>
                      <a:srcRect/>
                      <a:stretch>
                        <a:fillRect/>
                      </a:stretch>
                    </p:blipFill>
                    <p:spPr>
                      <a:xfrm>
                        <a:off x="1981200" y="1371600"/>
                        <a:ext cx="8077200" cy="50292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35" name="Google Shape;635;p59"/>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Project Phases A.K.A.</a:t>
            </a:r>
            <a:endParaRPr lang="en-US"/>
          </a:p>
        </p:txBody>
      </p:sp>
      <p:sp>
        <p:nvSpPr>
          <p:cNvPr id="636" name="Google Shape;636;p59"/>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None/>
            </a:pPr>
            <a:r>
              <a:rPr lang="en-US"/>
              <a:t> </a:t>
            </a:r>
            <a:endParaRPr lang="en-US"/>
          </a:p>
        </p:txBody>
      </p:sp>
      <p:graphicFrame>
        <p:nvGraphicFramePr>
          <p:cNvPr id="637" name="Google Shape;637;p59"/>
          <p:cNvGraphicFramePr/>
          <p:nvPr/>
        </p:nvGraphicFramePr>
        <p:xfrm>
          <a:off x="1752600" y="1524000"/>
          <a:ext cx="8939213" cy="5334000"/>
        </p:xfrm>
        <a:graphic>
          <a:graphicData uri="http://schemas.openxmlformats.org/presentationml/2006/ole">
            <mc:AlternateContent xmlns:mc="http://schemas.openxmlformats.org/markup-compatibility/2006">
              <mc:Choice xmlns:v="urn:schemas-microsoft-com:vml" Requires="v">
                <p:oleObj spid="_x0000_s2" name="" r:id="rId1" imgW="7686675" imgH="4733925" progId="PBrush">
                  <p:embed/>
                </p:oleObj>
              </mc:Choice>
              <mc:Fallback>
                <p:oleObj name="" r:id="rId1" imgW="7686675" imgH="4733925" progId="PBrush">
                  <p:embed/>
                  <p:pic>
                    <p:nvPicPr>
                      <p:cNvPr id="0" name="Google Shape;637;p59"/>
                      <p:cNvPicPr preferRelativeResize="0"/>
                      <p:nvPr/>
                    </p:nvPicPr>
                    <p:blipFill rotWithShape="1">
                      <a:blip r:embed="rId2"/>
                      <a:srcRect/>
                      <a:stretch>
                        <a:fillRect/>
                      </a:stretch>
                    </p:blipFill>
                    <p:spPr>
                      <a:xfrm>
                        <a:off x="1752600" y="1524000"/>
                        <a:ext cx="8939213" cy="53340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6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4" name="Google Shape;644;p60"/>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Phases Variation</a:t>
            </a:r>
            <a:endParaRPr lang="en-US"/>
          </a:p>
        </p:txBody>
      </p:sp>
      <p:sp>
        <p:nvSpPr>
          <p:cNvPr id="645" name="Google Shape;645;p60"/>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None/>
            </a:pPr>
            <a:r>
              <a:rPr lang="en-US"/>
              <a:t> </a:t>
            </a:r>
            <a:endParaRPr lang="en-US"/>
          </a:p>
        </p:txBody>
      </p:sp>
      <p:graphicFrame>
        <p:nvGraphicFramePr>
          <p:cNvPr id="646" name="Google Shape;646;p60"/>
          <p:cNvGraphicFramePr/>
          <p:nvPr/>
        </p:nvGraphicFramePr>
        <p:xfrm>
          <a:off x="1828800" y="1447800"/>
          <a:ext cx="8839200" cy="5373688"/>
        </p:xfrm>
        <a:graphic>
          <a:graphicData uri="http://schemas.openxmlformats.org/presentationml/2006/ole">
            <mc:AlternateContent xmlns:mc="http://schemas.openxmlformats.org/markup-compatibility/2006">
              <mc:Choice xmlns:v="urn:schemas-microsoft-com:vml" Requires="v">
                <p:oleObj spid="_x0000_s2" name="" r:id="rId1" imgW="12211050" imgH="7429500" progId="Visio.Drawing.11">
                  <p:embed/>
                </p:oleObj>
              </mc:Choice>
              <mc:Fallback>
                <p:oleObj name="" r:id="rId1" imgW="12211050" imgH="7429500" progId="Visio.Drawing.11">
                  <p:embed/>
                  <p:pic>
                    <p:nvPicPr>
                      <p:cNvPr id="0" name="Google Shape;646;p60"/>
                      <p:cNvPicPr preferRelativeResize="0"/>
                      <p:nvPr/>
                    </p:nvPicPr>
                    <p:blipFill rotWithShape="1">
                      <a:blip r:embed="rId2"/>
                      <a:srcRect/>
                      <a:stretch>
                        <a:fillRect/>
                      </a:stretch>
                    </p:blipFill>
                    <p:spPr>
                      <a:xfrm>
                        <a:off x="1828800" y="1447800"/>
                        <a:ext cx="8839200" cy="5373688"/>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6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52" name="Google Shape;652;p61"/>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Why Rapid Development</a:t>
            </a:r>
            <a:endParaRPr lang="en-US"/>
          </a:p>
        </p:txBody>
      </p:sp>
      <p:sp>
        <p:nvSpPr>
          <p:cNvPr id="653" name="Google Shape;653;p61"/>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Faster delivery</a:t>
            </a:r>
            <a:endParaRPr lang="en-US"/>
          </a:p>
          <a:p>
            <a:pPr marL="342900" lvl="0" indent="-342900" algn="l" rtl="0">
              <a:spcBef>
                <a:spcPts val="640"/>
              </a:spcBef>
              <a:spcAft>
                <a:spcPts val="0"/>
              </a:spcAft>
              <a:buClr>
                <a:schemeClr val="dk1"/>
              </a:buClr>
              <a:buSzPts val="3200"/>
              <a:buFont typeface="Tahoma" panose="020B0604030504040204"/>
              <a:buChar char="•"/>
            </a:pPr>
            <a:r>
              <a:rPr lang="en-US"/>
              <a:t>Reduced risk</a:t>
            </a:r>
            <a:endParaRPr lang="en-US"/>
          </a:p>
          <a:p>
            <a:pPr marL="342900" lvl="0" indent="-342900" algn="l" rtl="0">
              <a:spcBef>
                <a:spcPts val="640"/>
              </a:spcBef>
              <a:spcAft>
                <a:spcPts val="0"/>
              </a:spcAft>
              <a:buClr>
                <a:schemeClr val="dk1"/>
              </a:buClr>
              <a:buSzPts val="3200"/>
              <a:buFont typeface="Tahoma" panose="020B0604030504040204"/>
              <a:buChar char="•"/>
            </a:pPr>
            <a:r>
              <a:rPr lang="en-US"/>
              <a:t>Increased visibility to customer</a:t>
            </a:r>
            <a:endParaRPr lang="en-US"/>
          </a:p>
          <a:p>
            <a:pPr marL="342900" lvl="0" indent="-342900" algn="l" rtl="0">
              <a:spcBef>
                <a:spcPts val="640"/>
              </a:spcBef>
              <a:spcAft>
                <a:spcPts val="0"/>
              </a:spcAft>
              <a:buClr>
                <a:schemeClr val="dk1"/>
              </a:buClr>
              <a:buSzPts val="3200"/>
              <a:buFont typeface="Tahoma" panose="020B0604030504040204"/>
              <a:buChar char="•"/>
            </a:pPr>
            <a:r>
              <a:rPr lang="en-US"/>
              <a:t>Don’t forsake quality</a:t>
            </a: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6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0" name="Google Shape;660;p6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Strategy</a:t>
            </a:r>
            <a:endParaRPr lang="en-US"/>
          </a:p>
        </p:txBody>
      </p:sp>
      <p:sp>
        <p:nvSpPr>
          <p:cNvPr id="661" name="Google Shape;661;p62"/>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Classic Mistake Avoidance</a:t>
            </a:r>
            <a:endParaRPr lang="en-US"/>
          </a:p>
          <a:p>
            <a:pPr marL="342900" lvl="0" indent="-342900" algn="l" rtl="0">
              <a:spcBef>
                <a:spcPts val="640"/>
              </a:spcBef>
              <a:spcAft>
                <a:spcPts val="0"/>
              </a:spcAft>
              <a:buClr>
                <a:schemeClr val="dk1"/>
              </a:buClr>
              <a:buSzPts val="3200"/>
              <a:buFont typeface="Tahoma" panose="020B0604030504040204"/>
              <a:buChar char="•"/>
            </a:pPr>
            <a:r>
              <a:rPr lang="en-US"/>
              <a:t>Apply Development Fundamentals</a:t>
            </a:r>
            <a:endParaRPr lang="en-US"/>
          </a:p>
          <a:p>
            <a:pPr marL="342900" lvl="0" indent="-342900" algn="l" rtl="0">
              <a:spcBef>
                <a:spcPts val="640"/>
              </a:spcBef>
              <a:spcAft>
                <a:spcPts val="0"/>
              </a:spcAft>
              <a:buClr>
                <a:schemeClr val="dk1"/>
              </a:buClr>
              <a:buSzPts val="3200"/>
              <a:buFont typeface="Tahoma" panose="020B0604030504040204"/>
              <a:buChar char="•"/>
            </a:pPr>
            <a:r>
              <a:rPr lang="en-US"/>
              <a:t>Risk Management</a:t>
            </a:r>
            <a:endParaRPr lang="en-US"/>
          </a:p>
          <a:p>
            <a:pPr marL="342900" lvl="0" indent="-342900" algn="l" rtl="0">
              <a:spcBef>
                <a:spcPts val="640"/>
              </a:spcBef>
              <a:spcAft>
                <a:spcPts val="0"/>
              </a:spcAft>
              <a:buClr>
                <a:schemeClr val="dk1"/>
              </a:buClr>
              <a:buSzPts val="3200"/>
              <a:buFont typeface="Tahoma" panose="020B0604030504040204"/>
              <a:buChar char="•"/>
            </a:pPr>
            <a:r>
              <a:rPr lang="en-US"/>
              <a:t>Apply Schedule-Oriented Practices</a:t>
            </a:r>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3"/>
          <p:cNvSpPr txBox="1">
            <a:spLocks noGrp="1"/>
          </p:cNvSpPr>
          <p:nvPr>
            <p:ph type="title"/>
          </p:nvPr>
        </p:nvSpPr>
        <p:spPr>
          <a:xfrm>
            <a:off x="5867400" y="6172200"/>
            <a:ext cx="3169508" cy="685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solidFill>
                  <a:schemeClr val="dk2"/>
                </a:solidFill>
              </a:rPr>
              <a:t>Triple Constraint</a:t>
            </a:r>
            <a:endParaRPr sz="3200">
              <a:solidFill>
                <a:schemeClr val="dk2"/>
              </a:solidFill>
            </a:endParaRPr>
          </a:p>
        </p:txBody>
      </p:sp>
      <p:sp>
        <p:nvSpPr>
          <p:cNvPr id="667" name="Google Shape;667;p63"/>
          <p:cNvSpPr txBox="1"/>
          <p:nvPr/>
        </p:nvSpPr>
        <p:spPr>
          <a:xfrm>
            <a:off x="8095754" y="3735860"/>
            <a:ext cx="13716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Scope</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668" name="Google Shape;668;p63"/>
          <p:cNvSpPr txBox="1"/>
          <p:nvPr/>
        </p:nvSpPr>
        <p:spPr>
          <a:xfrm>
            <a:off x="6808593" y="5354591"/>
            <a:ext cx="10668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Time</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669" name="Google Shape;669;p63"/>
          <p:cNvSpPr txBox="1"/>
          <p:nvPr/>
        </p:nvSpPr>
        <p:spPr>
          <a:xfrm>
            <a:off x="9518837" y="5389604"/>
            <a:ext cx="137160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Cost</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cxnSp>
        <p:nvCxnSpPr>
          <p:cNvPr id="670" name="Google Shape;670;p63"/>
          <p:cNvCxnSpPr/>
          <p:nvPr/>
        </p:nvCxnSpPr>
        <p:spPr>
          <a:xfrm rot="10800000" flipH="1">
            <a:off x="7743550" y="4277560"/>
            <a:ext cx="862947" cy="1294109"/>
          </a:xfrm>
          <a:prstGeom prst="straightConnector1">
            <a:avLst/>
          </a:prstGeom>
          <a:noFill/>
          <a:ln w="38100" cap="flat" cmpd="sng">
            <a:solidFill>
              <a:schemeClr val="lt1"/>
            </a:solidFill>
            <a:prstDash val="solid"/>
            <a:round/>
            <a:headEnd type="stealth" w="lg" len="lg"/>
            <a:tailEnd type="stealth" w="lg" len="lg"/>
          </a:ln>
        </p:spPr>
      </p:cxnSp>
      <p:cxnSp>
        <p:nvCxnSpPr>
          <p:cNvPr id="671" name="Google Shape;671;p63"/>
          <p:cNvCxnSpPr/>
          <p:nvPr/>
        </p:nvCxnSpPr>
        <p:spPr>
          <a:xfrm rot="10800000">
            <a:off x="8682698" y="4246604"/>
            <a:ext cx="862946" cy="1385889"/>
          </a:xfrm>
          <a:prstGeom prst="straightConnector1">
            <a:avLst/>
          </a:prstGeom>
          <a:noFill/>
          <a:ln w="38100" cap="flat" cmpd="sng">
            <a:solidFill>
              <a:schemeClr val="lt1"/>
            </a:solidFill>
            <a:prstDash val="solid"/>
            <a:round/>
            <a:headEnd type="stealth" w="lg" len="lg"/>
            <a:tailEnd type="stealth" w="lg" len="lg"/>
          </a:ln>
        </p:spPr>
      </p:cxnSp>
      <p:cxnSp>
        <p:nvCxnSpPr>
          <p:cNvPr id="672" name="Google Shape;672;p63"/>
          <p:cNvCxnSpPr/>
          <p:nvPr/>
        </p:nvCxnSpPr>
        <p:spPr>
          <a:xfrm>
            <a:off x="7692098" y="5680979"/>
            <a:ext cx="1853546" cy="4929"/>
          </a:xfrm>
          <a:prstGeom prst="straightConnector1">
            <a:avLst/>
          </a:prstGeom>
          <a:noFill/>
          <a:ln w="38100" cap="flat" cmpd="sng">
            <a:solidFill>
              <a:schemeClr val="lt1"/>
            </a:solidFill>
            <a:prstDash val="solid"/>
            <a:round/>
            <a:headEnd type="stealth" w="lg" len="lg"/>
            <a:tailEnd type="stealth" w="lg" len="lg"/>
          </a:ln>
        </p:spPr>
      </p:cxnSp>
      <p:sp>
        <p:nvSpPr>
          <p:cNvPr id="673" name="Google Shape;673;p63"/>
          <p:cNvSpPr txBox="1"/>
          <p:nvPr/>
        </p:nvSpPr>
        <p:spPr>
          <a:xfrm>
            <a:off x="1981200" y="533400"/>
            <a:ext cx="8458200" cy="9144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2"/>
              </a:buClr>
              <a:buSzPts val="3600"/>
              <a:buFont typeface="Tahoma" panose="020B0604030504040204"/>
              <a:buNone/>
            </a:pPr>
            <a:r>
              <a:rPr lang="en-US" sz="3600" cap="none">
                <a:solidFill>
                  <a:schemeClr val="dk2"/>
                </a:solidFill>
                <a:latin typeface="Tahoma" panose="020B0604030504040204"/>
                <a:ea typeface="Tahoma" panose="020B0604030504040204"/>
                <a:cs typeface="Tahoma" panose="020B0604030504040204"/>
                <a:sym typeface="Tahoma" panose="020B0604030504040204"/>
              </a:rPr>
              <a:t>Traditional Project Management Constraints</a:t>
            </a:r>
            <a:endParaRPr sz="3600" cap="none">
              <a:solidFill>
                <a:schemeClr val="dk2"/>
              </a:solidFill>
              <a:latin typeface="Tahoma" panose="020B0604030504040204"/>
              <a:ea typeface="Tahoma" panose="020B0604030504040204"/>
              <a:cs typeface="Tahoma" panose="020B0604030504040204"/>
              <a:sym typeface="Tahoma" panose="020B0604030504040204"/>
            </a:endParaRPr>
          </a:p>
        </p:txBody>
      </p:sp>
      <p:sp>
        <p:nvSpPr>
          <p:cNvPr id="674" name="Google Shape;674;p63"/>
          <p:cNvSpPr/>
          <p:nvPr/>
        </p:nvSpPr>
        <p:spPr>
          <a:xfrm>
            <a:off x="1905000" y="1629037"/>
            <a:ext cx="6934200" cy="16300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b="1">
                <a:solidFill>
                  <a:schemeClr val="dk2"/>
                </a:solidFill>
                <a:latin typeface="Tahoma" panose="020B0604030504040204"/>
                <a:ea typeface="Tahoma" panose="020B0604030504040204"/>
                <a:cs typeface="Tahoma" panose="020B0604030504040204"/>
                <a:sym typeface="Tahoma" panose="020B0604030504040204"/>
              </a:rPr>
              <a:t>Every project has 3 constrains</a:t>
            </a:r>
            <a:br>
              <a:rPr lang="en-US" sz="2400">
                <a:solidFill>
                  <a:schemeClr val="dk2"/>
                </a:solidFill>
                <a:latin typeface="Tahoma" panose="020B0604030504040204"/>
                <a:ea typeface="Tahoma" panose="020B0604030504040204"/>
                <a:cs typeface="Tahoma" panose="020B0604030504040204"/>
                <a:sym typeface="Tahoma" panose="020B0604030504040204"/>
              </a:rPr>
            </a:br>
            <a:r>
              <a:rPr lang="en-US" sz="2400" b="1">
                <a:solidFill>
                  <a:schemeClr val="dk2"/>
                </a:solidFill>
                <a:latin typeface="Tahoma" panose="020B0604030504040204"/>
                <a:ea typeface="Tahoma" panose="020B0604030504040204"/>
                <a:cs typeface="Tahoma" panose="020B0604030504040204"/>
                <a:sym typeface="Tahoma" panose="020B0604030504040204"/>
              </a:rPr>
              <a:t>Scope </a:t>
            </a:r>
            <a:r>
              <a:rPr lang="en-US" sz="2400">
                <a:solidFill>
                  <a:schemeClr val="dk2"/>
                </a:solidFill>
                <a:latin typeface="Tahoma" panose="020B0604030504040204"/>
                <a:ea typeface="Tahoma" panose="020B0604030504040204"/>
                <a:cs typeface="Tahoma" panose="020B0604030504040204"/>
                <a:sym typeface="Tahoma" panose="020B0604030504040204"/>
              </a:rPr>
              <a:t>goals: What work will be done?</a:t>
            </a:r>
            <a:br>
              <a:rPr lang="en-US" sz="2400">
                <a:solidFill>
                  <a:schemeClr val="dk2"/>
                </a:solidFill>
                <a:latin typeface="Tahoma" panose="020B0604030504040204"/>
                <a:ea typeface="Tahoma" panose="020B0604030504040204"/>
                <a:cs typeface="Tahoma" panose="020B0604030504040204"/>
                <a:sym typeface="Tahoma" panose="020B0604030504040204"/>
              </a:rPr>
            </a:br>
            <a:r>
              <a:rPr lang="en-US" sz="2400" b="1">
                <a:solidFill>
                  <a:schemeClr val="dk2"/>
                </a:solidFill>
                <a:latin typeface="Tahoma" panose="020B0604030504040204"/>
                <a:ea typeface="Tahoma" panose="020B0604030504040204"/>
                <a:cs typeface="Tahoma" panose="020B0604030504040204"/>
                <a:sym typeface="Tahoma" panose="020B0604030504040204"/>
              </a:rPr>
              <a:t>Time </a:t>
            </a:r>
            <a:r>
              <a:rPr lang="en-US" sz="2400">
                <a:solidFill>
                  <a:schemeClr val="dk2"/>
                </a:solidFill>
                <a:latin typeface="Tahoma" panose="020B0604030504040204"/>
                <a:ea typeface="Tahoma" panose="020B0604030504040204"/>
                <a:cs typeface="Tahoma" panose="020B0604030504040204"/>
                <a:sym typeface="Tahoma" panose="020B0604030504040204"/>
              </a:rPr>
              <a:t>goals: How long should it take to complete?</a:t>
            </a:r>
            <a:br>
              <a:rPr lang="en-US" sz="2400">
                <a:solidFill>
                  <a:schemeClr val="dk2"/>
                </a:solidFill>
                <a:latin typeface="Tahoma" panose="020B0604030504040204"/>
                <a:ea typeface="Tahoma" panose="020B0604030504040204"/>
                <a:cs typeface="Tahoma" panose="020B0604030504040204"/>
                <a:sym typeface="Tahoma" panose="020B0604030504040204"/>
              </a:rPr>
            </a:br>
            <a:r>
              <a:rPr lang="en-US" sz="2400" b="1">
                <a:solidFill>
                  <a:schemeClr val="dk2"/>
                </a:solidFill>
                <a:latin typeface="Tahoma" panose="020B0604030504040204"/>
                <a:ea typeface="Tahoma" panose="020B0604030504040204"/>
                <a:cs typeface="Tahoma" panose="020B0604030504040204"/>
                <a:sym typeface="Tahoma" panose="020B0604030504040204"/>
              </a:rPr>
              <a:t>Cost </a:t>
            </a:r>
            <a:r>
              <a:rPr lang="en-US" sz="2400">
                <a:solidFill>
                  <a:schemeClr val="dk2"/>
                </a:solidFill>
                <a:latin typeface="Tahoma" panose="020B0604030504040204"/>
                <a:ea typeface="Tahoma" panose="020B0604030504040204"/>
                <a:cs typeface="Tahoma" panose="020B0604030504040204"/>
                <a:sym typeface="Tahoma" panose="020B0604030504040204"/>
              </a:rPr>
              <a:t>goals: What should it cost?</a:t>
            </a:r>
            <a:endParaRPr sz="2400">
              <a:solidFill>
                <a:schemeClr val="dk2"/>
              </a:solidFill>
              <a:latin typeface="Tahoma" panose="020B0604030504040204"/>
              <a:ea typeface="Tahoma" panose="020B0604030504040204"/>
              <a:cs typeface="Tahoma" panose="020B0604030504040204"/>
              <a:sym typeface="Tahoma" panose="020B0604030504040204"/>
            </a:endParaRPr>
          </a:p>
        </p:txBody>
      </p:sp>
      <p:pic>
        <p:nvPicPr>
          <p:cNvPr id="675" name="Google Shape;675;p63"/>
          <p:cNvPicPr preferRelativeResize="0"/>
          <p:nvPr/>
        </p:nvPicPr>
        <p:blipFill rotWithShape="1">
          <a:blip r:embed="rId1"/>
          <a:srcRect/>
          <a:stretch>
            <a:fillRect/>
          </a:stretch>
        </p:blipFill>
        <p:spPr>
          <a:xfrm>
            <a:off x="2327174" y="3362608"/>
            <a:ext cx="3435178" cy="3502693"/>
          </a:xfrm>
          <a:prstGeom prst="rect">
            <a:avLst/>
          </a:prstGeom>
          <a:noFill/>
          <a:ln>
            <a:noFill/>
          </a:ln>
        </p:spPr>
      </p:pic>
      <p:sp>
        <p:nvSpPr>
          <p:cNvPr id="676" name="Google Shape;676;p6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2"/>
                </a:solidFill>
                <a:latin typeface="Tahoma" panose="020B0604030504040204"/>
                <a:ea typeface="Tahoma" panose="020B0604030504040204"/>
                <a:cs typeface="Tahoma" panose="020B0604030504040204"/>
                <a:sym typeface="Tahoma" panose="020B0604030504040204"/>
              </a:rPr>
            </a:fld>
            <a:endParaRPr sz="1800">
              <a:solidFill>
                <a:schemeClr val="dk2"/>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64"/>
          <p:cNvSpPr/>
          <p:nvPr/>
        </p:nvSpPr>
        <p:spPr>
          <a:xfrm>
            <a:off x="2133600" y="1524000"/>
            <a:ext cx="7696200" cy="44850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Time constraint may lead to </a:t>
            </a:r>
            <a:r>
              <a:rPr lang="en-US" sz="2800" b="1">
                <a:solidFill>
                  <a:schemeClr val="dk2"/>
                </a:solidFill>
                <a:latin typeface="Tahoma" panose="020B0604030504040204"/>
                <a:ea typeface="Tahoma" panose="020B0604030504040204"/>
                <a:cs typeface="Tahoma" panose="020B0604030504040204"/>
                <a:sym typeface="Tahoma" panose="020B0604030504040204"/>
              </a:rPr>
              <a:t>less quality </a:t>
            </a:r>
            <a:r>
              <a:rPr lang="en-US" sz="2800">
                <a:solidFill>
                  <a:schemeClr val="dk2"/>
                </a:solidFill>
                <a:latin typeface="Tahoma" panose="020B0604030504040204"/>
                <a:ea typeface="Tahoma" panose="020B0604030504040204"/>
                <a:cs typeface="Tahoma" panose="020B0604030504040204"/>
                <a:sym typeface="Tahoma" panose="020B0604030504040204"/>
              </a:rPr>
              <a:t>because of ?</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less time for analysis,</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less time for planning,</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less time for reviewing, </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less time for checking, </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less time for monitoring,</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less time for control</a:t>
            </a:r>
            <a:br>
              <a:rPr lang="en-US" sz="2800">
                <a:solidFill>
                  <a:schemeClr val="dk2"/>
                </a:solidFill>
                <a:latin typeface="Tahoma" panose="020B0604030504040204"/>
                <a:ea typeface="Tahoma" panose="020B0604030504040204"/>
                <a:cs typeface="Tahoma" panose="020B0604030504040204"/>
                <a:sym typeface="Tahoma" panose="020B0604030504040204"/>
              </a:rPr>
            </a:b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682" name="Google Shape;682;p64"/>
          <p:cNvSpPr txBox="1"/>
          <p:nvPr/>
        </p:nvSpPr>
        <p:spPr>
          <a:xfrm>
            <a:off x="1981200" y="533400"/>
            <a:ext cx="8458200" cy="6096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2"/>
              </a:buClr>
              <a:buSzPts val="3600"/>
              <a:buFont typeface="Tahoma" panose="020B0604030504040204"/>
              <a:buNone/>
            </a:pPr>
            <a:r>
              <a:rPr lang="en-US" sz="3600" cap="none">
                <a:solidFill>
                  <a:schemeClr val="dk2"/>
                </a:solidFill>
                <a:latin typeface="Tahoma" panose="020B0604030504040204"/>
                <a:ea typeface="Tahoma" panose="020B0604030504040204"/>
                <a:cs typeface="Tahoma" panose="020B0604030504040204"/>
                <a:sym typeface="Tahoma" panose="020B0604030504040204"/>
              </a:rPr>
              <a:t>Traditional Project Management Constraints</a:t>
            </a:r>
            <a:endParaRPr sz="3600" cap="none">
              <a:solidFill>
                <a:schemeClr val="dk2"/>
              </a:solidFill>
              <a:latin typeface="Tahoma" panose="020B0604030504040204"/>
              <a:ea typeface="Tahoma" panose="020B0604030504040204"/>
              <a:cs typeface="Tahoma" panose="020B0604030504040204"/>
              <a:sym typeface="Tahoma" panose="020B0604030504040204"/>
            </a:endParaRPr>
          </a:p>
        </p:txBody>
      </p:sp>
      <p:sp>
        <p:nvSpPr>
          <p:cNvPr id="683" name="Google Shape;683;p6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2"/>
                </a:solidFill>
                <a:latin typeface="Tahoma" panose="020B0604030504040204"/>
                <a:ea typeface="Tahoma" panose="020B0604030504040204"/>
                <a:cs typeface="Tahoma" panose="020B0604030504040204"/>
                <a:sym typeface="Tahoma" panose="020B0604030504040204"/>
              </a:rPr>
            </a:fld>
            <a:endParaRPr sz="1800">
              <a:solidFill>
                <a:schemeClr val="dk2"/>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5"/>
          <p:cNvSpPr/>
          <p:nvPr/>
        </p:nvSpPr>
        <p:spPr>
          <a:xfrm>
            <a:off x="2133600" y="1676400"/>
            <a:ext cx="7924800" cy="30200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dirty="0">
                <a:solidFill>
                  <a:schemeClr val="dk2"/>
                </a:solidFill>
                <a:latin typeface="Tahoma" panose="020B0604030504040204"/>
                <a:ea typeface="Tahoma" panose="020B0604030504040204"/>
                <a:cs typeface="Tahoma" panose="020B0604030504040204"/>
                <a:sym typeface="Tahoma" panose="020B0604030504040204"/>
              </a:rPr>
              <a:t>Cost constraint may lead to less quality because of ?</a:t>
            </a:r>
            <a:endParaRPr sz="2800" dirty="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279400" algn="l" rtl="0">
              <a:spcBef>
                <a:spcPts val="560"/>
              </a:spcBef>
              <a:spcAft>
                <a:spcPts val="0"/>
              </a:spcAft>
              <a:buClr>
                <a:schemeClr val="lt1"/>
              </a:buClr>
              <a:buSzPts val="2800"/>
              <a:buFont typeface="Times New Roman" panose="02020603050405020304"/>
              <a:buNone/>
            </a:pPr>
            <a:endParaRPr sz="2800" dirty="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dirty="0">
                <a:solidFill>
                  <a:schemeClr val="dk2"/>
                </a:solidFill>
                <a:latin typeface="Tahoma" panose="020B0604030504040204"/>
                <a:ea typeface="Tahoma" panose="020B0604030504040204"/>
                <a:cs typeface="Tahoma" panose="020B0604030504040204"/>
                <a:sym typeface="Tahoma" panose="020B0604030504040204"/>
              </a:rPr>
              <a:t>Hiring less skilled people,</a:t>
            </a:r>
            <a:endParaRPr sz="2800" dirty="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dirty="0">
                <a:solidFill>
                  <a:schemeClr val="dk2"/>
                </a:solidFill>
                <a:latin typeface="Tahoma" panose="020B0604030504040204"/>
                <a:ea typeface="Tahoma" panose="020B0604030504040204"/>
                <a:cs typeface="Tahoma" panose="020B0604030504040204"/>
                <a:sym typeface="Tahoma" panose="020B0604030504040204"/>
              </a:rPr>
              <a:t>Getting less quality resources</a:t>
            </a:r>
            <a:endParaRPr sz="2800" dirty="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dirty="0">
                <a:solidFill>
                  <a:schemeClr val="dk2"/>
                </a:solidFill>
                <a:latin typeface="Tahoma" panose="020B0604030504040204"/>
                <a:ea typeface="Tahoma" panose="020B0604030504040204"/>
                <a:cs typeface="Tahoma" panose="020B0604030504040204"/>
                <a:sym typeface="Tahoma" panose="020B0604030504040204"/>
              </a:rPr>
              <a:t>Ignoring some customer requirements</a:t>
            </a:r>
            <a:endParaRPr sz="2800" dirty="0">
              <a:solidFill>
                <a:schemeClr val="dk2"/>
              </a:solidFill>
              <a:latin typeface="Tahoma" panose="020B0604030504040204"/>
              <a:ea typeface="Tahoma" panose="020B0604030504040204"/>
              <a:cs typeface="Tahoma" panose="020B0604030504040204"/>
              <a:sym typeface="Tahoma" panose="020B0604030504040204"/>
            </a:endParaRPr>
          </a:p>
        </p:txBody>
      </p:sp>
      <p:sp>
        <p:nvSpPr>
          <p:cNvPr id="689" name="Google Shape;689;p65"/>
          <p:cNvSpPr txBox="1"/>
          <p:nvPr/>
        </p:nvSpPr>
        <p:spPr>
          <a:xfrm>
            <a:off x="1981200" y="533400"/>
            <a:ext cx="8458200" cy="6096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2"/>
              </a:buClr>
              <a:buSzPts val="3600"/>
              <a:buFont typeface="Tahoma" panose="020B0604030504040204"/>
              <a:buNone/>
            </a:pPr>
            <a:r>
              <a:rPr lang="en-US" sz="3600" cap="none">
                <a:solidFill>
                  <a:schemeClr val="dk2"/>
                </a:solidFill>
                <a:latin typeface="Tahoma" panose="020B0604030504040204"/>
                <a:ea typeface="Tahoma" panose="020B0604030504040204"/>
                <a:cs typeface="Tahoma" panose="020B0604030504040204"/>
                <a:sym typeface="Tahoma" panose="020B0604030504040204"/>
              </a:rPr>
              <a:t>Traditional Project Management Constraints</a:t>
            </a:r>
            <a:endParaRPr sz="3600" cap="none">
              <a:solidFill>
                <a:schemeClr val="dk2"/>
              </a:solidFill>
              <a:latin typeface="Tahoma" panose="020B0604030504040204"/>
              <a:ea typeface="Tahoma" panose="020B0604030504040204"/>
              <a:cs typeface="Tahoma" panose="020B0604030504040204"/>
              <a:sym typeface="Tahoma" panose="020B0604030504040204"/>
            </a:endParaRPr>
          </a:p>
        </p:txBody>
      </p:sp>
      <p:sp>
        <p:nvSpPr>
          <p:cNvPr id="690" name="Google Shape;690;p6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2"/>
                </a:solidFill>
                <a:latin typeface="Tahoma" panose="020B0604030504040204"/>
                <a:ea typeface="Tahoma" panose="020B0604030504040204"/>
                <a:cs typeface="Tahoma" panose="020B0604030504040204"/>
                <a:sym typeface="Tahoma" panose="020B0604030504040204"/>
              </a:rPr>
            </a:fld>
            <a:endParaRPr sz="1800">
              <a:solidFill>
                <a:schemeClr val="dk2"/>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66"/>
          <p:cNvSpPr/>
          <p:nvPr/>
        </p:nvSpPr>
        <p:spPr>
          <a:xfrm>
            <a:off x="1828800" y="1752600"/>
            <a:ext cx="8458200" cy="24174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Scope limitations may lead to less quality because of ?</a:t>
            </a:r>
            <a:endParaRPr sz="2800">
              <a:solidFill>
                <a:schemeClr val="dk2"/>
              </a:solidFill>
              <a:latin typeface="Tahoma" panose="020B0604030504040204"/>
              <a:ea typeface="Tahoma" panose="020B0604030504040204"/>
              <a:cs typeface="Tahoma" panose="020B0604030504040204"/>
              <a:sym typeface="Tahoma" panose="020B0604030504040204"/>
            </a:endParaRPr>
          </a:p>
          <a:p>
            <a:pPr marL="0" marR="0" lvl="0" indent="0" algn="l" rtl="0">
              <a:spcBef>
                <a:spcPts val="560"/>
              </a:spcBef>
              <a:spcAft>
                <a:spcPts val="0"/>
              </a:spcAft>
              <a:buClr>
                <a:schemeClr val="lt1"/>
              </a:buClr>
              <a:buSzPts val="2800"/>
              <a:buFont typeface="Times New Roman" panose="02020603050405020304"/>
              <a:buNone/>
            </a:pPr>
            <a:endParaRPr sz="2800">
              <a:solidFill>
                <a:schemeClr val="dk2"/>
              </a:solidFill>
              <a:latin typeface="Tahoma" panose="020B0604030504040204"/>
              <a:ea typeface="Tahoma" panose="020B0604030504040204"/>
              <a:cs typeface="Tahoma" panose="020B0604030504040204"/>
              <a:sym typeface="Tahoma" panose="020B0604030504040204"/>
            </a:endParaRPr>
          </a:p>
          <a:p>
            <a:pPr marL="457200" marR="0" lvl="0" indent="-457200" algn="l" rtl="0">
              <a:spcBef>
                <a:spcPts val="560"/>
              </a:spcBef>
              <a:spcAft>
                <a:spcPts val="0"/>
              </a:spcAft>
              <a:buClr>
                <a:schemeClr val="dk2"/>
              </a:buClr>
              <a:buSzPts val="2800"/>
              <a:buFont typeface="Tahoma" panose="020B0604030504040204"/>
              <a:buChar char="•"/>
            </a:pPr>
            <a:r>
              <a:rPr lang="en-US" sz="2800">
                <a:solidFill>
                  <a:schemeClr val="dk2"/>
                </a:solidFill>
                <a:latin typeface="Tahoma" panose="020B0604030504040204"/>
                <a:ea typeface="Tahoma" panose="020B0604030504040204"/>
                <a:cs typeface="Tahoma" panose="020B0604030504040204"/>
                <a:sym typeface="Tahoma" panose="020B0604030504040204"/>
              </a:rPr>
              <a:t>Scope limitations may lead to Ignore some customer requirements shortcuts</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696" name="Google Shape;696;p66"/>
          <p:cNvSpPr txBox="1"/>
          <p:nvPr/>
        </p:nvSpPr>
        <p:spPr>
          <a:xfrm>
            <a:off x="1981200" y="533400"/>
            <a:ext cx="8458200" cy="6096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2"/>
              </a:buClr>
              <a:buSzPts val="3600"/>
              <a:buFont typeface="Tahoma" panose="020B0604030504040204"/>
              <a:buNone/>
            </a:pPr>
            <a:r>
              <a:rPr lang="en-US" sz="3600" cap="none">
                <a:solidFill>
                  <a:schemeClr val="dk2"/>
                </a:solidFill>
                <a:latin typeface="Tahoma" panose="020B0604030504040204"/>
                <a:ea typeface="Tahoma" panose="020B0604030504040204"/>
                <a:cs typeface="Tahoma" panose="020B0604030504040204"/>
                <a:sym typeface="Tahoma" panose="020B0604030504040204"/>
              </a:rPr>
              <a:t>Traditional Project Management Constraints</a:t>
            </a:r>
            <a:endParaRPr sz="3600" cap="none">
              <a:solidFill>
                <a:schemeClr val="dk2"/>
              </a:solidFill>
              <a:latin typeface="Tahoma" panose="020B0604030504040204"/>
              <a:ea typeface="Tahoma" panose="020B0604030504040204"/>
              <a:cs typeface="Tahoma" panose="020B0604030504040204"/>
              <a:sym typeface="Tahoma" panose="020B0604030504040204"/>
            </a:endParaRPr>
          </a:p>
        </p:txBody>
      </p:sp>
      <p:sp>
        <p:nvSpPr>
          <p:cNvPr id="697" name="Google Shape;697;p66"/>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2"/>
                </a:solidFill>
                <a:latin typeface="Tahoma" panose="020B0604030504040204"/>
                <a:ea typeface="Tahoma" panose="020B0604030504040204"/>
                <a:cs typeface="Tahoma" panose="020B0604030504040204"/>
                <a:sym typeface="Tahoma" panose="020B0604030504040204"/>
              </a:rPr>
            </a:fld>
            <a:endParaRPr sz="1800">
              <a:solidFill>
                <a:schemeClr val="dk2"/>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67"/>
          <p:cNvSpPr txBox="1">
            <a:spLocks noGrp="1"/>
          </p:cNvSpPr>
          <p:nvPr>
            <p:ph type="title"/>
          </p:nvPr>
        </p:nvSpPr>
        <p:spPr>
          <a:xfrm>
            <a:off x="1828800" y="1295400"/>
            <a:ext cx="4572000" cy="685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z="3200">
                <a:solidFill>
                  <a:schemeClr val="dk2"/>
                </a:solidFill>
                <a:latin typeface="Tahoma" panose="020B0604030504040204"/>
                <a:ea typeface="Tahoma" panose="020B0604030504040204"/>
                <a:cs typeface="Tahoma" panose="020B0604030504040204"/>
                <a:sym typeface="Tahoma" panose="020B0604030504040204"/>
              </a:rPr>
              <a:t>Quadruple Constraint</a:t>
            </a:r>
            <a:endParaRPr sz="3200">
              <a:solidFill>
                <a:schemeClr val="dk2"/>
              </a:solidFill>
              <a:latin typeface="Tahoma" panose="020B0604030504040204"/>
              <a:ea typeface="Tahoma" panose="020B0604030504040204"/>
              <a:cs typeface="Tahoma" panose="020B0604030504040204"/>
              <a:sym typeface="Tahoma" panose="020B0604030504040204"/>
            </a:endParaRPr>
          </a:p>
        </p:txBody>
      </p:sp>
      <p:sp>
        <p:nvSpPr>
          <p:cNvPr id="703" name="Google Shape;703;p67"/>
          <p:cNvSpPr txBox="1"/>
          <p:nvPr/>
        </p:nvSpPr>
        <p:spPr>
          <a:xfrm>
            <a:off x="4366260" y="3576955"/>
            <a:ext cx="1392555"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Scope</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704" name="Google Shape;704;p67"/>
          <p:cNvSpPr txBox="1"/>
          <p:nvPr/>
        </p:nvSpPr>
        <p:spPr>
          <a:xfrm>
            <a:off x="2030628" y="6176189"/>
            <a:ext cx="101532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Time</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705" name="Google Shape;705;p67"/>
          <p:cNvSpPr txBox="1"/>
          <p:nvPr/>
        </p:nvSpPr>
        <p:spPr>
          <a:xfrm>
            <a:off x="6870357" y="6264746"/>
            <a:ext cx="1015320"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Cost</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sp>
        <p:nvSpPr>
          <p:cNvPr id="706" name="Google Shape;706;p67"/>
          <p:cNvSpPr txBox="1"/>
          <p:nvPr/>
        </p:nvSpPr>
        <p:spPr>
          <a:xfrm>
            <a:off x="4291965" y="5323840"/>
            <a:ext cx="1478915" cy="5219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800"/>
              <a:buFont typeface="Tahoma" panose="020B0604030504040204"/>
              <a:buNone/>
            </a:pPr>
            <a:r>
              <a:rPr lang="en-US" sz="2800">
                <a:solidFill>
                  <a:schemeClr val="dk2"/>
                </a:solidFill>
                <a:latin typeface="Tahoma" panose="020B0604030504040204"/>
                <a:ea typeface="Tahoma" panose="020B0604030504040204"/>
                <a:cs typeface="Tahoma" panose="020B0604030504040204"/>
                <a:sym typeface="Tahoma" panose="020B0604030504040204"/>
              </a:rPr>
              <a:t>Quality</a:t>
            </a:r>
            <a:endParaRPr sz="2800">
              <a:solidFill>
                <a:schemeClr val="dk2"/>
              </a:solidFill>
              <a:latin typeface="Tahoma" panose="020B0604030504040204"/>
              <a:ea typeface="Tahoma" panose="020B0604030504040204"/>
              <a:cs typeface="Tahoma" panose="020B0604030504040204"/>
              <a:sym typeface="Tahoma" panose="020B0604030504040204"/>
            </a:endParaRPr>
          </a:p>
        </p:txBody>
      </p:sp>
      <p:cxnSp>
        <p:nvCxnSpPr>
          <p:cNvPr id="707" name="Google Shape;707;p67"/>
          <p:cNvCxnSpPr/>
          <p:nvPr/>
        </p:nvCxnSpPr>
        <p:spPr>
          <a:xfrm rot="10800000" flipH="1">
            <a:off x="2895599" y="4198756"/>
            <a:ext cx="1651681" cy="2063932"/>
          </a:xfrm>
          <a:prstGeom prst="straightConnector1">
            <a:avLst/>
          </a:prstGeom>
          <a:noFill/>
          <a:ln w="38100" cap="flat" cmpd="sng">
            <a:solidFill>
              <a:schemeClr val="lt1"/>
            </a:solidFill>
            <a:prstDash val="solid"/>
            <a:round/>
            <a:headEnd type="stealth" w="lg" len="lg"/>
            <a:tailEnd type="stealth" w="lg" len="lg"/>
          </a:ln>
        </p:spPr>
      </p:cxnSp>
      <p:cxnSp>
        <p:nvCxnSpPr>
          <p:cNvPr id="708" name="Google Shape;708;p67"/>
          <p:cNvCxnSpPr/>
          <p:nvPr/>
        </p:nvCxnSpPr>
        <p:spPr>
          <a:xfrm rot="10800000">
            <a:off x="5334000" y="4281488"/>
            <a:ext cx="1752600" cy="2057400"/>
          </a:xfrm>
          <a:prstGeom prst="straightConnector1">
            <a:avLst/>
          </a:prstGeom>
          <a:noFill/>
          <a:ln w="38100" cap="flat" cmpd="sng">
            <a:solidFill>
              <a:schemeClr val="lt1"/>
            </a:solidFill>
            <a:prstDash val="solid"/>
            <a:round/>
            <a:headEnd type="stealth" w="lg" len="lg"/>
            <a:tailEnd type="stealth" w="lg" len="lg"/>
          </a:ln>
        </p:spPr>
      </p:cxnSp>
      <p:cxnSp>
        <p:nvCxnSpPr>
          <p:cNvPr id="709" name="Google Shape;709;p67"/>
          <p:cNvCxnSpPr/>
          <p:nvPr/>
        </p:nvCxnSpPr>
        <p:spPr>
          <a:xfrm rot="10800000">
            <a:off x="4953000" y="4205288"/>
            <a:ext cx="0" cy="1143000"/>
          </a:xfrm>
          <a:prstGeom prst="straightConnector1">
            <a:avLst/>
          </a:prstGeom>
          <a:noFill/>
          <a:ln w="38100" cap="flat" cmpd="sng">
            <a:solidFill>
              <a:schemeClr val="lt1"/>
            </a:solidFill>
            <a:prstDash val="solid"/>
            <a:round/>
            <a:headEnd type="stealth" w="lg" len="lg"/>
            <a:tailEnd type="stealth" w="lg" len="lg"/>
          </a:ln>
        </p:spPr>
      </p:cxnSp>
      <p:cxnSp>
        <p:nvCxnSpPr>
          <p:cNvPr id="710" name="Google Shape;710;p67"/>
          <p:cNvCxnSpPr/>
          <p:nvPr/>
        </p:nvCxnSpPr>
        <p:spPr>
          <a:xfrm>
            <a:off x="3048000" y="6567488"/>
            <a:ext cx="3810000" cy="0"/>
          </a:xfrm>
          <a:prstGeom prst="straightConnector1">
            <a:avLst/>
          </a:prstGeom>
          <a:noFill/>
          <a:ln w="38100" cap="flat" cmpd="sng">
            <a:solidFill>
              <a:schemeClr val="lt1"/>
            </a:solidFill>
            <a:prstDash val="solid"/>
            <a:round/>
            <a:headEnd type="stealth" w="lg" len="lg"/>
            <a:tailEnd type="stealth" w="lg" len="lg"/>
          </a:ln>
        </p:spPr>
      </p:cxnSp>
      <p:cxnSp>
        <p:nvCxnSpPr>
          <p:cNvPr id="711" name="Google Shape;711;p67"/>
          <p:cNvCxnSpPr/>
          <p:nvPr/>
        </p:nvCxnSpPr>
        <p:spPr>
          <a:xfrm rot="10800000" flipH="1">
            <a:off x="3048000" y="5653088"/>
            <a:ext cx="1219200" cy="762000"/>
          </a:xfrm>
          <a:prstGeom prst="straightConnector1">
            <a:avLst/>
          </a:prstGeom>
          <a:noFill/>
          <a:ln w="38100" cap="flat" cmpd="sng">
            <a:solidFill>
              <a:schemeClr val="lt1"/>
            </a:solidFill>
            <a:prstDash val="solid"/>
            <a:round/>
            <a:headEnd type="stealth" w="lg" len="lg"/>
            <a:tailEnd type="stealth" w="lg" len="lg"/>
          </a:ln>
        </p:spPr>
      </p:cxnSp>
      <p:cxnSp>
        <p:nvCxnSpPr>
          <p:cNvPr id="712" name="Google Shape;712;p67"/>
          <p:cNvCxnSpPr/>
          <p:nvPr/>
        </p:nvCxnSpPr>
        <p:spPr>
          <a:xfrm>
            <a:off x="5486400" y="5729288"/>
            <a:ext cx="1295400" cy="685800"/>
          </a:xfrm>
          <a:prstGeom prst="straightConnector1">
            <a:avLst/>
          </a:prstGeom>
          <a:noFill/>
          <a:ln w="38100" cap="flat" cmpd="sng">
            <a:solidFill>
              <a:schemeClr val="lt1"/>
            </a:solidFill>
            <a:prstDash val="solid"/>
            <a:round/>
            <a:headEnd type="stealth" w="lg" len="lg"/>
            <a:tailEnd type="stealth" w="lg" len="lg"/>
          </a:ln>
        </p:spPr>
      </p:cxnSp>
      <p:sp>
        <p:nvSpPr>
          <p:cNvPr id="713" name="Google Shape;713;p67"/>
          <p:cNvSpPr txBox="1"/>
          <p:nvPr/>
        </p:nvSpPr>
        <p:spPr>
          <a:xfrm>
            <a:off x="1981200" y="381000"/>
            <a:ext cx="8458200" cy="53340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2"/>
              </a:buClr>
              <a:buSzPts val="3600"/>
              <a:buFont typeface="Tahoma" panose="020B0604030504040204"/>
              <a:buNone/>
            </a:pPr>
            <a:r>
              <a:rPr lang="en-US" sz="3600" cap="none">
                <a:solidFill>
                  <a:schemeClr val="dk2"/>
                </a:solidFill>
                <a:latin typeface="Tahoma" panose="020B0604030504040204"/>
                <a:ea typeface="Tahoma" panose="020B0604030504040204"/>
                <a:cs typeface="Tahoma" panose="020B0604030504040204"/>
                <a:sym typeface="Tahoma" panose="020B0604030504040204"/>
              </a:rPr>
              <a:t>Traditional Project Management Constraints</a:t>
            </a:r>
            <a:endParaRPr sz="3600" cap="none">
              <a:solidFill>
                <a:schemeClr val="dk2"/>
              </a:solidFill>
              <a:latin typeface="Tahoma" panose="020B0604030504040204"/>
              <a:ea typeface="Tahoma" panose="020B0604030504040204"/>
              <a:cs typeface="Tahoma" panose="020B0604030504040204"/>
              <a:sym typeface="Tahoma" panose="020B0604030504040204"/>
            </a:endParaRPr>
          </a:p>
        </p:txBody>
      </p:sp>
      <p:sp>
        <p:nvSpPr>
          <p:cNvPr id="714" name="Google Shape;714;p67"/>
          <p:cNvSpPr/>
          <p:nvPr/>
        </p:nvSpPr>
        <p:spPr>
          <a:xfrm>
            <a:off x="1828800" y="1905000"/>
            <a:ext cx="8305800" cy="19380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2400"/>
              <a:buFont typeface="Tahoma" panose="020B0604030504040204"/>
              <a:buNone/>
            </a:pPr>
            <a:r>
              <a:rPr lang="en-US" sz="2400" dirty="0">
                <a:solidFill>
                  <a:schemeClr val="dk2"/>
                </a:solidFill>
                <a:latin typeface="Tahoma" panose="020B0604030504040204"/>
                <a:ea typeface="Tahoma" panose="020B0604030504040204"/>
                <a:cs typeface="Tahoma" panose="020B0604030504040204"/>
                <a:sym typeface="Tahoma" panose="020B0604030504040204"/>
              </a:rPr>
              <a:t>Quality is a key factor for projects success</a:t>
            </a:r>
            <a:br>
              <a:rPr lang="en-US" sz="2400" dirty="0">
                <a:solidFill>
                  <a:schemeClr val="dk2"/>
                </a:solidFill>
                <a:latin typeface="Tahoma" panose="020B0604030504040204"/>
                <a:ea typeface="Tahoma" panose="020B0604030504040204"/>
                <a:cs typeface="Tahoma" panose="020B0604030504040204"/>
                <a:sym typeface="Tahoma" panose="020B0604030504040204"/>
              </a:rPr>
            </a:br>
            <a:br>
              <a:rPr lang="en-US" sz="2400" dirty="0">
                <a:solidFill>
                  <a:schemeClr val="dk2"/>
                </a:solidFill>
                <a:latin typeface="Tahoma" panose="020B0604030504040204"/>
                <a:ea typeface="Tahoma" panose="020B0604030504040204"/>
                <a:cs typeface="Tahoma" panose="020B0604030504040204"/>
                <a:sym typeface="Tahoma" panose="020B0604030504040204"/>
              </a:rPr>
            </a:br>
            <a:r>
              <a:rPr lang="en-US" sz="2400" dirty="0">
                <a:solidFill>
                  <a:schemeClr val="dk2"/>
                </a:solidFill>
                <a:latin typeface="Tahoma" panose="020B0604030504040204"/>
                <a:ea typeface="Tahoma" panose="020B0604030504040204"/>
                <a:cs typeface="Tahoma" panose="020B0604030504040204"/>
                <a:sym typeface="Tahoma" panose="020B0604030504040204"/>
              </a:rPr>
              <a:t>We may add Quality as a 4</a:t>
            </a:r>
            <a:r>
              <a:rPr lang="en-US" sz="2400" baseline="30000" dirty="0">
                <a:solidFill>
                  <a:schemeClr val="dk2"/>
                </a:solidFill>
                <a:latin typeface="Tahoma" panose="020B0604030504040204"/>
                <a:ea typeface="Tahoma" panose="020B0604030504040204"/>
                <a:cs typeface="Tahoma" panose="020B0604030504040204"/>
                <a:sym typeface="Tahoma" panose="020B0604030504040204"/>
              </a:rPr>
              <a:t>th</a:t>
            </a:r>
            <a:r>
              <a:rPr lang="en-US" sz="2400" dirty="0">
                <a:solidFill>
                  <a:schemeClr val="dk2"/>
                </a:solidFill>
                <a:latin typeface="Tahoma" panose="020B0604030504040204"/>
                <a:ea typeface="Tahoma" panose="020B0604030504040204"/>
                <a:cs typeface="Tahoma" panose="020B0604030504040204"/>
                <a:sym typeface="Tahoma" panose="020B0604030504040204"/>
              </a:rPr>
              <a:t> constraint:</a:t>
            </a:r>
            <a:br>
              <a:rPr lang="en-US" sz="2400" dirty="0">
                <a:solidFill>
                  <a:schemeClr val="dk2"/>
                </a:solidFill>
                <a:latin typeface="Tahoma" panose="020B0604030504040204"/>
                <a:ea typeface="Tahoma" panose="020B0604030504040204"/>
                <a:cs typeface="Tahoma" panose="020B0604030504040204"/>
                <a:sym typeface="Tahoma" panose="020B0604030504040204"/>
              </a:rPr>
            </a:br>
            <a:r>
              <a:rPr lang="en-US" sz="2400" dirty="0">
                <a:solidFill>
                  <a:schemeClr val="dk2"/>
                </a:solidFill>
                <a:latin typeface="Tahoma" panose="020B0604030504040204"/>
                <a:ea typeface="Tahoma" panose="020B0604030504040204"/>
                <a:cs typeface="Tahoma" panose="020B0604030504040204"/>
                <a:sym typeface="Tahoma" panose="020B0604030504040204"/>
              </a:rPr>
              <a:t>The </a:t>
            </a:r>
            <a:r>
              <a:rPr lang="en-US" sz="2400" b="1" dirty="0">
                <a:solidFill>
                  <a:schemeClr val="dk2"/>
                </a:solidFill>
                <a:latin typeface="Tahoma" panose="020B0604030504040204"/>
                <a:ea typeface="Tahoma" panose="020B0604030504040204"/>
                <a:cs typeface="Tahoma" panose="020B0604030504040204"/>
                <a:sym typeface="Tahoma" panose="020B0604030504040204"/>
              </a:rPr>
              <a:t>Quadruple </a:t>
            </a:r>
            <a:r>
              <a:rPr lang="en-US" sz="2400" dirty="0">
                <a:solidFill>
                  <a:schemeClr val="dk2"/>
                </a:solidFill>
                <a:latin typeface="Tahoma" panose="020B0604030504040204"/>
                <a:ea typeface="Tahoma" panose="020B0604030504040204"/>
                <a:cs typeface="Tahoma" panose="020B0604030504040204"/>
                <a:sym typeface="Tahoma" panose="020B0604030504040204"/>
              </a:rPr>
              <a:t>constraint </a:t>
            </a:r>
            <a:r>
              <a:rPr lang="en-US" sz="2400" b="1" dirty="0">
                <a:solidFill>
                  <a:schemeClr val="dk2"/>
                </a:solidFill>
                <a:latin typeface="Tahoma" panose="020B0604030504040204"/>
                <a:ea typeface="Tahoma" panose="020B0604030504040204"/>
                <a:cs typeface="Tahoma" panose="020B0604030504040204"/>
                <a:sym typeface="Tahoma" panose="020B0604030504040204"/>
              </a:rPr>
              <a:t>=</a:t>
            </a:r>
            <a:r>
              <a:rPr lang="en-US" sz="2400" dirty="0">
                <a:solidFill>
                  <a:schemeClr val="dk2"/>
                </a:solidFill>
                <a:latin typeface="Tahoma" panose="020B0604030504040204"/>
                <a:ea typeface="Tahoma" panose="020B0604030504040204"/>
                <a:cs typeface="Tahoma" panose="020B0604030504040204"/>
                <a:sym typeface="Tahoma" panose="020B0604030504040204"/>
              </a:rPr>
              <a:t>The </a:t>
            </a:r>
            <a:r>
              <a:rPr lang="en-US" sz="2400" b="1" dirty="0">
                <a:solidFill>
                  <a:schemeClr val="dk2"/>
                </a:solidFill>
                <a:latin typeface="Tahoma" panose="020B0604030504040204"/>
                <a:ea typeface="Tahoma" panose="020B0604030504040204"/>
                <a:cs typeface="Tahoma" panose="020B0604030504040204"/>
                <a:sym typeface="Tahoma" panose="020B0604030504040204"/>
              </a:rPr>
              <a:t>Triple </a:t>
            </a:r>
            <a:r>
              <a:rPr lang="en-US" sz="2400" dirty="0">
                <a:solidFill>
                  <a:schemeClr val="dk2"/>
                </a:solidFill>
                <a:latin typeface="Tahoma" panose="020B0604030504040204"/>
                <a:ea typeface="Tahoma" panose="020B0604030504040204"/>
                <a:cs typeface="Tahoma" panose="020B0604030504040204"/>
                <a:sym typeface="Tahoma" panose="020B0604030504040204"/>
              </a:rPr>
              <a:t>constraint </a:t>
            </a:r>
            <a:r>
              <a:rPr lang="en-US" sz="2400" b="1" dirty="0">
                <a:solidFill>
                  <a:schemeClr val="dk2"/>
                </a:solidFill>
                <a:latin typeface="Tahoma" panose="020B0604030504040204"/>
                <a:ea typeface="Tahoma" panose="020B0604030504040204"/>
                <a:cs typeface="Tahoma" panose="020B0604030504040204"/>
                <a:sym typeface="Tahoma" panose="020B0604030504040204"/>
              </a:rPr>
              <a:t>+Quality </a:t>
            </a:r>
            <a:r>
              <a:rPr lang="en-US" sz="2400" dirty="0">
                <a:solidFill>
                  <a:schemeClr val="dk2"/>
                </a:solidFill>
                <a:latin typeface="Tahoma" panose="020B0604030504040204"/>
                <a:ea typeface="Tahoma" panose="020B0604030504040204"/>
                <a:cs typeface="Tahoma" panose="020B0604030504040204"/>
                <a:sym typeface="Tahoma" panose="020B0604030504040204"/>
              </a:rPr>
              <a:t>constraint</a:t>
            </a:r>
            <a:endParaRPr sz="2400" dirty="0">
              <a:solidFill>
                <a:schemeClr val="dk2"/>
              </a:solidFill>
              <a:latin typeface="Tahoma" panose="020B0604030504040204"/>
              <a:ea typeface="Tahoma" panose="020B0604030504040204"/>
              <a:cs typeface="Tahoma" panose="020B0604030504040204"/>
              <a:sym typeface="Tahoma" panose="020B0604030504040204"/>
            </a:endParaRPr>
          </a:p>
        </p:txBody>
      </p:sp>
      <p:pic>
        <p:nvPicPr>
          <p:cNvPr id="715" name="Google Shape;715;p67"/>
          <p:cNvPicPr preferRelativeResize="0"/>
          <p:nvPr/>
        </p:nvPicPr>
        <p:blipFill rotWithShape="1">
          <a:blip r:embed="rId1"/>
          <a:srcRect/>
          <a:stretch>
            <a:fillRect/>
          </a:stretch>
        </p:blipFill>
        <p:spPr>
          <a:xfrm>
            <a:off x="6750050" y="3392488"/>
            <a:ext cx="3736975" cy="2336800"/>
          </a:xfrm>
          <a:prstGeom prst="rect">
            <a:avLst/>
          </a:prstGeom>
          <a:noFill/>
          <a:ln>
            <a:noFill/>
          </a:ln>
        </p:spPr>
      </p:pic>
      <p:sp>
        <p:nvSpPr>
          <p:cNvPr id="716" name="Google Shape;716;p6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2"/>
                </a:solidFill>
                <a:latin typeface="Tahoma" panose="020B0604030504040204"/>
                <a:ea typeface="Tahoma" panose="020B0604030504040204"/>
                <a:cs typeface="Tahoma" panose="020B0604030504040204"/>
                <a:sym typeface="Tahoma" panose="020B0604030504040204"/>
              </a:rPr>
            </a:fld>
            <a:endParaRPr sz="1800">
              <a:solidFill>
                <a:schemeClr val="dk2"/>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68"/>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22" name="Google Shape;722;p6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Trade-off Triangle</a:t>
            </a:r>
            <a:endParaRPr lang="en-US"/>
          </a:p>
        </p:txBody>
      </p:sp>
      <p:sp>
        <p:nvSpPr>
          <p:cNvPr id="723" name="Google Shape;723;p68"/>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Fast, cheap, good. Choose two.</a:t>
            </a:r>
            <a:endParaRPr dirty="0"/>
          </a:p>
        </p:txBody>
      </p:sp>
      <p:graphicFrame>
        <p:nvGraphicFramePr>
          <p:cNvPr id="724" name="Google Shape;724;p68"/>
          <p:cNvGraphicFramePr/>
          <p:nvPr/>
        </p:nvGraphicFramePr>
        <p:xfrm>
          <a:off x="4572000" y="2895600"/>
          <a:ext cx="3154363" cy="2438400"/>
        </p:xfrm>
        <a:graphic>
          <a:graphicData uri="http://schemas.openxmlformats.org/presentationml/2006/ole">
            <mc:AlternateContent xmlns:mc="http://schemas.openxmlformats.org/markup-compatibility/2006">
              <mc:Choice xmlns:v="urn:schemas-microsoft-com:vml" Requires="v">
                <p:oleObj spid="_x0000_s2" name="" r:id="rId1" imgW="3152775" imgH="2438400" progId="PBrush">
                  <p:embed/>
                </p:oleObj>
              </mc:Choice>
              <mc:Fallback>
                <p:oleObj name="" r:id="rId1" imgW="3152775" imgH="2438400" progId="PBrush">
                  <p:embed/>
                  <p:pic>
                    <p:nvPicPr>
                      <p:cNvPr id="0" name="Google Shape;724;p68"/>
                      <p:cNvPicPr preferRelativeResize="0"/>
                      <p:nvPr/>
                    </p:nvPicPr>
                    <p:blipFill rotWithShape="1">
                      <a:blip r:embed="rId2"/>
                      <a:srcRect/>
                      <a:stretch>
                        <a:fillRect/>
                      </a:stretch>
                    </p:blipFill>
                    <p:spPr>
                      <a:xfrm>
                        <a:off x="4572000" y="2895600"/>
                        <a:ext cx="3154363" cy="2438400"/>
                      </a:xfrm>
                      <a:prstGeom prst="rect">
                        <a:avLst/>
                      </a:prstGeom>
                      <a:noFill/>
                      <a:ln>
                        <a:noFill/>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6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31" name="Google Shape;731;p69"/>
          <p:cNvSpPr txBox="1">
            <a:spLocks noGrp="1"/>
          </p:cNvSpPr>
          <p:nvPr>
            <p:ph type="title"/>
          </p:nvPr>
        </p:nvSpPr>
        <p:spPr>
          <a:xfrm>
            <a:off x="2209800" y="1168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Trade-off Triangle</a:t>
            </a:r>
            <a:endParaRPr lang="en-US"/>
          </a:p>
        </p:txBody>
      </p:sp>
      <p:graphicFrame>
        <p:nvGraphicFramePr>
          <p:cNvPr id="732" name="Google Shape;732;p69"/>
          <p:cNvGraphicFramePr/>
          <p:nvPr/>
        </p:nvGraphicFramePr>
        <p:xfrm>
          <a:off x="3048000" y="2330450"/>
          <a:ext cx="7015163" cy="3994150"/>
        </p:xfrm>
        <a:graphic>
          <a:graphicData uri="http://schemas.openxmlformats.org/presentationml/2006/ole">
            <mc:AlternateContent xmlns:mc="http://schemas.openxmlformats.org/markup-compatibility/2006">
              <mc:Choice xmlns:v="urn:schemas-microsoft-com:vml" Requires="v">
                <p:oleObj spid="_x0000_s2" name="" r:id="rId1" imgW="4600575" imgH="2619375" progId="PBrush">
                  <p:embed/>
                </p:oleObj>
              </mc:Choice>
              <mc:Fallback>
                <p:oleObj name="" r:id="rId1" imgW="4600575" imgH="2619375" progId="PBrush">
                  <p:embed/>
                  <p:pic>
                    <p:nvPicPr>
                      <p:cNvPr id="0" name="Google Shape;732;p69"/>
                      <p:cNvPicPr preferRelativeResize="0"/>
                      <p:nvPr/>
                    </p:nvPicPr>
                    <p:blipFill rotWithShape="1">
                      <a:blip r:embed="rId2"/>
                      <a:srcRect/>
                      <a:stretch>
                        <a:fillRect/>
                      </a:stretch>
                    </p:blipFill>
                    <p:spPr>
                      <a:xfrm>
                        <a:off x="3048000" y="2330450"/>
                        <a:ext cx="7015163" cy="3994150"/>
                      </a:xfrm>
                      <a:prstGeom prst="rect">
                        <a:avLst/>
                      </a:prstGeom>
                      <a:noFill/>
                      <a:ln>
                        <a:noFill/>
                      </a:ln>
                    </p:spPr>
                  </p:pic>
                </p:oleObj>
              </mc:Fallback>
            </mc:AlternateContent>
          </a:graphicData>
        </a:graphic>
      </p:graphicFrame>
      <p:sp>
        <p:nvSpPr>
          <p:cNvPr id="733" name="Google Shape;733;p69"/>
          <p:cNvSpPr txBox="1">
            <a:spLocks noGrp="1"/>
          </p:cNvSpPr>
          <p:nvPr>
            <p:ph type="body" idx="1"/>
          </p:nvPr>
        </p:nvSpPr>
        <p:spPr>
          <a:xfrm>
            <a:off x="2279650" y="1125220"/>
            <a:ext cx="77724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Know which of these are fixed &amp; variable for every project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7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0" name="Google Shape;740;p70"/>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Four Project Dimensions</a:t>
            </a:r>
            <a:endParaRPr dirty="0"/>
          </a:p>
        </p:txBody>
      </p:sp>
      <p:sp>
        <p:nvSpPr>
          <p:cNvPr id="741" name="Google Shape;741;p70"/>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People</a:t>
            </a:r>
            <a:endParaRPr dirty="0"/>
          </a:p>
          <a:p>
            <a:pPr marL="342900" lvl="0" indent="-342900" algn="l" rtl="0">
              <a:spcBef>
                <a:spcPts val="640"/>
              </a:spcBef>
              <a:spcAft>
                <a:spcPts val="0"/>
              </a:spcAft>
              <a:buClr>
                <a:schemeClr val="dk1"/>
              </a:buClr>
              <a:buSzPts val="3200"/>
              <a:buFont typeface="Tahoma" panose="020B0604030504040204"/>
              <a:buChar char="•"/>
            </a:pPr>
            <a:r>
              <a:rPr lang="en-US" dirty="0"/>
              <a:t>Process</a:t>
            </a:r>
            <a:endParaRPr dirty="0"/>
          </a:p>
          <a:p>
            <a:pPr marL="342900" lvl="0" indent="-342900" algn="l" rtl="0">
              <a:spcBef>
                <a:spcPts val="640"/>
              </a:spcBef>
              <a:spcAft>
                <a:spcPts val="0"/>
              </a:spcAft>
              <a:buClr>
                <a:schemeClr val="dk1"/>
              </a:buClr>
              <a:buSzPts val="3200"/>
              <a:buFont typeface="Tahoma" panose="020B0604030504040204"/>
              <a:buChar char="•"/>
            </a:pPr>
            <a:r>
              <a:rPr lang="en-US" dirty="0"/>
              <a:t>Product</a:t>
            </a:r>
            <a:endParaRPr dirty="0"/>
          </a:p>
          <a:p>
            <a:pPr marL="342900" lvl="0" indent="-342900" algn="l" rtl="0">
              <a:spcBef>
                <a:spcPts val="640"/>
              </a:spcBef>
              <a:spcAft>
                <a:spcPts val="0"/>
              </a:spcAft>
              <a:buClr>
                <a:schemeClr val="dk1"/>
              </a:buClr>
              <a:buSzPts val="3200"/>
              <a:buFont typeface="Tahoma" panose="020B0604030504040204"/>
              <a:buChar char="•"/>
            </a:pPr>
            <a:r>
              <a:rPr lang="en-US" dirty="0"/>
              <a:t>Technology</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7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48" name="Google Shape;748;p71"/>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People</a:t>
            </a:r>
            <a:endParaRPr lang="en-US"/>
          </a:p>
        </p:txBody>
      </p:sp>
      <p:sp>
        <p:nvSpPr>
          <p:cNvPr id="749" name="Google Shape;749;p71"/>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“It’s always a people problem” </a:t>
            </a:r>
            <a:r>
              <a:rPr lang="en-US" sz="1800" dirty="0"/>
              <a:t>Gerald Weinberg, “The Secrets of Consulting”</a:t>
            </a:r>
            <a:endParaRPr sz="1800" dirty="0"/>
          </a:p>
          <a:p>
            <a:pPr marL="342900" lvl="0" indent="-342900" algn="l" rtl="0">
              <a:spcBef>
                <a:spcPts val="640"/>
              </a:spcBef>
              <a:spcAft>
                <a:spcPts val="0"/>
              </a:spcAft>
              <a:buClr>
                <a:schemeClr val="dk1"/>
              </a:buClr>
              <a:buSzPts val="3200"/>
              <a:buFont typeface="Tahoma" panose="020B0604030504040204"/>
              <a:buChar char="•"/>
            </a:pPr>
            <a:r>
              <a:rPr lang="en-US" dirty="0"/>
              <a:t>Developer productivity: 10-to-1 range</a:t>
            </a:r>
            <a:endParaRPr dirty="0"/>
          </a:p>
          <a:p>
            <a:pPr marL="342900" lvl="0" indent="-342900" algn="l" rtl="0">
              <a:spcBef>
                <a:spcPts val="640"/>
              </a:spcBef>
              <a:spcAft>
                <a:spcPts val="0"/>
              </a:spcAft>
              <a:buClr>
                <a:schemeClr val="dk1"/>
              </a:buClr>
              <a:buSzPts val="3200"/>
              <a:buFont typeface="Tahoma" panose="020B0604030504040204"/>
              <a:buChar char="-"/>
            </a:pPr>
            <a:r>
              <a:rPr lang="en-US" dirty="0"/>
              <a:t>Improvements:</a:t>
            </a:r>
            <a:endParaRPr dirty="0"/>
          </a:p>
          <a:p>
            <a:pPr marL="742950" lvl="1" indent="-285750" algn="l" rtl="0">
              <a:spcBef>
                <a:spcPts val="560"/>
              </a:spcBef>
              <a:spcAft>
                <a:spcPts val="0"/>
              </a:spcAft>
              <a:buClr>
                <a:schemeClr val="dk1"/>
              </a:buClr>
              <a:buSzPts val="2800"/>
              <a:buFont typeface="Tahoma" panose="020B0604030504040204"/>
              <a:buChar char="-"/>
            </a:pPr>
            <a:r>
              <a:rPr lang="en-US" dirty="0"/>
              <a:t>Team selection</a:t>
            </a:r>
            <a:endParaRPr dirty="0"/>
          </a:p>
          <a:p>
            <a:pPr marL="742950" lvl="1" indent="-285750" algn="l" rtl="0">
              <a:spcBef>
                <a:spcPts val="560"/>
              </a:spcBef>
              <a:spcAft>
                <a:spcPts val="0"/>
              </a:spcAft>
              <a:buClr>
                <a:schemeClr val="dk1"/>
              </a:buClr>
              <a:buSzPts val="2800"/>
              <a:buFont typeface="Tahoma" panose="020B0604030504040204"/>
              <a:buChar char="-"/>
            </a:pPr>
            <a:r>
              <a:rPr lang="en-US" dirty="0"/>
              <a:t>Team organization</a:t>
            </a:r>
            <a:endParaRPr dirty="0"/>
          </a:p>
          <a:p>
            <a:pPr marL="742950" lvl="1" indent="-285750" algn="l" rtl="0">
              <a:spcBef>
                <a:spcPts val="560"/>
              </a:spcBef>
              <a:spcAft>
                <a:spcPts val="0"/>
              </a:spcAft>
              <a:buClr>
                <a:schemeClr val="dk1"/>
              </a:buClr>
              <a:buSzPts val="2800"/>
              <a:buFont typeface="Tahoma" panose="020B0604030504040204"/>
              <a:buChar char="–"/>
            </a:pPr>
            <a:r>
              <a:rPr lang="en-US" dirty="0"/>
              <a:t>Motivation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7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55" name="Google Shape;755;p7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People 2</a:t>
            </a:r>
            <a:endParaRPr lang="en-US"/>
          </a:p>
        </p:txBody>
      </p:sp>
      <p:sp>
        <p:nvSpPr>
          <p:cNvPr id="756" name="Google Shape;756;p72"/>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Other success factors</a:t>
            </a:r>
            <a:endParaRPr lang="en-US"/>
          </a:p>
          <a:p>
            <a:pPr marL="742950" lvl="1" indent="-285750" algn="l" rtl="0">
              <a:spcBef>
                <a:spcPts val="560"/>
              </a:spcBef>
              <a:spcAft>
                <a:spcPts val="0"/>
              </a:spcAft>
              <a:buClr>
                <a:schemeClr val="dk1"/>
              </a:buClr>
              <a:buSzPts val="2800"/>
              <a:buFont typeface="Tahoma" panose="020B0604030504040204"/>
              <a:buChar char="–"/>
            </a:pPr>
            <a:r>
              <a:rPr lang="en-US"/>
              <a:t>Matching people to tasks</a:t>
            </a:r>
            <a:endParaRPr lang="en-US"/>
          </a:p>
          <a:p>
            <a:pPr marL="742950" lvl="1" indent="-285750" algn="l" rtl="0">
              <a:spcBef>
                <a:spcPts val="560"/>
              </a:spcBef>
              <a:spcAft>
                <a:spcPts val="0"/>
              </a:spcAft>
              <a:buClr>
                <a:schemeClr val="dk1"/>
              </a:buClr>
              <a:buSzPts val="2800"/>
              <a:buFont typeface="Tahoma" panose="020B0604030504040204"/>
              <a:buChar char="–"/>
            </a:pPr>
            <a:r>
              <a:rPr lang="en-US"/>
              <a:t>Career development</a:t>
            </a:r>
            <a:endParaRPr lang="en-US"/>
          </a:p>
          <a:p>
            <a:pPr marL="742950" lvl="1" indent="-285750" algn="l" rtl="0">
              <a:spcBef>
                <a:spcPts val="560"/>
              </a:spcBef>
              <a:spcAft>
                <a:spcPts val="0"/>
              </a:spcAft>
              <a:buClr>
                <a:schemeClr val="dk1"/>
              </a:buClr>
              <a:buSzPts val="2800"/>
              <a:buFont typeface="Tahoma" panose="020B0604030504040204"/>
              <a:buChar char="–"/>
            </a:pPr>
            <a:r>
              <a:rPr lang="en-US"/>
              <a:t>Balance: individual and team</a:t>
            </a:r>
            <a:endParaRPr lang="en-US"/>
          </a:p>
          <a:p>
            <a:pPr marL="742950" lvl="1" indent="-285750" algn="l" rtl="0">
              <a:spcBef>
                <a:spcPts val="560"/>
              </a:spcBef>
              <a:spcAft>
                <a:spcPts val="0"/>
              </a:spcAft>
              <a:buClr>
                <a:schemeClr val="dk1"/>
              </a:buClr>
              <a:buSzPts val="2800"/>
              <a:buFont typeface="Tahoma" panose="020B0604030504040204"/>
              <a:buChar char="–"/>
            </a:pPr>
            <a:r>
              <a:rPr lang="en-US"/>
              <a:t>Clear communication</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5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5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7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63" name="Google Shape;763;p73"/>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Process</a:t>
            </a:r>
            <a:endParaRPr lang="en-US"/>
          </a:p>
        </p:txBody>
      </p:sp>
      <p:sp>
        <p:nvSpPr>
          <p:cNvPr id="764" name="Google Shape;764;p73"/>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Is process stifling? </a:t>
            </a:r>
            <a:endParaRPr dirty="0"/>
          </a:p>
          <a:p>
            <a:pPr marL="342900" lvl="0" indent="-342900" algn="l" rtl="0">
              <a:spcBef>
                <a:spcPts val="640"/>
              </a:spcBef>
              <a:spcAft>
                <a:spcPts val="0"/>
              </a:spcAft>
              <a:buClr>
                <a:schemeClr val="dk1"/>
              </a:buClr>
              <a:buSzPts val="3200"/>
              <a:buFont typeface="Tahoma" panose="020B0604030504040204"/>
              <a:buChar char="•"/>
            </a:pPr>
            <a:r>
              <a:rPr lang="en-US" dirty="0"/>
              <a:t>2 Types: Management &amp; Technical</a:t>
            </a:r>
            <a:endParaRPr dirty="0"/>
          </a:p>
          <a:p>
            <a:pPr marL="342900" lvl="0" indent="-342900" algn="l" rtl="0">
              <a:spcBef>
                <a:spcPts val="640"/>
              </a:spcBef>
              <a:spcAft>
                <a:spcPts val="0"/>
              </a:spcAft>
              <a:buClr>
                <a:schemeClr val="dk1"/>
              </a:buClr>
              <a:buSzPts val="3200"/>
              <a:buFont typeface="Tahoma" panose="020B0604030504040204"/>
              <a:buChar char="•"/>
            </a:pPr>
            <a:r>
              <a:rPr lang="en-US" dirty="0"/>
              <a:t>Development fundamentals</a:t>
            </a:r>
            <a:endParaRPr dirty="0"/>
          </a:p>
          <a:p>
            <a:pPr marL="342900" lvl="0" indent="-342900" algn="l" rtl="0">
              <a:spcBef>
                <a:spcPts val="640"/>
              </a:spcBef>
              <a:spcAft>
                <a:spcPts val="0"/>
              </a:spcAft>
              <a:buClr>
                <a:schemeClr val="dk1"/>
              </a:buClr>
              <a:buSzPts val="3200"/>
              <a:buFont typeface="Tahoma" panose="020B0604030504040204"/>
              <a:buChar char="•"/>
            </a:pPr>
            <a:r>
              <a:rPr lang="en-US" dirty="0"/>
              <a:t>Quality assurance</a:t>
            </a:r>
            <a:endParaRPr dirty="0"/>
          </a:p>
          <a:p>
            <a:pPr marL="342900" lvl="0" indent="-342900" algn="l" rtl="0">
              <a:spcBef>
                <a:spcPts val="640"/>
              </a:spcBef>
              <a:spcAft>
                <a:spcPts val="0"/>
              </a:spcAft>
              <a:buClr>
                <a:schemeClr val="dk1"/>
              </a:buClr>
              <a:buSzPts val="3200"/>
              <a:buFont typeface="Tahoma" panose="020B0604030504040204"/>
              <a:buChar char="•"/>
            </a:pPr>
            <a:r>
              <a:rPr lang="en-US" dirty="0"/>
              <a:t>Risk management</a:t>
            </a:r>
            <a:endParaRPr dirty="0"/>
          </a:p>
          <a:p>
            <a:pPr marL="342900" lvl="0" indent="-342900" algn="l" rtl="0">
              <a:spcBef>
                <a:spcPts val="640"/>
              </a:spcBef>
              <a:spcAft>
                <a:spcPts val="0"/>
              </a:spcAft>
              <a:buClr>
                <a:schemeClr val="dk1"/>
              </a:buClr>
              <a:buSzPts val="3200"/>
              <a:buFont typeface="Tahoma" panose="020B0604030504040204"/>
              <a:buChar char="•"/>
            </a:pPr>
            <a:r>
              <a:rPr lang="en-US" dirty="0"/>
              <a:t>Lifecycle planning</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74"/>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70" name="Google Shape;770;p74"/>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Product</a:t>
            </a:r>
            <a:endParaRPr lang="en-US"/>
          </a:p>
        </p:txBody>
      </p:sp>
      <p:sp>
        <p:nvSpPr>
          <p:cNvPr id="771" name="Google Shape;771;p74"/>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The “tangible” dimension</a:t>
            </a:r>
            <a:endParaRPr dirty="0"/>
          </a:p>
          <a:p>
            <a:pPr marL="342900" lvl="0" indent="-342900" algn="l" rtl="0">
              <a:spcBef>
                <a:spcPts val="640"/>
              </a:spcBef>
              <a:spcAft>
                <a:spcPts val="0"/>
              </a:spcAft>
              <a:buClr>
                <a:schemeClr val="dk1"/>
              </a:buClr>
              <a:buSzPts val="3200"/>
              <a:buFont typeface="Tahoma" panose="020B0604030504040204"/>
              <a:buChar char="•"/>
            </a:pPr>
            <a:r>
              <a:rPr lang="en-US" dirty="0"/>
              <a:t>Product size management</a:t>
            </a:r>
            <a:endParaRPr dirty="0"/>
          </a:p>
          <a:p>
            <a:pPr marL="342900" lvl="0" indent="-342900" algn="l" rtl="0">
              <a:spcBef>
                <a:spcPts val="640"/>
              </a:spcBef>
              <a:spcAft>
                <a:spcPts val="0"/>
              </a:spcAft>
              <a:buClr>
                <a:schemeClr val="dk1"/>
              </a:buClr>
              <a:buSzPts val="3200"/>
              <a:buFont typeface="Tahoma" panose="020B0604030504040204"/>
              <a:buChar char="•"/>
            </a:pPr>
            <a:r>
              <a:rPr lang="en-US" dirty="0"/>
              <a:t>Product characteristics and requirements</a:t>
            </a:r>
            <a:endParaRPr dirty="0"/>
          </a:p>
          <a:p>
            <a:pPr marL="342900" lvl="0" indent="-342900" algn="l" rtl="0">
              <a:spcBef>
                <a:spcPts val="640"/>
              </a:spcBef>
              <a:spcAft>
                <a:spcPts val="0"/>
              </a:spcAft>
              <a:buClr>
                <a:schemeClr val="dk1"/>
              </a:buClr>
              <a:buSzPts val="3200"/>
              <a:buFont typeface="Tahoma" panose="020B0604030504040204"/>
              <a:buChar char="•"/>
            </a:pPr>
            <a:r>
              <a:rPr lang="en-US" dirty="0"/>
              <a:t>Feature creep management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7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1200"/>
              <a:buFont typeface="Times New Roman" panose="02020603050405020304"/>
              <a:buNone/>
            </a:pPr>
            <a:fld id="{00000000-1234-1234-1234-123412341234}" type="slidenum">
              <a:rPr lang="en-US" sz="1200">
                <a:solidFill>
                  <a:schemeClr val="lt1"/>
                </a:solidFill>
                <a:latin typeface="Times New Roman" panose="02020603050405020304"/>
                <a:ea typeface="Times New Roman" panose="02020603050405020304"/>
                <a:cs typeface="Times New Roman" panose="02020603050405020304"/>
                <a:sym typeface="Times New Roman" panose="02020603050405020304"/>
              </a:rPr>
            </a:fld>
            <a:endParaRPr sz="1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77" name="Google Shape;777;p75"/>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Technology</a:t>
            </a:r>
            <a:endParaRPr lang="en-US"/>
          </a:p>
        </p:txBody>
      </p:sp>
      <p:sp>
        <p:nvSpPr>
          <p:cNvPr id="778" name="Google Shape;778;p75"/>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dirty="0"/>
              <a:t>Often the least important dimension</a:t>
            </a:r>
            <a:endParaRPr dirty="0"/>
          </a:p>
          <a:p>
            <a:pPr marL="342900" lvl="0" indent="-342900" algn="l" rtl="0">
              <a:spcBef>
                <a:spcPts val="640"/>
              </a:spcBef>
              <a:spcAft>
                <a:spcPts val="0"/>
              </a:spcAft>
              <a:buClr>
                <a:schemeClr val="dk1"/>
              </a:buClr>
              <a:buSzPts val="3200"/>
              <a:buFont typeface="Tahoma" panose="020B0604030504040204"/>
              <a:buChar char="•"/>
            </a:pPr>
            <a:r>
              <a:rPr lang="en-US" dirty="0"/>
              <a:t>Language and tool selection</a:t>
            </a:r>
            <a:endParaRPr dirty="0"/>
          </a:p>
          <a:p>
            <a:pPr marL="342900" lvl="0" indent="-342900" algn="l" rtl="0">
              <a:spcBef>
                <a:spcPts val="640"/>
              </a:spcBef>
              <a:spcAft>
                <a:spcPts val="0"/>
              </a:spcAft>
              <a:buClr>
                <a:schemeClr val="dk1"/>
              </a:buClr>
              <a:buSzPts val="3200"/>
              <a:buFont typeface="Tahoma" panose="020B0604030504040204"/>
              <a:buChar char="•"/>
            </a:pPr>
            <a:r>
              <a:rPr lang="en-US" dirty="0"/>
              <a:t>Value and cost of reuse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76"/>
          <p:cNvSpPr txBox="1">
            <a:spLocks noGrp="1"/>
          </p:cNvSpPr>
          <p:nvPr>
            <p:ph type="body" idx="1"/>
          </p:nvPr>
        </p:nvSpPr>
        <p:spPr>
          <a:xfrm>
            <a:off x="2286000" y="1952625"/>
            <a:ext cx="8004175"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People related</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640"/>
              </a:spcBef>
              <a:spcAft>
                <a:spcPts val="0"/>
              </a:spcAft>
              <a:buClr>
                <a:schemeClr val="dk1"/>
              </a:buClr>
              <a:buSzPts val="3200"/>
              <a:buFont typeface="Tahoma" panose="020B0604030504040204"/>
              <a:buNone/>
            </a:pP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Process related</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640"/>
              </a:spcBef>
              <a:spcAft>
                <a:spcPts val="0"/>
              </a:spcAft>
              <a:buClr>
                <a:schemeClr val="dk1"/>
              </a:buClr>
              <a:buSzPts val="3200"/>
              <a:buFont typeface="Tahoma" panose="020B0604030504040204"/>
              <a:buNone/>
            </a:pP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Product related</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640"/>
              </a:spcBef>
              <a:spcAft>
                <a:spcPts val="0"/>
              </a:spcAft>
              <a:buClr>
                <a:schemeClr val="dk1"/>
              </a:buClr>
              <a:buSzPts val="3200"/>
              <a:buFont typeface="Tahoma" panose="020B0604030504040204"/>
              <a:buNone/>
            </a:pP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640"/>
              </a:spcBef>
              <a:spcAft>
                <a:spcPts val="0"/>
              </a:spcAft>
              <a:buClr>
                <a:schemeClr val="dk1"/>
              </a:buClr>
              <a:buSzPts val="3200"/>
              <a:buFont typeface="Tahoma" panose="020B0604030504040204"/>
              <a:buChar char="•"/>
            </a:pP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Technology related</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640"/>
              </a:spcBef>
              <a:spcAft>
                <a:spcPts val="0"/>
              </a:spcAft>
              <a:buClr>
                <a:schemeClr val="dk1"/>
              </a:buClr>
              <a:buSzPts val="3200"/>
              <a:buFont typeface="Tahoma" panose="020B0604030504040204"/>
              <a:buNone/>
            </a:pP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784" name="Google Shape;784;p76"/>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Classical mistakes</a:t>
            </a: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77"/>
          <p:cNvSpPr txBox="1">
            <a:spLocks noGrp="1"/>
          </p:cNvSpPr>
          <p:nvPr>
            <p:ph type="body" idx="1"/>
          </p:nvPr>
        </p:nvSpPr>
        <p:spPr>
          <a:xfrm>
            <a:off x="1774825" y="1600200"/>
            <a:ext cx="8515350" cy="4572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Tahoma" panose="020B0604030504040204"/>
              <a:buChar char="•"/>
            </a:pPr>
            <a:r>
              <a:rPr lang="en-US" sz="1800" b="1" i="0" u="none" strike="noStrike" cap="none" dirty="0">
                <a:solidFill>
                  <a:schemeClr val="dk1"/>
                </a:solidFill>
                <a:latin typeface="Tahoma" panose="020B0604030504040204"/>
                <a:ea typeface="Tahoma" panose="020B0604030504040204"/>
                <a:cs typeface="Tahoma" panose="020B0604030504040204"/>
                <a:sym typeface="Tahoma" panose="020B0604030504040204"/>
              </a:rPr>
              <a:t>Undermined motivation –</a:t>
            </a: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 Studies have shown that giving suspicious talks at the beginning, asking to work overtime reduces the motivation of the people. Sometimes team leaders take long vacations while team is working overnights. The researchers highlighted that team lead has to work along with other team members is a positive motivation.</a:t>
            </a: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360"/>
              </a:spcBef>
              <a:spcAft>
                <a:spcPts val="0"/>
              </a:spcAft>
              <a:buClr>
                <a:schemeClr val="dk1"/>
              </a:buClr>
              <a:buSzPts val="1800"/>
              <a:buFont typeface="Tahoma" panose="020B0604030504040204"/>
              <a:buChar char="•"/>
            </a:pPr>
            <a:r>
              <a:rPr lang="en-US" sz="1800" b="1" i="0" u="none" strike="noStrike" cap="none" dirty="0">
                <a:solidFill>
                  <a:schemeClr val="dk1"/>
                </a:solidFill>
                <a:latin typeface="Tahoma" panose="020B0604030504040204"/>
                <a:ea typeface="Tahoma" panose="020B0604030504040204"/>
                <a:cs typeface="Tahoma" panose="020B0604030504040204"/>
                <a:sym typeface="Tahoma" panose="020B0604030504040204"/>
              </a:rPr>
              <a:t>Weak personnel – </a:t>
            </a: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If a team need an efficient development throughout the project, the recruitment needs to hire talented developers. Also carefully filter people who could do most of the work until the end of the project.</a:t>
            </a: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360"/>
              </a:spcBef>
              <a:spcAft>
                <a:spcPts val="0"/>
              </a:spcAft>
              <a:buClr>
                <a:schemeClr val="dk1"/>
              </a:buClr>
              <a:buSzPts val="1800"/>
              <a:buFont typeface="Tahoma" panose="020B0604030504040204"/>
              <a:buChar char="•"/>
            </a:pPr>
            <a:r>
              <a:rPr lang="en-US" sz="1800" b="1" i="0" u="none" strike="noStrike" cap="none" dirty="0">
                <a:solidFill>
                  <a:schemeClr val="dk1"/>
                </a:solidFill>
                <a:latin typeface="Tahoma" panose="020B0604030504040204"/>
                <a:ea typeface="Tahoma" panose="020B0604030504040204"/>
                <a:cs typeface="Tahoma" panose="020B0604030504040204"/>
                <a:sym typeface="Tahoma" panose="020B0604030504040204"/>
              </a:rPr>
              <a:t>Uncontrolled problem employees – </a:t>
            </a: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Failure to take actions for problems with team members and team leads will eventually affect the development speed. Some higher management should actively look into those and sort out.</a:t>
            </a: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360"/>
              </a:spcBef>
              <a:spcAft>
                <a:spcPts val="0"/>
              </a:spcAft>
              <a:buClr>
                <a:schemeClr val="dk1"/>
              </a:buClr>
              <a:buSzPts val="1800"/>
              <a:buFont typeface="Tahoma" panose="020B0604030504040204"/>
              <a:buChar char="•"/>
            </a:pPr>
            <a:r>
              <a:rPr lang="en-US" sz="1800" b="1" i="0" u="none" strike="noStrike" cap="none" dirty="0">
                <a:solidFill>
                  <a:schemeClr val="dk1"/>
                </a:solidFill>
                <a:latin typeface="Tahoma" panose="020B0604030504040204"/>
                <a:ea typeface="Tahoma" panose="020B0604030504040204"/>
                <a:cs typeface="Tahoma" panose="020B0604030504040204"/>
                <a:sym typeface="Tahoma" panose="020B0604030504040204"/>
              </a:rPr>
              <a:t>Heroics –</a:t>
            </a: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 Heroics within the team increases the risk and discourages cooperation among the other members of the team</a:t>
            </a: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360"/>
              </a:spcBef>
              <a:spcAft>
                <a:spcPts val="0"/>
              </a:spcAft>
              <a:buClr>
                <a:schemeClr val="dk1"/>
              </a:buClr>
              <a:buSzPts val="1800"/>
              <a:buFont typeface="Tahoma" panose="020B0604030504040204"/>
              <a:buChar char="•"/>
            </a:pPr>
            <a:r>
              <a:rPr lang="en-US" sz="1800" b="1" i="0" u="none" strike="noStrike" cap="none" dirty="0">
                <a:solidFill>
                  <a:schemeClr val="dk1"/>
                </a:solidFill>
                <a:latin typeface="Tahoma" panose="020B0604030504040204"/>
                <a:ea typeface="Tahoma" panose="020B0604030504040204"/>
                <a:cs typeface="Tahoma" panose="020B0604030504040204"/>
                <a:sym typeface="Tahoma" panose="020B0604030504040204"/>
              </a:rPr>
              <a:t>Adding people to a late project – </a:t>
            </a:r>
            <a:r>
              <a:rPr lang="en-US" sz="1800" b="0" i="0" u="none" strike="noStrike" cap="none" dirty="0">
                <a:solidFill>
                  <a:schemeClr val="dk1"/>
                </a:solidFill>
                <a:latin typeface="Tahoma" panose="020B0604030504040204"/>
                <a:ea typeface="Tahoma" panose="020B0604030504040204"/>
                <a:cs typeface="Tahoma" panose="020B0604030504040204"/>
                <a:sym typeface="Tahoma" panose="020B0604030504040204"/>
              </a:rPr>
              <a:t>Adding new people when the project is behind schedule, can take more productivity away from team members.</a:t>
            </a: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360"/>
              </a:spcBef>
              <a:spcAft>
                <a:spcPts val="0"/>
              </a:spcAft>
              <a:buClr>
                <a:schemeClr val="dk1"/>
              </a:buClr>
              <a:buSzPts val="1800"/>
              <a:buFont typeface="Tahoma" panose="020B0604030504040204"/>
              <a:buNone/>
            </a:pPr>
            <a:endParaRPr sz="1800" b="0" i="0" u="none" strike="noStrike" cap="none" dirty="0">
              <a:solidFill>
                <a:schemeClr val="dk1"/>
              </a:solidFill>
              <a:latin typeface="Tahoma" panose="020B0604030504040204"/>
              <a:ea typeface="Tahoma" panose="020B0604030504040204"/>
              <a:cs typeface="Tahoma" panose="020B0604030504040204"/>
              <a:sym typeface="Tahoma" panose="020B0604030504040204"/>
            </a:endParaRPr>
          </a:p>
        </p:txBody>
      </p:sp>
      <p:sp>
        <p:nvSpPr>
          <p:cNvPr id="790" name="Google Shape;790;p77"/>
          <p:cNvSpPr txBox="1">
            <a:spLocks noGrp="1"/>
          </p:cNvSpPr>
          <p:nvPr>
            <p:ph type="title"/>
          </p:nvPr>
        </p:nvSpPr>
        <p:spPr>
          <a:xfrm>
            <a:off x="2209800" y="188913"/>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People Related</a:t>
            </a: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78"/>
          <p:cNvSpPr txBox="1">
            <a:spLocks noGrp="1"/>
          </p:cNvSpPr>
          <p:nvPr>
            <p:ph type="body" idx="1"/>
          </p:nvPr>
        </p:nvSpPr>
        <p:spPr>
          <a:xfrm>
            <a:off x="1774825" y="1125538"/>
            <a:ext cx="8713788" cy="5327650"/>
          </a:xfrm>
          <a:prstGeom prst="rect">
            <a:avLst/>
          </a:prstGeom>
          <a:noFill/>
          <a:ln>
            <a:noFill/>
          </a:ln>
        </p:spPr>
        <p:txBody>
          <a:bodyPr spcFirstLastPara="1" wrap="square" lIns="91425" tIns="45700" rIns="91425" bIns="45700" anchor="t" anchorCtr="0">
            <a:normAutofit fontScale="62500" lnSpcReduction="20000"/>
          </a:bodyPr>
          <a:lstStyle/>
          <a:p>
            <a:pPr marL="342900" marR="0" lvl="0" indent="-342900" algn="l" rtl="0">
              <a:lnSpc>
                <a:spcPct val="100000"/>
              </a:lnSpc>
              <a:spcBef>
                <a:spcPts val="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Overly optimistic schedules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This sort of scheduling will result in failure by under-scoping the project and hurt long-term morale and productivity of the developers.</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Insufficient risk management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If projects risks are not actively managed, the project will lead in to slow-development mode.</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Contractor failure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weak relationship with contractors can lead to slow-down the project</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Insufficient planning</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Short-changed upstream activities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Start coding without properly design the project plans will costs 10 or 100 times than doing it with properly designed plans.</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Short-changed quality assurance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Eliminating design and code reviews, eliminating test planning and do only perfunctory testing will reduce the development of the project and ends up with major bugs.</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Omitting necessary tasks from estimates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People forget about the less visible tasks and those tasks add up.</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ct val="100000"/>
              <a:buFont typeface="Tahoma" panose="020B0604030504040204"/>
              <a:buChar char="•"/>
            </a:pPr>
            <a:r>
              <a:rPr lang="en-US" sz="3200" b="1" i="0" u="none" strike="noStrike" cap="none">
                <a:solidFill>
                  <a:schemeClr val="dk1"/>
                </a:solidFill>
                <a:latin typeface="Tahoma" panose="020B0604030504040204"/>
                <a:ea typeface="Tahoma" panose="020B0604030504040204"/>
                <a:cs typeface="Tahoma" panose="020B0604030504040204"/>
                <a:sym typeface="Tahoma" panose="020B0604030504040204"/>
              </a:rPr>
              <a:t>Code-like-hell programming –</a:t>
            </a:r>
            <a:r>
              <a:rPr lang="en-US" sz="3200" b="0" i="0" u="none" strike="noStrike" cap="none">
                <a:solidFill>
                  <a:schemeClr val="dk1"/>
                </a:solidFill>
                <a:latin typeface="Tahoma" panose="020B0604030504040204"/>
                <a:ea typeface="Tahoma" panose="020B0604030504040204"/>
                <a:cs typeface="Tahoma" panose="020B0604030504040204"/>
                <a:sym typeface="Tahoma" panose="020B0604030504040204"/>
              </a:rPr>
              <a:t> Developers should be sufficiently motivated rather forcing them to work hard.</a:t>
            </a: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400"/>
              </a:spcBef>
              <a:spcAft>
                <a:spcPts val="0"/>
              </a:spcAft>
              <a:buClr>
                <a:schemeClr val="dk1"/>
              </a:buClr>
              <a:buSzPct val="100000"/>
              <a:buFont typeface="Tahoma" panose="020B0604030504040204"/>
              <a:buNone/>
            </a:pPr>
            <a:endParaRPr sz="32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796" name="Google Shape;796;p78"/>
          <p:cNvSpPr txBox="1">
            <a:spLocks noGrp="1"/>
          </p:cNvSpPr>
          <p:nvPr>
            <p:ph type="title"/>
          </p:nvPr>
        </p:nvSpPr>
        <p:spPr>
          <a:xfrm>
            <a:off x="2209800" y="115888"/>
            <a:ext cx="7772400" cy="10096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Process Related</a:t>
            </a:r>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79"/>
          <p:cNvSpPr txBox="1">
            <a:spLocks noGrp="1"/>
          </p:cNvSpPr>
          <p:nvPr>
            <p:ph type="body" idx="1"/>
          </p:nvPr>
        </p:nvSpPr>
        <p:spPr>
          <a:xfrm>
            <a:off x="2286000" y="1952625"/>
            <a:ext cx="8004175" cy="4572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Requirements gold-planting –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More requirements that are not really necessary, and pay less attention on complex features.</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400"/>
              </a:spcBef>
              <a:spcAft>
                <a:spcPts val="0"/>
              </a:spcAft>
              <a:buClr>
                <a:schemeClr val="dk1"/>
              </a:buClr>
              <a:buSzPts val="2000"/>
              <a:buFont typeface="Tahoma" panose="020B0604030504040204"/>
              <a:buNone/>
            </a:pP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Feature creep –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On average 25% of requirements can be changed and affect the project schedule.</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400"/>
              </a:spcBef>
              <a:spcAft>
                <a:spcPts val="0"/>
              </a:spcAft>
              <a:buClr>
                <a:schemeClr val="dk1"/>
              </a:buClr>
              <a:buSzPts val="2000"/>
              <a:buFont typeface="Tahoma" panose="020B0604030504040204"/>
              <a:buNone/>
            </a:pP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Developer gold planting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 It is frequent that developers attempt to try new technologies that they saw in other projects, which is not actually necessary.</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400"/>
              </a:spcBef>
              <a:spcAft>
                <a:spcPts val="0"/>
              </a:spcAft>
              <a:buClr>
                <a:schemeClr val="dk1"/>
              </a:buClr>
              <a:buSzPts val="2000"/>
              <a:buFont typeface="Tahoma" panose="020B0604030504040204"/>
              <a:buNone/>
            </a:pP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802" name="Google Shape;802;p79"/>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Product Related</a:t>
            </a:r>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80"/>
          <p:cNvSpPr txBox="1">
            <a:spLocks noGrp="1"/>
          </p:cNvSpPr>
          <p:nvPr>
            <p:ph type="body" idx="1"/>
          </p:nvPr>
        </p:nvSpPr>
        <p:spPr>
          <a:xfrm>
            <a:off x="1919288" y="1600200"/>
            <a:ext cx="8424863" cy="45720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Silver-bullet syndrome –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Thinking that certain approach will solve every issue.</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Overestimated savings from new tools or methods –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New practices will introduce a new risk as team has to go through a learning-curve to become familiar.</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Switching tools in the middle of a project –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Using new tools will add a learning curve, rework and inevitable mistakes to project schedule</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342900" marR="0" lvl="0" indent="-342900" algn="l" rtl="0">
              <a:lnSpc>
                <a:spcPct val="100000"/>
              </a:lnSpc>
              <a:spcBef>
                <a:spcPts val="400"/>
              </a:spcBef>
              <a:spcAft>
                <a:spcPts val="0"/>
              </a:spcAft>
              <a:buClr>
                <a:schemeClr val="dk1"/>
              </a:buClr>
              <a:buSzPts val="2000"/>
              <a:buFont typeface="Tahoma" panose="020B0604030504040204"/>
              <a:buChar char="•"/>
            </a:pPr>
            <a:r>
              <a:rPr lang="en-US" sz="2000" b="1" i="0" u="none" strike="noStrike" cap="none">
                <a:solidFill>
                  <a:schemeClr val="dk1"/>
                </a:solidFill>
                <a:latin typeface="Tahoma" panose="020B0604030504040204"/>
                <a:ea typeface="Tahoma" panose="020B0604030504040204"/>
                <a:cs typeface="Tahoma" panose="020B0604030504040204"/>
                <a:sym typeface="Tahoma" panose="020B0604030504040204"/>
              </a:rPr>
              <a:t>Lack of automated source-code control – </a:t>
            </a:r>
            <a:r>
              <a:rPr lang="en-US" sz="2000" b="0" i="0" u="none" strike="noStrike" cap="none">
                <a:solidFill>
                  <a:schemeClr val="dk1"/>
                </a:solidFill>
                <a:latin typeface="Tahoma" panose="020B0604030504040204"/>
                <a:ea typeface="Tahoma" panose="020B0604030504040204"/>
                <a:cs typeface="Tahoma" panose="020B0604030504040204"/>
                <a:sym typeface="Tahoma" panose="020B0604030504040204"/>
              </a:rPr>
              <a:t>If two or more developers are working on the same part of the project, it is necessary to adhere to source-code control practices. If not developers have to spend time on resolving conflicting changes.</a:t>
            </a: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a:p>
            <a:pPr marL="0" marR="0" lvl="0" indent="0" algn="l" rtl="0">
              <a:lnSpc>
                <a:spcPct val="100000"/>
              </a:lnSpc>
              <a:spcBef>
                <a:spcPts val="400"/>
              </a:spcBef>
              <a:spcAft>
                <a:spcPts val="0"/>
              </a:spcAft>
              <a:buClr>
                <a:schemeClr val="dk1"/>
              </a:buClr>
              <a:buSzPts val="2000"/>
              <a:buFont typeface="Tahoma" panose="020B0604030504040204"/>
              <a:buNone/>
            </a:pPr>
            <a:endParaRPr sz="2000" b="0" i="0" u="none" strike="noStrike" cap="none">
              <a:solidFill>
                <a:schemeClr val="dk1"/>
              </a:solidFill>
              <a:latin typeface="Tahoma" panose="020B0604030504040204"/>
              <a:ea typeface="Tahoma" panose="020B0604030504040204"/>
              <a:cs typeface="Tahoma" panose="020B0604030504040204"/>
              <a:sym typeface="Tahoma" panose="020B0604030504040204"/>
            </a:endParaRPr>
          </a:p>
        </p:txBody>
      </p:sp>
      <p:sp>
        <p:nvSpPr>
          <p:cNvPr id="808" name="Google Shape;808;p80"/>
          <p:cNvSpPr txBox="1">
            <a:spLocks noGrp="1"/>
          </p:cNvSpPr>
          <p:nvPr>
            <p:ph type="title"/>
          </p:nvPr>
        </p:nvSpPr>
        <p:spPr>
          <a:xfrm>
            <a:off x="2209800" y="115888"/>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Tahoma" panose="020B0604030504040204"/>
              <a:buNone/>
            </a:pPr>
            <a:r>
              <a:rPr lang="en-US"/>
              <a:t>Technology Related</a:t>
            </a: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81"/>
          <p:cNvSpPr txBox="1">
            <a:spLocks noGrp="1"/>
          </p:cNvSpPr>
          <p:nvPr>
            <p:ph type="title"/>
          </p:nvPr>
        </p:nvSpPr>
        <p:spPr>
          <a:xfrm>
            <a:off x="2209800" y="332740"/>
            <a:ext cx="77724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u="sng"/>
              <a:t>Reading</a:t>
            </a:r>
            <a:endParaRPr b="1" u="sng"/>
          </a:p>
        </p:txBody>
      </p:sp>
      <p:sp>
        <p:nvSpPr>
          <p:cNvPr id="814" name="Google Shape;814;p81"/>
          <p:cNvSpPr txBox="1">
            <a:spLocks noGrp="1"/>
          </p:cNvSpPr>
          <p:nvPr>
            <p:ph type="body" idx="1"/>
          </p:nvPr>
        </p:nvSpPr>
        <p:spPr>
          <a:xfrm>
            <a:off x="2712085" y="1269365"/>
            <a:ext cx="7772400" cy="4114800"/>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2"/>
              </a:buClr>
              <a:buSzPct val="100000"/>
              <a:buFont typeface="Tahoma" panose="020B0604030504040204"/>
              <a:buChar char="•"/>
            </a:pPr>
            <a:r>
              <a:rPr lang="en-US" u="sng">
                <a:solidFill>
                  <a:schemeClr val="dk2"/>
                </a:solidFill>
                <a:hlinkClick r:id="rId1"/>
              </a:rPr>
              <a:t>https://www.wrike.com/project-management-guide/faq/what-is-pmi-in-project-management/</a:t>
            </a:r>
            <a:endParaRPr>
              <a:solidFill>
                <a:schemeClr val="dk2"/>
              </a:solidFill>
            </a:endParaRPr>
          </a:p>
          <a:p>
            <a:pPr marL="342900" lvl="0" indent="-342900" algn="l" rtl="0">
              <a:spcBef>
                <a:spcPts val="400"/>
              </a:spcBef>
              <a:spcAft>
                <a:spcPts val="0"/>
              </a:spcAft>
              <a:buClr>
                <a:schemeClr val="dk2"/>
              </a:buClr>
              <a:buSzPct val="100000"/>
              <a:buFont typeface="Tahoma" panose="020B0604030504040204"/>
              <a:buChar char="•"/>
            </a:pPr>
            <a:r>
              <a:rPr lang="en-US" u="sng">
                <a:solidFill>
                  <a:schemeClr val="dk2"/>
                </a:solidFill>
                <a:hlinkClick r:id="rId2"/>
              </a:rPr>
              <a:t>https://www.wrike.com/project-management-guide/faq/what-is-pmbok-in-project-management/%20Inicia%C3%A7%C3%A3o%20etc..pdf</a:t>
            </a:r>
            <a:endParaRPr>
              <a:solidFill>
                <a:schemeClr val="dk2"/>
              </a:solidFill>
            </a:endParaRPr>
          </a:p>
          <a:p>
            <a:pPr marL="342900" lvl="0" indent="-342900" algn="l" rtl="0">
              <a:spcBef>
                <a:spcPts val="400"/>
              </a:spcBef>
              <a:spcAft>
                <a:spcPts val="0"/>
              </a:spcAft>
              <a:buClr>
                <a:schemeClr val="dk2"/>
              </a:buClr>
              <a:buSzPct val="100000"/>
              <a:buFont typeface="Tahoma" panose="020B0604030504040204"/>
              <a:buChar char="•"/>
            </a:pPr>
            <a:r>
              <a:rPr lang="en-US" u="sng">
                <a:solidFill>
                  <a:schemeClr val="dk2"/>
                </a:solidFill>
                <a:hlinkClick r:id="rId3"/>
              </a:rPr>
              <a:t>http://www.batimes.com/images/pdfs/The_Ten_Knowledge_Areas_of_PMP.pdf</a:t>
            </a:r>
            <a:endParaRPr>
              <a:solidFill>
                <a:schemeClr val="dk2"/>
              </a:solidFill>
            </a:endParaRPr>
          </a:p>
          <a:p>
            <a:pPr marL="342900" lvl="0" indent="-342900" algn="l" rtl="0">
              <a:spcBef>
                <a:spcPts val="400"/>
              </a:spcBef>
              <a:spcAft>
                <a:spcPts val="0"/>
              </a:spcAft>
              <a:buClr>
                <a:schemeClr val="dk2"/>
              </a:buClr>
              <a:buSzPct val="100000"/>
              <a:buFont typeface="Tahoma" panose="020B0604030504040204"/>
              <a:buChar char="•"/>
            </a:pPr>
            <a:r>
              <a:rPr lang="en-US">
                <a:solidFill>
                  <a:schemeClr val="dk2"/>
                </a:solidFill>
              </a:rPr>
              <a:t>“Project Management Process Groups, Project Management Skills”, ISBN 978-1-62620-959-6, </a:t>
            </a:r>
            <a:r>
              <a:rPr lang="en-US" u="sng">
                <a:solidFill>
                  <a:schemeClr val="dk2"/>
                </a:solidFill>
                <a:hlinkClick r:id="rId4"/>
              </a:rPr>
              <a:t>www.free-management-ebooks.com</a:t>
            </a:r>
            <a:endParaRPr>
              <a:solidFill>
                <a:schemeClr val="dk2"/>
              </a:solidFill>
            </a:endParaRPr>
          </a:p>
          <a:p>
            <a:pPr marL="342900" lvl="0" indent="-215900" algn="l" rtl="0">
              <a:spcBef>
                <a:spcPts val="400"/>
              </a:spcBef>
              <a:spcAft>
                <a:spcPts val="0"/>
              </a:spcAft>
              <a:buClr>
                <a:schemeClr val="dk1"/>
              </a:buClr>
              <a:buSzPct val="100000"/>
              <a:buFont typeface="Tahoma" panose="020B0604030504040204"/>
              <a:buNone/>
            </a:pPr>
            <a:endParaRPr>
              <a:solidFill>
                <a:schemeClr val="dk2"/>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8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References</a:t>
            </a:r>
            <a:endParaRPr lang="en-US"/>
          </a:p>
        </p:txBody>
      </p:sp>
      <p:sp>
        <p:nvSpPr>
          <p:cNvPr id="820" name="Google Shape;820;p82"/>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Font typeface="Tahoma" panose="020B0604030504040204"/>
              <a:buChar char="•"/>
            </a:pPr>
            <a:r>
              <a:rPr lang="en-US"/>
              <a:t>[1] – Applied Software Project Management By: Jennifer Greene, Andrew Stellman (O'Reilly)</a:t>
            </a:r>
            <a:endParaRPr lang="en-US"/>
          </a:p>
          <a:p>
            <a:pPr marL="342900" lvl="0" indent="-342900" algn="l" rtl="0">
              <a:spcBef>
                <a:spcPts val="640"/>
              </a:spcBef>
              <a:spcAft>
                <a:spcPts val="0"/>
              </a:spcAft>
              <a:buClr>
                <a:schemeClr val="dk1"/>
              </a:buClr>
              <a:buSzPts val="3200"/>
              <a:buFont typeface="Tahoma" panose="020B0604030504040204"/>
              <a:buChar char="•"/>
            </a:pPr>
            <a:r>
              <a:rPr lang="en-US"/>
              <a:t>[2] -  “Rapid Development”, McConnell (Chapter-3)</a:t>
            </a:r>
            <a:endParaRPr lang="en-US"/>
          </a:p>
        </p:txBody>
      </p:sp>
      <p:sp>
        <p:nvSpPr>
          <p:cNvPr id="821" name="Google Shape;821;p82"/>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lt1"/>
                </a:solidFill>
                <a:latin typeface="Tahoma" panose="020B0604030504040204"/>
                <a:ea typeface="Tahoma" panose="020B0604030504040204"/>
                <a:cs typeface="Tahoma" panose="020B0604030504040204"/>
                <a:sym typeface="Tahoma" panose="020B0604030504040204"/>
              </a:rPr>
            </a:fld>
            <a:endParaRPr sz="1800">
              <a:solidFill>
                <a:schemeClr val="lt1"/>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
</file>

<file path=ppt/theme/theme1.xml><?xml version="1.0" encoding="utf-8"?>
<a:theme xmlns:a="http://schemas.openxmlformats.org/drawingml/2006/main" name="McGraw-Hill Presentation for PowerPoint">
  <a:themeElements>
    <a:clrScheme name="">
      <a:dk1>
        <a:srgbClr val="000033"/>
      </a:dk1>
      <a:lt1>
        <a:srgbClr val="CCCCFF"/>
      </a:lt1>
      <a:dk2>
        <a:srgbClr val="000066"/>
      </a:dk2>
      <a:lt2>
        <a:srgbClr val="CCCCFF"/>
      </a:lt2>
      <a:accent1>
        <a:srgbClr val="003399"/>
      </a:accent1>
      <a:accent2>
        <a:srgbClr val="CCCCFF"/>
      </a:accent2>
      <a:accent3>
        <a:srgbClr val="AAAAB8"/>
      </a:accent3>
      <a:accent4>
        <a:srgbClr val="AEAEDA"/>
      </a:accent4>
      <a:accent5>
        <a:srgbClr val="AAADCA"/>
      </a:accent5>
      <a:accent6>
        <a:srgbClr val="B9B9E7"/>
      </a:accent6>
      <a:hlink>
        <a:srgbClr val="CCCCFF"/>
      </a:hlink>
      <a:folHlink>
        <a:srgbClr val="CCC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McGraw-Hill Presentation for PowerPoint">
  <a:themeElements>
    <a:clrScheme name="">
      <a:dk1>
        <a:srgbClr val="000033"/>
      </a:dk1>
      <a:lt1>
        <a:srgbClr val="CCCCFF"/>
      </a:lt1>
      <a:dk2>
        <a:srgbClr val="000066"/>
      </a:dk2>
      <a:lt2>
        <a:srgbClr val="CCCCFF"/>
      </a:lt2>
      <a:accent1>
        <a:srgbClr val="003399"/>
      </a:accent1>
      <a:accent2>
        <a:srgbClr val="CCCCFF"/>
      </a:accent2>
      <a:accent3>
        <a:srgbClr val="AAAAB8"/>
      </a:accent3>
      <a:accent4>
        <a:srgbClr val="AEAEDA"/>
      </a:accent4>
      <a:accent5>
        <a:srgbClr val="AAADCA"/>
      </a:accent5>
      <a:accent6>
        <a:srgbClr val="B9B9E7"/>
      </a:accent6>
      <a:hlink>
        <a:srgbClr val="CCCCFF"/>
      </a:hlink>
      <a:folHlink>
        <a:srgbClr val="CCCC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27608</Words>
  <Application>WPS Presentation</Application>
  <PresentationFormat>Widescreen</PresentationFormat>
  <Paragraphs>709</Paragraphs>
  <Slides>81</Slides>
  <Notes>93</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6</vt:i4>
      </vt:variant>
      <vt:variant>
        <vt:lpstr>幻灯片标题</vt:lpstr>
      </vt:variant>
      <vt:variant>
        <vt:i4>81</vt:i4>
      </vt:variant>
    </vt:vector>
  </HeadingPairs>
  <TitlesOfParts>
    <vt:vector size="101" baseType="lpstr">
      <vt:lpstr>Arial</vt:lpstr>
      <vt:lpstr>SimSun</vt:lpstr>
      <vt:lpstr>Wingdings</vt:lpstr>
      <vt:lpstr>Arial</vt:lpstr>
      <vt:lpstr>Tahoma</vt:lpstr>
      <vt:lpstr>Times New Roman</vt:lpstr>
      <vt:lpstr>Book Antiqua</vt:lpstr>
      <vt:lpstr>Calibri</vt:lpstr>
      <vt:lpstr>Microsoft YaHei</vt:lpstr>
      <vt:lpstr>Arial Unicode MS</vt:lpstr>
      <vt:lpstr>Noto Sans Symbols</vt:lpstr>
      <vt:lpstr>Segoe Print</vt:lpstr>
      <vt:lpstr>McGraw-Hill Presentation for PowerPoint</vt:lpstr>
      <vt:lpstr>1_McGraw-Hill Presentation for PowerPoint</vt:lpstr>
      <vt:lpstr>PBrush</vt:lpstr>
      <vt:lpstr>PBrush</vt:lpstr>
      <vt:lpstr>PBrush</vt:lpstr>
      <vt:lpstr>Visio.Drawing.11</vt:lpstr>
      <vt:lpstr>PBrush</vt:lpstr>
      <vt:lpstr>PBrush</vt:lpstr>
      <vt:lpstr>PowerPoint 演示文稿</vt:lpstr>
      <vt:lpstr>PMI</vt:lpstr>
      <vt:lpstr>PMBOK</vt:lpstr>
      <vt:lpstr>PMBOK Process Groups</vt:lpstr>
      <vt:lpstr>PMBOK Process Groups</vt:lpstr>
      <vt:lpstr>PMBOK Process Groups</vt:lpstr>
      <vt:lpstr>PMBOK Process Groups</vt:lpstr>
      <vt:lpstr>PMBOK Process Groups</vt:lpstr>
      <vt:lpstr>PMBOK Process Groups</vt:lpstr>
      <vt:lpstr>PMBOK Process Groups</vt:lpstr>
      <vt:lpstr>PMBOK Process Groups</vt:lpstr>
      <vt:lpstr>PMBOK Process Groups </vt:lpstr>
      <vt:lpstr>PMBOK Process Groups </vt:lpstr>
      <vt:lpstr>PMBOK Process Groups </vt:lpstr>
      <vt:lpstr>PMBOK Knowledge Areas</vt:lpstr>
      <vt:lpstr>PMI Knowledge Areas</vt:lpstr>
      <vt:lpstr>Overview of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PMBOK Knowledge Areas</vt:lpstr>
      <vt:lpstr>Knowledge Areas and Process Groups</vt:lpstr>
      <vt:lpstr>Tools &amp; Techniques by Knowledge Area</vt:lpstr>
      <vt:lpstr>The Integration Challenge Software Product Development Example </vt:lpstr>
      <vt:lpstr>Characteristics of Effective Integration</vt:lpstr>
      <vt:lpstr>Remodel Kitchen WBS</vt:lpstr>
      <vt:lpstr>Kitchen Remodeling  Precedence Relationships</vt:lpstr>
      <vt:lpstr>One Performance Measurement</vt:lpstr>
      <vt:lpstr>Responsibility Chart</vt:lpstr>
      <vt:lpstr>Responsibility Chart Characteristics</vt:lpstr>
      <vt:lpstr>PowerPoint 演示文稿</vt:lpstr>
      <vt:lpstr>Technical Fundamentals</vt:lpstr>
      <vt:lpstr>Project Phases</vt:lpstr>
      <vt:lpstr>Project Life cycle</vt:lpstr>
      <vt:lpstr>Project and Development Life cycles</vt:lpstr>
      <vt:lpstr>Project and Development Life cycles</vt:lpstr>
      <vt:lpstr>A comparison</vt:lpstr>
      <vt:lpstr>Comparison</vt:lpstr>
      <vt:lpstr>Lifecycle Relationships</vt:lpstr>
      <vt:lpstr>Seven Core Project Phases</vt:lpstr>
      <vt:lpstr>Project Phases A.K.A.</vt:lpstr>
      <vt:lpstr>Phases Variation</vt:lpstr>
      <vt:lpstr>Why Rapid Development</vt:lpstr>
      <vt:lpstr>Strategy</vt:lpstr>
      <vt:lpstr>Triple Constraint</vt:lpstr>
      <vt:lpstr>PowerPoint 演示文稿</vt:lpstr>
      <vt:lpstr>PowerPoint 演示文稿</vt:lpstr>
      <vt:lpstr>PowerPoint 演示文稿</vt:lpstr>
      <vt:lpstr>Quadruple Constraint</vt:lpstr>
      <vt:lpstr>Trade-off Triangle</vt:lpstr>
      <vt:lpstr>Trade-off Triangle</vt:lpstr>
      <vt:lpstr>Four Project Dimensions</vt:lpstr>
      <vt:lpstr>People</vt:lpstr>
      <vt:lpstr>People 2</vt:lpstr>
      <vt:lpstr>Process</vt:lpstr>
      <vt:lpstr>Product</vt:lpstr>
      <vt:lpstr>Technology</vt:lpstr>
      <vt:lpstr>Classical mistakes</vt:lpstr>
      <vt:lpstr>People Related</vt:lpstr>
      <vt:lpstr>Process Related</vt:lpstr>
      <vt:lpstr>Product Related</vt:lpstr>
      <vt:lpstr>Technology Related</vt:lpstr>
      <vt:lpstr>Reading</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Muhammad Minhal Raza</cp:lastModifiedBy>
  <cp:revision>6</cp:revision>
  <dcterms:created xsi:type="dcterms:W3CDTF">2024-09-03T03:12:00Z</dcterms:created>
  <dcterms:modified xsi:type="dcterms:W3CDTF">2025-09-17T05:42:35Z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3937A781D47944018977DA92B5ABA2D7_13</vt:lpwstr>
  </property>
  <property fmtid="{D5CDD505-2E9C-101B-9397-08002B2CF9AE}" pid="3" name="KSOProductBuildVer">
    <vt:lpwstr>1033-12.2.0.22549</vt:lpwstr>
  </property>
</Properties>
</file>