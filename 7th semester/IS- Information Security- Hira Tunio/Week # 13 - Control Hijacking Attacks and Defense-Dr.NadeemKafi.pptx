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2" r:id="rId15"/>
    <p:sldId id="273" r:id="rId16"/>
    <p:sldId id="274" r:id="rId17"/>
    <p:sldId id="320" r:id="rId18"/>
    <p:sldId id="321" r:id="rId19"/>
    <p:sldId id="322" r:id="rId20"/>
    <p:sldId id="323" r:id="rId21"/>
    <p:sldId id="275" r:id="rId22"/>
    <p:sldId id="276" r:id="rId23"/>
    <p:sldId id="278" r:id="rId24"/>
    <p:sldId id="316" r:id="rId25"/>
    <p:sldId id="318" r:id="rId26"/>
    <p:sldId id="319" r:id="rId27"/>
    <p:sldId id="279" r:id="rId28"/>
    <p:sldId id="281" r:id="rId29"/>
    <p:sldId id="282" r:id="rId30"/>
    <p:sldId id="283" r:id="rId31"/>
    <p:sldId id="284" r:id="rId32"/>
    <p:sldId id="285" r:id="rId33"/>
    <p:sldId id="286" r:id="rId34"/>
    <p:sldId id="287" r:id="rId35"/>
    <p:sldId id="288" r:id="rId36"/>
    <p:sldId id="289" r:id="rId37"/>
    <p:sldId id="291" r:id="rId38"/>
    <p:sldId id="292" r:id="rId39"/>
    <p:sldId id="324" r:id="rId40"/>
    <p:sldId id="293" r:id="rId41"/>
    <p:sldId id="315" r:id="rId42"/>
  </p:sldIdLst>
  <p:sldSz cx="9144000" cy="6858000" type="screen4x3"/>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1437" y="71501"/>
            <a:ext cx="9010713" cy="6696012"/>
          </a:xfrm>
          <a:prstGeom prst="rect">
            <a:avLst/>
          </a:prstGeom>
        </p:spPr>
      </p:pic>
      <p:sp>
        <p:nvSpPr>
          <p:cNvPr id="17" name="bg object 17"/>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18" name="bg object 18"/>
          <p:cNvSpPr/>
          <p:nvPr/>
        </p:nvSpPr>
        <p:spPr>
          <a:xfrm>
            <a:off x="66675" y="1400175"/>
            <a:ext cx="9020175" cy="114300"/>
          </a:xfrm>
          <a:custGeom>
            <a:avLst/>
            <a:gdLst/>
            <a:ahLst/>
            <a:cxnLst/>
            <a:rect l="l" t="t" r="r" b="b"/>
            <a:pathLst>
              <a:path w="9020175" h="114300">
                <a:moveTo>
                  <a:pt x="9020175" y="0"/>
                </a:moveTo>
                <a:lnTo>
                  <a:pt x="0" y="0"/>
                </a:lnTo>
                <a:lnTo>
                  <a:pt x="0" y="114300"/>
                </a:lnTo>
                <a:lnTo>
                  <a:pt x="9020175" y="114300"/>
                </a:lnTo>
                <a:lnTo>
                  <a:pt x="9020175" y="0"/>
                </a:lnTo>
                <a:close/>
              </a:path>
            </a:pathLst>
          </a:custGeom>
          <a:solidFill>
            <a:srgbClr val="E6B0AB"/>
          </a:solidFill>
        </p:spPr>
        <p:txBody>
          <a:bodyPr wrap="square" lIns="0" tIns="0" rIns="0" bIns="0" rtlCol="0"/>
          <a:lstStyle/>
          <a:p>
            <a:endParaRPr/>
          </a:p>
        </p:txBody>
      </p:sp>
      <p:sp>
        <p:nvSpPr>
          <p:cNvPr id="19" name="bg object 19"/>
          <p:cNvSpPr/>
          <p:nvPr/>
        </p:nvSpPr>
        <p:spPr>
          <a:xfrm>
            <a:off x="66675" y="2981324"/>
            <a:ext cx="9020175" cy="104775"/>
          </a:xfrm>
          <a:custGeom>
            <a:avLst/>
            <a:gdLst/>
            <a:ahLst/>
            <a:cxnLst/>
            <a:rect l="l" t="t" r="r" b="b"/>
            <a:pathLst>
              <a:path w="9020175" h="104775">
                <a:moveTo>
                  <a:pt x="9020175" y="0"/>
                </a:moveTo>
                <a:lnTo>
                  <a:pt x="0" y="0"/>
                </a:lnTo>
                <a:lnTo>
                  <a:pt x="0" y="104775"/>
                </a:lnTo>
                <a:lnTo>
                  <a:pt x="9020175" y="104775"/>
                </a:lnTo>
                <a:lnTo>
                  <a:pt x="9020175" y="0"/>
                </a:lnTo>
                <a:close/>
              </a:path>
            </a:pathLst>
          </a:custGeom>
          <a:solidFill>
            <a:srgbClr val="918485"/>
          </a:solidFill>
        </p:spPr>
        <p:txBody>
          <a:bodyPr wrap="square" lIns="0" tIns="0" rIns="0" bIns="0" rtlCol="0"/>
          <a:lstStyle/>
          <a:p>
            <a:endParaRPr/>
          </a:p>
        </p:txBody>
      </p:sp>
      <p:sp>
        <p:nvSpPr>
          <p:cNvPr id="2" name="Holder 2"/>
          <p:cNvSpPr>
            <a:spLocks noGrp="1"/>
          </p:cNvSpPr>
          <p:nvPr>
            <p:ph type="ctrTitle"/>
          </p:nvPr>
        </p:nvSpPr>
        <p:spPr>
          <a:xfrm>
            <a:off x="57150" y="1514475"/>
            <a:ext cx="9029700" cy="1466850"/>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2" name="Holder 2"/>
          <p:cNvSpPr>
            <a:spLocks noGrp="1"/>
          </p:cNvSpPr>
          <p:nvPr>
            <p:ph type="title"/>
          </p:nvPr>
        </p:nvSpPr>
        <p:spPr>
          <a:xfrm>
            <a:off x="231457" y="90169"/>
            <a:ext cx="7790180" cy="855345"/>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318641" y="2845320"/>
            <a:ext cx="6076950" cy="14351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41692" y="6217882"/>
            <a:ext cx="1155382" cy="309879"/>
          </a:xfrm>
          <a:prstGeom prst="rect">
            <a:avLst/>
          </a:prstGeom>
        </p:spPr>
        <p:txBody>
          <a:bodyPr wrap="square" lIns="0" tIns="0" rIns="0" bIns="0">
            <a:spAutoFit/>
          </a:bodyPr>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6675" y="68326"/>
            <a:ext cx="9020175" cy="6702425"/>
            <a:chOff x="66675" y="68326"/>
            <a:chExt cx="9020175" cy="6702425"/>
          </a:xfrm>
        </p:grpSpPr>
        <p:pic>
          <p:nvPicPr>
            <p:cNvPr id="3" name="object 3"/>
            <p:cNvPicPr/>
            <p:nvPr/>
          </p:nvPicPr>
          <p:blipFill>
            <a:blip r:embed="rId2" cstate="print"/>
            <a:stretch>
              <a:fillRect/>
            </a:stretch>
          </p:blipFill>
          <p:spPr>
            <a:xfrm>
              <a:off x="71437" y="71501"/>
              <a:ext cx="9010713" cy="6696012"/>
            </a:xfrm>
            <a:prstGeom prst="rect">
              <a:avLst/>
            </a:prstGeom>
          </p:spPr>
        </p:pic>
        <p:sp>
          <p:nvSpPr>
            <p:cNvPr id="4" name="object 4"/>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5" name="object 5"/>
            <p:cNvSpPr/>
            <p:nvPr/>
          </p:nvSpPr>
          <p:spPr>
            <a:xfrm>
              <a:off x="66675" y="1400175"/>
              <a:ext cx="9020175" cy="114300"/>
            </a:xfrm>
            <a:custGeom>
              <a:avLst/>
              <a:gdLst/>
              <a:ahLst/>
              <a:cxnLst/>
              <a:rect l="l" t="t" r="r" b="b"/>
              <a:pathLst>
                <a:path w="9020175" h="114300">
                  <a:moveTo>
                    <a:pt x="9020175" y="0"/>
                  </a:moveTo>
                  <a:lnTo>
                    <a:pt x="0" y="0"/>
                  </a:lnTo>
                  <a:lnTo>
                    <a:pt x="0" y="114300"/>
                  </a:lnTo>
                  <a:lnTo>
                    <a:pt x="9020175" y="114300"/>
                  </a:lnTo>
                  <a:lnTo>
                    <a:pt x="9020175" y="0"/>
                  </a:lnTo>
                  <a:close/>
                </a:path>
              </a:pathLst>
            </a:custGeom>
            <a:solidFill>
              <a:srgbClr val="E6B0AB"/>
            </a:solidFill>
          </p:spPr>
          <p:txBody>
            <a:bodyPr wrap="square" lIns="0" tIns="0" rIns="0" bIns="0" rtlCol="0"/>
            <a:lstStyle/>
            <a:p>
              <a:endParaRPr/>
            </a:p>
          </p:txBody>
        </p:sp>
        <p:sp>
          <p:nvSpPr>
            <p:cNvPr id="6" name="object 6"/>
            <p:cNvSpPr/>
            <p:nvPr/>
          </p:nvSpPr>
          <p:spPr>
            <a:xfrm>
              <a:off x="66675" y="2981324"/>
              <a:ext cx="9020175" cy="104775"/>
            </a:xfrm>
            <a:custGeom>
              <a:avLst/>
              <a:gdLst/>
              <a:ahLst/>
              <a:cxnLst/>
              <a:rect l="l" t="t" r="r" b="b"/>
              <a:pathLst>
                <a:path w="9020175" h="104775">
                  <a:moveTo>
                    <a:pt x="9020175" y="0"/>
                  </a:moveTo>
                  <a:lnTo>
                    <a:pt x="0" y="0"/>
                  </a:lnTo>
                  <a:lnTo>
                    <a:pt x="0" y="104775"/>
                  </a:lnTo>
                  <a:lnTo>
                    <a:pt x="9020175" y="104775"/>
                  </a:lnTo>
                  <a:lnTo>
                    <a:pt x="9020175" y="0"/>
                  </a:lnTo>
                  <a:close/>
                </a:path>
              </a:pathLst>
            </a:custGeom>
            <a:solidFill>
              <a:srgbClr val="918485"/>
            </a:solidFill>
          </p:spPr>
          <p:txBody>
            <a:bodyPr wrap="square" lIns="0" tIns="0" rIns="0" bIns="0" rtlCol="0"/>
            <a:lstStyle/>
            <a:p>
              <a:endParaRPr/>
            </a:p>
          </p:txBody>
        </p:sp>
      </p:grpSp>
      <p:sp>
        <p:nvSpPr>
          <p:cNvPr id="7" name="object 7"/>
          <p:cNvSpPr txBox="1"/>
          <p:nvPr/>
        </p:nvSpPr>
        <p:spPr>
          <a:xfrm>
            <a:off x="1230947" y="3120962"/>
            <a:ext cx="6765290" cy="1930400"/>
          </a:xfrm>
          <a:prstGeom prst="rect">
            <a:avLst/>
          </a:prstGeom>
        </p:spPr>
        <p:txBody>
          <a:bodyPr vert="horz" wrap="square" lIns="0" tIns="123825" rIns="0" bIns="0" rtlCol="0">
            <a:spAutoFit/>
          </a:bodyPr>
          <a:lstStyle/>
          <a:p>
            <a:pPr algn="ctr">
              <a:lnSpc>
                <a:spcPct val="100000"/>
              </a:lnSpc>
              <a:spcBef>
                <a:spcPts val="975"/>
              </a:spcBef>
            </a:pPr>
            <a:r>
              <a:rPr sz="3050" b="1" dirty="0">
                <a:latin typeface="Times New Roman"/>
                <a:cs typeface="Times New Roman"/>
              </a:rPr>
              <a:t>Control</a:t>
            </a:r>
            <a:r>
              <a:rPr sz="3050" b="1" spc="50" dirty="0">
                <a:latin typeface="Times New Roman"/>
                <a:cs typeface="Times New Roman"/>
              </a:rPr>
              <a:t> </a:t>
            </a:r>
            <a:r>
              <a:rPr sz="3050" b="1" dirty="0">
                <a:latin typeface="Times New Roman"/>
                <a:cs typeface="Times New Roman"/>
              </a:rPr>
              <a:t>Hijacking</a:t>
            </a:r>
            <a:r>
              <a:rPr sz="3050" b="1" spc="-80" dirty="0">
                <a:latin typeface="Times New Roman"/>
                <a:cs typeface="Times New Roman"/>
              </a:rPr>
              <a:t> </a:t>
            </a:r>
            <a:r>
              <a:rPr sz="3050" b="1" dirty="0">
                <a:latin typeface="Times New Roman"/>
                <a:cs typeface="Times New Roman"/>
              </a:rPr>
              <a:t>Attacks</a:t>
            </a:r>
            <a:r>
              <a:rPr sz="3050" b="1" spc="120" dirty="0">
                <a:latin typeface="Times New Roman"/>
                <a:cs typeface="Times New Roman"/>
              </a:rPr>
              <a:t> </a:t>
            </a:r>
            <a:r>
              <a:rPr sz="3050" b="1" dirty="0">
                <a:latin typeface="Times New Roman"/>
                <a:cs typeface="Times New Roman"/>
              </a:rPr>
              <a:t>and</a:t>
            </a:r>
            <a:r>
              <a:rPr sz="3050" b="1" spc="135" dirty="0">
                <a:latin typeface="Times New Roman"/>
                <a:cs typeface="Times New Roman"/>
              </a:rPr>
              <a:t> </a:t>
            </a:r>
            <a:r>
              <a:rPr sz="3050" b="1" spc="-10" dirty="0">
                <a:latin typeface="Times New Roman"/>
                <a:cs typeface="Times New Roman"/>
              </a:rPr>
              <a:t>Defenses</a:t>
            </a:r>
            <a:endParaRPr sz="3050">
              <a:latin typeface="Times New Roman"/>
              <a:cs typeface="Times New Roman"/>
            </a:endParaRPr>
          </a:p>
          <a:p>
            <a:pPr marL="1339850" marR="1322070" indent="-2540" algn="ctr">
              <a:lnSpc>
                <a:spcPct val="120000"/>
              </a:lnSpc>
              <a:spcBef>
                <a:spcPts val="95"/>
              </a:spcBef>
            </a:pPr>
            <a:r>
              <a:rPr sz="2400" dirty="0">
                <a:latin typeface="Times New Roman"/>
                <a:cs typeface="Times New Roman"/>
              </a:rPr>
              <a:t>Prof.</a:t>
            </a:r>
            <a:r>
              <a:rPr sz="2400" spc="-65" dirty="0">
                <a:latin typeface="Times New Roman"/>
                <a:cs typeface="Times New Roman"/>
              </a:rPr>
              <a:t> </a:t>
            </a:r>
            <a:r>
              <a:rPr sz="2400" dirty="0">
                <a:latin typeface="Times New Roman"/>
                <a:cs typeface="Times New Roman"/>
              </a:rPr>
              <a:t>Dr.</a:t>
            </a:r>
            <a:r>
              <a:rPr sz="2400" spc="-35" dirty="0">
                <a:latin typeface="Times New Roman"/>
                <a:cs typeface="Times New Roman"/>
              </a:rPr>
              <a:t> </a:t>
            </a:r>
            <a:r>
              <a:rPr sz="2400" dirty="0">
                <a:latin typeface="Times New Roman"/>
                <a:cs typeface="Times New Roman"/>
              </a:rPr>
              <a:t>Sufian</a:t>
            </a:r>
            <a:r>
              <a:rPr sz="2400" spc="-95" dirty="0">
                <a:latin typeface="Times New Roman"/>
                <a:cs typeface="Times New Roman"/>
              </a:rPr>
              <a:t> </a:t>
            </a:r>
            <a:r>
              <a:rPr sz="2400" spc="-10" dirty="0">
                <a:latin typeface="Times New Roman"/>
                <a:cs typeface="Times New Roman"/>
              </a:rPr>
              <a:t>Hameed </a:t>
            </a:r>
            <a:r>
              <a:rPr sz="2400" dirty="0">
                <a:latin typeface="Times New Roman"/>
                <a:cs typeface="Times New Roman"/>
              </a:rPr>
              <a:t>Department</a:t>
            </a:r>
            <a:r>
              <a:rPr sz="2400" spc="-2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Computer</a:t>
            </a:r>
            <a:r>
              <a:rPr sz="2400" spc="-60" dirty="0">
                <a:latin typeface="Times New Roman"/>
                <a:cs typeface="Times New Roman"/>
              </a:rPr>
              <a:t> </a:t>
            </a:r>
            <a:r>
              <a:rPr sz="2400" spc="-10" dirty="0">
                <a:latin typeface="Times New Roman"/>
                <a:cs typeface="Times New Roman"/>
              </a:rPr>
              <a:t>Science </a:t>
            </a:r>
            <a:r>
              <a:rPr sz="2400" spc="-100" dirty="0">
                <a:latin typeface="Times New Roman"/>
                <a:cs typeface="Times New Roman"/>
              </a:rPr>
              <a:t>FAST-</a:t>
            </a:r>
            <a:r>
              <a:rPr sz="2400" spc="-20" dirty="0">
                <a:latin typeface="Times New Roman"/>
                <a:cs typeface="Times New Roman"/>
              </a:rPr>
              <a:t>NUCES</a:t>
            </a:r>
            <a:endParaRPr sz="2400">
              <a:latin typeface="Times New Roman"/>
              <a:cs typeface="Times New Roman"/>
            </a:endParaRPr>
          </a:p>
        </p:txBody>
      </p:sp>
      <p:sp>
        <p:nvSpPr>
          <p:cNvPr id="8" name="object 8"/>
          <p:cNvSpPr txBox="1">
            <a:spLocks noGrp="1"/>
          </p:cNvSpPr>
          <p:nvPr>
            <p:ph type="title"/>
          </p:nvPr>
        </p:nvSpPr>
        <p:spPr>
          <a:xfrm>
            <a:off x="66675" y="1514475"/>
            <a:ext cx="9020175" cy="1466850"/>
          </a:xfrm>
          <a:prstGeom prst="rect">
            <a:avLst/>
          </a:prstGeom>
          <a:solidFill>
            <a:srgbClr val="D24717"/>
          </a:solidFill>
        </p:spPr>
        <p:txBody>
          <a:bodyPr vert="horz" wrap="square" lIns="0" tIns="490220" rIns="0" bIns="0" rtlCol="0">
            <a:spAutoFit/>
          </a:bodyPr>
          <a:lstStyle/>
          <a:p>
            <a:pPr algn="ctr">
              <a:lnSpc>
                <a:spcPct val="100000"/>
              </a:lnSpc>
              <a:spcBef>
                <a:spcPts val="3860"/>
              </a:spcBef>
            </a:pPr>
            <a:r>
              <a:rPr sz="3950" dirty="0">
                <a:solidFill>
                  <a:srgbClr val="FFFFFF"/>
                </a:solidFill>
              </a:rPr>
              <a:t>CS-3002:</a:t>
            </a:r>
            <a:r>
              <a:rPr sz="3950" spc="65" dirty="0">
                <a:solidFill>
                  <a:srgbClr val="FFFFFF"/>
                </a:solidFill>
              </a:rPr>
              <a:t> </a:t>
            </a:r>
            <a:r>
              <a:rPr sz="3950" dirty="0">
                <a:solidFill>
                  <a:srgbClr val="FFFFFF"/>
                </a:solidFill>
              </a:rPr>
              <a:t>Information</a:t>
            </a:r>
            <a:r>
              <a:rPr sz="3950" spc="85" dirty="0">
                <a:solidFill>
                  <a:srgbClr val="FFFFFF"/>
                </a:solidFill>
              </a:rPr>
              <a:t> </a:t>
            </a:r>
            <a:r>
              <a:rPr sz="3950" spc="-10" dirty="0">
                <a:solidFill>
                  <a:srgbClr val="FFFFFF"/>
                </a:solidFill>
              </a:rPr>
              <a:t>Security</a:t>
            </a:r>
            <a:endParaRPr sz="3950"/>
          </a:p>
        </p:txBody>
      </p:sp>
      <p:grpSp>
        <p:nvGrpSpPr>
          <p:cNvPr id="9" name="object 9"/>
          <p:cNvGrpSpPr/>
          <p:nvPr/>
        </p:nvGrpSpPr>
        <p:grpSpPr>
          <a:xfrm>
            <a:off x="304800" y="152400"/>
            <a:ext cx="1162050" cy="6477000"/>
            <a:chOff x="304800" y="152400"/>
            <a:chExt cx="1162050" cy="6477000"/>
          </a:xfrm>
        </p:grpSpPr>
        <p:pic>
          <p:nvPicPr>
            <p:cNvPr id="10" name="object 10"/>
            <p:cNvPicPr/>
            <p:nvPr/>
          </p:nvPicPr>
          <p:blipFill>
            <a:blip r:embed="rId3" cstate="print"/>
            <a:stretch>
              <a:fillRect/>
            </a:stretch>
          </p:blipFill>
          <p:spPr>
            <a:xfrm>
              <a:off x="304800" y="152400"/>
              <a:ext cx="1162050" cy="1219200"/>
            </a:xfrm>
            <a:prstGeom prst="rect">
              <a:avLst/>
            </a:prstGeom>
          </p:spPr>
        </p:pic>
        <p:pic>
          <p:nvPicPr>
            <p:cNvPr id="11" name="object 11"/>
            <p:cNvPicPr/>
            <p:nvPr/>
          </p:nvPicPr>
          <p:blipFill>
            <a:blip r:embed="rId4" cstate="print"/>
            <a:stretch>
              <a:fillRect/>
            </a:stretch>
          </p:blipFill>
          <p:spPr>
            <a:xfrm>
              <a:off x="457200" y="6248400"/>
              <a:ext cx="476250" cy="381000"/>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2089" rIns="0" bIns="0" rtlCol="0">
            <a:spAutoFit/>
          </a:bodyPr>
          <a:lstStyle/>
          <a:p>
            <a:pPr marL="241300">
              <a:lnSpc>
                <a:spcPct val="100000"/>
              </a:lnSpc>
              <a:spcBef>
                <a:spcPts val="105"/>
              </a:spcBef>
            </a:pPr>
            <a:r>
              <a:rPr dirty="0"/>
              <a:t>This</a:t>
            </a:r>
            <a:r>
              <a:rPr spc="-55" dirty="0"/>
              <a:t> </a:t>
            </a:r>
            <a:r>
              <a:rPr spc="-10" dirty="0"/>
              <a:t>Lecture</a:t>
            </a:r>
          </a:p>
        </p:txBody>
      </p:sp>
      <p:sp>
        <p:nvSpPr>
          <p:cNvPr id="3" name="object 3"/>
          <p:cNvSpPr txBox="1"/>
          <p:nvPr/>
        </p:nvSpPr>
        <p:spPr>
          <a:xfrm>
            <a:off x="994092" y="1387538"/>
            <a:ext cx="4585970" cy="2868295"/>
          </a:xfrm>
          <a:prstGeom prst="rect">
            <a:avLst/>
          </a:prstGeom>
        </p:spPr>
        <p:txBody>
          <a:bodyPr vert="horz" wrap="square" lIns="0" tIns="92710" rIns="0" bIns="0" rtlCol="0">
            <a:spAutoFit/>
          </a:bodyPr>
          <a:lstStyle/>
          <a:p>
            <a:pPr marL="286385" indent="-273685">
              <a:lnSpc>
                <a:spcPct val="100000"/>
              </a:lnSpc>
              <a:spcBef>
                <a:spcPts val="730"/>
              </a:spcBef>
              <a:buClr>
                <a:srgbClr val="D24717"/>
              </a:buClr>
              <a:buSzPct val="82692"/>
              <a:buFont typeface="Segoe UI Symbol"/>
              <a:buChar char="⚫"/>
              <a:tabLst>
                <a:tab pos="286385" algn="l"/>
              </a:tabLst>
            </a:pPr>
            <a:r>
              <a:rPr sz="2600" dirty="0">
                <a:latin typeface="Times New Roman"/>
                <a:cs typeface="Times New Roman"/>
              </a:rPr>
              <a:t>Basic</a:t>
            </a:r>
            <a:r>
              <a:rPr sz="2600" spc="-55" dirty="0">
                <a:latin typeface="Times New Roman"/>
                <a:cs typeface="Times New Roman"/>
              </a:rPr>
              <a:t> </a:t>
            </a:r>
            <a:r>
              <a:rPr sz="2600" dirty="0">
                <a:latin typeface="Times New Roman"/>
                <a:cs typeface="Times New Roman"/>
              </a:rPr>
              <a:t>Control</a:t>
            </a:r>
            <a:r>
              <a:rPr sz="2600" spc="-50" dirty="0">
                <a:latin typeface="Times New Roman"/>
                <a:cs typeface="Times New Roman"/>
              </a:rPr>
              <a:t> </a:t>
            </a:r>
            <a:r>
              <a:rPr sz="2600" dirty="0">
                <a:latin typeface="Times New Roman"/>
                <a:cs typeface="Times New Roman"/>
              </a:rPr>
              <a:t>Hijacking</a:t>
            </a:r>
            <a:r>
              <a:rPr sz="2600" spc="-165" dirty="0">
                <a:latin typeface="Times New Roman"/>
                <a:cs typeface="Times New Roman"/>
              </a:rPr>
              <a:t> </a:t>
            </a:r>
            <a:r>
              <a:rPr sz="2600" spc="-10" dirty="0">
                <a:latin typeface="Times New Roman"/>
                <a:cs typeface="Times New Roman"/>
              </a:rPr>
              <a:t>Attacks</a:t>
            </a:r>
            <a:endParaRPr sz="260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More</a:t>
            </a:r>
            <a:r>
              <a:rPr sz="2600" spc="-30" dirty="0">
                <a:latin typeface="Times New Roman"/>
                <a:cs typeface="Times New Roman"/>
              </a:rPr>
              <a:t> </a:t>
            </a:r>
            <a:r>
              <a:rPr sz="2600" dirty="0">
                <a:latin typeface="Times New Roman"/>
                <a:cs typeface="Times New Roman"/>
              </a:rPr>
              <a:t>Control</a:t>
            </a:r>
            <a:r>
              <a:rPr sz="2600" spc="-40" dirty="0">
                <a:latin typeface="Times New Roman"/>
                <a:cs typeface="Times New Roman"/>
              </a:rPr>
              <a:t> </a:t>
            </a:r>
            <a:r>
              <a:rPr sz="2600" dirty="0">
                <a:latin typeface="Times New Roman"/>
                <a:cs typeface="Times New Roman"/>
              </a:rPr>
              <a:t>Hijacking</a:t>
            </a:r>
            <a:r>
              <a:rPr sz="2600" spc="-165" dirty="0">
                <a:latin typeface="Times New Roman"/>
                <a:cs typeface="Times New Roman"/>
              </a:rPr>
              <a:t> </a:t>
            </a:r>
            <a:r>
              <a:rPr sz="2600" spc="-10" dirty="0">
                <a:latin typeface="Times New Roman"/>
                <a:cs typeface="Times New Roman"/>
              </a:rPr>
              <a:t>Attacks</a:t>
            </a:r>
            <a:endParaRPr sz="260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Format</a:t>
            </a:r>
            <a:r>
              <a:rPr sz="2600" spc="-70" dirty="0">
                <a:latin typeface="Times New Roman"/>
                <a:cs typeface="Times New Roman"/>
              </a:rPr>
              <a:t> </a:t>
            </a:r>
            <a:r>
              <a:rPr sz="2600" dirty="0">
                <a:latin typeface="Times New Roman"/>
                <a:cs typeface="Times New Roman"/>
              </a:rPr>
              <a:t>String</a:t>
            </a:r>
            <a:r>
              <a:rPr sz="2600" spc="-50" dirty="0">
                <a:latin typeface="Times New Roman"/>
                <a:cs typeface="Times New Roman"/>
              </a:rPr>
              <a:t> </a:t>
            </a:r>
            <a:r>
              <a:rPr sz="2600" spc="-20" dirty="0">
                <a:latin typeface="Times New Roman"/>
                <a:cs typeface="Times New Roman"/>
              </a:rPr>
              <a:t>Bugs</a:t>
            </a:r>
            <a:endParaRPr sz="2600">
              <a:latin typeface="Times New Roman"/>
              <a:cs typeface="Times New Roman"/>
            </a:endParaRPr>
          </a:p>
          <a:p>
            <a:pPr marL="286385" indent="-273685">
              <a:lnSpc>
                <a:spcPct val="100000"/>
              </a:lnSpc>
              <a:spcBef>
                <a:spcPts val="560"/>
              </a:spcBef>
              <a:buClr>
                <a:srgbClr val="D24717"/>
              </a:buClr>
              <a:buSzPct val="82692"/>
              <a:buFont typeface="Segoe UI Symbol"/>
              <a:buChar char="⚫"/>
              <a:tabLst>
                <a:tab pos="286385" algn="l"/>
              </a:tabLst>
            </a:pPr>
            <a:r>
              <a:rPr sz="2600" dirty="0">
                <a:latin typeface="Times New Roman"/>
                <a:cs typeface="Times New Roman"/>
              </a:rPr>
              <a:t>Platform</a:t>
            </a:r>
            <a:r>
              <a:rPr sz="2600" spc="-50" dirty="0">
                <a:latin typeface="Times New Roman"/>
                <a:cs typeface="Times New Roman"/>
              </a:rPr>
              <a:t> </a:t>
            </a:r>
            <a:r>
              <a:rPr sz="2600" spc="-10" dirty="0">
                <a:latin typeface="Times New Roman"/>
                <a:cs typeface="Times New Roman"/>
              </a:rPr>
              <a:t>Defenses</a:t>
            </a:r>
            <a:endParaRPr sz="260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spc="-10" dirty="0">
                <a:latin typeface="Times New Roman"/>
                <a:cs typeface="Times New Roman"/>
              </a:rPr>
              <a:t>Run-</a:t>
            </a:r>
            <a:r>
              <a:rPr sz="2600" dirty="0">
                <a:latin typeface="Times New Roman"/>
                <a:cs typeface="Times New Roman"/>
              </a:rPr>
              <a:t>Time</a:t>
            </a:r>
            <a:r>
              <a:rPr sz="2600" spc="-70" dirty="0">
                <a:latin typeface="Times New Roman"/>
                <a:cs typeface="Times New Roman"/>
              </a:rPr>
              <a:t> </a:t>
            </a:r>
            <a:r>
              <a:rPr sz="2600" spc="-10" dirty="0">
                <a:latin typeface="Times New Roman"/>
                <a:cs typeface="Times New Roman"/>
              </a:rPr>
              <a:t>Defenses</a:t>
            </a:r>
            <a:endParaRPr sz="2600">
              <a:latin typeface="Times New Roman"/>
              <a:cs typeface="Times New Roman"/>
            </a:endParaRPr>
          </a:p>
          <a:p>
            <a:pPr marL="286385" indent="-273685">
              <a:lnSpc>
                <a:spcPct val="100000"/>
              </a:lnSpc>
              <a:spcBef>
                <a:spcPts val="560"/>
              </a:spcBef>
              <a:buClr>
                <a:srgbClr val="D24717"/>
              </a:buClr>
              <a:buSzPct val="82692"/>
              <a:buFont typeface="Segoe UI Symbol"/>
              <a:buChar char="⚫"/>
              <a:tabLst>
                <a:tab pos="286385" algn="l"/>
              </a:tabLst>
            </a:pPr>
            <a:r>
              <a:rPr sz="2600" dirty="0">
                <a:latin typeface="Times New Roman"/>
                <a:cs typeface="Times New Roman"/>
              </a:rPr>
              <a:t>Advance </a:t>
            </a:r>
            <a:r>
              <a:rPr sz="2600" spc="-10" dirty="0">
                <a:latin typeface="Times New Roman"/>
                <a:cs typeface="Times New Roman"/>
              </a:rPr>
              <a:t>Hijacking</a:t>
            </a:r>
            <a:r>
              <a:rPr sz="2600" spc="-150" dirty="0">
                <a:latin typeface="Times New Roman"/>
                <a:cs typeface="Times New Roman"/>
              </a:rPr>
              <a:t> </a:t>
            </a:r>
            <a:r>
              <a:rPr sz="2600" spc="-10" dirty="0">
                <a:latin typeface="Times New Roman"/>
                <a:cs typeface="Times New Roman"/>
              </a:rPr>
              <a:t>Attacks</a:t>
            </a:r>
            <a:endParaRPr sz="26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1701" y="3295015"/>
            <a:ext cx="5963285"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Basic</a:t>
            </a:r>
            <a:r>
              <a:rPr u="sng" spc="20" dirty="0">
                <a:solidFill>
                  <a:srgbClr val="D24717"/>
                </a:solidFill>
                <a:uFill>
                  <a:solidFill>
                    <a:srgbClr val="D24717"/>
                  </a:solidFill>
                </a:uFill>
              </a:rPr>
              <a:t> </a:t>
            </a:r>
            <a:r>
              <a:rPr u="sng" dirty="0">
                <a:solidFill>
                  <a:srgbClr val="D24717"/>
                </a:solidFill>
                <a:uFill>
                  <a:solidFill>
                    <a:srgbClr val="D24717"/>
                  </a:solidFill>
                </a:uFill>
              </a:rPr>
              <a:t>Control</a:t>
            </a:r>
            <a:r>
              <a:rPr u="sng" spc="-25" dirty="0">
                <a:solidFill>
                  <a:srgbClr val="D24717"/>
                </a:solidFill>
                <a:uFill>
                  <a:solidFill>
                    <a:srgbClr val="D24717"/>
                  </a:solidFill>
                </a:uFill>
              </a:rPr>
              <a:t> </a:t>
            </a:r>
            <a:r>
              <a:rPr u="sng" dirty="0">
                <a:solidFill>
                  <a:srgbClr val="D24717"/>
                </a:solidFill>
                <a:uFill>
                  <a:solidFill>
                    <a:srgbClr val="D24717"/>
                  </a:solidFill>
                </a:uFill>
              </a:rPr>
              <a:t>Hijacking</a:t>
            </a:r>
            <a:r>
              <a:rPr u="sng" spc="-229" dirty="0">
                <a:solidFill>
                  <a:srgbClr val="D24717"/>
                </a:solidFill>
                <a:uFill>
                  <a:solidFill>
                    <a:srgbClr val="D24717"/>
                  </a:solidFill>
                </a:uFill>
              </a:rPr>
              <a:t> </a:t>
            </a:r>
            <a:r>
              <a:rPr u="sng" spc="-10" dirty="0">
                <a:solidFill>
                  <a:srgbClr val="D24717"/>
                </a:solidFill>
                <a:uFill>
                  <a:solidFill>
                    <a:srgbClr val="D24717"/>
                  </a:solidFill>
                </a:uFill>
              </a:rPr>
              <a:t>Attacks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689" rIns="0" bIns="0" rtlCol="0">
            <a:spAutoFit/>
          </a:bodyPr>
          <a:lstStyle/>
          <a:p>
            <a:pPr marL="165100">
              <a:lnSpc>
                <a:spcPct val="100000"/>
              </a:lnSpc>
              <a:spcBef>
                <a:spcPts val="105"/>
              </a:spcBef>
            </a:pPr>
            <a:r>
              <a:rPr dirty="0"/>
              <a:t>Control</a:t>
            </a:r>
            <a:r>
              <a:rPr spc="-5" dirty="0"/>
              <a:t> </a:t>
            </a:r>
            <a:r>
              <a:rPr dirty="0"/>
              <a:t>hijacking</a:t>
            </a:r>
            <a:r>
              <a:rPr spc="-35" dirty="0"/>
              <a:t> </a:t>
            </a:r>
            <a:r>
              <a:rPr spc="-10" dirty="0"/>
              <a:t>attacks</a:t>
            </a:r>
          </a:p>
        </p:txBody>
      </p:sp>
      <p:sp>
        <p:nvSpPr>
          <p:cNvPr id="3" name="object 3"/>
          <p:cNvSpPr txBox="1"/>
          <p:nvPr/>
        </p:nvSpPr>
        <p:spPr>
          <a:xfrm>
            <a:off x="536575" y="962088"/>
            <a:ext cx="7866380" cy="3697604"/>
          </a:xfrm>
          <a:prstGeom prst="rect">
            <a:avLst/>
          </a:prstGeom>
        </p:spPr>
        <p:txBody>
          <a:bodyPr vert="horz" wrap="square" lIns="0" tIns="66675" rIns="0" bIns="0" rtlCol="0">
            <a:spAutoFit/>
          </a:bodyPr>
          <a:lstStyle/>
          <a:p>
            <a:pPr marL="346075" indent="-333375">
              <a:lnSpc>
                <a:spcPct val="100000"/>
              </a:lnSpc>
              <a:spcBef>
                <a:spcPts val="525"/>
              </a:spcBef>
              <a:buClr>
                <a:srgbClr val="D24717"/>
              </a:buClr>
              <a:buSzPct val="83333"/>
              <a:buFont typeface="Segoe UI Symbol"/>
              <a:buChar char="⚫"/>
              <a:tabLst>
                <a:tab pos="346075" algn="l"/>
              </a:tabLst>
            </a:pPr>
            <a:r>
              <a:rPr sz="2400" u="heavy" dirty="0">
                <a:uFill>
                  <a:solidFill>
                    <a:srgbClr val="000000"/>
                  </a:solidFill>
                </a:uFill>
                <a:latin typeface="Times New Roman"/>
                <a:cs typeface="Times New Roman"/>
              </a:rPr>
              <a:t>Attacker’s</a:t>
            </a:r>
            <a:r>
              <a:rPr sz="2400" u="heavy" spc="-55" dirty="0">
                <a:uFill>
                  <a:solidFill>
                    <a:srgbClr val="000000"/>
                  </a:solidFill>
                </a:uFill>
                <a:latin typeface="Times New Roman"/>
                <a:cs typeface="Times New Roman"/>
              </a:rPr>
              <a:t> </a:t>
            </a:r>
            <a:r>
              <a:rPr sz="2400" u="heavy" spc="-20" dirty="0">
                <a:uFill>
                  <a:solidFill>
                    <a:srgbClr val="000000"/>
                  </a:solidFill>
                </a:uFill>
                <a:latin typeface="Times New Roman"/>
                <a:cs typeface="Times New Roman"/>
              </a:rPr>
              <a:t>goal</a:t>
            </a:r>
            <a:r>
              <a:rPr sz="2400" spc="-20" dirty="0">
                <a:latin typeface="Times New Roman"/>
                <a:cs typeface="Times New Roman"/>
              </a:rPr>
              <a:t>:</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 pos="4409440" algn="l"/>
              </a:tabLst>
            </a:pPr>
            <a:r>
              <a:rPr sz="2400" spc="-10" dirty="0">
                <a:latin typeface="Times New Roman"/>
                <a:cs typeface="Times New Roman"/>
              </a:rPr>
              <a:t>Take </a:t>
            </a:r>
            <a:r>
              <a:rPr sz="2400" dirty="0">
                <a:latin typeface="Times New Roman"/>
                <a:cs typeface="Times New Roman"/>
              </a:rPr>
              <a:t>over</a:t>
            </a:r>
            <a:r>
              <a:rPr sz="2400" spc="-105" dirty="0">
                <a:latin typeface="Times New Roman"/>
                <a:cs typeface="Times New Roman"/>
              </a:rPr>
              <a:t> </a:t>
            </a:r>
            <a:r>
              <a:rPr sz="2400" dirty="0">
                <a:latin typeface="Times New Roman"/>
                <a:cs typeface="Times New Roman"/>
              </a:rPr>
              <a:t>target</a:t>
            </a:r>
            <a:r>
              <a:rPr sz="2400" spc="-60" dirty="0">
                <a:latin typeface="Times New Roman"/>
                <a:cs typeface="Times New Roman"/>
              </a:rPr>
              <a:t> </a:t>
            </a:r>
            <a:r>
              <a:rPr sz="2400" dirty="0">
                <a:latin typeface="Times New Roman"/>
                <a:cs typeface="Times New Roman"/>
              </a:rPr>
              <a:t>machine</a:t>
            </a:r>
            <a:r>
              <a:rPr sz="2400" spc="-70" dirty="0">
                <a:latin typeface="Times New Roman"/>
                <a:cs typeface="Times New Roman"/>
              </a:rPr>
              <a:t> </a:t>
            </a:r>
            <a:r>
              <a:rPr sz="2400" spc="-10" dirty="0">
                <a:latin typeface="Times New Roman"/>
                <a:cs typeface="Times New Roman"/>
              </a:rPr>
              <a:t>(e.g.</a:t>
            </a:r>
            <a:r>
              <a:rPr sz="2400" dirty="0">
                <a:latin typeface="Times New Roman"/>
                <a:cs typeface="Times New Roman"/>
              </a:rPr>
              <a:t>	web</a:t>
            </a:r>
            <a:r>
              <a:rPr sz="2400" spc="-70" dirty="0">
                <a:latin typeface="Times New Roman"/>
                <a:cs typeface="Times New Roman"/>
              </a:rPr>
              <a:t> </a:t>
            </a:r>
            <a:r>
              <a:rPr sz="2400" dirty="0">
                <a:latin typeface="Times New Roman"/>
                <a:cs typeface="Times New Roman"/>
              </a:rPr>
              <a:t>server,</a:t>
            </a:r>
            <a:r>
              <a:rPr sz="2400" spc="-70" dirty="0">
                <a:latin typeface="Times New Roman"/>
                <a:cs typeface="Times New Roman"/>
              </a:rPr>
              <a:t> </a:t>
            </a:r>
            <a:r>
              <a:rPr sz="2400" dirty="0">
                <a:latin typeface="Times New Roman"/>
                <a:cs typeface="Times New Roman"/>
              </a:rPr>
              <a:t>email</a:t>
            </a:r>
            <a:r>
              <a:rPr sz="2400" spc="-60" dirty="0">
                <a:latin typeface="Times New Roman"/>
                <a:cs typeface="Times New Roman"/>
              </a:rPr>
              <a:t> </a:t>
            </a:r>
            <a:r>
              <a:rPr sz="2400" dirty="0">
                <a:latin typeface="Times New Roman"/>
                <a:cs typeface="Times New Roman"/>
              </a:rPr>
              <a:t>server</a:t>
            </a:r>
            <a:r>
              <a:rPr sz="2400" spc="-55" dirty="0">
                <a:latin typeface="Times New Roman"/>
                <a:cs typeface="Times New Roman"/>
              </a:rPr>
              <a:t> </a:t>
            </a:r>
            <a:r>
              <a:rPr sz="2400" spc="-25" dirty="0">
                <a:latin typeface="Times New Roman"/>
                <a:cs typeface="Times New Roman"/>
              </a:rPr>
              <a:t>…)</a:t>
            </a:r>
            <a:endParaRPr sz="2400">
              <a:latin typeface="Times New Roman"/>
              <a:cs typeface="Times New Roman"/>
            </a:endParaRPr>
          </a:p>
          <a:p>
            <a:pPr marL="835660" lvl="2" indent="-228600">
              <a:lnSpc>
                <a:spcPct val="100000"/>
              </a:lnSpc>
              <a:spcBef>
                <a:spcPts val="445"/>
              </a:spcBef>
              <a:buClr>
                <a:srgbClr val="E6B0AB"/>
              </a:buClr>
              <a:buSzPct val="86046"/>
              <a:buFont typeface="Segoe UI Symbol"/>
              <a:buChar char="⚫"/>
              <a:tabLst>
                <a:tab pos="835660" algn="l"/>
              </a:tabLst>
            </a:pPr>
            <a:r>
              <a:rPr sz="2150" dirty="0">
                <a:latin typeface="Times New Roman"/>
                <a:cs typeface="Times New Roman"/>
              </a:rPr>
              <a:t>Execute</a:t>
            </a:r>
            <a:r>
              <a:rPr sz="2150" spc="75" dirty="0">
                <a:latin typeface="Times New Roman"/>
                <a:cs typeface="Times New Roman"/>
              </a:rPr>
              <a:t> </a:t>
            </a:r>
            <a:r>
              <a:rPr sz="2150" dirty="0">
                <a:latin typeface="Times New Roman"/>
                <a:cs typeface="Times New Roman"/>
              </a:rPr>
              <a:t>arbitrary</a:t>
            </a:r>
            <a:r>
              <a:rPr sz="2150" spc="105" dirty="0">
                <a:latin typeface="Times New Roman"/>
                <a:cs typeface="Times New Roman"/>
              </a:rPr>
              <a:t> </a:t>
            </a:r>
            <a:r>
              <a:rPr sz="2150" dirty="0">
                <a:latin typeface="Times New Roman"/>
                <a:cs typeface="Times New Roman"/>
              </a:rPr>
              <a:t>code</a:t>
            </a:r>
            <a:r>
              <a:rPr sz="2150" spc="70" dirty="0">
                <a:latin typeface="Times New Roman"/>
                <a:cs typeface="Times New Roman"/>
              </a:rPr>
              <a:t> </a:t>
            </a:r>
            <a:r>
              <a:rPr sz="2150" dirty="0">
                <a:latin typeface="Times New Roman"/>
                <a:cs typeface="Times New Roman"/>
              </a:rPr>
              <a:t>on</a:t>
            </a:r>
            <a:r>
              <a:rPr sz="2150" spc="105" dirty="0">
                <a:latin typeface="Times New Roman"/>
                <a:cs typeface="Times New Roman"/>
              </a:rPr>
              <a:t> </a:t>
            </a:r>
            <a:r>
              <a:rPr sz="2150" dirty="0">
                <a:latin typeface="Times New Roman"/>
                <a:cs typeface="Times New Roman"/>
              </a:rPr>
              <a:t>target</a:t>
            </a:r>
            <a:r>
              <a:rPr sz="2150" spc="65" dirty="0">
                <a:latin typeface="Times New Roman"/>
                <a:cs typeface="Times New Roman"/>
              </a:rPr>
              <a:t> </a:t>
            </a:r>
            <a:r>
              <a:rPr sz="2150" dirty="0">
                <a:latin typeface="Times New Roman"/>
                <a:cs typeface="Times New Roman"/>
              </a:rPr>
              <a:t>by</a:t>
            </a:r>
            <a:r>
              <a:rPr sz="2150" spc="100" dirty="0">
                <a:latin typeface="Times New Roman"/>
                <a:cs typeface="Times New Roman"/>
              </a:rPr>
              <a:t> </a:t>
            </a:r>
            <a:r>
              <a:rPr sz="2150" dirty="0">
                <a:latin typeface="Times New Roman"/>
                <a:cs typeface="Times New Roman"/>
              </a:rPr>
              <a:t>hijacking</a:t>
            </a:r>
            <a:r>
              <a:rPr sz="2150" spc="105" dirty="0">
                <a:latin typeface="Times New Roman"/>
                <a:cs typeface="Times New Roman"/>
              </a:rPr>
              <a:t> </a:t>
            </a:r>
            <a:r>
              <a:rPr sz="2150" spc="-10" dirty="0">
                <a:latin typeface="Times New Roman"/>
                <a:cs typeface="Times New Roman"/>
              </a:rPr>
              <a:t>application</a:t>
            </a:r>
            <a:endParaRPr sz="2150">
              <a:latin typeface="Times New Roman"/>
              <a:cs typeface="Times New Roman"/>
            </a:endParaRPr>
          </a:p>
          <a:p>
            <a:pPr marL="836294">
              <a:lnSpc>
                <a:spcPct val="100000"/>
              </a:lnSpc>
              <a:spcBef>
                <a:spcPts val="50"/>
              </a:spcBef>
            </a:pPr>
            <a:r>
              <a:rPr sz="2150" dirty="0">
                <a:latin typeface="Times New Roman"/>
                <a:cs typeface="Times New Roman"/>
              </a:rPr>
              <a:t>control</a:t>
            </a:r>
            <a:r>
              <a:rPr sz="2150" spc="150" dirty="0">
                <a:latin typeface="Times New Roman"/>
                <a:cs typeface="Times New Roman"/>
              </a:rPr>
              <a:t> </a:t>
            </a:r>
            <a:r>
              <a:rPr sz="2150" spc="-20" dirty="0">
                <a:latin typeface="Times New Roman"/>
                <a:cs typeface="Times New Roman"/>
              </a:rPr>
              <a:t>flow</a:t>
            </a:r>
            <a:endParaRPr sz="2150">
              <a:latin typeface="Times New Roman"/>
              <a:cs typeface="Times New Roman"/>
            </a:endParaRPr>
          </a:p>
          <a:p>
            <a:pPr>
              <a:lnSpc>
                <a:spcPct val="100000"/>
              </a:lnSpc>
              <a:spcBef>
                <a:spcPts val="1460"/>
              </a:spcBef>
            </a:pPr>
            <a:endParaRPr sz="2150">
              <a:latin typeface="Times New Roman"/>
              <a:cs typeface="Times New Roman"/>
            </a:endParaRPr>
          </a:p>
          <a:p>
            <a:pPr marL="287020" indent="-274320">
              <a:lnSpc>
                <a:spcPct val="100000"/>
              </a:lnSpc>
              <a:buClr>
                <a:srgbClr val="D24717"/>
              </a:buClr>
              <a:buSzPct val="83333"/>
              <a:buFont typeface="Segoe UI Symbol"/>
              <a:buChar char="⚫"/>
              <a:tabLst>
                <a:tab pos="287020" algn="l"/>
              </a:tabLst>
            </a:pPr>
            <a:r>
              <a:rPr sz="2400" spc="-10" dirty="0">
                <a:latin typeface="Times New Roman"/>
                <a:cs typeface="Times New Roman"/>
              </a:rPr>
              <a:t>Examples.</a:t>
            </a:r>
            <a:endParaRPr sz="2400">
              <a:latin typeface="Times New Roman"/>
              <a:cs typeface="Times New Roman"/>
            </a:endParaRPr>
          </a:p>
          <a:p>
            <a:pPr marL="561340" lvl="1" indent="-228600">
              <a:lnSpc>
                <a:spcPct val="100000"/>
              </a:lnSpc>
              <a:spcBef>
                <a:spcPts val="345"/>
              </a:spcBef>
              <a:buClr>
                <a:srgbClr val="9B2C1F"/>
              </a:buClr>
              <a:buSzPct val="83333"/>
              <a:buFont typeface="Segoe UI Symbol"/>
              <a:buChar char="⚫"/>
              <a:tabLst>
                <a:tab pos="561340" algn="l"/>
              </a:tabLst>
            </a:pPr>
            <a:r>
              <a:rPr sz="2400" dirty="0">
                <a:latin typeface="Times New Roman"/>
                <a:cs typeface="Times New Roman"/>
              </a:rPr>
              <a:t>Buffer</a:t>
            </a:r>
            <a:r>
              <a:rPr sz="2400" spc="-60" dirty="0">
                <a:latin typeface="Times New Roman"/>
                <a:cs typeface="Times New Roman"/>
              </a:rPr>
              <a:t> </a:t>
            </a:r>
            <a:r>
              <a:rPr sz="2400" dirty="0">
                <a:latin typeface="Times New Roman"/>
                <a:cs typeface="Times New Roman"/>
              </a:rPr>
              <a:t>overflow</a:t>
            </a:r>
            <a:r>
              <a:rPr sz="2400" spc="-85" dirty="0">
                <a:latin typeface="Times New Roman"/>
                <a:cs typeface="Times New Roman"/>
              </a:rPr>
              <a:t> </a:t>
            </a:r>
            <a:r>
              <a:rPr sz="2400" spc="-10" dirty="0">
                <a:latin typeface="Times New Roman"/>
                <a:cs typeface="Times New Roman"/>
              </a:rPr>
              <a:t>attacks</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Integer</a:t>
            </a:r>
            <a:r>
              <a:rPr sz="2400" spc="-25" dirty="0">
                <a:latin typeface="Times New Roman"/>
                <a:cs typeface="Times New Roman"/>
              </a:rPr>
              <a:t> </a:t>
            </a:r>
            <a:r>
              <a:rPr sz="2400" dirty="0">
                <a:latin typeface="Times New Roman"/>
                <a:cs typeface="Times New Roman"/>
              </a:rPr>
              <a:t>overflow</a:t>
            </a:r>
            <a:r>
              <a:rPr sz="2400" spc="-35" dirty="0">
                <a:latin typeface="Times New Roman"/>
                <a:cs typeface="Times New Roman"/>
              </a:rPr>
              <a:t> </a:t>
            </a:r>
            <a:r>
              <a:rPr sz="2400" spc="-10" dirty="0">
                <a:latin typeface="Times New Roman"/>
                <a:cs typeface="Times New Roman"/>
              </a:rPr>
              <a:t>attacks</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Format</a:t>
            </a:r>
            <a:r>
              <a:rPr sz="2400" spc="-80" dirty="0">
                <a:latin typeface="Times New Roman"/>
                <a:cs typeface="Times New Roman"/>
              </a:rPr>
              <a:t> </a:t>
            </a:r>
            <a:r>
              <a:rPr sz="2400" dirty="0">
                <a:latin typeface="Times New Roman"/>
                <a:cs typeface="Times New Roman"/>
              </a:rPr>
              <a:t>string</a:t>
            </a:r>
            <a:r>
              <a:rPr sz="2400" spc="-10" dirty="0">
                <a:latin typeface="Times New Roman"/>
                <a:cs typeface="Times New Roman"/>
              </a:rPr>
              <a:t> vulnerabilities</a:t>
            </a:r>
            <a:endParaRPr sz="24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88900">
              <a:lnSpc>
                <a:spcPct val="100000"/>
              </a:lnSpc>
              <a:spcBef>
                <a:spcPts val="105"/>
              </a:spcBef>
            </a:pPr>
            <a:r>
              <a:rPr dirty="0"/>
              <a:t>What</a:t>
            </a:r>
            <a:r>
              <a:rPr spc="-35" dirty="0"/>
              <a:t> </a:t>
            </a:r>
            <a:r>
              <a:rPr dirty="0"/>
              <a:t>is</a:t>
            </a:r>
            <a:r>
              <a:rPr spc="15" dirty="0"/>
              <a:t> </a:t>
            </a:r>
            <a:r>
              <a:rPr spc="-10" dirty="0"/>
              <a:t>needed</a:t>
            </a:r>
          </a:p>
        </p:txBody>
      </p:sp>
      <p:sp>
        <p:nvSpPr>
          <p:cNvPr id="3" name="object 3"/>
          <p:cNvSpPr txBox="1"/>
          <p:nvPr/>
        </p:nvSpPr>
        <p:spPr>
          <a:xfrm>
            <a:off x="307657" y="1350719"/>
            <a:ext cx="7882255" cy="3468370"/>
          </a:xfrm>
          <a:prstGeom prst="rect">
            <a:avLst/>
          </a:prstGeom>
        </p:spPr>
        <p:txBody>
          <a:bodyPr vert="horz" wrap="square" lIns="0" tIns="85090" rIns="0" bIns="0" rtlCol="0">
            <a:spAutoFit/>
          </a:bodyPr>
          <a:lstStyle/>
          <a:p>
            <a:pPr marL="287020" indent="-274320">
              <a:lnSpc>
                <a:spcPct val="100000"/>
              </a:lnSpc>
              <a:spcBef>
                <a:spcPts val="670"/>
              </a:spcBef>
              <a:buClr>
                <a:srgbClr val="D24717"/>
              </a:buClr>
              <a:buSzPct val="83333"/>
              <a:buFont typeface="Segoe UI Symbol"/>
              <a:buChar char="⚫"/>
              <a:tabLst>
                <a:tab pos="287020" algn="l"/>
              </a:tabLst>
            </a:pPr>
            <a:r>
              <a:rPr sz="2400" dirty="0">
                <a:latin typeface="Times New Roman"/>
                <a:cs typeface="Times New Roman"/>
              </a:rPr>
              <a:t>Understanding</a:t>
            </a:r>
            <a:r>
              <a:rPr sz="2400" spc="-40" dirty="0">
                <a:latin typeface="Times New Roman"/>
                <a:cs typeface="Times New Roman"/>
              </a:rPr>
              <a:t> </a:t>
            </a:r>
            <a:r>
              <a:rPr sz="2400" dirty="0">
                <a:latin typeface="Times New Roman"/>
                <a:cs typeface="Times New Roman"/>
              </a:rPr>
              <a:t>C</a:t>
            </a:r>
            <a:r>
              <a:rPr sz="2400" spc="10" dirty="0">
                <a:latin typeface="Times New Roman"/>
                <a:cs typeface="Times New Roman"/>
              </a:rPr>
              <a:t> </a:t>
            </a:r>
            <a:r>
              <a:rPr sz="2400" dirty="0">
                <a:latin typeface="Times New Roman"/>
                <a:cs typeface="Times New Roman"/>
              </a:rPr>
              <a:t>functions,</a:t>
            </a:r>
            <a:r>
              <a:rPr sz="2400" spc="-35"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stack,</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heap.</a:t>
            </a:r>
            <a:endParaRPr sz="2400">
              <a:latin typeface="Times New Roman"/>
              <a:cs typeface="Times New Roman"/>
            </a:endParaRPr>
          </a:p>
          <a:p>
            <a:pPr marL="287020" indent="-274320">
              <a:lnSpc>
                <a:spcPct val="100000"/>
              </a:lnSpc>
              <a:spcBef>
                <a:spcPts val="570"/>
              </a:spcBef>
              <a:buClr>
                <a:srgbClr val="D24717"/>
              </a:buClr>
              <a:buSzPct val="83333"/>
              <a:buFont typeface="Segoe UI Symbol"/>
              <a:buChar char="⚫"/>
              <a:tabLst>
                <a:tab pos="287020" algn="l"/>
              </a:tabLst>
            </a:pPr>
            <a:r>
              <a:rPr sz="2400" dirty="0">
                <a:latin typeface="Times New Roman"/>
                <a:cs typeface="Times New Roman"/>
              </a:rPr>
              <a:t>Know</a:t>
            </a:r>
            <a:r>
              <a:rPr sz="2400" spc="-45" dirty="0">
                <a:latin typeface="Times New Roman"/>
                <a:cs typeface="Times New Roman"/>
              </a:rPr>
              <a:t> </a:t>
            </a:r>
            <a:r>
              <a:rPr sz="2400" dirty="0">
                <a:latin typeface="Times New Roman"/>
                <a:cs typeface="Times New Roman"/>
              </a:rPr>
              <a:t>how</a:t>
            </a:r>
            <a:r>
              <a:rPr sz="2400" spc="30" dirty="0">
                <a:latin typeface="Times New Roman"/>
                <a:cs typeface="Times New Roman"/>
              </a:rPr>
              <a:t> </a:t>
            </a:r>
            <a:r>
              <a:rPr sz="2400" dirty="0">
                <a:latin typeface="Times New Roman"/>
                <a:cs typeface="Times New Roman"/>
              </a:rPr>
              <a:t>system</a:t>
            </a:r>
            <a:r>
              <a:rPr sz="2400" spc="-95" dirty="0">
                <a:latin typeface="Times New Roman"/>
                <a:cs typeface="Times New Roman"/>
              </a:rPr>
              <a:t> </a:t>
            </a:r>
            <a:r>
              <a:rPr sz="2400" dirty="0">
                <a:latin typeface="Times New Roman"/>
                <a:cs typeface="Times New Roman"/>
              </a:rPr>
              <a:t>calls</a:t>
            </a:r>
            <a:r>
              <a:rPr sz="2400" spc="5" dirty="0">
                <a:latin typeface="Times New Roman"/>
                <a:cs typeface="Times New Roman"/>
              </a:rPr>
              <a:t> </a:t>
            </a:r>
            <a:r>
              <a:rPr sz="2400" dirty="0">
                <a:latin typeface="Times New Roman"/>
                <a:cs typeface="Times New Roman"/>
              </a:rPr>
              <a:t>are</a:t>
            </a:r>
            <a:r>
              <a:rPr sz="2400" spc="-45" dirty="0">
                <a:latin typeface="Times New Roman"/>
                <a:cs typeface="Times New Roman"/>
              </a:rPr>
              <a:t> </a:t>
            </a:r>
            <a:r>
              <a:rPr sz="2400" spc="-20" dirty="0">
                <a:latin typeface="Times New Roman"/>
                <a:cs typeface="Times New Roman"/>
              </a:rPr>
              <a:t>made</a:t>
            </a:r>
            <a:endParaRPr sz="2400">
              <a:latin typeface="Times New Roman"/>
              <a:cs typeface="Times New Roman"/>
            </a:endParaRPr>
          </a:p>
          <a:p>
            <a:pPr marL="287020" indent="-274320">
              <a:lnSpc>
                <a:spcPct val="100000"/>
              </a:lnSpc>
              <a:spcBef>
                <a:spcPts val="650"/>
              </a:spcBef>
              <a:buClr>
                <a:srgbClr val="D24717"/>
              </a:buClr>
              <a:buSzPct val="83333"/>
              <a:buFont typeface="Segoe UI Symbol"/>
              <a:buChar char="⚫"/>
              <a:tabLst>
                <a:tab pos="287020" algn="l"/>
              </a:tabLst>
            </a:pP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exec()</a:t>
            </a:r>
            <a:r>
              <a:rPr sz="2400" spc="5" dirty="0">
                <a:latin typeface="Times New Roman"/>
                <a:cs typeface="Times New Roman"/>
              </a:rPr>
              <a:t> </a:t>
            </a:r>
            <a:r>
              <a:rPr sz="2400" dirty="0">
                <a:latin typeface="Times New Roman"/>
                <a:cs typeface="Times New Roman"/>
              </a:rPr>
              <a:t>system</a:t>
            </a:r>
            <a:r>
              <a:rPr sz="2400" spc="-85" dirty="0">
                <a:latin typeface="Times New Roman"/>
                <a:cs typeface="Times New Roman"/>
              </a:rPr>
              <a:t> </a:t>
            </a:r>
            <a:r>
              <a:rPr sz="2400" spc="-20" dirty="0">
                <a:latin typeface="Times New Roman"/>
                <a:cs typeface="Times New Roman"/>
              </a:rPr>
              <a:t>call</a:t>
            </a:r>
            <a:endParaRPr sz="2400">
              <a:latin typeface="Times New Roman"/>
              <a:cs typeface="Times New Roman"/>
            </a:endParaRPr>
          </a:p>
          <a:p>
            <a:pPr>
              <a:lnSpc>
                <a:spcPct val="100000"/>
              </a:lnSpc>
              <a:spcBef>
                <a:spcPts val="1570"/>
              </a:spcBef>
              <a:buClr>
                <a:srgbClr val="D24717"/>
              </a:buClr>
              <a:buFont typeface="Segoe UI Symbol"/>
              <a:buChar char="⚫"/>
            </a:pPr>
            <a:endParaRPr sz="2400">
              <a:latin typeface="Times New Roman"/>
              <a:cs typeface="Times New Roman"/>
            </a:endParaRPr>
          </a:p>
          <a:p>
            <a:pPr marL="287020" indent="-274320">
              <a:lnSpc>
                <a:spcPts val="2865"/>
              </a:lnSpc>
              <a:buClr>
                <a:srgbClr val="D24717"/>
              </a:buClr>
              <a:buSzPct val="83333"/>
              <a:buFont typeface="Segoe UI Symbol"/>
              <a:buChar char="⚫"/>
              <a:tabLst>
                <a:tab pos="287020" algn="l"/>
              </a:tabLst>
            </a:pPr>
            <a:r>
              <a:rPr sz="2400" dirty="0">
                <a:latin typeface="Times New Roman"/>
                <a:cs typeface="Times New Roman"/>
              </a:rPr>
              <a:t>Attacker</a:t>
            </a:r>
            <a:r>
              <a:rPr sz="2400" spc="-10" dirty="0">
                <a:latin typeface="Times New Roman"/>
                <a:cs typeface="Times New Roman"/>
              </a:rPr>
              <a:t> </a:t>
            </a:r>
            <a:r>
              <a:rPr sz="2400" dirty="0">
                <a:latin typeface="Times New Roman"/>
                <a:cs typeface="Times New Roman"/>
              </a:rPr>
              <a:t>needs</a:t>
            </a:r>
            <a:r>
              <a:rPr sz="2400" spc="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know</a:t>
            </a:r>
            <a:r>
              <a:rPr sz="2400" spc="-40" dirty="0">
                <a:latin typeface="Times New Roman"/>
                <a:cs typeface="Times New Roman"/>
              </a:rPr>
              <a:t> </a:t>
            </a:r>
            <a:r>
              <a:rPr sz="2400" dirty="0">
                <a:latin typeface="Times New Roman"/>
                <a:cs typeface="Times New Roman"/>
              </a:rPr>
              <a:t>which</a:t>
            </a:r>
            <a:r>
              <a:rPr sz="2400" spc="-25" dirty="0">
                <a:latin typeface="Times New Roman"/>
                <a:cs typeface="Times New Roman"/>
              </a:rPr>
              <a:t> </a:t>
            </a:r>
            <a:r>
              <a:rPr sz="2400" dirty="0">
                <a:latin typeface="Times New Roman"/>
                <a:cs typeface="Times New Roman"/>
              </a:rPr>
              <a:t>CPU</a:t>
            </a:r>
            <a:r>
              <a:rPr sz="2400" spc="-3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OS</a:t>
            </a:r>
            <a:r>
              <a:rPr sz="2400" spc="-15"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10" dirty="0">
                <a:latin typeface="Times New Roman"/>
                <a:cs typeface="Times New Roman"/>
              </a:rPr>
              <a:t>target</a:t>
            </a:r>
            <a:endParaRPr sz="2400">
              <a:latin typeface="Times New Roman"/>
              <a:cs typeface="Times New Roman"/>
            </a:endParaRPr>
          </a:p>
          <a:p>
            <a:pPr marL="287020">
              <a:lnSpc>
                <a:spcPts val="2865"/>
              </a:lnSpc>
            </a:pPr>
            <a:r>
              <a:rPr sz="2400" spc="-10" dirty="0">
                <a:latin typeface="Times New Roman"/>
                <a:cs typeface="Times New Roman"/>
              </a:rPr>
              <a:t>machine:</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 pos="3294379" algn="l"/>
                <a:tab pos="3904615" algn="l"/>
                <a:tab pos="4999990" algn="l"/>
              </a:tabLst>
            </a:pPr>
            <a:r>
              <a:rPr sz="2400" dirty="0">
                <a:latin typeface="Times New Roman"/>
                <a:cs typeface="Times New Roman"/>
              </a:rPr>
              <a:t>Our</a:t>
            </a:r>
            <a:r>
              <a:rPr sz="2400" spc="-40" dirty="0">
                <a:latin typeface="Times New Roman"/>
                <a:cs typeface="Times New Roman"/>
              </a:rPr>
              <a:t> </a:t>
            </a:r>
            <a:r>
              <a:rPr sz="2400" dirty="0">
                <a:latin typeface="Times New Roman"/>
                <a:cs typeface="Times New Roman"/>
              </a:rPr>
              <a:t>examples</a:t>
            </a:r>
            <a:r>
              <a:rPr sz="2400" spc="-20" dirty="0">
                <a:latin typeface="Times New Roman"/>
                <a:cs typeface="Times New Roman"/>
              </a:rPr>
              <a:t> </a:t>
            </a:r>
            <a:r>
              <a:rPr sz="2400" dirty="0">
                <a:latin typeface="Times New Roman"/>
                <a:cs typeface="Times New Roman"/>
              </a:rPr>
              <a:t>are</a:t>
            </a:r>
            <a:r>
              <a:rPr sz="2400" spc="-5" dirty="0">
                <a:latin typeface="Times New Roman"/>
                <a:cs typeface="Times New Roman"/>
              </a:rPr>
              <a:t> </a:t>
            </a:r>
            <a:r>
              <a:rPr sz="2400" spc="-25" dirty="0">
                <a:latin typeface="Times New Roman"/>
                <a:cs typeface="Times New Roman"/>
              </a:rPr>
              <a:t>for</a:t>
            </a:r>
            <a:r>
              <a:rPr sz="2400" dirty="0">
                <a:latin typeface="Times New Roman"/>
                <a:cs typeface="Times New Roman"/>
              </a:rPr>
              <a:t>	</a:t>
            </a:r>
            <a:r>
              <a:rPr sz="2400" spc="-25" dirty="0">
                <a:latin typeface="Times New Roman"/>
                <a:cs typeface="Times New Roman"/>
              </a:rPr>
              <a:t>x86</a:t>
            </a:r>
            <a:r>
              <a:rPr sz="2400" dirty="0">
                <a:latin typeface="Times New Roman"/>
                <a:cs typeface="Times New Roman"/>
              </a:rPr>
              <a:t>	</a:t>
            </a:r>
            <a:r>
              <a:rPr sz="2400" spc="-10" dirty="0">
                <a:latin typeface="Times New Roman"/>
                <a:cs typeface="Times New Roman"/>
              </a:rPr>
              <a:t>running</a:t>
            </a:r>
            <a:r>
              <a:rPr sz="2400" dirty="0">
                <a:latin typeface="Times New Roman"/>
                <a:cs typeface="Times New Roman"/>
              </a:rPr>
              <a:t>	Linux or</a:t>
            </a:r>
            <a:r>
              <a:rPr sz="2400" spc="-35" dirty="0">
                <a:latin typeface="Times New Roman"/>
                <a:cs typeface="Times New Roman"/>
              </a:rPr>
              <a:t> </a:t>
            </a:r>
            <a:r>
              <a:rPr sz="2400" spc="-10" dirty="0">
                <a:latin typeface="Times New Roman"/>
                <a:cs typeface="Times New Roman"/>
              </a:rPr>
              <a:t>Windows</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Details</a:t>
            </a:r>
            <a:r>
              <a:rPr sz="2400" spc="-5" dirty="0">
                <a:latin typeface="Times New Roman"/>
                <a:cs typeface="Times New Roman"/>
              </a:rPr>
              <a:t> </a:t>
            </a:r>
            <a:r>
              <a:rPr sz="2400" dirty="0">
                <a:latin typeface="Times New Roman"/>
                <a:cs typeface="Times New Roman"/>
              </a:rPr>
              <a:t>vary</a:t>
            </a:r>
            <a:r>
              <a:rPr sz="2400" spc="-35" dirty="0">
                <a:latin typeface="Times New Roman"/>
                <a:cs typeface="Times New Roman"/>
              </a:rPr>
              <a:t> </a:t>
            </a:r>
            <a:r>
              <a:rPr sz="2400" dirty="0">
                <a:latin typeface="Times New Roman"/>
                <a:cs typeface="Times New Roman"/>
              </a:rPr>
              <a:t>slightly</a:t>
            </a:r>
            <a:r>
              <a:rPr sz="2400" spc="-30" dirty="0">
                <a:latin typeface="Times New Roman"/>
                <a:cs typeface="Times New Roman"/>
              </a:rPr>
              <a:t> </a:t>
            </a:r>
            <a:r>
              <a:rPr sz="2400" dirty="0">
                <a:latin typeface="Times New Roman"/>
                <a:cs typeface="Times New Roman"/>
              </a:rPr>
              <a:t>between</a:t>
            </a:r>
            <a:r>
              <a:rPr sz="2400" spc="-35" dirty="0">
                <a:latin typeface="Times New Roman"/>
                <a:cs typeface="Times New Roman"/>
              </a:rPr>
              <a:t> </a:t>
            </a:r>
            <a:r>
              <a:rPr sz="2400" dirty="0">
                <a:latin typeface="Times New Roman"/>
                <a:cs typeface="Times New Roman"/>
              </a:rPr>
              <a:t>CPUs</a:t>
            </a:r>
            <a:r>
              <a:rPr sz="2400" spc="-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spc="-20" dirty="0">
                <a:latin typeface="Times New Roman"/>
                <a:cs typeface="Times New Roman"/>
              </a:rPr>
              <a:t>OSs:</a:t>
            </a:r>
            <a:endParaRPr sz="2400">
              <a:latin typeface="Times New Roman"/>
              <a:cs typeface="Times New Roman"/>
            </a:endParaRPr>
          </a:p>
        </p:txBody>
      </p:sp>
      <p:sp>
        <p:nvSpPr>
          <p:cNvPr id="4" name="object 4"/>
          <p:cNvSpPr txBox="1"/>
          <p:nvPr/>
        </p:nvSpPr>
        <p:spPr>
          <a:xfrm>
            <a:off x="902652" y="4836795"/>
            <a:ext cx="3578225" cy="392430"/>
          </a:xfrm>
          <a:prstGeom prst="rect">
            <a:avLst/>
          </a:prstGeom>
        </p:spPr>
        <p:txBody>
          <a:bodyPr vert="horz" wrap="square" lIns="0" tIns="13335" rIns="0" bIns="0" rtlCol="0">
            <a:spAutoFit/>
          </a:bodyPr>
          <a:lstStyle/>
          <a:p>
            <a:pPr marL="241300" indent="-228600">
              <a:lnSpc>
                <a:spcPct val="100000"/>
              </a:lnSpc>
              <a:spcBef>
                <a:spcPts val="105"/>
              </a:spcBef>
              <a:buClr>
                <a:srgbClr val="E6B0AB"/>
              </a:buClr>
              <a:buSzPct val="83333"/>
              <a:buFont typeface="Segoe UI Symbol"/>
              <a:buChar char="⚫"/>
              <a:tabLst>
                <a:tab pos="241300" algn="l"/>
              </a:tabLst>
            </a:pPr>
            <a:r>
              <a:rPr sz="2400" dirty="0">
                <a:latin typeface="Times New Roman"/>
                <a:cs typeface="Times New Roman"/>
              </a:rPr>
              <a:t>Little</a:t>
            </a:r>
            <a:r>
              <a:rPr sz="2400" spc="-30" dirty="0">
                <a:latin typeface="Times New Roman"/>
                <a:cs typeface="Times New Roman"/>
              </a:rPr>
              <a:t> </a:t>
            </a:r>
            <a:r>
              <a:rPr sz="2400" dirty="0">
                <a:latin typeface="Times New Roman"/>
                <a:cs typeface="Times New Roman"/>
              </a:rPr>
              <a:t>endian</a:t>
            </a:r>
            <a:r>
              <a:rPr sz="2400" spc="-10" dirty="0">
                <a:latin typeface="Times New Roman"/>
                <a:cs typeface="Times New Roman"/>
              </a:rPr>
              <a:t> </a:t>
            </a:r>
            <a:r>
              <a:rPr sz="2400" dirty="0">
                <a:latin typeface="Times New Roman"/>
                <a:cs typeface="Times New Roman"/>
              </a:rPr>
              <a:t>vs.</a:t>
            </a:r>
            <a:r>
              <a:rPr sz="2400" spc="-15" dirty="0">
                <a:latin typeface="Times New Roman"/>
                <a:cs typeface="Times New Roman"/>
              </a:rPr>
              <a:t> </a:t>
            </a:r>
            <a:r>
              <a:rPr sz="2400" dirty="0">
                <a:latin typeface="Times New Roman"/>
                <a:cs typeface="Times New Roman"/>
              </a:rPr>
              <a:t>big</a:t>
            </a:r>
            <a:r>
              <a:rPr sz="2400" spc="-10" dirty="0">
                <a:latin typeface="Times New Roman"/>
                <a:cs typeface="Times New Roman"/>
              </a:rPr>
              <a:t> endian</a:t>
            </a:r>
            <a:endParaRPr sz="2400">
              <a:latin typeface="Times New Roman"/>
              <a:cs typeface="Times New Roman"/>
            </a:endParaRPr>
          </a:p>
        </p:txBody>
      </p:sp>
      <p:sp>
        <p:nvSpPr>
          <p:cNvPr id="5" name="object 5"/>
          <p:cNvSpPr txBox="1"/>
          <p:nvPr/>
        </p:nvSpPr>
        <p:spPr>
          <a:xfrm>
            <a:off x="4684776" y="4884420"/>
            <a:ext cx="1944370" cy="33528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a:cs typeface="Times New Roman"/>
              </a:rPr>
              <a:t>(x86</a:t>
            </a:r>
            <a:r>
              <a:rPr sz="2000" spc="-30" dirty="0">
                <a:latin typeface="Times New Roman"/>
                <a:cs typeface="Times New Roman"/>
              </a:rPr>
              <a:t> </a:t>
            </a:r>
            <a:r>
              <a:rPr sz="2000" dirty="0">
                <a:latin typeface="Times New Roman"/>
                <a:cs typeface="Times New Roman"/>
              </a:rPr>
              <a:t>vs.</a:t>
            </a:r>
            <a:r>
              <a:rPr sz="2000" spc="20" dirty="0">
                <a:latin typeface="Times New Roman"/>
                <a:cs typeface="Times New Roman"/>
              </a:rPr>
              <a:t> </a:t>
            </a:r>
            <a:r>
              <a:rPr sz="2000" spc="-10" dirty="0">
                <a:latin typeface="Times New Roman"/>
                <a:cs typeface="Times New Roman"/>
              </a:rPr>
              <a:t>Motorola)</a:t>
            </a:r>
            <a:endParaRPr sz="2000">
              <a:latin typeface="Times New Roman"/>
              <a:cs typeface="Times New Roman"/>
            </a:endParaRPr>
          </a:p>
        </p:txBody>
      </p:sp>
      <p:sp>
        <p:nvSpPr>
          <p:cNvPr id="6" name="object 6"/>
          <p:cNvSpPr txBox="1"/>
          <p:nvPr/>
        </p:nvSpPr>
        <p:spPr>
          <a:xfrm>
            <a:off x="902652" y="5256529"/>
            <a:ext cx="2922905" cy="392430"/>
          </a:xfrm>
          <a:prstGeom prst="rect">
            <a:avLst/>
          </a:prstGeom>
        </p:spPr>
        <p:txBody>
          <a:bodyPr vert="horz" wrap="square" lIns="0" tIns="13335" rIns="0" bIns="0" rtlCol="0">
            <a:spAutoFit/>
          </a:bodyPr>
          <a:lstStyle/>
          <a:p>
            <a:pPr marL="241300" indent="-228600">
              <a:lnSpc>
                <a:spcPct val="100000"/>
              </a:lnSpc>
              <a:spcBef>
                <a:spcPts val="105"/>
              </a:spcBef>
              <a:buClr>
                <a:srgbClr val="E6B0AB"/>
              </a:buClr>
              <a:buSzPct val="83333"/>
              <a:buFont typeface="Segoe UI Symbol"/>
              <a:buChar char="⚫"/>
              <a:tabLst>
                <a:tab pos="241300" algn="l"/>
              </a:tabLst>
            </a:pPr>
            <a:r>
              <a:rPr sz="2400" dirty="0">
                <a:latin typeface="Times New Roman"/>
                <a:cs typeface="Times New Roman"/>
              </a:rPr>
              <a:t>Stack</a:t>
            </a:r>
            <a:r>
              <a:rPr sz="2400" spc="-15" dirty="0">
                <a:latin typeface="Times New Roman"/>
                <a:cs typeface="Times New Roman"/>
              </a:rPr>
              <a:t> </a:t>
            </a:r>
            <a:r>
              <a:rPr sz="2400" dirty="0">
                <a:latin typeface="Times New Roman"/>
                <a:cs typeface="Times New Roman"/>
              </a:rPr>
              <a:t>Frame</a:t>
            </a:r>
            <a:r>
              <a:rPr sz="2400" spc="-25" dirty="0">
                <a:latin typeface="Times New Roman"/>
                <a:cs typeface="Times New Roman"/>
              </a:rPr>
              <a:t> </a:t>
            </a:r>
            <a:r>
              <a:rPr sz="2400" spc="-10" dirty="0">
                <a:latin typeface="Times New Roman"/>
                <a:cs typeface="Times New Roman"/>
              </a:rPr>
              <a:t>structure</a:t>
            </a:r>
            <a:endParaRPr sz="2400">
              <a:latin typeface="Times New Roman"/>
              <a:cs typeface="Times New Roman"/>
            </a:endParaRPr>
          </a:p>
        </p:txBody>
      </p:sp>
      <p:sp>
        <p:nvSpPr>
          <p:cNvPr id="7" name="object 7"/>
          <p:cNvSpPr txBox="1"/>
          <p:nvPr/>
        </p:nvSpPr>
        <p:spPr>
          <a:xfrm>
            <a:off x="4187571" y="5304472"/>
            <a:ext cx="2072639"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(Unix</a:t>
            </a:r>
            <a:r>
              <a:rPr sz="2000" spc="-15" dirty="0">
                <a:latin typeface="Times New Roman"/>
                <a:cs typeface="Times New Roman"/>
              </a:rPr>
              <a:t> </a:t>
            </a:r>
            <a:r>
              <a:rPr sz="2000" dirty="0">
                <a:latin typeface="Times New Roman"/>
                <a:cs typeface="Times New Roman"/>
              </a:rPr>
              <a:t>vs.</a:t>
            </a:r>
            <a:r>
              <a:rPr sz="2000" spc="-110" dirty="0">
                <a:latin typeface="Times New Roman"/>
                <a:cs typeface="Times New Roman"/>
              </a:rPr>
              <a:t> </a:t>
            </a:r>
            <a:r>
              <a:rPr sz="2000" spc="-10" dirty="0">
                <a:latin typeface="Times New Roman"/>
                <a:cs typeface="Times New Roman"/>
              </a:rPr>
              <a:t>Windows)</a:t>
            </a:r>
            <a:endParaRPr sz="2000">
              <a:latin typeface="Times New Roman"/>
              <a:cs typeface="Times New Roman"/>
            </a:endParaRPr>
          </a:p>
        </p:txBody>
      </p:sp>
      <p:sp>
        <p:nvSpPr>
          <p:cNvPr id="8" name="object 8"/>
          <p:cNvSpPr/>
          <p:nvPr/>
        </p:nvSpPr>
        <p:spPr>
          <a:xfrm>
            <a:off x="385762" y="3052826"/>
            <a:ext cx="8154034" cy="0"/>
          </a:xfrm>
          <a:custGeom>
            <a:avLst/>
            <a:gdLst/>
            <a:ahLst/>
            <a:cxnLst/>
            <a:rect l="l" t="t" r="r" b="b"/>
            <a:pathLst>
              <a:path w="8154034">
                <a:moveTo>
                  <a:pt x="0" y="0"/>
                </a:moveTo>
                <a:lnTo>
                  <a:pt x="8153463" y="0"/>
                </a:lnTo>
              </a:path>
            </a:pathLst>
          </a:custGeom>
          <a:ln w="28575">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457200" y="6248400"/>
            <a:ext cx="476250" cy="381000"/>
          </a:xfrm>
          <a:prstGeom prst="rect">
            <a:avLst/>
          </a:prstGeom>
        </p:spPr>
      </p:pic>
      <p:sp>
        <p:nvSpPr>
          <p:cNvPr id="10" name="object 10"/>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70" rIns="0" bIns="0" rtlCol="0">
            <a:spAutoFit/>
          </a:bodyPr>
          <a:lstStyle/>
          <a:p>
            <a:pPr marL="241300">
              <a:lnSpc>
                <a:spcPct val="100000"/>
              </a:lnSpc>
              <a:spcBef>
                <a:spcPts val="105"/>
              </a:spcBef>
            </a:pPr>
            <a:r>
              <a:rPr dirty="0"/>
              <a:t>Linux</a:t>
            </a:r>
            <a:r>
              <a:rPr spc="-30" dirty="0"/>
              <a:t> </a:t>
            </a:r>
            <a:r>
              <a:rPr dirty="0"/>
              <a:t>process</a:t>
            </a:r>
            <a:r>
              <a:rPr spc="-10" dirty="0"/>
              <a:t> </a:t>
            </a:r>
            <a:r>
              <a:rPr dirty="0"/>
              <a:t>memory</a:t>
            </a:r>
            <a:r>
              <a:rPr spc="-15" dirty="0"/>
              <a:t> </a:t>
            </a:r>
            <a:r>
              <a:rPr spc="-10" dirty="0"/>
              <a:t>layout</a:t>
            </a:r>
          </a:p>
        </p:txBody>
      </p:sp>
      <p:grpSp>
        <p:nvGrpSpPr>
          <p:cNvPr id="3" name="object 3"/>
          <p:cNvGrpSpPr/>
          <p:nvPr/>
        </p:nvGrpSpPr>
        <p:grpSpPr>
          <a:xfrm>
            <a:off x="2652776" y="3733800"/>
            <a:ext cx="2819400" cy="538480"/>
            <a:chOff x="2652776" y="3733800"/>
            <a:chExt cx="2819400" cy="538480"/>
          </a:xfrm>
        </p:grpSpPr>
        <p:sp>
          <p:nvSpPr>
            <p:cNvPr id="4" name="object 4"/>
            <p:cNvSpPr/>
            <p:nvPr/>
          </p:nvSpPr>
          <p:spPr>
            <a:xfrm>
              <a:off x="2652776" y="3762375"/>
              <a:ext cx="2819400" cy="509905"/>
            </a:xfrm>
            <a:custGeom>
              <a:avLst/>
              <a:gdLst/>
              <a:ahLst/>
              <a:cxnLst/>
              <a:rect l="l" t="t" r="r" b="b"/>
              <a:pathLst>
                <a:path w="2819400" h="509904">
                  <a:moveTo>
                    <a:pt x="0" y="509650"/>
                  </a:moveTo>
                  <a:lnTo>
                    <a:pt x="2819400" y="509650"/>
                  </a:lnTo>
                  <a:lnTo>
                    <a:pt x="2819400" y="0"/>
                  </a:lnTo>
                  <a:lnTo>
                    <a:pt x="0" y="0"/>
                  </a:lnTo>
                  <a:lnTo>
                    <a:pt x="0" y="509650"/>
                  </a:lnTo>
                  <a:close/>
                </a:path>
              </a:pathLst>
            </a:custGeom>
            <a:solidFill>
              <a:srgbClr val="808080"/>
            </a:solidFill>
          </p:spPr>
          <p:txBody>
            <a:bodyPr wrap="square" lIns="0" tIns="0" rIns="0" bIns="0" rtlCol="0"/>
            <a:lstStyle/>
            <a:p>
              <a:endParaRPr/>
            </a:p>
          </p:txBody>
        </p:sp>
        <p:sp>
          <p:nvSpPr>
            <p:cNvPr id="5" name="object 5"/>
            <p:cNvSpPr/>
            <p:nvPr/>
          </p:nvSpPr>
          <p:spPr>
            <a:xfrm>
              <a:off x="3905250" y="3733800"/>
              <a:ext cx="228600" cy="533400"/>
            </a:xfrm>
            <a:custGeom>
              <a:avLst/>
              <a:gdLst/>
              <a:ahLst/>
              <a:cxnLst/>
              <a:rect l="l" t="t" r="r" b="b"/>
              <a:pathLst>
                <a:path w="228600" h="533400">
                  <a:moveTo>
                    <a:pt x="152400" y="190500"/>
                  </a:moveTo>
                  <a:lnTo>
                    <a:pt x="76200" y="190500"/>
                  </a:lnTo>
                  <a:lnTo>
                    <a:pt x="76200" y="533400"/>
                  </a:lnTo>
                  <a:lnTo>
                    <a:pt x="152400" y="533400"/>
                  </a:lnTo>
                  <a:lnTo>
                    <a:pt x="152400" y="190500"/>
                  </a:lnTo>
                  <a:close/>
                </a:path>
                <a:path w="228600" h="533400">
                  <a:moveTo>
                    <a:pt x="114300" y="0"/>
                  </a:moveTo>
                  <a:lnTo>
                    <a:pt x="0" y="228600"/>
                  </a:lnTo>
                  <a:lnTo>
                    <a:pt x="76200" y="228600"/>
                  </a:lnTo>
                  <a:lnTo>
                    <a:pt x="76200" y="190500"/>
                  </a:lnTo>
                  <a:lnTo>
                    <a:pt x="209550" y="190500"/>
                  </a:lnTo>
                  <a:lnTo>
                    <a:pt x="114300" y="0"/>
                  </a:lnTo>
                  <a:close/>
                </a:path>
                <a:path w="228600" h="533400">
                  <a:moveTo>
                    <a:pt x="209550" y="190500"/>
                  </a:moveTo>
                  <a:lnTo>
                    <a:pt x="152400" y="190500"/>
                  </a:lnTo>
                  <a:lnTo>
                    <a:pt x="152400" y="228600"/>
                  </a:lnTo>
                  <a:lnTo>
                    <a:pt x="228600" y="228600"/>
                  </a:lnTo>
                  <a:lnTo>
                    <a:pt x="209550" y="190500"/>
                  </a:lnTo>
                  <a:close/>
                </a:path>
              </a:pathLst>
            </a:custGeom>
            <a:solidFill>
              <a:srgbClr val="000000"/>
            </a:solidFill>
          </p:spPr>
          <p:txBody>
            <a:bodyPr wrap="square" lIns="0" tIns="0" rIns="0" bIns="0" rtlCol="0"/>
            <a:lstStyle/>
            <a:p>
              <a:endParaRPr/>
            </a:p>
          </p:txBody>
        </p:sp>
      </p:grpSp>
      <p:grpSp>
        <p:nvGrpSpPr>
          <p:cNvPr id="6" name="object 6"/>
          <p:cNvGrpSpPr/>
          <p:nvPr/>
        </p:nvGrpSpPr>
        <p:grpSpPr>
          <a:xfrm>
            <a:off x="2071623" y="1947926"/>
            <a:ext cx="3401060" cy="1257300"/>
            <a:chOff x="2071623" y="1947926"/>
            <a:chExt cx="3401060" cy="1257300"/>
          </a:xfrm>
        </p:grpSpPr>
        <p:sp>
          <p:nvSpPr>
            <p:cNvPr id="7" name="object 7"/>
            <p:cNvSpPr/>
            <p:nvPr/>
          </p:nvSpPr>
          <p:spPr>
            <a:xfrm>
              <a:off x="2652775" y="1986026"/>
              <a:ext cx="2819400" cy="1219200"/>
            </a:xfrm>
            <a:custGeom>
              <a:avLst/>
              <a:gdLst/>
              <a:ahLst/>
              <a:cxnLst/>
              <a:rect l="l" t="t" r="r" b="b"/>
              <a:pathLst>
                <a:path w="2819400" h="1219200">
                  <a:moveTo>
                    <a:pt x="2819400" y="0"/>
                  </a:moveTo>
                  <a:lnTo>
                    <a:pt x="0" y="0"/>
                  </a:lnTo>
                  <a:lnTo>
                    <a:pt x="0" y="1219200"/>
                  </a:lnTo>
                  <a:lnTo>
                    <a:pt x="2819400" y="1219200"/>
                  </a:lnTo>
                  <a:lnTo>
                    <a:pt x="2819400" y="0"/>
                  </a:lnTo>
                  <a:close/>
                </a:path>
              </a:pathLst>
            </a:custGeom>
            <a:solidFill>
              <a:srgbClr val="808080"/>
            </a:solidFill>
          </p:spPr>
          <p:txBody>
            <a:bodyPr wrap="square" lIns="0" tIns="0" rIns="0" bIns="0" rtlCol="0"/>
            <a:lstStyle/>
            <a:p>
              <a:endParaRPr/>
            </a:p>
          </p:txBody>
        </p:sp>
        <p:sp>
          <p:nvSpPr>
            <p:cNvPr id="8" name="object 8"/>
            <p:cNvSpPr/>
            <p:nvPr/>
          </p:nvSpPr>
          <p:spPr>
            <a:xfrm>
              <a:off x="2071624" y="1947925"/>
              <a:ext cx="2062480" cy="1252855"/>
            </a:xfrm>
            <a:custGeom>
              <a:avLst/>
              <a:gdLst/>
              <a:ahLst/>
              <a:cxnLst/>
              <a:rect l="l" t="t" r="r" b="b"/>
              <a:pathLst>
                <a:path w="2062479" h="1252855">
                  <a:moveTo>
                    <a:pt x="581025" y="38100"/>
                  </a:moveTo>
                  <a:lnTo>
                    <a:pt x="568325" y="31750"/>
                  </a:lnTo>
                  <a:lnTo>
                    <a:pt x="504825" y="0"/>
                  </a:lnTo>
                  <a:lnTo>
                    <a:pt x="504825" y="31750"/>
                  </a:lnTo>
                  <a:lnTo>
                    <a:pt x="0" y="31750"/>
                  </a:lnTo>
                  <a:lnTo>
                    <a:pt x="0" y="44450"/>
                  </a:lnTo>
                  <a:lnTo>
                    <a:pt x="504825" y="44450"/>
                  </a:lnTo>
                  <a:lnTo>
                    <a:pt x="504825" y="76200"/>
                  </a:lnTo>
                  <a:lnTo>
                    <a:pt x="568325" y="44450"/>
                  </a:lnTo>
                  <a:lnTo>
                    <a:pt x="581025" y="38100"/>
                  </a:lnTo>
                  <a:close/>
                </a:path>
                <a:path w="2062479" h="1252855">
                  <a:moveTo>
                    <a:pt x="2062226" y="947674"/>
                  </a:moveTo>
                  <a:lnTo>
                    <a:pt x="2043176" y="909574"/>
                  </a:lnTo>
                  <a:lnTo>
                    <a:pt x="1947926" y="719074"/>
                  </a:lnTo>
                  <a:lnTo>
                    <a:pt x="1833626" y="947674"/>
                  </a:lnTo>
                  <a:lnTo>
                    <a:pt x="1909826" y="947674"/>
                  </a:lnTo>
                  <a:lnTo>
                    <a:pt x="1909826" y="1252474"/>
                  </a:lnTo>
                  <a:lnTo>
                    <a:pt x="1986026" y="1252474"/>
                  </a:lnTo>
                  <a:lnTo>
                    <a:pt x="1986026" y="947674"/>
                  </a:lnTo>
                  <a:lnTo>
                    <a:pt x="2062226" y="947674"/>
                  </a:lnTo>
                  <a:close/>
                </a:path>
                <a:path w="2062479" h="1252855">
                  <a:moveTo>
                    <a:pt x="2062226" y="338074"/>
                  </a:moveTo>
                  <a:lnTo>
                    <a:pt x="1986026" y="338074"/>
                  </a:lnTo>
                  <a:lnTo>
                    <a:pt x="1986026" y="33274"/>
                  </a:lnTo>
                  <a:lnTo>
                    <a:pt x="1909826" y="33274"/>
                  </a:lnTo>
                  <a:lnTo>
                    <a:pt x="1909826" y="338074"/>
                  </a:lnTo>
                  <a:lnTo>
                    <a:pt x="1833626" y="338074"/>
                  </a:lnTo>
                  <a:lnTo>
                    <a:pt x="1947926" y="566674"/>
                  </a:lnTo>
                  <a:lnTo>
                    <a:pt x="2043176" y="376174"/>
                  </a:lnTo>
                  <a:lnTo>
                    <a:pt x="2062226" y="338074"/>
                  </a:lnTo>
                  <a:close/>
                </a:path>
              </a:pathLst>
            </a:custGeom>
            <a:solidFill>
              <a:srgbClr val="000000"/>
            </a:solidFill>
          </p:spPr>
          <p:txBody>
            <a:bodyPr wrap="square" lIns="0" tIns="0" rIns="0" bIns="0" rtlCol="0"/>
            <a:lstStyle/>
            <a:p>
              <a:endParaRPr/>
            </a:p>
          </p:txBody>
        </p:sp>
      </p:grpSp>
      <p:graphicFrame>
        <p:nvGraphicFramePr>
          <p:cNvPr id="9" name="object 9"/>
          <p:cNvGraphicFramePr>
            <a:graphicFrameLocks noGrp="1"/>
          </p:cNvGraphicFramePr>
          <p:nvPr/>
        </p:nvGraphicFramePr>
        <p:xfrm>
          <a:off x="2648013" y="1190625"/>
          <a:ext cx="2819400" cy="4918074"/>
        </p:xfrm>
        <a:graphic>
          <a:graphicData uri="http://schemas.openxmlformats.org/drawingml/2006/table">
            <a:tbl>
              <a:tblPr firstRow="1" bandRow="1">
                <a:tableStyleId>{2D5ABB26-0587-4C30-8999-92F81FD0307C}</a:tableStyleId>
              </a:tblPr>
              <a:tblGrid>
                <a:gridCol w="2819400"/>
              </a:tblGrid>
              <a:tr h="766445">
                <a:tc>
                  <a:txBody>
                    <a:bodyPr/>
                    <a:lstStyle/>
                    <a:p>
                      <a:pPr marL="7620" algn="ctr">
                        <a:lnSpc>
                          <a:spcPct val="100000"/>
                        </a:lnSpc>
                        <a:spcBef>
                          <a:spcPts val="1165"/>
                        </a:spcBef>
                      </a:pPr>
                      <a:r>
                        <a:rPr sz="2400" spc="-95" dirty="0">
                          <a:latin typeface="Times New Roman"/>
                          <a:cs typeface="Times New Roman"/>
                        </a:rPr>
                        <a:t>user</a:t>
                      </a:r>
                      <a:r>
                        <a:rPr sz="2400" spc="-55" dirty="0">
                          <a:latin typeface="Times New Roman"/>
                          <a:cs typeface="Times New Roman"/>
                        </a:rPr>
                        <a:t> </a:t>
                      </a:r>
                      <a:r>
                        <a:rPr sz="2400" spc="-20" dirty="0">
                          <a:latin typeface="Times New Roman"/>
                          <a:cs typeface="Times New Roman"/>
                        </a:rPr>
                        <a:t>stack</a:t>
                      </a:r>
                      <a:endParaRPr sz="2400">
                        <a:latin typeface="Times New Roman"/>
                        <a:cs typeface="Times New Roman"/>
                      </a:endParaRPr>
                    </a:p>
                  </a:txBody>
                  <a:tcPr marL="0" marR="0" marT="147955" marB="0">
                    <a:lnL w="9525">
                      <a:solidFill>
                        <a:srgbClr val="000000"/>
                      </a:solidFill>
                      <a:prstDash val="solid"/>
                    </a:lnL>
                    <a:lnR w="9525">
                      <a:solidFill>
                        <a:srgbClr val="000000"/>
                      </a:solidFill>
                      <a:prstDash val="solid"/>
                    </a:lnR>
                    <a:lnT w="57150">
                      <a:solidFill>
                        <a:srgbClr val="000000"/>
                      </a:solidFill>
                      <a:prstDash val="solid"/>
                    </a:lnT>
                    <a:lnB w="9525">
                      <a:solidFill>
                        <a:srgbClr val="000000"/>
                      </a:solidFill>
                      <a:prstDash val="solid"/>
                    </a:lnB>
                    <a:solidFill>
                      <a:srgbClr val="006FC0"/>
                    </a:solidFill>
                  </a:tcPr>
                </a:tc>
              </a:tr>
              <a:tr h="1219200">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528320">
                <a:tc>
                  <a:txBody>
                    <a:bodyPr/>
                    <a:lstStyle/>
                    <a:p>
                      <a:pPr algn="ctr">
                        <a:lnSpc>
                          <a:spcPct val="100000"/>
                        </a:lnSpc>
                        <a:spcBef>
                          <a:spcPts val="245"/>
                        </a:spcBef>
                      </a:pPr>
                      <a:r>
                        <a:rPr sz="2400" spc="-140" dirty="0">
                          <a:latin typeface="Times New Roman"/>
                          <a:cs typeface="Times New Roman"/>
                        </a:rPr>
                        <a:t>shared</a:t>
                      </a:r>
                      <a:r>
                        <a:rPr sz="2400" spc="-10" dirty="0">
                          <a:latin typeface="Times New Roman"/>
                          <a:cs typeface="Times New Roman"/>
                        </a:rPr>
                        <a:t> libraries</a:t>
                      </a:r>
                      <a:endParaRPr sz="2400">
                        <a:latin typeface="Times New Roman"/>
                        <a:cs typeface="Times New Roman"/>
                      </a:endParaRPr>
                    </a:p>
                  </a:txBody>
                  <a:tcPr marL="0" marR="0" marT="31115" marB="0">
                    <a:lnL w="9525">
                      <a:solidFill>
                        <a:srgbClr val="000000"/>
                      </a:solidFill>
                      <a:prstDash val="solid"/>
                    </a:lnL>
                    <a:lnR w="9525">
                      <a:solidFill>
                        <a:srgbClr val="000000"/>
                      </a:solidFill>
                      <a:prstDash val="solid"/>
                    </a:lnR>
                    <a:lnT w="9525">
                      <a:solidFill>
                        <a:srgbClr val="000000"/>
                      </a:solidFill>
                      <a:prstDash val="solid"/>
                    </a:lnT>
                    <a:lnB w="57150">
                      <a:solidFill>
                        <a:srgbClr val="000000"/>
                      </a:solidFill>
                      <a:prstDash val="solid"/>
                    </a:lnB>
                    <a:solidFill>
                      <a:srgbClr val="006FC0"/>
                    </a:solidFill>
                  </a:tcPr>
                </a:tc>
              </a:tr>
              <a:tr h="537845">
                <a:tc>
                  <a:txBody>
                    <a:bodyPr/>
                    <a:lstStyle/>
                    <a:p>
                      <a:pPr>
                        <a:lnSpc>
                          <a:spcPct val="100000"/>
                        </a:lnSpc>
                      </a:pPr>
                      <a:endParaRPr sz="2500">
                        <a:latin typeface="Times New Roman"/>
                        <a:cs typeface="Times New Roman"/>
                      </a:endParaRPr>
                    </a:p>
                  </a:txBody>
                  <a:tcPr marL="0" marR="0" marT="0" marB="0">
                    <a:lnL w="9525">
                      <a:solidFill>
                        <a:srgbClr val="6699FF"/>
                      </a:solidFill>
                      <a:prstDash val="solid"/>
                    </a:lnL>
                    <a:lnR w="9525">
                      <a:solidFill>
                        <a:srgbClr val="6699FF"/>
                      </a:solidFill>
                      <a:prstDash val="solid"/>
                    </a:lnR>
                    <a:lnT w="57150">
                      <a:solidFill>
                        <a:srgbClr val="000000"/>
                      </a:solidFill>
                      <a:prstDash val="solid"/>
                    </a:lnT>
                    <a:lnB w="9525">
                      <a:solidFill>
                        <a:srgbClr val="6699FF"/>
                      </a:solidFill>
                      <a:prstDash val="solid"/>
                    </a:lnB>
                  </a:tcPr>
                </a:tc>
              </a:tr>
              <a:tr h="833119">
                <a:tc>
                  <a:txBody>
                    <a:bodyPr/>
                    <a:lstStyle/>
                    <a:p>
                      <a:pPr algn="ctr">
                        <a:lnSpc>
                          <a:spcPct val="100000"/>
                        </a:lnSpc>
                        <a:spcBef>
                          <a:spcPts val="1465"/>
                        </a:spcBef>
                      </a:pPr>
                      <a:r>
                        <a:rPr sz="2400" spc="-45" dirty="0">
                          <a:latin typeface="Times New Roman"/>
                          <a:cs typeface="Times New Roman"/>
                        </a:rPr>
                        <a:t>run</a:t>
                      </a:r>
                      <a:r>
                        <a:rPr sz="2400" spc="-95" dirty="0">
                          <a:latin typeface="Times New Roman"/>
                          <a:cs typeface="Times New Roman"/>
                        </a:rPr>
                        <a:t> </a:t>
                      </a:r>
                      <a:r>
                        <a:rPr sz="2400" spc="-75" dirty="0">
                          <a:latin typeface="Times New Roman"/>
                          <a:cs typeface="Times New Roman"/>
                        </a:rPr>
                        <a:t>time</a:t>
                      </a:r>
                      <a:r>
                        <a:rPr sz="2400" spc="-80" dirty="0">
                          <a:latin typeface="Times New Roman"/>
                          <a:cs typeface="Times New Roman"/>
                        </a:rPr>
                        <a:t> </a:t>
                      </a:r>
                      <a:r>
                        <a:rPr sz="2400" spc="-20" dirty="0">
                          <a:latin typeface="Times New Roman"/>
                          <a:cs typeface="Times New Roman"/>
                        </a:rPr>
                        <a:t>heap</a:t>
                      </a:r>
                      <a:endParaRPr sz="2400">
                        <a:latin typeface="Times New Roman"/>
                        <a:cs typeface="Times New Roman"/>
                      </a:endParaRPr>
                    </a:p>
                  </a:txBody>
                  <a:tcPr marL="0" marR="0" marT="186055" marB="0">
                    <a:lnL w="9525">
                      <a:solidFill>
                        <a:srgbClr val="000000"/>
                      </a:solidFill>
                      <a:prstDash val="solid"/>
                    </a:lnL>
                    <a:lnR w="9525">
                      <a:solidFill>
                        <a:srgbClr val="000000"/>
                      </a:solidFill>
                      <a:prstDash val="solid"/>
                    </a:lnR>
                    <a:lnT w="9525">
                      <a:solidFill>
                        <a:srgbClr val="6699FF"/>
                      </a:solidFill>
                      <a:prstDash val="solid"/>
                    </a:lnT>
                    <a:lnB w="57150">
                      <a:solidFill>
                        <a:srgbClr val="000000"/>
                      </a:solidFill>
                      <a:prstDash val="solid"/>
                    </a:lnB>
                    <a:solidFill>
                      <a:srgbClr val="006FC0"/>
                    </a:solidFill>
                  </a:tcPr>
                </a:tc>
              </a:tr>
              <a:tr h="619125">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57150">
                      <a:solidFill>
                        <a:srgbClr val="000000"/>
                      </a:solidFill>
                      <a:prstDash val="solid"/>
                    </a:lnT>
                    <a:lnB w="76200">
                      <a:solidFill>
                        <a:srgbClr val="000000"/>
                      </a:solidFill>
                      <a:prstDash val="solid"/>
                    </a:lnB>
                    <a:solidFill>
                      <a:srgbClr val="006FC0"/>
                    </a:solidFill>
                  </a:tcPr>
                </a:tc>
              </a:tr>
              <a:tr h="414020">
                <a:tc>
                  <a:txBody>
                    <a:bodyPr/>
                    <a:lstStyle/>
                    <a:p>
                      <a:pPr algn="ctr">
                        <a:lnSpc>
                          <a:spcPts val="2820"/>
                        </a:lnSpc>
                      </a:pPr>
                      <a:r>
                        <a:rPr sz="2400" spc="-10" dirty="0">
                          <a:latin typeface="Times New Roman"/>
                          <a:cs typeface="Times New Roman"/>
                        </a:rPr>
                        <a:t>unused</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76200">
                      <a:solidFill>
                        <a:srgbClr val="000000"/>
                      </a:solidFill>
                      <a:prstDash val="solid"/>
                    </a:lnT>
                    <a:lnB w="9525">
                      <a:solidFill>
                        <a:srgbClr val="000000"/>
                      </a:solidFill>
                      <a:prstDash val="solid"/>
                    </a:lnB>
                    <a:solidFill>
                      <a:srgbClr val="006FC0"/>
                    </a:solidFill>
                  </a:tcPr>
                </a:tc>
              </a:tr>
            </a:tbl>
          </a:graphicData>
        </a:graphic>
      </p:graphicFrame>
      <p:sp>
        <p:nvSpPr>
          <p:cNvPr id="10" name="object 10"/>
          <p:cNvSpPr txBox="1"/>
          <p:nvPr/>
        </p:nvSpPr>
        <p:spPr>
          <a:xfrm>
            <a:off x="5670296" y="3491293"/>
            <a:ext cx="1420495" cy="391795"/>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Times New Roman"/>
                <a:cs typeface="Times New Roman"/>
              </a:rPr>
              <a:t>0x40000000</a:t>
            </a:r>
            <a:endParaRPr sz="2400">
              <a:latin typeface="Times New Roman"/>
              <a:cs typeface="Times New Roman"/>
            </a:endParaRPr>
          </a:p>
        </p:txBody>
      </p:sp>
      <p:sp>
        <p:nvSpPr>
          <p:cNvPr id="11" name="object 11"/>
          <p:cNvSpPr txBox="1"/>
          <p:nvPr/>
        </p:nvSpPr>
        <p:spPr>
          <a:xfrm>
            <a:off x="5542279" y="973137"/>
            <a:ext cx="1470660" cy="391795"/>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Times New Roman"/>
                <a:cs typeface="Times New Roman"/>
              </a:rPr>
              <a:t>0xC0000000</a:t>
            </a:r>
            <a:endParaRPr sz="2400">
              <a:latin typeface="Times New Roman"/>
              <a:cs typeface="Times New Roman"/>
            </a:endParaRPr>
          </a:p>
        </p:txBody>
      </p:sp>
      <p:sp>
        <p:nvSpPr>
          <p:cNvPr id="12" name="object 12"/>
          <p:cNvSpPr txBox="1"/>
          <p:nvPr/>
        </p:nvSpPr>
        <p:spPr>
          <a:xfrm>
            <a:off x="1289685" y="1736153"/>
            <a:ext cx="614045" cy="391795"/>
          </a:xfrm>
          <a:prstGeom prst="rect">
            <a:avLst/>
          </a:prstGeom>
        </p:spPr>
        <p:txBody>
          <a:bodyPr vert="horz" wrap="square" lIns="0" tIns="12700" rIns="0" bIns="0" rtlCol="0">
            <a:spAutoFit/>
          </a:bodyPr>
          <a:lstStyle/>
          <a:p>
            <a:pPr marL="12700">
              <a:lnSpc>
                <a:spcPct val="100000"/>
              </a:lnSpc>
              <a:spcBef>
                <a:spcPts val="100"/>
              </a:spcBef>
            </a:pPr>
            <a:r>
              <a:rPr sz="2400" spc="-135" dirty="0">
                <a:latin typeface="Times New Roman"/>
                <a:cs typeface="Times New Roman"/>
              </a:rPr>
              <a:t>%esp</a:t>
            </a:r>
            <a:endParaRPr sz="2400">
              <a:latin typeface="Times New Roman"/>
              <a:cs typeface="Times New Roman"/>
            </a:endParaRPr>
          </a:p>
        </p:txBody>
      </p:sp>
      <p:sp>
        <p:nvSpPr>
          <p:cNvPr id="13" name="object 13"/>
          <p:cNvSpPr txBox="1"/>
          <p:nvPr/>
        </p:nvSpPr>
        <p:spPr>
          <a:xfrm>
            <a:off x="1491614" y="4025328"/>
            <a:ext cx="397510" cy="391795"/>
          </a:xfrm>
          <a:prstGeom prst="rect">
            <a:avLst/>
          </a:prstGeom>
        </p:spPr>
        <p:txBody>
          <a:bodyPr vert="horz" wrap="square" lIns="0" tIns="12700" rIns="0" bIns="0" rtlCol="0">
            <a:spAutoFit/>
          </a:bodyPr>
          <a:lstStyle/>
          <a:p>
            <a:pPr marL="12700">
              <a:lnSpc>
                <a:spcPct val="100000"/>
              </a:lnSpc>
              <a:spcBef>
                <a:spcPts val="100"/>
              </a:spcBef>
            </a:pPr>
            <a:r>
              <a:rPr sz="2400" spc="-80" dirty="0">
                <a:latin typeface="Times New Roman"/>
                <a:cs typeface="Times New Roman"/>
              </a:rPr>
              <a:t>brk</a:t>
            </a:r>
            <a:endParaRPr sz="2400">
              <a:latin typeface="Times New Roman"/>
              <a:cs typeface="Times New Roman"/>
            </a:endParaRPr>
          </a:p>
        </p:txBody>
      </p:sp>
      <p:sp>
        <p:nvSpPr>
          <p:cNvPr id="14" name="object 14"/>
          <p:cNvSpPr/>
          <p:nvPr/>
        </p:nvSpPr>
        <p:spPr>
          <a:xfrm>
            <a:off x="1995423" y="4233926"/>
            <a:ext cx="581025" cy="76200"/>
          </a:xfrm>
          <a:custGeom>
            <a:avLst/>
            <a:gdLst/>
            <a:ahLst/>
            <a:cxnLst/>
            <a:rect l="l" t="t" r="r" b="b"/>
            <a:pathLst>
              <a:path w="581025" h="76200">
                <a:moveTo>
                  <a:pt x="504825" y="0"/>
                </a:moveTo>
                <a:lnTo>
                  <a:pt x="504825" y="76073"/>
                </a:lnTo>
                <a:lnTo>
                  <a:pt x="568282" y="44450"/>
                </a:lnTo>
                <a:lnTo>
                  <a:pt x="517525" y="44450"/>
                </a:lnTo>
                <a:lnTo>
                  <a:pt x="517525" y="31750"/>
                </a:lnTo>
                <a:lnTo>
                  <a:pt x="568325" y="31750"/>
                </a:lnTo>
                <a:lnTo>
                  <a:pt x="504825" y="0"/>
                </a:lnTo>
                <a:close/>
              </a:path>
              <a:path w="581025" h="76200">
                <a:moveTo>
                  <a:pt x="504825" y="31750"/>
                </a:moveTo>
                <a:lnTo>
                  <a:pt x="0" y="31750"/>
                </a:lnTo>
                <a:lnTo>
                  <a:pt x="0" y="44450"/>
                </a:lnTo>
                <a:lnTo>
                  <a:pt x="504825" y="44450"/>
                </a:lnTo>
                <a:lnTo>
                  <a:pt x="504825" y="31750"/>
                </a:lnTo>
                <a:close/>
              </a:path>
              <a:path w="581025" h="76200">
                <a:moveTo>
                  <a:pt x="568325" y="31750"/>
                </a:moveTo>
                <a:lnTo>
                  <a:pt x="517525" y="31750"/>
                </a:lnTo>
                <a:lnTo>
                  <a:pt x="517525" y="44450"/>
                </a:lnTo>
                <a:lnTo>
                  <a:pt x="568282" y="44450"/>
                </a:lnTo>
                <a:lnTo>
                  <a:pt x="581025" y="38100"/>
                </a:lnTo>
                <a:lnTo>
                  <a:pt x="568325" y="31750"/>
                </a:lnTo>
                <a:close/>
              </a:path>
            </a:pathLst>
          </a:custGeom>
          <a:solidFill>
            <a:srgbClr val="000000"/>
          </a:solidFill>
        </p:spPr>
        <p:txBody>
          <a:bodyPr wrap="square" lIns="0" tIns="0" rIns="0" bIns="0" rtlCol="0"/>
          <a:lstStyle/>
          <a:p>
            <a:endParaRPr/>
          </a:p>
        </p:txBody>
      </p:sp>
      <p:sp>
        <p:nvSpPr>
          <p:cNvPr id="15" name="object 15"/>
          <p:cNvSpPr/>
          <p:nvPr/>
        </p:nvSpPr>
        <p:spPr>
          <a:xfrm>
            <a:off x="2300351" y="5110226"/>
            <a:ext cx="276225" cy="647700"/>
          </a:xfrm>
          <a:custGeom>
            <a:avLst/>
            <a:gdLst/>
            <a:ahLst/>
            <a:cxnLst/>
            <a:rect l="l" t="t" r="r" b="b"/>
            <a:pathLst>
              <a:path w="276225" h="647700">
                <a:moveTo>
                  <a:pt x="276225" y="647636"/>
                </a:moveTo>
                <a:lnTo>
                  <a:pt x="222434" y="643320"/>
                </a:lnTo>
                <a:lnTo>
                  <a:pt x="178514" y="631550"/>
                </a:lnTo>
                <a:lnTo>
                  <a:pt x="148905" y="614091"/>
                </a:lnTo>
                <a:lnTo>
                  <a:pt x="138049" y="592709"/>
                </a:lnTo>
                <a:lnTo>
                  <a:pt x="138049" y="378714"/>
                </a:lnTo>
                <a:lnTo>
                  <a:pt x="127194" y="357336"/>
                </a:lnTo>
                <a:lnTo>
                  <a:pt x="97599" y="339899"/>
                </a:lnTo>
                <a:lnTo>
                  <a:pt x="53717" y="328154"/>
                </a:lnTo>
                <a:lnTo>
                  <a:pt x="0" y="323850"/>
                </a:lnTo>
                <a:lnTo>
                  <a:pt x="53717" y="319526"/>
                </a:lnTo>
                <a:lnTo>
                  <a:pt x="97599" y="307736"/>
                </a:lnTo>
                <a:lnTo>
                  <a:pt x="127194" y="290256"/>
                </a:lnTo>
                <a:lnTo>
                  <a:pt x="138049" y="268859"/>
                </a:lnTo>
                <a:lnTo>
                  <a:pt x="138049" y="54863"/>
                </a:lnTo>
                <a:lnTo>
                  <a:pt x="148905" y="33486"/>
                </a:lnTo>
                <a:lnTo>
                  <a:pt x="178514" y="16049"/>
                </a:lnTo>
                <a:lnTo>
                  <a:pt x="222434" y="4304"/>
                </a:lnTo>
                <a:lnTo>
                  <a:pt x="276225" y="0"/>
                </a:lnTo>
              </a:path>
            </a:pathLst>
          </a:custGeom>
          <a:ln w="9525">
            <a:solidFill>
              <a:srgbClr val="000000"/>
            </a:solidFill>
          </a:ln>
        </p:spPr>
        <p:txBody>
          <a:bodyPr wrap="square" lIns="0" tIns="0" rIns="0" bIns="0" rtlCol="0"/>
          <a:lstStyle/>
          <a:p>
            <a:endParaRPr/>
          </a:p>
        </p:txBody>
      </p:sp>
      <p:sp>
        <p:nvSpPr>
          <p:cNvPr id="16" name="object 16"/>
          <p:cNvSpPr txBox="1"/>
          <p:nvPr/>
        </p:nvSpPr>
        <p:spPr>
          <a:xfrm>
            <a:off x="1122680" y="5001196"/>
            <a:ext cx="1134110" cy="763905"/>
          </a:xfrm>
          <a:prstGeom prst="rect">
            <a:avLst/>
          </a:prstGeom>
        </p:spPr>
        <p:txBody>
          <a:bodyPr vert="horz" wrap="square" lIns="0" tIns="6350" rIns="0" bIns="0" rtlCol="0">
            <a:spAutoFit/>
          </a:bodyPr>
          <a:lstStyle/>
          <a:p>
            <a:pPr marL="12700" marR="5080" indent="116839">
              <a:lnSpc>
                <a:spcPct val="101800"/>
              </a:lnSpc>
              <a:spcBef>
                <a:spcPts val="50"/>
              </a:spcBef>
            </a:pPr>
            <a:r>
              <a:rPr sz="2400" spc="-10" dirty="0">
                <a:latin typeface="Times New Roman"/>
                <a:cs typeface="Times New Roman"/>
              </a:rPr>
              <a:t>Loaded </a:t>
            </a:r>
            <a:r>
              <a:rPr sz="2400" spc="-110" dirty="0">
                <a:latin typeface="Times New Roman"/>
                <a:cs typeface="Times New Roman"/>
              </a:rPr>
              <a:t>from</a:t>
            </a:r>
            <a:r>
              <a:rPr sz="2400" spc="-45" dirty="0">
                <a:latin typeface="Times New Roman"/>
                <a:cs typeface="Times New Roman"/>
              </a:rPr>
              <a:t> </a:t>
            </a:r>
            <a:r>
              <a:rPr sz="2400" spc="-125" dirty="0">
                <a:latin typeface="Times New Roman"/>
                <a:cs typeface="Times New Roman"/>
              </a:rPr>
              <a:t>exec</a:t>
            </a:r>
            <a:endParaRPr sz="2400">
              <a:latin typeface="Times New Roman"/>
              <a:cs typeface="Times New Roman"/>
            </a:endParaRPr>
          </a:p>
        </p:txBody>
      </p:sp>
      <p:sp>
        <p:nvSpPr>
          <p:cNvPr id="17" name="object 17"/>
          <p:cNvSpPr txBox="1"/>
          <p:nvPr/>
        </p:nvSpPr>
        <p:spPr>
          <a:xfrm>
            <a:off x="5562853" y="5383276"/>
            <a:ext cx="1534160" cy="941069"/>
          </a:xfrm>
          <a:prstGeom prst="rect">
            <a:avLst/>
          </a:prstGeom>
        </p:spPr>
        <p:txBody>
          <a:bodyPr vert="horz" wrap="square" lIns="0" tIns="104775" rIns="0" bIns="0" rtlCol="0">
            <a:spAutoFit/>
          </a:bodyPr>
          <a:lstStyle/>
          <a:p>
            <a:pPr marL="126364">
              <a:lnSpc>
                <a:spcPct val="100000"/>
              </a:lnSpc>
              <a:spcBef>
                <a:spcPts val="825"/>
              </a:spcBef>
            </a:pPr>
            <a:r>
              <a:rPr sz="2400" spc="-105" dirty="0">
                <a:latin typeface="Times New Roman"/>
                <a:cs typeface="Times New Roman"/>
              </a:rPr>
              <a:t>0x08048000</a:t>
            </a:r>
            <a:endParaRPr sz="2400">
              <a:latin typeface="Times New Roman"/>
              <a:cs typeface="Times New Roman"/>
            </a:endParaRPr>
          </a:p>
          <a:p>
            <a:pPr marL="12700">
              <a:lnSpc>
                <a:spcPct val="100000"/>
              </a:lnSpc>
              <a:spcBef>
                <a:spcPts val="725"/>
              </a:spcBef>
            </a:pPr>
            <a:r>
              <a:rPr sz="2400" spc="-50" dirty="0">
                <a:latin typeface="Times New Roman"/>
                <a:cs typeface="Times New Roman"/>
              </a:rPr>
              <a:t>0</a:t>
            </a:r>
            <a:endParaRPr sz="2400">
              <a:latin typeface="Times New Roman"/>
              <a:cs typeface="Times New Roman"/>
            </a:endParaRPr>
          </a:p>
        </p:txBody>
      </p:sp>
      <p:pic>
        <p:nvPicPr>
          <p:cNvPr id="18" name="object 18"/>
          <p:cNvPicPr/>
          <p:nvPr/>
        </p:nvPicPr>
        <p:blipFill>
          <a:blip r:embed="rId2" cstate="print"/>
          <a:stretch>
            <a:fillRect/>
          </a:stretch>
        </p:blipFill>
        <p:spPr>
          <a:xfrm>
            <a:off x="457200" y="6248400"/>
            <a:ext cx="476250" cy="381000"/>
          </a:xfrm>
          <a:prstGeom prst="rect">
            <a:avLst/>
          </a:prstGeom>
        </p:spPr>
      </p:pic>
      <p:sp>
        <p:nvSpPr>
          <p:cNvPr id="19" name="object 1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19426" y="3519551"/>
            <a:ext cx="3505200" cy="762000"/>
          </a:xfrm>
          <a:custGeom>
            <a:avLst/>
            <a:gdLst/>
            <a:ahLst/>
            <a:cxnLst/>
            <a:rect l="l" t="t" r="r" b="b"/>
            <a:pathLst>
              <a:path w="3505200" h="762000">
                <a:moveTo>
                  <a:pt x="0" y="762000"/>
                </a:moveTo>
                <a:lnTo>
                  <a:pt x="3505200" y="762000"/>
                </a:lnTo>
                <a:lnTo>
                  <a:pt x="3505200" y="0"/>
                </a:lnTo>
                <a:lnTo>
                  <a:pt x="0" y="0"/>
                </a:lnTo>
                <a:lnTo>
                  <a:pt x="0" y="762000"/>
                </a:lnTo>
                <a:close/>
              </a:path>
            </a:pathLst>
          </a:custGeom>
          <a:ln w="9525">
            <a:solidFill>
              <a:srgbClr val="000000"/>
            </a:solidFill>
          </a:ln>
        </p:spPr>
        <p:txBody>
          <a:bodyPr wrap="square" lIns="0" tIns="0" rIns="0" bIns="0" rtlCol="0"/>
          <a:lstStyle/>
          <a:p>
            <a:endParaRPr/>
          </a:p>
        </p:txBody>
      </p:sp>
      <p:sp>
        <p:nvSpPr>
          <p:cNvPr id="3" name="object 3"/>
          <p:cNvSpPr txBox="1"/>
          <p:nvPr/>
        </p:nvSpPr>
        <p:spPr>
          <a:xfrm>
            <a:off x="2524156" y="3543363"/>
            <a:ext cx="3448050" cy="733425"/>
          </a:xfrm>
          <a:prstGeom prst="rect">
            <a:avLst/>
          </a:prstGeom>
          <a:solidFill>
            <a:srgbClr val="BEBEBE"/>
          </a:solidFill>
        </p:spPr>
        <p:txBody>
          <a:bodyPr vert="horz" wrap="square" lIns="0" tIns="129540" rIns="0" bIns="0" rtlCol="0">
            <a:spAutoFit/>
          </a:bodyPr>
          <a:lstStyle/>
          <a:p>
            <a:pPr marL="706755">
              <a:lnSpc>
                <a:spcPct val="100000"/>
              </a:lnSpc>
              <a:spcBef>
                <a:spcPts val="1020"/>
              </a:spcBef>
            </a:pPr>
            <a:r>
              <a:rPr sz="2400" spc="-100" dirty="0">
                <a:latin typeface="Times New Roman"/>
                <a:cs typeface="Times New Roman"/>
              </a:rPr>
              <a:t>exception</a:t>
            </a:r>
            <a:r>
              <a:rPr sz="2400" dirty="0">
                <a:latin typeface="Times New Roman"/>
                <a:cs typeface="Times New Roman"/>
              </a:rPr>
              <a:t> </a:t>
            </a:r>
            <a:r>
              <a:rPr sz="2400" spc="-10" dirty="0">
                <a:latin typeface="Times New Roman"/>
                <a:cs typeface="Times New Roman"/>
              </a:rPr>
              <a:t>handlers</a:t>
            </a:r>
            <a:endParaRPr sz="2400">
              <a:latin typeface="Times New Roman"/>
              <a:cs typeface="Times New Roman"/>
            </a:endParaRPr>
          </a:p>
        </p:txBody>
      </p:sp>
      <p:sp>
        <p:nvSpPr>
          <p:cNvPr id="4" name="object 4"/>
          <p:cNvSpPr txBox="1">
            <a:spLocks noGrp="1"/>
          </p:cNvSpPr>
          <p:nvPr>
            <p:ph type="title"/>
          </p:nvPr>
        </p:nvSpPr>
        <p:spPr>
          <a:xfrm>
            <a:off x="536575" y="217424"/>
            <a:ext cx="7171055" cy="575310"/>
          </a:xfrm>
          <a:prstGeom prst="rect">
            <a:avLst/>
          </a:prstGeom>
        </p:spPr>
        <p:txBody>
          <a:bodyPr vert="horz" wrap="square" lIns="0" tIns="13335" rIns="0" bIns="0" rtlCol="0">
            <a:spAutoFit/>
          </a:bodyPr>
          <a:lstStyle/>
          <a:p>
            <a:pPr marL="12700">
              <a:lnSpc>
                <a:spcPct val="100000"/>
              </a:lnSpc>
              <a:spcBef>
                <a:spcPts val="105"/>
              </a:spcBef>
            </a:pPr>
            <a:r>
              <a:rPr dirty="0"/>
              <a:t>Stack</a:t>
            </a:r>
            <a:r>
              <a:rPr spc="-25" dirty="0"/>
              <a:t> </a:t>
            </a:r>
            <a:r>
              <a:rPr dirty="0"/>
              <a:t>Frame</a:t>
            </a:r>
            <a:r>
              <a:rPr spc="-5" dirty="0"/>
              <a:t> </a:t>
            </a:r>
            <a:r>
              <a:rPr sz="2000" dirty="0"/>
              <a:t>(created</a:t>
            </a:r>
            <a:r>
              <a:rPr sz="2000" spc="-30" dirty="0"/>
              <a:t> </a:t>
            </a:r>
            <a:r>
              <a:rPr sz="2000" dirty="0"/>
              <a:t>every</a:t>
            </a:r>
            <a:r>
              <a:rPr sz="2000" spc="-35" dirty="0"/>
              <a:t> </a:t>
            </a:r>
            <a:r>
              <a:rPr sz="2000" dirty="0"/>
              <a:t>time</a:t>
            </a:r>
            <a:r>
              <a:rPr sz="2000" spc="-30" dirty="0"/>
              <a:t> </a:t>
            </a:r>
            <a:r>
              <a:rPr sz="2000" dirty="0"/>
              <a:t>a</a:t>
            </a:r>
            <a:r>
              <a:rPr sz="2000" spc="10" dirty="0"/>
              <a:t> </a:t>
            </a:r>
            <a:r>
              <a:rPr sz="2000" dirty="0"/>
              <a:t>new</a:t>
            </a:r>
            <a:r>
              <a:rPr sz="2000" spc="-30" dirty="0"/>
              <a:t> </a:t>
            </a:r>
            <a:r>
              <a:rPr sz="2000" dirty="0"/>
              <a:t>function</a:t>
            </a:r>
            <a:r>
              <a:rPr sz="2000" spc="-25" dirty="0"/>
              <a:t> </a:t>
            </a:r>
            <a:r>
              <a:rPr sz="2000" dirty="0"/>
              <a:t>is</a:t>
            </a:r>
            <a:r>
              <a:rPr sz="2000" spc="-30" dirty="0"/>
              <a:t> </a:t>
            </a:r>
            <a:r>
              <a:rPr sz="2000" spc="-10" dirty="0"/>
              <a:t>invoked)</a:t>
            </a:r>
            <a:endParaRPr sz="2000"/>
          </a:p>
        </p:txBody>
      </p:sp>
      <p:grpSp>
        <p:nvGrpSpPr>
          <p:cNvPr id="5" name="object 5"/>
          <p:cNvGrpSpPr/>
          <p:nvPr/>
        </p:nvGrpSpPr>
        <p:grpSpPr>
          <a:xfrm>
            <a:off x="2495613" y="1314513"/>
            <a:ext cx="3514725" cy="1276350"/>
            <a:chOff x="2495613" y="1314513"/>
            <a:chExt cx="3514725" cy="1276350"/>
          </a:xfrm>
        </p:grpSpPr>
        <p:sp>
          <p:nvSpPr>
            <p:cNvPr id="6" name="object 6"/>
            <p:cNvSpPr/>
            <p:nvPr/>
          </p:nvSpPr>
          <p:spPr>
            <a:xfrm>
              <a:off x="2500376" y="1381124"/>
              <a:ext cx="3505200" cy="1205230"/>
            </a:xfrm>
            <a:custGeom>
              <a:avLst/>
              <a:gdLst/>
              <a:ahLst/>
              <a:cxnLst/>
              <a:rect l="l" t="t" r="r" b="b"/>
              <a:pathLst>
                <a:path w="3505200" h="1205230">
                  <a:moveTo>
                    <a:pt x="0" y="1204976"/>
                  </a:moveTo>
                  <a:lnTo>
                    <a:pt x="3505200" y="1204976"/>
                  </a:lnTo>
                  <a:lnTo>
                    <a:pt x="3505200" y="0"/>
                  </a:lnTo>
                  <a:lnTo>
                    <a:pt x="0" y="0"/>
                  </a:lnTo>
                  <a:lnTo>
                    <a:pt x="0" y="1204976"/>
                  </a:lnTo>
                  <a:close/>
                </a:path>
              </a:pathLst>
            </a:custGeom>
            <a:solidFill>
              <a:srgbClr val="BEBEBE"/>
            </a:solidFill>
          </p:spPr>
          <p:txBody>
            <a:bodyPr wrap="square" lIns="0" tIns="0" rIns="0" bIns="0" rtlCol="0"/>
            <a:lstStyle/>
            <a:p>
              <a:endParaRPr/>
            </a:p>
          </p:txBody>
        </p:sp>
        <p:sp>
          <p:nvSpPr>
            <p:cNvPr id="7" name="object 7"/>
            <p:cNvSpPr/>
            <p:nvPr/>
          </p:nvSpPr>
          <p:spPr>
            <a:xfrm>
              <a:off x="2500376" y="1319275"/>
              <a:ext cx="3505200" cy="1266825"/>
            </a:xfrm>
            <a:custGeom>
              <a:avLst/>
              <a:gdLst/>
              <a:ahLst/>
              <a:cxnLst/>
              <a:rect l="l" t="t" r="r" b="b"/>
              <a:pathLst>
                <a:path w="3505200" h="1266825">
                  <a:moveTo>
                    <a:pt x="0" y="1266825"/>
                  </a:moveTo>
                  <a:lnTo>
                    <a:pt x="3505200" y="1266825"/>
                  </a:lnTo>
                  <a:lnTo>
                    <a:pt x="3505200" y="0"/>
                  </a:lnTo>
                  <a:lnTo>
                    <a:pt x="0" y="0"/>
                  </a:lnTo>
                  <a:lnTo>
                    <a:pt x="0" y="1266825"/>
                  </a:lnTo>
                  <a:close/>
                </a:path>
              </a:pathLst>
            </a:custGeom>
            <a:ln w="9525">
              <a:solidFill>
                <a:srgbClr val="000000"/>
              </a:solidFill>
            </a:ln>
          </p:spPr>
          <p:txBody>
            <a:bodyPr wrap="square" lIns="0" tIns="0" rIns="0" bIns="0" rtlCol="0"/>
            <a:lstStyle/>
            <a:p>
              <a:endParaRPr/>
            </a:p>
          </p:txBody>
        </p:sp>
      </p:grpSp>
      <p:sp>
        <p:nvSpPr>
          <p:cNvPr id="8" name="object 8"/>
          <p:cNvSpPr txBox="1"/>
          <p:nvPr/>
        </p:nvSpPr>
        <p:spPr>
          <a:xfrm>
            <a:off x="3558159" y="1707895"/>
            <a:ext cx="1393825" cy="392430"/>
          </a:xfrm>
          <a:prstGeom prst="rect">
            <a:avLst/>
          </a:prstGeom>
        </p:spPr>
        <p:txBody>
          <a:bodyPr vert="horz" wrap="square" lIns="0" tIns="13335" rIns="0" bIns="0" rtlCol="0">
            <a:spAutoFit/>
          </a:bodyPr>
          <a:lstStyle/>
          <a:p>
            <a:pPr marL="12700">
              <a:lnSpc>
                <a:spcPct val="100000"/>
              </a:lnSpc>
              <a:spcBef>
                <a:spcPts val="105"/>
              </a:spcBef>
            </a:pPr>
            <a:r>
              <a:rPr sz="2400" b="1" spc="-20" dirty="0">
                <a:latin typeface="Times New Roman"/>
                <a:cs typeface="Times New Roman"/>
              </a:rPr>
              <a:t>arguments</a:t>
            </a:r>
            <a:endParaRPr sz="2400">
              <a:latin typeface="Times New Roman"/>
              <a:cs typeface="Times New Roman"/>
            </a:endParaRPr>
          </a:p>
        </p:txBody>
      </p:sp>
      <p:sp>
        <p:nvSpPr>
          <p:cNvPr id="9" name="object 9"/>
          <p:cNvSpPr/>
          <p:nvPr/>
        </p:nvSpPr>
        <p:spPr>
          <a:xfrm>
            <a:off x="2500376" y="260515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0" name="object 10"/>
          <p:cNvSpPr txBox="1"/>
          <p:nvPr/>
        </p:nvSpPr>
        <p:spPr>
          <a:xfrm>
            <a:off x="2524125" y="2600388"/>
            <a:ext cx="3448050" cy="466725"/>
          </a:xfrm>
          <a:prstGeom prst="rect">
            <a:avLst/>
          </a:prstGeom>
          <a:solidFill>
            <a:srgbClr val="BEBEBE"/>
          </a:solidFill>
        </p:spPr>
        <p:txBody>
          <a:bodyPr vert="horz" wrap="square" lIns="0" tIns="635" rIns="0" bIns="0" rtlCol="0">
            <a:spAutoFit/>
          </a:bodyPr>
          <a:lstStyle/>
          <a:p>
            <a:pPr marL="783590">
              <a:lnSpc>
                <a:spcPct val="100000"/>
              </a:lnSpc>
              <a:spcBef>
                <a:spcPts val="5"/>
              </a:spcBef>
            </a:pPr>
            <a:r>
              <a:rPr sz="2400" b="1" dirty="0">
                <a:latin typeface="Times New Roman"/>
                <a:cs typeface="Times New Roman"/>
              </a:rPr>
              <a:t>return</a:t>
            </a:r>
            <a:r>
              <a:rPr sz="2400" b="1" spc="-105" dirty="0">
                <a:latin typeface="Times New Roman"/>
                <a:cs typeface="Times New Roman"/>
              </a:rPr>
              <a:t> </a:t>
            </a:r>
            <a:r>
              <a:rPr sz="2400" b="1" spc="-10" dirty="0">
                <a:latin typeface="Times New Roman"/>
                <a:cs typeface="Times New Roman"/>
              </a:rPr>
              <a:t>address</a:t>
            </a:r>
            <a:endParaRPr sz="2400">
              <a:latin typeface="Times New Roman"/>
              <a:cs typeface="Times New Roman"/>
            </a:endParaRPr>
          </a:p>
        </p:txBody>
      </p:sp>
      <p:sp>
        <p:nvSpPr>
          <p:cNvPr id="11" name="object 11"/>
          <p:cNvSpPr/>
          <p:nvPr/>
        </p:nvSpPr>
        <p:spPr>
          <a:xfrm>
            <a:off x="2500376" y="308140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2" name="object 12"/>
          <p:cNvSpPr txBox="1"/>
          <p:nvPr/>
        </p:nvSpPr>
        <p:spPr>
          <a:xfrm>
            <a:off x="2524125" y="3076638"/>
            <a:ext cx="3448050" cy="457200"/>
          </a:xfrm>
          <a:prstGeom prst="rect">
            <a:avLst/>
          </a:prstGeom>
          <a:solidFill>
            <a:srgbClr val="BEBEBE"/>
          </a:solidFill>
        </p:spPr>
        <p:txBody>
          <a:bodyPr vert="horz" wrap="square" lIns="0" tIns="0" rIns="0" bIns="0" rtlCol="0">
            <a:spAutoFit/>
          </a:bodyPr>
          <a:lstStyle/>
          <a:p>
            <a:pPr marL="466725">
              <a:lnSpc>
                <a:spcPts val="2880"/>
              </a:lnSpc>
            </a:pPr>
            <a:r>
              <a:rPr sz="2400" b="1" dirty="0">
                <a:latin typeface="Times New Roman"/>
                <a:cs typeface="Times New Roman"/>
              </a:rPr>
              <a:t>stack</a:t>
            </a:r>
            <a:r>
              <a:rPr sz="2400" b="1" spc="-85" dirty="0">
                <a:latin typeface="Times New Roman"/>
                <a:cs typeface="Times New Roman"/>
              </a:rPr>
              <a:t> </a:t>
            </a:r>
            <a:r>
              <a:rPr sz="2400" b="1" spc="-65" dirty="0">
                <a:latin typeface="Times New Roman"/>
                <a:cs typeface="Times New Roman"/>
              </a:rPr>
              <a:t>frame</a:t>
            </a:r>
            <a:r>
              <a:rPr sz="2400" b="1" spc="-85" dirty="0">
                <a:latin typeface="Times New Roman"/>
                <a:cs typeface="Times New Roman"/>
              </a:rPr>
              <a:t> </a:t>
            </a:r>
            <a:r>
              <a:rPr sz="2400" b="1" spc="-10" dirty="0">
                <a:latin typeface="Times New Roman"/>
                <a:cs typeface="Times New Roman"/>
              </a:rPr>
              <a:t>pointer</a:t>
            </a:r>
            <a:endParaRPr sz="2400">
              <a:latin typeface="Times New Roman"/>
              <a:cs typeface="Times New Roman"/>
            </a:endParaRPr>
          </a:p>
        </p:txBody>
      </p:sp>
      <p:grpSp>
        <p:nvGrpSpPr>
          <p:cNvPr id="13" name="object 13"/>
          <p:cNvGrpSpPr/>
          <p:nvPr/>
        </p:nvGrpSpPr>
        <p:grpSpPr>
          <a:xfrm>
            <a:off x="2495613" y="4276788"/>
            <a:ext cx="3514725" cy="904875"/>
            <a:chOff x="2495613" y="4276788"/>
            <a:chExt cx="3514725" cy="904875"/>
          </a:xfrm>
        </p:grpSpPr>
        <p:sp>
          <p:nvSpPr>
            <p:cNvPr id="14" name="object 14"/>
            <p:cNvSpPr/>
            <p:nvPr/>
          </p:nvSpPr>
          <p:spPr>
            <a:xfrm>
              <a:off x="2500376" y="4281551"/>
              <a:ext cx="3505200" cy="895350"/>
            </a:xfrm>
            <a:custGeom>
              <a:avLst/>
              <a:gdLst/>
              <a:ahLst/>
              <a:cxnLst/>
              <a:rect l="l" t="t" r="r" b="b"/>
              <a:pathLst>
                <a:path w="3505200" h="895350">
                  <a:moveTo>
                    <a:pt x="3505200" y="0"/>
                  </a:moveTo>
                  <a:lnTo>
                    <a:pt x="0" y="0"/>
                  </a:lnTo>
                  <a:lnTo>
                    <a:pt x="0" y="895350"/>
                  </a:lnTo>
                  <a:lnTo>
                    <a:pt x="3505200" y="895350"/>
                  </a:lnTo>
                  <a:lnTo>
                    <a:pt x="3505200" y="0"/>
                  </a:lnTo>
                  <a:close/>
                </a:path>
              </a:pathLst>
            </a:custGeom>
            <a:solidFill>
              <a:srgbClr val="BEBEBE"/>
            </a:solidFill>
          </p:spPr>
          <p:txBody>
            <a:bodyPr wrap="square" lIns="0" tIns="0" rIns="0" bIns="0" rtlCol="0"/>
            <a:lstStyle/>
            <a:p>
              <a:endParaRPr/>
            </a:p>
          </p:txBody>
        </p:sp>
        <p:sp>
          <p:nvSpPr>
            <p:cNvPr id="15" name="object 15"/>
            <p:cNvSpPr/>
            <p:nvPr/>
          </p:nvSpPr>
          <p:spPr>
            <a:xfrm>
              <a:off x="2500376" y="4281551"/>
              <a:ext cx="3505200" cy="895350"/>
            </a:xfrm>
            <a:custGeom>
              <a:avLst/>
              <a:gdLst/>
              <a:ahLst/>
              <a:cxnLst/>
              <a:rect l="l" t="t" r="r" b="b"/>
              <a:pathLst>
                <a:path w="3505200" h="895350">
                  <a:moveTo>
                    <a:pt x="0" y="895350"/>
                  </a:moveTo>
                  <a:lnTo>
                    <a:pt x="3505200" y="895350"/>
                  </a:lnTo>
                  <a:lnTo>
                    <a:pt x="3505200" y="0"/>
                  </a:lnTo>
                  <a:lnTo>
                    <a:pt x="0" y="0"/>
                  </a:lnTo>
                  <a:lnTo>
                    <a:pt x="0" y="895350"/>
                  </a:lnTo>
                  <a:close/>
                </a:path>
              </a:pathLst>
            </a:custGeom>
            <a:ln w="9525">
              <a:solidFill>
                <a:srgbClr val="000000"/>
              </a:solidFill>
            </a:ln>
          </p:spPr>
          <p:txBody>
            <a:bodyPr wrap="square" lIns="0" tIns="0" rIns="0" bIns="0" rtlCol="0"/>
            <a:lstStyle/>
            <a:p>
              <a:endParaRPr/>
            </a:p>
          </p:txBody>
        </p:sp>
      </p:grpSp>
      <p:sp>
        <p:nvSpPr>
          <p:cNvPr id="16" name="object 16"/>
          <p:cNvSpPr txBox="1"/>
          <p:nvPr/>
        </p:nvSpPr>
        <p:spPr>
          <a:xfrm>
            <a:off x="2524125" y="4286313"/>
            <a:ext cx="3448050" cy="814705"/>
          </a:xfrm>
          <a:prstGeom prst="rect">
            <a:avLst/>
          </a:prstGeom>
          <a:solidFill>
            <a:srgbClr val="BEBEBE"/>
          </a:solidFill>
        </p:spPr>
        <p:txBody>
          <a:bodyPr vert="horz" wrap="square" lIns="0" tIns="214629" rIns="0" bIns="0" rtlCol="0">
            <a:spAutoFit/>
          </a:bodyPr>
          <a:lstStyle/>
          <a:p>
            <a:pPr marL="807720">
              <a:lnSpc>
                <a:spcPct val="100000"/>
              </a:lnSpc>
              <a:spcBef>
                <a:spcPts val="1689"/>
              </a:spcBef>
            </a:pPr>
            <a:r>
              <a:rPr sz="2400" b="1" dirty="0">
                <a:latin typeface="Times New Roman"/>
                <a:cs typeface="Times New Roman"/>
              </a:rPr>
              <a:t>local</a:t>
            </a:r>
            <a:r>
              <a:rPr sz="2400" b="1" spc="45" dirty="0">
                <a:latin typeface="Times New Roman"/>
                <a:cs typeface="Times New Roman"/>
              </a:rPr>
              <a:t> </a:t>
            </a:r>
            <a:r>
              <a:rPr sz="2400" b="1" spc="-10" dirty="0">
                <a:latin typeface="Times New Roman"/>
                <a:cs typeface="Times New Roman"/>
              </a:rPr>
              <a:t>variables</a:t>
            </a:r>
            <a:endParaRPr sz="2400">
              <a:latin typeface="Times New Roman"/>
              <a:cs typeface="Times New Roman"/>
            </a:endParaRPr>
          </a:p>
        </p:txBody>
      </p:sp>
      <p:sp>
        <p:nvSpPr>
          <p:cNvPr id="17" name="object 17"/>
          <p:cNvSpPr txBox="1"/>
          <p:nvPr/>
        </p:nvSpPr>
        <p:spPr>
          <a:xfrm>
            <a:off x="1082992" y="5281295"/>
            <a:ext cx="298450" cy="392430"/>
          </a:xfrm>
          <a:prstGeom prst="rect">
            <a:avLst/>
          </a:prstGeom>
        </p:spPr>
        <p:txBody>
          <a:bodyPr vert="horz" wrap="square" lIns="0" tIns="13335" rIns="0" bIns="0" rtlCol="0">
            <a:spAutoFit/>
          </a:bodyPr>
          <a:lstStyle/>
          <a:p>
            <a:pPr marL="12700">
              <a:lnSpc>
                <a:spcPct val="100000"/>
              </a:lnSpc>
              <a:spcBef>
                <a:spcPts val="105"/>
              </a:spcBef>
            </a:pPr>
            <a:r>
              <a:rPr sz="2400" spc="-300" dirty="0">
                <a:latin typeface="Times New Roman"/>
                <a:cs typeface="Times New Roman"/>
              </a:rPr>
              <a:t>SP</a:t>
            </a:r>
            <a:endParaRPr sz="2400">
              <a:latin typeface="Times New Roman"/>
              <a:cs typeface="Times New Roman"/>
            </a:endParaRPr>
          </a:p>
        </p:txBody>
      </p:sp>
      <p:sp>
        <p:nvSpPr>
          <p:cNvPr id="18" name="object 18"/>
          <p:cNvSpPr/>
          <p:nvPr/>
        </p:nvSpPr>
        <p:spPr>
          <a:xfrm>
            <a:off x="1566799" y="5510276"/>
            <a:ext cx="542925" cy="76200"/>
          </a:xfrm>
          <a:custGeom>
            <a:avLst/>
            <a:gdLst/>
            <a:ahLst/>
            <a:cxnLst/>
            <a:rect l="l" t="t" r="r" b="b"/>
            <a:pathLst>
              <a:path w="542925" h="76200">
                <a:moveTo>
                  <a:pt x="466725" y="0"/>
                </a:moveTo>
                <a:lnTo>
                  <a:pt x="466725" y="76200"/>
                </a:lnTo>
                <a:lnTo>
                  <a:pt x="530225" y="44450"/>
                </a:lnTo>
                <a:lnTo>
                  <a:pt x="479425" y="44450"/>
                </a:lnTo>
                <a:lnTo>
                  <a:pt x="479425" y="31750"/>
                </a:lnTo>
                <a:lnTo>
                  <a:pt x="530225" y="31750"/>
                </a:lnTo>
                <a:lnTo>
                  <a:pt x="466725" y="0"/>
                </a:lnTo>
                <a:close/>
              </a:path>
              <a:path w="542925" h="76200">
                <a:moveTo>
                  <a:pt x="466725" y="31750"/>
                </a:moveTo>
                <a:lnTo>
                  <a:pt x="0" y="31750"/>
                </a:lnTo>
                <a:lnTo>
                  <a:pt x="0" y="44450"/>
                </a:lnTo>
                <a:lnTo>
                  <a:pt x="466725" y="44450"/>
                </a:lnTo>
                <a:lnTo>
                  <a:pt x="466725" y="31750"/>
                </a:lnTo>
                <a:close/>
              </a:path>
              <a:path w="542925" h="76200">
                <a:moveTo>
                  <a:pt x="530225" y="31750"/>
                </a:moveTo>
                <a:lnTo>
                  <a:pt x="479425" y="31750"/>
                </a:lnTo>
                <a:lnTo>
                  <a:pt x="479425" y="44450"/>
                </a:lnTo>
                <a:lnTo>
                  <a:pt x="530225" y="44450"/>
                </a:lnTo>
                <a:lnTo>
                  <a:pt x="542925" y="38100"/>
                </a:lnTo>
                <a:lnTo>
                  <a:pt x="530225" y="31750"/>
                </a:lnTo>
                <a:close/>
              </a:path>
            </a:pathLst>
          </a:custGeom>
          <a:solidFill>
            <a:srgbClr val="000000"/>
          </a:solidFill>
        </p:spPr>
        <p:txBody>
          <a:bodyPr wrap="square" lIns="0" tIns="0" rIns="0" bIns="0" rtlCol="0"/>
          <a:lstStyle/>
          <a:p>
            <a:endParaRPr/>
          </a:p>
        </p:txBody>
      </p:sp>
      <p:sp>
        <p:nvSpPr>
          <p:cNvPr id="19" name="object 19"/>
          <p:cNvSpPr/>
          <p:nvPr/>
        </p:nvSpPr>
        <p:spPr>
          <a:xfrm>
            <a:off x="6800850" y="1409700"/>
            <a:ext cx="228600" cy="4114800"/>
          </a:xfrm>
          <a:custGeom>
            <a:avLst/>
            <a:gdLst/>
            <a:ahLst/>
            <a:cxnLst/>
            <a:rect l="l" t="t" r="r" b="b"/>
            <a:pathLst>
              <a:path w="228600" h="4114800">
                <a:moveTo>
                  <a:pt x="76200" y="3886200"/>
                </a:moveTo>
                <a:lnTo>
                  <a:pt x="0" y="3886200"/>
                </a:lnTo>
                <a:lnTo>
                  <a:pt x="114300" y="4114800"/>
                </a:lnTo>
                <a:lnTo>
                  <a:pt x="209550" y="3924300"/>
                </a:lnTo>
                <a:lnTo>
                  <a:pt x="76200" y="3924300"/>
                </a:lnTo>
                <a:lnTo>
                  <a:pt x="76200" y="3886200"/>
                </a:lnTo>
                <a:close/>
              </a:path>
              <a:path w="228600" h="4114800">
                <a:moveTo>
                  <a:pt x="152400" y="0"/>
                </a:moveTo>
                <a:lnTo>
                  <a:pt x="76200" y="0"/>
                </a:lnTo>
                <a:lnTo>
                  <a:pt x="76200" y="3924300"/>
                </a:lnTo>
                <a:lnTo>
                  <a:pt x="152400" y="3924300"/>
                </a:lnTo>
                <a:lnTo>
                  <a:pt x="152400" y="0"/>
                </a:lnTo>
                <a:close/>
              </a:path>
              <a:path w="228600" h="4114800">
                <a:moveTo>
                  <a:pt x="228600" y="3886200"/>
                </a:moveTo>
                <a:lnTo>
                  <a:pt x="152400" y="3886200"/>
                </a:lnTo>
                <a:lnTo>
                  <a:pt x="152400" y="3924300"/>
                </a:lnTo>
                <a:lnTo>
                  <a:pt x="209550" y="3924300"/>
                </a:lnTo>
                <a:lnTo>
                  <a:pt x="228600" y="3886200"/>
                </a:lnTo>
                <a:close/>
              </a:path>
            </a:pathLst>
          </a:custGeom>
          <a:solidFill>
            <a:srgbClr val="000000"/>
          </a:solidFill>
        </p:spPr>
        <p:txBody>
          <a:bodyPr wrap="square" lIns="0" tIns="0" rIns="0" bIns="0" rtlCol="0"/>
          <a:lstStyle/>
          <a:p>
            <a:endParaRPr/>
          </a:p>
        </p:txBody>
      </p:sp>
      <p:grpSp>
        <p:nvGrpSpPr>
          <p:cNvPr id="20" name="object 20"/>
          <p:cNvGrpSpPr/>
          <p:nvPr/>
        </p:nvGrpSpPr>
        <p:grpSpPr>
          <a:xfrm>
            <a:off x="1690751" y="923925"/>
            <a:ext cx="4577080" cy="4686300"/>
            <a:chOff x="1690751" y="923925"/>
            <a:chExt cx="4577080" cy="4686300"/>
          </a:xfrm>
        </p:grpSpPr>
        <p:sp>
          <p:nvSpPr>
            <p:cNvPr id="21" name="object 21"/>
            <p:cNvSpPr/>
            <p:nvPr/>
          </p:nvSpPr>
          <p:spPr>
            <a:xfrm>
              <a:off x="2500376" y="1414526"/>
              <a:ext cx="3505200" cy="0"/>
            </a:xfrm>
            <a:custGeom>
              <a:avLst/>
              <a:gdLst/>
              <a:ahLst/>
              <a:cxnLst/>
              <a:rect l="l" t="t" r="r" b="b"/>
              <a:pathLst>
                <a:path w="3505200">
                  <a:moveTo>
                    <a:pt x="0" y="0"/>
                  </a:moveTo>
                  <a:lnTo>
                    <a:pt x="3505200" y="0"/>
                  </a:lnTo>
                </a:path>
              </a:pathLst>
            </a:custGeom>
            <a:ln w="9525">
              <a:solidFill>
                <a:srgbClr val="000000"/>
              </a:solidFill>
            </a:ln>
          </p:spPr>
          <p:txBody>
            <a:bodyPr wrap="square" lIns="0" tIns="0" rIns="0" bIns="0" rtlCol="0"/>
            <a:lstStyle/>
            <a:p>
              <a:endParaRPr/>
            </a:p>
          </p:txBody>
        </p:sp>
        <p:sp>
          <p:nvSpPr>
            <p:cNvPr id="22" name="object 22"/>
            <p:cNvSpPr/>
            <p:nvPr/>
          </p:nvSpPr>
          <p:spPr>
            <a:xfrm>
              <a:off x="2495550" y="1352550"/>
              <a:ext cx="3505200" cy="3838575"/>
            </a:xfrm>
            <a:custGeom>
              <a:avLst/>
              <a:gdLst/>
              <a:ahLst/>
              <a:cxnLst/>
              <a:rect l="l" t="t" r="r" b="b"/>
              <a:pathLst>
                <a:path w="3505200" h="3838575">
                  <a:moveTo>
                    <a:pt x="0" y="3838575"/>
                  </a:moveTo>
                  <a:lnTo>
                    <a:pt x="3505200" y="3838575"/>
                  </a:lnTo>
                  <a:lnTo>
                    <a:pt x="3505200" y="0"/>
                  </a:lnTo>
                  <a:lnTo>
                    <a:pt x="0" y="0"/>
                  </a:lnTo>
                  <a:lnTo>
                    <a:pt x="0" y="3838575"/>
                  </a:lnTo>
                  <a:close/>
                </a:path>
              </a:pathLst>
            </a:custGeom>
            <a:ln w="57150">
              <a:solidFill>
                <a:srgbClr val="000000"/>
              </a:solidFill>
            </a:ln>
          </p:spPr>
          <p:txBody>
            <a:bodyPr wrap="square" lIns="0" tIns="0" rIns="0" bIns="0" rtlCol="0"/>
            <a:lstStyle/>
            <a:p>
              <a:endParaRPr/>
            </a:p>
          </p:txBody>
        </p:sp>
        <p:sp>
          <p:nvSpPr>
            <p:cNvPr id="23" name="object 23"/>
            <p:cNvSpPr/>
            <p:nvPr/>
          </p:nvSpPr>
          <p:spPr>
            <a:xfrm>
              <a:off x="2190750" y="1343025"/>
              <a:ext cx="4038600" cy="0"/>
            </a:xfrm>
            <a:custGeom>
              <a:avLst/>
              <a:gdLst/>
              <a:ahLst/>
              <a:cxnLst/>
              <a:rect l="l" t="t" r="r" b="b"/>
              <a:pathLst>
                <a:path w="4038600">
                  <a:moveTo>
                    <a:pt x="0" y="0"/>
                  </a:moveTo>
                  <a:lnTo>
                    <a:pt x="4038600" y="0"/>
                  </a:lnTo>
                </a:path>
              </a:pathLst>
            </a:custGeom>
            <a:ln w="76200">
              <a:solidFill>
                <a:srgbClr val="000000"/>
              </a:solidFill>
            </a:ln>
          </p:spPr>
          <p:txBody>
            <a:bodyPr wrap="square" lIns="0" tIns="0" rIns="0" bIns="0" rtlCol="0"/>
            <a:lstStyle/>
            <a:p>
              <a:endParaRPr/>
            </a:p>
          </p:txBody>
        </p:sp>
        <p:sp>
          <p:nvSpPr>
            <p:cNvPr id="24" name="object 24"/>
            <p:cNvSpPr/>
            <p:nvPr/>
          </p:nvSpPr>
          <p:spPr>
            <a:xfrm>
              <a:off x="1757426" y="3367151"/>
              <a:ext cx="742950" cy="0"/>
            </a:xfrm>
            <a:custGeom>
              <a:avLst/>
              <a:gdLst/>
              <a:ahLst/>
              <a:cxnLst/>
              <a:rect l="l" t="t" r="r" b="b"/>
              <a:pathLst>
                <a:path w="742950">
                  <a:moveTo>
                    <a:pt x="742950" y="0"/>
                  </a:moveTo>
                  <a:lnTo>
                    <a:pt x="0" y="0"/>
                  </a:lnTo>
                </a:path>
              </a:pathLst>
            </a:custGeom>
            <a:ln w="28575">
              <a:solidFill>
                <a:srgbClr val="0000FF"/>
              </a:solidFill>
            </a:ln>
          </p:spPr>
          <p:txBody>
            <a:bodyPr wrap="square" lIns="0" tIns="0" rIns="0" bIns="0" rtlCol="0"/>
            <a:lstStyle/>
            <a:p>
              <a:endParaRPr/>
            </a:p>
          </p:txBody>
        </p:sp>
        <p:sp>
          <p:nvSpPr>
            <p:cNvPr id="25" name="object 25"/>
            <p:cNvSpPr/>
            <p:nvPr/>
          </p:nvSpPr>
          <p:spPr>
            <a:xfrm>
              <a:off x="1690751" y="923925"/>
              <a:ext cx="123825" cy="2438400"/>
            </a:xfrm>
            <a:custGeom>
              <a:avLst/>
              <a:gdLst/>
              <a:ahLst/>
              <a:cxnLst/>
              <a:rect l="l" t="t" r="r" b="b"/>
              <a:pathLst>
                <a:path w="123825" h="2438400">
                  <a:moveTo>
                    <a:pt x="82550" y="103250"/>
                  </a:moveTo>
                  <a:lnTo>
                    <a:pt x="41275" y="103250"/>
                  </a:lnTo>
                  <a:lnTo>
                    <a:pt x="41148" y="2438400"/>
                  </a:lnTo>
                  <a:lnTo>
                    <a:pt x="82423" y="2438400"/>
                  </a:lnTo>
                  <a:lnTo>
                    <a:pt x="82550" y="103250"/>
                  </a:lnTo>
                  <a:close/>
                </a:path>
                <a:path w="123825" h="2438400">
                  <a:moveTo>
                    <a:pt x="61849" y="0"/>
                  </a:moveTo>
                  <a:lnTo>
                    <a:pt x="0" y="123825"/>
                  </a:lnTo>
                  <a:lnTo>
                    <a:pt x="41273" y="123825"/>
                  </a:lnTo>
                  <a:lnTo>
                    <a:pt x="41275" y="103250"/>
                  </a:lnTo>
                  <a:lnTo>
                    <a:pt x="113527" y="103250"/>
                  </a:lnTo>
                  <a:lnTo>
                    <a:pt x="61849" y="0"/>
                  </a:lnTo>
                  <a:close/>
                </a:path>
                <a:path w="123825" h="2438400">
                  <a:moveTo>
                    <a:pt x="113527" y="103250"/>
                  </a:moveTo>
                  <a:lnTo>
                    <a:pt x="82550" y="103250"/>
                  </a:lnTo>
                  <a:lnTo>
                    <a:pt x="82548" y="123825"/>
                  </a:lnTo>
                  <a:lnTo>
                    <a:pt x="123825" y="123825"/>
                  </a:lnTo>
                  <a:lnTo>
                    <a:pt x="113527" y="103250"/>
                  </a:lnTo>
                  <a:close/>
                </a:path>
              </a:pathLst>
            </a:custGeom>
            <a:solidFill>
              <a:srgbClr val="0000FF"/>
            </a:solidFill>
          </p:spPr>
          <p:txBody>
            <a:bodyPr wrap="square" lIns="0" tIns="0" rIns="0" bIns="0" rtlCol="0"/>
            <a:lstStyle/>
            <a:p>
              <a:endParaRPr/>
            </a:p>
          </p:txBody>
        </p:sp>
        <p:sp>
          <p:nvSpPr>
            <p:cNvPr id="26" name="object 26"/>
            <p:cNvSpPr/>
            <p:nvPr/>
          </p:nvSpPr>
          <p:spPr>
            <a:xfrm>
              <a:off x="2495550" y="1028700"/>
              <a:ext cx="3514725" cy="1019175"/>
            </a:xfrm>
            <a:custGeom>
              <a:avLst/>
              <a:gdLst/>
              <a:ahLst/>
              <a:cxnLst/>
              <a:rect l="l" t="t" r="r" b="b"/>
              <a:pathLst>
                <a:path w="3514725" h="1019175">
                  <a:moveTo>
                    <a:pt x="0" y="0"/>
                  </a:moveTo>
                  <a:lnTo>
                    <a:pt x="0" y="1019175"/>
                  </a:lnTo>
                </a:path>
                <a:path w="3514725" h="1019175">
                  <a:moveTo>
                    <a:pt x="3514725" y="0"/>
                  </a:moveTo>
                  <a:lnTo>
                    <a:pt x="3514725" y="1019175"/>
                  </a:lnTo>
                </a:path>
              </a:pathLst>
            </a:custGeom>
            <a:ln w="57150">
              <a:solidFill>
                <a:srgbClr val="000000"/>
              </a:solidFill>
            </a:ln>
          </p:spPr>
          <p:txBody>
            <a:bodyPr wrap="square" lIns="0" tIns="0" rIns="0" bIns="0" rtlCol="0"/>
            <a:lstStyle/>
            <a:p>
              <a:endParaRPr/>
            </a:p>
          </p:txBody>
        </p:sp>
        <p:sp>
          <p:nvSpPr>
            <p:cNvPr id="27" name="object 27"/>
            <p:cNvSpPr/>
            <p:nvPr/>
          </p:nvSpPr>
          <p:spPr>
            <a:xfrm>
              <a:off x="2519426" y="5100637"/>
              <a:ext cx="3505200" cy="462280"/>
            </a:xfrm>
            <a:custGeom>
              <a:avLst/>
              <a:gdLst/>
              <a:ahLst/>
              <a:cxnLst/>
              <a:rect l="l" t="t" r="r" b="b"/>
              <a:pathLst>
                <a:path w="3505200" h="462279">
                  <a:moveTo>
                    <a:pt x="0" y="461962"/>
                  </a:moveTo>
                  <a:lnTo>
                    <a:pt x="3505200" y="461962"/>
                  </a:lnTo>
                  <a:lnTo>
                    <a:pt x="3505200" y="0"/>
                  </a:lnTo>
                  <a:lnTo>
                    <a:pt x="0" y="0"/>
                  </a:lnTo>
                  <a:lnTo>
                    <a:pt x="0" y="461962"/>
                  </a:lnTo>
                  <a:close/>
                </a:path>
              </a:pathLst>
            </a:custGeom>
            <a:solidFill>
              <a:srgbClr val="BEBEBE"/>
            </a:solidFill>
          </p:spPr>
          <p:txBody>
            <a:bodyPr wrap="square" lIns="0" tIns="0" rIns="0" bIns="0" rtlCol="0"/>
            <a:lstStyle/>
            <a:p>
              <a:endParaRPr/>
            </a:p>
          </p:txBody>
        </p:sp>
        <p:sp>
          <p:nvSpPr>
            <p:cNvPr id="28" name="object 28"/>
            <p:cNvSpPr/>
            <p:nvPr/>
          </p:nvSpPr>
          <p:spPr>
            <a:xfrm>
              <a:off x="2519426" y="5100637"/>
              <a:ext cx="3505200" cy="504825"/>
            </a:xfrm>
            <a:custGeom>
              <a:avLst/>
              <a:gdLst/>
              <a:ahLst/>
              <a:cxnLst/>
              <a:rect l="l" t="t" r="r" b="b"/>
              <a:pathLst>
                <a:path w="3505200" h="504825">
                  <a:moveTo>
                    <a:pt x="0" y="504825"/>
                  </a:moveTo>
                  <a:lnTo>
                    <a:pt x="3505200" y="504825"/>
                  </a:lnTo>
                  <a:lnTo>
                    <a:pt x="3505200" y="0"/>
                  </a:lnTo>
                  <a:lnTo>
                    <a:pt x="0" y="0"/>
                  </a:lnTo>
                  <a:lnTo>
                    <a:pt x="0" y="504825"/>
                  </a:lnTo>
                  <a:close/>
                </a:path>
              </a:pathLst>
            </a:custGeom>
            <a:ln w="9525">
              <a:solidFill>
                <a:srgbClr val="000000"/>
              </a:solidFill>
            </a:ln>
          </p:spPr>
          <p:txBody>
            <a:bodyPr wrap="square" lIns="0" tIns="0" rIns="0" bIns="0" rtlCol="0"/>
            <a:lstStyle/>
            <a:p>
              <a:endParaRPr/>
            </a:p>
          </p:txBody>
        </p:sp>
      </p:grpSp>
      <p:sp>
        <p:nvSpPr>
          <p:cNvPr id="29" name="object 29"/>
          <p:cNvSpPr txBox="1"/>
          <p:nvPr/>
        </p:nvSpPr>
        <p:spPr>
          <a:xfrm>
            <a:off x="7062851" y="4450143"/>
            <a:ext cx="883285" cy="725170"/>
          </a:xfrm>
          <a:prstGeom prst="rect">
            <a:avLst/>
          </a:prstGeom>
        </p:spPr>
        <p:txBody>
          <a:bodyPr vert="horz" wrap="square" lIns="0" tIns="50165" rIns="0" bIns="0" rtlCol="0">
            <a:spAutoFit/>
          </a:bodyPr>
          <a:lstStyle/>
          <a:p>
            <a:pPr marL="12700" marR="5080" indent="136525">
              <a:lnSpc>
                <a:spcPts val="2630"/>
              </a:lnSpc>
              <a:spcBef>
                <a:spcPts val="395"/>
              </a:spcBef>
            </a:pPr>
            <a:r>
              <a:rPr sz="2400" spc="-10" dirty="0">
                <a:latin typeface="Times New Roman"/>
                <a:cs typeface="Times New Roman"/>
              </a:rPr>
              <a:t>Stack </a:t>
            </a:r>
            <a:r>
              <a:rPr sz="2400" spc="-110" dirty="0">
                <a:latin typeface="Times New Roman"/>
                <a:cs typeface="Times New Roman"/>
              </a:rPr>
              <a:t>Growth</a:t>
            </a:r>
            <a:endParaRPr sz="2400">
              <a:latin typeface="Times New Roman"/>
              <a:cs typeface="Times New Roman"/>
            </a:endParaRPr>
          </a:p>
        </p:txBody>
      </p:sp>
      <p:sp>
        <p:nvSpPr>
          <p:cNvPr id="30" name="object 30"/>
          <p:cNvSpPr txBox="1"/>
          <p:nvPr/>
        </p:nvSpPr>
        <p:spPr>
          <a:xfrm>
            <a:off x="6715125" y="931862"/>
            <a:ext cx="373380"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sp>
        <p:nvSpPr>
          <p:cNvPr id="31" name="object 31"/>
          <p:cNvSpPr txBox="1"/>
          <p:nvPr/>
        </p:nvSpPr>
        <p:spPr>
          <a:xfrm>
            <a:off x="6715125" y="5510212"/>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32" name="object 32"/>
          <p:cNvSpPr txBox="1"/>
          <p:nvPr/>
        </p:nvSpPr>
        <p:spPr>
          <a:xfrm>
            <a:off x="2533650" y="5109209"/>
            <a:ext cx="3429000" cy="392430"/>
          </a:xfrm>
          <a:prstGeom prst="rect">
            <a:avLst/>
          </a:prstGeom>
        </p:spPr>
        <p:txBody>
          <a:bodyPr vert="horz" wrap="square" lIns="0" tIns="13335" rIns="0" bIns="0" rtlCol="0">
            <a:spAutoFit/>
          </a:bodyPr>
          <a:lstStyle/>
          <a:p>
            <a:pPr marL="594995">
              <a:lnSpc>
                <a:spcPct val="100000"/>
              </a:lnSpc>
              <a:spcBef>
                <a:spcPts val="105"/>
              </a:spcBef>
            </a:pPr>
            <a:r>
              <a:rPr sz="2400" spc="-130" dirty="0">
                <a:latin typeface="Times New Roman"/>
                <a:cs typeface="Times New Roman"/>
              </a:rPr>
              <a:t>callee</a:t>
            </a:r>
            <a:r>
              <a:rPr sz="2400" spc="5" dirty="0">
                <a:latin typeface="Times New Roman"/>
                <a:cs typeface="Times New Roman"/>
              </a:rPr>
              <a:t> </a:t>
            </a:r>
            <a:r>
              <a:rPr sz="2400" spc="-200" dirty="0">
                <a:latin typeface="Times New Roman"/>
                <a:cs typeface="Times New Roman"/>
              </a:rPr>
              <a:t>saved</a:t>
            </a:r>
            <a:r>
              <a:rPr sz="2400" spc="-25" dirty="0">
                <a:latin typeface="Times New Roman"/>
                <a:cs typeface="Times New Roman"/>
              </a:rPr>
              <a:t> </a:t>
            </a:r>
            <a:r>
              <a:rPr sz="2400" spc="-10" dirty="0">
                <a:latin typeface="Times New Roman"/>
                <a:cs typeface="Times New Roman"/>
              </a:rPr>
              <a:t>registers</a:t>
            </a:r>
            <a:endParaRPr sz="2400">
              <a:latin typeface="Times New Roman"/>
              <a:cs typeface="Times New Roman"/>
            </a:endParaRPr>
          </a:p>
        </p:txBody>
      </p:sp>
      <p:grpSp>
        <p:nvGrpSpPr>
          <p:cNvPr id="33" name="object 33"/>
          <p:cNvGrpSpPr/>
          <p:nvPr/>
        </p:nvGrpSpPr>
        <p:grpSpPr>
          <a:xfrm>
            <a:off x="2190750" y="5276850"/>
            <a:ext cx="4038600" cy="1333500"/>
            <a:chOff x="2190750" y="5276850"/>
            <a:chExt cx="4038600" cy="1333500"/>
          </a:xfrm>
        </p:grpSpPr>
        <p:sp>
          <p:nvSpPr>
            <p:cNvPr id="34" name="object 34"/>
            <p:cNvSpPr/>
            <p:nvPr/>
          </p:nvSpPr>
          <p:spPr>
            <a:xfrm>
              <a:off x="2190750" y="5600700"/>
              <a:ext cx="4038600" cy="0"/>
            </a:xfrm>
            <a:custGeom>
              <a:avLst/>
              <a:gdLst/>
              <a:ahLst/>
              <a:cxnLst/>
              <a:rect l="l" t="t" r="r" b="b"/>
              <a:pathLst>
                <a:path w="4038600">
                  <a:moveTo>
                    <a:pt x="0" y="0"/>
                  </a:moveTo>
                  <a:lnTo>
                    <a:pt x="4038600" y="0"/>
                  </a:lnTo>
                </a:path>
              </a:pathLst>
            </a:custGeom>
            <a:ln w="76200">
              <a:solidFill>
                <a:srgbClr val="000000"/>
              </a:solidFill>
            </a:ln>
          </p:spPr>
          <p:txBody>
            <a:bodyPr wrap="square" lIns="0" tIns="0" rIns="0" bIns="0" rtlCol="0"/>
            <a:lstStyle/>
            <a:p>
              <a:endParaRPr/>
            </a:p>
          </p:txBody>
        </p:sp>
        <p:sp>
          <p:nvSpPr>
            <p:cNvPr id="35" name="object 35"/>
            <p:cNvSpPr/>
            <p:nvPr/>
          </p:nvSpPr>
          <p:spPr>
            <a:xfrm>
              <a:off x="2486025" y="5305425"/>
              <a:ext cx="3533775" cy="1276350"/>
            </a:xfrm>
            <a:custGeom>
              <a:avLst/>
              <a:gdLst/>
              <a:ahLst/>
              <a:cxnLst/>
              <a:rect l="l" t="t" r="r" b="b"/>
              <a:pathLst>
                <a:path w="3533775" h="1276350">
                  <a:moveTo>
                    <a:pt x="3524250" y="0"/>
                  </a:moveTo>
                  <a:lnTo>
                    <a:pt x="3533775" y="1276350"/>
                  </a:lnTo>
                </a:path>
                <a:path w="3533775" h="1276350">
                  <a:moveTo>
                    <a:pt x="0" y="0"/>
                  </a:moveTo>
                  <a:lnTo>
                    <a:pt x="19050" y="1276350"/>
                  </a:lnTo>
                </a:path>
              </a:pathLst>
            </a:custGeom>
            <a:ln w="57150">
              <a:solidFill>
                <a:srgbClr val="000000"/>
              </a:solidFill>
            </a:ln>
          </p:spPr>
          <p:txBody>
            <a:bodyPr wrap="square" lIns="0" tIns="0" rIns="0" bIns="0" rtlCol="0"/>
            <a:lstStyle/>
            <a:p>
              <a:endParaRPr/>
            </a:p>
          </p:txBody>
        </p:sp>
      </p:grpSp>
      <p:pic>
        <p:nvPicPr>
          <p:cNvPr id="36" name="object 36"/>
          <p:cNvPicPr/>
          <p:nvPr/>
        </p:nvPicPr>
        <p:blipFill>
          <a:blip r:embed="rId2" cstate="print"/>
          <a:stretch>
            <a:fillRect/>
          </a:stretch>
        </p:blipFill>
        <p:spPr>
          <a:xfrm>
            <a:off x="457200" y="6248400"/>
            <a:ext cx="476250" cy="381000"/>
          </a:xfrm>
          <a:prstGeom prst="rect">
            <a:avLst/>
          </a:prstGeom>
        </p:spPr>
      </p:pic>
      <p:sp>
        <p:nvSpPr>
          <p:cNvPr id="37" name="object 3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5889" rIns="0" bIns="0" rtlCol="0">
            <a:spAutoFit/>
          </a:bodyPr>
          <a:lstStyle/>
          <a:p>
            <a:pPr marL="317500">
              <a:lnSpc>
                <a:spcPct val="100000"/>
              </a:lnSpc>
              <a:spcBef>
                <a:spcPts val="105"/>
              </a:spcBef>
            </a:pPr>
            <a:r>
              <a:rPr dirty="0"/>
              <a:t>What</a:t>
            </a:r>
            <a:r>
              <a:rPr spc="-80" dirty="0"/>
              <a:t> </a:t>
            </a:r>
            <a:r>
              <a:rPr dirty="0"/>
              <a:t>are</a:t>
            </a:r>
            <a:r>
              <a:rPr spc="10" dirty="0"/>
              <a:t> </a:t>
            </a:r>
            <a:r>
              <a:rPr dirty="0"/>
              <a:t>buffer</a:t>
            </a:r>
            <a:r>
              <a:rPr spc="-35" dirty="0"/>
              <a:t> </a:t>
            </a:r>
            <a:r>
              <a:rPr spc="-10" dirty="0"/>
              <a:t>overflows?</a:t>
            </a:r>
          </a:p>
        </p:txBody>
      </p:sp>
      <p:sp>
        <p:nvSpPr>
          <p:cNvPr id="3" name="object 3"/>
          <p:cNvSpPr/>
          <p:nvPr/>
        </p:nvSpPr>
        <p:spPr>
          <a:xfrm>
            <a:off x="5415026" y="1709673"/>
            <a:ext cx="3571875" cy="1752600"/>
          </a:xfrm>
          <a:custGeom>
            <a:avLst/>
            <a:gdLst/>
            <a:ahLst/>
            <a:cxnLst/>
            <a:rect l="l" t="t" r="r" b="b"/>
            <a:pathLst>
              <a:path w="3571875" h="1752600">
                <a:moveTo>
                  <a:pt x="0" y="1752600"/>
                </a:moveTo>
                <a:lnTo>
                  <a:pt x="3571875" y="1752600"/>
                </a:lnTo>
                <a:lnTo>
                  <a:pt x="3571875" y="0"/>
                </a:lnTo>
                <a:lnTo>
                  <a:pt x="0" y="0"/>
                </a:lnTo>
                <a:lnTo>
                  <a:pt x="0" y="1752600"/>
                </a:lnTo>
                <a:close/>
              </a:path>
            </a:pathLst>
          </a:custGeom>
          <a:ln w="9525">
            <a:solidFill>
              <a:srgbClr val="0000FF"/>
            </a:solidFill>
          </a:ln>
        </p:spPr>
        <p:txBody>
          <a:bodyPr wrap="square" lIns="0" tIns="0" rIns="0" bIns="0" rtlCol="0"/>
          <a:lstStyle/>
          <a:p>
            <a:endParaRPr/>
          </a:p>
        </p:txBody>
      </p:sp>
      <p:sp>
        <p:nvSpPr>
          <p:cNvPr id="4" name="object 4"/>
          <p:cNvSpPr txBox="1"/>
          <p:nvPr/>
        </p:nvSpPr>
        <p:spPr>
          <a:xfrm>
            <a:off x="5494654" y="1708848"/>
            <a:ext cx="3383915" cy="1670050"/>
          </a:xfrm>
          <a:prstGeom prst="rect">
            <a:avLst/>
          </a:prstGeom>
        </p:spPr>
        <p:txBody>
          <a:bodyPr vert="horz" wrap="square" lIns="0" tIns="15875" rIns="0" bIns="0" rtlCol="0">
            <a:spAutoFit/>
          </a:bodyPr>
          <a:lstStyle/>
          <a:p>
            <a:pPr marL="469900" marR="5080" indent="-457834">
              <a:lnSpc>
                <a:spcPct val="100000"/>
              </a:lnSpc>
              <a:spcBef>
                <a:spcPts val="125"/>
              </a:spcBef>
            </a:pPr>
            <a:r>
              <a:rPr sz="2000" b="1" dirty="0">
                <a:solidFill>
                  <a:srgbClr val="696363"/>
                </a:solidFill>
                <a:latin typeface="Courier New"/>
                <a:cs typeface="Courier New"/>
              </a:rPr>
              <a:t>void</a:t>
            </a:r>
            <a:r>
              <a:rPr sz="2000" b="1" spc="-35" dirty="0">
                <a:solidFill>
                  <a:srgbClr val="696363"/>
                </a:solidFill>
                <a:latin typeface="Courier New"/>
                <a:cs typeface="Courier New"/>
              </a:rPr>
              <a:t> </a:t>
            </a:r>
            <a:r>
              <a:rPr sz="2000" b="1" dirty="0">
                <a:solidFill>
                  <a:srgbClr val="696363"/>
                </a:solidFill>
                <a:latin typeface="Courier New"/>
                <a:cs typeface="Courier New"/>
              </a:rPr>
              <a:t>func(char</a:t>
            </a:r>
            <a:r>
              <a:rPr sz="2000" b="1" spc="-30" dirty="0">
                <a:solidFill>
                  <a:srgbClr val="696363"/>
                </a:solidFill>
                <a:latin typeface="Courier New"/>
                <a:cs typeface="Courier New"/>
              </a:rPr>
              <a:t> </a:t>
            </a:r>
            <a:r>
              <a:rPr sz="2000" b="1" dirty="0">
                <a:solidFill>
                  <a:srgbClr val="696363"/>
                </a:solidFill>
                <a:latin typeface="Courier New"/>
                <a:cs typeface="Courier New"/>
              </a:rPr>
              <a:t>*str)</a:t>
            </a:r>
            <a:r>
              <a:rPr sz="2000" b="1" spc="-30" dirty="0">
                <a:solidFill>
                  <a:srgbClr val="696363"/>
                </a:solidFill>
                <a:latin typeface="Courier New"/>
                <a:cs typeface="Courier New"/>
              </a:rPr>
              <a:t> </a:t>
            </a:r>
            <a:r>
              <a:rPr sz="2000" b="1" spc="-50" dirty="0">
                <a:solidFill>
                  <a:srgbClr val="696363"/>
                </a:solidFill>
                <a:latin typeface="Courier New"/>
                <a:cs typeface="Courier New"/>
              </a:rPr>
              <a:t>{ </a:t>
            </a:r>
            <a:r>
              <a:rPr sz="2000" b="1" dirty="0">
                <a:solidFill>
                  <a:srgbClr val="696363"/>
                </a:solidFill>
                <a:latin typeface="Courier New"/>
                <a:cs typeface="Courier New"/>
              </a:rPr>
              <a:t>char</a:t>
            </a:r>
            <a:r>
              <a:rPr sz="2000" b="1" spc="-20" dirty="0">
                <a:solidFill>
                  <a:srgbClr val="696363"/>
                </a:solidFill>
                <a:latin typeface="Courier New"/>
                <a:cs typeface="Courier New"/>
              </a:rPr>
              <a:t> </a:t>
            </a:r>
            <a:r>
              <a:rPr sz="2000" b="1" spc="-10" dirty="0">
                <a:solidFill>
                  <a:srgbClr val="696363"/>
                </a:solidFill>
                <a:latin typeface="Courier New"/>
                <a:cs typeface="Courier New"/>
              </a:rPr>
              <a:t>buf[128];</a:t>
            </a:r>
            <a:endParaRPr sz="2000">
              <a:latin typeface="Courier New"/>
              <a:cs typeface="Courier New"/>
            </a:endParaRPr>
          </a:p>
          <a:p>
            <a:pPr marL="469900" marR="159385">
              <a:lnSpc>
                <a:spcPct val="100000"/>
              </a:lnSpc>
              <a:spcBef>
                <a:spcPts val="910"/>
              </a:spcBef>
            </a:pPr>
            <a:r>
              <a:rPr sz="2000" b="1" dirty="0">
                <a:solidFill>
                  <a:srgbClr val="696363"/>
                </a:solidFill>
                <a:latin typeface="Courier New"/>
                <a:cs typeface="Courier New"/>
              </a:rPr>
              <a:t>strcpy(buf,</a:t>
            </a:r>
            <a:r>
              <a:rPr sz="2000" b="1" spc="-55" dirty="0">
                <a:solidFill>
                  <a:srgbClr val="696363"/>
                </a:solidFill>
                <a:latin typeface="Courier New"/>
                <a:cs typeface="Courier New"/>
              </a:rPr>
              <a:t> </a:t>
            </a:r>
            <a:r>
              <a:rPr sz="2000" b="1" spc="-10" dirty="0">
                <a:solidFill>
                  <a:srgbClr val="696363"/>
                </a:solidFill>
                <a:latin typeface="Courier New"/>
                <a:cs typeface="Courier New"/>
              </a:rPr>
              <a:t>str); do-something(buf);</a:t>
            </a:r>
            <a:endParaRPr sz="2000">
              <a:latin typeface="Courier New"/>
              <a:cs typeface="Courier New"/>
            </a:endParaRPr>
          </a:p>
          <a:p>
            <a:pPr marL="12700">
              <a:lnSpc>
                <a:spcPct val="100000"/>
              </a:lnSpc>
              <a:spcBef>
                <a:spcPts val="5"/>
              </a:spcBef>
            </a:pPr>
            <a:r>
              <a:rPr sz="2000" b="1" spc="-50" dirty="0">
                <a:solidFill>
                  <a:srgbClr val="696363"/>
                </a:solidFill>
                <a:latin typeface="Courier New"/>
                <a:cs typeface="Courier New"/>
              </a:rPr>
              <a:t>}</a:t>
            </a:r>
            <a:endParaRPr sz="2000">
              <a:latin typeface="Courier New"/>
              <a:cs typeface="Courier New"/>
            </a:endParaRPr>
          </a:p>
        </p:txBody>
      </p:sp>
      <p:sp>
        <p:nvSpPr>
          <p:cNvPr id="5" name="object 5"/>
          <p:cNvSpPr txBox="1"/>
          <p:nvPr/>
        </p:nvSpPr>
        <p:spPr>
          <a:xfrm>
            <a:off x="383857" y="1702117"/>
            <a:ext cx="4306570"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Suppose</a:t>
            </a:r>
            <a:r>
              <a:rPr sz="2000" spc="-50"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dirty="0">
                <a:latin typeface="Times New Roman"/>
                <a:cs typeface="Times New Roman"/>
              </a:rPr>
              <a:t>web</a:t>
            </a:r>
            <a:r>
              <a:rPr sz="2000" spc="-10" dirty="0">
                <a:latin typeface="Times New Roman"/>
                <a:cs typeface="Times New Roman"/>
              </a:rPr>
              <a:t> </a:t>
            </a:r>
            <a:r>
              <a:rPr sz="2000" dirty="0">
                <a:latin typeface="Times New Roman"/>
                <a:cs typeface="Times New Roman"/>
              </a:rPr>
              <a:t>server</a:t>
            </a:r>
            <a:r>
              <a:rPr sz="2000" spc="-40" dirty="0">
                <a:latin typeface="Times New Roman"/>
                <a:cs typeface="Times New Roman"/>
              </a:rPr>
              <a:t> </a:t>
            </a:r>
            <a:r>
              <a:rPr sz="2000" dirty="0">
                <a:latin typeface="Times New Roman"/>
                <a:cs typeface="Times New Roman"/>
              </a:rPr>
              <a:t>contains</a:t>
            </a:r>
            <a:r>
              <a:rPr sz="2000" spc="-15"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function:</a:t>
            </a:r>
            <a:endParaRPr sz="2000">
              <a:latin typeface="Times New Roman"/>
              <a:cs typeface="Times New Roman"/>
            </a:endParaRPr>
          </a:p>
        </p:txBody>
      </p:sp>
      <p:sp>
        <p:nvSpPr>
          <p:cNvPr id="6" name="object 6"/>
          <p:cNvSpPr txBox="1"/>
          <p:nvPr/>
        </p:nvSpPr>
        <p:spPr>
          <a:xfrm>
            <a:off x="418782" y="2439987"/>
            <a:ext cx="3922395"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When</a:t>
            </a:r>
            <a:r>
              <a:rPr sz="2000" spc="5" dirty="0">
                <a:latin typeface="Times New Roman"/>
                <a:cs typeface="Times New Roman"/>
              </a:rPr>
              <a:t> </a:t>
            </a:r>
            <a:r>
              <a:rPr sz="2000" dirty="0">
                <a:latin typeface="Times New Roman"/>
                <a:cs typeface="Times New Roman"/>
              </a:rPr>
              <a:t>func()</a:t>
            </a:r>
            <a:r>
              <a:rPr sz="2000" spc="-55"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called</a:t>
            </a:r>
            <a:r>
              <a:rPr sz="2000" spc="-25" dirty="0">
                <a:latin typeface="Times New Roman"/>
                <a:cs typeface="Times New Roman"/>
              </a:rPr>
              <a:t> </a:t>
            </a:r>
            <a:r>
              <a:rPr sz="2000" dirty="0">
                <a:latin typeface="Times New Roman"/>
                <a:cs typeface="Times New Roman"/>
              </a:rPr>
              <a:t>stack</a:t>
            </a:r>
            <a:r>
              <a:rPr sz="2000" spc="-25" dirty="0">
                <a:latin typeface="Times New Roman"/>
                <a:cs typeface="Times New Roman"/>
              </a:rPr>
              <a:t> </a:t>
            </a:r>
            <a:r>
              <a:rPr sz="2000" dirty="0">
                <a:latin typeface="Times New Roman"/>
                <a:cs typeface="Times New Roman"/>
              </a:rPr>
              <a:t>looks</a:t>
            </a:r>
            <a:r>
              <a:rPr sz="2000" spc="-25" dirty="0">
                <a:latin typeface="Times New Roman"/>
                <a:cs typeface="Times New Roman"/>
              </a:rPr>
              <a:t> </a:t>
            </a:r>
            <a:r>
              <a:rPr sz="2000" spc="-10" dirty="0">
                <a:latin typeface="Times New Roman"/>
                <a:cs typeface="Times New Roman"/>
              </a:rPr>
              <a:t>like:</a:t>
            </a:r>
            <a:endParaRPr sz="2000">
              <a:latin typeface="Times New Roman"/>
              <a:cs typeface="Times New Roman"/>
            </a:endParaRPr>
          </a:p>
        </p:txBody>
      </p:sp>
      <p:grpSp>
        <p:nvGrpSpPr>
          <p:cNvPr id="7" name="object 7"/>
          <p:cNvGrpSpPr/>
          <p:nvPr/>
        </p:nvGrpSpPr>
        <p:grpSpPr>
          <a:xfrm>
            <a:off x="1676463" y="3048063"/>
            <a:ext cx="3514725" cy="514350"/>
            <a:chOff x="1676463" y="3048063"/>
            <a:chExt cx="3514725" cy="514350"/>
          </a:xfrm>
        </p:grpSpPr>
        <p:sp>
          <p:nvSpPr>
            <p:cNvPr id="8" name="object 8"/>
            <p:cNvSpPr/>
            <p:nvPr/>
          </p:nvSpPr>
          <p:spPr>
            <a:xfrm>
              <a:off x="1681226" y="3086100"/>
              <a:ext cx="3505200" cy="471805"/>
            </a:xfrm>
            <a:custGeom>
              <a:avLst/>
              <a:gdLst/>
              <a:ahLst/>
              <a:cxnLst/>
              <a:rect l="l" t="t" r="r" b="b"/>
              <a:pathLst>
                <a:path w="3505200" h="471804">
                  <a:moveTo>
                    <a:pt x="0" y="471550"/>
                  </a:moveTo>
                  <a:lnTo>
                    <a:pt x="3505200" y="471550"/>
                  </a:lnTo>
                  <a:lnTo>
                    <a:pt x="3505200" y="0"/>
                  </a:lnTo>
                  <a:lnTo>
                    <a:pt x="0" y="0"/>
                  </a:lnTo>
                  <a:lnTo>
                    <a:pt x="0" y="471550"/>
                  </a:lnTo>
                  <a:close/>
                </a:path>
              </a:pathLst>
            </a:custGeom>
            <a:solidFill>
              <a:srgbClr val="BEBEBE"/>
            </a:solidFill>
          </p:spPr>
          <p:txBody>
            <a:bodyPr wrap="square" lIns="0" tIns="0" rIns="0" bIns="0" rtlCol="0"/>
            <a:lstStyle/>
            <a:p>
              <a:endParaRPr/>
            </a:p>
          </p:txBody>
        </p:sp>
        <p:sp>
          <p:nvSpPr>
            <p:cNvPr id="9" name="object 9"/>
            <p:cNvSpPr/>
            <p:nvPr/>
          </p:nvSpPr>
          <p:spPr>
            <a:xfrm>
              <a:off x="1681226" y="3052826"/>
              <a:ext cx="3505200" cy="504825"/>
            </a:xfrm>
            <a:custGeom>
              <a:avLst/>
              <a:gdLst/>
              <a:ahLst/>
              <a:cxnLst/>
              <a:rect l="l" t="t" r="r" b="b"/>
              <a:pathLst>
                <a:path w="3505200" h="504825">
                  <a:moveTo>
                    <a:pt x="0" y="504825"/>
                  </a:moveTo>
                  <a:lnTo>
                    <a:pt x="3505200" y="504825"/>
                  </a:lnTo>
                  <a:lnTo>
                    <a:pt x="3505200" y="0"/>
                  </a:lnTo>
                  <a:lnTo>
                    <a:pt x="0" y="0"/>
                  </a:lnTo>
                  <a:lnTo>
                    <a:pt x="0" y="504825"/>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2741676" y="3103181"/>
            <a:ext cx="1381760" cy="334645"/>
          </a:xfrm>
          <a:prstGeom prst="rect">
            <a:avLst/>
          </a:prstGeom>
        </p:spPr>
        <p:txBody>
          <a:bodyPr vert="horz" wrap="square" lIns="0" tIns="15875" rIns="0" bIns="0" rtlCol="0">
            <a:spAutoFit/>
          </a:bodyPr>
          <a:lstStyle/>
          <a:p>
            <a:pPr marL="12700">
              <a:lnSpc>
                <a:spcPct val="100000"/>
              </a:lnSpc>
              <a:spcBef>
                <a:spcPts val="125"/>
              </a:spcBef>
              <a:tabLst>
                <a:tab pos="1127125" algn="l"/>
              </a:tabLst>
            </a:pPr>
            <a:r>
              <a:rPr sz="2000" spc="-10" dirty="0">
                <a:latin typeface="Times New Roman"/>
                <a:cs typeface="Times New Roman"/>
              </a:rPr>
              <a:t>argument:</a:t>
            </a:r>
            <a:r>
              <a:rPr sz="2000" dirty="0">
                <a:latin typeface="Times New Roman"/>
                <a:cs typeface="Times New Roman"/>
              </a:rPr>
              <a:t>	</a:t>
            </a:r>
            <a:r>
              <a:rPr sz="2000" spc="-25" dirty="0">
                <a:latin typeface="Times New Roman"/>
                <a:cs typeface="Times New Roman"/>
              </a:rPr>
              <a:t>str</a:t>
            </a:r>
            <a:endParaRPr sz="2000">
              <a:latin typeface="Times New Roman"/>
              <a:cs typeface="Times New Roman"/>
            </a:endParaRPr>
          </a:p>
        </p:txBody>
      </p:sp>
      <p:grpSp>
        <p:nvGrpSpPr>
          <p:cNvPr id="11" name="object 11"/>
          <p:cNvGrpSpPr/>
          <p:nvPr/>
        </p:nvGrpSpPr>
        <p:grpSpPr>
          <a:xfrm>
            <a:off x="1676463" y="3505263"/>
            <a:ext cx="3514725" cy="2400300"/>
            <a:chOff x="1676463" y="3505263"/>
            <a:chExt cx="3514725" cy="2400300"/>
          </a:xfrm>
        </p:grpSpPr>
        <p:sp>
          <p:nvSpPr>
            <p:cNvPr id="12" name="object 12"/>
            <p:cNvSpPr/>
            <p:nvPr/>
          </p:nvSpPr>
          <p:spPr>
            <a:xfrm>
              <a:off x="1681226" y="3510026"/>
              <a:ext cx="3505200" cy="457200"/>
            </a:xfrm>
            <a:custGeom>
              <a:avLst/>
              <a:gdLst/>
              <a:ahLst/>
              <a:cxnLst/>
              <a:rect l="l" t="t" r="r" b="b"/>
              <a:pathLst>
                <a:path w="3505200" h="457200">
                  <a:moveTo>
                    <a:pt x="3505200" y="0"/>
                  </a:moveTo>
                  <a:lnTo>
                    <a:pt x="0" y="0"/>
                  </a:lnTo>
                  <a:lnTo>
                    <a:pt x="0" y="457200"/>
                  </a:lnTo>
                  <a:lnTo>
                    <a:pt x="3505200" y="457200"/>
                  </a:lnTo>
                  <a:lnTo>
                    <a:pt x="3505200" y="0"/>
                  </a:lnTo>
                  <a:close/>
                </a:path>
              </a:pathLst>
            </a:custGeom>
            <a:solidFill>
              <a:srgbClr val="BEBEBE"/>
            </a:solidFill>
          </p:spPr>
          <p:txBody>
            <a:bodyPr wrap="square" lIns="0" tIns="0" rIns="0" bIns="0" rtlCol="0"/>
            <a:lstStyle/>
            <a:p>
              <a:endParaRPr/>
            </a:p>
          </p:txBody>
        </p:sp>
        <p:sp>
          <p:nvSpPr>
            <p:cNvPr id="13" name="object 13"/>
            <p:cNvSpPr/>
            <p:nvPr/>
          </p:nvSpPr>
          <p:spPr>
            <a:xfrm>
              <a:off x="1681226" y="3510026"/>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4" name="object 14"/>
            <p:cNvSpPr/>
            <p:nvPr/>
          </p:nvSpPr>
          <p:spPr>
            <a:xfrm>
              <a:off x="1681226" y="3919601"/>
              <a:ext cx="3505200" cy="457200"/>
            </a:xfrm>
            <a:custGeom>
              <a:avLst/>
              <a:gdLst/>
              <a:ahLst/>
              <a:cxnLst/>
              <a:rect l="l" t="t" r="r" b="b"/>
              <a:pathLst>
                <a:path w="3505200" h="457200">
                  <a:moveTo>
                    <a:pt x="3505200" y="0"/>
                  </a:moveTo>
                  <a:lnTo>
                    <a:pt x="0" y="0"/>
                  </a:lnTo>
                  <a:lnTo>
                    <a:pt x="0" y="457200"/>
                  </a:lnTo>
                  <a:lnTo>
                    <a:pt x="3505200" y="457200"/>
                  </a:lnTo>
                  <a:lnTo>
                    <a:pt x="3505200" y="0"/>
                  </a:lnTo>
                  <a:close/>
                </a:path>
              </a:pathLst>
            </a:custGeom>
            <a:solidFill>
              <a:srgbClr val="BEBEBE"/>
            </a:solidFill>
          </p:spPr>
          <p:txBody>
            <a:bodyPr wrap="square" lIns="0" tIns="0" rIns="0" bIns="0" rtlCol="0"/>
            <a:lstStyle/>
            <a:p>
              <a:endParaRPr/>
            </a:p>
          </p:txBody>
        </p:sp>
        <p:sp>
          <p:nvSpPr>
            <p:cNvPr id="15" name="object 15"/>
            <p:cNvSpPr/>
            <p:nvPr/>
          </p:nvSpPr>
          <p:spPr>
            <a:xfrm>
              <a:off x="1681226" y="391960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6" name="object 16"/>
            <p:cNvSpPr/>
            <p:nvPr/>
          </p:nvSpPr>
          <p:spPr>
            <a:xfrm>
              <a:off x="1681226" y="4376737"/>
              <a:ext cx="3505200" cy="1481455"/>
            </a:xfrm>
            <a:custGeom>
              <a:avLst/>
              <a:gdLst/>
              <a:ahLst/>
              <a:cxnLst/>
              <a:rect l="l" t="t" r="r" b="b"/>
              <a:pathLst>
                <a:path w="3505200" h="1481454">
                  <a:moveTo>
                    <a:pt x="0" y="1481137"/>
                  </a:moveTo>
                  <a:lnTo>
                    <a:pt x="3505200" y="1481137"/>
                  </a:lnTo>
                  <a:lnTo>
                    <a:pt x="3505200" y="0"/>
                  </a:lnTo>
                  <a:lnTo>
                    <a:pt x="0" y="0"/>
                  </a:lnTo>
                  <a:lnTo>
                    <a:pt x="0" y="1481137"/>
                  </a:lnTo>
                  <a:close/>
                </a:path>
              </a:pathLst>
            </a:custGeom>
            <a:solidFill>
              <a:srgbClr val="BEBEBE"/>
            </a:solidFill>
          </p:spPr>
          <p:txBody>
            <a:bodyPr wrap="square" lIns="0" tIns="0" rIns="0" bIns="0" rtlCol="0"/>
            <a:lstStyle/>
            <a:p>
              <a:endParaRPr/>
            </a:p>
          </p:txBody>
        </p:sp>
        <p:sp>
          <p:nvSpPr>
            <p:cNvPr id="17" name="object 17"/>
            <p:cNvSpPr/>
            <p:nvPr/>
          </p:nvSpPr>
          <p:spPr>
            <a:xfrm>
              <a:off x="1681226" y="4376737"/>
              <a:ext cx="3505200" cy="1524000"/>
            </a:xfrm>
            <a:custGeom>
              <a:avLst/>
              <a:gdLst/>
              <a:ahLst/>
              <a:cxnLst/>
              <a:rect l="l" t="t" r="r" b="b"/>
              <a:pathLst>
                <a:path w="3505200" h="1524000">
                  <a:moveTo>
                    <a:pt x="0" y="1524000"/>
                  </a:moveTo>
                  <a:lnTo>
                    <a:pt x="3505200" y="1524000"/>
                  </a:lnTo>
                  <a:lnTo>
                    <a:pt x="35052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2529839" y="3437826"/>
            <a:ext cx="1807845" cy="1831339"/>
          </a:xfrm>
          <a:prstGeom prst="rect">
            <a:avLst/>
          </a:prstGeom>
        </p:spPr>
        <p:txBody>
          <a:bodyPr vert="horz" wrap="square" lIns="0" tIns="11430" rIns="0" bIns="0" rtlCol="0">
            <a:spAutoFit/>
          </a:bodyPr>
          <a:lstStyle/>
          <a:p>
            <a:pPr marL="12700" marR="5080" indent="-2540" algn="ctr">
              <a:lnSpc>
                <a:spcPct val="133500"/>
              </a:lnSpc>
              <a:spcBef>
                <a:spcPts val="90"/>
              </a:spcBef>
            </a:pPr>
            <a:r>
              <a:rPr sz="2000" spc="-20" dirty="0">
                <a:latin typeface="Times New Roman"/>
                <a:cs typeface="Times New Roman"/>
              </a:rPr>
              <a:t>return</a:t>
            </a:r>
            <a:r>
              <a:rPr sz="2000" spc="-85" dirty="0">
                <a:latin typeface="Times New Roman"/>
                <a:cs typeface="Times New Roman"/>
              </a:rPr>
              <a:t> </a:t>
            </a:r>
            <a:r>
              <a:rPr sz="2000" spc="-10" dirty="0">
                <a:latin typeface="Times New Roman"/>
                <a:cs typeface="Times New Roman"/>
              </a:rPr>
              <a:t>address </a:t>
            </a:r>
            <a:r>
              <a:rPr sz="2000" spc="-100" dirty="0">
                <a:latin typeface="Times New Roman"/>
                <a:cs typeface="Times New Roman"/>
              </a:rPr>
              <a:t>stack</a:t>
            </a:r>
            <a:r>
              <a:rPr sz="2000" spc="-90" dirty="0">
                <a:latin typeface="Times New Roman"/>
                <a:cs typeface="Times New Roman"/>
              </a:rPr>
              <a:t> </a:t>
            </a:r>
            <a:r>
              <a:rPr sz="2000" spc="-105" dirty="0">
                <a:latin typeface="Times New Roman"/>
                <a:cs typeface="Times New Roman"/>
              </a:rPr>
              <a:t>frame</a:t>
            </a:r>
            <a:r>
              <a:rPr sz="2000" spc="-15" dirty="0">
                <a:latin typeface="Times New Roman"/>
                <a:cs typeface="Times New Roman"/>
              </a:rPr>
              <a:t> </a:t>
            </a:r>
            <a:r>
              <a:rPr sz="2000" spc="-45" dirty="0">
                <a:latin typeface="Times New Roman"/>
                <a:cs typeface="Times New Roman"/>
              </a:rPr>
              <a:t>pointer</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815"/>
              </a:spcBef>
            </a:pPr>
            <a:endParaRPr sz="2000">
              <a:latin typeface="Times New Roman"/>
              <a:cs typeface="Times New Roman"/>
            </a:endParaRPr>
          </a:p>
          <a:p>
            <a:pPr marL="2540" algn="ctr">
              <a:lnSpc>
                <a:spcPct val="100000"/>
              </a:lnSpc>
            </a:pPr>
            <a:r>
              <a:rPr sz="2000" spc="-95" dirty="0">
                <a:latin typeface="Times New Roman"/>
                <a:cs typeface="Times New Roman"/>
              </a:rPr>
              <a:t>char</a:t>
            </a:r>
            <a:r>
              <a:rPr sz="2000" spc="-35" dirty="0">
                <a:latin typeface="Times New Roman"/>
                <a:cs typeface="Times New Roman"/>
              </a:rPr>
              <a:t> </a:t>
            </a:r>
            <a:r>
              <a:rPr sz="2000" spc="-10" dirty="0">
                <a:latin typeface="Times New Roman"/>
                <a:cs typeface="Times New Roman"/>
              </a:rPr>
              <a:t>buf[128]</a:t>
            </a:r>
            <a:endParaRPr sz="2000">
              <a:latin typeface="Times New Roman"/>
              <a:cs typeface="Times New Roman"/>
            </a:endParaRPr>
          </a:p>
        </p:txBody>
      </p:sp>
      <p:sp>
        <p:nvSpPr>
          <p:cNvPr id="19" name="object 19"/>
          <p:cNvSpPr txBox="1"/>
          <p:nvPr/>
        </p:nvSpPr>
        <p:spPr>
          <a:xfrm>
            <a:off x="284479" y="5667057"/>
            <a:ext cx="256540" cy="334645"/>
          </a:xfrm>
          <a:prstGeom prst="rect">
            <a:avLst/>
          </a:prstGeom>
        </p:spPr>
        <p:txBody>
          <a:bodyPr vert="horz" wrap="square" lIns="0" tIns="15875" rIns="0" bIns="0" rtlCol="0">
            <a:spAutoFit/>
          </a:bodyPr>
          <a:lstStyle/>
          <a:p>
            <a:pPr marL="12700">
              <a:lnSpc>
                <a:spcPct val="100000"/>
              </a:lnSpc>
              <a:spcBef>
                <a:spcPts val="125"/>
              </a:spcBef>
            </a:pPr>
            <a:r>
              <a:rPr sz="2000" spc="-185" dirty="0">
                <a:latin typeface="Times New Roman"/>
                <a:cs typeface="Times New Roman"/>
              </a:rPr>
              <a:t>SP</a:t>
            </a:r>
            <a:endParaRPr sz="2000">
              <a:latin typeface="Times New Roman"/>
              <a:cs typeface="Times New Roman"/>
            </a:endParaRPr>
          </a:p>
        </p:txBody>
      </p:sp>
      <p:sp>
        <p:nvSpPr>
          <p:cNvPr id="20" name="object 20"/>
          <p:cNvSpPr/>
          <p:nvPr/>
        </p:nvSpPr>
        <p:spPr>
          <a:xfrm>
            <a:off x="747712" y="5891212"/>
            <a:ext cx="543560" cy="76200"/>
          </a:xfrm>
          <a:custGeom>
            <a:avLst/>
            <a:gdLst/>
            <a:ahLst/>
            <a:cxnLst/>
            <a:rect l="l" t="t" r="r" b="b"/>
            <a:pathLst>
              <a:path w="543560" h="76200">
                <a:moveTo>
                  <a:pt x="466725" y="0"/>
                </a:moveTo>
                <a:lnTo>
                  <a:pt x="466725" y="76200"/>
                </a:lnTo>
                <a:lnTo>
                  <a:pt x="530277" y="44450"/>
                </a:lnTo>
                <a:lnTo>
                  <a:pt x="479425" y="44450"/>
                </a:lnTo>
                <a:lnTo>
                  <a:pt x="479425" y="31750"/>
                </a:lnTo>
                <a:lnTo>
                  <a:pt x="530277" y="31750"/>
                </a:lnTo>
                <a:lnTo>
                  <a:pt x="466725" y="0"/>
                </a:lnTo>
                <a:close/>
              </a:path>
              <a:path w="543560" h="76200">
                <a:moveTo>
                  <a:pt x="466725" y="31750"/>
                </a:moveTo>
                <a:lnTo>
                  <a:pt x="0" y="31750"/>
                </a:lnTo>
                <a:lnTo>
                  <a:pt x="0" y="44450"/>
                </a:lnTo>
                <a:lnTo>
                  <a:pt x="466725" y="44450"/>
                </a:lnTo>
                <a:lnTo>
                  <a:pt x="466725" y="31750"/>
                </a:lnTo>
                <a:close/>
              </a:path>
              <a:path w="543560" h="76200">
                <a:moveTo>
                  <a:pt x="530277" y="31750"/>
                </a:moveTo>
                <a:lnTo>
                  <a:pt x="479425" y="31750"/>
                </a:lnTo>
                <a:lnTo>
                  <a:pt x="479425" y="44450"/>
                </a:lnTo>
                <a:lnTo>
                  <a:pt x="530277" y="44450"/>
                </a:lnTo>
                <a:lnTo>
                  <a:pt x="542988" y="38100"/>
                </a:lnTo>
                <a:lnTo>
                  <a:pt x="530277" y="31750"/>
                </a:lnTo>
                <a:close/>
              </a:path>
            </a:pathLst>
          </a:custGeom>
          <a:solidFill>
            <a:srgbClr val="000000"/>
          </a:solidFill>
        </p:spPr>
        <p:txBody>
          <a:bodyPr wrap="square" lIns="0" tIns="0" rIns="0" bIns="0" rtlCol="0"/>
          <a:lstStyle/>
          <a:p>
            <a:endParaRPr/>
          </a:p>
        </p:txBody>
      </p:sp>
      <p:grpSp>
        <p:nvGrpSpPr>
          <p:cNvPr id="21" name="object 21"/>
          <p:cNvGrpSpPr/>
          <p:nvPr/>
        </p:nvGrpSpPr>
        <p:grpSpPr>
          <a:xfrm>
            <a:off x="871537" y="2667000"/>
            <a:ext cx="4538980" cy="3457575"/>
            <a:chOff x="871537" y="2667000"/>
            <a:chExt cx="4538980" cy="3457575"/>
          </a:xfrm>
        </p:grpSpPr>
        <p:sp>
          <p:nvSpPr>
            <p:cNvPr id="22" name="object 22"/>
            <p:cNvSpPr/>
            <p:nvPr/>
          </p:nvSpPr>
          <p:spPr>
            <a:xfrm>
              <a:off x="1371600" y="3048000"/>
              <a:ext cx="4038600" cy="2847975"/>
            </a:xfrm>
            <a:custGeom>
              <a:avLst/>
              <a:gdLst/>
              <a:ahLst/>
              <a:cxnLst/>
              <a:rect l="l" t="t" r="r" b="b"/>
              <a:pathLst>
                <a:path w="4038600" h="2847975">
                  <a:moveTo>
                    <a:pt x="0" y="2847975"/>
                  </a:moveTo>
                  <a:lnTo>
                    <a:pt x="4038600" y="2847975"/>
                  </a:lnTo>
                </a:path>
                <a:path w="4038600" h="2847975">
                  <a:moveTo>
                    <a:pt x="0" y="0"/>
                  </a:moveTo>
                  <a:lnTo>
                    <a:pt x="4038600" y="0"/>
                  </a:lnTo>
                </a:path>
              </a:pathLst>
            </a:custGeom>
            <a:ln w="76200">
              <a:solidFill>
                <a:srgbClr val="000000"/>
              </a:solidFill>
            </a:ln>
          </p:spPr>
          <p:txBody>
            <a:bodyPr wrap="square" lIns="0" tIns="0" rIns="0" bIns="0" rtlCol="0"/>
            <a:lstStyle/>
            <a:p>
              <a:endParaRPr/>
            </a:p>
          </p:txBody>
        </p:sp>
        <p:sp>
          <p:nvSpPr>
            <p:cNvPr id="23" name="object 23"/>
            <p:cNvSpPr/>
            <p:nvPr/>
          </p:nvSpPr>
          <p:spPr>
            <a:xfrm>
              <a:off x="938212" y="4167250"/>
              <a:ext cx="743585" cy="0"/>
            </a:xfrm>
            <a:custGeom>
              <a:avLst/>
              <a:gdLst/>
              <a:ahLst/>
              <a:cxnLst/>
              <a:rect l="l" t="t" r="r" b="b"/>
              <a:pathLst>
                <a:path w="743585">
                  <a:moveTo>
                    <a:pt x="743013" y="0"/>
                  </a:moveTo>
                  <a:lnTo>
                    <a:pt x="0" y="0"/>
                  </a:lnTo>
                </a:path>
              </a:pathLst>
            </a:custGeom>
            <a:ln w="28575">
              <a:solidFill>
                <a:srgbClr val="0000FF"/>
              </a:solidFill>
            </a:ln>
          </p:spPr>
          <p:txBody>
            <a:bodyPr wrap="square" lIns="0" tIns="0" rIns="0" bIns="0" rtlCol="0"/>
            <a:lstStyle/>
            <a:p>
              <a:endParaRPr/>
            </a:p>
          </p:txBody>
        </p:sp>
        <p:sp>
          <p:nvSpPr>
            <p:cNvPr id="24" name="object 24"/>
            <p:cNvSpPr/>
            <p:nvPr/>
          </p:nvSpPr>
          <p:spPr>
            <a:xfrm>
              <a:off x="871537" y="2743200"/>
              <a:ext cx="123825" cy="1419225"/>
            </a:xfrm>
            <a:custGeom>
              <a:avLst/>
              <a:gdLst/>
              <a:ahLst/>
              <a:cxnLst/>
              <a:rect l="l" t="t" r="r" b="b"/>
              <a:pathLst>
                <a:path w="123825" h="1419225">
                  <a:moveTo>
                    <a:pt x="82550" y="103124"/>
                  </a:moveTo>
                  <a:lnTo>
                    <a:pt x="41275" y="103124"/>
                  </a:lnTo>
                  <a:lnTo>
                    <a:pt x="41275" y="1419225"/>
                  </a:lnTo>
                  <a:lnTo>
                    <a:pt x="82550" y="1419225"/>
                  </a:lnTo>
                  <a:lnTo>
                    <a:pt x="82550" y="103124"/>
                  </a:lnTo>
                  <a:close/>
                </a:path>
                <a:path w="123825" h="1419225">
                  <a:moveTo>
                    <a:pt x="61912" y="0"/>
                  </a:moveTo>
                  <a:lnTo>
                    <a:pt x="0" y="123825"/>
                  </a:lnTo>
                  <a:lnTo>
                    <a:pt x="41275" y="123825"/>
                  </a:lnTo>
                  <a:lnTo>
                    <a:pt x="41275" y="103124"/>
                  </a:lnTo>
                  <a:lnTo>
                    <a:pt x="113474" y="103124"/>
                  </a:lnTo>
                  <a:lnTo>
                    <a:pt x="61912" y="0"/>
                  </a:lnTo>
                  <a:close/>
                </a:path>
                <a:path w="123825" h="1419225">
                  <a:moveTo>
                    <a:pt x="113474" y="103124"/>
                  </a:moveTo>
                  <a:lnTo>
                    <a:pt x="82550" y="103124"/>
                  </a:lnTo>
                  <a:lnTo>
                    <a:pt x="82550" y="123825"/>
                  </a:lnTo>
                  <a:lnTo>
                    <a:pt x="123825" y="123825"/>
                  </a:lnTo>
                  <a:lnTo>
                    <a:pt x="113474" y="103124"/>
                  </a:lnTo>
                  <a:close/>
                </a:path>
              </a:pathLst>
            </a:custGeom>
            <a:solidFill>
              <a:srgbClr val="0000FF"/>
            </a:solidFill>
          </p:spPr>
          <p:txBody>
            <a:bodyPr wrap="square" lIns="0" tIns="0" rIns="0" bIns="0" rtlCol="0"/>
            <a:lstStyle/>
            <a:p>
              <a:endParaRPr/>
            </a:p>
          </p:txBody>
        </p:sp>
        <p:sp>
          <p:nvSpPr>
            <p:cNvPr id="25" name="object 25"/>
            <p:cNvSpPr/>
            <p:nvPr/>
          </p:nvSpPr>
          <p:spPr>
            <a:xfrm>
              <a:off x="1676400" y="2695575"/>
              <a:ext cx="3514725" cy="3400425"/>
            </a:xfrm>
            <a:custGeom>
              <a:avLst/>
              <a:gdLst/>
              <a:ahLst/>
              <a:cxnLst/>
              <a:rect l="l" t="t" r="r" b="b"/>
              <a:pathLst>
                <a:path w="3514725" h="3400425">
                  <a:moveTo>
                    <a:pt x="0" y="47625"/>
                  </a:moveTo>
                  <a:lnTo>
                    <a:pt x="0" y="457200"/>
                  </a:lnTo>
                </a:path>
                <a:path w="3514725" h="3400425">
                  <a:moveTo>
                    <a:pt x="3505200" y="0"/>
                  </a:moveTo>
                  <a:lnTo>
                    <a:pt x="3514725" y="457200"/>
                  </a:lnTo>
                </a:path>
                <a:path w="3514725" h="3400425">
                  <a:moveTo>
                    <a:pt x="9525" y="2686050"/>
                  </a:moveTo>
                  <a:lnTo>
                    <a:pt x="0" y="3400425"/>
                  </a:lnTo>
                </a:path>
                <a:path w="3514725" h="3400425">
                  <a:moveTo>
                    <a:pt x="3514725" y="2686050"/>
                  </a:moveTo>
                  <a:lnTo>
                    <a:pt x="3505200" y="3400425"/>
                  </a:lnTo>
                </a:path>
              </a:pathLst>
            </a:custGeom>
            <a:ln w="57150">
              <a:solidFill>
                <a:srgbClr val="000000"/>
              </a:solidFill>
            </a:ln>
          </p:spPr>
          <p:txBody>
            <a:bodyPr wrap="square" lIns="0" tIns="0" rIns="0" bIns="0" rtlCol="0"/>
            <a:lstStyle/>
            <a:p>
              <a:endParaRPr/>
            </a:p>
          </p:txBody>
        </p:sp>
        <p:sp>
          <p:nvSpPr>
            <p:cNvPr id="26" name="object 26"/>
            <p:cNvSpPr/>
            <p:nvPr/>
          </p:nvSpPr>
          <p:spPr>
            <a:xfrm>
              <a:off x="1676400" y="3048000"/>
              <a:ext cx="3505200" cy="2847975"/>
            </a:xfrm>
            <a:custGeom>
              <a:avLst/>
              <a:gdLst/>
              <a:ahLst/>
              <a:cxnLst/>
              <a:rect l="l" t="t" r="r" b="b"/>
              <a:pathLst>
                <a:path w="3505200" h="2847975">
                  <a:moveTo>
                    <a:pt x="0" y="2847975"/>
                  </a:moveTo>
                  <a:lnTo>
                    <a:pt x="3505200" y="2847975"/>
                  </a:lnTo>
                  <a:lnTo>
                    <a:pt x="3505200" y="0"/>
                  </a:lnTo>
                  <a:lnTo>
                    <a:pt x="0" y="0"/>
                  </a:lnTo>
                  <a:lnTo>
                    <a:pt x="0" y="2847975"/>
                  </a:lnTo>
                  <a:close/>
                </a:path>
              </a:pathLst>
            </a:custGeom>
            <a:ln w="57150">
              <a:solidFill>
                <a:srgbClr val="000000"/>
              </a:solidFill>
            </a:ln>
          </p:spPr>
          <p:txBody>
            <a:bodyPr wrap="square" lIns="0" tIns="0" rIns="0" bIns="0" rtlCol="0"/>
            <a:lstStyle/>
            <a:p>
              <a:endParaRPr/>
            </a:p>
          </p:txBody>
        </p:sp>
      </p:grpSp>
      <p:pic>
        <p:nvPicPr>
          <p:cNvPr id="27" name="object 27"/>
          <p:cNvPicPr/>
          <p:nvPr/>
        </p:nvPicPr>
        <p:blipFill>
          <a:blip r:embed="rId2" cstate="print"/>
          <a:stretch>
            <a:fillRect/>
          </a:stretch>
        </p:blipFill>
        <p:spPr>
          <a:xfrm>
            <a:off x="457200" y="6248400"/>
            <a:ext cx="476250" cy="381000"/>
          </a:xfrm>
          <a:prstGeom prst="rect">
            <a:avLst/>
          </a:prstGeom>
        </p:spPr>
      </p:pic>
      <p:sp>
        <p:nvSpPr>
          <p:cNvPr id="28" name="object 28"/>
          <p:cNvSpPr txBox="1">
            <a:spLocks noGrp="1"/>
          </p:cNvSpPr>
          <p:nvPr>
            <p:ph type="ftr" sz="quarter" idx="5"/>
          </p:nvPr>
        </p:nvSpPr>
        <p:spPr>
          <a:prstGeom prst="rect">
            <a:avLst/>
          </a:prstGeom>
        </p:spPr>
        <p:txBody>
          <a:bodyPr vert="horz" wrap="square" lIns="0" tIns="76200" rIns="0" bIns="0" rtlCol="0">
            <a:spAutoFit/>
          </a:bodyPr>
          <a:lstStyle/>
          <a:p>
            <a:pPr marL="2413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85887" y="3381293"/>
            <a:ext cx="3586250" cy="2443262"/>
          </a:xfrm>
          <a:prstGeom prst="rect">
            <a:avLst/>
          </a:prstGeom>
        </p:spPr>
      </p:pic>
      <p:sp>
        <p:nvSpPr>
          <p:cNvPr id="3" name="object 3"/>
          <p:cNvSpPr txBox="1">
            <a:spLocks noGrp="1"/>
          </p:cNvSpPr>
          <p:nvPr>
            <p:ph type="title"/>
          </p:nvPr>
        </p:nvSpPr>
        <p:spPr>
          <a:prstGeom prst="rect">
            <a:avLst/>
          </a:prstGeom>
        </p:spPr>
        <p:txBody>
          <a:bodyPr vert="horz" wrap="square" lIns="0" tIns="135889" rIns="0" bIns="0" rtlCol="0">
            <a:spAutoFit/>
          </a:bodyPr>
          <a:lstStyle/>
          <a:p>
            <a:pPr marL="165100">
              <a:lnSpc>
                <a:spcPct val="100000"/>
              </a:lnSpc>
              <a:spcBef>
                <a:spcPts val="105"/>
              </a:spcBef>
            </a:pPr>
            <a:r>
              <a:rPr dirty="0"/>
              <a:t>What</a:t>
            </a:r>
            <a:r>
              <a:rPr spc="-70" dirty="0"/>
              <a:t> </a:t>
            </a:r>
            <a:r>
              <a:rPr dirty="0"/>
              <a:t>are</a:t>
            </a:r>
            <a:r>
              <a:rPr spc="10" dirty="0"/>
              <a:t> </a:t>
            </a:r>
            <a:r>
              <a:rPr dirty="0"/>
              <a:t>buffer</a:t>
            </a:r>
            <a:r>
              <a:rPr spc="-30" dirty="0"/>
              <a:t> </a:t>
            </a:r>
            <a:r>
              <a:rPr spc="-10" dirty="0"/>
              <a:t>overflows?</a:t>
            </a:r>
          </a:p>
        </p:txBody>
      </p:sp>
      <p:sp>
        <p:nvSpPr>
          <p:cNvPr id="4" name="object 4"/>
          <p:cNvSpPr txBox="1"/>
          <p:nvPr/>
        </p:nvSpPr>
        <p:spPr>
          <a:xfrm>
            <a:off x="5415026" y="1709673"/>
            <a:ext cx="3571875" cy="1752600"/>
          </a:xfrm>
          <a:prstGeom prst="rect">
            <a:avLst/>
          </a:prstGeom>
          <a:ln w="9525">
            <a:solidFill>
              <a:srgbClr val="0000FF"/>
            </a:solidFill>
          </a:ln>
        </p:spPr>
        <p:txBody>
          <a:bodyPr vert="horz" wrap="square" lIns="0" tIns="15240" rIns="0" bIns="0" rtlCol="0">
            <a:spAutoFit/>
          </a:bodyPr>
          <a:lstStyle/>
          <a:p>
            <a:pPr marL="549275" marR="113030" indent="-457834">
              <a:lnSpc>
                <a:spcPct val="100000"/>
              </a:lnSpc>
              <a:spcBef>
                <a:spcPts val="120"/>
              </a:spcBef>
            </a:pPr>
            <a:r>
              <a:rPr sz="2000" b="1" dirty="0">
                <a:solidFill>
                  <a:srgbClr val="696363"/>
                </a:solidFill>
                <a:latin typeface="Courier New"/>
                <a:cs typeface="Courier New"/>
              </a:rPr>
              <a:t>void</a:t>
            </a:r>
            <a:r>
              <a:rPr sz="2000" b="1" spc="-35" dirty="0">
                <a:solidFill>
                  <a:srgbClr val="696363"/>
                </a:solidFill>
                <a:latin typeface="Courier New"/>
                <a:cs typeface="Courier New"/>
              </a:rPr>
              <a:t> </a:t>
            </a:r>
            <a:r>
              <a:rPr sz="2000" b="1" dirty="0">
                <a:solidFill>
                  <a:srgbClr val="696363"/>
                </a:solidFill>
                <a:latin typeface="Courier New"/>
                <a:cs typeface="Courier New"/>
              </a:rPr>
              <a:t>func(char</a:t>
            </a:r>
            <a:r>
              <a:rPr sz="2000" b="1" spc="-30" dirty="0">
                <a:solidFill>
                  <a:srgbClr val="696363"/>
                </a:solidFill>
                <a:latin typeface="Courier New"/>
                <a:cs typeface="Courier New"/>
              </a:rPr>
              <a:t> </a:t>
            </a:r>
            <a:r>
              <a:rPr sz="2000" b="1" dirty="0">
                <a:solidFill>
                  <a:srgbClr val="696363"/>
                </a:solidFill>
                <a:latin typeface="Courier New"/>
                <a:cs typeface="Courier New"/>
              </a:rPr>
              <a:t>*str)</a:t>
            </a:r>
            <a:r>
              <a:rPr sz="2000" b="1" spc="-30" dirty="0">
                <a:solidFill>
                  <a:srgbClr val="696363"/>
                </a:solidFill>
                <a:latin typeface="Courier New"/>
                <a:cs typeface="Courier New"/>
              </a:rPr>
              <a:t> </a:t>
            </a:r>
            <a:r>
              <a:rPr sz="2000" b="1" spc="-50" dirty="0">
                <a:solidFill>
                  <a:srgbClr val="696363"/>
                </a:solidFill>
                <a:latin typeface="Courier New"/>
                <a:cs typeface="Courier New"/>
              </a:rPr>
              <a:t>{ </a:t>
            </a:r>
            <a:r>
              <a:rPr sz="2000" b="1" dirty="0">
                <a:solidFill>
                  <a:srgbClr val="696363"/>
                </a:solidFill>
                <a:latin typeface="Courier New"/>
                <a:cs typeface="Courier New"/>
              </a:rPr>
              <a:t>char</a:t>
            </a:r>
            <a:r>
              <a:rPr sz="2000" b="1" spc="-20" dirty="0">
                <a:solidFill>
                  <a:srgbClr val="696363"/>
                </a:solidFill>
                <a:latin typeface="Courier New"/>
                <a:cs typeface="Courier New"/>
              </a:rPr>
              <a:t> </a:t>
            </a:r>
            <a:r>
              <a:rPr sz="2000" b="1" spc="-10" dirty="0">
                <a:solidFill>
                  <a:srgbClr val="696363"/>
                </a:solidFill>
                <a:latin typeface="Courier New"/>
                <a:cs typeface="Courier New"/>
              </a:rPr>
              <a:t>buf[128];</a:t>
            </a:r>
            <a:endParaRPr sz="2000">
              <a:latin typeface="Courier New"/>
              <a:cs typeface="Courier New"/>
            </a:endParaRPr>
          </a:p>
          <a:p>
            <a:pPr marL="549275" marR="268605">
              <a:lnSpc>
                <a:spcPct val="100000"/>
              </a:lnSpc>
              <a:spcBef>
                <a:spcPts val="905"/>
              </a:spcBef>
            </a:pPr>
            <a:r>
              <a:rPr sz="2000" b="1" dirty="0">
                <a:solidFill>
                  <a:srgbClr val="696363"/>
                </a:solidFill>
                <a:latin typeface="Courier New"/>
                <a:cs typeface="Courier New"/>
              </a:rPr>
              <a:t>strcpy(buf,</a:t>
            </a:r>
            <a:r>
              <a:rPr sz="2000" b="1" spc="-55" dirty="0">
                <a:solidFill>
                  <a:srgbClr val="696363"/>
                </a:solidFill>
                <a:latin typeface="Courier New"/>
                <a:cs typeface="Courier New"/>
              </a:rPr>
              <a:t> </a:t>
            </a:r>
            <a:r>
              <a:rPr sz="2000" b="1" spc="-10" dirty="0">
                <a:solidFill>
                  <a:srgbClr val="696363"/>
                </a:solidFill>
                <a:latin typeface="Courier New"/>
                <a:cs typeface="Courier New"/>
              </a:rPr>
              <a:t>str); do-something(buf);</a:t>
            </a:r>
            <a:endParaRPr sz="2000">
              <a:latin typeface="Courier New"/>
              <a:cs typeface="Courier New"/>
            </a:endParaRPr>
          </a:p>
          <a:p>
            <a:pPr marL="92075">
              <a:lnSpc>
                <a:spcPct val="100000"/>
              </a:lnSpc>
              <a:spcBef>
                <a:spcPts val="5"/>
              </a:spcBef>
            </a:pPr>
            <a:r>
              <a:rPr sz="2000" b="1" spc="-50" dirty="0">
                <a:solidFill>
                  <a:srgbClr val="696363"/>
                </a:solidFill>
                <a:latin typeface="Courier New"/>
                <a:cs typeface="Courier New"/>
              </a:rPr>
              <a:t>}</a:t>
            </a:r>
            <a:endParaRPr sz="2000">
              <a:latin typeface="Courier New"/>
              <a:cs typeface="Courier New"/>
            </a:endParaRPr>
          </a:p>
        </p:txBody>
      </p:sp>
      <p:sp>
        <p:nvSpPr>
          <p:cNvPr id="5" name="object 5"/>
          <p:cNvSpPr txBox="1"/>
          <p:nvPr/>
        </p:nvSpPr>
        <p:spPr>
          <a:xfrm>
            <a:off x="1892045" y="1727898"/>
            <a:ext cx="1932305" cy="334645"/>
          </a:xfrm>
          <a:prstGeom prst="rect">
            <a:avLst/>
          </a:prstGeom>
        </p:spPr>
        <p:txBody>
          <a:bodyPr vert="horz" wrap="square" lIns="0" tIns="15875" rIns="0" bIns="0" rtlCol="0">
            <a:spAutoFit/>
          </a:bodyPr>
          <a:lstStyle/>
          <a:p>
            <a:pPr marL="12700">
              <a:lnSpc>
                <a:spcPct val="100000"/>
              </a:lnSpc>
              <a:spcBef>
                <a:spcPts val="125"/>
              </a:spcBef>
              <a:tabLst>
                <a:tab pos="307340" algn="l"/>
              </a:tabLst>
            </a:pPr>
            <a:r>
              <a:rPr sz="2000" spc="-25" dirty="0">
                <a:latin typeface="Times New Roman"/>
                <a:cs typeface="Times New Roman"/>
              </a:rPr>
              <a:t>is</a:t>
            </a:r>
            <a:r>
              <a:rPr sz="2000" dirty="0">
                <a:latin typeface="Times New Roman"/>
                <a:cs typeface="Times New Roman"/>
              </a:rPr>
              <a:t>	136</a:t>
            </a:r>
            <a:r>
              <a:rPr sz="2000" spc="-10" dirty="0">
                <a:latin typeface="Times New Roman"/>
                <a:cs typeface="Times New Roman"/>
              </a:rPr>
              <a:t> </a:t>
            </a:r>
            <a:r>
              <a:rPr sz="2000" dirty="0">
                <a:latin typeface="Times New Roman"/>
                <a:cs typeface="Times New Roman"/>
              </a:rPr>
              <a:t>bytes</a:t>
            </a:r>
            <a:r>
              <a:rPr sz="2000" spc="-5" dirty="0">
                <a:latin typeface="Times New Roman"/>
                <a:cs typeface="Times New Roman"/>
              </a:rPr>
              <a:t> </a:t>
            </a:r>
            <a:r>
              <a:rPr sz="2000" spc="-20" dirty="0">
                <a:latin typeface="Times New Roman"/>
                <a:cs typeface="Times New Roman"/>
              </a:rPr>
              <a:t>long?</a:t>
            </a:r>
            <a:endParaRPr sz="2000">
              <a:latin typeface="Times New Roman"/>
              <a:cs typeface="Times New Roman"/>
            </a:endParaRPr>
          </a:p>
        </p:txBody>
      </p:sp>
      <p:sp>
        <p:nvSpPr>
          <p:cNvPr id="6" name="object 6"/>
          <p:cNvSpPr txBox="1"/>
          <p:nvPr/>
        </p:nvSpPr>
        <p:spPr>
          <a:xfrm>
            <a:off x="383857" y="1646527"/>
            <a:ext cx="1510030" cy="807085"/>
          </a:xfrm>
          <a:prstGeom prst="rect">
            <a:avLst/>
          </a:prstGeom>
        </p:spPr>
        <p:txBody>
          <a:bodyPr vert="horz" wrap="square" lIns="0" tIns="97155" rIns="0" bIns="0" rtlCol="0">
            <a:spAutoFit/>
          </a:bodyPr>
          <a:lstStyle/>
          <a:p>
            <a:pPr marL="12700">
              <a:lnSpc>
                <a:spcPct val="100000"/>
              </a:lnSpc>
              <a:spcBef>
                <a:spcPts val="765"/>
              </a:spcBef>
            </a:pPr>
            <a:r>
              <a:rPr sz="2000" dirty="0">
                <a:latin typeface="Times New Roman"/>
                <a:cs typeface="Times New Roman"/>
              </a:rPr>
              <a:t>What</a:t>
            </a:r>
            <a:r>
              <a:rPr sz="2000" spc="-10" dirty="0">
                <a:latin typeface="Times New Roman"/>
                <a:cs typeface="Times New Roman"/>
              </a:rPr>
              <a:t> </a:t>
            </a:r>
            <a:r>
              <a:rPr sz="2000" dirty="0">
                <a:latin typeface="Times New Roman"/>
                <a:cs typeface="Times New Roman"/>
              </a:rPr>
              <a:t>if</a:t>
            </a:r>
            <a:r>
              <a:rPr sz="2000" spc="475" dirty="0">
                <a:latin typeface="Times New Roman"/>
                <a:cs typeface="Times New Roman"/>
              </a:rPr>
              <a:t> </a:t>
            </a:r>
            <a:r>
              <a:rPr sz="2000" b="1" spc="-20" dirty="0">
                <a:solidFill>
                  <a:srgbClr val="696363"/>
                </a:solidFill>
                <a:latin typeface="Times New Roman"/>
                <a:cs typeface="Times New Roman"/>
              </a:rPr>
              <a:t>*str</a:t>
            </a:r>
            <a:endParaRPr sz="2000">
              <a:latin typeface="Times New Roman"/>
              <a:cs typeface="Times New Roman"/>
            </a:endParaRPr>
          </a:p>
          <a:p>
            <a:pPr marL="12700">
              <a:lnSpc>
                <a:spcPct val="100000"/>
              </a:lnSpc>
              <a:spcBef>
                <a:spcPts val="680"/>
              </a:spcBef>
              <a:tabLst>
                <a:tab pos="738505" algn="l"/>
              </a:tabLst>
            </a:pPr>
            <a:r>
              <a:rPr sz="2000" spc="-10" dirty="0">
                <a:latin typeface="Times New Roman"/>
                <a:cs typeface="Times New Roman"/>
              </a:rPr>
              <a:t>After</a:t>
            </a:r>
            <a:r>
              <a:rPr sz="2000" dirty="0">
                <a:latin typeface="Times New Roman"/>
                <a:cs typeface="Times New Roman"/>
              </a:rPr>
              <a:t>	</a:t>
            </a:r>
            <a:r>
              <a:rPr sz="2000" b="1" spc="-10" dirty="0">
                <a:solidFill>
                  <a:srgbClr val="696363"/>
                </a:solidFill>
                <a:latin typeface="Times New Roman"/>
                <a:cs typeface="Times New Roman"/>
              </a:rPr>
              <a:t>strcpy</a:t>
            </a:r>
            <a:r>
              <a:rPr sz="2000" b="1" spc="-10" dirty="0">
                <a:latin typeface="Times New Roman"/>
                <a:cs typeface="Times New Roman"/>
              </a:rPr>
              <a:t>:</a:t>
            </a:r>
            <a:endParaRPr sz="2000">
              <a:latin typeface="Times New Roman"/>
              <a:cs typeface="Times New Roman"/>
            </a:endParaRPr>
          </a:p>
        </p:txBody>
      </p:sp>
      <p:sp>
        <p:nvSpPr>
          <p:cNvPr id="7" name="object 7"/>
          <p:cNvSpPr txBox="1"/>
          <p:nvPr/>
        </p:nvSpPr>
        <p:spPr>
          <a:xfrm>
            <a:off x="134620" y="5565140"/>
            <a:ext cx="256540" cy="334645"/>
          </a:xfrm>
          <a:prstGeom prst="rect">
            <a:avLst/>
          </a:prstGeom>
        </p:spPr>
        <p:txBody>
          <a:bodyPr vert="horz" wrap="square" lIns="0" tIns="15875" rIns="0" bIns="0" rtlCol="0">
            <a:spAutoFit/>
          </a:bodyPr>
          <a:lstStyle/>
          <a:p>
            <a:pPr marL="12700">
              <a:lnSpc>
                <a:spcPct val="100000"/>
              </a:lnSpc>
              <a:spcBef>
                <a:spcPts val="125"/>
              </a:spcBef>
            </a:pPr>
            <a:r>
              <a:rPr sz="2000" spc="-185" dirty="0">
                <a:latin typeface="Times New Roman"/>
                <a:cs typeface="Times New Roman"/>
              </a:rPr>
              <a:t>SP</a:t>
            </a:r>
            <a:endParaRPr sz="2000">
              <a:latin typeface="Times New Roman"/>
              <a:cs typeface="Times New Roman"/>
            </a:endParaRPr>
          </a:p>
        </p:txBody>
      </p:sp>
      <p:sp>
        <p:nvSpPr>
          <p:cNvPr id="8" name="object 8"/>
          <p:cNvSpPr/>
          <p:nvPr/>
        </p:nvSpPr>
        <p:spPr>
          <a:xfrm>
            <a:off x="595312" y="5786437"/>
            <a:ext cx="542925" cy="76200"/>
          </a:xfrm>
          <a:custGeom>
            <a:avLst/>
            <a:gdLst/>
            <a:ahLst/>
            <a:cxnLst/>
            <a:rect l="l" t="t" r="r" b="b"/>
            <a:pathLst>
              <a:path w="542925" h="76200">
                <a:moveTo>
                  <a:pt x="466725" y="0"/>
                </a:moveTo>
                <a:lnTo>
                  <a:pt x="466725" y="76200"/>
                </a:lnTo>
                <a:lnTo>
                  <a:pt x="530225" y="44450"/>
                </a:lnTo>
                <a:lnTo>
                  <a:pt x="479425" y="44450"/>
                </a:lnTo>
                <a:lnTo>
                  <a:pt x="479425" y="31750"/>
                </a:lnTo>
                <a:lnTo>
                  <a:pt x="530225" y="31750"/>
                </a:lnTo>
                <a:lnTo>
                  <a:pt x="466725" y="0"/>
                </a:lnTo>
                <a:close/>
              </a:path>
              <a:path w="542925" h="76200">
                <a:moveTo>
                  <a:pt x="466725" y="31750"/>
                </a:moveTo>
                <a:lnTo>
                  <a:pt x="0" y="31750"/>
                </a:lnTo>
                <a:lnTo>
                  <a:pt x="0" y="44450"/>
                </a:lnTo>
                <a:lnTo>
                  <a:pt x="466725" y="44450"/>
                </a:lnTo>
                <a:lnTo>
                  <a:pt x="466725" y="31750"/>
                </a:lnTo>
                <a:close/>
              </a:path>
              <a:path w="542925" h="76200">
                <a:moveTo>
                  <a:pt x="530225" y="31750"/>
                </a:moveTo>
                <a:lnTo>
                  <a:pt x="479425" y="31750"/>
                </a:lnTo>
                <a:lnTo>
                  <a:pt x="479425" y="44450"/>
                </a:lnTo>
                <a:lnTo>
                  <a:pt x="530225" y="44450"/>
                </a:lnTo>
                <a:lnTo>
                  <a:pt x="542925" y="38100"/>
                </a:lnTo>
                <a:lnTo>
                  <a:pt x="530225" y="31750"/>
                </a:lnTo>
                <a:close/>
              </a:path>
            </a:pathLst>
          </a:custGeom>
          <a:solidFill>
            <a:srgbClr val="000000"/>
          </a:solidFill>
        </p:spPr>
        <p:txBody>
          <a:bodyPr wrap="square" lIns="0" tIns="0" rIns="0" bIns="0" rtlCol="0"/>
          <a:lstStyle/>
          <a:p>
            <a:endParaRPr/>
          </a:p>
        </p:txBody>
      </p:sp>
      <p:grpSp>
        <p:nvGrpSpPr>
          <p:cNvPr id="9" name="object 9"/>
          <p:cNvGrpSpPr/>
          <p:nvPr/>
        </p:nvGrpSpPr>
        <p:grpSpPr>
          <a:xfrm>
            <a:off x="1190272" y="3447966"/>
            <a:ext cx="215265" cy="2214880"/>
            <a:chOff x="1190272" y="3447966"/>
            <a:chExt cx="215265" cy="2214880"/>
          </a:xfrm>
        </p:grpSpPr>
        <p:pic>
          <p:nvPicPr>
            <p:cNvPr id="10" name="object 10"/>
            <p:cNvPicPr/>
            <p:nvPr/>
          </p:nvPicPr>
          <p:blipFill>
            <a:blip r:embed="rId3" cstate="print"/>
            <a:stretch>
              <a:fillRect/>
            </a:stretch>
          </p:blipFill>
          <p:spPr>
            <a:xfrm>
              <a:off x="1190272" y="3447966"/>
              <a:ext cx="215018" cy="2214665"/>
            </a:xfrm>
            <a:prstGeom prst="rect">
              <a:avLst/>
            </a:prstGeom>
          </p:spPr>
        </p:pic>
        <p:sp>
          <p:nvSpPr>
            <p:cNvPr id="11" name="object 11"/>
            <p:cNvSpPr/>
            <p:nvPr/>
          </p:nvSpPr>
          <p:spPr>
            <a:xfrm>
              <a:off x="1223962" y="3462401"/>
              <a:ext cx="153035" cy="2133600"/>
            </a:xfrm>
            <a:custGeom>
              <a:avLst/>
              <a:gdLst/>
              <a:ahLst/>
              <a:cxnLst/>
              <a:rect l="l" t="t" r="r" b="b"/>
              <a:pathLst>
                <a:path w="153034" h="2133600">
                  <a:moveTo>
                    <a:pt x="152463" y="2133536"/>
                  </a:moveTo>
                  <a:lnTo>
                    <a:pt x="122769" y="2132538"/>
                  </a:lnTo>
                  <a:lnTo>
                    <a:pt x="98552" y="2129823"/>
                  </a:lnTo>
                  <a:lnTo>
                    <a:pt x="82240" y="2125805"/>
                  </a:lnTo>
                  <a:lnTo>
                    <a:pt x="76263" y="2120900"/>
                  </a:lnTo>
                  <a:lnTo>
                    <a:pt x="76263" y="1079500"/>
                  </a:lnTo>
                  <a:lnTo>
                    <a:pt x="70265" y="1074515"/>
                  </a:lnTo>
                  <a:lnTo>
                    <a:pt x="53914" y="1070483"/>
                  </a:lnTo>
                  <a:lnTo>
                    <a:pt x="29671" y="1067784"/>
                  </a:lnTo>
                  <a:lnTo>
                    <a:pt x="0" y="1066800"/>
                  </a:lnTo>
                  <a:lnTo>
                    <a:pt x="29671" y="1065795"/>
                  </a:lnTo>
                  <a:lnTo>
                    <a:pt x="53914" y="1063053"/>
                  </a:lnTo>
                  <a:lnTo>
                    <a:pt x="70265" y="1058977"/>
                  </a:lnTo>
                  <a:lnTo>
                    <a:pt x="76263" y="1053973"/>
                  </a:lnTo>
                  <a:lnTo>
                    <a:pt x="76263" y="12700"/>
                  </a:lnTo>
                  <a:lnTo>
                    <a:pt x="82240" y="7715"/>
                  </a:lnTo>
                  <a:lnTo>
                    <a:pt x="98551" y="3683"/>
                  </a:lnTo>
                  <a:lnTo>
                    <a:pt x="122769" y="984"/>
                  </a:lnTo>
                  <a:lnTo>
                    <a:pt x="152463" y="0"/>
                  </a:lnTo>
                </a:path>
              </a:pathLst>
            </a:custGeom>
            <a:ln w="12700">
              <a:solidFill>
                <a:srgbClr val="D24717"/>
              </a:solidFill>
            </a:ln>
          </p:spPr>
          <p:txBody>
            <a:bodyPr wrap="square" lIns="0" tIns="0" rIns="0" bIns="0" rtlCol="0"/>
            <a:lstStyle/>
            <a:p>
              <a:endParaRPr/>
            </a:p>
          </p:txBody>
        </p:sp>
      </p:grpSp>
      <p:sp>
        <p:nvSpPr>
          <p:cNvPr id="12" name="object 12"/>
          <p:cNvSpPr txBox="1"/>
          <p:nvPr/>
        </p:nvSpPr>
        <p:spPr>
          <a:xfrm>
            <a:off x="615632" y="4166298"/>
            <a:ext cx="382270" cy="334645"/>
          </a:xfrm>
          <a:prstGeom prst="rect">
            <a:avLst/>
          </a:prstGeom>
        </p:spPr>
        <p:txBody>
          <a:bodyPr vert="horz" wrap="square" lIns="0" tIns="15875" rIns="0" bIns="0" rtlCol="0">
            <a:spAutoFit/>
          </a:bodyPr>
          <a:lstStyle/>
          <a:p>
            <a:pPr marL="12700">
              <a:lnSpc>
                <a:spcPct val="100000"/>
              </a:lnSpc>
              <a:spcBef>
                <a:spcPts val="125"/>
              </a:spcBef>
            </a:pPr>
            <a:r>
              <a:rPr sz="2000" spc="-40" dirty="0">
                <a:latin typeface="Times New Roman"/>
                <a:cs typeface="Times New Roman"/>
              </a:rPr>
              <a:t>*str</a:t>
            </a:r>
            <a:endParaRPr sz="2000">
              <a:latin typeface="Times New Roman"/>
              <a:cs typeface="Times New Roman"/>
            </a:endParaRPr>
          </a:p>
        </p:txBody>
      </p:sp>
      <p:graphicFrame>
        <p:nvGraphicFramePr>
          <p:cNvPr id="13" name="object 13"/>
          <p:cNvGraphicFramePr>
            <a:graphicFrameLocks noGrp="1"/>
          </p:cNvGraphicFramePr>
          <p:nvPr/>
        </p:nvGraphicFramePr>
        <p:xfrm>
          <a:off x="1219200" y="2562225"/>
          <a:ext cx="4212590" cy="3456305"/>
        </p:xfrm>
        <a:graphic>
          <a:graphicData uri="http://schemas.openxmlformats.org/drawingml/2006/table">
            <a:tbl>
              <a:tblPr firstRow="1" bandRow="1">
                <a:tableStyleId>{2D5ABB26-0587-4C30-8999-92F81FD0307C}</a:tableStyleId>
              </a:tblPr>
              <a:tblGrid>
                <a:gridCol w="304800"/>
                <a:gridCol w="3505200"/>
                <a:gridCol w="402590"/>
              </a:tblGrid>
              <a:tr h="381000">
                <a:tc>
                  <a:txBody>
                    <a:bodyPr/>
                    <a:lstStyle/>
                    <a:p>
                      <a:pPr>
                        <a:lnSpc>
                          <a:spcPct val="100000"/>
                        </a:lnSpc>
                      </a:pPr>
                      <a:endParaRPr sz="2100">
                        <a:latin typeface="Times New Roman"/>
                        <a:cs typeface="Times New Roman"/>
                      </a:endParaRPr>
                    </a:p>
                  </a:txBody>
                  <a:tcPr marL="0" marR="0" marT="0" marB="0">
                    <a:lnR w="57150">
                      <a:solidFill>
                        <a:srgbClr val="000000"/>
                      </a:solidFill>
                      <a:prstDash val="solid"/>
                    </a:lnR>
                    <a:lnB w="762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57150">
                      <a:solidFill>
                        <a:srgbClr val="000000"/>
                      </a:solidFill>
                      <a:prstDash val="solid"/>
                    </a:lnL>
                    <a:lnR w="76200">
                      <a:solidFill>
                        <a:srgbClr val="000000"/>
                      </a:solidFill>
                      <a:prstDash val="solid"/>
                    </a:lnR>
                    <a:lnB w="76200">
                      <a:solidFill>
                        <a:srgbClr val="000000"/>
                      </a:solidFill>
                      <a:prstDash val="solid"/>
                    </a:lnB>
                  </a:tcPr>
                </a:tc>
                <a:tc>
                  <a:txBody>
                    <a:bodyPr/>
                    <a:lstStyle/>
                    <a:p>
                      <a:pPr marR="167640">
                        <a:lnSpc>
                          <a:spcPct val="100000"/>
                        </a:lnSpc>
                      </a:pPr>
                      <a:endParaRPr sz="2100">
                        <a:latin typeface="Times New Roman"/>
                        <a:cs typeface="Times New Roman"/>
                      </a:endParaRPr>
                    </a:p>
                  </a:txBody>
                  <a:tcPr marL="0" marR="0" marT="0" marB="0">
                    <a:lnL w="76200">
                      <a:solidFill>
                        <a:srgbClr val="000000"/>
                      </a:solidFill>
                      <a:prstDash val="solid"/>
                    </a:lnL>
                    <a:lnB w="76200">
                      <a:solidFill>
                        <a:srgbClr val="000000"/>
                      </a:solidFill>
                      <a:prstDash val="solid"/>
                    </a:lnB>
                  </a:tcPr>
                </a:tc>
              </a:tr>
              <a:tr h="461645">
                <a:tc rowSpan="4">
                  <a:txBody>
                    <a:bodyPr/>
                    <a:lstStyle/>
                    <a:p>
                      <a:pPr>
                        <a:lnSpc>
                          <a:spcPct val="100000"/>
                        </a:lnSpc>
                      </a:pPr>
                      <a:endParaRPr sz="2100">
                        <a:latin typeface="Times New Roman"/>
                        <a:cs typeface="Times New Roman"/>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1430" algn="ctr">
                        <a:lnSpc>
                          <a:spcPct val="100000"/>
                        </a:lnSpc>
                        <a:spcBef>
                          <a:spcPts val="585"/>
                        </a:spcBef>
                        <a:tabLst>
                          <a:tab pos="1126490" algn="l"/>
                        </a:tabLst>
                      </a:pPr>
                      <a:r>
                        <a:rPr sz="2000" spc="-10" dirty="0">
                          <a:latin typeface="Times New Roman"/>
                          <a:cs typeface="Times New Roman"/>
                        </a:rPr>
                        <a:t>argument:</a:t>
                      </a:r>
                      <a:r>
                        <a:rPr sz="2000" dirty="0">
                          <a:latin typeface="Times New Roman"/>
                          <a:cs typeface="Times New Roman"/>
                        </a:rPr>
                        <a:t>	</a:t>
                      </a:r>
                      <a:r>
                        <a:rPr sz="2000" spc="-25" dirty="0">
                          <a:latin typeface="Times New Roman"/>
                          <a:cs typeface="Times New Roman"/>
                        </a:rPr>
                        <a:t>str</a:t>
                      </a:r>
                      <a:endParaRPr sz="2000">
                        <a:latin typeface="Times New Roman"/>
                        <a:cs typeface="Times New Roman"/>
                      </a:endParaRPr>
                    </a:p>
                  </a:txBody>
                  <a:tcPr marL="0" marR="0" marT="74295" marB="0">
                    <a:lnL w="76200" cap="flat" cmpd="sng" algn="ctr">
                      <a:solidFill>
                        <a:srgbClr val="000000"/>
                      </a:solidFill>
                      <a:prstDash val="solid"/>
                      <a:round/>
                      <a:headEnd type="none" w="med" len="med"/>
                      <a:tailEnd type="none" w="med" len="med"/>
                    </a:lnL>
                    <a:lnR w="76200">
                      <a:solidFill>
                        <a:srgbClr val="000000"/>
                      </a:solidFill>
                      <a:prstDash val="solid"/>
                    </a:lnR>
                    <a:lnT w="76200">
                      <a:solidFill>
                        <a:srgbClr val="000000"/>
                      </a:solidFill>
                      <a:prstDash val="solid"/>
                    </a:lnT>
                    <a:lnB w="9525">
                      <a:solidFill>
                        <a:srgbClr val="000000"/>
                      </a:solidFill>
                      <a:prstDash val="solid"/>
                    </a:lnB>
                    <a:solidFill>
                      <a:srgbClr val="BEBEBE"/>
                    </a:solidFill>
                  </a:tcPr>
                </a:tc>
                <a:tc rowSpan="4">
                  <a:txBody>
                    <a:bodyPr/>
                    <a:lstStyle/>
                    <a:p>
                      <a:pPr marR="167640">
                        <a:lnSpc>
                          <a:spcPct val="100000"/>
                        </a:lnSpc>
                      </a:pPr>
                      <a:endParaRPr sz="2000">
                        <a:latin typeface="Times New Roman"/>
                        <a:cs typeface="Times New Roman"/>
                      </a:endParaRPr>
                    </a:p>
                    <a:p>
                      <a:pPr marR="167640">
                        <a:lnSpc>
                          <a:spcPct val="100000"/>
                        </a:lnSpc>
                      </a:pPr>
                      <a:endParaRPr sz="2000">
                        <a:latin typeface="Times New Roman"/>
                        <a:cs typeface="Times New Roman"/>
                      </a:endParaRPr>
                    </a:p>
                    <a:p>
                      <a:pPr marR="167640">
                        <a:lnSpc>
                          <a:spcPct val="100000"/>
                        </a:lnSpc>
                      </a:pPr>
                      <a:endParaRPr sz="2000">
                        <a:latin typeface="Times New Roman"/>
                        <a:cs typeface="Times New Roman"/>
                      </a:endParaRPr>
                    </a:p>
                    <a:p>
                      <a:pPr marR="167640">
                        <a:lnSpc>
                          <a:spcPct val="100000"/>
                        </a:lnSpc>
                      </a:pPr>
                      <a:endParaRPr sz="2000">
                        <a:latin typeface="Times New Roman"/>
                        <a:cs typeface="Times New Roman"/>
                      </a:endParaRPr>
                    </a:p>
                    <a:p>
                      <a:pPr marR="167640">
                        <a:lnSpc>
                          <a:spcPct val="100000"/>
                        </a:lnSpc>
                      </a:pPr>
                      <a:endParaRPr sz="2000">
                        <a:latin typeface="Times New Roman"/>
                        <a:cs typeface="Times New Roman"/>
                      </a:endParaRPr>
                    </a:p>
                    <a:p>
                      <a:pPr marR="167640">
                        <a:lnSpc>
                          <a:spcPct val="100000"/>
                        </a:lnSpc>
                        <a:spcBef>
                          <a:spcPts val="590"/>
                        </a:spcBef>
                      </a:pPr>
                      <a:endParaRPr sz="2000">
                        <a:latin typeface="Times New Roman"/>
                        <a:cs typeface="Times New Roman"/>
                      </a:endParaRPr>
                    </a:p>
                    <a:p>
                      <a:pPr algn="r">
                        <a:lnSpc>
                          <a:spcPct val="100000"/>
                        </a:lnSpc>
                      </a:pPr>
                      <a:r>
                        <a:rPr sz="2000" spc="-25" dirty="0">
                          <a:latin typeface="Times New Roman"/>
                          <a:cs typeface="Times New Roman"/>
                        </a:rPr>
                        <a:t>Pr</a:t>
                      </a:r>
                      <a:endParaRPr sz="2000">
                        <a:latin typeface="Times New Roman"/>
                        <a:cs typeface="Times New Roman"/>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tr>
              <a:tr h="409575">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5875" algn="ctr">
                        <a:lnSpc>
                          <a:spcPct val="100000"/>
                        </a:lnSpc>
                        <a:spcBef>
                          <a:spcPts val="350"/>
                        </a:spcBef>
                      </a:pPr>
                      <a:r>
                        <a:rPr sz="2000" b="1" dirty="0">
                          <a:latin typeface="Times New Roman"/>
                          <a:cs typeface="Times New Roman"/>
                        </a:rPr>
                        <a:t>return</a:t>
                      </a:r>
                      <a:r>
                        <a:rPr sz="2000" b="1" spc="-90" dirty="0">
                          <a:latin typeface="Times New Roman"/>
                          <a:cs typeface="Times New Roman"/>
                        </a:rPr>
                        <a:t> </a:t>
                      </a:r>
                      <a:r>
                        <a:rPr sz="2000" b="1" spc="-10" dirty="0">
                          <a:latin typeface="Times New Roman"/>
                          <a:cs typeface="Times New Roman"/>
                        </a:rPr>
                        <a:t>address</a:t>
                      </a:r>
                      <a:endParaRPr sz="2000">
                        <a:latin typeface="Times New Roman"/>
                        <a:cs typeface="Times New Roman"/>
                      </a:endParaRPr>
                    </a:p>
                  </a:txBody>
                  <a:tcPr marL="0" marR="0" marT="44450" marB="0">
                    <a:lnL w="57150">
                      <a:solidFill>
                        <a:srgbClr val="000000"/>
                      </a:solidFill>
                      <a:prstDash val="solid"/>
                    </a:lnL>
                    <a:lnR w="57150">
                      <a:solidFill>
                        <a:srgbClr val="000000"/>
                      </a:solidFill>
                      <a:prstDash val="solid"/>
                    </a:lnR>
                    <a:lnT w="9525">
                      <a:solidFill>
                        <a:srgbClr val="000000"/>
                      </a:solidFill>
                      <a:prstDash val="solid"/>
                    </a:lnT>
                    <a:lnB w="9525">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tr>
              <a:tr h="456565">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4604" algn="ctr">
                        <a:lnSpc>
                          <a:spcPct val="100000"/>
                        </a:lnSpc>
                        <a:spcBef>
                          <a:spcPts val="330"/>
                        </a:spcBef>
                      </a:pPr>
                      <a:r>
                        <a:rPr sz="2000" b="1" dirty="0">
                          <a:latin typeface="Times New Roman"/>
                          <a:cs typeface="Times New Roman"/>
                        </a:rPr>
                        <a:t>stack</a:t>
                      </a:r>
                      <a:r>
                        <a:rPr sz="2000" b="1" spc="-85" dirty="0">
                          <a:latin typeface="Times New Roman"/>
                          <a:cs typeface="Times New Roman"/>
                        </a:rPr>
                        <a:t> </a:t>
                      </a:r>
                      <a:r>
                        <a:rPr sz="2000" b="1" spc="-55" dirty="0">
                          <a:latin typeface="Times New Roman"/>
                          <a:cs typeface="Times New Roman"/>
                        </a:rPr>
                        <a:t>frame</a:t>
                      </a:r>
                      <a:r>
                        <a:rPr sz="2000" b="1" spc="-40" dirty="0">
                          <a:latin typeface="Times New Roman"/>
                          <a:cs typeface="Times New Roman"/>
                        </a:rPr>
                        <a:t> </a:t>
                      </a:r>
                      <a:r>
                        <a:rPr sz="2000" b="1" spc="-10" dirty="0">
                          <a:latin typeface="Times New Roman"/>
                          <a:cs typeface="Times New Roman"/>
                        </a:rPr>
                        <a:t>pointer</a:t>
                      </a:r>
                      <a:endParaRPr sz="2000">
                        <a:latin typeface="Times New Roman"/>
                        <a:cs typeface="Times New Roman"/>
                      </a:endParaRPr>
                    </a:p>
                  </a:txBody>
                  <a:tcPr marL="0" marR="0" marT="41910" marB="0">
                    <a:lnL w="57150">
                      <a:solidFill>
                        <a:srgbClr val="000000"/>
                      </a:solidFill>
                      <a:prstDash val="solid"/>
                    </a:lnL>
                    <a:lnR w="57150">
                      <a:solidFill>
                        <a:srgbClr val="000000"/>
                      </a:solidFill>
                      <a:prstDash val="solid"/>
                    </a:lnR>
                    <a:lnT w="9525">
                      <a:solidFill>
                        <a:srgbClr val="000000"/>
                      </a:solidFill>
                      <a:prstDash val="solid"/>
                    </a:lnT>
                    <a:lnB w="9525">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tr>
              <a:tr h="1518920">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a:lnSpc>
                          <a:spcPct val="100000"/>
                        </a:lnSpc>
                        <a:spcBef>
                          <a:spcPts val="2240"/>
                        </a:spcBef>
                      </a:pPr>
                      <a:endParaRPr sz="2000">
                        <a:latin typeface="Times New Roman"/>
                        <a:cs typeface="Times New Roman"/>
                      </a:endParaRPr>
                    </a:p>
                    <a:p>
                      <a:pPr marL="11430" algn="ctr">
                        <a:lnSpc>
                          <a:spcPct val="100000"/>
                        </a:lnSpc>
                      </a:pPr>
                      <a:r>
                        <a:rPr sz="2000" b="1" spc="-20" dirty="0">
                          <a:latin typeface="Times New Roman"/>
                          <a:cs typeface="Times New Roman"/>
                        </a:rPr>
                        <a:t>char</a:t>
                      </a:r>
                      <a:r>
                        <a:rPr sz="2000" b="1" spc="-100" dirty="0">
                          <a:latin typeface="Times New Roman"/>
                          <a:cs typeface="Times New Roman"/>
                        </a:rPr>
                        <a:t> </a:t>
                      </a:r>
                      <a:r>
                        <a:rPr sz="2000" b="1" spc="-10" dirty="0">
                          <a:latin typeface="Times New Roman"/>
                          <a:cs typeface="Times New Roman"/>
                        </a:rPr>
                        <a:t>buf[128]</a:t>
                      </a:r>
                      <a:endParaRPr sz="2000">
                        <a:latin typeface="Times New Roman"/>
                        <a:cs typeface="Times New Roman"/>
                      </a:endParaRPr>
                    </a:p>
                  </a:txBody>
                  <a:tcPr marL="0" marR="0" marT="284480" marB="0">
                    <a:lnL w="76200">
                      <a:solidFill>
                        <a:srgbClr val="000000"/>
                      </a:solidFill>
                      <a:prstDash val="solid"/>
                    </a:lnL>
                    <a:lnR w="76200">
                      <a:solidFill>
                        <a:srgbClr val="000000"/>
                      </a:solidFill>
                      <a:prstDash val="solid"/>
                    </a:lnR>
                    <a:lnT w="9525">
                      <a:solidFill>
                        <a:srgbClr val="000000"/>
                      </a:solidFill>
                      <a:prstDash val="solid"/>
                    </a:lnT>
                    <a:lnB w="76200">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tr>
              <a:tr h="228600">
                <a:tc>
                  <a:txBody>
                    <a:bodyPr/>
                    <a:lstStyle/>
                    <a:p>
                      <a:pPr>
                        <a:lnSpc>
                          <a:spcPct val="100000"/>
                        </a:lnSpc>
                      </a:pPr>
                      <a:endParaRPr sz="1300">
                        <a:latin typeface="Times New Roman"/>
                        <a:cs typeface="Times New Roman"/>
                      </a:endParaRPr>
                    </a:p>
                  </a:txBody>
                  <a:tcPr marL="0" marR="0" marT="0" marB="0">
                    <a:lnR w="76200">
                      <a:solidFill>
                        <a:srgbClr val="000000"/>
                      </a:solidFill>
                      <a:prstDash val="solid"/>
                    </a:lnR>
                    <a:lnT w="76200">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76200">
                      <a:solidFill>
                        <a:srgbClr val="000000"/>
                      </a:solidFill>
                      <a:prstDash val="solid"/>
                    </a:lnL>
                    <a:lnR w="76200">
                      <a:solidFill>
                        <a:srgbClr val="000000"/>
                      </a:solidFill>
                      <a:prstDash val="solid"/>
                    </a:lnR>
                    <a:lnT w="76200">
                      <a:solidFill>
                        <a:srgbClr val="000000"/>
                      </a:solidFill>
                      <a:prstDash val="solid"/>
                    </a:lnT>
                  </a:tcPr>
                </a:tc>
                <a:tc>
                  <a:txBody>
                    <a:bodyPr/>
                    <a:lstStyle/>
                    <a:p>
                      <a:pPr marR="167640">
                        <a:lnSpc>
                          <a:spcPct val="100000"/>
                        </a:lnSpc>
                      </a:pPr>
                      <a:endParaRPr sz="1300">
                        <a:latin typeface="Times New Roman"/>
                        <a:cs typeface="Times New Roman"/>
                      </a:endParaRPr>
                    </a:p>
                  </a:txBody>
                  <a:tcPr marL="0" marR="0" marT="0" marB="0">
                    <a:lnL w="76200">
                      <a:solidFill>
                        <a:srgbClr val="000000"/>
                      </a:solidFill>
                      <a:prstDash val="solid"/>
                    </a:lnL>
                    <a:lnT w="76200">
                      <a:solidFill>
                        <a:srgbClr val="000000"/>
                      </a:solidFill>
                      <a:prstDash val="solid"/>
                    </a:lnT>
                  </a:tcPr>
                </a:tc>
              </a:tr>
            </a:tbl>
          </a:graphicData>
        </a:graphic>
      </p:graphicFrame>
      <p:sp>
        <p:nvSpPr>
          <p:cNvPr id="14" name="object 14"/>
          <p:cNvSpPr txBox="1"/>
          <p:nvPr/>
        </p:nvSpPr>
        <p:spPr>
          <a:xfrm>
            <a:off x="5418552" y="4754562"/>
            <a:ext cx="3289300" cy="639445"/>
          </a:xfrm>
          <a:prstGeom prst="rect">
            <a:avLst/>
          </a:prstGeom>
        </p:spPr>
        <p:txBody>
          <a:bodyPr vert="horz" wrap="square" lIns="0" tIns="15875" rIns="0" bIns="0" rtlCol="0">
            <a:spAutoFit/>
          </a:bodyPr>
          <a:lstStyle/>
          <a:p>
            <a:pPr marL="12700">
              <a:lnSpc>
                <a:spcPct val="100000"/>
              </a:lnSpc>
              <a:spcBef>
                <a:spcPts val="125"/>
              </a:spcBef>
            </a:pPr>
            <a:r>
              <a:rPr sz="2000" spc="-10" dirty="0">
                <a:latin typeface="Times New Roman"/>
                <a:cs typeface="Times New Roman"/>
              </a:rPr>
              <a:t>oblem:</a:t>
            </a:r>
            <a:endParaRPr sz="2000">
              <a:latin typeface="Times New Roman"/>
              <a:cs typeface="Times New Roman"/>
            </a:endParaRPr>
          </a:p>
          <a:p>
            <a:pPr marL="164465">
              <a:lnSpc>
                <a:spcPct val="100000"/>
              </a:lnSpc>
              <a:spcBef>
                <a:spcPts val="5"/>
              </a:spcBef>
            </a:pPr>
            <a:r>
              <a:rPr sz="2000" dirty="0">
                <a:latin typeface="Times New Roman"/>
                <a:cs typeface="Times New Roman"/>
              </a:rPr>
              <a:t>no</a:t>
            </a:r>
            <a:r>
              <a:rPr sz="2000" spc="-20" dirty="0">
                <a:latin typeface="Times New Roman"/>
                <a:cs typeface="Times New Roman"/>
              </a:rPr>
              <a:t> </a:t>
            </a:r>
            <a:r>
              <a:rPr sz="2000" dirty="0">
                <a:latin typeface="Times New Roman"/>
                <a:cs typeface="Times New Roman"/>
              </a:rPr>
              <a:t>length</a:t>
            </a:r>
            <a:r>
              <a:rPr sz="2000" spc="-15" dirty="0">
                <a:latin typeface="Times New Roman"/>
                <a:cs typeface="Times New Roman"/>
              </a:rPr>
              <a:t> </a:t>
            </a:r>
            <a:r>
              <a:rPr sz="2000" dirty="0">
                <a:latin typeface="Times New Roman"/>
                <a:cs typeface="Times New Roman"/>
              </a:rPr>
              <a:t>checking</a:t>
            </a:r>
            <a:r>
              <a:rPr sz="2000" spc="-15" dirty="0">
                <a:latin typeface="Times New Roman"/>
                <a:cs typeface="Times New Roman"/>
              </a:rPr>
              <a:t> </a:t>
            </a:r>
            <a:r>
              <a:rPr sz="2000" dirty="0">
                <a:latin typeface="Times New Roman"/>
                <a:cs typeface="Times New Roman"/>
              </a:rPr>
              <a:t>in</a:t>
            </a:r>
            <a:r>
              <a:rPr sz="2000" spc="459" dirty="0">
                <a:latin typeface="Times New Roman"/>
                <a:cs typeface="Times New Roman"/>
              </a:rPr>
              <a:t> </a:t>
            </a:r>
            <a:r>
              <a:rPr sz="2000" spc="-10" dirty="0">
                <a:solidFill>
                  <a:srgbClr val="696363"/>
                </a:solidFill>
                <a:latin typeface="Times New Roman"/>
                <a:cs typeface="Times New Roman"/>
              </a:rPr>
              <a:t>strcpy()</a:t>
            </a:r>
            <a:endParaRPr sz="2000">
              <a:latin typeface="Times New Roman"/>
              <a:cs typeface="Times New Roman"/>
            </a:endParaRPr>
          </a:p>
        </p:txBody>
      </p:sp>
      <p:pic>
        <p:nvPicPr>
          <p:cNvPr id="15" name="object 15"/>
          <p:cNvPicPr/>
          <p:nvPr/>
        </p:nvPicPr>
        <p:blipFill>
          <a:blip r:embed="rId4" cstate="print"/>
          <a:stretch>
            <a:fillRect/>
          </a:stretch>
        </p:blipFill>
        <p:spPr>
          <a:xfrm>
            <a:off x="457200" y="6248400"/>
            <a:ext cx="476250" cy="381000"/>
          </a:xfrm>
          <a:prstGeom prst="rect">
            <a:avLst/>
          </a:prstGeom>
        </p:spPr>
      </p:pic>
      <p:sp>
        <p:nvSpPr>
          <p:cNvPr id="16" name="object 16"/>
          <p:cNvSpPr txBox="1">
            <a:spLocks noGrp="1"/>
          </p:cNvSpPr>
          <p:nvPr>
            <p:ph type="ftr" sz="quarter" idx="5"/>
          </p:nvPr>
        </p:nvSpPr>
        <p:spPr>
          <a:prstGeom prst="rect">
            <a:avLst/>
          </a:prstGeom>
        </p:spPr>
        <p:txBody>
          <a:bodyPr vert="horz" wrap="square" lIns="0" tIns="76200" rIns="0" bIns="0" rtlCol="0">
            <a:spAutoFit/>
          </a:bodyPr>
          <a:lstStyle/>
          <a:p>
            <a:pPr marL="2413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19813" y="3429063"/>
            <a:ext cx="2676525" cy="466725"/>
            <a:chOff x="5619813" y="3429063"/>
            <a:chExt cx="2676525" cy="466725"/>
          </a:xfrm>
        </p:grpSpPr>
        <p:sp>
          <p:nvSpPr>
            <p:cNvPr id="3" name="object 3"/>
            <p:cNvSpPr/>
            <p:nvPr/>
          </p:nvSpPr>
          <p:spPr>
            <a:xfrm>
              <a:off x="5624576" y="34338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4" name="object 4"/>
            <p:cNvSpPr/>
            <p:nvPr/>
          </p:nvSpPr>
          <p:spPr>
            <a:xfrm>
              <a:off x="5624576" y="34338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grpSp>
        <p:nvGrpSpPr>
          <p:cNvPr id="5" name="object 5"/>
          <p:cNvGrpSpPr/>
          <p:nvPr/>
        </p:nvGrpSpPr>
        <p:grpSpPr>
          <a:xfrm>
            <a:off x="5600763" y="4752975"/>
            <a:ext cx="2695575" cy="1533525"/>
            <a:chOff x="5600763" y="4752975"/>
            <a:chExt cx="2695575" cy="1533525"/>
          </a:xfrm>
        </p:grpSpPr>
        <p:sp>
          <p:nvSpPr>
            <p:cNvPr id="6" name="object 6"/>
            <p:cNvSpPr/>
            <p:nvPr/>
          </p:nvSpPr>
          <p:spPr>
            <a:xfrm>
              <a:off x="5605526" y="4757737"/>
              <a:ext cx="19050" cy="871855"/>
            </a:xfrm>
            <a:custGeom>
              <a:avLst/>
              <a:gdLst/>
              <a:ahLst/>
              <a:cxnLst/>
              <a:rect l="l" t="t" r="r" b="b"/>
              <a:pathLst>
                <a:path w="19050" h="871854">
                  <a:moveTo>
                    <a:pt x="0" y="871537"/>
                  </a:moveTo>
                  <a:lnTo>
                    <a:pt x="19050" y="871537"/>
                  </a:lnTo>
                  <a:lnTo>
                    <a:pt x="19050" y="0"/>
                  </a:lnTo>
                  <a:lnTo>
                    <a:pt x="0" y="0"/>
                  </a:lnTo>
                  <a:lnTo>
                    <a:pt x="0" y="871537"/>
                  </a:lnTo>
                  <a:close/>
                </a:path>
              </a:pathLst>
            </a:custGeom>
            <a:solidFill>
              <a:srgbClr val="FF0000"/>
            </a:solidFill>
          </p:spPr>
          <p:txBody>
            <a:bodyPr wrap="square" lIns="0" tIns="0" rIns="0" bIns="0" rtlCol="0"/>
            <a:lstStyle/>
            <a:p>
              <a:endParaRPr/>
            </a:p>
          </p:txBody>
        </p:sp>
        <p:sp>
          <p:nvSpPr>
            <p:cNvPr id="7" name="object 7"/>
            <p:cNvSpPr/>
            <p:nvPr/>
          </p:nvSpPr>
          <p:spPr>
            <a:xfrm>
              <a:off x="5605526" y="47577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sp>
          <p:nvSpPr>
            <p:cNvPr id="8" name="object 8"/>
            <p:cNvSpPr/>
            <p:nvPr/>
          </p:nvSpPr>
          <p:spPr>
            <a:xfrm>
              <a:off x="5624576" y="4757737"/>
              <a:ext cx="2667000" cy="1524000"/>
            </a:xfrm>
            <a:custGeom>
              <a:avLst/>
              <a:gdLst/>
              <a:ahLst/>
              <a:cxnLst/>
              <a:rect l="l" t="t" r="r" b="b"/>
              <a:pathLst>
                <a:path w="2667000" h="1524000">
                  <a:moveTo>
                    <a:pt x="2614549" y="1500187"/>
                  </a:moveTo>
                  <a:lnTo>
                    <a:pt x="14224" y="1500187"/>
                  </a:lnTo>
                  <a:lnTo>
                    <a:pt x="14224" y="1524000"/>
                  </a:lnTo>
                  <a:lnTo>
                    <a:pt x="2614549" y="1524000"/>
                  </a:lnTo>
                  <a:lnTo>
                    <a:pt x="2614549" y="1500187"/>
                  </a:lnTo>
                  <a:close/>
                </a:path>
                <a:path w="2667000" h="1524000">
                  <a:moveTo>
                    <a:pt x="2667000" y="0"/>
                  </a:moveTo>
                  <a:lnTo>
                    <a:pt x="0" y="0"/>
                  </a:lnTo>
                  <a:lnTo>
                    <a:pt x="0" y="1423987"/>
                  </a:lnTo>
                  <a:lnTo>
                    <a:pt x="2667000" y="1423987"/>
                  </a:lnTo>
                  <a:lnTo>
                    <a:pt x="2667000" y="0"/>
                  </a:lnTo>
                  <a:close/>
                </a:path>
              </a:pathLst>
            </a:custGeom>
            <a:solidFill>
              <a:srgbClr val="006FC0"/>
            </a:solidFill>
          </p:spPr>
          <p:txBody>
            <a:bodyPr wrap="square" lIns="0" tIns="0" rIns="0" bIns="0" rtlCol="0"/>
            <a:lstStyle/>
            <a:p>
              <a:endParaRPr/>
            </a:p>
          </p:txBody>
        </p:sp>
        <p:sp>
          <p:nvSpPr>
            <p:cNvPr id="9" name="object 9"/>
            <p:cNvSpPr/>
            <p:nvPr/>
          </p:nvSpPr>
          <p:spPr>
            <a:xfrm>
              <a:off x="5624576" y="47577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5648325" y="5315902"/>
            <a:ext cx="2595880" cy="334645"/>
          </a:xfrm>
          <a:prstGeom prst="rect">
            <a:avLst/>
          </a:prstGeom>
        </p:spPr>
        <p:txBody>
          <a:bodyPr vert="horz" wrap="square" lIns="0" tIns="15875" rIns="0" bIns="0" rtlCol="0">
            <a:spAutoFit/>
          </a:bodyPr>
          <a:lstStyle/>
          <a:p>
            <a:pPr marL="700405">
              <a:lnSpc>
                <a:spcPct val="100000"/>
              </a:lnSpc>
              <a:spcBef>
                <a:spcPts val="125"/>
              </a:spcBef>
            </a:pPr>
            <a:r>
              <a:rPr sz="2000" spc="-95" dirty="0">
                <a:solidFill>
                  <a:srgbClr val="EDEBE0"/>
                </a:solidFill>
                <a:latin typeface="Times New Roman"/>
                <a:cs typeface="Times New Roman"/>
              </a:rPr>
              <a:t>char</a:t>
            </a:r>
            <a:r>
              <a:rPr sz="2000" spc="-35" dirty="0">
                <a:solidFill>
                  <a:srgbClr val="EDEBE0"/>
                </a:solidFill>
                <a:latin typeface="Times New Roman"/>
                <a:cs typeface="Times New Roman"/>
              </a:rPr>
              <a:t> </a:t>
            </a:r>
            <a:r>
              <a:rPr sz="2000" spc="-10" dirty="0">
                <a:solidFill>
                  <a:srgbClr val="EDEBE0"/>
                </a:solidFill>
                <a:latin typeface="Times New Roman"/>
                <a:cs typeface="Times New Roman"/>
              </a:rPr>
              <a:t>buf[128]</a:t>
            </a:r>
            <a:endParaRPr sz="2000">
              <a:latin typeface="Times New Roman"/>
              <a:cs typeface="Times New Roman"/>
            </a:endParaRPr>
          </a:p>
        </p:txBody>
      </p:sp>
      <p:grpSp>
        <p:nvGrpSpPr>
          <p:cNvPr id="11" name="object 11"/>
          <p:cNvGrpSpPr/>
          <p:nvPr/>
        </p:nvGrpSpPr>
        <p:grpSpPr>
          <a:xfrm>
            <a:off x="5619813" y="3886263"/>
            <a:ext cx="2676525" cy="466725"/>
            <a:chOff x="5619813" y="3886263"/>
            <a:chExt cx="2676525" cy="466725"/>
          </a:xfrm>
        </p:grpSpPr>
        <p:sp>
          <p:nvSpPr>
            <p:cNvPr id="12" name="object 12"/>
            <p:cNvSpPr/>
            <p:nvPr/>
          </p:nvSpPr>
          <p:spPr>
            <a:xfrm>
              <a:off x="5624576" y="38910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3" name="object 13"/>
            <p:cNvSpPr/>
            <p:nvPr/>
          </p:nvSpPr>
          <p:spPr>
            <a:xfrm>
              <a:off x="5624576" y="38910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648325" y="3916997"/>
            <a:ext cx="2600325" cy="334645"/>
          </a:xfrm>
          <a:prstGeom prst="rect">
            <a:avLst/>
          </a:prstGeom>
        </p:spPr>
        <p:txBody>
          <a:bodyPr vert="horz" wrap="square" lIns="0" tIns="15875" rIns="0" bIns="0" rtlCol="0">
            <a:spAutoFit/>
          </a:bodyPr>
          <a:lstStyle/>
          <a:p>
            <a:pPr marL="655320">
              <a:lnSpc>
                <a:spcPct val="100000"/>
              </a:lnSpc>
              <a:spcBef>
                <a:spcPts val="125"/>
              </a:spcBef>
            </a:pPr>
            <a:r>
              <a:rPr sz="2000" spc="-20" dirty="0">
                <a:solidFill>
                  <a:srgbClr val="E9E4DC"/>
                </a:solidFill>
                <a:latin typeface="Times New Roman"/>
                <a:cs typeface="Times New Roman"/>
              </a:rPr>
              <a:t>return</a:t>
            </a:r>
            <a:r>
              <a:rPr sz="2000" spc="-85" dirty="0">
                <a:solidFill>
                  <a:srgbClr val="E9E4DC"/>
                </a:solidFill>
                <a:latin typeface="Times New Roman"/>
                <a:cs typeface="Times New Roman"/>
              </a:rPr>
              <a:t> </a:t>
            </a:r>
            <a:r>
              <a:rPr sz="2000" spc="-10" dirty="0">
                <a:solidFill>
                  <a:srgbClr val="E9E4DC"/>
                </a:solidFill>
                <a:latin typeface="Times New Roman"/>
                <a:cs typeface="Times New Roman"/>
              </a:rPr>
              <a:t>address</a:t>
            </a:r>
            <a:endParaRPr sz="2000">
              <a:latin typeface="Times New Roman"/>
              <a:cs typeface="Times New Roman"/>
            </a:endParaRPr>
          </a:p>
        </p:txBody>
      </p:sp>
      <p:grpSp>
        <p:nvGrpSpPr>
          <p:cNvPr id="15" name="object 15"/>
          <p:cNvGrpSpPr/>
          <p:nvPr/>
        </p:nvGrpSpPr>
        <p:grpSpPr>
          <a:xfrm>
            <a:off x="5257800" y="866775"/>
            <a:ext cx="3248025" cy="5534025"/>
            <a:chOff x="5257800" y="866775"/>
            <a:chExt cx="3248025" cy="5534025"/>
          </a:xfrm>
        </p:grpSpPr>
        <p:sp>
          <p:nvSpPr>
            <p:cNvPr id="16" name="object 16"/>
            <p:cNvSpPr/>
            <p:nvPr/>
          </p:nvSpPr>
          <p:spPr>
            <a:xfrm>
              <a:off x="5624575" y="4300601"/>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7" name="object 17"/>
            <p:cNvSpPr/>
            <p:nvPr/>
          </p:nvSpPr>
          <p:spPr>
            <a:xfrm>
              <a:off x="5624575" y="4300601"/>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18" name="object 18"/>
            <p:cNvSpPr/>
            <p:nvPr/>
          </p:nvSpPr>
          <p:spPr>
            <a:xfrm>
              <a:off x="5295900" y="3381375"/>
              <a:ext cx="3171825" cy="2838450"/>
            </a:xfrm>
            <a:custGeom>
              <a:avLst/>
              <a:gdLst/>
              <a:ahLst/>
              <a:cxnLst/>
              <a:rect l="l" t="t" r="r" b="b"/>
              <a:pathLst>
                <a:path w="3171825" h="2838450">
                  <a:moveTo>
                    <a:pt x="0" y="2838450"/>
                  </a:moveTo>
                  <a:lnTo>
                    <a:pt x="3067050" y="2838450"/>
                  </a:lnTo>
                </a:path>
                <a:path w="3171825" h="2838450">
                  <a:moveTo>
                    <a:pt x="47625" y="0"/>
                  </a:moveTo>
                  <a:lnTo>
                    <a:pt x="3171825" y="0"/>
                  </a:lnTo>
                </a:path>
              </a:pathLst>
            </a:custGeom>
            <a:ln w="76200">
              <a:solidFill>
                <a:srgbClr val="000000"/>
              </a:solidFill>
            </a:ln>
          </p:spPr>
          <p:txBody>
            <a:bodyPr wrap="square" lIns="0" tIns="0" rIns="0" bIns="0" rtlCol="0"/>
            <a:lstStyle/>
            <a:p>
              <a:endParaRPr/>
            </a:p>
          </p:txBody>
        </p:sp>
        <p:sp>
          <p:nvSpPr>
            <p:cNvPr id="19" name="object 19"/>
            <p:cNvSpPr/>
            <p:nvPr/>
          </p:nvSpPr>
          <p:spPr>
            <a:xfrm>
              <a:off x="5600700" y="5657850"/>
              <a:ext cx="2676525" cy="714375"/>
            </a:xfrm>
            <a:custGeom>
              <a:avLst/>
              <a:gdLst/>
              <a:ahLst/>
              <a:cxnLst/>
              <a:rect l="l" t="t" r="r" b="b"/>
              <a:pathLst>
                <a:path w="2676525" h="714375">
                  <a:moveTo>
                    <a:pt x="9525" y="0"/>
                  </a:moveTo>
                  <a:lnTo>
                    <a:pt x="0" y="714375"/>
                  </a:lnTo>
                </a:path>
                <a:path w="2676525" h="714375">
                  <a:moveTo>
                    <a:pt x="2676525" y="0"/>
                  </a:moveTo>
                  <a:lnTo>
                    <a:pt x="2667000" y="714375"/>
                  </a:lnTo>
                </a:path>
              </a:pathLst>
            </a:custGeom>
            <a:ln w="57150">
              <a:solidFill>
                <a:srgbClr val="000000"/>
              </a:solidFill>
            </a:ln>
          </p:spPr>
          <p:txBody>
            <a:bodyPr wrap="square" lIns="0" tIns="0" rIns="0" bIns="0" rtlCol="0"/>
            <a:lstStyle/>
            <a:p>
              <a:endParaRPr/>
            </a:p>
          </p:txBody>
        </p:sp>
        <p:pic>
          <p:nvPicPr>
            <p:cNvPr id="20" name="object 20"/>
            <p:cNvPicPr/>
            <p:nvPr/>
          </p:nvPicPr>
          <p:blipFill>
            <a:blip r:embed="rId2" cstate="print"/>
            <a:stretch>
              <a:fillRect/>
            </a:stretch>
          </p:blipFill>
          <p:spPr>
            <a:xfrm>
              <a:off x="5572125" y="2190686"/>
              <a:ext cx="2767076" cy="1214437"/>
            </a:xfrm>
            <a:prstGeom prst="rect">
              <a:avLst/>
            </a:prstGeom>
          </p:spPr>
        </p:pic>
        <p:sp>
          <p:nvSpPr>
            <p:cNvPr id="21" name="object 21"/>
            <p:cNvSpPr/>
            <p:nvPr/>
          </p:nvSpPr>
          <p:spPr>
            <a:xfrm>
              <a:off x="5648325" y="2214625"/>
              <a:ext cx="2590800" cy="1114425"/>
            </a:xfrm>
            <a:custGeom>
              <a:avLst/>
              <a:gdLst/>
              <a:ahLst/>
              <a:cxnLst/>
              <a:rect l="l" t="t" r="r" b="b"/>
              <a:pathLst>
                <a:path w="2590800" h="1114425">
                  <a:moveTo>
                    <a:pt x="0" y="1114425"/>
                  </a:moveTo>
                  <a:lnTo>
                    <a:pt x="2590800" y="1114425"/>
                  </a:lnTo>
                  <a:lnTo>
                    <a:pt x="2590800" y="0"/>
                  </a:lnTo>
                  <a:lnTo>
                    <a:pt x="0" y="0"/>
                  </a:lnTo>
                  <a:lnTo>
                    <a:pt x="0" y="1114425"/>
                  </a:lnTo>
                  <a:close/>
                </a:path>
              </a:pathLst>
            </a:custGeom>
            <a:solidFill>
              <a:srgbClr val="006FC0"/>
            </a:solidFill>
          </p:spPr>
          <p:txBody>
            <a:bodyPr wrap="square" lIns="0" tIns="0" rIns="0" bIns="0" rtlCol="0"/>
            <a:lstStyle/>
            <a:p>
              <a:endParaRPr/>
            </a:p>
          </p:txBody>
        </p:sp>
        <p:sp>
          <p:nvSpPr>
            <p:cNvPr id="22" name="object 22"/>
            <p:cNvSpPr/>
            <p:nvPr/>
          </p:nvSpPr>
          <p:spPr>
            <a:xfrm>
              <a:off x="5624575" y="2214625"/>
              <a:ext cx="2667000" cy="1114425"/>
            </a:xfrm>
            <a:custGeom>
              <a:avLst/>
              <a:gdLst/>
              <a:ahLst/>
              <a:cxnLst/>
              <a:rect l="l" t="t" r="r" b="b"/>
              <a:pathLst>
                <a:path w="2667000" h="1114425">
                  <a:moveTo>
                    <a:pt x="0" y="1114425"/>
                  </a:moveTo>
                  <a:lnTo>
                    <a:pt x="2667000" y="1114425"/>
                  </a:lnTo>
                  <a:lnTo>
                    <a:pt x="2667000" y="0"/>
                  </a:lnTo>
                  <a:lnTo>
                    <a:pt x="0" y="0"/>
                  </a:lnTo>
                  <a:lnTo>
                    <a:pt x="0" y="1114425"/>
                  </a:lnTo>
                  <a:close/>
                </a:path>
              </a:pathLst>
            </a:custGeom>
            <a:ln w="9525">
              <a:solidFill>
                <a:srgbClr val="AE3408"/>
              </a:solidFill>
            </a:ln>
          </p:spPr>
          <p:txBody>
            <a:bodyPr wrap="square" lIns="0" tIns="0" rIns="0" bIns="0" rtlCol="0"/>
            <a:lstStyle/>
            <a:p>
              <a:endParaRPr/>
            </a:p>
          </p:txBody>
        </p:sp>
        <p:pic>
          <p:nvPicPr>
            <p:cNvPr id="23" name="object 23"/>
            <p:cNvPicPr/>
            <p:nvPr/>
          </p:nvPicPr>
          <p:blipFill>
            <a:blip r:embed="rId3" cstate="print"/>
            <a:stretch>
              <a:fillRect/>
            </a:stretch>
          </p:blipFill>
          <p:spPr>
            <a:xfrm>
              <a:off x="5572125" y="866775"/>
              <a:ext cx="2767076" cy="1423924"/>
            </a:xfrm>
            <a:prstGeom prst="rect">
              <a:avLst/>
            </a:prstGeom>
          </p:spPr>
        </p:pic>
        <p:sp>
          <p:nvSpPr>
            <p:cNvPr id="24" name="object 24"/>
            <p:cNvSpPr/>
            <p:nvPr/>
          </p:nvSpPr>
          <p:spPr>
            <a:xfrm>
              <a:off x="5648325" y="890650"/>
              <a:ext cx="2590800" cy="1323975"/>
            </a:xfrm>
            <a:custGeom>
              <a:avLst/>
              <a:gdLst/>
              <a:ahLst/>
              <a:cxnLst/>
              <a:rect l="l" t="t" r="r" b="b"/>
              <a:pathLst>
                <a:path w="2590800" h="1323975">
                  <a:moveTo>
                    <a:pt x="0" y="1323975"/>
                  </a:moveTo>
                  <a:lnTo>
                    <a:pt x="2590800" y="1323975"/>
                  </a:lnTo>
                  <a:lnTo>
                    <a:pt x="2590800" y="0"/>
                  </a:lnTo>
                  <a:lnTo>
                    <a:pt x="0" y="0"/>
                  </a:lnTo>
                  <a:lnTo>
                    <a:pt x="0" y="1323975"/>
                  </a:lnTo>
                  <a:close/>
                </a:path>
              </a:pathLst>
            </a:custGeom>
            <a:solidFill>
              <a:srgbClr val="006FC0"/>
            </a:solidFill>
          </p:spPr>
          <p:txBody>
            <a:bodyPr wrap="square" lIns="0" tIns="0" rIns="0" bIns="0" rtlCol="0"/>
            <a:lstStyle/>
            <a:p>
              <a:endParaRPr/>
            </a:p>
          </p:txBody>
        </p:sp>
        <p:sp>
          <p:nvSpPr>
            <p:cNvPr id="25" name="object 25"/>
            <p:cNvSpPr/>
            <p:nvPr/>
          </p:nvSpPr>
          <p:spPr>
            <a:xfrm>
              <a:off x="5624575" y="890650"/>
              <a:ext cx="2667000" cy="1323975"/>
            </a:xfrm>
            <a:custGeom>
              <a:avLst/>
              <a:gdLst/>
              <a:ahLst/>
              <a:cxnLst/>
              <a:rect l="l" t="t" r="r" b="b"/>
              <a:pathLst>
                <a:path w="2667000" h="1323975">
                  <a:moveTo>
                    <a:pt x="0" y="1323975"/>
                  </a:moveTo>
                  <a:lnTo>
                    <a:pt x="2667000" y="1323975"/>
                  </a:lnTo>
                  <a:lnTo>
                    <a:pt x="2667000" y="0"/>
                  </a:lnTo>
                  <a:lnTo>
                    <a:pt x="0" y="0"/>
                  </a:lnTo>
                  <a:lnTo>
                    <a:pt x="0" y="1323975"/>
                  </a:lnTo>
                  <a:close/>
                </a:path>
              </a:pathLst>
            </a:custGeom>
            <a:ln w="9525">
              <a:solidFill>
                <a:srgbClr val="AE3408"/>
              </a:solidFill>
            </a:ln>
          </p:spPr>
          <p:txBody>
            <a:bodyPr wrap="square" lIns="0" tIns="0" rIns="0" bIns="0" rtlCol="0"/>
            <a:lstStyle/>
            <a:p>
              <a:endParaRPr/>
            </a:p>
          </p:txBody>
        </p:sp>
      </p:grpSp>
      <p:sp>
        <p:nvSpPr>
          <p:cNvPr id="26" name="object 26"/>
          <p:cNvSpPr txBox="1">
            <a:spLocks noGrp="1"/>
          </p:cNvSpPr>
          <p:nvPr>
            <p:ph type="title"/>
          </p:nvPr>
        </p:nvSpPr>
        <p:spPr>
          <a:xfrm>
            <a:off x="307657" y="242824"/>
            <a:ext cx="3479165" cy="575310"/>
          </a:xfrm>
          <a:prstGeom prst="rect">
            <a:avLst/>
          </a:prstGeom>
        </p:spPr>
        <p:txBody>
          <a:bodyPr vert="horz" wrap="square" lIns="0" tIns="13335" rIns="0" bIns="0" rtlCol="0">
            <a:spAutoFit/>
          </a:bodyPr>
          <a:lstStyle/>
          <a:p>
            <a:pPr marL="12700">
              <a:lnSpc>
                <a:spcPct val="100000"/>
              </a:lnSpc>
              <a:spcBef>
                <a:spcPts val="105"/>
              </a:spcBef>
            </a:pPr>
            <a:r>
              <a:rPr dirty="0"/>
              <a:t>Basic</a:t>
            </a:r>
            <a:r>
              <a:rPr spc="-15" dirty="0"/>
              <a:t> </a:t>
            </a:r>
            <a:r>
              <a:rPr dirty="0"/>
              <a:t>stack</a:t>
            </a:r>
            <a:r>
              <a:rPr spc="-45" dirty="0"/>
              <a:t> </a:t>
            </a:r>
            <a:r>
              <a:rPr spc="-10" dirty="0"/>
              <a:t>exploit</a:t>
            </a:r>
          </a:p>
        </p:txBody>
      </p:sp>
      <p:sp>
        <p:nvSpPr>
          <p:cNvPr id="27" name="object 27"/>
          <p:cNvSpPr txBox="1"/>
          <p:nvPr/>
        </p:nvSpPr>
        <p:spPr>
          <a:xfrm>
            <a:off x="383857" y="938911"/>
            <a:ext cx="4151629" cy="1431925"/>
          </a:xfrm>
          <a:prstGeom prst="rect">
            <a:avLst/>
          </a:prstGeom>
        </p:spPr>
        <p:txBody>
          <a:bodyPr vert="horz" wrap="square" lIns="0" tIns="13335" rIns="0" bIns="0" rtlCol="0">
            <a:spAutoFit/>
          </a:bodyPr>
          <a:lstStyle/>
          <a:p>
            <a:pPr marR="565785" algn="ctr">
              <a:lnSpc>
                <a:spcPts val="2865"/>
              </a:lnSpc>
              <a:spcBef>
                <a:spcPts val="105"/>
              </a:spcBef>
              <a:tabLst>
                <a:tab pos="1339850" algn="l"/>
                <a:tab pos="2178050" algn="l"/>
              </a:tabLst>
            </a:pPr>
            <a:r>
              <a:rPr sz="2400" spc="-10" dirty="0">
                <a:latin typeface="Times New Roman"/>
                <a:cs typeface="Times New Roman"/>
              </a:rPr>
              <a:t>Suppose</a:t>
            </a:r>
            <a:r>
              <a:rPr sz="2400" dirty="0">
                <a:latin typeface="Times New Roman"/>
                <a:cs typeface="Times New Roman"/>
              </a:rPr>
              <a:t>	</a:t>
            </a:r>
            <a:r>
              <a:rPr sz="2400" spc="-20" dirty="0">
                <a:solidFill>
                  <a:srgbClr val="696363"/>
                </a:solidFill>
                <a:latin typeface="Times New Roman"/>
                <a:cs typeface="Times New Roman"/>
              </a:rPr>
              <a:t>*str</a:t>
            </a:r>
            <a:r>
              <a:rPr sz="2400" dirty="0">
                <a:solidFill>
                  <a:srgbClr val="696363"/>
                </a:solidFill>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such</a:t>
            </a:r>
            <a:r>
              <a:rPr sz="2400" spc="5" dirty="0">
                <a:latin typeface="Times New Roman"/>
                <a:cs typeface="Times New Roman"/>
              </a:rPr>
              <a:t> </a:t>
            </a:r>
            <a:r>
              <a:rPr sz="2400" spc="-20" dirty="0">
                <a:latin typeface="Times New Roman"/>
                <a:cs typeface="Times New Roman"/>
              </a:rPr>
              <a:t>that</a:t>
            </a:r>
            <a:endParaRPr sz="2400">
              <a:latin typeface="Times New Roman"/>
              <a:cs typeface="Times New Roman"/>
            </a:endParaRPr>
          </a:p>
          <a:p>
            <a:pPr marL="533400" algn="ctr">
              <a:lnSpc>
                <a:spcPts val="2865"/>
              </a:lnSpc>
              <a:tabLst>
                <a:tab pos="1243965" algn="l"/>
                <a:tab pos="2141855" algn="l"/>
              </a:tabLst>
            </a:pPr>
            <a:r>
              <a:rPr sz="2400" spc="-10" dirty="0">
                <a:latin typeface="Times New Roman"/>
                <a:cs typeface="Times New Roman"/>
              </a:rPr>
              <a:t>after</a:t>
            </a:r>
            <a:r>
              <a:rPr sz="2400" dirty="0">
                <a:latin typeface="Times New Roman"/>
                <a:cs typeface="Times New Roman"/>
              </a:rPr>
              <a:t>	</a:t>
            </a:r>
            <a:r>
              <a:rPr sz="2400" spc="-10" dirty="0">
                <a:solidFill>
                  <a:srgbClr val="696363"/>
                </a:solidFill>
                <a:latin typeface="Times New Roman"/>
                <a:cs typeface="Times New Roman"/>
              </a:rPr>
              <a:t>strcpy</a:t>
            </a:r>
            <a:r>
              <a:rPr sz="2400" dirty="0">
                <a:solidFill>
                  <a:srgbClr val="696363"/>
                </a:solidFill>
                <a:latin typeface="Times New Roman"/>
                <a:cs typeface="Times New Roman"/>
              </a:rPr>
              <a:t>	</a:t>
            </a:r>
            <a:r>
              <a:rPr sz="2400" dirty="0">
                <a:latin typeface="Times New Roman"/>
                <a:cs typeface="Times New Roman"/>
              </a:rPr>
              <a:t>stack looks</a:t>
            </a:r>
            <a:r>
              <a:rPr sz="2400" spc="-30" dirty="0">
                <a:latin typeface="Times New Roman"/>
                <a:cs typeface="Times New Roman"/>
              </a:rPr>
              <a:t> </a:t>
            </a:r>
            <a:r>
              <a:rPr sz="2400" spc="-10" dirty="0">
                <a:latin typeface="Times New Roman"/>
                <a:cs typeface="Times New Roman"/>
              </a:rPr>
              <a:t>like:</a:t>
            </a:r>
            <a:endParaRPr sz="2400">
              <a:latin typeface="Times New Roman"/>
              <a:cs typeface="Times New Roman"/>
            </a:endParaRPr>
          </a:p>
          <a:p>
            <a:pPr marR="574040" algn="ctr">
              <a:lnSpc>
                <a:spcPct val="100000"/>
              </a:lnSpc>
              <a:spcBef>
                <a:spcPts val="2450"/>
              </a:spcBef>
              <a:tabLst>
                <a:tab pos="1685925" algn="l"/>
              </a:tabLst>
            </a:pPr>
            <a:r>
              <a:rPr sz="2400" dirty="0">
                <a:latin typeface="Times New Roman"/>
                <a:cs typeface="Times New Roman"/>
              </a:rPr>
              <a:t>Program</a:t>
            </a:r>
            <a:r>
              <a:rPr sz="2400" spc="-45" dirty="0">
                <a:latin typeface="Times New Roman"/>
                <a:cs typeface="Times New Roman"/>
              </a:rPr>
              <a:t> </a:t>
            </a:r>
            <a:r>
              <a:rPr sz="2400" spc="-25" dirty="0">
                <a:latin typeface="Times New Roman"/>
                <a:cs typeface="Times New Roman"/>
              </a:rPr>
              <a:t>P:</a:t>
            </a:r>
            <a:r>
              <a:rPr sz="2400" dirty="0">
                <a:latin typeface="Times New Roman"/>
                <a:cs typeface="Times New Roman"/>
              </a:rPr>
              <a:t>	</a:t>
            </a:r>
            <a:r>
              <a:rPr sz="2400" spc="-10" dirty="0">
                <a:solidFill>
                  <a:srgbClr val="000090"/>
                </a:solidFill>
                <a:latin typeface="Times New Roman"/>
                <a:cs typeface="Times New Roman"/>
              </a:rPr>
              <a:t>exec(“/bin/sh”)</a:t>
            </a:r>
            <a:endParaRPr sz="2400">
              <a:latin typeface="Times New Roman"/>
              <a:cs typeface="Times New Roman"/>
            </a:endParaRPr>
          </a:p>
        </p:txBody>
      </p:sp>
      <p:sp>
        <p:nvSpPr>
          <p:cNvPr id="28" name="object 28"/>
          <p:cNvSpPr txBox="1"/>
          <p:nvPr/>
        </p:nvSpPr>
        <p:spPr>
          <a:xfrm>
            <a:off x="383857" y="3794823"/>
            <a:ext cx="4318000" cy="788670"/>
          </a:xfrm>
          <a:prstGeom prst="rect">
            <a:avLst/>
          </a:prstGeom>
        </p:spPr>
        <p:txBody>
          <a:bodyPr vert="horz" wrap="square" lIns="0" tIns="12065" rIns="0" bIns="0" rtlCol="0">
            <a:spAutoFit/>
          </a:bodyPr>
          <a:lstStyle/>
          <a:p>
            <a:pPr marL="12700" marR="5080">
              <a:lnSpc>
                <a:spcPct val="125200"/>
              </a:lnSpc>
              <a:spcBef>
                <a:spcPts val="95"/>
              </a:spcBef>
              <a:tabLst>
                <a:tab pos="708660" algn="l"/>
                <a:tab pos="810260" algn="l"/>
                <a:tab pos="1621155" algn="l"/>
              </a:tabLst>
            </a:pPr>
            <a:r>
              <a:rPr sz="2000" spc="-20" dirty="0">
                <a:latin typeface="Times New Roman"/>
                <a:cs typeface="Times New Roman"/>
              </a:rPr>
              <a:t>When</a:t>
            </a:r>
            <a:r>
              <a:rPr sz="2000" dirty="0">
                <a:latin typeface="Times New Roman"/>
                <a:cs typeface="Times New Roman"/>
              </a:rPr>
              <a:t>		</a:t>
            </a:r>
            <a:r>
              <a:rPr sz="2000" spc="-10" dirty="0">
                <a:solidFill>
                  <a:srgbClr val="696363"/>
                </a:solidFill>
                <a:latin typeface="Times New Roman"/>
                <a:cs typeface="Times New Roman"/>
              </a:rPr>
              <a:t>func()</a:t>
            </a:r>
            <a:r>
              <a:rPr sz="2000" dirty="0">
                <a:solidFill>
                  <a:srgbClr val="696363"/>
                </a:solidFill>
                <a:latin typeface="Times New Roman"/>
                <a:cs typeface="Times New Roman"/>
              </a:rPr>
              <a:t>	</a:t>
            </a:r>
            <a:r>
              <a:rPr sz="2000" dirty="0">
                <a:latin typeface="Times New Roman"/>
                <a:cs typeface="Times New Roman"/>
              </a:rPr>
              <a:t>exits,</a:t>
            </a:r>
            <a:r>
              <a:rPr sz="2000" spc="490" dirty="0">
                <a:latin typeface="Times New Roman"/>
                <a:cs typeface="Times New Roman"/>
              </a:rPr>
              <a:t> </a:t>
            </a:r>
            <a:r>
              <a:rPr sz="2000" dirty="0">
                <a:latin typeface="Times New Roman"/>
                <a:cs typeface="Times New Roman"/>
              </a:rPr>
              <a:t>the</a:t>
            </a:r>
            <a:r>
              <a:rPr sz="2000" spc="-50" dirty="0">
                <a:latin typeface="Times New Roman"/>
                <a:cs typeface="Times New Roman"/>
              </a:rPr>
              <a:t> </a:t>
            </a:r>
            <a:r>
              <a:rPr sz="2000" dirty="0">
                <a:latin typeface="Times New Roman"/>
                <a:cs typeface="Times New Roman"/>
              </a:rPr>
              <a:t>user</a:t>
            </a:r>
            <a:r>
              <a:rPr sz="2000" spc="-45" dirty="0">
                <a:latin typeface="Times New Roman"/>
                <a:cs typeface="Times New Roman"/>
              </a:rPr>
              <a:t> </a:t>
            </a:r>
            <a:r>
              <a:rPr sz="2000" dirty="0">
                <a:latin typeface="Times New Roman"/>
                <a:cs typeface="Times New Roman"/>
              </a:rPr>
              <a:t>gets</a:t>
            </a:r>
            <a:r>
              <a:rPr sz="2000" spc="-15" dirty="0">
                <a:latin typeface="Times New Roman"/>
                <a:cs typeface="Times New Roman"/>
              </a:rPr>
              <a:t> </a:t>
            </a:r>
            <a:r>
              <a:rPr sz="2000" dirty="0">
                <a:latin typeface="Times New Roman"/>
                <a:cs typeface="Times New Roman"/>
              </a:rPr>
              <a:t>shell</a:t>
            </a:r>
            <a:r>
              <a:rPr sz="2000" spc="440" dirty="0">
                <a:latin typeface="Times New Roman"/>
                <a:cs typeface="Times New Roman"/>
              </a:rPr>
              <a:t> </a:t>
            </a:r>
            <a:r>
              <a:rPr sz="2000" spc="-50" dirty="0">
                <a:latin typeface="Times New Roman"/>
                <a:cs typeface="Times New Roman"/>
              </a:rPr>
              <a:t>! </a:t>
            </a:r>
            <a:r>
              <a:rPr sz="2000" spc="-10" dirty="0">
                <a:latin typeface="Times New Roman"/>
                <a:cs typeface="Times New Roman"/>
              </a:rPr>
              <a:t>Note:</a:t>
            </a:r>
            <a:r>
              <a:rPr sz="2000" dirty="0">
                <a:latin typeface="Times New Roman"/>
                <a:cs typeface="Times New Roman"/>
              </a:rPr>
              <a:t>	attack</a:t>
            </a:r>
            <a:r>
              <a:rPr sz="2000" spc="-25" dirty="0">
                <a:latin typeface="Times New Roman"/>
                <a:cs typeface="Times New Roman"/>
              </a:rPr>
              <a:t> </a:t>
            </a:r>
            <a:r>
              <a:rPr sz="2000" dirty="0">
                <a:latin typeface="Times New Roman"/>
                <a:cs typeface="Times New Roman"/>
              </a:rPr>
              <a:t>code</a:t>
            </a:r>
            <a:r>
              <a:rPr sz="2000" spc="20" dirty="0">
                <a:latin typeface="Times New Roman"/>
                <a:cs typeface="Times New Roman"/>
              </a:rPr>
              <a:t> </a:t>
            </a:r>
            <a:r>
              <a:rPr sz="2000" dirty="0">
                <a:latin typeface="Times New Roman"/>
                <a:cs typeface="Times New Roman"/>
              </a:rPr>
              <a:t>P</a:t>
            </a:r>
            <a:r>
              <a:rPr sz="2000" spc="-125" dirty="0">
                <a:latin typeface="Times New Roman"/>
                <a:cs typeface="Times New Roman"/>
              </a:rPr>
              <a:t> </a:t>
            </a:r>
            <a:r>
              <a:rPr sz="2000" dirty="0">
                <a:latin typeface="Times New Roman"/>
                <a:cs typeface="Times New Roman"/>
              </a:rPr>
              <a:t>runs</a:t>
            </a:r>
            <a:r>
              <a:rPr sz="2000" spc="-65" dirty="0">
                <a:latin typeface="Times New Roman"/>
                <a:cs typeface="Times New Roman"/>
              </a:rPr>
              <a:t> </a:t>
            </a:r>
            <a:r>
              <a:rPr sz="2000" i="1" dirty="0">
                <a:latin typeface="Times New Roman"/>
                <a:cs typeface="Times New Roman"/>
              </a:rPr>
              <a:t>in</a:t>
            </a:r>
            <a:r>
              <a:rPr sz="2000" i="1" spc="-20" dirty="0">
                <a:latin typeface="Times New Roman"/>
                <a:cs typeface="Times New Roman"/>
              </a:rPr>
              <a:t> </a:t>
            </a:r>
            <a:r>
              <a:rPr sz="2000" i="1" spc="-10" dirty="0">
                <a:latin typeface="Times New Roman"/>
                <a:cs typeface="Times New Roman"/>
              </a:rPr>
              <a:t>stack</a:t>
            </a:r>
            <a:r>
              <a:rPr sz="2000" spc="-10" dirty="0">
                <a:latin typeface="Times New Roman"/>
                <a:cs typeface="Times New Roman"/>
              </a:rPr>
              <a:t>.</a:t>
            </a:r>
            <a:endParaRPr sz="2000">
              <a:latin typeface="Times New Roman"/>
              <a:cs typeface="Times New Roman"/>
            </a:endParaRPr>
          </a:p>
        </p:txBody>
      </p:sp>
      <p:sp>
        <p:nvSpPr>
          <p:cNvPr id="29" name="object 29"/>
          <p:cNvSpPr txBox="1"/>
          <p:nvPr/>
        </p:nvSpPr>
        <p:spPr>
          <a:xfrm>
            <a:off x="688975" y="2923222"/>
            <a:ext cx="342201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85858"/>
                </a:solidFill>
                <a:latin typeface="Comic Sans MS"/>
                <a:cs typeface="Comic Sans MS"/>
              </a:rPr>
              <a:t>(exact</a:t>
            </a:r>
            <a:r>
              <a:rPr sz="1800" spc="-45" dirty="0">
                <a:solidFill>
                  <a:srgbClr val="585858"/>
                </a:solidFill>
                <a:latin typeface="Comic Sans MS"/>
                <a:cs typeface="Comic Sans MS"/>
              </a:rPr>
              <a:t> </a:t>
            </a:r>
            <a:r>
              <a:rPr sz="1800" dirty="0">
                <a:solidFill>
                  <a:srgbClr val="585858"/>
                </a:solidFill>
                <a:latin typeface="Comic Sans MS"/>
                <a:cs typeface="Comic Sans MS"/>
              </a:rPr>
              <a:t>shell</a:t>
            </a:r>
            <a:r>
              <a:rPr sz="1800" spc="-60" dirty="0">
                <a:solidFill>
                  <a:srgbClr val="585858"/>
                </a:solidFill>
                <a:latin typeface="Comic Sans MS"/>
                <a:cs typeface="Comic Sans MS"/>
              </a:rPr>
              <a:t> </a:t>
            </a:r>
            <a:r>
              <a:rPr sz="1800" dirty="0">
                <a:solidFill>
                  <a:srgbClr val="585858"/>
                </a:solidFill>
                <a:latin typeface="Comic Sans MS"/>
                <a:cs typeface="Comic Sans MS"/>
              </a:rPr>
              <a:t>code</a:t>
            </a:r>
            <a:r>
              <a:rPr sz="1800" spc="45" dirty="0">
                <a:solidFill>
                  <a:srgbClr val="585858"/>
                </a:solidFill>
                <a:latin typeface="Comic Sans MS"/>
                <a:cs typeface="Comic Sans MS"/>
              </a:rPr>
              <a:t> </a:t>
            </a:r>
            <a:r>
              <a:rPr sz="1800" dirty="0">
                <a:solidFill>
                  <a:srgbClr val="585858"/>
                </a:solidFill>
                <a:latin typeface="Comic Sans MS"/>
                <a:cs typeface="Comic Sans MS"/>
              </a:rPr>
              <a:t>by</a:t>
            </a:r>
            <a:r>
              <a:rPr sz="1800" spc="20" dirty="0">
                <a:solidFill>
                  <a:srgbClr val="585858"/>
                </a:solidFill>
                <a:latin typeface="Comic Sans MS"/>
                <a:cs typeface="Comic Sans MS"/>
              </a:rPr>
              <a:t> </a:t>
            </a:r>
            <a:r>
              <a:rPr sz="1800" dirty="0">
                <a:solidFill>
                  <a:srgbClr val="585858"/>
                </a:solidFill>
                <a:latin typeface="Comic Sans MS"/>
                <a:cs typeface="Comic Sans MS"/>
              </a:rPr>
              <a:t>Aleph</a:t>
            </a:r>
            <a:r>
              <a:rPr sz="1800" spc="-10" dirty="0">
                <a:solidFill>
                  <a:srgbClr val="585858"/>
                </a:solidFill>
                <a:latin typeface="Comic Sans MS"/>
                <a:cs typeface="Comic Sans MS"/>
              </a:rPr>
              <a:t> </a:t>
            </a:r>
            <a:r>
              <a:rPr sz="1800" spc="-20" dirty="0">
                <a:solidFill>
                  <a:srgbClr val="585858"/>
                </a:solidFill>
                <a:latin typeface="Comic Sans MS"/>
                <a:cs typeface="Comic Sans MS"/>
              </a:rPr>
              <a:t>One)</a:t>
            </a:r>
            <a:endParaRPr sz="1800">
              <a:latin typeface="Comic Sans MS"/>
              <a:cs typeface="Comic Sans MS"/>
            </a:endParaRPr>
          </a:p>
        </p:txBody>
      </p:sp>
      <p:sp>
        <p:nvSpPr>
          <p:cNvPr id="30" name="object 30"/>
          <p:cNvSpPr txBox="1"/>
          <p:nvPr/>
        </p:nvSpPr>
        <p:spPr>
          <a:xfrm>
            <a:off x="5648325" y="1348041"/>
            <a:ext cx="2590800" cy="334645"/>
          </a:xfrm>
          <a:prstGeom prst="rect">
            <a:avLst/>
          </a:prstGeom>
        </p:spPr>
        <p:txBody>
          <a:bodyPr vert="horz" wrap="square" lIns="0" tIns="15875" rIns="0" bIns="0" rtlCol="0">
            <a:spAutoFit/>
          </a:bodyPr>
          <a:lstStyle/>
          <a:p>
            <a:pPr marL="747395">
              <a:lnSpc>
                <a:spcPct val="100000"/>
              </a:lnSpc>
              <a:spcBef>
                <a:spcPts val="125"/>
              </a:spcBef>
            </a:pPr>
            <a:r>
              <a:rPr sz="2000" b="1" spc="-50" dirty="0">
                <a:solidFill>
                  <a:srgbClr val="EDEBE0"/>
                </a:solidFill>
                <a:latin typeface="Times New Roman"/>
                <a:cs typeface="Times New Roman"/>
              </a:rPr>
              <a:t>Program</a:t>
            </a:r>
            <a:r>
              <a:rPr sz="2000" b="1" spc="-70" dirty="0">
                <a:solidFill>
                  <a:srgbClr val="EDEBE0"/>
                </a:solidFill>
                <a:latin typeface="Times New Roman"/>
                <a:cs typeface="Times New Roman"/>
              </a:rPr>
              <a:t> </a:t>
            </a:r>
            <a:r>
              <a:rPr sz="2000" b="1" spc="-50" dirty="0">
                <a:solidFill>
                  <a:srgbClr val="EDEBE0"/>
                </a:solidFill>
                <a:latin typeface="Times New Roman"/>
                <a:cs typeface="Times New Roman"/>
              </a:rPr>
              <a:t>P</a:t>
            </a:r>
            <a:endParaRPr sz="2000">
              <a:latin typeface="Times New Roman"/>
              <a:cs typeface="Times New Roman"/>
            </a:endParaRPr>
          </a:p>
        </p:txBody>
      </p:sp>
      <p:grpSp>
        <p:nvGrpSpPr>
          <p:cNvPr id="31" name="object 31"/>
          <p:cNvGrpSpPr/>
          <p:nvPr/>
        </p:nvGrpSpPr>
        <p:grpSpPr>
          <a:xfrm>
            <a:off x="4800600" y="657225"/>
            <a:ext cx="4081779" cy="5591175"/>
            <a:chOff x="4800600" y="657225"/>
            <a:chExt cx="4081779" cy="5591175"/>
          </a:xfrm>
        </p:grpSpPr>
        <p:sp>
          <p:nvSpPr>
            <p:cNvPr id="32" name="object 32"/>
            <p:cNvSpPr/>
            <p:nvPr/>
          </p:nvSpPr>
          <p:spPr>
            <a:xfrm>
              <a:off x="5600700" y="685800"/>
              <a:ext cx="2686050" cy="2790825"/>
            </a:xfrm>
            <a:custGeom>
              <a:avLst/>
              <a:gdLst/>
              <a:ahLst/>
              <a:cxnLst/>
              <a:rect l="l" t="t" r="r" b="b"/>
              <a:pathLst>
                <a:path w="2686050" h="2790825">
                  <a:moveTo>
                    <a:pt x="2686050" y="0"/>
                  </a:moveTo>
                  <a:lnTo>
                    <a:pt x="2667000" y="2790825"/>
                  </a:lnTo>
                </a:path>
                <a:path w="2686050" h="2790825">
                  <a:moveTo>
                    <a:pt x="19050" y="0"/>
                  </a:moveTo>
                  <a:lnTo>
                    <a:pt x="0" y="2790825"/>
                  </a:lnTo>
                </a:path>
              </a:pathLst>
            </a:custGeom>
            <a:ln w="57150">
              <a:solidFill>
                <a:srgbClr val="000000"/>
              </a:solidFill>
            </a:ln>
          </p:spPr>
          <p:txBody>
            <a:bodyPr wrap="square" lIns="0" tIns="0" rIns="0" bIns="0" rtlCol="0"/>
            <a:lstStyle/>
            <a:p>
              <a:endParaRPr/>
            </a:p>
          </p:txBody>
        </p:sp>
        <p:pic>
          <p:nvPicPr>
            <p:cNvPr id="33" name="object 33"/>
            <p:cNvPicPr/>
            <p:nvPr/>
          </p:nvPicPr>
          <p:blipFill>
            <a:blip r:embed="rId4" cstate="print"/>
            <a:stretch>
              <a:fillRect/>
            </a:stretch>
          </p:blipFill>
          <p:spPr>
            <a:xfrm>
              <a:off x="4800600" y="1914397"/>
              <a:ext cx="900112" cy="2290826"/>
            </a:xfrm>
            <a:prstGeom prst="rect">
              <a:avLst/>
            </a:prstGeom>
          </p:spPr>
        </p:pic>
        <p:sp>
          <p:nvSpPr>
            <p:cNvPr id="34" name="object 34"/>
            <p:cNvSpPr/>
            <p:nvPr/>
          </p:nvSpPr>
          <p:spPr>
            <a:xfrm>
              <a:off x="4848478" y="2096008"/>
              <a:ext cx="783590" cy="2037714"/>
            </a:xfrm>
            <a:custGeom>
              <a:avLst/>
              <a:gdLst/>
              <a:ahLst/>
              <a:cxnLst/>
              <a:rect l="l" t="t" r="r" b="b"/>
              <a:pathLst>
                <a:path w="783589" h="2037714">
                  <a:moveTo>
                    <a:pt x="466446" y="52471"/>
                  </a:moveTo>
                  <a:lnTo>
                    <a:pt x="411988" y="79501"/>
                  </a:lnTo>
                  <a:lnTo>
                    <a:pt x="342138" y="117728"/>
                  </a:lnTo>
                  <a:lnTo>
                    <a:pt x="295529" y="145541"/>
                  </a:lnTo>
                  <a:lnTo>
                    <a:pt x="249555" y="175513"/>
                  </a:lnTo>
                  <a:lnTo>
                    <a:pt x="205867" y="207137"/>
                  </a:lnTo>
                  <a:lnTo>
                    <a:pt x="165354" y="240411"/>
                  </a:lnTo>
                  <a:lnTo>
                    <a:pt x="129412" y="275336"/>
                  </a:lnTo>
                  <a:lnTo>
                    <a:pt x="98679" y="312038"/>
                  </a:lnTo>
                  <a:lnTo>
                    <a:pt x="75184" y="350012"/>
                  </a:lnTo>
                  <a:lnTo>
                    <a:pt x="57912" y="388746"/>
                  </a:lnTo>
                  <a:lnTo>
                    <a:pt x="43053" y="430275"/>
                  </a:lnTo>
                  <a:lnTo>
                    <a:pt x="30607" y="474599"/>
                  </a:lnTo>
                  <a:lnTo>
                    <a:pt x="20193" y="521588"/>
                  </a:lnTo>
                  <a:lnTo>
                    <a:pt x="12192" y="570229"/>
                  </a:lnTo>
                  <a:lnTo>
                    <a:pt x="6096" y="620521"/>
                  </a:lnTo>
                  <a:lnTo>
                    <a:pt x="2159" y="671829"/>
                  </a:lnTo>
                  <a:lnTo>
                    <a:pt x="126" y="723900"/>
                  </a:lnTo>
                  <a:lnTo>
                    <a:pt x="0" y="776604"/>
                  </a:lnTo>
                  <a:lnTo>
                    <a:pt x="1527" y="825245"/>
                  </a:lnTo>
                  <a:lnTo>
                    <a:pt x="5080" y="881252"/>
                  </a:lnTo>
                  <a:lnTo>
                    <a:pt x="10413" y="932688"/>
                  </a:lnTo>
                  <a:lnTo>
                    <a:pt x="17399" y="982726"/>
                  </a:lnTo>
                  <a:lnTo>
                    <a:pt x="26035" y="1031113"/>
                  </a:lnTo>
                  <a:lnTo>
                    <a:pt x="36322" y="1077594"/>
                  </a:lnTo>
                  <a:lnTo>
                    <a:pt x="48387" y="1122171"/>
                  </a:lnTo>
                  <a:lnTo>
                    <a:pt x="63500" y="1165478"/>
                  </a:lnTo>
                  <a:lnTo>
                    <a:pt x="82296" y="1208151"/>
                  </a:lnTo>
                  <a:lnTo>
                    <a:pt x="104140" y="1249933"/>
                  </a:lnTo>
                  <a:lnTo>
                    <a:pt x="128778" y="1290574"/>
                  </a:lnTo>
                  <a:lnTo>
                    <a:pt x="155829" y="1330959"/>
                  </a:lnTo>
                  <a:lnTo>
                    <a:pt x="184404" y="1369949"/>
                  </a:lnTo>
                  <a:lnTo>
                    <a:pt x="214503" y="1408049"/>
                  </a:lnTo>
                  <a:lnTo>
                    <a:pt x="245363" y="1445387"/>
                  </a:lnTo>
                  <a:lnTo>
                    <a:pt x="276733" y="1481581"/>
                  </a:lnTo>
                  <a:lnTo>
                    <a:pt x="308101" y="1516887"/>
                  </a:lnTo>
                  <a:lnTo>
                    <a:pt x="338963" y="1551177"/>
                  </a:lnTo>
                  <a:lnTo>
                    <a:pt x="369188" y="1584324"/>
                  </a:lnTo>
                  <a:lnTo>
                    <a:pt x="397891" y="1616202"/>
                  </a:lnTo>
                  <a:lnTo>
                    <a:pt x="424942" y="1647062"/>
                  </a:lnTo>
                  <a:lnTo>
                    <a:pt x="449834" y="1676653"/>
                  </a:lnTo>
                  <a:lnTo>
                    <a:pt x="493268" y="1732533"/>
                  </a:lnTo>
                  <a:lnTo>
                    <a:pt x="513588" y="1758949"/>
                  </a:lnTo>
                  <a:lnTo>
                    <a:pt x="551688" y="1807971"/>
                  </a:lnTo>
                  <a:lnTo>
                    <a:pt x="604138" y="1873884"/>
                  </a:lnTo>
                  <a:lnTo>
                    <a:pt x="652018" y="1932558"/>
                  </a:lnTo>
                  <a:lnTo>
                    <a:pt x="711200" y="2003297"/>
                  </a:lnTo>
                  <a:lnTo>
                    <a:pt x="739901" y="2037206"/>
                  </a:lnTo>
                  <a:lnTo>
                    <a:pt x="783590" y="2000377"/>
                  </a:lnTo>
                  <a:lnTo>
                    <a:pt x="754888" y="1966467"/>
                  </a:lnTo>
                  <a:lnTo>
                    <a:pt x="695960" y="1895855"/>
                  </a:lnTo>
                  <a:lnTo>
                    <a:pt x="648462" y="1837816"/>
                  </a:lnTo>
                  <a:lnTo>
                    <a:pt x="614426" y="1795271"/>
                  </a:lnTo>
                  <a:lnTo>
                    <a:pt x="558673" y="1723897"/>
                  </a:lnTo>
                  <a:lnTo>
                    <a:pt x="506475" y="1655698"/>
                  </a:lnTo>
                  <a:lnTo>
                    <a:pt x="494284" y="1640712"/>
                  </a:lnTo>
                  <a:lnTo>
                    <a:pt x="481711" y="1625472"/>
                  </a:lnTo>
                  <a:lnTo>
                    <a:pt x="468503" y="1610105"/>
                  </a:lnTo>
                  <a:lnTo>
                    <a:pt x="440944" y="1578609"/>
                  </a:lnTo>
                  <a:lnTo>
                    <a:pt x="350520" y="1478661"/>
                  </a:lnTo>
                  <a:lnTo>
                    <a:pt x="319405" y="1443608"/>
                  </a:lnTo>
                  <a:lnTo>
                    <a:pt x="288671" y="1408049"/>
                  </a:lnTo>
                  <a:lnTo>
                    <a:pt x="258445" y="1371600"/>
                  </a:lnTo>
                  <a:lnTo>
                    <a:pt x="229362" y="1334642"/>
                  </a:lnTo>
                  <a:lnTo>
                    <a:pt x="201930" y="1297177"/>
                  </a:lnTo>
                  <a:lnTo>
                    <a:pt x="176657" y="1259458"/>
                  </a:lnTo>
                  <a:lnTo>
                    <a:pt x="153416" y="1220977"/>
                  </a:lnTo>
                  <a:lnTo>
                    <a:pt x="133223" y="1182369"/>
                  </a:lnTo>
                  <a:lnTo>
                    <a:pt x="116205" y="1143507"/>
                  </a:lnTo>
                  <a:lnTo>
                    <a:pt x="102743" y="1104518"/>
                  </a:lnTo>
                  <a:lnTo>
                    <a:pt x="91694" y="1063497"/>
                  </a:lnTo>
                  <a:lnTo>
                    <a:pt x="81915" y="1019301"/>
                  </a:lnTo>
                  <a:lnTo>
                    <a:pt x="73660" y="972819"/>
                  </a:lnTo>
                  <a:lnTo>
                    <a:pt x="67056" y="924813"/>
                  </a:lnTo>
                  <a:lnTo>
                    <a:pt x="61975" y="875411"/>
                  </a:lnTo>
                  <a:lnTo>
                    <a:pt x="58674" y="825245"/>
                  </a:lnTo>
                  <a:lnTo>
                    <a:pt x="57081" y="776604"/>
                  </a:lnTo>
                  <a:lnTo>
                    <a:pt x="57023" y="774826"/>
                  </a:lnTo>
                  <a:lnTo>
                    <a:pt x="57276" y="724153"/>
                  </a:lnTo>
                  <a:lnTo>
                    <a:pt x="59309" y="673988"/>
                  </a:lnTo>
                  <a:lnTo>
                    <a:pt x="63119" y="624966"/>
                  </a:lnTo>
                  <a:lnTo>
                    <a:pt x="68834" y="577088"/>
                  </a:lnTo>
                  <a:lnTo>
                    <a:pt x="76581" y="530987"/>
                  </a:lnTo>
                  <a:lnTo>
                    <a:pt x="86233" y="487679"/>
                  </a:lnTo>
                  <a:lnTo>
                    <a:pt x="97790" y="446658"/>
                  </a:lnTo>
                  <a:lnTo>
                    <a:pt x="111283" y="409066"/>
                  </a:lnTo>
                  <a:lnTo>
                    <a:pt x="135636" y="359155"/>
                  </a:lnTo>
                  <a:lnTo>
                    <a:pt x="171958" y="313436"/>
                  </a:lnTo>
                  <a:lnTo>
                    <a:pt x="204216" y="282447"/>
                  </a:lnTo>
                  <a:lnTo>
                    <a:pt x="241426" y="251840"/>
                  </a:lnTo>
                  <a:lnTo>
                    <a:pt x="282575" y="222122"/>
                  </a:lnTo>
                  <a:lnTo>
                    <a:pt x="326136" y="193801"/>
                  </a:lnTo>
                  <a:lnTo>
                    <a:pt x="371348" y="166750"/>
                  </a:lnTo>
                  <a:lnTo>
                    <a:pt x="416560" y="141731"/>
                  </a:lnTo>
                  <a:lnTo>
                    <a:pt x="460756" y="118744"/>
                  </a:lnTo>
                  <a:lnTo>
                    <a:pt x="489534" y="104652"/>
                  </a:lnTo>
                  <a:lnTo>
                    <a:pt x="466446" y="52471"/>
                  </a:lnTo>
                  <a:close/>
                </a:path>
                <a:path w="783589" h="2037714">
                  <a:moveTo>
                    <a:pt x="608383" y="40766"/>
                  </a:moveTo>
                  <a:lnTo>
                    <a:pt x="492251" y="40766"/>
                  </a:lnTo>
                  <a:lnTo>
                    <a:pt x="515747" y="92837"/>
                  </a:lnTo>
                  <a:lnTo>
                    <a:pt x="489534" y="104652"/>
                  </a:lnTo>
                  <a:lnTo>
                    <a:pt x="512572" y="156717"/>
                  </a:lnTo>
                  <a:lnTo>
                    <a:pt x="608383" y="40766"/>
                  </a:lnTo>
                  <a:close/>
                </a:path>
                <a:path w="783589" h="2037714">
                  <a:moveTo>
                    <a:pt x="492251" y="40766"/>
                  </a:moveTo>
                  <a:lnTo>
                    <a:pt x="466446" y="52471"/>
                  </a:lnTo>
                  <a:lnTo>
                    <a:pt x="489534" y="104652"/>
                  </a:lnTo>
                  <a:lnTo>
                    <a:pt x="515747" y="92837"/>
                  </a:lnTo>
                  <a:lnTo>
                    <a:pt x="492251" y="40766"/>
                  </a:lnTo>
                  <a:close/>
                </a:path>
                <a:path w="783589" h="2037714">
                  <a:moveTo>
                    <a:pt x="443230" y="0"/>
                  </a:moveTo>
                  <a:lnTo>
                    <a:pt x="466446" y="52471"/>
                  </a:lnTo>
                  <a:lnTo>
                    <a:pt x="492251" y="40766"/>
                  </a:lnTo>
                  <a:lnTo>
                    <a:pt x="608383" y="40766"/>
                  </a:lnTo>
                  <a:lnTo>
                    <a:pt x="634619" y="9016"/>
                  </a:lnTo>
                  <a:lnTo>
                    <a:pt x="443230" y="0"/>
                  </a:lnTo>
                  <a:close/>
                </a:path>
              </a:pathLst>
            </a:custGeom>
            <a:solidFill>
              <a:srgbClr val="000090"/>
            </a:solidFill>
          </p:spPr>
          <p:txBody>
            <a:bodyPr wrap="square" lIns="0" tIns="0" rIns="0" bIns="0" rtlCol="0"/>
            <a:lstStyle/>
            <a:p>
              <a:endParaRPr/>
            </a:p>
          </p:txBody>
        </p:sp>
        <p:sp>
          <p:nvSpPr>
            <p:cNvPr id="35" name="object 35"/>
            <p:cNvSpPr/>
            <p:nvPr/>
          </p:nvSpPr>
          <p:spPr>
            <a:xfrm>
              <a:off x="5600700" y="3381375"/>
              <a:ext cx="2667000" cy="2838450"/>
            </a:xfrm>
            <a:custGeom>
              <a:avLst/>
              <a:gdLst/>
              <a:ahLst/>
              <a:cxnLst/>
              <a:rect l="l" t="t" r="r" b="b"/>
              <a:pathLst>
                <a:path w="2667000" h="2838450">
                  <a:moveTo>
                    <a:pt x="0" y="2838450"/>
                  </a:moveTo>
                  <a:lnTo>
                    <a:pt x="2667000" y="2838450"/>
                  </a:lnTo>
                  <a:lnTo>
                    <a:pt x="2667000" y="0"/>
                  </a:lnTo>
                  <a:lnTo>
                    <a:pt x="0" y="0"/>
                  </a:lnTo>
                  <a:lnTo>
                    <a:pt x="0" y="2838450"/>
                  </a:lnTo>
                  <a:close/>
                </a:path>
              </a:pathLst>
            </a:custGeom>
            <a:ln w="57150">
              <a:solidFill>
                <a:srgbClr val="000000"/>
              </a:solidFill>
            </a:ln>
          </p:spPr>
          <p:txBody>
            <a:bodyPr wrap="square" lIns="0" tIns="0" rIns="0" bIns="0" rtlCol="0"/>
            <a:lstStyle/>
            <a:p>
              <a:endParaRPr/>
            </a:p>
          </p:txBody>
        </p:sp>
        <p:pic>
          <p:nvPicPr>
            <p:cNvPr id="36" name="object 36"/>
            <p:cNvPicPr/>
            <p:nvPr/>
          </p:nvPicPr>
          <p:blipFill>
            <a:blip r:embed="rId5" cstate="print"/>
            <a:stretch>
              <a:fillRect/>
            </a:stretch>
          </p:blipFill>
          <p:spPr>
            <a:xfrm>
              <a:off x="8448675" y="1000061"/>
              <a:ext cx="433387" cy="5138801"/>
            </a:xfrm>
            <a:prstGeom prst="rect">
              <a:avLst/>
            </a:prstGeom>
          </p:spPr>
        </p:pic>
        <p:sp>
          <p:nvSpPr>
            <p:cNvPr id="37" name="object 37"/>
            <p:cNvSpPr/>
            <p:nvPr/>
          </p:nvSpPr>
          <p:spPr>
            <a:xfrm>
              <a:off x="8582171" y="1190498"/>
              <a:ext cx="171450" cy="4877435"/>
            </a:xfrm>
            <a:custGeom>
              <a:avLst/>
              <a:gdLst/>
              <a:ahLst/>
              <a:cxnLst/>
              <a:rect l="l" t="t" r="r" b="b"/>
              <a:pathLst>
                <a:path w="171450" h="4877435">
                  <a:moveTo>
                    <a:pt x="85578" y="75800"/>
                  </a:moveTo>
                  <a:lnTo>
                    <a:pt x="66528" y="108457"/>
                  </a:lnTo>
                  <a:lnTo>
                    <a:pt x="66528" y="4876927"/>
                  </a:lnTo>
                  <a:lnTo>
                    <a:pt x="104628" y="4876927"/>
                  </a:lnTo>
                  <a:lnTo>
                    <a:pt x="104628" y="108457"/>
                  </a:lnTo>
                  <a:lnTo>
                    <a:pt x="85578" y="75800"/>
                  </a:lnTo>
                  <a:close/>
                </a:path>
                <a:path w="171450" h="4877435">
                  <a:moveTo>
                    <a:pt x="85578" y="0"/>
                  </a:moveTo>
                  <a:lnTo>
                    <a:pt x="2393" y="142493"/>
                  </a:lnTo>
                  <a:lnTo>
                    <a:pt x="0" y="149689"/>
                  </a:lnTo>
                  <a:lnTo>
                    <a:pt x="488" y="157003"/>
                  </a:lnTo>
                  <a:lnTo>
                    <a:pt x="3643" y="163603"/>
                  </a:lnTo>
                  <a:lnTo>
                    <a:pt x="9251" y="168655"/>
                  </a:lnTo>
                  <a:lnTo>
                    <a:pt x="16446" y="171049"/>
                  </a:lnTo>
                  <a:lnTo>
                    <a:pt x="23760" y="170561"/>
                  </a:lnTo>
                  <a:lnTo>
                    <a:pt x="30360" y="167405"/>
                  </a:lnTo>
                  <a:lnTo>
                    <a:pt x="35413" y="161798"/>
                  </a:lnTo>
                  <a:lnTo>
                    <a:pt x="66528" y="108457"/>
                  </a:lnTo>
                  <a:lnTo>
                    <a:pt x="66528" y="37846"/>
                  </a:lnTo>
                  <a:lnTo>
                    <a:pt x="107671" y="37846"/>
                  </a:lnTo>
                  <a:lnTo>
                    <a:pt x="85578" y="0"/>
                  </a:lnTo>
                  <a:close/>
                </a:path>
                <a:path w="171450" h="4877435">
                  <a:moveTo>
                    <a:pt x="107671" y="37846"/>
                  </a:moveTo>
                  <a:lnTo>
                    <a:pt x="104628" y="37846"/>
                  </a:lnTo>
                  <a:lnTo>
                    <a:pt x="104628" y="108457"/>
                  </a:lnTo>
                  <a:lnTo>
                    <a:pt x="135743" y="161798"/>
                  </a:lnTo>
                  <a:lnTo>
                    <a:pt x="140795" y="167405"/>
                  </a:lnTo>
                  <a:lnTo>
                    <a:pt x="147395" y="170561"/>
                  </a:lnTo>
                  <a:lnTo>
                    <a:pt x="154709" y="171049"/>
                  </a:lnTo>
                  <a:lnTo>
                    <a:pt x="161905" y="168655"/>
                  </a:lnTo>
                  <a:lnTo>
                    <a:pt x="167513" y="163603"/>
                  </a:lnTo>
                  <a:lnTo>
                    <a:pt x="170668" y="157003"/>
                  </a:lnTo>
                  <a:lnTo>
                    <a:pt x="171156" y="149689"/>
                  </a:lnTo>
                  <a:lnTo>
                    <a:pt x="168763" y="142493"/>
                  </a:lnTo>
                  <a:lnTo>
                    <a:pt x="107671" y="37846"/>
                  </a:lnTo>
                  <a:close/>
                </a:path>
                <a:path w="171450" h="4877435">
                  <a:moveTo>
                    <a:pt x="104628" y="37846"/>
                  </a:moveTo>
                  <a:lnTo>
                    <a:pt x="66528" y="37846"/>
                  </a:lnTo>
                  <a:lnTo>
                    <a:pt x="66528" y="108457"/>
                  </a:lnTo>
                  <a:lnTo>
                    <a:pt x="85578" y="75800"/>
                  </a:lnTo>
                  <a:lnTo>
                    <a:pt x="69068" y="47498"/>
                  </a:lnTo>
                  <a:lnTo>
                    <a:pt x="104628" y="47498"/>
                  </a:lnTo>
                  <a:lnTo>
                    <a:pt x="104628" y="37846"/>
                  </a:lnTo>
                  <a:close/>
                </a:path>
                <a:path w="171450" h="4877435">
                  <a:moveTo>
                    <a:pt x="104628" y="47498"/>
                  </a:moveTo>
                  <a:lnTo>
                    <a:pt x="102088" y="47498"/>
                  </a:lnTo>
                  <a:lnTo>
                    <a:pt x="85578" y="75800"/>
                  </a:lnTo>
                  <a:lnTo>
                    <a:pt x="104628" y="108457"/>
                  </a:lnTo>
                  <a:lnTo>
                    <a:pt x="104628" y="47498"/>
                  </a:lnTo>
                  <a:close/>
                </a:path>
                <a:path w="171450" h="4877435">
                  <a:moveTo>
                    <a:pt x="102088" y="47498"/>
                  </a:moveTo>
                  <a:lnTo>
                    <a:pt x="69068" y="47498"/>
                  </a:lnTo>
                  <a:lnTo>
                    <a:pt x="85578" y="75800"/>
                  </a:lnTo>
                  <a:lnTo>
                    <a:pt x="102088" y="47498"/>
                  </a:lnTo>
                  <a:close/>
                </a:path>
              </a:pathLst>
            </a:custGeom>
            <a:solidFill>
              <a:srgbClr val="0000FF"/>
            </a:solidFill>
          </p:spPr>
          <p:txBody>
            <a:bodyPr wrap="square" lIns="0" tIns="0" rIns="0" bIns="0" rtlCol="0"/>
            <a:lstStyle/>
            <a:p>
              <a:endParaRPr/>
            </a:p>
          </p:txBody>
        </p:sp>
      </p:grpSp>
      <p:sp>
        <p:nvSpPr>
          <p:cNvPr id="38" name="object 38"/>
          <p:cNvSpPr txBox="1"/>
          <p:nvPr/>
        </p:nvSpPr>
        <p:spPr>
          <a:xfrm>
            <a:off x="8462391" y="5981700"/>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39" name="object 39"/>
          <p:cNvSpPr txBox="1"/>
          <p:nvPr/>
        </p:nvSpPr>
        <p:spPr>
          <a:xfrm>
            <a:off x="8462391" y="793178"/>
            <a:ext cx="373380"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pic>
        <p:nvPicPr>
          <p:cNvPr id="40" name="object 40"/>
          <p:cNvPicPr/>
          <p:nvPr/>
        </p:nvPicPr>
        <p:blipFill>
          <a:blip r:embed="rId6" cstate="print"/>
          <a:stretch>
            <a:fillRect/>
          </a:stretch>
        </p:blipFill>
        <p:spPr>
          <a:xfrm>
            <a:off x="457200" y="6248400"/>
            <a:ext cx="476250" cy="381000"/>
          </a:xfrm>
          <a:prstGeom prst="rect">
            <a:avLst/>
          </a:prstGeom>
        </p:spPr>
      </p:pic>
      <p:sp>
        <p:nvSpPr>
          <p:cNvPr id="41" name="object 41"/>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970" rIns="0" bIns="0" rtlCol="0">
            <a:spAutoFit/>
          </a:bodyPr>
          <a:lstStyle/>
          <a:p>
            <a:pPr marL="88900">
              <a:lnSpc>
                <a:spcPct val="100000"/>
              </a:lnSpc>
              <a:spcBef>
                <a:spcPts val="105"/>
              </a:spcBef>
            </a:pPr>
            <a:r>
              <a:rPr dirty="0"/>
              <a:t>The</a:t>
            </a:r>
            <a:r>
              <a:rPr spc="10" dirty="0"/>
              <a:t> </a:t>
            </a:r>
            <a:r>
              <a:rPr dirty="0"/>
              <a:t>NOP</a:t>
            </a:r>
            <a:r>
              <a:rPr spc="-155" dirty="0"/>
              <a:t> </a:t>
            </a:r>
            <a:r>
              <a:rPr spc="-10" dirty="0"/>
              <a:t>slide</a:t>
            </a:r>
          </a:p>
        </p:txBody>
      </p:sp>
      <p:sp>
        <p:nvSpPr>
          <p:cNvPr id="3" name="object 3"/>
          <p:cNvSpPr txBox="1"/>
          <p:nvPr/>
        </p:nvSpPr>
        <p:spPr>
          <a:xfrm>
            <a:off x="383857" y="1282636"/>
            <a:ext cx="114046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Problem:</a:t>
            </a:r>
            <a:endParaRPr sz="2400">
              <a:latin typeface="Times New Roman"/>
              <a:cs typeface="Times New Roman"/>
            </a:endParaRPr>
          </a:p>
        </p:txBody>
      </p:sp>
      <p:sp>
        <p:nvSpPr>
          <p:cNvPr id="4" name="object 4"/>
          <p:cNvSpPr txBox="1"/>
          <p:nvPr/>
        </p:nvSpPr>
        <p:spPr>
          <a:xfrm>
            <a:off x="1728307" y="1282636"/>
            <a:ext cx="2821940" cy="725805"/>
          </a:xfrm>
          <a:prstGeom prst="rect">
            <a:avLst/>
          </a:prstGeom>
        </p:spPr>
        <p:txBody>
          <a:bodyPr vert="horz" wrap="square" lIns="0" tIns="12700" rIns="0" bIns="0" rtlCol="0">
            <a:spAutoFit/>
          </a:bodyPr>
          <a:lstStyle/>
          <a:p>
            <a:pPr marL="12700">
              <a:lnSpc>
                <a:spcPts val="2755"/>
              </a:lnSpc>
              <a:spcBef>
                <a:spcPts val="100"/>
              </a:spcBef>
            </a:pPr>
            <a:r>
              <a:rPr sz="2400" dirty="0">
                <a:latin typeface="Times New Roman"/>
                <a:cs typeface="Times New Roman"/>
              </a:rPr>
              <a:t>how</a:t>
            </a:r>
            <a:r>
              <a:rPr sz="2400" spc="10" dirty="0">
                <a:latin typeface="Times New Roman"/>
                <a:cs typeface="Times New Roman"/>
              </a:rPr>
              <a:t> </a:t>
            </a:r>
            <a:r>
              <a:rPr sz="2400" dirty="0">
                <a:latin typeface="Times New Roman"/>
                <a:cs typeface="Times New Roman"/>
              </a:rPr>
              <a:t>does</a:t>
            </a:r>
            <a:r>
              <a:rPr sz="2400" spc="-20" dirty="0">
                <a:latin typeface="Times New Roman"/>
                <a:cs typeface="Times New Roman"/>
              </a:rPr>
              <a:t> </a:t>
            </a:r>
            <a:r>
              <a:rPr sz="2400" spc="-10" dirty="0">
                <a:latin typeface="Times New Roman"/>
                <a:cs typeface="Times New Roman"/>
              </a:rPr>
              <a:t>attacker</a:t>
            </a:r>
            <a:endParaRPr sz="2400">
              <a:latin typeface="Times New Roman"/>
              <a:cs typeface="Times New Roman"/>
            </a:endParaRPr>
          </a:p>
          <a:p>
            <a:pPr marL="41275">
              <a:lnSpc>
                <a:spcPts val="2755"/>
              </a:lnSpc>
            </a:pPr>
            <a:r>
              <a:rPr sz="2400" dirty="0">
                <a:latin typeface="Times New Roman"/>
                <a:cs typeface="Times New Roman"/>
              </a:rPr>
              <a:t>determine</a:t>
            </a:r>
            <a:r>
              <a:rPr sz="2400" spc="-20" dirty="0">
                <a:latin typeface="Times New Roman"/>
                <a:cs typeface="Times New Roman"/>
              </a:rPr>
              <a:t> </a:t>
            </a:r>
            <a:r>
              <a:rPr sz="2400" spc="-10" dirty="0">
                <a:latin typeface="Times New Roman"/>
                <a:cs typeface="Times New Roman"/>
              </a:rPr>
              <a:t>ret-address?</a:t>
            </a:r>
            <a:endParaRPr sz="2400">
              <a:latin typeface="Times New Roman"/>
              <a:cs typeface="Times New Roman"/>
            </a:endParaRPr>
          </a:p>
        </p:txBody>
      </p:sp>
      <p:sp>
        <p:nvSpPr>
          <p:cNvPr id="5" name="object 5"/>
          <p:cNvSpPr txBox="1"/>
          <p:nvPr/>
        </p:nvSpPr>
        <p:spPr>
          <a:xfrm>
            <a:off x="383857" y="2307346"/>
            <a:ext cx="4091304" cy="1617980"/>
          </a:xfrm>
          <a:prstGeom prst="rect">
            <a:avLst/>
          </a:prstGeom>
        </p:spPr>
        <p:txBody>
          <a:bodyPr vert="horz" wrap="square" lIns="0" tIns="132715" rIns="0" bIns="0" rtlCol="0">
            <a:spAutoFit/>
          </a:bodyPr>
          <a:lstStyle/>
          <a:p>
            <a:pPr marL="12700">
              <a:lnSpc>
                <a:spcPct val="100000"/>
              </a:lnSpc>
              <a:spcBef>
                <a:spcPts val="1045"/>
              </a:spcBef>
              <a:tabLst>
                <a:tab pos="1357630" algn="l"/>
              </a:tabLst>
            </a:pPr>
            <a:r>
              <a:rPr sz="2400" spc="-10" dirty="0">
                <a:latin typeface="Times New Roman"/>
                <a:cs typeface="Times New Roman"/>
              </a:rPr>
              <a:t>Solution:</a:t>
            </a:r>
            <a:r>
              <a:rPr sz="2400" dirty="0">
                <a:latin typeface="Times New Roman"/>
                <a:cs typeface="Times New Roman"/>
              </a:rPr>
              <a:t>	NOP</a:t>
            </a:r>
            <a:r>
              <a:rPr sz="2400" spc="-130" dirty="0">
                <a:latin typeface="Times New Roman"/>
                <a:cs typeface="Times New Roman"/>
              </a:rPr>
              <a:t> </a:t>
            </a:r>
            <a:r>
              <a:rPr sz="2400" spc="-20" dirty="0">
                <a:latin typeface="Times New Roman"/>
                <a:cs typeface="Times New Roman"/>
              </a:rPr>
              <a:t>slide</a:t>
            </a:r>
            <a:endParaRPr sz="2400">
              <a:latin typeface="Times New Roman"/>
              <a:cs typeface="Times New Roman"/>
            </a:endParaRPr>
          </a:p>
          <a:p>
            <a:pPr marL="287020" marR="724535" indent="-274955">
              <a:lnSpc>
                <a:spcPts val="2180"/>
              </a:lnSpc>
              <a:spcBef>
                <a:spcPts val="1080"/>
              </a:spcBef>
              <a:buClr>
                <a:srgbClr val="D24717"/>
              </a:buClr>
              <a:buSzPct val="85000"/>
              <a:buFont typeface="Segoe UI Symbol"/>
              <a:buChar char="⚫"/>
              <a:tabLst>
                <a:tab pos="287020" algn="l"/>
              </a:tabLst>
            </a:pPr>
            <a:r>
              <a:rPr sz="2000" dirty="0">
                <a:latin typeface="Times New Roman"/>
                <a:cs typeface="Times New Roman"/>
              </a:rPr>
              <a:t>Guess</a:t>
            </a:r>
            <a:r>
              <a:rPr sz="2000" spc="-50" dirty="0">
                <a:latin typeface="Times New Roman"/>
                <a:cs typeface="Times New Roman"/>
              </a:rPr>
              <a:t> </a:t>
            </a:r>
            <a:r>
              <a:rPr sz="2000" dirty="0">
                <a:latin typeface="Times New Roman"/>
                <a:cs typeface="Times New Roman"/>
              </a:rPr>
              <a:t>approximate</a:t>
            </a:r>
            <a:r>
              <a:rPr sz="2000" spc="-10" dirty="0">
                <a:latin typeface="Times New Roman"/>
                <a:cs typeface="Times New Roman"/>
              </a:rPr>
              <a:t> </a:t>
            </a:r>
            <a:r>
              <a:rPr sz="2000" dirty="0">
                <a:latin typeface="Times New Roman"/>
                <a:cs typeface="Times New Roman"/>
              </a:rPr>
              <a:t>stack</a:t>
            </a:r>
            <a:r>
              <a:rPr sz="2000" spc="-40" dirty="0">
                <a:latin typeface="Times New Roman"/>
                <a:cs typeface="Times New Roman"/>
              </a:rPr>
              <a:t> </a:t>
            </a:r>
            <a:r>
              <a:rPr sz="2000" spc="-20" dirty="0">
                <a:latin typeface="Times New Roman"/>
                <a:cs typeface="Times New Roman"/>
              </a:rPr>
              <a:t>state </a:t>
            </a:r>
            <a:r>
              <a:rPr sz="2000" dirty="0">
                <a:latin typeface="Times New Roman"/>
                <a:cs typeface="Times New Roman"/>
              </a:rPr>
              <a:t>when</a:t>
            </a:r>
            <a:r>
              <a:rPr sz="2000" spc="-55" dirty="0">
                <a:latin typeface="Times New Roman"/>
                <a:cs typeface="Times New Roman"/>
              </a:rPr>
              <a:t> </a:t>
            </a:r>
            <a:r>
              <a:rPr sz="2000" dirty="0">
                <a:solidFill>
                  <a:srgbClr val="696363"/>
                </a:solidFill>
                <a:latin typeface="Times New Roman"/>
                <a:cs typeface="Times New Roman"/>
              </a:rPr>
              <a:t>func()</a:t>
            </a:r>
            <a:r>
              <a:rPr sz="2000" spc="-35" dirty="0">
                <a:solidFill>
                  <a:srgbClr val="696363"/>
                </a:solidFill>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spc="-10" dirty="0">
                <a:latin typeface="Times New Roman"/>
                <a:cs typeface="Times New Roman"/>
              </a:rPr>
              <a:t>called</a:t>
            </a:r>
            <a:endParaRPr sz="2000">
              <a:latin typeface="Times New Roman"/>
              <a:cs typeface="Times New Roman"/>
            </a:endParaRPr>
          </a:p>
          <a:p>
            <a:pPr marL="287020" indent="-274320">
              <a:lnSpc>
                <a:spcPct val="100000"/>
              </a:lnSpc>
              <a:spcBef>
                <a:spcPts val="865"/>
              </a:spcBef>
              <a:buClr>
                <a:srgbClr val="D24717"/>
              </a:buClr>
              <a:buSzPct val="85000"/>
              <a:buFont typeface="Segoe UI Symbol"/>
              <a:buChar char="⚫"/>
              <a:tabLst>
                <a:tab pos="287020" algn="l"/>
              </a:tabLst>
            </a:pPr>
            <a:r>
              <a:rPr sz="2000" dirty="0">
                <a:latin typeface="Times New Roman"/>
                <a:cs typeface="Times New Roman"/>
              </a:rPr>
              <a:t>Insert</a:t>
            </a:r>
            <a:r>
              <a:rPr sz="2000" spc="-25" dirty="0">
                <a:latin typeface="Times New Roman"/>
                <a:cs typeface="Times New Roman"/>
              </a:rPr>
              <a:t> </a:t>
            </a:r>
            <a:r>
              <a:rPr sz="2000" dirty="0">
                <a:latin typeface="Times New Roman"/>
                <a:cs typeface="Times New Roman"/>
              </a:rPr>
              <a:t>many</a:t>
            </a:r>
            <a:r>
              <a:rPr sz="2000" spc="-15" dirty="0">
                <a:latin typeface="Times New Roman"/>
                <a:cs typeface="Times New Roman"/>
              </a:rPr>
              <a:t> </a:t>
            </a:r>
            <a:r>
              <a:rPr sz="2000" dirty="0">
                <a:latin typeface="Times New Roman"/>
                <a:cs typeface="Times New Roman"/>
              </a:rPr>
              <a:t>NOPs</a:t>
            </a:r>
            <a:r>
              <a:rPr sz="2000" spc="-15" dirty="0">
                <a:latin typeface="Times New Roman"/>
                <a:cs typeface="Times New Roman"/>
              </a:rPr>
              <a:t> </a:t>
            </a:r>
            <a:r>
              <a:rPr sz="2000" dirty="0">
                <a:latin typeface="Times New Roman"/>
                <a:cs typeface="Times New Roman"/>
              </a:rPr>
              <a:t>before</a:t>
            </a:r>
            <a:r>
              <a:rPr sz="2000" spc="-50" dirty="0">
                <a:latin typeface="Times New Roman"/>
                <a:cs typeface="Times New Roman"/>
              </a:rPr>
              <a:t> </a:t>
            </a:r>
            <a:r>
              <a:rPr sz="2000" dirty="0">
                <a:latin typeface="Times New Roman"/>
                <a:cs typeface="Times New Roman"/>
              </a:rPr>
              <a:t>program</a:t>
            </a:r>
            <a:r>
              <a:rPr sz="2000" spc="-55" dirty="0">
                <a:latin typeface="Times New Roman"/>
                <a:cs typeface="Times New Roman"/>
              </a:rPr>
              <a:t> </a:t>
            </a:r>
            <a:r>
              <a:rPr sz="2000" spc="-25" dirty="0">
                <a:latin typeface="Times New Roman"/>
                <a:cs typeface="Times New Roman"/>
              </a:rPr>
              <a:t>P:</a:t>
            </a:r>
            <a:endParaRPr sz="2000">
              <a:latin typeface="Times New Roman"/>
              <a:cs typeface="Times New Roman"/>
            </a:endParaRPr>
          </a:p>
        </p:txBody>
      </p:sp>
      <p:sp>
        <p:nvSpPr>
          <p:cNvPr id="6" name="object 6"/>
          <p:cNvSpPr txBox="1"/>
          <p:nvPr/>
        </p:nvSpPr>
        <p:spPr>
          <a:xfrm>
            <a:off x="383857" y="3909123"/>
            <a:ext cx="4798060" cy="1694814"/>
          </a:xfrm>
          <a:prstGeom prst="rect">
            <a:avLst/>
          </a:prstGeom>
        </p:spPr>
        <p:txBody>
          <a:bodyPr vert="horz" wrap="square" lIns="0" tIns="50800" rIns="0" bIns="0" rtlCol="0">
            <a:spAutoFit/>
          </a:bodyPr>
          <a:lstStyle/>
          <a:p>
            <a:pPr marL="927735">
              <a:lnSpc>
                <a:spcPct val="100000"/>
              </a:lnSpc>
              <a:spcBef>
                <a:spcPts val="400"/>
              </a:spcBef>
              <a:tabLst>
                <a:tab pos="1499870" algn="l"/>
                <a:tab pos="1818005" algn="l"/>
                <a:tab pos="3307079" algn="l"/>
                <a:tab pos="3624579" algn="l"/>
              </a:tabLst>
            </a:pPr>
            <a:r>
              <a:rPr sz="2000" spc="-25" dirty="0">
                <a:latin typeface="Times New Roman"/>
                <a:cs typeface="Times New Roman"/>
              </a:rPr>
              <a:t>nop</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xor</a:t>
            </a:r>
            <a:r>
              <a:rPr sz="2000" spc="-20" dirty="0">
                <a:latin typeface="Times New Roman"/>
                <a:cs typeface="Times New Roman"/>
              </a:rPr>
              <a:t> </a:t>
            </a:r>
            <a:r>
              <a:rPr sz="2000" spc="-10" dirty="0">
                <a:latin typeface="Times New Roman"/>
                <a:cs typeface="Times New Roman"/>
              </a:rPr>
              <a:t>eax,eax</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inc</a:t>
            </a:r>
            <a:r>
              <a:rPr sz="2000" spc="-20" dirty="0">
                <a:latin typeface="Times New Roman"/>
                <a:cs typeface="Times New Roman"/>
              </a:rPr>
              <a:t> </a:t>
            </a:r>
            <a:r>
              <a:rPr sz="2000" spc="-25" dirty="0">
                <a:latin typeface="Times New Roman"/>
                <a:cs typeface="Times New Roman"/>
              </a:rPr>
              <a:t>ax</a:t>
            </a:r>
            <a:endParaRPr sz="2000">
              <a:latin typeface="Times New Roman"/>
              <a:cs typeface="Times New Roman"/>
            </a:endParaRPr>
          </a:p>
          <a:p>
            <a:pPr marL="287020" indent="-274320">
              <a:lnSpc>
                <a:spcPct val="100000"/>
              </a:lnSpc>
              <a:spcBef>
                <a:spcPts val="305"/>
              </a:spcBef>
              <a:buClr>
                <a:srgbClr val="D24717"/>
              </a:buClr>
              <a:buSzPct val="85000"/>
              <a:buFont typeface="Segoe UI Symbol"/>
              <a:buChar char="⚫"/>
              <a:tabLst>
                <a:tab pos="287020" algn="l"/>
              </a:tabLst>
            </a:pPr>
            <a:r>
              <a:rPr sz="2000" dirty="0">
                <a:latin typeface="Times New Roman"/>
                <a:cs typeface="Times New Roman"/>
              </a:rPr>
              <a:t>nop:</a:t>
            </a:r>
            <a:r>
              <a:rPr sz="2000" spc="-40" dirty="0">
                <a:latin typeface="Times New Roman"/>
                <a:cs typeface="Times New Roman"/>
              </a:rPr>
              <a:t> </a:t>
            </a:r>
            <a:r>
              <a:rPr sz="2000" dirty="0">
                <a:latin typeface="Times New Roman"/>
                <a:cs typeface="Times New Roman"/>
              </a:rPr>
              <a:t>Basic </a:t>
            </a:r>
            <a:r>
              <a:rPr sz="2000" spc="-20" dirty="0">
                <a:latin typeface="Times New Roman"/>
                <a:cs typeface="Times New Roman"/>
              </a:rPr>
              <a:t>no-</a:t>
            </a:r>
            <a:r>
              <a:rPr sz="2000" dirty="0">
                <a:latin typeface="Times New Roman"/>
                <a:cs typeface="Times New Roman"/>
              </a:rPr>
              <a:t>operation</a:t>
            </a:r>
            <a:r>
              <a:rPr sz="2000" spc="-45" dirty="0">
                <a:latin typeface="Times New Roman"/>
                <a:cs typeface="Times New Roman"/>
              </a:rPr>
              <a:t> </a:t>
            </a:r>
            <a:r>
              <a:rPr sz="2000" spc="-10" dirty="0">
                <a:latin typeface="Times New Roman"/>
                <a:cs typeface="Times New Roman"/>
              </a:rPr>
              <a:t>instruction.</a:t>
            </a:r>
            <a:endParaRPr sz="2000">
              <a:latin typeface="Times New Roman"/>
              <a:cs typeface="Times New Roman"/>
            </a:endParaRPr>
          </a:p>
          <a:p>
            <a:pPr marL="287020" marR="5080" indent="-274955">
              <a:lnSpc>
                <a:spcPts val="2180"/>
              </a:lnSpc>
              <a:spcBef>
                <a:spcPts val="630"/>
              </a:spcBef>
              <a:buClr>
                <a:srgbClr val="D24717"/>
              </a:buClr>
              <a:buSzPct val="85000"/>
              <a:buFont typeface="Segoe UI Symbol"/>
              <a:buChar char="⚫"/>
              <a:tabLst>
                <a:tab pos="287020" algn="l"/>
              </a:tabLst>
            </a:pPr>
            <a:r>
              <a:rPr sz="2000" dirty="0">
                <a:latin typeface="Times New Roman"/>
                <a:cs typeface="Times New Roman"/>
              </a:rPr>
              <a:t>xor</a:t>
            </a:r>
            <a:r>
              <a:rPr sz="2000" spc="-60" dirty="0">
                <a:latin typeface="Times New Roman"/>
                <a:cs typeface="Times New Roman"/>
              </a:rPr>
              <a:t> </a:t>
            </a:r>
            <a:r>
              <a:rPr sz="2000" dirty="0">
                <a:latin typeface="Times New Roman"/>
                <a:cs typeface="Times New Roman"/>
              </a:rPr>
              <a:t>eax,</a:t>
            </a:r>
            <a:r>
              <a:rPr sz="2000" spc="-25" dirty="0">
                <a:latin typeface="Times New Roman"/>
                <a:cs typeface="Times New Roman"/>
              </a:rPr>
              <a:t> </a:t>
            </a:r>
            <a:r>
              <a:rPr sz="2000" dirty="0">
                <a:latin typeface="Times New Roman"/>
                <a:cs typeface="Times New Roman"/>
              </a:rPr>
              <a:t>eax:</a:t>
            </a:r>
            <a:r>
              <a:rPr sz="2000" spc="-95" dirty="0">
                <a:latin typeface="Times New Roman"/>
                <a:cs typeface="Times New Roman"/>
              </a:rPr>
              <a:t> </a:t>
            </a:r>
            <a:r>
              <a:rPr sz="2000" dirty="0">
                <a:latin typeface="Times New Roman"/>
                <a:cs typeface="Times New Roman"/>
              </a:rPr>
              <a:t>A</a:t>
            </a:r>
            <a:r>
              <a:rPr sz="2000" spc="-165" dirty="0">
                <a:latin typeface="Times New Roman"/>
                <a:cs typeface="Times New Roman"/>
              </a:rPr>
              <a:t> </a:t>
            </a:r>
            <a:r>
              <a:rPr sz="2000" dirty="0">
                <a:latin typeface="Times New Roman"/>
                <a:cs typeface="Times New Roman"/>
              </a:rPr>
              <a:t>harmless</a:t>
            </a:r>
            <a:r>
              <a:rPr sz="2000" spc="-30" dirty="0">
                <a:latin typeface="Times New Roman"/>
                <a:cs typeface="Times New Roman"/>
              </a:rPr>
              <a:t> </a:t>
            </a:r>
            <a:r>
              <a:rPr sz="2000" dirty="0">
                <a:latin typeface="Times New Roman"/>
                <a:cs typeface="Times New Roman"/>
              </a:rPr>
              <a:t>operation</a:t>
            </a:r>
            <a:r>
              <a:rPr sz="2000" spc="-25" dirty="0">
                <a:latin typeface="Times New Roman"/>
                <a:cs typeface="Times New Roman"/>
              </a:rPr>
              <a:t> </a:t>
            </a:r>
            <a:r>
              <a:rPr sz="2000" dirty="0">
                <a:latin typeface="Times New Roman"/>
                <a:cs typeface="Times New Roman"/>
              </a:rPr>
              <a:t>that</a:t>
            </a:r>
            <a:r>
              <a:rPr sz="2000" spc="-25" dirty="0">
                <a:latin typeface="Times New Roman"/>
                <a:cs typeface="Times New Roman"/>
              </a:rPr>
              <a:t> </a:t>
            </a:r>
            <a:r>
              <a:rPr sz="2000" spc="-20" dirty="0">
                <a:latin typeface="Times New Roman"/>
                <a:cs typeface="Times New Roman"/>
              </a:rPr>
              <a:t>does </a:t>
            </a:r>
            <a:r>
              <a:rPr sz="2000" dirty="0">
                <a:latin typeface="Times New Roman"/>
                <a:cs typeface="Times New Roman"/>
              </a:rPr>
              <a:t>nothing</a:t>
            </a:r>
            <a:r>
              <a:rPr sz="2000" spc="-35" dirty="0">
                <a:latin typeface="Times New Roman"/>
                <a:cs typeface="Times New Roman"/>
              </a:rPr>
              <a:t> </a:t>
            </a:r>
            <a:r>
              <a:rPr sz="2000" dirty="0">
                <a:latin typeface="Times New Roman"/>
                <a:cs typeface="Times New Roman"/>
              </a:rPr>
              <a:t>significant</a:t>
            </a:r>
            <a:r>
              <a:rPr sz="2000" spc="-35" dirty="0">
                <a:latin typeface="Times New Roman"/>
                <a:cs typeface="Times New Roman"/>
              </a:rPr>
              <a:t> </a:t>
            </a:r>
            <a:r>
              <a:rPr sz="2000" dirty="0">
                <a:latin typeface="Times New Roman"/>
                <a:cs typeface="Times New Roman"/>
              </a:rPr>
              <a:t>but</a:t>
            </a:r>
            <a:r>
              <a:rPr sz="2000" spc="-35" dirty="0">
                <a:latin typeface="Times New Roman"/>
                <a:cs typeface="Times New Roman"/>
              </a:rPr>
              <a:t> </a:t>
            </a:r>
            <a:r>
              <a:rPr sz="2000" dirty="0">
                <a:latin typeface="Times New Roman"/>
                <a:cs typeface="Times New Roman"/>
              </a:rPr>
              <a:t>consumes</a:t>
            </a:r>
            <a:r>
              <a:rPr sz="2000" spc="-30" dirty="0">
                <a:latin typeface="Times New Roman"/>
                <a:cs typeface="Times New Roman"/>
              </a:rPr>
              <a:t> </a:t>
            </a:r>
            <a:r>
              <a:rPr sz="2000" dirty="0">
                <a:latin typeface="Times New Roman"/>
                <a:cs typeface="Times New Roman"/>
              </a:rPr>
              <a:t>CPU</a:t>
            </a:r>
            <a:r>
              <a:rPr sz="2000" spc="-30" dirty="0">
                <a:latin typeface="Times New Roman"/>
                <a:cs typeface="Times New Roman"/>
              </a:rPr>
              <a:t> </a:t>
            </a:r>
            <a:r>
              <a:rPr sz="2000" spc="-10" dirty="0">
                <a:latin typeface="Times New Roman"/>
                <a:cs typeface="Times New Roman"/>
              </a:rPr>
              <a:t>time.</a:t>
            </a:r>
            <a:endParaRPr sz="2000">
              <a:latin typeface="Times New Roman"/>
              <a:cs typeface="Times New Roman"/>
            </a:endParaRPr>
          </a:p>
          <a:p>
            <a:pPr marL="287020" indent="-274320">
              <a:lnSpc>
                <a:spcPct val="100000"/>
              </a:lnSpc>
              <a:spcBef>
                <a:spcPts val="345"/>
              </a:spcBef>
              <a:buClr>
                <a:srgbClr val="D24717"/>
              </a:buClr>
              <a:buSzPct val="85000"/>
              <a:buFont typeface="Segoe UI Symbol"/>
              <a:buChar char="⚫"/>
              <a:tabLst>
                <a:tab pos="287020" algn="l"/>
              </a:tabLst>
            </a:pPr>
            <a:r>
              <a:rPr sz="2000" dirty="0">
                <a:latin typeface="Times New Roman"/>
                <a:cs typeface="Times New Roman"/>
              </a:rPr>
              <a:t>inc</a:t>
            </a:r>
            <a:r>
              <a:rPr sz="2000" spc="-55" dirty="0">
                <a:latin typeface="Times New Roman"/>
                <a:cs typeface="Times New Roman"/>
              </a:rPr>
              <a:t> </a:t>
            </a:r>
            <a:r>
              <a:rPr sz="2000" dirty="0">
                <a:latin typeface="Times New Roman"/>
                <a:cs typeface="Times New Roman"/>
              </a:rPr>
              <a:t>ax:</a:t>
            </a:r>
            <a:r>
              <a:rPr sz="2000" spc="-100" dirty="0">
                <a:latin typeface="Times New Roman"/>
                <a:cs typeface="Times New Roman"/>
              </a:rPr>
              <a:t> </a:t>
            </a:r>
            <a:r>
              <a:rPr sz="2000" dirty="0">
                <a:latin typeface="Times New Roman"/>
                <a:cs typeface="Times New Roman"/>
              </a:rPr>
              <a:t>A</a:t>
            </a:r>
            <a:r>
              <a:rPr sz="2000" spc="-160" dirty="0">
                <a:latin typeface="Times New Roman"/>
                <a:cs typeface="Times New Roman"/>
              </a:rPr>
              <a:t> </a:t>
            </a:r>
            <a:r>
              <a:rPr sz="2000" dirty="0">
                <a:latin typeface="Times New Roman"/>
                <a:cs typeface="Times New Roman"/>
              </a:rPr>
              <a:t>lightweight</a:t>
            </a:r>
            <a:r>
              <a:rPr sz="2000" spc="-25" dirty="0">
                <a:latin typeface="Times New Roman"/>
                <a:cs typeface="Times New Roman"/>
              </a:rPr>
              <a:t> </a:t>
            </a:r>
            <a:r>
              <a:rPr sz="2000" dirty="0">
                <a:latin typeface="Times New Roman"/>
                <a:cs typeface="Times New Roman"/>
              </a:rPr>
              <a:t>arithmetic</a:t>
            </a:r>
            <a:r>
              <a:rPr sz="2000" spc="-60" dirty="0">
                <a:latin typeface="Times New Roman"/>
                <a:cs typeface="Times New Roman"/>
              </a:rPr>
              <a:t> </a:t>
            </a:r>
            <a:r>
              <a:rPr sz="2000" spc="-10" dirty="0">
                <a:latin typeface="Times New Roman"/>
                <a:cs typeface="Times New Roman"/>
              </a:rPr>
              <a:t>instruction.</a:t>
            </a:r>
            <a:endParaRPr sz="2000">
              <a:latin typeface="Times New Roman"/>
              <a:cs typeface="Times New Roman"/>
            </a:endParaRPr>
          </a:p>
        </p:txBody>
      </p:sp>
      <p:grpSp>
        <p:nvGrpSpPr>
          <p:cNvPr id="7" name="object 7"/>
          <p:cNvGrpSpPr/>
          <p:nvPr/>
        </p:nvGrpSpPr>
        <p:grpSpPr>
          <a:xfrm>
            <a:off x="5524563" y="3352863"/>
            <a:ext cx="2695575" cy="2857500"/>
            <a:chOff x="5524563" y="3352863"/>
            <a:chExt cx="2695575" cy="2857500"/>
          </a:xfrm>
        </p:grpSpPr>
        <p:sp>
          <p:nvSpPr>
            <p:cNvPr id="8" name="object 8"/>
            <p:cNvSpPr/>
            <p:nvPr/>
          </p:nvSpPr>
          <p:spPr>
            <a:xfrm>
              <a:off x="5548376" y="33576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9" name="object 9"/>
            <p:cNvSpPr/>
            <p:nvPr/>
          </p:nvSpPr>
          <p:spPr>
            <a:xfrm>
              <a:off x="5548376" y="33576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10" name="object 10"/>
            <p:cNvSpPr/>
            <p:nvPr/>
          </p:nvSpPr>
          <p:spPr>
            <a:xfrm>
              <a:off x="5529326" y="4681537"/>
              <a:ext cx="19050" cy="871855"/>
            </a:xfrm>
            <a:custGeom>
              <a:avLst/>
              <a:gdLst/>
              <a:ahLst/>
              <a:cxnLst/>
              <a:rect l="l" t="t" r="r" b="b"/>
              <a:pathLst>
                <a:path w="19050" h="871854">
                  <a:moveTo>
                    <a:pt x="0" y="871537"/>
                  </a:moveTo>
                  <a:lnTo>
                    <a:pt x="19050" y="871537"/>
                  </a:lnTo>
                  <a:lnTo>
                    <a:pt x="19050" y="0"/>
                  </a:lnTo>
                  <a:lnTo>
                    <a:pt x="0" y="0"/>
                  </a:lnTo>
                  <a:lnTo>
                    <a:pt x="0" y="871537"/>
                  </a:lnTo>
                  <a:close/>
                </a:path>
              </a:pathLst>
            </a:custGeom>
            <a:solidFill>
              <a:srgbClr val="FF0000"/>
            </a:solidFill>
          </p:spPr>
          <p:txBody>
            <a:bodyPr wrap="square" lIns="0" tIns="0" rIns="0" bIns="0" rtlCol="0"/>
            <a:lstStyle/>
            <a:p>
              <a:endParaRPr/>
            </a:p>
          </p:txBody>
        </p:sp>
        <p:sp>
          <p:nvSpPr>
            <p:cNvPr id="11" name="object 11"/>
            <p:cNvSpPr/>
            <p:nvPr/>
          </p:nvSpPr>
          <p:spPr>
            <a:xfrm>
              <a:off x="5529326" y="46815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sp>
          <p:nvSpPr>
            <p:cNvPr id="12" name="object 12"/>
            <p:cNvSpPr/>
            <p:nvPr/>
          </p:nvSpPr>
          <p:spPr>
            <a:xfrm>
              <a:off x="5548376" y="4681537"/>
              <a:ext cx="2667000" cy="1524000"/>
            </a:xfrm>
            <a:custGeom>
              <a:avLst/>
              <a:gdLst/>
              <a:ahLst/>
              <a:cxnLst/>
              <a:rect l="l" t="t" r="r" b="b"/>
              <a:pathLst>
                <a:path w="2667000" h="1524000">
                  <a:moveTo>
                    <a:pt x="2614549" y="1500187"/>
                  </a:moveTo>
                  <a:lnTo>
                    <a:pt x="14224" y="1500187"/>
                  </a:lnTo>
                  <a:lnTo>
                    <a:pt x="14224" y="1524000"/>
                  </a:lnTo>
                  <a:lnTo>
                    <a:pt x="2614549" y="1524000"/>
                  </a:lnTo>
                  <a:lnTo>
                    <a:pt x="2614549" y="1500187"/>
                  </a:lnTo>
                  <a:close/>
                </a:path>
                <a:path w="2667000" h="1524000">
                  <a:moveTo>
                    <a:pt x="2667000" y="0"/>
                  </a:moveTo>
                  <a:lnTo>
                    <a:pt x="0" y="0"/>
                  </a:lnTo>
                  <a:lnTo>
                    <a:pt x="0" y="1423987"/>
                  </a:lnTo>
                  <a:lnTo>
                    <a:pt x="2667000" y="1423987"/>
                  </a:lnTo>
                  <a:lnTo>
                    <a:pt x="2667000" y="0"/>
                  </a:lnTo>
                  <a:close/>
                </a:path>
              </a:pathLst>
            </a:custGeom>
            <a:solidFill>
              <a:srgbClr val="006FC0"/>
            </a:solidFill>
          </p:spPr>
          <p:txBody>
            <a:bodyPr wrap="square" lIns="0" tIns="0" rIns="0" bIns="0" rtlCol="0"/>
            <a:lstStyle/>
            <a:p>
              <a:endParaRPr/>
            </a:p>
          </p:txBody>
        </p:sp>
        <p:sp>
          <p:nvSpPr>
            <p:cNvPr id="13" name="object 13"/>
            <p:cNvSpPr/>
            <p:nvPr/>
          </p:nvSpPr>
          <p:spPr>
            <a:xfrm>
              <a:off x="5548376" y="46815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572125" y="5239702"/>
            <a:ext cx="2595880" cy="334645"/>
          </a:xfrm>
          <a:prstGeom prst="rect">
            <a:avLst/>
          </a:prstGeom>
        </p:spPr>
        <p:txBody>
          <a:bodyPr vert="horz" wrap="square" lIns="0" tIns="15875" rIns="0" bIns="0" rtlCol="0">
            <a:spAutoFit/>
          </a:bodyPr>
          <a:lstStyle/>
          <a:p>
            <a:pPr marL="700405">
              <a:lnSpc>
                <a:spcPct val="100000"/>
              </a:lnSpc>
              <a:spcBef>
                <a:spcPts val="125"/>
              </a:spcBef>
            </a:pPr>
            <a:r>
              <a:rPr sz="2000" spc="-95" dirty="0">
                <a:solidFill>
                  <a:srgbClr val="EDEBE0"/>
                </a:solidFill>
                <a:latin typeface="Times New Roman"/>
                <a:cs typeface="Times New Roman"/>
              </a:rPr>
              <a:t>char</a:t>
            </a:r>
            <a:r>
              <a:rPr sz="2000" spc="-30" dirty="0">
                <a:solidFill>
                  <a:srgbClr val="EDEBE0"/>
                </a:solidFill>
                <a:latin typeface="Times New Roman"/>
                <a:cs typeface="Times New Roman"/>
              </a:rPr>
              <a:t> </a:t>
            </a:r>
            <a:r>
              <a:rPr sz="2000" spc="-10" dirty="0">
                <a:solidFill>
                  <a:srgbClr val="EDEBE0"/>
                </a:solidFill>
                <a:latin typeface="Times New Roman"/>
                <a:cs typeface="Times New Roman"/>
              </a:rPr>
              <a:t>buf[128]</a:t>
            </a:r>
            <a:endParaRPr sz="2000">
              <a:latin typeface="Times New Roman"/>
              <a:cs typeface="Times New Roman"/>
            </a:endParaRPr>
          </a:p>
        </p:txBody>
      </p:sp>
      <p:grpSp>
        <p:nvGrpSpPr>
          <p:cNvPr id="15" name="object 15"/>
          <p:cNvGrpSpPr/>
          <p:nvPr/>
        </p:nvGrpSpPr>
        <p:grpSpPr>
          <a:xfrm>
            <a:off x="5543613" y="3810063"/>
            <a:ext cx="2676525" cy="466725"/>
            <a:chOff x="5543613" y="3810063"/>
            <a:chExt cx="2676525" cy="466725"/>
          </a:xfrm>
        </p:grpSpPr>
        <p:sp>
          <p:nvSpPr>
            <p:cNvPr id="16" name="object 16"/>
            <p:cNvSpPr/>
            <p:nvPr/>
          </p:nvSpPr>
          <p:spPr>
            <a:xfrm>
              <a:off x="5548376" y="38148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7" name="object 17"/>
            <p:cNvSpPr/>
            <p:nvPr/>
          </p:nvSpPr>
          <p:spPr>
            <a:xfrm>
              <a:off x="5548376" y="38148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5572125" y="3840797"/>
            <a:ext cx="2600325" cy="334645"/>
          </a:xfrm>
          <a:prstGeom prst="rect">
            <a:avLst/>
          </a:prstGeom>
        </p:spPr>
        <p:txBody>
          <a:bodyPr vert="horz" wrap="square" lIns="0" tIns="15875" rIns="0" bIns="0" rtlCol="0">
            <a:spAutoFit/>
          </a:bodyPr>
          <a:lstStyle/>
          <a:p>
            <a:pPr marL="655320">
              <a:lnSpc>
                <a:spcPct val="100000"/>
              </a:lnSpc>
              <a:spcBef>
                <a:spcPts val="125"/>
              </a:spcBef>
            </a:pPr>
            <a:r>
              <a:rPr sz="2000" spc="-20" dirty="0">
                <a:solidFill>
                  <a:srgbClr val="E9E4DC"/>
                </a:solidFill>
                <a:latin typeface="Times New Roman"/>
                <a:cs typeface="Times New Roman"/>
              </a:rPr>
              <a:t>return</a:t>
            </a:r>
            <a:r>
              <a:rPr sz="2000" spc="-85" dirty="0">
                <a:solidFill>
                  <a:srgbClr val="E9E4DC"/>
                </a:solidFill>
                <a:latin typeface="Times New Roman"/>
                <a:cs typeface="Times New Roman"/>
              </a:rPr>
              <a:t> </a:t>
            </a:r>
            <a:r>
              <a:rPr sz="2000" spc="-10" dirty="0">
                <a:solidFill>
                  <a:srgbClr val="E9E4DC"/>
                </a:solidFill>
                <a:latin typeface="Times New Roman"/>
                <a:cs typeface="Times New Roman"/>
              </a:rPr>
              <a:t>address</a:t>
            </a:r>
            <a:endParaRPr sz="2000">
              <a:latin typeface="Times New Roman"/>
              <a:cs typeface="Times New Roman"/>
            </a:endParaRPr>
          </a:p>
        </p:txBody>
      </p:sp>
      <p:grpSp>
        <p:nvGrpSpPr>
          <p:cNvPr id="19" name="object 19"/>
          <p:cNvGrpSpPr/>
          <p:nvPr/>
        </p:nvGrpSpPr>
        <p:grpSpPr>
          <a:xfrm>
            <a:off x="5181600" y="2114486"/>
            <a:ext cx="3248025" cy="4210685"/>
            <a:chOff x="5181600" y="2114486"/>
            <a:chExt cx="3248025" cy="4210685"/>
          </a:xfrm>
        </p:grpSpPr>
        <p:sp>
          <p:nvSpPr>
            <p:cNvPr id="20" name="object 20"/>
            <p:cNvSpPr/>
            <p:nvPr/>
          </p:nvSpPr>
          <p:spPr>
            <a:xfrm>
              <a:off x="5548375" y="4224400"/>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21" name="object 21"/>
            <p:cNvSpPr/>
            <p:nvPr/>
          </p:nvSpPr>
          <p:spPr>
            <a:xfrm>
              <a:off x="5548375" y="4224400"/>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22" name="object 22"/>
            <p:cNvSpPr/>
            <p:nvPr/>
          </p:nvSpPr>
          <p:spPr>
            <a:xfrm>
              <a:off x="5219700" y="3305174"/>
              <a:ext cx="3171825" cy="2838450"/>
            </a:xfrm>
            <a:custGeom>
              <a:avLst/>
              <a:gdLst/>
              <a:ahLst/>
              <a:cxnLst/>
              <a:rect l="l" t="t" r="r" b="b"/>
              <a:pathLst>
                <a:path w="3171825" h="2838450">
                  <a:moveTo>
                    <a:pt x="0" y="2838450"/>
                  </a:moveTo>
                  <a:lnTo>
                    <a:pt x="3067050" y="2838450"/>
                  </a:lnTo>
                </a:path>
                <a:path w="3171825" h="2838450">
                  <a:moveTo>
                    <a:pt x="47625" y="0"/>
                  </a:moveTo>
                  <a:lnTo>
                    <a:pt x="3171825" y="0"/>
                  </a:lnTo>
                </a:path>
              </a:pathLst>
            </a:custGeom>
            <a:ln w="76200">
              <a:solidFill>
                <a:srgbClr val="000000"/>
              </a:solidFill>
            </a:ln>
          </p:spPr>
          <p:txBody>
            <a:bodyPr wrap="square" lIns="0" tIns="0" rIns="0" bIns="0" rtlCol="0"/>
            <a:lstStyle/>
            <a:p>
              <a:endParaRPr/>
            </a:p>
          </p:txBody>
        </p:sp>
        <p:sp>
          <p:nvSpPr>
            <p:cNvPr id="23" name="object 23"/>
            <p:cNvSpPr/>
            <p:nvPr/>
          </p:nvSpPr>
          <p:spPr>
            <a:xfrm>
              <a:off x="5524500" y="5581650"/>
              <a:ext cx="9525" cy="714375"/>
            </a:xfrm>
            <a:custGeom>
              <a:avLst/>
              <a:gdLst/>
              <a:ahLst/>
              <a:cxnLst/>
              <a:rect l="l" t="t" r="r" b="b"/>
              <a:pathLst>
                <a:path w="9525" h="714375">
                  <a:moveTo>
                    <a:pt x="9525" y="0"/>
                  </a:moveTo>
                  <a:lnTo>
                    <a:pt x="0" y="714375"/>
                  </a:lnTo>
                </a:path>
              </a:pathLst>
            </a:custGeom>
            <a:ln w="57150">
              <a:solidFill>
                <a:srgbClr val="000000"/>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5495925" y="2114486"/>
              <a:ext cx="2767076" cy="1214437"/>
            </a:xfrm>
            <a:prstGeom prst="rect">
              <a:avLst/>
            </a:prstGeom>
          </p:spPr>
        </p:pic>
        <p:sp>
          <p:nvSpPr>
            <p:cNvPr id="25" name="object 25"/>
            <p:cNvSpPr/>
            <p:nvPr/>
          </p:nvSpPr>
          <p:spPr>
            <a:xfrm>
              <a:off x="5572125" y="2138425"/>
              <a:ext cx="2590800" cy="1114425"/>
            </a:xfrm>
            <a:custGeom>
              <a:avLst/>
              <a:gdLst/>
              <a:ahLst/>
              <a:cxnLst/>
              <a:rect l="l" t="t" r="r" b="b"/>
              <a:pathLst>
                <a:path w="2590800" h="1114425">
                  <a:moveTo>
                    <a:pt x="0" y="1114425"/>
                  </a:moveTo>
                  <a:lnTo>
                    <a:pt x="2590800" y="1114425"/>
                  </a:lnTo>
                  <a:lnTo>
                    <a:pt x="2590800" y="0"/>
                  </a:lnTo>
                  <a:lnTo>
                    <a:pt x="0" y="0"/>
                  </a:lnTo>
                  <a:lnTo>
                    <a:pt x="0" y="1114425"/>
                  </a:lnTo>
                  <a:close/>
                </a:path>
              </a:pathLst>
            </a:custGeom>
            <a:solidFill>
              <a:srgbClr val="006FC0"/>
            </a:solidFill>
          </p:spPr>
          <p:txBody>
            <a:bodyPr wrap="square" lIns="0" tIns="0" rIns="0" bIns="0" rtlCol="0"/>
            <a:lstStyle/>
            <a:p>
              <a:endParaRPr/>
            </a:p>
          </p:txBody>
        </p:sp>
        <p:sp>
          <p:nvSpPr>
            <p:cNvPr id="26" name="object 26"/>
            <p:cNvSpPr/>
            <p:nvPr/>
          </p:nvSpPr>
          <p:spPr>
            <a:xfrm>
              <a:off x="5548375" y="2138425"/>
              <a:ext cx="2667000" cy="1114425"/>
            </a:xfrm>
            <a:custGeom>
              <a:avLst/>
              <a:gdLst/>
              <a:ahLst/>
              <a:cxnLst/>
              <a:rect l="l" t="t" r="r" b="b"/>
              <a:pathLst>
                <a:path w="2667000" h="1114425">
                  <a:moveTo>
                    <a:pt x="0" y="1114425"/>
                  </a:moveTo>
                  <a:lnTo>
                    <a:pt x="2667000" y="1114425"/>
                  </a:lnTo>
                  <a:lnTo>
                    <a:pt x="2667000" y="0"/>
                  </a:lnTo>
                  <a:lnTo>
                    <a:pt x="0" y="0"/>
                  </a:lnTo>
                  <a:lnTo>
                    <a:pt x="0" y="1114425"/>
                  </a:lnTo>
                  <a:close/>
                </a:path>
              </a:pathLst>
            </a:custGeom>
            <a:ln w="9525">
              <a:solidFill>
                <a:srgbClr val="AE3408"/>
              </a:solidFill>
            </a:ln>
          </p:spPr>
          <p:txBody>
            <a:bodyPr wrap="square" lIns="0" tIns="0" rIns="0" bIns="0" rtlCol="0"/>
            <a:lstStyle/>
            <a:p>
              <a:endParaRPr/>
            </a:p>
          </p:txBody>
        </p:sp>
      </p:grpSp>
      <p:sp>
        <p:nvSpPr>
          <p:cNvPr id="27" name="object 27"/>
          <p:cNvSpPr txBox="1"/>
          <p:nvPr/>
        </p:nvSpPr>
        <p:spPr>
          <a:xfrm>
            <a:off x="5572125" y="2492692"/>
            <a:ext cx="2590800" cy="334645"/>
          </a:xfrm>
          <a:prstGeom prst="rect">
            <a:avLst/>
          </a:prstGeom>
        </p:spPr>
        <p:txBody>
          <a:bodyPr vert="horz" wrap="square" lIns="0" tIns="15875" rIns="0" bIns="0" rtlCol="0">
            <a:spAutoFit/>
          </a:bodyPr>
          <a:lstStyle/>
          <a:p>
            <a:pPr marL="775335">
              <a:lnSpc>
                <a:spcPct val="100000"/>
              </a:lnSpc>
              <a:spcBef>
                <a:spcPts val="125"/>
              </a:spcBef>
            </a:pPr>
            <a:r>
              <a:rPr sz="2000" b="1" spc="-135" dirty="0">
                <a:solidFill>
                  <a:srgbClr val="EDEBE0"/>
                </a:solidFill>
                <a:latin typeface="Times New Roman"/>
                <a:cs typeface="Times New Roman"/>
              </a:rPr>
              <a:t>NOP</a:t>
            </a:r>
            <a:r>
              <a:rPr sz="2000" b="1" spc="-10" dirty="0">
                <a:solidFill>
                  <a:srgbClr val="EDEBE0"/>
                </a:solidFill>
                <a:latin typeface="Times New Roman"/>
                <a:cs typeface="Times New Roman"/>
              </a:rPr>
              <a:t> Slide</a:t>
            </a:r>
            <a:endParaRPr sz="2000">
              <a:latin typeface="Times New Roman"/>
              <a:cs typeface="Times New Roman"/>
            </a:endParaRPr>
          </a:p>
        </p:txBody>
      </p:sp>
      <p:grpSp>
        <p:nvGrpSpPr>
          <p:cNvPr id="28" name="object 28"/>
          <p:cNvGrpSpPr/>
          <p:nvPr/>
        </p:nvGrpSpPr>
        <p:grpSpPr>
          <a:xfrm>
            <a:off x="5495925" y="790575"/>
            <a:ext cx="2767330" cy="1424305"/>
            <a:chOff x="5495925" y="790575"/>
            <a:chExt cx="2767330" cy="1424305"/>
          </a:xfrm>
        </p:grpSpPr>
        <p:pic>
          <p:nvPicPr>
            <p:cNvPr id="29" name="object 29"/>
            <p:cNvPicPr/>
            <p:nvPr/>
          </p:nvPicPr>
          <p:blipFill>
            <a:blip r:embed="rId3" cstate="print"/>
            <a:stretch>
              <a:fillRect/>
            </a:stretch>
          </p:blipFill>
          <p:spPr>
            <a:xfrm>
              <a:off x="5495925" y="790575"/>
              <a:ext cx="2767076" cy="1423924"/>
            </a:xfrm>
            <a:prstGeom prst="rect">
              <a:avLst/>
            </a:prstGeom>
          </p:spPr>
        </p:pic>
        <p:sp>
          <p:nvSpPr>
            <p:cNvPr id="30" name="object 30"/>
            <p:cNvSpPr/>
            <p:nvPr/>
          </p:nvSpPr>
          <p:spPr>
            <a:xfrm>
              <a:off x="5572125" y="814450"/>
              <a:ext cx="2590800" cy="1323975"/>
            </a:xfrm>
            <a:custGeom>
              <a:avLst/>
              <a:gdLst/>
              <a:ahLst/>
              <a:cxnLst/>
              <a:rect l="l" t="t" r="r" b="b"/>
              <a:pathLst>
                <a:path w="2590800" h="1323975">
                  <a:moveTo>
                    <a:pt x="0" y="1323975"/>
                  </a:moveTo>
                  <a:lnTo>
                    <a:pt x="2590800" y="1323975"/>
                  </a:lnTo>
                  <a:lnTo>
                    <a:pt x="2590800" y="0"/>
                  </a:lnTo>
                  <a:lnTo>
                    <a:pt x="0" y="0"/>
                  </a:lnTo>
                  <a:lnTo>
                    <a:pt x="0" y="1323975"/>
                  </a:lnTo>
                  <a:close/>
                </a:path>
              </a:pathLst>
            </a:custGeom>
            <a:solidFill>
              <a:srgbClr val="006FC0"/>
            </a:solidFill>
          </p:spPr>
          <p:txBody>
            <a:bodyPr wrap="square" lIns="0" tIns="0" rIns="0" bIns="0" rtlCol="0"/>
            <a:lstStyle/>
            <a:p>
              <a:endParaRPr/>
            </a:p>
          </p:txBody>
        </p:sp>
        <p:sp>
          <p:nvSpPr>
            <p:cNvPr id="31" name="object 31"/>
            <p:cNvSpPr/>
            <p:nvPr/>
          </p:nvSpPr>
          <p:spPr>
            <a:xfrm>
              <a:off x="5548376" y="814450"/>
              <a:ext cx="2667000" cy="1323975"/>
            </a:xfrm>
            <a:custGeom>
              <a:avLst/>
              <a:gdLst/>
              <a:ahLst/>
              <a:cxnLst/>
              <a:rect l="l" t="t" r="r" b="b"/>
              <a:pathLst>
                <a:path w="2667000" h="1323975">
                  <a:moveTo>
                    <a:pt x="0" y="1323975"/>
                  </a:moveTo>
                  <a:lnTo>
                    <a:pt x="2667000" y="1323975"/>
                  </a:lnTo>
                  <a:lnTo>
                    <a:pt x="2667000" y="0"/>
                  </a:lnTo>
                  <a:lnTo>
                    <a:pt x="0" y="0"/>
                  </a:lnTo>
                  <a:lnTo>
                    <a:pt x="0" y="1323975"/>
                  </a:lnTo>
                  <a:close/>
                </a:path>
              </a:pathLst>
            </a:custGeom>
            <a:ln w="9525">
              <a:solidFill>
                <a:srgbClr val="AE3408"/>
              </a:solidFill>
            </a:ln>
          </p:spPr>
          <p:txBody>
            <a:bodyPr wrap="square" lIns="0" tIns="0" rIns="0" bIns="0" rtlCol="0"/>
            <a:lstStyle/>
            <a:p>
              <a:endParaRPr/>
            </a:p>
          </p:txBody>
        </p:sp>
      </p:grpSp>
      <p:sp>
        <p:nvSpPr>
          <p:cNvPr id="32" name="object 32"/>
          <p:cNvSpPr txBox="1"/>
          <p:nvPr/>
        </p:nvSpPr>
        <p:spPr>
          <a:xfrm>
            <a:off x="5572125" y="1271841"/>
            <a:ext cx="2590800" cy="334645"/>
          </a:xfrm>
          <a:prstGeom prst="rect">
            <a:avLst/>
          </a:prstGeom>
        </p:spPr>
        <p:txBody>
          <a:bodyPr vert="horz" wrap="square" lIns="0" tIns="15875" rIns="0" bIns="0" rtlCol="0">
            <a:spAutoFit/>
          </a:bodyPr>
          <a:lstStyle/>
          <a:p>
            <a:pPr marL="747395">
              <a:lnSpc>
                <a:spcPct val="100000"/>
              </a:lnSpc>
              <a:spcBef>
                <a:spcPts val="125"/>
              </a:spcBef>
            </a:pPr>
            <a:r>
              <a:rPr sz="2000" b="1" spc="-50" dirty="0">
                <a:solidFill>
                  <a:srgbClr val="EDEBE0"/>
                </a:solidFill>
                <a:latin typeface="Times New Roman"/>
                <a:cs typeface="Times New Roman"/>
              </a:rPr>
              <a:t>Program</a:t>
            </a:r>
            <a:r>
              <a:rPr sz="2000" b="1" spc="-80" dirty="0">
                <a:solidFill>
                  <a:srgbClr val="EDEBE0"/>
                </a:solidFill>
                <a:latin typeface="Times New Roman"/>
                <a:cs typeface="Times New Roman"/>
              </a:rPr>
              <a:t> </a:t>
            </a:r>
            <a:r>
              <a:rPr sz="2000" b="1" spc="-50" dirty="0">
                <a:solidFill>
                  <a:srgbClr val="EDEBE0"/>
                </a:solidFill>
                <a:latin typeface="Times New Roman"/>
                <a:cs typeface="Times New Roman"/>
              </a:rPr>
              <a:t>P</a:t>
            </a:r>
            <a:endParaRPr sz="2000">
              <a:latin typeface="Times New Roman"/>
              <a:cs typeface="Times New Roman"/>
            </a:endParaRPr>
          </a:p>
        </p:txBody>
      </p:sp>
      <p:grpSp>
        <p:nvGrpSpPr>
          <p:cNvPr id="33" name="object 33"/>
          <p:cNvGrpSpPr/>
          <p:nvPr/>
        </p:nvGrpSpPr>
        <p:grpSpPr>
          <a:xfrm>
            <a:off x="4724400" y="581025"/>
            <a:ext cx="4081779" cy="5743575"/>
            <a:chOff x="4724400" y="581025"/>
            <a:chExt cx="4081779" cy="5743575"/>
          </a:xfrm>
        </p:grpSpPr>
        <p:sp>
          <p:nvSpPr>
            <p:cNvPr id="34" name="object 34"/>
            <p:cNvSpPr/>
            <p:nvPr/>
          </p:nvSpPr>
          <p:spPr>
            <a:xfrm>
              <a:off x="5524500" y="609600"/>
              <a:ext cx="19050" cy="2790825"/>
            </a:xfrm>
            <a:custGeom>
              <a:avLst/>
              <a:gdLst/>
              <a:ahLst/>
              <a:cxnLst/>
              <a:rect l="l" t="t" r="r" b="b"/>
              <a:pathLst>
                <a:path w="19050" h="2790825">
                  <a:moveTo>
                    <a:pt x="19050" y="0"/>
                  </a:moveTo>
                  <a:lnTo>
                    <a:pt x="0" y="2790825"/>
                  </a:lnTo>
                </a:path>
              </a:pathLst>
            </a:custGeom>
            <a:ln w="57150">
              <a:solidFill>
                <a:srgbClr val="000000"/>
              </a:solidFill>
            </a:ln>
          </p:spPr>
          <p:txBody>
            <a:bodyPr wrap="square" lIns="0" tIns="0" rIns="0" bIns="0" rtlCol="0"/>
            <a:lstStyle/>
            <a:p>
              <a:endParaRPr/>
            </a:p>
          </p:txBody>
        </p:sp>
        <p:pic>
          <p:nvPicPr>
            <p:cNvPr id="35" name="object 35"/>
            <p:cNvPicPr/>
            <p:nvPr/>
          </p:nvPicPr>
          <p:blipFill>
            <a:blip r:embed="rId4" cstate="print"/>
            <a:stretch>
              <a:fillRect/>
            </a:stretch>
          </p:blipFill>
          <p:spPr>
            <a:xfrm>
              <a:off x="4724400" y="2447798"/>
              <a:ext cx="900112" cy="1681226"/>
            </a:xfrm>
            <a:prstGeom prst="rect">
              <a:avLst/>
            </a:prstGeom>
          </p:spPr>
        </p:pic>
        <p:sp>
          <p:nvSpPr>
            <p:cNvPr id="36" name="object 36"/>
            <p:cNvSpPr/>
            <p:nvPr/>
          </p:nvSpPr>
          <p:spPr>
            <a:xfrm>
              <a:off x="4772278" y="2607310"/>
              <a:ext cx="780415" cy="1453515"/>
            </a:xfrm>
            <a:custGeom>
              <a:avLst/>
              <a:gdLst/>
              <a:ahLst/>
              <a:cxnLst/>
              <a:rect l="l" t="t" r="r" b="b"/>
              <a:pathLst>
                <a:path w="780414" h="1453514">
                  <a:moveTo>
                    <a:pt x="462470" y="54635"/>
                  </a:moveTo>
                  <a:lnTo>
                    <a:pt x="392430" y="79501"/>
                  </a:lnTo>
                  <a:lnTo>
                    <a:pt x="345694" y="97662"/>
                  </a:lnTo>
                  <a:lnTo>
                    <a:pt x="299338" y="116966"/>
                  </a:lnTo>
                  <a:lnTo>
                    <a:pt x="253492" y="137794"/>
                  </a:lnTo>
                  <a:lnTo>
                    <a:pt x="209804" y="159765"/>
                  </a:lnTo>
                  <a:lnTo>
                    <a:pt x="169418" y="183006"/>
                  </a:lnTo>
                  <a:lnTo>
                    <a:pt x="133223" y="207390"/>
                  </a:lnTo>
                  <a:lnTo>
                    <a:pt x="101854" y="233425"/>
                  </a:lnTo>
                  <a:lnTo>
                    <a:pt x="68072" y="274827"/>
                  </a:lnTo>
                  <a:lnTo>
                    <a:pt x="43942" y="319531"/>
                  </a:lnTo>
                  <a:lnTo>
                    <a:pt x="20574" y="384937"/>
                  </a:lnTo>
                  <a:lnTo>
                    <a:pt x="6223" y="455422"/>
                  </a:lnTo>
                  <a:lnTo>
                    <a:pt x="126" y="529081"/>
                  </a:lnTo>
                  <a:lnTo>
                    <a:pt x="0" y="566419"/>
                  </a:lnTo>
                  <a:lnTo>
                    <a:pt x="1650" y="603757"/>
                  </a:lnTo>
                  <a:lnTo>
                    <a:pt x="10668" y="677417"/>
                  </a:lnTo>
                  <a:lnTo>
                    <a:pt x="26670" y="747776"/>
                  </a:lnTo>
                  <a:lnTo>
                    <a:pt x="49657" y="812418"/>
                  </a:lnTo>
                  <a:lnTo>
                    <a:pt x="74549" y="859281"/>
                  </a:lnTo>
                  <a:lnTo>
                    <a:pt x="106934" y="903859"/>
                  </a:lnTo>
                  <a:lnTo>
                    <a:pt x="145161" y="946912"/>
                  </a:lnTo>
                  <a:lnTo>
                    <a:pt x="187960" y="988313"/>
                  </a:lnTo>
                  <a:lnTo>
                    <a:pt x="218059" y="1014983"/>
                  </a:lnTo>
                  <a:lnTo>
                    <a:pt x="249047" y="1041019"/>
                  </a:lnTo>
                  <a:lnTo>
                    <a:pt x="280543" y="1066419"/>
                  </a:lnTo>
                  <a:lnTo>
                    <a:pt x="311785" y="1090929"/>
                  </a:lnTo>
                  <a:lnTo>
                    <a:pt x="401700" y="1160145"/>
                  </a:lnTo>
                  <a:lnTo>
                    <a:pt x="428625" y="1181608"/>
                  </a:lnTo>
                  <a:lnTo>
                    <a:pt x="441325" y="1191895"/>
                  </a:lnTo>
                  <a:lnTo>
                    <a:pt x="464693" y="1211707"/>
                  </a:lnTo>
                  <a:lnTo>
                    <a:pt x="475615" y="1221485"/>
                  </a:lnTo>
                  <a:lnTo>
                    <a:pt x="496697" y="1240916"/>
                  </a:lnTo>
                  <a:lnTo>
                    <a:pt x="555244" y="1293621"/>
                  </a:lnTo>
                  <a:lnTo>
                    <a:pt x="607695" y="1339469"/>
                  </a:lnTo>
                  <a:lnTo>
                    <a:pt x="655701" y="1380363"/>
                  </a:lnTo>
                  <a:lnTo>
                    <a:pt x="714883" y="1429765"/>
                  </a:lnTo>
                  <a:lnTo>
                    <a:pt x="743585" y="1453388"/>
                  </a:lnTo>
                  <a:lnTo>
                    <a:pt x="779907" y="1409191"/>
                  </a:lnTo>
                  <a:lnTo>
                    <a:pt x="722249" y="1361566"/>
                  </a:lnTo>
                  <a:lnTo>
                    <a:pt x="692404" y="1336547"/>
                  </a:lnTo>
                  <a:lnTo>
                    <a:pt x="644906" y="1296034"/>
                  </a:lnTo>
                  <a:lnTo>
                    <a:pt x="610870" y="1266444"/>
                  </a:lnTo>
                  <a:lnTo>
                    <a:pt x="592963" y="1250695"/>
                  </a:lnTo>
                  <a:lnTo>
                    <a:pt x="574675" y="1234185"/>
                  </a:lnTo>
                  <a:lnTo>
                    <a:pt x="555117" y="1216787"/>
                  </a:lnTo>
                  <a:lnTo>
                    <a:pt x="503047" y="1169289"/>
                  </a:lnTo>
                  <a:lnTo>
                    <a:pt x="464820" y="1137284"/>
                  </a:lnTo>
                  <a:lnTo>
                    <a:pt x="315595" y="1021333"/>
                  </a:lnTo>
                  <a:lnTo>
                    <a:pt x="284988" y="996568"/>
                  </a:lnTo>
                  <a:lnTo>
                    <a:pt x="254762" y="971295"/>
                  </a:lnTo>
                  <a:lnTo>
                    <a:pt x="225933" y="945514"/>
                  </a:lnTo>
                  <a:lnTo>
                    <a:pt x="185800" y="906652"/>
                  </a:lnTo>
                  <a:lnTo>
                    <a:pt x="150622" y="867155"/>
                  </a:lnTo>
                  <a:lnTo>
                    <a:pt x="122047" y="827531"/>
                  </a:lnTo>
                  <a:lnTo>
                    <a:pt x="101473" y="788415"/>
                  </a:lnTo>
                  <a:lnTo>
                    <a:pt x="81153" y="730376"/>
                  </a:lnTo>
                  <a:lnTo>
                    <a:pt x="66675" y="666241"/>
                  </a:lnTo>
                  <a:lnTo>
                    <a:pt x="58547" y="598297"/>
                  </a:lnTo>
                  <a:lnTo>
                    <a:pt x="57135" y="566419"/>
                  </a:lnTo>
                  <a:lnTo>
                    <a:pt x="57023" y="563879"/>
                  </a:lnTo>
                  <a:lnTo>
                    <a:pt x="59182" y="495300"/>
                  </a:lnTo>
                  <a:lnTo>
                    <a:pt x="68707" y="429387"/>
                  </a:lnTo>
                  <a:lnTo>
                    <a:pt x="85598" y="368680"/>
                  </a:lnTo>
                  <a:lnTo>
                    <a:pt x="102997" y="328675"/>
                  </a:lnTo>
                  <a:lnTo>
                    <a:pt x="124587" y="293497"/>
                  </a:lnTo>
                  <a:lnTo>
                    <a:pt x="154559" y="263016"/>
                  </a:lnTo>
                  <a:lnTo>
                    <a:pt x="200279" y="231139"/>
                  </a:lnTo>
                  <a:lnTo>
                    <a:pt x="237490" y="209676"/>
                  </a:lnTo>
                  <a:lnTo>
                    <a:pt x="278638" y="189102"/>
                  </a:lnTo>
                  <a:lnTo>
                    <a:pt x="322325" y="169290"/>
                  </a:lnTo>
                  <a:lnTo>
                    <a:pt x="367792" y="150367"/>
                  </a:lnTo>
                  <a:lnTo>
                    <a:pt x="413004" y="132841"/>
                  </a:lnTo>
                  <a:lnTo>
                    <a:pt x="457454" y="116712"/>
                  </a:lnTo>
                  <a:lnTo>
                    <a:pt x="479390" y="109161"/>
                  </a:lnTo>
                  <a:lnTo>
                    <a:pt x="462470" y="54635"/>
                  </a:lnTo>
                  <a:close/>
                </a:path>
                <a:path w="780414" h="1453514">
                  <a:moveTo>
                    <a:pt x="618987" y="46100"/>
                  </a:moveTo>
                  <a:lnTo>
                    <a:pt x="489712" y="46100"/>
                  </a:lnTo>
                  <a:lnTo>
                    <a:pt x="506730" y="100711"/>
                  </a:lnTo>
                  <a:lnTo>
                    <a:pt x="479390" y="109161"/>
                  </a:lnTo>
                  <a:lnTo>
                    <a:pt x="496316" y="163702"/>
                  </a:lnTo>
                  <a:lnTo>
                    <a:pt x="618987" y="46100"/>
                  </a:lnTo>
                  <a:close/>
                </a:path>
                <a:path w="780414" h="1453514">
                  <a:moveTo>
                    <a:pt x="489712" y="46100"/>
                  </a:moveTo>
                  <a:lnTo>
                    <a:pt x="462470" y="54635"/>
                  </a:lnTo>
                  <a:lnTo>
                    <a:pt x="479390" y="109161"/>
                  </a:lnTo>
                  <a:lnTo>
                    <a:pt x="506730" y="100711"/>
                  </a:lnTo>
                  <a:lnTo>
                    <a:pt x="489712" y="46100"/>
                  </a:lnTo>
                  <a:close/>
                </a:path>
                <a:path w="780414" h="1453514">
                  <a:moveTo>
                    <a:pt x="445516" y="0"/>
                  </a:moveTo>
                  <a:lnTo>
                    <a:pt x="462470" y="54635"/>
                  </a:lnTo>
                  <a:lnTo>
                    <a:pt x="489712" y="46100"/>
                  </a:lnTo>
                  <a:lnTo>
                    <a:pt x="618987" y="46100"/>
                  </a:lnTo>
                  <a:lnTo>
                    <a:pt x="634619" y="31114"/>
                  </a:lnTo>
                  <a:lnTo>
                    <a:pt x="445516" y="0"/>
                  </a:lnTo>
                  <a:close/>
                </a:path>
              </a:pathLst>
            </a:custGeom>
            <a:solidFill>
              <a:srgbClr val="000090"/>
            </a:solidFill>
          </p:spPr>
          <p:txBody>
            <a:bodyPr wrap="square" lIns="0" tIns="0" rIns="0" bIns="0" rtlCol="0"/>
            <a:lstStyle/>
            <a:p>
              <a:endParaRPr/>
            </a:p>
          </p:txBody>
        </p:sp>
        <p:sp>
          <p:nvSpPr>
            <p:cNvPr id="37" name="object 37"/>
            <p:cNvSpPr/>
            <p:nvPr/>
          </p:nvSpPr>
          <p:spPr>
            <a:xfrm>
              <a:off x="5524500" y="3305175"/>
              <a:ext cx="2667000" cy="2838450"/>
            </a:xfrm>
            <a:custGeom>
              <a:avLst/>
              <a:gdLst/>
              <a:ahLst/>
              <a:cxnLst/>
              <a:rect l="l" t="t" r="r" b="b"/>
              <a:pathLst>
                <a:path w="2667000" h="2838450">
                  <a:moveTo>
                    <a:pt x="0" y="2838450"/>
                  </a:moveTo>
                  <a:lnTo>
                    <a:pt x="2667000" y="2838450"/>
                  </a:lnTo>
                  <a:lnTo>
                    <a:pt x="2667000" y="0"/>
                  </a:lnTo>
                  <a:lnTo>
                    <a:pt x="0" y="0"/>
                  </a:lnTo>
                  <a:lnTo>
                    <a:pt x="0" y="2838450"/>
                  </a:lnTo>
                  <a:close/>
                </a:path>
              </a:pathLst>
            </a:custGeom>
            <a:ln w="57150">
              <a:solidFill>
                <a:srgbClr val="000000"/>
              </a:solidFill>
            </a:ln>
          </p:spPr>
          <p:txBody>
            <a:bodyPr wrap="square" lIns="0" tIns="0" rIns="0" bIns="0" rtlCol="0"/>
            <a:lstStyle/>
            <a:p>
              <a:endParaRPr/>
            </a:p>
          </p:txBody>
        </p:sp>
        <p:sp>
          <p:nvSpPr>
            <p:cNvPr id="38" name="object 38"/>
            <p:cNvSpPr/>
            <p:nvPr/>
          </p:nvSpPr>
          <p:spPr>
            <a:xfrm>
              <a:off x="8191500" y="609600"/>
              <a:ext cx="19050" cy="5686425"/>
            </a:xfrm>
            <a:custGeom>
              <a:avLst/>
              <a:gdLst/>
              <a:ahLst/>
              <a:cxnLst/>
              <a:rect l="l" t="t" r="r" b="b"/>
              <a:pathLst>
                <a:path w="19050" h="5686425">
                  <a:moveTo>
                    <a:pt x="9525" y="4972050"/>
                  </a:moveTo>
                  <a:lnTo>
                    <a:pt x="0" y="5686425"/>
                  </a:lnTo>
                </a:path>
                <a:path w="19050" h="5686425">
                  <a:moveTo>
                    <a:pt x="19050" y="0"/>
                  </a:moveTo>
                  <a:lnTo>
                    <a:pt x="0" y="2790825"/>
                  </a:lnTo>
                </a:path>
              </a:pathLst>
            </a:custGeom>
            <a:ln w="57150">
              <a:solidFill>
                <a:srgbClr val="000000"/>
              </a:solidFill>
            </a:ln>
          </p:spPr>
          <p:txBody>
            <a:bodyPr wrap="square" lIns="0" tIns="0" rIns="0" bIns="0" rtlCol="0"/>
            <a:lstStyle/>
            <a:p>
              <a:endParaRPr/>
            </a:p>
          </p:txBody>
        </p:sp>
        <p:pic>
          <p:nvPicPr>
            <p:cNvPr id="39" name="object 39"/>
            <p:cNvPicPr/>
            <p:nvPr/>
          </p:nvPicPr>
          <p:blipFill>
            <a:blip r:embed="rId5" cstate="print"/>
            <a:stretch>
              <a:fillRect/>
            </a:stretch>
          </p:blipFill>
          <p:spPr>
            <a:xfrm>
              <a:off x="8372475" y="923861"/>
              <a:ext cx="433387" cy="5138801"/>
            </a:xfrm>
            <a:prstGeom prst="rect">
              <a:avLst/>
            </a:prstGeom>
          </p:spPr>
        </p:pic>
        <p:sp>
          <p:nvSpPr>
            <p:cNvPr id="40" name="object 40"/>
            <p:cNvSpPr/>
            <p:nvPr/>
          </p:nvSpPr>
          <p:spPr>
            <a:xfrm>
              <a:off x="8505971" y="1114298"/>
              <a:ext cx="171450" cy="4877435"/>
            </a:xfrm>
            <a:custGeom>
              <a:avLst/>
              <a:gdLst/>
              <a:ahLst/>
              <a:cxnLst/>
              <a:rect l="l" t="t" r="r" b="b"/>
              <a:pathLst>
                <a:path w="171450" h="4877435">
                  <a:moveTo>
                    <a:pt x="85578" y="75800"/>
                  </a:moveTo>
                  <a:lnTo>
                    <a:pt x="66528" y="108457"/>
                  </a:lnTo>
                  <a:lnTo>
                    <a:pt x="66528" y="4876927"/>
                  </a:lnTo>
                  <a:lnTo>
                    <a:pt x="104628" y="4876927"/>
                  </a:lnTo>
                  <a:lnTo>
                    <a:pt x="104628" y="108457"/>
                  </a:lnTo>
                  <a:lnTo>
                    <a:pt x="85578" y="75800"/>
                  </a:lnTo>
                  <a:close/>
                </a:path>
                <a:path w="171450" h="4877435">
                  <a:moveTo>
                    <a:pt x="85578" y="0"/>
                  </a:moveTo>
                  <a:lnTo>
                    <a:pt x="2393" y="142493"/>
                  </a:lnTo>
                  <a:lnTo>
                    <a:pt x="0" y="149689"/>
                  </a:lnTo>
                  <a:lnTo>
                    <a:pt x="488" y="157003"/>
                  </a:lnTo>
                  <a:lnTo>
                    <a:pt x="3643" y="163603"/>
                  </a:lnTo>
                  <a:lnTo>
                    <a:pt x="9251" y="168655"/>
                  </a:lnTo>
                  <a:lnTo>
                    <a:pt x="16446" y="171049"/>
                  </a:lnTo>
                  <a:lnTo>
                    <a:pt x="23760" y="170561"/>
                  </a:lnTo>
                  <a:lnTo>
                    <a:pt x="30360" y="167405"/>
                  </a:lnTo>
                  <a:lnTo>
                    <a:pt x="35413" y="161798"/>
                  </a:lnTo>
                  <a:lnTo>
                    <a:pt x="66528" y="108457"/>
                  </a:lnTo>
                  <a:lnTo>
                    <a:pt x="66528" y="37846"/>
                  </a:lnTo>
                  <a:lnTo>
                    <a:pt x="107671" y="37846"/>
                  </a:lnTo>
                  <a:lnTo>
                    <a:pt x="85578" y="0"/>
                  </a:lnTo>
                  <a:close/>
                </a:path>
                <a:path w="171450" h="4877435">
                  <a:moveTo>
                    <a:pt x="107671" y="37846"/>
                  </a:moveTo>
                  <a:lnTo>
                    <a:pt x="104628" y="37846"/>
                  </a:lnTo>
                  <a:lnTo>
                    <a:pt x="104628" y="108457"/>
                  </a:lnTo>
                  <a:lnTo>
                    <a:pt x="135743" y="161798"/>
                  </a:lnTo>
                  <a:lnTo>
                    <a:pt x="140795" y="167405"/>
                  </a:lnTo>
                  <a:lnTo>
                    <a:pt x="147395" y="170561"/>
                  </a:lnTo>
                  <a:lnTo>
                    <a:pt x="154709" y="171049"/>
                  </a:lnTo>
                  <a:lnTo>
                    <a:pt x="161905" y="168655"/>
                  </a:lnTo>
                  <a:lnTo>
                    <a:pt x="167513" y="163603"/>
                  </a:lnTo>
                  <a:lnTo>
                    <a:pt x="170668" y="157003"/>
                  </a:lnTo>
                  <a:lnTo>
                    <a:pt x="171156" y="149689"/>
                  </a:lnTo>
                  <a:lnTo>
                    <a:pt x="168763" y="142493"/>
                  </a:lnTo>
                  <a:lnTo>
                    <a:pt x="107671" y="37846"/>
                  </a:lnTo>
                  <a:close/>
                </a:path>
                <a:path w="171450" h="4877435">
                  <a:moveTo>
                    <a:pt x="104628" y="37846"/>
                  </a:moveTo>
                  <a:lnTo>
                    <a:pt x="66528" y="37846"/>
                  </a:lnTo>
                  <a:lnTo>
                    <a:pt x="66528" y="108457"/>
                  </a:lnTo>
                  <a:lnTo>
                    <a:pt x="85578" y="75800"/>
                  </a:lnTo>
                  <a:lnTo>
                    <a:pt x="69068" y="47498"/>
                  </a:lnTo>
                  <a:lnTo>
                    <a:pt x="104628" y="47498"/>
                  </a:lnTo>
                  <a:lnTo>
                    <a:pt x="104628" y="37846"/>
                  </a:lnTo>
                  <a:close/>
                </a:path>
                <a:path w="171450" h="4877435">
                  <a:moveTo>
                    <a:pt x="104628" y="47498"/>
                  </a:moveTo>
                  <a:lnTo>
                    <a:pt x="102088" y="47498"/>
                  </a:lnTo>
                  <a:lnTo>
                    <a:pt x="85578" y="75800"/>
                  </a:lnTo>
                  <a:lnTo>
                    <a:pt x="104628" y="108457"/>
                  </a:lnTo>
                  <a:lnTo>
                    <a:pt x="104628" y="47498"/>
                  </a:lnTo>
                  <a:close/>
                </a:path>
                <a:path w="171450" h="4877435">
                  <a:moveTo>
                    <a:pt x="102088" y="47498"/>
                  </a:moveTo>
                  <a:lnTo>
                    <a:pt x="69068" y="47498"/>
                  </a:lnTo>
                  <a:lnTo>
                    <a:pt x="85578" y="75800"/>
                  </a:lnTo>
                  <a:lnTo>
                    <a:pt x="102088" y="47498"/>
                  </a:lnTo>
                  <a:close/>
                </a:path>
              </a:pathLst>
            </a:custGeom>
            <a:solidFill>
              <a:srgbClr val="0000FF"/>
            </a:solidFill>
          </p:spPr>
          <p:txBody>
            <a:bodyPr wrap="square" lIns="0" tIns="0" rIns="0" bIns="0" rtlCol="0"/>
            <a:lstStyle/>
            <a:p>
              <a:endParaRPr/>
            </a:p>
          </p:txBody>
        </p:sp>
      </p:grpSp>
      <p:sp>
        <p:nvSpPr>
          <p:cNvPr id="41" name="object 41"/>
          <p:cNvSpPr txBox="1"/>
          <p:nvPr/>
        </p:nvSpPr>
        <p:spPr>
          <a:xfrm>
            <a:off x="8385809" y="5905500"/>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42" name="object 42"/>
          <p:cNvSpPr txBox="1"/>
          <p:nvPr/>
        </p:nvSpPr>
        <p:spPr>
          <a:xfrm>
            <a:off x="8385809" y="716597"/>
            <a:ext cx="374015"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pic>
        <p:nvPicPr>
          <p:cNvPr id="43" name="object 43"/>
          <p:cNvPicPr/>
          <p:nvPr/>
        </p:nvPicPr>
        <p:blipFill>
          <a:blip r:embed="rId6" cstate="print"/>
          <a:stretch>
            <a:fillRect/>
          </a:stretch>
        </p:blipFill>
        <p:spPr>
          <a:xfrm>
            <a:off x="457200" y="6248400"/>
            <a:ext cx="476250" cy="381000"/>
          </a:xfrm>
          <a:prstGeom prst="rect">
            <a:avLst/>
          </a:prstGeom>
        </p:spPr>
      </p:pic>
      <p:sp>
        <p:nvSpPr>
          <p:cNvPr id="44" name="object 4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989" rIns="0" bIns="0" rtlCol="0">
            <a:spAutoFit/>
          </a:bodyPr>
          <a:lstStyle/>
          <a:p>
            <a:pPr marL="165100">
              <a:lnSpc>
                <a:spcPct val="100000"/>
              </a:lnSpc>
              <a:spcBef>
                <a:spcPts val="105"/>
              </a:spcBef>
            </a:pPr>
            <a:r>
              <a:rPr dirty="0"/>
              <a:t>Details</a:t>
            </a:r>
            <a:r>
              <a:rPr spc="-25" dirty="0"/>
              <a:t> </a:t>
            </a:r>
            <a:r>
              <a:rPr dirty="0"/>
              <a:t>and</a:t>
            </a:r>
            <a:r>
              <a:rPr spc="-25" dirty="0"/>
              <a:t> </a:t>
            </a:r>
            <a:r>
              <a:rPr spc="-10" dirty="0"/>
              <a:t>examples</a:t>
            </a:r>
          </a:p>
        </p:txBody>
      </p:sp>
      <p:sp>
        <p:nvSpPr>
          <p:cNvPr id="3" name="object 3"/>
          <p:cNvSpPr txBox="1"/>
          <p:nvPr/>
        </p:nvSpPr>
        <p:spPr>
          <a:xfrm>
            <a:off x="383857" y="1259035"/>
            <a:ext cx="7604759" cy="1789592"/>
          </a:xfrm>
          <a:prstGeom prst="rect">
            <a:avLst/>
          </a:prstGeom>
        </p:spPr>
        <p:txBody>
          <a:bodyPr vert="horz" wrap="square" lIns="0" tIns="78105" rIns="0" bIns="0" rtlCol="0">
            <a:spAutoFit/>
          </a:bodyPr>
          <a:lstStyle/>
          <a:p>
            <a:pPr marL="287655" indent="-274955">
              <a:lnSpc>
                <a:spcPct val="100000"/>
              </a:lnSpc>
              <a:spcBef>
                <a:spcPts val="615"/>
              </a:spcBef>
              <a:buClr>
                <a:srgbClr val="D24717"/>
              </a:buClr>
              <a:buSzPct val="87272"/>
              <a:buFont typeface="Segoe UI Symbol"/>
              <a:buChar char="⚫"/>
              <a:tabLst>
                <a:tab pos="287655" algn="l"/>
              </a:tabLst>
            </a:pPr>
            <a:r>
              <a:rPr sz="2750" dirty="0">
                <a:latin typeface="Times New Roman"/>
                <a:cs typeface="Times New Roman"/>
              </a:rPr>
              <a:t>Some</a:t>
            </a:r>
            <a:r>
              <a:rPr sz="2750" spc="70" dirty="0">
                <a:latin typeface="Times New Roman"/>
                <a:cs typeface="Times New Roman"/>
              </a:rPr>
              <a:t> </a:t>
            </a:r>
            <a:r>
              <a:rPr sz="2750" spc="-10" dirty="0">
                <a:latin typeface="Times New Roman"/>
                <a:cs typeface="Times New Roman"/>
              </a:rPr>
              <a:t>complications:</a:t>
            </a:r>
            <a:endParaRPr sz="2750" dirty="0">
              <a:latin typeface="Times New Roman"/>
              <a:cs typeface="Times New Roman"/>
            </a:endParaRPr>
          </a:p>
          <a:p>
            <a:pPr marL="561340" lvl="1" indent="-228600">
              <a:lnSpc>
                <a:spcPct val="100000"/>
              </a:lnSpc>
              <a:spcBef>
                <a:spcPts val="430"/>
              </a:spcBef>
              <a:buClr>
                <a:srgbClr val="9B2C1F"/>
              </a:buClr>
              <a:buSzPct val="83333"/>
              <a:buFont typeface="Segoe UI Symbol"/>
              <a:buChar char="⚫"/>
              <a:tabLst>
                <a:tab pos="561340" algn="l"/>
                <a:tab pos="1838325" algn="l"/>
                <a:tab pos="2153920" algn="l"/>
                <a:tab pos="5496560" algn="l"/>
              </a:tabLst>
            </a:pPr>
            <a:r>
              <a:rPr sz="2400" spc="-10" dirty="0">
                <a:latin typeface="Times New Roman"/>
                <a:cs typeface="Times New Roman"/>
              </a:rPr>
              <a:t>Program</a:t>
            </a:r>
            <a:r>
              <a:rPr sz="2400" dirty="0">
                <a:latin typeface="Times New Roman"/>
                <a:cs typeface="Times New Roman"/>
              </a:rPr>
              <a:t>	</a:t>
            </a:r>
            <a:r>
              <a:rPr sz="2400" spc="-50" dirty="0">
                <a:latin typeface="Times New Roman"/>
                <a:cs typeface="Times New Roman"/>
              </a:rPr>
              <a:t>P</a:t>
            </a:r>
            <a:r>
              <a:rPr sz="2400" dirty="0">
                <a:latin typeface="Times New Roman"/>
                <a:cs typeface="Times New Roman"/>
              </a:rPr>
              <a:t>	should</a:t>
            </a:r>
            <a:r>
              <a:rPr sz="2400" spc="-20" dirty="0">
                <a:latin typeface="Times New Roman"/>
                <a:cs typeface="Times New Roman"/>
              </a:rPr>
              <a:t> </a:t>
            </a:r>
            <a:r>
              <a:rPr sz="2400" dirty="0">
                <a:latin typeface="Times New Roman"/>
                <a:cs typeface="Times New Roman"/>
              </a:rPr>
              <a:t>not</a:t>
            </a:r>
            <a:r>
              <a:rPr sz="2400" spc="-5" dirty="0">
                <a:latin typeface="Times New Roman"/>
                <a:cs typeface="Times New Roman"/>
              </a:rPr>
              <a:t> </a:t>
            </a:r>
            <a:r>
              <a:rPr sz="2400" dirty="0">
                <a:latin typeface="Times New Roman"/>
                <a:cs typeface="Times New Roman"/>
              </a:rPr>
              <a:t>contain</a:t>
            </a:r>
            <a:r>
              <a:rPr sz="2400" spc="-2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20" dirty="0">
                <a:latin typeface="Times New Roman"/>
                <a:cs typeface="Times New Roman"/>
              </a:rPr>
              <a:t>‘\0’</a:t>
            </a:r>
            <a:r>
              <a:rPr sz="2400" dirty="0">
                <a:latin typeface="Times New Roman"/>
                <a:cs typeface="Times New Roman"/>
              </a:rPr>
              <a:t>	</a:t>
            </a:r>
            <a:r>
              <a:rPr sz="2400" spc="-10" dirty="0">
                <a:latin typeface="Times New Roman"/>
                <a:cs typeface="Times New Roman"/>
              </a:rPr>
              <a:t>character.</a:t>
            </a:r>
            <a:endParaRPr sz="2400" dirty="0">
              <a:latin typeface="Times New Roman"/>
              <a:cs typeface="Times New Roman"/>
            </a:endParaRPr>
          </a:p>
          <a:p>
            <a:pPr marL="561340" lvl="1" indent="-228600">
              <a:lnSpc>
                <a:spcPct val="100000"/>
              </a:lnSpc>
              <a:spcBef>
                <a:spcPts val="420"/>
              </a:spcBef>
              <a:buClr>
                <a:srgbClr val="9B2C1F"/>
              </a:buClr>
              <a:buSzPct val="83333"/>
              <a:buFont typeface="Segoe UI Symbol"/>
              <a:buChar char="⚫"/>
              <a:tabLst>
                <a:tab pos="561340" algn="l"/>
                <a:tab pos="5923280" algn="l"/>
                <a:tab pos="6817995" algn="l"/>
              </a:tabLst>
            </a:pPr>
            <a:r>
              <a:rPr sz="2400" dirty="0">
                <a:latin typeface="Times New Roman"/>
                <a:cs typeface="Times New Roman"/>
              </a:rPr>
              <a:t>Overflow</a:t>
            </a:r>
            <a:r>
              <a:rPr sz="2400" spc="-25" dirty="0">
                <a:latin typeface="Times New Roman"/>
                <a:cs typeface="Times New Roman"/>
              </a:rPr>
              <a:t> </a:t>
            </a:r>
            <a:r>
              <a:rPr sz="2400" dirty="0">
                <a:latin typeface="Times New Roman"/>
                <a:cs typeface="Times New Roman"/>
              </a:rPr>
              <a:t>should</a:t>
            </a:r>
            <a:r>
              <a:rPr sz="2400" spc="-10" dirty="0">
                <a:latin typeface="Times New Roman"/>
                <a:cs typeface="Times New Roman"/>
              </a:rPr>
              <a:t> </a:t>
            </a: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crash</a:t>
            </a:r>
            <a:r>
              <a:rPr sz="2400" spc="-10" dirty="0">
                <a:latin typeface="Times New Roman"/>
                <a:cs typeface="Times New Roman"/>
              </a:rPr>
              <a:t> </a:t>
            </a:r>
            <a:r>
              <a:rPr sz="2400" dirty="0">
                <a:latin typeface="Times New Roman"/>
                <a:cs typeface="Times New Roman"/>
              </a:rPr>
              <a:t>program</a:t>
            </a:r>
            <a:r>
              <a:rPr sz="2400" spc="-10" dirty="0">
                <a:latin typeface="Times New Roman"/>
                <a:cs typeface="Times New Roman"/>
              </a:rPr>
              <a:t> before</a:t>
            </a:r>
            <a:r>
              <a:rPr sz="2400" dirty="0">
                <a:latin typeface="Times New Roman"/>
                <a:cs typeface="Times New Roman"/>
              </a:rPr>
              <a:t>	</a:t>
            </a:r>
            <a:r>
              <a:rPr sz="2400" spc="-10" dirty="0">
                <a:latin typeface="Times New Roman"/>
                <a:cs typeface="Times New Roman"/>
              </a:rPr>
              <a:t>func()</a:t>
            </a:r>
            <a:r>
              <a:rPr sz="2400" dirty="0">
                <a:latin typeface="Times New Roman"/>
                <a:cs typeface="Times New Roman"/>
              </a:rPr>
              <a:t>	</a:t>
            </a:r>
            <a:r>
              <a:rPr sz="2400" spc="-10" dirty="0">
                <a:latin typeface="Times New Roman"/>
                <a:cs typeface="Times New Roman"/>
              </a:rPr>
              <a:t>exists.</a:t>
            </a:r>
            <a:endParaRPr sz="2400" dirty="0">
              <a:latin typeface="Times New Roman"/>
              <a:cs typeface="Times New Roman"/>
            </a:endParaRPr>
          </a:p>
          <a:p>
            <a:pPr lvl="1">
              <a:lnSpc>
                <a:spcPct val="100000"/>
              </a:lnSpc>
              <a:spcBef>
                <a:spcPts val="620"/>
              </a:spcBef>
              <a:buClr>
                <a:srgbClr val="9B2C1F"/>
              </a:buClr>
              <a:buFont typeface="Segoe UI Symbol"/>
              <a:buChar char="⚫"/>
            </a:pPr>
            <a:endParaRPr sz="2400" dirty="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0589" rIns="0" bIns="0" rtlCol="0">
            <a:spAutoFit/>
          </a:bodyPr>
          <a:lstStyle/>
          <a:p>
            <a:pPr marL="165100">
              <a:lnSpc>
                <a:spcPct val="100000"/>
              </a:lnSpc>
              <a:spcBef>
                <a:spcPts val="105"/>
              </a:spcBef>
            </a:pPr>
            <a:r>
              <a:rPr dirty="0"/>
              <a:t>Many</a:t>
            </a:r>
            <a:r>
              <a:rPr spc="-10" dirty="0"/>
              <a:t> </a:t>
            </a:r>
            <a:r>
              <a:rPr dirty="0"/>
              <a:t>unsafe</a:t>
            </a:r>
            <a:r>
              <a:rPr spc="-5" dirty="0"/>
              <a:t> </a:t>
            </a:r>
            <a:r>
              <a:rPr dirty="0"/>
              <a:t>libc</a:t>
            </a:r>
            <a:r>
              <a:rPr spc="-25" dirty="0"/>
              <a:t> </a:t>
            </a:r>
            <a:r>
              <a:rPr spc="-10" dirty="0"/>
              <a:t>functions</a:t>
            </a:r>
          </a:p>
        </p:txBody>
      </p:sp>
      <p:sp>
        <p:nvSpPr>
          <p:cNvPr id="3" name="object 3"/>
          <p:cNvSpPr txBox="1"/>
          <p:nvPr/>
        </p:nvSpPr>
        <p:spPr>
          <a:xfrm>
            <a:off x="582294" y="1146365"/>
            <a:ext cx="4352925" cy="1790064"/>
          </a:xfrm>
          <a:prstGeom prst="rect">
            <a:avLst/>
          </a:prstGeom>
        </p:spPr>
        <p:txBody>
          <a:bodyPr vert="horz" wrap="square" lIns="0" tIns="7620" rIns="0" bIns="0" rtlCol="0">
            <a:spAutoFit/>
          </a:bodyPr>
          <a:lstStyle/>
          <a:p>
            <a:pPr marL="12700" marR="5080">
              <a:lnSpc>
                <a:spcPct val="121300"/>
              </a:lnSpc>
              <a:spcBef>
                <a:spcPts val="60"/>
              </a:spcBef>
              <a:tabLst>
                <a:tab pos="2408555" algn="l"/>
              </a:tabLst>
            </a:pPr>
            <a:r>
              <a:rPr sz="2400" dirty="0">
                <a:solidFill>
                  <a:srgbClr val="000090"/>
                </a:solidFill>
                <a:latin typeface="Times New Roman"/>
                <a:cs typeface="Times New Roman"/>
              </a:rPr>
              <a:t>strcpy</a:t>
            </a:r>
            <a:r>
              <a:rPr sz="2400" spc="-15" dirty="0">
                <a:solidFill>
                  <a:srgbClr val="000090"/>
                </a:solidFill>
                <a:latin typeface="Times New Roman"/>
                <a:cs typeface="Times New Roman"/>
              </a:rPr>
              <a:t> </a:t>
            </a:r>
            <a:r>
              <a:rPr sz="2400" dirty="0">
                <a:latin typeface="Times New Roman"/>
                <a:cs typeface="Times New Roman"/>
              </a:rPr>
              <a:t>(char</a:t>
            </a:r>
            <a:r>
              <a:rPr sz="2400" spc="-10" dirty="0">
                <a:latin typeface="Times New Roman"/>
                <a:cs typeface="Times New Roman"/>
              </a:rPr>
              <a:t> *dest,</a:t>
            </a:r>
            <a:r>
              <a:rPr sz="2400" dirty="0">
                <a:latin typeface="Times New Roman"/>
                <a:cs typeface="Times New Roman"/>
              </a:rPr>
              <a:t>	const</a:t>
            </a:r>
            <a:r>
              <a:rPr sz="2400" spc="-55" dirty="0">
                <a:latin typeface="Times New Roman"/>
                <a:cs typeface="Times New Roman"/>
              </a:rPr>
              <a:t> </a:t>
            </a:r>
            <a:r>
              <a:rPr sz="2400" dirty="0">
                <a:latin typeface="Times New Roman"/>
                <a:cs typeface="Times New Roman"/>
              </a:rPr>
              <a:t>char</a:t>
            </a:r>
            <a:r>
              <a:rPr sz="2400" spc="-10" dirty="0">
                <a:latin typeface="Times New Roman"/>
                <a:cs typeface="Times New Roman"/>
              </a:rPr>
              <a:t> *src) </a:t>
            </a:r>
            <a:r>
              <a:rPr sz="2400" dirty="0">
                <a:solidFill>
                  <a:srgbClr val="000090"/>
                </a:solidFill>
                <a:latin typeface="Times New Roman"/>
                <a:cs typeface="Times New Roman"/>
              </a:rPr>
              <a:t>strcat</a:t>
            </a:r>
            <a:r>
              <a:rPr sz="2400" spc="-15" dirty="0">
                <a:solidFill>
                  <a:srgbClr val="000090"/>
                </a:solidFill>
                <a:latin typeface="Times New Roman"/>
                <a:cs typeface="Times New Roman"/>
              </a:rPr>
              <a:t> </a:t>
            </a:r>
            <a:r>
              <a:rPr sz="2400" dirty="0">
                <a:latin typeface="Times New Roman"/>
                <a:cs typeface="Times New Roman"/>
              </a:rPr>
              <a:t>(char</a:t>
            </a:r>
            <a:r>
              <a:rPr sz="2400" spc="-15" dirty="0">
                <a:latin typeface="Times New Roman"/>
                <a:cs typeface="Times New Roman"/>
              </a:rPr>
              <a:t> </a:t>
            </a:r>
            <a:r>
              <a:rPr sz="2400" dirty="0">
                <a:latin typeface="Times New Roman"/>
                <a:cs typeface="Times New Roman"/>
              </a:rPr>
              <a:t>*dest,</a:t>
            </a:r>
            <a:r>
              <a:rPr sz="2400" spc="-45" dirty="0">
                <a:latin typeface="Times New Roman"/>
                <a:cs typeface="Times New Roman"/>
              </a:rPr>
              <a:t> </a:t>
            </a:r>
            <a:r>
              <a:rPr sz="2400" dirty="0">
                <a:latin typeface="Times New Roman"/>
                <a:cs typeface="Times New Roman"/>
              </a:rPr>
              <a:t>const</a:t>
            </a:r>
            <a:r>
              <a:rPr sz="2400" spc="-60" dirty="0">
                <a:latin typeface="Times New Roman"/>
                <a:cs typeface="Times New Roman"/>
              </a:rPr>
              <a:t> </a:t>
            </a:r>
            <a:r>
              <a:rPr sz="2400" dirty="0">
                <a:latin typeface="Times New Roman"/>
                <a:cs typeface="Times New Roman"/>
              </a:rPr>
              <a:t>char</a:t>
            </a:r>
            <a:r>
              <a:rPr sz="2400" spc="-20" dirty="0">
                <a:latin typeface="Times New Roman"/>
                <a:cs typeface="Times New Roman"/>
              </a:rPr>
              <a:t> </a:t>
            </a:r>
            <a:r>
              <a:rPr sz="2400" spc="-10" dirty="0">
                <a:latin typeface="Times New Roman"/>
                <a:cs typeface="Times New Roman"/>
              </a:rPr>
              <a:t>*src) </a:t>
            </a:r>
            <a:r>
              <a:rPr sz="2400" dirty="0">
                <a:solidFill>
                  <a:srgbClr val="000090"/>
                </a:solidFill>
                <a:latin typeface="Times New Roman"/>
                <a:cs typeface="Times New Roman"/>
              </a:rPr>
              <a:t>gets</a:t>
            </a:r>
            <a:r>
              <a:rPr sz="2400" spc="-15" dirty="0">
                <a:solidFill>
                  <a:srgbClr val="000090"/>
                </a:solidFill>
                <a:latin typeface="Times New Roman"/>
                <a:cs typeface="Times New Roman"/>
              </a:rPr>
              <a:t> </a:t>
            </a:r>
            <a:r>
              <a:rPr sz="2400" dirty="0">
                <a:latin typeface="Times New Roman"/>
                <a:cs typeface="Times New Roman"/>
              </a:rPr>
              <a:t>(char </a:t>
            </a:r>
            <a:r>
              <a:rPr sz="2400" spc="-25" dirty="0">
                <a:latin typeface="Times New Roman"/>
                <a:cs typeface="Times New Roman"/>
              </a:rPr>
              <a:t>*s)</a:t>
            </a:r>
            <a:endParaRPr sz="2400">
              <a:latin typeface="Times New Roman"/>
              <a:cs typeface="Times New Roman"/>
            </a:endParaRPr>
          </a:p>
          <a:p>
            <a:pPr marL="12700">
              <a:lnSpc>
                <a:spcPct val="100000"/>
              </a:lnSpc>
              <a:spcBef>
                <a:spcPts val="575"/>
              </a:spcBef>
            </a:pPr>
            <a:r>
              <a:rPr sz="2400" dirty="0">
                <a:solidFill>
                  <a:srgbClr val="000090"/>
                </a:solidFill>
                <a:latin typeface="Times New Roman"/>
                <a:cs typeface="Times New Roman"/>
              </a:rPr>
              <a:t>scanf</a:t>
            </a:r>
            <a:r>
              <a:rPr sz="2400" spc="-25" dirty="0">
                <a:solidFill>
                  <a:srgbClr val="000090"/>
                </a:solidFill>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const</a:t>
            </a:r>
            <a:r>
              <a:rPr sz="2400" spc="-40" dirty="0">
                <a:latin typeface="Times New Roman"/>
                <a:cs typeface="Times New Roman"/>
              </a:rPr>
              <a:t> </a:t>
            </a:r>
            <a:r>
              <a:rPr sz="2400" dirty="0">
                <a:latin typeface="Times New Roman"/>
                <a:cs typeface="Times New Roman"/>
              </a:rPr>
              <a:t>char</a:t>
            </a:r>
            <a:r>
              <a:rPr sz="2400" spc="10" dirty="0">
                <a:latin typeface="Times New Roman"/>
                <a:cs typeface="Times New Roman"/>
              </a:rPr>
              <a:t> </a:t>
            </a:r>
            <a:r>
              <a:rPr sz="2400" dirty="0">
                <a:latin typeface="Times New Roman"/>
                <a:cs typeface="Times New Roman"/>
              </a:rPr>
              <a:t>*format,</a:t>
            </a:r>
            <a:r>
              <a:rPr sz="2400" spc="-1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spc="-50" dirty="0">
                <a:latin typeface="Times New Roman"/>
                <a:cs typeface="Times New Roman"/>
              </a:rPr>
              <a:t>)</a:t>
            </a:r>
            <a:endParaRPr sz="2400">
              <a:latin typeface="Times New Roman"/>
              <a:cs typeface="Times New Roman"/>
            </a:endParaRPr>
          </a:p>
        </p:txBody>
      </p:sp>
      <p:sp>
        <p:nvSpPr>
          <p:cNvPr id="4" name="object 4"/>
          <p:cNvSpPr txBox="1"/>
          <p:nvPr/>
        </p:nvSpPr>
        <p:spPr>
          <a:xfrm>
            <a:off x="5242444" y="2544444"/>
            <a:ext cx="2000250"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many</a:t>
            </a:r>
            <a:r>
              <a:rPr sz="2400" spc="-15" dirty="0">
                <a:latin typeface="Times New Roman"/>
                <a:cs typeface="Times New Roman"/>
              </a:rPr>
              <a:t> </a:t>
            </a:r>
            <a:r>
              <a:rPr sz="2400" spc="-20" dirty="0">
                <a:latin typeface="Times New Roman"/>
                <a:cs typeface="Times New Roman"/>
              </a:rPr>
              <a:t>more.</a:t>
            </a:r>
            <a:endParaRPr sz="2400">
              <a:latin typeface="Times New Roman"/>
              <a:cs typeface="Times New Roman"/>
            </a:endParaRPr>
          </a:p>
        </p:txBody>
      </p:sp>
      <p:sp>
        <p:nvSpPr>
          <p:cNvPr id="5" name="object 5"/>
          <p:cNvSpPr txBox="1"/>
          <p:nvPr/>
        </p:nvSpPr>
        <p:spPr>
          <a:xfrm>
            <a:off x="307657" y="3101784"/>
            <a:ext cx="7096125" cy="864869"/>
          </a:xfrm>
          <a:prstGeom prst="rect">
            <a:avLst/>
          </a:prstGeom>
        </p:spPr>
        <p:txBody>
          <a:bodyPr vert="horz" wrap="square" lIns="0" tIns="66675" rIns="0" bIns="0" rtlCol="0">
            <a:spAutoFit/>
          </a:bodyPr>
          <a:lstStyle/>
          <a:p>
            <a:pPr marL="287020" indent="-274320">
              <a:lnSpc>
                <a:spcPct val="100000"/>
              </a:lnSpc>
              <a:spcBef>
                <a:spcPts val="525"/>
              </a:spcBef>
              <a:buClr>
                <a:srgbClr val="D24717"/>
              </a:buClr>
              <a:buSzPct val="83333"/>
              <a:buFont typeface="Segoe UI Symbol"/>
              <a:buChar char="⚫"/>
              <a:tabLst>
                <a:tab pos="287020" algn="l"/>
                <a:tab pos="2877185" algn="l"/>
                <a:tab pos="5299075" algn="l"/>
              </a:tabLst>
            </a:pPr>
            <a:r>
              <a:rPr sz="2400" dirty="0">
                <a:latin typeface="Times New Roman"/>
                <a:cs typeface="Times New Roman"/>
              </a:rPr>
              <a:t>“Safe”</a:t>
            </a:r>
            <a:r>
              <a:rPr sz="2400" spc="-15" dirty="0">
                <a:latin typeface="Times New Roman"/>
                <a:cs typeface="Times New Roman"/>
              </a:rPr>
              <a:t> </a:t>
            </a:r>
            <a:r>
              <a:rPr sz="2400" dirty="0">
                <a:latin typeface="Times New Roman"/>
                <a:cs typeface="Times New Roman"/>
              </a:rPr>
              <a:t>libc</a:t>
            </a:r>
            <a:r>
              <a:rPr sz="2400" spc="-40" dirty="0">
                <a:latin typeface="Times New Roman"/>
                <a:cs typeface="Times New Roman"/>
              </a:rPr>
              <a:t> </a:t>
            </a:r>
            <a:r>
              <a:rPr sz="2400" spc="-10" dirty="0">
                <a:latin typeface="Times New Roman"/>
                <a:cs typeface="Times New Roman"/>
              </a:rPr>
              <a:t>versions</a:t>
            </a:r>
            <a:r>
              <a:rPr sz="2400" dirty="0">
                <a:latin typeface="Times New Roman"/>
                <a:cs typeface="Times New Roman"/>
              </a:rPr>
              <a:t>	</a:t>
            </a:r>
            <a:r>
              <a:rPr sz="2400" dirty="0">
                <a:solidFill>
                  <a:srgbClr val="000090"/>
                </a:solidFill>
                <a:latin typeface="Times New Roman"/>
                <a:cs typeface="Times New Roman"/>
              </a:rPr>
              <a:t>strncpy(),</a:t>
            </a:r>
            <a:r>
              <a:rPr sz="2400" spc="-30" dirty="0">
                <a:solidFill>
                  <a:srgbClr val="000090"/>
                </a:solidFill>
                <a:latin typeface="Times New Roman"/>
                <a:cs typeface="Times New Roman"/>
              </a:rPr>
              <a:t> </a:t>
            </a:r>
            <a:r>
              <a:rPr sz="2400" spc="-10" dirty="0">
                <a:solidFill>
                  <a:srgbClr val="000090"/>
                </a:solidFill>
                <a:latin typeface="Times New Roman"/>
                <a:cs typeface="Times New Roman"/>
              </a:rPr>
              <a:t>strncat()</a:t>
            </a:r>
            <a:r>
              <a:rPr sz="2400" dirty="0">
                <a:solidFill>
                  <a:srgbClr val="000090"/>
                </a:solidFill>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spc="-10" dirty="0">
                <a:latin typeface="Times New Roman"/>
                <a:cs typeface="Times New Roman"/>
              </a:rPr>
              <a:t>misleading</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 pos="1154430" algn="l"/>
                <a:tab pos="2484755" algn="l"/>
              </a:tabLst>
            </a:pPr>
            <a:r>
              <a:rPr sz="2400" spc="-20" dirty="0">
                <a:latin typeface="Times New Roman"/>
                <a:cs typeface="Times New Roman"/>
              </a:rPr>
              <a:t>e.g.</a:t>
            </a:r>
            <a:r>
              <a:rPr sz="2400" dirty="0">
                <a:latin typeface="Times New Roman"/>
                <a:cs typeface="Times New Roman"/>
              </a:rPr>
              <a:t>	</a:t>
            </a:r>
            <a:r>
              <a:rPr sz="2400" spc="-10" dirty="0">
                <a:solidFill>
                  <a:srgbClr val="000090"/>
                </a:solidFill>
                <a:latin typeface="Times New Roman"/>
                <a:cs typeface="Times New Roman"/>
              </a:rPr>
              <a:t>strncpy()</a:t>
            </a:r>
            <a:r>
              <a:rPr sz="2400" dirty="0">
                <a:solidFill>
                  <a:srgbClr val="000090"/>
                </a:solidFill>
                <a:latin typeface="Times New Roman"/>
                <a:cs typeface="Times New Roman"/>
              </a:rPr>
              <a:t>	</a:t>
            </a:r>
            <a:r>
              <a:rPr sz="2400" dirty="0">
                <a:latin typeface="Times New Roman"/>
                <a:cs typeface="Times New Roman"/>
              </a:rPr>
              <a:t>may</a:t>
            </a:r>
            <a:r>
              <a:rPr sz="2400" spc="-20" dirty="0">
                <a:latin typeface="Times New Roman"/>
                <a:cs typeface="Times New Roman"/>
              </a:rPr>
              <a:t> </a:t>
            </a:r>
            <a:r>
              <a:rPr sz="2400" dirty="0">
                <a:latin typeface="Times New Roman"/>
                <a:cs typeface="Times New Roman"/>
              </a:rPr>
              <a:t>leave</a:t>
            </a:r>
            <a:r>
              <a:rPr sz="2400" spc="-35" dirty="0">
                <a:latin typeface="Times New Roman"/>
                <a:cs typeface="Times New Roman"/>
              </a:rPr>
              <a:t> </a:t>
            </a:r>
            <a:r>
              <a:rPr sz="2400" dirty="0">
                <a:latin typeface="Times New Roman"/>
                <a:cs typeface="Times New Roman"/>
              </a:rPr>
              <a:t>string</a:t>
            </a:r>
            <a:r>
              <a:rPr sz="2400" spc="5" dirty="0">
                <a:latin typeface="Times New Roman"/>
                <a:cs typeface="Times New Roman"/>
              </a:rPr>
              <a:t> </a:t>
            </a:r>
            <a:r>
              <a:rPr sz="2400" spc="-10" dirty="0">
                <a:latin typeface="Times New Roman"/>
                <a:cs typeface="Times New Roman"/>
              </a:rPr>
              <a:t>unterminated.</a:t>
            </a:r>
            <a:endParaRPr sz="2400">
              <a:latin typeface="Times New Roman"/>
              <a:cs typeface="Times New Roman"/>
            </a:endParaRPr>
          </a:p>
        </p:txBody>
      </p:sp>
      <p:sp>
        <p:nvSpPr>
          <p:cNvPr id="6" name="object 6"/>
          <p:cNvSpPr txBox="1"/>
          <p:nvPr/>
        </p:nvSpPr>
        <p:spPr>
          <a:xfrm>
            <a:off x="307657" y="4170108"/>
            <a:ext cx="4497070" cy="902969"/>
          </a:xfrm>
          <a:prstGeom prst="rect">
            <a:avLst/>
          </a:prstGeom>
        </p:spPr>
        <p:txBody>
          <a:bodyPr vert="horz" wrap="square" lIns="0" tIns="85725" rIns="0" bIns="0" rtlCol="0">
            <a:spAutoFit/>
          </a:bodyPr>
          <a:lstStyle/>
          <a:p>
            <a:pPr marL="287020" indent="-274320">
              <a:lnSpc>
                <a:spcPct val="100000"/>
              </a:lnSpc>
              <a:spcBef>
                <a:spcPts val="675"/>
              </a:spcBef>
              <a:buClr>
                <a:srgbClr val="D24717"/>
              </a:buClr>
              <a:buSzPct val="83333"/>
              <a:buFont typeface="Segoe UI Symbol"/>
              <a:buChar char="⚫"/>
              <a:tabLst>
                <a:tab pos="287020" algn="l"/>
                <a:tab pos="2973070" algn="l"/>
              </a:tabLst>
            </a:pPr>
            <a:r>
              <a:rPr sz="2400" spc="-10" dirty="0">
                <a:latin typeface="Times New Roman"/>
                <a:cs typeface="Times New Roman"/>
              </a:rPr>
              <a:t>Windows</a:t>
            </a:r>
            <a:r>
              <a:rPr sz="2400" spc="-75"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run</a:t>
            </a:r>
            <a:r>
              <a:rPr sz="2400" spc="-30" dirty="0">
                <a:latin typeface="Times New Roman"/>
                <a:cs typeface="Times New Roman"/>
              </a:rPr>
              <a:t> </a:t>
            </a:r>
            <a:r>
              <a:rPr sz="2400" spc="-20" dirty="0">
                <a:latin typeface="Times New Roman"/>
                <a:cs typeface="Times New Roman"/>
              </a:rPr>
              <a:t>time</a:t>
            </a:r>
            <a:r>
              <a:rPr sz="2400" dirty="0">
                <a:latin typeface="Times New Roman"/>
                <a:cs typeface="Times New Roman"/>
              </a:rPr>
              <a:t>	</a:t>
            </a:r>
            <a:r>
              <a:rPr sz="2400" spc="-10" dirty="0">
                <a:latin typeface="Times New Roman"/>
                <a:cs typeface="Times New Roman"/>
              </a:rPr>
              <a:t>(CRT):</a:t>
            </a:r>
            <a:endParaRPr sz="2400">
              <a:latin typeface="Times New Roman"/>
              <a:cs typeface="Times New Roman"/>
            </a:endParaRPr>
          </a:p>
          <a:p>
            <a:pPr marL="561340" lvl="1" indent="-228600">
              <a:lnSpc>
                <a:spcPct val="100000"/>
              </a:lnSpc>
              <a:spcBef>
                <a:spcPts val="575"/>
              </a:spcBef>
              <a:buClr>
                <a:srgbClr val="9B2C1F"/>
              </a:buClr>
              <a:buSzPct val="83333"/>
              <a:buFont typeface="Segoe UI Symbol"/>
              <a:buChar char="⚫"/>
              <a:tabLst>
                <a:tab pos="561340" algn="l"/>
              </a:tabLst>
            </a:pPr>
            <a:r>
              <a:rPr sz="2400" dirty="0">
                <a:solidFill>
                  <a:srgbClr val="000090"/>
                </a:solidFill>
                <a:latin typeface="Times New Roman"/>
                <a:cs typeface="Times New Roman"/>
              </a:rPr>
              <a:t>strcpy_s</a:t>
            </a:r>
            <a:r>
              <a:rPr sz="2400" spc="-25" dirty="0">
                <a:solidFill>
                  <a:srgbClr val="000090"/>
                </a:solidFill>
                <a:latin typeface="Times New Roman"/>
                <a:cs typeface="Times New Roman"/>
              </a:rPr>
              <a:t> </a:t>
            </a:r>
            <a:r>
              <a:rPr sz="2400" dirty="0">
                <a:solidFill>
                  <a:srgbClr val="000090"/>
                </a:solidFill>
                <a:latin typeface="Times New Roman"/>
                <a:cs typeface="Times New Roman"/>
              </a:rPr>
              <a:t>(*dest,</a:t>
            </a:r>
            <a:r>
              <a:rPr sz="2400" spc="-45" dirty="0">
                <a:solidFill>
                  <a:srgbClr val="000090"/>
                </a:solidFill>
                <a:latin typeface="Times New Roman"/>
                <a:cs typeface="Times New Roman"/>
              </a:rPr>
              <a:t> </a:t>
            </a:r>
            <a:r>
              <a:rPr sz="2400" dirty="0">
                <a:solidFill>
                  <a:srgbClr val="000090"/>
                </a:solidFill>
                <a:latin typeface="Times New Roman"/>
                <a:cs typeface="Times New Roman"/>
              </a:rPr>
              <a:t>DestSize,</a:t>
            </a:r>
            <a:r>
              <a:rPr sz="2400" spc="-50" dirty="0">
                <a:solidFill>
                  <a:srgbClr val="000090"/>
                </a:solidFill>
                <a:latin typeface="Times New Roman"/>
                <a:cs typeface="Times New Roman"/>
              </a:rPr>
              <a:t> </a:t>
            </a:r>
            <a:r>
              <a:rPr sz="2400" spc="-10" dirty="0">
                <a:solidFill>
                  <a:srgbClr val="000090"/>
                </a:solidFill>
                <a:latin typeface="Times New Roman"/>
                <a:cs typeface="Times New Roman"/>
              </a:rPr>
              <a:t>*src)</a:t>
            </a:r>
            <a:r>
              <a:rPr sz="2400" spc="-10" dirty="0">
                <a:latin typeface="Times New Roman"/>
                <a:cs typeface="Times New Roman"/>
              </a:rPr>
              <a:t>:</a:t>
            </a:r>
            <a:endParaRPr sz="2400">
              <a:latin typeface="Times New Roman"/>
              <a:cs typeface="Times New Roman"/>
            </a:endParaRPr>
          </a:p>
        </p:txBody>
      </p:sp>
      <p:sp>
        <p:nvSpPr>
          <p:cNvPr id="7" name="object 7"/>
          <p:cNvSpPr txBox="1"/>
          <p:nvPr/>
        </p:nvSpPr>
        <p:spPr>
          <a:xfrm>
            <a:off x="5009131" y="4681537"/>
            <a:ext cx="329819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ensures</a:t>
            </a:r>
            <a:r>
              <a:rPr sz="2400" spc="5" dirty="0">
                <a:latin typeface="Times New Roman"/>
                <a:cs typeface="Times New Roman"/>
              </a:rPr>
              <a:t> </a:t>
            </a:r>
            <a:r>
              <a:rPr sz="2400" dirty="0">
                <a:latin typeface="Times New Roman"/>
                <a:cs typeface="Times New Roman"/>
              </a:rPr>
              <a:t>proper</a:t>
            </a:r>
            <a:r>
              <a:rPr sz="2400" spc="-80" dirty="0">
                <a:latin typeface="Times New Roman"/>
                <a:cs typeface="Times New Roman"/>
              </a:rPr>
              <a:t> </a:t>
            </a:r>
            <a:r>
              <a:rPr sz="2400" spc="-10" dirty="0">
                <a:latin typeface="Times New Roman"/>
                <a:cs typeface="Times New Roman"/>
              </a:rPr>
              <a:t>termination</a:t>
            </a:r>
            <a:endParaRPr sz="2400">
              <a:latin typeface="Times New Roman"/>
              <a:cs typeface="Times New Roman"/>
            </a:endParaRPr>
          </a:p>
        </p:txBody>
      </p:sp>
      <p:grpSp>
        <p:nvGrpSpPr>
          <p:cNvPr id="8" name="object 8"/>
          <p:cNvGrpSpPr/>
          <p:nvPr/>
        </p:nvGrpSpPr>
        <p:grpSpPr>
          <a:xfrm>
            <a:off x="200019" y="3037978"/>
            <a:ext cx="8749030" cy="81915"/>
            <a:chOff x="200019" y="3037978"/>
            <a:chExt cx="8749030" cy="81915"/>
          </a:xfrm>
        </p:grpSpPr>
        <p:pic>
          <p:nvPicPr>
            <p:cNvPr id="9" name="object 9"/>
            <p:cNvPicPr/>
            <p:nvPr/>
          </p:nvPicPr>
          <p:blipFill>
            <a:blip r:embed="rId2" cstate="print"/>
            <a:stretch>
              <a:fillRect/>
            </a:stretch>
          </p:blipFill>
          <p:spPr>
            <a:xfrm>
              <a:off x="200019" y="3037978"/>
              <a:ext cx="8748791" cy="81828"/>
            </a:xfrm>
            <a:prstGeom prst="rect">
              <a:avLst/>
            </a:prstGeom>
          </p:spPr>
        </p:pic>
        <p:sp>
          <p:nvSpPr>
            <p:cNvPr id="10" name="object 10"/>
            <p:cNvSpPr/>
            <p:nvPr/>
          </p:nvSpPr>
          <p:spPr>
            <a:xfrm>
              <a:off x="233362" y="3052825"/>
              <a:ext cx="8687435" cy="0"/>
            </a:xfrm>
            <a:custGeom>
              <a:avLst/>
              <a:gdLst/>
              <a:ahLst/>
              <a:cxnLst/>
              <a:rect l="l" t="t" r="r" b="b"/>
              <a:pathLst>
                <a:path w="8687435">
                  <a:moveTo>
                    <a:pt x="0" y="0"/>
                  </a:moveTo>
                  <a:lnTo>
                    <a:pt x="8686863" y="0"/>
                  </a:lnTo>
                </a:path>
              </a:pathLst>
            </a:custGeom>
            <a:ln w="12700">
              <a:solidFill>
                <a:srgbClr val="D24717"/>
              </a:solidFill>
            </a:ln>
          </p:spPr>
          <p:txBody>
            <a:bodyPr wrap="square" lIns="0" tIns="0" rIns="0" bIns="0" rtlCol="0"/>
            <a:lstStyle/>
            <a:p>
              <a:endParaRPr/>
            </a:p>
          </p:txBody>
        </p:sp>
      </p:grpSp>
      <p:grpSp>
        <p:nvGrpSpPr>
          <p:cNvPr id="11" name="object 11"/>
          <p:cNvGrpSpPr/>
          <p:nvPr/>
        </p:nvGrpSpPr>
        <p:grpSpPr>
          <a:xfrm>
            <a:off x="200019" y="4104778"/>
            <a:ext cx="8749030" cy="81915"/>
            <a:chOff x="200019" y="4104778"/>
            <a:chExt cx="8749030" cy="81915"/>
          </a:xfrm>
        </p:grpSpPr>
        <p:pic>
          <p:nvPicPr>
            <p:cNvPr id="12" name="object 12"/>
            <p:cNvPicPr/>
            <p:nvPr/>
          </p:nvPicPr>
          <p:blipFill>
            <a:blip r:embed="rId2" cstate="print"/>
            <a:stretch>
              <a:fillRect/>
            </a:stretch>
          </p:blipFill>
          <p:spPr>
            <a:xfrm>
              <a:off x="200019" y="4104778"/>
              <a:ext cx="8748791" cy="81828"/>
            </a:xfrm>
            <a:prstGeom prst="rect">
              <a:avLst/>
            </a:prstGeom>
          </p:spPr>
        </p:pic>
        <p:sp>
          <p:nvSpPr>
            <p:cNvPr id="13" name="object 13"/>
            <p:cNvSpPr/>
            <p:nvPr/>
          </p:nvSpPr>
          <p:spPr>
            <a:xfrm>
              <a:off x="233362" y="4119625"/>
              <a:ext cx="8687435" cy="0"/>
            </a:xfrm>
            <a:custGeom>
              <a:avLst/>
              <a:gdLst/>
              <a:ahLst/>
              <a:cxnLst/>
              <a:rect l="l" t="t" r="r" b="b"/>
              <a:pathLst>
                <a:path w="8687435">
                  <a:moveTo>
                    <a:pt x="0" y="0"/>
                  </a:moveTo>
                  <a:lnTo>
                    <a:pt x="8686863" y="0"/>
                  </a:lnTo>
                </a:path>
              </a:pathLst>
            </a:custGeom>
            <a:ln w="12700">
              <a:solidFill>
                <a:srgbClr val="D24717"/>
              </a:solidFill>
            </a:ln>
          </p:spPr>
          <p:txBody>
            <a:bodyPr wrap="square" lIns="0" tIns="0" rIns="0" bIns="0" rtlCol="0"/>
            <a:lstStyle/>
            <a:p>
              <a:endParaRPr/>
            </a:p>
          </p:txBody>
        </p:sp>
      </p:grpSp>
      <p:pic>
        <p:nvPicPr>
          <p:cNvPr id="14" name="object 14"/>
          <p:cNvPicPr/>
          <p:nvPr/>
        </p:nvPicPr>
        <p:blipFill>
          <a:blip r:embed="rId3" cstate="print"/>
          <a:stretch>
            <a:fillRect/>
          </a:stretch>
        </p:blipFill>
        <p:spPr>
          <a:xfrm>
            <a:off x="457200" y="6248400"/>
            <a:ext cx="476250" cy="381000"/>
          </a:xfrm>
          <a:prstGeom prst="rect">
            <a:avLst/>
          </a:prstGeom>
        </p:spPr>
      </p:pic>
      <p:sp>
        <p:nvSpPr>
          <p:cNvPr id="15" name="object 1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2189" rIns="0" bIns="0" rtlCol="0">
            <a:spAutoFit/>
          </a:bodyPr>
          <a:lstStyle/>
          <a:p>
            <a:pPr marL="165100">
              <a:lnSpc>
                <a:spcPct val="100000"/>
              </a:lnSpc>
              <a:spcBef>
                <a:spcPts val="105"/>
              </a:spcBef>
            </a:pPr>
            <a:r>
              <a:rPr dirty="0"/>
              <a:t>Finding</a:t>
            </a:r>
            <a:r>
              <a:rPr spc="-40" dirty="0"/>
              <a:t> </a:t>
            </a:r>
            <a:r>
              <a:rPr dirty="0"/>
              <a:t>buffer</a:t>
            </a:r>
            <a:r>
              <a:rPr spc="-30" dirty="0"/>
              <a:t> </a:t>
            </a:r>
            <a:r>
              <a:rPr spc="-10" dirty="0"/>
              <a:t>overflows</a:t>
            </a:r>
          </a:p>
        </p:txBody>
      </p:sp>
      <p:sp>
        <p:nvSpPr>
          <p:cNvPr id="3" name="object 3"/>
          <p:cNvSpPr txBox="1"/>
          <p:nvPr/>
        </p:nvSpPr>
        <p:spPr>
          <a:xfrm>
            <a:off x="307657" y="1432623"/>
            <a:ext cx="7232650" cy="2419985"/>
          </a:xfrm>
          <a:prstGeom prst="rect">
            <a:avLst/>
          </a:prstGeom>
        </p:spPr>
        <p:txBody>
          <a:bodyPr vert="horz" wrap="square" lIns="0" tIns="66675" rIns="0" bIns="0" rtlCol="0">
            <a:spAutoFit/>
          </a:bodyPr>
          <a:lstStyle/>
          <a:p>
            <a:pPr marL="294005" indent="-281305">
              <a:lnSpc>
                <a:spcPct val="100000"/>
              </a:lnSpc>
              <a:spcBef>
                <a:spcPts val="525"/>
              </a:spcBef>
              <a:buClr>
                <a:srgbClr val="D24717"/>
              </a:buClr>
              <a:buSzPct val="83333"/>
              <a:buFont typeface="Segoe UI Symbol"/>
              <a:buChar char="⚫"/>
              <a:tabLst>
                <a:tab pos="294005" algn="l"/>
              </a:tabLst>
            </a:pPr>
            <a:r>
              <a:rPr sz="2400" spc="-265" dirty="0">
                <a:latin typeface="Times New Roman"/>
                <a:cs typeface="Times New Roman"/>
              </a:rPr>
              <a:t>To</a:t>
            </a:r>
            <a:r>
              <a:rPr sz="2400" spc="-45" dirty="0">
                <a:latin typeface="Times New Roman"/>
                <a:cs typeface="Times New Roman"/>
              </a:rPr>
              <a:t> </a:t>
            </a:r>
            <a:r>
              <a:rPr sz="2400" spc="-140" dirty="0">
                <a:latin typeface="Times New Roman"/>
                <a:cs typeface="Times New Roman"/>
              </a:rPr>
              <a:t>find</a:t>
            </a:r>
            <a:r>
              <a:rPr sz="2400" spc="-40" dirty="0">
                <a:latin typeface="Times New Roman"/>
                <a:cs typeface="Times New Roman"/>
              </a:rPr>
              <a:t> </a:t>
            </a:r>
            <a:r>
              <a:rPr sz="2400" spc="-10" dirty="0">
                <a:latin typeface="Times New Roman"/>
                <a:cs typeface="Times New Roman"/>
              </a:rPr>
              <a:t>overflow:</a:t>
            </a:r>
            <a:endParaRPr sz="2400">
              <a:latin typeface="Times New Roman"/>
              <a:cs typeface="Times New Roman"/>
            </a:endParaRPr>
          </a:p>
          <a:p>
            <a:pPr marL="638175" lvl="1" indent="-230504">
              <a:lnSpc>
                <a:spcPct val="100000"/>
              </a:lnSpc>
              <a:spcBef>
                <a:spcPts val="425"/>
              </a:spcBef>
              <a:buClr>
                <a:srgbClr val="9B2C1F"/>
              </a:buClr>
              <a:buSzPct val="83333"/>
              <a:buFont typeface="Segoe UI Symbol"/>
              <a:buChar char="⚫"/>
              <a:tabLst>
                <a:tab pos="638175" algn="l"/>
              </a:tabLst>
            </a:pPr>
            <a:r>
              <a:rPr sz="2400" spc="-125" dirty="0">
                <a:latin typeface="Times New Roman"/>
                <a:cs typeface="Times New Roman"/>
              </a:rPr>
              <a:t>Run</a:t>
            </a:r>
            <a:r>
              <a:rPr sz="2400" spc="-30" dirty="0">
                <a:latin typeface="Times New Roman"/>
                <a:cs typeface="Times New Roman"/>
              </a:rPr>
              <a:t> </a:t>
            </a:r>
            <a:r>
              <a:rPr sz="2400" spc="-165" dirty="0">
                <a:latin typeface="Times New Roman"/>
                <a:cs typeface="Times New Roman"/>
              </a:rPr>
              <a:t>web</a:t>
            </a:r>
            <a:r>
              <a:rPr sz="2400" spc="-75" dirty="0">
                <a:latin typeface="Times New Roman"/>
                <a:cs typeface="Times New Roman"/>
              </a:rPr>
              <a:t> </a:t>
            </a:r>
            <a:r>
              <a:rPr sz="2400" spc="-95" dirty="0">
                <a:latin typeface="Times New Roman"/>
                <a:cs typeface="Times New Roman"/>
              </a:rPr>
              <a:t>server</a:t>
            </a:r>
            <a:r>
              <a:rPr sz="2400" spc="-55" dirty="0">
                <a:latin typeface="Times New Roman"/>
                <a:cs typeface="Times New Roman"/>
              </a:rPr>
              <a:t> </a:t>
            </a:r>
            <a:r>
              <a:rPr sz="2400" spc="-100" dirty="0">
                <a:latin typeface="Times New Roman"/>
                <a:cs typeface="Times New Roman"/>
              </a:rPr>
              <a:t>on</a:t>
            </a:r>
            <a:r>
              <a:rPr sz="2400" spc="-30" dirty="0">
                <a:latin typeface="Times New Roman"/>
                <a:cs typeface="Times New Roman"/>
              </a:rPr>
              <a:t> </a:t>
            </a:r>
            <a:r>
              <a:rPr sz="2400" spc="-135" dirty="0">
                <a:latin typeface="Times New Roman"/>
                <a:cs typeface="Times New Roman"/>
              </a:rPr>
              <a:t>local</a:t>
            </a:r>
            <a:r>
              <a:rPr sz="2400" spc="-30" dirty="0">
                <a:latin typeface="Times New Roman"/>
                <a:cs typeface="Times New Roman"/>
              </a:rPr>
              <a:t> </a:t>
            </a:r>
            <a:r>
              <a:rPr sz="2400" spc="-10" dirty="0">
                <a:latin typeface="Times New Roman"/>
                <a:cs typeface="Times New Roman"/>
              </a:rPr>
              <a:t>machine</a:t>
            </a:r>
            <a:endParaRPr sz="2400">
              <a:latin typeface="Times New Roman"/>
              <a:cs typeface="Times New Roman"/>
            </a:endParaRPr>
          </a:p>
          <a:p>
            <a:pPr marL="638175" lvl="1" indent="-230504">
              <a:lnSpc>
                <a:spcPct val="100000"/>
              </a:lnSpc>
              <a:spcBef>
                <a:spcPts val="425"/>
              </a:spcBef>
              <a:buClr>
                <a:srgbClr val="9B2C1F"/>
              </a:buClr>
              <a:buSzPct val="83333"/>
              <a:buFont typeface="Segoe UI Symbol"/>
              <a:buChar char="⚫"/>
              <a:tabLst>
                <a:tab pos="638175" algn="l"/>
                <a:tab pos="5097780" algn="l"/>
              </a:tabLst>
            </a:pPr>
            <a:r>
              <a:rPr sz="2400" spc="-160" dirty="0">
                <a:latin typeface="Times New Roman"/>
                <a:cs typeface="Times New Roman"/>
              </a:rPr>
              <a:t>Issue</a:t>
            </a:r>
            <a:r>
              <a:rPr sz="2400" spc="-25" dirty="0">
                <a:latin typeface="Times New Roman"/>
                <a:cs typeface="Times New Roman"/>
              </a:rPr>
              <a:t> </a:t>
            </a:r>
            <a:r>
              <a:rPr sz="2400" spc="-114" dirty="0">
                <a:latin typeface="Times New Roman"/>
                <a:cs typeface="Times New Roman"/>
              </a:rPr>
              <a:t>malformed</a:t>
            </a:r>
            <a:r>
              <a:rPr sz="2400" spc="5" dirty="0">
                <a:latin typeface="Times New Roman"/>
                <a:cs typeface="Times New Roman"/>
              </a:rPr>
              <a:t> </a:t>
            </a:r>
            <a:r>
              <a:rPr sz="2400" spc="-105" dirty="0">
                <a:latin typeface="Times New Roman"/>
                <a:cs typeface="Times New Roman"/>
              </a:rPr>
              <a:t>requests</a:t>
            </a:r>
            <a:r>
              <a:rPr sz="2400" spc="-25" dirty="0">
                <a:latin typeface="Times New Roman"/>
                <a:cs typeface="Times New Roman"/>
              </a:rPr>
              <a:t> </a:t>
            </a:r>
            <a:r>
              <a:rPr sz="2400" spc="-114" dirty="0">
                <a:latin typeface="Times New Roman"/>
                <a:cs typeface="Times New Roman"/>
              </a:rPr>
              <a:t>(ending</a:t>
            </a:r>
            <a:r>
              <a:rPr sz="2400" spc="-50" dirty="0">
                <a:latin typeface="Times New Roman"/>
                <a:cs typeface="Times New Roman"/>
              </a:rPr>
              <a:t> </a:t>
            </a:r>
            <a:r>
              <a:rPr sz="2400" spc="-20" dirty="0">
                <a:latin typeface="Times New Roman"/>
                <a:cs typeface="Times New Roman"/>
              </a:rPr>
              <a:t>with</a:t>
            </a:r>
            <a:r>
              <a:rPr sz="2400" dirty="0">
                <a:latin typeface="Times New Roman"/>
                <a:cs typeface="Times New Roman"/>
              </a:rPr>
              <a:t>	</a:t>
            </a:r>
            <a:r>
              <a:rPr sz="2400" spc="-185" dirty="0">
                <a:latin typeface="Times New Roman"/>
                <a:cs typeface="Times New Roman"/>
              </a:rPr>
              <a:t>“$$$$$”</a:t>
            </a:r>
            <a:r>
              <a:rPr sz="2400" spc="-9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1037590" lvl="2" indent="-229235">
              <a:lnSpc>
                <a:spcPct val="100000"/>
              </a:lnSpc>
              <a:spcBef>
                <a:spcPts val="445"/>
              </a:spcBef>
              <a:buClr>
                <a:srgbClr val="E6B0AB"/>
              </a:buClr>
              <a:buSzPct val="85000"/>
              <a:buFont typeface="Segoe UI Symbol"/>
              <a:buChar char="⚫"/>
              <a:tabLst>
                <a:tab pos="1037590" algn="l"/>
              </a:tabLst>
            </a:pPr>
            <a:r>
              <a:rPr sz="2000" spc="-180" dirty="0">
                <a:latin typeface="Times New Roman"/>
                <a:cs typeface="Times New Roman"/>
              </a:rPr>
              <a:t>Many</a:t>
            </a:r>
            <a:r>
              <a:rPr sz="2000" spc="-65" dirty="0">
                <a:latin typeface="Times New Roman"/>
                <a:cs typeface="Times New Roman"/>
              </a:rPr>
              <a:t> </a:t>
            </a:r>
            <a:r>
              <a:rPr sz="2000" spc="-95" dirty="0">
                <a:latin typeface="Times New Roman"/>
                <a:cs typeface="Times New Roman"/>
              </a:rPr>
              <a:t>automated</a:t>
            </a:r>
            <a:r>
              <a:rPr sz="2000" spc="-70" dirty="0">
                <a:latin typeface="Times New Roman"/>
                <a:cs typeface="Times New Roman"/>
              </a:rPr>
              <a:t> </a:t>
            </a:r>
            <a:r>
              <a:rPr sz="2000" spc="-80" dirty="0">
                <a:latin typeface="Times New Roman"/>
                <a:cs typeface="Times New Roman"/>
              </a:rPr>
              <a:t>tools </a:t>
            </a:r>
            <a:r>
              <a:rPr sz="2000" spc="-20" dirty="0">
                <a:latin typeface="Times New Roman"/>
                <a:cs typeface="Times New Roman"/>
              </a:rPr>
              <a:t>exist</a:t>
            </a:r>
            <a:r>
              <a:rPr sz="2000" spc="150" dirty="0">
                <a:latin typeface="Times New Roman"/>
                <a:cs typeface="Times New Roman"/>
              </a:rPr>
              <a:t> </a:t>
            </a:r>
            <a:r>
              <a:rPr sz="2000" spc="-55" dirty="0">
                <a:latin typeface="Times New Roman"/>
                <a:cs typeface="Times New Roman"/>
              </a:rPr>
              <a:t>(called</a:t>
            </a:r>
            <a:r>
              <a:rPr sz="2000" spc="315" dirty="0">
                <a:latin typeface="Times New Roman"/>
                <a:cs typeface="Times New Roman"/>
              </a:rPr>
              <a:t> </a:t>
            </a:r>
            <a:r>
              <a:rPr sz="2000" spc="-114" dirty="0">
                <a:latin typeface="Times New Roman"/>
                <a:cs typeface="Times New Roman"/>
              </a:rPr>
              <a:t>fuzzers</a:t>
            </a:r>
            <a:r>
              <a:rPr sz="2000" spc="-50" dirty="0">
                <a:latin typeface="Times New Roman"/>
                <a:cs typeface="Times New Roman"/>
              </a:rPr>
              <a:t> </a:t>
            </a:r>
            <a:r>
              <a:rPr sz="2000" dirty="0">
                <a:latin typeface="Times New Roman"/>
                <a:cs typeface="Times New Roman"/>
              </a:rPr>
              <a:t>–</a:t>
            </a:r>
            <a:r>
              <a:rPr sz="2000" spc="-95" dirty="0">
                <a:latin typeface="Times New Roman"/>
                <a:cs typeface="Times New Roman"/>
              </a:rPr>
              <a:t> </a:t>
            </a:r>
            <a:r>
              <a:rPr sz="2000" spc="-60" dirty="0">
                <a:latin typeface="Times New Roman"/>
                <a:cs typeface="Times New Roman"/>
              </a:rPr>
              <a:t>next</a:t>
            </a:r>
            <a:r>
              <a:rPr sz="2000" spc="-65" dirty="0">
                <a:latin typeface="Times New Roman"/>
                <a:cs typeface="Times New Roman"/>
              </a:rPr>
              <a:t> </a:t>
            </a:r>
            <a:r>
              <a:rPr sz="2000" spc="-10" dirty="0">
                <a:latin typeface="Times New Roman"/>
                <a:cs typeface="Times New Roman"/>
              </a:rPr>
              <a:t>module)</a:t>
            </a:r>
            <a:endParaRPr sz="2000">
              <a:latin typeface="Times New Roman"/>
              <a:cs typeface="Times New Roman"/>
            </a:endParaRPr>
          </a:p>
          <a:p>
            <a:pPr marL="638175" lvl="1" indent="-230504">
              <a:lnSpc>
                <a:spcPct val="100000"/>
              </a:lnSpc>
              <a:spcBef>
                <a:spcPts val="355"/>
              </a:spcBef>
              <a:buClr>
                <a:srgbClr val="9B2C1F"/>
              </a:buClr>
              <a:buSzPct val="83333"/>
              <a:buFont typeface="Segoe UI Symbol"/>
              <a:buChar char="⚫"/>
              <a:tabLst>
                <a:tab pos="638175" algn="l"/>
              </a:tabLst>
            </a:pPr>
            <a:r>
              <a:rPr sz="2400" spc="-195" dirty="0">
                <a:latin typeface="Times New Roman"/>
                <a:cs typeface="Times New Roman"/>
              </a:rPr>
              <a:t>If</a:t>
            </a:r>
            <a:r>
              <a:rPr sz="2400" dirty="0">
                <a:latin typeface="Times New Roman"/>
                <a:cs typeface="Times New Roman"/>
              </a:rPr>
              <a:t> </a:t>
            </a:r>
            <a:r>
              <a:rPr sz="2400" spc="-165" dirty="0">
                <a:latin typeface="Times New Roman"/>
                <a:cs typeface="Times New Roman"/>
              </a:rPr>
              <a:t>web</a:t>
            </a:r>
            <a:r>
              <a:rPr sz="2400" spc="5" dirty="0">
                <a:latin typeface="Times New Roman"/>
                <a:cs typeface="Times New Roman"/>
              </a:rPr>
              <a:t> </a:t>
            </a:r>
            <a:r>
              <a:rPr sz="2400" spc="-95" dirty="0">
                <a:latin typeface="Times New Roman"/>
                <a:cs typeface="Times New Roman"/>
              </a:rPr>
              <a:t>server</a:t>
            </a:r>
            <a:r>
              <a:rPr sz="2400" spc="-50" dirty="0">
                <a:latin typeface="Times New Roman"/>
                <a:cs typeface="Times New Roman"/>
              </a:rPr>
              <a:t> </a:t>
            </a:r>
            <a:r>
              <a:rPr sz="2400" spc="-10" dirty="0">
                <a:latin typeface="Times New Roman"/>
                <a:cs typeface="Times New Roman"/>
              </a:rPr>
              <a:t>crashes</a:t>
            </a:r>
            <a:endParaRPr sz="2400">
              <a:latin typeface="Times New Roman"/>
              <a:cs typeface="Times New Roman"/>
            </a:endParaRPr>
          </a:p>
          <a:p>
            <a:pPr marL="911225" lvl="2" indent="-229235">
              <a:lnSpc>
                <a:spcPct val="100000"/>
              </a:lnSpc>
              <a:spcBef>
                <a:spcPts val="450"/>
              </a:spcBef>
              <a:buClr>
                <a:srgbClr val="E6B0AB"/>
              </a:buClr>
              <a:buSzPct val="85000"/>
              <a:buFont typeface="Segoe UI Symbol"/>
              <a:buChar char="⚫"/>
              <a:tabLst>
                <a:tab pos="911225" algn="l"/>
              </a:tabLst>
            </a:pPr>
            <a:r>
              <a:rPr sz="2000" spc="-105" dirty="0">
                <a:latin typeface="Times New Roman"/>
                <a:cs typeface="Times New Roman"/>
              </a:rPr>
              <a:t>search</a:t>
            </a:r>
            <a:r>
              <a:rPr sz="2000" spc="-45" dirty="0">
                <a:latin typeface="Times New Roman"/>
                <a:cs typeface="Times New Roman"/>
              </a:rPr>
              <a:t> </a:t>
            </a:r>
            <a:r>
              <a:rPr sz="2000" spc="-80" dirty="0">
                <a:latin typeface="Times New Roman"/>
                <a:cs typeface="Times New Roman"/>
              </a:rPr>
              <a:t>core</a:t>
            </a:r>
            <a:r>
              <a:rPr sz="2000" spc="-40" dirty="0">
                <a:latin typeface="Times New Roman"/>
                <a:cs typeface="Times New Roman"/>
              </a:rPr>
              <a:t> </a:t>
            </a:r>
            <a:r>
              <a:rPr sz="2000" spc="-120" dirty="0">
                <a:latin typeface="Times New Roman"/>
                <a:cs typeface="Times New Roman"/>
              </a:rPr>
              <a:t>dump</a:t>
            </a:r>
            <a:r>
              <a:rPr sz="2000" spc="-75" dirty="0">
                <a:latin typeface="Times New Roman"/>
                <a:cs typeface="Times New Roman"/>
              </a:rPr>
              <a:t> </a:t>
            </a:r>
            <a:r>
              <a:rPr sz="2000" dirty="0">
                <a:latin typeface="Times New Roman"/>
                <a:cs typeface="Times New Roman"/>
              </a:rPr>
              <a:t>for</a:t>
            </a:r>
            <a:r>
              <a:rPr sz="2000" spc="305" dirty="0">
                <a:latin typeface="Times New Roman"/>
                <a:cs typeface="Times New Roman"/>
              </a:rPr>
              <a:t> </a:t>
            </a:r>
            <a:r>
              <a:rPr sz="2000" spc="-150" dirty="0">
                <a:latin typeface="Times New Roman"/>
                <a:cs typeface="Times New Roman"/>
              </a:rPr>
              <a:t>“$$$$$”</a:t>
            </a:r>
            <a:r>
              <a:rPr sz="2000" spc="-160" dirty="0">
                <a:latin typeface="Times New Roman"/>
                <a:cs typeface="Times New Roman"/>
              </a:rPr>
              <a:t> </a:t>
            </a:r>
            <a:r>
              <a:rPr sz="2000" dirty="0">
                <a:latin typeface="Times New Roman"/>
                <a:cs typeface="Times New Roman"/>
              </a:rPr>
              <a:t>to</a:t>
            </a:r>
            <a:r>
              <a:rPr sz="2000" spc="-75" dirty="0">
                <a:latin typeface="Times New Roman"/>
                <a:cs typeface="Times New Roman"/>
              </a:rPr>
              <a:t> </a:t>
            </a:r>
            <a:r>
              <a:rPr sz="2000" spc="-120" dirty="0">
                <a:latin typeface="Times New Roman"/>
                <a:cs typeface="Times New Roman"/>
              </a:rPr>
              <a:t>find</a:t>
            </a:r>
            <a:r>
              <a:rPr sz="2000" spc="-5" dirty="0">
                <a:latin typeface="Times New Roman"/>
                <a:cs typeface="Times New Roman"/>
              </a:rPr>
              <a:t> </a:t>
            </a:r>
            <a:r>
              <a:rPr sz="2000" spc="-125" dirty="0">
                <a:latin typeface="Times New Roman"/>
                <a:cs typeface="Times New Roman"/>
              </a:rPr>
              <a:t>overflow</a:t>
            </a:r>
            <a:r>
              <a:rPr sz="2000" spc="-55" dirty="0">
                <a:latin typeface="Times New Roman"/>
                <a:cs typeface="Times New Roman"/>
              </a:rPr>
              <a:t> </a:t>
            </a:r>
            <a:r>
              <a:rPr sz="2000" spc="-90" dirty="0">
                <a:latin typeface="Times New Roman"/>
                <a:cs typeface="Times New Roman"/>
              </a:rPr>
              <a:t>location</a:t>
            </a:r>
            <a:r>
              <a:rPr sz="2000" spc="-75" dirty="0">
                <a:latin typeface="Times New Roman"/>
                <a:cs typeface="Times New Roman"/>
              </a:rPr>
              <a:t> </a:t>
            </a:r>
            <a:r>
              <a:rPr sz="2000" spc="-90" dirty="0">
                <a:latin typeface="Times New Roman"/>
                <a:cs typeface="Times New Roman"/>
              </a:rPr>
              <a:t>(heap,</a:t>
            </a:r>
            <a:r>
              <a:rPr sz="2000" spc="-120" dirty="0">
                <a:latin typeface="Times New Roman"/>
                <a:cs typeface="Times New Roman"/>
              </a:rPr>
              <a:t> </a:t>
            </a:r>
            <a:r>
              <a:rPr sz="2000" spc="-10" dirty="0">
                <a:latin typeface="Times New Roman"/>
                <a:cs typeface="Times New Roman"/>
              </a:rPr>
              <a:t>stack)</a:t>
            </a:r>
            <a:endParaRPr sz="2000">
              <a:latin typeface="Times New Roman"/>
              <a:cs typeface="Times New Roman"/>
            </a:endParaRPr>
          </a:p>
        </p:txBody>
      </p:sp>
      <p:sp>
        <p:nvSpPr>
          <p:cNvPr id="4" name="object 4"/>
          <p:cNvSpPr txBox="1"/>
          <p:nvPr/>
        </p:nvSpPr>
        <p:spPr>
          <a:xfrm>
            <a:off x="307657" y="4337685"/>
            <a:ext cx="2261235" cy="392430"/>
          </a:xfrm>
          <a:prstGeom prst="rect">
            <a:avLst/>
          </a:prstGeom>
        </p:spPr>
        <p:txBody>
          <a:bodyPr vert="horz" wrap="square" lIns="0" tIns="13335" rIns="0" bIns="0" rtlCol="0">
            <a:spAutoFit/>
          </a:bodyPr>
          <a:lstStyle/>
          <a:p>
            <a:pPr marL="294005" indent="-281305">
              <a:lnSpc>
                <a:spcPct val="100000"/>
              </a:lnSpc>
              <a:spcBef>
                <a:spcPts val="105"/>
              </a:spcBef>
              <a:buClr>
                <a:srgbClr val="D24717"/>
              </a:buClr>
              <a:buSzPct val="83333"/>
              <a:buFont typeface="Segoe UI Symbol"/>
              <a:buChar char="⚫"/>
              <a:tabLst>
                <a:tab pos="294005" algn="l"/>
              </a:tabLst>
            </a:pPr>
            <a:r>
              <a:rPr sz="2400" spc="-80" dirty="0">
                <a:latin typeface="Times New Roman"/>
                <a:cs typeface="Times New Roman"/>
              </a:rPr>
              <a:t>Construct</a:t>
            </a:r>
            <a:r>
              <a:rPr sz="2400" spc="5" dirty="0">
                <a:latin typeface="Times New Roman"/>
                <a:cs typeface="Times New Roman"/>
              </a:rPr>
              <a:t> </a:t>
            </a:r>
            <a:r>
              <a:rPr sz="2400" spc="-70" dirty="0">
                <a:latin typeface="Times New Roman"/>
                <a:cs typeface="Times New Roman"/>
              </a:rPr>
              <a:t>exploit</a:t>
            </a:r>
            <a:endParaRPr sz="2400">
              <a:latin typeface="Times New Roman"/>
              <a:cs typeface="Times New Roman"/>
            </a:endParaRPr>
          </a:p>
        </p:txBody>
      </p:sp>
      <p:sp>
        <p:nvSpPr>
          <p:cNvPr id="5" name="object 5"/>
          <p:cNvSpPr txBox="1"/>
          <p:nvPr/>
        </p:nvSpPr>
        <p:spPr>
          <a:xfrm>
            <a:off x="2816860" y="4385627"/>
            <a:ext cx="2842260" cy="334645"/>
          </a:xfrm>
          <a:prstGeom prst="rect">
            <a:avLst/>
          </a:prstGeom>
        </p:spPr>
        <p:txBody>
          <a:bodyPr vert="horz" wrap="square" lIns="0" tIns="15875" rIns="0" bIns="0" rtlCol="0">
            <a:spAutoFit/>
          </a:bodyPr>
          <a:lstStyle/>
          <a:p>
            <a:pPr marL="12700">
              <a:lnSpc>
                <a:spcPct val="100000"/>
              </a:lnSpc>
              <a:spcBef>
                <a:spcPts val="125"/>
              </a:spcBef>
            </a:pPr>
            <a:r>
              <a:rPr sz="2000" spc="-40" dirty="0">
                <a:latin typeface="Times New Roman"/>
                <a:cs typeface="Times New Roman"/>
              </a:rPr>
              <a:t>(not</a:t>
            </a:r>
            <a:r>
              <a:rPr sz="2000" spc="-30" dirty="0">
                <a:latin typeface="Times New Roman"/>
                <a:cs typeface="Times New Roman"/>
              </a:rPr>
              <a:t> </a:t>
            </a:r>
            <a:r>
              <a:rPr sz="2000" spc="-165" dirty="0">
                <a:latin typeface="Times New Roman"/>
                <a:cs typeface="Times New Roman"/>
              </a:rPr>
              <a:t>easy</a:t>
            </a:r>
            <a:r>
              <a:rPr sz="2000" spc="20" dirty="0">
                <a:latin typeface="Times New Roman"/>
                <a:cs typeface="Times New Roman"/>
              </a:rPr>
              <a:t> </a:t>
            </a:r>
            <a:r>
              <a:rPr sz="2000" spc="-130" dirty="0">
                <a:latin typeface="Times New Roman"/>
                <a:cs typeface="Times New Roman"/>
              </a:rPr>
              <a:t>given</a:t>
            </a:r>
            <a:r>
              <a:rPr sz="2000" spc="-60" dirty="0">
                <a:latin typeface="Times New Roman"/>
                <a:cs typeface="Times New Roman"/>
              </a:rPr>
              <a:t> </a:t>
            </a:r>
            <a:r>
              <a:rPr sz="2000" spc="-75" dirty="0">
                <a:latin typeface="Times New Roman"/>
                <a:cs typeface="Times New Roman"/>
              </a:rPr>
              <a:t>latest</a:t>
            </a:r>
            <a:r>
              <a:rPr sz="2000" spc="-30" dirty="0">
                <a:latin typeface="Times New Roman"/>
                <a:cs typeface="Times New Roman"/>
              </a:rPr>
              <a:t> </a:t>
            </a:r>
            <a:r>
              <a:rPr sz="2000" spc="-85" dirty="0">
                <a:latin typeface="Times New Roman"/>
                <a:cs typeface="Times New Roman"/>
              </a:rPr>
              <a:t>defenses)</a:t>
            </a:r>
            <a:endParaRPr sz="200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4401" y="3295015"/>
            <a:ext cx="5935980"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More</a:t>
            </a:r>
            <a:r>
              <a:rPr u="sng" spc="-15" dirty="0">
                <a:solidFill>
                  <a:srgbClr val="D24717"/>
                </a:solidFill>
                <a:uFill>
                  <a:solidFill>
                    <a:srgbClr val="D24717"/>
                  </a:solidFill>
                </a:uFill>
              </a:rPr>
              <a:t> </a:t>
            </a:r>
            <a:r>
              <a:rPr u="sng" dirty="0">
                <a:solidFill>
                  <a:srgbClr val="D24717"/>
                </a:solidFill>
                <a:uFill>
                  <a:solidFill>
                    <a:srgbClr val="D24717"/>
                  </a:solidFill>
                </a:uFill>
              </a:rPr>
              <a:t>Control</a:t>
            </a:r>
            <a:r>
              <a:rPr u="sng" spc="65" dirty="0">
                <a:solidFill>
                  <a:srgbClr val="D24717"/>
                </a:solidFill>
                <a:uFill>
                  <a:solidFill>
                    <a:srgbClr val="D24717"/>
                  </a:solidFill>
                </a:uFill>
              </a:rPr>
              <a:t> </a:t>
            </a:r>
            <a:r>
              <a:rPr u="sng" spc="-10" dirty="0">
                <a:solidFill>
                  <a:srgbClr val="D24717"/>
                </a:solidFill>
                <a:uFill>
                  <a:solidFill>
                    <a:srgbClr val="D24717"/>
                  </a:solidFill>
                </a:uFill>
              </a:rPr>
              <a:t>Hijacking</a:t>
            </a:r>
            <a:r>
              <a:rPr u="sng" spc="-210" dirty="0">
                <a:solidFill>
                  <a:srgbClr val="D24717"/>
                </a:solidFill>
                <a:uFill>
                  <a:solidFill>
                    <a:srgbClr val="D24717"/>
                  </a:solidFill>
                </a:uFill>
              </a:rPr>
              <a:t> </a:t>
            </a:r>
            <a:r>
              <a:rPr u="sng" spc="-10" dirty="0">
                <a:solidFill>
                  <a:srgbClr val="D24717"/>
                </a:solidFill>
                <a:uFill>
                  <a:solidFill>
                    <a:srgbClr val="D24717"/>
                  </a:solidFill>
                </a:uFill>
              </a:rPr>
              <a:t>Attacks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241300">
              <a:lnSpc>
                <a:spcPct val="100000"/>
              </a:lnSpc>
              <a:spcBef>
                <a:spcPts val="105"/>
              </a:spcBef>
            </a:pPr>
            <a:r>
              <a:rPr dirty="0"/>
              <a:t>More</a:t>
            </a:r>
            <a:r>
              <a:rPr spc="-60" dirty="0"/>
              <a:t> </a:t>
            </a:r>
            <a:r>
              <a:rPr dirty="0"/>
              <a:t>Hijacking</a:t>
            </a:r>
            <a:r>
              <a:rPr spc="-15" dirty="0"/>
              <a:t> </a:t>
            </a:r>
            <a:r>
              <a:rPr spc="-10" dirty="0"/>
              <a:t>Opportunities</a:t>
            </a:r>
          </a:p>
        </p:txBody>
      </p:sp>
      <p:sp>
        <p:nvSpPr>
          <p:cNvPr id="3" name="object 3"/>
          <p:cNvSpPr txBox="1"/>
          <p:nvPr/>
        </p:nvSpPr>
        <p:spPr>
          <a:xfrm>
            <a:off x="307657" y="1473517"/>
            <a:ext cx="7468870" cy="3706143"/>
          </a:xfrm>
          <a:prstGeom prst="rect">
            <a:avLst/>
          </a:prstGeom>
        </p:spPr>
        <p:txBody>
          <a:bodyPr vert="horz" wrap="square" lIns="0" tIns="12700" rIns="0" bIns="0" rtlCol="0">
            <a:spAutoFit/>
          </a:bodyPr>
          <a:lstStyle/>
          <a:p>
            <a:pPr marL="287020" indent="-274320">
              <a:lnSpc>
                <a:spcPct val="100000"/>
              </a:lnSpc>
              <a:spcBef>
                <a:spcPts val="100"/>
              </a:spcBef>
              <a:buClr>
                <a:srgbClr val="D24717"/>
              </a:buClr>
              <a:buSzPct val="83333"/>
              <a:buFont typeface="Segoe UI Symbol"/>
              <a:buChar char="⚫"/>
              <a:tabLst>
                <a:tab pos="287020" algn="l"/>
                <a:tab pos="2797175" algn="l"/>
              </a:tabLst>
            </a:pPr>
            <a:r>
              <a:rPr sz="2400" b="1" dirty="0">
                <a:latin typeface="Times New Roman"/>
                <a:cs typeface="Times New Roman"/>
              </a:rPr>
              <a:t>Integer</a:t>
            </a:r>
            <a:r>
              <a:rPr sz="2400" b="1" spc="-95" dirty="0">
                <a:latin typeface="Times New Roman"/>
                <a:cs typeface="Times New Roman"/>
              </a:rPr>
              <a:t> </a:t>
            </a:r>
            <a:r>
              <a:rPr sz="2400" b="1" spc="-10" dirty="0">
                <a:latin typeface="Times New Roman"/>
                <a:cs typeface="Times New Roman"/>
              </a:rPr>
              <a:t>overflows</a:t>
            </a:r>
            <a:r>
              <a:rPr sz="2400" spc="-10" dirty="0">
                <a:latin typeface="Times New Roman"/>
                <a:cs typeface="Times New Roman"/>
              </a:rPr>
              <a:t>:</a:t>
            </a:r>
            <a:r>
              <a:rPr sz="2400" dirty="0">
                <a:latin typeface="Times New Roman"/>
                <a:cs typeface="Times New Roman"/>
              </a:rPr>
              <a:t>	</a:t>
            </a:r>
            <a:r>
              <a:rPr sz="2000" dirty="0">
                <a:latin typeface="Times New Roman"/>
                <a:cs typeface="Times New Roman"/>
              </a:rPr>
              <a:t>(e.g.</a:t>
            </a:r>
            <a:r>
              <a:rPr sz="2000" spc="440" dirty="0">
                <a:latin typeface="Times New Roman"/>
                <a:cs typeface="Times New Roman"/>
              </a:rPr>
              <a:t> </a:t>
            </a:r>
            <a:r>
              <a:rPr sz="2000" dirty="0">
                <a:latin typeface="Times New Roman"/>
                <a:cs typeface="Times New Roman"/>
              </a:rPr>
              <a:t>Use</a:t>
            </a:r>
            <a:r>
              <a:rPr sz="2000" spc="-5" dirty="0">
                <a:latin typeface="Times New Roman"/>
                <a:cs typeface="Times New Roman"/>
              </a:rPr>
              <a:t> </a:t>
            </a:r>
            <a:r>
              <a:rPr sz="2000" dirty="0">
                <a:latin typeface="Times New Roman"/>
                <a:cs typeface="Times New Roman"/>
              </a:rPr>
              <a:t>to</a:t>
            </a:r>
            <a:r>
              <a:rPr sz="2000" spc="-40" dirty="0">
                <a:latin typeface="Times New Roman"/>
                <a:cs typeface="Times New Roman"/>
              </a:rPr>
              <a:t> </a:t>
            </a:r>
            <a:r>
              <a:rPr sz="2000" dirty="0">
                <a:latin typeface="Times New Roman"/>
                <a:cs typeface="Times New Roman"/>
              </a:rPr>
              <a:t>attack</a:t>
            </a:r>
            <a:r>
              <a:rPr sz="2000" spc="-40" dirty="0">
                <a:latin typeface="Times New Roman"/>
                <a:cs typeface="Times New Roman"/>
              </a:rPr>
              <a:t> </a:t>
            </a:r>
            <a:r>
              <a:rPr sz="2000" dirty="0">
                <a:latin typeface="Times New Roman"/>
                <a:cs typeface="Times New Roman"/>
              </a:rPr>
              <a:t>MS</a:t>
            </a:r>
            <a:r>
              <a:rPr sz="2000" spc="-10" dirty="0">
                <a:latin typeface="Times New Roman"/>
                <a:cs typeface="Times New Roman"/>
              </a:rPr>
              <a:t> </a:t>
            </a:r>
            <a:r>
              <a:rPr sz="2000" dirty="0">
                <a:latin typeface="Times New Roman"/>
                <a:cs typeface="Times New Roman"/>
              </a:rPr>
              <a:t>DirectX</a:t>
            </a:r>
            <a:r>
              <a:rPr sz="2000" spc="-40" dirty="0">
                <a:latin typeface="Times New Roman"/>
                <a:cs typeface="Times New Roman"/>
              </a:rPr>
              <a:t> </a:t>
            </a:r>
            <a:r>
              <a:rPr sz="2000" dirty="0">
                <a:latin typeface="Times New Roman"/>
                <a:cs typeface="Times New Roman"/>
              </a:rPr>
              <a:t>MIDI</a:t>
            </a:r>
            <a:r>
              <a:rPr sz="2000" spc="-70" dirty="0">
                <a:latin typeface="Times New Roman"/>
                <a:cs typeface="Times New Roman"/>
              </a:rPr>
              <a:t> </a:t>
            </a:r>
            <a:r>
              <a:rPr sz="2000" spc="-20" dirty="0">
                <a:latin typeface="Times New Roman"/>
                <a:cs typeface="Times New Roman"/>
              </a:rPr>
              <a:t>Lib)</a:t>
            </a:r>
            <a:endParaRPr sz="2000" dirty="0">
              <a:latin typeface="Times New Roman"/>
              <a:cs typeface="Times New Roman"/>
            </a:endParaRPr>
          </a:p>
          <a:p>
            <a:pPr>
              <a:lnSpc>
                <a:spcPct val="100000"/>
              </a:lnSpc>
              <a:spcBef>
                <a:spcPts val="1200"/>
              </a:spcBef>
              <a:buClr>
                <a:srgbClr val="D24717"/>
              </a:buClr>
              <a:buFont typeface="Segoe UI Symbol"/>
              <a:buChar char="⚫"/>
            </a:pPr>
            <a:endParaRPr sz="2000" dirty="0">
              <a:latin typeface="Times New Roman"/>
              <a:cs typeface="Times New Roman"/>
            </a:endParaRPr>
          </a:p>
          <a:p>
            <a:r>
              <a:rPr sz="2400" b="1" dirty="0">
                <a:latin typeface="Times New Roman"/>
                <a:cs typeface="Times New Roman"/>
              </a:rPr>
              <a:t>Double</a:t>
            </a:r>
            <a:r>
              <a:rPr sz="2400" b="1" spc="-35" dirty="0">
                <a:latin typeface="Times New Roman"/>
                <a:cs typeface="Times New Roman"/>
              </a:rPr>
              <a:t> </a:t>
            </a:r>
            <a:r>
              <a:rPr sz="2400" b="1" spc="-20" dirty="0">
                <a:latin typeface="Times New Roman"/>
                <a:cs typeface="Times New Roman"/>
              </a:rPr>
              <a:t>free</a:t>
            </a:r>
            <a:r>
              <a:rPr sz="2400" spc="-20" dirty="0">
                <a:latin typeface="Times New Roman"/>
                <a:cs typeface="Times New Roman"/>
              </a:rPr>
              <a:t>:</a:t>
            </a:r>
            <a:r>
              <a:rPr sz="2400" dirty="0">
                <a:latin typeface="Times New Roman"/>
                <a:cs typeface="Times New Roman"/>
              </a:rPr>
              <a:t>	</a:t>
            </a:r>
            <a:endParaRPr lang="en-US" sz="2400" dirty="0" smtClean="0">
              <a:effectLst/>
            </a:endParaRPr>
          </a:p>
          <a:p>
            <a:r>
              <a:rPr lang="en-US" dirty="0" smtClean="0"/>
              <a:t>A </a:t>
            </a:r>
            <a:r>
              <a:rPr lang="en-US" b="1" dirty="0" smtClean="0"/>
              <a:t>double free heap vulnerability</a:t>
            </a:r>
            <a:r>
              <a:rPr lang="en-US" dirty="0" smtClean="0"/>
              <a:t> occurs when a program calls free() (or delete in C++) on the same memory address more than once. This memory management flaw corrupts the internal data structures of the heap memory manager, leading to unpredictable program behavior, such as crashes, data corruption, or, in the worst-case scenario, the execution of arbitrary code by an attacker.</a:t>
            </a:r>
            <a:r>
              <a:rPr lang="en-US" sz="2400" dirty="0" smtClean="0">
                <a:latin typeface="Times New Roman"/>
                <a:cs typeface="Times New Roman"/>
              </a:rPr>
              <a:t/>
            </a:r>
            <a:br>
              <a:rPr lang="en-US" sz="2400" dirty="0" smtClean="0">
                <a:latin typeface="Times New Roman"/>
                <a:cs typeface="Times New Roman"/>
              </a:rPr>
            </a:br>
            <a:endParaRPr sz="2400" dirty="0">
              <a:latin typeface="Times New Roman"/>
              <a:cs typeface="Times New Roman"/>
            </a:endParaRPr>
          </a:p>
          <a:p>
            <a:pPr marL="287020" indent="-274320">
              <a:lnSpc>
                <a:spcPct val="100000"/>
              </a:lnSpc>
              <a:spcBef>
                <a:spcPts val="5"/>
              </a:spcBef>
              <a:buClr>
                <a:srgbClr val="D24717"/>
              </a:buClr>
              <a:buSzPct val="83333"/>
              <a:buFont typeface="Segoe UI Symbol"/>
              <a:buChar char="⚫"/>
              <a:tabLst>
                <a:tab pos="287020" algn="l"/>
              </a:tabLst>
            </a:pPr>
            <a:r>
              <a:rPr sz="2400" b="1" dirty="0">
                <a:latin typeface="Times New Roman"/>
                <a:cs typeface="Times New Roman"/>
              </a:rPr>
              <a:t>Format</a:t>
            </a:r>
            <a:r>
              <a:rPr sz="2400" b="1" spc="-20" dirty="0">
                <a:latin typeface="Times New Roman"/>
                <a:cs typeface="Times New Roman"/>
              </a:rPr>
              <a:t> </a:t>
            </a:r>
            <a:r>
              <a:rPr sz="2400" b="1" dirty="0">
                <a:latin typeface="Times New Roman"/>
                <a:cs typeface="Times New Roman"/>
              </a:rPr>
              <a:t>string</a:t>
            </a:r>
            <a:r>
              <a:rPr sz="2400" b="1" spc="-35" dirty="0">
                <a:latin typeface="Times New Roman"/>
                <a:cs typeface="Times New Roman"/>
              </a:rPr>
              <a:t> </a:t>
            </a:r>
            <a:r>
              <a:rPr sz="2400" b="1" spc="-10" dirty="0">
                <a:latin typeface="Times New Roman"/>
                <a:cs typeface="Times New Roman"/>
              </a:rPr>
              <a:t>vulnerabilities</a:t>
            </a:r>
            <a:endParaRPr sz="2400" dirty="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47800"/>
            <a:ext cx="8077200" cy="4185761"/>
          </a:xfrm>
        </p:spPr>
        <p:txBody>
          <a:bodyPr/>
          <a:lstStyle/>
          <a:p>
            <a:r>
              <a:rPr lang="en-US" sz="2400" dirty="0"/>
              <a:t>An </a:t>
            </a:r>
            <a:r>
              <a:rPr lang="en-US" sz="3200" b="1" dirty="0"/>
              <a:t>integer overflow </a:t>
            </a:r>
            <a:r>
              <a:rPr lang="en-US" sz="2400" dirty="0"/>
              <a:t>vulnerability occurs when a program attempts to store a value in an integer variable that is outside the variable's maximum or minimum limits, leading to unexpected results like incorrect calculations, data corruption, and potentially more severe security issues like buffer </a:t>
            </a:r>
            <a:r>
              <a:rPr lang="en-US" sz="2400" dirty="0" smtClean="0"/>
              <a:t>overflows.</a:t>
            </a:r>
          </a:p>
          <a:p>
            <a:endParaRPr lang="en-US" sz="2400" dirty="0"/>
          </a:p>
          <a:p>
            <a:r>
              <a:rPr lang="en-US" sz="2400" dirty="0" smtClean="0"/>
              <a:t>This </a:t>
            </a:r>
            <a:r>
              <a:rPr lang="en-US" sz="2400" dirty="0"/>
              <a:t>happens because integers have a fixed size in memory (e.g., 32-bit or 64-bit), and when an operation exceeds these bounds, the value "wraps around" to a different value, such as subtracting 1 from 0 resulting in the maximum value for that data </a:t>
            </a:r>
            <a:r>
              <a:rPr lang="en-US" sz="2400" dirty="0" smtClean="0"/>
              <a:t>type.</a:t>
            </a:r>
            <a:endParaRPr lang="en-US" sz="2400" dirty="0"/>
          </a:p>
        </p:txBody>
      </p:sp>
    </p:spTree>
    <p:extLst>
      <p:ext uri="{BB962C8B-B14F-4D97-AF65-F5344CB8AC3E}">
        <p14:creationId xmlns:p14="http://schemas.microsoft.com/office/powerpoint/2010/main" val="670045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990600"/>
            <a:ext cx="8077200" cy="4739759"/>
          </a:xfrm>
        </p:spPr>
        <p:txBody>
          <a:bodyPr/>
          <a:lstStyle/>
          <a:p>
            <a:r>
              <a:rPr lang="en-US" sz="2800" b="1" dirty="0"/>
              <a:t>How it works </a:t>
            </a:r>
            <a:endParaRPr lang="en-US" sz="2800" b="1" dirty="0" smtClean="0"/>
          </a:p>
          <a:p>
            <a:endParaRPr lang="en-US" sz="2000" dirty="0"/>
          </a:p>
          <a:p>
            <a:pPr marL="342900" indent="-342900">
              <a:buFont typeface="Arial" pitchFamily="34" charset="0"/>
              <a:buChar char="•"/>
            </a:pPr>
            <a:r>
              <a:rPr lang="en-US" sz="2000" b="1" dirty="0"/>
              <a:t>Fixed-size storage:</a:t>
            </a:r>
            <a:r>
              <a:rPr lang="en-US" sz="2000" dirty="0"/>
              <a:t> Programming languages allocate a specific, fixed amount of memory for integer data types. For example, a 32-bit unsigned integer can only hold values from 0 to 4,294,967,295</a:t>
            </a:r>
            <a:r>
              <a:rPr lang="en-US" sz="2000" dirty="0" smtClean="0"/>
              <a:t>.</a:t>
            </a:r>
            <a:br>
              <a:rPr lang="en-US" sz="2000" dirty="0" smtClean="0"/>
            </a:br>
            <a:endParaRPr lang="en-US" sz="2000" dirty="0"/>
          </a:p>
          <a:p>
            <a:pPr marL="342900" indent="-342900" rtl="0">
              <a:buFont typeface="Arial" pitchFamily="34" charset="0"/>
              <a:buChar char="•"/>
            </a:pPr>
            <a:r>
              <a:rPr lang="en-US" sz="2000" b="1" dirty="0"/>
              <a:t>Exceeding the limit:</a:t>
            </a:r>
            <a:r>
              <a:rPr lang="en-US" sz="2000" dirty="0"/>
              <a:t> If an arithmetic operation tries to create a value larger than the maximum, an overflow occurs. For example, </a:t>
            </a:r>
            <a:r>
              <a:rPr lang="en-US" sz="2000" dirty="0" smtClean="0"/>
              <a:t>2,147,483,647+1 in </a:t>
            </a:r>
            <a:r>
              <a:rPr lang="en-US" sz="2000" dirty="0"/>
              <a:t>a 32-bit signed integer would not result in the expected value but rather a negative number due to a bit flip.</a:t>
            </a:r>
            <a:endParaRPr lang="en-US" sz="2000" dirty="0" smtClean="0"/>
          </a:p>
          <a:p>
            <a:pPr marL="342900" indent="-342900" rtl="0">
              <a:buFont typeface="Arial" pitchFamily="34" charset="0"/>
              <a:buChar char="•"/>
            </a:pPr>
            <a:endParaRPr lang="en-US" sz="2000" dirty="0"/>
          </a:p>
          <a:p>
            <a:pPr marL="342900" indent="-342900">
              <a:buFont typeface="Arial" pitchFamily="34" charset="0"/>
              <a:buChar char="•"/>
            </a:pPr>
            <a:r>
              <a:rPr lang="en-US" sz="2000" b="1" dirty="0" smtClean="0"/>
              <a:t>Underflow</a:t>
            </a:r>
            <a:r>
              <a:rPr lang="en-US" sz="2000" b="1" dirty="0"/>
              <a:t>:</a:t>
            </a:r>
            <a:r>
              <a:rPr lang="en-US" sz="2000" dirty="0"/>
              <a:t> The same concept applies when an operation goes below the minimum value, such as subtracting 1 from 0 in an unsigned integer, which will "wrap around" to the maximum possible value for that type</a:t>
            </a:r>
          </a:p>
          <a:p>
            <a:endParaRPr lang="en-US" sz="2000" dirty="0"/>
          </a:p>
        </p:txBody>
      </p:sp>
    </p:spTree>
    <p:extLst>
      <p:ext uri="{BB962C8B-B14F-4D97-AF65-F5344CB8AC3E}">
        <p14:creationId xmlns:p14="http://schemas.microsoft.com/office/powerpoint/2010/main" val="97333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990600"/>
            <a:ext cx="8077200" cy="5109091"/>
          </a:xfrm>
        </p:spPr>
        <p:txBody>
          <a:bodyPr/>
          <a:lstStyle/>
          <a:p>
            <a:r>
              <a:rPr lang="en-US" sz="3200" b="1" dirty="0"/>
              <a:t>Potential </a:t>
            </a:r>
            <a:r>
              <a:rPr lang="en-US" sz="3200" b="1" dirty="0" smtClean="0"/>
              <a:t>consequences</a:t>
            </a:r>
          </a:p>
          <a:p>
            <a:endParaRPr lang="en-US" sz="2000" dirty="0"/>
          </a:p>
          <a:p>
            <a:pPr marL="342900" indent="-342900">
              <a:buFont typeface="Arial" pitchFamily="34" charset="0"/>
              <a:buChar char="•"/>
            </a:pPr>
            <a:r>
              <a:rPr lang="en-US" sz="2000" b="1" dirty="0"/>
              <a:t>Unexpected behavior:</a:t>
            </a:r>
            <a:r>
              <a:rPr lang="en-US" sz="2000" dirty="0"/>
              <a:t> The most immediate effect is the program behaving in an unintended way</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Data corruption:</a:t>
            </a:r>
            <a:r>
              <a:rPr lang="en-US" sz="2000" dirty="0"/>
              <a:t> Overflows can lead to incorrect values being stored, which can corrupt important data</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Buffer overflow:</a:t>
            </a:r>
            <a:r>
              <a:rPr lang="en-US" sz="2000" dirty="0"/>
              <a:t> An integer overflow can be used to trigger a more critical buffer overflow vulnerability, where an attacker writes data past the intended buffer's boundaries, potentially leading to arbitrary code execution</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Other issues:</a:t>
            </a:r>
            <a:r>
              <a:rPr lang="en-US" sz="2000" dirty="0"/>
              <a:t> Exploitation can also result in infinite loops or application crashes.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3626329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990600"/>
            <a:ext cx="8077200" cy="4185761"/>
          </a:xfrm>
        </p:spPr>
        <p:txBody>
          <a:bodyPr/>
          <a:lstStyle/>
          <a:p>
            <a:r>
              <a:rPr lang="en-US" sz="3200" b="1" dirty="0" smtClean="0"/>
              <a:t>Mitigation</a:t>
            </a:r>
          </a:p>
          <a:p>
            <a:endParaRPr lang="en-US" sz="2000" dirty="0"/>
          </a:p>
          <a:p>
            <a:pPr marL="342900" indent="-342900">
              <a:buFont typeface="Arial" pitchFamily="34" charset="0"/>
              <a:buChar char="•"/>
            </a:pPr>
            <a:r>
              <a:rPr lang="en-US" sz="2000" b="1" dirty="0"/>
              <a:t>Input validation:</a:t>
            </a:r>
            <a:r>
              <a:rPr lang="en-US" sz="2000" dirty="0"/>
              <a:t> Developers must check input values to ensure they are within expected ranges before performing operations</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Use larger data types:</a:t>
            </a:r>
            <a:r>
              <a:rPr lang="en-US" sz="2000" dirty="0"/>
              <a:t> Choosing a larger data type, such as a 64-bit integer instead of a 32-bit one, can help prevent overflow for a wider range of values.</a:t>
            </a:r>
          </a:p>
          <a:p>
            <a:pPr marL="342900" indent="-342900">
              <a:buFont typeface="Arial" pitchFamily="34" charset="0"/>
              <a:buChar char="•"/>
            </a:pPr>
            <a:endParaRPr lang="en-US" sz="2000" b="1" dirty="0" smtClean="0"/>
          </a:p>
          <a:p>
            <a:pPr marL="342900" indent="-342900">
              <a:buFont typeface="Arial" pitchFamily="34" charset="0"/>
              <a:buChar char="•"/>
            </a:pPr>
            <a:r>
              <a:rPr lang="en-US" sz="2000" b="1" dirty="0" smtClean="0"/>
              <a:t>Use </a:t>
            </a:r>
            <a:r>
              <a:rPr lang="en-US" sz="2000" b="1" dirty="0"/>
              <a:t>safety mechanisms:</a:t>
            </a:r>
            <a:r>
              <a:rPr lang="en-US" sz="2000" dirty="0"/>
              <a:t> Some languages and libraries offer built-in functions or types that perform safe arithmetic, checking for overflow and underflow before proceeding.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2169404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317500">
              <a:lnSpc>
                <a:spcPct val="100000"/>
              </a:lnSpc>
              <a:spcBef>
                <a:spcPts val="105"/>
              </a:spcBef>
            </a:pPr>
            <a:r>
              <a:rPr dirty="0"/>
              <a:t>Integer</a:t>
            </a:r>
            <a:r>
              <a:rPr spc="45" dirty="0"/>
              <a:t> </a:t>
            </a:r>
            <a:r>
              <a:rPr dirty="0"/>
              <a:t>Overflows</a:t>
            </a:r>
            <a:r>
              <a:rPr spc="70" dirty="0"/>
              <a:t> </a:t>
            </a:r>
            <a:r>
              <a:rPr sz="2150" dirty="0"/>
              <a:t>(Phrack</a:t>
            </a:r>
            <a:r>
              <a:rPr sz="2150" spc="50" dirty="0"/>
              <a:t> </a:t>
            </a:r>
            <a:r>
              <a:rPr sz="2150" dirty="0"/>
              <a:t>issue</a:t>
            </a:r>
            <a:r>
              <a:rPr sz="2150" spc="30" dirty="0"/>
              <a:t> </a:t>
            </a:r>
            <a:r>
              <a:rPr sz="2150" spc="-25" dirty="0"/>
              <a:t>60)</a:t>
            </a:r>
            <a:endParaRPr sz="2150"/>
          </a:p>
        </p:txBody>
      </p:sp>
      <p:sp>
        <p:nvSpPr>
          <p:cNvPr id="3" name="object 3"/>
          <p:cNvSpPr txBox="1"/>
          <p:nvPr/>
        </p:nvSpPr>
        <p:spPr>
          <a:xfrm>
            <a:off x="460375" y="1396745"/>
            <a:ext cx="6758940" cy="1078865"/>
          </a:xfrm>
          <a:prstGeom prst="rect">
            <a:avLst/>
          </a:prstGeom>
        </p:spPr>
        <p:txBody>
          <a:bodyPr vert="horz" wrap="square" lIns="0" tIns="13335" rIns="0" bIns="0" rtlCol="0">
            <a:spAutoFit/>
          </a:bodyPr>
          <a:lstStyle/>
          <a:p>
            <a:pPr marL="12700">
              <a:lnSpc>
                <a:spcPct val="100000"/>
              </a:lnSpc>
              <a:spcBef>
                <a:spcPts val="105"/>
              </a:spcBef>
              <a:tabLst>
                <a:tab pos="1430020" algn="l"/>
              </a:tabLst>
            </a:pPr>
            <a:r>
              <a:rPr sz="2400" spc="-10" dirty="0">
                <a:latin typeface="Times New Roman"/>
                <a:cs typeface="Times New Roman"/>
              </a:rPr>
              <a:t>Problem:</a:t>
            </a:r>
            <a:r>
              <a:rPr sz="2400" dirty="0">
                <a:latin typeface="Times New Roman"/>
                <a:cs typeface="Times New Roman"/>
              </a:rPr>
              <a:t>	what</a:t>
            </a:r>
            <a:r>
              <a:rPr sz="2400" spc="-65" dirty="0">
                <a:latin typeface="Times New Roman"/>
                <a:cs typeface="Times New Roman"/>
              </a:rPr>
              <a:t> </a:t>
            </a:r>
            <a:r>
              <a:rPr sz="2400" dirty="0">
                <a:latin typeface="Times New Roman"/>
                <a:cs typeface="Times New Roman"/>
              </a:rPr>
              <a:t>happens</a:t>
            </a:r>
            <a:r>
              <a:rPr sz="2400" spc="-35" dirty="0">
                <a:latin typeface="Times New Roman"/>
                <a:cs typeface="Times New Roman"/>
              </a:rPr>
              <a:t> </a:t>
            </a:r>
            <a:r>
              <a:rPr sz="2400" dirty="0">
                <a:latin typeface="Times New Roman"/>
                <a:cs typeface="Times New Roman"/>
              </a:rPr>
              <a:t>when</a:t>
            </a:r>
            <a:r>
              <a:rPr sz="2400" spc="5" dirty="0">
                <a:latin typeface="Times New Roman"/>
                <a:cs typeface="Times New Roman"/>
              </a:rPr>
              <a:t> </a:t>
            </a:r>
            <a:r>
              <a:rPr sz="2400" dirty="0">
                <a:latin typeface="Times New Roman"/>
                <a:cs typeface="Times New Roman"/>
              </a:rPr>
              <a:t>int</a:t>
            </a:r>
            <a:r>
              <a:rPr sz="2400" spc="-10" dirty="0">
                <a:latin typeface="Times New Roman"/>
                <a:cs typeface="Times New Roman"/>
              </a:rPr>
              <a:t> </a:t>
            </a:r>
            <a:r>
              <a:rPr sz="2400" dirty="0">
                <a:latin typeface="Times New Roman"/>
                <a:cs typeface="Times New Roman"/>
              </a:rPr>
              <a:t>exceeds</a:t>
            </a:r>
            <a:r>
              <a:rPr sz="2400" spc="-35" dirty="0">
                <a:latin typeface="Times New Roman"/>
                <a:cs typeface="Times New Roman"/>
              </a:rPr>
              <a:t> </a:t>
            </a:r>
            <a:r>
              <a:rPr sz="2400" dirty="0">
                <a:latin typeface="Times New Roman"/>
                <a:cs typeface="Times New Roman"/>
              </a:rPr>
              <a:t>max</a:t>
            </a:r>
            <a:r>
              <a:rPr sz="2400" spc="10" dirty="0">
                <a:latin typeface="Times New Roman"/>
                <a:cs typeface="Times New Roman"/>
              </a:rPr>
              <a:t> </a:t>
            </a:r>
            <a:r>
              <a:rPr sz="2400" spc="-10" dirty="0">
                <a:latin typeface="Times New Roman"/>
                <a:cs typeface="Times New Roman"/>
              </a:rPr>
              <a:t>value?</a:t>
            </a:r>
            <a:endParaRPr sz="2400">
              <a:latin typeface="Times New Roman"/>
              <a:cs typeface="Times New Roman"/>
            </a:endParaRPr>
          </a:p>
          <a:p>
            <a:pPr marL="12700">
              <a:lnSpc>
                <a:spcPct val="100000"/>
              </a:lnSpc>
              <a:spcBef>
                <a:spcPts val="2525"/>
              </a:spcBef>
              <a:tabLst>
                <a:tab pos="4272280" algn="l"/>
                <a:tab pos="5473065" algn="l"/>
              </a:tabLst>
            </a:pPr>
            <a:r>
              <a:rPr sz="2400" b="1" dirty="0">
                <a:solidFill>
                  <a:srgbClr val="006FC0"/>
                </a:solidFill>
                <a:latin typeface="Times New Roman"/>
                <a:cs typeface="Times New Roman"/>
              </a:rPr>
              <a:t>int</a:t>
            </a:r>
            <a:r>
              <a:rPr sz="2400" b="1" spc="-35" dirty="0">
                <a:solidFill>
                  <a:srgbClr val="006FC0"/>
                </a:solidFill>
                <a:latin typeface="Times New Roman"/>
                <a:cs typeface="Times New Roman"/>
              </a:rPr>
              <a:t> </a:t>
            </a:r>
            <a:r>
              <a:rPr sz="2400" b="1" dirty="0">
                <a:solidFill>
                  <a:srgbClr val="006FC0"/>
                </a:solidFill>
                <a:latin typeface="Times New Roman"/>
                <a:cs typeface="Times New Roman"/>
              </a:rPr>
              <a:t>m;</a:t>
            </a:r>
            <a:r>
              <a:rPr sz="2400" b="1" spc="-55" dirty="0">
                <a:solidFill>
                  <a:srgbClr val="006FC0"/>
                </a:solidFill>
                <a:latin typeface="Times New Roman"/>
                <a:cs typeface="Times New Roman"/>
              </a:rPr>
              <a:t> </a:t>
            </a:r>
            <a:r>
              <a:rPr sz="2400" b="1" dirty="0">
                <a:solidFill>
                  <a:srgbClr val="006FC0"/>
                </a:solidFill>
                <a:latin typeface="Times New Roman"/>
                <a:cs typeface="Times New Roman"/>
              </a:rPr>
              <a:t>(32</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bits)</a:t>
            </a:r>
            <a:r>
              <a:rPr sz="2400" b="1" spc="15" dirty="0">
                <a:solidFill>
                  <a:srgbClr val="006FC0"/>
                </a:solidFill>
                <a:latin typeface="Times New Roman"/>
                <a:cs typeface="Times New Roman"/>
              </a:rPr>
              <a:t> </a:t>
            </a:r>
            <a:r>
              <a:rPr sz="2400" b="1" dirty="0">
                <a:solidFill>
                  <a:srgbClr val="006FC0"/>
                </a:solidFill>
                <a:latin typeface="Times New Roman"/>
                <a:cs typeface="Times New Roman"/>
              </a:rPr>
              <a:t>short</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s;</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(16</a:t>
            </a:r>
            <a:r>
              <a:rPr sz="2400" b="1" spc="-5" dirty="0">
                <a:solidFill>
                  <a:srgbClr val="006FC0"/>
                </a:solidFill>
                <a:latin typeface="Times New Roman"/>
                <a:cs typeface="Times New Roman"/>
              </a:rPr>
              <a:t> </a:t>
            </a:r>
            <a:r>
              <a:rPr sz="2400" b="1" spc="-10" dirty="0">
                <a:solidFill>
                  <a:srgbClr val="006FC0"/>
                </a:solidFill>
                <a:latin typeface="Times New Roman"/>
                <a:cs typeface="Times New Roman"/>
              </a:rPr>
              <a:t>bits)</a:t>
            </a:r>
            <a:r>
              <a:rPr sz="2400" b="1" dirty="0">
                <a:solidFill>
                  <a:srgbClr val="006FC0"/>
                </a:solidFill>
                <a:latin typeface="Times New Roman"/>
                <a:cs typeface="Times New Roman"/>
              </a:rPr>
              <a:t>	char</a:t>
            </a:r>
            <a:r>
              <a:rPr sz="2400" b="1" spc="-30" dirty="0">
                <a:solidFill>
                  <a:srgbClr val="006FC0"/>
                </a:solidFill>
                <a:latin typeface="Times New Roman"/>
                <a:cs typeface="Times New Roman"/>
              </a:rPr>
              <a:t> </a:t>
            </a:r>
            <a:r>
              <a:rPr sz="2400" b="1" spc="-25" dirty="0">
                <a:solidFill>
                  <a:srgbClr val="006FC0"/>
                </a:solidFill>
                <a:latin typeface="Times New Roman"/>
                <a:cs typeface="Times New Roman"/>
              </a:rPr>
              <a:t>c;</a:t>
            </a:r>
            <a:r>
              <a:rPr sz="2400" b="1" dirty="0">
                <a:solidFill>
                  <a:srgbClr val="006FC0"/>
                </a:solidFill>
                <a:latin typeface="Times New Roman"/>
                <a:cs typeface="Times New Roman"/>
              </a:rPr>
              <a:t>	(8</a:t>
            </a:r>
            <a:r>
              <a:rPr sz="2400" b="1" spc="5" dirty="0">
                <a:solidFill>
                  <a:srgbClr val="006FC0"/>
                </a:solidFill>
                <a:latin typeface="Times New Roman"/>
                <a:cs typeface="Times New Roman"/>
              </a:rPr>
              <a:t> </a:t>
            </a:r>
            <a:r>
              <a:rPr sz="2400" b="1" spc="-10" dirty="0">
                <a:solidFill>
                  <a:srgbClr val="006FC0"/>
                </a:solidFill>
                <a:latin typeface="Times New Roman"/>
                <a:cs typeface="Times New Roman"/>
              </a:rPr>
              <a:t>bits)</a:t>
            </a:r>
            <a:endParaRPr sz="2400">
              <a:latin typeface="Times New Roman"/>
              <a:cs typeface="Times New Roman"/>
            </a:endParaRPr>
          </a:p>
        </p:txBody>
      </p:sp>
      <p:graphicFrame>
        <p:nvGraphicFramePr>
          <p:cNvPr id="4" name="object 4"/>
          <p:cNvGraphicFramePr>
            <a:graphicFrameLocks noGrp="1"/>
          </p:cNvGraphicFramePr>
          <p:nvPr/>
        </p:nvGraphicFramePr>
        <p:xfrm>
          <a:off x="1356741" y="2845320"/>
          <a:ext cx="6001384" cy="1435100"/>
        </p:xfrm>
        <a:graphic>
          <a:graphicData uri="http://schemas.openxmlformats.org/drawingml/2006/table">
            <a:tbl>
              <a:tblPr firstRow="1" bandRow="1">
                <a:tableStyleId>{2D5ABB26-0587-4C30-8999-92F81FD0307C}</a:tableStyleId>
              </a:tblPr>
              <a:tblGrid>
                <a:gridCol w="4101465"/>
                <a:gridCol w="962025"/>
                <a:gridCol w="937894"/>
              </a:tblGrid>
              <a:tr h="445770">
                <a:tc>
                  <a:txBody>
                    <a:bodyPr/>
                    <a:lstStyle/>
                    <a:p>
                      <a:pPr marL="31750">
                        <a:lnSpc>
                          <a:spcPts val="2620"/>
                        </a:lnSpc>
                      </a:pPr>
                      <a:r>
                        <a:rPr sz="2400" dirty="0">
                          <a:latin typeface="Times New Roman"/>
                          <a:cs typeface="Times New Roman"/>
                        </a:rPr>
                        <a:t>c</a:t>
                      </a:r>
                      <a:r>
                        <a:rPr sz="2400" spc="-25" dirty="0">
                          <a:latin typeface="Times New Roman"/>
                          <a:cs typeface="Times New Roman"/>
                        </a:rPr>
                        <a:t> </a:t>
                      </a:r>
                      <a:r>
                        <a:rPr sz="2400" dirty="0">
                          <a:latin typeface="Times New Roman"/>
                          <a:cs typeface="Times New Roman"/>
                        </a:rPr>
                        <a:t>= 0x80 +</a:t>
                      </a:r>
                      <a:r>
                        <a:rPr sz="2400" spc="-10" dirty="0">
                          <a:latin typeface="Times New Roman"/>
                          <a:cs typeface="Times New Roman"/>
                        </a:rPr>
                        <a:t> </a:t>
                      </a:r>
                      <a:r>
                        <a:rPr sz="2400" dirty="0">
                          <a:latin typeface="Times New Roman"/>
                          <a:cs typeface="Times New Roman"/>
                        </a:rPr>
                        <a:t>0x80</a:t>
                      </a:r>
                      <a:r>
                        <a:rPr sz="2400" spc="-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128 +</a:t>
                      </a:r>
                      <a:r>
                        <a:rPr sz="2400" spc="-10" dirty="0">
                          <a:latin typeface="Times New Roman"/>
                          <a:cs typeface="Times New Roman"/>
                        </a:rPr>
                        <a:t> </a:t>
                      </a:r>
                      <a:r>
                        <a:rPr sz="2400" spc="-25" dirty="0">
                          <a:latin typeface="Times New Roman"/>
                          <a:cs typeface="Times New Roman"/>
                        </a:rPr>
                        <a:t>128</a:t>
                      </a:r>
                      <a:endParaRPr sz="2400">
                        <a:latin typeface="Times New Roman"/>
                        <a:cs typeface="Times New Roman"/>
                      </a:endParaRPr>
                    </a:p>
                  </a:txBody>
                  <a:tcPr marL="0" marR="0" marT="0" marB="0"/>
                </a:tc>
                <a:tc>
                  <a:txBody>
                    <a:bodyPr/>
                    <a:lstStyle/>
                    <a:p>
                      <a:pPr marR="182880" algn="r">
                        <a:lnSpc>
                          <a:spcPts val="2620"/>
                        </a:lnSpc>
                      </a:pPr>
                      <a:r>
                        <a:rPr sz="2400" spc="-50" dirty="0">
                          <a:latin typeface="Cambria Math"/>
                          <a:cs typeface="Cambria Math"/>
                        </a:rPr>
                        <a:t>⇒</a:t>
                      </a:r>
                      <a:endParaRPr sz="2400">
                        <a:latin typeface="Cambria Math"/>
                        <a:cs typeface="Cambria Math"/>
                      </a:endParaRPr>
                    </a:p>
                  </a:txBody>
                  <a:tcPr marL="0" marR="0" marT="0" marB="0"/>
                </a:tc>
                <a:tc>
                  <a:txBody>
                    <a:bodyPr/>
                    <a:lstStyle/>
                    <a:p>
                      <a:pPr marL="190500">
                        <a:lnSpc>
                          <a:spcPts val="2620"/>
                        </a:lnSpc>
                      </a:pPr>
                      <a:r>
                        <a:rPr sz="2400" dirty="0">
                          <a:latin typeface="Times New Roman"/>
                          <a:cs typeface="Times New Roman"/>
                        </a:rPr>
                        <a:t>c</a:t>
                      </a:r>
                      <a:r>
                        <a:rPr sz="2400" spc="-20" dirty="0">
                          <a:latin typeface="Times New Roman"/>
                          <a:cs typeface="Times New Roman"/>
                        </a:rPr>
                        <a:t> </a:t>
                      </a:r>
                      <a:r>
                        <a:rPr sz="2400" dirty="0">
                          <a:latin typeface="Times New Roman"/>
                          <a:cs typeface="Times New Roman"/>
                        </a:rPr>
                        <a:t>= </a:t>
                      </a:r>
                      <a:r>
                        <a:rPr sz="2400" spc="-50" dirty="0">
                          <a:latin typeface="Times New Roman"/>
                          <a:cs typeface="Times New Roman"/>
                        </a:rPr>
                        <a:t>0</a:t>
                      </a:r>
                      <a:endParaRPr sz="2400">
                        <a:latin typeface="Times New Roman"/>
                        <a:cs typeface="Times New Roman"/>
                      </a:endParaRPr>
                    </a:p>
                  </a:txBody>
                  <a:tcPr marL="0" marR="0" marT="0" marB="0"/>
                </a:tc>
              </a:tr>
              <a:tr h="548005">
                <a:tc>
                  <a:txBody>
                    <a:bodyPr/>
                    <a:lstStyle/>
                    <a:p>
                      <a:pPr marL="31750">
                        <a:lnSpc>
                          <a:spcPct val="100000"/>
                        </a:lnSpc>
                        <a:spcBef>
                          <a:spcPts val="580"/>
                        </a:spcBef>
                      </a:pPr>
                      <a:r>
                        <a:rPr sz="2400" dirty="0">
                          <a:latin typeface="Times New Roman"/>
                          <a:cs typeface="Times New Roman"/>
                        </a:rPr>
                        <a:t>s =</a:t>
                      </a:r>
                      <a:r>
                        <a:rPr sz="2400" spc="-35" dirty="0">
                          <a:latin typeface="Times New Roman"/>
                          <a:cs typeface="Times New Roman"/>
                        </a:rPr>
                        <a:t> </a:t>
                      </a:r>
                      <a:r>
                        <a:rPr sz="2400" dirty="0">
                          <a:latin typeface="Times New Roman"/>
                          <a:cs typeface="Times New Roman"/>
                        </a:rPr>
                        <a:t>0xff80</a:t>
                      </a:r>
                      <a:r>
                        <a:rPr sz="2400" spc="-30" dirty="0">
                          <a:latin typeface="Times New Roman"/>
                          <a:cs typeface="Times New Roman"/>
                        </a:rPr>
                        <a:t> </a:t>
                      </a:r>
                      <a:r>
                        <a:rPr sz="2400" dirty="0">
                          <a:latin typeface="Times New Roman"/>
                          <a:cs typeface="Times New Roman"/>
                        </a:rPr>
                        <a:t>+</a:t>
                      </a:r>
                      <a:r>
                        <a:rPr sz="2400" spc="-40" dirty="0">
                          <a:latin typeface="Times New Roman"/>
                          <a:cs typeface="Times New Roman"/>
                        </a:rPr>
                        <a:t> </a:t>
                      </a:r>
                      <a:r>
                        <a:rPr sz="2400" spc="-20" dirty="0">
                          <a:latin typeface="Times New Roman"/>
                          <a:cs typeface="Times New Roman"/>
                        </a:rPr>
                        <a:t>0x80</a:t>
                      </a:r>
                      <a:endParaRPr sz="2400">
                        <a:latin typeface="Times New Roman"/>
                        <a:cs typeface="Times New Roman"/>
                      </a:endParaRPr>
                    </a:p>
                  </a:txBody>
                  <a:tcPr marL="0" marR="0" marT="73660" marB="0"/>
                </a:tc>
                <a:tc>
                  <a:txBody>
                    <a:bodyPr/>
                    <a:lstStyle/>
                    <a:p>
                      <a:pPr marR="182880" algn="r">
                        <a:lnSpc>
                          <a:spcPct val="100000"/>
                        </a:lnSpc>
                        <a:spcBef>
                          <a:spcPts val="580"/>
                        </a:spcBef>
                      </a:pPr>
                      <a:r>
                        <a:rPr sz="2400" spc="-50" dirty="0">
                          <a:latin typeface="Cambria Math"/>
                          <a:cs typeface="Cambria Math"/>
                        </a:rPr>
                        <a:t>⇒</a:t>
                      </a:r>
                      <a:endParaRPr sz="2400">
                        <a:latin typeface="Cambria Math"/>
                        <a:cs typeface="Cambria Math"/>
                      </a:endParaRPr>
                    </a:p>
                  </a:txBody>
                  <a:tcPr marL="0" marR="0" marT="73660" marB="0"/>
                </a:tc>
                <a:tc>
                  <a:txBody>
                    <a:bodyPr/>
                    <a:lstStyle/>
                    <a:p>
                      <a:pPr marL="190500">
                        <a:lnSpc>
                          <a:spcPct val="100000"/>
                        </a:lnSpc>
                        <a:spcBef>
                          <a:spcPts val="580"/>
                        </a:spcBef>
                      </a:pPr>
                      <a:r>
                        <a:rPr sz="2400" dirty="0">
                          <a:latin typeface="Times New Roman"/>
                          <a:cs typeface="Times New Roman"/>
                        </a:rPr>
                        <a:t>s</a:t>
                      </a:r>
                      <a:r>
                        <a:rPr sz="2400" spc="30" dirty="0">
                          <a:latin typeface="Times New Roman"/>
                          <a:cs typeface="Times New Roman"/>
                        </a:rPr>
                        <a:t> </a:t>
                      </a:r>
                      <a:r>
                        <a:rPr sz="2400" dirty="0">
                          <a:latin typeface="Times New Roman"/>
                          <a:cs typeface="Times New Roman"/>
                        </a:rPr>
                        <a:t>=</a:t>
                      </a:r>
                      <a:r>
                        <a:rPr sz="2400" spc="-5" dirty="0">
                          <a:latin typeface="Times New Roman"/>
                          <a:cs typeface="Times New Roman"/>
                        </a:rPr>
                        <a:t> </a:t>
                      </a:r>
                      <a:r>
                        <a:rPr sz="2400" spc="-50" dirty="0">
                          <a:latin typeface="Times New Roman"/>
                          <a:cs typeface="Times New Roman"/>
                        </a:rPr>
                        <a:t>0</a:t>
                      </a:r>
                      <a:endParaRPr sz="2400">
                        <a:latin typeface="Times New Roman"/>
                        <a:cs typeface="Times New Roman"/>
                      </a:endParaRPr>
                    </a:p>
                  </a:txBody>
                  <a:tcPr marL="0" marR="0" marT="73660" marB="0"/>
                </a:tc>
              </a:tr>
              <a:tr h="441325">
                <a:tc>
                  <a:txBody>
                    <a:bodyPr/>
                    <a:lstStyle/>
                    <a:p>
                      <a:pPr marL="31750">
                        <a:lnSpc>
                          <a:spcPts val="2835"/>
                        </a:lnSpc>
                        <a:spcBef>
                          <a:spcPts val="545"/>
                        </a:spcBef>
                      </a:pPr>
                      <a:r>
                        <a:rPr sz="2400" dirty="0">
                          <a:latin typeface="Times New Roman"/>
                          <a:cs typeface="Times New Roman"/>
                        </a:rPr>
                        <a:t>m</a:t>
                      </a:r>
                      <a:r>
                        <a:rPr sz="2400" spc="-20"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spc="-20" dirty="0">
                          <a:latin typeface="Times New Roman"/>
                          <a:cs typeface="Times New Roman"/>
                        </a:rPr>
                        <a:t>0xffffff80</a:t>
                      </a:r>
                      <a:r>
                        <a:rPr sz="2400" spc="-15" dirty="0">
                          <a:latin typeface="Times New Roman"/>
                          <a:cs typeface="Times New Roman"/>
                        </a:rPr>
                        <a:t> </a:t>
                      </a:r>
                      <a:r>
                        <a:rPr sz="2400" dirty="0">
                          <a:latin typeface="Times New Roman"/>
                          <a:cs typeface="Times New Roman"/>
                        </a:rPr>
                        <a:t>+</a:t>
                      </a:r>
                      <a:r>
                        <a:rPr sz="2400" spc="-30" dirty="0">
                          <a:latin typeface="Times New Roman"/>
                          <a:cs typeface="Times New Roman"/>
                        </a:rPr>
                        <a:t> </a:t>
                      </a:r>
                      <a:r>
                        <a:rPr sz="2400" spc="-20" dirty="0">
                          <a:latin typeface="Times New Roman"/>
                          <a:cs typeface="Times New Roman"/>
                        </a:rPr>
                        <a:t>0x80</a:t>
                      </a:r>
                      <a:endParaRPr sz="2400">
                        <a:latin typeface="Times New Roman"/>
                        <a:cs typeface="Times New Roman"/>
                      </a:endParaRPr>
                    </a:p>
                  </a:txBody>
                  <a:tcPr marL="0" marR="0" marT="69215" marB="0"/>
                </a:tc>
                <a:tc>
                  <a:txBody>
                    <a:bodyPr/>
                    <a:lstStyle/>
                    <a:p>
                      <a:pPr marR="182880" algn="r">
                        <a:lnSpc>
                          <a:spcPts val="2835"/>
                        </a:lnSpc>
                        <a:spcBef>
                          <a:spcPts val="545"/>
                        </a:spcBef>
                      </a:pPr>
                      <a:r>
                        <a:rPr sz="2400" spc="-50" dirty="0">
                          <a:latin typeface="Cambria Math"/>
                          <a:cs typeface="Cambria Math"/>
                        </a:rPr>
                        <a:t>⇒</a:t>
                      </a:r>
                      <a:endParaRPr sz="2400">
                        <a:latin typeface="Cambria Math"/>
                        <a:cs typeface="Cambria Math"/>
                      </a:endParaRPr>
                    </a:p>
                  </a:txBody>
                  <a:tcPr marL="0" marR="0" marT="69215" marB="0"/>
                </a:tc>
                <a:tc>
                  <a:txBody>
                    <a:bodyPr/>
                    <a:lstStyle/>
                    <a:p>
                      <a:pPr marL="190500">
                        <a:lnSpc>
                          <a:spcPts val="2835"/>
                        </a:lnSpc>
                        <a:spcBef>
                          <a:spcPts val="545"/>
                        </a:spcBef>
                      </a:pPr>
                      <a:r>
                        <a:rPr sz="2400" dirty="0">
                          <a:latin typeface="Times New Roman"/>
                          <a:cs typeface="Times New Roman"/>
                        </a:rPr>
                        <a:t>m = </a:t>
                      </a:r>
                      <a:r>
                        <a:rPr sz="2400" spc="-50" dirty="0">
                          <a:latin typeface="Times New Roman"/>
                          <a:cs typeface="Times New Roman"/>
                        </a:rPr>
                        <a:t>0</a:t>
                      </a:r>
                      <a:endParaRPr sz="2400">
                        <a:latin typeface="Times New Roman"/>
                        <a:cs typeface="Times New Roman"/>
                      </a:endParaRPr>
                    </a:p>
                  </a:txBody>
                  <a:tcPr marL="0" marR="0" marT="69215" marB="0"/>
                </a:tc>
              </a:tr>
            </a:tbl>
          </a:graphicData>
        </a:graphic>
      </p:graphicFrame>
      <p:sp>
        <p:nvSpPr>
          <p:cNvPr id="5" name="object 5"/>
          <p:cNvSpPr txBox="1"/>
          <p:nvPr/>
        </p:nvSpPr>
        <p:spPr>
          <a:xfrm>
            <a:off x="460375" y="4830445"/>
            <a:ext cx="2742565"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Can</a:t>
            </a:r>
            <a:r>
              <a:rPr sz="2400" spc="-20" dirty="0">
                <a:latin typeface="Times New Roman"/>
                <a:cs typeface="Times New Roman"/>
              </a:rPr>
              <a:t> </a:t>
            </a:r>
            <a:r>
              <a:rPr sz="2400" dirty="0">
                <a:latin typeface="Times New Roman"/>
                <a:cs typeface="Times New Roman"/>
              </a:rPr>
              <a:t>this</a:t>
            </a:r>
            <a:r>
              <a:rPr sz="2400" spc="15" dirty="0">
                <a:latin typeface="Times New Roman"/>
                <a:cs typeface="Times New Roman"/>
              </a:rPr>
              <a:t> </a:t>
            </a:r>
            <a:r>
              <a:rPr sz="2400" dirty="0">
                <a:latin typeface="Times New Roman"/>
                <a:cs typeface="Times New Roman"/>
              </a:rPr>
              <a:t>be</a:t>
            </a:r>
            <a:r>
              <a:rPr sz="2400" spc="-35" dirty="0">
                <a:latin typeface="Times New Roman"/>
                <a:cs typeface="Times New Roman"/>
              </a:rPr>
              <a:t> </a:t>
            </a:r>
            <a:r>
              <a:rPr sz="2400" spc="-10" dirty="0">
                <a:latin typeface="Times New Roman"/>
                <a:cs typeface="Times New Roman"/>
              </a:rPr>
              <a:t>exploited?</a:t>
            </a:r>
            <a:endParaRPr sz="2400">
              <a:latin typeface="Times New Roman"/>
              <a:cs typeface="Times New Roman"/>
            </a:endParaRPr>
          </a:p>
        </p:txBody>
      </p:sp>
      <p:pic>
        <p:nvPicPr>
          <p:cNvPr id="6" name="object 6"/>
          <p:cNvPicPr/>
          <p:nvPr/>
        </p:nvPicPr>
        <p:blipFill>
          <a:blip r:embed="rId2" cstate="print"/>
          <a:stretch>
            <a:fillRect/>
          </a:stretch>
        </p:blipFill>
        <p:spPr>
          <a:xfrm>
            <a:off x="866775" y="2495423"/>
            <a:ext cx="7034276" cy="2233676"/>
          </a:xfrm>
          <a:prstGeom prst="rect">
            <a:avLst/>
          </a:prstGeom>
        </p:spPr>
      </p:pic>
      <p:sp>
        <p:nvSpPr>
          <p:cNvPr id="7" name="object 7"/>
          <p:cNvSpPr/>
          <p:nvPr/>
        </p:nvSpPr>
        <p:spPr>
          <a:xfrm>
            <a:off x="919162" y="2519426"/>
            <a:ext cx="6934200" cy="2133600"/>
          </a:xfrm>
          <a:custGeom>
            <a:avLst/>
            <a:gdLst/>
            <a:ahLst/>
            <a:cxnLst/>
            <a:rect l="l" t="t" r="r" b="b"/>
            <a:pathLst>
              <a:path w="6934200" h="2133600">
                <a:moveTo>
                  <a:pt x="0" y="2133600"/>
                </a:moveTo>
                <a:lnTo>
                  <a:pt x="6934200" y="2133600"/>
                </a:lnTo>
                <a:lnTo>
                  <a:pt x="6934200" y="0"/>
                </a:lnTo>
                <a:lnTo>
                  <a:pt x="0" y="0"/>
                </a:lnTo>
                <a:lnTo>
                  <a:pt x="0" y="2133600"/>
                </a:lnTo>
                <a:close/>
              </a:path>
            </a:pathLst>
          </a:custGeom>
          <a:ln w="9525">
            <a:solidFill>
              <a:srgbClr val="AE3408"/>
            </a:solidFill>
          </a:ln>
        </p:spPr>
        <p:txBody>
          <a:bodyPr wrap="square" lIns="0" tIns="0" rIns="0" bIns="0" rtlCol="0"/>
          <a:lstStyle/>
          <a:p>
            <a:endParaRPr/>
          </a:p>
        </p:txBody>
      </p:sp>
      <p:pic>
        <p:nvPicPr>
          <p:cNvPr id="8" name="object 8"/>
          <p:cNvPicPr/>
          <p:nvPr/>
        </p:nvPicPr>
        <p:blipFill>
          <a:blip r:embed="rId3" cstate="print"/>
          <a:stretch>
            <a:fillRect/>
          </a:stretch>
        </p:blipFill>
        <p:spPr>
          <a:xfrm>
            <a:off x="457200" y="6248400"/>
            <a:ext cx="476250" cy="381000"/>
          </a:xfrm>
          <a:prstGeom prst="rect">
            <a:avLst/>
          </a:prstGeom>
        </p:spPr>
      </p:pic>
      <p:sp>
        <p:nvSpPr>
          <p:cNvPr id="9" name="object 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970" rIns="0" bIns="0" rtlCol="0">
            <a:spAutoFit/>
          </a:bodyPr>
          <a:lstStyle/>
          <a:p>
            <a:pPr marL="317500">
              <a:lnSpc>
                <a:spcPct val="100000"/>
              </a:lnSpc>
              <a:spcBef>
                <a:spcPts val="105"/>
              </a:spcBef>
            </a:pPr>
            <a:r>
              <a:rPr dirty="0"/>
              <a:t>An</a:t>
            </a:r>
            <a:r>
              <a:rPr spc="20" dirty="0"/>
              <a:t> </a:t>
            </a:r>
            <a:r>
              <a:rPr spc="-10" dirty="0"/>
              <a:t>example</a:t>
            </a:r>
          </a:p>
        </p:txBody>
      </p:sp>
      <p:sp>
        <p:nvSpPr>
          <p:cNvPr id="3" name="object 3"/>
          <p:cNvSpPr/>
          <p:nvPr/>
        </p:nvSpPr>
        <p:spPr>
          <a:xfrm>
            <a:off x="1147762" y="1100074"/>
            <a:ext cx="7239000" cy="3448050"/>
          </a:xfrm>
          <a:custGeom>
            <a:avLst/>
            <a:gdLst/>
            <a:ahLst/>
            <a:cxnLst/>
            <a:rect l="l" t="t" r="r" b="b"/>
            <a:pathLst>
              <a:path w="7239000" h="3448050">
                <a:moveTo>
                  <a:pt x="0" y="3448050"/>
                </a:moveTo>
                <a:lnTo>
                  <a:pt x="7239000" y="3448050"/>
                </a:lnTo>
                <a:lnTo>
                  <a:pt x="7239000" y="0"/>
                </a:lnTo>
                <a:lnTo>
                  <a:pt x="0" y="0"/>
                </a:lnTo>
                <a:lnTo>
                  <a:pt x="0" y="3448050"/>
                </a:lnTo>
                <a:close/>
              </a:path>
            </a:pathLst>
          </a:custGeom>
          <a:ln w="9525">
            <a:solidFill>
              <a:srgbClr val="4F81BC"/>
            </a:solidFill>
          </a:ln>
        </p:spPr>
        <p:txBody>
          <a:bodyPr wrap="square" lIns="0" tIns="0" rIns="0" bIns="0" rtlCol="0"/>
          <a:lstStyle/>
          <a:p>
            <a:endParaRPr/>
          </a:p>
        </p:txBody>
      </p:sp>
      <p:sp>
        <p:nvSpPr>
          <p:cNvPr id="4" name="object 4"/>
          <p:cNvSpPr txBox="1"/>
          <p:nvPr/>
        </p:nvSpPr>
        <p:spPr>
          <a:xfrm>
            <a:off x="1235710" y="1044638"/>
            <a:ext cx="5908040" cy="788670"/>
          </a:xfrm>
          <a:prstGeom prst="rect">
            <a:avLst/>
          </a:prstGeom>
        </p:spPr>
        <p:txBody>
          <a:bodyPr vert="horz" wrap="square" lIns="0" tIns="12065" rIns="0" bIns="0" rtlCol="0">
            <a:spAutoFit/>
          </a:bodyPr>
          <a:lstStyle/>
          <a:p>
            <a:pPr marL="457834" marR="5080" indent="-457834">
              <a:lnSpc>
                <a:spcPct val="125200"/>
              </a:lnSpc>
              <a:spcBef>
                <a:spcPts val="95"/>
              </a:spcBef>
              <a:tabLst>
                <a:tab pos="3309620" algn="l"/>
              </a:tabLst>
            </a:pPr>
            <a:r>
              <a:rPr sz="2000" dirty="0">
                <a:latin typeface="Times New Roman"/>
                <a:cs typeface="Times New Roman"/>
              </a:rPr>
              <a:t>void</a:t>
            </a:r>
            <a:r>
              <a:rPr sz="2000" spc="465" dirty="0">
                <a:latin typeface="Times New Roman"/>
                <a:cs typeface="Times New Roman"/>
              </a:rPr>
              <a:t> </a:t>
            </a:r>
            <a:r>
              <a:rPr sz="2000" dirty="0">
                <a:latin typeface="Times New Roman"/>
                <a:cs typeface="Times New Roman"/>
              </a:rPr>
              <a:t>func(</a:t>
            </a:r>
            <a:r>
              <a:rPr sz="2000" spc="10" dirty="0">
                <a:latin typeface="Times New Roman"/>
                <a:cs typeface="Times New Roman"/>
              </a:rPr>
              <a:t> </a:t>
            </a:r>
            <a:r>
              <a:rPr sz="2000" dirty="0">
                <a:latin typeface="Times New Roman"/>
                <a:cs typeface="Times New Roman"/>
              </a:rPr>
              <a:t>char</a:t>
            </a:r>
            <a:r>
              <a:rPr sz="2000" spc="-60" dirty="0">
                <a:latin typeface="Times New Roman"/>
                <a:cs typeface="Times New Roman"/>
              </a:rPr>
              <a:t> </a:t>
            </a:r>
            <a:r>
              <a:rPr sz="2000" dirty="0">
                <a:latin typeface="Times New Roman"/>
                <a:cs typeface="Times New Roman"/>
              </a:rPr>
              <a:t>*buf1,</a:t>
            </a:r>
            <a:r>
              <a:rPr sz="2000" spc="25" dirty="0">
                <a:latin typeface="Times New Roman"/>
                <a:cs typeface="Times New Roman"/>
              </a:rPr>
              <a:t> </a:t>
            </a:r>
            <a:r>
              <a:rPr sz="2000" spc="-10" dirty="0">
                <a:latin typeface="Times New Roman"/>
                <a:cs typeface="Times New Roman"/>
              </a:rPr>
              <a:t>*buf2,</a:t>
            </a:r>
            <a:r>
              <a:rPr sz="2000" dirty="0">
                <a:latin typeface="Times New Roman"/>
                <a:cs typeface="Times New Roman"/>
              </a:rPr>
              <a:t>	unsigned</a:t>
            </a:r>
            <a:r>
              <a:rPr sz="2000" spc="-40" dirty="0">
                <a:latin typeface="Times New Roman"/>
                <a:cs typeface="Times New Roman"/>
              </a:rPr>
              <a:t> </a:t>
            </a:r>
            <a:r>
              <a:rPr sz="2000" dirty="0">
                <a:latin typeface="Times New Roman"/>
                <a:cs typeface="Times New Roman"/>
              </a:rPr>
              <a:t>int</a:t>
            </a:r>
            <a:r>
              <a:rPr sz="2000" spc="-35" dirty="0">
                <a:latin typeface="Times New Roman"/>
                <a:cs typeface="Times New Roman"/>
              </a:rPr>
              <a:t> </a:t>
            </a:r>
            <a:r>
              <a:rPr sz="2000" dirty="0">
                <a:latin typeface="Times New Roman"/>
                <a:cs typeface="Times New Roman"/>
              </a:rPr>
              <a:t>len1,</a:t>
            </a:r>
            <a:r>
              <a:rPr sz="2000" spc="-35" dirty="0">
                <a:latin typeface="Times New Roman"/>
                <a:cs typeface="Times New Roman"/>
              </a:rPr>
              <a:t> </a:t>
            </a:r>
            <a:r>
              <a:rPr sz="2000" dirty="0">
                <a:latin typeface="Times New Roman"/>
                <a:cs typeface="Times New Roman"/>
              </a:rPr>
              <a:t>len2)</a:t>
            </a:r>
            <a:r>
              <a:rPr sz="2000" spc="25" dirty="0">
                <a:latin typeface="Times New Roman"/>
                <a:cs typeface="Times New Roman"/>
              </a:rPr>
              <a:t> </a:t>
            </a:r>
            <a:r>
              <a:rPr sz="2000" spc="-50" dirty="0">
                <a:latin typeface="Times New Roman"/>
                <a:cs typeface="Times New Roman"/>
              </a:rPr>
              <a:t>{ </a:t>
            </a:r>
            <a:r>
              <a:rPr sz="2000" dirty="0">
                <a:latin typeface="Times New Roman"/>
                <a:cs typeface="Times New Roman"/>
              </a:rPr>
              <a:t>char</a:t>
            </a:r>
            <a:r>
              <a:rPr sz="2000" spc="10" dirty="0">
                <a:latin typeface="Times New Roman"/>
                <a:cs typeface="Times New Roman"/>
              </a:rPr>
              <a:t> </a:t>
            </a:r>
            <a:r>
              <a:rPr sz="2000" spc="-10" dirty="0">
                <a:latin typeface="Times New Roman"/>
                <a:cs typeface="Times New Roman"/>
              </a:rPr>
              <a:t>temp[256];</a:t>
            </a:r>
            <a:endParaRPr sz="2000">
              <a:latin typeface="Times New Roman"/>
              <a:cs typeface="Times New Roman"/>
            </a:endParaRPr>
          </a:p>
        </p:txBody>
      </p:sp>
      <p:sp>
        <p:nvSpPr>
          <p:cNvPr id="5" name="object 5"/>
          <p:cNvSpPr txBox="1"/>
          <p:nvPr/>
        </p:nvSpPr>
        <p:spPr>
          <a:xfrm>
            <a:off x="6269990" y="1807781"/>
            <a:ext cx="1506220" cy="788670"/>
          </a:xfrm>
          <a:prstGeom prst="rect">
            <a:avLst/>
          </a:prstGeom>
        </p:spPr>
        <p:txBody>
          <a:bodyPr vert="horz" wrap="square" lIns="0" tIns="88265" rIns="0" bIns="0" rtlCol="0">
            <a:spAutoFit/>
          </a:bodyPr>
          <a:lstStyle/>
          <a:p>
            <a:pPr>
              <a:lnSpc>
                <a:spcPct val="100000"/>
              </a:lnSpc>
              <a:spcBef>
                <a:spcPts val="695"/>
              </a:spcBef>
            </a:pPr>
            <a:r>
              <a:rPr sz="2000" dirty="0">
                <a:solidFill>
                  <a:srgbClr val="0000FF"/>
                </a:solidFill>
                <a:latin typeface="Times New Roman"/>
                <a:cs typeface="Times New Roman"/>
              </a:rPr>
              <a:t>// length</a:t>
            </a:r>
            <a:r>
              <a:rPr sz="2000" spc="5" dirty="0">
                <a:solidFill>
                  <a:srgbClr val="0000FF"/>
                </a:solidFill>
                <a:latin typeface="Times New Roman"/>
                <a:cs typeface="Times New Roman"/>
              </a:rPr>
              <a:t> </a:t>
            </a:r>
            <a:r>
              <a:rPr sz="2000" spc="-20" dirty="0">
                <a:solidFill>
                  <a:srgbClr val="0000FF"/>
                </a:solidFill>
                <a:latin typeface="Times New Roman"/>
                <a:cs typeface="Times New Roman"/>
              </a:rPr>
              <a:t>check</a:t>
            </a:r>
            <a:endParaRPr sz="2000">
              <a:latin typeface="Times New Roman"/>
              <a:cs typeface="Times New Roman"/>
            </a:endParaRPr>
          </a:p>
          <a:p>
            <a:pPr>
              <a:lnSpc>
                <a:spcPct val="100000"/>
              </a:lnSpc>
              <a:spcBef>
                <a:spcPts val="605"/>
              </a:spcBef>
            </a:pPr>
            <a:r>
              <a:rPr sz="2000" dirty="0">
                <a:solidFill>
                  <a:srgbClr val="0000FF"/>
                </a:solidFill>
                <a:latin typeface="Times New Roman"/>
                <a:cs typeface="Times New Roman"/>
              </a:rPr>
              <a:t>//</a:t>
            </a:r>
            <a:r>
              <a:rPr sz="2000" spc="-15" dirty="0">
                <a:solidFill>
                  <a:srgbClr val="0000FF"/>
                </a:solidFill>
                <a:latin typeface="Times New Roman"/>
                <a:cs typeface="Times New Roman"/>
              </a:rPr>
              <a:t> </a:t>
            </a:r>
            <a:r>
              <a:rPr sz="2000" dirty="0">
                <a:solidFill>
                  <a:srgbClr val="0000FF"/>
                </a:solidFill>
                <a:latin typeface="Times New Roman"/>
                <a:cs typeface="Times New Roman"/>
              </a:rPr>
              <a:t>cat</a:t>
            </a:r>
            <a:r>
              <a:rPr sz="2000" spc="-5" dirty="0">
                <a:solidFill>
                  <a:srgbClr val="0000FF"/>
                </a:solidFill>
                <a:latin typeface="Times New Roman"/>
                <a:cs typeface="Times New Roman"/>
              </a:rPr>
              <a:t> </a:t>
            </a:r>
            <a:r>
              <a:rPr sz="2000" spc="-10" dirty="0">
                <a:solidFill>
                  <a:srgbClr val="0000FF"/>
                </a:solidFill>
                <a:latin typeface="Times New Roman"/>
                <a:cs typeface="Times New Roman"/>
              </a:rPr>
              <a:t>buffers</a:t>
            </a:r>
            <a:endParaRPr sz="2000">
              <a:latin typeface="Times New Roman"/>
              <a:cs typeface="Times New Roman"/>
            </a:endParaRPr>
          </a:p>
        </p:txBody>
      </p:sp>
      <p:sp>
        <p:nvSpPr>
          <p:cNvPr id="6" name="object 6"/>
          <p:cNvSpPr txBox="1"/>
          <p:nvPr/>
        </p:nvSpPr>
        <p:spPr>
          <a:xfrm>
            <a:off x="1693545" y="1807781"/>
            <a:ext cx="3535679" cy="1551940"/>
          </a:xfrm>
          <a:prstGeom prst="rect">
            <a:avLst/>
          </a:prstGeom>
        </p:spPr>
        <p:txBody>
          <a:bodyPr vert="horz" wrap="square" lIns="0" tIns="11430" rIns="0" bIns="0" rtlCol="0">
            <a:spAutoFit/>
          </a:bodyPr>
          <a:lstStyle/>
          <a:p>
            <a:pPr marR="5080">
              <a:lnSpc>
                <a:spcPct val="125200"/>
              </a:lnSpc>
              <a:spcBef>
                <a:spcPts val="90"/>
              </a:spcBef>
              <a:tabLst>
                <a:tab pos="280670" algn="l"/>
              </a:tabLst>
            </a:pPr>
            <a:r>
              <a:rPr sz="2000" spc="-25" dirty="0">
                <a:latin typeface="Times New Roman"/>
                <a:cs typeface="Times New Roman"/>
              </a:rPr>
              <a:t>if</a:t>
            </a:r>
            <a:r>
              <a:rPr sz="2000" dirty="0">
                <a:latin typeface="Times New Roman"/>
                <a:cs typeface="Times New Roman"/>
              </a:rPr>
              <a:t>	</a:t>
            </a:r>
            <a:r>
              <a:rPr sz="2000" b="1" dirty="0">
                <a:solidFill>
                  <a:srgbClr val="0000FF"/>
                </a:solidFill>
                <a:latin typeface="Times New Roman"/>
                <a:cs typeface="Times New Roman"/>
              </a:rPr>
              <a:t>(len1</a:t>
            </a:r>
            <a:r>
              <a:rPr sz="2000" b="1" spc="-10" dirty="0">
                <a:solidFill>
                  <a:srgbClr val="0000FF"/>
                </a:solidFill>
                <a:latin typeface="Times New Roman"/>
                <a:cs typeface="Times New Roman"/>
              </a:rPr>
              <a:t> </a:t>
            </a:r>
            <a:r>
              <a:rPr sz="2000" b="1" dirty="0">
                <a:solidFill>
                  <a:srgbClr val="0000FF"/>
                </a:solidFill>
                <a:latin typeface="Times New Roman"/>
                <a:cs typeface="Times New Roman"/>
              </a:rPr>
              <a:t>+ len2</a:t>
            </a:r>
            <a:r>
              <a:rPr sz="2000" b="1" spc="-10" dirty="0">
                <a:solidFill>
                  <a:srgbClr val="0000FF"/>
                </a:solidFill>
                <a:latin typeface="Times New Roman"/>
                <a:cs typeface="Times New Roman"/>
              </a:rPr>
              <a:t> </a:t>
            </a:r>
            <a:r>
              <a:rPr sz="2000" b="1" dirty="0">
                <a:solidFill>
                  <a:srgbClr val="0000FF"/>
                </a:solidFill>
                <a:latin typeface="Times New Roman"/>
                <a:cs typeface="Times New Roman"/>
              </a:rPr>
              <a:t>&gt; 256)</a:t>
            </a:r>
            <a:r>
              <a:rPr sz="2000" b="1" spc="440" dirty="0">
                <a:solidFill>
                  <a:srgbClr val="0000FF"/>
                </a:solidFill>
                <a:latin typeface="Times New Roman"/>
                <a:cs typeface="Times New Roman"/>
              </a:rPr>
              <a:t> </a:t>
            </a:r>
            <a:r>
              <a:rPr sz="2000" dirty="0">
                <a:latin typeface="Times New Roman"/>
                <a:cs typeface="Times New Roman"/>
              </a:rPr>
              <a:t>{return</a:t>
            </a:r>
            <a:r>
              <a:rPr sz="2000" spc="-15" dirty="0">
                <a:latin typeface="Times New Roman"/>
                <a:cs typeface="Times New Roman"/>
              </a:rPr>
              <a:t> </a:t>
            </a:r>
            <a:r>
              <a:rPr sz="2000" spc="-10" dirty="0">
                <a:latin typeface="Times New Roman"/>
                <a:cs typeface="Times New Roman"/>
              </a:rPr>
              <a:t>-</a:t>
            </a:r>
            <a:r>
              <a:rPr sz="2000" spc="-25" dirty="0">
                <a:latin typeface="Times New Roman"/>
                <a:cs typeface="Times New Roman"/>
              </a:rPr>
              <a:t>1} </a:t>
            </a:r>
            <a:r>
              <a:rPr sz="2000" dirty="0">
                <a:latin typeface="Times New Roman"/>
                <a:cs typeface="Times New Roman"/>
              </a:rPr>
              <a:t>memcpy(temp,</a:t>
            </a:r>
            <a:r>
              <a:rPr sz="2000" spc="-50" dirty="0">
                <a:latin typeface="Times New Roman"/>
                <a:cs typeface="Times New Roman"/>
              </a:rPr>
              <a:t> </a:t>
            </a:r>
            <a:r>
              <a:rPr sz="2000" dirty="0">
                <a:latin typeface="Times New Roman"/>
                <a:cs typeface="Times New Roman"/>
              </a:rPr>
              <a:t>buf1,</a:t>
            </a:r>
            <a:r>
              <a:rPr sz="2000" spc="15" dirty="0">
                <a:latin typeface="Times New Roman"/>
                <a:cs typeface="Times New Roman"/>
              </a:rPr>
              <a:t> </a:t>
            </a:r>
            <a:r>
              <a:rPr sz="2000" spc="-10" dirty="0">
                <a:latin typeface="Times New Roman"/>
                <a:cs typeface="Times New Roman"/>
              </a:rPr>
              <a:t>len1); </a:t>
            </a:r>
            <a:r>
              <a:rPr sz="2000" dirty="0">
                <a:latin typeface="Times New Roman"/>
                <a:cs typeface="Times New Roman"/>
              </a:rPr>
              <a:t>memcpy(temp+len1,</a:t>
            </a:r>
            <a:r>
              <a:rPr sz="2000" spc="-60" dirty="0">
                <a:latin typeface="Times New Roman"/>
                <a:cs typeface="Times New Roman"/>
              </a:rPr>
              <a:t> </a:t>
            </a:r>
            <a:r>
              <a:rPr sz="2000" dirty="0">
                <a:latin typeface="Times New Roman"/>
                <a:cs typeface="Times New Roman"/>
              </a:rPr>
              <a:t>buf2,</a:t>
            </a:r>
            <a:r>
              <a:rPr sz="2000" spc="-55" dirty="0">
                <a:latin typeface="Times New Roman"/>
                <a:cs typeface="Times New Roman"/>
              </a:rPr>
              <a:t> </a:t>
            </a:r>
            <a:r>
              <a:rPr sz="2000" spc="-10" dirty="0">
                <a:latin typeface="Times New Roman"/>
                <a:cs typeface="Times New Roman"/>
              </a:rPr>
              <a:t>len2); do-something(temp);</a:t>
            </a:r>
            <a:endParaRPr sz="2000">
              <a:latin typeface="Times New Roman"/>
              <a:cs typeface="Times New Roman"/>
            </a:endParaRPr>
          </a:p>
        </p:txBody>
      </p:sp>
      <p:sp>
        <p:nvSpPr>
          <p:cNvPr id="7" name="object 7"/>
          <p:cNvSpPr txBox="1"/>
          <p:nvPr/>
        </p:nvSpPr>
        <p:spPr>
          <a:xfrm>
            <a:off x="6269990" y="3024822"/>
            <a:ext cx="995680" cy="334645"/>
          </a:xfrm>
          <a:prstGeom prst="rect">
            <a:avLst/>
          </a:prstGeom>
        </p:spPr>
        <p:txBody>
          <a:bodyPr vert="horz" wrap="square" lIns="0" tIns="15875" rIns="0" bIns="0" rtlCol="0">
            <a:spAutoFit/>
          </a:bodyPr>
          <a:lstStyle/>
          <a:p>
            <a:pPr>
              <a:lnSpc>
                <a:spcPct val="100000"/>
              </a:lnSpc>
              <a:spcBef>
                <a:spcPts val="125"/>
              </a:spcBef>
            </a:pPr>
            <a:r>
              <a:rPr sz="2000" dirty="0">
                <a:solidFill>
                  <a:srgbClr val="0000FF"/>
                </a:solidFill>
                <a:latin typeface="Times New Roman"/>
                <a:cs typeface="Times New Roman"/>
              </a:rPr>
              <a:t>// do</a:t>
            </a:r>
            <a:r>
              <a:rPr sz="2000" spc="5" dirty="0">
                <a:solidFill>
                  <a:srgbClr val="0000FF"/>
                </a:solidFill>
                <a:latin typeface="Times New Roman"/>
                <a:cs typeface="Times New Roman"/>
              </a:rPr>
              <a:t> </a:t>
            </a:r>
            <a:r>
              <a:rPr sz="2000" spc="-10" dirty="0">
                <a:solidFill>
                  <a:srgbClr val="0000FF"/>
                </a:solidFill>
                <a:latin typeface="Times New Roman"/>
                <a:cs typeface="Times New Roman"/>
              </a:rPr>
              <a:t>stuff</a:t>
            </a:r>
            <a:endParaRPr sz="2000">
              <a:latin typeface="Times New Roman"/>
              <a:cs typeface="Times New Roman"/>
            </a:endParaRPr>
          </a:p>
        </p:txBody>
      </p:sp>
      <p:sp>
        <p:nvSpPr>
          <p:cNvPr id="8" name="object 8"/>
          <p:cNvSpPr txBox="1"/>
          <p:nvPr/>
        </p:nvSpPr>
        <p:spPr>
          <a:xfrm>
            <a:off x="1235710" y="3406457"/>
            <a:ext cx="136525" cy="334645"/>
          </a:xfrm>
          <a:prstGeom prst="rect">
            <a:avLst/>
          </a:prstGeom>
        </p:spPr>
        <p:txBody>
          <a:bodyPr vert="horz" wrap="square" lIns="0" tIns="15875" rIns="0" bIns="0" rtlCol="0">
            <a:spAutoFit/>
          </a:bodyPr>
          <a:lstStyle/>
          <a:p>
            <a:pPr>
              <a:lnSpc>
                <a:spcPct val="100000"/>
              </a:lnSpc>
              <a:spcBef>
                <a:spcPts val="125"/>
              </a:spcBef>
            </a:pPr>
            <a:r>
              <a:rPr sz="2000" spc="-50" dirty="0">
                <a:latin typeface="Times New Roman"/>
                <a:cs typeface="Times New Roman"/>
              </a:rPr>
              <a:t>}</a:t>
            </a:r>
            <a:endParaRPr sz="2000">
              <a:latin typeface="Times New Roman"/>
              <a:cs typeface="Times New Roman"/>
            </a:endParaRPr>
          </a:p>
        </p:txBody>
      </p:sp>
      <p:graphicFrame>
        <p:nvGraphicFramePr>
          <p:cNvPr id="9" name="object 9"/>
          <p:cNvGraphicFramePr>
            <a:graphicFrameLocks noGrp="1"/>
          </p:cNvGraphicFramePr>
          <p:nvPr/>
        </p:nvGraphicFramePr>
        <p:xfrm>
          <a:off x="1890395" y="4800485"/>
          <a:ext cx="5526405" cy="1233804"/>
        </p:xfrm>
        <a:graphic>
          <a:graphicData uri="http://schemas.openxmlformats.org/drawingml/2006/table">
            <a:tbl>
              <a:tblPr firstRow="1" bandRow="1">
                <a:tableStyleId>{2D5ABB26-0587-4C30-8999-92F81FD0307C}</a:tableStyleId>
              </a:tblPr>
              <a:tblGrid>
                <a:gridCol w="1018540"/>
                <a:gridCol w="4224655"/>
                <a:gridCol w="283210"/>
              </a:tblGrid>
              <a:tr h="368935">
                <a:tc>
                  <a:txBody>
                    <a:bodyPr/>
                    <a:lstStyle/>
                    <a:p>
                      <a:pPr marL="31750">
                        <a:lnSpc>
                          <a:spcPts val="2620"/>
                        </a:lnSpc>
                      </a:pPr>
                      <a:r>
                        <a:rPr sz="2400" dirty="0">
                          <a:latin typeface="Times New Roman"/>
                          <a:cs typeface="Times New Roman"/>
                        </a:rPr>
                        <a:t>What</a:t>
                      </a:r>
                      <a:r>
                        <a:rPr sz="2400" spc="-25" dirty="0">
                          <a:latin typeface="Times New Roman"/>
                          <a:cs typeface="Times New Roman"/>
                        </a:rPr>
                        <a:t> if</a:t>
                      </a:r>
                      <a:endParaRPr sz="2400">
                        <a:latin typeface="Times New Roman"/>
                        <a:cs typeface="Times New Roman"/>
                      </a:endParaRPr>
                    </a:p>
                  </a:txBody>
                  <a:tcPr marL="0" marR="0" marT="0" marB="0"/>
                </a:tc>
                <a:tc>
                  <a:txBody>
                    <a:bodyPr/>
                    <a:lstStyle/>
                    <a:p>
                      <a:pPr marL="163830">
                        <a:lnSpc>
                          <a:spcPts val="2620"/>
                        </a:lnSpc>
                        <a:tabLst>
                          <a:tab pos="2022475" algn="l"/>
                        </a:tabLst>
                      </a:pPr>
                      <a:r>
                        <a:rPr sz="2400" b="1" dirty="0">
                          <a:solidFill>
                            <a:srgbClr val="0000FF"/>
                          </a:solidFill>
                          <a:latin typeface="Times New Roman"/>
                          <a:cs typeface="Times New Roman"/>
                        </a:rPr>
                        <a:t>len1</a:t>
                      </a:r>
                      <a:r>
                        <a:rPr sz="2400" b="1" spc="-10" dirty="0">
                          <a:solidFill>
                            <a:srgbClr val="0000FF"/>
                          </a:solidFill>
                          <a:latin typeface="Times New Roman"/>
                          <a:cs typeface="Times New Roman"/>
                        </a:rPr>
                        <a:t> </a:t>
                      </a:r>
                      <a:r>
                        <a:rPr sz="2400" b="1" dirty="0">
                          <a:solidFill>
                            <a:srgbClr val="0000FF"/>
                          </a:solidFill>
                          <a:latin typeface="Times New Roman"/>
                          <a:cs typeface="Times New Roman"/>
                        </a:rPr>
                        <a:t>=</a:t>
                      </a:r>
                      <a:r>
                        <a:rPr sz="2400" b="1" spc="-25" dirty="0">
                          <a:solidFill>
                            <a:srgbClr val="0000FF"/>
                          </a:solidFill>
                          <a:latin typeface="Times New Roman"/>
                          <a:cs typeface="Times New Roman"/>
                        </a:rPr>
                        <a:t> </a:t>
                      </a:r>
                      <a:r>
                        <a:rPr sz="2400" b="1" spc="-10" dirty="0">
                          <a:solidFill>
                            <a:srgbClr val="0000FF"/>
                          </a:solidFill>
                          <a:latin typeface="Times New Roman"/>
                          <a:cs typeface="Times New Roman"/>
                        </a:rPr>
                        <a:t>0x80,</a:t>
                      </a:r>
                      <a:r>
                        <a:rPr sz="2400" b="1" dirty="0">
                          <a:solidFill>
                            <a:srgbClr val="0000FF"/>
                          </a:solidFill>
                          <a:latin typeface="Times New Roman"/>
                          <a:cs typeface="Times New Roman"/>
                        </a:rPr>
                        <a:t>	len2</a:t>
                      </a:r>
                      <a:r>
                        <a:rPr sz="2400" b="1" spc="-10" dirty="0">
                          <a:solidFill>
                            <a:srgbClr val="0000FF"/>
                          </a:solidFill>
                          <a:latin typeface="Times New Roman"/>
                          <a:cs typeface="Times New Roman"/>
                        </a:rPr>
                        <a:t> </a:t>
                      </a:r>
                      <a:r>
                        <a:rPr sz="2400" b="1" dirty="0">
                          <a:solidFill>
                            <a:srgbClr val="0000FF"/>
                          </a:solidFill>
                          <a:latin typeface="Times New Roman"/>
                          <a:cs typeface="Times New Roman"/>
                        </a:rPr>
                        <a:t>=</a:t>
                      </a:r>
                      <a:r>
                        <a:rPr sz="2400" b="1" spc="-30" dirty="0">
                          <a:solidFill>
                            <a:srgbClr val="0000FF"/>
                          </a:solidFill>
                          <a:latin typeface="Times New Roman"/>
                          <a:cs typeface="Times New Roman"/>
                        </a:rPr>
                        <a:t> </a:t>
                      </a:r>
                      <a:r>
                        <a:rPr sz="2400" b="1" spc="-10" dirty="0">
                          <a:solidFill>
                            <a:srgbClr val="0000FF"/>
                          </a:solidFill>
                          <a:latin typeface="Times New Roman"/>
                          <a:cs typeface="Times New Roman"/>
                        </a:rPr>
                        <a:t>0xffffff80</a:t>
                      </a:r>
                      <a:endParaRPr sz="2400">
                        <a:latin typeface="Times New Roman"/>
                        <a:cs typeface="Times New Roman"/>
                      </a:endParaRPr>
                    </a:p>
                  </a:txBody>
                  <a:tcPr marL="0" marR="0" marT="0" marB="0"/>
                </a:tc>
                <a:tc>
                  <a:txBody>
                    <a:bodyPr/>
                    <a:lstStyle/>
                    <a:p>
                      <a:pPr marL="115570">
                        <a:lnSpc>
                          <a:spcPts val="2620"/>
                        </a:lnSpc>
                      </a:pPr>
                      <a:r>
                        <a:rPr sz="2400" spc="-50" dirty="0">
                          <a:latin typeface="Times New Roman"/>
                          <a:cs typeface="Times New Roman"/>
                        </a:rPr>
                        <a:t>?</a:t>
                      </a:r>
                      <a:endParaRPr sz="2400">
                        <a:latin typeface="Times New Roman"/>
                        <a:cs typeface="Times New Roman"/>
                      </a:endParaRPr>
                    </a:p>
                  </a:txBody>
                  <a:tcPr marL="0" marR="0" marT="0" marB="0"/>
                </a:tc>
              </a:tr>
              <a:tr h="864869">
                <a:tc>
                  <a:txBody>
                    <a:bodyPr/>
                    <a:lstStyle/>
                    <a:p>
                      <a:pPr marL="641985">
                        <a:lnSpc>
                          <a:spcPts val="2870"/>
                        </a:lnSpc>
                      </a:pPr>
                      <a:r>
                        <a:rPr sz="2400" spc="-50" dirty="0">
                          <a:latin typeface="Cambria Math"/>
                          <a:cs typeface="Cambria Math"/>
                        </a:rPr>
                        <a:t>⇒</a:t>
                      </a:r>
                      <a:endParaRPr sz="2400">
                        <a:latin typeface="Cambria Math"/>
                        <a:cs typeface="Cambria Math"/>
                      </a:endParaRPr>
                    </a:p>
                    <a:p>
                      <a:pPr marL="31750">
                        <a:lnSpc>
                          <a:spcPts val="2820"/>
                        </a:lnSpc>
                        <a:spcBef>
                          <a:spcPts val="1025"/>
                        </a:spcBef>
                      </a:pPr>
                      <a:r>
                        <a:rPr sz="2400" spc="-10" dirty="0">
                          <a:latin typeface="Times New Roman"/>
                          <a:cs typeface="Times New Roman"/>
                        </a:rPr>
                        <a:t>Second</a:t>
                      </a:r>
                      <a:endParaRPr sz="2400">
                        <a:latin typeface="Times New Roman"/>
                        <a:cs typeface="Times New Roman"/>
                      </a:endParaRPr>
                    </a:p>
                  </a:txBody>
                  <a:tcPr marL="0" marR="0" marT="0" marB="0"/>
                </a:tc>
                <a:tc>
                  <a:txBody>
                    <a:bodyPr/>
                    <a:lstStyle/>
                    <a:p>
                      <a:pPr marL="116205">
                        <a:lnSpc>
                          <a:spcPts val="2870"/>
                        </a:lnSpc>
                      </a:pPr>
                      <a:r>
                        <a:rPr sz="2400" dirty="0">
                          <a:latin typeface="Times New Roman"/>
                          <a:cs typeface="Times New Roman"/>
                        </a:rPr>
                        <a:t>len1+len2</a:t>
                      </a:r>
                      <a:r>
                        <a:rPr sz="2400" spc="-20" dirty="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spc="-50" dirty="0">
                          <a:latin typeface="Times New Roman"/>
                          <a:cs typeface="Times New Roman"/>
                        </a:rPr>
                        <a:t>0</a:t>
                      </a:r>
                      <a:endParaRPr sz="2400">
                        <a:latin typeface="Times New Roman"/>
                        <a:cs typeface="Times New Roman"/>
                      </a:endParaRPr>
                    </a:p>
                    <a:p>
                      <a:pPr marL="63500">
                        <a:lnSpc>
                          <a:spcPts val="2820"/>
                        </a:lnSpc>
                        <a:spcBef>
                          <a:spcPts val="1025"/>
                        </a:spcBef>
                        <a:tabLst>
                          <a:tab pos="1464310" algn="l"/>
                        </a:tabLst>
                      </a:pPr>
                      <a:r>
                        <a:rPr sz="2400" spc="-10" dirty="0">
                          <a:latin typeface="Times New Roman"/>
                          <a:cs typeface="Times New Roman"/>
                        </a:rPr>
                        <a:t>memcpy()</a:t>
                      </a:r>
                      <a:r>
                        <a:rPr sz="2400" dirty="0">
                          <a:latin typeface="Times New Roman"/>
                          <a:cs typeface="Times New Roman"/>
                        </a:rPr>
                        <a:t>	will</a:t>
                      </a:r>
                      <a:r>
                        <a:rPr sz="2400" spc="-35" dirty="0">
                          <a:latin typeface="Times New Roman"/>
                          <a:cs typeface="Times New Roman"/>
                        </a:rPr>
                        <a:t> </a:t>
                      </a:r>
                      <a:r>
                        <a:rPr sz="2400" dirty="0">
                          <a:latin typeface="Times New Roman"/>
                          <a:cs typeface="Times New Roman"/>
                        </a:rPr>
                        <a:t>overflow</a:t>
                      </a:r>
                      <a:r>
                        <a:rPr sz="2400" spc="15" dirty="0">
                          <a:latin typeface="Times New Roman"/>
                          <a:cs typeface="Times New Roman"/>
                        </a:rPr>
                        <a:t> </a:t>
                      </a:r>
                      <a:r>
                        <a:rPr sz="2400" dirty="0">
                          <a:latin typeface="Times New Roman"/>
                          <a:cs typeface="Times New Roman"/>
                        </a:rPr>
                        <a:t>heap</a:t>
                      </a:r>
                      <a:r>
                        <a:rPr sz="2400" spc="-45" dirty="0">
                          <a:latin typeface="Times New Roman"/>
                          <a:cs typeface="Times New Roman"/>
                        </a:rPr>
                        <a:t> </a:t>
                      </a:r>
                      <a:r>
                        <a:rPr sz="2400" spc="-25" dirty="0">
                          <a:latin typeface="Times New Roman"/>
                          <a:cs typeface="Times New Roman"/>
                        </a:rPr>
                        <a:t>!!</a:t>
                      </a:r>
                      <a:endParaRPr sz="24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r>
            </a:tbl>
          </a:graphicData>
        </a:graphic>
      </p:graphicFrame>
      <p:pic>
        <p:nvPicPr>
          <p:cNvPr id="10" name="object 10"/>
          <p:cNvPicPr/>
          <p:nvPr/>
        </p:nvPicPr>
        <p:blipFill>
          <a:blip r:embed="rId2" cstate="print"/>
          <a:stretch>
            <a:fillRect/>
          </a:stretch>
        </p:blipFill>
        <p:spPr>
          <a:xfrm>
            <a:off x="457200" y="6248400"/>
            <a:ext cx="476250" cy="381000"/>
          </a:xfrm>
          <a:prstGeom prst="rect">
            <a:avLst/>
          </a:prstGeom>
        </p:spPr>
      </p:pic>
      <p:sp>
        <p:nvSpPr>
          <p:cNvPr id="11" name="object 11"/>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4175" y="3295015"/>
            <a:ext cx="3456304"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Format String</a:t>
            </a:r>
            <a:r>
              <a:rPr u="sng" spc="-40" dirty="0">
                <a:solidFill>
                  <a:srgbClr val="D24717"/>
                </a:solidFill>
                <a:uFill>
                  <a:solidFill>
                    <a:srgbClr val="D24717"/>
                  </a:solidFill>
                </a:uFill>
              </a:rPr>
              <a:t> </a:t>
            </a:r>
            <a:r>
              <a:rPr u="sng" spc="-25" dirty="0">
                <a:solidFill>
                  <a:srgbClr val="D24717"/>
                </a:solidFill>
                <a:uFill>
                  <a:solidFill>
                    <a:srgbClr val="D24717"/>
                  </a:solidFill>
                </a:uFill>
              </a:rPr>
              <a:t>Bug</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990600"/>
            <a:ext cx="8077200" cy="4801314"/>
          </a:xfrm>
        </p:spPr>
        <p:txBody>
          <a:bodyPr/>
          <a:lstStyle/>
          <a:p>
            <a:r>
              <a:rPr lang="en-US" sz="2400" dirty="0"/>
              <a:t>A format string vulnerability is a security flaw that occurs when a</a:t>
            </a:r>
          </a:p>
          <a:p>
            <a:r>
              <a:rPr lang="en-US" sz="2400" dirty="0" err="1"/>
              <a:t>printf</a:t>
            </a:r>
            <a:r>
              <a:rPr lang="en-US" sz="2400" dirty="0"/>
              <a:t> (or similar function, like </a:t>
            </a:r>
            <a:r>
              <a:rPr lang="en-US" sz="2400" dirty="0" err="1"/>
              <a:t>sprintf</a:t>
            </a:r>
            <a:r>
              <a:rPr lang="en-US" sz="2400" dirty="0"/>
              <a:t>, </a:t>
            </a:r>
            <a:r>
              <a:rPr lang="en-US" sz="2400" dirty="0" err="1"/>
              <a:t>fprintf</a:t>
            </a:r>
            <a:r>
              <a:rPr lang="en-US" sz="2400" dirty="0"/>
              <a:t>, etc.) is used with a user-controlled, non-constant string as the format argument without proper handling of additional arguments. </a:t>
            </a:r>
            <a:endParaRPr lang="en-US" sz="2400" dirty="0" smtClean="0"/>
          </a:p>
          <a:p>
            <a:endParaRPr lang="en-US" sz="2400" dirty="0"/>
          </a:p>
          <a:p>
            <a:r>
              <a:rPr lang="en-US" sz="2400" dirty="0" smtClean="0"/>
              <a:t>The </a:t>
            </a:r>
            <a:r>
              <a:rPr lang="en-US" sz="2400" dirty="0"/>
              <a:t>vulnerability does not lie in the </a:t>
            </a:r>
            <a:r>
              <a:rPr lang="en-US" sz="2400" dirty="0" err="1"/>
              <a:t>specifiers</a:t>
            </a:r>
            <a:r>
              <a:rPr lang="en-US" sz="2400" dirty="0"/>
              <a:t> themselves, but in their misuse, which allows an attacker to control the function's behavior. </a:t>
            </a:r>
            <a:r>
              <a:rPr lang="en-US" sz="2400" dirty="0" smtClean="0"/>
              <a:t/>
            </a:r>
            <a:br>
              <a:rPr lang="en-US" sz="2400" dirty="0" smtClean="0"/>
            </a:br>
            <a:endParaRPr lang="en-US" sz="2400" dirty="0"/>
          </a:p>
          <a:p>
            <a:r>
              <a:rPr lang="en-US" sz="2400" dirty="0"/>
              <a:t>All format </a:t>
            </a:r>
            <a:r>
              <a:rPr lang="en-US" sz="2400" dirty="0" err="1" smtClean="0"/>
              <a:t>specifiers</a:t>
            </a:r>
            <a:r>
              <a:rPr lang="en-US" sz="2400" dirty="0" smtClean="0"/>
              <a:t> </a:t>
            </a:r>
            <a:r>
              <a:rPr lang="en-US" sz="2400" dirty="0"/>
              <a:t>can be considered "vulnerable" in the context of an exploitable format string bug, as they allow an attacker to read data from the stack if more </a:t>
            </a:r>
            <a:r>
              <a:rPr lang="en-US" sz="2400" dirty="0" err="1"/>
              <a:t>specifiers</a:t>
            </a:r>
            <a:r>
              <a:rPr lang="en-US" sz="2400" dirty="0"/>
              <a:t> are provided than arguments. </a:t>
            </a:r>
          </a:p>
        </p:txBody>
      </p:sp>
    </p:spTree>
    <p:extLst>
      <p:ext uri="{BB962C8B-B14F-4D97-AF65-F5344CB8AC3E}">
        <p14:creationId xmlns:p14="http://schemas.microsoft.com/office/powerpoint/2010/main" val="3942751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685801"/>
            <a:ext cx="8077200" cy="5943599"/>
          </a:xfrm>
        </p:spPr>
        <p:txBody>
          <a:bodyPr/>
          <a:lstStyle/>
          <a:p>
            <a:r>
              <a:rPr lang="en-US" sz="2000" dirty="0"/>
              <a:t>However, some </a:t>
            </a:r>
            <a:r>
              <a:rPr lang="en-US" sz="2000" dirty="0" err="1"/>
              <a:t>specifiers</a:t>
            </a:r>
            <a:r>
              <a:rPr lang="en-US" sz="2000" dirty="0"/>
              <a:t> are particularly dangerous because they allow for more severe exploits: </a:t>
            </a:r>
          </a:p>
          <a:p>
            <a:pPr marL="342900" indent="-342900">
              <a:buFont typeface="Arial" pitchFamily="34" charset="0"/>
              <a:buChar char="•"/>
            </a:pPr>
            <a:r>
              <a:rPr lang="en-US" sz="2000" b="1" dirty="0"/>
              <a:t>%n</a:t>
            </a:r>
            <a:r>
              <a:rPr lang="en-US" sz="2000" dirty="0"/>
              <a:t>: This is the most dangerous </a:t>
            </a:r>
            <a:r>
              <a:rPr lang="en-US" sz="2000" dirty="0" err="1"/>
              <a:t>specifier</a:t>
            </a:r>
            <a:r>
              <a:rPr lang="en-US" sz="2000" dirty="0"/>
              <a:t>. Instead of reading a value, it </a:t>
            </a:r>
            <a:r>
              <a:rPr lang="en-US" sz="2000" b="1" dirty="0"/>
              <a:t>writes</a:t>
            </a:r>
            <a:r>
              <a:rPr lang="en-US" sz="2000" dirty="0"/>
              <a:t> the number of characters printed so far to an integer variable whose address is expected as an argument. This allows an attacker to write arbitrary values to arbitrary memory locations, which can be used to overwrite function pointers or return addresses, leading to </a:t>
            </a:r>
            <a:r>
              <a:rPr lang="en-US" sz="2000" b="1" dirty="0"/>
              <a:t>arbitrary code execution</a:t>
            </a:r>
            <a:r>
              <a:rPr lang="en-US" sz="2000" dirty="0"/>
              <a:t>.</a:t>
            </a:r>
          </a:p>
          <a:p>
            <a:pPr marL="342900" indent="-342900">
              <a:buFont typeface="Arial" pitchFamily="34" charset="0"/>
              <a:buChar char="•"/>
            </a:pPr>
            <a:r>
              <a:rPr lang="en-US" sz="2000" b="1" dirty="0"/>
              <a:t>%x or %p</a:t>
            </a:r>
            <a:r>
              <a:rPr lang="en-US" sz="2000" dirty="0"/>
              <a:t>: These </a:t>
            </a:r>
            <a:r>
              <a:rPr lang="en-US" sz="2000" dirty="0" err="1"/>
              <a:t>specifiers</a:t>
            </a:r>
            <a:r>
              <a:rPr lang="en-US" sz="2000" dirty="0"/>
              <a:t> print data from the stack in hexadecimal format (%p prints a pointer address). Attackers can use multiple of these </a:t>
            </a:r>
            <a:r>
              <a:rPr lang="en-US" sz="2000" dirty="0" err="1"/>
              <a:t>specifiers</a:t>
            </a:r>
            <a:r>
              <a:rPr lang="en-US" sz="2000" dirty="0"/>
              <a:t> (e.g., "%</a:t>
            </a:r>
            <a:r>
              <a:rPr lang="en-US" sz="2000" dirty="0" err="1"/>
              <a:t>x.%x.%x.%x</a:t>
            </a:r>
            <a:r>
              <a:rPr lang="en-US" sz="2000" dirty="0"/>
              <a:t>") to "walk the stack" and </a:t>
            </a:r>
            <a:r>
              <a:rPr lang="en-US" sz="2000" b="1" dirty="0"/>
              <a:t>leak sensitive information</a:t>
            </a:r>
            <a:r>
              <a:rPr lang="en-US" sz="2000" dirty="0"/>
              <a:t> from the program's memory, such as local variables, saved registers, or memory addresses (which can bypass security measures like ASLR</a:t>
            </a:r>
            <a:r>
              <a:rPr lang="en-US" sz="2000" dirty="0" smtClean="0"/>
              <a:t>).</a:t>
            </a:r>
          </a:p>
          <a:p>
            <a:pPr marL="342900" indent="-342900">
              <a:buFont typeface="Arial" pitchFamily="34" charset="0"/>
              <a:buChar char="•"/>
            </a:pPr>
            <a:r>
              <a:rPr lang="en-US" sz="2000" b="1" dirty="0" smtClean="0"/>
              <a:t>%</a:t>
            </a:r>
            <a:r>
              <a:rPr lang="en-US" sz="2000" b="1" dirty="0"/>
              <a:t>s</a:t>
            </a:r>
            <a:r>
              <a:rPr lang="en-US" sz="2000" dirty="0"/>
              <a:t>: This </a:t>
            </a:r>
            <a:r>
              <a:rPr lang="en-US" sz="2000" dirty="0" err="1"/>
              <a:t>specifier</a:t>
            </a:r>
            <a:r>
              <a:rPr lang="en-US" sz="2000" dirty="0"/>
              <a:t> treats the corresponding argument as a pointer to a string and prints the string at that memory address. An attacker can manipulate the stack to make %s dereference an arbitrary memory address, potentially leading to </a:t>
            </a:r>
            <a:r>
              <a:rPr lang="en-US" sz="2000" b="1" dirty="0"/>
              <a:t>information leaks</a:t>
            </a:r>
            <a:r>
              <a:rPr lang="en-US" sz="2000" dirty="0"/>
              <a:t> or a </a:t>
            </a:r>
            <a:r>
              <a:rPr lang="en-US" sz="2000" b="1" dirty="0"/>
              <a:t>program crash</a:t>
            </a:r>
            <a:r>
              <a:rPr lang="en-US" sz="2000" dirty="0"/>
              <a:t> (segmentation fault) if an invalid address is accessed. </a:t>
            </a:r>
          </a:p>
        </p:txBody>
      </p:sp>
    </p:spTree>
    <p:extLst>
      <p:ext uri="{BB962C8B-B14F-4D97-AF65-F5344CB8AC3E}">
        <p14:creationId xmlns:p14="http://schemas.microsoft.com/office/powerpoint/2010/main" val="3193622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685801"/>
            <a:ext cx="8077200" cy="4616648"/>
          </a:xfrm>
        </p:spPr>
        <p:txBody>
          <a:bodyPr/>
          <a:lstStyle/>
          <a:p>
            <a:r>
              <a:rPr lang="en-US" sz="4000" dirty="0" smtClean="0"/>
              <a:t>Mitigation</a:t>
            </a:r>
          </a:p>
          <a:p>
            <a:endParaRPr lang="en-US" sz="2000" dirty="0"/>
          </a:p>
          <a:p>
            <a:r>
              <a:rPr lang="en-US" sz="2000" dirty="0"/>
              <a:t>To prevent format string vulnerabilities, you should</a:t>
            </a:r>
            <a:r>
              <a:rPr lang="en-US" sz="2000" dirty="0" smtClean="0"/>
              <a:t>:</a:t>
            </a:r>
          </a:p>
          <a:p>
            <a:endParaRPr lang="en-US" sz="2000" dirty="0"/>
          </a:p>
          <a:p>
            <a:pPr marL="342900" indent="-342900">
              <a:buFont typeface="Arial" pitchFamily="34" charset="0"/>
              <a:buChar char="•"/>
            </a:pPr>
            <a:r>
              <a:rPr lang="en-US" sz="2000" b="1" dirty="0"/>
              <a:t>Never use user-provided input directly as the format string</a:t>
            </a:r>
            <a:r>
              <a:rPr lang="en-US" sz="2000" dirty="0"/>
              <a:t> in any </a:t>
            </a:r>
            <a:r>
              <a:rPr lang="en-US" sz="2000" dirty="0" err="1"/>
              <a:t>printf</a:t>
            </a:r>
            <a:r>
              <a:rPr lang="en-US" sz="2000" dirty="0"/>
              <a:t>-family function</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Always use a constant format string</a:t>
            </a:r>
            <a:r>
              <a:rPr lang="en-US" sz="2000" dirty="0"/>
              <a:t> and pass the user input as a separate argument with the %s </a:t>
            </a:r>
            <a:r>
              <a:rPr lang="en-US" sz="2000" dirty="0" err="1"/>
              <a:t>specifier</a:t>
            </a:r>
            <a:r>
              <a:rPr lang="en-US" sz="2000" dirty="0"/>
              <a:t> (e.g., </a:t>
            </a:r>
            <a:r>
              <a:rPr lang="en-US" sz="2000" dirty="0" err="1"/>
              <a:t>printf</a:t>
            </a:r>
            <a:r>
              <a:rPr lang="en-US" sz="2000" dirty="0"/>
              <a:t>("User input: %s\n", </a:t>
            </a:r>
            <a:r>
              <a:rPr lang="en-US" sz="2000" dirty="0" err="1"/>
              <a:t>user_input</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r>
              <a:rPr lang="en-US" sz="2000" b="1" dirty="0"/>
              <a:t>Use compiler flags</a:t>
            </a:r>
            <a:r>
              <a:rPr lang="en-US" sz="2000" dirty="0"/>
              <a:t> like -</a:t>
            </a:r>
            <a:r>
              <a:rPr lang="en-US" sz="2000" dirty="0" err="1"/>
              <a:t>Wformat</a:t>
            </a:r>
            <a:r>
              <a:rPr lang="en-US" sz="2000" dirty="0"/>
              <a:t>-security (in GCC or Clang) to get warnings for potential format string issues.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1590381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70" rIns="0" bIns="0" rtlCol="0">
            <a:spAutoFit/>
          </a:bodyPr>
          <a:lstStyle/>
          <a:p>
            <a:pPr marL="165100">
              <a:lnSpc>
                <a:spcPct val="100000"/>
              </a:lnSpc>
              <a:spcBef>
                <a:spcPts val="105"/>
              </a:spcBef>
            </a:pPr>
            <a:r>
              <a:rPr dirty="0"/>
              <a:t>Format string</a:t>
            </a:r>
            <a:r>
              <a:rPr spc="-30" dirty="0"/>
              <a:t> </a:t>
            </a:r>
            <a:r>
              <a:rPr spc="-10" dirty="0"/>
              <a:t>problem</a:t>
            </a:r>
          </a:p>
        </p:txBody>
      </p:sp>
      <p:sp>
        <p:nvSpPr>
          <p:cNvPr id="3" name="object 3"/>
          <p:cNvSpPr txBox="1"/>
          <p:nvPr/>
        </p:nvSpPr>
        <p:spPr>
          <a:xfrm>
            <a:off x="536575" y="1146365"/>
            <a:ext cx="8049259" cy="4394200"/>
          </a:xfrm>
          <a:prstGeom prst="rect">
            <a:avLst/>
          </a:prstGeom>
        </p:spPr>
        <p:txBody>
          <a:bodyPr vert="horz" wrap="square" lIns="0" tIns="12700" rIns="0" bIns="0" rtlCol="0">
            <a:spAutoFit/>
          </a:bodyPr>
          <a:lstStyle/>
          <a:p>
            <a:pPr marL="1995805" marR="3323590" indent="-152400">
              <a:lnSpc>
                <a:spcPct val="120000"/>
              </a:lnSpc>
              <a:spcBef>
                <a:spcPts val="100"/>
              </a:spcBef>
              <a:tabLst>
                <a:tab pos="4585335" algn="l"/>
              </a:tabLst>
            </a:pPr>
            <a:r>
              <a:rPr sz="2400" b="1" dirty="0">
                <a:solidFill>
                  <a:srgbClr val="000090"/>
                </a:solidFill>
                <a:latin typeface="Times New Roman"/>
                <a:cs typeface="Times New Roman"/>
              </a:rPr>
              <a:t>int</a:t>
            </a:r>
            <a:r>
              <a:rPr sz="2400" b="1" spc="-35" dirty="0">
                <a:solidFill>
                  <a:srgbClr val="000090"/>
                </a:solidFill>
                <a:latin typeface="Times New Roman"/>
                <a:cs typeface="Times New Roman"/>
              </a:rPr>
              <a:t> </a:t>
            </a:r>
            <a:r>
              <a:rPr sz="2400" b="1" dirty="0">
                <a:solidFill>
                  <a:srgbClr val="000090"/>
                </a:solidFill>
                <a:latin typeface="Times New Roman"/>
                <a:cs typeface="Times New Roman"/>
              </a:rPr>
              <a:t>func(char</a:t>
            </a:r>
            <a:r>
              <a:rPr sz="2400" b="1" spc="-110" dirty="0">
                <a:solidFill>
                  <a:srgbClr val="000090"/>
                </a:solidFill>
                <a:latin typeface="Times New Roman"/>
                <a:cs typeface="Times New Roman"/>
              </a:rPr>
              <a:t> </a:t>
            </a:r>
            <a:r>
              <a:rPr sz="2400" b="1" spc="-10" dirty="0">
                <a:solidFill>
                  <a:srgbClr val="000090"/>
                </a:solidFill>
                <a:latin typeface="Times New Roman"/>
                <a:cs typeface="Times New Roman"/>
              </a:rPr>
              <a:t>*user)</a:t>
            </a:r>
            <a:r>
              <a:rPr sz="2400" b="1" dirty="0">
                <a:solidFill>
                  <a:srgbClr val="000090"/>
                </a:solidFill>
                <a:latin typeface="Times New Roman"/>
                <a:cs typeface="Times New Roman"/>
              </a:rPr>
              <a:t>	</a:t>
            </a:r>
            <a:r>
              <a:rPr sz="2400" b="1" spc="-50" dirty="0">
                <a:solidFill>
                  <a:srgbClr val="000090"/>
                </a:solidFill>
                <a:latin typeface="Times New Roman"/>
                <a:cs typeface="Times New Roman"/>
              </a:rPr>
              <a:t>{ </a:t>
            </a:r>
            <a:r>
              <a:rPr sz="2400" b="1" dirty="0">
                <a:solidFill>
                  <a:srgbClr val="000090"/>
                </a:solidFill>
                <a:latin typeface="Times New Roman"/>
                <a:cs typeface="Times New Roman"/>
              </a:rPr>
              <a:t>fprintf(</a:t>
            </a:r>
            <a:r>
              <a:rPr sz="2400" b="1" spc="-70" dirty="0">
                <a:solidFill>
                  <a:srgbClr val="000090"/>
                </a:solidFill>
                <a:latin typeface="Times New Roman"/>
                <a:cs typeface="Times New Roman"/>
              </a:rPr>
              <a:t> </a:t>
            </a:r>
            <a:r>
              <a:rPr sz="2400" b="1" spc="-25" dirty="0">
                <a:solidFill>
                  <a:srgbClr val="000090"/>
                </a:solidFill>
                <a:latin typeface="Times New Roman"/>
                <a:cs typeface="Times New Roman"/>
              </a:rPr>
              <a:t>stderr,</a:t>
            </a:r>
            <a:r>
              <a:rPr sz="2400" b="1" spc="-65" dirty="0">
                <a:solidFill>
                  <a:srgbClr val="000090"/>
                </a:solidFill>
                <a:latin typeface="Times New Roman"/>
                <a:cs typeface="Times New Roman"/>
              </a:rPr>
              <a:t> </a:t>
            </a:r>
            <a:r>
              <a:rPr sz="2400" b="1" spc="-10" dirty="0">
                <a:solidFill>
                  <a:srgbClr val="000090"/>
                </a:solidFill>
                <a:latin typeface="Times New Roman"/>
                <a:cs typeface="Times New Roman"/>
              </a:rPr>
              <a:t>user);</a:t>
            </a:r>
            <a:endParaRPr sz="2400">
              <a:latin typeface="Times New Roman"/>
              <a:cs typeface="Times New Roman"/>
            </a:endParaRPr>
          </a:p>
          <a:p>
            <a:pPr marL="1843405">
              <a:lnSpc>
                <a:spcPct val="100000"/>
              </a:lnSpc>
              <a:spcBef>
                <a:spcPts val="120"/>
              </a:spcBef>
            </a:pPr>
            <a:r>
              <a:rPr sz="2400" b="1" spc="-50" dirty="0">
                <a:solidFill>
                  <a:srgbClr val="000090"/>
                </a:solidFill>
                <a:latin typeface="Times New Roman"/>
                <a:cs typeface="Times New Roman"/>
              </a:rPr>
              <a:t>}</a:t>
            </a:r>
            <a:endParaRPr sz="2400">
              <a:latin typeface="Times New Roman"/>
              <a:cs typeface="Times New Roman"/>
            </a:endParaRPr>
          </a:p>
          <a:p>
            <a:pPr marL="12700">
              <a:lnSpc>
                <a:spcPct val="100000"/>
              </a:lnSpc>
              <a:spcBef>
                <a:spcPts val="2250"/>
              </a:spcBef>
              <a:tabLst>
                <a:tab pos="1580515" algn="l"/>
                <a:tab pos="2846705" algn="l"/>
                <a:tab pos="7536815" algn="l"/>
              </a:tabLst>
            </a:pPr>
            <a:r>
              <a:rPr sz="2750" u="sng" spc="-10" dirty="0">
                <a:uFill>
                  <a:solidFill>
                    <a:srgbClr val="000000"/>
                  </a:solidFill>
                </a:uFill>
                <a:latin typeface="Times New Roman"/>
                <a:cs typeface="Times New Roman"/>
              </a:rPr>
              <a:t>Problem</a:t>
            </a:r>
            <a:r>
              <a:rPr sz="2750" spc="-10" dirty="0">
                <a:latin typeface="Times New Roman"/>
                <a:cs typeface="Times New Roman"/>
              </a:rPr>
              <a:t>:</a:t>
            </a:r>
            <a:r>
              <a:rPr sz="2750" dirty="0">
                <a:latin typeface="Times New Roman"/>
                <a:cs typeface="Times New Roman"/>
              </a:rPr>
              <a:t>	what</a:t>
            </a:r>
            <a:r>
              <a:rPr sz="2750" spc="85" dirty="0">
                <a:latin typeface="Times New Roman"/>
                <a:cs typeface="Times New Roman"/>
              </a:rPr>
              <a:t> </a:t>
            </a:r>
            <a:r>
              <a:rPr sz="2750" spc="-25" dirty="0">
                <a:latin typeface="Times New Roman"/>
                <a:cs typeface="Times New Roman"/>
              </a:rPr>
              <a:t>if</a:t>
            </a:r>
            <a:r>
              <a:rPr sz="2750" dirty="0">
                <a:latin typeface="Times New Roman"/>
                <a:cs typeface="Times New Roman"/>
              </a:rPr>
              <a:t>	*user</a:t>
            </a:r>
            <a:r>
              <a:rPr sz="2750" spc="60" dirty="0">
                <a:latin typeface="Times New Roman"/>
                <a:cs typeface="Times New Roman"/>
              </a:rPr>
              <a:t> </a:t>
            </a:r>
            <a:r>
              <a:rPr sz="2750" dirty="0">
                <a:latin typeface="Times New Roman"/>
                <a:cs typeface="Times New Roman"/>
              </a:rPr>
              <a:t>=</a:t>
            </a:r>
            <a:r>
              <a:rPr sz="2750" spc="85" dirty="0">
                <a:latin typeface="Times New Roman"/>
                <a:cs typeface="Times New Roman"/>
              </a:rPr>
              <a:t> </a:t>
            </a:r>
            <a:r>
              <a:rPr sz="2750" spc="-10" dirty="0">
                <a:latin typeface="Times New Roman"/>
                <a:cs typeface="Times New Roman"/>
              </a:rPr>
              <a:t>“%s%s%s%s%s%s%s”</a:t>
            </a:r>
            <a:r>
              <a:rPr sz="2750" dirty="0">
                <a:latin typeface="Times New Roman"/>
                <a:cs typeface="Times New Roman"/>
              </a:rPr>
              <a:t>	</a:t>
            </a:r>
            <a:r>
              <a:rPr sz="2750" spc="-25" dirty="0">
                <a:latin typeface="Times New Roman"/>
                <a:cs typeface="Times New Roman"/>
              </a:rPr>
              <a:t>??</a:t>
            </a:r>
            <a:endParaRPr sz="2750">
              <a:latin typeface="Times New Roman"/>
              <a:cs typeface="Times New Roman"/>
            </a:endParaRPr>
          </a:p>
          <a:p>
            <a:pPr marL="561340" indent="-228600">
              <a:lnSpc>
                <a:spcPct val="100000"/>
              </a:lnSpc>
              <a:spcBef>
                <a:spcPts val="1035"/>
              </a:spcBef>
              <a:buClr>
                <a:srgbClr val="9B2C1F"/>
              </a:buClr>
              <a:buSzPct val="83333"/>
              <a:buFont typeface="Segoe UI Symbol"/>
              <a:buChar char="⚫"/>
              <a:tabLst>
                <a:tab pos="561340" algn="l"/>
                <a:tab pos="4650105" algn="l"/>
              </a:tabLst>
            </a:pPr>
            <a:r>
              <a:rPr sz="2400" dirty="0">
                <a:latin typeface="Times New Roman"/>
                <a:cs typeface="Times New Roman"/>
              </a:rPr>
              <a:t>Most</a:t>
            </a:r>
            <a:r>
              <a:rPr sz="2400" spc="-25" dirty="0">
                <a:latin typeface="Times New Roman"/>
                <a:cs typeface="Times New Roman"/>
              </a:rPr>
              <a:t> </a:t>
            </a:r>
            <a:r>
              <a:rPr sz="2400" dirty="0">
                <a:latin typeface="Times New Roman"/>
                <a:cs typeface="Times New Roman"/>
              </a:rPr>
              <a:t>likely</a:t>
            </a:r>
            <a:r>
              <a:rPr sz="2400" spc="-25" dirty="0">
                <a:latin typeface="Times New Roman"/>
                <a:cs typeface="Times New Roman"/>
              </a:rPr>
              <a:t> </a:t>
            </a:r>
            <a:r>
              <a:rPr sz="2400" dirty="0">
                <a:latin typeface="Times New Roman"/>
                <a:cs typeface="Times New Roman"/>
              </a:rPr>
              <a:t>program</a:t>
            </a:r>
            <a:r>
              <a:rPr sz="2400" spc="-25" dirty="0">
                <a:latin typeface="Times New Roman"/>
                <a:cs typeface="Times New Roman"/>
              </a:rPr>
              <a:t> </a:t>
            </a:r>
            <a:r>
              <a:rPr sz="2400" dirty="0">
                <a:latin typeface="Times New Roman"/>
                <a:cs typeface="Times New Roman"/>
              </a:rPr>
              <a:t>will</a:t>
            </a:r>
            <a:r>
              <a:rPr sz="2400" spc="-25" dirty="0">
                <a:latin typeface="Times New Roman"/>
                <a:cs typeface="Times New Roman"/>
              </a:rPr>
              <a:t> </a:t>
            </a:r>
            <a:r>
              <a:rPr sz="2400" spc="-10" dirty="0">
                <a:latin typeface="Times New Roman"/>
                <a:cs typeface="Times New Roman"/>
              </a:rPr>
              <a:t>crash:</a:t>
            </a:r>
            <a:r>
              <a:rPr sz="2400" dirty="0">
                <a:latin typeface="Times New Roman"/>
                <a:cs typeface="Times New Roman"/>
              </a:rPr>
              <a:t>	</a:t>
            </a:r>
            <a:r>
              <a:rPr sz="2400" spc="-20" dirty="0">
                <a:latin typeface="Times New Roman"/>
                <a:cs typeface="Times New Roman"/>
              </a:rPr>
              <a:t>DoS.</a:t>
            </a:r>
            <a:endParaRPr sz="2400">
              <a:latin typeface="Times New Roman"/>
              <a:cs typeface="Times New Roman"/>
            </a:endParaRPr>
          </a:p>
          <a:p>
            <a:pPr marL="561340" indent="-228600">
              <a:lnSpc>
                <a:spcPct val="100000"/>
              </a:lnSpc>
              <a:spcBef>
                <a:spcPts val="1025"/>
              </a:spcBef>
              <a:buClr>
                <a:srgbClr val="9B2C1F"/>
              </a:buClr>
              <a:buSzPct val="83333"/>
              <a:buFont typeface="Segoe UI Symbol"/>
              <a:buChar char="⚫"/>
              <a:tabLst>
                <a:tab pos="561340" algn="l"/>
                <a:tab pos="6026150" algn="l"/>
              </a:tabLst>
            </a:pPr>
            <a:r>
              <a:rPr sz="2400" dirty="0">
                <a:latin typeface="Times New Roman"/>
                <a:cs typeface="Times New Roman"/>
              </a:rPr>
              <a:t>If</a:t>
            </a:r>
            <a:r>
              <a:rPr sz="2400" spc="-75" dirty="0">
                <a:latin typeface="Times New Roman"/>
                <a:cs typeface="Times New Roman"/>
              </a:rPr>
              <a:t> </a:t>
            </a: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program</a:t>
            </a:r>
            <a:r>
              <a:rPr sz="2400" spc="-10"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dirty="0">
                <a:latin typeface="Times New Roman"/>
                <a:cs typeface="Times New Roman"/>
              </a:rPr>
              <a:t>print memory</a:t>
            </a:r>
            <a:r>
              <a:rPr sz="2400" spc="-10" dirty="0">
                <a:latin typeface="Times New Roman"/>
                <a:cs typeface="Times New Roman"/>
              </a:rPr>
              <a:t> contents.</a:t>
            </a:r>
            <a:r>
              <a:rPr sz="2400" dirty="0">
                <a:latin typeface="Times New Roman"/>
                <a:cs typeface="Times New Roman"/>
              </a:rPr>
              <a:t>	</a:t>
            </a:r>
            <a:r>
              <a:rPr sz="2400" spc="-10" dirty="0">
                <a:latin typeface="Times New Roman"/>
                <a:cs typeface="Times New Roman"/>
              </a:rPr>
              <a:t>Privacy?</a:t>
            </a:r>
            <a:endParaRPr sz="2400">
              <a:latin typeface="Times New Roman"/>
              <a:cs typeface="Times New Roman"/>
            </a:endParaRPr>
          </a:p>
          <a:p>
            <a:pPr marL="561340" indent="-228600">
              <a:lnSpc>
                <a:spcPct val="100000"/>
              </a:lnSpc>
              <a:spcBef>
                <a:spcPts val="950"/>
              </a:spcBef>
              <a:buClr>
                <a:srgbClr val="9B2C1F"/>
              </a:buClr>
              <a:buSzPct val="83333"/>
              <a:buFont typeface="Segoe UI Symbol"/>
              <a:buChar char="⚫"/>
              <a:tabLst>
                <a:tab pos="561340" algn="l"/>
                <a:tab pos="2940050" algn="l"/>
              </a:tabLst>
            </a:pPr>
            <a:r>
              <a:rPr sz="2400" dirty="0">
                <a:latin typeface="Times New Roman"/>
                <a:cs typeface="Times New Roman"/>
              </a:rPr>
              <a:t>Full</a:t>
            </a:r>
            <a:r>
              <a:rPr sz="2400" spc="-35" dirty="0">
                <a:latin typeface="Times New Roman"/>
                <a:cs typeface="Times New Roman"/>
              </a:rPr>
              <a:t> </a:t>
            </a:r>
            <a:r>
              <a:rPr sz="2400" dirty="0">
                <a:latin typeface="Times New Roman"/>
                <a:cs typeface="Times New Roman"/>
              </a:rPr>
              <a:t>exploit</a:t>
            </a:r>
            <a:r>
              <a:rPr sz="2400" spc="-45" dirty="0">
                <a:latin typeface="Times New Roman"/>
                <a:cs typeface="Times New Roman"/>
              </a:rPr>
              <a:t> </a:t>
            </a:r>
            <a:r>
              <a:rPr sz="2400" spc="-20" dirty="0">
                <a:latin typeface="Times New Roman"/>
                <a:cs typeface="Times New Roman"/>
              </a:rPr>
              <a:t>using</a:t>
            </a:r>
            <a:r>
              <a:rPr sz="2400" dirty="0">
                <a:latin typeface="Times New Roman"/>
                <a:cs typeface="Times New Roman"/>
              </a:rPr>
              <a:t>	</a:t>
            </a:r>
            <a:r>
              <a:rPr sz="2400" dirty="0">
                <a:solidFill>
                  <a:srgbClr val="000090"/>
                </a:solidFill>
                <a:latin typeface="Times New Roman"/>
                <a:cs typeface="Times New Roman"/>
              </a:rPr>
              <a:t>user</a:t>
            </a:r>
            <a:r>
              <a:rPr sz="2400" spc="-70" dirty="0">
                <a:solidFill>
                  <a:srgbClr val="000090"/>
                </a:solidFill>
                <a:latin typeface="Times New Roman"/>
                <a:cs typeface="Times New Roman"/>
              </a:rPr>
              <a:t> </a:t>
            </a:r>
            <a:r>
              <a:rPr sz="2400" dirty="0">
                <a:solidFill>
                  <a:srgbClr val="000090"/>
                </a:solidFill>
                <a:latin typeface="Times New Roman"/>
                <a:cs typeface="Times New Roman"/>
              </a:rPr>
              <a:t>=</a:t>
            </a:r>
            <a:r>
              <a:rPr sz="2400" spc="-15" dirty="0">
                <a:solidFill>
                  <a:srgbClr val="000090"/>
                </a:solidFill>
                <a:latin typeface="Times New Roman"/>
                <a:cs typeface="Times New Roman"/>
              </a:rPr>
              <a:t> </a:t>
            </a:r>
            <a:r>
              <a:rPr sz="2400" dirty="0">
                <a:solidFill>
                  <a:srgbClr val="000090"/>
                </a:solidFill>
                <a:latin typeface="Times New Roman"/>
                <a:cs typeface="Times New Roman"/>
              </a:rPr>
              <a:t>“%n”</a:t>
            </a:r>
            <a:r>
              <a:rPr sz="2400" spc="-35" dirty="0">
                <a:solidFill>
                  <a:srgbClr val="000090"/>
                </a:solidFill>
                <a:latin typeface="Times New Roman"/>
                <a:cs typeface="Times New Roman"/>
              </a:rPr>
              <a:t> </a:t>
            </a:r>
            <a:r>
              <a:rPr sz="2400" dirty="0">
                <a:solidFill>
                  <a:srgbClr val="000090"/>
                </a:solidFill>
                <a:latin typeface="Times New Roman"/>
                <a:cs typeface="Times New Roman"/>
              </a:rPr>
              <a:t>(directive</a:t>
            </a:r>
            <a:r>
              <a:rPr sz="2400" spc="-30" dirty="0">
                <a:solidFill>
                  <a:srgbClr val="000090"/>
                </a:solidFill>
                <a:latin typeface="Times New Roman"/>
                <a:cs typeface="Times New Roman"/>
              </a:rPr>
              <a:t> </a:t>
            </a:r>
            <a:r>
              <a:rPr sz="2400" dirty="0">
                <a:solidFill>
                  <a:srgbClr val="000090"/>
                </a:solidFill>
                <a:latin typeface="Times New Roman"/>
                <a:cs typeface="Times New Roman"/>
              </a:rPr>
              <a:t>to</a:t>
            </a:r>
            <a:r>
              <a:rPr sz="2400" spc="-15" dirty="0">
                <a:solidFill>
                  <a:srgbClr val="000090"/>
                </a:solidFill>
                <a:latin typeface="Times New Roman"/>
                <a:cs typeface="Times New Roman"/>
              </a:rPr>
              <a:t> </a:t>
            </a:r>
            <a:r>
              <a:rPr sz="2400" dirty="0">
                <a:solidFill>
                  <a:srgbClr val="000090"/>
                </a:solidFill>
                <a:latin typeface="Times New Roman"/>
                <a:cs typeface="Times New Roman"/>
              </a:rPr>
              <a:t>allow</a:t>
            </a:r>
            <a:r>
              <a:rPr sz="2400" spc="45" dirty="0">
                <a:solidFill>
                  <a:srgbClr val="000090"/>
                </a:solidFill>
                <a:latin typeface="Times New Roman"/>
                <a:cs typeface="Times New Roman"/>
              </a:rPr>
              <a:t> </a:t>
            </a:r>
            <a:r>
              <a:rPr sz="2400" dirty="0">
                <a:solidFill>
                  <a:srgbClr val="000090"/>
                </a:solidFill>
                <a:latin typeface="Times New Roman"/>
                <a:cs typeface="Times New Roman"/>
              </a:rPr>
              <a:t>writing</a:t>
            </a:r>
            <a:r>
              <a:rPr sz="2400" spc="-20" dirty="0">
                <a:solidFill>
                  <a:srgbClr val="000090"/>
                </a:solidFill>
                <a:latin typeface="Times New Roman"/>
                <a:cs typeface="Times New Roman"/>
              </a:rPr>
              <a:t> </a:t>
            </a:r>
            <a:r>
              <a:rPr sz="2400" spc="-25" dirty="0">
                <a:solidFill>
                  <a:srgbClr val="000090"/>
                </a:solidFill>
                <a:latin typeface="Times New Roman"/>
                <a:cs typeface="Times New Roman"/>
              </a:rPr>
              <a:t>in</a:t>
            </a:r>
            <a:endParaRPr sz="2400">
              <a:latin typeface="Times New Roman"/>
              <a:cs typeface="Times New Roman"/>
            </a:endParaRPr>
          </a:p>
          <a:p>
            <a:pPr marL="561975">
              <a:lnSpc>
                <a:spcPct val="100000"/>
              </a:lnSpc>
              <a:spcBef>
                <a:spcPts val="45"/>
              </a:spcBef>
            </a:pPr>
            <a:r>
              <a:rPr sz="2400" spc="-10" dirty="0">
                <a:solidFill>
                  <a:srgbClr val="000090"/>
                </a:solidFill>
                <a:latin typeface="Times New Roman"/>
                <a:cs typeface="Times New Roman"/>
              </a:rPr>
              <a:t>memory)</a:t>
            </a:r>
            <a:endParaRPr sz="2400">
              <a:latin typeface="Times New Roman"/>
              <a:cs typeface="Times New Roman"/>
            </a:endParaRPr>
          </a:p>
          <a:p>
            <a:pPr marL="561340" indent="-269875">
              <a:lnSpc>
                <a:spcPct val="100000"/>
              </a:lnSpc>
              <a:spcBef>
                <a:spcPts val="1055"/>
              </a:spcBef>
              <a:buClr>
                <a:srgbClr val="9B2C1F"/>
              </a:buClr>
              <a:buSzPct val="87272"/>
              <a:buFont typeface="Segoe UI Symbol"/>
              <a:buChar char="⚫"/>
              <a:tabLst>
                <a:tab pos="561340" algn="l"/>
              </a:tabLst>
            </a:pPr>
            <a:r>
              <a:rPr sz="2750" u="sng" dirty="0">
                <a:uFill>
                  <a:solidFill>
                    <a:srgbClr val="000000"/>
                  </a:solidFill>
                </a:uFill>
                <a:latin typeface="Times New Roman"/>
                <a:cs typeface="Times New Roman"/>
              </a:rPr>
              <a:t>Correct</a:t>
            </a:r>
            <a:r>
              <a:rPr sz="2750" u="sng" spc="2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form</a:t>
            </a:r>
            <a:r>
              <a:rPr sz="2750" u="sng" spc="6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(always</a:t>
            </a:r>
            <a:r>
              <a:rPr sz="2750" u="sng" spc="100"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be</a:t>
            </a:r>
            <a:r>
              <a:rPr sz="2750" u="sng" spc="9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explicit</a:t>
            </a:r>
            <a:r>
              <a:rPr sz="2750" u="sng" spc="110"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about</a:t>
            </a:r>
            <a:r>
              <a:rPr sz="2750" u="sng" spc="3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your</a:t>
            </a:r>
            <a:r>
              <a:rPr sz="2750" u="sng" spc="105" dirty="0">
                <a:uFill>
                  <a:solidFill>
                    <a:srgbClr val="000000"/>
                  </a:solidFill>
                </a:uFill>
                <a:latin typeface="Times New Roman"/>
                <a:cs typeface="Times New Roman"/>
              </a:rPr>
              <a:t> </a:t>
            </a:r>
            <a:r>
              <a:rPr sz="2750" u="sng" spc="-10" dirty="0">
                <a:uFill>
                  <a:solidFill>
                    <a:srgbClr val="000000"/>
                  </a:solidFill>
                </a:uFill>
                <a:latin typeface="Times New Roman"/>
                <a:cs typeface="Times New Roman"/>
              </a:rPr>
              <a:t>format</a:t>
            </a:r>
            <a:endParaRPr sz="2750">
              <a:latin typeface="Times New Roman"/>
              <a:cs typeface="Times New Roman"/>
            </a:endParaRPr>
          </a:p>
        </p:txBody>
      </p:sp>
      <p:sp>
        <p:nvSpPr>
          <p:cNvPr id="4" name="object 4"/>
          <p:cNvSpPr txBox="1"/>
          <p:nvPr/>
        </p:nvSpPr>
        <p:spPr>
          <a:xfrm>
            <a:off x="1085850" y="5521007"/>
            <a:ext cx="1142365" cy="448945"/>
          </a:xfrm>
          <a:prstGeom prst="rect">
            <a:avLst/>
          </a:prstGeom>
        </p:spPr>
        <p:txBody>
          <a:bodyPr vert="horz" wrap="square" lIns="0" tIns="15875" rIns="0" bIns="0" rtlCol="0">
            <a:spAutoFit/>
          </a:bodyPr>
          <a:lstStyle/>
          <a:p>
            <a:pPr marL="12700">
              <a:lnSpc>
                <a:spcPct val="100000"/>
              </a:lnSpc>
              <a:spcBef>
                <a:spcPts val="125"/>
              </a:spcBef>
            </a:pPr>
            <a:r>
              <a:rPr sz="2750" u="sng" dirty="0">
                <a:uFill>
                  <a:solidFill>
                    <a:srgbClr val="000000"/>
                  </a:solidFill>
                </a:uFill>
                <a:latin typeface="Times New Roman"/>
                <a:cs typeface="Times New Roman"/>
              </a:rPr>
              <a:t>string</a:t>
            </a:r>
            <a:r>
              <a:rPr sz="2750" u="sng" spc="70" dirty="0">
                <a:uFill>
                  <a:solidFill>
                    <a:srgbClr val="000000"/>
                  </a:solidFill>
                </a:uFill>
                <a:latin typeface="Times New Roman"/>
                <a:cs typeface="Times New Roman"/>
              </a:rPr>
              <a:t> </a:t>
            </a:r>
            <a:r>
              <a:rPr sz="2750" u="sng" spc="-25" dirty="0">
                <a:uFill>
                  <a:solidFill>
                    <a:srgbClr val="000000"/>
                  </a:solidFill>
                </a:uFill>
                <a:latin typeface="Times New Roman"/>
                <a:cs typeface="Times New Roman"/>
              </a:rPr>
              <a:t>)</a:t>
            </a:r>
            <a:r>
              <a:rPr sz="2750" spc="-25" dirty="0">
                <a:latin typeface="Times New Roman"/>
                <a:cs typeface="Times New Roman"/>
              </a:rPr>
              <a:t>:</a:t>
            </a:r>
            <a:endParaRPr sz="2750">
              <a:latin typeface="Times New Roman"/>
              <a:cs typeface="Times New Roman"/>
            </a:endParaRPr>
          </a:p>
        </p:txBody>
      </p:sp>
      <p:sp>
        <p:nvSpPr>
          <p:cNvPr id="5" name="object 5"/>
          <p:cNvSpPr txBox="1"/>
          <p:nvPr/>
        </p:nvSpPr>
        <p:spPr>
          <a:xfrm>
            <a:off x="2635250" y="5568632"/>
            <a:ext cx="3679825"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0090"/>
                </a:solidFill>
                <a:latin typeface="Times New Roman"/>
                <a:cs typeface="Times New Roman"/>
              </a:rPr>
              <a:t>fprintf(</a:t>
            </a:r>
            <a:r>
              <a:rPr sz="2400" b="1" spc="-25" dirty="0">
                <a:solidFill>
                  <a:srgbClr val="000090"/>
                </a:solidFill>
                <a:latin typeface="Times New Roman"/>
                <a:cs typeface="Times New Roman"/>
              </a:rPr>
              <a:t> </a:t>
            </a:r>
            <a:r>
              <a:rPr sz="2400" b="1" dirty="0">
                <a:solidFill>
                  <a:srgbClr val="000090"/>
                </a:solidFill>
                <a:latin typeface="Times New Roman"/>
                <a:cs typeface="Times New Roman"/>
              </a:rPr>
              <a:t>stdout,</a:t>
            </a:r>
            <a:r>
              <a:rPr sz="2400" b="1" spc="-20" dirty="0">
                <a:solidFill>
                  <a:srgbClr val="000090"/>
                </a:solidFill>
                <a:latin typeface="Times New Roman"/>
                <a:cs typeface="Times New Roman"/>
              </a:rPr>
              <a:t> </a:t>
            </a:r>
            <a:r>
              <a:rPr sz="2400" b="1" dirty="0">
                <a:solidFill>
                  <a:srgbClr val="000090"/>
                </a:solidFill>
                <a:latin typeface="Times New Roman"/>
                <a:cs typeface="Times New Roman"/>
              </a:rPr>
              <a:t>“%s”,</a:t>
            </a:r>
            <a:r>
              <a:rPr sz="2400" b="1" spc="-25" dirty="0">
                <a:solidFill>
                  <a:srgbClr val="000090"/>
                </a:solidFill>
                <a:latin typeface="Times New Roman"/>
                <a:cs typeface="Times New Roman"/>
              </a:rPr>
              <a:t> </a:t>
            </a:r>
            <a:r>
              <a:rPr sz="2400" b="1" spc="-10" dirty="0">
                <a:solidFill>
                  <a:srgbClr val="000090"/>
                </a:solidFill>
                <a:latin typeface="Times New Roman"/>
                <a:cs typeface="Times New Roman"/>
              </a:rPr>
              <a:t>user);</a:t>
            </a:r>
            <a:endParaRPr sz="240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165100">
              <a:lnSpc>
                <a:spcPct val="100000"/>
              </a:lnSpc>
              <a:spcBef>
                <a:spcPts val="105"/>
              </a:spcBef>
            </a:pPr>
            <a:r>
              <a:rPr spc="-10" dirty="0"/>
              <a:t>Vulnerable</a:t>
            </a:r>
            <a:r>
              <a:rPr spc="-150" dirty="0"/>
              <a:t> </a:t>
            </a:r>
            <a:r>
              <a:rPr spc="-10" dirty="0"/>
              <a:t>functions</a:t>
            </a:r>
          </a:p>
        </p:txBody>
      </p:sp>
      <p:sp>
        <p:nvSpPr>
          <p:cNvPr id="3" name="object 3"/>
          <p:cNvSpPr txBox="1"/>
          <p:nvPr/>
        </p:nvSpPr>
        <p:spPr>
          <a:xfrm>
            <a:off x="536575" y="1396745"/>
            <a:ext cx="4319905" cy="3491865"/>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Any</a:t>
            </a:r>
            <a:r>
              <a:rPr sz="2400" spc="-15" dirty="0">
                <a:latin typeface="Times New Roman"/>
                <a:cs typeface="Times New Roman"/>
              </a:rPr>
              <a:t> </a:t>
            </a:r>
            <a:r>
              <a:rPr sz="2400" dirty="0">
                <a:latin typeface="Times New Roman"/>
                <a:cs typeface="Times New Roman"/>
              </a:rPr>
              <a:t>function</a:t>
            </a:r>
            <a:r>
              <a:rPr sz="2400" spc="-15" dirty="0">
                <a:latin typeface="Times New Roman"/>
                <a:cs typeface="Times New Roman"/>
              </a:rPr>
              <a:t> </a:t>
            </a:r>
            <a:r>
              <a:rPr sz="2400" dirty="0">
                <a:latin typeface="Times New Roman"/>
                <a:cs typeface="Times New Roman"/>
              </a:rPr>
              <a:t>using</a:t>
            </a:r>
            <a:r>
              <a:rPr sz="2400" spc="-1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format</a:t>
            </a:r>
            <a:r>
              <a:rPr sz="2400" spc="-85" dirty="0">
                <a:latin typeface="Times New Roman"/>
                <a:cs typeface="Times New Roman"/>
              </a:rPr>
              <a:t> </a:t>
            </a:r>
            <a:r>
              <a:rPr sz="2400" spc="-10" dirty="0">
                <a:latin typeface="Times New Roman"/>
                <a:cs typeface="Times New Roman"/>
              </a:rPr>
              <a:t>string.</a:t>
            </a:r>
            <a:endParaRPr sz="2400">
              <a:latin typeface="Times New Roman"/>
              <a:cs typeface="Times New Roman"/>
            </a:endParaRPr>
          </a:p>
          <a:p>
            <a:pPr>
              <a:lnSpc>
                <a:spcPct val="100000"/>
              </a:lnSpc>
              <a:spcBef>
                <a:spcPts val="1340"/>
              </a:spcBef>
            </a:pPr>
            <a:endParaRPr sz="2400">
              <a:latin typeface="Times New Roman"/>
              <a:cs typeface="Times New Roman"/>
            </a:endParaRPr>
          </a:p>
          <a:p>
            <a:pPr marL="12700">
              <a:lnSpc>
                <a:spcPct val="100000"/>
              </a:lnSpc>
              <a:spcBef>
                <a:spcPts val="5"/>
              </a:spcBef>
            </a:pPr>
            <a:r>
              <a:rPr sz="2400" spc="-10" dirty="0">
                <a:latin typeface="Times New Roman"/>
                <a:cs typeface="Times New Roman"/>
              </a:rPr>
              <a:t>Printing:</a:t>
            </a:r>
            <a:endParaRPr sz="2400">
              <a:latin typeface="Times New Roman"/>
              <a:cs typeface="Times New Roman"/>
            </a:endParaRPr>
          </a:p>
          <a:p>
            <a:pPr marL="287020">
              <a:lnSpc>
                <a:spcPct val="100000"/>
              </a:lnSpc>
              <a:spcBef>
                <a:spcPts val="575"/>
              </a:spcBef>
            </a:pPr>
            <a:r>
              <a:rPr sz="2400" dirty="0">
                <a:latin typeface="Times New Roman"/>
                <a:cs typeface="Times New Roman"/>
              </a:rPr>
              <a:t>printf,</a:t>
            </a:r>
            <a:r>
              <a:rPr sz="2400" spc="-30" dirty="0">
                <a:latin typeface="Times New Roman"/>
                <a:cs typeface="Times New Roman"/>
              </a:rPr>
              <a:t> </a:t>
            </a:r>
            <a:r>
              <a:rPr sz="2400" dirty="0">
                <a:latin typeface="Times New Roman"/>
                <a:cs typeface="Times New Roman"/>
              </a:rPr>
              <a:t>fprintf,</a:t>
            </a:r>
            <a:r>
              <a:rPr sz="2400" spc="-30" dirty="0">
                <a:latin typeface="Times New Roman"/>
                <a:cs typeface="Times New Roman"/>
              </a:rPr>
              <a:t> </a:t>
            </a:r>
            <a:r>
              <a:rPr sz="2400" dirty="0">
                <a:latin typeface="Times New Roman"/>
                <a:cs typeface="Times New Roman"/>
              </a:rPr>
              <a:t>sprintf,</a:t>
            </a:r>
            <a:r>
              <a:rPr sz="2400" spc="-3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287020">
              <a:lnSpc>
                <a:spcPct val="100000"/>
              </a:lnSpc>
              <a:spcBef>
                <a:spcPts val="650"/>
              </a:spcBef>
            </a:pPr>
            <a:r>
              <a:rPr sz="2400" dirty="0">
                <a:latin typeface="Times New Roman"/>
                <a:cs typeface="Times New Roman"/>
              </a:rPr>
              <a:t>vprintf,</a:t>
            </a:r>
            <a:r>
              <a:rPr sz="2400" spc="-25" dirty="0">
                <a:latin typeface="Times New Roman"/>
                <a:cs typeface="Times New Roman"/>
              </a:rPr>
              <a:t> </a:t>
            </a:r>
            <a:r>
              <a:rPr sz="2400" dirty="0">
                <a:latin typeface="Times New Roman"/>
                <a:cs typeface="Times New Roman"/>
              </a:rPr>
              <a:t>vfprintf,</a:t>
            </a:r>
            <a:r>
              <a:rPr sz="2400" spc="-30" dirty="0">
                <a:latin typeface="Times New Roman"/>
                <a:cs typeface="Times New Roman"/>
              </a:rPr>
              <a:t> </a:t>
            </a:r>
            <a:r>
              <a:rPr sz="2400" dirty="0">
                <a:latin typeface="Times New Roman"/>
                <a:cs typeface="Times New Roman"/>
              </a:rPr>
              <a:t>vsprintf,</a:t>
            </a:r>
            <a:r>
              <a:rPr sz="2400" spc="-25" dirty="0">
                <a:latin typeface="Times New Roman"/>
                <a:cs typeface="Times New Roman"/>
              </a:rPr>
              <a:t> </a:t>
            </a:r>
            <a:r>
              <a:rPr sz="2400" spc="-60" dirty="0">
                <a:latin typeface="Times New Roman"/>
                <a:cs typeface="Times New Roman"/>
              </a:rPr>
              <a:t>…</a:t>
            </a:r>
            <a:endParaRPr sz="2400">
              <a:latin typeface="Times New Roman"/>
              <a:cs typeface="Times New Roman"/>
            </a:endParaRPr>
          </a:p>
          <a:p>
            <a:pPr>
              <a:lnSpc>
                <a:spcPct val="100000"/>
              </a:lnSpc>
              <a:spcBef>
                <a:spcPts val="1270"/>
              </a:spcBef>
            </a:pPr>
            <a:endParaRPr sz="2400">
              <a:latin typeface="Times New Roman"/>
              <a:cs typeface="Times New Roman"/>
            </a:endParaRPr>
          </a:p>
          <a:p>
            <a:pPr marL="12700">
              <a:lnSpc>
                <a:spcPct val="100000"/>
              </a:lnSpc>
            </a:pPr>
            <a:r>
              <a:rPr sz="2400" spc="-10" dirty="0">
                <a:latin typeface="Times New Roman"/>
                <a:cs typeface="Times New Roman"/>
              </a:rPr>
              <a:t>Logging:</a:t>
            </a:r>
            <a:endParaRPr sz="2400">
              <a:latin typeface="Times New Roman"/>
              <a:cs typeface="Times New Roman"/>
            </a:endParaRPr>
          </a:p>
          <a:p>
            <a:pPr marL="287020">
              <a:lnSpc>
                <a:spcPct val="100000"/>
              </a:lnSpc>
              <a:spcBef>
                <a:spcPts val="650"/>
              </a:spcBef>
              <a:tabLst>
                <a:tab pos="1296035" algn="l"/>
              </a:tabLst>
            </a:pPr>
            <a:r>
              <a:rPr sz="2400" spc="-10" dirty="0">
                <a:latin typeface="Times New Roman"/>
                <a:cs typeface="Times New Roman"/>
              </a:rPr>
              <a:t>syslog,</a:t>
            </a:r>
            <a:r>
              <a:rPr sz="2400" dirty="0">
                <a:latin typeface="Times New Roman"/>
                <a:cs typeface="Times New Roman"/>
              </a:rPr>
              <a:t>	err,</a:t>
            </a:r>
            <a:r>
              <a:rPr sz="2400" spc="-114" dirty="0">
                <a:latin typeface="Times New Roman"/>
                <a:cs typeface="Times New Roman"/>
              </a:rPr>
              <a:t> </a:t>
            </a:r>
            <a:r>
              <a:rPr sz="2400" spc="-20" dirty="0">
                <a:latin typeface="Times New Roman"/>
                <a:cs typeface="Times New Roman"/>
              </a:rPr>
              <a:t>warn</a:t>
            </a:r>
            <a:endParaRPr sz="24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2089" rIns="0" bIns="0" rtlCol="0">
            <a:spAutoFit/>
          </a:bodyPr>
          <a:lstStyle/>
          <a:p>
            <a:pPr marL="241300">
              <a:lnSpc>
                <a:spcPct val="100000"/>
              </a:lnSpc>
              <a:spcBef>
                <a:spcPts val="105"/>
              </a:spcBef>
            </a:pPr>
            <a:r>
              <a:rPr spc="-10" dirty="0"/>
              <a:t>Exploit</a:t>
            </a:r>
          </a:p>
        </p:txBody>
      </p:sp>
      <p:sp>
        <p:nvSpPr>
          <p:cNvPr id="3" name="object 3"/>
          <p:cNvSpPr txBox="1"/>
          <p:nvPr/>
        </p:nvSpPr>
        <p:spPr>
          <a:xfrm>
            <a:off x="383857" y="1050439"/>
            <a:ext cx="6941820" cy="4315460"/>
          </a:xfrm>
          <a:prstGeom prst="rect">
            <a:avLst/>
          </a:prstGeom>
        </p:spPr>
        <p:txBody>
          <a:bodyPr vert="horz" wrap="square" lIns="0" tIns="210185" rIns="0" bIns="0" rtlCol="0">
            <a:spAutoFit/>
          </a:bodyPr>
          <a:lstStyle/>
          <a:p>
            <a:pPr marL="287020" indent="-274320">
              <a:lnSpc>
                <a:spcPct val="100000"/>
              </a:lnSpc>
              <a:spcBef>
                <a:spcPts val="1655"/>
              </a:spcBef>
              <a:buClr>
                <a:srgbClr val="D24717"/>
              </a:buClr>
              <a:buSzPct val="87272"/>
              <a:buFont typeface="Segoe UI Symbol"/>
              <a:buChar char="⚫"/>
              <a:tabLst>
                <a:tab pos="287020" algn="l"/>
              </a:tabLst>
            </a:pPr>
            <a:r>
              <a:rPr sz="2750" dirty="0">
                <a:latin typeface="Times New Roman"/>
                <a:cs typeface="Times New Roman"/>
              </a:rPr>
              <a:t>Dumping</a:t>
            </a:r>
            <a:r>
              <a:rPr sz="2750" spc="140" dirty="0">
                <a:latin typeface="Times New Roman"/>
                <a:cs typeface="Times New Roman"/>
              </a:rPr>
              <a:t> </a:t>
            </a:r>
            <a:r>
              <a:rPr sz="2750" dirty="0">
                <a:latin typeface="Times New Roman"/>
                <a:cs typeface="Times New Roman"/>
              </a:rPr>
              <a:t>arbitrary</a:t>
            </a:r>
            <a:r>
              <a:rPr sz="2750" spc="155" dirty="0">
                <a:latin typeface="Times New Roman"/>
                <a:cs typeface="Times New Roman"/>
              </a:rPr>
              <a:t> </a:t>
            </a:r>
            <a:r>
              <a:rPr sz="2750" spc="-10" dirty="0">
                <a:latin typeface="Times New Roman"/>
                <a:cs typeface="Times New Roman"/>
              </a:rPr>
              <a:t>memory:</a:t>
            </a:r>
            <a:endParaRPr sz="2750">
              <a:latin typeface="Times New Roman"/>
              <a:cs typeface="Times New Roman"/>
            </a:endParaRPr>
          </a:p>
          <a:p>
            <a:pPr marL="561340" lvl="1" indent="-228600">
              <a:lnSpc>
                <a:spcPct val="100000"/>
              </a:lnSpc>
              <a:spcBef>
                <a:spcPts val="1330"/>
              </a:spcBef>
              <a:buClr>
                <a:srgbClr val="9B2C1F"/>
              </a:buClr>
              <a:buSzPct val="83333"/>
              <a:buFont typeface="Segoe UI Symbol"/>
              <a:buChar char="⚫"/>
              <a:tabLst>
                <a:tab pos="561340" algn="l"/>
              </a:tabLst>
            </a:pPr>
            <a:r>
              <a:rPr sz="2400" spc="-20" dirty="0">
                <a:latin typeface="Times New Roman"/>
                <a:cs typeface="Times New Roman"/>
              </a:rPr>
              <a:t>Walk</a:t>
            </a:r>
            <a:r>
              <a:rPr sz="2400" spc="-45" dirty="0">
                <a:latin typeface="Times New Roman"/>
                <a:cs typeface="Times New Roman"/>
              </a:rPr>
              <a:t> </a:t>
            </a:r>
            <a:r>
              <a:rPr sz="2400" dirty="0">
                <a:latin typeface="Times New Roman"/>
                <a:cs typeface="Times New Roman"/>
              </a:rPr>
              <a:t>up</a:t>
            </a:r>
            <a:r>
              <a:rPr sz="2400" spc="-40" dirty="0">
                <a:latin typeface="Times New Roman"/>
                <a:cs typeface="Times New Roman"/>
              </a:rPr>
              <a:t> </a:t>
            </a:r>
            <a:r>
              <a:rPr sz="2400" dirty="0">
                <a:latin typeface="Times New Roman"/>
                <a:cs typeface="Times New Roman"/>
              </a:rPr>
              <a:t>stack</a:t>
            </a:r>
            <a:r>
              <a:rPr sz="2400" spc="-45" dirty="0">
                <a:latin typeface="Times New Roman"/>
                <a:cs typeface="Times New Roman"/>
              </a:rPr>
              <a:t> </a:t>
            </a:r>
            <a:r>
              <a:rPr sz="2400" dirty="0">
                <a:latin typeface="Times New Roman"/>
                <a:cs typeface="Times New Roman"/>
              </a:rPr>
              <a:t>until</a:t>
            </a:r>
            <a:r>
              <a:rPr sz="2400" spc="-40" dirty="0">
                <a:latin typeface="Times New Roman"/>
                <a:cs typeface="Times New Roman"/>
              </a:rPr>
              <a:t> </a:t>
            </a:r>
            <a:r>
              <a:rPr sz="2400" dirty="0">
                <a:latin typeface="Times New Roman"/>
                <a:cs typeface="Times New Roman"/>
              </a:rPr>
              <a:t>desired</a:t>
            </a:r>
            <a:r>
              <a:rPr sz="2400" spc="-45" dirty="0">
                <a:latin typeface="Times New Roman"/>
                <a:cs typeface="Times New Roman"/>
              </a:rPr>
              <a:t> </a:t>
            </a:r>
            <a:r>
              <a:rPr sz="2400" dirty="0">
                <a:latin typeface="Times New Roman"/>
                <a:cs typeface="Times New Roman"/>
              </a:rPr>
              <a:t>pointer</a:t>
            </a:r>
            <a:r>
              <a:rPr sz="2400" spc="-20" dirty="0">
                <a:latin typeface="Times New Roman"/>
                <a:cs typeface="Times New Roman"/>
              </a:rPr>
              <a:t> </a:t>
            </a:r>
            <a:r>
              <a:rPr sz="2400" dirty="0">
                <a:latin typeface="Times New Roman"/>
                <a:cs typeface="Times New Roman"/>
              </a:rPr>
              <a:t>is</a:t>
            </a:r>
            <a:r>
              <a:rPr sz="2400" spc="-10" dirty="0">
                <a:latin typeface="Times New Roman"/>
                <a:cs typeface="Times New Roman"/>
              </a:rPr>
              <a:t> found.</a:t>
            </a:r>
            <a:endParaRPr sz="2400">
              <a:latin typeface="Times New Roman"/>
              <a:cs typeface="Times New Roman"/>
            </a:endParaRPr>
          </a:p>
          <a:p>
            <a:pPr marL="561340" lvl="1" indent="-228600">
              <a:lnSpc>
                <a:spcPct val="100000"/>
              </a:lnSpc>
              <a:spcBef>
                <a:spcPts val="1850"/>
              </a:spcBef>
              <a:buClr>
                <a:srgbClr val="9B2C1F"/>
              </a:buClr>
              <a:buSzPct val="83333"/>
              <a:buFont typeface="Segoe UI Symbol"/>
              <a:buChar char="⚫"/>
              <a:tabLst>
                <a:tab pos="561340" algn="l"/>
              </a:tabLst>
            </a:pPr>
            <a:r>
              <a:rPr sz="2400" dirty="0">
                <a:latin typeface="Times New Roman"/>
                <a:cs typeface="Times New Roman"/>
              </a:rPr>
              <a:t>printf(</a:t>
            </a:r>
            <a:r>
              <a:rPr sz="2400" spc="-10" dirty="0">
                <a:latin typeface="Times New Roman"/>
                <a:cs typeface="Times New Roman"/>
              </a:rPr>
              <a:t> “%08x.%08x.%08x.%08x|%s|”)</a:t>
            </a:r>
            <a:endParaRPr sz="2400">
              <a:latin typeface="Times New Roman"/>
              <a:cs typeface="Times New Roman"/>
            </a:endParaRPr>
          </a:p>
          <a:p>
            <a:pPr lvl="1">
              <a:lnSpc>
                <a:spcPct val="100000"/>
              </a:lnSpc>
              <a:buClr>
                <a:srgbClr val="9B2C1F"/>
              </a:buClr>
              <a:buFont typeface="Segoe UI Symbol"/>
              <a:buChar char="⚫"/>
            </a:pPr>
            <a:endParaRPr sz="2400">
              <a:latin typeface="Times New Roman"/>
              <a:cs typeface="Times New Roman"/>
            </a:endParaRPr>
          </a:p>
          <a:p>
            <a:pPr lvl="1">
              <a:lnSpc>
                <a:spcPct val="100000"/>
              </a:lnSpc>
              <a:spcBef>
                <a:spcPts val="2215"/>
              </a:spcBef>
              <a:buClr>
                <a:srgbClr val="9B2C1F"/>
              </a:buClr>
              <a:buFont typeface="Segoe UI Symbol"/>
              <a:buChar char="⚫"/>
            </a:pPr>
            <a:endParaRPr sz="2400">
              <a:latin typeface="Times New Roman"/>
              <a:cs typeface="Times New Roman"/>
            </a:endParaRPr>
          </a:p>
          <a:p>
            <a:pPr marL="287020" indent="-274320">
              <a:lnSpc>
                <a:spcPct val="100000"/>
              </a:lnSpc>
              <a:spcBef>
                <a:spcPts val="5"/>
              </a:spcBef>
              <a:buClr>
                <a:srgbClr val="D24717"/>
              </a:buClr>
              <a:buSzPct val="87272"/>
              <a:buFont typeface="Segoe UI Symbol"/>
              <a:buChar char="⚫"/>
              <a:tabLst>
                <a:tab pos="287020" algn="l"/>
              </a:tabLst>
            </a:pPr>
            <a:r>
              <a:rPr sz="2750" dirty="0">
                <a:latin typeface="Times New Roman"/>
                <a:cs typeface="Times New Roman"/>
              </a:rPr>
              <a:t>Writing</a:t>
            </a:r>
            <a:r>
              <a:rPr sz="2750" spc="65" dirty="0">
                <a:latin typeface="Times New Roman"/>
                <a:cs typeface="Times New Roman"/>
              </a:rPr>
              <a:t> </a:t>
            </a:r>
            <a:r>
              <a:rPr sz="2750" dirty="0">
                <a:latin typeface="Times New Roman"/>
                <a:cs typeface="Times New Roman"/>
              </a:rPr>
              <a:t>to</a:t>
            </a:r>
            <a:r>
              <a:rPr sz="2750" spc="65" dirty="0">
                <a:latin typeface="Times New Roman"/>
                <a:cs typeface="Times New Roman"/>
              </a:rPr>
              <a:t> </a:t>
            </a:r>
            <a:r>
              <a:rPr sz="2750" dirty="0">
                <a:latin typeface="Times New Roman"/>
                <a:cs typeface="Times New Roman"/>
              </a:rPr>
              <a:t>arbitrary</a:t>
            </a:r>
            <a:r>
              <a:rPr sz="2750" spc="65" dirty="0">
                <a:latin typeface="Times New Roman"/>
                <a:cs typeface="Times New Roman"/>
              </a:rPr>
              <a:t> </a:t>
            </a:r>
            <a:r>
              <a:rPr sz="2750" spc="-10" dirty="0">
                <a:latin typeface="Times New Roman"/>
                <a:cs typeface="Times New Roman"/>
              </a:rPr>
              <a:t>memory:</a:t>
            </a:r>
            <a:endParaRPr sz="2750">
              <a:latin typeface="Times New Roman"/>
              <a:cs typeface="Times New Roman"/>
            </a:endParaRPr>
          </a:p>
          <a:p>
            <a:pPr marL="561340" lvl="1" indent="-228600">
              <a:lnSpc>
                <a:spcPct val="100000"/>
              </a:lnSpc>
              <a:spcBef>
                <a:spcPts val="1330"/>
              </a:spcBef>
              <a:buClr>
                <a:srgbClr val="9B2C1F"/>
              </a:buClr>
              <a:buSzPct val="83333"/>
              <a:buFont typeface="Segoe UI Symbol"/>
              <a:buChar char="⚫"/>
              <a:tabLst>
                <a:tab pos="561340" algn="l"/>
                <a:tab pos="4107179" algn="l"/>
                <a:tab pos="4462780" algn="l"/>
              </a:tabLst>
            </a:pPr>
            <a:r>
              <a:rPr sz="2400" dirty="0">
                <a:latin typeface="Times New Roman"/>
                <a:cs typeface="Times New Roman"/>
              </a:rPr>
              <a:t>printf(</a:t>
            </a:r>
            <a:r>
              <a:rPr sz="2400" spc="10" dirty="0">
                <a:latin typeface="Times New Roman"/>
                <a:cs typeface="Times New Roman"/>
              </a:rPr>
              <a:t> </a:t>
            </a:r>
            <a:r>
              <a:rPr sz="2400" dirty="0">
                <a:latin typeface="Times New Roman"/>
                <a:cs typeface="Times New Roman"/>
              </a:rPr>
              <a:t>“hello</a:t>
            </a:r>
            <a:r>
              <a:rPr sz="2400" spc="-15" dirty="0">
                <a:latin typeface="Times New Roman"/>
                <a:cs typeface="Times New Roman"/>
              </a:rPr>
              <a:t> </a:t>
            </a:r>
            <a:r>
              <a:rPr sz="2400" dirty="0">
                <a:latin typeface="Times New Roman"/>
                <a:cs typeface="Times New Roman"/>
              </a:rPr>
              <a:t>%n”,</a:t>
            </a:r>
            <a:r>
              <a:rPr sz="2400" spc="-10" dirty="0">
                <a:latin typeface="Times New Roman"/>
                <a:cs typeface="Times New Roman"/>
              </a:rPr>
              <a:t> &amp;temp)</a:t>
            </a:r>
            <a:r>
              <a:rPr sz="2400" dirty="0">
                <a:latin typeface="Times New Roman"/>
                <a:cs typeface="Times New Roman"/>
              </a:rPr>
              <a:t>	-</a:t>
            </a:r>
            <a:r>
              <a:rPr sz="2400" spc="-50" dirty="0">
                <a:latin typeface="Times New Roman"/>
                <a:cs typeface="Times New Roman"/>
              </a:rPr>
              <a:t>-</a:t>
            </a:r>
            <a:r>
              <a:rPr sz="2400" dirty="0">
                <a:latin typeface="Times New Roman"/>
                <a:cs typeface="Times New Roman"/>
              </a:rPr>
              <a:t>	writes</a:t>
            </a:r>
            <a:r>
              <a:rPr sz="2400" spc="-45" dirty="0">
                <a:latin typeface="Times New Roman"/>
                <a:cs typeface="Times New Roman"/>
              </a:rPr>
              <a:t> </a:t>
            </a:r>
            <a:r>
              <a:rPr sz="2400" dirty="0">
                <a:latin typeface="Times New Roman"/>
                <a:cs typeface="Times New Roman"/>
              </a:rPr>
              <a:t>‘6’</a:t>
            </a:r>
            <a:r>
              <a:rPr sz="2400" spc="-204" dirty="0">
                <a:latin typeface="Times New Roman"/>
                <a:cs typeface="Times New Roman"/>
              </a:rPr>
              <a:t> </a:t>
            </a:r>
            <a:r>
              <a:rPr sz="2400" dirty="0">
                <a:latin typeface="Times New Roman"/>
                <a:cs typeface="Times New Roman"/>
              </a:rPr>
              <a:t>into</a:t>
            </a:r>
            <a:r>
              <a:rPr sz="2400" spc="-5" dirty="0">
                <a:latin typeface="Times New Roman"/>
                <a:cs typeface="Times New Roman"/>
              </a:rPr>
              <a:t> </a:t>
            </a:r>
            <a:r>
              <a:rPr sz="2400" spc="-10" dirty="0">
                <a:latin typeface="Times New Roman"/>
                <a:cs typeface="Times New Roman"/>
              </a:rPr>
              <a:t>temp.</a:t>
            </a:r>
            <a:endParaRPr sz="2400">
              <a:latin typeface="Times New Roman"/>
              <a:cs typeface="Times New Roman"/>
            </a:endParaRPr>
          </a:p>
          <a:p>
            <a:pPr marL="561340" lvl="1" indent="-228600">
              <a:lnSpc>
                <a:spcPct val="100000"/>
              </a:lnSpc>
              <a:spcBef>
                <a:spcPts val="1850"/>
              </a:spcBef>
              <a:buClr>
                <a:srgbClr val="9B2C1F"/>
              </a:buClr>
              <a:buSzPct val="83333"/>
              <a:buFont typeface="Segoe UI Symbol"/>
              <a:buChar char="⚫"/>
              <a:tabLst>
                <a:tab pos="561340" algn="l"/>
              </a:tabLst>
            </a:pPr>
            <a:r>
              <a:rPr sz="2400" dirty="0">
                <a:latin typeface="Times New Roman"/>
                <a:cs typeface="Times New Roman"/>
              </a:rPr>
              <a:t>printf( </a:t>
            </a:r>
            <a:r>
              <a:rPr sz="2400" spc="-10" dirty="0">
                <a:latin typeface="Times New Roman"/>
                <a:cs typeface="Times New Roman"/>
              </a:rPr>
              <a:t>“%08x.%08x.%08x.%08x.%n”)</a:t>
            </a:r>
            <a:endParaRPr sz="24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3225" y="3295015"/>
            <a:ext cx="3413760"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Platform</a:t>
            </a:r>
            <a:r>
              <a:rPr u="sng" spc="-30" dirty="0">
                <a:solidFill>
                  <a:srgbClr val="D24717"/>
                </a:solidFill>
                <a:uFill>
                  <a:solidFill>
                    <a:srgbClr val="D24717"/>
                  </a:solidFill>
                </a:uFill>
              </a:rPr>
              <a:t> </a:t>
            </a:r>
            <a:r>
              <a:rPr u="sng" spc="-10" dirty="0">
                <a:solidFill>
                  <a:srgbClr val="D24717"/>
                </a:solidFill>
                <a:uFill>
                  <a:solidFill>
                    <a:srgbClr val="D24717"/>
                  </a:solidFill>
                </a:uFill>
              </a:rPr>
              <a:t>Defenses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989" rIns="0" bIns="0" rtlCol="0">
            <a:spAutoFit/>
          </a:bodyPr>
          <a:lstStyle/>
          <a:p>
            <a:pPr marL="165100">
              <a:lnSpc>
                <a:spcPct val="100000"/>
              </a:lnSpc>
              <a:spcBef>
                <a:spcPts val="105"/>
              </a:spcBef>
            </a:pPr>
            <a:r>
              <a:rPr dirty="0"/>
              <a:t>Preventing</a:t>
            </a:r>
            <a:r>
              <a:rPr spc="-10" dirty="0"/>
              <a:t> </a:t>
            </a:r>
            <a:r>
              <a:rPr dirty="0"/>
              <a:t>hijacking </a:t>
            </a:r>
            <a:r>
              <a:rPr spc="-10" dirty="0"/>
              <a:t>attacks</a:t>
            </a:r>
          </a:p>
        </p:txBody>
      </p:sp>
      <p:sp>
        <p:nvSpPr>
          <p:cNvPr id="3" name="object 3"/>
          <p:cNvSpPr txBox="1"/>
          <p:nvPr/>
        </p:nvSpPr>
        <p:spPr>
          <a:xfrm>
            <a:off x="307657" y="1110805"/>
            <a:ext cx="3056255" cy="1311275"/>
          </a:xfrm>
          <a:prstGeom prst="rect">
            <a:avLst/>
          </a:prstGeom>
        </p:spPr>
        <p:txBody>
          <a:bodyPr vert="horz" wrap="square" lIns="0" tIns="64135" rIns="0" bIns="0" rtlCol="0">
            <a:spAutoFit/>
          </a:bodyPr>
          <a:lstStyle/>
          <a:p>
            <a:pPr marL="546100" indent="-533400">
              <a:lnSpc>
                <a:spcPct val="100000"/>
              </a:lnSpc>
              <a:spcBef>
                <a:spcPts val="505"/>
              </a:spcBef>
              <a:buClr>
                <a:srgbClr val="D24717"/>
              </a:buClr>
              <a:buSzPct val="76923"/>
              <a:buAutoNum type="arabicPeriod"/>
              <a:tabLst>
                <a:tab pos="546100" algn="l"/>
              </a:tabLst>
            </a:pPr>
            <a:r>
              <a:rPr sz="2600" u="sng" dirty="0">
                <a:uFill>
                  <a:solidFill>
                    <a:srgbClr val="000000"/>
                  </a:solidFill>
                </a:uFill>
                <a:latin typeface="Times New Roman"/>
                <a:cs typeface="Times New Roman"/>
              </a:rPr>
              <a:t>Fix</a:t>
            </a:r>
            <a:r>
              <a:rPr sz="2600" u="sng" spc="-35" dirty="0">
                <a:uFill>
                  <a:solidFill>
                    <a:srgbClr val="000000"/>
                  </a:solidFill>
                </a:uFill>
                <a:latin typeface="Times New Roman"/>
                <a:cs typeface="Times New Roman"/>
              </a:rPr>
              <a:t> </a:t>
            </a:r>
            <a:r>
              <a:rPr sz="2600" u="sng" spc="-20" dirty="0">
                <a:uFill>
                  <a:solidFill>
                    <a:srgbClr val="000000"/>
                  </a:solidFill>
                </a:uFill>
                <a:latin typeface="Times New Roman"/>
                <a:cs typeface="Times New Roman"/>
              </a:rPr>
              <a:t>bugs</a:t>
            </a:r>
            <a:r>
              <a:rPr sz="2600" spc="-20" dirty="0">
                <a:latin typeface="Times New Roman"/>
                <a:cs typeface="Times New Roman"/>
              </a:rPr>
              <a:t>:</a:t>
            </a:r>
            <a:endParaRPr sz="2600">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Lst>
            </a:pPr>
            <a:r>
              <a:rPr sz="2600" dirty="0">
                <a:latin typeface="Times New Roman"/>
                <a:cs typeface="Times New Roman"/>
              </a:rPr>
              <a:t>Audit</a:t>
            </a:r>
            <a:r>
              <a:rPr sz="2600" spc="-15" dirty="0">
                <a:latin typeface="Times New Roman"/>
                <a:cs typeface="Times New Roman"/>
              </a:rPr>
              <a:t> </a:t>
            </a:r>
            <a:r>
              <a:rPr sz="2600" spc="-10" dirty="0">
                <a:latin typeface="Times New Roman"/>
                <a:cs typeface="Times New Roman"/>
              </a:rPr>
              <a:t>software</a:t>
            </a:r>
            <a:endParaRPr sz="2600">
              <a:latin typeface="Times New Roman"/>
              <a:cs typeface="Times New Roman"/>
            </a:endParaRPr>
          </a:p>
          <a:p>
            <a:pPr marL="1109345" lvl="2" indent="-219710">
              <a:lnSpc>
                <a:spcPct val="100000"/>
              </a:lnSpc>
              <a:spcBef>
                <a:spcPts val="480"/>
              </a:spcBef>
              <a:buClr>
                <a:srgbClr val="A18E6A"/>
              </a:buClr>
              <a:buSzPct val="79069"/>
              <a:buFont typeface="Segoe UI Symbol"/>
              <a:buChar char="⚫"/>
              <a:tabLst>
                <a:tab pos="1109345" algn="l"/>
              </a:tabLst>
            </a:pPr>
            <a:r>
              <a:rPr sz="2150" dirty="0">
                <a:latin typeface="Times New Roman"/>
                <a:cs typeface="Times New Roman"/>
              </a:rPr>
              <a:t>Automated</a:t>
            </a:r>
            <a:r>
              <a:rPr sz="2150" spc="210" dirty="0">
                <a:latin typeface="Times New Roman"/>
                <a:cs typeface="Times New Roman"/>
              </a:rPr>
              <a:t> </a:t>
            </a:r>
            <a:r>
              <a:rPr sz="2150" spc="-10" dirty="0">
                <a:latin typeface="Times New Roman"/>
                <a:cs typeface="Times New Roman"/>
              </a:rPr>
              <a:t>tools:</a:t>
            </a:r>
            <a:endParaRPr sz="2150">
              <a:latin typeface="Times New Roman"/>
              <a:cs typeface="Times New Roman"/>
            </a:endParaRPr>
          </a:p>
        </p:txBody>
      </p:sp>
      <p:sp>
        <p:nvSpPr>
          <p:cNvPr id="4" name="object 4"/>
          <p:cNvSpPr txBox="1"/>
          <p:nvPr/>
        </p:nvSpPr>
        <p:spPr>
          <a:xfrm>
            <a:off x="3549903" y="2064702"/>
            <a:ext cx="2802890" cy="357505"/>
          </a:xfrm>
          <a:prstGeom prst="rect">
            <a:avLst/>
          </a:prstGeom>
        </p:spPr>
        <p:txBody>
          <a:bodyPr vert="horz" wrap="square" lIns="0" tIns="15875" rIns="0" bIns="0" rtlCol="0">
            <a:spAutoFit/>
          </a:bodyPr>
          <a:lstStyle/>
          <a:p>
            <a:pPr marL="12700">
              <a:lnSpc>
                <a:spcPct val="100000"/>
              </a:lnSpc>
              <a:spcBef>
                <a:spcPts val="125"/>
              </a:spcBef>
              <a:tabLst>
                <a:tab pos="1182370" algn="l"/>
              </a:tabLst>
            </a:pPr>
            <a:r>
              <a:rPr sz="2150" spc="-10" dirty="0">
                <a:latin typeface="Times New Roman"/>
                <a:cs typeface="Times New Roman"/>
              </a:rPr>
              <a:t>Coverity,</a:t>
            </a:r>
            <a:r>
              <a:rPr sz="2150" dirty="0">
                <a:latin typeface="Times New Roman"/>
                <a:cs typeface="Times New Roman"/>
              </a:rPr>
              <a:t>	</a:t>
            </a:r>
            <a:r>
              <a:rPr sz="2150" spc="-10" dirty="0">
                <a:latin typeface="Times New Roman"/>
                <a:cs typeface="Times New Roman"/>
              </a:rPr>
              <a:t>Prefast/Prefix.</a:t>
            </a:r>
            <a:endParaRPr sz="2150">
              <a:latin typeface="Times New Roman"/>
              <a:cs typeface="Times New Roman"/>
            </a:endParaRPr>
          </a:p>
        </p:txBody>
      </p:sp>
      <p:sp>
        <p:nvSpPr>
          <p:cNvPr id="5" name="object 5"/>
          <p:cNvSpPr txBox="1"/>
          <p:nvPr/>
        </p:nvSpPr>
        <p:spPr>
          <a:xfrm>
            <a:off x="307657" y="2376763"/>
            <a:ext cx="8004175" cy="4131259"/>
          </a:xfrm>
          <a:prstGeom prst="rect">
            <a:avLst/>
          </a:prstGeom>
        </p:spPr>
        <p:txBody>
          <a:bodyPr vert="horz" wrap="square" lIns="0" tIns="85725" rIns="0" bIns="0" rtlCol="0">
            <a:spAutoFit/>
          </a:bodyPr>
          <a:lstStyle/>
          <a:p>
            <a:pPr marL="821055" indent="-242570">
              <a:lnSpc>
                <a:spcPct val="100000"/>
              </a:lnSpc>
              <a:spcBef>
                <a:spcPts val="675"/>
              </a:spcBef>
              <a:buClr>
                <a:srgbClr val="9B2C1F"/>
              </a:buClr>
              <a:buSzPct val="82692"/>
              <a:buFont typeface="Segoe UI Symbol"/>
              <a:buChar char="⚫"/>
              <a:tabLst>
                <a:tab pos="821055" algn="l"/>
                <a:tab pos="6525259" algn="l"/>
              </a:tabLst>
            </a:pPr>
            <a:r>
              <a:rPr sz="2400" dirty="0">
                <a:latin typeface="Times New Roman"/>
                <a:cs typeface="Times New Roman"/>
              </a:rPr>
              <a:t>Rewrite</a:t>
            </a:r>
            <a:r>
              <a:rPr sz="2400" spc="-35" dirty="0">
                <a:latin typeface="Times New Roman"/>
                <a:cs typeface="Times New Roman"/>
              </a:rPr>
              <a:t> </a:t>
            </a:r>
            <a:r>
              <a:rPr sz="2400" dirty="0">
                <a:latin typeface="Times New Roman"/>
                <a:cs typeface="Times New Roman"/>
              </a:rPr>
              <a:t>software</a:t>
            </a:r>
            <a:r>
              <a:rPr sz="2400" spc="-30"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type</a:t>
            </a:r>
            <a:r>
              <a:rPr sz="2400" spc="-35" dirty="0">
                <a:latin typeface="Times New Roman"/>
                <a:cs typeface="Times New Roman"/>
              </a:rPr>
              <a:t> </a:t>
            </a:r>
            <a:r>
              <a:rPr sz="2400" dirty="0">
                <a:latin typeface="Times New Roman"/>
                <a:cs typeface="Times New Roman"/>
              </a:rPr>
              <a:t>safe</a:t>
            </a:r>
            <a:r>
              <a:rPr sz="2400" spc="5" dirty="0">
                <a:latin typeface="Times New Roman"/>
                <a:cs typeface="Times New Roman"/>
              </a:rPr>
              <a:t> </a:t>
            </a:r>
            <a:r>
              <a:rPr sz="2400" spc="-10" dirty="0">
                <a:latin typeface="Times New Roman"/>
                <a:cs typeface="Times New Roman"/>
              </a:rPr>
              <a:t>languange</a:t>
            </a:r>
            <a:r>
              <a:rPr sz="2400" dirty="0">
                <a:latin typeface="Times New Roman"/>
                <a:cs typeface="Times New Roman"/>
              </a:rPr>
              <a:t>	(Java,</a:t>
            </a:r>
            <a:r>
              <a:rPr sz="2400" spc="-50" dirty="0">
                <a:latin typeface="Times New Roman"/>
                <a:cs typeface="Times New Roman"/>
              </a:rPr>
              <a:t> </a:t>
            </a:r>
            <a:r>
              <a:rPr sz="2400" spc="-25" dirty="0">
                <a:latin typeface="Times New Roman"/>
                <a:cs typeface="Times New Roman"/>
              </a:rPr>
              <a:t>ML)</a:t>
            </a:r>
            <a:endParaRPr sz="2400" dirty="0">
              <a:latin typeface="Times New Roman"/>
              <a:cs typeface="Times New Roman"/>
            </a:endParaRPr>
          </a:p>
          <a:p>
            <a:pPr marL="1109345" lvl="1" indent="-219710">
              <a:lnSpc>
                <a:spcPct val="100000"/>
              </a:lnSpc>
              <a:spcBef>
                <a:spcPts val="484"/>
              </a:spcBef>
              <a:buClr>
                <a:srgbClr val="A18E6A"/>
              </a:buClr>
              <a:buSzPct val="79069"/>
              <a:buFont typeface="Segoe UI Symbol"/>
              <a:buChar char="⚫"/>
              <a:tabLst>
                <a:tab pos="1109345" algn="l"/>
              </a:tabLst>
            </a:pPr>
            <a:r>
              <a:rPr sz="2000" dirty="0">
                <a:latin typeface="Times New Roman"/>
                <a:cs typeface="Times New Roman"/>
              </a:rPr>
              <a:t>Difficult</a:t>
            </a:r>
            <a:r>
              <a:rPr sz="2000" spc="110" dirty="0">
                <a:latin typeface="Times New Roman"/>
                <a:cs typeface="Times New Roman"/>
              </a:rPr>
              <a:t> </a:t>
            </a:r>
            <a:r>
              <a:rPr sz="2000" dirty="0">
                <a:latin typeface="Times New Roman"/>
                <a:cs typeface="Times New Roman"/>
              </a:rPr>
              <a:t>for</a:t>
            </a:r>
            <a:r>
              <a:rPr sz="2000" spc="150" dirty="0">
                <a:latin typeface="Times New Roman"/>
                <a:cs typeface="Times New Roman"/>
              </a:rPr>
              <a:t> </a:t>
            </a:r>
            <a:r>
              <a:rPr sz="2000" dirty="0">
                <a:latin typeface="Times New Roman"/>
                <a:cs typeface="Times New Roman"/>
              </a:rPr>
              <a:t>existing</a:t>
            </a:r>
            <a:r>
              <a:rPr sz="2000" spc="85" dirty="0">
                <a:latin typeface="Times New Roman"/>
                <a:cs typeface="Times New Roman"/>
              </a:rPr>
              <a:t> </a:t>
            </a:r>
            <a:r>
              <a:rPr sz="2000" dirty="0">
                <a:latin typeface="Times New Roman"/>
                <a:cs typeface="Times New Roman"/>
              </a:rPr>
              <a:t>(legacy)</a:t>
            </a:r>
            <a:r>
              <a:rPr sz="2000" spc="65" dirty="0">
                <a:latin typeface="Times New Roman"/>
                <a:cs typeface="Times New Roman"/>
              </a:rPr>
              <a:t> </a:t>
            </a:r>
            <a:r>
              <a:rPr sz="2000" dirty="0">
                <a:latin typeface="Times New Roman"/>
                <a:cs typeface="Times New Roman"/>
              </a:rPr>
              <a:t>code</a:t>
            </a:r>
            <a:r>
              <a:rPr sz="2000" spc="55" dirty="0">
                <a:latin typeface="Times New Roman"/>
                <a:cs typeface="Times New Roman"/>
              </a:rPr>
              <a:t> </a:t>
            </a:r>
            <a:r>
              <a:rPr sz="2000" spc="-50" dirty="0" smtClean="0">
                <a:latin typeface="Times New Roman"/>
                <a:cs typeface="Times New Roman"/>
              </a:rPr>
              <a:t>…</a:t>
            </a:r>
            <a:r>
              <a:rPr lang="en-US" sz="2000" spc="-50" dirty="0" smtClean="0">
                <a:latin typeface="Times New Roman"/>
                <a:cs typeface="Times New Roman"/>
              </a:rPr>
              <a:t/>
            </a:r>
            <a:br>
              <a:rPr lang="en-US" sz="2000" spc="-50" dirty="0" smtClean="0">
                <a:latin typeface="Times New Roman"/>
                <a:cs typeface="Times New Roman"/>
              </a:rPr>
            </a:br>
            <a:r>
              <a:rPr lang="en-US" spc="-50" dirty="0" smtClean="0">
                <a:solidFill>
                  <a:srgbClr val="FF0000"/>
                </a:solidFill>
                <a:latin typeface="Times New Roman"/>
                <a:cs typeface="Times New Roman"/>
              </a:rPr>
              <a:t>A type-safe language is a programming language designed to prevent or discourage type errors, which occur when operations are performed on values that are not of the appropriate data type. The core idea is to ensure that variables and data structures are used consistently with their declared types, preventing unintended behavior or runtime errors. </a:t>
            </a:r>
            <a:endParaRPr sz="2000" dirty="0">
              <a:solidFill>
                <a:srgbClr val="FF0000"/>
              </a:solidFill>
              <a:latin typeface="Times New Roman"/>
              <a:cs typeface="Times New Roman"/>
            </a:endParaRPr>
          </a:p>
          <a:p>
            <a:pPr marL="533400" indent="-520700">
              <a:lnSpc>
                <a:spcPct val="100000"/>
              </a:lnSpc>
              <a:spcBef>
                <a:spcPts val="2375"/>
              </a:spcBef>
              <a:buClr>
                <a:srgbClr val="D24717"/>
              </a:buClr>
              <a:buSzPct val="82692"/>
              <a:buAutoNum type="arabicPeriod" startAt="2"/>
              <a:tabLst>
                <a:tab pos="533400" algn="l"/>
                <a:tab pos="3188335" algn="l"/>
              </a:tabLst>
            </a:pPr>
            <a:r>
              <a:rPr sz="2400" dirty="0">
                <a:latin typeface="Times New Roman"/>
                <a:cs typeface="Times New Roman"/>
              </a:rPr>
              <a:t>Concede</a:t>
            </a:r>
            <a:r>
              <a:rPr sz="2400" spc="-45" dirty="0">
                <a:latin typeface="Times New Roman"/>
                <a:cs typeface="Times New Roman"/>
              </a:rPr>
              <a:t> </a:t>
            </a:r>
            <a:r>
              <a:rPr sz="2400" spc="-10" dirty="0">
                <a:latin typeface="Times New Roman"/>
                <a:cs typeface="Times New Roman"/>
              </a:rPr>
              <a:t>overflow,</a:t>
            </a:r>
            <a:r>
              <a:rPr sz="2400" dirty="0">
                <a:latin typeface="Times New Roman"/>
                <a:cs typeface="Times New Roman"/>
              </a:rPr>
              <a:t>	but</a:t>
            </a:r>
            <a:r>
              <a:rPr sz="2400" spc="25" dirty="0">
                <a:latin typeface="Times New Roman"/>
                <a:cs typeface="Times New Roman"/>
              </a:rPr>
              <a:t> </a:t>
            </a:r>
            <a:r>
              <a:rPr sz="2400" u="sng" dirty="0">
                <a:uFill>
                  <a:solidFill>
                    <a:srgbClr val="000000"/>
                  </a:solidFill>
                </a:uFill>
                <a:latin typeface="Times New Roman"/>
                <a:cs typeface="Times New Roman"/>
              </a:rPr>
              <a:t>prevent</a:t>
            </a:r>
            <a:r>
              <a:rPr sz="2400" u="sng" spc="1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code</a:t>
            </a:r>
            <a:r>
              <a:rPr sz="2400" u="sng" spc="-40" dirty="0">
                <a:uFill>
                  <a:solidFill>
                    <a:srgbClr val="000000"/>
                  </a:solidFill>
                </a:uFill>
                <a:latin typeface="Times New Roman"/>
                <a:cs typeface="Times New Roman"/>
              </a:rPr>
              <a:t> </a:t>
            </a:r>
            <a:r>
              <a:rPr sz="2400" u="sng" spc="-10" dirty="0" smtClean="0">
                <a:uFill>
                  <a:solidFill>
                    <a:srgbClr val="000000"/>
                  </a:solidFill>
                </a:uFill>
                <a:latin typeface="Times New Roman"/>
                <a:cs typeface="Times New Roman"/>
              </a:rPr>
              <a:t>execution</a:t>
            </a:r>
            <a:endParaRPr sz="2400" dirty="0">
              <a:latin typeface="Times New Roman"/>
              <a:cs typeface="Times New Roman"/>
            </a:endParaRPr>
          </a:p>
          <a:p>
            <a:pPr marL="469900" indent="-457200">
              <a:lnSpc>
                <a:spcPct val="100000"/>
              </a:lnSpc>
              <a:buClr>
                <a:srgbClr val="D24717"/>
              </a:buClr>
              <a:buSzPct val="82692"/>
              <a:buAutoNum type="arabicPeriod" startAt="2"/>
              <a:tabLst>
                <a:tab pos="469900" algn="l"/>
              </a:tabLst>
            </a:pPr>
            <a:r>
              <a:rPr sz="2400" dirty="0">
                <a:solidFill>
                  <a:srgbClr val="FF0000"/>
                </a:solidFill>
                <a:latin typeface="Times New Roman"/>
                <a:cs typeface="Times New Roman"/>
              </a:rPr>
              <a:t>Add</a:t>
            </a:r>
            <a:r>
              <a:rPr sz="2400" spc="-5" dirty="0">
                <a:solidFill>
                  <a:srgbClr val="FF0000"/>
                </a:solidFill>
                <a:latin typeface="Times New Roman"/>
                <a:cs typeface="Times New Roman"/>
              </a:rPr>
              <a:t> </a:t>
            </a:r>
            <a:r>
              <a:rPr sz="2400" u="sng" dirty="0">
                <a:solidFill>
                  <a:srgbClr val="FF0000"/>
                </a:solidFill>
                <a:uFill>
                  <a:solidFill>
                    <a:srgbClr val="000000"/>
                  </a:solidFill>
                </a:uFill>
                <a:latin typeface="Times New Roman"/>
                <a:cs typeface="Times New Roman"/>
              </a:rPr>
              <a:t>runtime</a:t>
            </a:r>
            <a:r>
              <a:rPr sz="2400" u="sng" spc="-35" dirty="0">
                <a:solidFill>
                  <a:srgbClr val="FF0000"/>
                </a:solidFill>
                <a:uFill>
                  <a:solidFill>
                    <a:srgbClr val="000000"/>
                  </a:solidFill>
                </a:uFill>
                <a:latin typeface="Times New Roman"/>
                <a:cs typeface="Times New Roman"/>
              </a:rPr>
              <a:t> </a:t>
            </a:r>
            <a:r>
              <a:rPr sz="2400" u="sng" dirty="0">
                <a:solidFill>
                  <a:srgbClr val="FF0000"/>
                </a:solidFill>
                <a:uFill>
                  <a:solidFill>
                    <a:srgbClr val="000000"/>
                  </a:solidFill>
                </a:uFill>
                <a:latin typeface="Times New Roman"/>
                <a:cs typeface="Times New Roman"/>
              </a:rPr>
              <a:t>code</a:t>
            </a:r>
            <a:r>
              <a:rPr sz="2400" spc="-35" dirty="0">
                <a:solidFill>
                  <a:srgbClr val="FF0000"/>
                </a:solidFill>
                <a:latin typeface="Times New Roman"/>
                <a:cs typeface="Times New Roman"/>
              </a:rPr>
              <a:t> </a:t>
            </a:r>
            <a:r>
              <a:rPr sz="2400" dirty="0">
                <a:solidFill>
                  <a:srgbClr val="FF0000"/>
                </a:solidFill>
                <a:latin typeface="Times New Roman"/>
                <a:cs typeface="Times New Roman"/>
              </a:rPr>
              <a:t>to</a:t>
            </a:r>
            <a:r>
              <a:rPr sz="2400" spc="-35" dirty="0">
                <a:solidFill>
                  <a:srgbClr val="FF0000"/>
                </a:solidFill>
                <a:latin typeface="Times New Roman"/>
                <a:cs typeface="Times New Roman"/>
              </a:rPr>
              <a:t> </a:t>
            </a:r>
            <a:r>
              <a:rPr sz="2400" dirty="0">
                <a:solidFill>
                  <a:srgbClr val="FF0000"/>
                </a:solidFill>
                <a:latin typeface="Times New Roman"/>
                <a:cs typeface="Times New Roman"/>
              </a:rPr>
              <a:t>detect</a:t>
            </a:r>
            <a:r>
              <a:rPr sz="2400" spc="-50" dirty="0">
                <a:solidFill>
                  <a:srgbClr val="FF0000"/>
                </a:solidFill>
                <a:latin typeface="Times New Roman"/>
                <a:cs typeface="Times New Roman"/>
              </a:rPr>
              <a:t> </a:t>
            </a:r>
            <a:r>
              <a:rPr sz="2400" dirty="0">
                <a:solidFill>
                  <a:srgbClr val="FF0000"/>
                </a:solidFill>
                <a:latin typeface="Times New Roman"/>
                <a:cs typeface="Times New Roman"/>
              </a:rPr>
              <a:t>overflows</a:t>
            </a:r>
            <a:r>
              <a:rPr sz="2400" spc="-45" dirty="0">
                <a:solidFill>
                  <a:srgbClr val="FF0000"/>
                </a:solidFill>
                <a:latin typeface="Times New Roman"/>
                <a:cs typeface="Times New Roman"/>
              </a:rPr>
              <a:t> </a:t>
            </a:r>
            <a:r>
              <a:rPr sz="2400" spc="-10" dirty="0">
                <a:solidFill>
                  <a:srgbClr val="FF0000"/>
                </a:solidFill>
                <a:latin typeface="Times New Roman"/>
                <a:cs typeface="Times New Roman"/>
              </a:rPr>
              <a:t>exploits</a:t>
            </a:r>
            <a:endParaRPr sz="2400" dirty="0">
              <a:solidFill>
                <a:srgbClr val="FF0000"/>
              </a:solidFill>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Lst>
            </a:pPr>
            <a:r>
              <a:rPr sz="2400" dirty="0">
                <a:latin typeface="Times New Roman"/>
                <a:cs typeface="Times New Roman"/>
              </a:rPr>
              <a:t>Halt</a:t>
            </a:r>
            <a:r>
              <a:rPr sz="2400" spc="-45" dirty="0">
                <a:latin typeface="Times New Roman"/>
                <a:cs typeface="Times New Roman"/>
              </a:rPr>
              <a:t> </a:t>
            </a:r>
            <a:r>
              <a:rPr sz="2400" dirty="0">
                <a:latin typeface="Times New Roman"/>
                <a:cs typeface="Times New Roman"/>
              </a:rPr>
              <a:t>process</a:t>
            </a:r>
            <a:r>
              <a:rPr sz="2400" spc="-35" dirty="0">
                <a:latin typeface="Times New Roman"/>
                <a:cs typeface="Times New Roman"/>
              </a:rPr>
              <a:t> </a:t>
            </a:r>
            <a:r>
              <a:rPr sz="2400" dirty="0">
                <a:latin typeface="Times New Roman"/>
                <a:cs typeface="Times New Roman"/>
              </a:rPr>
              <a:t>when</a:t>
            </a:r>
            <a:r>
              <a:rPr sz="2400" spc="-25" dirty="0">
                <a:latin typeface="Times New Roman"/>
                <a:cs typeface="Times New Roman"/>
              </a:rPr>
              <a:t> </a:t>
            </a:r>
            <a:r>
              <a:rPr sz="2400" dirty="0">
                <a:latin typeface="Times New Roman"/>
                <a:cs typeface="Times New Roman"/>
              </a:rPr>
              <a:t>overflow</a:t>
            </a:r>
            <a:r>
              <a:rPr sz="2400" spc="-80" dirty="0">
                <a:latin typeface="Times New Roman"/>
                <a:cs typeface="Times New Roman"/>
              </a:rPr>
              <a:t> </a:t>
            </a:r>
            <a:r>
              <a:rPr sz="2400" dirty="0">
                <a:latin typeface="Times New Roman"/>
                <a:cs typeface="Times New Roman"/>
              </a:rPr>
              <a:t>exploit</a:t>
            </a:r>
            <a:r>
              <a:rPr sz="2400" spc="-40" dirty="0">
                <a:latin typeface="Times New Roman"/>
                <a:cs typeface="Times New Roman"/>
              </a:rPr>
              <a:t> </a:t>
            </a:r>
            <a:r>
              <a:rPr sz="2400" spc="-10" dirty="0">
                <a:latin typeface="Times New Roman"/>
                <a:cs typeface="Times New Roman"/>
              </a:rPr>
              <a:t>detected</a:t>
            </a:r>
            <a:endParaRPr sz="2400" dirty="0">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 pos="2628900" algn="l"/>
              </a:tabLst>
            </a:pPr>
            <a:r>
              <a:rPr sz="2400" spc="-10" dirty="0">
                <a:solidFill>
                  <a:srgbClr val="000090"/>
                </a:solidFill>
                <a:latin typeface="Times New Roman"/>
                <a:cs typeface="Times New Roman"/>
              </a:rPr>
              <a:t>StackGuard,</a:t>
            </a:r>
            <a:r>
              <a:rPr sz="2400" dirty="0">
                <a:solidFill>
                  <a:srgbClr val="000090"/>
                </a:solidFill>
                <a:latin typeface="Times New Roman"/>
                <a:cs typeface="Times New Roman"/>
              </a:rPr>
              <a:t>	LibSafe,</a:t>
            </a:r>
            <a:r>
              <a:rPr sz="2400" spc="-75" dirty="0">
                <a:solidFill>
                  <a:srgbClr val="000090"/>
                </a:solidFill>
                <a:latin typeface="Times New Roman"/>
                <a:cs typeface="Times New Roman"/>
              </a:rPr>
              <a:t> </a:t>
            </a:r>
            <a:r>
              <a:rPr sz="2400" spc="-60" dirty="0">
                <a:solidFill>
                  <a:srgbClr val="000090"/>
                </a:solidFill>
                <a:latin typeface="Times New Roman"/>
                <a:cs typeface="Times New Roman"/>
              </a:rPr>
              <a:t>…</a:t>
            </a:r>
            <a:endParaRPr sz="2400" dirty="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657" y="242824"/>
            <a:ext cx="7713980" cy="575310"/>
          </a:xfrm>
          <a:prstGeom prst="rect">
            <a:avLst/>
          </a:prstGeom>
        </p:spPr>
        <p:txBody>
          <a:bodyPr vert="horz" wrap="square" lIns="0" tIns="13335" rIns="0" bIns="0" rtlCol="0">
            <a:spAutoFit/>
          </a:bodyPr>
          <a:lstStyle/>
          <a:p>
            <a:pPr marL="12700">
              <a:lnSpc>
                <a:spcPct val="100000"/>
              </a:lnSpc>
              <a:spcBef>
                <a:spcPts val="105"/>
              </a:spcBef>
              <a:tabLst>
                <a:tab pos="6423025" algn="l"/>
              </a:tabLst>
            </a:pPr>
            <a:r>
              <a:rPr dirty="0"/>
              <a:t>Marking</a:t>
            </a:r>
            <a:r>
              <a:rPr spc="-5" dirty="0"/>
              <a:t> </a:t>
            </a:r>
            <a:r>
              <a:rPr dirty="0"/>
              <a:t>memory</a:t>
            </a:r>
            <a:r>
              <a:rPr spc="5" dirty="0"/>
              <a:t> </a:t>
            </a:r>
            <a:r>
              <a:rPr dirty="0"/>
              <a:t>as</a:t>
            </a:r>
            <a:r>
              <a:rPr spc="-40" dirty="0"/>
              <a:t> </a:t>
            </a:r>
            <a:r>
              <a:rPr dirty="0"/>
              <a:t>non-</a:t>
            </a:r>
            <a:r>
              <a:rPr spc="-10" dirty="0"/>
              <a:t>execute</a:t>
            </a:r>
            <a:r>
              <a:rPr dirty="0"/>
              <a:t>	</a:t>
            </a:r>
            <a:r>
              <a:rPr spc="-10" dirty="0"/>
              <a:t>(W^X)</a:t>
            </a:r>
          </a:p>
        </p:txBody>
      </p:sp>
      <p:sp>
        <p:nvSpPr>
          <p:cNvPr id="3" name="object 3"/>
          <p:cNvSpPr txBox="1"/>
          <p:nvPr/>
        </p:nvSpPr>
        <p:spPr>
          <a:xfrm>
            <a:off x="460375" y="891286"/>
            <a:ext cx="7587615" cy="2290445"/>
          </a:xfrm>
          <a:prstGeom prst="rect">
            <a:avLst/>
          </a:prstGeom>
        </p:spPr>
        <p:txBody>
          <a:bodyPr vert="horz" wrap="square" lIns="0" tIns="57150" rIns="0" bIns="0" rtlCol="0">
            <a:spAutoFit/>
          </a:bodyPr>
          <a:lstStyle/>
          <a:p>
            <a:pPr marL="12700" marR="5080">
              <a:lnSpc>
                <a:spcPts val="2850"/>
              </a:lnSpc>
              <a:spcBef>
                <a:spcPts val="450"/>
              </a:spcBef>
            </a:pPr>
            <a:r>
              <a:rPr sz="2600" dirty="0">
                <a:latin typeface="Times New Roman"/>
                <a:cs typeface="Times New Roman"/>
              </a:rPr>
              <a:t>Prevent attack</a:t>
            </a:r>
            <a:r>
              <a:rPr sz="2600" spc="-45" dirty="0">
                <a:latin typeface="Times New Roman"/>
                <a:cs typeface="Times New Roman"/>
              </a:rPr>
              <a:t> </a:t>
            </a:r>
            <a:r>
              <a:rPr sz="2600" dirty="0">
                <a:latin typeface="Times New Roman"/>
                <a:cs typeface="Times New Roman"/>
              </a:rPr>
              <a:t>code</a:t>
            </a:r>
            <a:r>
              <a:rPr sz="2600" spc="-50" dirty="0">
                <a:latin typeface="Times New Roman"/>
                <a:cs typeface="Times New Roman"/>
              </a:rPr>
              <a:t> </a:t>
            </a:r>
            <a:r>
              <a:rPr sz="2600" dirty="0">
                <a:latin typeface="Times New Roman"/>
                <a:cs typeface="Times New Roman"/>
              </a:rPr>
              <a:t>execution</a:t>
            </a:r>
            <a:r>
              <a:rPr sz="2600" spc="-50" dirty="0">
                <a:latin typeface="Times New Roman"/>
                <a:cs typeface="Times New Roman"/>
              </a:rPr>
              <a:t> </a:t>
            </a:r>
            <a:r>
              <a:rPr sz="2600" dirty="0">
                <a:latin typeface="Times New Roman"/>
                <a:cs typeface="Times New Roman"/>
              </a:rPr>
              <a:t>by</a:t>
            </a:r>
            <a:r>
              <a:rPr sz="2600" spc="-45" dirty="0">
                <a:latin typeface="Times New Roman"/>
                <a:cs typeface="Times New Roman"/>
              </a:rPr>
              <a:t> </a:t>
            </a:r>
            <a:r>
              <a:rPr sz="2600" dirty="0">
                <a:latin typeface="Times New Roman"/>
                <a:cs typeface="Times New Roman"/>
              </a:rPr>
              <a:t>marking</a:t>
            </a:r>
            <a:r>
              <a:rPr sz="2600" spc="-50" dirty="0">
                <a:latin typeface="Times New Roman"/>
                <a:cs typeface="Times New Roman"/>
              </a:rPr>
              <a:t> </a:t>
            </a:r>
            <a:r>
              <a:rPr sz="2600" dirty="0">
                <a:latin typeface="Times New Roman"/>
                <a:cs typeface="Times New Roman"/>
              </a:rPr>
              <a:t>stack</a:t>
            </a:r>
            <a:r>
              <a:rPr sz="2600" spc="-50" dirty="0">
                <a:latin typeface="Times New Roman"/>
                <a:cs typeface="Times New Roman"/>
              </a:rPr>
              <a:t> </a:t>
            </a:r>
            <a:r>
              <a:rPr sz="2600" dirty="0">
                <a:latin typeface="Times New Roman"/>
                <a:cs typeface="Times New Roman"/>
              </a:rPr>
              <a:t>and</a:t>
            </a:r>
            <a:r>
              <a:rPr sz="2600" spc="-50" dirty="0">
                <a:latin typeface="Times New Roman"/>
                <a:cs typeface="Times New Roman"/>
              </a:rPr>
              <a:t> </a:t>
            </a:r>
            <a:r>
              <a:rPr sz="2600" spc="-20" dirty="0">
                <a:latin typeface="Times New Roman"/>
                <a:cs typeface="Times New Roman"/>
              </a:rPr>
              <a:t>heap </a:t>
            </a:r>
            <a:r>
              <a:rPr sz="2600" dirty="0">
                <a:latin typeface="Times New Roman"/>
                <a:cs typeface="Times New Roman"/>
              </a:rPr>
              <a:t>as</a:t>
            </a:r>
            <a:r>
              <a:rPr sz="2600" spc="-15" dirty="0">
                <a:latin typeface="Times New Roman"/>
                <a:cs typeface="Times New Roman"/>
              </a:rPr>
              <a:t> </a:t>
            </a:r>
            <a:r>
              <a:rPr sz="2600" b="1" spc="-10" dirty="0">
                <a:latin typeface="Times New Roman"/>
                <a:cs typeface="Times New Roman"/>
              </a:rPr>
              <a:t>non-executable</a:t>
            </a:r>
            <a:endParaRPr sz="2600">
              <a:latin typeface="Times New Roman"/>
              <a:cs typeface="Times New Roman"/>
            </a:endParaRPr>
          </a:p>
          <a:p>
            <a:pPr marL="286385" indent="-273685">
              <a:lnSpc>
                <a:spcPct val="100000"/>
              </a:lnSpc>
              <a:spcBef>
                <a:spcPts val="2065"/>
              </a:spcBef>
              <a:buClr>
                <a:srgbClr val="D24717"/>
              </a:buClr>
              <a:buSzPct val="83333"/>
              <a:buFont typeface="Segoe UI Symbol"/>
              <a:buChar char="⚫"/>
              <a:tabLst>
                <a:tab pos="286385" algn="l"/>
                <a:tab pos="4051300" algn="l"/>
                <a:tab pos="6483985" algn="l"/>
              </a:tabLst>
            </a:pPr>
            <a:r>
              <a:rPr sz="2400" spc="-20" dirty="0">
                <a:latin typeface="Times New Roman"/>
                <a:cs typeface="Times New Roman"/>
              </a:rPr>
              <a:t>NX-</a:t>
            </a:r>
            <a:r>
              <a:rPr sz="2400" dirty="0">
                <a:latin typeface="Times New Roman"/>
                <a:cs typeface="Times New Roman"/>
              </a:rPr>
              <a:t>bit</a:t>
            </a:r>
            <a:r>
              <a:rPr sz="2400" spc="15" dirty="0">
                <a:latin typeface="Times New Roman"/>
                <a:cs typeface="Times New Roman"/>
              </a:rPr>
              <a:t> </a:t>
            </a:r>
            <a:r>
              <a:rPr sz="2400" dirty="0">
                <a:latin typeface="Times New Roman"/>
                <a:cs typeface="Times New Roman"/>
              </a:rPr>
              <a:t>on</a:t>
            </a:r>
            <a:r>
              <a:rPr sz="2400" spc="-135" dirty="0">
                <a:latin typeface="Times New Roman"/>
                <a:cs typeface="Times New Roman"/>
              </a:rPr>
              <a:t> </a:t>
            </a:r>
            <a:r>
              <a:rPr sz="2400" spc="-20" dirty="0">
                <a:latin typeface="Times New Roman"/>
                <a:cs typeface="Times New Roman"/>
              </a:rPr>
              <a:t>AMD</a:t>
            </a:r>
            <a:r>
              <a:rPr sz="2400" spc="-140" dirty="0">
                <a:latin typeface="Times New Roman"/>
                <a:cs typeface="Times New Roman"/>
              </a:rPr>
              <a:t> </a:t>
            </a:r>
            <a:r>
              <a:rPr sz="2400" dirty="0">
                <a:latin typeface="Times New Roman"/>
                <a:cs typeface="Times New Roman"/>
              </a:rPr>
              <a:t>Athlon </a:t>
            </a:r>
            <a:r>
              <a:rPr sz="2400" spc="-25" dirty="0">
                <a:latin typeface="Times New Roman"/>
                <a:cs typeface="Times New Roman"/>
              </a:rPr>
              <a:t>64,</a:t>
            </a:r>
            <a:r>
              <a:rPr sz="2400" dirty="0">
                <a:latin typeface="Times New Roman"/>
                <a:cs typeface="Times New Roman"/>
              </a:rPr>
              <a:t>	</a:t>
            </a:r>
            <a:r>
              <a:rPr sz="2400" spc="-20" dirty="0">
                <a:latin typeface="Times New Roman"/>
                <a:cs typeface="Times New Roman"/>
              </a:rPr>
              <a:t>XD-</a:t>
            </a:r>
            <a:r>
              <a:rPr sz="2400" dirty="0">
                <a:latin typeface="Times New Roman"/>
                <a:cs typeface="Times New Roman"/>
              </a:rPr>
              <a:t>bit on</a:t>
            </a:r>
            <a:r>
              <a:rPr sz="2400" spc="-5" dirty="0">
                <a:latin typeface="Times New Roman"/>
                <a:cs typeface="Times New Roman"/>
              </a:rPr>
              <a:t> </a:t>
            </a:r>
            <a:r>
              <a:rPr sz="2400" dirty="0">
                <a:latin typeface="Times New Roman"/>
                <a:cs typeface="Times New Roman"/>
              </a:rPr>
              <a:t>Intel </a:t>
            </a:r>
            <a:r>
              <a:rPr sz="2400" spc="-25" dirty="0">
                <a:latin typeface="Times New Roman"/>
                <a:cs typeface="Times New Roman"/>
              </a:rPr>
              <a:t>P4</a:t>
            </a:r>
            <a:r>
              <a:rPr sz="2400" dirty="0">
                <a:latin typeface="Times New Roman"/>
                <a:cs typeface="Times New Roman"/>
              </a:rPr>
              <a:t>	</a:t>
            </a:r>
            <a:r>
              <a:rPr sz="2400" spc="-10" dirty="0">
                <a:latin typeface="Times New Roman"/>
                <a:cs typeface="Times New Roman"/>
              </a:rPr>
              <a:t>Prescott</a:t>
            </a:r>
            <a:endParaRPr sz="2400">
              <a:latin typeface="Times New Roman"/>
              <a:cs typeface="Times New Roman"/>
            </a:endParaRPr>
          </a:p>
          <a:p>
            <a:pPr marL="561340" lvl="1" indent="-228600">
              <a:lnSpc>
                <a:spcPct val="100000"/>
              </a:lnSpc>
              <a:spcBef>
                <a:spcPts val="220"/>
              </a:spcBef>
              <a:buClr>
                <a:srgbClr val="9B2C1F"/>
              </a:buClr>
              <a:buSzPct val="86046"/>
              <a:buFont typeface="Segoe UI Symbol"/>
              <a:buChar char="⚫"/>
              <a:tabLst>
                <a:tab pos="561340" algn="l"/>
              </a:tabLst>
            </a:pPr>
            <a:r>
              <a:rPr sz="2150" dirty="0">
                <a:latin typeface="Times New Roman"/>
                <a:cs typeface="Times New Roman"/>
              </a:rPr>
              <a:t>NX</a:t>
            </a:r>
            <a:r>
              <a:rPr sz="2150" spc="95" dirty="0">
                <a:latin typeface="Times New Roman"/>
                <a:cs typeface="Times New Roman"/>
              </a:rPr>
              <a:t> </a:t>
            </a:r>
            <a:r>
              <a:rPr sz="2150" dirty="0">
                <a:latin typeface="Times New Roman"/>
                <a:cs typeface="Times New Roman"/>
              </a:rPr>
              <a:t>bit</a:t>
            </a:r>
            <a:r>
              <a:rPr sz="2150" spc="20" dirty="0">
                <a:latin typeface="Times New Roman"/>
                <a:cs typeface="Times New Roman"/>
              </a:rPr>
              <a:t> </a:t>
            </a:r>
            <a:r>
              <a:rPr sz="2150" dirty="0">
                <a:latin typeface="Times New Roman"/>
                <a:cs typeface="Times New Roman"/>
              </a:rPr>
              <a:t>in</a:t>
            </a:r>
            <a:r>
              <a:rPr sz="2150" spc="55" dirty="0">
                <a:latin typeface="Times New Roman"/>
                <a:cs typeface="Times New Roman"/>
              </a:rPr>
              <a:t> </a:t>
            </a:r>
            <a:r>
              <a:rPr sz="2150" dirty="0">
                <a:latin typeface="Times New Roman"/>
                <a:cs typeface="Times New Roman"/>
              </a:rPr>
              <a:t>every</a:t>
            </a:r>
            <a:r>
              <a:rPr sz="2150" spc="60" dirty="0">
                <a:latin typeface="Times New Roman"/>
                <a:cs typeface="Times New Roman"/>
              </a:rPr>
              <a:t> </a:t>
            </a:r>
            <a:r>
              <a:rPr sz="2150" dirty="0">
                <a:latin typeface="Times New Roman"/>
                <a:cs typeface="Times New Roman"/>
              </a:rPr>
              <a:t>Page</a:t>
            </a:r>
            <a:r>
              <a:rPr sz="2150" spc="-55" dirty="0">
                <a:latin typeface="Times New Roman"/>
                <a:cs typeface="Times New Roman"/>
              </a:rPr>
              <a:t> </a:t>
            </a:r>
            <a:r>
              <a:rPr sz="2150" dirty="0">
                <a:latin typeface="Times New Roman"/>
                <a:cs typeface="Times New Roman"/>
              </a:rPr>
              <a:t>Table</a:t>
            </a:r>
            <a:r>
              <a:rPr sz="2150" spc="110" dirty="0">
                <a:latin typeface="Times New Roman"/>
                <a:cs typeface="Times New Roman"/>
              </a:rPr>
              <a:t> </a:t>
            </a:r>
            <a:r>
              <a:rPr sz="2150" dirty="0">
                <a:latin typeface="Times New Roman"/>
                <a:cs typeface="Times New Roman"/>
              </a:rPr>
              <a:t>Entry</a:t>
            </a:r>
            <a:r>
              <a:rPr sz="2150" spc="55" dirty="0">
                <a:latin typeface="Times New Roman"/>
                <a:cs typeface="Times New Roman"/>
              </a:rPr>
              <a:t> </a:t>
            </a:r>
            <a:r>
              <a:rPr sz="2150" spc="-10" dirty="0">
                <a:latin typeface="Times New Roman"/>
                <a:cs typeface="Times New Roman"/>
              </a:rPr>
              <a:t>(PTE)</a:t>
            </a:r>
            <a:endParaRPr sz="2150">
              <a:latin typeface="Times New Roman"/>
              <a:cs typeface="Times New Roman"/>
            </a:endParaRPr>
          </a:p>
          <a:p>
            <a:pPr marL="286385" indent="-273685">
              <a:lnSpc>
                <a:spcPct val="100000"/>
              </a:lnSpc>
              <a:spcBef>
                <a:spcPts val="1155"/>
              </a:spcBef>
              <a:buClr>
                <a:srgbClr val="D24717"/>
              </a:buClr>
              <a:buSzPct val="83333"/>
              <a:buFont typeface="Segoe UI Symbol"/>
              <a:buChar char="⚫"/>
              <a:tabLst>
                <a:tab pos="286385" algn="l"/>
              </a:tabLst>
            </a:pPr>
            <a:r>
              <a:rPr sz="2400" u="heavy" spc="-10" dirty="0">
                <a:uFill>
                  <a:solidFill>
                    <a:srgbClr val="000000"/>
                  </a:solidFill>
                </a:uFill>
                <a:latin typeface="Times New Roman"/>
                <a:cs typeface="Times New Roman"/>
              </a:rPr>
              <a:t>Deployment</a:t>
            </a:r>
            <a:r>
              <a:rPr sz="2400" spc="-10" dirty="0">
                <a:latin typeface="Times New Roman"/>
                <a:cs typeface="Times New Roman"/>
              </a:rPr>
              <a:t>:</a:t>
            </a:r>
            <a:endParaRPr sz="2400">
              <a:latin typeface="Times New Roman"/>
              <a:cs typeface="Times New Roman"/>
            </a:endParaRPr>
          </a:p>
        </p:txBody>
      </p:sp>
      <p:sp>
        <p:nvSpPr>
          <p:cNvPr id="4" name="object 4"/>
          <p:cNvSpPr txBox="1"/>
          <p:nvPr/>
        </p:nvSpPr>
        <p:spPr>
          <a:xfrm>
            <a:off x="780732" y="3159823"/>
            <a:ext cx="2994025" cy="960119"/>
          </a:xfrm>
          <a:prstGeom prst="rect">
            <a:avLst/>
          </a:prstGeom>
        </p:spPr>
        <p:txBody>
          <a:bodyPr vert="horz" wrap="square" lIns="0" tIns="151765" rIns="0" bIns="0" rtlCol="0">
            <a:spAutoFit/>
          </a:bodyPr>
          <a:lstStyle/>
          <a:p>
            <a:pPr marL="241300" indent="-228600">
              <a:lnSpc>
                <a:spcPct val="100000"/>
              </a:lnSpc>
              <a:spcBef>
                <a:spcPts val="1195"/>
              </a:spcBef>
              <a:buClr>
                <a:srgbClr val="9B2C1F"/>
              </a:buClr>
              <a:buSzPct val="86046"/>
              <a:buFont typeface="Segoe UI Symbol"/>
              <a:buChar char="⚫"/>
              <a:tabLst>
                <a:tab pos="241300" algn="l"/>
              </a:tabLst>
            </a:pPr>
            <a:r>
              <a:rPr sz="2150" dirty="0">
                <a:latin typeface="Times New Roman"/>
                <a:cs typeface="Times New Roman"/>
              </a:rPr>
              <a:t>Linux</a:t>
            </a:r>
            <a:r>
              <a:rPr sz="2150" spc="70" dirty="0">
                <a:latin typeface="Times New Roman"/>
                <a:cs typeface="Times New Roman"/>
              </a:rPr>
              <a:t> </a:t>
            </a:r>
            <a:r>
              <a:rPr sz="2150" dirty="0">
                <a:latin typeface="Times New Roman"/>
                <a:cs typeface="Times New Roman"/>
              </a:rPr>
              <a:t>(via</a:t>
            </a:r>
            <a:r>
              <a:rPr sz="2150" spc="85" dirty="0">
                <a:latin typeface="Times New Roman"/>
                <a:cs typeface="Times New Roman"/>
              </a:rPr>
              <a:t> </a:t>
            </a:r>
            <a:r>
              <a:rPr sz="2150" dirty="0">
                <a:latin typeface="Times New Roman"/>
                <a:cs typeface="Times New Roman"/>
              </a:rPr>
              <a:t>PaX</a:t>
            </a:r>
            <a:r>
              <a:rPr sz="2150" spc="114" dirty="0">
                <a:latin typeface="Times New Roman"/>
                <a:cs typeface="Times New Roman"/>
              </a:rPr>
              <a:t> </a:t>
            </a:r>
            <a:r>
              <a:rPr sz="2150" spc="-10" dirty="0">
                <a:latin typeface="Times New Roman"/>
                <a:cs typeface="Times New Roman"/>
              </a:rPr>
              <a:t>project);</a:t>
            </a:r>
            <a:endParaRPr sz="2150">
              <a:latin typeface="Times New Roman"/>
              <a:cs typeface="Times New Roman"/>
            </a:endParaRPr>
          </a:p>
          <a:p>
            <a:pPr marL="241300" indent="-228600">
              <a:lnSpc>
                <a:spcPct val="100000"/>
              </a:lnSpc>
              <a:spcBef>
                <a:spcPts val="1100"/>
              </a:spcBef>
              <a:buClr>
                <a:srgbClr val="9B2C1F"/>
              </a:buClr>
              <a:buSzPct val="86046"/>
              <a:buFont typeface="Segoe UI Symbol"/>
              <a:buChar char="⚫"/>
              <a:tabLst>
                <a:tab pos="241300" algn="l"/>
              </a:tabLst>
            </a:pPr>
            <a:r>
              <a:rPr sz="2150" dirty="0">
                <a:latin typeface="Times New Roman"/>
                <a:cs typeface="Times New Roman"/>
              </a:rPr>
              <a:t>Windows:</a:t>
            </a:r>
            <a:r>
              <a:rPr sz="2150" spc="90" dirty="0">
                <a:latin typeface="Times New Roman"/>
                <a:cs typeface="Times New Roman"/>
              </a:rPr>
              <a:t> </a:t>
            </a:r>
            <a:r>
              <a:rPr sz="2150" dirty="0">
                <a:latin typeface="Times New Roman"/>
                <a:cs typeface="Times New Roman"/>
              </a:rPr>
              <a:t>since</a:t>
            </a:r>
            <a:r>
              <a:rPr sz="2150" spc="35" dirty="0">
                <a:latin typeface="Times New Roman"/>
                <a:cs typeface="Times New Roman"/>
              </a:rPr>
              <a:t> </a:t>
            </a:r>
            <a:r>
              <a:rPr sz="2150" dirty="0">
                <a:latin typeface="Times New Roman"/>
                <a:cs typeface="Times New Roman"/>
              </a:rPr>
              <a:t>XP</a:t>
            </a:r>
            <a:r>
              <a:rPr sz="2150" spc="30" dirty="0">
                <a:latin typeface="Times New Roman"/>
                <a:cs typeface="Times New Roman"/>
              </a:rPr>
              <a:t> </a:t>
            </a:r>
            <a:r>
              <a:rPr sz="2150" spc="-25" dirty="0">
                <a:latin typeface="Times New Roman"/>
                <a:cs typeface="Times New Roman"/>
              </a:rPr>
              <a:t>SP2</a:t>
            </a:r>
            <a:endParaRPr sz="2150">
              <a:latin typeface="Times New Roman"/>
              <a:cs typeface="Times New Roman"/>
            </a:endParaRPr>
          </a:p>
        </p:txBody>
      </p:sp>
      <p:sp>
        <p:nvSpPr>
          <p:cNvPr id="5" name="object 5"/>
          <p:cNvSpPr txBox="1"/>
          <p:nvPr/>
        </p:nvSpPr>
        <p:spPr>
          <a:xfrm>
            <a:off x="4014480" y="3159823"/>
            <a:ext cx="3771265" cy="960119"/>
          </a:xfrm>
          <a:prstGeom prst="rect">
            <a:avLst/>
          </a:prstGeom>
        </p:spPr>
        <p:txBody>
          <a:bodyPr vert="horz" wrap="square" lIns="0" tIns="151765" rIns="0" bIns="0" rtlCol="0">
            <a:spAutoFit/>
          </a:bodyPr>
          <a:lstStyle/>
          <a:p>
            <a:pPr marL="31115">
              <a:lnSpc>
                <a:spcPct val="100000"/>
              </a:lnSpc>
              <a:spcBef>
                <a:spcPts val="1195"/>
              </a:spcBef>
            </a:pPr>
            <a:r>
              <a:rPr sz="2150" spc="-10" dirty="0">
                <a:latin typeface="Times New Roman"/>
                <a:cs typeface="Times New Roman"/>
              </a:rPr>
              <a:t>OpenBSD</a:t>
            </a:r>
            <a:endParaRPr sz="2150">
              <a:latin typeface="Times New Roman"/>
              <a:cs typeface="Times New Roman"/>
            </a:endParaRPr>
          </a:p>
          <a:p>
            <a:pPr marL="12700">
              <a:lnSpc>
                <a:spcPct val="100000"/>
              </a:lnSpc>
              <a:spcBef>
                <a:spcPts val="1100"/>
              </a:spcBef>
            </a:pPr>
            <a:r>
              <a:rPr sz="2150" dirty="0">
                <a:latin typeface="Times New Roman"/>
                <a:cs typeface="Times New Roman"/>
              </a:rPr>
              <a:t>(DEP:</a:t>
            </a:r>
            <a:r>
              <a:rPr sz="2150" spc="75" dirty="0">
                <a:latin typeface="Times New Roman"/>
                <a:cs typeface="Times New Roman"/>
              </a:rPr>
              <a:t> </a:t>
            </a:r>
            <a:r>
              <a:rPr sz="2150" dirty="0">
                <a:latin typeface="Times New Roman"/>
                <a:cs typeface="Times New Roman"/>
              </a:rPr>
              <a:t>Data</a:t>
            </a:r>
            <a:r>
              <a:rPr sz="2150" spc="95" dirty="0">
                <a:latin typeface="Times New Roman"/>
                <a:cs typeface="Times New Roman"/>
              </a:rPr>
              <a:t> </a:t>
            </a:r>
            <a:r>
              <a:rPr sz="2150" dirty="0">
                <a:latin typeface="Times New Roman"/>
                <a:cs typeface="Times New Roman"/>
              </a:rPr>
              <a:t>execution</a:t>
            </a:r>
            <a:r>
              <a:rPr sz="2150" spc="130" dirty="0">
                <a:latin typeface="Times New Roman"/>
                <a:cs typeface="Times New Roman"/>
              </a:rPr>
              <a:t> </a:t>
            </a:r>
            <a:r>
              <a:rPr sz="2150" spc="-10" dirty="0">
                <a:latin typeface="Times New Roman"/>
                <a:cs typeface="Times New Roman"/>
              </a:rPr>
              <a:t>protection)</a:t>
            </a:r>
            <a:endParaRPr sz="2150">
              <a:latin typeface="Times New Roman"/>
              <a:cs typeface="Times New Roman"/>
            </a:endParaRPr>
          </a:p>
        </p:txBody>
      </p:sp>
      <p:sp>
        <p:nvSpPr>
          <p:cNvPr id="6" name="object 6"/>
          <p:cNvSpPr txBox="1"/>
          <p:nvPr/>
        </p:nvSpPr>
        <p:spPr>
          <a:xfrm>
            <a:off x="2833370" y="4138231"/>
            <a:ext cx="3625215" cy="712470"/>
          </a:xfrm>
          <a:prstGeom prst="rect">
            <a:avLst/>
          </a:prstGeom>
        </p:spPr>
        <p:txBody>
          <a:bodyPr vert="horz" wrap="square" lIns="0" tIns="50165" rIns="0" bIns="0" rtlCol="0">
            <a:spAutoFit/>
          </a:bodyPr>
          <a:lstStyle/>
          <a:p>
            <a:pPr marL="12700">
              <a:lnSpc>
                <a:spcPct val="100000"/>
              </a:lnSpc>
              <a:spcBef>
                <a:spcPts val="395"/>
              </a:spcBef>
              <a:tabLst>
                <a:tab pos="2152650" algn="l"/>
              </a:tabLst>
            </a:pPr>
            <a:r>
              <a:rPr sz="2000" b="1" spc="-10" dirty="0">
                <a:latin typeface="Times New Roman"/>
                <a:cs typeface="Times New Roman"/>
              </a:rPr>
              <a:t>/noexecute=OptIn</a:t>
            </a:r>
            <a:r>
              <a:rPr sz="2000" b="1" dirty="0">
                <a:latin typeface="Times New Roman"/>
                <a:cs typeface="Times New Roman"/>
              </a:rPr>
              <a:t>	</a:t>
            </a:r>
            <a:r>
              <a:rPr sz="2000" dirty="0">
                <a:latin typeface="Times New Roman"/>
                <a:cs typeface="Times New Roman"/>
              </a:rPr>
              <a:t>or</a:t>
            </a:r>
            <a:r>
              <a:rPr sz="2000" spc="375" dirty="0">
                <a:latin typeface="Times New Roman"/>
                <a:cs typeface="Times New Roman"/>
              </a:rPr>
              <a:t> </a:t>
            </a:r>
            <a:r>
              <a:rPr sz="2000" b="1" spc="-10" dirty="0">
                <a:latin typeface="Times New Roman"/>
                <a:cs typeface="Times New Roman"/>
              </a:rPr>
              <a:t>AlwaysOn</a:t>
            </a:r>
            <a:endParaRPr sz="2000">
              <a:latin typeface="Times New Roman"/>
              <a:cs typeface="Times New Roman"/>
            </a:endParaRPr>
          </a:p>
          <a:p>
            <a:pPr marL="161290">
              <a:lnSpc>
                <a:spcPct val="100000"/>
              </a:lnSpc>
              <a:spcBef>
                <a:spcPts val="305"/>
              </a:spcBef>
            </a:pPr>
            <a:r>
              <a:rPr sz="2000" b="1" spc="-10" dirty="0">
                <a:latin typeface="Times New Roman"/>
                <a:cs typeface="Times New Roman"/>
              </a:rPr>
              <a:t>/NXCompat[:NO]</a:t>
            </a:r>
            <a:endParaRPr sz="2000">
              <a:latin typeface="Times New Roman"/>
              <a:cs typeface="Times New Roman"/>
            </a:endParaRPr>
          </a:p>
        </p:txBody>
      </p:sp>
      <p:sp>
        <p:nvSpPr>
          <p:cNvPr id="7" name="object 7"/>
          <p:cNvSpPr txBox="1"/>
          <p:nvPr/>
        </p:nvSpPr>
        <p:spPr>
          <a:xfrm>
            <a:off x="460375" y="4138231"/>
            <a:ext cx="2358390" cy="1256030"/>
          </a:xfrm>
          <a:prstGeom prst="rect">
            <a:avLst/>
          </a:prstGeom>
        </p:spPr>
        <p:txBody>
          <a:bodyPr vert="horz" wrap="square" lIns="0" tIns="50165" rIns="0" bIns="0" rtlCol="0">
            <a:spAutoFit/>
          </a:bodyPr>
          <a:lstStyle/>
          <a:p>
            <a:pPr marL="918844" indent="-311785">
              <a:lnSpc>
                <a:spcPct val="100000"/>
              </a:lnSpc>
              <a:spcBef>
                <a:spcPts val="395"/>
              </a:spcBef>
              <a:buClr>
                <a:srgbClr val="E6B0AB"/>
              </a:buClr>
              <a:buSzPct val="77500"/>
              <a:buFont typeface="Segoe UI Symbol"/>
              <a:buChar char="⚫"/>
              <a:tabLst>
                <a:tab pos="918844" algn="l"/>
              </a:tabLst>
            </a:pPr>
            <a:r>
              <a:rPr sz="2000" dirty="0">
                <a:latin typeface="Times New Roman"/>
                <a:cs typeface="Times New Roman"/>
              </a:rPr>
              <a:t>Boot.ini</a:t>
            </a:r>
            <a:r>
              <a:rPr sz="2000" spc="-60" dirty="0">
                <a:latin typeface="Times New Roman"/>
                <a:cs typeface="Times New Roman"/>
              </a:rPr>
              <a:t> </a:t>
            </a:r>
            <a:r>
              <a:rPr sz="2000" spc="-50" dirty="0">
                <a:latin typeface="Times New Roman"/>
                <a:cs typeface="Times New Roman"/>
              </a:rPr>
              <a:t>:</a:t>
            </a:r>
            <a:endParaRPr sz="2000">
              <a:latin typeface="Times New Roman"/>
              <a:cs typeface="Times New Roman"/>
            </a:endParaRPr>
          </a:p>
          <a:p>
            <a:pPr marL="899160" indent="-292100">
              <a:lnSpc>
                <a:spcPct val="100000"/>
              </a:lnSpc>
              <a:spcBef>
                <a:spcPts val="305"/>
              </a:spcBef>
              <a:buClr>
                <a:srgbClr val="E6B0AB"/>
              </a:buClr>
              <a:buSzPct val="60000"/>
              <a:buFont typeface="Segoe UI Symbol"/>
              <a:buChar char="⚫"/>
              <a:tabLst>
                <a:tab pos="899160" algn="l"/>
              </a:tabLst>
            </a:pPr>
            <a:r>
              <a:rPr sz="2000" spc="-10" dirty="0">
                <a:latin typeface="Times New Roman"/>
                <a:cs typeface="Times New Roman"/>
              </a:rPr>
              <a:t>Visual</a:t>
            </a:r>
            <a:r>
              <a:rPr sz="2000" spc="-70" dirty="0">
                <a:latin typeface="Times New Roman"/>
                <a:cs typeface="Times New Roman"/>
              </a:rPr>
              <a:t> </a:t>
            </a:r>
            <a:r>
              <a:rPr sz="2000" spc="-10" dirty="0">
                <a:latin typeface="Times New Roman"/>
                <a:cs typeface="Times New Roman"/>
              </a:rPr>
              <a:t>Studio:</a:t>
            </a:r>
            <a:endParaRPr sz="2000">
              <a:latin typeface="Times New Roman"/>
              <a:cs typeface="Times New Roman"/>
            </a:endParaRPr>
          </a:p>
          <a:p>
            <a:pPr marL="286385" indent="-273685">
              <a:lnSpc>
                <a:spcPct val="100000"/>
              </a:lnSpc>
              <a:spcBef>
                <a:spcPts val="1405"/>
              </a:spcBef>
              <a:buClr>
                <a:srgbClr val="D24717"/>
              </a:buClr>
              <a:buSzPct val="83333"/>
              <a:buFont typeface="Segoe UI Symbol"/>
              <a:buChar char="⚫"/>
              <a:tabLst>
                <a:tab pos="286385" algn="l"/>
              </a:tabLst>
            </a:pPr>
            <a:r>
              <a:rPr sz="2400" u="heavy" spc="-10" dirty="0">
                <a:uFill>
                  <a:solidFill>
                    <a:srgbClr val="000000"/>
                  </a:solidFill>
                </a:uFill>
                <a:latin typeface="Times New Roman"/>
                <a:cs typeface="Times New Roman"/>
              </a:rPr>
              <a:t>Limitations</a:t>
            </a:r>
            <a:r>
              <a:rPr sz="2400" spc="-10" dirty="0">
                <a:latin typeface="Times New Roman"/>
                <a:cs typeface="Times New Roman"/>
              </a:rPr>
              <a:t>:</a:t>
            </a:r>
            <a:endParaRPr sz="2400">
              <a:latin typeface="Times New Roman"/>
              <a:cs typeface="Times New Roman"/>
            </a:endParaRPr>
          </a:p>
        </p:txBody>
      </p:sp>
      <p:sp>
        <p:nvSpPr>
          <p:cNvPr id="8" name="object 8"/>
          <p:cNvSpPr txBox="1"/>
          <p:nvPr/>
        </p:nvSpPr>
        <p:spPr>
          <a:xfrm>
            <a:off x="780732" y="5372798"/>
            <a:ext cx="5762625" cy="730885"/>
          </a:xfrm>
          <a:prstGeom prst="rect">
            <a:avLst/>
          </a:prstGeom>
        </p:spPr>
        <p:txBody>
          <a:bodyPr vert="horz" wrap="square" lIns="0" tIns="36830" rIns="0" bIns="0" rtlCol="0">
            <a:spAutoFit/>
          </a:bodyPr>
          <a:lstStyle/>
          <a:p>
            <a:pPr marL="241300" indent="-228600">
              <a:lnSpc>
                <a:spcPct val="100000"/>
              </a:lnSpc>
              <a:spcBef>
                <a:spcPts val="290"/>
              </a:spcBef>
              <a:buClr>
                <a:srgbClr val="9B2C1F"/>
              </a:buClr>
              <a:buSzPct val="86046"/>
              <a:buFont typeface="Segoe UI Symbol"/>
              <a:buChar char="⚫"/>
              <a:tabLst>
                <a:tab pos="241300" algn="l"/>
                <a:tab pos="4131945" algn="l"/>
              </a:tabLst>
            </a:pPr>
            <a:r>
              <a:rPr sz="2150" dirty="0">
                <a:latin typeface="Times New Roman"/>
                <a:cs typeface="Times New Roman"/>
              </a:rPr>
              <a:t>Some</a:t>
            </a:r>
            <a:r>
              <a:rPr sz="2150" spc="90" dirty="0">
                <a:latin typeface="Times New Roman"/>
                <a:cs typeface="Times New Roman"/>
              </a:rPr>
              <a:t> </a:t>
            </a:r>
            <a:r>
              <a:rPr sz="2150" dirty="0">
                <a:latin typeface="Times New Roman"/>
                <a:cs typeface="Times New Roman"/>
              </a:rPr>
              <a:t>apps</a:t>
            </a:r>
            <a:r>
              <a:rPr sz="2150" spc="65" dirty="0">
                <a:latin typeface="Times New Roman"/>
                <a:cs typeface="Times New Roman"/>
              </a:rPr>
              <a:t> </a:t>
            </a:r>
            <a:r>
              <a:rPr sz="2150" dirty="0">
                <a:latin typeface="Times New Roman"/>
                <a:cs typeface="Times New Roman"/>
              </a:rPr>
              <a:t>need</a:t>
            </a:r>
            <a:r>
              <a:rPr sz="2150" spc="135" dirty="0">
                <a:latin typeface="Times New Roman"/>
                <a:cs typeface="Times New Roman"/>
              </a:rPr>
              <a:t> </a:t>
            </a:r>
            <a:r>
              <a:rPr sz="2150" dirty="0">
                <a:latin typeface="Times New Roman"/>
                <a:cs typeface="Times New Roman"/>
              </a:rPr>
              <a:t>executable</a:t>
            </a:r>
            <a:r>
              <a:rPr sz="2150" spc="190" dirty="0">
                <a:latin typeface="Times New Roman"/>
                <a:cs typeface="Times New Roman"/>
              </a:rPr>
              <a:t> </a:t>
            </a:r>
            <a:r>
              <a:rPr sz="2150" spc="-20" dirty="0">
                <a:latin typeface="Times New Roman"/>
                <a:cs typeface="Times New Roman"/>
              </a:rPr>
              <a:t>heap</a:t>
            </a:r>
            <a:r>
              <a:rPr sz="2150" dirty="0">
                <a:latin typeface="Times New Roman"/>
                <a:cs typeface="Times New Roman"/>
              </a:rPr>
              <a:t>	(e.g.</a:t>
            </a:r>
            <a:r>
              <a:rPr sz="2150" spc="45" dirty="0">
                <a:latin typeface="Times New Roman"/>
                <a:cs typeface="Times New Roman"/>
              </a:rPr>
              <a:t> </a:t>
            </a:r>
            <a:r>
              <a:rPr sz="2150" spc="-10" dirty="0">
                <a:latin typeface="Times New Roman"/>
                <a:cs typeface="Times New Roman"/>
              </a:rPr>
              <a:t>JITs).</a:t>
            </a:r>
            <a:endParaRPr sz="2150">
              <a:latin typeface="Times New Roman"/>
              <a:cs typeface="Times New Roman"/>
            </a:endParaRPr>
          </a:p>
          <a:p>
            <a:pPr marL="241300" indent="-228600">
              <a:lnSpc>
                <a:spcPct val="100000"/>
              </a:lnSpc>
              <a:spcBef>
                <a:spcPts val="200"/>
              </a:spcBef>
              <a:buClr>
                <a:srgbClr val="9B2C1F"/>
              </a:buClr>
              <a:buSzPct val="86046"/>
              <a:buFont typeface="Segoe UI Symbol"/>
              <a:buChar char="⚫"/>
              <a:tabLst>
                <a:tab pos="241300" algn="l"/>
              </a:tabLst>
            </a:pPr>
            <a:r>
              <a:rPr sz="2150" dirty="0">
                <a:latin typeface="Times New Roman"/>
                <a:cs typeface="Times New Roman"/>
              </a:rPr>
              <a:t>Does</a:t>
            </a:r>
            <a:r>
              <a:rPr sz="2150" spc="145" dirty="0">
                <a:latin typeface="Times New Roman"/>
                <a:cs typeface="Times New Roman"/>
              </a:rPr>
              <a:t> </a:t>
            </a:r>
            <a:r>
              <a:rPr sz="2150" dirty="0">
                <a:latin typeface="Times New Roman"/>
                <a:cs typeface="Times New Roman"/>
              </a:rPr>
              <a:t>not</a:t>
            </a:r>
            <a:r>
              <a:rPr sz="2150" spc="75" dirty="0">
                <a:latin typeface="Times New Roman"/>
                <a:cs typeface="Times New Roman"/>
              </a:rPr>
              <a:t> </a:t>
            </a:r>
            <a:r>
              <a:rPr sz="2150" dirty="0">
                <a:latin typeface="Times New Roman"/>
                <a:cs typeface="Times New Roman"/>
              </a:rPr>
              <a:t>defend</a:t>
            </a:r>
            <a:r>
              <a:rPr sz="2150" spc="130" dirty="0">
                <a:latin typeface="Times New Roman"/>
                <a:cs typeface="Times New Roman"/>
              </a:rPr>
              <a:t> </a:t>
            </a:r>
            <a:r>
              <a:rPr sz="2150" dirty="0">
                <a:latin typeface="Times New Roman"/>
                <a:cs typeface="Times New Roman"/>
              </a:rPr>
              <a:t>against</a:t>
            </a:r>
            <a:r>
              <a:rPr sz="2150" spc="160" dirty="0">
                <a:latin typeface="Times New Roman"/>
                <a:cs typeface="Times New Roman"/>
              </a:rPr>
              <a:t> </a:t>
            </a:r>
            <a:r>
              <a:rPr sz="2150" dirty="0">
                <a:latin typeface="Times New Roman"/>
                <a:cs typeface="Times New Roman"/>
              </a:rPr>
              <a:t>`</a:t>
            </a:r>
            <a:r>
              <a:rPr sz="2150" b="1" dirty="0">
                <a:solidFill>
                  <a:srgbClr val="0000FF"/>
                </a:solidFill>
                <a:latin typeface="Times New Roman"/>
                <a:cs typeface="Times New Roman"/>
              </a:rPr>
              <a:t>return-to-libc</a:t>
            </a:r>
            <a:r>
              <a:rPr sz="2150" dirty="0">
                <a:latin typeface="Times New Roman"/>
                <a:cs typeface="Times New Roman"/>
              </a:rPr>
              <a:t>’</a:t>
            </a:r>
            <a:r>
              <a:rPr sz="2150" spc="-70" dirty="0">
                <a:latin typeface="Times New Roman"/>
                <a:cs typeface="Times New Roman"/>
              </a:rPr>
              <a:t> </a:t>
            </a:r>
            <a:r>
              <a:rPr sz="2150" spc="-10" dirty="0">
                <a:latin typeface="Times New Roman"/>
                <a:cs typeface="Times New Roman"/>
              </a:rPr>
              <a:t>exploits</a:t>
            </a:r>
            <a:endParaRPr sz="2150">
              <a:latin typeface="Times New Roman"/>
              <a:cs typeface="Times New Roman"/>
            </a:endParaRPr>
          </a:p>
        </p:txBody>
      </p:sp>
      <p:pic>
        <p:nvPicPr>
          <p:cNvPr id="9" name="object 9"/>
          <p:cNvPicPr/>
          <p:nvPr/>
        </p:nvPicPr>
        <p:blipFill>
          <a:blip r:embed="rId2" cstate="print"/>
          <a:stretch>
            <a:fillRect/>
          </a:stretch>
        </p:blipFill>
        <p:spPr>
          <a:xfrm>
            <a:off x="457200" y="6248400"/>
            <a:ext cx="476250" cy="381000"/>
          </a:xfrm>
          <a:prstGeom prst="rect">
            <a:avLst/>
          </a:prstGeom>
        </p:spPr>
      </p:pic>
      <p:sp>
        <p:nvSpPr>
          <p:cNvPr id="10" name="object 10"/>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575" y="212724"/>
            <a:ext cx="1953260" cy="575310"/>
          </a:xfrm>
          <a:prstGeom prst="rect">
            <a:avLst/>
          </a:prstGeom>
        </p:spPr>
        <p:txBody>
          <a:bodyPr vert="horz" wrap="square" lIns="0" tIns="13335" rIns="0" bIns="0" rtlCol="0">
            <a:spAutoFit/>
          </a:bodyPr>
          <a:lstStyle/>
          <a:p>
            <a:pPr marL="12700">
              <a:lnSpc>
                <a:spcPct val="100000"/>
              </a:lnSpc>
              <a:spcBef>
                <a:spcPts val="105"/>
              </a:spcBef>
            </a:pPr>
            <a:r>
              <a:rPr spc="-10" dirty="0"/>
              <a:t>Examples:</a:t>
            </a:r>
          </a:p>
        </p:txBody>
      </p:sp>
      <p:sp>
        <p:nvSpPr>
          <p:cNvPr id="3" name="object 3"/>
          <p:cNvSpPr txBox="1"/>
          <p:nvPr/>
        </p:nvSpPr>
        <p:spPr>
          <a:xfrm>
            <a:off x="2813077" y="212724"/>
            <a:ext cx="4767580" cy="575310"/>
          </a:xfrm>
          <a:prstGeom prst="rect">
            <a:avLst/>
          </a:prstGeom>
        </p:spPr>
        <p:txBody>
          <a:bodyPr vert="horz" wrap="square" lIns="0" tIns="13335" rIns="0" bIns="0" rtlCol="0">
            <a:spAutoFit/>
          </a:bodyPr>
          <a:lstStyle/>
          <a:p>
            <a:pPr marL="12700">
              <a:lnSpc>
                <a:spcPct val="100000"/>
              </a:lnSpc>
              <a:spcBef>
                <a:spcPts val="105"/>
              </a:spcBef>
            </a:pPr>
            <a:r>
              <a:rPr sz="3600" dirty="0">
                <a:latin typeface="Times New Roman"/>
                <a:cs typeface="Times New Roman"/>
              </a:rPr>
              <a:t>DEP</a:t>
            </a:r>
            <a:r>
              <a:rPr sz="3600" spc="-140" dirty="0">
                <a:latin typeface="Times New Roman"/>
                <a:cs typeface="Times New Roman"/>
              </a:rPr>
              <a:t> </a:t>
            </a:r>
            <a:r>
              <a:rPr sz="3600" dirty="0">
                <a:latin typeface="Times New Roman"/>
                <a:cs typeface="Times New Roman"/>
              </a:rPr>
              <a:t>controls</a:t>
            </a:r>
            <a:r>
              <a:rPr sz="3600" spc="-50" dirty="0">
                <a:latin typeface="Times New Roman"/>
                <a:cs typeface="Times New Roman"/>
              </a:rPr>
              <a:t> </a:t>
            </a:r>
            <a:r>
              <a:rPr sz="3600" dirty="0">
                <a:latin typeface="Times New Roman"/>
                <a:cs typeface="Times New Roman"/>
              </a:rPr>
              <a:t>in</a:t>
            </a:r>
            <a:r>
              <a:rPr sz="3600" spc="-65" dirty="0">
                <a:latin typeface="Times New Roman"/>
                <a:cs typeface="Times New Roman"/>
              </a:rPr>
              <a:t> </a:t>
            </a:r>
            <a:r>
              <a:rPr sz="3600" spc="-10" dirty="0">
                <a:latin typeface="Times New Roman"/>
                <a:cs typeface="Times New Roman"/>
              </a:rPr>
              <a:t>Windows</a:t>
            </a:r>
            <a:endParaRPr sz="3600">
              <a:latin typeface="Times New Roman"/>
              <a:cs typeface="Times New Roman"/>
            </a:endParaRPr>
          </a:p>
        </p:txBody>
      </p:sp>
      <p:pic>
        <p:nvPicPr>
          <p:cNvPr id="4" name="object 4"/>
          <p:cNvPicPr/>
          <p:nvPr/>
        </p:nvPicPr>
        <p:blipFill>
          <a:blip r:embed="rId2" cstate="print"/>
          <a:stretch>
            <a:fillRect/>
          </a:stretch>
        </p:blipFill>
        <p:spPr>
          <a:xfrm>
            <a:off x="762000" y="990600"/>
            <a:ext cx="3590925" cy="5133975"/>
          </a:xfrm>
          <a:prstGeom prst="rect">
            <a:avLst/>
          </a:prstGeom>
        </p:spPr>
      </p:pic>
      <p:pic>
        <p:nvPicPr>
          <p:cNvPr id="5" name="object 5"/>
          <p:cNvPicPr/>
          <p:nvPr/>
        </p:nvPicPr>
        <p:blipFill>
          <a:blip r:embed="rId3" cstate="print"/>
          <a:stretch>
            <a:fillRect/>
          </a:stretch>
        </p:blipFill>
        <p:spPr>
          <a:xfrm>
            <a:off x="4572000" y="2286000"/>
            <a:ext cx="4105275" cy="2390775"/>
          </a:xfrm>
          <a:prstGeom prst="rect">
            <a:avLst/>
          </a:prstGeom>
        </p:spPr>
      </p:pic>
      <p:sp>
        <p:nvSpPr>
          <p:cNvPr id="6" name="object 6"/>
          <p:cNvSpPr txBox="1"/>
          <p:nvPr/>
        </p:nvSpPr>
        <p:spPr>
          <a:xfrm>
            <a:off x="4960620" y="5288279"/>
            <a:ext cx="3391535"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DEP</a:t>
            </a:r>
            <a:r>
              <a:rPr sz="2400" spc="-150" dirty="0">
                <a:latin typeface="Times New Roman"/>
                <a:cs typeface="Times New Roman"/>
              </a:rPr>
              <a:t> </a:t>
            </a:r>
            <a:r>
              <a:rPr sz="2400" dirty="0">
                <a:latin typeface="Times New Roman"/>
                <a:cs typeface="Times New Roman"/>
              </a:rPr>
              <a:t>terminating</a:t>
            </a:r>
            <a:r>
              <a:rPr sz="2400" spc="-2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spc="-10" dirty="0">
                <a:latin typeface="Times New Roman"/>
                <a:cs typeface="Times New Roman"/>
              </a:rPr>
              <a:t>program</a:t>
            </a:r>
            <a:endParaRPr sz="2400">
              <a:latin typeface="Times New Roman"/>
              <a:cs typeface="Times New Roman"/>
            </a:endParaRPr>
          </a:p>
        </p:txBody>
      </p:sp>
      <p:pic>
        <p:nvPicPr>
          <p:cNvPr id="7" name="object 7"/>
          <p:cNvPicPr/>
          <p:nvPr/>
        </p:nvPicPr>
        <p:blipFill>
          <a:blip r:embed="rId4"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857" y="370205"/>
            <a:ext cx="3968750" cy="575310"/>
          </a:xfrm>
          <a:prstGeom prst="rect">
            <a:avLst/>
          </a:prstGeom>
        </p:spPr>
        <p:txBody>
          <a:bodyPr vert="horz" wrap="square" lIns="0" tIns="13335" rIns="0" bIns="0" rtlCol="0">
            <a:spAutoFit/>
          </a:bodyPr>
          <a:lstStyle/>
          <a:p>
            <a:pPr marL="12700">
              <a:lnSpc>
                <a:spcPct val="100000"/>
              </a:lnSpc>
              <a:spcBef>
                <a:spcPts val="105"/>
              </a:spcBef>
              <a:tabLst>
                <a:tab pos="1585595" algn="l"/>
              </a:tabLst>
            </a:pPr>
            <a:r>
              <a:rPr spc="-10" dirty="0"/>
              <a:t>Attack:</a:t>
            </a:r>
            <a:r>
              <a:rPr dirty="0"/>
              <a:t>	return to</a:t>
            </a:r>
            <a:r>
              <a:rPr spc="15" dirty="0"/>
              <a:t> </a:t>
            </a:r>
            <a:r>
              <a:rPr spc="-20" dirty="0"/>
              <a:t>libc</a:t>
            </a:r>
          </a:p>
        </p:txBody>
      </p:sp>
      <p:sp>
        <p:nvSpPr>
          <p:cNvPr id="3" name="object 3"/>
          <p:cNvSpPr txBox="1"/>
          <p:nvPr/>
        </p:nvSpPr>
        <p:spPr>
          <a:xfrm>
            <a:off x="231457" y="946970"/>
            <a:ext cx="5436235" cy="391795"/>
          </a:xfrm>
          <a:prstGeom prst="rect">
            <a:avLst/>
          </a:prstGeom>
        </p:spPr>
        <p:txBody>
          <a:bodyPr vert="horz" wrap="square" lIns="0" tIns="12700" rIns="0" bIns="0" rtlCol="0">
            <a:spAutoFit/>
          </a:bodyPr>
          <a:lstStyle/>
          <a:p>
            <a:pPr marL="363220" indent="-350520">
              <a:lnSpc>
                <a:spcPct val="100000"/>
              </a:lnSpc>
              <a:spcBef>
                <a:spcPts val="100"/>
              </a:spcBef>
              <a:buClr>
                <a:srgbClr val="D24717"/>
              </a:buClr>
              <a:buSzPct val="83333"/>
              <a:buFont typeface="Segoe UI Symbol"/>
              <a:buChar char="⚫"/>
              <a:tabLst>
                <a:tab pos="363220" algn="l"/>
              </a:tabLst>
            </a:pPr>
            <a:r>
              <a:rPr sz="2400" dirty="0">
                <a:latin typeface="Times New Roman"/>
                <a:cs typeface="Times New Roman"/>
              </a:rPr>
              <a:t>Control</a:t>
            </a:r>
            <a:r>
              <a:rPr sz="2400" spc="-35" dirty="0">
                <a:latin typeface="Times New Roman"/>
                <a:cs typeface="Times New Roman"/>
              </a:rPr>
              <a:t> </a:t>
            </a:r>
            <a:r>
              <a:rPr sz="2400" dirty="0">
                <a:latin typeface="Times New Roman"/>
                <a:cs typeface="Times New Roman"/>
              </a:rPr>
              <a:t>hijacking</a:t>
            </a:r>
            <a:r>
              <a:rPr sz="2400" spc="-35" dirty="0">
                <a:latin typeface="Times New Roman"/>
                <a:cs typeface="Times New Roman"/>
              </a:rPr>
              <a:t> </a:t>
            </a:r>
            <a:r>
              <a:rPr sz="2400" dirty="0">
                <a:latin typeface="Times New Roman"/>
                <a:cs typeface="Times New Roman"/>
              </a:rPr>
              <a:t>without</a:t>
            </a:r>
            <a:r>
              <a:rPr sz="2400" spc="-35" dirty="0">
                <a:latin typeface="Times New Roman"/>
                <a:cs typeface="Times New Roman"/>
              </a:rPr>
              <a:t> </a:t>
            </a:r>
            <a:r>
              <a:rPr sz="2400" dirty="0">
                <a:latin typeface="Times New Roman"/>
                <a:cs typeface="Times New Roman"/>
              </a:rPr>
              <a:t>executing</a:t>
            </a:r>
            <a:r>
              <a:rPr sz="2400" spc="-30" dirty="0">
                <a:latin typeface="Times New Roman"/>
                <a:cs typeface="Times New Roman"/>
              </a:rPr>
              <a:t> </a:t>
            </a:r>
            <a:r>
              <a:rPr sz="2400" spc="-20" dirty="0">
                <a:latin typeface="Times New Roman"/>
                <a:cs typeface="Times New Roman"/>
              </a:rPr>
              <a:t>code</a:t>
            </a:r>
            <a:endParaRPr sz="2400" dirty="0">
              <a:latin typeface="Times New Roman"/>
              <a:cs typeface="Times New Roman"/>
            </a:endParaRPr>
          </a:p>
        </p:txBody>
      </p:sp>
      <p:sp>
        <p:nvSpPr>
          <p:cNvPr id="4" name="object 4"/>
          <p:cNvSpPr/>
          <p:nvPr/>
        </p:nvSpPr>
        <p:spPr>
          <a:xfrm>
            <a:off x="3113278" y="3632568"/>
            <a:ext cx="2754630" cy="1920875"/>
          </a:xfrm>
          <a:custGeom>
            <a:avLst/>
            <a:gdLst/>
            <a:ahLst/>
            <a:cxnLst/>
            <a:rect l="l" t="t" r="r" b="b"/>
            <a:pathLst>
              <a:path w="2754629" h="1920875">
                <a:moveTo>
                  <a:pt x="2754122" y="472821"/>
                </a:moveTo>
                <a:lnTo>
                  <a:pt x="2716022" y="453771"/>
                </a:lnTo>
                <a:lnTo>
                  <a:pt x="2639822" y="415671"/>
                </a:lnTo>
                <a:lnTo>
                  <a:pt x="2639822" y="453771"/>
                </a:lnTo>
                <a:lnTo>
                  <a:pt x="675271" y="453771"/>
                </a:lnTo>
                <a:lnTo>
                  <a:pt x="21844" y="0"/>
                </a:lnTo>
                <a:lnTo>
                  <a:pt x="0" y="31242"/>
                </a:lnTo>
                <a:lnTo>
                  <a:pt x="608444" y="453771"/>
                </a:lnTo>
                <a:lnTo>
                  <a:pt x="10922" y="453771"/>
                </a:lnTo>
                <a:lnTo>
                  <a:pt x="10922" y="491871"/>
                </a:lnTo>
                <a:lnTo>
                  <a:pt x="663308" y="491871"/>
                </a:lnTo>
                <a:lnTo>
                  <a:pt x="2649347" y="1871052"/>
                </a:lnTo>
                <a:lnTo>
                  <a:pt x="2627630" y="1902333"/>
                </a:lnTo>
                <a:lnTo>
                  <a:pt x="2754122" y="1920621"/>
                </a:lnTo>
                <a:lnTo>
                  <a:pt x="2732925" y="1881886"/>
                </a:lnTo>
                <a:lnTo>
                  <a:pt x="2692781" y="1808480"/>
                </a:lnTo>
                <a:lnTo>
                  <a:pt x="2671089" y="1839734"/>
                </a:lnTo>
                <a:lnTo>
                  <a:pt x="730135" y="491871"/>
                </a:lnTo>
                <a:lnTo>
                  <a:pt x="2639822" y="491871"/>
                </a:lnTo>
                <a:lnTo>
                  <a:pt x="2639822" y="529971"/>
                </a:lnTo>
                <a:lnTo>
                  <a:pt x="2716022" y="491871"/>
                </a:lnTo>
                <a:lnTo>
                  <a:pt x="2754122" y="472821"/>
                </a:lnTo>
                <a:close/>
              </a:path>
            </a:pathLst>
          </a:custGeom>
          <a:solidFill>
            <a:srgbClr val="000000"/>
          </a:solidFill>
        </p:spPr>
        <p:txBody>
          <a:bodyPr wrap="square" lIns="0" tIns="0" rIns="0" bIns="0" rtlCol="0"/>
          <a:lstStyle/>
          <a:p>
            <a:endParaRPr/>
          </a:p>
        </p:txBody>
      </p:sp>
      <p:graphicFrame>
        <p:nvGraphicFramePr>
          <p:cNvPr id="5" name="object 5"/>
          <p:cNvGraphicFramePr>
            <a:graphicFrameLocks noGrp="1"/>
          </p:cNvGraphicFramePr>
          <p:nvPr>
            <p:extLst>
              <p:ext uri="{D42A27DB-BD31-4B8C-83A1-F6EECF244321}">
                <p14:modId xmlns:p14="http://schemas.microsoft.com/office/powerpoint/2010/main" val="1000091434"/>
              </p:ext>
            </p:extLst>
          </p:nvPr>
        </p:nvGraphicFramePr>
        <p:xfrm>
          <a:off x="1828863" y="2891016"/>
          <a:ext cx="1295400" cy="3352165"/>
        </p:xfrm>
        <a:graphic>
          <a:graphicData uri="http://schemas.openxmlformats.org/drawingml/2006/table">
            <a:tbl>
              <a:tblPr firstRow="1" bandRow="1">
                <a:tableStyleId>{2D5ABB26-0587-4C30-8999-92F81FD0307C}</a:tableStyleId>
              </a:tblPr>
              <a:tblGrid>
                <a:gridCol w="1295400"/>
              </a:tblGrid>
              <a:tr h="228600">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r>
              <a:tr h="762000">
                <a:tc>
                  <a:txBody>
                    <a:bodyPr/>
                    <a:lstStyle/>
                    <a:p>
                      <a:pPr algn="ctr">
                        <a:lnSpc>
                          <a:spcPct val="100000"/>
                        </a:lnSpc>
                        <a:spcBef>
                          <a:spcPts val="1480"/>
                        </a:spcBef>
                      </a:pPr>
                      <a:r>
                        <a:rPr sz="2400" spc="-20" dirty="0">
                          <a:latin typeface="Times New Roman"/>
                          <a:cs typeface="Times New Roman"/>
                        </a:rPr>
                        <a:t>args</a:t>
                      </a:r>
                      <a:endParaRPr sz="2400">
                        <a:latin typeface="Times New Roman"/>
                        <a:cs typeface="Times New Roman"/>
                      </a:endParaRPr>
                    </a:p>
                  </a:txBody>
                  <a:tcPr marL="0" marR="0" marT="1879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81000">
                <a:tc>
                  <a:txBody>
                    <a:bodyPr/>
                    <a:lstStyle/>
                    <a:p>
                      <a:pPr algn="ctr">
                        <a:lnSpc>
                          <a:spcPts val="2865"/>
                        </a:lnSpc>
                      </a:pPr>
                      <a:r>
                        <a:rPr sz="2400" spc="-10" dirty="0">
                          <a:latin typeface="Times New Roman"/>
                          <a:cs typeface="Times New Roman"/>
                        </a:rPr>
                        <a:t>ret-</a:t>
                      </a:r>
                      <a:r>
                        <a:rPr sz="2400" spc="-20" dirty="0">
                          <a:latin typeface="Times New Roman"/>
                          <a:cs typeface="Times New Roman"/>
                        </a:rPr>
                        <a:t>addr</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81000">
                <a:tc>
                  <a:txBody>
                    <a:bodyPr/>
                    <a:lstStyle/>
                    <a:p>
                      <a:pPr algn="ctr">
                        <a:lnSpc>
                          <a:spcPts val="2870"/>
                        </a:lnSpc>
                      </a:pPr>
                      <a:r>
                        <a:rPr sz="2400" spc="-25" dirty="0">
                          <a:latin typeface="Times New Roman"/>
                          <a:cs typeface="Times New Roman"/>
                        </a:rPr>
                        <a:t>sfp</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457200">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838200">
                <a:tc>
                  <a:txBody>
                    <a:bodyPr/>
                    <a:lstStyle/>
                    <a:p>
                      <a:pPr algn="ctr">
                        <a:lnSpc>
                          <a:spcPct val="100000"/>
                        </a:lnSpc>
                        <a:spcBef>
                          <a:spcPts val="1800"/>
                        </a:spcBef>
                      </a:pPr>
                      <a:r>
                        <a:rPr sz="2400" dirty="0">
                          <a:latin typeface="Times New Roman"/>
                          <a:cs typeface="Times New Roman"/>
                        </a:rPr>
                        <a:t>local</a:t>
                      </a:r>
                      <a:r>
                        <a:rPr sz="2400" spc="-20" dirty="0">
                          <a:latin typeface="Times New Roman"/>
                          <a:cs typeface="Times New Roman"/>
                        </a:rPr>
                        <a:t> </a:t>
                      </a:r>
                      <a:r>
                        <a:rPr sz="2400" spc="-25" dirty="0">
                          <a:latin typeface="Times New Roman"/>
                          <a:cs typeface="Times New Roman"/>
                        </a:rPr>
                        <a:t>buf</a:t>
                      </a:r>
                      <a:endParaRPr sz="2400">
                        <a:latin typeface="Times New Roman"/>
                        <a:cs typeface="Times New Roman"/>
                      </a:endParaRPr>
                    </a:p>
                  </a:txBody>
                  <a:tcPr marL="0" marR="0" marT="2286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0416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r>
            </a:tbl>
          </a:graphicData>
        </a:graphic>
      </p:graphicFrame>
      <p:sp>
        <p:nvSpPr>
          <p:cNvPr id="6" name="object 6"/>
          <p:cNvSpPr/>
          <p:nvPr/>
        </p:nvSpPr>
        <p:spPr>
          <a:xfrm>
            <a:off x="2057400" y="2505190"/>
            <a:ext cx="819150" cy="457200"/>
          </a:xfrm>
          <a:custGeom>
            <a:avLst/>
            <a:gdLst/>
            <a:ahLst/>
            <a:cxnLst/>
            <a:rect l="l" t="t" r="r" b="b"/>
            <a:pathLst>
              <a:path w="819150" h="457200">
                <a:moveTo>
                  <a:pt x="819150" y="0"/>
                </a:moveTo>
                <a:lnTo>
                  <a:pt x="0" y="0"/>
                </a:lnTo>
                <a:lnTo>
                  <a:pt x="0" y="457200"/>
                </a:lnTo>
                <a:lnTo>
                  <a:pt x="819150" y="457200"/>
                </a:lnTo>
                <a:lnTo>
                  <a:pt x="819150" y="0"/>
                </a:lnTo>
                <a:close/>
              </a:path>
            </a:pathLst>
          </a:custGeom>
          <a:solidFill>
            <a:srgbClr val="006FC0"/>
          </a:solidFill>
        </p:spPr>
        <p:txBody>
          <a:bodyPr wrap="square" lIns="0" tIns="0" rIns="0" bIns="0" rtlCol="0"/>
          <a:lstStyle/>
          <a:p>
            <a:endParaRPr/>
          </a:p>
        </p:txBody>
      </p:sp>
      <p:sp>
        <p:nvSpPr>
          <p:cNvPr id="7" name="object 7"/>
          <p:cNvSpPr txBox="1"/>
          <p:nvPr/>
        </p:nvSpPr>
        <p:spPr>
          <a:xfrm>
            <a:off x="2138426" y="2531542"/>
            <a:ext cx="65405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stack</a:t>
            </a:r>
            <a:endParaRPr sz="2400">
              <a:latin typeface="Times New Roman"/>
              <a:cs typeface="Times New Roman"/>
            </a:endParaRPr>
          </a:p>
        </p:txBody>
      </p:sp>
      <p:graphicFrame>
        <p:nvGraphicFramePr>
          <p:cNvPr id="8" name="object 8"/>
          <p:cNvGraphicFramePr>
            <a:graphicFrameLocks noGrp="1"/>
          </p:cNvGraphicFramePr>
          <p:nvPr>
            <p:extLst>
              <p:ext uri="{D42A27DB-BD31-4B8C-83A1-F6EECF244321}">
                <p14:modId xmlns:p14="http://schemas.microsoft.com/office/powerpoint/2010/main" val="230920047"/>
              </p:ext>
            </p:extLst>
          </p:nvPr>
        </p:nvGraphicFramePr>
        <p:xfrm>
          <a:off x="5867463" y="2891016"/>
          <a:ext cx="1295400" cy="3352165"/>
        </p:xfrm>
        <a:graphic>
          <a:graphicData uri="http://schemas.openxmlformats.org/drawingml/2006/table">
            <a:tbl>
              <a:tblPr firstRow="1" bandRow="1">
                <a:tableStyleId>{2D5ABB26-0587-4C30-8999-92F81FD0307C}</a:tableStyleId>
              </a:tblPr>
              <a:tblGrid>
                <a:gridCol w="1295400"/>
              </a:tblGrid>
              <a:tr h="228600">
                <a:tc>
                  <a:txBody>
                    <a:bodyPr/>
                    <a:lstStyle/>
                    <a:p>
                      <a:pPr>
                        <a:lnSpc>
                          <a:spcPct val="100000"/>
                        </a:lnSpc>
                      </a:pPr>
                      <a:endParaRPr sz="1300" dirty="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r>
              <a:tr h="762000">
                <a:tc>
                  <a:txBody>
                    <a:bodyPr/>
                    <a:lstStyle/>
                    <a:p>
                      <a:pPr>
                        <a:lnSpc>
                          <a:spcPct val="100000"/>
                        </a:lnSpc>
                      </a:pPr>
                      <a:endParaRPr sz="2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81000">
                <a:tc>
                  <a:txBody>
                    <a:bodyPr/>
                    <a:lstStyle/>
                    <a:p>
                      <a:pPr marL="1270" algn="ctr">
                        <a:lnSpc>
                          <a:spcPts val="2865"/>
                        </a:lnSpc>
                      </a:pPr>
                      <a:r>
                        <a:rPr sz="2400" spc="-10" dirty="0">
                          <a:latin typeface="Times New Roman"/>
                          <a:cs typeface="Times New Roman"/>
                        </a:rPr>
                        <a:t>exec()</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81000">
                <a:tc>
                  <a:txBody>
                    <a:bodyPr/>
                    <a:lstStyle/>
                    <a:p>
                      <a:pPr marL="5080" algn="ctr">
                        <a:lnSpc>
                          <a:spcPts val="2870"/>
                        </a:lnSpc>
                      </a:pPr>
                      <a:r>
                        <a:rPr sz="2400" spc="-10" dirty="0">
                          <a:latin typeface="Times New Roman"/>
                          <a:cs typeface="Times New Roman"/>
                        </a:rPr>
                        <a:t>printf()</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457200">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838200">
                <a:tc>
                  <a:txBody>
                    <a:bodyPr/>
                    <a:lstStyle/>
                    <a:p>
                      <a:pPr marL="3175" algn="ctr">
                        <a:lnSpc>
                          <a:spcPct val="100000"/>
                        </a:lnSpc>
                        <a:spcBef>
                          <a:spcPts val="1800"/>
                        </a:spcBef>
                      </a:pPr>
                      <a:r>
                        <a:rPr sz="2400" spc="-10" dirty="0">
                          <a:latin typeface="Times New Roman"/>
                          <a:cs typeface="Times New Roman"/>
                        </a:rPr>
                        <a:t>“/bin/sh”</a:t>
                      </a:r>
                      <a:endParaRPr sz="2400">
                        <a:latin typeface="Times New Roman"/>
                        <a:cs typeface="Times New Roman"/>
                      </a:endParaRPr>
                    </a:p>
                  </a:txBody>
                  <a:tcPr marL="0" marR="0" marT="2286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30416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r>
            </a:tbl>
          </a:graphicData>
        </a:graphic>
      </p:graphicFrame>
      <p:sp>
        <p:nvSpPr>
          <p:cNvPr id="9" name="object 9"/>
          <p:cNvSpPr/>
          <p:nvPr/>
        </p:nvSpPr>
        <p:spPr>
          <a:xfrm>
            <a:off x="5943600" y="2505190"/>
            <a:ext cx="1000125" cy="457200"/>
          </a:xfrm>
          <a:custGeom>
            <a:avLst/>
            <a:gdLst/>
            <a:ahLst/>
            <a:cxnLst/>
            <a:rect l="l" t="t" r="r" b="b"/>
            <a:pathLst>
              <a:path w="1000125" h="457200">
                <a:moveTo>
                  <a:pt x="1000125" y="0"/>
                </a:moveTo>
                <a:lnTo>
                  <a:pt x="0" y="0"/>
                </a:lnTo>
                <a:lnTo>
                  <a:pt x="0" y="457200"/>
                </a:lnTo>
                <a:lnTo>
                  <a:pt x="1000125" y="457200"/>
                </a:lnTo>
                <a:lnTo>
                  <a:pt x="1000125" y="0"/>
                </a:lnTo>
                <a:close/>
              </a:path>
            </a:pathLst>
          </a:custGeom>
          <a:solidFill>
            <a:srgbClr val="006FC0"/>
          </a:solidFill>
        </p:spPr>
        <p:txBody>
          <a:bodyPr wrap="square" lIns="0" tIns="0" rIns="0" bIns="0" rtlCol="0"/>
          <a:lstStyle/>
          <a:p>
            <a:endParaRPr/>
          </a:p>
        </p:txBody>
      </p:sp>
      <p:sp>
        <p:nvSpPr>
          <p:cNvPr id="10" name="object 10"/>
          <p:cNvSpPr txBox="1"/>
          <p:nvPr/>
        </p:nvSpPr>
        <p:spPr>
          <a:xfrm>
            <a:off x="6028690" y="2531542"/>
            <a:ext cx="82550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libc.so</a:t>
            </a:r>
            <a:endParaRPr sz="2400">
              <a:latin typeface="Times New Roman"/>
              <a:cs typeface="Times New Roman"/>
            </a:endParaRPr>
          </a:p>
        </p:txBody>
      </p:sp>
      <p:pic>
        <p:nvPicPr>
          <p:cNvPr id="11" name="object 11"/>
          <p:cNvPicPr/>
          <p:nvPr/>
        </p:nvPicPr>
        <p:blipFill>
          <a:blip r:embed="rId2" cstate="print"/>
          <a:stretch>
            <a:fillRect/>
          </a:stretch>
        </p:blipFill>
        <p:spPr>
          <a:xfrm>
            <a:off x="457200" y="6248400"/>
            <a:ext cx="476250" cy="381000"/>
          </a:xfrm>
          <a:prstGeom prst="rect">
            <a:avLst/>
          </a:prstGeom>
        </p:spPr>
      </p:pic>
      <p:sp>
        <p:nvSpPr>
          <p:cNvPr id="12" name="object 12"/>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13" name="Rectangle 12"/>
          <p:cNvSpPr/>
          <p:nvPr/>
        </p:nvSpPr>
        <p:spPr>
          <a:xfrm>
            <a:off x="231455" y="1338765"/>
            <a:ext cx="8760143" cy="830997"/>
          </a:xfrm>
          <a:prstGeom prst="rect">
            <a:avLst/>
          </a:prstGeom>
        </p:spPr>
        <p:txBody>
          <a:bodyPr wrap="square">
            <a:spAutoFit/>
          </a:bodyPr>
          <a:lstStyle/>
          <a:p>
            <a:r>
              <a:rPr lang="en-US" sz="1600" dirty="0" smtClean="0">
                <a:solidFill>
                  <a:srgbClr val="FF0000"/>
                </a:solidFill>
              </a:rPr>
              <a:t>A Return-to-</a:t>
            </a:r>
            <a:r>
              <a:rPr lang="en-US" sz="1600" dirty="0" err="1" smtClean="0">
                <a:solidFill>
                  <a:srgbClr val="FF0000"/>
                </a:solidFill>
              </a:rPr>
              <a:t>libc</a:t>
            </a:r>
            <a:r>
              <a:rPr lang="en-US" sz="1600" dirty="0" smtClean="0">
                <a:solidFill>
                  <a:srgbClr val="FF0000"/>
                </a:solidFill>
              </a:rPr>
              <a:t> attack is an exploit technique in </a:t>
            </a:r>
            <a:r>
              <a:rPr lang="en-US" sz="1600" dirty="0" err="1" smtClean="0">
                <a:solidFill>
                  <a:srgbClr val="FF0000"/>
                </a:solidFill>
              </a:rPr>
              <a:t>cybersecurity</a:t>
            </a:r>
            <a:r>
              <a:rPr lang="en-US" sz="1600" dirty="0" smtClean="0">
                <a:solidFill>
                  <a:srgbClr val="FF0000"/>
                </a:solidFill>
              </a:rPr>
              <a:t> where instead of injecting new code, the attacker redirects the program's flow to existing, legitimate code sequences (functions) already present in the program's memory space, specifically in the </a:t>
            </a:r>
            <a:r>
              <a:rPr lang="en-US" sz="1600" dirty="0" err="1" smtClean="0">
                <a:solidFill>
                  <a:srgbClr val="FF0000"/>
                </a:solidFill>
              </a:rPr>
              <a:t>libc</a:t>
            </a:r>
            <a:r>
              <a:rPr lang="en-US" sz="1600" dirty="0" smtClean="0">
                <a:solidFill>
                  <a:srgbClr val="FF0000"/>
                </a:solidFill>
              </a:rPr>
              <a:t> library </a:t>
            </a:r>
            <a:endParaRPr lang="en-US" sz="1600"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457" y="136524"/>
            <a:ext cx="4893310" cy="575310"/>
          </a:xfrm>
          <a:prstGeom prst="rect">
            <a:avLst/>
          </a:prstGeom>
        </p:spPr>
        <p:txBody>
          <a:bodyPr vert="horz" wrap="square" lIns="0" tIns="13335" rIns="0" bIns="0" rtlCol="0">
            <a:spAutoFit/>
          </a:bodyPr>
          <a:lstStyle/>
          <a:p>
            <a:pPr marL="12700">
              <a:lnSpc>
                <a:spcPct val="100000"/>
              </a:lnSpc>
              <a:spcBef>
                <a:spcPts val="105"/>
              </a:spcBef>
              <a:tabLst>
                <a:tab pos="2232025" algn="l"/>
              </a:tabLst>
            </a:pPr>
            <a:r>
              <a:rPr spc="-10" dirty="0"/>
              <a:t>Response:</a:t>
            </a:r>
            <a:r>
              <a:rPr dirty="0"/>
              <a:t>	</a:t>
            </a:r>
            <a:r>
              <a:rPr spc="-10" dirty="0"/>
              <a:t>randomization</a:t>
            </a:r>
          </a:p>
        </p:txBody>
      </p:sp>
      <p:sp>
        <p:nvSpPr>
          <p:cNvPr id="3" name="object 3"/>
          <p:cNvSpPr txBox="1"/>
          <p:nvPr/>
        </p:nvSpPr>
        <p:spPr>
          <a:xfrm>
            <a:off x="78739" y="876309"/>
            <a:ext cx="7465695" cy="1445267"/>
          </a:xfrm>
          <a:prstGeom prst="rect">
            <a:avLst/>
          </a:prstGeom>
        </p:spPr>
        <p:txBody>
          <a:bodyPr vert="horz" wrap="square" lIns="0" tIns="120650" rIns="0" bIns="0" rtlCol="0">
            <a:spAutoFit/>
          </a:bodyPr>
          <a:lstStyle/>
          <a:p>
            <a:pPr marL="363220" indent="-350520">
              <a:lnSpc>
                <a:spcPct val="100000"/>
              </a:lnSpc>
              <a:spcBef>
                <a:spcPts val="950"/>
              </a:spcBef>
              <a:buClr>
                <a:srgbClr val="D24717"/>
              </a:buClr>
              <a:buSzPct val="83333"/>
              <a:buFont typeface="Segoe UI Symbol"/>
              <a:buChar char="⚫"/>
              <a:tabLst>
                <a:tab pos="363220" algn="l"/>
                <a:tab pos="1843405" algn="l"/>
              </a:tabLst>
            </a:pPr>
            <a:r>
              <a:rPr sz="2400" b="1" u="sng" spc="-10" dirty="0">
                <a:uFill>
                  <a:solidFill>
                    <a:srgbClr val="000000"/>
                  </a:solidFill>
                </a:uFill>
                <a:latin typeface="Times New Roman"/>
                <a:cs typeface="Times New Roman"/>
              </a:rPr>
              <a:t>ASLR</a:t>
            </a:r>
            <a:r>
              <a:rPr sz="2600" spc="-10" dirty="0">
                <a:latin typeface="Times New Roman"/>
                <a:cs typeface="Times New Roman"/>
              </a:rPr>
              <a:t>:</a:t>
            </a:r>
            <a:r>
              <a:rPr sz="2600" dirty="0">
                <a:latin typeface="Times New Roman"/>
                <a:cs typeface="Times New Roman"/>
              </a:rPr>
              <a:t>	</a:t>
            </a:r>
            <a:r>
              <a:rPr sz="2800" b="1" dirty="0">
                <a:solidFill>
                  <a:srgbClr val="FF0000"/>
                </a:solidFill>
                <a:latin typeface="Times New Roman"/>
                <a:cs typeface="Times New Roman"/>
              </a:rPr>
              <a:t>(</a:t>
            </a:r>
            <a:r>
              <a:rPr sz="2400" b="1" dirty="0">
                <a:solidFill>
                  <a:srgbClr val="FF0000"/>
                </a:solidFill>
                <a:latin typeface="Times New Roman"/>
                <a:cs typeface="Times New Roman"/>
              </a:rPr>
              <a:t>Address</a:t>
            </a:r>
            <a:r>
              <a:rPr sz="2400" b="1" spc="-55" dirty="0">
                <a:solidFill>
                  <a:srgbClr val="FF0000"/>
                </a:solidFill>
                <a:latin typeface="Times New Roman"/>
                <a:cs typeface="Times New Roman"/>
              </a:rPr>
              <a:t> </a:t>
            </a:r>
            <a:r>
              <a:rPr sz="2400" b="1" dirty="0">
                <a:solidFill>
                  <a:srgbClr val="FF0000"/>
                </a:solidFill>
                <a:latin typeface="Times New Roman"/>
                <a:cs typeface="Times New Roman"/>
              </a:rPr>
              <a:t>Space</a:t>
            </a:r>
            <a:r>
              <a:rPr sz="2400" b="1" spc="-25" dirty="0">
                <a:solidFill>
                  <a:srgbClr val="FF0000"/>
                </a:solidFill>
                <a:latin typeface="Times New Roman"/>
                <a:cs typeface="Times New Roman"/>
              </a:rPr>
              <a:t> </a:t>
            </a:r>
            <a:r>
              <a:rPr sz="2400" b="1" dirty="0">
                <a:solidFill>
                  <a:srgbClr val="FF0000"/>
                </a:solidFill>
                <a:latin typeface="Times New Roman"/>
                <a:cs typeface="Times New Roman"/>
              </a:rPr>
              <a:t>Layout</a:t>
            </a:r>
            <a:r>
              <a:rPr sz="2400" b="1" spc="-10" dirty="0">
                <a:solidFill>
                  <a:srgbClr val="FF0000"/>
                </a:solidFill>
                <a:latin typeface="Times New Roman"/>
                <a:cs typeface="Times New Roman"/>
              </a:rPr>
              <a:t> Randomization)</a:t>
            </a:r>
            <a:endParaRPr sz="2400" b="1" dirty="0">
              <a:solidFill>
                <a:srgbClr val="FF0000"/>
              </a:solidFill>
              <a:latin typeface="Times New Roman"/>
              <a:cs typeface="Times New Roman"/>
            </a:endParaRPr>
          </a:p>
          <a:p>
            <a:pPr marL="561340" lvl="1" indent="-228600">
              <a:lnSpc>
                <a:spcPct val="100000"/>
              </a:lnSpc>
              <a:spcBef>
                <a:spcPts val="760"/>
              </a:spcBef>
              <a:buClr>
                <a:srgbClr val="9B2C1F"/>
              </a:buClr>
              <a:buSzPct val="83333"/>
              <a:buFont typeface="Segoe UI Symbol"/>
              <a:buChar char="⚫"/>
              <a:tabLst>
                <a:tab pos="561340" algn="l"/>
              </a:tabLst>
            </a:pPr>
            <a:r>
              <a:rPr sz="2400" dirty="0">
                <a:latin typeface="Times New Roman"/>
                <a:cs typeface="Times New Roman"/>
              </a:rPr>
              <a:t>Map</a:t>
            </a:r>
            <a:r>
              <a:rPr sz="2400" spc="-25" dirty="0">
                <a:latin typeface="Times New Roman"/>
                <a:cs typeface="Times New Roman"/>
              </a:rPr>
              <a:t> </a:t>
            </a:r>
            <a:r>
              <a:rPr sz="2400" dirty="0">
                <a:latin typeface="Times New Roman"/>
                <a:cs typeface="Times New Roman"/>
              </a:rPr>
              <a:t>shared</a:t>
            </a:r>
            <a:r>
              <a:rPr sz="2400" spc="-20" dirty="0">
                <a:latin typeface="Times New Roman"/>
                <a:cs typeface="Times New Roman"/>
              </a:rPr>
              <a:t> </a:t>
            </a:r>
            <a:r>
              <a:rPr sz="2400" dirty="0">
                <a:latin typeface="Times New Roman"/>
                <a:cs typeface="Times New Roman"/>
              </a:rPr>
              <a:t>libraries</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rand</a:t>
            </a:r>
            <a:r>
              <a:rPr sz="2400" spc="-20" dirty="0">
                <a:latin typeface="Times New Roman"/>
                <a:cs typeface="Times New Roman"/>
              </a:rPr>
              <a:t> </a:t>
            </a:r>
            <a:r>
              <a:rPr sz="2400" dirty="0">
                <a:latin typeface="Times New Roman"/>
                <a:cs typeface="Times New Roman"/>
              </a:rPr>
              <a:t>location</a:t>
            </a:r>
            <a:r>
              <a:rPr sz="2400" spc="-2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process</a:t>
            </a:r>
            <a:r>
              <a:rPr sz="2400" spc="-55" dirty="0">
                <a:latin typeface="Times New Roman"/>
                <a:cs typeface="Times New Roman"/>
              </a:rPr>
              <a:t> </a:t>
            </a:r>
            <a:r>
              <a:rPr sz="2400" spc="-10" dirty="0">
                <a:latin typeface="Times New Roman"/>
                <a:cs typeface="Times New Roman"/>
              </a:rPr>
              <a:t>memory</a:t>
            </a:r>
            <a:endParaRPr sz="2400" dirty="0">
              <a:latin typeface="Times New Roman"/>
              <a:cs typeface="Times New Roman"/>
            </a:endParaRPr>
          </a:p>
          <a:p>
            <a:pPr marL="561975">
              <a:lnSpc>
                <a:spcPct val="100000"/>
              </a:lnSpc>
              <a:spcBef>
                <a:spcPts val="425"/>
              </a:spcBef>
              <a:tabLst>
                <a:tab pos="1073785" algn="l"/>
              </a:tabLst>
            </a:pPr>
            <a:r>
              <a:rPr sz="2400" spc="-50" dirty="0">
                <a:latin typeface="Symbol"/>
                <a:cs typeface="Symbol"/>
              </a:rPr>
              <a:t></a:t>
            </a:r>
            <a:r>
              <a:rPr sz="2400" dirty="0">
                <a:latin typeface="Times New Roman"/>
                <a:cs typeface="Times New Roman"/>
              </a:rPr>
              <a:t>	Attacker</a:t>
            </a:r>
            <a:r>
              <a:rPr sz="2400" spc="-5" dirty="0">
                <a:latin typeface="Times New Roman"/>
                <a:cs typeface="Times New Roman"/>
              </a:rPr>
              <a:t> </a:t>
            </a:r>
            <a:r>
              <a:rPr sz="2400" dirty="0">
                <a:latin typeface="Times New Roman"/>
                <a:cs typeface="Times New Roman"/>
              </a:rPr>
              <a:t>cannot</a:t>
            </a:r>
            <a:r>
              <a:rPr sz="2400" spc="-25" dirty="0">
                <a:latin typeface="Times New Roman"/>
                <a:cs typeface="Times New Roman"/>
              </a:rPr>
              <a:t> </a:t>
            </a:r>
            <a:r>
              <a:rPr sz="2400" dirty="0">
                <a:latin typeface="Times New Roman"/>
                <a:cs typeface="Times New Roman"/>
              </a:rPr>
              <a:t>jump</a:t>
            </a:r>
            <a:r>
              <a:rPr sz="2400" spc="-25" dirty="0">
                <a:latin typeface="Times New Roman"/>
                <a:cs typeface="Times New Roman"/>
              </a:rPr>
              <a:t> </a:t>
            </a:r>
            <a:r>
              <a:rPr sz="2400" dirty="0">
                <a:latin typeface="Times New Roman"/>
                <a:cs typeface="Times New Roman"/>
              </a:rPr>
              <a:t>directly</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exec</a:t>
            </a:r>
            <a:r>
              <a:rPr sz="2400" spc="-45" dirty="0">
                <a:latin typeface="Times New Roman"/>
                <a:cs typeface="Times New Roman"/>
              </a:rPr>
              <a:t> </a:t>
            </a:r>
            <a:r>
              <a:rPr sz="2400" spc="-10" dirty="0">
                <a:latin typeface="Times New Roman"/>
                <a:cs typeface="Times New Roman"/>
              </a:rPr>
              <a:t>function</a:t>
            </a:r>
            <a:endParaRPr sz="2400" dirty="0">
              <a:latin typeface="Times New Roman"/>
              <a:cs typeface="Times New Roman"/>
            </a:endParaRPr>
          </a:p>
        </p:txBody>
      </p:sp>
      <p:sp>
        <p:nvSpPr>
          <p:cNvPr id="4" name="object 4"/>
          <p:cNvSpPr txBox="1"/>
          <p:nvPr/>
        </p:nvSpPr>
        <p:spPr>
          <a:xfrm>
            <a:off x="399097" y="2449512"/>
            <a:ext cx="1845945" cy="391795"/>
          </a:xfrm>
          <a:prstGeom prst="rect">
            <a:avLst/>
          </a:prstGeom>
        </p:spPr>
        <p:txBody>
          <a:bodyPr vert="horz" wrap="square" lIns="0" tIns="12700" rIns="0" bIns="0" rtlCol="0">
            <a:spAutoFit/>
          </a:bodyPr>
          <a:lstStyle/>
          <a:p>
            <a:pPr marL="241300" indent="-228600">
              <a:lnSpc>
                <a:spcPct val="100000"/>
              </a:lnSpc>
              <a:spcBef>
                <a:spcPts val="100"/>
              </a:spcBef>
              <a:buClr>
                <a:srgbClr val="9B2C1F"/>
              </a:buClr>
              <a:buSzPct val="83333"/>
              <a:buFont typeface="Segoe UI Symbol"/>
              <a:buChar char="⚫"/>
              <a:tabLst>
                <a:tab pos="241300" algn="l"/>
              </a:tabLst>
            </a:pPr>
            <a:r>
              <a:rPr sz="2400" u="heavy" spc="-10" dirty="0">
                <a:uFill>
                  <a:solidFill>
                    <a:srgbClr val="000000"/>
                  </a:solidFill>
                </a:uFill>
                <a:latin typeface="Times New Roman"/>
                <a:cs typeface="Times New Roman"/>
              </a:rPr>
              <a:t>Deployment</a:t>
            </a:r>
            <a:r>
              <a:rPr sz="2400" spc="-10" dirty="0">
                <a:latin typeface="Times New Roman"/>
                <a:cs typeface="Times New Roman"/>
              </a:rPr>
              <a:t>:</a:t>
            </a:r>
            <a:endParaRPr sz="2400">
              <a:latin typeface="Times New Roman"/>
              <a:cs typeface="Times New Roman"/>
            </a:endParaRPr>
          </a:p>
        </p:txBody>
      </p:sp>
      <p:sp>
        <p:nvSpPr>
          <p:cNvPr id="5" name="object 5"/>
          <p:cNvSpPr txBox="1"/>
          <p:nvPr/>
        </p:nvSpPr>
        <p:spPr>
          <a:xfrm>
            <a:off x="2523870" y="2497137"/>
            <a:ext cx="1691005" cy="334645"/>
          </a:xfrm>
          <a:prstGeom prst="rect">
            <a:avLst/>
          </a:prstGeom>
        </p:spPr>
        <p:txBody>
          <a:bodyPr vert="horz" wrap="square" lIns="0" tIns="15875" rIns="0" bIns="0" rtlCol="0">
            <a:spAutoFit/>
          </a:bodyPr>
          <a:lstStyle/>
          <a:p>
            <a:pPr marL="12700">
              <a:lnSpc>
                <a:spcPct val="100000"/>
              </a:lnSpc>
              <a:spcBef>
                <a:spcPts val="125"/>
              </a:spcBef>
            </a:pPr>
            <a:r>
              <a:rPr sz="2000" spc="-10" dirty="0">
                <a:latin typeface="Times New Roman"/>
                <a:cs typeface="Times New Roman"/>
              </a:rPr>
              <a:t>(/DynamicBase)</a:t>
            </a:r>
            <a:endParaRPr sz="2000">
              <a:latin typeface="Times New Roman"/>
              <a:cs typeface="Times New Roman"/>
            </a:endParaRPr>
          </a:p>
        </p:txBody>
      </p:sp>
      <p:sp>
        <p:nvSpPr>
          <p:cNvPr id="6" name="object 6"/>
          <p:cNvSpPr txBox="1"/>
          <p:nvPr/>
        </p:nvSpPr>
        <p:spPr>
          <a:xfrm>
            <a:off x="78739" y="2806128"/>
            <a:ext cx="8024495" cy="3364229"/>
          </a:xfrm>
          <a:prstGeom prst="rect">
            <a:avLst/>
          </a:prstGeom>
        </p:spPr>
        <p:txBody>
          <a:bodyPr vert="horz" wrap="square" lIns="0" tIns="66675" rIns="0" bIns="0" rtlCol="0">
            <a:spAutoFit/>
          </a:bodyPr>
          <a:lstStyle/>
          <a:p>
            <a:pPr marL="835660" indent="-228600">
              <a:lnSpc>
                <a:spcPct val="100000"/>
              </a:lnSpc>
              <a:spcBef>
                <a:spcPts val="525"/>
              </a:spcBef>
              <a:buClr>
                <a:srgbClr val="E6B0AB"/>
              </a:buClr>
              <a:buSzPct val="83333"/>
              <a:buFont typeface="Segoe UI Symbol"/>
              <a:buChar char="⚫"/>
              <a:tabLst>
                <a:tab pos="835660" algn="l"/>
                <a:tab pos="3673475" algn="l"/>
              </a:tabLst>
            </a:pPr>
            <a:r>
              <a:rPr sz="2400" b="1" spc="-10" dirty="0">
                <a:latin typeface="Times New Roman"/>
                <a:cs typeface="Times New Roman"/>
              </a:rPr>
              <a:t>Windows</a:t>
            </a:r>
            <a:r>
              <a:rPr sz="2400" b="1" spc="-85" dirty="0">
                <a:latin typeface="Times New Roman"/>
                <a:cs typeface="Times New Roman"/>
              </a:rPr>
              <a:t> </a:t>
            </a:r>
            <a:r>
              <a:rPr sz="2400" spc="-10" dirty="0">
                <a:latin typeface="Times New Roman"/>
                <a:cs typeface="Times New Roman"/>
              </a:rPr>
              <a:t>Vista:</a:t>
            </a:r>
            <a:r>
              <a:rPr sz="2400" dirty="0">
                <a:latin typeface="Times New Roman"/>
                <a:cs typeface="Times New Roman"/>
              </a:rPr>
              <a:t>	8</a:t>
            </a:r>
            <a:r>
              <a:rPr sz="2400" spc="-25" dirty="0">
                <a:latin typeface="Times New Roman"/>
                <a:cs typeface="Times New Roman"/>
              </a:rPr>
              <a:t> </a:t>
            </a:r>
            <a:r>
              <a:rPr sz="2400" dirty="0">
                <a:latin typeface="Times New Roman"/>
                <a:cs typeface="Times New Roman"/>
              </a:rPr>
              <a:t>bits</a:t>
            </a:r>
            <a:r>
              <a:rPr sz="2400" spc="-40" dirty="0">
                <a:latin typeface="Times New Roman"/>
                <a:cs typeface="Times New Roman"/>
              </a:rPr>
              <a:t> </a:t>
            </a:r>
            <a:r>
              <a:rPr sz="2400" dirty="0">
                <a:latin typeface="Times New Roman"/>
                <a:cs typeface="Times New Roman"/>
              </a:rPr>
              <a:t>of randomness</a:t>
            </a:r>
            <a:r>
              <a:rPr sz="2400" spc="2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spc="-20" dirty="0">
                <a:latin typeface="Times New Roman"/>
                <a:cs typeface="Times New Roman"/>
              </a:rPr>
              <a:t>DLLs</a:t>
            </a:r>
            <a:endParaRPr sz="2400">
              <a:latin typeface="Times New Roman"/>
              <a:cs typeface="Times New Roman"/>
            </a:endParaRPr>
          </a:p>
          <a:p>
            <a:pPr marL="1110615" lvl="1" indent="-228600">
              <a:lnSpc>
                <a:spcPct val="100000"/>
              </a:lnSpc>
              <a:spcBef>
                <a:spcPts val="425"/>
              </a:spcBef>
              <a:buClr>
                <a:srgbClr val="A18E6A"/>
              </a:buClr>
              <a:buSzPct val="81250"/>
              <a:buFont typeface="Segoe UI Symbol"/>
              <a:buChar char="⚫"/>
              <a:tabLst>
                <a:tab pos="1110615" algn="l"/>
                <a:tab pos="6038850" algn="l"/>
                <a:tab pos="6567805" algn="l"/>
              </a:tabLst>
            </a:pPr>
            <a:r>
              <a:rPr sz="2400" dirty="0">
                <a:latin typeface="Times New Roman"/>
                <a:cs typeface="Times New Roman"/>
              </a:rPr>
              <a:t>aligned</a:t>
            </a:r>
            <a:r>
              <a:rPr sz="2400" spc="-1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64K</a:t>
            </a:r>
            <a:r>
              <a:rPr sz="2400" spc="-5" dirty="0">
                <a:latin typeface="Times New Roman"/>
                <a:cs typeface="Times New Roman"/>
              </a:rPr>
              <a:t> </a:t>
            </a:r>
            <a:r>
              <a:rPr sz="2400" dirty="0">
                <a:latin typeface="Times New Roman"/>
                <a:cs typeface="Times New Roman"/>
              </a:rPr>
              <a:t>page</a:t>
            </a:r>
            <a:r>
              <a:rPr sz="2400" spc="-3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16MB</a:t>
            </a:r>
            <a:r>
              <a:rPr sz="2400" spc="-30" dirty="0">
                <a:latin typeface="Times New Roman"/>
                <a:cs typeface="Times New Roman"/>
              </a:rPr>
              <a:t> </a:t>
            </a:r>
            <a:r>
              <a:rPr sz="2400" spc="-10" dirty="0">
                <a:latin typeface="Times New Roman"/>
                <a:cs typeface="Times New Roman"/>
              </a:rPr>
              <a:t>region</a:t>
            </a:r>
            <a:r>
              <a:rPr sz="2400" dirty="0">
                <a:latin typeface="Times New Roman"/>
                <a:cs typeface="Times New Roman"/>
              </a:rPr>
              <a:t>	</a:t>
            </a:r>
            <a:r>
              <a:rPr sz="2400" spc="-50" dirty="0">
                <a:latin typeface="Symbol"/>
                <a:cs typeface="Symbol"/>
              </a:rPr>
              <a:t></a:t>
            </a:r>
            <a:r>
              <a:rPr sz="2400" dirty="0">
                <a:latin typeface="Times New Roman"/>
                <a:cs typeface="Times New Roman"/>
              </a:rPr>
              <a:t>	256</a:t>
            </a:r>
            <a:r>
              <a:rPr sz="2400" spc="-10" dirty="0">
                <a:latin typeface="Times New Roman"/>
                <a:cs typeface="Times New Roman"/>
              </a:rPr>
              <a:t> choices</a:t>
            </a:r>
            <a:endParaRPr sz="2400">
              <a:latin typeface="Times New Roman"/>
              <a:cs typeface="Times New Roman"/>
            </a:endParaRPr>
          </a:p>
          <a:p>
            <a:pPr marL="835660" indent="-228600">
              <a:lnSpc>
                <a:spcPct val="100000"/>
              </a:lnSpc>
              <a:spcBef>
                <a:spcPts val="420"/>
              </a:spcBef>
              <a:buClr>
                <a:srgbClr val="E6B0AB"/>
              </a:buClr>
              <a:buSzPct val="83333"/>
              <a:buFont typeface="Segoe UI Symbol"/>
              <a:buChar char="⚫"/>
              <a:tabLst>
                <a:tab pos="835660" algn="l"/>
                <a:tab pos="1769110" algn="l"/>
                <a:tab pos="3673475" algn="l"/>
              </a:tabLst>
            </a:pPr>
            <a:r>
              <a:rPr sz="2400" b="1" spc="-10" dirty="0">
                <a:latin typeface="Times New Roman"/>
                <a:cs typeface="Times New Roman"/>
              </a:rPr>
              <a:t>Linux</a:t>
            </a:r>
            <a:r>
              <a:rPr sz="2400" b="1" dirty="0">
                <a:latin typeface="Times New Roman"/>
                <a:cs typeface="Times New Roman"/>
              </a:rPr>
              <a:t>	</a:t>
            </a:r>
            <a:r>
              <a:rPr sz="2400" dirty="0">
                <a:latin typeface="Times New Roman"/>
                <a:cs typeface="Times New Roman"/>
              </a:rPr>
              <a:t>(via</a:t>
            </a:r>
            <a:r>
              <a:rPr sz="2400" spc="-15" dirty="0">
                <a:latin typeface="Times New Roman"/>
                <a:cs typeface="Times New Roman"/>
              </a:rPr>
              <a:t> </a:t>
            </a:r>
            <a:r>
              <a:rPr sz="2400" spc="-10" dirty="0">
                <a:latin typeface="Times New Roman"/>
                <a:cs typeface="Times New Roman"/>
              </a:rPr>
              <a:t>PaX):</a:t>
            </a:r>
            <a:r>
              <a:rPr sz="2400" dirty="0">
                <a:latin typeface="Times New Roman"/>
                <a:cs typeface="Times New Roman"/>
              </a:rPr>
              <a:t>	16</a:t>
            </a:r>
            <a:r>
              <a:rPr sz="2400" spc="-25" dirty="0">
                <a:latin typeface="Times New Roman"/>
                <a:cs typeface="Times New Roman"/>
              </a:rPr>
              <a:t> </a:t>
            </a:r>
            <a:r>
              <a:rPr sz="2400" dirty="0">
                <a:latin typeface="Times New Roman"/>
                <a:cs typeface="Times New Roman"/>
              </a:rPr>
              <a:t>bits</a:t>
            </a:r>
            <a:r>
              <a:rPr sz="2400" spc="-55" dirty="0">
                <a:latin typeface="Times New Roman"/>
                <a:cs typeface="Times New Roman"/>
              </a:rPr>
              <a:t> </a:t>
            </a:r>
            <a:r>
              <a:rPr sz="2400" dirty="0">
                <a:latin typeface="Times New Roman"/>
                <a:cs typeface="Times New Roman"/>
              </a:rPr>
              <a:t>of randomness</a:t>
            </a:r>
            <a:r>
              <a:rPr sz="2400" spc="15" dirty="0">
                <a:latin typeface="Times New Roman"/>
                <a:cs typeface="Times New Roman"/>
              </a:rPr>
              <a:t> </a:t>
            </a:r>
            <a:r>
              <a:rPr sz="2400" dirty="0">
                <a:latin typeface="Times New Roman"/>
                <a:cs typeface="Times New Roman"/>
              </a:rPr>
              <a:t>for </a:t>
            </a:r>
            <a:r>
              <a:rPr sz="2400" spc="-10" dirty="0">
                <a:latin typeface="Times New Roman"/>
                <a:cs typeface="Times New Roman"/>
              </a:rPr>
              <a:t>libraries</a:t>
            </a:r>
            <a:endParaRPr sz="2400">
              <a:latin typeface="Times New Roman"/>
              <a:cs typeface="Times New Roman"/>
            </a:endParaRPr>
          </a:p>
          <a:p>
            <a:pPr marL="561340" indent="-228600">
              <a:lnSpc>
                <a:spcPct val="100000"/>
              </a:lnSpc>
              <a:spcBef>
                <a:spcPts val="1180"/>
              </a:spcBef>
              <a:buClr>
                <a:srgbClr val="9B2C1F"/>
              </a:buClr>
              <a:buSzPct val="83333"/>
              <a:buFont typeface="Segoe UI Symbol"/>
              <a:buChar char="⚫"/>
              <a:tabLst>
                <a:tab pos="561340" algn="l"/>
                <a:tab pos="2887345" algn="l"/>
              </a:tabLst>
            </a:pPr>
            <a:r>
              <a:rPr sz="2400" dirty="0">
                <a:latin typeface="Times New Roman"/>
                <a:cs typeface="Times New Roman"/>
              </a:rPr>
              <a:t>More</a:t>
            </a:r>
            <a:r>
              <a:rPr sz="2400" spc="-80" dirty="0">
                <a:latin typeface="Times New Roman"/>
                <a:cs typeface="Times New Roman"/>
              </a:rPr>
              <a:t> </a:t>
            </a:r>
            <a:r>
              <a:rPr sz="2400" dirty="0">
                <a:latin typeface="Times New Roman"/>
                <a:cs typeface="Times New Roman"/>
              </a:rPr>
              <a:t>effective</a:t>
            </a:r>
            <a:r>
              <a:rPr sz="2400" spc="-75" dirty="0">
                <a:latin typeface="Times New Roman"/>
                <a:cs typeface="Times New Roman"/>
              </a:rPr>
              <a:t> </a:t>
            </a:r>
            <a:r>
              <a:rPr sz="2400" spc="-25" dirty="0">
                <a:latin typeface="Times New Roman"/>
                <a:cs typeface="Times New Roman"/>
              </a:rPr>
              <a:t>on</a:t>
            </a:r>
            <a:r>
              <a:rPr sz="2400" dirty="0">
                <a:latin typeface="Times New Roman"/>
                <a:cs typeface="Times New Roman"/>
              </a:rPr>
              <a:t>	64-bit</a:t>
            </a:r>
            <a:r>
              <a:rPr sz="2400" spc="35" dirty="0">
                <a:latin typeface="Times New Roman"/>
                <a:cs typeface="Times New Roman"/>
              </a:rPr>
              <a:t> </a:t>
            </a:r>
            <a:r>
              <a:rPr sz="2400" spc="-10" dirty="0">
                <a:latin typeface="Times New Roman"/>
                <a:cs typeface="Times New Roman"/>
              </a:rPr>
              <a:t>architectures</a:t>
            </a:r>
            <a:endParaRPr sz="2400">
              <a:latin typeface="Times New Roman"/>
              <a:cs typeface="Times New Roman"/>
            </a:endParaRPr>
          </a:p>
          <a:p>
            <a:pPr marL="287020" indent="-285750">
              <a:lnSpc>
                <a:spcPct val="100000"/>
              </a:lnSpc>
              <a:spcBef>
                <a:spcPts val="1175"/>
              </a:spcBef>
              <a:buClr>
                <a:srgbClr val="D24717"/>
              </a:buClr>
              <a:buSzPct val="85000"/>
              <a:buFont typeface="Segoe UI Symbol"/>
              <a:buChar char="⚫"/>
              <a:tabLst>
                <a:tab pos="287020" algn="l"/>
              </a:tabLst>
            </a:pPr>
            <a:r>
              <a:rPr sz="3000" u="sng" dirty="0">
                <a:uFill>
                  <a:solidFill>
                    <a:srgbClr val="000000"/>
                  </a:solidFill>
                </a:uFill>
                <a:latin typeface="Times New Roman"/>
                <a:cs typeface="Times New Roman"/>
              </a:rPr>
              <a:t>Other</a:t>
            </a:r>
            <a:r>
              <a:rPr sz="3000" u="sng" spc="-30" dirty="0">
                <a:uFill>
                  <a:solidFill>
                    <a:srgbClr val="000000"/>
                  </a:solidFill>
                </a:uFill>
                <a:latin typeface="Times New Roman"/>
                <a:cs typeface="Times New Roman"/>
              </a:rPr>
              <a:t> </a:t>
            </a:r>
            <a:r>
              <a:rPr sz="3000" u="sng" dirty="0">
                <a:uFill>
                  <a:solidFill>
                    <a:srgbClr val="000000"/>
                  </a:solidFill>
                </a:uFill>
                <a:latin typeface="Times New Roman"/>
                <a:cs typeface="Times New Roman"/>
              </a:rPr>
              <a:t>randomization</a:t>
            </a:r>
            <a:r>
              <a:rPr sz="3000" u="sng" spc="-10" dirty="0">
                <a:uFill>
                  <a:solidFill>
                    <a:srgbClr val="000000"/>
                  </a:solidFill>
                </a:uFill>
                <a:latin typeface="Times New Roman"/>
                <a:cs typeface="Times New Roman"/>
              </a:rPr>
              <a:t> methods</a:t>
            </a:r>
            <a:r>
              <a:rPr sz="3000" spc="-10" dirty="0">
                <a:latin typeface="Times New Roman"/>
                <a:cs typeface="Times New Roman"/>
              </a:rPr>
              <a:t>:</a:t>
            </a:r>
            <a:endParaRPr sz="3000">
              <a:latin typeface="Times New Roman"/>
              <a:cs typeface="Times New Roman"/>
            </a:endParaRPr>
          </a:p>
          <a:p>
            <a:pPr marL="561340" lvl="1" indent="-228600">
              <a:lnSpc>
                <a:spcPct val="100000"/>
              </a:lnSpc>
              <a:spcBef>
                <a:spcPts val="905"/>
              </a:spcBef>
              <a:buClr>
                <a:srgbClr val="9B2C1F"/>
              </a:buClr>
              <a:buSzPct val="83333"/>
              <a:buFont typeface="Segoe UI Symbol"/>
              <a:buChar char="⚫"/>
              <a:tabLst>
                <a:tab pos="561340" algn="l"/>
                <a:tab pos="3763010" algn="l"/>
              </a:tabLst>
            </a:pPr>
            <a:r>
              <a:rPr sz="2400" spc="-10" dirty="0">
                <a:latin typeface="Times New Roman"/>
                <a:cs typeface="Times New Roman"/>
              </a:rPr>
              <a:t>Sys-</a:t>
            </a:r>
            <a:r>
              <a:rPr sz="2400" dirty="0">
                <a:latin typeface="Times New Roman"/>
                <a:cs typeface="Times New Roman"/>
              </a:rPr>
              <a:t>call </a:t>
            </a:r>
            <a:r>
              <a:rPr sz="2400" spc="-10" dirty="0">
                <a:latin typeface="Times New Roman"/>
                <a:cs typeface="Times New Roman"/>
              </a:rPr>
              <a:t>randomization:</a:t>
            </a:r>
            <a:r>
              <a:rPr sz="2400" dirty="0">
                <a:latin typeface="Times New Roman"/>
                <a:cs typeface="Times New Roman"/>
              </a:rPr>
              <a:t>	randomize</a:t>
            </a:r>
            <a:r>
              <a:rPr sz="2400" spc="-35" dirty="0">
                <a:latin typeface="Times New Roman"/>
                <a:cs typeface="Times New Roman"/>
              </a:rPr>
              <a:t> </a:t>
            </a:r>
            <a:r>
              <a:rPr sz="2400" dirty="0">
                <a:latin typeface="Times New Roman"/>
                <a:cs typeface="Times New Roman"/>
              </a:rPr>
              <a:t>sys-call</a:t>
            </a:r>
            <a:r>
              <a:rPr sz="2400" spc="-5" dirty="0">
                <a:latin typeface="Times New Roman"/>
                <a:cs typeface="Times New Roman"/>
              </a:rPr>
              <a:t> </a:t>
            </a:r>
            <a:r>
              <a:rPr sz="2400" spc="-20" dirty="0">
                <a:latin typeface="Times New Roman"/>
                <a:cs typeface="Times New Roman"/>
              </a:rPr>
              <a:t>id’s</a:t>
            </a:r>
            <a:endParaRPr sz="2400">
              <a:latin typeface="Times New Roman"/>
              <a:cs typeface="Times New Roman"/>
            </a:endParaRPr>
          </a:p>
          <a:p>
            <a:pPr marL="561340" lvl="1" indent="-228600">
              <a:lnSpc>
                <a:spcPct val="100000"/>
              </a:lnSpc>
              <a:spcBef>
                <a:spcPts val="875"/>
              </a:spcBef>
              <a:buClr>
                <a:srgbClr val="9B2C1F"/>
              </a:buClr>
              <a:buSzPct val="83333"/>
              <a:buFont typeface="Segoe UI Symbol"/>
              <a:buChar char="⚫"/>
              <a:tabLst>
                <a:tab pos="561340" algn="l"/>
              </a:tabLst>
            </a:pPr>
            <a:r>
              <a:rPr sz="2400" dirty="0">
                <a:latin typeface="Times New Roman"/>
                <a:cs typeface="Times New Roman"/>
              </a:rPr>
              <a:t>Instruction</a:t>
            </a:r>
            <a:r>
              <a:rPr sz="2400" spc="-10" dirty="0">
                <a:latin typeface="Times New Roman"/>
                <a:cs typeface="Times New Roman"/>
              </a:rPr>
              <a:t> </a:t>
            </a:r>
            <a:r>
              <a:rPr sz="2400" dirty="0">
                <a:latin typeface="Times New Roman"/>
                <a:cs typeface="Times New Roman"/>
              </a:rPr>
              <a:t>Set</a:t>
            </a:r>
            <a:r>
              <a:rPr sz="2400" spc="-70" dirty="0">
                <a:latin typeface="Times New Roman"/>
                <a:cs typeface="Times New Roman"/>
              </a:rPr>
              <a:t> </a:t>
            </a:r>
            <a:r>
              <a:rPr sz="2400" dirty="0">
                <a:latin typeface="Times New Roman"/>
                <a:cs typeface="Times New Roman"/>
              </a:rPr>
              <a:t>Randomization</a:t>
            </a:r>
            <a:r>
              <a:rPr sz="2400" spc="-5" dirty="0">
                <a:latin typeface="Times New Roman"/>
                <a:cs typeface="Times New Roman"/>
              </a:rPr>
              <a:t> </a:t>
            </a:r>
            <a:r>
              <a:rPr sz="2400" spc="-10" dirty="0">
                <a:latin typeface="Times New Roman"/>
                <a:cs typeface="Times New Roman"/>
              </a:rPr>
              <a:t>(ISR)</a:t>
            </a:r>
            <a:endParaRPr sz="2400">
              <a:latin typeface="Times New Roman"/>
              <a:cs typeface="Times New Roman"/>
            </a:endParaRPr>
          </a:p>
        </p:txBody>
      </p:sp>
      <p:pic>
        <p:nvPicPr>
          <p:cNvPr id="7" name="object 7"/>
          <p:cNvPicPr/>
          <p:nvPr/>
        </p:nvPicPr>
        <p:blipFill>
          <a:blip r:embed="rId2"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165100">
              <a:lnSpc>
                <a:spcPct val="100000"/>
              </a:lnSpc>
              <a:spcBef>
                <a:spcPts val="105"/>
              </a:spcBef>
            </a:pPr>
            <a:r>
              <a:rPr dirty="0"/>
              <a:t>ASLR</a:t>
            </a:r>
            <a:r>
              <a:rPr spc="10" dirty="0"/>
              <a:t> </a:t>
            </a:r>
            <a:r>
              <a:rPr spc="-10" dirty="0"/>
              <a:t>Example</a:t>
            </a:r>
          </a:p>
        </p:txBody>
      </p:sp>
      <p:sp>
        <p:nvSpPr>
          <p:cNvPr id="3" name="object 3"/>
          <p:cNvSpPr txBox="1"/>
          <p:nvPr/>
        </p:nvSpPr>
        <p:spPr>
          <a:xfrm>
            <a:off x="383857" y="1473517"/>
            <a:ext cx="647573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Booting</a:t>
            </a:r>
            <a:r>
              <a:rPr sz="2400" spc="-20" dirty="0">
                <a:latin typeface="Times New Roman"/>
                <a:cs typeface="Times New Roman"/>
              </a:rPr>
              <a:t> </a:t>
            </a:r>
            <a:r>
              <a:rPr sz="2400" dirty="0">
                <a:latin typeface="Times New Roman"/>
                <a:cs typeface="Times New Roman"/>
              </a:rPr>
              <a:t>twice</a:t>
            </a:r>
            <a:r>
              <a:rPr sz="2400" spc="-30" dirty="0">
                <a:latin typeface="Times New Roman"/>
                <a:cs typeface="Times New Roman"/>
              </a:rPr>
              <a:t> </a:t>
            </a:r>
            <a:r>
              <a:rPr sz="2400" dirty="0">
                <a:latin typeface="Times New Roman"/>
                <a:cs typeface="Times New Roman"/>
              </a:rPr>
              <a:t>loads</a:t>
            </a:r>
            <a:r>
              <a:rPr sz="2400" spc="20" dirty="0">
                <a:latin typeface="Times New Roman"/>
                <a:cs typeface="Times New Roman"/>
              </a:rPr>
              <a:t> </a:t>
            </a:r>
            <a:r>
              <a:rPr sz="2400" dirty="0">
                <a:latin typeface="Times New Roman"/>
                <a:cs typeface="Times New Roman"/>
              </a:rPr>
              <a:t>libraries</a:t>
            </a:r>
            <a:r>
              <a:rPr sz="2400" spc="-50" dirty="0">
                <a:latin typeface="Times New Roman"/>
                <a:cs typeface="Times New Roman"/>
              </a:rPr>
              <a:t> </a:t>
            </a:r>
            <a:r>
              <a:rPr sz="2400" dirty="0">
                <a:latin typeface="Times New Roman"/>
                <a:cs typeface="Times New Roman"/>
              </a:rPr>
              <a:t>into</a:t>
            </a:r>
            <a:r>
              <a:rPr sz="2400" spc="-20" dirty="0">
                <a:latin typeface="Times New Roman"/>
                <a:cs typeface="Times New Roman"/>
              </a:rPr>
              <a:t> </a:t>
            </a:r>
            <a:r>
              <a:rPr sz="2400" dirty="0">
                <a:latin typeface="Times New Roman"/>
                <a:cs typeface="Times New Roman"/>
              </a:rPr>
              <a:t>different</a:t>
            </a:r>
            <a:r>
              <a:rPr sz="2400" spc="-80" dirty="0">
                <a:latin typeface="Times New Roman"/>
                <a:cs typeface="Times New Roman"/>
              </a:rPr>
              <a:t> </a:t>
            </a:r>
            <a:r>
              <a:rPr sz="2400" spc="-10" dirty="0">
                <a:latin typeface="Times New Roman"/>
                <a:cs typeface="Times New Roman"/>
              </a:rPr>
              <a:t>locations:</a:t>
            </a:r>
            <a:endParaRPr sz="2400">
              <a:latin typeface="Times New Roman"/>
              <a:cs typeface="Times New Roman"/>
            </a:endParaRPr>
          </a:p>
        </p:txBody>
      </p:sp>
      <p:grpSp>
        <p:nvGrpSpPr>
          <p:cNvPr id="4" name="object 4"/>
          <p:cNvGrpSpPr/>
          <p:nvPr/>
        </p:nvGrpSpPr>
        <p:grpSpPr>
          <a:xfrm>
            <a:off x="1209675" y="2352611"/>
            <a:ext cx="6515100" cy="1134110"/>
            <a:chOff x="1209675" y="2352611"/>
            <a:chExt cx="6515100" cy="1134110"/>
          </a:xfrm>
        </p:grpSpPr>
        <p:pic>
          <p:nvPicPr>
            <p:cNvPr id="5" name="object 5"/>
            <p:cNvPicPr/>
            <p:nvPr/>
          </p:nvPicPr>
          <p:blipFill>
            <a:blip r:embed="rId2" cstate="print"/>
            <a:stretch>
              <a:fillRect/>
            </a:stretch>
          </p:blipFill>
          <p:spPr>
            <a:xfrm>
              <a:off x="1272301" y="2415267"/>
              <a:ext cx="6248244" cy="955221"/>
            </a:xfrm>
            <a:prstGeom prst="rect">
              <a:avLst/>
            </a:prstGeom>
          </p:spPr>
        </p:pic>
        <p:sp>
          <p:nvSpPr>
            <p:cNvPr id="6" name="object 6"/>
            <p:cNvSpPr/>
            <p:nvPr/>
          </p:nvSpPr>
          <p:spPr>
            <a:xfrm>
              <a:off x="1214437" y="2357373"/>
              <a:ext cx="6505575" cy="1123950"/>
            </a:xfrm>
            <a:custGeom>
              <a:avLst/>
              <a:gdLst/>
              <a:ahLst/>
              <a:cxnLst/>
              <a:rect l="l" t="t" r="r" b="b"/>
              <a:pathLst>
                <a:path w="6505575" h="1123950">
                  <a:moveTo>
                    <a:pt x="0" y="1123950"/>
                  </a:moveTo>
                  <a:lnTo>
                    <a:pt x="6505575" y="1123950"/>
                  </a:lnTo>
                  <a:lnTo>
                    <a:pt x="6505575" y="0"/>
                  </a:lnTo>
                  <a:lnTo>
                    <a:pt x="0" y="0"/>
                  </a:lnTo>
                  <a:lnTo>
                    <a:pt x="0" y="1123950"/>
                  </a:lnTo>
                  <a:close/>
                </a:path>
              </a:pathLst>
            </a:custGeom>
            <a:ln w="9525">
              <a:solidFill>
                <a:srgbClr val="000000"/>
              </a:solidFill>
            </a:ln>
          </p:spPr>
          <p:txBody>
            <a:bodyPr wrap="square" lIns="0" tIns="0" rIns="0" bIns="0" rtlCol="0"/>
            <a:lstStyle/>
            <a:p>
              <a:endParaRPr/>
            </a:p>
          </p:txBody>
        </p:sp>
        <p:sp>
          <p:nvSpPr>
            <p:cNvPr id="7" name="object 7"/>
            <p:cNvSpPr/>
            <p:nvPr/>
          </p:nvSpPr>
          <p:spPr>
            <a:xfrm>
              <a:off x="3586226" y="2367025"/>
              <a:ext cx="1295400" cy="1114425"/>
            </a:xfrm>
            <a:custGeom>
              <a:avLst/>
              <a:gdLst/>
              <a:ahLst/>
              <a:cxnLst/>
              <a:rect l="l" t="t" r="r" b="b"/>
              <a:pathLst>
                <a:path w="1295400" h="1114425">
                  <a:moveTo>
                    <a:pt x="1295400" y="0"/>
                  </a:moveTo>
                  <a:lnTo>
                    <a:pt x="0" y="0"/>
                  </a:lnTo>
                  <a:lnTo>
                    <a:pt x="0" y="1114425"/>
                  </a:lnTo>
                  <a:lnTo>
                    <a:pt x="1295400" y="1114425"/>
                  </a:lnTo>
                  <a:lnTo>
                    <a:pt x="1295400" y="0"/>
                  </a:lnTo>
                  <a:close/>
                </a:path>
              </a:pathLst>
            </a:custGeom>
            <a:solidFill>
              <a:srgbClr val="95A9A9">
                <a:alpha val="34117"/>
              </a:srgbClr>
            </a:solidFill>
          </p:spPr>
          <p:txBody>
            <a:bodyPr wrap="square" lIns="0" tIns="0" rIns="0" bIns="0" rtlCol="0"/>
            <a:lstStyle/>
            <a:p>
              <a:endParaRPr/>
            </a:p>
          </p:txBody>
        </p:sp>
        <p:sp>
          <p:nvSpPr>
            <p:cNvPr id="8" name="object 8"/>
            <p:cNvSpPr/>
            <p:nvPr/>
          </p:nvSpPr>
          <p:spPr>
            <a:xfrm>
              <a:off x="3586226" y="2367025"/>
              <a:ext cx="1295400" cy="1114425"/>
            </a:xfrm>
            <a:custGeom>
              <a:avLst/>
              <a:gdLst/>
              <a:ahLst/>
              <a:cxnLst/>
              <a:rect l="l" t="t" r="r" b="b"/>
              <a:pathLst>
                <a:path w="1295400" h="1114425">
                  <a:moveTo>
                    <a:pt x="0" y="1114425"/>
                  </a:moveTo>
                  <a:lnTo>
                    <a:pt x="1295400" y="1114425"/>
                  </a:lnTo>
                  <a:lnTo>
                    <a:pt x="1295400" y="0"/>
                  </a:lnTo>
                  <a:lnTo>
                    <a:pt x="0" y="0"/>
                  </a:lnTo>
                  <a:lnTo>
                    <a:pt x="0" y="1114425"/>
                  </a:lnTo>
                  <a:close/>
                </a:path>
              </a:pathLst>
            </a:custGeom>
            <a:ln w="9525">
              <a:solidFill>
                <a:srgbClr val="000000"/>
              </a:solidFill>
            </a:ln>
          </p:spPr>
          <p:txBody>
            <a:bodyPr wrap="square" lIns="0" tIns="0" rIns="0" bIns="0" rtlCol="0"/>
            <a:lstStyle/>
            <a:p>
              <a:endParaRPr/>
            </a:p>
          </p:txBody>
        </p:sp>
      </p:grpSp>
      <p:grpSp>
        <p:nvGrpSpPr>
          <p:cNvPr id="9" name="object 9"/>
          <p:cNvGrpSpPr/>
          <p:nvPr/>
        </p:nvGrpSpPr>
        <p:grpSpPr>
          <a:xfrm>
            <a:off x="1171575" y="4057586"/>
            <a:ext cx="6667500" cy="1134110"/>
            <a:chOff x="1171575" y="4057586"/>
            <a:chExt cx="6667500" cy="1134110"/>
          </a:xfrm>
        </p:grpSpPr>
        <p:pic>
          <p:nvPicPr>
            <p:cNvPr id="10" name="object 10"/>
            <p:cNvPicPr/>
            <p:nvPr/>
          </p:nvPicPr>
          <p:blipFill>
            <a:blip r:embed="rId3" cstate="print"/>
            <a:stretch>
              <a:fillRect/>
            </a:stretch>
          </p:blipFill>
          <p:spPr>
            <a:xfrm>
              <a:off x="1181100" y="4067174"/>
              <a:ext cx="6467293" cy="1114425"/>
            </a:xfrm>
            <a:prstGeom prst="rect">
              <a:avLst/>
            </a:prstGeom>
          </p:spPr>
        </p:pic>
        <p:sp>
          <p:nvSpPr>
            <p:cNvPr id="11" name="object 11"/>
            <p:cNvSpPr/>
            <p:nvPr/>
          </p:nvSpPr>
          <p:spPr>
            <a:xfrm>
              <a:off x="1176337" y="4062348"/>
              <a:ext cx="6657975" cy="1123950"/>
            </a:xfrm>
            <a:custGeom>
              <a:avLst/>
              <a:gdLst/>
              <a:ahLst/>
              <a:cxnLst/>
              <a:rect l="l" t="t" r="r" b="b"/>
              <a:pathLst>
                <a:path w="6657975" h="1123950">
                  <a:moveTo>
                    <a:pt x="0" y="1123950"/>
                  </a:moveTo>
                  <a:lnTo>
                    <a:pt x="6657975" y="1123950"/>
                  </a:lnTo>
                  <a:lnTo>
                    <a:pt x="6657975" y="0"/>
                  </a:lnTo>
                  <a:lnTo>
                    <a:pt x="0" y="0"/>
                  </a:lnTo>
                  <a:lnTo>
                    <a:pt x="0" y="1123950"/>
                  </a:lnTo>
                  <a:close/>
                </a:path>
              </a:pathLst>
            </a:custGeom>
            <a:ln w="9525">
              <a:solidFill>
                <a:srgbClr val="000000"/>
              </a:solidFill>
            </a:ln>
          </p:spPr>
          <p:txBody>
            <a:bodyPr wrap="square" lIns="0" tIns="0" rIns="0" bIns="0" rtlCol="0"/>
            <a:lstStyle/>
            <a:p>
              <a:endParaRPr/>
            </a:p>
          </p:txBody>
        </p:sp>
        <p:sp>
          <p:nvSpPr>
            <p:cNvPr id="12" name="object 12"/>
            <p:cNvSpPr/>
            <p:nvPr/>
          </p:nvSpPr>
          <p:spPr>
            <a:xfrm>
              <a:off x="3605276" y="4062475"/>
              <a:ext cx="1295400" cy="1123950"/>
            </a:xfrm>
            <a:custGeom>
              <a:avLst/>
              <a:gdLst/>
              <a:ahLst/>
              <a:cxnLst/>
              <a:rect l="l" t="t" r="r" b="b"/>
              <a:pathLst>
                <a:path w="1295400" h="1123950">
                  <a:moveTo>
                    <a:pt x="1295400" y="0"/>
                  </a:moveTo>
                  <a:lnTo>
                    <a:pt x="0" y="0"/>
                  </a:lnTo>
                  <a:lnTo>
                    <a:pt x="0" y="1123950"/>
                  </a:lnTo>
                  <a:lnTo>
                    <a:pt x="1295400" y="1123950"/>
                  </a:lnTo>
                  <a:lnTo>
                    <a:pt x="1295400" y="0"/>
                  </a:lnTo>
                  <a:close/>
                </a:path>
              </a:pathLst>
            </a:custGeom>
            <a:solidFill>
              <a:srgbClr val="95A9A9">
                <a:alpha val="34117"/>
              </a:srgbClr>
            </a:solidFill>
          </p:spPr>
          <p:txBody>
            <a:bodyPr wrap="square" lIns="0" tIns="0" rIns="0" bIns="0" rtlCol="0"/>
            <a:lstStyle/>
            <a:p>
              <a:endParaRPr/>
            </a:p>
          </p:txBody>
        </p:sp>
        <p:sp>
          <p:nvSpPr>
            <p:cNvPr id="13" name="object 13"/>
            <p:cNvSpPr/>
            <p:nvPr/>
          </p:nvSpPr>
          <p:spPr>
            <a:xfrm>
              <a:off x="3605276" y="4062475"/>
              <a:ext cx="1295400" cy="1123950"/>
            </a:xfrm>
            <a:custGeom>
              <a:avLst/>
              <a:gdLst/>
              <a:ahLst/>
              <a:cxnLst/>
              <a:rect l="l" t="t" r="r" b="b"/>
              <a:pathLst>
                <a:path w="1295400" h="1123950">
                  <a:moveTo>
                    <a:pt x="0" y="1123950"/>
                  </a:moveTo>
                  <a:lnTo>
                    <a:pt x="1295400" y="1123950"/>
                  </a:lnTo>
                  <a:lnTo>
                    <a:pt x="1295400" y="0"/>
                  </a:lnTo>
                  <a:lnTo>
                    <a:pt x="0" y="0"/>
                  </a:lnTo>
                  <a:lnTo>
                    <a:pt x="0" y="1123950"/>
                  </a:lnTo>
                  <a:close/>
                </a:path>
              </a:pathLst>
            </a:custGeom>
            <a:ln w="9525">
              <a:solidFill>
                <a:srgbClr val="000000"/>
              </a:solidFill>
            </a:ln>
          </p:spPr>
          <p:txBody>
            <a:bodyPr wrap="square" lIns="0" tIns="0" rIns="0" bIns="0" rtlCol="0"/>
            <a:lstStyle/>
            <a:p>
              <a:endParaRPr/>
            </a:p>
          </p:txBody>
        </p:sp>
      </p:grpSp>
      <p:pic>
        <p:nvPicPr>
          <p:cNvPr id="14" name="object 14"/>
          <p:cNvPicPr/>
          <p:nvPr/>
        </p:nvPicPr>
        <p:blipFill>
          <a:blip r:embed="rId4" cstate="print"/>
          <a:stretch>
            <a:fillRect/>
          </a:stretch>
        </p:blipFill>
        <p:spPr>
          <a:xfrm>
            <a:off x="457200" y="6248400"/>
            <a:ext cx="476250" cy="381000"/>
          </a:xfrm>
          <a:prstGeom prst="rect">
            <a:avLst/>
          </a:prstGeom>
        </p:spPr>
      </p:pic>
      <p:sp>
        <p:nvSpPr>
          <p:cNvPr id="15" name="object 1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1526" y="3295015"/>
            <a:ext cx="3683635" cy="575310"/>
          </a:xfrm>
          <a:prstGeom prst="rect">
            <a:avLst/>
          </a:prstGeom>
        </p:spPr>
        <p:txBody>
          <a:bodyPr vert="horz" wrap="square" lIns="0" tIns="13335" rIns="0" bIns="0" rtlCol="0">
            <a:spAutoFit/>
          </a:bodyPr>
          <a:lstStyle/>
          <a:p>
            <a:pPr marL="12700">
              <a:lnSpc>
                <a:spcPct val="100000"/>
              </a:lnSpc>
              <a:spcBef>
                <a:spcPts val="105"/>
              </a:spcBef>
            </a:pPr>
            <a:r>
              <a:rPr u="sng" spc="-10" dirty="0">
                <a:solidFill>
                  <a:srgbClr val="D24717"/>
                </a:solidFill>
                <a:uFill>
                  <a:solidFill>
                    <a:srgbClr val="D24717"/>
                  </a:solidFill>
                </a:uFill>
              </a:rPr>
              <a:t>Run-</a:t>
            </a:r>
            <a:r>
              <a:rPr u="sng" dirty="0">
                <a:solidFill>
                  <a:srgbClr val="D24717"/>
                </a:solidFill>
                <a:uFill>
                  <a:solidFill>
                    <a:srgbClr val="D24717"/>
                  </a:solidFill>
                </a:uFill>
              </a:rPr>
              <a:t>Time</a:t>
            </a:r>
            <a:r>
              <a:rPr u="sng" spc="-90" dirty="0">
                <a:solidFill>
                  <a:srgbClr val="D24717"/>
                </a:solidFill>
                <a:uFill>
                  <a:solidFill>
                    <a:srgbClr val="D24717"/>
                  </a:solidFill>
                </a:uFill>
              </a:rPr>
              <a:t> </a:t>
            </a:r>
            <a:r>
              <a:rPr u="sng" spc="-10" dirty="0">
                <a:solidFill>
                  <a:srgbClr val="D24717"/>
                </a:solidFill>
                <a:uFill>
                  <a:solidFill>
                    <a:srgbClr val="D24717"/>
                  </a:solidFill>
                </a:uFill>
              </a:rPr>
              <a:t>Defenses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2189" rIns="0" bIns="0" rtlCol="0">
            <a:spAutoFit/>
          </a:bodyPr>
          <a:lstStyle/>
          <a:p>
            <a:pPr marL="266700">
              <a:lnSpc>
                <a:spcPct val="100000"/>
              </a:lnSpc>
              <a:spcBef>
                <a:spcPts val="105"/>
              </a:spcBef>
            </a:pPr>
            <a:r>
              <a:rPr dirty="0"/>
              <a:t>Run</a:t>
            </a:r>
            <a:r>
              <a:rPr spc="-15" dirty="0"/>
              <a:t> </a:t>
            </a:r>
            <a:r>
              <a:rPr dirty="0"/>
              <a:t>time</a:t>
            </a:r>
            <a:r>
              <a:rPr spc="-25" dirty="0"/>
              <a:t> </a:t>
            </a:r>
            <a:r>
              <a:rPr dirty="0"/>
              <a:t>checking: </a:t>
            </a:r>
            <a:r>
              <a:rPr spc="-10" dirty="0"/>
              <a:t>StackGuard</a:t>
            </a:r>
          </a:p>
        </p:txBody>
      </p:sp>
      <p:sp>
        <p:nvSpPr>
          <p:cNvPr id="3" name="object 3"/>
          <p:cNvSpPr txBox="1"/>
          <p:nvPr/>
        </p:nvSpPr>
        <p:spPr>
          <a:xfrm>
            <a:off x="307657" y="1190815"/>
            <a:ext cx="8425815" cy="2744470"/>
          </a:xfrm>
          <a:prstGeom prst="rect">
            <a:avLst/>
          </a:prstGeom>
        </p:spPr>
        <p:txBody>
          <a:bodyPr vert="horz" wrap="square" lIns="0" tIns="66675" rIns="0" bIns="0" rtlCol="0">
            <a:spAutoFit/>
          </a:bodyPr>
          <a:lstStyle/>
          <a:p>
            <a:pPr marL="287020" indent="-274320">
              <a:lnSpc>
                <a:spcPct val="100000"/>
              </a:lnSpc>
              <a:spcBef>
                <a:spcPts val="525"/>
              </a:spcBef>
              <a:buClr>
                <a:srgbClr val="D24717"/>
              </a:buClr>
              <a:buSzPct val="83333"/>
              <a:buFont typeface="Segoe UI Symbol"/>
              <a:buChar char="⚫"/>
              <a:tabLst>
                <a:tab pos="287020" algn="l"/>
              </a:tabLst>
            </a:pPr>
            <a:r>
              <a:rPr sz="2400" dirty="0">
                <a:latin typeface="Times New Roman"/>
                <a:cs typeface="Times New Roman"/>
              </a:rPr>
              <a:t>Many</a:t>
            </a:r>
            <a:r>
              <a:rPr sz="2400" spc="-20" dirty="0">
                <a:latin typeface="Times New Roman"/>
                <a:cs typeface="Times New Roman"/>
              </a:rPr>
              <a:t> </a:t>
            </a:r>
            <a:r>
              <a:rPr sz="2400" spc="-10" dirty="0">
                <a:latin typeface="Times New Roman"/>
                <a:cs typeface="Times New Roman"/>
              </a:rPr>
              <a:t>run-</a:t>
            </a:r>
            <a:r>
              <a:rPr sz="2400" dirty="0">
                <a:latin typeface="Times New Roman"/>
                <a:cs typeface="Times New Roman"/>
              </a:rPr>
              <a:t>time</a:t>
            </a:r>
            <a:r>
              <a:rPr sz="2400" spc="-30" dirty="0">
                <a:latin typeface="Times New Roman"/>
                <a:cs typeface="Times New Roman"/>
              </a:rPr>
              <a:t> </a:t>
            </a:r>
            <a:r>
              <a:rPr sz="2400" dirty="0">
                <a:latin typeface="Times New Roman"/>
                <a:cs typeface="Times New Roman"/>
              </a:rPr>
              <a:t>checking</a:t>
            </a:r>
            <a:r>
              <a:rPr sz="2400" spc="-15" dirty="0">
                <a:latin typeface="Times New Roman"/>
                <a:cs typeface="Times New Roman"/>
              </a:rPr>
              <a:t> </a:t>
            </a:r>
            <a:r>
              <a:rPr sz="2400" dirty="0">
                <a:latin typeface="Times New Roman"/>
                <a:cs typeface="Times New Roman"/>
              </a:rPr>
              <a:t>techniques</a:t>
            </a:r>
            <a:r>
              <a:rPr sz="2400" spc="2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we</a:t>
            </a:r>
            <a:r>
              <a:rPr sz="2400" spc="-55" dirty="0">
                <a:latin typeface="Times New Roman"/>
                <a:cs typeface="Times New Roman"/>
              </a:rPr>
              <a:t> </a:t>
            </a:r>
            <a:r>
              <a:rPr sz="2400" dirty="0">
                <a:latin typeface="Times New Roman"/>
                <a:cs typeface="Times New Roman"/>
              </a:rPr>
              <a:t>only</a:t>
            </a:r>
            <a:r>
              <a:rPr sz="2400" spc="-25" dirty="0">
                <a:latin typeface="Times New Roman"/>
                <a:cs typeface="Times New Roman"/>
              </a:rPr>
              <a:t> </a:t>
            </a:r>
            <a:r>
              <a:rPr sz="2400" dirty="0">
                <a:latin typeface="Times New Roman"/>
                <a:cs typeface="Times New Roman"/>
              </a:rPr>
              <a:t>discuss</a:t>
            </a:r>
            <a:r>
              <a:rPr sz="2400" spc="5" dirty="0">
                <a:latin typeface="Times New Roman"/>
                <a:cs typeface="Times New Roman"/>
              </a:rPr>
              <a:t> </a:t>
            </a:r>
            <a:r>
              <a:rPr sz="2400" dirty="0">
                <a:latin typeface="Times New Roman"/>
                <a:cs typeface="Times New Roman"/>
              </a:rPr>
              <a:t>methods</a:t>
            </a:r>
            <a:r>
              <a:rPr sz="2400" spc="-60" dirty="0">
                <a:latin typeface="Times New Roman"/>
                <a:cs typeface="Times New Roman"/>
              </a:rPr>
              <a:t> </a:t>
            </a:r>
            <a:r>
              <a:rPr sz="2400" dirty="0">
                <a:latin typeface="Times New Roman"/>
                <a:cs typeface="Times New Roman"/>
              </a:rPr>
              <a:t>relevant</a:t>
            </a:r>
            <a:r>
              <a:rPr sz="2400" spc="-3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overflow</a:t>
            </a:r>
            <a:r>
              <a:rPr sz="2400" spc="-30" dirty="0">
                <a:latin typeface="Times New Roman"/>
                <a:cs typeface="Times New Roman"/>
              </a:rPr>
              <a:t> </a:t>
            </a:r>
            <a:r>
              <a:rPr sz="2400" spc="-10" dirty="0">
                <a:latin typeface="Times New Roman"/>
                <a:cs typeface="Times New Roman"/>
              </a:rPr>
              <a:t>protection</a:t>
            </a:r>
            <a:endParaRPr sz="2400">
              <a:latin typeface="Times New Roman"/>
              <a:cs typeface="Times New Roman"/>
            </a:endParaRPr>
          </a:p>
          <a:p>
            <a:pPr marL="287020" indent="-274320">
              <a:lnSpc>
                <a:spcPct val="100000"/>
              </a:lnSpc>
              <a:spcBef>
                <a:spcPts val="2450"/>
              </a:spcBef>
              <a:buClr>
                <a:srgbClr val="D24717"/>
              </a:buClr>
              <a:buSzPct val="83333"/>
              <a:buFont typeface="Segoe UI Symbol"/>
              <a:buChar char="⚫"/>
              <a:tabLst>
                <a:tab pos="287020" algn="l"/>
                <a:tab pos="1785620" algn="l"/>
              </a:tabLst>
            </a:pPr>
            <a:r>
              <a:rPr sz="2400" u="heavy" dirty="0">
                <a:uFill>
                  <a:solidFill>
                    <a:srgbClr val="000000"/>
                  </a:solidFill>
                </a:uFill>
                <a:latin typeface="Times New Roman"/>
                <a:cs typeface="Times New Roman"/>
              </a:rPr>
              <a:t>Solution</a:t>
            </a:r>
            <a:r>
              <a:rPr sz="2400" u="heavy" spc="-65" dirty="0">
                <a:uFill>
                  <a:solidFill>
                    <a:srgbClr val="000000"/>
                  </a:solidFill>
                </a:uFill>
                <a:latin typeface="Times New Roman"/>
                <a:cs typeface="Times New Roman"/>
              </a:rPr>
              <a:t> </a:t>
            </a:r>
            <a:r>
              <a:rPr sz="2400" u="heavy" spc="-25" dirty="0">
                <a:uFill>
                  <a:solidFill>
                    <a:srgbClr val="000000"/>
                  </a:solidFill>
                </a:uFill>
                <a:latin typeface="Times New Roman"/>
                <a:cs typeface="Times New Roman"/>
              </a:rPr>
              <a:t>1</a:t>
            </a:r>
            <a:r>
              <a:rPr sz="2400" spc="-25" dirty="0">
                <a:latin typeface="Times New Roman"/>
                <a:cs typeface="Times New Roman"/>
              </a:rPr>
              <a:t>:</a:t>
            </a:r>
            <a:r>
              <a:rPr sz="2400" dirty="0">
                <a:latin typeface="Times New Roman"/>
                <a:cs typeface="Times New Roman"/>
              </a:rPr>
              <a:t>	</a:t>
            </a:r>
            <a:r>
              <a:rPr sz="2400" spc="-10" dirty="0">
                <a:latin typeface="Times New Roman"/>
                <a:cs typeface="Times New Roman"/>
              </a:rPr>
              <a:t>StackGuard</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Run</a:t>
            </a:r>
            <a:r>
              <a:rPr sz="2400" spc="-20" dirty="0">
                <a:latin typeface="Times New Roman"/>
                <a:cs typeface="Times New Roman"/>
              </a:rPr>
              <a:t> </a:t>
            </a:r>
            <a:r>
              <a:rPr sz="2400" dirty="0">
                <a:latin typeface="Times New Roman"/>
                <a:cs typeface="Times New Roman"/>
              </a:rPr>
              <a:t>time</a:t>
            </a:r>
            <a:r>
              <a:rPr sz="2400" spc="-35" dirty="0">
                <a:latin typeface="Times New Roman"/>
                <a:cs typeface="Times New Roman"/>
              </a:rPr>
              <a:t> </a:t>
            </a:r>
            <a:r>
              <a:rPr sz="2400" dirty="0">
                <a:latin typeface="Times New Roman"/>
                <a:cs typeface="Times New Roman"/>
              </a:rPr>
              <a:t>tests</a:t>
            </a:r>
            <a:r>
              <a:rPr sz="2400" spc="20" dirty="0">
                <a:latin typeface="Times New Roman"/>
                <a:cs typeface="Times New Roman"/>
              </a:rPr>
              <a:t> </a:t>
            </a:r>
            <a:r>
              <a:rPr sz="2400" dirty="0">
                <a:latin typeface="Times New Roman"/>
                <a:cs typeface="Times New Roman"/>
              </a:rPr>
              <a:t>for</a:t>
            </a:r>
            <a:r>
              <a:rPr sz="2400" spc="-70" dirty="0">
                <a:latin typeface="Times New Roman"/>
                <a:cs typeface="Times New Roman"/>
              </a:rPr>
              <a:t> </a:t>
            </a:r>
            <a:r>
              <a:rPr sz="2400" dirty="0">
                <a:latin typeface="Times New Roman"/>
                <a:cs typeface="Times New Roman"/>
              </a:rPr>
              <a:t>stack</a:t>
            </a:r>
            <a:r>
              <a:rPr sz="2400" spc="-15" dirty="0">
                <a:latin typeface="Times New Roman"/>
                <a:cs typeface="Times New Roman"/>
              </a:rPr>
              <a:t> </a:t>
            </a:r>
            <a:r>
              <a:rPr sz="2400" spc="-10" dirty="0">
                <a:latin typeface="Times New Roman"/>
                <a:cs typeface="Times New Roman"/>
              </a:rPr>
              <a:t>integrity.</a:t>
            </a:r>
            <a:endParaRPr sz="2400">
              <a:latin typeface="Times New Roman"/>
              <a:cs typeface="Times New Roman"/>
            </a:endParaRPr>
          </a:p>
          <a:p>
            <a:pPr marL="561340" lvl="1" indent="-228600">
              <a:lnSpc>
                <a:spcPts val="2865"/>
              </a:lnSpc>
              <a:spcBef>
                <a:spcPts val="425"/>
              </a:spcBef>
              <a:buClr>
                <a:srgbClr val="9B2C1F"/>
              </a:buClr>
              <a:buSzPct val="83333"/>
              <a:buFont typeface="Segoe UI Symbol"/>
              <a:buChar char="⚫"/>
              <a:tabLst>
                <a:tab pos="561340" algn="l"/>
              </a:tabLst>
            </a:pPr>
            <a:r>
              <a:rPr sz="2400" dirty="0">
                <a:latin typeface="Times New Roman"/>
                <a:cs typeface="Times New Roman"/>
              </a:rPr>
              <a:t>Embed</a:t>
            </a:r>
            <a:r>
              <a:rPr sz="2400" spc="-45" dirty="0">
                <a:latin typeface="Times New Roman"/>
                <a:cs typeface="Times New Roman"/>
              </a:rPr>
              <a:t> </a:t>
            </a:r>
            <a:r>
              <a:rPr sz="2400" dirty="0">
                <a:latin typeface="Times New Roman"/>
                <a:cs typeface="Times New Roman"/>
              </a:rPr>
              <a:t>“canaries”</a:t>
            </a:r>
            <a:r>
              <a:rPr sz="2400" spc="10" dirty="0">
                <a:latin typeface="Times New Roman"/>
                <a:cs typeface="Times New Roman"/>
              </a:rPr>
              <a:t> </a:t>
            </a:r>
            <a:r>
              <a:rPr sz="2400" dirty="0">
                <a:latin typeface="Times New Roman"/>
                <a:cs typeface="Times New Roman"/>
              </a:rPr>
              <a:t>in</a:t>
            </a:r>
            <a:r>
              <a:rPr sz="2400" spc="-45" dirty="0">
                <a:latin typeface="Times New Roman"/>
                <a:cs typeface="Times New Roman"/>
              </a:rPr>
              <a:t> </a:t>
            </a:r>
            <a:r>
              <a:rPr sz="2400" dirty="0">
                <a:latin typeface="Times New Roman"/>
                <a:cs typeface="Times New Roman"/>
              </a:rPr>
              <a:t>stack</a:t>
            </a:r>
            <a:r>
              <a:rPr sz="2400" spc="-45" dirty="0">
                <a:latin typeface="Times New Roman"/>
                <a:cs typeface="Times New Roman"/>
              </a:rPr>
              <a:t> </a:t>
            </a:r>
            <a:r>
              <a:rPr sz="2400" dirty="0">
                <a:latin typeface="Times New Roman"/>
                <a:cs typeface="Times New Roman"/>
              </a:rPr>
              <a:t>frames</a:t>
            </a:r>
            <a:r>
              <a:rPr sz="2400" spc="-8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verify</a:t>
            </a:r>
            <a:r>
              <a:rPr sz="2400" spc="-45" dirty="0">
                <a:latin typeface="Times New Roman"/>
                <a:cs typeface="Times New Roman"/>
              </a:rPr>
              <a:t> </a:t>
            </a:r>
            <a:r>
              <a:rPr sz="2400" dirty="0">
                <a:latin typeface="Times New Roman"/>
                <a:cs typeface="Times New Roman"/>
              </a:rPr>
              <a:t>their</a:t>
            </a:r>
            <a:r>
              <a:rPr sz="2400" spc="-25" dirty="0">
                <a:latin typeface="Times New Roman"/>
                <a:cs typeface="Times New Roman"/>
              </a:rPr>
              <a:t> </a:t>
            </a:r>
            <a:r>
              <a:rPr sz="2400" dirty="0">
                <a:latin typeface="Times New Roman"/>
                <a:cs typeface="Times New Roman"/>
              </a:rPr>
              <a:t>integrity</a:t>
            </a:r>
            <a:r>
              <a:rPr sz="2400" spc="-40" dirty="0">
                <a:latin typeface="Times New Roman"/>
                <a:cs typeface="Times New Roman"/>
              </a:rPr>
              <a:t> </a:t>
            </a:r>
            <a:r>
              <a:rPr sz="2400" spc="-10" dirty="0">
                <a:latin typeface="Times New Roman"/>
                <a:cs typeface="Times New Roman"/>
              </a:rPr>
              <a:t>prior</a:t>
            </a:r>
            <a:endParaRPr sz="2400">
              <a:latin typeface="Times New Roman"/>
              <a:cs typeface="Times New Roman"/>
            </a:endParaRPr>
          </a:p>
          <a:p>
            <a:pPr marL="561340">
              <a:lnSpc>
                <a:spcPts val="2865"/>
              </a:lnSpc>
            </a:pP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function</a:t>
            </a:r>
            <a:r>
              <a:rPr sz="2400" spc="-25" dirty="0">
                <a:latin typeface="Times New Roman"/>
                <a:cs typeface="Times New Roman"/>
              </a:rPr>
              <a:t> </a:t>
            </a:r>
            <a:r>
              <a:rPr sz="2400" spc="-10" dirty="0">
                <a:latin typeface="Times New Roman"/>
                <a:cs typeface="Times New Roman"/>
              </a:rPr>
              <a:t>return.</a:t>
            </a:r>
            <a:endParaRPr sz="2400">
              <a:latin typeface="Times New Roman"/>
              <a:cs typeface="Times New Roman"/>
            </a:endParaRPr>
          </a:p>
        </p:txBody>
      </p:sp>
      <p:sp>
        <p:nvSpPr>
          <p:cNvPr id="4" name="object 4"/>
          <p:cNvSpPr txBox="1"/>
          <p:nvPr/>
        </p:nvSpPr>
        <p:spPr>
          <a:xfrm>
            <a:off x="7177151" y="5014976"/>
            <a:ext cx="447675" cy="371475"/>
          </a:xfrm>
          <a:prstGeom prst="rect">
            <a:avLst/>
          </a:prstGeom>
          <a:solidFill>
            <a:srgbClr val="006FC0"/>
          </a:solidFill>
          <a:ln w="9525">
            <a:solidFill>
              <a:srgbClr val="000000"/>
            </a:solidFill>
          </a:ln>
        </p:spPr>
        <p:txBody>
          <a:bodyPr vert="horz" wrap="square" lIns="0" tIns="25400" rIns="0" bIns="0" rtlCol="0">
            <a:spAutoFit/>
          </a:bodyPr>
          <a:lstStyle/>
          <a:p>
            <a:pPr marL="81915">
              <a:lnSpc>
                <a:spcPct val="100000"/>
              </a:lnSpc>
              <a:spcBef>
                <a:spcPts val="200"/>
              </a:spcBef>
            </a:pPr>
            <a:r>
              <a:rPr sz="1800" b="1" spc="-25" dirty="0">
                <a:latin typeface="Times New Roman"/>
                <a:cs typeface="Times New Roman"/>
              </a:rPr>
              <a:t>str</a:t>
            </a:r>
            <a:endParaRPr sz="1800">
              <a:latin typeface="Times New Roman"/>
              <a:cs typeface="Times New Roman"/>
            </a:endParaRPr>
          </a:p>
        </p:txBody>
      </p:sp>
      <p:sp>
        <p:nvSpPr>
          <p:cNvPr id="5" name="object 5"/>
          <p:cNvSpPr txBox="1"/>
          <p:nvPr/>
        </p:nvSpPr>
        <p:spPr>
          <a:xfrm>
            <a:off x="6748526" y="5014976"/>
            <a:ext cx="428625" cy="371475"/>
          </a:xfrm>
          <a:prstGeom prst="rect">
            <a:avLst/>
          </a:prstGeom>
          <a:solidFill>
            <a:srgbClr val="006FC0"/>
          </a:solidFill>
          <a:ln w="9525">
            <a:solidFill>
              <a:srgbClr val="000000"/>
            </a:solidFill>
          </a:ln>
        </p:spPr>
        <p:txBody>
          <a:bodyPr vert="horz" wrap="square" lIns="0" tIns="25400" rIns="0" bIns="0" rtlCol="0">
            <a:spAutoFit/>
          </a:bodyPr>
          <a:lstStyle/>
          <a:p>
            <a:pPr marL="52705">
              <a:lnSpc>
                <a:spcPct val="100000"/>
              </a:lnSpc>
              <a:spcBef>
                <a:spcPts val="200"/>
              </a:spcBef>
            </a:pPr>
            <a:r>
              <a:rPr sz="1800" b="1" spc="-25" dirty="0">
                <a:latin typeface="Times New Roman"/>
                <a:cs typeface="Times New Roman"/>
              </a:rPr>
              <a:t>ret</a:t>
            </a:r>
            <a:endParaRPr sz="1800">
              <a:latin typeface="Times New Roman"/>
              <a:cs typeface="Times New Roman"/>
            </a:endParaRPr>
          </a:p>
        </p:txBody>
      </p:sp>
      <p:sp>
        <p:nvSpPr>
          <p:cNvPr id="6" name="object 6"/>
          <p:cNvSpPr txBox="1"/>
          <p:nvPr/>
        </p:nvSpPr>
        <p:spPr>
          <a:xfrm>
            <a:off x="6272276" y="5014976"/>
            <a:ext cx="476250" cy="371475"/>
          </a:xfrm>
          <a:prstGeom prst="rect">
            <a:avLst/>
          </a:prstGeom>
          <a:solidFill>
            <a:srgbClr val="006FC0"/>
          </a:solidFill>
          <a:ln w="9525">
            <a:solidFill>
              <a:srgbClr val="000000"/>
            </a:solidFill>
          </a:ln>
        </p:spPr>
        <p:txBody>
          <a:bodyPr vert="horz" wrap="square" lIns="0" tIns="25400" rIns="0" bIns="0" rtlCol="0">
            <a:spAutoFit/>
          </a:bodyPr>
          <a:lstStyle/>
          <a:p>
            <a:pPr marL="73025">
              <a:lnSpc>
                <a:spcPct val="100000"/>
              </a:lnSpc>
              <a:spcBef>
                <a:spcPts val="200"/>
              </a:spcBef>
            </a:pPr>
            <a:r>
              <a:rPr sz="1800" b="1" spc="-25" dirty="0">
                <a:latin typeface="Times New Roman"/>
                <a:cs typeface="Times New Roman"/>
              </a:rPr>
              <a:t>sfp</a:t>
            </a:r>
            <a:endParaRPr sz="1800">
              <a:latin typeface="Times New Roman"/>
              <a:cs typeface="Times New Roman"/>
            </a:endParaRPr>
          </a:p>
        </p:txBody>
      </p:sp>
      <p:sp>
        <p:nvSpPr>
          <p:cNvPr id="7" name="object 7"/>
          <p:cNvSpPr/>
          <p:nvPr/>
        </p:nvSpPr>
        <p:spPr>
          <a:xfrm>
            <a:off x="4195826" y="4957826"/>
            <a:ext cx="1047750" cy="504825"/>
          </a:xfrm>
          <a:custGeom>
            <a:avLst/>
            <a:gdLst/>
            <a:ahLst/>
            <a:cxnLst/>
            <a:rect l="l" t="t" r="r" b="b"/>
            <a:pathLst>
              <a:path w="1047750" h="504825">
                <a:moveTo>
                  <a:pt x="0" y="504825"/>
                </a:moveTo>
                <a:lnTo>
                  <a:pt x="1047750" y="504825"/>
                </a:lnTo>
                <a:lnTo>
                  <a:pt x="1047750" y="0"/>
                </a:lnTo>
                <a:lnTo>
                  <a:pt x="0" y="0"/>
                </a:lnTo>
                <a:lnTo>
                  <a:pt x="0" y="504825"/>
                </a:lnTo>
                <a:close/>
              </a:path>
            </a:pathLst>
          </a:custGeom>
          <a:ln w="9525">
            <a:solidFill>
              <a:srgbClr val="000000"/>
            </a:solidFill>
          </a:ln>
        </p:spPr>
        <p:txBody>
          <a:bodyPr wrap="square" lIns="0" tIns="0" rIns="0" bIns="0" rtlCol="0"/>
          <a:lstStyle/>
          <a:p>
            <a:endParaRPr/>
          </a:p>
        </p:txBody>
      </p:sp>
      <p:sp>
        <p:nvSpPr>
          <p:cNvPr id="8" name="object 8"/>
          <p:cNvSpPr txBox="1"/>
          <p:nvPr/>
        </p:nvSpPr>
        <p:spPr>
          <a:xfrm>
            <a:off x="4195826" y="4957826"/>
            <a:ext cx="1047750" cy="504825"/>
          </a:xfrm>
          <a:prstGeom prst="rect">
            <a:avLst/>
          </a:prstGeom>
          <a:solidFill>
            <a:srgbClr val="006FC0"/>
          </a:solidFill>
        </p:spPr>
        <p:txBody>
          <a:bodyPr vert="horz" wrap="square" lIns="0" tIns="90170" rIns="0" bIns="0" rtlCol="0">
            <a:spAutoFit/>
          </a:bodyPr>
          <a:lstStyle/>
          <a:p>
            <a:pPr marL="288925">
              <a:lnSpc>
                <a:spcPct val="100000"/>
              </a:lnSpc>
              <a:spcBef>
                <a:spcPts val="710"/>
              </a:spcBef>
            </a:pPr>
            <a:r>
              <a:rPr sz="1800" b="1" spc="-10" dirty="0">
                <a:latin typeface="Times New Roman"/>
                <a:cs typeface="Times New Roman"/>
              </a:rPr>
              <a:t>local</a:t>
            </a:r>
            <a:endParaRPr sz="1800">
              <a:latin typeface="Times New Roman"/>
              <a:cs typeface="Times New Roman"/>
            </a:endParaRPr>
          </a:p>
        </p:txBody>
      </p:sp>
      <p:sp>
        <p:nvSpPr>
          <p:cNvPr id="9" name="object 9"/>
          <p:cNvSpPr/>
          <p:nvPr/>
        </p:nvSpPr>
        <p:spPr>
          <a:xfrm>
            <a:off x="7472426" y="4957698"/>
            <a:ext cx="342900" cy="635"/>
          </a:xfrm>
          <a:custGeom>
            <a:avLst/>
            <a:gdLst/>
            <a:ahLst/>
            <a:cxnLst/>
            <a:rect l="l" t="t" r="r" b="b"/>
            <a:pathLst>
              <a:path w="342900" h="635">
                <a:moveTo>
                  <a:pt x="0" y="126"/>
                </a:moveTo>
                <a:lnTo>
                  <a:pt x="342900" y="0"/>
                </a:lnTo>
              </a:path>
            </a:pathLst>
          </a:custGeom>
          <a:ln w="9525">
            <a:solidFill>
              <a:srgbClr val="000000"/>
            </a:solidFill>
          </a:ln>
        </p:spPr>
        <p:txBody>
          <a:bodyPr wrap="square" lIns="0" tIns="0" rIns="0" bIns="0" rtlCol="0"/>
          <a:lstStyle/>
          <a:p>
            <a:endParaRPr/>
          </a:p>
        </p:txBody>
      </p:sp>
      <p:sp>
        <p:nvSpPr>
          <p:cNvPr id="10" name="object 10"/>
          <p:cNvSpPr/>
          <p:nvPr/>
        </p:nvSpPr>
        <p:spPr>
          <a:xfrm>
            <a:off x="7548626" y="5453126"/>
            <a:ext cx="342900" cy="9525"/>
          </a:xfrm>
          <a:custGeom>
            <a:avLst/>
            <a:gdLst/>
            <a:ahLst/>
            <a:cxnLst/>
            <a:rect l="l" t="t" r="r" b="b"/>
            <a:pathLst>
              <a:path w="342900" h="9525">
                <a:moveTo>
                  <a:pt x="0" y="9525"/>
                </a:moveTo>
                <a:lnTo>
                  <a:pt x="342900" y="0"/>
                </a:lnTo>
              </a:path>
            </a:pathLst>
          </a:custGeom>
          <a:ln w="9525">
            <a:solidFill>
              <a:srgbClr val="000000"/>
            </a:solidFill>
          </a:ln>
        </p:spPr>
        <p:txBody>
          <a:bodyPr wrap="square" lIns="0" tIns="0" rIns="0" bIns="0" rtlCol="0"/>
          <a:lstStyle/>
          <a:p>
            <a:endParaRPr/>
          </a:p>
        </p:txBody>
      </p:sp>
      <p:sp>
        <p:nvSpPr>
          <p:cNvPr id="11" name="object 11"/>
          <p:cNvSpPr txBox="1"/>
          <p:nvPr/>
        </p:nvSpPr>
        <p:spPr>
          <a:xfrm>
            <a:off x="8277225" y="4764087"/>
            <a:ext cx="440055" cy="739140"/>
          </a:xfrm>
          <a:prstGeom prst="rect">
            <a:avLst/>
          </a:prstGeom>
        </p:spPr>
        <p:txBody>
          <a:bodyPr vert="horz" wrap="square" lIns="0" tIns="67945" rIns="0" bIns="0" rtlCol="0">
            <a:spAutoFit/>
          </a:bodyPr>
          <a:lstStyle/>
          <a:p>
            <a:pPr marL="12700" marR="5080" indent="68580" algn="just">
              <a:lnSpc>
                <a:spcPct val="80000"/>
              </a:lnSpc>
              <a:spcBef>
                <a:spcPts val="535"/>
              </a:spcBef>
            </a:pPr>
            <a:r>
              <a:rPr sz="1800" spc="-25" dirty="0">
                <a:latin typeface="Times New Roman"/>
                <a:cs typeface="Times New Roman"/>
              </a:rPr>
              <a:t>top of </a:t>
            </a:r>
            <a:r>
              <a:rPr sz="1800" spc="-95" dirty="0">
                <a:latin typeface="Times New Roman"/>
                <a:cs typeface="Times New Roman"/>
              </a:rPr>
              <a:t>stack</a:t>
            </a:r>
            <a:endParaRPr sz="1800">
              <a:latin typeface="Times New Roman"/>
              <a:cs typeface="Times New Roman"/>
            </a:endParaRPr>
          </a:p>
        </p:txBody>
      </p:sp>
      <p:sp>
        <p:nvSpPr>
          <p:cNvPr id="12" name="object 12"/>
          <p:cNvSpPr/>
          <p:nvPr/>
        </p:nvSpPr>
        <p:spPr>
          <a:xfrm>
            <a:off x="685800" y="5810250"/>
            <a:ext cx="7010400" cy="114300"/>
          </a:xfrm>
          <a:custGeom>
            <a:avLst/>
            <a:gdLst/>
            <a:ahLst/>
            <a:cxnLst/>
            <a:rect l="l" t="t" r="r" b="b"/>
            <a:pathLst>
              <a:path w="7010400" h="114300">
                <a:moveTo>
                  <a:pt x="114300" y="0"/>
                </a:moveTo>
                <a:lnTo>
                  <a:pt x="0" y="57150"/>
                </a:lnTo>
                <a:lnTo>
                  <a:pt x="114300" y="114300"/>
                </a:lnTo>
                <a:lnTo>
                  <a:pt x="114300" y="76200"/>
                </a:lnTo>
                <a:lnTo>
                  <a:pt x="95262" y="76200"/>
                </a:lnTo>
                <a:lnTo>
                  <a:pt x="95262" y="38100"/>
                </a:lnTo>
                <a:lnTo>
                  <a:pt x="114300" y="38100"/>
                </a:lnTo>
                <a:lnTo>
                  <a:pt x="114300" y="0"/>
                </a:lnTo>
                <a:close/>
              </a:path>
              <a:path w="7010400" h="114300">
                <a:moveTo>
                  <a:pt x="114300" y="38100"/>
                </a:moveTo>
                <a:lnTo>
                  <a:pt x="95262" y="38100"/>
                </a:lnTo>
                <a:lnTo>
                  <a:pt x="95262" y="76200"/>
                </a:lnTo>
                <a:lnTo>
                  <a:pt x="114300" y="76200"/>
                </a:lnTo>
                <a:lnTo>
                  <a:pt x="114300" y="38100"/>
                </a:lnTo>
                <a:close/>
              </a:path>
              <a:path w="7010400" h="114300">
                <a:moveTo>
                  <a:pt x="7010400" y="38100"/>
                </a:moveTo>
                <a:lnTo>
                  <a:pt x="114300" y="38100"/>
                </a:lnTo>
                <a:lnTo>
                  <a:pt x="114300" y="76200"/>
                </a:lnTo>
                <a:lnTo>
                  <a:pt x="7010400" y="76200"/>
                </a:lnTo>
                <a:lnTo>
                  <a:pt x="7010400" y="38100"/>
                </a:lnTo>
                <a:close/>
              </a:path>
            </a:pathLst>
          </a:custGeom>
          <a:solidFill>
            <a:srgbClr val="000000"/>
          </a:solidFill>
        </p:spPr>
        <p:txBody>
          <a:bodyPr wrap="square" lIns="0" tIns="0" rIns="0" bIns="0" rtlCol="0"/>
          <a:lstStyle/>
          <a:p>
            <a:endParaRPr/>
          </a:p>
        </p:txBody>
      </p:sp>
      <p:sp>
        <p:nvSpPr>
          <p:cNvPr id="13" name="object 13"/>
          <p:cNvSpPr/>
          <p:nvPr/>
        </p:nvSpPr>
        <p:spPr>
          <a:xfrm>
            <a:off x="5253101" y="4957826"/>
            <a:ext cx="1019175" cy="504825"/>
          </a:xfrm>
          <a:custGeom>
            <a:avLst/>
            <a:gdLst/>
            <a:ahLst/>
            <a:cxnLst/>
            <a:rect l="l" t="t" r="r" b="b"/>
            <a:pathLst>
              <a:path w="1019175" h="504825">
                <a:moveTo>
                  <a:pt x="0" y="504825"/>
                </a:moveTo>
                <a:lnTo>
                  <a:pt x="1019175" y="504825"/>
                </a:lnTo>
                <a:lnTo>
                  <a:pt x="1019175" y="0"/>
                </a:lnTo>
                <a:lnTo>
                  <a:pt x="0" y="0"/>
                </a:lnTo>
                <a:lnTo>
                  <a:pt x="0" y="504825"/>
                </a:lnTo>
                <a:close/>
              </a:path>
            </a:pathLst>
          </a:custGeom>
          <a:ln w="9525">
            <a:solidFill>
              <a:srgbClr val="000000"/>
            </a:solidFill>
          </a:ln>
        </p:spPr>
        <p:txBody>
          <a:bodyPr wrap="square" lIns="0" tIns="0" rIns="0" bIns="0" rtlCol="0"/>
          <a:lstStyle/>
          <a:p>
            <a:endParaRPr/>
          </a:p>
        </p:txBody>
      </p:sp>
      <p:sp>
        <p:nvSpPr>
          <p:cNvPr id="14" name="object 14"/>
          <p:cNvSpPr txBox="1"/>
          <p:nvPr/>
        </p:nvSpPr>
        <p:spPr>
          <a:xfrm>
            <a:off x="5257863" y="4962588"/>
            <a:ext cx="967105" cy="495300"/>
          </a:xfrm>
          <a:prstGeom prst="rect">
            <a:avLst/>
          </a:prstGeom>
          <a:solidFill>
            <a:srgbClr val="006FC0"/>
          </a:solidFill>
        </p:spPr>
        <p:txBody>
          <a:bodyPr vert="horz" wrap="square" lIns="0" tIns="85725" rIns="0" bIns="0" rtlCol="0">
            <a:spAutoFit/>
          </a:bodyPr>
          <a:lstStyle/>
          <a:p>
            <a:pPr marL="175895">
              <a:lnSpc>
                <a:spcPct val="100000"/>
              </a:lnSpc>
              <a:spcBef>
                <a:spcPts val="675"/>
              </a:spcBef>
            </a:pPr>
            <a:r>
              <a:rPr sz="1800" b="1" spc="-10" dirty="0">
                <a:latin typeface="Times New Roman"/>
                <a:cs typeface="Times New Roman"/>
              </a:rPr>
              <a:t>canary</a:t>
            </a:r>
            <a:endParaRPr sz="1800">
              <a:latin typeface="Times New Roman"/>
              <a:cs typeface="Times New Roman"/>
            </a:endParaRPr>
          </a:p>
        </p:txBody>
      </p:sp>
      <p:sp>
        <p:nvSpPr>
          <p:cNvPr id="15" name="object 15"/>
          <p:cNvSpPr txBox="1"/>
          <p:nvPr/>
        </p:nvSpPr>
        <p:spPr>
          <a:xfrm>
            <a:off x="5647054" y="4506531"/>
            <a:ext cx="711200" cy="300355"/>
          </a:xfrm>
          <a:prstGeom prst="rect">
            <a:avLst/>
          </a:prstGeom>
        </p:spPr>
        <p:txBody>
          <a:bodyPr vert="horz" wrap="square" lIns="0" tIns="12700" rIns="0" bIns="0" rtlCol="0">
            <a:spAutoFit/>
          </a:bodyPr>
          <a:lstStyle/>
          <a:p>
            <a:pPr marL="12700">
              <a:lnSpc>
                <a:spcPct val="100000"/>
              </a:lnSpc>
              <a:spcBef>
                <a:spcPts val="100"/>
              </a:spcBef>
            </a:pPr>
            <a:r>
              <a:rPr sz="1800" spc="-100" dirty="0">
                <a:latin typeface="Times New Roman"/>
                <a:cs typeface="Times New Roman"/>
              </a:rPr>
              <a:t>Frame</a:t>
            </a:r>
            <a:r>
              <a:rPr sz="1800" spc="-20" dirty="0">
                <a:latin typeface="Times New Roman"/>
                <a:cs typeface="Times New Roman"/>
              </a:rPr>
              <a:t> </a:t>
            </a:r>
            <a:r>
              <a:rPr sz="1800" spc="-50" dirty="0">
                <a:latin typeface="Times New Roman"/>
                <a:cs typeface="Times New Roman"/>
              </a:rPr>
              <a:t>1</a:t>
            </a:r>
            <a:endParaRPr sz="1800">
              <a:latin typeface="Times New Roman"/>
              <a:cs typeface="Times New Roman"/>
            </a:endParaRPr>
          </a:p>
        </p:txBody>
      </p:sp>
      <p:sp>
        <p:nvSpPr>
          <p:cNvPr id="16" name="object 16"/>
          <p:cNvSpPr txBox="1"/>
          <p:nvPr/>
        </p:nvSpPr>
        <p:spPr>
          <a:xfrm>
            <a:off x="2384425" y="4522152"/>
            <a:ext cx="712470" cy="300355"/>
          </a:xfrm>
          <a:prstGeom prst="rect">
            <a:avLst/>
          </a:prstGeom>
        </p:spPr>
        <p:txBody>
          <a:bodyPr vert="horz" wrap="square" lIns="0" tIns="12700" rIns="0" bIns="0" rtlCol="0">
            <a:spAutoFit/>
          </a:bodyPr>
          <a:lstStyle/>
          <a:p>
            <a:pPr marL="12700">
              <a:lnSpc>
                <a:spcPct val="100000"/>
              </a:lnSpc>
              <a:spcBef>
                <a:spcPts val="100"/>
              </a:spcBef>
            </a:pPr>
            <a:r>
              <a:rPr sz="1800" spc="-95" dirty="0">
                <a:latin typeface="Times New Roman"/>
                <a:cs typeface="Times New Roman"/>
              </a:rPr>
              <a:t>Frame</a:t>
            </a:r>
            <a:r>
              <a:rPr sz="1800" spc="-30" dirty="0">
                <a:latin typeface="Times New Roman"/>
                <a:cs typeface="Times New Roman"/>
              </a:rPr>
              <a:t> </a:t>
            </a:r>
            <a:r>
              <a:rPr sz="1800" spc="-50" dirty="0">
                <a:latin typeface="Times New Roman"/>
                <a:cs typeface="Times New Roman"/>
              </a:rPr>
              <a:t>2</a:t>
            </a:r>
            <a:endParaRPr sz="1800">
              <a:latin typeface="Times New Roman"/>
              <a:cs typeface="Times New Roman"/>
            </a:endParaRPr>
          </a:p>
        </p:txBody>
      </p:sp>
      <p:graphicFrame>
        <p:nvGraphicFramePr>
          <p:cNvPr id="17" name="object 17"/>
          <p:cNvGraphicFramePr>
            <a:graphicFrameLocks noGrp="1"/>
          </p:cNvGraphicFramePr>
          <p:nvPr/>
        </p:nvGraphicFramePr>
        <p:xfrm>
          <a:off x="304800" y="4948301"/>
          <a:ext cx="3810000" cy="563245"/>
        </p:xfrm>
        <a:graphic>
          <a:graphicData uri="http://schemas.openxmlformats.org/drawingml/2006/table">
            <a:tbl>
              <a:tblPr firstRow="1" bandRow="1">
                <a:tableStyleId>{2D5ABB26-0587-4C30-8999-92F81FD0307C}</a:tableStyleId>
              </a:tblPr>
              <a:tblGrid>
                <a:gridCol w="371475"/>
                <a:gridCol w="1038225"/>
                <a:gridCol w="1000125"/>
                <a:gridCol w="523875"/>
                <a:gridCol w="428625"/>
                <a:gridCol w="447675"/>
              </a:tblGrid>
              <a:tr h="0">
                <a:tc rowSpan="3">
                  <a:txBody>
                    <a:bodyPr/>
                    <a:lstStyle/>
                    <a:p>
                      <a:pPr>
                        <a:lnSpc>
                          <a:spcPct val="100000"/>
                        </a:lnSpc>
                      </a:pPr>
                      <a:endParaRPr sz="2300">
                        <a:latin typeface="Times New Roman"/>
                        <a:cs typeface="Times New Roman"/>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rowSpan="3">
                  <a:txBody>
                    <a:bodyPr/>
                    <a:lstStyle/>
                    <a:p>
                      <a:pPr marL="285115">
                        <a:lnSpc>
                          <a:spcPct val="100000"/>
                        </a:lnSpc>
                        <a:spcBef>
                          <a:spcPts val="710"/>
                        </a:spcBef>
                      </a:pPr>
                      <a:r>
                        <a:rPr sz="1800" b="1" spc="-10" dirty="0">
                          <a:latin typeface="Times New Roman"/>
                          <a:cs typeface="Times New Roman"/>
                        </a:rPr>
                        <a:t>local</a:t>
                      </a:r>
                      <a:endParaRPr sz="1800">
                        <a:latin typeface="Times New Roman"/>
                        <a:cs typeface="Times New Roman"/>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rowSpan="3">
                  <a:txBody>
                    <a:bodyPr/>
                    <a:lstStyle/>
                    <a:p>
                      <a:pPr marL="178435">
                        <a:lnSpc>
                          <a:spcPct val="100000"/>
                        </a:lnSpc>
                        <a:spcBef>
                          <a:spcPts val="710"/>
                        </a:spcBef>
                      </a:pPr>
                      <a:r>
                        <a:rPr sz="1800" b="1" spc="-10" dirty="0">
                          <a:latin typeface="Times New Roman"/>
                          <a:cs typeface="Times New Roman"/>
                        </a:rPr>
                        <a:t>canary</a:t>
                      </a:r>
                      <a:endParaRPr sz="1800">
                        <a:latin typeface="Times New Roman"/>
                        <a:cs typeface="Times New Roman"/>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gridSpan="3">
                  <a:txBody>
                    <a:bodyPr/>
                    <a:lstStyle/>
                    <a:p>
                      <a:pPr>
                        <a:lnSpc>
                          <a:spcPct val="100000"/>
                        </a:lnSpc>
                      </a:pPr>
                      <a:endParaRPr sz="2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B w="9525">
                      <a:solidFill>
                        <a:srgbClr val="000000"/>
                      </a:solidFill>
                      <a:prstDash val="solid"/>
                    </a:lnB>
                    <a:solidFill>
                      <a:srgbClr val="006FC0"/>
                    </a:solidFill>
                  </a:tcPr>
                </a:tc>
                <a:tc hMerge="1">
                  <a:txBody>
                    <a:bodyPr/>
                    <a:lstStyle/>
                    <a:p>
                      <a:endParaRPr/>
                    </a:p>
                  </a:txBody>
                  <a:tcPr marL="0" marR="0" marT="0" marB="0"/>
                </a:tc>
                <a:tc hMerge="1">
                  <a:txBody>
                    <a:bodyPr/>
                    <a:lstStyle/>
                    <a:p>
                      <a:endParaRPr/>
                    </a:p>
                  </a:txBody>
                  <a:tcPr marL="0" marR="0" marT="0" marB="0"/>
                </a:tc>
              </a:tr>
              <a:tr h="371475">
                <a:tc vMerge="1">
                  <a:txBody>
                    <a:bodyPr/>
                    <a:lstStyle/>
                    <a:p>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116839">
                        <a:lnSpc>
                          <a:spcPct val="100000"/>
                        </a:lnSpc>
                        <a:spcBef>
                          <a:spcPts val="200"/>
                        </a:spcBef>
                      </a:pPr>
                      <a:r>
                        <a:rPr sz="1800" b="1" spc="-25" dirty="0">
                          <a:latin typeface="Times New Roman"/>
                          <a:cs typeface="Times New Roman"/>
                        </a:rPr>
                        <a:t>sfp</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48895">
                        <a:lnSpc>
                          <a:spcPct val="100000"/>
                        </a:lnSpc>
                        <a:spcBef>
                          <a:spcPts val="200"/>
                        </a:spcBef>
                      </a:pPr>
                      <a:r>
                        <a:rPr sz="1800" b="1" spc="-25" dirty="0">
                          <a:latin typeface="Times New Roman"/>
                          <a:cs typeface="Times New Roman"/>
                        </a:rPr>
                        <a:t>ret</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77470">
                        <a:lnSpc>
                          <a:spcPct val="100000"/>
                        </a:lnSpc>
                        <a:spcBef>
                          <a:spcPts val="200"/>
                        </a:spcBef>
                      </a:pPr>
                      <a:r>
                        <a:rPr sz="1800" b="1" spc="-25" dirty="0">
                          <a:latin typeface="Times New Roman"/>
                          <a:cs typeface="Times New Roman"/>
                        </a:rPr>
                        <a:t>str</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r>
              <a:tr h="76200">
                <a:tc vMerge="1">
                  <a:txBody>
                    <a:bodyPr/>
                    <a:lstStyle/>
                    <a:p>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gridSpan="3">
                  <a:txBody>
                    <a:bodyPr/>
                    <a:lstStyle/>
                    <a:p>
                      <a:pPr>
                        <a:lnSpc>
                          <a:spcPct val="100000"/>
                        </a:lnSpc>
                      </a:pPr>
                      <a:endParaRPr sz="300">
                        <a:latin typeface="Times New Roman"/>
                        <a:cs typeface="Times New Roman"/>
                      </a:endParaRPr>
                    </a:p>
                  </a:txBody>
                  <a:tcPr marL="0" marR="0" marT="0" marB="0">
                    <a:lnT w="9525">
                      <a:solidFill>
                        <a:srgbClr val="000000"/>
                      </a:solidFill>
                      <a:prstDash val="solid"/>
                    </a:lnT>
                  </a:tcPr>
                </a:tc>
                <a:tc hMerge="1">
                  <a:txBody>
                    <a:bodyPr/>
                    <a:lstStyle/>
                    <a:p>
                      <a:endParaRPr/>
                    </a:p>
                  </a:txBody>
                  <a:tcPr marL="0" marR="0" marT="0" marB="0"/>
                </a:tc>
                <a:tc hMerge="1">
                  <a:txBody>
                    <a:bodyPr/>
                    <a:lstStyle/>
                    <a:p>
                      <a:endParaRPr/>
                    </a:p>
                  </a:txBody>
                  <a:tcPr marL="0" marR="0" marT="0" marB="0"/>
                </a:tc>
              </a:tr>
            </a:tbl>
          </a:graphicData>
        </a:graphic>
      </p:graphicFrame>
      <p:pic>
        <p:nvPicPr>
          <p:cNvPr id="18" name="object 18"/>
          <p:cNvPicPr/>
          <p:nvPr/>
        </p:nvPicPr>
        <p:blipFill>
          <a:blip r:embed="rId2" cstate="print"/>
          <a:stretch>
            <a:fillRect/>
          </a:stretch>
        </p:blipFill>
        <p:spPr>
          <a:xfrm>
            <a:off x="457200" y="6248400"/>
            <a:ext cx="476250" cy="381000"/>
          </a:xfrm>
          <a:prstGeom prst="rect">
            <a:avLst/>
          </a:prstGeom>
        </p:spPr>
      </p:pic>
      <p:sp>
        <p:nvSpPr>
          <p:cNvPr id="19" name="object 1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381000"/>
            <a:ext cx="8229600" cy="5601533"/>
          </a:xfrm>
        </p:spPr>
        <p:txBody>
          <a:bodyPr/>
          <a:lstStyle/>
          <a:p>
            <a:r>
              <a:rPr lang="en-US" sz="2800" dirty="0">
                <a:solidFill>
                  <a:srgbClr val="FF0000"/>
                </a:solidFill>
              </a:rPr>
              <a:t>Canary defense (</a:t>
            </a:r>
            <a:r>
              <a:rPr lang="en-US" sz="2800" dirty="0" smtClean="0">
                <a:solidFill>
                  <a:srgbClr val="FF0000"/>
                </a:solidFill>
              </a:rPr>
              <a:t>or stack </a:t>
            </a:r>
            <a:r>
              <a:rPr lang="en-US" sz="2800" dirty="0">
                <a:solidFill>
                  <a:srgbClr val="FF0000"/>
                </a:solidFill>
              </a:rPr>
              <a:t>canaries)</a:t>
            </a:r>
            <a:r>
              <a:rPr lang="en-US" sz="2800" dirty="0"/>
              <a:t> is a widely used security mechanism to detect and mitigate stack-based buffer overflow attacks. </a:t>
            </a:r>
            <a:endParaRPr lang="en-US" sz="2800" dirty="0" smtClean="0"/>
          </a:p>
          <a:p>
            <a:endParaRPr lang="en-US" sz="2800" dirty="0"/>
          </a:p>
          <a:p>
            <a:r>
              <a:rPr lang="en-US" sz="2800" dirty="0" smtClean="0"/>
              <a:t>It </a:t>
            </a:r>
            <a:r>
              <a:rPr lang="en-US" sz="2800" dirty="0"/>
              <a:t>works by placing a small, secret value, called a "canary" or "stack cookie," on the stack memory between a local buffer and critical control data, such as the function's return address. </a:t>
            </a:r>
            <a:endParaRPr lang="en-US" sz="2800" dirty="0" smtClean="0"/>
          </a:p>
          <a:p>
            <a:endParaRPr lang="en-US" sz="2800" dirty="0"/>
          </a:p>
          <a:p>
            <a:r>
              <a:rPr lang="en-US" sz="2800" i="1" dirty="0">
                <a:solidFill>
                  <a:srgbClr val="0070C0"/>
                </a:solidFill>
              </a:rPr>
              <a:t>The name "canary" is an analogy to the historic practice of miners bringing canaries into coal mines to detect toxic gases; the bird would be affected before the miners, providing an early warning system. </a:t>
            </a:r>
            <a:endParaRPr lang="en-US" sz="2800" i="1" dirty="0" smtClean="0">
              <a:solidFill>
                <a:srgbClr val="0070C0"/>
              </a:solidFill>
            </a:endParaRPr>
          </a:p>
        </p:txBody>
      </p:sp>
    </p:spTree>
    <p:extLst>
      <p:ext uri="{BB962C8B-B14F-4D97-AF65-F5344CB8AC3E}">
        <p14:creationId xmlns:p14="http://schemas.microsoft.com/office/powerpoint/2010/main" val="978931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375" y="90169"/>
            <a:ext cx="2537460" cy="575310"/>
          </a:xfrm>
          <a:prstGeom prst="rect">
            <a:avLst/>
          </a:prstGeom>
        </p:spPr>
        <p:txBody>
          <a:bodyPr vert="horz" wrap="square" lIns="0" tIns="13335" rIns="0" bIns="0" rtlCol="0">
            <a:spAutoFit/>
          </a:bodyPr>
          <a:lstStyle/>
          <a:p>
            <a:pPr marL="12700">
              <a:lnSpc>
                <a:spcPct val="100000"/>
              </a:lnSpc>
              <a:spcBef>
                <a:spcPts val="105"/>
              </a:spcBef>
            </a:pPr>
            <a:r>
              <a:rPr dirty="0"/>
              <a:t>Canary</a:t>
            </a:r>
            <a:r>
              <a:rPr spc="-80" dirty="0"/>
              <a:t> </a:t>
            </a:r>
            <a:r>
              <a:rPr spc="-40" dirty="0"/>
              <a:t>Types</a:t>
            </a:r>
          </a:p>
        </p:txBody>
      </p:sp>
      <p:sp>
        <p:nvSpPr>
          <p:cNvPr id="3" name="object 3"/>
          <p:cNvSpPr txBox="1"/>
          <p:nvPr/>
        </p:nvSpPr>
        <p:spPr>
          <a:xfrm>
            <a:off x="383857" y="1045082"/>
            <a:ext cx="7781290" cy="2514600"/>
          </a:xfrm>
          <a:prstGeom prst="rect">
            <a:avLst/>
          </a:prstGeom>
        </p:spPr>
        <p:txBody>
          <a:bodyPr vert="horz" wrap="square" lIns="0" tIns="78740" rIns="0" bIns="0" rtlCol="0">
            <a:spAutoFit/>
          </a:bodyPr>
          <a:lstStyle/>
          <a:p>
            <a:pPr marL="286385" indent="-273685">
              <a:lnSpc>
                <a:spcPct val="100000"/>
              </a:lnSpc>
              <a:spcBef>
                <a:spcPts val="620"/>
              </a:spcBef>
              <a:buClr>
                <a:srgbClr val="D24717"/>
              </a:buClr>
              <a:buSzPct val="82692"/>
              <a:buFont typeface="Segoe UI Symbol"/>
              <a:buChar char="⚫"/>
              <a:tabLst>
                <a:tab pos="286385" algn="l"/>
              </a:tabLst>
            </a:pPr>
            <a:r>
              <a:rPr sz="2600" u="sng" dirty="0">
                <a:solidFill>
                  <a:srgbClr val="000090"/>
                </a:solidFill>
                <a:uFill>
                  <a:solidFill>
                    <a:srgbClr val="000090"/>
                  </a:solidFill>
                </a:uFill>
                <a:latin typeface="Times New Roman"/>
                <a:cs typeface="Times New Roman"/>
              </a:rPr>
              <a:t>Random</a:t>
            </a:r>
            <a:r>
              <a:rPr sz="2600" u="sng" spc="-50" dirty="0">
                <a:solidFill>
                  <a:srgbClr val="000090"/>
                </a:solidFill>
                <a:uFill>
                  <a:solidFill>
                    <a:srgbClr val="000090"/>
                  </a:solidFill>
                </a:uFill>
                <a:latin typeface="Times New Roman"/>
                <a:cs typeface="Times New Roman"/>
              </a:rPr>
              <a:t> </a:t>
            </a:r>
            <a:r>
              <a:rPr sz="2600" u="sng" spc="-10" dirty="0">
                <a:solidFill>
                  <a:srgbClr val="000090"/>
                </a:solidFill>
                <a:uFill>
                  <a:solidFill>
                    <a:srgbClr val="000090"/>
                  </a:solidFill>
                </a:uFill>
                <a:latin typeface="Times New Roman"/>
                <a:cs typeface="Times New Roman"/>
              </a:rPr>
              <a:t>canary:</a:t>
            </a:r>
            <a:endParaRPr sz="2600">
              <a:latin typeface="Times New Roman"/>
              <a:cs typeface="Times New Roman"/>
            </a:endParaRPr>
          </a:p>
          <a:p>
            <a:pPr marL="561340" lvl="1" indent="-228600">
              <a:lnSpc>
                <a:spcPct val="100000"/>
              </a:lnSpc>
              <a:spcBef>
                <a:spcPts val="459"/>
              </a:spcBef>
              <a:buClr>
                <a:srgbClr val="9B2C1F"/>
              </a:buClr>
              <a:buSzPct val="83333"/>
              <a:buFont typeface="Segoe UI Symbol"/>
              <a:buChar char="⚫"/>
              <a:tabLst>
                <a:tab pos="561340" algn="l"/>
              </a:tabLst>
            </a:pPr>
            <a:r>
              <a:rPr sz="2400" dirty="0">
                <a:latin typeface="Times New Roman"/>
                <a:cs typeface="Times New Roman"/>
              </a:rPr>
              <a:t>Random</a:t>
            </a:r>
            <a:r>
              <a:rPr sz="2400" spc="-70" dirty="0">
                <a:latin typeface="Times New Roman"/>
                <a:cs typeface="Times New Roman"/>
              </a:rPr>
              <a:t> </a:t>
            </a:r>
            <a:r>
              <a:rPr sz="2400" dirty="0">
                <a:latin typeface="Times New Roman"/>
                <a:cs typeface="Times New Roman"/>
              </a:rPr>
              <a:t>string chosen</a:t>
            </a:r>
            <a:r>
              <a:rPr sz="2400" spc="5" dirty="0">
                <a:latin typeface="Times New Roman"/>
                <a:cs typeface="Times New Roman"/>
              </a:rPr>
              <a:t> </a:t>
            </a:r>
            <a:r>
              <a:rPr sz="2400" dirty="0">
                <a:latin typeface="Times New Roman"/>
                <a:cs typeface="Times New Roman"/>
              </a:rPr>
              <a:t>at program</a:t>
            </a:r>
            <a:r>
              <a:rPr sz="2400" spc="-65" dirty="0">
                <a:latin typeface="Times New Roman"/>
                <a:cs typeface="Times New Roman"/>
              </a:rPr>
              <a:t> </a:t>
            </a:r>
            <a:r>
              <a:rPr sz="2400" spc="-10" dirty="0">
                <a:latin typeface="Times New Roman"/>
                <a:cs typeface="Times New Roman"/>
              </a:rPr>
              <a:t>startup.</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Insert</a:t>
            </a:r>
            <a:r>
              <a:rPr sz="2400" spc="-5" dirty="0">
                <a:latin typeface="Times New Roman"/>
                <a:cs typeface="Times New Roman"/>
              </a:rPr>
              <a:t> </a:t>
            </a:r>
            <a:r>
              <a:rPr sz="2400" dirty="0">
                <a:latin typeface="Times New Roman"/>
                <a:cs typeface="Times New Roman"/>
              </a:rPr>
              <a:t>canary</a:t>
            </a:r>
            <a:r>
              <a:rPr sz="2400" spc="-5" dirty="0">
                <a:latin typeface="Times New Roman"/>
                <a:cs typeface="Times New Roman"/>
              </a:rPr>
              <a:t> </a:t>
            </a:r>
            <a:r>
              <a:rPr sz="2400" dirty="0">
                <a:latin typeface="Times New Roman"/>
                <a:cs typeface="Times New Roman"/>
              </a:rPr>
              <a:t>string</a:t>
            </a:r>
            <a:r>
              <a:rPr sz="2400" spc="-5" dirty="0">
                <a:latin typeface="Times New Roman"/>
                <a:cs typeface="Times New Roman"/>
              </a:rPr>
              <a:t> </a:t>
            </a:r>
            <a:r>
              <a:rPr sz="2400" spc="-10" dirty="0">
                <a:latin typeface="Times New Roman"/>
                <a:cs typeface="Times New Roman"/>
              </a:rPr>
              <a:t>(4-</a:t>
            </a:r>
            <a:r>
              <a:rPr sz="2400" dirty="0">
                <a:latin typeface="Times New Roman"/>
                <a:cs typeface="Times New Roman"/>
              </a:rPr>
              <a:t>8</a:t>
            </a:r>
            <a:r>
              <a:rPr sz="2400" spc="-5" dirty="0">
                <a:latin typeface="Times New Roman"/>
                <a:cs typeface="Times New Roman"/>
              </a:rPr>
              <a:t> </a:t>
            </a:r>
            <a:r>
              <a:rPr sz="2400" dirty="0">
                <a:latin typeface="Times New Roman"/>
                <a:cs typeface="Times New Roman"/>
              </a:rPr>
              <a:t>bytes)</a:t>
            </a:r>
            <a:r>
              <a:rPr sz="2400" spc="-55" dirty="0">
                <a:latin typeface="Times New Roman"/>
                <a:cs typeface="Times New Roman"/>
              </a:rPr>
              <a:t> </a:t>
            </a:r>
            <a:r>
              <a:rPr sz="2400" dirty="0">
                <a:latin typeface="Times New Roman"/>
                <a:cs typeface="Times New Roman"/>
              </a:rPr>
              <a:t>into every</a:t>
            </a:r>
            <a:r>
              <a:rPr sz="2400" spc="-5" dirty="0">
                <a:latin typeface="Times New Roman"/>
                <a:cs typeface="Times New Roman"/>
              </a:rPr>
              <a:t> </a:t>
            </a:r>
            <a:r>
              <a:rPr sz="2400" dirty="0">
                <a:latin typeface="Times New Roman"/>
                <a:cs typeface="Times New Roman"/>
              </a:rPr>
              <a:t>stack</a:t>
            </a:r>
            <a:r>
              <a:rPr sz="2400" spc="-5" dirty="0">
                <a:latin typeface="Times New Roman"/>
                <a:cs typeface="Times New Roman"/>
              </a:rPr>
              <a:t> </a:t>
            </a:r>
            <a:r>
              <a:rPr sz="2400" spc="-10" dirty="0">
                <a:latin typeface="Times New Roman"/>
                <a:cs typeface="Times New Roman"/>
              </a:rPr>
              <a:t>frame.</a:t>
            </a:r>
            <a:endParaRPr sz="2400">
              <a:latin typeface="Times New Roman"/>
              <a:cs typeface="Times New Roman"/>
            </a:endParaRPr>
          </a:p>
          <a:p>
            <a:pPr marL="561340" lvl="1" indent="-228600">
              <a:lnSpc>
                <a:spcPct val="100000"/>
              </a:lnSpc>
              <a:spcBef>
                <a:spcPts val="350"/>
              </a:spcBef>
              <a:buClr>
                <a:srgbClr val="9B2C1F"/>
              </a:buClr>
              <a:buSzPct val="83333"/>
              <a:buFont typeface="Segoe UI Symbol"/>
              <a:buChar char="⚫"/>
              <a:tabLst>
                <a:tab pos="561340" algn="l"/>
              </a:tabLst>
            </a:pPr>
            <a:r>
              <a:rPr sz="2400" spc="-30" dirty="0">
                <a:latin typeface="Times New Roman"/>
                <a:cs typeface="Times New Roman"/>
              </a:rPr>
              <a:t>Verify</a:t>
            </a:r>
            <a:r>
              <a:rPr sz="2400" spc="-40" dirty="0">
                <a:latin typeface="Times New Roman"/>
                <a:cs typeface="Times New Roman"/>
              </a:rPr>
              <a:t> </a:t>
            </a:r>
            <a:r>
              <a:rPr sz="2400" dirty="0">
                <a:latin typeface="Times New Roman"/>
                <a:cs typeface="Times New Roman"/>
              </a:rPr>
              <a:t>canary</a:t>
            </a:r>
            <a:r>
              <a:rPr sz="2400" spc="-40" dirty="0">
                <a:latin typeface="Times New Roman"/>
                <a:cs typeface="Times New Roman"/>
              </a:rPr>
              <a:t> </a:t>
            </a:r>
            <a:r>
              <a:rPr sz="2400" dirty="0">
                <a:latin typeface="Times New Roman"/>
                <a:cs typeface="Times New Roman"/>
              </a:rPr>
              <a:t>before</a:t>
            </a:r>
            <a:r>
              <a:rPr sz="2400" spc="-55" dirty="0">
                <a:latin typeface="Times New Roman"/>
                <a:cs typeface="Times New Roman"/>
              </a:rPr>
              <a:t> </a:t>
            </a:r>
            <a:r>
              <a:rPr sz="2400" dirty="0">
                <a:latin typeface="Times New Roman"/>
                <a:cs typeface="Times New Roman"/>
              </a:rPr>
              <a:t>returning</a:t>
            </a:r>
            <a:r>
              <a:rPr sz="2400" spc="-40" dirty="0">
                <a:latin typeface="Times New Roman"/>
                <a:cs typeface="Times New Roman"/>
              </a:rPr>
              <a:t> </a:t>
            </a:r>
            <a:r>
              <a:rPr sz="2400" dirty="0">
                <a:latin typeface="Times New Roman"/>
                <a:cs typeface="Times New Roman"/>
              </a:rPr>
              <a:t>from</a:t>
            </a:r>
            <a:r>
              <a:rPr sz="2400" spc="-35" dirty="0">
                <a:latin typeface="Times New Roman"/>
                <a:cs typeface="Times New Roman"/>
              </a:rPr>
              <a:t> </a:t>
            </a:r>
            <a:r>
              <a:rPr sz="2400" spc="-10" dirty="0">
                <a:latin typeface="Times New Roman"/>
                <a:cs typeface="Times New Roman"/>
              </a:rPr>
              <a:t>function.</a:t>
            </a:r>
            <a:endParaRPr sz="2400">
              <a:latin typeface="Times New Roman"/>
              <a:cs typeface="Times New Roman"/>
            </a:endParaRPr>
          </a:p>
          <a:p>
            <a:pPr marL="835025" lvl="2" indent="-227329">
              <a:lnSpc>
                <a:spcPct val="100000"/>
              </a:lnSpc>
              <a:spcBef>
                <a:spcPts val="445"/>
              </a:spcBef>
              <a:buClr>
                <a:srgbClr val="E6B0AB"/>
              </a:buClr>
              <a:buSzPct val="85000"/>
              <a:buFont typeface="Segoe UI Symbol"/>
              <a:buChar char="⚫"/>
              <a:tabLst>
                <a:tab pos="835025" algn="l"/>
                <a:tab pos="4425315" algn="l"/>
              </a:tabLst>
            </a:pPr>
            <a:r>
              <a:rPr sz="2000" dirty="0">
                <a:latin typeface="Times New Roman"/>
                <a:cs typeface="Times New Roman"/>
              </a:rPr>
              <a:t>Exit</a:t>
            </a:r>
            <a:r>
              <a:rPr sz="2000" spc="-40" dirty="0">
                <a:latin typeface="Times New Roman"/>
                <a:cs typeface="Times New Roman"/>
              </a:rPr>
              <a:t> </a:t>
            </a:r>
            <a:r>
              <a:rPr sz="2000" dirty="0">
                <a:latin typeface="Times New Roman"/>
                <a:cs typeface="Times New Roman"/>
              </a:rPr>
              <a:t>program</a:t>
            </a:r>
            <a:r>
              <a:rPr sz="2000" spc="-80" dirty="0">
                <a:latin typeface="Times New Roman"/>
                <a:cs typeface="Times New Roman"/>
              </a:rPr>
              <a:t> </a:t>
            </a:r>
            <a:r>
              <a:rPr sz="2000" dirty="0">
                <a:latin typeface="Times New Roman"/>
                <a:cs typeface="Times New Roman"/>
              </a:rPr>
              <a:t>if</a:t>
            </a:r>
            <a:r>
              <a:rPr sz="2000" spc="-5" dirty="0">
                <a:latin typeface="Times New Roman"/>
                <a:cs typeface="Times New Roman"/>
              </a:rPr>
              <a:t> </a:t>
            </a:r>
            <a:r>
              <a:rPr sz="2000" dirty="0">
                <a:latin typeface="Times New Roman"/>
                <a:cs typeface="Times New Roman"/>
              </a:rPr>
              <a:t>canary</a:t>
            </a:r>
            <a:r>
              <a:rPr sz="2000" spc="-45" dirty="0">
                <a:latin typeface="Times New Roman"/>
                <a:cs typeface="Times New Roman"/>
              </a:rPr>
              <a:t> </a:t>
            </a:r>
            <a:r>
              <a:rPr sz="2000" spc="-10" dirty="0">
                <a:latin typeface="Times New Roman"/>
                <a:cs typeface="Times New Roman"/>
              </a:rPr>
              <a:t>changed.</a:t>
            </a:r>
            <a:r>
              <a:rPr sz="2000" dirty="0">
                <a:latin typeface="Times New Roman"/>
                <a:cs typeface="Times New Roman"/>
              </a:rPr>
              <a:t>	Turns</a:t>
            </a:r>
            <a:r>
              <a:rPr sz="2000" spc="-70" dirty="0">
                <a:latin typeface="Times New Roman"/>
                <a:cs typeface="Times New Roman"/>
              </a:rPr>
              <a:t> </a:t>
            </a:r>
            <a:r>
              <a:rPr sz="2000" dirty="0">
                <a:latin typeface="Times New Roman"/>
                <a:cs typeface="Times New Roman"/>
              </a:rPr>
              <a:t>potential</a:t>
            </a:r>
            <a:r>
              <a:rPr sz="2000" spc="-70" dirty="0">
                <a:latin typeface="Times New Roman"/>
                <a:cs typeface="Times New Roman"/>
              </a:rPr>
              <a:t> </a:t>
            </a:r>
            <a:r>
              <a:rPr sz="2000" dirty="0">
                <a:latin typeface="Times New Roman"/>
                <a:cs typeface="Times New Roman"/>
              </a:rPr>
              <a:t>exploit</a:t>
            </a:r>
            <a:r>
              <a:rPr sz="2000" spc="-65" dirty="0">
                <a:latin typeface="Times New Roman"/>
                <a:cs typeface="Times New Roman"/>
              </a:rPr>
              <a:t> </a:t>
            </a:r>
            <a:r>
              <a:rPr sz="2000" dirty="0">
                <a:latin typeface="Times New Roman"/>
                <a:cs typeface="Times New Roman"/>
              </a:rPr>
              <a:t>into</a:t>
            </a:r>
            <a:r>
              <a:rPr sz="2000" spc="-10" dirty="0">
                <a:latin typeface="Times New Roman"/>
                <a:cs typeface="Times New Roman"/>
              </a:rPr>
              <a:t> </a:t>
            </a:r>
            <a:r>
              <a:rPr sz="2000" spc="-20" dirty="0">
                <a:latin typeface="Times New Roman"/>
                <a:cs typeface="Times New Roman"/>
              </a:rPr>
              <a:t>DoS.</a:t>
            </a:r>
            <a:endParaRPr sz="2000">
              <a:latin typeface="Times New Roman"/>
              <a:cs typeface="Times New Roman"/>
            </a:endParaRPr>
          </a:p>
          <a:p>
            <a:pPr marL="561340" lvl="1" indent="-228600">
              <a:lnSpc>
                <a:spcPct val="100000"/>
              </a:lnSpc>
              <a:spcBef>
                <a:spcPts val="359"/>
              </a:spcBef>
              <a:buClr>
                <a:srgbClr val="9B2C1F"/>
              </a:buClr>
              <a:buSzPct val="83333"/>
              <a:buFont typeface="Segoe UI Symbol"/>
              <a:buChar char="⚫"/>
              <a:tabLst>
                <a:tab pos="561340" algn="l"/>
              </a:tabLst>
            </a:pPr>
            <a:r>
              <a:rPr sz="2400" spc="-40" dirty="0">
                <a:latin typeface="Times New Roman"/>
                <a:cs typeface="Times New Roman"/>
              </a:rPr>
              <a:t>To</a:t>
            </a:r>
            <a:r>
              <a:rPr sz="2400" spc="-35" dirty="0">
                <a:latin typeface="Times New Roman"/>
                <a:cs typeface="Times New Roman"/>
              </a:rPr>
              <a:t> </a:t>
            </a:r>
            <a:r>
              <a:rPr sz="2400" dirty="0">
                <a:latin typeface="Times New Roman"/>
                <a:cs typeface="Times New Roman"/>
              </a:rPr>
              <a:t>corrupt,</a:t>
            </a:r>
            <a:r>
              <a:rPr sz="2400" spc="-35" dirty="0">
                <a:latin typeface="Times New Roman"/>
                <a:cs typeface="Times New Roman"/>
              </a:rPr>
              <a:t> </a:t>
            </a:r>
            <a:r>
              <a:rPr sz="2400" dirty="0">
                <a:latin typeface="Times New Roman"/>
                <a:cs typeface="Times New Roman"/>
              </a:rPr>
              <a:t>attacker</a:t>
            </a:r>
            <a:r>
              <a:rPr sz="2400" spc="-20" dirty="0">
                <a:latin typeface="Times New Roman"/>
                <a:cs typeface="Times New Roman"/>
              </a:rPr>
              <a:t> </a:t>
            </a:r>
            <a:r>
              <a:rPr sz="2400" dirty="0">
                <a:latin typeface="Times New Roman"/>
                <a:cs typeface="Times New Roman"/>
              </a:rPr>
              <a:t>must</a:t>
            </a:r>
            <a:r>
              <a:rPr sz="2400" spc="-35" dirty="0">
                <a:latin typeface="Times New Roman"/>
                <a:cs typeface="Times New Roman"/>
              </a:rPr>
              <a:t> </a:t>
            </a:r>
            <a:r>
              <a:rPr sz="2400" dirty="0">
                <a:latin typeface="Times New Roman"/>
                <a:cs typeface="Times New Roman"/>
              </a:rPr>
              <a:t>learn</a:t>
            </a:r>
            <a:r>
              <a:rPr sz="2400" spc="-35" dirty="0">
                <a:latin typeface="Times New Roman"/>
                <a:cs typeface="Times New Roman"/>
              </a:rPr>
              <a:t> </a:t>
            </a:r>
            <a:r>
              <a:rPr sz="2400" dirty="0">
                <a:latin typeface="Times New Roman"/>
                <a:cs typeface="Times New Roman"/>
              </a:rPr>
              <a:t>current</a:t>
            </a:r>
            <a:r>
              <a:rPr sz="2400" spc="-30" dirty="0">
                <a:latin typeface="Times New Roman"/>
                <a:cs typeface="Times New Roman"/>
              </a:rPr>
              <a:t> </a:t>
            </a:r>
            <a:r>
              <a:rPr sz="2400" dirty="0">
                <a:latin typeface="Times New Roman"/>
                <a:cs typeface="Times New Roman"/>
              </a:rPr>
              <a:t>random</a:t>
            </a:r>
            <a:r>
              <a:rPr sz="2400" spc="-25" dirty="0">
                <a:latin typeface="Times New Roman"/>
                <a:cs typeface="Times New Roman"/>
              </a:rPr>
              <a:t> </a:t>
            </a:r>
            <a:r>
              <a:rPr sz="2400" spc="-10" dirty="0">
                <a:latin typeface="Times New Roman"/>
                <a:cs typeface="Times New Roman"/>
              </a:rPr>
              <a:t>string.</a:t>
            </a:r>
            <a:endParaRPr sz="2400">
              <a:latin typeface="Times New Roman"/>
              <a:cs typeface="Times New Roman"/>
            </a:endParaRPr>
          </a:p>
        </p:txBody>
      </p:sp>
      <p:sp>
        <p:nvSpPr>
          <p:cNvPr id="4" name="object 4"/>
          <p:cNvSpPr txBox="1"/>
          <p:nvPr/>
        </p:nvSpPr>
        <p:spPr>
          <a:xfrm>
            <a:off x="383857" y="3940873"/>
            <a:ext cx="2814955" cy="426084"/>
          </a:xfrm>
          <a:prstGeom prst="rect">
            <a:avLst/>
          </a:prstGeom>
        </p:spPr>
        <p:txBody>
          <a:bodyPr vert="horz" wrap="square" lIns="0" tIns="15875" rIns="0" bIns="0" rtlCol="0">
            <a:spAutoFit/>
          </a:bodyPr>
          <a:lstStyle/>
          <a:p>
            <a:pPr marL="286385" indent="-273685">
              <a:lnSpc>
                <a:spcPct val="100000"/>
              </a:lnSpc>
              <a:spcBef>
                <a:spcPts val="125"/>
              </a:spcBef>
              <a:buClr>
                <a:srgbClr val="D24717"/>
              </a:buClr>
              <a:buSzPct val="82692"/>
              <a:buFont typeface="Segoe UI Symbol"/>
              <a:buChar char="⚫"/>
              <a:tabLst>
                <a:tab pos="286385" algn="l"/>
              </a:tabLst>
            </a:pPr>
            <a:r>
              <a:rPr sz="2600" u="sng" spc="-10" dirty="0">
                <a:solidFill>
                  <a:srgbClr val="000090"/>
                </a:solidFill>
                <a:uFill>
                  <a:solidFill>
                    <a:srgbClr val="000090"/>
                  </a:solidFill>
                </a:uFill>
                <a:latin typeface="Times New Roman"/>
                <a:cs typeface="Times New Roman"/>
              </a:rPr>
              <a:t>Terminator</a:t>
            </a:r>
            <a:r>
              <a:rPr sz="2600" u="sng" spc="-150" dirty="0">
                <a:solidFill>
                  <a:srgbClr val="000090"/>
                </a:solidFill>
                <a:uFill>
                  <a:solidFill>
                    <a:srgbClr val="000090"/>
                  </a:solidFill>
                </a:uFill>
                <a:latin typeface="Times New Roman"/>
                <a:cs typeface="Times New Roman"/>
              </a:rPr>
              <a:t> </a:t>
            </a:r>
            <a:r>
              <a:rPr sz="2600" u="sng" spc="-10" dirty="0">
                <a:solidFill>
                  <a:srgbClr val="000090"/>
                </a:solidFill>
                <a:uFill>
                  <a:solidFill>
                    <a:srgbClr val="000090"/>
                  </a:solidFill>
                </a:uFill>
                <a:latin typeface="Times New Roman"/>
                <a:cs typeface="Times New Roman"/>
              </a:rPr>
              <a:t>canary:</a:t>
            </a:r>
            <a:endParaRPr sz="2600">
              <a:latin typeface="Times New Roman"/>
              <a:cs typeface="Times New Roman"/>
            </a:endParaRPr>
          </a:p>
        </p:txBody>
      </p:sp>
      <p:sp>
        <p:nvSpPr>
          <p:cNvPr id="5" name="object 5"/>
          <p:cNvSpPr txBox="1"/>
          <p:nvPr/>
        </p:nvSpPr>
        <p:spPr>
          <a:xfrm>
            <a:off x="3753484" y="4017073"/>
            <a:ext cx="3947795"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Canary</a:t>
            </a:r>
            <a:r>
              <a:rPr sz="2000" spc="-35" dirty="0">
                <a:latin typeface="Times New Roman"/>
                <a:cs typeface="Times New Roman"/>
              </a:rPr>
              <a:t> </a:t>
            </a:r>
            <a:r>
              <a:rPr sz="2000" dirty="0">
                <a:latin typeface="Times New Roman"/>
                <a:cs typeface="Times New Roman"/>
              </a:rPr>
              <a:t>=</a:t>
            </a:r>
            <a:r>
              <a:rPr sz="2000" spc="434" dirty="0">
                <a:latin typeface="Times New Roman"/>
                <a:cs typeface="Times New Roman"/>
              </a:rPr>
              <a:t> </a:t>
            </a:r>
            <a:r>
              <a:rPr sz="2000" dirty="0">
                <a:latin typeface="Times New Roman"/>
                <a:cs typeface="Times New Roman"/>
              </a:rPr>
              <a:t>{0,</a:t>
            </a:r>
            <a:r>
              <a:rPr sz="2000" spc="25" dirty="0">
                <a:latin typeface="Times New Roman"/>
                <a:cs typeface="Times New Roman"/>
              </a:rPr>
              <a:t> </a:t>
            </a:r>
            <a:r>
              <a:rPr sz="2000" dirty="0">
                <a:latin typeface="Times New Roman"/>
                <a:cs typeface="Times New Roman"/>
              </a:rPr>
              <a:t>newline,</a:t>
            </a:r>
            <a:r>
              <a:rPr sz="2000" spc="-45" dirty="0">
                <a:latin typeface="Times New Roman"/>
                <a:cs typeface="Times New Roman"/>
              </a:rPr>
              <a:t> </a:t>
            </a:r>
            <a:r>
              <a:rPr sz="2000" dirty="0">
                <a:latin typeface="Times New Roman"/>
                <a:cs typeface="Times New Roman"/>
              </a:rPr>
              <a:t>linefeed,</a:t>
            </a:r>
            <a:r>
              <a:rPr sz="2000" spc="-45" dirty="0">
                <a:latin typeface="Times New Roman"/>
                <a:cs typeface="Times New Roman"/>
              </a:rPr>
              <a:t> </a:t>
            </a:r>
            <a:r>
              <a:rPr sz="2000" spc="-20" dirty="0">
                <a:latin typeface="Times New Roman"/>
                <a:cs typeface="Times New Roman"/>
              </a:rPr>
              <a:t>EOF}</a:t>
            </a:r>
            <a:endParaRPr sz="2000">
              <a:latin typeface="Times New Roman"/>
              <a:cs typeface="Times New Roman"/>
            </a:endParaRPr>
          </a:p>
        </p:txBody>
      </p:sp>
      <p:sp>
        <p:nvSpPr>
          <p:cNvPr id="6" name="object 6"/>
          <p:cNvSpPr txBox="1"/>
          <p:nvPr/>
        </p:nvSpPr>
        <p:spPr>
          <a:xfrm>
            <a:off x="704215" y="4335272"/>
            <a:ext cx="6709409" cy="1284605"/>
          </a:xfrm>
          <a:prstGeom prst="rect">
            <a:avLst/>
          </a:prstGeom>
        </p:spPr>
        <p:txBody>
          <a:bodyPr vert="horz" wrap="square" lIns="0" tIns="66040" rIns="0" bIns="0" rtlCol="0">
            <a:spAutoFit/>
          </a:bodyPr>
          <a:lstStyle/>
          <a:p>
            <a:pPr marL="241300" indent="-228600">
              <a:lnSpc>
                <a:spcPct val="100000"/>
              </a:lnSpc>
              <a:spcBef>
                <a:spcPts val="520"/>
              </a:spcBef>
              <a:buClr>
                <a:srgbClr val="9B2C1F"/>
              </a:buClr>
              <a:buSzPct val="83333"/>
              <a:buFont typeface="Segoe UI Symbol"/>
              <a:buChar char="⚫"/>
              <a:tabLst>
                <a:tab pos="241300" algn="l"/>
              </a:tabLst>
            </a:pPr>
            <a:r>
              <a:rPr sz="2400" dirty="0">
                <a:latin typeface="Times New Roman"/>
                <a:cs typeface="Times New Roman"/>
              </a:rPr>
              <a:t>String</a:t>
            </a:r>
            <a:r>
              <a:rPr sz="2400" spc="-15" dirty="0">
                <a:latin typeface="Times New Roman"/>
                <a:cs typeface="Times New Roman"/>
              </a:rPr>
              <a:t> </a:t>
            </a:r>
            <a:r>
              <a:rPr sz="2400" dirty="0">
                <a:latin typeface="Times New Roman"/>
                <a:cs typeface="Times New Roman"/>
              </a:rPr>
              <a:t>functions</a:t>
            </a:r>
            <a:r>
              <a:rPr sz="2400" spc="-55"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dirty="0">
                <a:latin typeface="Times New Roman"/>
                <a:cs typeface="Times New Roman"/>
              </a:rPr>
              <a:t>not copy</a:t>
            </a:r>
            <a:r>
              <a:rPr sz="2400" spc="-15" dirty="0">
                <a:latin typeface="Times New Roman"/>
                <a:cs typeface="Times New Roman"/>
              </a:rPr>
              <a:t> </a:t>
            </a:r>
            <a:r>
              <a:rPr sz="2400" dirty="0">
                <a:latin typeface="Times New Roman"/>
                <a:cs typeface="Times New Roman"/>
              </a:rPr>
              <a:t>beyond</a:t>
            </a:r>
            <a:r>
              <a:rPr sz="2400" spc="-15" dirty="0">
                <a:latin typeface="Times New Roman"/>
                <a:cs typeface="Times New Roman"/>
              </a:rPr>
              <a:t> </a:t>
            </a:r>
            <a:r>
              <a:rPr sz="2400" spc="-10" dirty="0">
                <a:latin typeface="Times New Roman"/>
                <a:cs typeface="Times New Roman"/>
              </a:rPr>
              <a:t>terminator.</a:t>
            </a:r>
            <a:endParaRPr sz="2400">
              <a:latin typeface="Times New Roman"/>
              <a:cs typeface="Times New Roman"/>
            </a:endParaRPr>
          </a:p>
          <a:p>
            <a:pPr marL="241300" indent="-228600">
              <a:lnSpc>
                <a:spcPct val="100000"/>
              </a:lnSpc>
              <a:spcBef>
                <a:spcPts val="425"/>
              </a:spcBef>
              <a:buClr>
                <a:srgbClr val="9B2C1F"/>
              </a:buClr>
              <a:buSzPct val="83333"/>
              <a:buFont typeface="Segoe UI Symbol"/>
              <a:buChar char="⚫"/>
              <a:tabLst>
                <a:tab pos="241300" algn="l"/>
              </a:tabLst>
            </a:pPr>
            <a:r>
              <a:rPr sz="2400" dirty="0">
                <a:latin typeface="Times New Roman"/>
                <a:cs typeface="Times New Roman"/>
              </a:rPr>
              <a:t>Attacker</a:t>
            </a:r>
            <a:r>
              <a:rPr sz="2400" spc="-15" dirty="0">
                <a:latin typeface="Times New Roman"/>
                <a:cs typeface="Times New Roman"/>
              </a:rPr>
              <a:t> </a:t>
            </a:r>
            <a:r>
              <a:rPr sz="2400" dirty="0">
                <a:latin typeface="Times New Roman"/>
                <a:cs typeface="Times New Roman"/>
              </a:rPr>
              <a:t>cannot</a:t>
            </a:r>
            <a:r>
              <a:rPr sz="2400" spc="-30" dirty="0">
                <a:latin typeface="Times New Roman"/>
                <a:cs typeface="Times New Roman"/>
              </a:rPr>
              <a:t> </a:t>
            </a:r>
            <a:r>
              <a:rPr sz="2400" dirty="0">
                <a:latin typeface="Times New Roman"/>
                <a:cs typeface="Times New Roman"/>
              </a:rPr>
              <a:t>use</a:t>
            </a:r>
            <a:r>
              <a:rPr sz="2400" spc="-45" dirty="0">
                <a:latin typeface="Times New Roman"/>
                <a:cs typeface="Times New Roman"/>
              </a:rPr>
              <a:t> </a:t>
            </a:r>
            <a:r>
              <a:rPr sz="2400" dirty="0">
                <a:latin typeface="Times New Roman"/>
                <a:cs typeface="Times New Roman"/>
              </a:rPr>
              <a:t>string</a:t>
            </a:r>
            <a:r>
              <a:rPr sz="2400" spc="-30" dirty="0">
                <a:latin typeface="Times New Roman"/>
                <a:cs typeface="Times New Roman"/>
              </a:rPr>
              <a:t> </a:t>
            </a:r>
            <a:r>
              <a:rPr sz="2400" dirty="0">
                <a:latin typeface="Times New Roman"/>
                <a:cs typeface="Times New Roman"/>
              </a:rPr>
              <a:t>functions</a:t>
            </a:r>
            <a:r>
              <a:rPr sz="2400" spc="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corrupt</a:t>
            </a:r>
            <a:r>
              <a:rPr sz="2400" spc="-30" dirty="0">
                <a:latin typeface="Times New Roman"/>
                <a:cs typeface="Times New Roman"/>
              </a:rPr>
              <a:t> </a:t>
            </a:r>
            <a:r>
              <a:rPr sz="2400" spc="-10" dirty="0">
                <a:latin typeface="Times New Roman"/>
                <a:cs typeface="Times New Roman"/>
              </a:rPr>
              <a:t>stack.</a:t>
            </a:r>
            <a:endParaRPr sz="2400">
              <a:latin typeface="Times New Roman"/>
              <a:cs typeface="Times New Roman"/>
            </a:endParaRPr>
          </a:p>
          <a:p>
            <a:pPr marL="241300" indent="-228600">
              <a:lnSpc>
                <a:spcPct val="100000"/>
              </a:lnSpc>
              <a:spcBef>
                <a:spcPts val="425"/>
              </a:spcBef>
              <a:buClr>
                <a:srgbClr val="9B2C1F"/>
              </a:buClr>
              <a:buSzPct val="83333"/>
              <a:buFont typeface="Segoe UI Symbol"/>
              <a:buChar char="⚫"/>
              <a:tabLst>
                <a:tab pos="241300" algn="l"/>
              </a:tabLst>
            </a:pP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used</a:t>
            </a:r>
            <a:r>
              <a:rPr sz="2400" spc="-10" dirty="0">
                <a:latin typeface="Times New Roman"/>
                <a:cs typeface="Times New Roman"/>
              </a:rPr>
              <a:t> </a:t>
            </a:r>
            <a:r>
              <a:rPr sz="2400" dirty="0">
                <a:latin typeface="Times New Roman"/>
                <a:cs typeface="Times New Roman"/>
              </a:rPr>
              <a:t>as</a:t>
            </a:r>
            <a:r>
              <a:rPr sz="2400" spc="-45" dirty="0">
                <a:latin typeface="Times New Roman"/>
                <a:cs typeface="Times New Roman"/>
              </a:rPr>
              <a:t> </a:t>
            </a:r>
            <a:r>
              <a:rPr sz="2400" spc="-10" dirty="0">
                <a:latin typeface="Times New Roman"/>
                <a:cs typeface="Times New Roman"/>
              </a:rPr>
              <a:t>often</a:t>
            </a:r>
            <a:endParaRPr sz="2400">
              <a:latin typeface="Times New Roman"/>
              <a:cs typeface="Times New Roman"/>
            </a:endParaRPr>
          </a:p>
        </p:txBody>
      </p:sp>
      <p:pic>
        <p:nvPicPr>
          <p:cNvPr id="7" name="object 7"/>
          <p:cNvPicPr/>
          <p:nvPr/>
        </p:nvPicPr>
        <p:blipFill>
          <a:blip r:embed="rId2"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5889" rIns="0" bIns="0" rtlCol="0">
            <a:spAutoFit/>
          </a:bodyPr>
          <a:lstStyle/>
          <a:p>
            <a:pPr marL="241300">
              <a:lnSpc>
                <a:spcPct val="100000"/>
              </a:lnSpc>
              <a:spcBef>
                <a:spcPts val="105"/>
              </a:spcBef>
            </a:pPr>
            <a:r>
              <a:rPr spc="-10" dirty="0"/>
              <a:t>Acknowledgements</a:t>
            </a:r>
          </a:p>
        </p:txBody>
      </p:sp>
      <p:sp>
        <p:nvSpPr>
          <p:cNvPr id="3" name="object 3"/>
          <p:cNvSpPr txBox="1"/>
          <p:nvPr/>
        </p:nvSpPr>
        <p:spPr>
          <a:xfrm>
            <a:off x="460375" y="1387538"/>
            <a:ext cx="8081009" cy="979169"/>
          </a:xfrm>
          <a:prstGeom prst="rect">
            <a:avLst/>
          </a:prstGeom>
        </p:spPr>
        <p:txBody>
          <a:bodyPr vert="horz" wrap="square" lIns="0" tIns="92710" rIns="0" bIns="0" rtlCol="0">
            <a:spAutoFit/>
          </a:bodyPr>
          <a:lstStyle/>
          <a:p>
            <a:pPr marL="12700">
              <a:lnSpc>
                <a:spcPct val="100000"/>
              </a:lnSpc>
              <a:spcBef>
                <a:spcPts val="730"/>
              </a:spcBef>
            </a:pPr>
            <a:r>
              <a:rPr sz="2600" dirty="0">
                <a:latin typeface="Times New Roman"/>
                <a:cs typeface="Times New Roman"/>
              </a:rPr>
              <a:t>Material</a:t>
            </a:r>
            <a:r>
              <a:rPr sz="2600" spc="-70" dirty="0">
                <a:latin typeface="Times New Roman"/>
                <a:cs typeface="Times New Roman"/>
              </a:rPr>
              <a:t> </a:t>
            </a:r>
            <a:r>
              <a:rPr sz="2600" dirty="0">
                <a:latin typeface="Times New Roman"/>
                <a:cs typeface="Times New Roman"/>
              </a:rPr>
              <a:t>in</a:t>
            </a:r>
            <a:r>
              <a:rPr sz="2600" spc="-50" dirty="0">
                <a:latin typeface="Times New Roman"/>
                <a:cs typeface="Times New Roman"/>
              </a:rPr>
              <a:t> </a:t>
            </a:r>
            <a:r>
              <a:rPr sz="2600" dirty="0">
                <a:latin typeface="Times New Roman"/>
                <a:cs typeface="Times New Roman"/>
              </a:rPr>
              <a:t>this</a:t>
            </a:r>
            <a:r>
              <a:rPr sz="2600" spc="5" dirty="0">
                <a:latin typeface="Times New Roman"/>
                <a:cs typeface="Times New Roman"/>
              </a:rPr>
              <a:t> </a:t>
            </a:r>
            <a:r>
              <a:rPr sz="2600" dirty="0">
                <a:latin typeface="Times New Roman"/>
                <a:cs typeface="Times New Roman"/>
              </a:rPr>
              <a:t>lecture</a:t>
            </a:r>
            <a:r>
              <a:rPr sz="2600" spc="-50" dirty="0">
                <a:latin typeface="Times New Roman"/>
                <a:cs typeface="Times New Roman"/>
              </a:rPr>
              <a:t> </a:t>
            </a:r>
            <a:r>
              <a:rPr sz="2600" dirty="0">
                <a:latin typeface="Times New Roman"/>
                <a:cs typeface="Times New Roman"/>
              </a:rPr>
              <a:t>are</a:t>
            </a:r>
            <a:r>
              <a:rPr sz="2600" spc="-55" dirty="0">
                <a:latin typeface="Times New Roman"/>
                <a:cs typeface="Times New Roman"/>
              </a:rPr>
              <a:t> </a:t>
            </a:r>
            <a:r>
              <a:rPr sz="2600" dirty="0">
                <a:latin typeface="Times New Roman"/>
                <a:cs typeface="Times New Roman"/>
              </a:rPr>
              <a:t>taken</a:t>
            </a:r>
            <a:r>
              <a:rPr sz="2600" spc="-50" dirty="0">
                <a:latin typeface="Times New Roman"/>
                <a:cs typeface="Times New Roman"/>
              </a:rPr>
              <a:t> </a:t>
            </a:r>
            <a:r>
              <a:rPr sz="2600" dirty="0">
                <a:latin typeface="Times New Roman"/>
                <a:cs typeface="Times New Roman"/>
              </a:rPr>
              <a:t>from</a:t>
            </a:r>
            <a:r>
              <a:rPr sz="2600" spc="-35" dirty="0">
                <a:latin typeface="Times New Roman"/>
                <a:cs typeface="Times New Roman"/>
              </a:rPr>
              <a:t> </a:t>
            </a:r>
            <a:r>
              <a:rPr sz="2600" dirty="0">
                <a:latin typeface="Times New Roman"/>
                <a:cs typeface="Times New Roman"/>
              </a:rPr>
              <a:t>the</a:t>
            </a:r>
            <a:r>
              <a:rPr sz="2600" spc="-55" dirty="0">
                <a:latin typeface="Times New Roman"/>
                <a:cs typeface="Times New Roman"/>
              </a:rPr>
              <a:t> </a:t>
            </a:r>
            <a:r>
              <a:rPr sz="2600" dirty="0">
                <a:latin typeface="Times New Roman"/>
                <a:cs typeface="Times New Roman"/>
              </a:rPr>
              <a:t>slides</a:t>
            </a:r>
            <a:r>
              <a:rPr sz="2600" spc="10" dirty="0">
                <a:latin typeface="Times New Roman"/>
                <a:cs typeface="Times New Roman"/>
              </a:rPr>
              <a:t> </a:t>
            </a:r>
            <a:r>
              <a:rPr sz="2600" dirty="0">
                <a:latin typeface="Times New Roman"/>
                <a:cs typeface="Times New Roman"/>
              </a:rPr>
              <a:t>prepared</a:t>
            </a:r>
            <a:r>
              <a:rPr sz="2600" spc="-55" dirty="0">
                <a:latin typeface="Times New Roman"/>
                <a:cs typeface="Times New Roman"/>
              </a:rPr>
              <a:t> </a:t>
            </a:r>
            <a:r>
              <a:rPr sz="2600" spc="-25" dirty="0">
                <a:latin typeface="Times New Roman"/>
                <a:cs typeface="Times New Roman"/>
              </a:rPr>
              <a:t>by:</a:t>
            </a:r>
            <a:endParaRPr sz="260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Prof.</a:t>
            </a:r>
            <a:r>
              <a:rPr sz="2600" spc="-50" dirty="0">
                <a:latin typeface="Times New Roman"/>
                <a:cs typeface="Times New Roman"/>
              </a:rPr>
              <a:t> </a:t>
            </a:r>
            <a:r>
              <a:rPr sz="2600" dirty="0">
                <a:latin typeface="Times New Roman"/>
                <a:cs typeface="Times New Roman"/>
              </a:rPr>
              <a:t>Dan Boneh</a:t>
            </a:r>
            <a:r>
              <a:rPr sz="2600" spc="-10" dirty="0">
                <a:latin typeface="Times New Roman"/>
                <a:cs typeface="Times New Roman"/>
              </a:rPr>
              <a:t> (Standford)</a:t>
            </a:r>
            <a:endParaRPr sz="26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1210</TotalTime>
  <Words>1433</Words>
  <Application>Microsoft Office PowerPoint</Application>
  <PresentationFormat>On-screen Show (4:3)</PresentationFormat>
  <Paragraphs>381</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CS-3002: Information Security</vt:lpstr>
      <vt:lpstr>This Lecture</vt:lpstr>
      <vt:lpstr>Basic Control Hijacking Attacks</vt:lpstr>
      <vt:lpstr>Control hijacking attacks</vt:lpstr>
      <vt:lpstr>What is needed</vt:lpstr>
      <vt:lpstr>Linux process memory layout</vt:lpstr>
      <vt:lpstr>Stack Frame (created every time a new function is invoked)</vt:lpstr>
      <vt:lpstr>What are buffer overflows?</vt:lpstr>
      <vt:lpstr>What are buffer overflows?</vt:lpstr>
      <vt:lpstr>Basic stack exploit</vt:lpstr>
      <vt:lpstr>The NOP slide</vt:lpstr>
      <vt:lpstr>Details and examples</vt:lpstr>
      <vt:lpstr>Many unsafe libc functions</vt:lpstr>
      <vt:lpstr>Finding buffer overflows</vt:lpstr>
      <vt:lpstr>More Control Hijacking Attacks</vt:lpstr>
      <vt:lpstr>More Hijacking Opportunities</vt:lpstr>
      <vt:lpstr>PowerPoint Presentation</vt:lpstr>
      <vt:lpstr>PowerPoint Presentation</vt:lpstr>
      <vt:lpstr>PowerPoint Presentation</vt:lpstr>
      <vt:lpstr>PowerPoint Presentation</vt:lpstr>
      <vt:lpstr>Integer Overflows (Phrack issue 60)</vt:lpstr>
      <vt:lpstr>An example</vt:lpstr>
      <vt:lpstr>Format String Bug</vt:lpstr>
      <vt:lpstr>PowerPoint Presentation</vt:lpstr>
      <vt:lpstr>PowerPoint Presentation</vt:lpstr>
      <vt:lpstr>PowerPoint Presentation</vt:lpstr>
      <vt:lpstr>Format string problem</vt:lpstr>
      <vt:lpstr>Vulnerable functions</vt:lpstr>
      <vt:lpstr>Exploit</vt:lpstr>
      <vt:lpstr>Platform Defenses</vt:lpstr>
      <vt:lpstr>Preventing hijacking attacks</vt:lpstr>
      <vt:lpstr>Marking memory as non-execute (W^X)</vt:lpstr>
      <vt:lpstr>Examples:</vt:lpstr>
      <vt:lpstr>Attack: return to libc</vt:lpstr>
      <vt:lpstr>Response: randomization</vt:lpstr>
      <vt:lpstr>ASLR Example</vt:lpstr>
      <vt:lpstr>Run-Time Defenses</vt:lpstr>
      <vt:lpstr>Run time checking: StackGuard</vt:lpstr>
      <vt:lpstr>PowerPoint Presentation</vt:lpstr>
      <vt:lpstr>Canary Types</vt:lpstr>
      <vt:lpstr>Acknowledgements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CS-3002: Information Security</dc:title>
  <dc:creator>DELL</dc:creator>
  <cp:lastModifiedBy>DELL</cp:lastModifiedBy>
  <cp:revision>7</cp:revision>
  <dcterms:created xsi:type="dcterms:W3CDTF">2025-11-09T08:11:32Z</dcterms:created>
  <dcterms:modified xsi:type="dcterms:W3CDTF">2025-11-12T05:13:13Z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2025-10-27T00:00:00Z</vt:filetime>
  </property>
  <property fmtid="{D5CDD505-2E9C-101B-9397-08002B2CF9AE}" pid="3" name="LastSaved">
    <vt:filetime>2025-11-09T00:00:00Z</vt:filetime>
  </property>
</Properties>
</file>