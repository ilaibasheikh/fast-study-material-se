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82" r:id="rId2"/>
    <p:sldId id="322" r:id="rId3"/>
    <p:sldId id="323" r:id="rId4"/>
    <p:sldId id="324" r:id="rId5"/>
    <p:sldId id="325" r:id="rId6"/>
    <p:sldId id="326" r:id="rId7"/>
    <p:sldId id="327" r:id="rId8"/>
    <p:sldId id="438" r:id="rId9"/>
    <p:sldId id="328" r:id="rId10"/>
    <p:sldId id="427" r:id="rId11"/>
    <p:sldId id="428" r:id="rId12"/>
    <p:sldId id="333" r:id="rId13"/>
    <p:sldId id="429" r:id="rId14"/>
    <p:sldId id="430" r:id="rId15"/>
    <p:sldId id="335" r:id="rId16"/>
    <p:sldId id="28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6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BE87DD-C0A4-4C9C-80F7-8672C7422A10}" type="datetimeFigureOut">
              <a:rPr lang="en-US" smtClean="0"/>
              <a:t>9/20/2023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8385F-8D62-453E-AF48-0848A605D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586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D4908-CC23-48C0-976B-10CC20990EB2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14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FA864-45E6-4FF3-9F56-3B20DBBFC3C2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0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8996E-E0E0-40F4-841D-9F1A9F67B603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05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1E4FC-E453-477B-A66B-F03CC82B7056}" type="datetime1">
              <a:rPr lang="en-US" smtClean="0"/>
              <a:t>9/20/2023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8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1B869-8361-44D0-BD83-AE35A5C3BED5}" type="datetime1">
              <a:rPr lang="en-US" smtClean="0"/>
              <a:t>9/20/2023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99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8ED7-1120-47C5-9976-8F42E2F562CF}" type="datetime1">
              <a:rPr lang="en-US" smtClean="0"/>
              <a:t>9/20/2023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51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831BB-02EA-4FD2-BB64-1808DDE74F74}" type="datetime1">
              <a:rPr lang="en-US" smtClean="0"/>
              <a:t>9/20/2023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72C61-A4AD-4435-B830-F4B215C43EE3}" type="datetime1">
              <a:rPr lang="en-US" smtClean="0"/>
              <a:t>9/20/2023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12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04A30-163A-4F79-B404-FE5245FD6953}" type="datetime1">
              <a:rPr lang="en-US" smtClean="0"/>
              <a:t>9/20/2023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97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448FC-326D-4210-9B7F-1F78F2B0ABAC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281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785A1-B715-4328-ADC9-B20C16CF4F32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40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4298C-E6C4-409D-9160-EEEEF8DB9D31}" type="datetime1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50C4D-0BA1-4E54-8DFC-01810EC9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1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13956" y="702949"/>
            <a:ext cx="10946674" cy="1496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700" dirty="0"/>
              <a:t>CS 3002 Information Security</a:t>
            </a:r>
            <a:endParaRPr lang="en-US" sz="5400" dirty="0"/>
          </a:p>
          <a:p>
            <a:pPr algn="ctr"/>
            <a:r>
              <a:rPr lang="en-US" sz="4600" dirty="0">
                <a:solidFill>
                  <a:srgbClr val="FF0000"/>
                </a:solidFill>
              </a:rPr>
              <a:t>                                                                   </a:t>
            </a:r>
            <a:r>
              <a:rPr lang="en-US" sz="4600">
                <a:solidFill>
                  <a:srgbClr val="FF0000"/>
                </a:solidFill>
              </a:rPr>
              <a:t>Fall 2023</a:t>
            </a:r>
            <a:endParaRPr lang="en-US" sz="4600" dirty="0">
              <a:solidFill>
                <a:srgbClr val="FF0000"/>
              </a:solidFill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5609969" y="3525988"/>
            <a:ext cx="5950662" cy="26523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 algn="ctr">
              <a:buNone/>
            </a:pPr>
            <a:r>
              <a:rPr lang="en-US" sz="3200" dirty="0"/>
              <a:t>Week # 4 – Lecture </a:t>
            </a:r>
            <a:r>
              <a:rPr lang="en-US" sz="3200"/>
              <a:t># 10</a:t>
            </a:r>
            <a:r>
              <a:rPr lang="en-US" sz="3200" dirty="0"/>
              <a:t>, 11,12</a:t>
            </a:r>
          </a:p>
          <a:p>
            <a:pPr marL="130175" indent="0" algn="ctr">
              <a:buNone/>
            </a:pPr>
            <a:endParaRPr lang="en-US" sz="2000" dirty="0"/>
          </a:p>
          <a:p>
            <a:pPr marL="130175" indent="0" algn="ctr">
              <a:buNone/>
            </a:pPr>
            <a:r>
              <a:rPr lang="en-US" sz="2400" dirty="0"/>
              <a:t>Dr. Aqsa Aslam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09" y="1771385"/>
            <a:ext cx="5286336" cy="1501485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1502463" y="3418245"/>
            <a:ext cx="2953265" cy="3120667"/>
            <a:chOff x="8830020" y="2751654"/>
            <a:chExt cx="2953265" cy="3120667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30020" y="2751654"/>
              <a:ext cx="2953265" cy="2872982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87387" y="5624636"/>
              <a:ext cx="1638529" cy="2476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5991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32" y="593124"/>
            <a:ext cx="11090781" cy="399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70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55" y="642552"/>
            <a:ext cx="10961033" cy="239721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55" y="3126212"/>
            <a:ext cx="10923213" cy="180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738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53" y="1804883"/>
            <a:ext cx="11128475" cy="27557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53" y="496868"/>
            <a:ext cx="4772083" cy="77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426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-1999476" y="3079430"/>
            <a:ext cx="4772083" cy="7731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6052" y="-1"/>
            <a:ext cx="6114315" cy="687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161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12" y="382266"/>
            <a:ext cx="5789826" cy="668057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668636" y="1514719"/>
            <a:ext cx="11012621" cy="2028502"/>
            <a:chOff x="532712" y="1218157"/>
            <a:chExt cx="11012621" cy="2028502"/>
          </a:xfrm>
        </p:grpSpPr>
        <p:grpSp>
          <p:nvGrpSpPr>
            <p:cNvPr id="6" name="Group 5"/>
            <p:cNvGrpSpPr/>
            <p:nvPr/>
          </p:nvGrpSpPr>
          <p:grpSpPr>
            <a:xfrm>
              <a:off x="532712" y="1448989"/>
              <a:ext cx="11012621" cy="1797670"/>
              <a:chOff x="553303" y="1441157"/>
              <a:chExt cx="11012621" cy="1797670"/>
            </a:xfrm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3303" y="1441157"/>
                <a:ext cx="11012621" cy="1797670"/>
              </a:xfrm>
              <a:prstGeom prst="rect">
                <a:avLst/>
              </a:prstGeom>
            </p:spPr>
          </p:pic>
          <p:sp>
            <p:nvSpPr>
              <p:cNvPr id="5" name="Rectangle 4"/>
              <p:cNvSpPr/>
              <p:nvPr/>
            </p:nvSpPr>
            <p:spPr>
              <a:xfrm>
                <a:off x="553303" y="1441157"/>
                <a:ext cx="9851086" cy="338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5758250" y="1218157"/>
              <a:ext cx="23972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of the public key.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V="1">
              <a:off x="5239263" y="1547845"/>
              <a:ext cx="568411" cy="330384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1779373" y="1779373"/>
              <a:ext cx="877330" cy="2965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2191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560885" y="3094970"/>
            <a:ext cx="5789826" cy="66805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779373" y="1779373"/>
            <a:ext cx="877330" cy="296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93" y="151367"/>
            <a:ext cx="9869176" cy="655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40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A5A7F-873C-F546-67F2-8D5F78A95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473" y="203761"/>
            <a:ext cx="10515600" cy="567204"/>
          </a:xfrm>
        </p:spPr>
        <p:txBody>
          <a:bodyPr/>
          <a:lstStyle/>
          <a:p>
            <a:r>
              <a:rPr lang="en-US" sz="1800" b="1" i="0" u="none" strike="noStrike" baseline="0" dirty="0">
                <a:solidFill>
                  <a:srgbClr val="808080"/>
                </a:solidFill>
                <a:latin typeface="BemboMTPro-Bold"/>
              </a:rPr>
              <a:t>Public-Key Certificates</a:t>
            </a:r>
            <a:endParaRPr lang="en-PK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ACE8D4-BB91-F7A1-9A23-C529ADAA1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8926" y="770965"/>
            <a:ext cx="6945693" cy="403169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571E7-E236-A773-FD28-4F01A8F9D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3D1F8C-2797-A421-3C96-696833853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665247"/>
            <a:ext cx="6767146" cy="198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51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9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331715" y="502463"/>
            <a:ext cx="9369236" cy="5972477"/>
            <a:chOff x="2159619" y="663102"/>
            <a:chExt cx="7106642" cy="4448796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9619" y="663102"/>
              <a:ext cx="7106642" cy="2467319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29134" y="3130421"/>
              <a:ext cx="6992326" cy="19814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7673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10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8431" t="2737"/>
          <a:stretch/>
        </p:blipFill>
        <p:spPr>
          <a:xfrm>
            <a:off x="1544324" y="40774"/>
            <a:ext cx="5125500" cy="68172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4169" t="6631" r="15750" b="6742"/>
          <a:stretch/>
        </p:blipFill>
        <p:spPr>
          <a:xfrm>
            <a:off x="6669823" y="784665"/>
            <a:ext cx="5543469" cy="256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529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466" y="156243"/>
            <a:ext cx="7290054" cy="899568"/>
          </a:xfrm>
        </p:spPr>
        <p:txBody>
          <a:bodyPr/>
          <a:lstStyle/>
          <a:p>
            <a:r>
              <a:rPr kumimoji="1" lang="en-GB" altLang="en-US" b="1" dirty="0">
                <a:solidFill>
                  <a:schemeClr val="tx1"/>
                </a:solidFill>
              </a:rPr>
              <a:t>User Authentication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7859" y="1080651"/>
            <a:ext cx="9888902" cy="4836253"/>
          </a:xfrm>
        </p:spPr>
        <p:txBody>
          <a:bodyPr>
            <a:normAutofit/>
          </a:bodyPr>
          <a:lstStyle/>
          <a:p>
            <a:r>
              <a:rPr lang="en-US" sz="2200" dirty="0"/>
              <a:t> User authentication is a f</a:t>
            </a:r>
            <a:r>
              <a:rPr lang="en-US" altLang="en-US" sz="2200" dirty="0"/>
              <a:t>undamental security building block</a:t>
            </a:r>
          </a:p>
          <a:p>
            <a:r>
              <a:rPr lang="en-US" sz="2200" dirty="0"/>
              <a:t>User authentication is the basis for: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 </a:t>
            </a:r>
            <a:r>
              <a:rPr lang="en-US" sz="2200" b="1" dirty="0"/>
              <a:t>Access control </a:t>
            </a:r>
            <a:r>
              <a:rPr lang="en-US" sz="2200" dirty="0"/>
              <a:t>and </a:t>
            </a:r>
            <a:r>
              <a:rPr lang="en-US" sz="2200" b="1" dirty="0"/>
              <a:t>User accountability</a:t>
            </a:r>
          </a:p>
          <a:p>
            <a:r>
              <a:rPr lang="en-US" sz="2200" dirty="0"/>
              <a:t>User authentication encompasses two functions</a:t>
            </a:r>
          </a:p>
          <a:p>
            <a:pPr lvl="1" indent="-457200">
              <a:buFont typeface="+mj-lt"/>
              <a:buAutoNum type="arabicPeriod"/>
            </a:pPr>
            <a:r>
              <a:rPr lang="en-US" sz="2200" b="1" dirty="0"/>
              <a:t>Identification:</a:t>
            </a:r>
          </a:p>
          <a:p>
            <a:pPr lvl="2"/>
            <a:r>
              <a:rPr lang="en-US" sz="2200" dirty="0"/>
              <a:t>The user identifies herself to the system by presenting a credential</a:t>
            </a:r>
          </a:p>
          <a:p>
            <a:pPr lvl="3"/>
            <a:r>
              <a:rPr lang="en-US" sz="2200" dirty="0"/>
              <a:t>such as user ID. </a:t>
            </a:r>
          </a:p>
          <a:p>
            <a:pPr lvl="1" indent="-457200">
              <a:buFont typeface="+mj-lt"/>
              <a:buAutoNum type="arabicPeriod"/>
            </a:pPr>
            <a:r>
              <a:rPr lang="en-US" sz="2200" b="1" dirty="0"/>
              <a:t>Verification:</a:t>
            </a:r>
          </a:p>
          <a:p>
            <a:pPr lvl="2"/>
            <a:r>
              <a:rPr lang="en-US" sz="2200" dirty="0"/>
              <a:t>The system verifies the user by the exchange of authentication information.</a:t>
            </a:r>
          </a:p>
          <a:p>
            <a:r>
              <a:rPr lang="en-US" altLang="en-US" sz="2200" dirty="0"/>
              <a:t>User Authentication is distinct from message authentication </a:t>
            </a:r>
          </a:p>
          <a:p>
            <a:pPr lvl="1"/>
            <a:r>
              <a:rPr lang="en-US" altLang="en-US" sz="2200" dirty="0"/>
              <a:t>(when communicating parties are concerned with the integrity of the exchanges messages)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11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7340" y="5941744"/>
            <a:ext cx="89289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latin typeface="TimesTenLTStd-Roman"/>
              </a:rPr>
              <a:t>Identification</a:t>
            </a:r>
            <a:r>
              <a:rPr lang="en-US" i="1" dirty="0">
                <a:latin typeface="TimesTenLTStd-Roman"/>
              </a:rPr>
              <a:t> </a:t>
            </a:r>
            <a:r>
              <a:rPr lang="en-US" i="1" dirty="0">
                <a:latin typeface="TimesTenLTStd-Roman"/>
                <a:sym typeface="Wingdings" panose="05000000000000000000" pitchFamily="2" charset="2"/>
              </a:rPr>
              <a:t> </a:t>
            </a:r>
            <a:r>
              <a:rPr lang="en-US" i="1" dirty="0">
                <a:latin typeface="TimesTenLTStd-Roman"/>
              </a:rPr>
              <a:t>means by which a user provides a claimed identity to the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latin typeface="TimesTenLTStd-Roman"/>
              </a:rPr>
              <a:t>User authentication </a:t>
            </a:r>
            <a:r>
              <a:rPr lang="en-US" i="1" dirty="0">
                <a:latin typeface="TimesTenLTStd-Roman"/>
                <a:sym typeface="Wingdings" panose="05000000000000000000" pitchFamily="2" charset="2"/>
              </a:rPr>
              <a:t> </a:t>
            </a:r>
            <a:r>
              <a:rPr lang="en-US" i="1" dirty="0">
                <a:latin typeface="TimesTenLTStd-Roman"/>
              </a:rPr>
              <a:t>means of establishing the validity of the claim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061042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81" y="456152"/>
            <a:ext cx="10560499" cy="590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90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03294"/>
            <a:ext cx="9902507" cy="5404516"/>
          </a:xfrm>
        </p:spPr>
        <p:txBody>
          <a:bodyPr/>
          <a:lstStyle/>
          <a:p>
            <a:pPr algn="just"/>
            <a:r>
              <a:rPr lang="en-US" i="1" dirty="0"/>
              <a:t>NIST SP 800-63-3 (Digital Authentication Guideline, October 2016) </a:t>
            </a:r>
            <a:r>
              <a:rPr lang="en-US" b="1" i="1" dirty="0"/>
              <a:t>defines digital user authentication as the process of establishing confidence in user identities that are presented electronically to an information system. </a:t>
            </a:r>
          </a:p>
          <a:p>
            <a:pPr lvl="1" algn="just"/>
            <a:r>
              <a:rPr lang="en-US" dirty="0"/>
              <a:t>Systems can use the authenticated identity to determine if the authenticated individual is authorized to perform particular function such as database transactions or access to system resources.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13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6D8E5E-0531-1864-C749-7BA7F96AB0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366"/>
          <a:stretch/>
        </p:blipFill>
        <p:spPr>
          <a:xfrm>
            <a:off x="807577" y="901933"/>
            <a:ext cx="9933130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684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164" y="290098"/>
            <a:ext cx="9375948" cy="64807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Model for Digital User Authentication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271" y="1246094"/>
            <a:ext cx="11295529" cy="5783305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NIST SP 800-63-2 model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 requirement for performing user authentication is that the user must be registered with the system.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applicant applies to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authority (RA)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become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subscriber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credential service provider (CSP)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trusted entity that establishes and vouches for the identity of an applicant to a CSP. 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then engages in an exchange with the subscriber. The CSP issues some sort of electronic credential to the subscriber.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credential (a data structure) binds an identity to a token possessed by the subscriber</a:t>
            </a:r>
          </a:p>
          <a:p>
            <a:pPr lvl="3">
              <a:defRPr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party to be authenticated is called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claimant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party verifying that identity is called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verifier passes on an assertion about the identity of the subscriber to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relying party (RP)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use the authenticated information provided by the verifier to  make access control or authorization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14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510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14" y="617858"/>
            <a:ext cx="10294121" cy="573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82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89852" y="3281228"/>
            <a:ext cx="5502148" cy="354651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50C4D-0BA1-4E54-8DFC-01810EC97B99}" type="slidenum">
              <a:rPr lang="en-US" smtClean="0"/>
              <a:t>16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83652" y="638789"/>
            <a:ext cx="7351677" cy="3142379"/>
            <a:chOff x="2860016" y="889939"/>
            <a:chExt cx="6373114" cy="278432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85680" y="2788313"/>
              <a:ext cx="6020640" cy="885949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60016" y="889939"/>
              <a:ext cx="6373114" cy="1914792"/>
            </a:xfrm>
            <a:prstGeom prst="rect">
              <a:avLst/>
            </a:prstGeom>
          </p:spPr>
        </p:pic>
      </p:grpSp>
      <p:sp>
        <p:nvSpPr>
          <p:cNvPr id="8" name="Rectangle 7"/>
          <p:cNvSpPr/>
          <p:nvPr/>
        </p:nvSpPr>
        <p:spPr>
          <a:xfrm>
            <a:off x="383653" y="4169341"/>
            <a:ext cx="568351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TenLTStd-Bold"/>
              </a:rPr>
              <a:t>Multifactor authentication </a:t>
            </a:r>
            <a:r>
              <a:rPr lang="en-US" dirty="0">
                <a:solidFill>
                  <a:srgbClr val="FF0000"/>
                </a:solidFill>
                <a:latin typeface="TimesTenLTStd-Roman"/>
              </a:rPr>
              <a:t>refers to the use of more than one of the authentication means in the preceding list. </a:t>
            </a:r>
            <a:r>
              <a:rPr lang="en-US" dirty="0"/>
              <a:t>Implementations that use two factors are considered to be stronger than those that use only one factor; systems that incorporate three factors are stronger than systems that only incorporate two of the factors, and so on.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911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13701</TotalTime>
  <Words>434</Words>
  <Application>Microsoft Office PowerPoint</Application>
  <PresentationFormat>Widescreen</PresentationFormat>
  <Paragraphs>50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BemboMTPro-Bold</vt:lpstr>
      <vt:lpstr>Calibri</vt:lpstr>
      <vt:lpstr>Calibri Light</vt:lpstr>
      <vt:lpstr>Times New Roman</vt:lpstr>
      <vt:lpstr>TimesTenLTStd-Bold</vt:lpstr>
      <vt:lpstr>TimesTenLTStd-Roman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Public-Key Certificates</vt:lpstr>
      <vt:lpstr>PowerPoint Presentation</vt:lpstr>
      <vt:lpstr>PowerPoint Presentation</vt:lpstr>
      <vt:lpstr>User Authentication</vt:lpstr>
      <vt:lpstr>PowerPoint Presentation</vt:lpstr>
      <vt:lpstr>PowerPoint Presentation</vt:lpstr>
      <vt:lpstr>A Model for Digital User Authentication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InfoSec CLOs and Topic List</dc:title>
  <dc:creator>NU FAST</dc:creator>
  <cp:lastModifiedBy>Aqsa Aslam</cp:lastModifiedBy>
  <cp:revision>252</cp:revision>
  <cp:lastPrinted>2022-08-31T10:35:52Z</cp:lastPrinted>
  <dcterms:created xsi:type="dcterms:W3CDTF">2022-08-11T15:54:49Z</dcterms:created>
  <dcterms:modified xsi:type="dcterms:W3CDTF">2023-09-20T05:16:19Z</dcterms:modified>
</cp:coreProperties>
</file>