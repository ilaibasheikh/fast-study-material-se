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3" r:id="rId16"/>
    <p:sldId id="274" r:id="rId17"/>
    <p:sldId id="275" r:id="rId18"/>
    <p:sldId id="276" r:id="rId19"/>
    <p:sldId id="278" r:id="rId20"/>
    <p:sldId id="279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315" r:id="rId35"/>
  </p:sldIdLst>
  <p:sldSz cx="9144000" cy="6858000" type="screen4x3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" y="71501"/>
            <a:ext cx="9010713" cy="669601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1437" y="71501"/>
            <a:ext cx="9011285" cy="6696075"/>
          </a:xfrm>
          <a:custGeom>
            <a:avLst/>
            <a:gdLst/>
            <a:ahLst/>
            <a:cxnLst/>
            <a:rect l="l" t="t" r="r" b="b"/>
            <a:pathLst>
              <a:path w="9011285" h="6696075">
                <a:moveTo>
                  <a:pt x="0" y="329946"/>
                </a:moveTo>
                <a:lnTo>
                  <a:pt x="3578" y="281184"/>
                </a:lnTo>
                <a:lnTo>
                  <a:pt x="13973" y="234645"/>
                </a:lnTo>
                <a:lnTo>
                  <a:pt x="30674" y="190840"/>
                </a:lnTo>
                <a:lnTo>
                  <a:pt x="53171" y="150277"/>
                </a:lnTo>
                <a:lnTo>
                  <a:pt x="80954" y="113468"/>
                </a:lnTo>
                <a:lnTo>
                  <a:pt x="113510" y="80923"/>
                </a:lnTo>
                <a:lnTo>
                  <a:pt x="150331" y="53151"/>
                </a:lnTo>
                <a:lnTo>
                  <a:pt x="190906" y="30662"/>
                </a:lnTo>
                <a:lnTo>
                  <a:pt x="234724" y="13967"/>
                </a:lnTo>
                <a:lnTo>
                  <a:pt x="281274" y="3576"/>
                </a:lnTo>
                <a:lnTo>
                  <a:pt x="330047" y="0"/>
                </a:lnTo>
                <a:lnTo>
                  <a:pt x="8680640" y="0"/>
                </a:lnTo>
                <a:lnTo>
                  <a:pt x="8729405" y="3576"/>
                </a:lnTo>
                <a:lnTo>
                  <a:pt x="8775951" y="13967"/>
                </a:lnTo>
                <a:lnTo>
                  <a:pt x="8819769" y="30662"/>
                </a:lnTo>
                <a:lnTo>
                  <a:pt x="8860346" y="53151"/>
                </a:lnTo>
                <a:lnTo>
                  <a:pt x="8897172" y="80923"/>
                </a:lnTo>
                <a:lnTo>
                  <a:pt x="8929735" y="113468"/>
                </a:lnTo>
                <a:lnTo>
                  <a:pt x="8957524" y="150277"/>
                </a:lnTo>
                <a:lnTo>
                  <a:pt x="8980027" y="190840"/>
                </a:lnTo>
                <a:lnTo>
                  <a:pt x="8996734" y="234645"/>
                </a:lnTo>
                <a:lnTo>
                  <a:pt x="9007133" y="281184"/>
                </a:lnTo>
                <a:lnTo>
                  <a:pt x="9010713" y="329946"/>
                </a:lnTo>
                <a:lnTo>
                  <a:pt x="9010713" y="6365963"/>
                </a:lnTo>
                <a:lnTo>
                  <a:pt x="9007133" y="6414736"/>
                </a:lnTo>
                <a:lnTo>
                  <a:pt x="8996734" y="6461287"/>
                </a:lnTo>
                <a:lnTo>
                  <a:pt x="8980027" y="6505105"/>
                </a:lnTo>
                <a:lnTo>
                  <a:pt x="8957524" y="6545679"/>
                </a:lnTo>
                <a:lnTo>
                  <a:pt x="8929735" y="6582501"/>
                </a:lnTo>
                <a:lnTo>
                  <a:pt x="8897172" y="6615058"/>
                </a:lnTo>
                <a:lnTo>
                  <a:pt x="8860346" y="6642840"/>
                </a:lnTo>
                <a:lnTo>
                  <a:pt x="8819769" y="6665337"/>
                </a:lnTo>
                <a:lnTo>
                  <a:pt x="8775951" y="6682038"/>
                </a:lnTo>
                <a:lnTo>
                  <a:pt x="8729405" y="6692434"/>
                </a:lnTo>
                <a:lnTo>
                  <a:pt x="8680640" y="6696012"/>
                </a:lnTo>
                <a:lnTo>
                  <a:pt x="330047" y="6696012"/>
                </a:lnTo>
                <a:lnTo>
                  <a:pt x="281274" y="6692434"/>
                </a:lnTo>
                <a:lnTo>
                  <a:pt x="234724" y="6682038"/>
                </a:lnTo>
                <a:lnTo>
                  <a:pt x="190906" y="6665337"/>
                </a:lnTo>
                <a:lnTo>
                  <a:pt x="150331" y="6642840"/>
                </a:lnTo>
                <a:lnTo>
                  <a:pt x="113510" y="6615058"/>
                </a:lnTo>
                <a:lnTo>
                  <a:pt x="80954" y="6582501"/>
                </a:lnTo>
                <a:lnTo>
                  <a:pt x="53171" y="6545679"/>
                </a:lnTo>
                <a:lnTo>
                  <a:pt x="30674" y="6505105"/>
                </a:lnTo>
                <a:lnTo>
                  <a:pt x="13973" y="6461287"/>
                </a:lnTo>
                <a:lnTo>
                  <a:pt x="3578" y="6414736"/>
                </a:lnTo>
                <a:lnTo>
                  <a:pt x="0" y="6365963"/>
                </a:lnTo>
                <a:lnTo>
                  <a:pt x="0" y="3299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6675" y="1400175"/>
            <a:ext cx="9020175" cy="114300"/>
          </a:xfrm>
          <a:custGeom>
            <a:avLst/>
            <a:gdLst/>
            <a:ahLst/>
            <a:cxnLst/>
            <a:rect l="l" t="t" r="r" b="b"/>
            <a:pathLst>
              <a:path w="9020175" h="114300">
                <a:moveTo>
                  <a:pt x="9020175" y="0"/>
                </a:moveTo>
                <a:lnTo>
                  <a:pt x="0" y="0"/>
                </a:lnTo>
                <a:lnTo>
                  <a:pt x="0" y="114300"/>
                </a:lnTo>
                <a:lnTo>
                  <a:pt x="9020175" y="114300"/>
                </a:lnTo>
                <a:lnTo>
                  <a:pt x="9020175" y="0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6675" y="2981324"/>
            <a:ext cx="9020175" cy="104775"/>
          </a:xfrm>
          <a:custGeom>
            <a:avLst/>
            <a:gdLst/>
            <a:ahLst/>
            <a:cxnLst/>
            <a:rect l="l" t="t" r="r" b="b"/>
            <a:pathLst>
              <a:path w="9020175" h="104775">
                <a:moveTo>
                  <a:pt x="9020175" y="0"/>
                </a:moveTo>
                <a:lnTo>
                  <a:pt x="0" y="0"/>
                </a:lnTo>
                <a:lnTo>
                  <a:pt x="0" y="104775"/>
                </a:lnTo>
                <a:lnTo>
                  <a:pt x="9020175" y="104775"/>
                </a:lnTo>
                <a:lnTo>
                  <a:pt x="9020175" y="0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150" y="1514475"/>
            <a:ext cx="9029700" cy="146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96363"/>
                </a:solidFill>
                <a:latin typeface="Times New Roman"/>
                <a:cs typeface="Times New Roman"/>
              </a:defRPr>
            </a:lvl1pPr>
          </a:lstStyle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96363"/>
                </a:solidFill>
                <a:latin typeface="Times New Roman"/>
                <a:cs typeface="Times New Roman"/>
              </a:defRPr>
            </a:lvl1pPr>
          </a:lstStyle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96363"/>
                </a:solidFill>
                <a:latin typeface="Times New Roman"/>
                <a:cs typeface="Times New Roman"/>
              </a:defRPr>
            </a:lvl1pPr>
          </a:lstStyle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96363"/>
                </a:solidFill>
                <a:latin typeface="Times New Roman"/>
                <a:cs typeface="Times New Roman"/>
              </a:defRPr>
            </a:lvl1pPr>
          </a:lstStyle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96363"/>
                </a:solidFill>
                <a:latin typeface="Times New Roman"/>
                <a:cs typeface="Times New Roman"/>
              </a:defRPr>
            </a:lvl1pPr>
          </a:lstStyle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1437" y="71501"/>
            <a:ext cx="9011285" cy="6696075"/>
          </a:xfrm>
          <a:custGeom>
            <a:avLst/>
            <a:gdLst/>
            <a:ahLst/>
            <a:cxnLst/>
            <a:rect l="l" t="t" r="r" b="b"/>
            <a:pathLst>
              <a:path w="9011285" h="6696075">
                <a:moveTo>
                  <a:pt x="0" y="329946"/>
                </a:moveTo>
                <a:lnTo>
                  <a:pt x="3578" y="281184"/>
                </a:lnTo>
                <a:lnTo>
                  <a:pt x="13973" y="234645"/>
                </a:lnTo>
                <a:lnTo>
                  <a:pt x="30674" y="190840"/>
                </a:lnTo>
                <a:lnTo>
                  <a:pt x="53171" y="150277"/>
                </a:lnTo>
                <a:lnTo>
                  <a:pt x="80954" y="113468"/>
                </a:lnTo>
                <a:lnTo>
                  <a:pt x="113510" y="80923"/>
                </a:lnTo>
                <a:lnTo>
                  <a:pt x="150331" y="53151"/>
                </a:lnTo>
                <a:lnTo>
                  <a:pt x="190906" y="30662"/>
                </a:lnTo>
                <a:lnTo>
                  <a:pt x="234724" y="13967"/>
                </a:lnTo>
                <a:lnTo>
                  <a:pt x="281274" y="3576"/>
                </a:lnTo>
                <a:lnTo>
                  <a:pt x="330047" y="0"/>
                </a:lnTo>
                <a:lnTo>
                  <a:pt x="8680640" y="0"/>
                </a:lnTo>
                <a:lnTo>
                  <a:pt x="8729405" y="3576"/>
                </a:lnTo>
                <a:lnTo>
                  <a:pt x="8775951" y="13967"/>
                </a:lnTo>
                <a:lnTo>
                  <a:pt x="8819769" y="30662"/>
                </a:lnTo>
                <a:lnTo>
                  <a:pt x="8860346" y="53151"/>
                </a:lnTo>
                <a:lnTo>
                  <a:pt x="8897172" y="80923"/>
                </a:lnTo>
                <a:lnTo>
                  <a:pt x="8929735" y="113468"/>
                </a:lnTo>
                <a:lnTo>
                  <a:pt x="8957524" y="150277"/>
                </a:lnTo>
                <a:lnTo>
                  <a:pt x="8980027" y="190840"/>
                </a:lnTo>
                <a:lnTo>
                  <a:pt x="8996734" y="234645"/>
                </a:lnTo>
                <a:lnTo>
                  <a:pt x="9007133" y="281184"/>
                </a:lnTo>
                <a:lnTo>
                  <a:pt x="9010713" y="329946"/>
                </a:lnTo>
                <a:lnTo>
                  <a:pt x="9010713" y="6365963"/>
                </a:lnTo>
                <a:lnTo>
                  <a:pt x="9007133" y="6414736"/>
                </a:lnTo>
                <a:lnTo>
                  <a:pt x="8996734" y="6461287"/>
                </a:lnTo>
                <a:lnTo>
                  <a:pt x="8980027" y="6505105"/>
                </a:lnTo>
                <a:lnTo>
                  <a:pt x="8957524" y="6545679"/>
                </a:lnTo>
                <a:lnTo>
                  <a:pt x="8929735" y="6582501"/>
                </a:lnTo>
                <a:lnTo>
                  <a:pt x="8897172" y="6615058"/>
                </a:lnTo>
                <a:lnTo>
                  <a:pt x="8860346" y="6642840"/>
                </a:lnTo>
                <a:lnTo>
                  <a:pt x="8819769" y="6665337"/>
                </a:lnTo>
                <a:lnTo>
                  <a:pt x="8775951" y="6682038"/>
                </a:lnTo>
                <a:lnTo>
                  <a:pt x="8729405" y="6692434"/>
                </a:lnTo>
                <a:lnTo>
                  <a:pt x="8680640" y="6696012"/>
                </a:lnTo>
                <a:lnTo>
                  <a:pt x="330047" y="6696012"/>
                </a:lnTo>
                <a:lnTo>
                  <a:pt x="281274" y="6692434"/>
                </a:lnTo>
                <a:lnTo>
                  <a:pt x="234724" y="6682038"/>
                </a:lnTo>
                <a:lnTo>
                  <a:pt x="190906" y="6665337"/>
                </a:lnTo>
                <a:lnTo>
                  <a:pt x="150331" y="6642840"/>
                </a:lnTo>
                <a:lnTo>
                  <a:pt x="113510" y="6615058"/>
                </a:lnTo>
                <a:lnTo>
                  <a:pt x="80954" y="6582501"/>
                </a:lnTo>
                <a:lnTo>
                  <a:pt x="53171" y="6545679"/>
                </a:lnTo>
                <a:lnTo>
                  <a:pt x="30674" y="6505105"/>
                </a:lnTo>
                <a:lnTo>
                  <a:pt x="13973" y="6461287"/>
                </a:lnTo>
                <a:lnTo>
                  <a:pt x="3578" y="6414736"/>
                </a:lnTo>
                <a:lnTo>
                  <a:pt x="0" y="6365963"/>
                </a:lnTo>
                <a:lnTo>
                  <a:pt x="0" y="3299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457" y="90169"/>
            <a:ext cx="7790180" cy="855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18641" y="2845320"/>
            <a:ext cx="607695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1692" y="6217882"/>
            <a:ext cx="1155382" cy="309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96363"/>
                </a:solidFill>
                <a:latin typeface="Times New Roman"/>
                <a:cs typeface="Times New Roman"/>
              </a:defRPr>
            </a:lvl1pPr>
          </a:lstStyle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675" y="68326"/>
            <a:ext cx="9020175" cy="6702425"/>
            <a:chOff x="66675" y="68326"/>
            <a:chExt cx="9020175" cy="67024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" y="71501"/>
              <a:ext cx="9010713" cy="669601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1437" y="71501"/>
              <a:ext cx="9011285" cy="6696075"/>
            </a:xfrm>
            <a:custGeom>
              <a:avLst/>
              <a:gdLst/>
              <a:ahLst/>
              <a:cxnLst/>
              <a:rect l="l" t="t" r="r" b="b"/>
              <a:pathLst>
                <a:path w="9011285" h="6696075">
                  <a:moveTo>
                    <a:pt x="0" y="329946"/>
                  </a:moveTo>
                  <a:lnTo>
                    <a:pt x="3578" y="281184"/>
                  </a:lnTo>
                  <a:lnTo>
                    <a:pt x="13973" y="234645"/>
                  </a:lnTo>
                  <a:lnTo>
                    <a:pt x="30674" y="190840"/>
                  </a:lnTo>
                  <a:lnTo>
                    <a:pt x="53171" y="150277"/>
                  </a:lnTo>
                  <a:lnTo>
                    <a:pt x="80954" y="113468"/>
                  </a:lnTo>
                  <a:lnTo>
                    <a:pt x="113510" y="80923"/>
                  </a:lnTo>
                  <a:lnTo>
                    <a:pt x="150331" y="53151"/>
                  </a:lnTo>
                  <a:lnTo>
                    <a:pt x="190906" y="30662"/>
                  </a:lnTo>
                  <a:lnTo>
                    <a:pt x="234724" y="13967"/>
                  </a:lnTo>
                  <a:lnTo>
                    <a:pt x="281274" y="3576"/>
                  </a:lnTo>
                  <a:lnTo>
                    <a:pt x="330047" y="0"/>
                  </a:lnTo>
                  <a:lnTo>
                    <a:pt x="8680640" y="0"/>
                  </a:lnTo>
                  <a:lnTo>
                    <a:pt x="8729405" y="3576"/>
                  </a:lnTo>
                  <a:lnTo>
                    <a:pt x="8775951" y="13967"/>
                  </a:lnTo>
                  <a:lnTo>
                    <a:pt x="8819769" y="30662"/>
                  </a:lnTo>
                  <a:lnTo>
                    <a:pt x="8860346" y="53151"/>
                  </a:lnTo>
                  <a:lnTo>
                    <a:pt x="8897172" y="80923"/>
                  </a:lnTo>
                  <a:lnTo>
                    <a:pt x="8929735" y="113468"/>
                  </a:lnTo>
                  <a:lnTo>
                    <a:pt x="8957524" y="150277"/>
                  </a:lnTo>
                  <a:lnTo>
                    <a:pt x="8980027" y="190840"/>
                  </a:lnTo>
                  <a:lnTo>
                    <a:pt x="8996734" y="234645"/>
                  </a:lnTo>
                  <a:lnTo>
                    <a:pt x="9007133" y="281184"/>
                  </a:lnTo>
                  <a:lnTo>
                    <a:pt x="9010713" y="329946"/>
                  </a:lnTo>
                  <a:lnTo>
                    <a:pt x="9010713" y="6365963"/>
                  </a:lnTo>
                  <a:lnTo>
                    <a:pt x="9007133" y="6414736"/>
                  </a:lnTo>
                  <a:lnTo>
                    <a:pt x="8996734" y="6461287"/>
                  </a:lnTo>
                  <a:lnTo>
                    <a:pt x="8980027" y="6505105"/>
                  </a:lnTo>
                  <a:lnTo>
                    <a:pt x="8957524" y="6545679"/>
                  </a:lnTo>
                  <a:lnTo>
                    <a:pt x="8929735" y="6582501"/>
                  </a:lnTo>
                  <a:lnTo>
                    <a:pt x="8897172" y="6615058"/>
                  </a:lnTo>
                  <a:lnTo>
                    <a:pt x="8860346" y="6642840"/>
                  </a:lnTo>
                  <a:lnTo>
                    <a:pt x="8819769" y="6665337"/>
                  </a:lnTo>
                  <a:lnTo>
                    <a:pt x="8775951" y="6682038"/>
                  </a:lnTo>
                  <a:lnTo>
                    <a:pt x="8729405" y="6692434"/>
                  </a:lnTo>
                  <a:lnTo>
                    <a:pt x="8680640" y="6696012"/>
                  </a:lnTo>
                  <a:lnTo>
                    <a:pt x="330047" y="6696012"/>
                  </a:lnTo>
                  <a:lnTo>
                    <a:pt x="281274" y="6692434"/>
                  </a:lnTo>
                  <a:lnTo>
                    <a:pt x="234724" y="6682038"/>
                  </a:lnTo>
                  <a:lnTo>
                    <a:pt x="190906" y="6665337"/>
                  </a:lnTo>
                  <a:lnTo>
                    <a:pt x="150331" y="6642840"/>
                  </a:lnTo>
                  <a:lnTo>
                    <a:pt x="113510" y="6615058"/>
                  </a:lnTo>
                  <a:lnTo>
                    <a:pt x="80954" y="6582501"/>
                  </a:lnTo>
                  <a:lnTo>
                    <a:pt x="53171" y="6545679"/>
                  </a:lnTo>
                  <a:lnTo>
                    <a:pt x="30674" y="6505105"/>
                  </a:lnTo>
                  <a:lnTo>
                    <a:pt x="13973" y="6461287"/>
                  </a:lnTo>
                  <a:lnTo>
                    <a:pt x="3578" y="6414736"/>
                  </a:lnTo>
                  <a:lnTo>
                    <a:pt x="0" y="6365963"/>
                  </a:lnTo>
                  <a:lnTo>
                    <a:pt x="0" y="329946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675" y="1400175"/>
              <a:ext cx="9020175" cy="114300"/>
            </a:xfrm>
            <a:custGeom>
              <a:avLst/>
              <a:gdLst/>
              <a:ahLst/>
              <a:cxnLst/>
              <a:rect l="l" t="t" r="r" b="b"/>
              <a:pathLst>
                <a:path w="9020175" h="114300">
                  <a:moveTo>
                    <a:pt x="90201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9020175" y="114300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675" y="2981324"/>
              <a:ext cx="9020175" cy="104775"/>
            </a:xfrm>
            <a:custGeom>
              <a:avLst/>
              <a:gdLst/>
              <a:ahLst/>
              <a:cxnLst/>
              <a:rect l="l" t="t" r="r" b="b"/>
              <a:pathLst>
                <a:path w="9020175" h="104775">
                  <a:moveTo>
                    <a:pt x="9020175" y="0"/>
                  </a:moveTo>
                  <a:lnTo>
                    <a:pt x="0" y="0"/>
                  </a:lnTo>
                  <a:lnTo>
                    <a:pt x="0" y="104775"/>
                  </a:lnTo>
                  <a:lnTo>
                    <a:pt x="9020175" y="104775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30947" y="3120962"/>
            <a:ext cx="6765290" cy="193040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75"/>
              </a:spcBef>
            </a:pPr>
            <a:r>
              <a:rPr sz="3050" b="1" dirty="0">
                <a:latin typeface="Times New Roman"/>
                <a:cs typeface="Times New Roman"/>
              </a:rPr>
              <a:t>Control</a:t>
            </a:r>
            <a:r>
              <a:rPr sz="3050" b="1" spc="5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Hijacking</a:t>
            </a:r>
            <a:r>
              <a:rPr sz="3050" b="1" spc="-8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Attacks</a:t>
            </a:r>
            <a:r>
              <a:rPr sz="3050" b="1" spc="12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and</a:t>
            </a:r>
            <a:r>
              <a:rPr sz="3050" b="1" spc="135" dirty="0">
                <a:latin typeface="Times New Roman"/>
                <a:cs typeface="Times New Roman"/>
              </a:rPr>
              <a:t> </a:t>
            </a:r>
            <a:r>
              <a:rPr sz="3050" b="1" spc="-10" dirty="0">
                <a:latin typeface="Times New Roman"/>
                <a:cs typeface="Times New Roman"/>
              </a:rPr>
              <a:t>Defenses</a:t>
            </a:r>
            <a:endParaRPr sz="3050">
              <a:latin typeface="Times New Roman"/>
              <a:cs typeface="Times New Roman"/>
            </a:endParaRPr>
          </a:p>
          <a:p>
            <a:pPr marL="1339850" marR="1322070" indent="-2540" algn="ctr">
              <a:lnSpc>
                <a:spcPct val="120000"/>
              </a:lnSpc>
              <a:spcBef>
                <a:spcPts val="95"/>
              </a:spcBef>
            </a:pPr>
            <a:r>
              <a:rPr sz="2400" dirty="0">
                <a:latin typeface="Times New Roman"/>
                <a:cs typeface="Times New Roman"/>
              </a:rPr>
              <a:t>Prof.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Dr.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Sufian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Hameed </a:t>
            </a:r>
            <a:r>
              <a:rPr sz="2400" dirty="0">
                <a:latin typeface="Times New Roman"/>
                <a:cs typeface="Times New Roman"/>
              </a:rPr>
              <a:t>Department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Science </a:t>
            </a:r>
            <a:r>
              <a:rPr sz="2400" spc="-100" dirty="0">
                <a:latin typeface="Times New Roman"/>
                <a:cs typeface="Times New Roman"/>
              </a:rPr>
              <a:t>FAST-</a:t>
            </a:r>
            <a:r>
              <a:rPr sz="2400" spc="-20" dirty="0">
                <a:latin typeface="Times New Roman"/>
                <a:cs typeface="Times New Roman"/>
              </a:rPr>
              <a:t>NUCES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6675" y="1514475"/>
            <a:ext cx="9020175" cy="1466850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490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60"/>
              </a:spcBef>
            </a:pPr>
            <a:r>
              <a:rPr sz="3950" dirty="0">
                <a:solidFill>
                  <a:srgbClr val="FFFFFF"/>
                </a:solidFill>
              </a:rPr>
              <a:t>CS-3002:</a:t>
            </a:r>
            <a:r>
              <a:rPr sz="3950" spc="65" dirty="0">
                <a:solidFill>
                  <a:srgbClr val="FFFFFF"/>
                </a:solidFill>
              </a:rPr>
              <a:t> </a:t>
            </a:r>
            <a:r>
              <a:rPr sz="3950" dirty="0">
                <a:solidFill>
                  <a:srgbClr val="FFFFFF"/>
                </a:solidFill>
              </a:rPr>
              <a:t>Information</a:t>
            </a:r>
            <a:r>
              <a:rPr sz="3950" spc="85" dirty="0">
                <a:solidFill>
                  <a:srgbClr val="FFFFFF"/>
                </a:solidFill>
              </a:rPr>
              <a:t> </a:t>
            </a:r>
            <a:r>
              <a:rPr sz="3950" spc="-10" dirty="0">
                <a:solidFill>
                  <a:srgbClr val="FFFFFF"/>
                </a:solidFill>
              </a:rPr>
              <a:t>Security</a:t>
            </a:r>
            <a:endParaRPr sz="3950"/>
          </a:p>
        </p:txBody>
      </p:sp>
      <p:grpSp>
        <p:nvGrpSpPr>
          <p:cNvPr id="9" name="object 9"/>
          <p:cNvGrpSpPr/>
          <p:nvPr/>
        </p:nvGrpSpPr>
        <p:grpSpPr>
          <a:xfrm>
            <a:off x="304800" y="152400"/>
            <a:ext cx="1162050" cy="6477000"/>
            <a:chOff x="304800" y="152400"/>
            <a:chExt cx="1162050" cy="64770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152400"/>
              <a:ext cx="1162050" cy="12192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" y="6248400"/>
              <a:ext cx="476250" cy="38100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2089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</a:pPr>
            <a:r>
              <a:rPr dirty="0"/>
              <a:t>This</a:t>
            </a:r>
            <a:r>
              <a:rPr spc="-55" dirty="0"/>
              <a:t> </a:t>
            </a:r>
            <a:r>
              <a:rPr spc="-10" dirty="0"/>
              <a:t>Lecture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092" y="1387538"/>
            <a:ext cx="4585970" cy="286829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730"/>
              </a:spcBef>
              <a:buClr>
                <a:srgbClr val="D24717"/>
              </a:buClr>
              <a:buSzPct val="82692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Times New Roman"/>
                <a:cs typeface="Times New Roman"/>
              </a:rPr>
              <a:t>Basic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Control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Hijacking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Attacks</a:t>
            </a:r>
            <a:endParaRPr sz="26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635"/>
              </a:spcBef>
              <a:buClr>
                <a:srgbClr val="D24717"/>
              </a:buClr>
              <a:buSzPct val="82692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Times New Roman"/>
                <a:cs typeface="Times New Roman"/>
              </a:rPr>
              <a:t>More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Control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Hijacking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Attacks</a:t>
            </a:r>
            <a:endParaRPr sz="26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635"/>
              </a:spcBef>
              <a:buClr>
                <a:srgbClr val="D24717"/>
              </a:buClr>
              <a:buSzPct val="82692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Times New Roman"/>
                <a:cs typeface="Times New Roman"/>
              </a:rPr>
              <a:t>Format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String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Bugs</a:t>
            </a:r>
            <a:endParaRPr sz="26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560"/>
              </a:spcBef>
              <a:buClr>
                <a:srgbClr val="D24717"/>
              </a:buClr>
              <a:buSzPct val="82692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Times New Roman"/>
                <a:cs typeface="Times New Roman"/>
              </a:rPr>
              <a:t>Platform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Defenses</a:t>
            </a:r>
            <a:endParaRPr sz="26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635"/>
              </a:spcBef>
              <a:buClr>
                <a:srgbClr val="D24717"/>
              </a:buClr>
              <a:buSzPct val="82692"/>
              <a:buFont typeface="Segoe UI Symbol"/>
              <a:buChar char="⚫"/>
              <a:tabLst>
                <a:tab pos="286385" algn="l"/>
              </a:tabLst>
            </a:pPr>
            <a:r>
              <a:rPr sz="2600" spc="-10" dirty="0">
                <a:latin typeface="Times New Roman"/>
                <a:cs typeface="Times New Roman"/>
              </a:rPr>
              <a:t>Run-</a:t>
            </a:r>
            <a:r>
              <a:rPr sz="2600" dirty="0">
                <a:latin typeface="Times New Roman"/>
                <a:cs typeface="Times New Roman"/>
              </a:rPr>
              <a:t>Time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Defenses</a:t>
            </a:r>
            <a:endParaRPr sz="26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560"/>
              </a:spcBef>
              <a:buClr>
                <a:srgbClr val="D24717"/>
              </a:buClr>
              <a:buSzPct val="82692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Times New Roman"/>
                <a:cs typeface="Times New Roman"/>
              </a:rPr>
              <a:t>Advance </a:t>
            </a:r>
            <a:r>
              <a:rPr sz="2600" spc="-10" dirty="0">
                <a:latin typeface="Times New Roman"/>
                <a:cs typeface="Times New Roman"/>
              </a:rPr>
              <a:t>Hijacking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Attacks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1701" y="3295015"/>
            <a:ext cx="596328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sng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Basic</a:t>
            </a:r>
            <a:r>
              <a:rPr u="sng" spc="20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 </a:t>
            </a:r>
            <a:r>
              <a:rPr u="sng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Control</a:t>
            </a:r>
            <a:r>
              <a:rPr u="sng" spc="-25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 </a:t>
            </a:r>
            <a:r>
              <a:rPr u="sng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Hijacking</a:t>
            </a:r>
            <a:r>
              <a:rPr u="sng" spc="-229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 </a:t>
            </a:r>
            <a:r>
              <a:rPr u="sng" spc="-10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Attacks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689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</a:pPr>
            <a:r>
              <a:rPr dirty="0"/>
              <a:t>Control</a:t>
            </a:r>
            <a:r>
              <a:rPr spc="-5" dirty="0"/>
              <a:t> </a:t>
            </a:r>
            <a:r>
              <a:rPr dirty="0"/>
              <a:t>hijacking</a:t>
            </a:r>
            <a:r>
              <a:rPr spc="-35" dirty="0"/>
              <a:t> </a:t>
            </a:r>
            <a:r>
              <a:rPr spc="-10" dirty="0"/>
              <a:t>attacks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962088"/>
            <a:ext cx="7866380" cy="3697604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46075" indent="-333375">
              <a:lnSpc>
                <a:spcPct val="100000"/>
              </a:lnSpc>
              <a:spcBef>
                <a:spcPts val="525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346075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Attacker’s</a:t>
            </a:r>
            <a:r>
              <a:rPr sz="2400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goal</a:t>
            </a:r>
            <a:r>
              <a:rPr sz="2400" spc="-2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  <a:tab pos="4409440" algn="l"/>
              </a:tabLst>
            </a:pPr>
            <a:r>
              <a:rPr sz="2400" spc="-10" dirty="0">
                <a:latin typeface="Times New Roman"/>
                <a:cs typeface="Times New Roman"/>
              </a:rPr>
              <a:t>Take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target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machine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(e.g.</a:t>
            </a:r>
            <a:r>
              <a:rPr sz="2400" dirty="0">
                <a:latin typeface="Times New Roman"/>
                <a:cs typeface="Times New Roman"/>
              </a:rPr>
              <a:t>	web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server,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email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…)</a:t>
            </a:r>
            <a:endParaRPr sz="2400">
              <a:latin typeface="Times New Roman"/>
              <a:cs typeface="Times New Roman"/>
            </a:endParaRPr>
          </a:p>
          <a:p>
            <a:pPr marL="835660" lvl="2" indent="-228600">
              <a:lnSpc>
                <a:spcPct val="100000"/>
              </a:lnSpc>
              <a:spcBef>
                <a:spcPts val="445"/>
              </a:spcBef>
              <a:buClr>
                <a:srgbClr val="E6B0AB"/>
              </a:buClr>
              <a:buSzPct val="86046"/>
              <a:buFont typeface="Segoe UI Symbol"/>
              <a:buChar char="⚫"/>
              <a:tabLst>
                <a:tab pos="835660" algn="l"/>
              </a:tabLst>
            </a:pPr>
            <a:r>
              <a:rPr sz="2150" dirty="0">
                <a:latin typeface="Times New Roman"/>
                <a:cs typeface="Times New Roman"/>
              </a:rPr>
              <a:t>Execute</a:t>
            </a:r>
            <a:r>
              <a:rPr sz="2150" spc="7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arbitrary</a:t>
            </a:r>
            <a:r>
              <a:rPr sz="2150" spc="10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code</a:t>
            </a:r>
            <a:r>
              <a:rPr sz="2150" spc="7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on</a:t>
            </a:r>
            <a:r>
              <a:rPr sz="2150" spc="10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target</a:t>
            </a:r>
            <a:r>
              <a:rPr sz="2150" spc="6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by</a:t>
            </a:r>
            <a:r>
              <a:rPr sz="2150" spc="10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hijacking</a:t>
            </a:r>
            <a:r>
              <a:rPr sz="2150" spc="105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application</a:t>
            </a:r>
            <a:endParaRPr sz="2150">
              <a:latin typeface="Times New Roman"/>
              <a:cs typeface="Times New Roman"/>
            </a:endParaRPr>
          </a:p>
          <a:p>
            <a:pPr marL="836294">
              <a:lnSpc>
                <a:spcPct val="100000"/>
              </a:lnSpc>
              <a:spcBef>
                <a:spcPts val="50"/>
              </a:spcBef>
            </a:pPr>
            <a:r>
              <a:rPr sz="2150" dirty="0">
                <a:latin typeface="Times New Roman"/>
                <a:cs typeface="Times New Roman"/>
              </a:rPr>
              <a:t>control</a:t>
            </a:r>
            <a:r>
              <a:rPr sz="2150" spc="150" dirty="0">
                <a:latin typeface="Times New Roman"/>
                <a:cs typeface="Times New Roman"/>
              </a:rPr>
              <a:t> </a:t>
            </a:r>
            <a:r>
              <a:rPr sz="2150" spc="-20" dirty="0">
                <a:latin typeface="Times New Roman"/>
                <a:cs typeface="Times New Roman"/>
              </a:rPr>
              <a:t>flow</a:t>
            </a:r>
            <a:endParaRPr sz="2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21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D24717"/>
              </a:buClr>
              <a:buSzPct val="83333"/>
              <a:buFont typeface="Segoe UI Symbol"/>
              <a:buChar char="⚫"/>
              <a:tabLst>
                <a:tab pos="287020" algn="l"/>
              </a:tabLst>
            </a:pPr>
            <a:r>
              <a:rPr sz="2400" spc="-10" dirty="0">
                <a:latin typeface="Times New Roman"/>
                <a:cs typeface="Times New Roman"/>
              </a:rPr>
              <a:t>Examples.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34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Buffer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overflow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attacks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Integer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overflow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attacks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Format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</a:t>
            </a:r>
            <a:r>
              <a:rPr sz="2400" spc="-10" dirty="0">
                <a:latin typeface="Times New Roman"/>
                <a:cs typeface="Times New Roman"/>
              </a:rPr>
              <a:t> vulnerabilities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67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35" dirty="0"/>
              <a:t> </a:t>
            </a:r>
            <a:r>
              <a:rPr dirty="0"/>
              <a:t>is</a:t>
            </a:r>
            <a:r>
              <a:rPr spc="15" dirty="0"/>
              <a:t> </a:t>
            </a:r>
            <a:r>
              <a:rPr spc="-10" dirty="0"/>
              <a:t>needed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657" y="1350719"/>
            <a:ext cx="7882255" cy="346837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70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Understanding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stack,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heap.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70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Know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made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50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exec()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call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70"/>
              </a:spcBef>
              <a:buClr>
                <a:srgbClr val="D24717"/>
              </a:buClr>
              <a:buFont typeface="Segoe UI Symbol"/>
              <a:buChar char="⚫"/>
            </a:pP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ts val="2865"/>
              </a:lnSpc>
              <a:buClr>
                <a:srgbClr val="D24717"/>
              </a:buClr>
              <a:buSzPct val="83333"/>
              <a:buFont typeface="Segoe UI Symbol"/>
              <a:buChar char="⚫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Attacker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CPU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target</a:t>
            </a:r>
            <a:endParaRPr sz="2400">
              <a:latin typeface="Times New Roman"/>
              <a:cs typeface="Times New Roman"/>
            </a:endParaRPr>
          </a:p>
          <a:p>
            <a:pPr marL="287020">
              <a:lnSpc>
                <a:spcPts val="2865"/>
              </a:lnSpc>
            </a:pPr>
            <a:r>
              <a:rPr sz="2400" spc="-10" dirty="0">
                <a:latin typeface="Times New Roman"/>
                <a:cs typeface="Times New Roman"/>
              </a:rPr>
              <a:t>machine: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  <a:tab pos="3294379" algn="l"/>
                <a:tab pos="3904615" algn="l"/>
                <a:tab pos="4999990" algn="l"/>
              </a:tabLst>
            </a:pPr>
            <a:r>
              <a:rPr sz="2400" dirty="0">
                <a:latin typeface="Times New Roman"/>
                <a:cs typeface="Times New Roman"/>
              </a:rPr>
              <a:t>Our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x86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running</a:t>
            </a:r>
            <a:r>
              <a:rPr sz="2400" dirty="0">
                <a:latin typeface="Times New Roman"/>
                <a:cs typeface="Times New Roman"/>
              </a:rPr>
              <a:t>	Linux 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Windows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Details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slightly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CPUs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OSs: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652" y="4836795"/>
            <a:ext cx="357822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6B0AB"/>
              </a:buClr>
              <a:buSzPct val="83333"/>
              <a:buFont typeface="Segoe UI Symbol"/>
              <a:buChar char="⚫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Little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endian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vs.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big</a:t>
            </a:r>
            <a:r>
              <a:rPr sz="2400" spc="-10" dirty="0">
                <a:latin typeface="Times New Roman"/>
                <a:cs typeface="Times New Roman"/>
              </a:rPr>
              <a:t> endian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84776" y="4884420"/>
            <a:ext cx="194437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latin typeface="Times New Roman"/>
                <a:cs typeface="Times New Roman"/>
              </a:rPr>
              <a:t>(x86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vs.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Motorola)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652" y="5256529"/>
            <a:ext cx="292290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6B0AB"/>
              </a:buClr>
              <a:buSzPct val="83333"/>
              <a:buFont typeface="Segoe UI Symbol"/>
              <a:buChar char="⚫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Stack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Frame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structure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87571" y="5304472"/>
            <a:ext cx="2072639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(Unix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vs.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Windows)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5762" y="3052826"/>
            <a:ext cx="8154034" cy="0"/>
          </a:xfrm>
          <a:custGeom>
            <a:avLst/>
            <a:gdLst/>
            <a:ahLst/>
            <a:cxnLst/>
            <a:rect l="l" t="t" r="r" b="b"/>
            <a:pathLst>
              <a:path w="8154034">
                <a:moveTo>
                  <a:pt x="0" y="0"/>
                </a:moveTo>
                <a:lnTo>
                  <a:pt x="815346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337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30" dirty="0"/>
              <a:t> </a:t>
            </a:r>
            <a:r>
              <a:rPr dirty="0"/>
              <a:t>process</a:t>
            </a:r>
            <a:r>
              <a:rPr spc="-10" dirty="0"/>
              <a:t> </a:t>
            </a:r>
            <a:r>
              <a:rPr dirty="0"/>
              <a:t>memory</a:t>
            </a:r>
            <a:r>
              <a:rPr spc="-15" dirty="0"/>
              <a:t> </a:t>
            </a:r>
            <a:r>
              <a:rPr spc="-10" dirty="0"/>
              <a:t>layout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52776" y="3733800"/>
            <a:ext cx="2819400" cy="538480"/>
            <a:chOff x="2652776" y="3733800"/>
            <a:chExt cx="2819400" cy="538480"/>
          </a:xfrm>
        </p:grpSpPr>
        <p:sp>
          <p:nvSpPr>
            <p:cNvPr id="4" name="object 4"/>
            <p:cNvSpPr/>
            <p:nvPr/>
          </p:nvSpPr>
          <p:spPr>
            <a:xfrm>
              <a:off x="2652776" y="3762375"/>
              <a:ext cx="2819400" cy="509905"/>
            </a:xfrm>
            <a:custGeom>
              <a:avLst/>
              <a:gdLst/>
              <a:ahLst/>
              <a:cxnLst/>
              <a:rect l="l" t="t" r="r" b="b"/>
              <a:pathLst>
                <a:path w="2819400" h="509904">
                  <a:moveTo>
                    <a:pt x="0" y="509650"/>
                  </a:moveTo>
                  <a:lnTo>
                    <a:pt x="2819400" y="509650"/>
                  </a:lnTo>
                  <a:lnTo>
                    <a:pt x="2819400" y="0"/>
                  </a:lnTo>
                  <a:lnTo>
                    <a:pt x="0" y="0"/>
                  </a:lnTo>
                  <a:lnTo>
                    <a:pt x="0" y="50965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05250" y="3733800"/>
              <a:ext cx="228600" cy="533400"/>
            </a:xfrm>
            <a:custGeom>
              <a:avLst/>
              <a:gdLst/>
              <a:ahLst/>
              <a:cxnLst/>
              <a:rect l="l" t="t" r="r" b="b"/>
              <a:pathLst>
                <a:path w="228600" h="533400">
                  <a:moveTo>
                    <a:pt x="152400" y="190500"/>
                  </a:moveTo>
                  <a:lnTo>
                    <a:pt x="76200" y="190500"/>
                  </a:lnTo>
                  <a:lnTo>
                    <a:pt x="76200" y="533400"/>
                  </a:lnTo>
                  <a:lnTo>
                    <a:pt x="152400" y="533400"/>
                  </a:lnTo>
                  <a:lnTo>
                    <a:pt x="152400" y="190500"/>
                  </a:lnTo>
                  <a:close/>
                </a:path>
                <a:path w="228600" h="533400">
                  <a:moveTo>
                    <a:pt x="114300" y="0"/>
                  </a:moveTo>
                  <a:lnTo>
                    <a:pt x="0" y="228600"/>
                  </a:lnTo>
                  <a:lnTo>
                    <a:pt x="76200" y="228600"/>
                  </a:lnTo>
                  <a:lnTo>
                    <a:pt x="76200" y="190500"/>
                  </a:lnTo>
                  <a:lnTo>
                    <a:pt x="209550" y="190500"/>
                  </a:lnTo>
                  <a:lnTo>
                    <a:pt x="114300" y="0"/>
                  </a:lnTo>
                  <a:close/>
                </a:path>
                <a:path w="228600" h="533400">
                  <a:moveTo>
                    <a:pt x="209550" y="190500"/>
                  </a:moveTo>
                  <a:lnTo>
                    <a:pt x="152400" y="190500"/>
                  </a:lnTo>
                  <a:lnTo>
                    <a:pt x="152400" y="228600"/>
                  </a:lnTo>
                  <a:lnTo>
                    <a:pt x="228600" y="228600"/>
                  </a:lnTo>
                  <a:lnTo>
                    <a:pt x="209550" y="190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071623" y="1947926"/>
            <a:ext cx="3401060" cy="1257300"/>
            <a:chOff x="2071623" y="1947926"/>
            <a:chExt cx="3401060" cy="1257300"/>
          </a:xfrm>
        </p:grpSpPr>
        <p:sp>
          <p:nvSpPr>
            <p:cNvPr id="7" name="object 7"/>
            <p:cNvSpPr/>
            <p:nvPr/>
          </p:nvSpPr>
          <p:spPr>
            <a:xfrm>
              <a:off x="2652775" y="1986026"/>
              <a:ext cx="2819400" cy="1219200"/>
            </a:xfrm>
            <a:custGeom>
              <a:avLst/>
              <a:gdLst/>
              <a:ahLst/>
              <a:cxnLst/>
              <a:rect l="l" t="t" r="r" b="b"/>
              <a:pathLst>
                <a:path w="2819400" h="1219200">
                  <a:moveTo>
                    <a:pt x="2819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2819400" y="1219200"/>
                  </a:lnTo>
                  <a:lnTo>
                    <a:pt x="2819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71624" y="1947925"/>
              <a:ext cx="2062480" cy="1252855"/>
            </a:xfrm>
            <a:custGeom>
              <a:avLst/>
              <a:gdLst/>
              <a:ahLst/>
              <a:cxnLst/>
              <a:rect l="l" t="t" r="r" b="b"/>
              <a:pathLst>
                <a:path w="2062479" h="1252855">
                  <a:moveTo>
                    <a:pt x="581025" y="38100"/>
                  </a:moveTo>
                  <a:lnTo>
                    <a:pt x="568325" y="31750"/>
                  </a:lnTo>
                  <a:lnTo>
                    <a:pt x="504825" y="0"/>
                  </a:lnTo>
                  <a:lnTo>
                    <a:pt x="504825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504825" y="44450"/>
                  </a:lnTo>
                  <a:lnTo>
                    <a:pt x="504825" y="76200"/>
                  </a:lnTo>
                  <a:lnTo>
                    <a:pt x="568325" y="44450"/>
                  </a:lnTo>
                  <a:lnTo>
                    <a:pt x="581025" y="38100"/>
                  </a:lnTo>
                  <a:close/>
                </a:path>
                <a:path w="2062479" h="1252855">
                  <a:moveTo>
                    <a:pt x="2062226" y="947674"/>
                  </a:moveTo>
                  <a:lnTo>
                    <a:pt x="2043176" y="909574"/>
                  </a:lnTo>
                  <a:lnTo>
                    <a:pt x="1947926" y="719074"/>
                  </a:lnTo>
                  <a:lnTo>
                    <a:pt x="1833626" y="947674"/>
                  </a:lnTo>
                  <a:lnTo>
                    <a:pt x="1909826" y="947674"/>
                  </a:lnTo>
                  <a:lnTo>
                    <a:pt x="1909826" y="1252474"/>
                  </a:lnTo>
                  <a:lnTo>
                    <a:pt x="1986026" y="1252474"/>
                  </a:lnTo>
                  <a:lnTo>
                    <a:pt x="1986026" y="947674"/>
                  </a:lnTo>
                  <a:lnTo>
                    <a:pt x="2062226" y="947674"/>
                  </a:lnTo>
                  <a:close/>
                </a:path>
                <a:path w="2062479" h="1252855">
                  <a:moveTo>
                    <a:pt x="2062226" y="338074"/>
                  </a:moveTo>
                  <a:lnTo>
                    <a:pt x="1986026" y="338074"/>
                  </a:lnTo>
                  <a:lnTo>
                    <a:pt x="1986026" y="33274"/>
                  </a:lnTo>
                  <a:lnTo>
                    <a:pt x="1909826" y="33274"/>
                  </a:lnTo>
                  <a:lnTo>
                    <a:pt x="1909826" y="338074"/>
                  </a:lnTo>
                  <a:lnTo>
                    <a:pt x="1833626" y="338074"/>
                  </a:lnTo>
                  <a:lnTo>
                    <a:pt x="1947926" y="566674"/>
                  </a:lnTo>
                  <a:lnTo>
                    <a:pt x="2043176" y="376174"/>
                  </a:lnTo>
                  <a:lnTo>
                    <a:pt x="2062226" y="3380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648013" y="1190625"/>
          <a:ext cx="2819400" cy="49180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9400"/>
              </a:tblGrid>
              <a:tr h="766445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2400" spc="-95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stack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479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400" spc="-140" dirty="0">
                          <a:latin typeface="Times New Roman"/>
                          <a:cs typeface="Times New Roman"/>
                        </a:rPr>
                        <a:t>shared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libraries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</a:tr>
              <a:tr h="537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99FF"/>
                      </a:solidFill>
                      <a:prstDash val="solid"/>
                    </a:lnL>
                    <a:lnR w="9525">
                      <a:solidFill>
                        <a:srgbClr val="6699FF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6699FF"/>
                      </a:solidFill>
                      <a:prstDash val="solid"/>
                    </a:lnB>
                  </a:tcPr>
                </a:tc>
              </a:tr>
              <a:tr h="833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r>
                        <a:rPr sz="2400" spc="-45" dirty="0">
                          <a:latin typeface="Times New Roman"/>
                          <a:cs typeface="Times New Roman"/>
                        </a:rPr>
                        <a:t>run</a:t>
                      </a:r>
                      <a:r>
                        <a:rPr sz="2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75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2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heap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60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6699FF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algn="ctr">
                        <a:lnSpc>
                          <a:spcPts val="2820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unused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5670296" y="3491293"/>
            <a:ext cx="14204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5" dirty="0">
                <a:latin typeface="Times New Roman"/>
                <a:cs typeface="Times New Roman"/>
              </a:rPr>
              <a:t>0x40000000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42279" y="973137"/>
            <a:ext cx="14706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5" dirty="0">
                <a:latin typeface="Times New Roman"/>
                <a:cs typeface="Times New Roman"/>
              </a:rPr>
              <a:t>0xC0000000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89685" y="1736153"/>
            <a:ext cx="6140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35" dirty="0">
                <a:latin typeface="Times New Roman"/>
                <a:cs typeface="Times New Roman"/>
              </a:rPr>
              <a:t>%esp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91614" y="4025328"/>
            <a:ext cx="3975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0" dirty="0">
                <a:latin typeface="Times New Roman"/>
                <a:cs typeface="Times New Roman"/>
              </a:rPr>
              <a:t>brk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95423" y="4233926"/>
            <a:ext cx="581025" cy="76200"/>
          </a:xfrm>
          <a:custGeom>
            <a:avLst/>
            <a:gdLst/>
            <a:ahLst/>
            <a:cxnLst/>
            <a:rect l="l" t="t" r="r" b="b"/>
            <a:pathLst>
              <a:path w="581025" h="76200">
                <a:moveTo>
                  <a:pt x="504825" y="0"/>
                </a:moveTo>
                <a:lnTo>
                  <a:pt x="504825" y="76073"/>
                </a:lnTo>
                <a:lnTo>
                  <a:pt x="568282" y="44450"/>
                </a:lnTo>
                <a:lnTo>
                  <a:pt x="517525" y="44450"/>
                </a:lnTo>
                <a:lnTo>
                  <a:pt x="517525" y="31750"/>
                </a:lnTo>
                <a:lnTo>
                  <a:pt x="568325" y="31750"/>
                </a:lnTo>
                <a:lnTo>
                  <a:pt x="504825" y="0"/>
                </a:lnTo>
                <a:close/>
              </a:path>
              <a:path w="581025" h="76200">
                <a:moveTo>
                  <a:pt x="504825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04825" y="44450"/>
                </a:lnTo>
                <a:lnTo>
                  <a:pt x="504825" y="31750"/>
                </a:lnTo>
                <a:close/>
              </a:path>
              <a:path w="581025" h="76200">
                <a:moveTo>
                  <a:pt x="568325" y="31750"/>
                </a:moveTo>
                <a:lnTo>
                  <a:pt x="517525" y="31750"/>
                </a:lnTo>
                <a:lnTo>
                  <a:pt x="517525" y="44450"/>
                </a:lnTo>
                <a:lnTo>
                  <a:pt x="568282" y="44450"/>
                </a:lnTo>
                <a:lnTo>
                  <a:pt x="581025" y="38100"/>
                </a:lnTo>
                <a:lnTo>
                  <a:pt x="56832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00351" y="5110226"/>
            <a:ext cx="276225" cy="647700"/>
          </a:xfrm>
          <a:custGeom>
            <a:avLst/>
            <a:gdLst/>
            <a:ahLst/>
            <a:cxnLst/>
            <a:rect l="l" t="t" r="r" b="b"/>
            <a:pathLst>
              <a:path w="276225" h="647700">
                <a:moveTo>
                  <a:pt x="276225" y="647636"/>
                </a:moveTo>
                <a:lnTo>
                  <a:pt x="222434" y="643320"/>
                </a:lnTo>
                <a:lnTo>
                  <a:pt x="178514" y="631550"/>
                </a:lnTo>
                <a:lnTo>
                  <a:pt x="148905" y="614091"/>
                </a:lnTo>
                <a:lnTo>
                  <a:pt x="138049" y="592709"/>
                </a:lnTo>
                <a:lnTo>
                  <a:pt x="138049" y="378714"/>
                </a:lnTo>
                <a:lnTo>
                  <a:pt x="127194" y="357336"/>
                </a:lnTo>
                <a:lnTo>
                  <a:pt x="97599" y="339899"/>
                </a:lnTo>
                <a:lnTo>
                  <a:pt x="53717" y="328154"/>
                </a:lnTo>
                <a:lnTo>
                  <a:pt x="0" y="323850"/>
                </a:lnTo>
                <a:lnTo>
                  <a:pt x="53717" y="319526"/>
                </a:lnTo>
                <a:lnTo>
                  <a:pt x="97599" y="307736"/>
                </a:lnTo>
                <a:lnTo>
                  <a:pt x="127194" y="290256"/>
                </a:lnTo>
                <a:lnTo>
                  <a:pt x="138049" y="268859"/>
                </a:lnTo>
                <a:lnTo>
                  <a:pt x="138049" y="54863"/>
                </a:lnTo>
                <a:lnTo>
                  <a:pt x="148905" y="33486"/>
                </a:lnTo>
                <a:lnTo>
                  <a:pt x="178514" y="16049"/>
                </a:lnTo>
                <a:lnTo>
                  <a:pt x="222434" y="4304"/>
                </a:lnTo>
                <a:lnTo>
                  <a:pt x="27622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680" y="5001196"/>
            <a:ext cx="1134110" cy="7639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116839">
              <a:lnSpc>
                <a:spcPct val="101800"/>
              </a:lnSpc>
              <a:spcBef>
                <a:spcPts val="50"/>
              </a:spcBef>
            </a:pPr>
            <a:r>
              <a:rPr sz="2400" spc="-10" dirty="0">
                <a:latin typeface="Times New Roman"/>
                <a:cs typeface="Times New Roman"/>
              </a:rPr>
              <a:t>Loaded </a:t>
            </a:r>
            <a:r>
              <a:rPr sz="2400" spc="-110" dirty="0">
                <a:latin typeface="Times New Roman"/>
                <a:cs typeface="Times New Roman"/>
              </a:rPr>
              <a:t>from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exec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62853" y="5383276"/>
            <a:ext cx="1534160" cy="941069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825"/>
              </a:spcBef>
            </a:pPr>
            <a:r>
              <a:rPr sz="2400" spc="-105" dirty="0">
                <a:latin typeface="Times New Roman"/>
                <a:cs typeface="Times New Roman"/>
              </a:rPr>
              <a:t>0x08048000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9426" y="3519551"/>
            <a:ext cx="3505200" cy="762000"/>
          </a:xfrm>
          <a:custGeom>
            <a:avLst/>
            <a:gdLst/>
            <a:ahLst/>
            <a:cxnLst/>
            <a:rect l="l" t="t" r="r" b="b"/>
            <a:pathLst>
              <a:path w="3505200" h="762000">
                <a:moveTo>
                  <a:pt x="0" y="762000"/>
                </a:moveTo>
                <a:lnTo>
                  <a:pt x="3505200" y="762000"/>
                </a:lnTo>
                <a:lnTo>
                  <a:pt x="35052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24156" y="3543363"/>
            <a:ext cx="3448050" cy="733425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129540" rIns="0" bIns="0" rtlCol="0">
            <a:spAutoFit/>
          </a:bodyPr>
          <a:lstStyle/>
          <a:p>
            <a:pPr marL="706755">
              <a:lnSpc>
                <a:spcPct val="100000"/>
              </a:lnSpc>
              <a:spcBef>
                <a:spcPts val="1020"/>
              </a:spcBef>
            </a:pPr>
            <a:r>
              <a:rPr sz="2400" spc="-100" dirty="0">
                <a:latin typeface="Times New Roman"/>
                <a:cs typeface="Times New Roman"/>
              </a:rPr>
              <a:t>exception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handlers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6575" y="217424"/>
            <a:ext cx="717105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Stack</a:t>
            </a:r>
            <a:r>
              <a:rPr spc="-25" dirty="0"/>
              <a:t> </a:t>
            </a:r>
            <a:r>
              <a:rPr dirty="0"/>
              <a:t>Frame</a:t>
            </a:r>
            <a:r>
              <a:rPr spc="-5" dirty="0"/>
              <a:t> </a:t>
            </a:r>
            <a:r>
              <a:rPr sz="2000" dirty="0"/>
              <a:t>(created</a:t>
            </a:r>
            <a:r>
              <a:rPr sz="2000" spc="-30" dirty="0"/>
              <a:t> </a:t>
            </a:r>
            <a:r>
              <a:rPr sz="2000" dirty="0"/>
              <a:t>every</a:t>
            </a:r>
            <a:r>
              <a:rPr sz="2000" spc="-35" dirty="0"/>
              <a:t> </a:t>
            </a:r>
            <a:r>
              <a:rPr sz="2000" dirty="0"/>
              <a:t>time</a:t>
            </a:r>
            <a:r>
              <a:rPr sz="2000" spc="-30" dirty="0"/>
              <a:t> </a:t>
            </a:r>
            <a:r>
              <a:rPr sz="2000" dirty="0"/>
              <a:t>a</a:t>
            </a:r>
            <a:r>
              <a:rPr sz="2000" spc="10" dirty="0"/>
              <a:t> </a:t>
            </a:r>
            <a:r>
              <a:rPr sz="2000" dirty="0"/>
              <a:t>new</a:t>
            </a:r>
            <a:r>
              <a:rPr sz="2000" spc="-30" dirty="0"/>
              <a:t> </a:t>
            </a:r>
            <a:r>
              <a:rPr sz="2000" dirty="0"/>
              <a:t>function</a:t>
            </a:r>
            <a:r>
              <a:rPr sz="2000" spc="-25" dirty="0"/>
              <a:t> </a:t>
            </a:r>
            <a:r>
              <a:rPr sz="2000" dirty="0"/>
              <a:t>is</a:t>
            </a:r>
            <a:r>
              <a:rPr sz="2000" spc="-30" dirty="0"/>
              <a:t> </a:t>
            </a:r>
            <a:r>
              <a:rPr sz="2000" spc="-10" dirty="0"/>
              <a:t>invoked)</a:t>
            </a:r>
            <a:endParaRPr sz="2000"/>
          </a:p>
        </p:txBody>
      </p:sp>
      <p:grpSp>
        <p:nvGrpSpPr>
          <p:cNvPr id="5" name="object 5"/>
          <p:cNvGrpSpPr/>
          <p:nvPr/>
        </p:nvGrpSpPr>
        <p:grpSpPr>
          <a:xfrm>
            <a:off x="2495613" y="1314513"/>
            <a:ext cx="3514725" cy="1276350"/>
            <a:chOff x="2495613" y="1314513"/>
            <a:chExt cx="3514725" cy="1276350"/>
          </a:xfrm>
        </p:grpSpPr>
        <p:sp>
          <p:nvSpPr>
            <p:cNvPr id="6" name="object 6"/>
            <p:cNvSpPr/>
            <p:nvPr/>
          </p:nvSpPr>
          <p:spPr>
            <a:xfrm>
              <a:off x="2500376" y="1381124"/>
              <a:ext cx="3505200" cy="1205230"/>
            </a:xfrm>
            <a:custGeom>
              <a:avLst/>
              <a:gdLst/>
              <a:ahLst/>
              <a:cxnLst/>
              <a:rect l="l" t="t" r="r" b="b"/>
              <a:pathLst>
                <a:path w="3505200" h="1205230">
                  <a:moveTo>
                    <a:pt x="0" y="1204976"/>
                  </a:moveTo>
                  <a:lnTo>
                    <a:pt x="3505200" y="1204976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1204976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00376" y="1319275"/>
              <a:ext cx="3505200" cy="1266825"/>
            </a:xfrm>
            <a:custGeom>
              <a:avLst/>
              <a:gdLst/>
              <a:ahLst/>
              <a:cxnLst/>
              <a:rect l="l" t="t" r="r" b="b"/>
              <a:pathLst>
                <a:path w="3505200" h="1266825">
                  <a:moveTo>
                    <a:pt x="0" y="1266825"/>
                  </a:moveTo>
                  <a:lnTo>
                    <a:pt x="3505200" y="1266825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12668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558159" y="1707895"/>
            <a:ext cx="139382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20" dirty="0">
                <a:latin typeface="Times New Roman"/>
                <a:cs typeface="Times New Roman"/>
              </a:rPr>
              <a:t>arguments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00376" y="2605151"/>
            <a:ext cx="3505200" cy="457200"/>
          </a:xfrm>
          <a:custGeom>
            <a:avLst/>
            <a:gdLst/>
            <a:ahLst/>
            <a:cxnLst/>
            <a:rect l="l" t="t" r="r" b="b"/>
            <a:pathLst>
              <a:path w="3505200" h="457200">
                <a:moveTo>
                  <a:pt x="0" y="457200"/>
                </a:moveTo>
                <a:lnTo>
                  <a:pt x="3505200" y="457200"/>
                </a:lnTo>
                <a:lnTo>
                  <a:pt x="35052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524125" y="2600388"/>
            <a:ext cx="3448050" cy="466725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635" rIns="0" bIns="0" rtlCol="0">
            <a:spAutoFit/>
          </a:bodyPr>
          <a:lstStyle/>
          <a:p>
            <a:pPr marL="78359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return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address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00376" y="3081401"/>
            <a:ext cx="3505200" cy="457200"/>
          </a:xfrm>
          <a:custGeom>
            <a:avLst/>
            <a:gdLst/>
            <a:ahLst/>
            <a:cxnLst/>
            <a:rect l="l" t="t" r="r" b="b"/>
            <a:pathLst>
              <a:path w="3505200" h="457200">
                <a:moveTo>
                  <a:pt x="0" y="457200"/>
                </a:moveTo>
                <a:lnTo>
                  <a:pt x="3505200" y="457200"/>
                </a:lnTo>
                <a:lnTo>
                  <a:pt x="35052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524125" y="3076638"/>
            <a:ext cx="3448050" cy="45720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 marL="466725">
              <a:lnSpc>
                <a:spcPts val="2880"/>
              </a:lnSpc>
            </a:pPr>
            <a:r>
              <a:rPr sz="2400" b="1" dirty="0">
                <a:latin typeface="Times New Roman"/>
                <a:cs typeface="Times New Roman"/>
              </a:rPr>
              <a:t>stack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-65" dirty="0">
                <a:latin typeface="Times New Roman"/>
                <a:cs typeface="Times New Roman"/>
              </a:rPr>
              <a:t>frame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pointer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95613" y="4276788"/>
            <a:ext cx="3514725" cy="904875"/>
            <a:chOff x="2495613" y="4276788"/>
            <a:chExt cx="3514725" cy="904875"/>
          </a:xfrm>
        </p:grpSpPr>
        <p:sp>
          <p:nvSpPr>
            <p:cNvPr id="14" name="object 14"/>
            <p:cNvSpPr/>
            <p:nvPr/>
          </p:nvSpPr>
          <p:spPr>
            <a:xfrm>
              <a:off x="2500376" y="4281551"/>
              <a:ext cx="3505200" cy="895350"/>
            </a:xfrm>
            <a:custGeom>
              <a:avLst/>
              <a:gdLst/>
              <a:ahLst/>
              <a:cxnLst/>
              <a:rect l="l" t="t" r="r" b="b"/>
              <a:pathLst>
                <a:path w="3505200" h="895350">
                  <a:moveTo>
                    <a:pt x="3505200" y="0"/>
                  </a:moveTo>
                  <a:lnTo>
                    <a:pt x="0" y="0"/>
                  </a:lnTo>
                  <a:lnTo>
                    <a:pt x="0" y="895350"/>
                  </a:lnTo>
                  <a:lnTo>
                    <a:pt x="3505200" y="895350"/>
                  </a:lnTo>
                  <a:lnTo>
                    <a:pt x="35052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00376" y="4281551"/>
              <a:ext cx="3505200" cy="895350"/>
            </a:xfrm>
            <a:custGeom>
              <a:avLst/>
              <a:gdLst/>
              <a:ahLst/>
              <a:cxnLst/>
              <a:rect l="l" t="t" r="r" b="b"/>
              <a:pathLst>
                <a:path w="3505200" h="895350">
                  <a:moveTo>
                    <a:pt x="0" y="895350"/>
                  </a:moveTo>
                  <a:lnTo>
                    <a:pt x="3505200" y="895350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8953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524125" y="4286313"/>
            <a:ext cx="3448050" cy="814705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214629" rIns="0" bIns="0" rtlCol="0">
            <a:spAutoFit/>
          </a:bodyPr>
          <a:lstStyle/>
          <a:p>
            <a:pPr marL="807720">
              <a:lnSpc>
                <a:spcPct val="100000"/>
              </a:lnSpc>
              <a:spcBef>
                <a:spcPts val="1689"/>
              </a:spcBef>
            </a:pPr>
            <a:r>
              <a:rPr sz="2400" b="1" dirty="0">
                <a:latin typeface="Times New Roman"/>
                <a:cs typeface="Times New Roman"/>
              </a:rPr>
              <a:t>local</a:t>
            </a:r>
            <a:r>
              <a:rPr sz="2400" b="1" spc="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variables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82992" y="5281295"/>
            <a:ext cx="2984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300" dirty="0">
                <a:latin typeface="Times New Roman"/>
                <a:cs typeface="Times New Roman"/>
              </a:rPr>
              <a:t>SP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66799" y="5510276"/>
            <a:ext cx="542925" cy="76200"/>
          </a:xfrm>
          <a:custGeom>
            <a:avLst/>
            <a:gdLst/>
            <a:ahLst/>
            <a:cxnLst/>
            <a:rect l="l" t="t" r="r" b="b"/>
            <a:pathLst>
              <a:path w="542925" h="76200">
                <a:moveTo>
                  <a:pt x="466725" y="0"/>
                </a:moveTo>
                <a:lnTo>
                  <a:pt x="466725" y="76200"/>
                </a:lnTo>
                <a:lnTo>
                  <a:pt x="530225" y="44450"/>
                </a:lnTo>
                <a:lnTo>
                  <a:pt x="479425" y="44450"/>
                </a:lnTo>
                <a:lnTo>
                  <a:pt x="479425" y="31750"/>
                </a:lnTo>
                <a:lnTo>
                  <a:pt x="530225" y="31750"/>
                </a:lnTo>
                <a:lnTo>
                  <a:pt x="466725" y="0"/>
                </a:lnTo>
                <a:close/>
              </a:path>
              <a:path w="542925" h="76200">
                <a:moveTo>
                  <a:pt x="466725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66725" y="44450"/>
                </a:lnTo>
                <a:lnTo>
                  <a:pt x="466725" y="31750"/>
                </a:lnTo>
                <a:close/>
              </a:path>
              <a:path w="542925" h="76200">
                <a:moveTo>
                  <a:pt x="530225" y="31750"/>
                </a:moveTo>
                <a:lnTo>
                  <a:pt x="479425" y="31750"/>
                </a:lnTo>
                <a:lnTo>
                  <a:pt x="479425" y="44450"/>
                </a:lnTo>
                <a:lnTo>
                  <a:pt x="530225" y="44450"/>
                </a:lnTo>
                <a:lnTo>
                  <a:pt x="542925" y="38100"/>
                </a:lnTo>
                <a:lnTo>
                  <a:pt x="53022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800850" y="1409700"/>
            <a:ext cx="228600" cy="4114800"/>
          </a:xfrm>
          <a:custGeom>
            <a:avLst/>
            <a:gdLst/>
            <a:ahLst/>
            <a:cxnLst/>
            <a:rect l="l" t="t" r="r" b="b"/>
            <a:pathLst>
              <a:path w="228600" h="4114800">
                <a:moveTo>
                  <a:pt x="76200" y="3886200"/>
                </a:moveTo>
                <a:lnTo>
                  <a:pt x="0" y="3886200"/>
                </a:lnTo>
                <a:lnTo>
                  <a:pt x="114300" y="4114800"/>
                </a:lnTo>
                <a:lnTo>
                  <a:pt x="209550" y="3924300"/>
                </a:lnTo>
                <a:lnTo>
                  <a:pt x="76200" y="3924300"/>
                </a:lnTo>
                <a:lnTo>
                  <a:pt x="76200" y="3886200"/>
                </a:lnTo>
                <a:close/>
              </a:path>
              <a:path w="228600" h="4114800">
                <a:moveTo>
                  <a:pt x="152400" y="0"/>
                </a:moveTo>
                <a:lnTo>
                  <a:pt x="76200" y="0"/>
                </a:lnTo>
                <a:lnTo>
                  <a:pt x="76200" y="3924300"/>
                </a:lnTo>
                <a:lnTo>
                  <a:pt x="152400" y="3924300"/>
                </a:lnTo>
                <a:lnTo>
                  <a:pt x="152400" y="0"/>
                </a:lnTo>
                <a:close/>
              </a:path>
              <a:path w="228600" h="4114800">
                <a:moveTo>
                  <a:pt x="228600" y="3886200"/>
                </a:moveTo>
                <a:lnTo>
                  <a:pt x="152400" y="3886200"/>
                </a:lnTo>
                <a:lnTo>
                  <a:pt x="152400" y="3924300"/>
                </a:lnTo>
                <a:lnTo>
                  <a:pt x="209550" y="3924300"/>
                </a:lnTo>
                <a:lnTo>
                  <a:pt x="228600" y="388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1690751" y="923925"/>
            <a:ext cx="4577080" cy="4686300"/>
            <a:chOff x="1690751" y="923925"/>
            <a:chExt cx="4577080" cy="4686300"/>
          </a:xfrm>
        </p:grpSpPr>
        <p:sp>
          <p:nvSpPr>
            <p:cNvPr id="21" name="object 21"/>
            <p:cNvSpPr/>
            <p:nvPr/>
          </p:nvSpPr>
          <p:spPr>
            <a:xfrm>
              <a:off x="2500376" y="1414526"/>
              <a:ext cx="3505200" cy="0"/>
            </a:xfrm>
            <a:custGeom>
              <a:avLst/>
              <a:gdLst/>
              <a:ahLst/>
              <a:cxnLst/>
              <a:rect l="l" t="t" r="r" b="b"/>
              <a:pathLst>
                <a:path w="3505200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95550" y="1352550"/>
              <a:ext cx="3505200" cy="3838575"/>
            </a:xfrm>
            <a:custGeom>
              <a:avLst/>
              <a:gdLst/>
              <a:ahLst/>
              <a:cxnLst/>
              <a:rect l="l" t="t" r="r" b="b"/>
              <a:pathLst>
                <a:path w="3505200" h="3838575">
                  <a:moveTo>
                    <a:pt x="0" y="3838575"/>
                  </a:moveTo>
                  <a:lnTo>
                    <a:pt x="3505200" y="3838575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3838575"/>
                  </a:lnTo>
                  <a:close/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190750" y="1343025"/>
              <a:ext cx="4038600" cy="0"/>
            </a:xfrm>
            <a:custGeom>
              <a:avLst/>
              <a:gdLst/>
              <a:ahLst/>
              <a:cxnLst/>
              <a:rect l="l" t="t" r="r" b="b"/>
              <a:pathLst>
                <a:path w="4038600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57426" y="3367151"/>
              <a:ext cx="742950" cy="0"/>
            </a:xfrm>
            <a:custGeom>
              <a:avLst/>
              <a:gdLst/>
              <a:ahLst/>
              <a:cxnLst/>
              <a:rect l="l" t="t" r="r" b="b"/>
              <a:pathLst>
                <a:path w="742950">
                  <a:moveTo>
                    <a:pt x="742950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90751" y="923925"/>
              <a:ext cx="123825" cy="2438400"/>
            </a:xfrm>
            <a:custGeom>
              <a:avLst/>
              <a:gdLst/>
              <a:ahLst/>
              <a:cxnLst/>
              <a:rect l="l" t="t" r="r" b="b"/>
              <a:pathLst>
                <a:path w="123825" h="2438400">
                  <a:moveTo>
                    <a:pt x="82550" y="103250"/>
                  </a:moveTo>
                  <a:lnTo>
                    <a:pt x="41275" y="103250"/>
                  </a:lnTo>
                  <a:lnTo>
                    <a:pt x="41148" y="2438400"/>
                  </a:lnTo>
                  <a:lnTo>
                    <a:pt x="82423" y="2438400"/>
                  </a:lnTo>
                  <a:lnTo>
                    <a:pt x="82550" y="103250"/>
                  </a:lnTo>
                  <a:close/>
                </a:path>
                <a:path w="123825" h="2438400">
                  <a:moveTo>
                    <a:pt x="61849" y="0"/>
                  </a:moveTo>
                  <a:lnTo>
                    <a:pt x="0" y="123825"/>
                  </a:lnTo>
                  <a:lnTo>
                    <a:pt x="41273" y="123825"/>
                  </a:lnTo>
                  <a:lnTo>
                    <a:pt x="41275" y="103250"/>
                  </a:lnTo>
                  <a:lnTo>
                    <a:pt x="113527" y="103250"/>
                  </a:lnTo>
                  <a:lnTo>
                    <a:pt x="61849" y="0"/>
                  </a:lnTo>
                  <a:close/>
                </a:path>
                <a:path w="123825" h="2438400">
                  <a:moveTo>
                    <a:pt x="113527" y="103250"/>
                  </a:moveTo>
                  <a:lnTo>
                    <a:pt x="82550" y="103250"/>
                  </a:lnTo>
                  <a:lnTo>
                    <a:pt x="82548" y="123825"/>
                  </a:lnTo>
                  <a:lnTo>
                    <a:pt x="123825" y="123825"/>
                  </a:lnTo>
                  <a:lnTo>
                    <a:pt x="113527" y="10325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95550" y="1028700"/>
              <a:ext cx="3514725" cy="1019175"/>
            </a:xfrm>
            <a:custGeom>
              <a:avLst/>
              <a:gdLst/>
              <a:ahLst/>
              <a:cxnLst/>
              <a:rect l="l" t="t" r="r" b="b"/>
              <a:pathLst>
                <a:path w="3514725" h="1019175">
                  <a:moveTo>
                    <a:pt x="0" y="0"/>
                  </a:moveTo>
                  <a:lnTo>
                    <a:pt x="0" y="1019175"/>
                  </a:lnTo>
                </a:path>
                <a:path w="3514725" h="1019175">
                  <a:moveTo>
                    <a:pt x="3514725" y="0"/>
                  </a:moveTo>
                  <a:lnTo>
                    <a:pt x="3514725" y="1019175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19426" y="5100637"/>
              <a:ext cx="3505200" cy="462280"/>
            </a:xfrm>
            <a:custGeom>
              <a:avLst/>
              <a:gdLst/>
              <a:ahLst/>
              <a:cxnLst/>
              <a:rect l="l" t="t" r="r" b="b"/>
              <a:pathLst>
                <a:path w="3505200" h="462279">
                  <a:moveTo>
                    <a:pt x="0" y="461962"/>
                  </a:moveTo>
                  <a:lnTo>
                    <a:pt x="3505200" y="461962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461962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19426" y="5100637"/>
              <a:ext cx="3505200" cy="504825"/>
            </a:xfrm>
            <a:custGeom>
              <a:avLst/>
              <a:gdLst/>
              <a:ahLst/>
              <a:cxnLst/>
              <a:rect l="l" t="t" r="r" b="b"/>
              <a:pathLst>
                <a:path w="3505200" h="504825">
                  <a:moveTo>
                    <a:pt x="0" y="504825"/>
                  </a:moveTo>
                  <a:lnTo>
                    <a:pt x="3505200" y="504825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5048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062851" y="4450143"/>
            <a:ext cx="883285" cy="72517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indent="136525">
              <a:lnSpc>
                <a:spcPts val="2630"/>
              </a:lnSpc>
              <a:spcBef>
                <a:spcPts val="395"/>
              </a:spcBef>
            </a:pPr>
            <a:r>
              <a:rPr sz="2400" spc="-10" dirty="0">
                <a:latin typeface="Times New Roman"/>
                <a:cs typeface="Times New Roman"/>
              </a:rPr>
              <a:t>Stack </a:t>
            </a:r>
            <a:r>
              <a:rPr sz="2400" spc="-110" dirty="0">
                <a:latin typeface="Times New Roman"/>
                <a:cs typeface="Times New Roman"/>
              </a:rPr>
              <a:t>Growth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15125" y="931862"/>
            <a:ext cx="3733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Times New Roman"/>
                <a:cs typeface="Times New Roman"/>
              </a:rPr>
              <a:t>high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15125" y="5510212"/>
            <a:ext cx="3308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latin typeface="Times New Roman"/>
                <a:cs typeface="Times New Roman"/>
              </a:rPr>
              <a:t>low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33650" y="5109209"/>
            <a:ext cx="342900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94995">
              <a:lnSpc>
                <a:spcPct val="100000"/>
              </a:lnSpc>
              <a:spcBef>
                <a:spcPts val="105"/>
              </a:spcBef>
            </a:pPr>
            <a:r>
              <a:rPr sz="2400" spc="-130" dirty="0">
                <a:latin typeface="Times New Roman"/>
                <a:cs typeface="Times New Roman"/>
              </a:rPr>
              <a:t>callee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saved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registers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190750" y="5276850"/>
            <a:ext cx="4038600" cy="1333500"/>
            <a:chOff x="2190750" y="5276850"/>
            <a:chExt cx="4038600" cy="1333500"/>
          </a:xfrm>
        </p:grpSpPr>
        <p:sp>
          <p:nvSpPr>
            <p:cNvPr id="34" name="object 34"/>
            <p:cNvSpPr/>
            <p:nvPr/>
          </p:nvSpPr>
          <p:spPr>
            <a:xfrm>
              <a:off x="2190750" y="5600700"/>
              <a:ext cx="4038600" cy="0"/>
            </a:xfrm>
            <a:custGeom>
              <a:avLst/>
              <a:gdLst/>
              <a:ahLst/>
              <a:cxnLst/>
              <a:rect l="l" t="t" r="r" b="b"/>
              <a:pathLst>
                <a:path w="4038600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486025" y="5305425"/>
              <a:ext cx="3533775" cy="1276350"/>
            </a:xfrm>
            <a:custGeom>
              <a:avLst/>
              <a:gdLst/>
              <a:ahLst/>
              <a:cxnLst/>
              <a:rect l="l" t="t" r="r" b="b"/>
              <a:pathLst>
                <a:path w="3533775" h="1276350">
                  <a:moveTo>
                    <a:pt x="3524250" y="0"/>
                  </a:moveTo>
                  <a:lnTo>
                    <a:pt x="3533775" y="1276350"/>
                  </a:lnTo>
                </a:path>
                <a:path w="3533775" h="1276350">
                  <a:moveTo>
                    <a:pt x="0" y="0"/>
                  </a:moveTo>
                  <a:lnTo>
                    <a:pt x="19050" y="127635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6" name="object 3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889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80" dirty="0"/>
              <a:t> </a:t>
            </a:r>
            <a:r>
              <a:rPr dirty="0"/>
              <a:t>are</a:t>
            </a:r>
            <a:r>
              <a:rPr spc="10" dirty="0"/>
              <a:t> </a:t>
            </a:r>
            <a:r>
              <a:rPr dirty="0"/>
              <a:t>buffer</a:t>
            </a:r>
            <a:r>
              <a:rPr spc="-35" dirty="0"/>
              <a:t> </a:t>
            </a:r>
            <a:r>
              <a:rPr spc="-10" dirty="0"/>
              <a:t>overflows?</a:t>
            </a:r>
          </a:p>
        </p:txBody>
      </p:sp>
      <p:sp>
        <p:nvSpPr>
          <p:cNvPr id="3" name="object 3"/>
          <p:cNvSpPr/>
          <p:nvPr/>
        </p:nvSpPr>
        <p:spPr>
          <a:xfrm>
            <a:off x="5415026" y="1709673"/>
            <a:ext cx="3571875" cy="1752600"/>
          </a:xfrm>
          <a:custGeom>
            <a:avLst/>
            <a:gdLst/>
            <a:ahLst/>
            <a:cxnLst/>
            <a:rect l="l" t="t" r="r" b="b"/>
            <a:pathLst>
              <a:path w="3571875" h="1752600">
                <a:moveTo>
                  <a:pt x="0" y="1752600"/>
                </a:moveTo>
                <a:lnTo>
                  <a:pt x="3571875" y="1752600"/>
                </a:lnTo>
                <a:lnTo>
                  <a:pt x="3571875" y="0"/>
                </a:lnTo>
                <a:lnTo>
                  <a:pt x="0" y="0"/>
                </a:lnTo>
                <a:lnTo>
                  <a:pt x="0" y="1752600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94654" y="1708848"/>
            <a:ext cx="3383915" cy="16700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696363"/>
                </a:solidFill>
                <a:latin typeface="Courier New"/>
                <a:cs typeface="Courier New"/>
              </a:rPr>
              <a:t>void</a:t>
            </a:r>
            <a:r>
              <a:rPr sz="2000" b="1" spc="-35" dirty="0">
                <a:solidFill>
                  <a:srgbClr val="696363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696363"/>
                </a:solidFill>
                <a:latin typeface="Courier New"/>
                <a:cs typeface="Courier New"/>
              </a:rPr>
              <a:t>func(char</a:t>
            </a:r>
            <a:r>
              <a:rPr sz="2000" b="1" spc="-30" dirty="0">
                <a:solidFill>
                  <a:srgbClr val="696363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696363"/>
                </a:solidFill>
                <a:latin typeface="Courier New"/>
                <a:cs typeface="Courier New"/>
              </a:rPr>
              <a:t>*str)</a:t>
            </a:r>
            <a:r>
              <a:rPr sz="2000" b="1" spc="-30" dirty="0">
                <a:solidFill>
                  <a:srgbClr val="696363"/>
                </a:solidFill>
                <a:latin typeface="Courier New"/>
                <a:cs typeface="Courier New"/>
              </a:rPr>
              <a:t> </a:t>
            </a:r>
            <a:r>
              <a:rPr sz="2000" b="1" spc="-50" dirty="0">
                <a:solidFill>
                  <a:srgbClr val="696363"/>
                </a:solidFill>
                <a:latin typeface="Courier New"/>
                <a:cs typeface="Courier New"/>
              </a:rPr>
              <a:t>{ </a:t>
            </a:r>
            <a:r>
              <a:rPr sz="2000" b="1" dirty="0">
                <a:solidFill>
                  <a:srgbClr val="696363"/>
                </a:solidFill>
                <a:latin typeface="Courier New"/>
                <a:cs typeface="Courier New"/>
              </a:rPr>
              <a:t>char</a:t>
            </a:r>
            <a:r>
              <a:rPr sz="2000" b="1" spc="-20" dirty="0">
                <a:solidFill>
                  <a:srgbClr val="696363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696363"/>
                </a:solidFill>
                <a:latin typeface="Courier New"/>
                <a:cs typeface="Courier New"/>
              </a:rPr>
              <a:t>buf[128];</a:t>
            </a:r>
            <a:endParaRPr sz="2000">
              <a:latin typeface="Courier New"/>
              <a:cs typeface="Courier New"/>
            </a:endParaRPr>
          </a:p>
          <a:p>
            <a:pPr marL="469900" marR="159385">
              <a:lnSpc>
                <a:spcPct val="100000"/>
              </a:lnSpc>
              <a:spcBef>
                <a:spcPts val="910"/>
              </a:spcBef>
            </a:pPr>
            <a:r>
              <a:rPr sz="2000" b="1" dirty="0">
                <a:solidFill>
                  <a:srgbClr val="696363"/>
                </a:solidFill>
                <a:latin typeface="Courier New"/>
                <a:cs typeface="Courier New"/>
              </a:rPr>
              <a:t>strcpy(buf,</a:t>
            </a:r>
            <a:r>
              <a:rPr sz="2000" b="1" spc="-55" dirty="0">
                <a:solidFill>
                  <a:srgbClr val="696363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696363"/>
                </a:solidFill>
                <a:latin typeface="Courier New"/>
                <a:cs typeface="Courier New"/>
              </a:rPr>
              <a:t>str); do-something(buf);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50" dirty="0">
                <a:solidFill>
                  <a:srgbClr val="696363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857" y="1702117"/>
            <a:ext cx="430657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Suppose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function: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8782" y="2439987"/>
            <a:ext cx="392239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func()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stack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looks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like: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76463" y="3048063"/>
            <a:ext cx="3514725" cy="514350"/>
            <a:chOff x="1676463" y="3048063"/>
            <a:chExt cx="3514725" cy="514350"/>
          </a:xfrm>
        </p:grpSpPr>
        <p:sp>
          <p:nvSpPr>
            <p:cNvPr id="8" name="object 8"/>
            <p:cNvSpPr/>
            <p:nvPr/>
          </p:nvSpPr>
          <p:spPr>
            <a:xfrm>
              <a:off x="1681226" y="3086100"/>
              <a:ext cx="3505200" cy="471805"/>
            </a:xfrm>
            <a:custGeom>
              <a:avLst/>
              <a:gdLst/>
              <a:ahLst/>
              <a:cxnLst/>
              <a:rect l="l" t="t" r="r" b="b"/>
              <a:pathLst>
                <a:path w="3505200" h="471804">
                  <a:moveTo>
                    <a:pt x="0" y="471550"/>
                  </a:moveTo>
                  <a:lnTo>
                    <a:pt x="3505200" y="471550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47155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81226" y="3052826"/>
              <a:ext cx="3505200" cy="504825"/>
            </a:xfrm>
            <a:custGeom>
              <a:avLst/>
              <a:gdLst/>
              <a:ahLst/>
              <a:cxnLst/>
              <a:rect l="l" t="t" r="r" b="b"/>
              <a:pathLst>
                <a:path w="3505200" h="504825">
                  <a:moveTo>
                    <a:pt x="0" y="504825"/>
                  </a:moveTo>
                  <a:lnTo>
                    <a:pt x="3505200" y="504825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5048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741676" y="3103181"/>
            <a:ext cx="13817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27125" algn="l"/>
              </a:tabLst>
            </a:pPr>
            <a:r>
              <a:rPr sz="2000" spc="-10" dirty="0">
                <a:latin typeface="Times New Roman"/>
                <a:cs typeface="Times New Roman"/>
              </a:rPr>
              <a:t>argument: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str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76463" y="3505263"/>
            <a:ext cx="3514725" cy="2400300"/>
            <a:chOff x="1676463" y="3505263"/>
            <a:chExt cx="3514725" cy="2400300"/>
          </a:xfrm>
        </p:grpSpPr>
        <p:sp>
          <p:nvSpPr>
            <p:cNvPr id="12" name="object 12"/>
            <p:cNvSpPr/>
            <p:nvPr/>
          </p:nvSpPr>
          <p:spPr>
            <a:xfrm>
              <a:off x="1681226" y="3510026"/>
              <a:ext cx="3505200" cy="457200"/>
            </a:xfrm>
            <a:custGeom>
              <a:avLst/>
              <a:gdLst/>
              <a:ahLst/>
              <a:cxnLst/>
              <a:rect l="l" t="t" r="r" b="b"/>
              <a:pathLst>
                <a:path w="3505200" h="457200">
                  <a:moveTo>
                    <a:pt x="3505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505200" y="457200"/>
                  </a:lnTo>
                  <a:lnTo>
                    <a:pt x="35052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81226" y="3510026"/>
              <a:ext cx="3505200" cy="457200"/>
            </a:xfrm>
            <a:custGeom>
              <a:avLst/>
              <a:gdLst/>
              <a:ahLst/>
              <a:cxnLst/>
              <a:rect l="l" t="t" r="r" b="b"/>
              <a:pathLst>
                <a:path w="3505200" h="457200">
                  <a:moveTo>
                    <a:pt x="0" y="457200"/>
                  </a:moveTo>
                  <a:lnTo>
                    <a:pt x="3505200" y="457200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81226" y="3919601"/>
              <a:ext cx="3505200" cy="457200"/>
            </a:xfrm>
            <a:custGeom>
              <a:avLst/>
              <a:gdLst/>
              <a:ahLst/>
              <a:cxnLst/>
              <a:rect l="l" t="t" r="r" b="b"/>
              <a:pathLst>
                <a:path w="3505200" h="457200">
                  <a:moveTo>
                    <a:pt x="3505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505200" y="457200"/>
                  </a:lnTo>
                  <a:lnTo>
                    <a:pt x="35052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81226" y="3919601"/>
              <a:ext cx="3505200" cy="457200"/>
            </a:xfrm>
            <a:custGeom>
              <a:avLst/>
              <a:gdLst/>
              <a:ahLst/>
              <a:cxnLst/>
              <a:rect l="l" t="t" r="r" b="b"/>
              <a:pathLst>
                <a:path w="3505200" h="457200">
                  <a:moveTo>
                    <a:pt x="0" y="457200"/>
                  </a:moveTo>
                  <a:lnTo>
                    <a:pt x="3505200" y="457200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81226" y="4376737"/>
              <a:ext cx="3505200" cy="1481455"/>
            </a:xfrm>
            <a:custGeom>
              <a:avLst/>
              <a:gdLst/>
              <a:ahLst/>
              <a:cxnLst/>
              <a:rect l="l" t="t" r="r" b="b"/>
              <a:pathLst>
                <a:path w="3505200" h="1481454">
                  <a:moveTo>
                    <a:pt x="0" y="1481137"/>
                  </a:moveTo>
                  <a:lnTo>
                    <a:pt x="3505200" y="1481137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1481137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81226" y="4376737"/>
              <a:ext cx="3505200" cy="1524000"/>
            </a:xfrm>
            <a:custGeom>
              <a:avLst/>
              <a:gdLst/>
              <a:ahLst/>
              <a:cxnLst/>
              <a:rect l="l" t="t" r="r" b="b"/>
              <a:pathLst>
                <a:path w="3505200" h="1524000">
                  <a:moveTo>
                    <a:pt x="0" y="1524000"/>
                  </a:moveTo>
                  <a:lnTo>
                    <a:pt x="3505200" y="1524000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1524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529839" y="3437826"/>
            <a:ext cx="1807845" cy="18313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2540" algn="ctr">
              <a:lnSpc>
                <a:spcPct val="133500"/>
              </a:lnSpc>
              <a:spcBef>
                <a:spcPts val="90"/>
              </a:spcBef>
            </a:pPr>
            <a:r>
              <a:rPr sz="2000" spc="-20" dirty="0">
                <a:latin typeface="Times New Roman"/>
                <a:cs typeface="Times New Roman"/>
              </a:rPr>
              <a:t>return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address </a:t>
            </a:r>
            <a:r>
              <a:rPr sz="2000" spc="-100" dirty="0">
                <a:latin typeface="Times New Roman"/>
                <a:cs typeface="Times New Roman"/>
              </a:rPr>
              <a:t>stack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Times New Roman"/>
                <a:cs typeface="Times New Roman"/>
              </a:rPr>
              <a:t>frame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pointer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20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2000" spc="-95" dirty="0">
                <a:latin typeface="Times New Roman"/>
                <a:cs typeface="Times New Roman"/>
              </a:rPr>
              <a:t>char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buf[128]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4479" y="5667057"/>
            <a:ext cx="25654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85" dirty="0">
                <a:latin typeface="Times New Roman"/>
                <a:cs typeface="Times New Roman"/>
              </a:rPr>
              <a:t>SP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7712" y="5891212"/>
            <a:ext cx="543560" cy="76200"/>
          </a:xfrm>
          <a:custGeom>
            <a:avLst/>
            <a:gdLst/>
            <a:ahLst/>
            <a:cxnLst/>
            <a:rect l="l" t="t" r="r" b="b"/>
            <a:pathLst>
              <a:path w="543560" h="76200">
                <a:moveTo>
                  <a:pt x="466725" y="0"/>
                </a:moveTo>
                <a:lnTo>
                  <a:pt x="466725" y="76200"/>
                </a:lnTo>
                <a:lnTo>
                  <a:pt x="530277" y="44450"/>
                </a:lnTo>
                <a:lnTo>
                  <a:pt x="479425" y="44450"/>
                </a:lnTo>
                <a:lnTo>
                  <a:pt x="479425" y="31750"/>
                </a:lnTo>
                <a:lnTo>
                  <a:pt x="530277" y="31750"/>
                </a:lnTo>
                <a:lnTo>
                  <a:pt x="466725" y="0"/>
                </a:lnTo>
                <a:close/>
              </a:path>
              <a:path w="543560" h="76200">
                <a:moveTo>
                  <a:pt x="466725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66725" y="44450"/>
                </a:lnTo>
                <a:lnTo>
                  <a:pt x="466725" y="31750"/>
                </a:lnTo>
                <a:close/>
              </a:path>
              <a:path w="543560" h="76200">
                <a:moveTo>
                  <a:pt x="530277" y="31750"/>
                </a:moveTo>
                <a:lnTo>
                  <a:pt x="479425" y="31750"/>
                </a:lnTo>
                <a:lnTo>
                  <a:pt x="479425" y="44450"/>
                </a:lnTo>
                <a:lnTo>
                  <a:pt x="530277" y="44450"/>
                </a:lnTo>
                <a:lnTo>
                  <a:pt x="542988" y="38100"/>
                </a:lnTo>
                <a:lnTo>
                  <a:pt x="530277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871537" y="2667000"/>
            <a:ext cx="4538980" cy="3457575"/>
            <a:chOff x="871537" y="2667000"/>
            <a:chExt cx="4538980" cy="3457575"/>
          </a:xfrm>
        </p:grpSpPr>
        <p:sp>
          <p:nvSpPr>
            <p:cNvPr id="22" name="object 22"/>
            <p:cNvSpPr/>
            <p:nvPr/>
          </p:nvSpPr>
          <p:spPr>
            <a:xfrm>
              <a:off x="1371600" y="3048000"/>
              <a:ext cx="4038600" cy="2847975"/>
            </a:xfrm>
            <a:custGeom>
              <a:avLst/>
              <a:gdLst/>
              <a:ahLst/>
              <a:cxnLst/>
              <a:rect l="l" t="t" r="r" b="b"/>
              <a:pathLst>
                <a:path w="4038600" h="2847975">
                  <a:moveTo>
                    <a:pt x="0" y="2847975"/>
                  </a:moveTo>
                  <a:lnTo>
                    <a:pt x="4038600" y="2847975"/>
                  </a:lnTo>
                </a:path>
                <a:path w="4038600" h="284797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38212" y="4167250"/>
              <a:ext cx="743585" cy="0"/>
            </a:xfrm>
            <a:custGeom>
              <a:avLst/>
              <a:gdLst/>
              <a:ahLst/>
              <a:cxnLst/>
              <a:rect l="l" t="t" r="r" b="b"/>
              <a:pathLst>
                <a:path w="743585">
                  <a:moveTo>
                    <a:pt x="743013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71537" y="2743200"/>
              <a:ext cx="123825" cy="1419225"/>
            </a:xfrm>
            <a:custGeom>
              <a:avLst/>
              <a:gdLst/>
              <a:ahLst/>
              <a:cxnLst/>
              <a:rect l="l" t="t" r="r" b="b"/>
              <a:pathLst>
                <a:path w="123825" h="1419225">
                  <a:moveTo>
                    <a:pt x="82550" y="103124"/>
                  </a:moveTo>
                  <a:lnTo>
                    <a:pt x="41275" y="103124"/>
                  </a:lnTo>
                  <a:lnTo>
                    <a:pt x="41275" y="1419225"/>
                  </a:lnTo>
                  <a:lnTo>
                    <a:pt x="82550" y="1419225"/>
                  </a:lnTo>
                  <a:lnTo>
                    <a:pt x="82550" y="103124"/>
                  </a:lnTo>
                  <a:close/>
                </a:path>
                <a:path w="123825" h="1419225">
                  <a:moveTo>
                    <a:pt x="61912" y="0"/>
                  </a:moveTo>
                  <a:lnTo>
                    <a:pt x="0" y="123825"/>
                  </a:lnTo>
                  <a:lnTo>
                    <a:pt x="41275" y="123825"/>
                  </a:lnTo>
                  <a:lnTo>
                    <a:pt x="41275" y="103124"/>
                  </a:lnTo>
                  <a:lnTo>
                    <a:pt x="113474" y="103124"/>
                  </a:lnTo>
                  <a:lnTo>
                    <a:pt x="61912" y="0"/>
                  </a:lnTo>
                  <a:close/>
                </a:path>
                <a:path w="123825" h="1419225">
                  <a:moveTo>
                    <a:pt x="113474" y="103124"/>
                  </a:moveTo>
                  <a:lnTo>
                    <a:pt x="82550" y="103124"/>
                  </a:lnTo>
                  <a:lnTo>
                    <a:pt x="82550" y="123825"/>
                  </a:lnTo>
                  <a:lnTo>
                    <a:pt x="123825" y="123825"/>
                  </a:lnTo>
                  <a:lnTo>
                    <a:pt x="113474" y="10312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76400" y="2695575"/>
              <a:ext cx="3514725" cy="3400425"/>
            </a:xfrm>
            <a:custGeom>
              <a:avLst/>
              <a:gdLst/>
              <a:ahLst/>
              <a:cxnLst/>
              <a:rect l="l" t="t" r="r" b="b"/>
              <a:pathLst>
                <a:path w="3514725" h="3400425">
                  <a:moveTo>
                    <a:pt x="0" y="47625"/>
                  </a:moveTo>
                  <a:lnTo>
                    <a:pt x="0" y="457200"/>
                  </a:lnTo>
                </a:path>
                <a:path w="3514725" h="3400425">
                  <a:moveTo>
                    <a:pt x="3505200" y="0"/>
                  </a:moveTo>
                  <a:lnTo>
                    <a:pt x="3514725" y="457200"/>
                  </a:lnTo>
                </a:path>
                <a:path w="3514725" h="3400425">
                  <a:moveTo>
                    <a:pt x="9525" y="2686050"/>
                  </a:moveTo>
                  <a:lnTo>
                    <a:pt x="0" y="3400425"/>
                  </a:lnTo>
                </a:path>
                <a:path w="3514725" h="3400425">
                  <a:moveTo>
                    <a:pt x="3514725" y="2686050"/>
                  </a:moveTo>
                  <a:lnTo>
                    <a:pt x="3505200" y="3400425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76400" y="3048000"/>
              <a:ext cx="3505200" cy="2847975"/>
            </a:xfrm>
            <a:custGeom>
              <a:avLst/>
              <a:gdLst/>
              <a:ahLst/>
              <a:cxnLst/>
              <a:rect l="l" t="t" r="r" b="b"/>
              <a:pathLst>
                <a:path w="3505200" h="2847975">
                  <a:moveTo>
                    <a:pt x="0" y="2847975"/>
                  </a:moveTo>
                  <a:lnTo>
                    <a:pt x="3505200" y="2847975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2847975"/>
                  </a:lnTo>
                  <a:close/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413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5887" y="3381293"/>
            <a:ext cx="3586250" cy="244326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889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70" dirty="0"/>
              <a:t> </a:t>
            </a:r>
            <a:r>
              <a:rPr dirty="0"/>
              <a:t>are</a:t>
            </a:r>
            <a:r>
              <a:rPr spc="10" dirty="0"/>
              <a:t> </a:t>
            </a:r>
            <a:r>
              <a:rPr dirty="0"/>
              <a:t>buffer</a:t>
            </a:r>
            <a:r>
              <a:rPr spc="-30" dirty="0"/>
              <a:t> </a:t>
            </a:r>
            <a:r>
              <a:rPr spc="-10" dirty="0"/>
              <a:t>overflows?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15026" y="1709673"/>
            <a:ext cx="3571875" cy="1752600"/>
          </a:xfrm>
          <a:prstGeom prst="rect">
            <a:avLst/>
          </a:prstGeom>
          <a:ln w="9525">
            <a:solidFill>
              <a:srgbClr val="0000FF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549275" marR="113030" indent="-457834"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696363"/>
                </a:solidFill>
                <a:latin typeface="Courier New"/>
                <a:cs typeface="Courier New"/>
              </a:rPr>
              <a:t>void</a:t>
            </a:r>
            <a:r>
              <a:rPr sz="2000" b="1" spc="-35" dirty="0">
                <a:solidFill>
                  <a:srgbClr val="696363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696363"/>
                </a:solidFill>
                <a:latin typeface="Courier New"/>
                <a:cs typeface="Courier New"/>
              </a:rPr>
              <a:t>func(char</a:t>
            </a:r>
            <a:r>
              <a:rPr sz="2000" b="1" spc="-30" dirty="0">
                <a:solidFill>
                  <a:srgbClr val="696363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696363"/>
                </a:solidFill>
                <a:latin typeface="Courier New"/>
                <a:cs typeface="Courier New"/>
              </a:rPr>
              <a:t>*str)</a:t>
            </a:r>
            <a:r>
              <a:rPr sz="2000" b="1" spc="-30" dirty="0">
                <a:solidFill>
                  <a:srgbClr val="696363"/>
                </a:solidFill>
                <a:latin typeface="Courier New"/>
                <a:cs typeface="Courier New"/>
              </a:rPr>
              <a:t> </a:t>
            </a:r>
            <a:r>
              <a:rPr sz="2000" b="1" spc="-50" dirty="0">
                <a:solidFill>
                  <a:srgbClr val="696363"/>
                </a:solidFill>
                <a:latin typeface="Courier New"/>
                <a:cs typeface="Courier New"/>
              </a:rPr>
              <a:t>{ </a:t>
            </a:r>
            <a:r>
              <a:rPr sz="2000" b="1" dirty="0">
                <a:solidFill>
                  <a:srgbClr val="696363"/>
                </a:solidFill>
                <a:latin typeface="Courier New"/>
                <a:cs typeface="Courier New"/>
              </a:rPr>
              <a:t>char</a:t>
            </a:r>
            <a:r>
              <a:rPr sz="2000" b="1" spc="-20" dirty="0">
                <a:solidFill>
                  <a:srgbClr val="696363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696363"/>
                </a:solidFill>
                <a:latin typeface="Courier New"/>
                <a:cs typeface="Courier New"/>
              </a:rPr>
              <a:t>buf[128];</a:t>
            </a:r>
            <a:endParaRPr sz="2000">
              <a:latin typeface="Courier New"/>
              <a:cs typeface="Courier New"/>
            </a:endParaRPr>
          </a:p>
          <a:p>
            <a:pPr marL="549275" marR="268605">
              <a:lnSpc>
                <a:spcPct val="100000"/>
              </a:lnSpc>
              <a:spcBef>
                <a:spcPts val="905"/>
              </a:spcBef>
            </a:pPr>
            <a:r>
              <a:rPr sz="2000" b="1" dirty="0">
                <a:solidFill>
                  <a:srgbClr val="696363"/>
                </a:solidFill>
                <a:latin typeface="Courier New"/>
                <a:cs typeface="Courier New"/>
              </a:rPr>
              <a:t>strcpy(buf,</a:t>
            </a:r>
            <a:r>
              <a:rPr sz="2000" b="1" spc="-55" dirty="0">
                <a:solidFill>
                  <a:srgbClr val="696363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696363"/>
                </a:solidFill>
                <a:latin typeface="Courier New"/>
                <a:cs typeface="Courier New"/>
              </a:rPr>
              <a:t>str); do-something(buf);</a:t>
            </a:r>
            <a:endParaRPr sz="2000">
              <a:latin typeface="Courier New"/>
              <a:cs typeface="Courier New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2000" b="1" spc="-50" dirty="0">
                <a:solidFill>
                  <a:srgbClr val="696363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92045" y="1727898"/>
            <a:ext cx="193230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07340" algn="l"/>
              </a:tabLst>
            </a:pPr>
            <a:r>
              <a:rPr sz="2000" spc="-2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	136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bytes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long?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857" y="1646527"/>
            <a:ext cx="1510030" cy="80708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696363"/>
                </a:solidFill>
                <a:latin typeface="Times New Roman"/>
                <a:cs typeface="Times New Roman"/>
              </a:rPr>
              <a:t>*str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738505" algn="l"/>
              </a:tabLst>
            </a:pPr>
            <a:r>
              <a:rPr sz="2000" spc="-10" dirty="0">
                <a:latin typeface="Times New Roman"/>
                <a:cs typeface="Times New Roman"/>
              </a:rPr>
              <a:t>After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696363"/>
                </a:solidFill>
                <a:latin typeface="Times New Roman"/>
                <a:cs typeface="Times New Roman"/>
              </a:rPr>
              <a:t>strcpy</a:t>
            </a:r>
            <a:r>
              <a:rPr sz="2000" b="1" spc="-1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620" y="5565140"/>
            <a:ext cx="25654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85" dirty="0">
                <a:latin typeface="Times New Roman"/>
                <a:cs typeface="Times New Roman"/>
              </a:rPr>
              <a:t>SP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5312" y="5786437"/>
            <a:ext cx="542925" cy="76200"/>
          </a:xfrm>
          <a:custGeom>
            <a:avLst/>
            <a:gdLst/>
            <a:ahLst/>
            <a:cxnLst/>
            <a:rect l="l" t="t" r="r" b="b"/>
            <a:pathLst>
              <a:path w="542925" h="76200">
                <a:moveTo>
                  <a:pt x="466725" y="0"/>
                </a:moveTo>
                <a:lnTo>
                  <a:pt x="466725" y="76200"/>
                </a:lnTo>
                <a:lnTo>
                  <a:pt x="530225" y="44450"/>
                </a:lnTo>
                <a:lnTo>
                  <a:pt x="479425" y="44450"/>
                </a:lnTo>
                <a:lnTo>
                  <a:pt x="479425" y="31750"/>
                </a:lnTo>
                <a:lnTo>
                  <a:pt x="530225" y="31750"/>
                </a:lnTo>
                <a:lnTo>
                  <a:pt x="466725" y="0"/>
                </a:lnTo>
                <a:close/>
              </a:path>
              <a:path w="542925" h="76200">
                <a:moveTo>
                  <a:pt x="466725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66725" y="44450"/>
                </a:lnTo>
                <a:lnTo>
                  <a:pt x="466725" y="31750"/>
                </a:lnTo>
                <a:close/>
              </a:path>
              <a:path w="542925" h="76200">
                <a:moveTo>
                  <a:pt x="530225" y="31750"/>
                </a:moveTo>
                <a:lnTo>
                  <a:pt x="479425" y="31750"/>
                </a:lnTo>
                <a:lnTo>
                  <a:pt x="479425" y="44450"/>
                </a:lnTo>
                <a:lnTo>
                  <a:pt x="530225" y="44450"/>
                </a:lnTo>
                <a:lnTo>
                  <a:pt x="542925" y="38100"/>
                </a:lnTo>
                <a:lnTo>
                  <a:pt x="53022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190272" y="3447966"/>
            <a:ext cx="215265" cy="2214880"/>
            <a:chOff x="1190272" y="3447966"/>
            <a:chExt cx="215265" cy="221488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0272" y="3447966"/>
              <a:ext cx="215018" cy="221466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223962" y="3462401"/>
              <a:ext cx="153035" cy="2133600"/>
            </a:xfrm>
            <a:custGeom>
              <a:avLst/>
              <a:gdLst/>
              <a:ahLst/>
              <a:cxnLst/>
              <a:rect l="l" t="t" r="r" b="b"/>
              <a:pathLst>
                <a:path w="153034" h="2133600">
                  <a:moveTo>
                    <a:pt x="152463" y="2133536"/>
                  </a:moveTo>
                  <a:lnTo>
                    <a:pt x="122769" y="2132538"/>
                  </a:lnTo>
                  <a:lnTo>
                    <a:pt x="98552" y="2129823"/>
                  </a:lnTo>
                  <a:lnTo>
                    <a:pt x="82240" y="2125805"/>
                  </a:lnTo>
                  <a:lnTo>
                    <a:pt x="76263" y="2120900"/>
                  </a:lnTo>
                  <a:lnTo>
                    <a:pt x="76263" y="1079500"/>
                  </a:lnTo>
                  <a:lnTo>
                    <a:pt x="70265" y="1074515"/>
                  </a:lnTo>
                  <a:lnTo>
                    <a:pt x="53914" y="1070483"/>
                  </a:lnTo>
                  <a:lnTo>
                    <a:pt x="29671" y="1067784"/>
                  </a:lnTo>
                  <a:lnTo>
                    <a:pt x="0" y="1066800"/>
                  </a:lnTo>
                  <a:lnTo>
                    <a:pt x="29671" y="1065795"/>
                  </a:lnTo>
                  <a:lnTo>
                    <a:pt x="53914" y="1063053"/>
                  </a:lnTo>
                  <a:lnTo>
                    <a:pt x="70265" y="1058977"/>
                  </a:lnTo>
                  <a:lnTo>
                    <a:pt x="76263" y="1053973"/>
                  </a:lnTo>
                  <a:lnTo>
                    <a:pt x="76263" y="12700"/>
                  </a:lnTo>
                  <a:lnTo>
                    <a:pt x="82240" y="7715"/>
                  </a:lnTo>
                  <a:lnTo>
                    <a:pt x="98551" y="3683"/>
                  </a:lnTo>
                  <a:lnTo>
                    <a:pt x="122769" y="984"/>
                  </a:lnTo>
                  <a:lnTo>
                    <a:pt x="152463" y="0"/>
                  </a:lnTo>
                </a:path>
              </a:pathLst>
            </a:custGeom>
            <a:ln w="127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15632" y="4166298"/>
            <a:ext cx="38227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40" dirty="0">
                <a:latin typeface="Times New Roman"/>
                <a:cs typeface="Times New Roman"/>
              </a:rPr>
              <a:t>*str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219200" y="2562225"/>
          <a:ext cx="4212590" cy="3456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/>
                <a:gridCol w="3505200"/>
                <a:gridCol w="40259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640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164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585"/>
                        </a:spcBef>
                        <a:tabLst>
                          <a:tab pos="1126490" algn="l"/>
                        </a:tabLst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argument: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str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rowSpan="4">
                  <a:txBody>
                    <a:bodyPr/>
                    <a:lstStyle/>
                    <a:p>
                      <a:pPr marR="167640"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R="167640"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R="167640"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R="167640"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R="167640"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R="1676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Pr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95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return</a:t>
                      </a:r>
                      <a:r>
                        <a:rPr sz="20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65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stack</a:t>
                      </a:r>
                      <a:r>
                        <a:rPr sz="20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5" dirty="0">
                          <a:latin typeface="Times New Roman"/>
                          <a:cs typeface="Times New Roman"/>
                        </a:rPr>
                        <a:t>frame</a:t>
                      </a:r>
                      <a:r>
                        <a:rPr sz="20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pointer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89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char</a:t>
                      </a:r>
                      <a:r>
                        <a:rPr sz="20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buf[128]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8448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6764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762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5418552" y="4754562"/>
            <a:ext cx="328930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latin typeface="Times New Roman"/>
                <a:cs typeface="Times New Roman"/>
              </a:rPr>
              <a:t>oblem:</a:t>
            </a:r>
            <a:endParaRPr sz="20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length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696363"/>
                </a:solidFill>
                <a:latin typeface="Times New Roman"/>
                <a:cs typeface="Times New Roman"/>
              </a:rPr>
              <a:t>strcpy()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413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19813" y="3429063"/>
            <a:ext cx="2676525" cy="466725"/>
            <a:chOff x="5619813" y="3429063"/>
            <a:chExt cx="2676525" cy="466725"/>
          </a:xfrm>
        </p:grpSpPr>
        <p:sp>
          <p:nvSpPr>
            <p:cNvPr id="3" name="object 3"/>
            <p:cNvSpPr/>
            <p:nvPr/>
          </p:nvSpPr>
          <p:spPr>
            <a:xfrm>
              <a:off x="5624576" y="3433826"/>
              <a:ext cx="2667000" cy="457200"/>
            </a:xfrm>
            <a:custGeom>
              <a:avLst/>
              <a:gdLst/>
              <a:ahLst/>
              <a:cxnLst/>
              <a:rect l="l" t="t" r="r" b="b"/>
              <a:pathLst>
                <a:path w="2667000" h="457200">
                  <a:moveTo>
                    <a:pt x="2667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667000" y="4572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624576" y="3433826"/>
              <a:ext cx="2667000" cy="457200"/>
            </a:xfrm>
            <a:custGeom>
              <a:avLst/>
              <a:gdLst/>
              <a:ahLst/>
              <a:cxnLst/>
              <a:rect l="l" t="t" r="r" b="b"/>
              <a:pathLst>
                <a:path w="2667000" h="457200">
                  <a:moveTo>
                    <a:pt x="0" y="457200"/>
                  </a:moveTo>
                  <a:lnTo>
                    <a:pt x="2667000" y="45720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5600763" y="4752975"/>
            <a:ext cx="2695575" cy="1533525"/>
            <a:chOff x="5600763" y="4752975"/>
            <a:chExt cx="2695575" cy="1533525"/>
          </a:xfrm>
        </p:grpSpPr>
        <p:sp>
          <p:nvSpPr>
            <p:cNvPr id="6" name="object 6"/>
            <p:cNvSpPr/>
            <p:nvPr/>
          </p:nvSpPr>
          <p:spPr>
            <a:xfrm>
              <a:off x="5605526" y="4757737"/>
              <a:ext cx="19050" cy="871855"/>
            </a:xfrm>
            <a:custGeom>
              <a:avLst/>
              <a:gdLst/>
              <a:ahLst/>
              <a:cxnLst/>
              <a:rect l="l" t="t" r="r" b="b"/>
              <a:pathLst>
                <a:path w="19050" h="871854">
                  <a:moveTo>
                    <a:pt x="0" y="871537"/>
                  </a:moveTo>
                  <a:lnTo>
                    <a:pt x="19050" y="871537"/>
                  </a:lnTo>
                  <a:lnTo>
                    <a:pt x="19050" y="0"/>
                  </a:lnTo>
                  <a:lnTo>
                    <a:pt x="0" y="0"/>
                  </a:lnTo>
                  <a:lnTo>
                    <a:pt x="0" y="87153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05526" y="4757737"/>
              <a:ext cx="2667000" cy="1524000"/>
            </a:xfrm>
            <a:custGeom>
              <a:avLst/>
              <a:gdLst/>
              <a:ahLst/>
              <a:cxnLst/>
              <a:rect l="l" t="t" r="r" b="b"/>
              <a:pathLst>
                <a:path w="2667000" h="1524000">
                  <a:moveTo>
                    <a:pt x="0" y="1524000"/>
                  </a:moveTo>
                  <a:lnTo>
                    <a:pt x="2667000" y="152400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1524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24576" y="4757737"/>
              <a:ext cx="2667000" cy="1524000"/>
            </a:xfrm>
            <a:custGeom>
              <a:avLst/>
              <a:gdLst/>
              <a:ahLst/>
              <a:cxnLst/>
              <a:rect l="l" t="t" r="r" b="b"/>
              <a:pathLst>
                <a:path w="2667000" h="1524000">
                  <a:moveTo>
                    <a:pt x="2614549" y="1500187"/>
                  </a:moveTo>
                  <a:lnTo>
                    <a:pt x="14224" y="1500187"/>
                  </a:lnTo>
                  <a:lnTo>
                    <a:pt x="14224" y="1524000"/>
                  </a:lnTo>
                  <a:lnTo>
                    <a:pt x="2614549" y="1524000"/>
                  </a:lnTo>
                  <a:lnTo>
                    <a:pt x="2614549" y="1500187"/>
                  </a:lnTo>
                  <a:close/>
                </a:path>
                <a:path w="2667000" h="1524000">
                  <a:moveTo>
                    <a:pt x="2667000" y="0"/>
                  </a:moveTo>
                  <a:lnTo>
                    <a:pt x="0" y="0"/>
                  </a:lnTo>
                  <a:lnTo>
                    <a:pt x="0" y="1423987"/>
                  </a:lnTo>
                  <a:lnTo>
                    <a:pt x="2667000" y="1423987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24576" y="4757737"/>
              <a:ext cx="2667000" cy="1524000"/>
            </a:xfrm>
            <a:custGeom>
              <a:avLst/>
              <a:gdLst/>
              <a:ahLst/>
              <a:cxnLst/>
              <a:rect l="l" t="t" r="r" b="b"/>
              <a:pathLst>
                <a:path w="2667000" h="1524000">
                  <a:moveTo>
                    <a:pt x="0" y="1524000"/>
                  </a:moveTo>
                  <a:lnTo>
                    <a:pt x="2667000" y="152400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1524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648325" y="5315902"/>
            <a:ext cx="259588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00405">
              <a:lnSpc>
                <a:spcPct val="100000"/>
              </a:lnSpc>
              <a:spcBef>
                <a:spcPts val="125"/>
              </a:spcBef>
            </a:pPr>
            <a:r>
              <a:rPr sz="2000" spc="-95" dirty="0">
                <a:solidFill>
                  <a:srgbClr val="EDEBE0"/>
                </a:solidFill>
                <a:latin typeface="Times New Roman"/>
                <a:cs typeface="Times New Roman"/>
              </a:rPr>
              <a:t>char</a:t>
            </a:r>
            <a:r>
              <a:rPr sz="2000" spc="-35" dirty="0">
                <a:solidFill>
                  <a:srgbClr val="EDEBE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EDEBE0"/>
                </a:solidFill>
                <a:latin typeface="Times New Roman"/>
                <a:cs typeface="Times New Roman"/>
              </a:rPr>
              <a:t>buf[128]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619813" y="3886263"/>
            <a:ext cx="2676525" cy="466725"/>
            <a:chOff x="5619813" y="3886263"/>
            <a:chExt cx="2676525" cy="466725"/>
          </a:xfrm>
        </p:grpSpPr>
        <p:sp>
          <p:nvSpPr>
            <p:cNvPr id="12" name="object 12"/>
            <p:cNvSpPr/>
            <p:nvPr/>
          </p:nvSpPr>
          <p:spPr>
            <a:xfrm>
              <a:off x="5624576" y="3891026"/>
              <a:ext cx="2667000" cy="457200"/>
            </a:xfrm>
            <a:custGeom>
              <a:avLst/>
              <a:gdLst/>
              <a:ahLst/>
              <a:cxnLst/>
              <a:rect l="l" t="t" r="r" b="b"/>
              <a:pathLst>
                <a:path w="2667000" h="457200">
                  <a:moveTo>
                    <a:pt x="2667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667000" y="4572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24576" y="3891026"/>
              <a:ext cx="2667000" cy="457200"/>
            </a:xfrm>
            <a:custGeom>
              <a:avLst/>
              <a:gdLst/>
              <a:ahLst/>
              <a:cxnLst/>
              <a:rect l="l" t="t" r="r" b="b"/>
              <a:pathLst>
                <a:path w="2667000" h="457200">
                  <a:moveTo>
                    <a:pt x="0" y="457200"/>
                  </a:moveTo>
                  <a:lnTo>
                    <a:pt x="2667000" y="45720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648325" y="3916997"/>
            <a:ext cx="26003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55320">
              <a:lnSpc>
                <a:spcPct val="100000"/>
              </a:lnSpc>
              <a:spcBef>
                <a:spcPts val="125"/>
              </a:spcBef>
            </a:pPr>
            <a:r>
              <a:rPr sz="2000" spc="-20" dirty="0">
                <a:solidFill>
                  <a:srgbClr val="E9E4DC"/>
                </a:solidFill>
                <a:latin typeface="Times New Roman"/>
                <a:cs typeface="Times New Roman"/>
              </a:rPr>
              <a:t>return</a:t>
            </a:r>
            <a:r>
              <a:rPr sz="2000" spc="-85" dirty="0">
                <a:solidFill>
                  <a:srgbClr val="E9E4D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E9E4DC"/>
                </a:solidFill>
                <a:latin typeface="Times New Roman"/>
                <a:cs typeface="Times New Roman"/>
              </a:rPr>
              <a:t>address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57800" y="866775"/>
            <a:ext cx="3248025" cy="5534025"/>
            <a:chOff x="5257800" y="866775"/>
            <a:chExt cx="3248025" cy="5534025"/>
          </a:xfrm>
        </p:grpSpPr>
        <p:sp>
          <p:nvSpPr>
            <p:cNvPr id="16" name="object 16"/>
            <p:cNvSpPr/>
            <p:nvPr/>
          </p:nvSpPr>
          <p:spPr>
            <a:xfrm>
              <a:off x="5624575" y="4300601"/>
              <a:ext cx="2667000" cy="457200"/>
            </a:xfrm>
            <a:custGeom>
              <a:avLst/>
              <a:gdLst/>
              <a:ahLst/>
              <a:cxnLst/>
              <a:rect l="l" t="t" r="r" b="b"/>
              <a:pathLst>
                <a:path w="2667000" h="457200">
                  <a:moveTo>
                    <a:pt x="2667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667000" y="4572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24575" y="4300601"/>
              <a:ext cx="2667000" cy="457200"/>
            </a:xfrm>
            <a:custGeom>
              <a:avLst/>
              <a:gdLst/>
              <a:ahLst/>
              <a:cxnLst/>
              <a:rect l="l" t="t" r="r" b="b"/>
              <a:pathLst>
                <a:path w="2667000" h="457200">
                  <a:moveTo>
                    <a:pt x="0" y="457200"/>
                  </a:moveTo>
                  <a:lnTo>
                    <a:pt x="2667000" y="45720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95900" y="3381375"/>
              <a:ext cx="3171825" cy="2838450"/>
            </a:xfrm>
            <a:custGeom>
              <a:avLst/>
              <a:gdLst/>
              <a:ahLst/>
              <a:cxnLst/>
              <a:rect l="l" t="t" r="r" b="b"/>
              <a:pathLst>
                <a:path w="3171825" h="2838450">
                  <a:moveTo>
                    <a:pt x="0" y="2838450"/>
                  </a:moveTo>
                  <a:lnTo>
                    <a:pt x="3067050" y="2838450"/>
                  </a:lnTo>
                </a:path>
                <a:path w="3171825" h="2838450">
                  <a:moveTo>
                    <a:pt x="47625" y="0"/>
                  </a:moveTo>
                  <a:lnTo>
                    <a:pt x="3171825" y="0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00700" y="5657850"/>
              <a:ext cx="2676525" cy="714375"/>
            </a:xfrm>
            <a:custGeom>
              <a:avLst/>
              <a:gdLst/>
              <a:ahLst/>
              <a:cxnLst/>
              <a:rect l="l" t="t" r="r" b="b"/>
              <a:pathLst>
                <a:path w="2676525" h="714375">
                  <a:moveTo>
                    <a:pt x="9525" y="0"/>
                  </a:moveTo>
                  <a:lnTo>
                    <a:pt x="0" y="714375"/>
                  </a:lnTo>
                </a:path>
                <a:path w="2676525" h="714375">
                  <a:moveTo>
                    <a:pt x="2676525" y="0"/>
                  </a:moveTo>
                  <a:lnTo>
                    <a:pt x="2667000" y="714375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2125" y="2190686"/>
              <a:ext cx="2767076" cy="121443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648325" y="2214625"/>
              <a:ext cx="2590800" cy="1114425"/>
            </a:xfrm>
            <a:custGeom>
              <a:avLst/>
              <a:gdLst/>
              <a:ahLst/>
              <a:cxnLst/>
              <a:rect l="l" t="t" r="r" b="b"/>
              <a:pathLst>
                <a:path w="2590800" h="1114425">
                  <a:moveTo>
                    <a:pt x="0" y="1114425"/>
                  </a:moveTo>
                  <a:lnTo>
                    <a:pt x="2590800" y="1114425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1114425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24575" y="2214625"/>
              <a:ext cx="2667000" cy="1114425"/>
            </a:xfrm>
            <a:custGeom>
              <a:avLst/>
              <a:gdLst/>
              <a:ahLst/>
              <a:cxnLst/>
              <a:rect l="l" t="t" r="r" b="b"/>
              <a:pathLst>
                <a:path w="2667000" h="1114425">
                  <a:moveTo>
                    <a:pt x="0" y="1114425"/>
                  </a:moveTo>
                  <a:lnTo>
                    <a:pt x="2667000" y="1114425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1114425"/>
                  </a:lnTo>
                  <a:close/>
                </a:path>
              </a:pathLst>
            </a:custGeom>
            <a:ln w="9525">
              <a:solidFill>
                <a:srgbClr val="AE34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2125" y="866775"/>
              <a:ext cx="2767076" cy="142392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648325" y="890650"/>
              <a:ext cx="2590800" cy="1323975"/>
            </a:xfrm>
            <a:custGeom>
              <a:avLst/>
              <a:gdLst/>
              <a:ahLst/>
              <a:cxnLst/>
              <a:rect l="l" t="t" r="r" b="b"/>
              <a:pathLst>
                <a:path w="2590800" h="1323975">
                  <a:moveTo>
                    <a:pt x="0" y="1323975"/>
                  </a:moveTo>
                  <a:lnTo>
                    <a:pt x="2590800" y="1323975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1323975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24575" y="890650"/>
              <a:ext cx="2667000" cy="1323975"/>
            </a:xfrm>
            <a:custGeom>
              <a:avLst/>
              <a:gdLst/>
              <a:ahLst/>
              <a:cxnLst/>
              <a:rect l="l" t="t" r="r" b="b"/>
              <a:pathLst>
                <a:path w="2667000" h="1323975">
                  <a:moveTo>
                    <a:pt x="0" y="1323975"/>
                  </a:moveTo>
                  <a:lnTo>
                    <a:pt x="2667000" y="1323975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1323975"/>
                  </a:lnTo>
                  <a:close/>
                </a:path>
              </a:pathLst>
            </a:custGeom>
            <a:ln w="9525">
              <a:solidFill>
                <a:srgbClr val="AE34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307657" y="242824"/>
            <a:ext cx="347916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Basic</a:t>
            </a:r>
            <a:r>
              <a:rPr spc="-15" dirty="0"/>
              <a:t> </a:t>
            </a:r>
            <a:r>
              <a:rPr dirty="0"/>
              <a:t>stack</a:t>
            </a:r>
            <a:r>
              <a:rPr spc="-45" dirty="0"/>
              <a:t> </a:t>
            </a:r>
            <a:r>
              <a:rPr spc="-10" dirty="0"/>
              <a:t>exploit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83857" y="938911"/>
            <a:ext cx="4151629" cy="1431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65785" algn="ctr">
              <a:lnSpc>
                <a:spcPts val="2865"/>
              </a:lnSpc>
              <a:spcBef>
                <a:spcPts val="105"/>
              </a:spcBef>
              <a:tabLst>
                <a:tab pos="1339850" algn="l"/>
                <a:tab pos="2178050" algn="l"/>
              </a:tabLst>
            </a:pPr>
            <a:r>
              <a:rPr sz="2400" spc="-10" dirty="0">
                <a:latin typeface="Times New Roman"/>
                <a:cs typeface="Times New Roman"/>
              </a:rPr>
              <a:t>Suppose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solidFill>
                  <a:srgbClr val="696363"/>
                </a:solidFill>
                <a:latin typeface="Times New Roman"/>
                <a:cs typeface="Times New Roman"/>
              </a:rPr>
              <a:t>*str</a:t>
            </a:r>
            <a:r>
              <a:rPr sz="2400" dirty="0">
                <a:solidFill>
                  <a:srgbClr val="69636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that</a:t>
            </a:r>
            <a:endParaRPr sz="2400">
              <a:latin typeface="Times New Roman"/>
              <a:cs typeface="Times New Roman"/>
            </a:endParaRPr>
          </a:p>
          <a:p>
            <a:pPr marL="533400" algn="ctr">
              <a:lnSpc>
                <a:spcPts val="2865"/>
              </a:lnSpc>
              <a:tabLst>
                <a:tab pos="1243965" algn="l"/>
                <a:tab pos="2141855" algn="l"/>
              </a:tabLst>
            </a:pPr>
            <a:r>
              <a:rPr sz="2400" spc="-10" dirty="0">
                <a:latin typeface="Times New Roman"/>
                <a:cs typeface="Times New Roman"/>
              </a:rPr>
              <a:t>after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696363"/>
                </a:solidFill>
                <a:latin typeface="Times New Roman"/>
                <a:cs typeface="Times New Roman"/>
              </a:rPr>
              <a:t>strcpy</a:t>
            </a:r>
            <a:r>
              <a:rPr sz="2400" dirty="0">
                <a:solidFill>
                  <a:srgbClr val="69636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stack looks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like:</a:t>
            </a:r>
            <a:endParaRPr sz="2400">
              <a:latin typeface="Times New Roman"/>
              <a:cs typeface="Times New Roman"/>
            </a:endParaRPr>
          </a:p>
          <a:p>
            <a:pPr marR="574040" algn="ctr">
              <a:lnSpc>
                <a:spcPct val="100000"/>
              </a:lnSpc>
              <a:spcBef>
                <a:spcPts val="2450"/>
              </a:spcBef>
              <a:tabLst>
                <a:tab pos="1685925" algn="l"/>
              </a:tabLst>
            </a:pP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P: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000090"/>
                </a:solidFill>
                <a:latin typeface="Times New Roman"/>
                <a:cs typeface="Times New Roman"/>
              </a:rPr>
              <a:t>exec(“/bin/sh”)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3857" y="3794823"/>
            <a:ext cx="4318000" cy="788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200"/>
              </a:lnSpc>
              <a:spcBef>
                <a:spcPts val="95"/>
              </a:spcBef>
              <a:tabLst>
                <a:tab pos="708660" algn="l"/>
                <a:tab pos="810260" algn="l"/>
                <a:tab pos="1621155" algn="l"/>
              </a:tabLst>
            </a:pPr>
            <a:r>
              <a:rPr sz="2000" spc="-20" dirty="0">
                <a:latin typeface="Times New Roman"/>
                <a:cs typeface="Times New Roman"/>
              </a:rPr>
              <a:t>When</a:t>
            </a:r>
            <a:r>
              <a:rPr sz="2000" dirty="0">
                <a:latin typeface="Times New Roman"/>
                <a:cs typeface="Times New Roman"/>
              </a:rPr>
              <a:t>		</a:t>
            </a:r>
            <a:r>
              <a:rPr sz="2000" spc="-10" dirty="0">
                <a:solidFill>
                  <a:srgbClr val="696363"/>
                </a:solidFill>
                <a:latin typeface="Times New Roman"/>
                <a:cs typeface="Times New Roman"/>
              </a:rPr>
              <a:t>func()</a:t>
            </a:r>
            <a:r>
              <a:rPr sz="2000" dirty="0">
                <a:solidFill>
                  <a:srgbClr val="696363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exits,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shell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! </a:t>
            </a:r>
            <a:r>
              <a:rPr sz="2000" spc="-10" dirty="0">
                <a:latin typeface="Times New Roman"/>
                <a:cs typeface="Times New Roman"/>
              </a:rPr>
              <a:t>Note:</a:t>
            </a:r>
            <a:r>
              <a:rPr sz="2000" dirty="0">
                <a:latin typeface="Times New Roman"/>
                <a:cs typeface="Times New Roman"/>
              </a:rPr>
              <a:t>	attack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stack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8975" y="2923222"/>
            <a:ext cx="34220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85858"/>
                </a:solidFill>
                <a:latin typeface="Comic Sans MS"/>
                <a:cs typeface="Comic Sans MS"/>
              </a:rPr>
              <a:t>(exact</a:t>
            </a:r>
            <a:r>
              <a:rPr sz="1800" spc="-45" dirty="0">
                <a:solidFill>
                  <a:srgbClr val="585858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585858"/>
                </a:solidFill>
                <a:latin typeface="Comic Sans MS"/>
                <a:cs typeface="Comic Sans MS"/>
              </a:rPr>
              <a:t>shell</a:t>
            </a:r>
            <a:r>
              <a:rPr sz="1800" spc="-60" dirty="0">
                <a:solidFill>
                  <a:srgbClr val="585858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585858"/>
                </a:solidFill>
                <a:latin typeface="Comic Sans MS"/>
                <a:cs typeface="Comic Sans MS"/>
              </a:rPr>
              <a:t>code</a:t>
            </a:r>
            <a:r>
              <a:rPr sz="1800" spc="45" dirty="0">
                <a:solidFill>
                  <a:srgbClr val="585858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585858"/>
                </a:solidFill>
                <a:latin typeface="Comic Sans MS"/>
                <a:cs typeface="Comic Sans MS"/>
              </a:rPr>
              <a:t>by</a:t>
            </a:r>
            <a:r>
              <a:rPr sz="1800" spc="20" dirty="0">
                <a:solidFill>
                  <a:srgbClr val="585858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585858"/>
                </a:solidFill>
                <a:latin typeface="Comic Sans MS"/>
                <a:cs typeface="Comic Sans MS"/>
              </a:rPr>
              <a:t>Aleph</a:t>
            </a:r>
            <a:r>
              <a:rPr sz="1800" spc="-10" dirty="0">
                <a:solidFill>
                  <a:srgbClr val="585858"/>
                </a:solidFill>
                <a:latin typeface="Comic Sans MS"/>
                <a:cs typeface="Comic Sans MS"/>
              </a:rPr>
              <a:t> </a:t>
            </a:r>
            <a:r>
              <a:rPr sz="1800" spc="-20" dirty="0">
                <a:solidFill>
                  <a:srgbClr val="585858"/>
                </a:solidFill>
                <a:latin typeface="Comic Sans MS"/>
                <a:cs typeface="Comic Sans MS"/>
              </a:rPr>
              <a:t>One)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48325" y="1348041"/>
            <a:ext cx="25908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47395">
              <a:lnSpc>
                <a:spcPct val="100000"/>
              </a:lnSpc>
              <a:spcBef>
                <a:spcPts val="125"/>
              </a:spcBef>
            </a:pPr>
            <a:r>
              <a:rPr sz="2000" b="1" spc="-50" dirty="0">
                <a:solidFill>
                  <a:srgbClr val="EDEBE0"/>
                </a:solidFill>
                <a:latin typeface="Times New Roman"/>
                <a:cs typeface="Times New Roman"/>
              </a:rPr>
              <a:t>Program</a:t>
            </a:r>
            <a:r>
              <a:rPr sz="2000" b="1" spc="-70" dirty="0">
                <a:solidFill>
                  <a:srgbClr val="EDEBE0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EDEBE0"/>
                </a:solidFill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800600" y="657225"/>
            <a:ext cx="4081779" cy="5591175"/>
            <a:chOff x="4800600" y="657225"/>
            <a:chExt cx="4081779" cy="5591175"/>
          </a:xfrm>
        </p:grpSpPr>
        <p:sp>
          <p:nvSpPr>
            <p:cNvPr id="32" name="object 32"/>
            <p:cNvSpPr/>
            <p:nvPr/>
          </p:nvSpPr>
          <p:spPr>
            <a:xfrm>
              <a:off x="5600700" y="685800"/>
              <a:ext cx="2686050" cy="2790825"/>
            </a:xfrm>
            <a:custGeom>
              <a:avLst/>
              <a:gdLst/>
              <a:ahLst/>
              <a:cxnLst/>
              <a:rect l="l" t="t" r="r" b="b"/>
              <a:pathLst>
                <a:path w="2686050" h="2790825">
                  <a:moveTo>
                    <a:pt x="2686050" y="0"/>
                  </a:moveTo>
                  <a:lnTo>
                    <a:pt x="2667000" y="2790825"/>
                  </a:lnTo>
                </a:path>
                <a:path w="2686050" h="2790825">
                  <a:moveTo>
                    <a:pt x="19050" y="0"/>
                  </a:moveTo>
                  <a:lnTo>
                    <a:pt x="0" y="2790825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0600" y="1914397"/>
              <a:ext cx="900112" cy="229082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848478" y="2096008"/>
              <a:ext cx="783590" cy="2037714"/>
            </a:xfrm>
            <a:custGeom>
              <a:avLst/>
              <a:gdLst/>
              <a:ahLst/>
              <a:cxnLst/>
              <a:rect l="l" t="t" r="r" b="b"/>
              <a:pathLst>
                <a:path w="783589" h="2037714">
                  <a:moveTo>
                    <a:pt x="466446" y="52471"/>
                  </a:moveTo>
                  <a:lnTo>
                    <a:pt x="411988" y="79501"/>
                  </a:lnTo>
                  <a:lnTo>
                    <a:pt x="342138" y="117728"/>
                  </a:lnTo>
                  <a:lnTo>
                    <a:pt x="295529" y="145541"/>
                  </a:lnTo>
                  <a:lnTo>
                    <a:pt x="249555" y="175513"/>
                  </a:lnTo>
                  <a:lnTo>
                    <a:pt x="205867" y="207137"/>
                  </a:lnTo>
                  <a:lnTo>
                    <a:pt x="165354" y="240411"/>
                  </a:lnTo>
                  <a:lnTo>
                    <a:pt x="129412" y="275336"/>
                  </a:lnTo>
                  <a:lnTo>
                    <a:pt x="98679" y="312038"/>
                  </a:lnTo>
                  <a:lnTo>
                    <a:pt x="75184" y="350012"/>
                  </a:lnTo>
                  <a:lnTo>
                    <a:pt x="57912" y="388746"/>
                  </a:lnTo>
                  <a:lnTo>
                    <a:pt x="43053" y="430275"/>
                  </a:lnTo>
                  <a:lnTo>
                    <a:pt x="30607" y="474599"/>
                  </a:lnTo>
                  <a:lnTo>
                    <a:pt x="20193" y="521588"/>
                  </a:lnTo>
                  <a:lnTo>
                    <a:pt x="12192" y="570229"/>
                  </a:lnTo>
                  <a:lnTo>
                    <a:pt x="6096" y="620521"/>
                  </a:lnTo>
                  <a:lnTo>
                    <a:pt x="2159" y="671829"/>
                  </a:lnTo>
                  <a:lnTo>
                    <a:pt x="126" y="723900"/>
                  </a:lnTo>
                  <a:lnTo>
                    <a:pt x="0" y="776604"/>
                  </a:lnTo>
                  <a:lnTo>
                    <a:pt x="1527" y="825245"/>
                  </a:lnTo>
                  <a:lnTo>
                    <a:pt x="5080" y="881252"/>
                  </a:lnTo>
                  <a:lnTo>
                    <a:pt x="10413" y="932688"/>
                  </a:lnTo>
                  <a:lnTo>
                    <a:pt x="17399" y="982726"/>
                  </a:lnTo>
                  <a:lnTo>
                    <a:pt x="26035" y="1031113"/>
                  </a:lnTo>
                  <a:lnTo>
                    <a:pt x="36322" y="1077594"/>
                  </a:lnTo>
                  <a:lnTo>
                    <a:pt x="48387" y="1122171"/>
                  </a:lnTo>
                  <a:lnTo>
                    <a:pt x="63500" y="1165478"/>
                  </a:lnTo>
                  <a:lnTo>
                    <a:pt x="82296" y="1208151"/>
                  </a:lnTo>
                  <a:lnTo>
                    <a:pt x="104140" y="1249933"/>
                  </a:lnTo>
                  <a:lnTo>
                    <a:pt x="128778" y="1290574"/>
                  </a:lnTo>
                  <a:lnTo>
                    <a:pt x="155829" y="1330959"/>
                  </a:lnTo>
                  <a:lnTo>
                    <a:pt x="184404" y="1369949"/>
                  </a:lnTo>
                  <a:lnTo>
                    <a:pt x="214503" y="1408049"/>
                  </a:lnTo>
                  <a:lnTo>
                    <a:pt x="245363" y="1445387"/>
                  </a:lnTo>
                  <a:lnTo>
                    <a:pt x="276733" y="1481581"/>
                  </a:lnTo>
                  <a:lnTo>
                    <a:pt x="308101" y="1516887"/>
                  </a:lnTo>
                  <a:lnTo>
                    <a:pt x="338963" y="1551177"/>
                  </a:lnTo>
                  <a:lnTo>
                    <a:pt x="369188" y="1584324"/>
                  </a:lnTo>
                  <a:lnTo>
                    <a:pt x="397891" y="1616202"/>
                  </a:lnTo>
                  <a:lnTo>
                    <a:pt x="424942" y="1647062"/>
                  </a:lnTo>
                  <a:lnTo>
                    <a:pt x="449834" y="1676653"/>
                  </a:lnTo>
                  <a:lnTo>
                    <a:pt x="493268" y="1732533"/>
                  </a:lnTo>
                  <a:lnTo>
                    <a:pt x="513588" y="1758949"/>
                  </a:lnTo>
                  <a:lnTo>
                    <a:pt x="551688" y="1807971"/>
                  </a:lnTo>
                  <a:lnTo>
                    <a:pt x="604138" y="1873884"/>
                  </a:lnTo>
                  <a:lnTo>
                    <a:pt x="652018" y="1932558"/>
                  </a:lnTo>
                  <a:lnTo>
                    <a:pt x="711200" y="2003297"/>
                  </a:lnTo>
                  <a:lnTo>
                    <a:pt x="739901" y="2037206"/>
                  </a:lnTo>
                  <a:lnTo>
                    <a:pt x="783590" y="2000377"/>
                  </a:lnTo>
                  <a:lnTo>
                    <a:pt x="754888" y="1966467"/>
                  </a:lnTo>
                  <a:lnTo>
                    <a:pt x="695960" y="1895855"/>
                  </a:lnTo>
                  <a:lnTo>
                    <a:pt x="648462" y="1837816"/>
                  </a:lnTo>
                  <a:lnTo>
                    <a:pt x="614426" y="1795271"/>
                  </a:lnTo>
                  <a:lnTo>
                    <a:pt x="558673" y="1723897"/>
                  </a:lnTo>
                  <a:lnTo>
                    <a:pt x="506475" y="1655698"/>
                  </a:lnTo>
                  <a:lnTo>
                    <a:pt x="494284" y="1640712"/>
                  </a:lnTo>
                  <a:lnTo>
                    <a:pt x="481711" y="1625472"/>
                  </a:lnTo>
                  <a:lnTo>
                    <a:pt x="468503" y="1610105"/>
                  </a:lnTo>
                  <a:lnTo>
                    <a:pt x="440944" y="1578609"/>
                  </a:lnTo>
                  <a:lnTo>
                    <a:pt x="350520" y="1478661"/>
                  </a:lnTo>
                  <a:lnTo>
                    <a:pt x="319405" y="1443608"/>
                  </a:lnTo>
                  <a:lnTo>
                    <a:pt x="288671" y="1408049"/>
                  </a:lnTo>
                  <a:lnTo>
                    <a:pt x="258445" y="1371600"/>
                  </a:lnTo>
                  <a:lnTo>
                    <a:pt x="229362" y="1334642"/>
                  </a:lnTo>
                  <a:lnTo>
                    <a:pt x="201930" y="1297177"/>
                  </a:lnTo>
                  <a:lnTo>
                    <a:pt x="176657" y="1259458"/>
                  </a:lnTo>
                  <a:lnTo>
                    <a:pt x="153416" y="1220977"/>
                  </a:lnTo>
                  <a:lnTo>
                    <a:pt x="133223" y="1182369"/>
                  </a:lnTo>
                  <a:lnTo>
                    <a:pt x="116205" y="1143507"/>
                  </a:lnTo>
                  <a:lnTo>
                    <a:pt x="102743" y="1104518"/>
                  </a:lnTo>
                  <a:lnTo>
                    <a:pt x="91694" y="1063497"/>
                  </a:lnTo>
                  <a:lnTo>
                    <a:pt x="81915" y="1019301"/>
                  </a:lnTo>
                  <a:lnTo>
                    <a:pt x="73660" y="972819"/>
                  </a:lnTo>
                  <a:lnTo>
                    <a:pt x="67056" y="924813"/>
                  </a:lnTo>
                  <a:lnTo>
                    <a:pt x="61975" y="875411"/>
                  </a:lnTo>
                  <a:lnTo>
                    <a:pt x="58674" y="825245"/>
                  </a:lnTo>
                  <a:lnTo>
                    <a:pt x="57081" y="776604"/>
                  </a:lnTo>
                  <a:lnTo>
                    <a:pt x="57023" y="774826"/>
                  </a:lnTo>
                  <a:lnTo>
                    <a:pt x="57276" y="724153"/>
                  </a:lnTo>
                  <a:lnTo>
                    <a:pt x="59309" y="673988"/>
                  </a:lnTo>
                  <a:lnTo>
                    <a:pt x="63119" y="624966"/>
                  </a:lnTo>
                  <a:lnTo>
                    <a:pt x="68834" y="577088"/>
                  </a:lnTo>
                  <a:lnTo>
                    <a:pt x="76581" y="530987"/>
                  </a:lnTo>
                  <a:lnTo>
                    <a:pt x="86233" y="487679"/>
                  </a:lnTo>
                  <a:lnTo>
                    <a:pt x="97790" y="446658"/>
                  </a:lnTo>
                  <a:lnTo>
                    <a:pt x="111283" y="409066"/>
                  </a:lnTo>
                  <a:lnTo>
                    <a:pt x="135636" y="359155"/>
                  </a:lnTo>
                  <a:lnTo>
                    <a:pt x="171958" y="313436"/>
                  </a:lnTo>
                  <a:lnTo>
                    <a:pt x="204216" y="282447"/>
                  </a:lnTo>
                  <a:lnTo>
                    <a:pt x="241426" y="251840"/>
                  </a:lnTo>
                  <a:lnTo>
                    <a:pt x="282575" y="222122"/>
                  </a:lnTo>
                  <a:lnTo>
                    <a:pt x="326136" y="193801"/>
                  </a:lnTo>
                  <a:lnTo>
                    <a:pt x="371348" y="166750"/>
                  </a:lnTo>
                  <a:lnTo>
                    <a:pt x="416560" y="141731"/>
                  </a:lnTo>
                  <a:lnTo>
                    <a:pt x="460756" y="118744"/>
                  </a:lnTo>
                  <a:lnTo>
                    <a:pt x="489534" y="104652"/>
                  </a:lnTo>
                  <a:lnTo>
                    <a:pt x="466446" y="52471"/>
                  </a:lnTo>
                  <a:close/>
                </a:path>
                <a:path w="783589" h="2037714">
                  <a:moveTo>
                    <a:pt x="608383" y="40766"/>
                  </a:moveTo>
                  <a:lnTo>
                    <a:pt x="492251" y="40766"/>
                  </a:lnTo>
                  <a:lnTo>
                    <a:pt x="515747" y="92837"/>
                  </a:lnTo>
                  <a:lnTo>
                    <a:pt x="489534" y="104652"/>
                  </a:lnTo>
                  <a:lnTo>
                    <a:pt x="512572" y="156717"/>
                  </a:lnTo>
                  <a:lnTo>
                    <a:pt x="608383" y="40766"/>
                  </a:lnTo>
                  <a:close/>
                </a:path>
                <a:path w="783589" h="2037714">
                  <a:moveTo>
                    <a:pt x="492251" y="40766"/>
                  </a:moveTo>
                  <a:lnTo>
                    <a:pt x="466446" y="52471"/>
                  </a:lnTo>
                  <a:lnTo>
                    <a:pt x="489534" y="104652"/>
                  </a:lnTo>
                  <a:lnTo>
                    <a:pt x="515747" y="92837"/>
                  </a:lnTo>
                  <a:lnTo>
                    <a:pt x="492251" y="40766"/>
                  </a:lnTo>
                  <a:close/>
                </a:path>
                <a:path w="783589" h="2037714">
                  <a:moveTo>
                    <a:pt x="443230" y="0"/>
                  </a:moveTo>
                  <a:lnTo>
                    <a:pt x="466446" y="52471"/>
                  </a:lnTo>
                  <a:lnTo>
                    <a:pt x="492251" y="40766"/>
                  </a:lnTo>
                  <a:lnTo>
                    <a:pt x="608383" y="40766"/>
                  </a:lnTo>
                  <a:lnTo>
                    <a:pt x="634619" y="9016"/>
                  </a:lnTo>
                  <a:lnTo>
                    <a:pt x="443230" y="0"/>
                  </a:lnTo>
                  <a:close/>
                </a:path>
              </a:pathLst>
            </a:custGeom>
            <a:solidFill>
              <a:srgbClr val="000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600700" y="3381375"/>
              <a:ext cx="2667000" cy="2838450"/>
            </a:xfrm>
            <a:custGeom>
              <a:avLst/>
              <a:gdLst/>
              <a:ahLst/>
              <a:cxnLst/>
              <a:rect l="l" t="t" r="r" b="b"/>
              <a:pathLst>
                <a:path w="2667000" h="2838450">
                  <a:moveTo>
                    <a:pt x="0" y="2838450"/>
                  </a:moveTo>
                  <a:lnTo>
                    <a:pt x="2667000" y="283845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2838450"/>
                  </a:lnTo>
                  <a:close/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48675" y="1000061"/>
              <a:ext cx="433387" cy="513880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582171" y="1190498"/>
              <a:ext cx="171450" cy="4877435"/>
            </a:xfrm>
            <a:custGeom>
              <a:avLst/>
              <a:gdLst/>
              <a:ahLst/>
              <a:cxnLst/>
              <a:rect l="l" t="t" r="r" b="b"/>
              <a:pathLst>
                <a:path w="171450" h="4877435">
                  <a:moveTo>
                    <a:pt x="85578" y="75800"/>
                  </a:moveTo>
                  <a:lnTo>
                    <a:pt x="66528" y="108457"/>
                  </a:lnTo>
                  <a:lnTo>
                    <a:pt x="66528" y="4876927"/>
                  </a:lnTo>
                  <a:lnTo>
                    <a:pt x="104628" y="4876927"/>
                  </a:lnTo>
                  <a:lnTo>
                    <a:pt x="104628" y="108457"/>
                  </a:lnTo>
                  <a:lnTo>
                    <a:pt x="85578" y="75800"/>
                  </a:lnTo>
                  <a:close/>
                </a:path>
                <a:path w="171450" h="4877435">
                  <a:moveTo>
                    <a:pt x="85578" y="0"/>
                  </a:moveTo>
                  <a:lnTo>
                    <a:pt x="2393" y="142493"/>
                  </a:lnTo>
                  <a:lnTo>
                    <a:pt x="0" y="149689"/>
                  </a:lnTo>
                  <a:lnTo>
                    <a:pt x="488" y="157003"/>
                  </a:lnTo>
                  <a:lnTo>
                    <a:pt x="3643" y="163603"/>
                  </a:lnTo>
                  <a:lnTo>
                    <a:pt x="9251" y="168655"/>
                  </a:lnTo>
                  <a:lnTo>
                    <a:pt x="16446" y="171049"/>
                  </a:lnTo>
                  <a:lnTo>
                    <a:pt x="23760" y="170561"/>
                  </a:lnTo>
                  <a:lnTo>
                    <a:pt x="30360" y="167405"/>
                  </a:lnTo>
                  <a:lnTo>
                    <a:pt x="35413" y="161798"/>
                  </a:lnTo>
                  <a:lnTo>
                    <a:pt x="66528" y="108457"/>
                  </a:lnTo>
                  <a:lnTo>
                    <a:pt x="66528" y="37846"/>
                  </a:lnTo>
                  <a:lnTo>
                    <a:pt x="107671" y="37846"/>
                  </a:lnTo>
                  <a:lnTo>
                    <a:pt x="85578" y="0"/>
                  </a:lnTo>
                  <a:close/>
                </a:path>
                <a:path w="171450" h="4877435">
                  <a:moveTo>
                    <a:pt x="107671" y="37846"/>
                  </a:moveTo>
                  <a:lnTo>
                    <a:pt x="104628" y="37846"/>
                  </a:lnTo>
                  <a:lnTo>
                    <a:pt x="104628" y="108457"/>
                  </a:lnTo>
                  <a:lnTo>
                    <a:pt x="135743" y="161798"/>
                  </a:lnTo>
                  <a:lnTo>
                    <a:pt x="140795" y="167405"/>
                  </a:lnTo>
                  <a:lnTo>
                    <a:pt x="147395" y="170561"/>
                  </a:lnTo>
                  <a:lnTo>
                    <a:pt x="154709" y="171049"/>
                  </a:lnTo>
                  <a:lnTo>
                    <a:pt x="161905" y="168655"/>
                  </a:lnTo>
                  <a:lnTo>
                    <a:pt x="167513" y="163603"/>
                  </a:lnTo>
                  <a:lnTo>
                    <a:pt x="170668" y="157003"/>
                  </a:lnTo>
                  <a:lnTo>
                    <a:pt x="171156" y="149689"/>
                  </a:lnTo>
                  <a:lnTo>
                    <a:pt x="168763" y="142493"/>
                  </a:lnTo>
                  <a:lnTo>
                    <a:pt x="107671" y="37846"/>
                  </a:lnTo>
                  <a:close/>
                </a:path>
                <a:path w="171450" h="4877435">
                  <a:moveTo>
                    <a:pt x="104628" y="37846"/>
                  </a:moveTo>
                  <a:lnTo>
                    <a:pt x="66528" y="37846"/>
                  </a:lnTo>
                  <a:lnTo>
                    <a:pt x="66528" y="108457"/>
                  </a:lnTo>
                  <a:lnTo>
                    <a:pt x="85578" y="75800"/>
                  </a:lnTo>
                  <a:lnTo>
                    <a:pt x="69068" y="47498"/>
                  </a:lnTo>
                  <a:lnTo>
                    <a:pt x="104628" y="47498"/>
                  </a:lnTo>
                  <a:lnTo>
                    <a:pt x="104628" y="37846"/>
                  </a:lnTo>
                  <a:close/>
                </a:path>
                <a:path w="171450" h="4877435">
                  <a:moveTo>
                    <a:pt x="104628" y="47498"/>
                  </a:moveTo>
                  <a:lnTo>
                    <a:pt x="102088" y="47498"/>
                  </a:lnTo>
                  <a:lnTo>
                    <a:pt x="85578" y="75800"/>
                  </a:lnTo>
                  <a:lnTo>
                    <a:pt x="104628" y="108457"/>
                  </a:lnTo>
                  <a:lnTo>
                    <a:pt x="104628" y="47498"/>
                  </a:lnTo>
                  <a:close/>
                </a:path>
                <a:path w="171450" h="4877435">
                  <a:moveTo>
                    <a:pt x="102088" y="47498"/>
                  </a:moveTo>
                  <a:lnTo>
                    <a:pt x="69068" y="47498"/>
                  </a:lnTo>
                  <a:lnTo>
                    <a:pt x="85578" y="75800"/>
                  </a:lnTo>
                  <a:lnTo>
                    <a:pt x="102088" y="4749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462391" y="5981700"/>
            <a:ext cx="3308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latin typeface="Times New Roman"/>
                <a:cs typeface="Times New Roman"/>
              </a:rPr>
              <a:t>low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462391" y="793178"/>
            <a:ext cx="3733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Times New Roman"/>
                <a:cs typeface="Times New Roman"/>
              </a:rPr>
              <a:t>high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0" name="object 4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97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10" dirty="0"/>
              <a:t> </a:t>
            </a:r>
            <a:r>
              <a:rPr dirty="0"/>
              <a:t>NOP</a:t>
            </a:r>
            <a:r>
              <a:rPr spc="-155" dirty="0"/>
              <a:t> </a:t>
            </a:r>
            <a:r>
              <a:rPr spc="-10" dirty="0"/>
              <a:t>slide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857" y="1282636"/>
            <a:ext cx="11404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Problem: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8307" y="1282636"/>
            <a:ext cx="2821940" cy="725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55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attacker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ts val="2755"/>
              </a:lnSpc>
            </a:pPr>
            <a:r>
              <a:rPr sz="2400" dirty="0">
                <a:latin typeface="Times New Roman"/>
                <a:cs typeface="Times New Roman"/>
              </a:rPr>
              <a:t>determine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ret-address?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857" y="2307346"/>
            <a:ext cx="4091304" cy="161798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1357630" algn="l"/>
              </a:tabLst>
            </a:pPr>
            <a:r>
              <a:rPr sz="2400" spc="-10" dirty="0">
                <a:latin typeface="Times New Roman"/>
                <a:cs typeface="Times New Roman"/>
              </a:rPr>
              <a:t>Solution:</a:t>
            </a:r>
            <a:r>
              <a:rPr sz="2400" dirty="0">
                <a:latin typeface="Times New Roman"/>
                <a:cs typeface="Times New Roman"/>
              </a:rPr>
              <a:t>	NOP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slide</a:t>
            </a:r>
            <a:endParaRPr sz="2400">
              <a:latin typeface="Times New Roman"/>
              <a:cs typeface="Times New Roman"/>
            </a:endParaRPr>
          </a:p>
          <a:p>
            <a:pPr marL="287020" marR="724535" indent="-274955">
              <a:lnSpc>
                <a:spcPts val="2180"/>
              </a:lnSpc>
              <a:spcBef>
                <a:spcPts val="108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7020" algn="l"/>
              </a:tabLst>
            </a:pPr>
            <a:r>
              <a:rPr sz="2000" dirty="0">
                <a:latin typeface="Times New Roman"/>
                <a:cs typeface="Times New Roman"/>
              </a:rPr>
              <a:t>Guess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approximate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stack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state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96363"/>
                </a:solidFill>
                <a:latin typeface="Times New Roman"/>
                <a:cs typeface="Times New Roman"/>
              </a:rPr>
              <a:t>func()</a:t>
            </a:r>
            <a:r>
              <a:rPr sz="2000" spc="-3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called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865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7020" algn="l"/>
              </a:tabLst>
            </a:pPr>
            <a:r>
              <a:rPr sz="2000" dirty="0">
                <a:latin typeface="Times New Roman"/>
                <a:cs typeface="Times New Roman"/>
              </a:rPr>
              <a:t>Insert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NOPs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P: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857" y="3909123"/>
            <a:ext cx="4798060" cy="1694814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927735">
              <a:lnSpc>
                <a:spcPct val="100000"/>
              </a:lnSpc>
              <a:spcBef>
                <a:spcPts val="400"/>
              </a:spcBef>
              <a:tabLst>
                <a:tab pos="1499870" algn="l"/>
                <a:tab pos="1818005" algn="l"/>
                <a:tab pos="3307079" algn="l"/>
                <a:tab pos="3624579" algn="l"/>
              </a:tabLst>
            </a:pPr>
            <a:r>
              <a:rPr sz="2000" spc="-25" dirty="0">
                <a:latin typeface="Times New Roman"/>
                <a:cs typeface="Times New Roman"/>
              </a:rPr>
              <a:t>nop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,</a:t>
            </a:r>
            <a:r>
              <a:rPr sz="2000" dirty="0">
                <a:latin typeface="Times New Roman"/>
                <a:cs typeface="Times New Roman"/>
              </a:rPr>
              <a:t>	xor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eax,eax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,</a:t>
            </a:r>
            <a:r>
              <a:rPr sz="2000" dirty="0">
                <a:latin typeface="Times New Roman"/>
                <a:cs typeface="Times New Roman"/>
              </a:rPr>
              <a:t>	inc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ax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305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7020" algn="l"/>
              </a:tabLst>
            </a:pPr>
            <a:r>
              <a:rPr sz="2000" dirty="0">
                <a:latin typeface="Times New Roman"/>
                <a:cs typeface="Times New Roman"/>
              </a:rPr>
              <a:t>nop: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Basic </a:t>
            </a:r>
            <a:r>
              <a:rPr sz="2000" spc="-20" dirty="0">
                <a:latin typeface="Times New Roman"/>
                <a:cs typeface="Times New Roman"/>
              </a:rPr>
              <a:t>no-</a:t>
            </a:r>
            <a:r>
              <a:rPr sz="2000" dirty="0">
                <a:latin typeface="Times New Roman"/>
                <a:cs typeface="Times New Roman"/>
              </a:rPr>
              <a:t>operation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instruction.</a:t>
            </a:r>
            <a:endParaRPr sz="2000">
              <a:latin typeface="Times New Roman"/>
              <a:cs typeface="Times New Roman"/>
            </a:endParaRPr>
          </a:p>
          <a:p>
            <a:pPr marL="287020" marR="5080" indent="-274955">
              <a:lnSpc>
                <a:spcPts val="2180"/>
              </a:lnSpc>
              <a:spcBef>
                <a:spcPts val="63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7020" algn="l"/>
              </a:tabLst>
            </a:pPr>
            <a:r>
              <a:rPr sz="2000" dirty="0">
                <a:latin typeface="Times New Roman"/>
                <a:cs typeface="Times New Roman"/>
              </a:rPr>
              <a:t>xor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eax,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eax: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harmless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does </a:t>
            </a:r>
            <a:r>
              <a:rPr sz="2000" dirty="0">
                <a:latin typeface="Times New Roman"/>
                <a:cs typeface="Times New Roman"/>
              </a:rPr>
              <a:t>nothing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significant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consumes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time.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345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7020" algn="l"/>
              </a:tabLst>
            </a:pPr>
            <a:r>
              <a:rPr sz="2000" dirty="0">
                <a:latin typeface="Times New Roman"/>
                <a:cs typeface="Times New Roman"/>
              </a:rPr>
              <a:t>inc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ax: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lightweight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arithmetic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instruction.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24563" y="3352863"/>
            <a:ext cx="2695575" cy="2857500"/>
            <a:chOff x="5524563" y="3352863"/>
            <a:chExt cx="2695575" cy="2857500"/>
          </a:xfrm>
        </p:grpSpPr>
        <p:sp>
          <p:nvSpPr>
            <p:cNvPr id="8" name="object 8"/>
            <p:cNvSpPr/>
            <p:nvPr/>
          </p:nvSpPr>
          <p:spPr>
            <a:xfrm>
              <a:off x="5548376" y="3357626"/>
              <a:ext cx="2667000" cy="457200"/>
            </a:xfrm>
            <a:custGeom>
              <a:avLst/>
              <a:gdLst/>
              <a:ahLst/>
              <a:cxnLst/>
              <a:rect l="l" t="t" r="r" b="b"/>
              <a:pathLst>
                <a:path w="2667000" h="457200">
                  <a:moveTo>
                    <a:pt x="2667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667000" y="4572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48376" y="3357626"/>
              <a:ext cx="2667000" cy="457200"/>
            </a:xfrm>
            <a:custGeom>
              <a:avLst/>
              <a:gdLst/>
              <a:ahLst/>
              <a:cxnLst/>
              <a:rect l="l" t="t" r="r" b="b"/>
              <a:pathLst>
                <a:path w="2667000" h="457200">
                  <a:moveTo>
                    <a:pt x="0" y="457200"/>
                  </a:moveTo>
                  <a:lnTo>
                    <a:pt x="2667000" y="45720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29326" y="4681537"/>
              <a:ext cx="19050" cy="871855"/>
            </a:xfrm>
            <a:custGeom>
              <a:avLst/>
              <a:gdLst/>
              <a:ahLst/>
              <a:cxnLst/>
              <a:rect l="l" t="t" r="r" b="b"/>
              <a:pathLst>
                <a:path w="19050" h="871854">
                  <a:moveTo>
                    <a:pt x="0" y="871537"/>
                  </a:moveTo>
                  <a:lnTo>
                    <a:pt x="19050" y="871537"/>
                  </a:lnTo>
                  <a:lnTo>
                    <a:pt x="19050" y="0"/>
                  </a:lnTo>
                  <a:lnTo>
                    <a:pt x="0" y="0"/>
                  </a:lnTo>
                  <a:lnTo>
                    <a:pt x="0" y="87153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29326" y="4681537"/>
              <a:ext cx="2667000" cy="1524000"/>
            </a:xfrm>
            <a:custGeom>
              <a:avLst/>
              <a:gdLst/>
              <a:ahLst/>
              <a:cxnLst/>
              <a:rect l="l" t="t" r="r" b="b"/>
              <a:pathLst>
                <a:path w="2667000" h="1524000">
                  <a:moveTo>
                    <a:pt x="0" y="1524000"/>
                  </a:moveTo>
                  <a:lnTo>
                    <a:pt x="2667000" y="152400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1524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48376" y="4681537"/>
              <a:ext cx="2667000" cy="1524000"/>
            </a:xfrm>
            <a:custGeom>
              <a:avLst/>
              <a:gdLst/>
              <a:ahLst/>
              <a:cxnLst/>
              <a:rect l="l" t="t" r="r" b="b"/>
              <a:pathLst>
                <a:path w="2667000" h="1524000">
                  <a:moveTo>
                    <a:pt x="2614549" y="1500187"/>
                  </a:moveTo>
                  <a:lnTo>
                    <a:pt x="14224" y="1500187"/>
                  </a:lnTo>
                  <a:lnTo>
                    <a:pt x="14224" y="1524000"/>
                  </a:lnTo>
                  <a:lnTo>
                    <a:pt x="2614549" y="1524000"/>
                  </a:lnTo>
                  <a:lnTo>
                    <a:pt x="2614549" y="1500187"/>
                  </a:lnTo>
                  <a:close/>
                </a:path>
                <a:path w="2667000" h="1524000">
                  <a:moveTo>
                    <a:pt x="2667000" y="0"/>
                  </a:moveTo>
                  <a:lnTo>
                    <a:pt x="0" y="0"/>
                  </a:lnTo>
                  <a:lnTo>
                    <a:pt x="0" y="1423987"/>
                  </a:lnTo>
                  <a:lnTo>
                    <a:pt x="2667000" y="1423987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48376" y="4681537"/>
              <a:ext cx="2667000" cy="1524000"/>
            </a:xfrm>
            <a:custGeom>
              <a:avLst/>
              <a:gdLst/>
              <a:ahLst/>
              <a:cxnLst/>
              <a:rect l="l" t="t" r="r" b="b"/>
              <a:pathLst>
                <a:path w="2667000" h="1524000">
                  <a:moveTo>
                    <a:pt x="0" y="1524000"/>
                  </a:moveTo>
                  <a:lnTo>
                    <a:pt x="2667000" y="152400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1524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72125" y="5239702"/>
            <a:ext cx="259588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00405">
              <a:lnSpc>
                <a:spcPct val="100000"/>
              </a:lnSpc>
              <a:spcBef>
                <a:spcPts val="125"/>
              </a:spcBef>
            </a:pPr>
            <a:r>
              <a:rPr sz="2000" spc="-95" dirty="0">
                <a:solidFill>
                  <a:srgbClr val="EDEBE0"/>
                </a:solidFill>
                <a:latin typeface="Times New Roman"/>
                <a:cs typeface="Times New Roman"/>
              </a:rPr>
              <a:t>char</a:t>
            </a:r>
            <a:r>
              <a:rPr sz="2000" spc="-30" dirty="0">
                <a:solidFill>
                  <a:srgbClr val="EDEBE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EDEBE0"/>
                </a:solidFill>
                <a:latin typeface="Times New Roman"/>
                <a:cs typeface="Times New Roman"/>
              </a:rPr>
              <a:t>buf[128]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543613" y="3810063"/>
            <a:ext cx="2676525" cy="466725"/>
            <a:chOff x="5543613" y="3810063"/>
            <a:chExt cx="2676525" cy="466725"/>
          </a:xfrm>
        </p:grpSpPr>
        <p:sp>
          <p:nvSpPr>
            <p:cNvPr id="16" name="object 16"/>
            <p:cNvSpPr/>
            <p:nvPr/>
          </p:nvSpPr>
          <p:spPr>
            <a:xfrm>
              <a:off x="5548376" y="3814826"/>
              <a:ext cx="2667000" cy="457200"/>
            </a:xfrm>
            <a:custGeom>
              <a:avLst/>
              <a:gdLst/>
              <a:ahLst/>
              <a:cxnLst/>
              <a:rect l="l" t="t" r="r" b="b"/>
              <a:pathLst>
                <a:path w="2667000" h="457200">
                  <a:moveTo>
                    <a:pt x="2667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667000" y="4572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48376" y="3814826"/>
              <a:ext cx="2667000" cy="457200"/>
            </a:xfrm>
            <a:custGeom>
              <a:avLst/>
              <a:gdLst/>
              <a:ahLst/>
              <a:cxnLst/>
              <a:rect l="l" t="t" r="r" b="b"/>
              <a:pathLst>
                <a:path w="2667000" h="457200">
                  <a:moveTo>
                    <a:pt x="0" y="457200"/>
                  </a:moveTo>
                  <a:lnTo>
                    <a:pt x="2667000" y="45720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572125" y="3840797"/>
            <a:ext cx="26003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55320">
              <a:lnSpc>
                <a:spcPct val="100000"/>
              </a:lnSpc>
              <a:spcBef>
                <a:spcPts val="125"/>
              </a:spcBef>
            </a:pPr>
            <a:r>
              <a:rPr sz="2000" spc="-20" dirty="0">
                <a:solidFill>
                  <a:srgbClr val="E9E4DC"/>
                </a:solidFill>
                <a:latin typeface="Times New Roman"/>
                <a:cs typeface="Times New Roman"/>
              </a:rPr>
              <a:t>return</a:t>
            </a:r>
            <a:r>
              <a:rPr sz="2000" spc="-85" dirty="0">
                <a:solidFill>
                  <a:srgbClr val="E9E4D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E9E4DC"/>
                </a:solidFill>
                <a:latin typeface="Times New Roman"/>
                <a:cs typeface="Times New Roman"/>
              </a:rPr>
              <a:t>address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181600" y="2114486"/>
            <a:ext cx="3248025" cy="4210685"/>
            <a:chOff x="5181600" y="2114486"/>
            <a:chExt cx="3248025" cy="4210685"/>
          </a:xfrm>
        </p:grpSpPr>
        <p:sp>
          <p:nvSpPr>
            <p:cNvPr id="20" name="object 20"/>
            <p:cNvSpPr/>
            <p:nvPr/>
          </p:nvSpPr>
          <p:spPr>
            <a:xfrm>
              <a:off x="5548375" y="4224400"/>
              <a:ext cx="2667000" cy="457200"/>
            </a:xfrm>
            <a:custGeom>
              <a:avLst/>
              <a:gdLst/>
              <a:ahLst/>
              <a:cxnLst/>
              <a:rect l="l" t="t" r="r" b="b"/>
              <a:pathLst>
                <a:path w="2667000" h="457200">
                  <a:moveTo>
                    <a:pt x="2667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667000" y="4572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48375" y="4224400"/>
              <a:ext cx="2667000" cy="457200"/>
            </a:xfrm>
            <a:custGeom>
              <a:avLst/>
              <a:gdLst/>
              <a:ahLst/>
              <a:cxnLst/>
              <a:rect l="l" t="t" r="r" b="b"/>
              <a:pathLst>
                <a:path w="2667000" h="457200">
                  <a:moveTo>
                    <a:pt x="0" y="457200"/>
                  </a:moveTo>
                  <a:lnTo>
                    <a:pt x="2667000" y="45720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19700" y="3305174"/>
              <a:ext cx="3171825" cy="2838450"/>
            </a:xfrm>
            <a:custGeom>
              <a:avLst/>
              <a:gdLst/>
              <a:ahLst/>
              <a:cxnLst/>
              <a:rect l="l" t="t" r="r" b="b"/>
              <a:pathLst>
                <a:path w="3171825" h="2838450">
                  <a:moveTo>
                    <a:pt x="0" y="2838450"/>
                  </a:moveTo>
                  <a:lnTo>
                    <a:pt x="3067050" y="2838450"/>
                  </a:lnTo>
                </a:path>
                <a:path w="3171825" h="2838450">
                  <a:moveTo>
                    <a:pt x="47625" y="0"/>
                  </a:moveTo>
                  <a:lnTo>
                    <a:pt x="3171825" y="0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24500" y="5581650"/>
              <a:ext cx="9525" cy="714375"/>
            </a:xfrm>
            <a:custGeom>
              <a:avLst/>
              <a:gdLst/>
              <a:ahLst/>
              <a:cxnLst/>
              <a:rect l="l" t="t" r="r" b="b"/>
              <a:pathLst>
                <a:path w="9525" h="714375">
                  <a:moveTo>
                    <a:pt x="9525" y="0"/>
                  </a:moveTo>
                  <a:lnTo>
                    <a:pt x="0" y="714375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925" y="2114486"/>
              <a:ext cx="2767076" cy="121443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572125" y="2138425"/>
              <a:ext cx="2590800" cy="1114425"/>
            </a:xfrm>
            <a:custGeom>
              <a:avLst/>
              <a:gdLst/>
              <a:ahLst/>
              <a:cxnLst/>
              <a:rect l="l" t="t" r="r" b="b"/>
              <a:pathLst>
                <a:path w="2590800" h="1114425">
                  <a:moveTo>
                    <a:pt x="0" y="1114425"/>
                  </a:moveTo>
                  <a:lnTo>
                    <a:pt x="2590800" y="1114425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1114425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48375" y="2138425"/>
              <a:ext cx="2667000" cy="1114425"/>
            </a:xfrm>
            <a:custGeom>
              <a:avLst/>
              <a:gdLst/>
              <a:ahLst/>
              <a:cxnLst/>
              <a:rect l="l" t="t" r="r" b="b"/>
              <a:pathLst>
                <a:path w="2667000" h="1114425">
                  <a:moveTo>
                    <a:pt x="0" y="1114425"/>
                  </a:moveTo>
                  <a:lnTo>
                    <a:pt x="2667000" y="1114425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1114425"/>
                  </a:lnTo>
                  <a:close/>
                </a:path>
              </a:pathLst>
            </a:custGeom>
            <a:ln w="9525">
              <a:solidFill>
                <a:srgbClr val="AE34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572125" y="2492692"/>
            <a:ext cx="25908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75335">
              <a:lnSpc>
                <a:spcPct val="100000"/>
              </a:lnSpc>
              <a:spcBef>
                <a:spcPts val="125"/>
              </a:spcBef>
            </a:pPr>
            <a:r>
              <a:rPr sz="2000" b="1" spc="-135" dirty="0">
                <a:solidFill>
                  <a:srgbClr val="EDEBE0"/>
                </a:solidFill>
                <a:latin typeface="Times New Roman"/>
                <a:cs typeface="Times New Roman"/>
              </a:rPr>
              <a:t>NOP</a:t>
            </a:r>
            <a:r>
              <a:rPr sz="2000" b="1" spc="-10" dirty="0">
                <a:solidFill>
                  <a:srgbClr val="EDEBE0"/>
                </a:solidFill>
                <a:latin typeface="Times New Roman"/>
                <a:cs typeface="Times New Roman"/>
              </a:rPr>
              <a:t> Slide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495925" y="790575"/>
            <a:ext cx="2767330" cy="1424305"/>
            <a:chOff x="5495925" y="790575"/>
            <a:chExt cx="2767330" cy="1424305"/>
          </a:xfrm>
        </p:grpSpPr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5925" y="790575"/>
              <a:ext cx="2767076" cy="142392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572125" y="814450"/>
              <a:ext cx="2590800" cy="1323975"/>
            </a:xfrm>
            <a:custGeom>
              <a:avLst/>
              <a:gdLst/>
              <a:ahLst/>
              <a:cxnLst/>
              <a:rect l="l" t="t" r="r" b="b"/>
              <a:pathLst>
                <a:path w="2590800" h="1323975">
                  <a:moveTo>
                    <a:pt x="0" y="1323975"/>
                  </a:moveTo>
                  <a:lnTo>
                    <a:pt x="2590800" y="1323975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1323975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48376" y="814450"/>
              <a:ext cx="2667000" cy="1323975"/>
            </a:xfrm>
            <a:custGeom>
              <a:avLst/>
              <a:gdLst/>
              <a:ahLst/>
              <a:cxnLst/>
              <a:rect l="l" t="t" r="r" b="b"/>
              <a:pathLst>
                <a:path w="2667000" h="1323975">
                  <a:moveTo>
                    <a:pt x="0" y="1323975"/>
                  </a:moveTo>
                  <a:lnTo>
                    <a:pt x="2667000" y="1323975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1323975"/>
                  </a:lnTo>
                  <a:close/>
                </a:path>
              </a:pathLst>
            </a:custGeom>
            <a:ln w="9525">
              <a:solidFill>
                <a:srgbClr val="AE34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572125" y="1271841"/>
            <a:ext cx="25908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47395">
              <a:lnSpc>
                <a:spcPct val="100000"/>
              </a:lnSpc>
              <a:spcBef>
                <a:spcPts val="125"/>
              </a:spcBef>
            </a:pPr>
            <a:r>
              <a:rPr sz="2000" b="1" spc="-50" dirty="0">
                <a:solidFill>
                  <a:srgbClr val="EDEBE0"/>
                </a:solidFill>
                <a:latin typeface="Times New Roman"/>
                <a:cs typeface="Times New Roman"/>
              </a:rPr>
              <a:t>Program</a:t>
            </a:r>
            <a:r>
              <a:rPr sz="2000" b="1" spc="-80" dirty="0">
                <a:solidFill>
                  <a:srgbClr val="EDEBE0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EDEBE0"/>
                </a:solidFill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724400" y="581025"/>
            <a:ext cx="4081779" cy="5743575"/>
            <a:chOff x="4724400" y="581025"/>
            <a:chExt cx="4081779" cy="5743575"/>
          </a:xfrm>
        </p:grpSpPr>
        <p:sp>
          <p:nvSpPr>
            <p:cNvPr id="34" name="object 34"/>
            <p:cNvSpPr/>
            <p:nvPr/>
          </p:nvSpPr>
          <p:spPr>
            <a:xfrm>
              <a:off x="5524500" y="609600"/>
              <a:ext cx="19050" cy="2790825"/>
            </a:xfrm>
            <a:custGeom>
              <a:avLst/>
              <a:gdLst/>
              <a:ahLst/>
              <a:cxnLst/>
              <a:rect l="l" t="t" r="r" b="b"/>
              <a:pathLst>
                <a:path w="19050" h="2790825">
                  <a:moveTo>
                    <a:pt x="19050" y="0"/>
                  </a:moveTo>
                  <a:lnTo>
                    <a:pt x="0" y="2790825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4400" y="2447798"/>
              <a:ext cx="900112" cy="168122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772278" y="2607310"/>
              <a:ext cx="780415" cy="1453515"/>
            </a:xfrm>
            <a:custGeom>
              <a:avLst/>
              <a:gdLst/>
              <a:ahLst/>
              <a:cxnLst/>
              <a:rect l="l" t="t" r="r" b="b"/>
              <a:pathLst>
                <a:path w="780414" h="1453514">
                  <a:moveTo>
                    <a:pt x="462470" y="54635"/>
                  </a:moveTo>
                  <a:lnTo>
                    <a:pt x="392430" y="79501"/>
                  </a:lnTo>
                  <a:lnTo>
                    <a:pt x="345694" y="97662"/>
                  </a:lnTo>
                  <a:lnTo>
                    <a:pt x="299338" y="116966"/>
                  </a:lnTo>
                  <a:lnTo>
                    <a:pt x="253492" y="137794"/>
                  </a:lnTo>
                  <a:lnTo>
                    <a:pt x="209804" y="159765"/>
                  </a:lnTo>
                  <a:lnTo>
                    <a:pt x="169418" y="183006"/>
                  </a:lnTo>
                  <a:lnTo>
                    <a:pt x="133223" y="207390"/>
                  </a:lnTo>
                  <a:lnTo>
                    <a:pt x="101854" y="233425"/>
                  </a:lnTo>
                  <a:lnTo>
                    <a:pt x="68072" y="274827"/>
                  </a:lnTo>
                  <a:lnTo>
                    <a:pt x="43942" y="319531"/>
                  </a:lnTo>
                  <a:lnTo>
                    <a:pt x="20574" y="384937"/>
                  </a:lnTo>
                  <a:lnTo>
                    <a:pt x="6223" y="455422"/>
                  </a:lnTo>
                  <a:lnTo>
                    <a:pt x="126" y="529081"/>
                  </a:lnTo>
                  <a:lnTo>
                    <a:pt x="0" y="566419"/>
                  </a:lnTo>
                  <a:lnTo>
                    <a:pt x="1650" y="603757"/>
                  </a:lnTo>
                  <a:lnTo>
                    <a:pt x="10668" y="677417"/>
                  </a:lnTo>
                  <a:lnTo>
                    <a:pt x="26670" y="747776"/>
                  </a:lnTo>
                  <a:lnTo>
                    <a:pt x="49657" y="812418"/>
                  </a:lnTo>
                  <a:lnTo>
                    <a:pt x="74549" y="859281"/>
                  </a:lnTo>
                  <a:lnTo>
                    <a:pt x="106934" y="903859"/>
                  </a:lnTo>
                  <a:lnTo>
                    <a:pt x="145161" y="946912"/>
                  </a:lnTo>
                  <a:lnTo>
                    <a:pt x="187960" y="988313"/>
                  </a:lnTo>
                  <a:lnTo>
                    <a:pt x="218059" y="1014983"/>
                  </a:lnTo>
                  <a:lnTo>
                    <a:pt x="249047" y="1041019"/>
                  </a:lnTo>
                  <a:lnTo>
                    <a:pt x="280543" y="1066419"/>
                  </a:lnTo>
                  <a:lnTo>
                    <a:pt x="311785" y="1090929"/>
                  </a:lnTo>
                  <a:lnTo>
                    <a:pt x="401700" y="1160145"/>
                  </a:lnTo>
                  <a:lnTo>
                    <a:pt x="428625" y="1181608"/>
                  </a:lnTo>
                  <a:lnTo>
                    <a:pt x="441325" y="1191895"/>
                  </a:lnTo>
                  <a:lnTo>
                    <a:pt x="464693" y="1211707"/>
                  </a:lnTo>
                  <a:lnTo>
                    <a:pt x="475615" y="1221485"/>
                  </a:lnTo>
                  <a:lnTo>
                    <a:pt x="496697" y="1240916"/>
                  </a:lnTo>
                  <a:lnTo>
                    <a:pt x="555244" y="1293621"/>
                  </a:lnTo>
                  <a:lnTo>
                    <a:pt x="607695" y="1339469"/>
                  </a:lnTo>
                  <a:lnTo>
                    <a:pt x="655701" y="1380363"/>
                  </a:lnTo>
                  <a:lnTo>
                    <a:pt x="714883" y="1429765"/>
                  </a:lnTo>
                  <a:lnTo>
                    <a:pt x="743585" y="1453388"/>
                  </a:lnTo>
                  <a:lnTo>
                    <a:pt x="779907" y="1409191"/>
                  </a:lnTo>
                  <a:lnTo>
                    <a:pt x="722249" y="1361566"/>
                  </a:lnTo>
                  <a:lnTo>
                    <a:pt x="692404" y="1336547"/>
                  </a:lnTo>
                  <a:lnTo>
                    <a:pt x="644906" y="1296034"/>
                  </a:lnTo>
                  <a:lnTo>
                    <a:pt x="610870" y="1266444"/>
                  </a:lnTo>
                  <a:lnTo>
                    <a:pt x="592963" y="1250695"/>
                  </a:lnTo>
                  <a:lnTo>
                    <a:pt x="574675" y="1234185"/>
                  </a:lnTo>
                  <a:lnTo>
                    <a:pt x="555117" y="1216787"/>
                  </a:lnTo>
                  <a:lnTo>
                    <a:pt x="503047" y="1169289"/>
                  </a:lnTo>
                  <a:lnTo>
                    <a:pt x="464820" y="1137284"/>
                  </a:lnTo>
                  <a:lnTo>
                    <a:pt x="315595" y="1021333"/>
                  </a:lnTo>
                  <a:lnTo>
                    <a:pt x="284988" y="996568"/>
                  </a:lnTo>
                  <a:lnTo>
                    <a:pt x="254762" y="971295"/>
                  </a:lnTo>
                  <a:lnTo>
                    <a:pt x="225933" y="945514"/>
                  </a:lnTo>
                  <a:lnTo>
                    <a:pt x="185800" y="906652"/>
                  </a:lnTo>
                  <a:lnTo>
                    <a:pt x="150622" y="867155"/>
                  </a:lnTo>
                  <a:lnTo>
                    <a:pt x="122047" y="827531"/>
                  </a:lnTo>
                  <a:lnTo>
                    <a:pt x="101473" y="788415"/>
                  </a:lnTo>
                  <a:lnTo>
                    <a:pt x="81153" y="730376"/>
                  </a:lnTo>
                  <a:lnTo>
                    <a:pt x="66675" y="666241"/>
                  </a:lnTo>
                  <a:lnTo>
                    <a:pt x="58547" y="598297"/>
                  </a:lnTo>
                  <a:lnTo>
                    <a:pt x="57135" y="566419"/>
                  </a:lnTo>
                  <a:lnTo>
                    <a:pt x="57023" y="563879"/>
                  </a:lnTo>
                  <a:lnTo>
                    <a:pt x="59182" y="495300"/>
                  </a:lnTo>
                  <a:lnTo>
                    <a:pt x="68707" y="429387"/>
                  </a:lnTo>
                  <a:lnTo>
                    <a:pt x="85598" y="368680"/>
                  </a:lnTo>
                  <a:lnTo>
                    <a:pt x="102997" y="328675"/>
                  </a:lnTo>
                  <a:lnTo>
                    <a:pt x="124587" y="293497"/>
                  </a:lnTo>
                  <a:lnTo>
                    <a:pt x="154559" y="263016"/>
                  </a:lnTo>
                  <a:lnTo>
                    <a:pt x="200279" y="231139"/>
                  </a:lnTo>
                  <a:lnTo>
                    <a:pt x="237490" y="209676"/>
                  </a:lnTo>
                  <a:lnTo>
                    <a:pt x="278638" y="189102"/>
                  </a:lnTo>
                  <a:lnTo>
                    <a:pt x="322325" y="169290"/>
                  </a:lnTo>
                  <a:lnTo>
                    <a:pt x="367792" y="150367"/>
                  </a:lnTo>
                  <a:lnTo>
                    <a:pt x="413004" y="132841"/>
                  </a:lnTo>
                  <a:lnTo>
                    <a:pt x="457454" y="116712"/>
                  </a:lnTo>
                  <a:lnTo>
                    <a:pt x="479390" y="109161"/>
                  </a:lnTo>
                  <a:lnTo>
                    <a:pt x="462470" y="54635"/>
                  </a:lnTo>
                  <a:close/>
                </a:path>
                <a:path w="780414" h="1453514">
                  <a:moveTo>
                    <a:pt x="618987" y="46100"/>
                  </a:moveTo>
                  <a:lnTo>
                    <a:pt x="489712" y="46100"/>
                  </a:lnTo>
                  <a:lnTo>
                    <a:pt x="506730" y="100711"/>
                  </a:lnTo>
                  <a:lnTo>
                    <a:pt x="479390" y="109161"/>
                  </a:lnTo>
                  <a:lnTo>
                    <a:pt x="496316" y="163702"/>
                  </a:lnTo>
                  <a:lnTo>
                    <a:pt x="618987" y="46100"/>
                  </a:lnTo>
                  <a:close/>
                </a:path>
                <a:path w="780414" h="1453514">
                  <a:moveTo>
                    <a:pt x="489712" y="46100"/>
                  </a:moveTo>
                  <a:lnTo>
                    <a:pt x="462470" y="54635"/>
                  </a:lnTo>
                  <a:lnTo>
                    <a:pt x="479390" y="109161"/>
                  </a:lnTo>
                  <a:lnTo>
                    <a:pt x="506730" y="100711"/>
                  </a:lnTo>
                  <a:lnTo>
                    <a:pt x="489712" y="46100"/>
                  </a:lnTo>
                  <a:close/>
                </a:path>
                <a:path w="780414" h="1453514">
                  <a:moveTo>
                    <a:pt x="445516" y="0"/>
                  </a:moveTo>
                  <a:lnTo>
                    <a:pt x="462470" y="54635"/>
                  </a:lnTo>
                  <a:lnTo>
                    <a:pt x="489712" y="46100"/>
                  </a:lnTo>
                  <a:lnTo>
                    <a:pt x="618987" y="46100"/>
                  </a:lnTo>
                  <a:lnTo>
                    <a:pt x="634619" y="31114"/>
                  </a:lnTo>
                  <a:lnTo>
                    <a:pt x="445516" y="0"/>
                  </a:lnTo>
                  <a:close/>
                </a:path>
              </a:pathLst>
            </a:custGeom>
            <a:solidFill>
              <a:srgbClr val="000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524500" y="3305175"/>
              <a:ext cx="2667000" cy="2838450"/>
            </a:xfrm>
            <a:custGeom>
              <a:avLst/>
              <a:gdLst/>
              <a:ahLst/>
              <a:cxnLst/>
              <a:rect l="l" t="t" r="r" b="b"/>
              <a:pathLst>
                <a:path w="2667000" h="2838450">
                  <a:moveTo>
                    <a:pt x="0" y="2838450"/>
                  </a:moveTo>
                  <a:lnTo>
                    <a:pt x="2667000" y="283845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2838450"/>
                  </a:lnTo>
                  <a:close/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191500" y="609600"/>
              <a:ext cx="19050" cy="5686425"/>
            </a:xfrm>
            <a:custGeom>
              <a:avLst/>
              <a:gdLst/>
              <a:ahLst/>
              <a:cxnLst/>
              <a:rect l="l" t="t" r="r" b="b"/>
              <a:pathLst>
                <a:path w="19050" h="5686425">
                  <a:moveTo>
                    <a:pt x="9525" y="4972050"/>
                  </a:moveTo>
                  <a:lnTo>
                    <a:pt x="0" y="5686425"/>
                  </a:lnTo>
                </a:path>
                <a:path w="19050" h="5686425">
                  <a:moveTo>
                    <a:pt x="19050" y="0"/>
                  </a:moveTo>
                  <a:lnTo>
                    <a:pt x="0" y="2790825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72475" y="923861"/>
              <a:ext cx="433387" cy="513880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505971" y="1114298"/>
              <a:ext cx="171450" cy="4877435"/>
            </a:xfrm>
            <a:custGeom>
              <a:avLst/>
              <a:gdLst/>
              <a:ahLst/>
              <a:cxnLst/>
              <a:rect l="l" t="t" r="r" b="b"/>
              <a:pathLst>
                <a:path w="171450" h="4877435">
                  <a:moveTo>
                    <a:pt x="85578" y="75800"/>
                  </a:moveTo>
                  <a:lnTo>
                    <a:pt x="66528" y="108457"/>
                  </a:lnTo>
                  <a:lnTo>
                    <a:pt x="66528" y="4876927"/>
                  </a:lnTo>
                  <a:lnTo>
                    <a:pt x="104628" y="4876927"/>
                  </a:lnTo>
                  <a:lnTo>
                    <a:pt x="104628" y="108457"/>
                  </a:lnTo>
                  <a:lnTo>
                    <a:pt x="85578" y="75800"/>
                  </a:lnTo>
                  <a:close/>
                </a:path>
                <a:path w="171450" h="4877435">
                  <a:moveTo>
                    <a:pt x="85578" y="0"/>
                  </a:moveTo>
                  <a:lnTo>
                    <a:pt x="2393" y="142493"/>
                  </a:lnTo>
                  <a:lnTo>
                    <a:pt x="0" y="149689"/>
                  </a:lnTo>
                  <a:lnTo>
                    <a:pt x="488" y="157003"/>
                  </a:lnTo>
                  <a:lnTo>
                    <a:pt x="3643" y="163603"/>
                  </a:lnTo>
                  <a:lnTo>
                    <a:pt x="9251" y="168655"/>
                  </a:lnTo>
                  <a:lnTo>
                    <a:pt x="16446" y="171049"/>
                  </a:lnTo>
                  <a:lnTo>
                    <a:pt x="23760" y="170561"/>
                  </a:lnTo>
                  <a:lnTo>
                    <a:pt x="30360" y="167405"/>
                  </a:lnTo>
                  <a:lnTo>
                    <a:pt x="35413" y="161798"/>
                  </a:lnTo>
                  <a:lnTo>
                    <a:pt x="66528" y="108457"/>
                  </a:lnTo>
                  <a:lnTo>
                    <a:pt x="66528" y="37846"/>
                  </a:lnTo>
                  <a:lnTo>
                    <a:pt x="107671" y="37846"/>
                  </a:lnTo>
                  <a:lnTo>
                    <a:pt x="85578" y="0"/>
                  </a:lnTo>
                  <a:close/>
                </a:path>
                <a:path w="171450" h="4877435">
                  <a:moveTo>
                    <a:pt x="107671" y="37846"/>
                  </a:moveTo>
                  <a:lnTo>
                    <a:pt x="104628" y="37846"/>
                  </a:lnTo>
                  <a:lnTo>
                    <a:pt x="104628" y="108457"/>
                  </a:lnTo>
                  <a:lnTo>
                    <a:pt x="135743" y="161798"/>
                  </a:lnTo>
                  <a:lnTo>
                    <a:pt x="140795" y="167405"/>
                  </a:lnTo>
                  <a:lnTo>
                    <a:pt x="147395" y="170561"/>
                  </a:lnTo>
                  <a:lnTo>
                    <a:pt x="154709" y="171049"/>
                  </a:lnTo>
                  <a:lnTo>
                    <a:pt x="161905" y="168655"/>
                  </a:lnTo>
                  <a:lnTo>
                    <a:pt x="167513" y="163603"/>
                  </a:lnTo>
                  <a:lnTo>
                    <a:pt x="170668" y="157003"/>
                  </a:lnTo>
                  <a:lnTo>
                    <a:pt x="171156" y="149689"/>
                  </a:lnTo>
                  <a:lnTo>
                    <a:pt x="168763" y="142493"/>
                  </a:lnTo>
                  <a:lnTo>
                    <a:pt x="107671" y="37846"/>
                  </a:lnTo>
                  <a:close/>
                </a:path>
                <a:path w="171450" h="4877435">
                  <a:moveTo>
                    <a:pt x="104628" y="37846"/>
                  </a:moveTo>
                  <a:lnTo>
                    <a:pt x="66528" y="37846"/>
                  </a:lnTo>
                  <a:lnTo>
                    <a:pt x="66528" y="108457"/>
                  </a:lnTo>
                  <a:lnTo>
                    <a:pt x="85578" y="75800"/>
                  </a:lnTo>
                  <a:lnTo>
                    <a:pt x="69068" y="47498"/>
                  </a:lnTo>
                  <a:lnTo>
                    <a:pt x="104628" y="47498"/>
                  </a:lnTo>
                  <a:lnTo>
                    <a:pt x="104628" y="37846"/>
                  </a:lnTo>
                  <a:close/>
                </a:path>
                <a:path w="171450" h="4877435">
                  <a:moveTo>
                    <a:pt x="104628" y="47498"/>
                  </a:moveTo>
                  <a:lnTo>
                    <a:pt x="102088" y="47498"/>
                  </a:lnTo>
                  <a:lnTo>
                    <a:pt x="85578" y="75800"/>
                  </a:lnTo>
                  <a:lnTo>
                    <a:pt x="104628" y="108457"/>
                  </a:lnTo>
                  <a:lnTo>
                    <a:pt x="104628" y="47498"/>
                  </a:lnTo>
                  <a:close/>
                </a:path>
                <a:path w="171450" h="4877435">
                  <a:moveTo>
                    <a:pt x="102088" y="47498"/>
                  </a:moveTo>
                  <a:lnTo>
                    <a:pt x="69068" y="47498"/>
                  </a:lnTo>
                  <a:lnTo>
                    <a:pt x="85578" y="75800"/>
                  </a:lnTo>
                  <a:lnTo>
                    <a:pt x="102088" y="4749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385809" y="5905500"/>
            <a:ext cx="3308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latin typeface="Times New Roman"/>
                <a:cs typeface="Times New Roman"/>
              </a:rPr>
              <a:t>low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385809" y="716597"/>
            <a:ext cx="3740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Times New Roman"/>
                <a:cs typeface="Times New Roman"/>
              </a:rPr>
              <a:t>high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3" name="object 4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989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</a:pPr>
            <a:r>
              <a:rPr dirty="0"/>
              <a:t>Details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857" y="1259035"/>
            <a:ext cx="7604759" cy="1789592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287655" indent="-274955">
              <a:lnSpc>
                <a:spcPct val="100000"/>
              </a:lnSpc>
              <a:spcBef>
                <a:spcPts val="615"/>
              </a:spcBef>
              <a:buClr>
                <a:srgbClr val="D24717"/>
              </a:buClr>
              <a:buSzPct val="87272"/>
              <a:buFont typeface="Segoe UI Symbol"/>
              <a:buChar char="⚫"/>
              <a:tabLst>
                <a:tab pos="287655" algn="l"/>
              </a:tabLst>
            </a:pPr>
            <a:r>
              <a:rPr sz="2750" dirty="0">
                <a:latin typeface="Times New Roman"/>
                <a:cs typeface="Times New Roman"/>
              </a:rPr>
              <a:t>Some</a:t>
            </a:r>
            <a:r>
              <a:rPr sz="2750" spc="7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complications:</a:t>
            </a:r>
            <a:endParaRPr sz="2750" dirty="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  <a:tab pos="1838325" algn="l"/>
                <a:tab pos="2153920" algn="l"/>
                <a:tab pos="5496560" algn="l"/>
              </a:tabLst>
            </a:pPr>
            <a:r>
              <a:rPr sz="2400" spc="-10" dirty="0">
                <a:latin typeface="Times New Roman"/>
                <a:cs typeface="Times New Roman"/>
              </a:rPr>
              <a:t>Program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	should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‘\0’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character.</a:t>
            </a:r>
            <a:endParaRPr sz="2400" dirty="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2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  <a:tab pos="5923280" algn="l"/>
                <a:tab pos="6817995" algn="l"/>
              </a:tabLst>
            </a:pPr>
            <a:r>
              <a:rPr sz="2400" dirty="0">
                <a:latin typeface="Times New Roman"/>
                <a:cs typeface="Times New Roman"/>
              </a:rPr>
              <a:t>Overflow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crash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10" dirty="0">
                <a:latin typeface="Times New Roman"/>
                <a:cs typeface="Times New Roman"/>
              </a:rPr>
              <a:t> before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func()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exists.</a:t>
            </a:r>
            <a:endParaRPr sz="24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620"/>
              </a:spcBef>
              <a:buClr>
                <a:srgbClr val="9B2C1F"/>
              </a:buClr>
              <a:buFont typeface="Segoe UI Symbol"/>
              <a:buChar char="⚫"/>
            </a:pP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589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</a:pPr>
            <a:r>
              <a:rPr dirty="0"/>
              <a:t>Many</a:t>
            </a:r>
            <a:r>
              <a:rPr spc="-10" dirty="0"/>
              <a:t> </a:t>
            </a:r>
            <a:r>
              <a:rPr dirty="0"/>
              <a:t>unsafe</a:t>
            </a:r>
            <a:r>
              <a:rPr spc="-5" dirty="0"/>
              <a:t> </a:t>
            </a:r>
            <a:r>
              <a:rPr dirty="0"/>
              <a:t>libc</a:t>
            </a:r>
            <a:r>
              <a:rPr spc="-25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2294" y="1146365"/>
            <a:ext cx="4352925" cy="1790064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21300"/>
              </a:lnSpc>
              <a:spcBef>
                <a:spcPts val="60"/>
              </a:spcBef>
              <a:tabLst>
                <a:tab pos="2408555" algn="l"/>
              </a:tabLst>
            </a:pPr>
            <a:r>
              <a:rPr sz="2400" dirty="0">
                <a:solidFill>
                  <a:srgbClr val="000090"/>
                </a:solidFill>
                <a:latin typeface="Times New Roman"/>
                <a:cs typeface="Times New Roman"/>
              </a:rPr>
              <a:t>strcpy</a:t>
            </a:r>
            <a:r>
              <a:rPr sz="2400" spc="-1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(char</a:t>
            </a:r>
            <a:r>
              <a:rPr sz="2400" spc="-10" dirty="0">
                <a:latin typeface="Times New Roman"/>
                <a:cs typeface="Times New Roman"/>
              </a:rPr>
              <a:t> *dest,</a:t>
            </a:r>
            <a:r>
              <a:rPr sz="2400" dirty="0">
                <a:latin typeface="Times New Roman"/>
                <a:cs typeface="Times New Roman"/>
              </a:rPr>
              <a:t>	const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</a:t>
            </a:r>
            <a:r>
              <a:rPr sz="2400" spc="-10" dirty="0">
                <a:latin typeface="Times New Roman"/>
                <a:cs typeface="Times New Roman"/>
              </a:rPr>
              <a:t> *src) </a:t>
            </a:r>
            <a:r>
              <a:rPr sz="2400" dirty="0">
                <a:solidFill>
                  <a:srgbClr val="000090"/>
                </a:solidFill>
                <a:latin typeface="Times New Roman"/>
                <a:cs typeface="Times New Roman"/>
              </a:rPr>
              <a:t>strcat</a:t>
            </a:r>
            <a:r>
              <a:rPr sz="2400" spc="-1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(char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*dest,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*src) </a:t>
            </a:r>
            <a:r>
              <a:rPr sz="2400" dirty="0">
                <a:solidFill>
                  <a:srgbClr val="000090"/>
                </a:solidFill>
                <a:latin typeface="Times New Roman"/>
                <a:cs typeface="Times New Roman"/>
              </a:rPr>
              <a:t>gets</a:t>
            </a:r>
            <a:r>
              <a:rPr sz="2400" spc="-1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(char </a:t>
            </a:r>
            <a:r>
              <a:rPr sz="2400" spc="-25" dirty="0">
                <a:latin typeface="Times New Roman"/>
                <a:cs typeface="Times New Roman"/>
              </a:rPr>
              <a:t>*s)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000090"/>
                </a:solidFill>
                <a:latin typeface="Times New Roman"/>
                <a:cs typeface="Times New Roman"/>
              </a:rPr>
              <a:t>scanf</a:t>
            </a:r>
            <a:r>
              <a:rPr sz="2400" spc="-2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*format,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2444" y="2544444"/>
            <a:ext cx="20002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more.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657" y="3101784"/>
            <a:ext cx="7096125" cy="864869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525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287020" algn="l"/>
                <a:tab pos="2877185" algn="l"/>
                <a:tab pos="5299075" algn="l"/>
              </a:tabLst>
            </a:pPr>
            <a:r>
              <a:rPr sz="2400" dirty="0">
                <a:latin typeface="Times New Roman"/>
                <a:cs typeface="Times New Roman"/>
              </a:rPr>
              <a:t>“Safe”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libc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versions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solidFill>
                  <a:srgbClr val="000090"/>
                </a:solidFill>
                <a:latin typeface="Times New Roman"/>
                <a:cs typeface="Times New Roman"/>
              </a:rPr>
              <a:t>strncpy(),</a:t>
            </a:r>
            <a:r>
              <a:rPr sz="2400" spc="-30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Times New Roman"/>
                <a:cs typeface="Times New Roman"/>
              </a:rPr>
              <a:t>strncat()</a:t>
            </a:r>
            <a:r>
              <a:rPr sz="2400" dirty="0">
                <a:solidFill>
                  <a:srgbClr val="00009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misleading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  <a:tab pos="1154430" algn="l"/>
                <a:tab pos="2484755" algn="l"/>
              </a:tabLst>
            </a:pPr>
            <a:r>
              <a:rPr sz="2400" spc="-20" dirty="0">
                <a:latin typeface="Times New Roman"/>
                <a:cs typeface="Times New Roman"/>
              </a:rPr>
              <a:t>e.g.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000090"/>
                </a:solidFill>
                <a:latin typeface="Times New Roman"/>
                <a:cs typeface="Times New Roman"/>
              </a:rPr>
              <a:t>strncpy()</a:t>
            </a:r>
            <a:r>
              <a:rPr sz="2400" dirty="0">
                <a:solidFill>
                  <a:srgbClr val="00009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unterminated.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657" y="4170108"/>
            <a:ext cx="4497070" cy="90296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75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287020" algn="l"/>
                <a:tab pos="2973070" algn="l"/>
              </a:tabLst>
            </a:pPr>
            <a:r>
              <a:rPr sz="2400" spc="-10" dirty="0">
                <a:latin typeface="Times New Roman"/>
                <a:cs typeface="Times New Roman"/>
              </a:rPr>
              <a:t>Windows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time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(CRT):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57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solidFill>
                  <a:srgbClr val="000090"/>
                </a:solidFill>
                <a:latin typeface="Times New Roman"/>
                <a:cs typeface="Times New Roman"/>
              </a:rPr>
              <a:t>strcpy_s</a:t>
            </a:r>
            <a:r>
              <a:rPr sz="2400" spc="-2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90"/>
                </a:solidFill>
                <a:latin typeface="Times New Roman"/>
                <a:cs typeface="Times New Roman"/>
              </a:rPr>
              <a:t>(*dest,</a:t>
            </a:r>
            <a:r>
              <a:rPr sz="2400" spc="-4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90"/>
                </a:solidFill>
                <a:latin typeface="Times New Roman"/>
                <a:cs typeface="Times New Roman"/>
              </a:rPr>
              <a:t>DestSize,</a:t>
            </a:r>
            <a:r>
              <a:rPr sz="2400" spc="-50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Times New Roman"/>
                <a:cs typeface="Times New Roman"/>
              </a:rPr>
              <a:t>*src)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9131" y="4681537"/>
            <a:ext cx="32981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ensures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proper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termination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0019" y="3037978"/>
            <a:ext cx="8749030" cy="81915"/>
            <a:chOff x="200019" y="3037978"/>
            <a:chExt cx="8749030" cy="8191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019" y="3037978"/>
              <a:ext cx="8748791" cy="8182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33362" y="3052825"/>
              <a:ext cx="8687435" cy="0"/>
            </a:xfrm>
            <a:custGeom>
              <a:avLst/>
              <a:gdLst/>
              <a:ahLst/>
              <a:cxnLst/>
              <a:rect l="l" t="t" r="r" b="b"/>
              <a:pathLst>
                <a:path w="8687435">
                  <a:moveTo>
                    <a:pt x="0" y="0"/>
                  </a:moveTo>
                  <a:lnTo>
                    <a:pt x="8686863" y="0"/>
                  </a:lnTo>
                </a:path>
              </a:pathLst>
            </a:custGeom>
            <a:ln w="127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00019" y="4104778"/>
            <a:ext cx="8749030" cy="81915"/>
            <a:chOff x="200019" y="4104778"/>
            <a:chExt cx="8749030" cy="8191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019" y="4104778"/>
              <a:ext cx="8748791" cy="8182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33362" y="4119625"/>
              <a:ext cx="8687435" cy="0"/>
            </a:xfrm>
            <a:custGeom>
              <a:avLst/>
              <a:gdLst/>
              <a:ahLst/>
              <a:cxnLst/>
              <a:rect l="l" t="t" r="r" b="b"/>
              <a:pathLst>
                <a:path w="8687435">
                  <a:moveTo>
                    <a:pt x="0" y="0"/>
                  </a:moveTo>
                  <a:lnTo>
                    <a:pt x="8686863" y="0"/>
                  </a:lnTo>
                </a:path>
              </a:pathLst>
            </a:custGeom>
            <a:ln w="127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189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</a:pPr>
            <a:r>
              <a:rPr dirty="0"/>
              <a:t>Finding</a:t>
            </a:r>
            <a:r>
              <a:rPr spc="-40" dirty="0"/>
              <a:t> </a:t>
            </a:r>
            <a:r>
              <a:rPr dirty="0"/>
              <a:t>buffer</a:t>
            </a:r>
            <a:r>
              <a:rPr spc="-30" dirty="0"/>
              <a:t> </a:t>
            </a:r>
            <a:r>
              <a:rPr spc="-10" dirty="0"/>
              <a:t>overflows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657" y="1432623"/>
            <a:ext cx="7232650" cy="24199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525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294005" algn="l"/>
              </a:tabLst>
            </a:pPr>
            <a:r>
              <a:rPr sz="2400" spc="-265" dirty="0">
                <a:latin typeface="Times New Roman"/>
                <a:cs typeface="Times New Roman"/>
              </a:rPr>
              <a:t>To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find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overflow:</a:t>
            </a:r>
            <a:endParaRPr sz="2400">
              <a:latin typeface="Times New Roman"/>
              <a:cs typeface="Times New Roman"/>
            </a:endParaRPr>
          </a:p>
          <a:p>
            <a:pPr marL="638175" lvl="1" indent="-230504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638175" algn="l"/>
              </a:tabLst>
            </a:pPr>
            <a:r>
              <a:rPr sz="2400" spc="-125" dirty="0">
                <a:latin typeface="Times New Roman"/>
                <a:cs typeface="Times New Roman"/>
              </a:rPr>
              <a:t>Run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web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server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local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machine</a:t>
            </a:r>
            <a:endParaRPr sz="2400">
              <a:latin typeface="Times New Roman"/>
              <a:cs typeface="Times New Roman"/>
            </a:endParaRPr>
          </a:p>
          <a:p>
            <a:pPr marL="638175" lvl="1" indent="-230504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638175" algn="l"/>
                <a:tab pos="5097780" algn="l"/>
              </a:tabLst>
            </a:pPr>
            <a:r>
              <a:rPr sz="2400" spc="-160" dirty="0">
                <a:latin typeface="Times New Roman"/>
                <a:cs typeface="Times New Roman"/>
              </a:rPr>
              <a:t>Issue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malformed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requests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(ending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with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85" dirty="0">
                <a:latin typeface="Times New Roman"/>
                <a:cs typeface="Times New Roman"/>
              </a:rPr>
              <a:t>“$$$$$”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037590" lvl="2" indent="-229235">
              <a:lnSpc>
                <a:spcPct val="100000"/>
              </a:lnSpc>
              <a:spcBef>
                <a:spcPts val="445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1037590" algn="l"/>
              </a:tabLst>
            </a:pPr>
            <a:r>
              <a:rPr sz="2000" spc="-180" dirty="0">
                <a:latin typeface="Times New Roman"/>
                <a:cs typeface="Times New Roman"/>
              </a:rPr>
              <a:t>Many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automated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tools </a:t>
            </a:r>
            <a:r>
              <a:rPr sz="2000" spc="-20" dirty="0">
                <a:latin typeface="Times New Roman"/>
                <a:cs typeface="Times New Roman"/>
              </a:rPr>
              <a:t>exist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(called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spc="-114" dirty="0">
                <a:latin typeface="Times New Roman"/>
                <a:cs typeface="Times New Roman"/>
              </a:rPr>
              <a:t>fuzzers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next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module)</a:t>
            </a:r>
            <a:endParaRPr sz="2000">
              <a:latin typeface="Times New Roman"/>
              <a:cs typeface="Times New Roman"/>
            </a:endParaRPr>
          </a:p>
          <a:p>
            <a:pPr marL="638175" lvl="1" indent="-230504">
              <a:lnSpc>
                <a:spcPct val="100000"/>
              </a:lnSpc>
              <a:spcBef>
                <a:spcPts val="35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638175" algn="l"/>
              </a:tabLst>
            </a:pPr>
            <a:r>
              <a:rPr sz="2400" spc="-195" dirty="0">
                <a:latin typeface="Times New Roman"/>
                <a:cs typeface="Times New Roman"/>
              </a:rPr>
              <a:t>If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web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server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crashes</a:t>
            </a:r>
            <a:endParaRPr sz="2400">
              <a:latin typeface="Times New Roman"/>
              <a:cs typeface="Times New Roman"/>
            </a:endParaRPr>
          </a:p>
          <a:p>
            <a:pPr marL="911225" lvl="2" indent="-229235">
              <a:lnSpc>
                <a:spcPct val="100000"/>
              </a:lnSpc>
              <a:spcBef>
                <a:spcPts val="450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911225" algn="l"/>
              </a:tabLst>
            </a:pPr>
            <a:r>
              <a:rPr sz="2000" spc="-105" dirty="0">
                <a:latin typeface="Times New Roman"/>
                <a:cs typeface="Times New Roman"/>
              </a:rPr>
              <a:t>search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core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20" dirty="0">
                <a:latin typeface="Times New Roman"/>
                <a:cs typeface="Times New Roman"/>
              </a:rPr>
              <a:t>dump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spc="-150" dirty="0">
                <a:latin typeface="Times New Roman"/>
                <a:cs typeface="Times New Roman"/>
              </a:rPr>
              <a:t>“$$$$$”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20" dirty="0">
                <a:latin typeface="Times New Roman"/>
                <a:cs typeface="Times New Roman"/>
              </a:rPr>
              <a:t>find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overflow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location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(heap,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stack)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657" y="4337685"/>
            <a:ext cx="22612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294005" algn="l"/>
              </a:tabLst>
            </a:pPr>
            <a:r>
              <a:rPr sz="2400" spc="-80" dirty="0">
                <a:latin typeface="Times New Roman"/>
                <a:cs typeface="Times New Roman"/>
              </a:rPr>
              <a:t>Construct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exploit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6860" y="4385627"/>
            <a:ext cx="28422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40" dirty="0">
                <a:latin typeface="Times New Roman"/>
                <a:cs typeface="Times New Roman"/>
              </a:rPr>
              <a:t>(not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65" dirty="0">
                <a:latin typeface="Times New Roman"/>
                <a:cs typeface="Times New Roman"/>
              </a:rPr>
              <a:t>easy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given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latest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defenses)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4401" y="3295015"/>
            <a:ext cx="593598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sng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More</a:t>
            </a:r>
            <a:r>
              <a:rPr u="sng" spc="-15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 </a:t>
            </a:r>
            <a:r>
              <a:rPr u="sng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Control</a:t>
            </a:r>
            <a:r>
              <a:rPr u="sng" spc="65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 </a:t>
            </a:r>
            <a:r>
              <a:rPr u="sng" spc="-10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Hijacking</a:t>
            </a:r>
            <a:r>
              <a:rPr u="sng" spc="-210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 </a:t>
            </a:r>
            <a:r>
              <a:rPr u="sng" spc="-10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Attacks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67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</a:pPr>
            <a:r>
              <a:rPr dirty="0"/>
              <a:t>More</a:t>
            </a:r>
            <a:r>
              <a:rPr spc="-60" dirty="0"/>
              <a:t> </a:t>
            </a:r>
            <a:r>
              <a:rPr dirty="0"/>
              <a:t>Hijacking</a:t>
            </a:r>
            <a:r>
              <a:rPr spc="-15" dirty="0"/>
              <a:t> </a:t>
            </a:r>
            <a:r>
              <a:rPr spc="-10" dirty="0"/>
              <a:t>Opportunities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657" y="1473517"/>
            <a:ext cx="7468870" cy="2890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287020" algn="l"/>
                <a:tab pos="2797175" algn="l"/>
              </a:tabLst>
            </a:pPr>
            <a:r>
              <a:rPr sz="2400" b="1" dirty="0">
                <a:latin typeface="Times New Roman"/>
                <a:cs typeface="Times New Roman"/>
              </a:rPr>
              <a:t>Integer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overflows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(e.g.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attack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DirectX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MIDI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Lib)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D24717"/>
              </a:buClr>
              <a:buFont typeface="Segoe UI Symbol"/>
              <a:buChar char="⚫"/>
            </a:pP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287020" algn="l"/>
                <a:tab pos="2035810" algn="l"/>
              </a:tabLst>
            </a:pPr>
            <a:r>
              <a:rPr sz="2400" b="1" dirty="0">
                <a:latin typeface="Times New Roman"/>
                <a:cs typeface="Times New Roman"/>
              </a:rPr>
              <a:t>Double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free</a:t>
            </a:r>
            <a:r>
              <a:rPr sz="2400" spc="-20" dirty="0">
                <a:latin typeface="Times New Roman"/>
                <a:cs typeface="Times New Roman"/>
              </a:rPr>
              <a:t>:</a:t>
            </a:r>
            <a:r>
              <a:rPr sz="2400" dirty="0">
                <a:latin typeface="Times New Roman"/>
                <a:cs typeface="Times New Roman"/>
              </a:rPr>
              <a:t>	double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free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space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heap.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65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cause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memory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mgr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write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location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27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  <a:tab pos="2150745" algn="l"/>
              </a:tabLst>
            </a:pPr>
            <a:r>
              <a:rPr sz="2400" spc="-10" dirty="0">
                <a:latin typeface="Times New Roman"/>
                <a:cs typeface="Times New Roman"/>
              </a:rPr>
              <a:t>Examples:</a:t>
            </a:r>
            <a:r>
              <a:rPr sz="2400" dirty="0">
                <a:latin typeface="Times New Roman"/>
                <a:cs typeface="Times New Roman"/>
              </a:rPr>
              <a:t>	CVS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server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965"/>
              </a:spcBef>
              <a:buClr>
                <a:srgbClr val="9B2C1F"/>
              </a:buClr>
              <a:buFont typeface="Segoe UI Symbol"/>
              <a:buChar char="⚫"/>
            </a:pP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287020" algn="l"/>
              </a:tabLst>
            </a:pPr>
            <a:r>
              <a:rPr sz="2400" b="1" dirty="0">
                <a:latin typeface="Times New Roman"/>
                <a:cs typeface="Times New Roman"/>
              </a:rPr>
              <a:t>Format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string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vulnerabilities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67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/>
              <a:t>Integer</a:t>
            </a:r>
            <a:r>
              <a:rPr spc="45" dirty="0"/>
              <a:t> </a:t>
            </a:r>
            <a:r>
              <a:rPr dirty="0"/>
              <a:t>Overflows</a:t>
            </a:r>
            <a:r>
              <a:rPr spc="70" dirty="0"/>
              <a:t> </a:t>
            </a:r>
            <a:r>
              <a:rPr sz="2150" dirty="0"/>
              <a:t>(Phrack</a:t>
            </a:r>
            <a:r>
              <a:rPr sz="2150" spc="50" dirty="0"/>
              <a:t> </a:t>
            </a:r>
            <a:r>
              <a:rPr sz="2150" dirty="0"/>
              <a:t>issue</a:t>
            </a:r>
            <a:r>
              <a:rPr sz="2150" spc="30" dirty="0"/>
              <a:t> </a:t>
            </a:r>
            <a:r>
              <a:rPr sz="2150" spc="-25" dirty="0"/>
              <a:t>60)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460375" y="1396745"/>
            <a:ext cx="6758940" cy="1078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30020" algn="l"/>
              </a:tabLst>
            </a:pPr>
            <a:r>
              <a:rPr sz="2400" spc="-10" dirty="0">
                <a:latin typeface="Times New Roman"/>
                <a:cs typeface="Times New Roman"/>
              </a:rPr>
              <a:t>Problem:</a:t>
            </a:r>
            <a:r>
              <a:rPr sz="2400" dirty="0">
                <a:latin typeface="Times New Roman"/>
                <a:cs typeface="Times New Roman"/>
              </a:rPr>
              <a:t>	what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happens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exceeds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max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value?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25"/>
              </a:spcBef>
              <a:tabLst>
                <a:tab pos="4272280" algn="l"/>
                <a:tab pos="5473065" algn="l"/>
              </a:tabLst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int</a:t>
            </a:r>
            <a:r>
              <a:rPr sz="24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m;</a:t>
            </a:r>
            <a:r>
              <a:rPr sz="24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(32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bits)</a:t>
            </a:r>
            <a:r>
              <a:rPr sz="24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short</a:t>
            </a:r>
            <a:r>
              <a:rPr sz="24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s;</a:t>
            </a:r>
            <a:r>
              <a:rPr sz="24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(16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bits)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	char</a:t>
            </a:r>
            <a:r>
              <a:rPr sz="24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c;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	(8</a:t>
            </a:r>
            <a:r>
              <a:rPr sz="24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bits)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56741" y="2845320"/>
          <a:ext cx="6001384" cy="1435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1465"/>
                <a:gridCol w="962025"/>
                <a:gridCol w="937894"/>
              </a:tblGrid>
              <a:tr h="445770">
                <a:tc>
                  <a:txBody>
                    <a:bodyPr/>
                    <a:lstStyle/>
                    <a:p>
                      <a:pPr marL="31750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 0x80 +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0x80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128 +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128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82880" algn="r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⇒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480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s =</a:t>
                      </a:r>
                      <a:r>
                        <a:rPr sz="2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0xff80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0x80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marR="182880" algn="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⇒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4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/>
                </a:tc>
              </a:tr>
              <a:tr h="441325">
                <a:tc>
                  <a:txBody>
                    <a:bodyPr/>
                    <a:lstStyle/>
                    <a:p>
                      <a:pPr marL="31750">
                        <a:lnSpc>
                          <a:spcPts val="2835"/>
                        </a:lnSpc>
                        <a:spcBef>
                          <a:spcPts val="54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0xffffff80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0x80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/>
                </a:tc>
                <a:tc>
                  <a:txBody>
                    <a:bodyPr/>
                    <a:lstStyle/>
                    <a:p>
                      <a:pPr marR="182880" algn="r">
                        <a:lnSpc>
                          <a:spcPts val="2835"/>
                        </a:lnSpc>
                        <a:spcBef>
                          <a:spcPts val="545"/>
                        </a:spcBef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⇒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69215" marB="0"/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ts val="2835"/>
                        </a:lnSpc>
                        <a:spcBef>
                          <a:spcPts val="54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m =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60375" y="4830445"/>
            <a:ext cx="274256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exploited?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775" y="2495423"/>
            <a:ext cx="7034276" cy="2233676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919162" y="2519426"/>
            <a:ext cx="6934200" cy="2133600"/>
          </a:xfrm>
          <a:custGeom>
            <a:avLst/>
            <a:gdLst/>
            <a:ahLst/>
            <a:cxnLst/>
            <a:rect l="l" t="t" r="r" b="b"/>
            <a:pathLst>
              <a:path w="6934200" h="2133600">
                <a:moveTo>
                  <a:pt x="0" y="2133600"/>
                </a:moveTo>
                <a:lnTo>
                  <a:pt x="6934200" y="2133600"/>
                </a:lnTo>
                <a:lnTo>
                  <a:pt x="6934200" y="0"/>
                </a:lnTo>
                <a:lnTo>
                  <a:pt x="0" y="0"/>
                </a:lnTo>
                <a:lnTo>
                  <a:pt x="0" y="2133600"/>
                </a:lnTo>
                <a:close/>
              </a:path>
            </a:pathLst>
          </a:custGeom>
          <a:ln w="9525">
            <a:solidFill>
              <a:srgbClr val="AE34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97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/>
              <a:t>An</a:t>
            </a:r>
            <a:r>
              <a:rPr spc="2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1147762" y="1100074"/>
            <a:ext cx="7239000" cy="3448050"/>
          </a:xfrm>
          <a:custGeom>
            <a:avLst/>
            <a:gdLst/>
            <a:ahLst/>
            <a:cxnLst/>
            <a:rect l="l" t="t" r="r" b="b"/>
            <a:pathLst>
              <a:path w="7239000" h="3448050">
                <a:moveTo>
                  <a:pt x="0" y="3448050"/>
                </a:moveTo>
                <a:lnTo>
                  <a:pt x="7239000" y="3448050"/>
                </a:lnTo>
                <a:lnTo>
                  <a:pt x="7239000" y="0"/>
                </a:lnTo>
                <a:lnTo>
                  <a:pt x="0" y="0"/>
                </a:lnTo>
                <a:lnTo>
                  <a:pt x="0" y="3448050"/>
                </a:lnTo>
                <a:close/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35710" y="1044638"/>
            <a:ext cx="5908040" cy="788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834" marR="5080" indent="-457834">
              <a:lnSpc>
                <a:spcPct val="125200"/>
              </a:lnSpc>
              <a:spcBef>
                <a:spcPts val="95"/>
              </a:spcBef>
              <a:tabLst>
                <a:tab pos="3309620" algn="l"/>
              </a:tabLst>
            </a:pPr>
            <a:r>
              <a:rPr sz="2000" dirty="0">
                <a:latin typeface="Times New Roman"/>
                <a:cs typeface="Times New Roman"/>
              </a:rPr>
              <a:t>void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func(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*buf1,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*buf2,</a:t>
            </a:r>
            <a:r>
              <a:rPr sz="2000" dirty="0">
                <a:latin typeface="Times New Roman"/>
                <a:cs typeface="Times New Roman"/>
              </a:rPr>
              <a:t>	unsigned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len1,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len2)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{ </a:t>
            </a:r>
            <a:r>
              <a:rPr sz="2000" dirty="0">
                <a:latin typeface="Times New Roman"/>
                <a:cs typeface="Times New Roman"/>
              </a:rPr>
              <a:t>char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temp[256];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69990" y="1807781"/>
            <a:ext cx="1506220" cy="78867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95"/>
              </a:spcBef>
            </a:pP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// length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000FF"/>
                </a:solidFill>
                <a:latin typeface="Times New Roman"/>
                <a:cs typeface="Times New Roman"/>
              </a:rPr>
              <a:t>check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//</a:t>
            </a:r>
            <a:r>
              <a:rPr sz="20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cat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buffers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3545" y="1807781"/>
            <a:ext cx="3535679" cy="1551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>
              <a:lnSpc>
                <a:spcPct val="125200"/>
              </a:lnSpc>
              <a:spcBef>
                <a:spcPts val="90"/>
              </a:spcBef>
              <a:tabLst>
                <a:tab pos="280670" algn="l"/>
              </a:tabLst>
            </a:pPr>
            <a:r>
              <a:rPr sz="2000" spc="-25" dirty="0">
                <a:latin typeface="Times New Roman"/>
                <a:cs typeface="Times New Roman"/>
              </a:rPr>
              <a:t>if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(len1</a:t>
            </a:r>
            <a:r>
              <a:rPr sz="20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+ len2</a:t>
            </a:r>
            <a:r>
              <a:rPr sz="20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&gt; 256)</a:t>
            </a:r>
            <a:r>
              <a:rPr sz="2000" b="1" spc="4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{return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-</a:t>
            </a:r>
            <a:r>
              <a:rPr sz="2000" spc="-25" dirty="0">
                <a:latin typeface="Times New Roman"/>
                <a:cs typeface="Times New Roman"/>
              </a:rPr>
              <a:t>1} </a:t>
            </a:r>
            <a:r>
              <a:rPr sz="2000" dirty="0">
                <a:latin typeface="Times New Roman"/>
                <a:cs typeface="Times New Roman"/>
              </a:rPr>
              <a:t>memcpy(temp,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buf1,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len1); </a:t>
            </a:r>
            <a:r>
              <a:rPr sz="2000" dirty="0">
                <a:latin typeface="Times New Roman"/>
                <a:cs typeface="Times New Roman"/>
              </a:rPr>
              <a:t>memcpy(temp+len1,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buf2,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len2); do-something(temp);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69990" y="3024822"/>
            <a:ext cx="99568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// do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stuff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5710" y="3406457"/>
            <a:ext cx="1365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890395" y="4800485"/>
          <a:ext cx="5526405" cy="12338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8540"/>
                <a:gridCol w="4224655"/>
                <a:gridCol w="283210"/>
              </a:tblGrid>
              <a:tr h="368935">
                <a:tc>
                  <a:txBody>
                    <a:bodyPr/>
                    <a:lstStyle/>
                    <a:p>
                      <a:pPr marL="31750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if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2620"/>
                        </a:lnSpc>
                        <a:tabLst>
                          <a:tab pos="2022475" algn="l"/>
                        </a:tabLst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len1</a:t>
                      </a:r>
                      <a:r>
                        <a:rPr sz="2400" b="1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b="1" spc="-2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0x80,</a:t>
                      </a:r>
                      <a:r>
                        <a:rPr sz="2400" b="1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	len2</a:t>
                      </a:r>
                      <a:r>
                        <a:rPr sz="2400" b="1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b="1" spc="-3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0xffffff80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864869">
                <a:tc>
                  <a:txBody>
                    <a:bodyPr/>
                    <a:lstStyle/>
                    <a:p>
                      <a:pPr marL="641985">
                        <a:lnSpc>
                          <a:spcPts val="287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⇒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31750">
                        <a:lnSpc>
                          <a:spcPts val="2820"/>
                        </a:lnSpc>
                        <a:spcBef>
                          <a:spcPts val="1025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Second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287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len1+len2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ts val="2820"/>
                        </a:lnSpc>
                        <a:spcBef>
                          <a:spcPts val="1025"/>
                        </a:spcBef>
                        <a:tabLst>
                          <a:tab pos="1464310" algn="l"/>
                        </a:tabLst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memcpy()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will</a:t>
                      </a:r>
                      <a:r>
                        <a:rPr sz="2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overflow</a:t>
                      </a:r>
                      <a:r>
                        <a:rPr sz="2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heap</a:t>
                      </a:r>
                      <a:r>
                        <a:rPr sz="2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!!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4175" y="3295015"/>
            <a:ext cx="3456304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sng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Format String</a:t>
            </a:r>
            <a:r>
              <a:rPr u="sng" spc="-40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 </a:t>
            </a:r>
            <a:r>
              <a:rPr u="sng" spc="-25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Bug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337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</a:pPr>
            <a:r>
              <a:rPr dirty="0"/>
              <a:t>Format string</a:t>
            </a:r>
            <a:r>
              <a:rPr spc="-30" dirty="0"/>
              <a:t> </a:t>
            </a:r>
            <a:r>
              <a:rPr spc="-10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146365"/>
            <a:ext cx="8049259" cy="439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95805" marR="3323590" indent="-152400">
              <a:lnSpc>
                <a:spcPct val="120000"/>
              </a:lnSpc>
              <a:spcBef>
                <a:spcPts val="100"/>
              </a:spcBef>
              <a:tabLst>
                <a:tab pos="4585335" algn="l"/>
              </a:tabLst>
            </a:pPr>
            <a:r>
              <a:rPr sz="2400" b="1" dirty="0">
                <a:solidFill>
                  <a:srgbClr val="000090"/>
                </a:solidFill>
                <a:latin typeface="Times New Roman"/>
                <a:cs typeface="Times New Roman"/>
              </a:rPr>
              <a:t>int</a:t>
            </a:r>
            <a:r>
              <a:rPr sz="2400" b="1" spc="-3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90"/>
                </a:solidFill>
                <a:latin typeface="Times New Roman"/>
                <a:cs typeface="Times New Roman"/>
              </a:rPr>
              <a:t>func(char</a:t>
            </a:r>
            <a:r>
              <a:rPr sz="2400" b="1" spc="-110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90"/>
                </a:solidFill>
                <a:latin typeface="Times New Roman"/>
                <a:cs typeface="Times New Roman"/>
              </a:rPr>
              <a:t>*user)</a:t>
            </a:r>
            <a:r>
              <a:rPr sz="2400" b="1" dirty="0">
                <a:solidFill>
                  <a:srgbClr val="000090"/>
                </a:solidFill>
                <a:latin typeface="Times New Roman"/>
                <a:cs typeface="Times New Roman"/>
              </a:rPr>
              <a:t>	</a:t>
            </a:r>
            <a:r>
              <a:rPr sz="2400" b="1" spc="-50" dirty="0">
                <a:solidFill>
                  <a:srgbClr val="000090"/>
                </a:solidFill>
                <a:latin typeface="Times New Roman"/>
                <a:cs typeface="Times New Roman"/>
              </a:rPr>
              <a:t>{ </a:t>
            </a:r>
            <a:r>
              <a:rPr sz="2400" b="1" dirty="0">
                <a:solidFill>
                  <a:srgbClr val="000090"/>
                </a:solidFill>
                <a:latin typeface="Times New Roman"/>
                <a:cs typeface="Times New Roman"/>
              </a:rPr>
              <a:t>fprintf(</a:t>
            </a:r>
            <a:r>
              <a:rPr sz="2400" b="1" spc="-70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0090"/>
                </a:solidFill>
                <a:latin typeface="Times New Roman"/>
                <a:cs typeface="Times New Roman"/>
              </a:rPr>
              <a:t>stderr,</a:t>
            </a:r>
            <a:r>
              <a:rPr sz="2400" b="1" spc="-6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90"/>
                </a:solidFill>
                <a:latin typeface="Times New Roman"/>
                <a:cs typeface="Times New Roman"/>
              </a:rPr>
              <a:t>user);</a:t>
            </a:r>
            <a:endParaRPr sz="2400">
              <a:latin typeface="Times New Roman"/>
              <a:cs typeface="Times New Roman"/>
            </a:endParaRPr>
          </a:p>
          <a:p>
            <a:pPr marL="1843405">
              <a:lnSpc>
                <a:spcPct val="100000"/>
              </a:lnSpc>
              <a:spcBef>
                <a:spcPts val="120"/>
              </a:spcBef>
            </a:pPr>
            <a:r>
              <a:rPr sz="2400" b="1" spc="-50" dirty="0">
                <a:solidFill>
                  <a:srgbClr val="00009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0"/>
              </a:spcBef>
              <a:tabLst>
                <a:tab pos="1580515" algn="l"/>
                <a:tab pos="2846705" algn="l"/>
                <a:tab pos="7536815" algn="l"/>
              </a:tabLst>
            </a:pPr>
            <a:r>
              <a:rPr sz="275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Problem</a:t>
            </a:r>
            <a:r>
              <a:rPr sz="2750" spc="-10" dirty="0">
                <a:latin typeface="Times New Roman"/>
                <a:cs typeface="Times New Roman"/>
              </a:rPr>
              <a:t>:</a:t>
            </a:r>
            <a:r>
              <a:rPr sz="2750" dirty="0">
                <a:latin typeface="Times New Roman"/>
                <a:cs typeface="Times New Roman"/>
              </a:rPr>
              <a:t>	what</a:t>
            </a:r>
            <a:r>
              <a:rPr sz="2750" spc="85" dirty="0">
                <a:latin typeface="Times New Roman"/>
                <a:cs typeface="Times New Roman"/>
              </a:rPr>
              <a:t> </a:t>
            </a:r>
            <a:r>
              <a:rPr sz="2750" spc="-25" dirty="0">
                <a:latin typeface="Times New Roman"/>
                <a:cs typeface="Times New Roman"/>
              </a:rPr>
              <a:t>if</a:t>
            </a:r>
            <a:r>
              <a:rPr sz="2750" dirty="0">
                <a:latin typeface="Times New Roman"/>
                <a:cs typeface="Times New Roman"/>
              </a:rPr>
              <a:t>	*user</a:t>
            </a:r>
            <a:r>
              <a:rPr sz="2750" spc="6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=</a:t>
            </a:r>
            <a:r>
              <a:rPr sz="2750" spc="8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“%s%s%s%s%s%s%s”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25" dirty="0">
                <a:latin typeface="Times New Roman"/>
                <a:cs typeface="Times New Roman"/>
              </a:rPr>
              <a:t>??</a:t>
            </a:r>
            <a:endParaRPr sz="2750">
              <a:latin typeface="Times New Roman"/>
              <a:cs typeface="Times New Roman"/>
            </a:endParaRPr>
          </a:p>
          <a:p>
            <a:pPr marL="561340" indent="-228600">
              <a:lnSpc>
                <a:spcPct val="100000"/>
              </a:lnSpc>
              <a:spcBef>
                <a:spcPts val="103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  <a:tab pos="4650105" algn="l"/>
              </a:tabLst>
            </a:pP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crash: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DoS.</a:t>
            </a:r>
            <a:endParaRPr sz="2400">
              <a:latin typeface="Times New Roman"/>
              <a:cs typeface="Times New Roman"/>
            </a:endParaRPr>
          </a:p>
          <a:p>
            <a:pPr marL="561340" indent="-228600">
              <a:lnSpc>
                <a:spcPct val="100000"/>
              </a:lnSpc>
              <a:spcBef>
                <a:spcPts val="102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  <a:tab pos="6026150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print memory</a:t>
            </a:r>
            <a:r>
              <a:rPr sz="2400" spc="-10" dirty="0">
                <a:latin typeface="Times New Roman"/>
                <a:cs typeface="Times New Roman"/>
              </a:rPr>
              <a:t> contents.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Privacy?</a:t>
            </a:r>
            <a:endParaRPr sz="2400">
              <a:latin typeface="Times New Roman"/>
              <a:cs typeface="Times New Roman"/>
            </a:endParaRPr>
          </a:p>
          <a:p>
            <a:pPr marL="561340" indent="-228600">
              <a:lnSpc>
                <a:spcPct val="100000"/>
              </a:lnSpc>
              <a:spcBef>
                <a:spcPts val="95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  <a:tab pos="2940050" algn="l"/>
              </a:tabLst>
            </a:pPr>
            <a:r>
              <a:rPr sz="2400" dirty="0">
                <a:latin typeface="Times New Roman"/>
                <a:cs typeface="Times New Roman"/>
              </a:rPr>
              <a:t>Full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exploit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using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solidFill>
                  <a:srgbClr val="000090"/>
                </a:solidFill>
                <a:latin typeface="Times New Roman"/>
                <a:cs typeface="Times New Roman"/>
              </a:rPr>
              <a:t>user</a:t>
            </a:r>
            <a:r>
              <a:rPr sz="2400" spc="-70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90"/>
                </a:solidFill>
                <a:latin typeface="Times New Roman"/>
                <a:cs typeface="Times New Roman"/>
              </a:rPr>
              <a:t>=</a:t>
            </a:r>
            <a:r>
              <a:rPr sz="2400" spc="-1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90"/>
                </a:solidFill>
                <a:latin typeface="Times New Roman"/>
                <a:cs typeface="Times New Roman"/>
              </a:rPr>
              <a:t>“%n”</a:t>
            </a:r>
            <a:r>
              <a:rPr sz="2400" spc="-3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90"/>
                </a:solidFill>
                <a:latin typeface="Times New Roman"/>
                <a:cs typeface="Times New Roman"/>
              </a:rPr>
              <a:t>(directive</a:t>
            </a:r>
            <a:r>
              <a:rPr sz="2400" spc="-30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90"/>
                </a:solidFill>
                <a:latin typeface="Times New Roman"/>
                <a:cs typeface="Times New Roman"/>
              </a:rPr>
              <a:t>to</a:t>
            </a:r>
            <a:r>
              <a:rPr sz="2400" spc="-1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90"/>
                </a:solidFill>
                <a:latin typeface="Times New Roman"/>
                <a:cs typeface="Times New Roman"/>
              </a:rPr>
              <a:t>allow</a:t>
            </a:r>
            <a:r>
              <a:rPr sz="2400" spc="4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90"/>
                </a:solidFill>
                <a:latin typeface="Times New Roman"/>
                <a:cs typeface="Times New Roman"/>
              </a:rPr>
              <a:t>writing</a:t>
            </a:r>
            <a:r>
              <a:rPr sz="2400" spc="-20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0090"/>
                </a:solidFill>
                <a:latin typeface="Times New Roman"/>
                <a:cs typeface="Times New Roman"/>
              </a:rPr>
              <a:t>in</a:t>
            </a:r>
            <a:endParaRPr sz="2400">
              <a:latin typeface="Times New Roman"/>
              <a:cs typeface="Times New Roman"/>
            </a:endParaRPr>
          </a:p>
          <a:p>
            <a:pPr marL="561975">
              <a:lnSpc>
                <a:spcPct val="100000"/>
              </a:lnSpc>
              <a:spcBef>
                <a:spcPts val="45"/>
              </a:spcBef>
            </a:pPr>
            <a:r>
              <a:rPr sz="2400" spc="-10" dirty="0">
                <a:solidFill>
                  <a:srgbClr val="000090"/>
                </a:solidFill>
                <a:latin typeface="Times New Roman"/>
                <a:cs typeface="Times New Roman"/>
              </a:rPr>
              <a:t>memory)</a:t>
            </a:r>
            <a:endParaRPr sz="2400">
              <a:latin typeface="Times New Roman"/>
              <a:cs typeface="Times New Roman"/>
            </a:endParaRPr>
          </a:p>
          <a:p>
            <a:pPr marL="561340" indent="-269875">
              <a:lnSpc>
                <a:spcPct val="100000"/>
              </a:lnSpc>
              <a:spcBef>
                <a:spcPts val="1055"/>
              </a:spcBef>
              <a:buClr>
                <a:srgbClr val="9B2C1F"/>
              </a:buClr>
              <a:buSzPct val="87272"/>
              <a:buFont typeface="Segoe UI Symbol"/>
              <a:buChar char="⚫"/>
              <a:tabLst>
                <a:tab pos="561340" algn="l"/>
              </a:tabLst>
            </a:pPr>
            <a:r>
              <a:rPr sz="27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Correct</a:t>
            </a:r>
            <a:r>
              <a:rPr sz="2750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</a:t>
            </a:r>
            <a:r>
              <a:rPr sz="2750" u="sng" spc="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(always</a:t>
            </a:r>
            <a:r>
              <a:rPr sz="2750" u="sng" spc="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be</a:t>
            </a:r>
            <a:r>
              <a:rPr sz="2750" u="sng" spc="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explicit</a:t>
            </a:r>
            <a:r>
              <a:rPr sz="2750" u="sng" spc="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about</a:t>
            </a:r>
            <a:r>
              <a:rPr sz="2750" u="sng" spc="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your</a:t>
            </a:r>
            <a:r>
              <a:rPr sz="2750" u="sng" spc="1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5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format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5850" y="5521007"/>
            <a:ext cx="114236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string</a:t>
            </a:r>
            <a:r>
              <a:rPr sz="2750" u="sng" spc="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5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)</a:t>
            </a:r>
            <a:r>
              <a:rPr sz="2750" spc="-25" dirty="0">
                <a:latin typeface="Times New Roman"/>
                <a:cs typeface="Times New Roman"/>
              </a:rPr>
              <a:t>: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35250" y="5568632"/>
            <a:ext cx="36798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90"/>
                </a:solidFill>
                <a:latin typeface="Times New Roman"/>
                <a:cs typeface="Times New Roman"/>
              </a:rPr>
              <a:t>fprintf(</a:t>
            </a:r>
            <a:r>
              <a:rPr sz="2400" b="1" spc="-2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90"/>
                </a:solidFill>
                <a:latin typeface="Times New Roman"/>
                <a:cs typeface="Times New Roman"/>
              </a:rPr>
              <a:t>stdout,</a:t>
            </a:r>
            <a:r>
              <a:rPr sz="2400" b="1" spc="-20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90"/>
                </a:solidFill>
                <a:latin typeface="Times New Roman"/>
                <a:cs typeface="Times New Roman"/>
              </a:rPr>
              <a:t>“%s”,</a:t>
            </a:r>
            <a:r>
              <a:rPr sz="2400" b="1" spc="-2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90"/>
                </a:solidFill>
                <a:latin typeface="Times New Roman"/>
                <a:cs typeface="Times New Roman"/>
              </a:rPr>
              <a:t>user);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67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Vulnerable</a:t>
            </a:r>
            <a:r>
              <a:rPr spc="-150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396745"/>
            <a:ext cx="4319905" cy="3491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format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string.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Times New Roman"/>
                <a:cs typeface="Times New Roman"/>
              </a:rPr>
              <a:t>Printing:</a:t>
            </a:r>
            <a:endParaRPr sz="240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imes New Roman"/>
                <a:cs typeface="Times New Roman"/>
              </a:rPr>
              <a:t>printf,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fprintf,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sprintf,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  <a:spcBef>
                <a:spcPts val="650"/>
              </a:spcBef>
            </a:pPr>
            <a:r>
              <a:rPr sz="2400" dirty="0">
                <a:latin typeface="Times New Roman"/>
                <a:cs typeface="Times New Roman"/>
              </a:rPr>
              <a:t>vprintf,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vfprintf,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vsprintf,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Logging:</a:t>
            </a:r>
            <a:endParaRPr sz="240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  <a:spcBef>
                <a:spcPts val="650"/>
              </a:spcBef>
              <a:tabLst>
                <a:tab pos="1296035" algn="l"/>
              </a:tabLst>
            </a:pPr>
            <a:r>
              <a:rPr sz="2400" spc="-10" dirty="0">
                <a:latin typeface="Times New Roman"/>
                <a:cs typeface="Times New Roman"/>
              </a:rPr>
              <a:t>syslog,</a:t>
            </a:r>
            <a:r>
              <a:rPr sz="2400" dirty="0">
                <a:latin typeface="Times New Roman"/>
                <a:cs typeface="Times New Roman"/>
              </a:rPr>
              <a:t>	err,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warn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2089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Exploit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857" y="1050439"/>
            <a:ext cx="6941820" cy="4315460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655"/>
              </a:spcBef>
              <a:buClr>
                <a:srgbClr val="D24717"/>
              </a:buClr>
              <a:buSzPct val="87272"/>
              <a:buFont typeface="Segoe UI Symbol"/>
              <a:buChar char="⚫"/>
              <a:tabLst>
                <a:tab pos="287020" algn="l"/>
              </a:tabLst>
            </a:pPr>
            <a:r>
              <a:rPr sz="2750" dirty="0">
                <a:latin typeface="Times New Roman"/>
                <a:cs typeface="Times New Roman"/>
              </a:rPr>
              <a:t>Dumping</a:t>
            </a:r>
            <a:r>
              <a:rPr sz="2750" spc="14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arbitrary</a:t>
            </a:r>
            <a:r>
              <a:rPr sz="2750" spc="15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memory:</a:t>
            </a:r>
            <a:endParaRPr sz="275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133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2400" spc="-20" dirty="0">
                <a:latin typeface="Times New Roman"/>
                <a:cs typeface="Times New Roman"/>
              </a:rPr>
              <a:t>Walk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up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stack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until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desired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found.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185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printf(</a:t>
            </a:r>
            <a:r>
              <a:rPr sz="2400" spc="-10" dirty="0">
                <a:latin typeface="Times New Roman"/>
                <a:cs typeface="Times New Roman"/>
              </a:rPr>
              <a:t> “%08x.%08x.%08x.%08x|%s|”)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Clr>
                <a:srgbClr val="9B2C1F"/>
              </a:buClr>
              <a:buFont typeface="Segoe UI Symbol"/>
              <a:buChar char="⚫"/>
            </a:pP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215"/>
              </a:spcBef>
              <a:buClr>
                <a:srgbClr val="9B2C1F"/>
              </a:buClr>
              <a:buFont typeface="Segoe UI Symbol"/>
              <a:buChar char="⚫"/>
            </a:pP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D24717"/>
              </a:buClr>
              <a:buSzPct val="87272"/>
              <a:buFont typeface="Segoe UI Symbol"/>
              <a:buChar char="⚫"/>
              <a:tabLst>
                <a:tab pos="287020" algn="l"/>
              </a:tabLst>
            </a:pPr>
            <a:r>
              <a:rPr sz="2750" dirty="0">
                <a:latin typeface="Times New Roman"/>
                <a:cs typeface="Times New Roman"/>
              </a:rPr>
              <a:t>Writing</a:t>
            </a:r>
            <a:r>
              <a:rPr sz="2750" spc="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to</a:t>
            </a:r>
            <a:r>
              <a:rPr sz="2750" spc="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arbitrary</a:t>
            </a:r>
            <a:r>
              <a:rPr sz="2750" spc="6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memory:</a:t>
            </a:r>
            <a:endParaRPr sz="275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133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  <a:tab pos="4107179" algn="l"/>
                <a:tab pos="4462780" algn="l"/>
              </a:tabLst>
            </a:pPr>
            <a:r>
              <a:rPr sz="2400" dirty="0">
                <a:latin typeface="Times New Roman"/>
                <a:cs typeface="Times New Roman"/>
              </a:rPr>
              <a:t>printf(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“hello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%n”,</a:t>
            </a:r>
            <a:r>
              <a:rPr sz="2400" spc="-10" dirty="0">
                <a:latin typeface="Times New Roman"/>
                <a:cs typeface="Times New Roman"/>
              </a:rPr>
              <a:t> &amp;temp)</a:t>
            </a:r>
            <a:r>
              <a:rPr sz="2400" dirty="0">
                <a:latin typeface="Times New Roman"/>
                <a:cs typeface="Times New Roman"/>
              </a:rPr>
              <a:t>	-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dirty="0">
                <a:latin typeface="Times New Roman"/>
                <a:cs typeface="Times New Roman"/>
              </a:rPr>
              <a:t>	writes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‘6’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temp.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185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printf( </a:t>
            </a:r>
            <a:r>
              <a:rPr sz="2400" spc="-10" dirty="0">
                <a:latin typeface="Times New Roman"/>
                <a:cs typeface="Times New Roman"/>
              </a:rPr>
              <a:t>“%08x.%08x.%08x.%08x.%n”)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3225" y="3295015"/>
            <a:ext cx="341376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sng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Platform</a:t>
            </a:r>
            <a:r>
              <a:rPr u="sng" spc="-30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 </a:t>
            </a:r>
            <a:r>
              <a:rPr u="sng" spc="-10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Defenses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989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</a:pPr>
            <a:r>
              <a:rPr dirty="0"/>
              <a:t>Preventing</a:t>
            </a:r>
            <a:r>
              <a:rPr spc="-10" dirty="0"/>
              <a:t> </a:t>
            </a:r>
            <a:r>
              <a:rPr dirty="0"/>
              <a:t>hijacking </a:t>
            </a:r>
            <a:r>
              <a:rPr spc="-10" dirty="0"/>
              <a:t>attacks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657" y="1110805"/>
            <a:ext cx="3056255" cy="131127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505"/>
              </a:spcBef>
              <a:buClr>
                <a:srgbClr val="D24717"/>
              </a:buClr>
              <a:buSzPct val="76923"/>
              <a:buAutoNum type="arabicPeriod"/>
              <a:tabLst>
                <a:tab pos="546100" algn="l"/>
              </a:tabLst>
            </a:pPr>
            <a:r>
              <a:rPr sz="2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Fix</a:t>
            </a:r>
            <a:r>
              <a:rPr sz="2600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bugs</a:t>
            </a:r>
            <a:r>
              <a:rPr sz="2600" spc="-2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821055" lvl="1" indent="-242570">
              <a:lnSpc>
                <a:spcPct val="100000"/>
              </a:lnSpc>
              <a:spcBef>
                <a:spcPts val="409"/>
              </a:spcBef>
              <a:buClr>
                <a:srgbClr val="9B2C1F"/>
              </a:buClr>
              <a:buSzPct val="82692"/>
              <a:buFont typeface="Segoe UI Symbol"/>
              <a:buChar char="⚫"/>
              <a:tabLst>
                <a:tab pos="821055" algn="l"/>
              </a:tabLst>
            </a:pPr>
            <a:r>
              <a:rPr sz="2600" dirty="0">
                <a:latin typeface="Times New Roman"/>
                <a:cs typeface="Times New Roman"/>
              </a:rPr>
              <a:t>Audit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software</a:t>
            </a:r>
            <a:endParaRPr sz="2600">
              <a:latin typeface="Times New Roman"/>
              <a:cs typeface="Times New Roman"/>
            </a:endParaRPr>
          </a:p>
          <a:p>
            <a:pPr marL="1109345" lvl="2" indent="-219710">
              <a:lnSpc>
                <a:spcPct val="100000"/>
              </a:lnSpc>
              <a:spcBef>
                <a:spcPts val="480"/>
              </a:spcBef>
              <a:buClr>
                <a:srgbClr val="A18E6A"/>
              </a:buClr>
              <a:buSzPct val="79069"/>
              <a:buFont typeface="Segoe UI Symbol"/>
              <a:buChar char="⚫"/>
              <a:tabLst>
                <a:tab pos="1109345" algn="l"/>
              </a:tabLst>
            </a:pPr>
            <a:r>
              <a:rPr sz="2150" dirty="0">
                <a:latin typeface="Times New Roman"/>
                <a:cs typeface="Times New Roman"/>
              </a:rPr>
              <a:t>Automated</a:t>
            </a:r>
            <a:r>
              <a:rPr sz="2150" spc="210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tools: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9903" y="2064702"/>
            <a:ext cx="280289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82370" algn="l"/>
              </a:tabLst>
            </a:pPr>
            <a:r>
              <a:rPr sz="2150" spc="-10" dirty="0">
                <a:latin typeface="Times New Roman"/>
                <a:cs typeface="Times New Roman"/>
              </a:rPr>
              <a:t>Coverity,</a:t>
            </a:r>
            <a:r>
              <a:rPr sz="2150" dirty="0">
                <a:latin typeface="Times New Roman"/>
                <a:cs typeface="Times New Roman"/>
              </a:rPr>
              <a:t>	</a:t>
            </a:r>
            <a:r>
              <a:rPr sz="2150" spc="-10" dirty="0">
                <a:latin typeface="Times New Roman"/>
                <a:cs typeface="Times New Roman"/>
              </a:rPr>
              <a:t>Prefast/Prefix.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657" y="2376763"/>
            <a:ext cx="8004175" cy="33381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821055" indent="-242570">
              <a:lnSpc>
                <a:spcPct val="100000"/>
              </a:lnSpc>
              <a:spcBef>
                <a:spcPts val="675"/>
              </a:spcBef>
              <a:buClr>
                <a:srgbClr val="9B2C1F"/>
              </a:buClr>
              <a:buSzPct val="82692"/>
              <a:buFont typeface="Segoe UI Symbol"/>
              <a:buChar char="⚫"/>
              <a:tabLst>
                <a:tab pos="821055" algn="l"/>
                <a:tab pos="6525259" algn="l"/>
              </a:tabLst>
            </a:pPr>
            <a:r>
              <a:rPr sz="2600" dirty="0">
                <a:latin typeface="Times New Roman"/>
                <a:cs typeface="Times New Roman"/>
              </a:rPr>
              <a:t>Rewrite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software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type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safe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languange</a:t>
            </a:r>
            <a:r>
              <a:rPr sz="2600" dirty="0">
                <a:latin typeface="Times New Roman"/>
                <a:cs typeface="Times New Roman"/>
              </a:rPr>
              <a:t>	(Java,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ML)</a:t>
            </a:r>
            <a:endParaRPr sz="2600">
              <a:latin typeface="Times New Roman"/>
              <a:cs typeface="Times New Roman"/>
            </a:endParaRPr>
          </a:p>
          <a:p>
            <a:pPr marL="1109345" lvl="1" indent="-219710">
              <a:lnSpc>
                <a:spcPct val="100000"/>
              </a:lnSpc>
              <a:spcBef>
                <a:spcPts val="484"/>
              </a:spcBef>
              <a:buClr>
                <a:srgbClr val="A18E6A"/>
              </a:buClr>
              <a:buSzPct val="79069"/>
              <a:buFont typeface="Segoe UI Symbol"/>
              <a:buChar char="⚫"/>
              <a:tabLst>
                <a:tab pos="1109345" algn="l"/>
              </a:tabLst>
            </a:pPr>
            <a:r>
              <a:rPr sz="2150" dirty="0">
                <a:latin typeface="Times New Roman"/>
                <a:cs typeface="Times New Roman"/>
              </a:rPr>
              <a:t>Difficult</a:t>
            </a:r>
            <a:r>
              <a:rPr sz="2150" spc="11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for</a:t>
            </a:r>
            <a:r>
              <a:rPr sz="2150" spc="15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existing</a:t>
            </a:r>
            <a:r>
              <a:rPr sz="2150" spc="8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(legacy)</a:t>
            </a:r>
            <a:r>
              <a:rPr sz="2150" spc="6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code</a:t>
            </a:r>
            <a:r>
              <a:rPr sz="2150" spc="55" dirty="0">
                <a:latin typeface="Times New Roman"/>
                <a:cs typeface="Times New Roman"/>
              </a:rPr>
              <a:t> </a:t>
            </a:r>
            <a:r>
              <a:rPr sz="2150" spc="-50" dirty="0">
                <a:latin typeface="Times New Roman"/>
                <a:cs typeface="Times New Roman"/>
              </a:rPr>
              <a:t>…</a:t>
            </a:r>
            <a:endParaRPr sz="2150">
              <a:latin typeface="Times New Roman"/>
              <a:cs typeface="Times New Roman"/>
            </a:endParaRPr>
          </a:p>
          <a:p>
            <a:pPr marL="533400" indent="-520700">
              <a:lnSpc>
                <a:spcPct val="100000"/>
              </a:lnSpc>
              <a:spcBef>
                <a:spcPts val="2375"/>
              </a:spcBef>
              <a:buClr>
                <a:srgbClr val="D24717"/>
              </a:buClr>
              <a:buSzPct val="82692"/>
              <a:buAutoNum type="arabicPeriod" startAt="2"/>
              <a:tabLst>
                <a:tab pos="533400" algn="l"/>
                <a:tab pos="3188335" algn="l"/>
              </a:tabLst>
            </a:pPr>
            <a:r>
              <a:rPr sz="2600" dirty="0">
                <a:latin typeface="Times New Roman"/>
                <a:cs typeface="Times New Roman"/>
              </a:rPr>
              <a:t>Concede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overflow,</a:t>
            </a:r>
            <a:r>
              <a:rPr sz="2600" dirty="0">
                <a:latin typeface="Times New Roman"/>
                <a:cs typeface="Times New Roman"/>
              </a:rPr>
              <a:t>	but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prevent</a:t>
            </a:r>
            <a:r>
              <a:rPr sz="26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code</a:t>
            </a:r>
            <a:r>
              <a:rPr sz="2600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execution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Clr>
                <a:srgbClr val="D24717"/>
              </a:buClr>
              <a:buFont typeface="Times New Roman"/>
              <a:buAutoNum type="arabicPeriod" startAt="2"/>
            </a:pPr>
            <a:endParaRPr sz="26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rgbClr val="D24717"/>
              </a:buClr>
              <a:buSzPct val="82692"/>
              <a:buAutoNum type="arabicPeriod" startAt="2"/>
              <a:tabLst>
                <a:tab pos="469900" algn="l"/>
              </a:tabLst>
            </a:pPr>
            <a:r>
              <a:rPr sz="2600" dirty="0">
                <a:latin typeface="Times New Roman"/>
                <a:cs typeface="Times New Roman"/>
              </a:rPr>
              <a:t>Add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runtime</a:t>
            </a:r>
            <a:r>
              <a:rPr sz="2600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code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detect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overflows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exploits</a:t>
            </a:r>
            <a:endParaRPr sz="2600">
              <a:latin typeface="Times New Roman"/>
              <a:cs typeface="Times New Roman"/>
            </a:endParaRPr>
          </a:p>
          <a:p>
            <a:pPr marL="821055" lvl="1" indent="-242570">
              <a:lnSpc>
                <a:spcPct val="100000"/>
              </a:lnSpc>
              <a:spcBef>
                <a:spcPts val="409"/>
              </a:spcBef>
              <a:buClr>
                <a:srgbClr val="9B2C1F"/>
              </a:buClr>
              <a:buSzPct val="82692"/>
              <a:buFont typeface="Segoe UI Symbol"/>
              <a:buChar char="⚫"/>
              <a:tabLst>
                <a:tab pos="821055" algn="l"/>
              </a:tabLst>
            </a:pPr>
            <a:r>
              <a:rPr sz="2600" dirty="0">
                <a:latin typeface="Times New Roman"/>
                <a:cs typeface="Times New Roman"/>
              </a:rPr>
              <a:t>Halt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when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overflow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exploit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detected</a:t>
            </a:r>
            <a:endParaRPr sz="2600">
              <a:latin typeface="Times New Roman"/>
              <a:cs typeface="Times New Roman"/>
            </a:endParaRPr>
          </a:p>
          <a:p>
            <a:pPr marL="821055" lvl="1" indent="-242570">
              <a:lnSpc>
                <a:spcPct val="100000"/>
              </a:lnSpc>
              <a:spcBef>
                <a:spcPts val="409"/>
              </a:spcBef>
              <a:buClr>
                <a:srgbClr val="9B2C1F"/>
              </a:buClr>
              <a:buSzPct val="82692"/>
              <a:buFont typeface="Segoe UI Symbol"/>
              <a:buChar char="⚫"/>
              <a:tabLst>
                <a:tab pos="821055" algn="l"/>
                <a:tab pos="2628900" algn="l"/>
              </a:tabLst>
            </a:pPr>
            <a:r>
              <a:rPr sz="2600" spc="-10" dirty="0">
                <a:solidFill>
                  <a:srgbClr val="000090"/>
                </a:solidFill>
                <a:latin typeface="Times New Roman"/>
                <a:cs typeface="Times New Roman"/>
              </a:rPr>
              <a:t>StackGuard,</a:t>
            </a:r>
            <a:r>
              <a:rPr sz="2600" dirty="0">
                <a:solidFill>
                  <a:srgbClr val="000090"/>
                </a:solidFill>
                <a:latin typeface="Times New Roman"/>
                <a:cs typeface="Times New Roman"/>
              </a:rPr>
              <a:t>	LibSafe,</a:t>
            </a:r>
            <a:r>
              <a:rPr sz="2600" spc="-7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600" spc="-60" dirty="0">
                <a:solidFill>
                  <a:srgbClr val="000090"/>
                </a:solidFill>
                <a:latin typeface="Times New Roman"/>
                <a:cs typeface="Times New Roman"/>
              </a:rPr>
              <a:t>…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657" y="242824"/>
            <a:ext cx="771398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23025" algn="l"/>
              </a:tabLst>
            </a:pPr>
            <a:r>
              <a:rPr dirty="0"/>
              <a:t>Marking</a:t>
            </a:r>
            <a:r>
              <a:rPr spc="-5" dirty="0"/>
              <a:t> </a:t>
            </a:r>
            <a:r>
              <a:rPr dirty="0"/>
              <a:t>memory</a:t>
            </a:r>
            <a:r>
              <a:rPr spc="5" dirty="0"/>
              <a:t> </a:t>
            </a:r>
            <a:r>
              <a:rPr dirty="0"/>
              <a:t>as</a:t>
            </a:r>
            <a:r>
              <a:rPr spc="-40" dirty="0"/>
              <a:t> </a:t>
            </a:r>
            <a:r>
              <a:rPr dirty="0"/>
              <a:t>non-</a:t>
            </a:r>
            <a:r>
              <a:rPr spc="-10" dirty="0"/>
              <a:t>execute</a:t>
            </a:r>
            <a:r>
              <a:rPr dirty="0"/>
              <a:t>	</a:t>
            </a:r>
            <a:r>
              <a:rPr spc="-10" dirty="0"/>
              <a:t>(W^X)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375" y="891286"/>
            <a:ext cx="7587615" cy="229044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450"/>
              </a:spcBef>
            </a:pPr>
            <a:r>
              <a:rPr sz="2600" dirty="0">
                <a:latin typeface="Times New Roman"/>
                <a:cs typeface="Times New Roman"/>
              </a:rPr>
              <a:t>Prevent attack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code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execution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by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marking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stack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heap </a:t>
            </a:r>
            <a:r>
              <a:rPr sz="2600" dirty="0">
                <a:latin typeface="Times New Roman"/>
                <a:cs typeface="Times New Roman"/>
              </a:rPr>
              <a:t>as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non-executable</a:t>
            </a:r>
            <a:endParaRPr sz="26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2065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286385" algn="l"/>
                <a:tab pos="4051300" algn="l"/>
                <a:tab pos="6483985" algn="l"/>
              </a:tabLst>
            </a:pPr>
            <a:r>
              <a:rPr sz="2400" spc="-20" dirty="0">
                <a:latin typeface="Times New Roman"/>
                <a:cs typeface="Times New Roman"/>
              </a:rPr>
              <a:t>NX-</a:t>
            </a:r>
            <a:r>
              <a:rPr sz="2400" dirty="0">
                <a:latin typeface="Times New Roman"/>
                <a:cs typeface="Times New Roman"/>
              </a:rPr>
              <a:t>bit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AMD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Athlon </a:t>
            </a:r>
            <a:r>
              <a:rPr sz="2400" spc="-25" dirty="0">
                <a:latin typeface="Times New Roman"/>
                <a:cs typeface="Times New Roman"/>
              </a:rPr>
              <a:t>64,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XD-</a:t>
            </a:r>
            <a:r>
              <a:rPr sz="2400" dirty="0">
                <a:latin typeface="Times New Roman"/>
                <a:cs typeface="Times New Roman"/>
              </a:rPr>
              <a:t>bit 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Intel </a:t>
            </a:r>
            <a:r>
              <a:rPr sz="2400" spc="-25" dirty="0">
                <a:latin typeface="Times New Roman"/>
                <a:cs typeface="Times New Roman"/>
              </a:rPr>
              <a:t>P4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Prescott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220"/>
              </a:spcBef>
              <a:buClr>
                <a:srgbClr val="9B2C1F"/>
              </a:buClr>
              <a:buSzPct val="86046"/>
              <a:buFont typeface="Segoe UI Symbol"/>
              <a:buChar char="⚫"/>
              <a:tabLst>
                <a:tab pos="561340" algn="l"/>
              </a:tabLst>
            </a:pPr>
            <a:r>
              <a:rPr sz="2150" dirty="0">
                <a:latin typeface="Times New Roman"/>
                <a:cs typeface="Times New Roman"/>
              </a:rPr>
              <a:t>NX</a:t>
            </a:r>
            <a:r>
              <a:rPr sz="2150" spc="9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bit</a:t>
            </a:r>
            <a:r>
              <a:rPr sz="2150" spc="2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in</a:t>
            </a:r>
            <a:r>
              <a:rPr sz="2150" spc="5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every</a:t>
            </a:r>
            <a:r>
              <a:rPr sz="2150" spc="6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Page</a:t>
            </a:r>
            <a:r>
              <a:rPr sz="2150" spc="-5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Table</a:t>
            </a:r>
            <a:r>
              <a:rPr sz="2150" spc="11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Entry</a:t>
            </a:r>
            <a:r>
              <a:rPr sz="2150" spc="55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(PTE)</a:t>
            </a:r>
            <a:endParaRPr sz="215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1155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286385" algn="l"/>
              </a:tabLst>
            </a:pP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Deployment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0732" y="3159823"/>
            <a:ext cx="2994025" cy="960119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95"/>
              </a:spcBef>
              <a:buClr>
                <a:srgbClr val="9B2C1F"/>
              </a:buClr>
              <a:buSzPct val="86046"/>
              <a:buFont typeface="Segoe UI Symbol"/>
              <a:buChar char="⚫"/>
              <a:tabLst>
                <a:tab pos="241300" algn="l"/>
              </a:tabLst>
            </a:pPr>
            <a:r>
              <a:rPr sz="2150" dirty="0">
                <a:latin typeface="Times New Roman"/>
                <a:cs typeface="Times New Roman"/>
              </a:rPr>
              <a:t>Linux</a:t>
            </a:r>
            <a:r>
              <a:rPr sz="2150" spc="7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(via</a:t>
            </a:r>
            <a:r>
              <a:rPr sz="2150" spc="8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PaX</a:t>
            </a:r>
            <a:r>
              <a:rPr sz="2150" spc="114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project);</a:t>
            </a:r>
            <a:endParaRPr sz="21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100"/>
              </a:spcBef>
              <a:buClr>
                <a:srgbClr val="9B2C1F"/>
              </a:buClr>
              <a:buSzPct val="86046"/>
              <a:buFont typeface="Segoe UI Symbol"/>
              <a:buChar char="⚫"/>
              <a:tabLst>
                <a:tab pos="241300" algn="l"/>
              </a:tabLst>
            </a:pPr>
            <a:r>
              <a:rPr sz="2150" dirty="0">
                <a:latin typeface="Times New Roman"/>
                <a:cs typeface="Times New Roman"/>
              </a:rPr>
              <a:t>Windows:</a:t>
            </a:r>
            <a:r>
              <a:rPr sz="2150" spc="9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since</a:t>
            </a:r>
            <a:r>
              <a:rPr sz="2150" spc="3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XP</a:t>
            </a:r>
            <a:r>
              <a:rPr sz="2150" spc="30" dirty="0">
                <a:latin typeface="Times New Roman"/>
                <a:cs typeface="Times New Roman"/>
              </a:rPr>
              <a:t> </a:t>
            </a:r>
            <a:r>
              <a:rPr sz="2150" spc="-25" dirty="0">
                <a:latin typeface="Times New Roman"/>
                <a:cs typeface="Times New Roman"/>
              </a:rPr>
              <a:t>SP2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4480" y="3159823"/>
            <a:ext cx="3771265" cy="960119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195"/>
              </a:spcBef>
            </a:pPr>
            <a:r>
              <a:rPr sz="2150" spc="-10" dirty="0">
                <a:latin typeface="Times New Roman"/>
                <a:cs typeface="Times New Roman"/>
              </a:rPr>
              <a:t>OpenBSD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150" dirty="0">
                <a:latin typeface="Times New Roman"/>
                <a:cs typeface="Times New Roman"/>
              </a:rPr>
              <a:t>(DEP:</a:t>
            </a:r>
            <a:r>
              <a:rPr sz="2150" spc="7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Data</a:t>
            </a:r>
            <a:r>
              <a:rPr sz="2150" spc="9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execution</a:t>
            </a:r>
            <a:r>
              <a:rPr sz="2150" spc="130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protection)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33370" y="4138231"/>
            <a:ext cx="3625215" cy="71247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215265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/noexecute=OptIn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AlwaysOn</a:t>
            </a:r>
            <a:endParaRPr sz="2000">
              <a:latin typeface="Times New Roman"/>
              <a:cs typeface="Times New Roman"/>
            </a:endParaRPr>
          </a:p>
          <a:p>
            <a:pPr marL="161290">
              <a:lnSpc>
                <a:spcPct val="100000"/>
              </a:lnSpc>
              <a:spcBef>
                <a:spcPts val="305"/>
              </a:spcBef>
            </a:pPr>
            <a:r>
              <a:rPr sz="2000" b="1" spc="-10" dirty="0">
                <a:latin typeface="Times New Roman"/>
                <a:cs typeface="Times New Roman"/>
              </a:rPr>
              <a:t>/NXCompat[:NO]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0375" y="4138231"/>
            <a:ext cx="2358390" cy="12560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918844" indent="-311785">
              <a:lnSpc>
                <a:spcPct val="100000"/>
              </a:lnSpc>
              <a:spcBef>
                <a:spcPts val="395"/>
              </a:spcBef>
              <a:buClr>
                <a:srgbClr val="E6B0AB"/>
              </a:buClr>
              <a:buSzPct val="77500"/>
              <a:buFont typeface="Segoe UI Symbol"/>
              <a:buChar char="⚫"/>
              <a:tabLst>
                <a:tab pos="918844" algn="l"/>
              </a:tabLst>
            </a:pPr>
            <a:r>
              <a:rPr sz="2000" dirty="0">
                <a:latin typeface="Times New Roman"/>
                <a:cs typeface="Times New Roman"/>
              </a:rPr>
              <a:t>Boot.ini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899160" indent="-292100">
              <a:lnSpc>
                <a:spcPct val="100000"/>
              </a:lnSpc>
              <a:spcBef>
                <a:spcPts val="305"/>
              </a:spcBef>
              <a:buClr>
                <a:srgbClr val="E6B0AB"/>
              </a:buClr>
              <a:buSzPct val="60000"/>
              <a:buFont typeface="Segoe UI Symbol"/>
              <a:buChar char="⚫"/>
              <a:tabLst>
                <a:tab pos="899160" algn="l"/>
              </a:tabLst>
            </a:pPr>
            <a:r>
              <a:rPr sz="2000" spc="-10" dirty="0">
                <a:latin typeface="Times New Roman"/>
                <a:cs typeface="Times New Roman"/>
              </a:rPr>
              <a:t>Visual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Studio:</a:t>
            </a:r>
            <a:endParaRPr sz="20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1405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286385" algn="l"/>
              </a:tabLst>
            </a:pP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Limitations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0732" y="5372798"/>
            <a:ext cx="5762625" cy="73088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90"/>
              </a:spcBef>
              <a:buClr>
                <a:srgbClr val="9B2C1F"/>
              </a:buClr>
              <a:buSzPct val="86046"/>
              <a:buFont typeface="Segoe UI Symbol"/>
              <a:buChar char="⚫"/>
              <a:tabLst>
                <a:tab pos="241300" algn="l"/>
                <a:tab pos="4131945" algn="l"/>
              </a:tabLst>
            </a:pPr>
            <a:r>
              <a:rPr sz="2150" dirty="0">
                <a:latin typeface="Times New Roman"/>
                <a:cs typeface="Times New Roman"/>
              </a:rPr>
              <a:t>Some</a:t>
            </a:r>
            <a:r>
              <a:rPr sz="2150" spc="9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apps</a:t>
            </a:r>
            <a:r>
              <a:rPr sz="2150" spc="6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need</a:t>
            </a:r>
            <a:r>
              <a:rPr sz="2150" spc="13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executable</a:t>
            </a:r>
            <a:r>
              <a:rPr sz="2150" spc="190" dirty="0">
                <a:latin typeface="Times New Roman"/>
                <a:cs typeface="Times New Roman"/>
              </a:rPr>
              <a:t> </a:t>
            </a:r>
            <a:r>
              <a:rPr sz="2150" spc="-20" dirty="0">
                <a:latin typeface="Times New Roman"/>
                <a:cs typeface="Times New Roman"/>
              </a:rPr>
              <a:t>heap</a:t>
            </a:r>
            <a:r>
              <a:rPr sz="2150" dirty="0">
                <a:latin typeface="Times New Roman"/>
                <a:cs typeface="Times New Roman"/>
              </a:rPr>
              <a:t>	(e.g.</a:t>
            </a:r>
            <a:r>
              <a:rPr sz="2150" spc="45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JITs).</a:t>
            </a:r>
            <a:endParaRPr sz="21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00"/>
              </a:spcBef>
              <a:buClr>
                <a:srgbClr val="9B2C1F"/>
              </a:buClr>
              <a:buSzPct val="86046"/>
              <a:buFont typeface="Segoe UI Symbol"/>
              <a:buChar char="⚫"/>
              <a:tabLst>
                <a:tab pos="241300" algn="l"/>
              </a:tabLst>
            </a:pPr>
            <a:r>
              <a:rPr sz="2150" dirty="0">
                <a:latin typeface="Times New Roman"/>
                <a:cs typeface="Times New Roman"/>
              </a:rPr>
              <a:t>Does</a:t>
            </a:r>
            <a:r>
              <a:rPr sz="2150" spc="14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not</a:t>
            </a:r>
            <a:r>
              <a:rPr sz="2150" spc="7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defend</a:t>
            </a:r>
            <a:r>
              <a:rPr sz="2150" spc="13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against</a:t>
            </a:r>
            <a:r>
              <a:rPr sz="2150" spc="16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`</a:t>
            </a:r>
            <a:r>
              <a:rPr sz="2150" b="1" dirty="0">
                <a:solidFill>
                  <a:srgbClr val="0000FF"/>
                </a:solidFill>
                <a:latin typeface="Times New Roman"/>
                <a:cs typeface="Times New Roman"/>
              </a:rPr>
              <a:t>return-to-libc</a:t>
            </a:r>
            <a:r>
              <a:rPr sz="2150" dirty="0">
                <a:latin typeface="Times New Roman"/>
                <a:cs typeface="Times New Roman"/>
              </a:rPr>
              <a:t>’</a:t>
            </a:r>
            <a:r>
              <a:rPr sz="2150" spc="-70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exploits</a:t>
            </a:r>
            <a:endParaRPr sz="215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575" y="212724"/>
            <a:ext cx="195326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13077" y="212724"/>
            <a:ext cx="476758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>
                <a:latin typeface="Times New Roman"/>
                <a:cs typeface="Times New Roman"/>
              </a:rPr>
              <a:t>DEP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controls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Windows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990600"/>
            <a:ext cx="3590925" cy="51339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2286000"/>
            <a:ext cx="4105275" cy="23907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960620" y="5288279"/>
            <a:ext cx="33915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Times New Roman"/>
                <a:cs typeface="Times New Roman"/>
              </a:rPr>
              <a:t>DEP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terminating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program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857" y="370205"/>
            <a:ext cx="396875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85595" algn="l"/>
              </a:tabLst>
            </a:pPr>
            <a:r>
              <a:rPr spc="-10" dirty="0"/>
              <a:t>Attack:</a:t>
            </a:r>
            <a:r>
              <a:rPr dirty="0"/>
              <a:t>	return to</a:t>
            </a:r>
            <a:r>
              <a:rPr spc="15" dirty="0"/>
              <a:t> </a:t>
            </a:r>
            <a:r>
              <a:rPr spc="-20" dirty="0"/>
              <a:t>libc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457" y="1320736"/>
            <a:ext cx="5436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220" indent="-350520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363220" algn="l"/>
              </a:tabLst>
            </a:pP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hijacking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without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executing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13278" y="3032378"/>
            <a:ext cx="2754630" cy="1920875"/>
          </a:xfrm>
          <a:custGeom>
            <a:avLst/>
            <a:gdLst/>
            <a:ahLst/>
            <a:cxnLst/>
            <a:rect l="l" t="t" r="r" b="b"/>
            <a:pathLst>
              <a:path w="2754629" h="1920875">
                <a:moveTo>
                  <a:pt x="2754122" y="472821"/>
                </a:moveTo>
                <a:lnTo>
                  <a:pt x="2716022" y="453771"/>
                </a:lnTo>
                <a:lnTo>
                  <a:pt x="2639822" y="415671"/>
                </a:lnTo>
                <a:lnTo>
                  <a:pt x="2639822" y="453771"/>
                </a:lnTo>
                <a:lnTo>
                  <a:pt x="675271" y="453771"/>
                </a:lnTo>
                <a:lnTo>
                  <a:pt x="21844" y="0"/>
                </a:lnTo>
                <a:lnTo>
                  <a:pt x="0" y="31242"/>
                </a:lnTo>
                <a:lnTo>
                  <a:pt x="608444" y="453771"/>
                </a:lnTo>
                <a:lnTo>
                  <a:pt x="10922" y="453771"/>
                </a:lnTo>
                <a:lnTo>
                  <a:pt x="10922" y="491871"/>
                </a:lnTo>
                <a:lnTo>
                  <a:pt x="663308" y="491871"/>
                </a:lnTo>
                <a:lnTo>
                  <a:pt x="2649347" y="1871052"/>
                </a:lnTo>
                <a:lnTo>
                  <a:pt x="2627630" y="1902333"/>
                </a:lnTo>
                <a:lnTo>
                  <a:pt x="2754122" y="1920621"/>
                </a:lnTo>
                <a:lnTo>
                  <a:pt x="2732925" y="1881886"/>
                </a:lnTo>
                <a:lnTo>
                  <a:pt x="2692781" y="1808480"/>
                </a:lnTo>
                <a:lnTo>
                  <a:pt x="2671089" y="1839734"/>
                </a:lnTo>
                <a:lnTo>
                  <a:pt x="730135" y="491871"/>
                </a:lnTo>
                <a:lnTo>
                  <a:pt x="2639822" y="491871"/>
                </a:lnTo>
                <a:lnTo>
                  <a:pt x="2639822" y="529971"/>
                </a:lnTo>
                <a:lnTo>
                  <a:pt x="2716022" y="491871"/>
                </a:lnTo>
                <a:lnTo>
                  <a:pt x="2754122" y="4728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828863" y="2290826"/>
          <a:ext cx="1295400" cy="3352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/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args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ts val="2865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ret-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addr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ts val="2870"/>
                        </a:lnSpc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sfp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buf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286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057400" y="1905000"/>
            <a:ext cx="819150" cy="457200"/>
          </a:xfrm>
          <a:custGeom>
            <a:avLst/>
            <a:gdLst/>
            <a:ahLst/>
            <a:cxnLst/>
            <a:rect l="l" t="t" r="r" b="b"/>
            <a:pathLst>
              <a:path w="819150" h="457200">
                <a:moveTo>
                  <a:pt x="819150" y="0"/>
                </a:moveTo>
                <a:lnTo>
                  <a:pt x="0" y="0"/>
                </a:lnTo>
                <a:lnTo>
                  <a:pt x="0" y="457200"/>
                </a:lnTo>
                <a:lnTo>
                  <a:pt x="819150" y="457200"/>
                </a:lnTo>
                <a:lnTo>
                  <a:pt x="81915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38426" y="1931352"/>
            <a:ext cx="6540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stack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867463" y="2290826"/>
          <a:ext cx="1295400" cy="3352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/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1270" algn="ctr">
                        <a:lnSpc>
                          <a:spcPts val="2865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exec()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5080" algn="ctr">
                        <a:lnSpc>
                          <a:spcPts val="2870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printf()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“/bin/sh”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286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5943600" y="1905000"/>
            <a:ext cx="1000125" cy="457200"/>
          </a:xfrm>
          <a:custGeom>
            <a:avLst/>
            <a:gdLst/>
            <a:ahLst/>
            <a:cxnLst/>
            <a:rect l="l" t="t" r="r" b="b"/>
            <a:pathLst>
              <a:path w="1000125" h="457200">
                <a:moveTo>
                  <a:pt x="1000125" y="0"/>
                </a:moveTo>
                <a:lnTo>
                  <a:pt x="0" y="0"/>
                </a:lnTo>
                <a:lnTo>
                  <a:pt x="0" y="457200"/>
                </a:lnTo>
                <a:lnTo>
                  <a:pt x="1000125" y="457200"/>
                </a:lnTo>
                <a:lnTo>
                  <a:pt x="100012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28690" y="1931352"/>
            <a:ext cx="8255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libc.so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457" y="136524"/>
            <a:ext cx="489331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232025" algn="l"/>
              </a:tabLst>
            </a:pPr>
            <a:r>
              <a:rPr spc="-10" dirty="0"/>
              <a:t>Response:</a:t>
            </a:r>
            <a:r>
              <a:rPr dirty="0"/>
              <a:t>	</a:t>
            </a:r>
            <a:r>
              <a:rPr spc="-10" dirty="0"/>
              <a:t>randomization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876309"/>
            <a:ext cx="7465695" cy="141224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363220" indent="-350520">
              <a:lnSpc>
                <a:spcPct val="100000"/>
              </a:lnSpc>
              <a:spcBef>
                <a:spcPts val="950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363220" algn="l"/>
                <a:tab pos="1843405" algn="l"/>
              </a:tabLst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ASLR</a:t>
            </a:r>
            <a:r>
              <a:rPr sz="2600" spc="-10" dirty="0">
                <a:latin typeface="Times New Roman"/>
                <a:cs typeface="Times New Roman"/>
              </a:rPr>
              <a:t>:</a:t>
            </a:r>
            <a:r>
              <a:rPr sz="2600" dirty="0">
                <a:latin typeface="Times New Roman"/>
                <a:cs typeface="Times New Roman"/>
              </a:rPr>
              <a:t>	(</a:t>
            </a:r>
            <a:r>
              <a:rPr sz="2300" dirty="0">
                <a:latin typeface="Times New Roman"/>
                <a:cs typeface="Times New Roman"/>
              </a:rPr>
              <a:t>Address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Space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Layout</a:t>
            </a:r>
            <a:r>
              <a:rPr sz="2300" spc="-10" dirty="0">
                <a:latin typeface="Times New Roman"/>
                <a:cs typeface="Times New Roman"/>
              </a:rPr>
              <a:t> Randomization)</a:t>
            </a:r>
            <a:endParaRPr sz="23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76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Map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shared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libraries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location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memory</a:t>
            </a:r>
            <a:endParaRPr sz="2400">
              <a:latin typeface="Times New Roman"/>
              <a:cs typeface="Times New Roman"/>
            </a:endParaRPr>
          </a:p>
          <a:p>
            <a:pPr marL="561975">
              <a:lnSpc>
                <a:spcPct val="100000"/>
              </a:lnSpc>
              <a:spcBef>
                <a:spcPts val="425"/>
              </a:spcBef>
              <a:tabLst>
                <a:tab pos="1073785" algn="l"/>
              </a:tabLst>
            </a:pPr>
            <a:r>
              <a:rPr sz="2400" spc="-50" dirty="0">
                <a:latin typeface="Symbol"/>
                <a:cs typeface="Symbol"/>
              </a:rPr>
              <a:t></a:t>
            </a:r>
            <a:r>
              <a:rPr sz="2400" dirty="0">
                <a:latin typeface="Times New Roman"/>
                <a:cs typeface="Times New Roman"/>
              </a:rPr>
              <a:t>	Attacker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cannot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jump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directly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function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9097" y="2449512"/>
            <a:ext cx="1845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</a:tabLst>
            </a:pP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Deployment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3870" y="2497137"/>
            <a:ext cx="169100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latin typeface="Times New Roman"/>
                <a:cs typeface="Times New Roman"/>
              </a:rPr>
              <a:t>(/DynamicBase)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2806128"/>
            <a:ext cx="8024495" cy="3364229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835660" indent="-228600">
              <a:lnSpc>
                <a:spcPct val="100000"/>
              </a:lnSpc>
              <a:spcBef>
                <a:spcPts val="525"/>
              </a:spcBef>
              <a:buClr>
                <a:srgbClr val="E6B0AB"/>
              </a:buClr>
              <a:buSzPct val="83333"/>
              <a:buFont typeface="Segoe UI Symbol"/>
              <a:buChar char="⚫"/>
              <a:tabLst>
                <a:tab pos="835660" algn="l"/>
                <a:tab pos="367347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Windows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Vista:</a:t>
            </a:r>
            <a:r>
              <a:rPr sz="2400" dirty="0">
                <a:latin typeface="Times New Roman"/>
                <a:cs typeface="Times New Roman"/>
              </a:rPr>
              <a:t>	8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randomness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DLLs</a:t>
            </a:r>
            <a:endParaRPr sz="2400">
              <a:latin typeface="Times New Roman"/>
              <a:cs typeface="Times New Roman"/>
            </a:endParaRPr>
          </a:p>
          <a:p>
            <a:pPr marL="1110615" lvl="1" indent="-228600">
              <a:lnSpc>
                <a:spcPct val="100000"/>
              </a:lnSpc>
              <a:spcBef>
                <a:spcPts val="425"/>
              </a:spcBef>
              <a:buClr>
                <a:srgbClr val="A18E6A"/>
              </a:buClr>
              <a:buSzPct val="81250"/>
              <a:buFont typeface="Segoe UI Symbol"/>
              <a:buChar char="⚫"/>
              <a:tabLst>
                <a:tab pos="1110615" algn="l"/>
                <a:tab pos="6038850" algn="l"/>
                <a:tab pos="6567805" algn="l"/>
              </a:tabLst>
            </a:pPr>
            <a:r>
              <a:rPr sz="2400" dirty="0">
                <a:latin typeface="Times New Roman"/>
                <a:cs typeface="Times New Roman"/>
              </a:rPr>
              <a:t>aligned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64K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16MB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region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Symbol"/>
                <a:cs typeface="Symbol"/>
              </a:rPr>
              <a:t></a:t>
            </a:r>
            <a:r>
              <a:rPr sz="2400" dirty="0">
                <a:latin typeface="Times New Roman"/>
                <a:cs typeface="Times New Roman"/>
              </a:rPr>
              <a:t>	256</a:t>
            </a:r>
            <a:r>
              <a:rPr sz="2400" spc="-10" dirty="0">
                <a:latin typeface="Times New Roman"/>
                <a:cs typeface="Times New Roman"/>
              </a:rPr>
              <a:t> choices</a:t>
            </a:r>
            <a:endParaRPr sz="2400">
              <a:latin typeface="Times New Roman"/>
              <a:cs typeface="Times New Roman"/>
            </a:endParaRPr>
          </a:p>
          <a:p>
            <a:pPr marL="835660" indent="-228600">
              <a:lnSpc>
                <a:spcPct val="100000"/>
              </a:lnSpc>
              <a:spcBef>
                <a:spcPts val="420"/>
              </a:spcBef>
              <a:buClr>
                <a:srgbClr val="E6B0AB"/>
              </a:buClr>
              <a:buSzPct val="83333"/>
              <a:buFont typeface="Segoe UI Symbol"/>
              <a:buChar char="⚫"/>
              <a:tabLst>
                <a:tab pos="835660" algn="l"/>
                <a:tab pos="1769110" algn="l"/>
                <a:tab pos="367347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Linux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(via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PaX):</a:t>
            </a:r>
            <a:r>
              <a:rPr sz="2400" dirty="0">
                <a:latin typeface="Times New Roman"/>
                <a:cs typeface="Times New Roman"/>
              </a:rPr>
              <a:t>	16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randomness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 </a:t>
            </a:r>
            <a:r>
              <a:rPr sz="2400" spc="-10" dirty="0">
                <a:latin typeface="Times New Roman"/>
                <a:cs typeface="Times New Roman"/>
              </a:rPr>
              <a:t>libraries</a:t>
            </a:r>
            <a:endParaRPr sz="2400">
              <a:latin typeface="Times New Roman"/>
              <a:cs typeface="Times New Roman"/>
            </a:endParaRPr>
          </a:p>
          <a:p>
            <a:pPr marL="561340" indent="-228600">
              <a:lnSpc>
                <a:spcPct val="100000"/>
              </a:lnSpc>
              <a:spcBef>
                <a:spcPts val="118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  <a:tab pos="2887345" algn="l"/>
              </a:tabLst>
            </a:pP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effective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</a:t>
            </a:r>
            <a:r>
              <a:rPr sz="2400" dirty="0">
                <a:latin typeface="Times New Roman"/>
                <a:cs typeface="Times New Roman"/>
              </a:rPr>
              <a:t>	64-bit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architectures</a:t>
            </a:r>
            <a:endParaRPr sz="2400">
              <a:latin typeface="Times New Roman"/>
              <a:cs typeface="Times New Roman"/>
            </a:endParaRPr>
          </a:p>
          <a:p>
            <a:pPr marL="287020" indent="-285750">
              <a:lnSpc>
                <a:spcPct val="100000"/>
              </a:lnSpc>
              <a:spcBef>
                <a:spcPts val="1175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7020" algn="l"/>
              </a:tabLst>
            </a:pPr>
            <a:r>
              <a:rPr sz="3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Other</a:t>
            </a:r>
            <a:r>
              <a:rPr sz="3000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randomization</a:t>
            </a:r>
            <a:r>
              <a:rPr sz="3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methods</a:t>
            </a:r>
            <a:r>
              <a:rPr sz="3000" spc="-10" dirty="0">
                <a:latin typeface="Times New Roman"/>
                <a:cs typeface="Times New Roman"/>
              </a:rPr>
              <a:t>:</a:t>
            </a:r>
            <a:endParaRPr sz="30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90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  <a:tab pos="3763010" algn="l"/>
              </a:tabLst>
            </a:pPr>
            <a:r>
              <a:rPr sz="2400" spc="-10" dirty="0">
                <a:latin typeface="Times New Roman"/>
                <a:cs typeface="Times New Roman"/>
              </a:rPr>
              <a:t>Sys-</a:t>
            </a:r>
            <a:r>
              <a:rPr sz="2400" dirty="0">
                <a:latin typeface="Times New Roman"/>
                <a:cs typeface="Times New Roman"/>
              </a:rPr>
              <a:t>call </a:t>
            </a:r>
            <a:r>
              <a:rPr sz="2400" spc="-10" dirty="0">
                <a:latin typeface="Times New Roman"/>
                <a:cs typeface="Times New Roman"/>
              </a:rPr>
              <a:t>randomization:</a:t>
            </a:r>
            <a:r>
              <a:rPr sz="2400" dirty="0">
                <a:latin typeface="Times New Roman"/>
                <a:cs typeface="Times New Roman"/>
              </a:rPr>
              <a:t>	randomize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sys-call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id’s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87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Instruction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Randomization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(ISR)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67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</a:pPr>
            <a:r>
              <a:rPr dirty="0"/>
              <a:t>ASLR</a:t>
            </a:r>
            <a:r>
              <a:rPr spc="1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857" y="1473517"/>
            <a:ext cx="64757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Booting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twice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loads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libraries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locations: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09675" y="2352611"/>
            <a:ext cx="6515100" cy="1134110"/>
            <a:chOff x="1209675" y="2352611"/>
            <a:chExt cx="6515100" cy="11341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2301" y="2415267"/>
              <a:ext cx="6248244" cy="95522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14437" y="2357373"/>
              <a:ext cx="6505575" cy="1123950"/>
            </a:xfrm>
            <a:custGeom>
              <a:avLst/>
              <a:gdLst/>
              <a:ahLst/>
              <a:cxnLst/>
              <a:rect l="l" t="t" r="r" b="b"/>
              <a:pathLst>
                <a:path w="6505575" h="1123950">
                  <a:moveTo>
                    <a:pt x="0" y="1123950"/>
                  </a:moveTo>
                  <a:lnTo>
                    <a:pt x="6505575" y="1123950"/>
                  </a:lnTo>
                  <a:lnTo>
                    <a:pt x="6505575" y="0"/>
                  </a:lnTo>
                  <a:lnTo>
                    <a:pt x="0" y="0"/>
                  </a:lnTo>
                  <a:lnTo>
                    <a:pt x="0" y="11239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86226" y="2367025"/>
              <a:ext cx="1295400" cy="1114425"/>
            </a:xfrm>
            <a:custGeom>
              <a:avLst/>
              <a:gdLst/>
              <a:ahLst/>
              <a:cxnLst/>
              <a:rect l="l" t="t" r="r" b="b"/>
              <a:pathLst>
                <a:path w="1295400" h="1114425">
                  <a:moveTo>
                    <a:pt x="1295400" y="0"/>
                  </a:moveTo>
                  <a:lnTo>
                    <a:pt x="0" y="0"/>
                  </a:lnTo>
                  <a:lnTo>
                    <a:pt x="0" y="1114425"/>
                  </a:lnTo>
                  <a:lnTo>
                    <a:pt x="1295400" y="1114425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95A9A9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86226" y="2367025"/>
              <a:ext cx="1295400" cy="1114425"/>
            </a:xfrm>
            <a:custGeom>
              <a:avLst/>
              <a:gdLst/>
              <a:ahLst/>
              <a:cxnLst/>
              <a:rect l="l" t="t" r="r" b="b"/>
              <a:pathLst>
                <a:path w="1295400" h="1114425">
                  <a:moveTo>
                    <a:pt x="0" y="1114425"/>
                  </a:moveTo>
                  <a:lnTo>
                    <a:pt x="1295400" y="1114425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11144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171575" y="4057586"/>
            <a:ext cx="6667500" cy="1134110"/>
            <a:chOff x="1171575" y="4057586"/>
            <a:chExt cx="6667500" cy="113411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1100" y="4067174"/>
              <a:ext cx="6467293" cy="11144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76337" y="4062348"/>
              <a:ext cx="6657975" cy="1123950"/>
            </a:xfrm>
            <a:custGeom>
              <a:avLst/>
              <a:gdLst/>
              <a:ahLst/>
              <a:cxnLst/>
              <a:rect l="l" t="t" r="r" b="b"/>
              <a:pathLst>
                <a:path w="6657975" h="1123950">
                  <a:moveTo>
                    <a:pt x="0" y="1123950"/>
                  </a:moveTo>
                  <a:lnTo>
                    <a:pt x="6657975" y="1123950"/>
                  </a:lnTo>
                  <a:lnTo>
                    <a:pt x="6657975" y="0"/>
                  </a:lnTo>
                  <a:lnTo>
                    <a:pt x="0" y="0"/>
                  </a:lnTo>
                  <a:lnTo>
                    <a:pt x="0" y="11239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05276" y="4062475"/>
              <a:ext cx="1295400" cy="1123950"/>
            </a:xfrm>
            <a:custGeom>
              <a:avLst/>
              <a:gdLst/>
              <a:ahLst/>
              <a:cxnLst/>
              <a:rect l="l" t="t" r="r" b="b"/>
              <a:pathLst>
                <a:path w="1295400" h="1123950">
                  <a:moveTo>
                    <a:pt x="1295400" y="0"/>
                  </a:moveTo>
                  <a:lnTo>
                    <a:pt x="0" y="0"/>
                  </a:lnTo>
                  <a:lnTo>
                    <a:pt x="0" y="1123950"/>
                  </a:lnTo>
                  <a:lnTo>
                    <a:pt x="1295400" y="112395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95A9A9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05276" y="4062475"/>
              <a:ext cx="1295400" cy="1123950"/>
            </a:xfrm>
            <a:custGeom>
              <a:avLst/>
              <a:gdLst/>
              <a:ahLst/>
              <a:cxnLst/>
              <a:rect l="l" t="t" r="r" b="b"/>
              <a:pathLst>
                <a:path w="1295400" h="1123950">
                  <a:moveTo>
                    <a:pt x="0" y="1123950"/>
                  </a:moveTo>
                  <a:lnTo>
                    <a:pt x="1295400" y="1123950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11239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657" y="217424"/>
            <a:ext cx="657479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296410" algn="l"/>
              </a:tabLst>
            </a:pPr>
            <a:r>
              <a:rPr dirty="0"/>
              <a:t>Some</a:t>
            </a:r>
            <a:r>
              <a:rPr spc="-30" dirty="0"/>
              <a:t> </a:t>
            </a:r>
            <a:r>
              <a:rPr dirty="0"/>
              <a:t>attacks</a:t>
            </a:r>
            <a:r>
              <a:rPr spc="15" dirty="0"/>
              <a:t> </a:t>
            </a:r>
            <a:r>
              <a:rPr spc="-10" dirty="0"/>
              <a:t>remain:</a:t>
            </a:r>
            <a:r>
              <a:rPr dirty="0"/>
              <a:t>	JiT</a:t>
            </a:r>
            <a:r>
              <a:rPr spc="-80" dirty="0"/>
              <a:t> </a:t>
            </a:r>
            <a:r>
              <a:rPr spc="-10" dirty="0"/>
              <a:t>spraying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828652"/>
            <a:ext cx="7560945" cy="154813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400" spc="-10" dirty="0">
                <a:latin typeface="Times New Roman"/>
                <a:cs typeface="Times New Roman"/>
              </a:rPr>
              <a:t>Idea: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980"/>
              </a:spcBef>
              <a:buClr>
                <a:srgbClr val="CC9900"/>
              </a:buClr>
              <a:buSzPct val="108333"/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Force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Javascript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JiT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heap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executable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shellcode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010"/>
              </a:spcBef>
              <a:buClr>
                <a:srgbClr val="CC9900"/>
              </a:buClr>
              <a:buSzPct val="108333"/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SFP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anywhere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spray</a:t>
            </a:r>
            <a:r>
              <a:rPr sz="2400" spc="-20" dirty="0">
                <a:latin typeface="Times New Roman"/>
                <a:cs typeface="Times New Roman"/>
              </a:rPr>
              <a:t> area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58200" y="3609975"/>
            <a:ext cx="457200" cy="866775"/>
          </a:xfrm>
          <a:custGeom>
            <a:avLst/>
            <a:gdLst/>
            <a:ahLst/>
            <a:cxnLst/>
            <a:rect l="l" t="t" r="r" b="b"/>
            <a:pathLst>
              <a:path w="457200" h="866775">
                <a:moveTo>
                  <a:pt x="457200" y="0"/>
                </a:moveTo>
                <a:lnTo>
                  <a:pt x="0" y="0"/>
                </a:lnTo>
                <a:lnTo>
                  <a:pt x="0" y="866775"/>
                </a:lnTo>
                <a:lnTo>
                  <a:pt x="457200" y="866775"/>
                </a:lnTo>
                <a:lnTo>
                  <a:pt x="457200" y="0"/>
                </a:lnTo>
                <a:close/>
              </a:path>
            </a:pathLst>
          </a:custGeom>
          <a:solidFill>
            <a:srgbClr val="F9D9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31812" y="2436812"/>
            <a:ext cx="7785100" cy="3746500"/>
            <a:chOff x="531812" y="2436812"/>
            <a:chExt cx="7785100" cy="3746500"/>
          </a:xfrm>
        </p:grpSpPr>
        <p:sp>
          <p:nvSpPr>
            <p:cNvPr id="6" name="object 6"/>
            <p:cNvSpPr/>
            <p:nvPr/>
          </p:nvSpPr>
          <p:spPr>
            <a:xfrm>
              <a:off x="538162" y="2443162"/>
              <a:ext cx="7772400" cy="3733800"/>
            </a:xfrm>
            <a:custGeom>
              <a:avLst/>
              <a:gdLst/>
              <a:ahLst/>
              <a:cxnLst/>
              <a:rect l="l" t="t" r="r" b="b"/>
              <a:pathLst>
                <a:path w="7772400" h="3733800">
                  <a:moveTo>
                    <a:pt x="7772400" y="0"/>
                  </a:moveTo>
                  <a:lnTo>
                    <a:pt x="0" y="0"/>
                  </a:lnTo>
                  <a:lnTo>
                    <a:pt x="0" y="3733800"/>
                  </a:lnTo>
                  <a:lnTo>
                    <a:pt x="7772400" y="3733800"/>
                  </a:lnTo>
                  <a:lnTo>
                    <a:pt x="7772400" y="0"/>
                  </a:lnTo>
                  <a:close/>
                </a:path>
              </a:pathLst>
            </a:custGeom>
            <a:solidFill>
              <a:srgbClr val="F9D9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8162" y="2443162"/>
              <a:ext cx="7772400" cy="3733800"/>
            </a:xfrm>
            <a:custGeom>
              <a:avLst/>
              <a:gdLst/>
              <a:ahLst/>
              <a:cxnLst/>
              <a:rect l="l" t="t" r="r" b="b"/>
              <a:pathLst>
                <a:path w="7772400" h="3733800">
                  <a:moveTo>
                    <a:pt x="0" y="3733800"/>
                  </a:moveTo>
                  <a:lnTo>
                    <a:pt x="7772400" y="3733800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3733800"/>
                  </a:lnTo>
                  <a:close/>
                </a:path>
                <a:path w="7772400" h="3733800">
                  <a:moveTo>
                    <a:pt x="2286063" y="3200400"/>
                  </a:moveTo>
                  <a:lnTo>
                    <a:pt x="7391463" y="3200400"/>
                  </a:lnTo>
                  <a:lnTo>
                    <a:pt x="7391463" y="228600"/>
                  </a:lnTo>
                  <a:lnTo>
                    <a:pt x="2286063" y="228600"/>
                  </a:lnTo>
                  <a:lnTo>
                    <a:pt x="2286063" y="3200400"/>
                  </a:lnTo>
                  <a:close/>
                </a:path>
              </a:pathLst>
            </a:custGeom>
            <a:ln w="12700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2962" y="3671950"/>
              <a:ext cx="838200" cy="304800"/>
            </a:xfrm>
            <a:custGeom>
              <a:avLst/>
              <a:gdLst/>
              <a:ahLst/>
              <a:cxnLst/>
              <a:rect l="l" t="t" r="r" b="b"/>
              <a:pathLst>
                <a:path w="838200" h="304800">
                  <a:moveTo>
                    <a:pt x="0" y="304800"/>
                  </a:moveTo>
                  <a:lnTo>
                    <a:pt x="838200" y="304800"/>
                  </a:lnTo>
                  <a:lnTo>
                    <a:pt x="8382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FF5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2962" y="3976750"/>
              <a:ext cx="838200" cy="609600"/>
            </a:xfrm>
            <a:custGeom>
              <a:avLst/>
              <a:gdLst/>
              <a:ahLst/>
              <a:cxnLst/>
              <a:rect l="l" t="t" r="r" b="b"/>
              <a:pathLst>
                <a:path w="838200" h="609600">
                  <a:moveTo>
                    <a:pt x="0" y="304800"/>
                  </a:moveTo>
                  <a:lnTo>
                    <a:pt x="838200" y="304800"/>
                  </a:lnTo>
                  <a:lnTo>
                    <a:pt x="8382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  <a:path w="838200" h="609600">
                  <a:moveTo>
                    <a:pt x="0" y="609600"/>
                  </a:moveTo>
                  <a:lnTo>
                    <a:pt x="838200" y="609600"/>
                  </a:lnTo>
                  <a:lnTo>
                    <a:pt x="838200" y="304800"/>
                  </a:lnTo>
                  <a:lnTo>
                    <a:pt x="0" y="304800"/>
                  </a:lnTo>
                  <a:lnTo>
                    <a:pt x="0" y="609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8200" y="4552950"/>
              <a:ext cx="866775" cy="400050"/>
            </a:xfrm>
            <a:custGeom>
              <a:avLst/>
              <a:gdLst/>
              <a:ahLst/>
              <a:cxnLst/>
              <a:rect l="l" t="t" r="r" b="b"/>
              <a:pathLst>
                <a:path w="866775" h="400050">
                  <a:moveTo>
                    <a:pt x="866775" y="0"/>
                  </a:moveTo>
                  <a:lnTo>
                    <a:pt x="0" y="0"/>
                  </a:lnTo>
                  <a:lnTo>
                    <a:pt x="0" y="400050"/>
                  </a:lnTo>
                  <a:lnTo>
                    <a:pt x="866775" y="400050"/>
                  </a:lnTo>
                  <a:lnTo>
                    <a:pt x="866775" y="0"/>
                  </a:lnTo>
                  <a:close/>
                </a:path>
              </a:pathLst>
            </a:custGeom>
            <a:solidFill>
              <a:srgbClr val="F9D9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513619" y="3690873"/>
            <a:ext cx="375285" cy="53657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550"/>
              </a:lnSpc>
            </a:pPr>
            <a:r>
              <a:rPr sz="2400" spc="-120" dirty="0">
                <a:latin typeface="Times New Roman"/>
                <a:cs typeface="Times New Roman"/>
              </a:rPr>
              <a:t>heap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0592" y="4554156"/>
            <a:ext cx="5645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000" spc="-80" dirty="0">
                <a:latin typeface="Times New Roman"/>
                <a:cs typeface="Times New Roman"/>
              </a:rPr>
              <a:t>vtable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52826" y="2824226"/>
            <a:ext cx="3352800" cy="609600"/>
          </a:xfrm>
          <a:custGeom>
            <a:avLst/>
            <a:gdLst/>
            <a:ahLst/>
            <a:cxnLst/>
            <a:rect l="l" t="t" r="r" b="b"/>
            <a:pathLst>
              <a:path w="3352800" h="609600">
                <a:moveTo>
                  <a:pt x="0" y="609600"/>
                </a:moveTo>
                <a:lnTo>
                  <a:pt x="3352800" y="609600"/>
                </a:lnTo>
                <a:lnTo>
                  <a:pt x="33528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12700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179570" y="2885122"/>
            <a:ext cx="11150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A18E6A"/>
                </a:solidFill>
                <a:latin typeface="Times New Roman"/>
                <a:cs typeface="Times New Roman"/>
              </a:rPr>
              <a:t>NOP</a:t>
            </a:r>
            <a:r>
              <a:rPr sz="2000" spc="170" dirty="0">
                <a:solidFill>
                  <a:srgbClr val="A18E6A"/>
                </a:solidFill>
                <a:latin typeface="Times New Roman"/>
                <a:cs typeface="Times New Roman"/>
              </a:rPr>
              <a:t> </a:t>
            </a:r>
            <a:r>
              <a:rPr sz="2400" spc="-105" dirty="0">
                <a:solidFill>
                  <a:srgbClr val="A18E6A"/>
                </a:solidFill>
                <a:latin typeface="Times New Roman"/>
                <a:cs typeface="Times New Roman"/>
              </a:rPr>
              <a:t>slide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405626" y="2824226"/>
            <a:ext cx="1295400" cy="609600"/>
          </a:xfrm>
          <a:custGeom>
            <a:avLst/>
            <a:gdLst/>
            <a:ahLst/>
            <a:cxnLst/>
            <a:rect l="l" t="t" r="r" b="b"/>
            <a:pathLst>
              <a:path w="1295400" h="609600">
                <a:moveTo>
                  <a:pt x="0" y="609600"/>
                </a:moveTo>
                <a:lnTo>
                  <a:pt x="1295400" y="609600"/>
                </a:lnTo>
                <a:lnTo>
                  <a:pt x="12954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12700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631558" y="2925127"/>
            <a:ext cx="85979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000" spc="-100" dirty="0">
                <a:solidFill>
                  <a:srgbClr val="A18E6A"/>
                </a:solidFill>
                <a:latin typeface="Times New Roman"/>
                <a:cs typeface="Times New Roman"/>
              </a:rPr>
              <a:t>shellcode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668526" y="3732276"/>
            <a:ext cx="5810250" cy="1765300"/>
            <a:chOff x="1668526" y="3732276"/>
            <a:chExt cx="5810250" cy="1765300"/>
          </a:xfrm>
        </p:grpSpPr>
        <p:sp>
          <p:nvSpPr>
            <p:cNvPr id="18" name="object 18"/>
            <p:cNvSpPr/>
            <p:nvPr/>
          </p:nvSpPr>
          <p:spPr>
            <a:xfrm>
              <a:off x="3052826" y="3738626"/>
              <a:ext cx="4419600" cy="1752600"/>
            </a:xfrm>
            <a:custGeom>
              <a:avLst/>
              <a:gdLst/>
              <a:ahLst/>
              <a:cxnLst/>
              <a:rect l="l" t="t" r="r" b="b"/>
              <a:pathLst>
                <a:path w="4419600" h="1752600">
                  <a:moveTo>
                    <a:pt x="0" y="457200"/>
                  </a:moveTo>
                  <a:lnTo>
                    <a:pt x="1524000" y="457200"/>
                  </a:lnTo>
                  <a:lnTo>
                    <a:pt x="15240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  <a:path w="4419600" h="1752600">
                  <a:moveTo>
                    <a:pt x="1295400" y="457200"/>
                  </a:moveTo>
                  <a:lnTo>
                    <a:pt x="1524000" y="457200"/>
                  </a:lnTo>
                  <a:lnTo>
                    <a:pt x="1524000" y="0"/>
                  </a:lnTo>
                  <a:lnTo>
                    <a:pt x="1295400" y="0"/>
                  </a:lnTo>
                  <a:lnTo>
                    <a:pt x="1295400" y="457200"/>
                  </a:lnTo>
                  <a:close/>
                </a:path>
                <a:path w="4419600" h="1752600">
                  <a:moveTo>
                    <a:pt x="2057400" y="457200"/>
                  </a:moveTo>
                  <a:lnTo>
                    <a:pt x="3581400" y="457200"/>
                  </a:lnTo>
                  <a:lnTo>
                    <a:pt x="3581400" y="0"/>
                  </a:lnTo>
                  <a:lnTo>
                    <a:pt x="2057400" y="0"/>
                  </a:lnTo>
                  <a:lnTo>
                    <a:pt x="2057400" y="457200"/>
                  </a:lnTo>
                  <a:close/>
                </a:path>
                <a:path w="4419600" h="1752600">
                  <a:moveTo>
                    <a:pt x="3352800" y="457200"/>
                  </a:moveTo>
                  <a:lnTo>
                    <a:pt x="3581400" y="457200"/>
                  </a:lnTo>
                  <a:lnTo>
                    <a:pt x="3581400" y="0"/>
                  </a:lnTo>
                  <a:lnTo>
                    <a:pt x="3352800" y="0"/>
                  </a:lnTo>
                  <a:lnTo>
                    <a:pt x="3352800" y="457200"/>
                  </a:lnTo>
                  <a:close/>
                </a:path>
                <a:path w="4419600" h="1752600">
                  <a:moveTo>
                    <a:pt x="762000" y="1143000"/>
                  </a:moveTo>
                  <a:lnTo>
                    <a:pt x="2286000" y="1143000"/>
                  </a:lnTo>
                  <a:lnTo>
                    <a:pt x="2286000" y="685800"/>
                  </a:lnTo>
                  <a:lnTo>
                    <a:pt x="762000" y="685800"/>
                  </a:lnTo>
                  <a:lnTo>
                    <a:pt x="762000" y="1143000"/>
                  </a:lnTo>
                  <a:close/>
                </a:path>
                <a:path w="4419600" h="1752600">
                  <a:moveTo>
                    <a:pt x="2057400" y="1143000"/>
                  </a:moveTo>
                  <a:lnTo>
                    <a:pt x="2286000" y="1143000"/>
                  </a:lnTo>
                  <a:lnTo>
                    <a:pt x="2286000" y="685800"/>
                  </a:lnTo>
                  <a:lnTo>
                    <a:pt x="2057400" y="685800"/>
                  </a:lnTo>
                  <a:lnTo>
                    <a:pt x="2057400" y="1143000"/>
                  </a:lnTo>
                  <a:close/>
                </a:path>
                <a:path w="4419600" h="1752600">
                  <a:moveTo>
                    <a:pt x="2895600" y="1143000"/>
                  </a:moveTo>
                  <a:lnTo>
                    <a:pt x="4419600" y="1143000"/>
                  </a:lnTo>
                  <a:lnTo>
                    <a:pt x="4419600" y="685800"/>
                  </a:lnTo>
                  <a:lnTo>
                    <a:pt x="2895600" y="685800"/>
                  </a:lnTo>
                  <a:lnTo>
                    <a:pt x="2895600" y="1143000"/>
                  </a:lnTo>
                  <a:close/>
                </a:path>
                <a:path w="4419600" h="1752600">
                  <a:moveTo>
                    <a:pt x="4191000" y="1143000"/>
                  </a:moveTo>
                  <a:lnTo>
                    <a:pt x="4419600" y="1143000"/>
                  </a:lnTo>
                  <a:lnTo>
                    <a:pt x="4419600" y="685800"/>
                  </a:lnTo>
                  <a:lnTo>
                    <a:pt x="4191000" y="685800"/>
                  </a:lnTo>
                  <a:lnTo>
                    <a:pt x="4191000" y="1143000"/>
                  </a:lnTo>
                  <a:close/>
                </a:path>
                <a:path w="4419600" h="1752600">
                  <a:moveTo>
                    <a:pt x="2514600" y="1752600"/>
                  </a:moveTo>
                  <a:lnTo>
                    <a:pt x="4038600" y="1752600"/>
                  </a:lnTo>
                  <a:lnTo>
                    <a:pt x="4038600" y="1295400"/>
                  </a:lnTo>
                  <a:lnTo>
                    <a:pt x="2514600" y="1295400"/>
                  </a:lnTo>
                  <a:lnTo>
                    <a:pt x="2514600" y="1752600"/>
                  </a:lnTo>
                  <a:close/>
                </a:path>
                <a:path w="4419600" h="1752600">
                  <a:moveTo>
                    <a:pt x="3810000" y="1752600"/>
                  </a:moveTo>
                  <a:lnTo>
                    <a:pt x="4038600" y="1752600"/>
                  </a:lnTo>
                  <a:lnTo>
                    <a:pt x="4038600" y="1295400"/>
                  </a:lnTo>
                  <a:lnTo>
                    <a:pt x="3810000" y="1295400"/>
                  </a:lnTo>
                  <a:lnTo>
                    <a:pt x="3810000" y="1752600"/>
                  </a:lnTo>
                  <a:close/>
                </a:path>
                <a:path w="4419600" h="1752600">
                  <a:moveTo>
                    <a:pt x="304800" y="1752600"/>
                  </a:moveTo>
                  <a:lnTo>
                    <a:pt x="1828800" y="1752600"/>
                  </a:lnTo>
                  <a:lnTo>
                    <a:pt x="1828800" y="1295400"/>
                  </a:lnTo>
                  <a:lnTo>
                    <a:pt x="304800" y="1295400"/>
                  </a:lnTo>
                  <a:lnTo>
                    <a:pt x="304800" y="1752600"/>
                  </a:lnTo>
                  <a:close/>
                </a:path>
                <a:path w="4419600" h="1752600">
                  <a:moveTo>
                    <a:pt x="1600200" y="1752600"/>
                  </a:moveTo>
                  <a:lnTo>
                    <a:pt x="1828800" y="1752600"/>
                  </a:lnTo>
                  <a:lnTo>
                    <a:pt x="1828800" y="1295400"/>
                  </a:lnTo>
                  <a:lnTo>
                    <a:pt x="1600200" y="1295400"/>
                  </a:lnTo>
                  <a:lnTo>
                    <a:pt x="1600200" y="1752600"/>
                  </a:lnTo>
                  <a:close/>
                </a:path>
              </a:pathLst>
            </a:custGeom>
            <a:ln w="12700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68526" y="3792093"/>
              <a:ext cx="2675255" cy="851535"/>
            </a:xfrm>
            <a:custGeom>
              <a:avLst/>
              <a:gdLst/>
              <a:ahLst/>
              <a:cxnLst/>
              <a:rect l="l" t="t" r="r" b="b"/>
              <a:pathLst>
                <a:path w="2675254" h="851535">
                  <a:moveTo>
                    <a:pt x="2511061" y="772345"/>
                  </a:moveTo>
                  <a:lnTo>
                    <a:pt x="2421128" y="795273"/>
                  </a:lnTo>
                  <a:lnTo>
                    <a:pt x="2410856" y="800211"/>
                  </a:lnTo>
                  <a:lnTo>
                    <a:pt x="2403538" y="808386"/>
                  </a:lnTo>
                  <a:lnTo>
                    <a:pt x="2399839" y="818705"/>
                  </a:lnTo>
                  <a:lnTo>
                    <a:pt x="2400427" y="830071"/>
                  </a:lnTo>
                  <a:lnTo>
                    <a:pt x="2405364" y="840269"/>
                  </a:lnTo>
                  <a:lnTo>
                    <a:pt x="2413539" y="847550"/>
                  </a:lnTo>
                  <a:lnTo>
                    <a:pt x="2423858" y="851235"/>
                  </a:lnTo>
                  <a:lnTo>
                    <a:pt x="2435225" y="850645"/>
                  </a:lnTo>
                  <a:lnTo>
                    <a:pt x="2628239" y="801369"/>
                  </a:lnTo>
                  <a:lnTo>
                    <a:pt x="2612644" y="801369"/>
                  </a:lnTo>
                  <a:lnTo>
                    <a:pt x="2511061" y="772345"/>
                  </a:lnTo>
                  <a:close/>
                </a:path>
                <a:path w="2675254" h="851535">
                  <a:moveTo>
                    <a:pt x="2566002" y="758337"/>
                  </a:moveTo>
                  <a:lnTo>
                    <a:pt x="2511061" y="772345"/>
                  </a:lnTo>
                  <a:lnTo>
                    <a:pt x="2612644" y="801369"/>
                  </a:lnTo>
                  <a:lnTo>
                    <a:pt x="2614862" y="793622"/>
                  </a:lnTo>
                  <a:lnTo>
                    <a:pt x="2599816" y="793622"/>
                  </a:lnTo>
                  <a:lnTo>
                    <a:pt x="2566002" y="758337"/>
                  </a:lnTo>
                  <a:close/>
                </a:path>
                <a:path w="2675254" h="851535">
                  <a:moveTo>
                    <a:pt x="2483675" y="602043"/>
                  </a:moveTo>
                  <a:lnTo>
                    <a:pt x="2472888" y="603904"/>
                  </a:lnTo>
                  <a:lnTo>
                    <a:pt x="2463291" y="609980"/>
                  </a:lnTo>
                  <a:lnTo>
                    <a:pt x="2456815" y="619309"/>
                  </a:lnTo>
                  <a:lnTo>
                    <a:pt x="2454529" y="630031"/>
                  </a:lnTo>
                  <a:lnTo>
                    <a:pt x="2456434" y="640824"/>
                  </a:lnTo>
                  <a:lnTo>
                    <a:pt x="2462529" y="650366"/>
                  </a:lnTo>
                  <a:lnTo>
                    <a:pt x="2526700" y="717327"/>
                  </a:lnTo>
                  <a:lnTo>
                    <a:pt x="2628391" y="746378"/>
                  </a:lnTo>
                  <a:lnTo>
                    <a:pt x="2612644" y="801369"/>
                  </a:lnTo>
                  <a:lnTo>
                    <a:pt x="2628239" y="801369"/>
                  </a:lnTo>
                  <a:lnTo>
                    <a:pt x="2675001" y="789431"/>
                  </a:lnTo>
                  <a:lnTo>
                    <a:pt x="2503678" y="610869"/>
                  </a:lnTo>
                  <a:lnTo>
                    <a:pt x="2494367" y="604373"/>
                  </a:lnTo>
                  <a:lnTo>
                    <a:pt x="2483675" y="602043"/>
                  </a:lnTo>
                  <a:close/>
                </a:path>
                <a:path w="2675254" h="851535">
                  <a:moveTo>
                    <a:pt x="2613406" y="746251"/>
                  </a:moveTo>
                  <a:lnTo>
                    <a:pt x="2566002" y="758337"/>
                  </a:lnTo>
                  <a:lnTo>
                    <a:pt x="2599816" y="793622"/>
                  </a:lnTo>
                  <a:lnTo>
                    <a:pt x="2613369" y="746378"/>
                  </a:lnTo>
                  <a:lnTo>
                    <a:pt x="2613406" y="746251"/>
                  </a:lnTo>
                  <a:close/>
                </a:path>
                <a:path w="2675254" h="851535">
                  <a:moveTo>
                    <a:pt x="2627947" y="746251"/>
                  </a:moveTo>
                  <a:lnTo>
                    <a:pt x="2613406" y="746251"/>
                  </a:lnTo>
                  <a:lnTo>
                    <a:pt x="2599816" y="793622"/>
                  </a:lnTo>
                  <a:lnTo>
                    <a:pt x="2614862" y="793622"/>
                  </a:lnTo>
                  <a:lnTo>
                    <a:pt x="2628391" y="746378"/>
                  </a:lnTo>
                  <a:lnTo>
                    <a:pt x="2627947" y="746251"/>
                  </a:lnTo>
                  <a:close/>
                </a:path>
                <a:path w="2675254" h="851535">
                  <a:moveTo>
                    <a:pt x="15748" y="0"/>
                  </a:moveTo>
                  <a:lnTo>
                    <a:pt x="0" y="54863"/>
                  </a:lnTo>
                  <a:lnTo>
                    <a:pt x="2511061" y="772345"/>
                  </a:lnTo>
                  <a:lnTo>
                    <a:pt x="2566002" y="758337"/>
                  </a:lnTo>
                  <a:lnTo>
                    <a:pt x="2526700" y="717327"/>
                  </a:lnTo>
                  <a:lnTo>
                    <a:pt x="15748" y="0"/>
                  </a:lnTo>
                  <a:close/>
                </a:path>
                <a:path w="2675254" h="851535">
                  <a:moveTo>
                    <a:pt x="2526700" y="717327"/>
                  </a:moveTo>
                  <a:lnTo>
                    <a:pt x="2566002" y="758337"/>
                  </a:lnTo>
                  <a:lnTo>
                    <a:pt x="2613406" y="746251"/>
                  </a:lnTo>
                  <a:lnTo>
                    <a:pt x="2627947" y="746251"/>
                  </a:lnTo>
                  <a:lnTo>
                    <a:pt x="2526700" y="717327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140959" y="3946842"/>
            <a:ext cx="118872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-35" dirty="0">
                <a:latin typeface="Times New Roman"/>
                <a:cs typeface="Times New Roman"/>
              </a:rPr>
              <a:t>execute </a:t>
            </a:r>
            <a:r>
              <a:rPr sz="1550" spc="-55" dirty="0">
                <a:latin typeface="Times New Roman"/>
                <a:cs typeface="Times New Roman"/>
              </a:rPr>
              <a:t>enabled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81401" y="3946842"/>
            <a:ext cx="118999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-35" dirty="0">
                <a:latin typeface="Times New Roman"/>
                <a:cs typeface="Times New Roman"/>
              </a:rPr>
              <a:t>execute </a:t>
            </a:r>
            <a:r>
              <a:rPr sz="1550" spc="-55" dirty="0">
                <a:latin typeface="Times New Roman"/>
                <a:cs typeface="Times New Roman"/>
              </a:rPr>
              <a:t>enabled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59276" y="4648771"/>
            <a:ext cx="118872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-35" dirty="0">
                <a:latin typeface="Times New Roman"/>
                <a:cs typeface="Times New Roman"/>
              </a:rPr>
              <a:t>execute </a:t>
            </a:r>
            <a:r>
              <a:rPr sz="1550" spc="-55" dirty="0">
                <a:latin typeface="Times New Roman"/>
                <a:cs typeface="Times New Roman"/>
              </a:rPr>
              <a:t>enabled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80429" y="4648771"/>
            <a:ext cx="118872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-35" dirty="0">
                <a:latin typeface="Times New Roman"/>
                <a:cs typeface="Times New Roman"/>
              </a:rPr>
              <a:t>execute </a:t>
            </a:r>
            <a:r>
              <a:rPr sz="1550" spc="-55" dirty="0">
                <a:latin typeface="Times New Roman"/>
                <a:cs typeface="Times New Roman"/>
              </a:rPr>
              <a:t>enabled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1526" y="3295015"/>
            <a:ext cx="368363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sng" spc="-10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Run-</a:t>
            </a:r>
            <a:r>
              <a:rPr u="sng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Time</a:t>
            </a:r>
            <a:r>
              <a:rPr u="sng" spc="-90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 </a:t>
            </a:r>
            <a:r>
              <a:rPr u="sng" spc="-10" dirty="0">
                <a:solidFill>
                  <a:srgbClr val="D24717"/>
                </a:solidFill>
                <a:uFill>
                  <a:solidFill>
                    <a:srgbClr val="D24717"/>
                  </a:solidFill>
                </a:uFill>
              </a:rPr>
              <a:t>Defenses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189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5"/>
              </a:spcBef>
            </a:pPr>
            <a:r>
              <a:rPr dirty="0"/>
              <a:t>Run</a:t>
            </a:r>
            <a:r>
              <a:rPr spc="-15" dirty="0"/>
              <a:t> </a:t>
            </a:r>
            <a:r>
              <a:rPr dirty="0"/>
              <a:t>time</a:t>
            </a:r>
            <a:r>
              <a:rPr spc="-25" dirty="0"/>
              <a:t> </a:t>
            </a:r>
            <a:r>
              <a:rPr dirty="0"/>
              <a:t>checking: </a:t>
            </a:r>
            <a:r>
              <a:rPr spc="-10" dirty="0"/>
              <a:t>StackGuard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657" y="1190815"/>
            <a:ext cx="8425815" cy="274447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525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run-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checking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techniques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discuss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relevant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overflow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protection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2450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287020" algn="l"/>
                <a:tab pos="1785620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Solution</a:t>
            </a:r>
            <a:r>
              <a:rPr sz="2400" u="heavy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400" spc="-25" dirty="0">
                <a:latin typeface="Times New Roman"/>
                <a:cs typeface="Times New Roman"/>
              </a:rPr>
              <a:t>: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StackGuard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Run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stack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integrity.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ts val="2865"/>
              </a:lnSpc>
              <a:spcBef>
                <a:spcPts val="42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Embed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“canaries”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stack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frames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verify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integrity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prior</a:t>
            </a:r>
            <a:endParaRPr sz="2400">
              <a:latin typeface="Times New Roman"/>
              <a:cs typeface="Times New Roman"/>
            </a:endParaRPr>
          </a:p>
          <a:p>
            <a:pPr marL="561340">
              <a:lnSpc>
                <a:spcPts val="2865"/>
              </a:lnSpc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return.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77151" y="5014976"/>
            <a:ext cx="447675" cy="371475"/>
          </a:xfrm>
          <a:prstGeom prst="rect">
            <a:avLst/>
          </a:prstGeom>
          <a:solidFill>
            <a:srgbClr val="006FC0"/>
          </a:solidFill>
          <a:ln w="9525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200"/>
              </a:spcBef>
            </a:pPr>
            <a:r>
              <a:rPr sz="1800" b="1" spc="-25" dirty="0">
                <a:latin typeface="Times New Roman"/>
                <a:cs typeface="Times New Roman"/>
              </a:rPr>
              <a:t>str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48526" y="5014976"/>
            <a:ext cx="428625" cy="371475"/>
          </a:xfrm>
          <a:prstGeom prst="rect">
            <a:avLst/>
          </a:prstGeom>
          <a:solidFill>
            <a:srgbClr val="006FC0"/>
          </a:solidFill>
          <a:ln w="9525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200"/>
              </a:spcBef>
            </a:pPr>
            <a:r>
              <a:rPr sz="1800" b="1" spc="-25" dirty="0">
                <a:latin typeface="Times New Roman"/>
                <a:cs typeface="Times New Roman"/>
              </a:rPr>
              <a:t>ret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72276" y="5014976"/>
            <a:ext cx="476250" cy="371475"/>
          </a:xfrm>
          <a:prstGeom prst="rect">
            <a:avLst/>
          </a:prstGeom>
          <a:solidFill>
            <a:srgbClr val="006FC0"/>
          </a:solidFill>
          <a:ln w="9525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200"/>
              </a:spcBef>
            </a:pPr>
            <a:r>
              <a:rPr sz="1800" b="1" spc="-25" dirty="0">
                <a:latin typeface="Times New Roman"/>
                <a:cs typeface="Times New Roman"/>
              </a:rPr>
              <a:t>sfp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95826" y="4957826"/>
            <a:ext cx="1047750" cy="504825"/>
          </a:xfrm>
          <a:custGeom>
            <a:avLst/>
            <a:gdLst/>
            <a:ahLst/>
            <a:cxnLst/>
            <a:rect l="l" t="t" r="r" b="b"/>
            <a:pathLst>
              <a:path w="1047750" h="504825">
                <a:moveTo>
                  <a:pt x="0" y="504825"/>
                </a:moveTo>
                <a:lnTo>
                  <a:pt x="1047750" y="504825"/>
                </a:lnTo>
                <a:lnTo>
                  <a:pt x="1047750" y="0"/>
                </a:lnTo>
                <a:lnTo>
                  <a:pt x="0" y="0"/>
                </a:lnTo>
                <a:lnTo>
                  <a:pt x="0" y="5048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95826" y="4957826"/>
            <a:ext cx="1047750" cy="50482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90170" rIns="0" bIns="0" rtlCol="0">
            <a:spAutoFit/>
          </a:bodyPr>
          <a:lstStyle/>
          <a:p>
            <a:pPr marL="288925">
              <a:lnSpc>
                <a:spcPct val="100000"/>
              </a:lnSpc>
              <a:spcBef>
                <a:spcPts val="710"/>
              </a:spcBef>
            </a:pPr>
            <a:r>
              <a:rPr sz="1800" b="1" spc="-10" dirty="0">
                <a:latin typeface="Times New Roman"/>
                <a:cs typeface="Times New Roman"/>
              </a:rPr>
              <a:t>local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72426" y="4957698"/>
            <a:ext cx="342900" cy="635"/>
          </a:xfrm>
          <a:custGeom>
            <a:avLst/>
            <a:gdLst/>
            <a:ahLst/>
            <a:cxnLst/>
            <a:rect l="l" t="t" r="r" b="b"/>
            <a:pathLst>
              <a:path w="342900" h="635">
                <a:moveTo>
                  <a:pt x="0" y="126"/>
                </a:moveTo>
                <a:lnTo>
                  <a:pt x="3429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48626" y="5453126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9525"/>
                </a:moveTo>
                <a:lnTo>
                  <a:pt x="3429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277225" y="4764087"/>
            <a:ext cx="440055" cy="73914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indent="68580" algn="just">
              <a:lnSpc>
                <a:spcPct val="80000"/>
              </a:lnSpc>
              <a:spcBef>
                <a:spcPts val="535"/>
              </a:spcBef>
            </a:pPr>
            <a:r>
              <a:rPr sz="1800" spc="-25" dirty="0">
                <a:latin typeface="Times New Roman"/>
                <a:cs typeface="Times New Roman"/>
              </a:rPr>
              <a:t>top of </a:t>
            </a:r>
            <a:r>
              <a:rPr sz="1800" spc="-95" dirty="0">
                <a:latin typeface="Times New Roman"/>
                <a:cs typeface="Times New Roman"/>
              </a:rPr>
              <a:t>stack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5800" y="5810250"/>
            <a:ext cx="7010400" cy="114300"/>
          </a:xfrm>
          <a:custGeom>
            <a:avLst/>
            <a:gdLst/>
            <a:ahLst/>
            <a:cxnLst/>
            <a:rect l="l" t="t" r="r" b="b"/>
            <a:pathLst>
              <a:path w="70104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62" y="76200"/>
                </a:lnTo>
                <a:lnTo>
                  <a:pt x="95262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7010400" h="114300">
                <a:moveTo>
                  <a:pt x="114300" y="38100"/>
                </a:moveTo>
                <a:lnTo>
                  <a:pt x="95262" y="38100"/>
                </a:lnTo>
                <a:lnTo>
                  <a:pt x="95262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7010400" h="114300">
                <a:moveTo>
                  <a:pt x="70104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7010400" y="76200"/>
                </a:lnTo>
                <a:lnTo>
                  <a:pt x="70104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53101" y="4957826"/>
            <a:ext cx="1019175" cy="504825"/>
          </a:xfrm>
          <a:custGeom>
            <a:avLst/>
            <a:gdLst/>
            <a:ahLst/>
            <a:cxnLst/>
            <a:rect l="l" t="t" r="r" b="b"/>
            <a:pathLst>
              <a:path w="1019175" h="504825">
                <a:moveTo>
                  <a:pt x="0" y="504825"/>
                </a:moveTo>
                <a:lnTo>
                  <a:pt x="1019175" y="504825"/>
                </a:lnTo>
                <a:lnTo>
                  <a:pt x="1019175" y="0"/>
                </a:lnTo>
                <a:lnTo>
                  <a:pt x="0" y="0"/>
                </a:lnTo>
                <a:lnTo>
                  <a:pt x="0" y="5048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257863" y="4962588"/>
            <a:ext cx="967105" cy="49530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5725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675"/>
              </a:spcBef>
            </a:pPr>
            <a:r>
              <a:rPr sz="1800" b="1" spc="-10" dirty="0">
                <a:latin typeface="Times New Roman"/>
                <a:cs typeface="Times New Roman"/>
              </a:rPr>
              <a:t>canary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47054" y="4506531"/>
            <a:ext cx="7112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latin typeface="Times New Roman"/>
                <a:cs typeface="Times New Roman"/>
              </a:rPr>
              <a:t>Frame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84425" y="4522152"/>
            <a:ext cx="7124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latin typeface="Times New Roman"/>
                <a:cs typeface="Times New Roman"/>
              </a:rPr>
              <a:t>Frame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04800" y="4948301"/>
          <a:ext cx="3810000" cy="563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1475"/>
                <a:gridCol w="1038225"/>
                <a:gridCol w="1000125"/>
                <a:gridCol w="523875"/>
                <a:gridCol w="428625"/>
                <a:gridCol w="447675"/>
              </a:tblGrid>
              <a:tr h="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8511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local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canary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71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01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01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sfp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ret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str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</a:tr>
              <a:tr h="76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01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01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375" y="90169"/>
            <a:ext cx="253746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Canary</a:t>
            </a:r>
            <a:r>
              <a:rPr spc="-80" dirty="0"/>
              <a:t> </a:t>
            </a:r>
            <a:r>
              <a:rPr spc="-4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857" y="1045082"/>
            <a:ext cx="7781290" cy="251460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620"/>
              </a:spcBef>
              <a:buClr>
                <a:srgbClr val="D24717"/>
              </a:buClr>
              <a:buSzPct val="82692"/>
              <a:buFont typeface="Segoe UI Symbol"/>
              <a:buChar char="⚫"/>
              <a:tabLst>
                <a:tab pos="286385" algn="l"/>
              </a:tabLst>
            </a:pPr>
            <a:r>
              <a:rPr sz="2600" u="sng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Times New Roman"/>
                <a:cs typeface="Times New Roman"/>
              </a:rPr>
              <a:t>Random</a:t>
            </a:r>
            <a:r>
              <a:rPr sz="2600" u="sng" spc="-50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u="sng" spc="-10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Times New Roman"/>
                <a:cs typeface="Times New Roman"/>
              </a:rPr>
              <a:t>canary:</a:t>
            </a:r>
            <a:endParaRPr sz="26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59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Random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 chosen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 program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startup.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Insert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canary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(4-</a:t>
            </a:r>
            <a:r>
              <a:rPr sz="2400" dirty="0">
                <a:latin typeface="Times New Roman"/>
                <a:cs typeface="Times New Roman"/>
              </a:rPr>
              <a:t>8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bytes)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 every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stack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frame.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35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2400" spc="-30" dirty="0">
                <a:latin typeface="Times New Roman"/>
                <a:cs typeface="Times New Roman"/>
              </a:rPr>
              <a:t>Verify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canary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before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function.</a:t>
            </a:r>
            <a:endParaRPr sz="2400">
              <a:latin typeface="Times New Roman"/>
              <a:cs typeface="Times New Roman"/>
            </a:endParaRPr>
          </a:p>
          <a:p>
            <a:pPr marL="835025" lvl="2" indent="-227329">
              <a:lnSpc>
                <a:spcPct val="100000"/>
              </a:lnSpc>
              <a:spcBef>
                <a:spcPts val="445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35025" algn="l"/>
                <a:tab pos="4425315" algn="l"/>
              </a:tabLst>
            </a:pPr>
            <a:r>
              <a:rPr sz="2000" dirty="0">
                <a:latin typeface="Times New Roman"/>
                <a:cs typeface="Times New Roman"/>
              </a:rPr>
              <a:t>Exit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canary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changed.</a:t>
            </a:r>
            <a:r>
              <a:rPr sz="2000" dirty="0">
                <a:latin typeface="Times New Roman"/>
                <a:cs typeface="Times New Roman"/>
              </a:rPr>
              <a:t>	Turns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potential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exploit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DoS.</a:t>
            </a:r>
            <a:endParaRPr sz="20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359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2400" spc="-4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corrupt,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attacker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current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random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string.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857" y="3940873"/>
            <a:ext cx="281495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25"/>
              </a:spcBef>
              <a:buClr>
                <a:srgbClr val="D24717"/>
              </a:buClr>
              <a:buSzPct val="82692"/>
              <a:buFont typeface="Segoe UI Symbol"/>
              <a:buChar char="⚫"/>
              <a:tabLst>
                <a:tab pos="286385" algn="l"/>
              </a:tabLst>
            </a:pPr>
            <a:r>
              <a:rPr sz="2600" u="sng" spc="-10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Times New Roman"/>
                <a:cs typeface="Times New Roman"/>
              </a:rPr>
              <a:t>Terminator</a:t>
            </a:r>
            <a:r>
              <a:rPr sz="2600" u="sng" spc="-150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u="sng" spc="-10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Times New Roman"/>
                <a:cs typeface="Times New Roman"/>
              </a:rPr>
              <a:t>canary: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53484" y="4017073"/>
            <a:ext cx="394779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Canary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{0,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newline,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linefeed,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EOF}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4215" y="4335272"/>
            <a:ext cx="6709409" cy="128460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2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String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 copy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beyond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terminator.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Attacker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cannot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corrupt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stack.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often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889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Acknowledgements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375" y="1387538"/>
            <a:ext cx="8081009" cy="979169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600" dirty="0">
                <a:latin typeface="Times New Roman"/>
                <a:cs typeface="Times New Roman"/>
              </a:rPr>
              <a:t>Material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lecture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taken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from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slides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prepared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by:</a:t>
            </a:r>
            <a:endParaRPr sz="26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635"/>
              </a:spcBef>
              <a:buClr>
                <a:srgbClr val="D24717"/>
              </a:buClr>
              <a:buSzPct val="82692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Times New Roman"/>
                <a:cs typeface="Times New Roman"/>
              </a:rPr>
              <a:t>Prof.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Dan Boneh</a:t>
            </a:r>
            <a:r>
              <a:rPr sz="2600" spc="-10" dirty="0">
                <a:latin typeface="Times New Roman"/>
                <a:cs typeface="Times New Roman"/>
              </a:rPr>
              <a:t> (Standford)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248400"/>
            <a:ext cx="476250" cy="381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65100">
              <a:lnSpc>
                <a:spcPts val="1550"/>
              </a:lnSpc>
            </a:pPr>
            <a:r>
              <a:rPr spc="-180" dirty="0"/>
              <a:t>FAST-</a:t>
            </a:r>
            <a:r>
              <a:rPr spc="-100" dirty="0"/>
              <a:t>NUCES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894</Words>
  <Application>Microsoft Office PowerPoint</Application>
  <PresentationFormat>On-screen Show (4:3)</PresentationFormat>
  <Paragraphs>348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CS-3002: Information Security</vt:lpstr>
      <vt:lpstr>This Lecture</vt:lpstr>
      <vt:lpstr>Basic Control Hijacking Attacks</vt:lpstr>
      <vt:lpstr>Control hijacking attacks</vt:lpstr>
      <vt:lpstr>What is needed</vt:lpstr>
      <vt:lpstr>Linux process memory layout</vt:lpstr>
      <vt:lpstr>Stack Frame (created every time a new function is invoked)</vt:lpstr>
      <vt:lpstr>What are buffer overflows?</vt:lpstr>
      <vt:lpstr>What are buffer overflows?</vt:lpstr>
      <vt:lpstr>Basic stack exploit</vt:lpstr>
      <vt:lpstr>The NOP slide</vt:lpstr>
      <vt:lpstr>Details and examples</vt:lpstr>
      <vt:lpstr>Many unsafe libc functions</vt:lpstr>
      <vt:lpstr>Finding buffer overflows</vt:lpstr>
      <vt:lpstr>More Control Hijacking Attacks</vt:lpstr>
      <vt:lpstr>More Hijacking Opportunities</vt:lpstr>
      <vt:lpstr>Integer Overflows (Phrack issue 60)</vt:lpstr>
      <vt:lpstr>An example</vt:lpstr>
      <vt:lpstr>Format String Bug</vt:lpstr>
      <vt:lpstr>Format string problem</vt:lpstr>
      <vt:lpstr>Vulnerable functions</vt:lpstr>
      <vt:lpstr>Exploit</vt:lpstr>
      <vt:lpstr>Platform Defenses</vt:lpstr>
      <vt:lpstr>Preventing hijacking attacks</vt:lpstr>
      <vt:lpstr>Marking memory as non-execute (W^X)</vt:lpstr>
      <vt:lpstr>Examples:</vt:lpstr>
      <vt:lpstr>Attack: return to libc</vt:lpstr>
      <vt:lpstr>Response: randomization</vt:lpstr>
      <vt:lpstr>ASLR Example</vt:lpstr>
      <vt:lpstr>Some attacks remain: JiT spraying</vt:lpstr>
      <vt:lpstr>Run-Time Defenses</vt:lpstr>
      <vt:lpstr>Run time checking: StackGuard</vt:lpstr>
      <vt:lpstr>Canary Types</vt:lpstr>
      <vt:lpstr>Acknowledgements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CS-3002: Information Security</dc:title>
  <cp:lastModifiedBy>DELL</cp:lastModifiedBy>
  <cp:revision>2</cp:revision>
  <dcterms:created xsi:type="dcterms:W3CDTF">2025-11-09T08:11:32Z</dcterms:created>
  <dcterms:modified xsi:type="dcterms:W3CDTF">2025-11-09T08:33:10Z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2025-10-27T00:00:00Z</vt:filetime>
  </property>
  <property fmtid="{D5CDD505-2E9C-101B-9397-08002B2CF9AE}" pid="3" name="LastSaved">
    <vt:filetime>2025-11-09T00:00:00Z</vt:filetime>
  </property>
</Properties>
</file>