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1.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2.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5.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52"/>
  </p:notesMasterIdLst>
  <p:sldIdLst>
    <p:sldId id="282" r:id="rId3"/>
    <p:sldId id="434" r:id="rId4"/>
    <p:sldId id="389" r:id="rId5"/>
    <p:sldId id="435" r:id="rId6"/>
    <p:sldId id="359" r:id="rId7"/>
    <p:sldId id="442" r:id="rId8"/>
    <p:sldId id="448" r:id="rId9"/>
    <p:sldId id="449" r:id="rId10"/>
    <p:sldId id="443" r:id="rId11"/>
    <p:sldId id="301" r:id="rId12"/>
    <p:sldId id="302" r:id="rId13"/>
    <p:sldId id="303" r:id="rId14"/>
    <p:sldId id="304" r:id="rId15"/>
    <p:sldId id="285" r:id="rId16"/>
    <p:sldId id="286" r:id="rId17"/>
    <p:sldId id="287" r:id="rId18"/>
    <p:sldId id="296" r:id="rId19"/>
    <p:sldId id="298" r:id="rId20"/>
    <p:sldId id="288" r:id="rId21"/>
    <p:sldId id="289" r:id="rId22"/>
    <p:sldId id="297" r:id="rId23"/>
    <p:sldId id="290" r:id="rId24"/>
    <p:sldId id="291" r:id="rId25"/>
    <p:sldId id="292" r:id="rId26"/>
    <p:sldId id="293" r:id="rId27"/>
    <p:sldId id="294" r:id="rId28"/>
    <p:sldId id="295" r:id="rId29"/>
    <p:sldId id="398" r:id="rId30"/>
    <p:sldId id="400" r:id="rId31"/>
    <p:sldId id="459" r:id="rId32"/>
    <p:sldId id="460" r:id="rId33"/>
    <p:sldId id="399" r:id="rId34"/>
    <p:sldId id="461" r:id="rId35"/>
    <p:sldId id="426" r:id="rId36"/>
    <p:sldId id="462" r:id="rId37"/>
    <p:sldId id="385" r:id="rId38"/>
    <p:sldId id="401" r:id="rId39"/>
    <p:sldId id="402" r:id="rId40"/>
    <p:sldId id="403" r:id="rId41"/>
    <p:sldId id="404" r:id="rId42"/>
    <p:sldId id="386" r:id="rId43"/>
    <p:sldId id="405" r:id="rId44"/>
    <p:sldId id="406" r:id="rId45"/>
    <p:sldId id="407" r:id="rId46"/>
    <p:sldId id="427" r:id="rId47"/>
    <p:sldId id="409" r:id="rId48"/>
    <p:sldId id="410" r:id="rId49"/>
    <p:sldId id="413" r:id="rId50"/>
    <p:sldId id="463"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5" d="100"/>
          <a:sy n="115" d="100"/>
        </p:scale>
        <p:origin x="432" y="11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2ADEB7-B7F2-F449-BAE8-94D6DEBD33A7}"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7489256D-A6B2-5342-B665-C46AD35BC275}">
      <dgm:prSet/>
      <dgm:spPr>
        <a:effectLst/>
      </dgm:spPr>
      <dgm:t>
        <a:bodyPr/>
        <a:lstStyle/>
        <a:p>
          <a:pPr rtl="0"/>
          <a:r>
            <a:rPr lang="en-US" b="1" dirty="0">
              <a:solidFill>
                <a:schemeClr val="tx1"/>
              </a:solidFill>
              <a:effectLst/>
            </a:rPr>
            <a:t>Classified into two broad categories:</a:t>
          </a:r>
        </a:p>
      </dgm:t>
    </dgm:pt>
    <dgm:pt modelId="{55B57489-C24E-9D40-918A-38828F8E3B0B}" type="parTrans" cxnId="{3D9ACDFA-7BC7-5C48-A2E0-3571387951BD}">
      <dgm:prSet/>
      <dgm:spPr/>
      <dgm:t>
        <a:bodyPr/>
        <a:lstStyle/>
        <a:p>
          <a:endParaRPr lang="en-US"/>
        </a:p>
      </dgm:t>
    </dgm:pt>
    <dgm:pt modelId="{BD592802-C4EC-CF4F-831A-2FF8AE359509}" type="sibTrans" cxnId="{3D9ACDFA-7BC7-5C48-A2E0-3571387951BD}">
      <dgm:prSet/>
      <dgm:spPr/>
      <dgm:t>
        <a:bodyPr/>
        <a:lstStyle/>
        <a:p>
          <a:endParaRPr lang="en-US"/>
        </a:p>
      </dgm:t>
    </dgm:pt>
    <dgm:pt modelId="{1C6539FB-DF41-9847-8663-8590CEAA001E}">
      <dgm:prSet/>
      <dgm:spPr/>
      <dgm:t>
        <a:bodyPr/>
        <a:lstStyle/>
        <a:p>
          <a:pPr rtl="0"/>
          <a:r>
            <a:rPr lang="en-US" b="1" i="0" dirty="0">
              <a:latin typeface="+mj-lt"/>
            </a:rPr>
            <a:t>Based first on how it spreads or propagates to reach the desired targets</a:t>
          </a:r>
        </a:p>
      </dgm:t>
    </dgm:pt>
    <dgm:pt modelId="{F2093A2E-173F-ED4E-896A-34F2417B94C2}" type="parTrans" cxnId="{BCA80FD4-1FFE-1047-87AB-CE4A87BF548E}">
      <dgm:prSet/>
      <dgm:spPr/>
      <dgm:t>
        <a:bodyPr/>
        <a:lstStyle/>
        <a:p>
          <a:endParaRPr lang="en-US" dirty="0"/>
        </a:p>
      </dgm:t>
    </dgm:pt>
    <dgm:pt modelId="{0DE61BF1-A6DC-B442-B61B-7BEABF3B2C66}" type="sibTrans" cxnId="{BCA80FD4-1FFE-1047-87AB-CE4A87BF548E}">
      <dgm:prSet/>
      <dgm:spPr/>
      <dgm:t>
        <a:bodyPr/>
        <a:lstStyle/>
        <a:p>
          <a:endParaRPr lang="en-US" dirty="0"/>
        </a:p>
      </dgm:t>
    </dgm:pt>
    <dgm:pt modelId="{26F09AB1-5F42-E248-9349-B14C380F21B0}">
      <dgm:prSet/>
      <dgm:spPr/>
      <dgm:t>
        <a:bodyPr/>
        <a:lstStyle/>
        <a:p>
          <a:pPr rtl="0"/>
          <a:r>
            <a:rPr lang="en-US" b="1" i="0" dirty="0">
              <a:latin typeface="+mj-lt"/>
            </a:rPr>
            <a:t>Then on the actions or payloads it performs once a target is reached</a:t>
          </a:r>
        </a:p>
      </dgm:t>
    </dgm:pt>
    <dgm:pt modelId="{02DBF3FB-0940-5646-A681-13A1CC7E1DFC}" type="parTrans" cxnId="{F4DE6A75-1A9F-884C-93D0-8855DAA0A000}">
      <dgm:prSet/>
      <dgm:spPr/>
      <dgm:t>
        <a:bodyPr/>
        <a:lstStyle/>
        <a:p>
          <a:endParaRPr lang="en-US"/>
        </a:p>
      </dgm:t>
    </dgm:pt>
    <dgm:pt modelId="{75A38B05-D8E3-924F-A288-597F2E57C0DA}" type="sibTrans" cxnId="{F4DE6A75-1A9F-884C-93D0-8855DAA0A000}">
      <dgm:prSet/>
      <dgm:spPr/>
      <dgm:t>
        <a:bodyPr/>
        <a:lstStyle/>
        <a:p>
          <a:endParaRPr lang="en-US"/>
        </a:p>
      </dgm:t>
    </dgm:pt>
    <dgm:pt modelId="{B99B28DC-1840-6342-8847-BD8052638864}">
      <dgm:prSet/>
      <dgm:spPr/>
      <dgm:t>
        <a:bodyPr/>
        <a:lstStyle/>
        <a:p>
          <a:pPr rtl="0"/>
          <a:r>
            <a:rPr lang="en-US" b="1" dirty="0">
              <a:solidFill>
                <a:schemeClr val="tx1"/>
              </a:solidFill>
              <a:effectLst/>
            </a:rPr>
            <a:t>Also classified by: </a:t>
          </a:r>
          <a:endParaRPr lang="en-US" dirty="0">
            <a:solidFill>
              <a:schemeClr val="tx1"/>
            </a:solidFill>
            <a:effectLst/>
          </a:endParaRPr>
        </a:p>
      </dgm:t>
    </dgm:pt>
    <dgm:pt modelId="{AD9F882A-346E-644B-A264-A139B7A273E2}" type="parTrans" cxnId="{34273889-8C21-684F-AE5B-94D926DC822D}">
      <dgm:prSet/>
      <dgm:spPr/>
      <dgm:t>
        <a:bodyPr/>
        <a:lstStyle/>
        <a:p>
          <a:endParaRPr lang="en-US"/>
        </a:p>
      </dgm:t>
    </dgm:pt>
    <dgm:pt modelId="{A1721077-56E5-004F-8CCD-318B396732B1}" type="sibTrans" cxnId="{34273889-8C21-684F-AE5B-94D926DC822D}">
      <dgm:prSet/>
      <dgm:spPr/>
      <dgm:t>
        <a:bodyPr/>
        <a:lstStyle/>
        <a:p>
          <a:endParaRPr lang="en-US"/>
        </a:p>
      </dgm:t>
    </dgm:pt>
    <dgm:pt modelId="{63748016-E909-7749-8D4F-CBEA0C8C8028}">
      <dgm:prSet/>
      <dgm:spPr/>
      <dgm:t>
        <a:bodyPr/>
        <a:lstStyle/>
        <a:p>
          <a:pPr rtl="0"/>
          <a:r>
            <a:rPr lang="en-US" b="1" i="0" dirty="0">
              <a:latin typeface="+mj-lt"/>
            </a:rPr>
            <a:t>Those that need a host  program (parasitic code such as viruses)</a:t>
          </a:r>
        </a:p>
      </dgm:t>
    </dgm:pt>
    <dgm:pt modelId="{910E3748-395A-9747-9C25-4A58B8AD44C2}" type="parTrans" cxnId="{07CAA0DD-6259-AE47-945B-EBB7466AB621}">
      <dgm:prSet/>
      <dgm:spPr/>
      <dgm:t>
        <a:bodyPr/>
        <a:lstStyle/>
        <a:p>
          <a:endParaRPr lang="en-US" dirty="0"/>
        </a:p>
      </dgm:t>
    </dgm:pt>
    <dgm:pt modelId="{716CE549-8138-BC4B-8FB3-DF180464C301}" type="sibTrans" cxnId="{07CAA0DD-6259-AE47-945B-EBB7466AB621}">
      <dgm:prSet/>
      <dgm:spPr/>
      <dgm:t>
        <a:bodyPr/>
        <a:lstStyle/>
        <a:p>
          <a:endParaRPr lang="en-US" dirty="0"/>
        </a:p>
      </dgm:t>
    </dgm:pt>
    <dgm:pt modelId="{DF5FD426-5B69-3244-BC9A-7CE9E664D873}">
      <dgm:prSet/>
      <dgm:spPr/>
      <dgm:t>
        <a:bodyPr/>
        <a:lstStyle/>
        <a:p>
          <a:pPr rtl="0"/>
          <a:r>
            <a:rPr lang="en-US" b="1" i="0" dirty="0">
              <a:latin typeface="+mj-lt"/>
            </a:rPr>
            <a:t>Those that are independent, self-contained programs (worms, trojans, and bots)</a:t>
          </a:r>
        </a:p>
      </dgm:t>
    </dgm:pt>
    <dgm:pt modelId="{2CC51F01-3233-5949-AC29-09ECE6FB99C9}" type="parTrans" cxnId="{30A6D4C6-9A69-2C4C-8E33-4E47FE18EE27}">
      <dgm:prSet/>
      <dgm:spPr/>
      <dgm:t>
        <a:bodyPr/>
        <a:lstStyle/>
        <a:p>
          <a:endParaRPr lang="en-US"/>
        </a:p>
      </dgm:t>
    </dgm:pt>
    <dgm:pt modelId="{4EB9040F-A42E-9448-9E5D-FB650183CF9F}" type="sibTrans" cxnId="{30A6D4C6-9A69-2C4C-8E33-4E47FE18EE27}">
      <dgm:prSet/>
      <dgm:spPr/>
      <dgm:t>
        <a:bodyPr/>
        <a:lstStyle/>
        <a:p>
          <a:endParaRPr lang="en-US" dirty="0"/>
        </a:p>
      </dgm:t>
    </dgm:pt>
    <dgm:pt modelId="{E100D654-871B-8944-8398-52EC1637F13F}">
      <dgm:prSet/>
      <dgm:spPr/>
      <dgm:t>
        <a:bodyPr/>
        <a:lstStyle/>
        <a:p>
          <a:pPr rtl="0"/>
          <a:r>
            <a:rPr lang="en-US" b="1" i="0" dirty="0">
              <a:latin typeface="+mj-lt"/>
            </a:rPr>
            <a:t>Malware that does not replicate (trojans and spam  e-mail)</a:t>
          </a:r>
        </a:p>
      </dgm:t>
    </dgm:pt>
    <dgm:pt modelId="{6AB7DFA6-98D9-C743-8150-ABFA4B9E6F14}" type="parTrans" cxnId="{5C2CF0FD-9DAA-3B4C-9E5E-3E6A3CBE7DEF}">
      <dgm:prSet/>
      <dgm:spPr/>
      <dgm:t>
        <a:bodyPr/>
        <a:lstStyle/>
        <a:p>
          <a:endParaRPr lang="en-US"/>
        </a:p>
      </dgm:t>
    </dgm:pt>
    <dgm:pt modelId="{F6E00E15-E6F3-F942-9B34-CAE643C995F6}" type="sibTrans" cxnId="{5C2CF0FD-9DAA-3B4C-9E5E-3E6A3CBE7DEF}">
      <dgm:prSet/>
      <dgm:spPr/>
      <dgm:t>
        <a:bodyPr/>
        <a:lstStyle/>
        <a:p>
          <a:endParaRPr lang="en-US" dirty="0"/>
        </a:p>
      </dgm:t>
    </dgm:pt>
    <dgm:pt modelId="{AD27E523-4198-8A43-9A92-601902BD84C7}">
      <dgm:prSet/>
      <dgm:spPr/>
      <dgm:t>
        <a:bodyPr/>
        <a:lstStyle/>
        <a:p>
          <a:pPr rtl="0"/>
          <a:r>
            <a:rPr lang="en-US" b="1" i="0" dirty="0">
              <a:latin typeface="+mj-lt"/>
            </a:rPr>
            <a:t>Malware that does replicate (viruses and worms)</a:t>
          </a:r>
        </a:p>
      </dgm:t>
    </dgm:pt>
    <dgm:pt modelId="{DB266CC2-B7FC-D843-ADCD-363E270916EC}" type="parTrans" cxnId="{BED4BD69-A73A-AE44-A0C8-CE970CD0C68F}">
      <dgm:prSet/>
      <dgm:spPr/>
      <dgm:t>
        <a:bodyPr/>
        <a:lstStyle/>
        <a:p>
          <a:endParaRPr lang="en-US"/>
        </a:p>
      </dgm:t>
    </dgm:pt>
    <dgm:pt modelId="{AB1F3640-C14F-7249-B96B-3C87FB299A86}" type="sibTrans" cxnId="{BED4BD69-A73A-AE44-A0C8-CE970CD0C68F}">
      <dgm:prSet/>
      <dgm:spPr/>
      <dgm:t>
        <a:bodyPr/>
        <a:lstStyle/>
        <a:p>
          <a:endParaRPr lang="en-US"/>
        </a:p>
      </dgm:t>
    </dgm:pt>
    <dgm:pt modelId="{36780F4B-F7D5-6644-AB4C-279A84EBBC87}" type="pres">
      <dgm:prSet presAssocID="{822ADEB7-B7F2-F449-BAE8-94D6DEBD33A7}" presName="Name0" presStyleCnt="0">
        <dgm:presLayoutVars>
          <dgm:dir/>
          <dgm:animLvl val="lvl"/>
          <dgm:resizeHandles val="exact"/>
        </dgm:presLayoutVars>
      </dgm:prSet>
      <dgm:spPr/>
      <dgm:t>
        <a:bodyPr/>
        <a:lstStyle/>
        <a:p>
          <a:endParaRPr lang="en-US"/>
        </a:p>
      </dgm:t>
    </dgm:pt>
    <dgm:pt modelId="{C8205139-D25D-9141-8B65-B7533B220C63}" type="pres">
      <dgm:prSet presAssocID="{7489256D-A6B2-5342-B665-C46AD35BC275}" presName="vertFlow" presStyleCnt="0"/>
      <dgm:spPr/>
    </dgm:pt>
    <dgm:pt modelId="{D6683EB3-9145-414D-BA47-C91BB8F520AC}" type="pres">
      <dgm:prSet presAssocID="{7489256D-A6B2-5342-B665-C46AD35BC275}" presName="header" presStyleLbl="node1" presStyleIdx="0" presStyleCnt="2"/>
      <dgm:spPr/>
      <dgm:t>
        <a:bodyPr/>
        <a:lstStyle/>
        <a:p>
          <a:endParaRPr lang="en-US"/>
        </a:p>
      </dgm:t>
    </dgm:pt>
    <dgm:pt modelId="{EDB22133-E8C5-564E-9BDE-77A9A6AFF0D9}" type="pres">
      <dgm:prSet presAssocID="{F2093A2E-173F-ED4E-896A-34F2417B94C2}" presName="parTrans" presStyleLbl="sibTrans2D1" presStyleIdx="0" presStyleCnt="6"/>
      <dgm:spPr/>
      <dgm:t>
        <a:bodyPr/>
        <a:lstStyle/>
        <a:p>
          <a:endParaRPr lang="en-US"/>
        </a:p>
      </dgm:t>
    </dgm:pt>
    <dgm:pt modelId="{23949CA4-11FE-B44B-8096-7F92BA04476C}" type="pres">
      <dgm:prSet presAssocID="{1C6539FB-DF41-9847-8663-8590CEAA001E}" presName="child" presStyleLbl="alignAccFollowNode1" presStyleIdx="0" presStyleCnt="6">
        <dgm:presLayoutVars>
          <dgm:chMax val="0"/>
          <dgm:bulletEnabled val="1"/>
        </dgm:presLayoutVars>
      </dgm:prSet>
      <dgm:spPr/>
      <dgm:t>
        <a:bodyPr/>
        <a:lstStyle/>
        <a:p>
          <a:endParaRPr lang="en-US"/>
        </a:p>
      </dgm:t>
    </dgm:pt>
    <dgm:pt modelId="{AB73B6B3-49AA-5044-87E7-043168FDA1C2}" type="pres">
      <dgm:prSet presAssocID="{0DE61BF1-A6DC-B442-B61B-7BEABF3B2C66}" presName="sibTrans" presStyleLbl="sibTrans2D1" presStyleIdx="1" presStyleCnt="6"/>
      <dgm:spPr/>
      <dgm:t>
        <a:bodyPr/>
        <a:lstStyle/>
        <a:p>
          <a:endParaRPr lang="en-US"/>
        </a:p>
      </dgm:t>
    </dgm:pt>
    <dgm:pt modelId="{318E9CFC-7000-5948-92CC-E06FCC323ED3}" type="pres">
      <dgm:prSet presAssocID="{26F09AB1-5F42-E248-9349-B14C380F21B0}" presName="child" presStyleLbl="alignAccFollowNode1" presStyleIdx="1" presStyleCnt="6">
        <dgm:presLayoutVars>
          <dgm:chMax val="0"/>
          <dgm:bulletEnabled val="1"/>
        </dgm:presLayoutVars>
      </dgm:prSet>
      <dgm:spPr/>
      <dgm:t>
        <a:bodyPr/>
        <a:lstStyle/>
        <a:p>
          <a:endParaRPr lang="en-US"/>
        </a:p>
      </dgm:t>
    </dgm:pt>
    <dgm:pt modelId="{D3E1A360-9A1F-6E46-B239-C3268BB1419E}" type="pres">
      <dgm:prSet presAssocID="{7489256D-A6B2-5342-B665-C46AD35BC275}" presName="hSp" presStyleCnt="0"/>
      <dgm:spPr/>
    </dgm:pt>
    <dgm:pt modelId="{6D61C701-43FF-A740-983C-CD253190EEC7}" type="pres">
      <dgm:prSet presAssocID="{B99B28DC-1840-6342-8847-BD8052638864}" presName="vertFlow" presStyleCnt="0"/>
      <dgm:spPr/>
    </dgm:pt>
    <dgm:pt modelId="{CAF028A9-25B4-7042-8AC7-32B854073429}" type="pres">
      <dgm:prSet presAssocID="{B99B28DC-1840-6342-8847-BD8052638864}" presName="header" presStyleLbl="node1" presStyleIdx="1" presStyleCnt="2"/>
      <dgm:spPr/>
      <dgm:t>
        <a:bodyPr/>
        <a:lstStyle/>
        <a:p>
          <a:endParaRPr lang="en-US"/>
        </a:p>
      </dgm:t>
    </dgm:pt>
    <dgm:pt modelId="{3DDCB43C-A170-0943-B0D8-AF848C17E12A}" type="pres">
      <dgm:prSet presAssocID="{910E3748-395A-9747-9C25-4A58B8AD44C2}" presName="parTrans" presStyleLbl="sibTrans2D1" presStyleIdx="2" presStyleCnt="6"/>
      <dgm:spPr/>
      <dgm:t>
        <a:bodyPr/>
        <a:lstStyle/>
        <a:p>
          <a:endParaRPr lang="en-US"/>
        </a:p>
      </dgm:t>
    </dgm:pt>
    <dgm:pt modelId="{BD5206BD-938A-9E47-BA58-471B4BFB7074}" type="pres">
      <dgm:prSet presAssocID="{63748016-E909-7749-8D4F-CBEA0C8C8028}" presName="child" presStyleLbl="alignAccFollowNode1" presStyleIdx="2" presStyleCnt="6">
        <dgm:presLayoutVars>
          <dgm:chMax val="0"/>
          <dgm:bulletEnabled val="1"/>
        </dgm:presLayoutVars>
      </dgm:prSet>
      <dgm:spPr/>
      <dgm:t>
        <a:bodyPr/>
        <a:lstStyle/>
        <a:p>
          <a:endParaRPr lang="en-US"/>
        </a:p>
      </dgm:t>
    </dgm:pt>
    <dgm:pt modelId="{5294E86B-9DC9-C242-BE4F-6917AE89A034}" type="pres">
      <dgm:prSet presAssocID="{716CE549-8138-BC4B-8FB3-DF180464C301}" presName="sibTrans" presStyleLbl="sibTrans2D1" presStyleIdx="3" presStyleCnt="6"/>
      <dgm:spPr/>
      <dgm:t>
        <a:bodyPr/>
        <a:lstStyle/>
        <a:p>
          <a:endParaRPr lang="en-US"/>
        </a:p>
      </dgm:t>
    </dgm:pt>
    <dgm:pt modelId="{96C0851B-4FB5-6248-AF53-A2A3E18CD2D5}" type="pres">
      <dgm:prSet presAssocID="{DF5FD426-5B69-3244-BC9A-7CE9E664D873}" presName="child" presStyleLbl="alignAccFollowNode1" presStyleIdx="3" presStyleCnt="6">
        <dgm:presLayoutVars>
          <dgm:chMax val="0"/>
          <dgm:bulletEnabled val="1"/>
        </dgm:presLayoutVars>
      </dgm:prSet>
      <dgm:spPr/>
      <dgm:t>
        <a:bodyPr/>
        <a:lstStyle/>
        <a:p>
          <a:endParaRPr lang="en-US"/>
        </a:p>
      </dgm:t>
    </dgm:pt>
    <dgm:pt modelId="{72589221-705F-AA40-B4C6-05F80364904C}" type="pres">
      <dgm:prSet presAssocID="{4EB9040F-A42E-9448-9E5D-FB650183CF9F}" presName="sibTrans" presStyleLbl="sibTrans2D1" presStyleIdx="4" presStyleCnt="6"/>
      <dgm:spPr/>
      <dgm:t>
        <a:bodyPr/>
        <a:lstStyle/>
        <a:p>
          <a:endParaRPr lang="en-US"/>
        </a:p>
      </dgm:t>
    </dgm:pt>
    <dgm:pt modelId="{2CFCC1E6-6884-8F42-AAC4-8F51DCBE28BD}" type="pres">
      <dgm:prSet presAssocID="{E100D654-871B-8944-8398-52EC1637F13F}" presName="child" presStyleLbl="alignAccFollowNode1" presStyleIdx="4" presStyleCnt="6">
        <dgm:presLayoutVars>
          <dgm:chMax val="0"/>
          <dgm:bulletEnabled val="1"/>
        </dgm:presLayoutVars>
      </dgm:prSet>
      <dgm:spPr/>
      <dgm:t>
        <a:bodyPr/>
        <a:lstStyle/>
        <a:p>
          <a:endParaRPr lang="en-US"/>
        </a:p>
      </dgm:t>
    </dgm:pt>
    <dgm:pt modelId="{73DDE64E-DD84-7746-BE01-849021843D34}" type="pres">
      <dgm:prSet presAssocID="{F6E00E15-E6F3-F942-9B34-CAE643C995F6}" presName="sibTrans" presStyleLbl="sibTrans2D1" presStyleIdx="5" presStyleCnt="6"/>
      <dgm:spPr/>
      <dgm:t>
        <a:bodyPr/>
        <a:lstStyle/>
        <a:p>
          <a:endParaRPr lang="en-US"/>
        </a:p>
      </dgm:t>
    </dgm:pt>
    <dgm:pt modelId="{BC9811A8-A431-9545-AB24-6FCE1425685B}" type="pres">
      <dgm:prSet presAssocID="{AD27E523-4198-8A43-9A92-601902BD84C7}" presName="child" presStyleLbl="alignAccFollowNode1" presStyleIdx="5" presStyleCnt="6">
        <dgm:presLayoutVars>
          <dgm:chMax val="0"/>
          <dgm:bulletEnabled val="1"/>
        </dgm:presLayoutVars>
      </dgm:prSet>
      <dgm:spPr/>
      <dgm:t>
        <a:bodyPr/>
        <a:lstStyle/>
        <a:p>
          <a:endParaRPr lang="en-US"/>
        </a:p>
      </dgm:t>
    </dgm:pt>
  </dgm:ptLst>
  <dgm:cxnLst>
    <dgm:cxn modelId="{BED4BD69-A73A-AE44-A0C8-CE970CD0C68F}" srcId="{B99B28DC-1840-6342-8847-BD8052638864}" destId="{AD27E523-4198-8A43-9A92-601902BD84C7}" srcOrd="3" destOrd="0" parTransId="{DB266CC2-B7FC-D843-ADCD-363E270916EC}" sibTransId="{AB1F3640-C14F-7249-B96B-3C87FB299A86}"/>
    <dgm:cxn modelId="{F4DE6A75-1A9F-884C-93D0-8855DAA0A000}" srcId="{7489256D-A6B2-5342-B665-C46AD35BC275}" destId="{26F09AB1-5F42-E248-9349-B14C380F21B0}" srcOrd="1" destOrd="0" parTransId="{02DBF3FB-0940-5646-A681-13A1CC7E1DFC}" sibTransId="{75A38B05-D8E3-924F-A288-597F2E57C0DA}"/>
    <dgm:cxn modelId="{AF904413-93CD-BD49-BE28-8C554035F8FB}" type="presOf" srcId="{716CE549-8138-BC4B-8FB3-DF180464C301}" destId="{5294E86B-9DC9-C242-BE4F-6917AE89A034}" srcOrd="0" destOrd="0" presId="urn:microsoft.com/office/officeart/2005/8/layout/lProcess1"/>
    <dgm:cxn modelId="{AAF21DC5-E9B2-9E43-A21A-C9B29D6EF87B}" type="presOf" srcId="{0DE61BF1-A6DC-B442-B61B-7BEABF3B2C66}" destId="{AB73B6B3-49AA-5044-87E7-043168FDA1C2}" srcOrd="0" destOrd="0" presId="urn:microsoft.com/office/officeart/2005/8/layout/lProcess1"/>
    <dgm:cxn modelId="{689A1C96-85CF-F64C-8014-01A3C7856B79}" type="presOf" srcId="{63748016-E909-7749-8D4F-CBEA0C8C8028}" destId="{BD5206BD-938A-9E47-BA58-471B4BFB7074}" srcOrd="0" destOrd="0" presId="urn:microsoft.com/office/officeart/2005/8/layout/lProcess1"/>
    <dgm:cxn modelId="{07CAA0DD-6259-AE47-945B-EBB7466AB621}" srcId="{B99B28DC-1840-6342-8847-BD8052638864}" destId="{63748016-E909-7749-8D4F-CBEA0C8C8028}" srcOrd="0" destOrd="0" parTransId="{910E3748-395A-9747-9C25-4A58B8AD44C2}" sibTransId="{716CE549-8138-BC4B-8FB3-DF180464C301}"/>
    <dgm:cxn modelId="{AB9E2D13-14E9-4844-92F2-DE6F35A43D68}" type="presOf" srcId="{1C6539FB-DF41-9847-8663-8590CEAA001E}" destId="{23949CA4-11FE-B44B-8096-7F92BA04476C}" srcOrd="0" destOrd="0" presId="urn:microsoft.com/office/officeart/2005/8/layout/lProcess1"/>
    <dgm:cxn modelId="{8DC4E3A3-6F61-764F-8059-1C38035CF887}" type="presOf" srcId="{4EB9040F-A42E-9448-9E5D-FB650183CF9F}" destId="{72589221-705F-AA40-B4C6-05F80364904C}" srcOrd="0" destOrd="0" presId="urn:microsoft.com/office/officeart/2005/8/layout/lProcess1"/>
    <dgm:cxn modelId="{F9C0FB10-6630-8F4B-9945-92CE119D948A}" type="presOf" srcId="{F6E00E15-E6F3-F942-9B34-CAE643C995F6}" destId="{73DDE64E-DD84-7746-BE01-849021843D34}" srcOrd="0" destOrd="0" presId="urn:microsoft.com/office/officeart/2005/8/layout/lProcess1"/>
    <dgm:cxn modelId="{F8589E43-0DFA-6742-ADB4-4E269A0F80B7}" type="presOf" srcId="{AD27E523-4198-8A43-9A92-601902BD84C7}" destId="{BC9811A8-A431-9545-AB24-6FCE1425685B}" srcOrd="0" destOrd="0" presId="urn:microsoft.com/office/officeart/2005/8/layout/lProcess1"/>
    <dgm:cxn modelId="{3D9ACDFA-7BC7-5C48-A2E0-3571387951BD}" srcId="{822ADEB7-B7F2-F449-BAE8-94D6DEBD33A7}" destId="{7489256D-A6B2-5342-B665-C46AD35BC275}" srcOrd="0" destOrd="0" parTransId="{55B57489-C24E-9D40-918A-38828F8E3B0B}" sibTransId="{BD592802-C4EC-CF4F-831A-2FF8AE359509}"/>
    <dgm:cxn modelId="{30A6D4C6-9A69-2C4C-8E33-4E47FE18EE27}" srcId="{B99B28DC-1840-6342-8847-BD8052638864}" destId="{DF5FD426-5B69-3244-BC9A-7CE9E664D873}" srcOrd="1" destOrd="0" parTransId="{2CC51F01-3233-5949-AC29-09ECE6FB99C9}" sibTransId="{4EB9040F-A42E-9448-9E5D-FB650183CF9F}"/>
    <dgm:cxn modelId="{C9D681A3-1B7D-714B-B120-EE415C769FE0}" type="presOf" srcId="{DF5FD426-5B69-3244-BC9A-7CE9E664D873}" destId="{96C0851B-4FB5-6248-AF53-A2A3E18CD2D5}" srcOrd="0" destOrd="0" presId="urn:microsoft.com/office/officeart/2005/8/layout/lProcess1"/>
    <dgm:cxn modelId="{89CE0FBC-276C-4846-A229-401A1491F21D}" type="presOf" srcId="{910E3748-395A-9747-9C25-4A58B8AD44C2}" destId="{3DDCB43C-A170-0943-B0D8-AF848C17E12A}" srcOrd="0" destOrd="0" presId="urn:microsoft.com/office/officeart/2005/8/layout/lProcess1"/>
    <dgm:cxn modelId="{34273889-8C21-684F-AE5B-94D926DC822D}" srcId="{822ADEB7-B7F2-F449-BAE8-94D6DEBD33A7}" destId="{B99B28DC-1840-6342-8847-BD8052638864}" srcOrd="1" destOrd="0" parTransId="{AD9F882A-346E-644B-A264-A139B7A273E2}" sibTransId="{A1721077-56E5-004F-8CCD-318B396732B1}"/>
    <dgm:cxn modelId="{960933DA-2B9D-1346-9737-DEA174AA919A}" type="presOf" srcId="{7489256D-A6B2-5342-B665-C46AD35BC275}" destId="{D6683EB3-9145-414D-BA47-C91BB8F520AC}" srcOrd="0" destOrd="0" presId="urn:microsoft.com/office/officeart/2005/8/layout/lProcess1"/>
    <dgm:cxn modelId="{30984C2A-CB83-064F-91F9-494BEC9FD14A}" type="presOf" srcId="{26F09AB1-5F42-E248-9349-B14C380F21B0}" destId="{318E9CFC-7000-5948-92CC-E06FCC323ED3}" srcOrd="0" destOrd="0" presId="urn:microsoft.com/office/officeart/2005/8/layout/lProcess1"/>
    <dgm:cxn modelId="{5C2CF0FD-9DAA-3B4C-9E5E-3E6A3CBE7DEF}" srcId="{B99B28DC-1840-6342-8847-BD8052638864}" destId="{E100D654-871B-8944-8398-52EC1637F13F}" srcOrd="2" destOrd="0" parTransId="{6AB7DFA6-98D9-C743-8150-ABFA4B9E6F14}" sibTransId="{F6E00E15-E6F3-F942-9B34-CAE643C995F6}"/>
    <dgm:cxn modelId="{F3EFF485-959E-F146-9E08-229088C63408}" type="presOf" srcId="{B99B28DC-1840-6342-8847-BD8052638864}" destId="{CAF028A9-25B4-7042-8AC7-32B854073429}" srcOrd="0" destOrd="0" presId="urn:microsoft.com/office/officeart/2005/8/layout/lProcess1"/>
    <dgm:cxn modelId="{C439D37A-C924-584A-A55C-31EFE39AC5F1}" type="presOf" srcId="{822ADEB7-B7F2-F449-BAE8-94D6DEBD33A7}" destId="{36780F4B-F7D5-6644-AB4C-279A84EBBC87}" srcOrd="0" destOrd="0" presId="urn:microsoft.com/office/officeart/2005/8/layout/lProcess1"/>
    <dgm:cxn modelId="{BCA80FD4-1FFE-1047-87AB-CE4A87BF548E}" srcId="{7489256D-A6B2-5342-B665-C46AD35BC275}" destId="{1C6539FB-DF41-9847-8663-8590CEAA001E}" srcOrd="0" destOrd="0" parTransId="{F2093A2E-173F-ED4E-896A-34F2417B94C2}" sibTransId="{0DE61BF1-A6DC-B442-B61B-7BEABF3B2C66}"/>
    <dgm:cxn modelId="{78547F65-B1D1-9B45-ADAA-3CAB8C624576}" type="presOf" srcId="{E100D654-871B-8944-8398-52EC1637F13F}" destId="{2CFCC1E6-6884-8F42-AAC4-8F51DCBE28BD}" srcOrd="0" destOrd="0" presId="urn:microsoft.com/office/officeart/2005/8/layout/lProcess1"/>
    <dgm:cxn modelId="{24FDB8F4-4031-B741-A9A7-44D58A66E9B6}" type="presOf" srcId="{F2093A2E-173F-ED4E-896A-34F2417B94C2}" destId="{EDB22133-E8C5-564E-9BDE-77A9A6AFF0D9}" srcOrd="0" destOrd="0" presId="urn:microsoft.com/office/officeart/2005/8/layout/lProcess1"/>
    <dgm:cxn modelId="{EA39B73E-B609-6441-8007-EF8E63C945FD}" type="presParOf" srcId="{36780F4B-F7D5-6644-AB4C-279A84EBBC87}" destId="{C8205139-D25D-9141-8B65-B7533B220C63}" srcOrd="0" destOrd="0" presId="urn:microsoft.com/office/officeart/2005/8/layout/lProcess1"/>
    <dgm:cxn modelId="{B90D914E-C29E-6F42-A03A-22F99C230BA9}" type="presParOf" srcId="{C8205139-D25D-9141-8B65-B7533B220C63}" destId="{D6683EB3-9145-414D-BA47-C91BB8F520AC}" srcOrd="0" destOrd="0" presId="urn:microsoft.com/office/officeart/2005/8/layout/lProcess1"/>
    <dgm:cxn modelId="{078BC2B6-AB07-DE49-8F2D-B90579C76F9C}" type="presParOf" srcId="{C8205139-D25D-9141-8B65-B7533B220C63}" destId="{EDB22133-E8C5-564E-9BDE-77A9A6AFF0D9}" srcOrd="1" destOrd="0" presId="urn:microsoft.com/office/officeart/2005/8/layout/lProcess1"/>
    <dgm:cxn modelId="{5D429D91-15A1-6C49-BF97-E689BE96FFFF}" type="presParOf" srcId="{C8205139-D25D-9141-8B65-B7533B220C63}" destId="{23949CA4-11FE-B44B-8096-7F92BA04476C}" srcOrd="2" destOrd="0" presId="urn:microsoft.com/office/officeart/2005/8/layout/lProcess1"/>
    <dgm:cxn modelId="{7E688E08-FAD2-F44E-9516-17F40827D475}" type="presParOf" srcId="{C8205139-D25D-9141-8B65-B7533B220C63}" destId="{AB73B6B3-49AA-5044-87E7-043168FDA1C2}" srcOrd="3" destOrd="0" presId="urn:microsoft.com/office/officeart/2005/8/layout/lProcess1"/>
    <dgm:cxn modelId="{B8FBCF8D-0E02-204D-9A49-8F99D7E61CFD}" type="presParOf" srcId="{C8205139-D25D-9141-8B65-B7533B220C63}" destId="{318E9CFC-7000-5948-92CC-E06FCC323ED3}" srcOrd="4" destOrd="0" presId="urn:microsoft.com/office/officeart/2005/8/layout/lProcess1"/>
    <dgm:cxn modelId="{95C1039A-E490-A340-A98E-A67808FECB4B}" type="presParOf" srcId="{36780F4B-F7D5-6644-AB4C-279A84EBBC87}" destId="{D3E1A360-9A1F-6E46-B239-C3268BB1419E}" srcOrd="1" destOrd="0" presId="urn:microsoft.com/office/officeart/2005/8/layout/lProcess1"/>
    <dgm:cxn modelId="{E6D54D2F-3E8C-8848-9F60-AD5FB474FB59}" type="presParOf" srcId="{36780F4B-F7D5-6644-AB4C-279A84EBBC87}" destId="{6D61C701-43FF-A740-983C-CD253190EEC7}" srcOrd="2" destOrd="0" presId="urn:microsoft.com/office/officeart/2005/8/layout/lProcess1"/>
    <dgm:cxn modelId="{670B7B14-5262-8C4D-896B-8B9E77D198F7}" type="presParOf" srcId="{6D61C701-43FF-A740-983C-CD253190EEC7}" destId="{CAF028A9-25B4-7042-8AC7-32B854073429}" srcOrd="0" destOrd="0" presId="urn:microsoft.com/office/officeart/2005/8/layout/lProcess1"/>
    <dgm:cxn modelId="{7FBF40FF-2687-514E-8E52-12A5797279F2}" type="presParOf" srcId="{6D61C701-43FF-A740-983C-CD253190EEC7}" destId="{3DDCB43C-A170-0943-B0D8-AF848C17E12A}" srcOrd="1" destOrd="0" presId="urn:microsoft.com/office/officeart/2005/8/layout/lProcess1"/>
    <dgm:cxn modelId="{2F1DB751-07BC-E943-B847-756F7205783D}" type="presParOf" srcId="{6D61C701-43FF-A740-983C-CD253190EEC7}" destId="{BD5206BD-938A-9E47-BA58-471B4BFB7074}" srcOrd="2" destOrd="0" presId="urn:microsoft.com/office/officeart/2005/8/layout/lProcess1"/>
    <dgm:cxn modelId="{BD549C1D-85D1-6F49-AF89-A016868F9C6C}" type="presParOf" srcId="{6D61C701-43FF-A740-983C-CD253190EEC7}" destId="{5294E86B-9DC9-C242-BE4F-6917AE89A034}" srcOrd="3" destOrd="0" presId="urn:microsoft.com/office/officeart/2005/8/layout/lProcess1"/>
    <dgm:cxn modelId="{E4F6E733-C5FF-4647-BD40-D41E27EE9EB9}" type="presParOf" srcId="{6D61C701-43FF-A740-983C-CD253190EEC7}" destId="{96C0851B-4FB5-6248-AF53-A2A3E18CD2D5}" srcOrd="4" destOrd="0" presId="urn:microsoft.com/office/officeart/2005/8/layout/lProcess1"/>
    <dgm:cxn modelId="{D4CF3FD8-8258-0C42-B308-57126B626445}" type="presParOf" srcId="{6D61C701-43FF-A740-983C-CD253190EEC7}" destId="{72589221-705F-AA40-B4C6-05F80364904C}" srcOrd="5" destOrd="0" presId="urn:microsoft.com/office/officeart/2005/8/layout/lProcess1"/>
    <dgm:cxn modelId="{82AB7122-1790-B446-B8A3-A2725FB016EF}" type="presParOf" srcId="{6D61C701-43FF-A740-983C-CD253190EEC7}" destId="{2CFCC1E6-6884-8F42-AAC4-8F51DCBE28BD}" srcOrd="6" destOrd="0" presId="urn:microsoft.com/office/officeart/2005/8/layout/lProcess1"/>
    <dgm:cxn modelId="{65A7F1FC-7B74-E946-9002-5FCAC8644E1B}" type="presParOf" srcId="{6D61C701-43FF-A740-983C-CD253190EEC7}" destId="{73DDE64E-DD84-7746-BE01-849021843D34}" srcOrd="7" destOrd="0" presId="urn:microsoft.com/office/officeart/2005/8/layout/lProcess1"/>
    <dgm:cxn modelId="{500B921C-668C-6B46-ADD5-2992E7A7F074}" type="presParOf" srcId="{6D61C701-43FF-A740-983C-CD253190EEC7}" destId="{BC9811A8-A431-9545-AB24-6FCE1425685B}" srcOrd="8"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66970FE-BEA6-F248-BA16-6BBFE39827E6}" type="doc">
      <dgm:prSet loTypeId="urn:microsoft.com/office/officeart/2005/8/layout/hList1" loCatId="list" qsTypeId="urn:microsoft.com/office/officeart/2005/8/quickstyle/simple4" qsCatId="simple" csTypeId="urn:microsoft.com/office/officeart/2005/8/colors/accent0_3" csCatId="mainScheme" phldr="1"/>
      <dgm:spPr/>
      <dgm:t>
        <a:bodyPr/>
        <a:lstStyle/>
        <a:p>
          <a:endParaRPr lang="en-US"/>
        </a:p>
      </dgm:t>
    </dgm:pt>
    <dgm:pt modelId="{A379D6C5-4FB4-E045-A0BF-413B3BA6A84B}">
      <dgm:prSet custT="1"/>
      <dgm:spPr/>
      <dgm:t>
        <a:bodyPr/>
        <a:lstStyle/>
        <a:p>
          <a:pPr algn="just" rtl="0"/>
          <a:r>
            <a:rPr lang="en-US" sz="1600" b="0" dirty="0">
              <a:effectLst/>
              <a:latin typeface="+mn-lt"/>
            </a:rPr>
            <a:t>Infection of existing content by viruses that is subsequently spread to other systems</a:t>
          </a:r>
        </a:p>
      </dgm:t>
    </dgm:pt>
    <dgm:pt modelId="{EEAEA82A-3E0A-B04A-97CE-923CB680A732}" type="parTrans" cxnId="{96C0B9A4-DC40-2145-BB81-659BF3CB032E}">
      <dgm:prSet/>
      <dgm:spPr/>
      <dgm:t>
        <a:bodyPr/>
        <a:lstStyle/>
        <a:p>
          <a:endParaRPr lang="en-US"/>
        </a:p>
      </dgm:t>
    </dgm:pt>
    <dgm:pt modelId="{0F7C3EB6-65E5-2F4D-9F39-85101018AEB8}" type="sibTrans" cxnId="{96C0B9A4-DC40-2145-BB81-659BF3CB032E}">
      <dgm:prSet/>
      <dgm:spPr/>
      <dgm:t>
        <a:bodyPr/>
        <a:lstStyle/>
        <a:p>
          <a:endParaRPr lang="en-US"/>
        </a:p>
      </dgm:t>
    </dgm:pt>
    <dgm:pt modelId="{62580E13-8082-9845-BBE4-64BC096116A8}">
      <dgm:prSet custT="1"/>
      <dgm:spPr/>
      <dgm:t>
        <a:bodyPr/>
        <a:lstStyle/>
        <a:p>
          <a:pPr algn="just" rtl="0"/>
          <a:r>
            <a:rPr lang="en-US" sz="1600" b="0" dirty="0">
              <a:effectLst/>
              <a:latin typeface="+mn-lt"/>
            </a:rPr>
            <a:t>Exploit of software vulnerabilities by worms or drive-by-downloads to allow the malware to replicate</a:t>
          </a:r>
        </a:p>
      </dgm:t>
    </dgm:pt>
    <dgm:pt modelId="{4DB41095-168E-6E42-9729-6103DF00EE7C}" type="parTrans" cxnId="{2AD88ED0-F963-9D44-9437-877096668BF0}">
      <dgm:prSet/>
      <dgm:spPr/>
      <dgm:t>
        <a:bodyPr/>
        <a:lstStyle/>
        <a:p>
          <a:endParaRPr lang="en-US"/>
        </a:p>
      </dgm:t>
    </dgm:pt>
    <dgm:pt modelId="{CAD9A498-D150-BC4B-97F6-8E2097A7D6BF}" type="sibTrans" cxnId="{2AD88ED0-F963-9D44-9437-877096668BF0}">
      <dgm:prSet/>
      <dgm:spPr/>
      <dgm:t>
        <a:bodyPr/>
        <a:lstStyle/>
        <a:p>
          <a:endParaRPr lang="en-US"/>
        </a:p>
      </dgm:t>
    </dgm:pt>
    <dgm:pt modelId="{D19A4C48-1958-C748-B5F6-E379E8FE43B0}">
      <dgm:prSet custT="1"/>
      <dgm:spPr/>
      <dgm:t>
        <a:bodyPr/>
        <a:lstStyle/>
        <a:p>
          <a:pPr algn="just" rtl="0"/>
          <a:r>
            <a:rPr lang="en-US" sz="1600" b="0" dirty="0">
              <a:effectLst/>
              <a:latin typeface="+mn-lt"/>
            </a:rPr>
            <a:t>Social engineering attacks that convince users to bypass security mechanisms to install Trojans or to respond to phishing attacks</a:t>
          </a:r>
        </a:p>
      </dgm:t>
    </dgm:pt>
    <dgm:pt modelId="{193F9AD7-7E61-4745-BD45-E1D801462CFA}" type="parTrans" cxnId="{124EB415-17C5-244E-8912-E3F6640C0283}">
      <dgm:prSet/>
      <dgm:spPr/>
      <dgm:t>
        <a:bodyPr/>
        <a:lstStyle/>
        <a:p>
          <a:endParaRPr lang="en-US"/>
        </a:p>
      </dgm:t>
    </dgm:pt>
    <dgm:pt modelId="{381542CA-3714-564E-84B5-034664C4A52E}" type="sibTrans" cxnId="{124EB415-17C5-244E-8912-E3F6640C0283}">
      <dgm:prSet/>
      <dgm:spPr/>
      <dgm:t>
        <a:bodyPr/>
        <a:lstStyle/>
        <a:p>
          <a:endParaRPr lang="en-US"/>
        </a:p>
      </dgm:t>
    </dgm:pt>
    <dgm:pt modelId="{61ED182A-5E66-274B-971F-81E8FD5AA91B}">
      <dgm:prSet custT="1"/>
      <dgm:spPr/>
      <dgm:t>
        <a:bodyPr/>
        <a:lstStyle/>
        <a:p>
          <a:pPr rtl="0"/>
          <a:r>
            <a:rPr lang="en-US" sz="2000" b="0" dirty="0">
              <a:latin typeface="+mn-lt"/>
            </a:rPr>
            <a:t>Payload actions performed by malware once it reaches a target system can include:</a:t>
          </a:r>
        </a:p>
      </dgm:t>
    </dgm:pt>
    <dgm:pt modelId="{37742A7C-F950-374D-A723-5537754B3A28}" type="parTrans" cxnId="{1AA66256-9115-C646-B2BE-4A3AD63F7AF9}">
      <dgm:prSet/>
      <dgm:spPr/>
      <dgm:t>
        <a:bodyPr/>
        <a:lstStyle/>
        <a:p>
          <a:endParaRPr lang="en-US"/>
        </a:p>
      </dgm:t>
    </dgm:pt>
    <dgm:pt modelId="{A0DDDB96-9854-6646-82B3-B221ACE3196E}" type="sibTrans" cxnId="{1AA66256-9115-C646-B2BE-4A3AD63F7AF9}">
      <dgm:prSet/>
      <dgm:spPr/>
      <dgm:t>
        <a:bodyPr/>
        <a:lstStyle/>
        <a:p>
          <a:endParaRPr lang="en-US"/>
        </a:p>
      </dgm:t>
    </dgm:pt>
    <dgm:pt modelId="{C2E171B6-4103-0E4D-AB52-97DBE2C72340}">
      <dgm:prSet custT="1"/>
      <dgm:spPr/>
      <dgm:t>
        <a:bodyPr/>
        <a:lstStyle/>
        <a:p>
          <a:pPr algn="just" rtl="0"/>
          <a:r>
            <a:rPr lang="en-US" sz="1600" b="0" dirty="0">
              <a:latin typeface="+mn-lt"/>
            </a:rPr>
            <a:t>Corruption of system or data files</a:t>
          </a:r>
        </a:p>
      </dgm:t>
    </dgm:pt>
    <dgm:pt modelId="{D575A17A-7D62-914F-AD53-5A382A299105}" type="parTrans" cxnId="{D9045417-12B5-D24D-9220-C4400CB86966}">
      <dgm:prSet/>
      <dgm:spPr/>
      <dgm:t>
        <a:bodyPr/>
        <a:lstStyle/>
        <a:p>
          <a:endParaRPr lang="en-US"/>
        </a:p>
      </dgm:t>
    </dgm:pt>
    <dgm:pt modelId="{E5560B31-A47C-D845-B44F-5A2373E01543}" type="sibTrans" cxnId="{D9045417-12B5-D24D-9220-C4400CB86966}">
      <dgm:prSet/>
      <dgm:spPr/>
      <dgm:t>
        <a:bodyPr/>
        <a:lstStyle/>
        <a:p>
          <a:endParaRPr lang="en-US"/>
        </a:p>
      </dgm:t>
    </dgm:pt>
    <dgm:pt modelId="{E0D34040-2831-B841-8EF4-098CFD41F62B}">
      <dgm:prSet custT="1"/>
      <dgm:spPr/>
      <dgm:t>
        <a:bodyPr/>
        <a:lstStyle/>
        <a:p>
          <a:pPr algn="just" rtl="0"/>
          <a:r>
            <a:rPr lang="en-US" sz="1600" b="0" dirty="0">
              <a:latin typeface="+mn-lt"/>
            </a:rPr>
            <a:t>Theft of service/make the system a zombie agent of attack as part of a botnet</a:t>
          </a:r>
        </a:p>
      </dgm:t>
    </dgm:pt>
    <dgm:pt modelId="{36F1641F-23C7-C744-826D-825D0F0AF724}" type="parTrans" cxnId="{F24A7C33-4474-EF4C-B5E8-20B734E59B32}">
      <dgm:prSet/>
      <dgm:spPr/>
      <dgm:t>
        <a:bodyPr/>
        <a:lstStyle/>
        <a:p>
          <a:endParaRPr lang="en-US"/>
        </a:p>
      </dgm:t>
    </dgm:pt>
    <dgm:pt modelId="{E1ACE018-B5EC-FB4E-9519-C17F71B4BA52}" type="sibTrans" cxnId="{F24A7C33-4474-EF4C-B5E8-20B734E59B32}">
      <dgm:prSet/>
      <dgm:spPr/>
      <dgm:t>
        <a:bodyPr/>
        <a:lstStyle/>
        <a:p>
          <a:endParaRPr lang="en-US"/>
        </a:p>
      </dgm:t>
    </dgm:pt>
    <dgm:pt modelId="{9DDCB9DE-A9A0-9645-A82A-E5029ECAE440}">
      <dgm:prSet custT="1"/>
      <dgm:spPr/>
      <dgm:t>
        <a:bodyPr/>
        <a:lstStyle/>
        <a:p>
          <a:pPr algn="just" rtl="0"/>
          <a:r>
            <a:rPr lang="en-US" sz="1600" b="0" dirty="0">
              <a:latin typeface="+mn-lt"/>
            </a:rPr>
            <a:t>Theft of information from the system/keylogging</a:t>
          </a:r>
        </a:p>
      </dgm:t>
    </dgm:pt>
    <dgm:pt modelId="{5D9EA9D2-A37E-5846-9D40-3B01CCA60CBB}" type="parTrans" cxnId="{AB1D9165-FE8D-4343-9D41-8074F2314D3F}">
      <dgm:prSet/>
      <dgm:spPr/>
      <dgm:t>
        <a:bodyPr/>
        <a:lstStyle/>
        <a:p>
          <a:endParaRPr lang="en-US"/>
        </a:p>
      </dgm:t>
    </dgm:pt>
    <dgm:pt modelId="{294A1236-B1D9-8444-B74A-75AEEE2C100D}" type="sibTrans" cxnId="{AB1D9165-FE8D-4343-9D41-8074F2314D3F}">
      <dgm:prSet/>
      <dgm:spPr/>
      <dgm:t>
        <a:bodyPr/>
        <a:lstStyle/>
        <a:p>
          <a:endParaRPr lang="en-US"/>
        </a:p>
      </dgm:t>
    </dgm:pt>
    <dgm:pt modelId="{B878E496-25E1-4C4D-A8DB-898AC4514AEE}">
      <dgm:prSet custT="1"/>
      <dgm:spPr/>
      <dgm:t>
        <a:bodyPr/>
        <a:lstStyle/>
        <a:p>
          <a:pPr algn="just" rtl="0"/>
          <a:r>
            <a:rPr lang="en-US" sz="1600" b="0" dirty="0">
              <a:latin typeface="+mn-lt"/>
            </a:rPr>
            <a:t>Stealthing/hiding its presence on the system</a:t>
          </a:r>
        </a:p>
      </dgm:t>
    </dgm:pt>
    <dgm:pt modelId="{2C62600F-D821-084F-9103-A1BE038C768C}" type="parTrans" cxnId="{B9868EF3-4453-B448-B3DB-B7E61AD8AB0F}">
      <dgm:prSet/>
      <dgm:spPr/>
      <dgm:t>
        <a:bodyPr/>
        <a:lstStyle/>
        <a:p>
          <a:endParaRPr lang="en-US"/>
        </a:p>
      </dgm:t>
    </dgm:pt>
    <dgm:pt modelId="{038FB402-4BF5-1A40-ABAA-B8CA9B371B1C}" type="sibTrans" cxnId="{B9868EF3-4453-B448-B3DB-B7E61AD8AB0F}">
      <dgm:prSet/>
      <dgm:spPr/>
      <dgm:t>
        <a:bodyPr/>
        <a:lstStyle/>
        <a:p>
          <a:endParaRPr lang="en-US"/>
        </a:p>
      </dgm:t>
    </dgm:pt>
    <dgm:pt modelId="{1EDFE6E1-C82B-DA44-8558-141CD94721DD}">
      <dgm:prSet custT="1"/>
      <dgm:spPr/>
      <dgm:t>
        <a:bodyPr/>
        <a:lstStyle/>
        <a:p>
          <a:pPr rtl="0"/>
          <a:r>
            <a:rPr lang="en-US" sz="2000" b="0" dirty="0">
              <a:effectLst/>
              <a:latin typeface="+mn-lt"/>
            </a:rPr>
            <a:t>Propagation mechanisms include:</a:t>
          </a:r>
        </a:p>
      </dgm:t>
    </dgm:pt>
    <dgm:pt modelId="{432935C9-4A6C-0E41-8E7B-11E9E7A0D455}" type="sibTrans" cxnId="{2FAE10F0-8DE3-D64D-B524-542DBEC1E922}">
      <dgm:prSet/>
      <dgm:spPr/>
      <dgm:t>
        <a:bodyPr/>
        <a:lstStyle/>
        <a:p>
          <a:endParaRPr lang="en-US" dirty="0"/>
        </a:p>
      </dgm:t>
    </dgm:pt>
    <dgm:pt modelId="{077E4F26-988C-BE43-91CC-2B922B07C1E8}" type="parTrans" cxnId="{2FAE10F0-8DE3-D64D-B524-542DBEC1E922}">
      <dgm:prSet/>
      <dgm:spPr/>
      <dgm:t>
        <a:bodyPr/>
        <a:lstStyle/>
        <a:p>
          <a:endParaRPr lang="en-US"/>
        </a:p>
      </dgm:t>
    </dgm:pt>
    <dgm:pt modelId="{CCC5FA07-81FD-4BB8-9EAC-A44888C20729}" type="pres">
      <dgm:prSet presAssocID="{066970FE-BEA6-F248-BA16-6BBFE39827E6}" presName="Name0" presStyleCnt="0">
        <dgm:presLayoutVars>
          <dgm:dir/>
          <dgm:animLvl val="lvl"/>
          <dgm:resizeHandles val="exact"/>
        </dgm:presLayoutVars>
      </dgm:prSet>
      <dgm:spPr/>
      <dgm:t>
        <a:bodyPr/>
        <a:lstStyle/>
        <a:p>
          <a:endParaRPr lang="en-US"/>
        </a:p>
      </dgm:t>
    </dgm:pt>
    <dgm:pt modelId="{5CD8DA80-2A25-4146-873C-F5912E081A59}" type="pres">
      <dgm:prSet presAssocID="{1EDFE6E1-C82B-DA44-8558-141CD94721DD}" presName="composite" presStyleCnt="0"/>
      <dgm:spPr/>
    </dgm:pt>
    <dgm:pt modelId="{AF429F8F-E5E9-4474-86AC-D3C335BBC595}" type="pres">
      <dgm:prSet presAssocID="{1EDFE6E1-C82B-DA44-8558-141CD94721DD}" presName="parTx" presStyleLbl="alignNode1" presStyleIdx="0" presStyleCnt="2">
        <dgm:presLayoutVars>
          <dgm:chMax val="0"/>
          <dgm:chPref val="0"/>
          <dgm:bulletEnabled val="1"/>
        </dgm:presLayoutVars>
      </dgm:prSet>
      <dgm:spPr/>
      <dgm:t>
        <a:bodyPr/>
        <a:lstStyle/>
        <a:p>
          <a:endParaRPr lang="en-US"/>
        </a:p>
      </dgm:t>
    </dgm:pt>
    <dgm:pt modelId="{6E37A9CA-B9D2-40E3-8A47-26669D337C03}" type="pres">
      <dgm:prSet presAssocID="{1EDFE6E1-C82B-DA44-8558-141CD94721DD}" presName="desTx" presStyleLbl="alignAccFollowNode1" presStyleIdx="0" presStyleCnt="2">
        <dgm:presLayoutVars>
          <dgm:bulletEnabled val="1"/>
        </dgm:presLayoutVars>
      </dgm:prSet>
      <dgm:spPr/>
      <dgm:t>
        <a:bodyPr/>
        <a:lstStyle/>
        <a:p>
          <a:endParaRPr lang="en-US"/>
        </a:p>
      </dgm:t>
    </dgm:pt>
    <dgm:pt modelId="{F5C230E7-2C31-4755-9CA8-CED1CEAFFE48}" type="pres">
      <dgm:prSet presAssocID="{432935C9-4A6C-0E41-8E7B-11E9E7A0D455}" presName="space" presStyleCnt="0"/>
      <dgm:spPr/>
    </dgm:pt>
    <dgm:pt modelId="{DA46B14D-302D-4433-AD8E-299744749771}" type="pres">
      <dgm:prSet presAssocID="{61ED182A-5E66-274B-971F-81E8FD5AA91B}" presName="composite" presStyleCnt="0"/>
      <dgm:spPr/>
    </dgm:pt>
    <dgm:pt modelId="{C95C397C-2754-4537-8480-AC072D283C27}" type="pres">
      <dgm:prSet presAssocID="{61ED182A-5E66-274B-971F-81E8FD5AA91B}" presName="parTx" presStyleLbl="alignNode1" presStyleIdx="1" presStyleCnt="2">
        <dgm:presLayoutVars>
          <dgm:chMax val="0"/>
          <dgm:chPref val="0"/>
          <dgm:bulletEnabled val="1"/>
        </dgm:presLayoutVars>
      </dgm:prSet>
      <dgm:spPr/>
      <dgm:t>
        <a:bodyPr/>
        <a:lstStyle/>
        <a:p>
          <a:endParaRPr lang="en-US"/>
        </a:p>
      </dgm:t>
    </dgm:pt>
    <dgm:pt modelId="{A178B776-949C-4314-8D98-DC278D7A39C4}" type="pres">
      <dgm:prSet presAssocID="{61ED182A-5E66-274B-971F-81E8FD5AA91B}" presName="desTx" presStyleLbl="alignAccFollowNode1" presStyleIdx="1" presStyleCnt="2">
        <dgm:presLayoutVars>
          <dgm:bulletEnabled val="1"/>
        </dgm:presLayoutVars>
      </dgm:prSet>
      <dgm:spPr/>
      <dgm:t>
        <a:bodyPr/>
        <a:lstStyle/>
        <a:p>
          <a:endParaRPr lang="en-US"/>
        </a:p>
      </dgm:t>
    </dgm:pt>
  </dgm:ptLst>
  <dgm:cxnLst>
    <dgm:cxn modelId="{1AA66256-9115-C646-B2BE-4A3AD63F7AF9}" srcId="{066970FE-BEA6-F248-BA16-6BBFE39827E6}" destId="{61ED182A-5E66-274B-971F-81E8FD5AA91B}" srcOrd="1" destOrd="0" parTransId="{37742A7C-F950-374D-A723-5537754B3A28}" sibTransId="{A0DDDB96-9854-6646-82B3-B221ACE3196E}"/>
    <dgm:cxn modelId="{2AD88ED0-F963-9D44-9437-877096668BF0}" srcId="{1EDFE6E1-C82B-DA44-8558-141CD94721DD}" destId="{62580E13-8082-9845-BBE4-64BC096116A8}" srcOrd="1" destOrd="0" parTransId="{4DB41095-168E-6E42-9729-6103DF00EE7C}" sibTransId="{CAD9A498-D150-BC4B-97F6-8E2097A7D6BF}"/>
    <dgm:cxn modelId="{2FAE10F0-8DE3-D64D-B524-542DBEC1E922}" srcId="{066970FE-BEA6-F248-BA16-6BBFE39827E6}" destId="{1EDFE6E1-C82B-DA44-8558-141CD94721DD}" srcOrd="0" destOrd="0" parTransId="{077E4F26-988C-BE43-91CC-2B922B07C1E8}" sibTransId="{432935C9-4A6C-0E41-8E7B-11E9E7A0D455}"/>
    <dgm:cxn modelId="{DB38BC9A-5E8D-470F-8774-4B52AFDD8561}" type="presOf" srcId="{1EDFE6E1-C82B-DA44-8558-141CD94721DD}" destId="{AF429F8F-E5E9-4474-86AC-D3C335BBC595}" srcOrd="0" destOrd="0" presId="urn:microsoft.com/office/officeart/2005/8/layout/hList1"/>
    <dgm:cxn modelId="{A50BC196-F422-4B05-8080-85E15EF7AC1E}" type="presOf" srcId="{9DDCB9DE-A9A0-9645-A82A-E5029ECAE440}" destId="{A178B776-949C-4314-8D98-DC278D7A39C4}" srcOrd="0" destOrd="2" presId="urn:microsoft.com/office/officeart/2005/8/layout/hList1"/>
    <dgm:cxn modelId="{F24A7C33-4474-EF4C-B5E8-20B734E59B32}" srcId="{61ED182A-5E66-274B-971F-81E8FD5AA91B}" destId="{E0D34040-2831-B841-8EF4-098CFD41F62B}" srcOrd="1" destOrd="0" parTransId="{36F1641F-23C7-C744-826D-825D0F0AF724}" sibTransId="{E1ACE018-B5EC-FB4E-9519-C17F71B4BA52}"/>
    <dgm:cxn modelId="{1134EAB7-3E1A-48D8-8CFB-E4CD460BD43D}" type="presOf" srcId="{D19A4C48-1958-C748-B5F6-E379E8FE43B0}" destId="{6E37A9CA-B9D2-40E3-8A47-26669D337C03}" srcOrd="0" destOrd="2" presId="urn:microsoft.com/office/officeart/2005/8/layout/hList1"/>
    <dgm:cxn modelId="{8F4B4B16-0D8B-4B36-8E06-EE7050E62418}" type="presOf" srcId="{62580E13-8082-9845-BBE4-64BC096116A8}" destId="{6E37A9CA-B9D2-40E3-8A47-26669D337C03}" srcOrd="0" destOrd="1" presId="urn:microsoft.com/office/officeart/2005/8/layout/hList1"/>
    <dgm:cxn modelId="{21A9D890-8A89-4787-9E92-A14BEB87111A}" type="presOf" srcId="{E0D34040-2831-B841-8EF4-098CFD41F62B}" destId="{A178B776-949C-4314-8D98-DC278D7A39C4}" srcOrd="0" destOrd="1" presId="urn:microsoft.com/office/officeart/2005/8/layout/hList1"/>
    <dgm:cxn modelId="{124EB415-17C5-244E-8912-E3F6640C0283}" srcId="{1EDFE6E1-C82B-DA44-8558-141CD94721DD}" destId="{D19A4C48-1958-C748-B5F6-E379E8FE43B0}" srcOrd="2" destOrd="0" parTransId="{193F9AD7-7E61-4745-BD45-E1D801462CFA}" sibTransId="{381542CA-3714-564E-84B5-034664C4A52E}"/>
    <dgm:cxn modelId="{D9045417-12B5-D24D-9220-C4400CB86966}" srcId="{61ED182A-5E66-274B-971F-81E8FD5AA91B}" destId="{C2E171B6-4103-0E4D-AB52-97DBE2C72340}" srcOrd="0" destOrd="0" parTransId="{D575A17A-7D62-914F-AD53-5A382A299105}" sibTransId="{E5560B31-A47C-D845-B44F-5A2373E01543}"/>
    <dgm:cxn modelId="{AB1D9165-FE8D-4343-9D41-8074F2314D3F}" srcId="{61ED182A-5E66-274B-971F-81E8FD5AA91B}" destId="{9DDCB9DE-A9A0-9645-A82A-E5029ECAE440}" srcOrd="2" destOrd="0" parTransId="{5D9EA9D2-A37E-5846-9D40-3B01CCA60CBB}" sibTransId="{294A1236-B1D9-8444-B74A-75AEEE2C100D}"/>
    <dgm:cxn modelId="{E1191ABD-BCBC-4F7E-A5A7-5D83B9B4343D}" type="presOf" srcId="{61ED182A-5E66-274B-971F-81E8FD5AA91B}" destId="{C95C397C-2754-4537-8480-AC072D283C27}" srcOrd="0" destOrd="0" presId="urn:microsoft.com/office/officeart/2005/8/layout/hList1"/>
    <dgm:cxn modelId="{B9868EF3-4453-B448-B3DB-B7E61AD8AB0F}" srcId="{61ED182A-5E66-274B-971F-81E8FD5AA91B}" destId="{B878E496-25E1-4C4D-A8DB-898AC4514AEE}" srcOrd="3" destOrd="0" parTransId="{2C62600F-D821-084F-9103-A1BE038C768C}" sibTransId="{038FB402-4BF5-1A40-ABAA-B8CA9B371B1C}"/>
    <dgm:cxn modelId="{5D9E28E2-D03C-4814-8150-6A693829451B}" type="presOf" srcId="{C2E171B6-4103-0E4D-AB52-97DBE2C72340}" destId="{A178B776-949C-4314-8D98-DC278D7A39C4}" srcOrd="0" destOrd="0" presId="urn:microsoft.com/office/officeart/2005/8/layout/hList1"/>
    <dgm:cxn modelId="{703526FF-463E-442C-BAA4-B5F7AC3CEB75}" type="presOf" srcId="{066970FE-BEA6-F248-BA16-6BBFE39827E6}" destId="{CCC5FA07-81FD-4BB8-9EAC-A44888C20729}" srcOrd="0" destOrd="0" presId="urn:microsoft.com/office/officeart/2005/8/layout/hList1"/>
    <dgm:cxn modelId="{4D28EF4A-451A-462E-94C8-49AC9AD0987E}" type="presOf" srcId="{A379D6C5-4FB4-E045-A0BF-413B3BA6A84B}" destId="{6E37A9CA-B9D2-40E3-8A47-26669D337C03}" srcOrd="0" destOrd="0" presId="urn:microsoft.com/office/officeart/2005/8/layout/hList1"/>
    <dgm:cxn modelId="{C7D15BD8-974B-48B8-868F-91514AE9890A}" type="presOf" srcId="{B878E496-25E1-4C4D-A8DB-898AC4514AEE}" destId="{A178B776-949C-4314-8D98-DC278D7A39C4}" srcOrd="0" destOrd="3" presId="urn:microsoft.com/office/officeart/2005/8/layout/hList1"/>
    <dgm:cxn modelId="{96C0B9A4-DC40-2145-BB81-659BF3CB032E}" srcId="{1EDFE6E1-C82B-DA44-8558-141CD94721DD}" destId="{A379D6C5-4FB4-E045-A0BF-413B3BA6A84B}" srcOrd="0" destOrd="0" parTransId="{EEAEA82A-3E0A-B04A-97CE-923CB680A732}" sibTransId="{0F7C3EB6-65E5-2F4D-9F39-85101018AEB8}"/>
    <dgm:cxn modelId="{6ADB2F88-1470-422E-9E03-F338333753A6}" type="presParOf" srcId="{CCC5FA07-81FD-4BB8-9EAC-A44888C20729}" destId="{5CD8DA80-2A25-4146-873C-F5912E081A59}" srcOrd="0" destOrd="0" presId="urn:microsoft.com/office/officeart/2005/8/layout/hList1"/>
    <dgm:cxn modelId="{122A03A9-B8A8-4291-9172-E1EE9FDF534E}" type="presParOf" srcId="{5CD8DA80-2A25-4146-873C-F5912E081A59}" destId="{AF429F8F-E5E9-4474-86AC-D3C335BBC595}" srcOrd="0" destOrd="0" presId="urn:microsoft.com/office/officeart/2005/8/layout/hList1"/>
    <dgm:cxn modelId="{8936C8A9-2CC3-463A-AFD2-30F05549567B}" type="presParOf" srcId="{5CD8DA80-2A25-4146-873C-F5912E081A59}" destId="{6E37A9CA-B9D2-40E3-8A47-26669D337C03}" srcOrd="1" destOrd="0" presId="urn:microsoft.com/office/officeart/2005/8/layout/hList1"/>
    <dgm:cxn modelId="{9E88D377-A9B0-415B-80AD-4E4F94F57944}" type="presParOf" srcId="{CCC5FA07-81FD-4BB8-9EAC-A44888C20729}" destId="{F5C230E7-2C31-4755-9CA8-CED1CEAFFE48}" srcOrd="1" destOrd="0" presId="urn:microsoft.com/office/officeart/2005/8/layout/hList1"/>
    <dgm:cxn modelId="{6256B391-BD16-46AC-AB7E-406F7DCAB83B}" type="presParOf" srcId="{CCC5FA07-81FD-4BB8-9EAC-A44888C20729}" destId="{DA46B14D-302D-4433-AD8E-299744749771}" srcOrd="2" destOrd="0" presId="urn:microsoft.com/office/officeart/2005/8/layout/hList1"/>
    <dgm:cxn modelId="{5B53CE3E-27A3-475E-A0D8-B838FD343AEE}" type="presParOf" srcId="{DA46B14D-302D-4433-AD8E-299744749771}" destId="{C95C397C-2754-4537-8480-AC072D283C27}" srcOrd="0" destOrd="0" presId="urn:microsoft.com/office/officeart/2005/8/layout/hList1"/>
    <dgm:cxn modelId="{A602783F-39AA-412C-97E3-13B54ACEBB9A}" type="presParOf" srcId="{DA46B14D-302D-4433-AD8E-299744749771}" destId="{A178B776-949C-4314-8D98-DC278D7A39C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C1CC08E-6906-F04F-AA1D-24F8D142CD37}"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FE9713D8-29EE-EA44-A8A1-19FCD176683E}">
      <dgm:prSet/>
      <dgm:spPr>
        <a:solidFill>
          <a:schemeClr val="accent3">
            <a:lumMod val="75000"/>
          </a:schemeClr>
        </a:solidFill>
      </dgm:spPr>
      <dgm:t>
        <a:bodyPr/>
        <a:lstStyle/>
        <a:p>
          <a:pPr rtl="0"/>
          <a:r>
            <a:rPr lang="en-US" b="1" dirty="0">
              <a:solidFill>
                <a:schemeClr val="tx1"/>
              </a:solidFill>
              <a:latin typeface="+mj-lt"/>
            </a:rPr>
            <a:t>Electronic mail or instant messenger facility</a:t>
          </a:r>
          <a:endParaRPr lang="en-US" dirty="0">
            <a:solidFill>
              <a:schemeClr val="tx1"/>
            </a:solidFill>
            <a:latin typeface="+mj-lt"/>
          </a:endParaRPr>
        </a:p>
      </dgm:t>
    </dgm:pt>
    <dgm:pt modelId="{661804BC-2252-4F4B-BF7F-446E16E813B6}" type="parTrans" cxnId="{2872FB75-569A-6F44-AB3C-DDBDBC276263}">
      <dgm:prSet/>
      <dgm:spPr/>
      <dgm:t>
        <a:bodyPr/>
        <a:lstStyle/>
        <a:p>
          <a:endParaRPr lang="en-US"/>
        </a:p>
      </dgm:t>
    </dgm:pt>
    <dgm:pt modelId="{29165784-ECA5-B446-88F4-4A42EF56A6BB}" type="sibTrans" cxnId="{2872FB75-569A-6F44-AB3C-DDBDBC276263}">
      <dgm:prSet/>
      <dgm:spPr/>
      <dgm:t>
        <a:bodyPr/>
        <a:lstStyle/>
        <a:p>
          <a:endParaRPr lang="en-US"/>
        </a:p>
      </dgm:t>
    </dgm:pt>
    <dgm:pt modelId="{EA82C179-6CD6-DF4C-9775-B576BB1B1279}">
      <dgm:prSet/>
      <dgm:spPr>
        <a:solidFill>
          <a:schemeClr val="tx1"/>
        </a:solidFill>
      </dgm:spPr>
      <dgm:t>
        <a:bodyPr/>
        <a:lstStyle/>
        <a:p>
          <a:pPr rtl="0"/>
          <a:r>
            <a:rPr lang="en-US" b="1" dirty="0">
              <a:latin typeface="+mj-lt"/>
            </a:rPr>
            <a:t>Worm e-mails a copy of itself to other systems</a:t>
          </a:r>
          <a:endParaRPr lang="en-US" dirty="0">
            <a:latin typeface="+mj-lt"/>
          </a:endParaRPr>
        </a:p>
      </dgm:t>
    </dgm:pt>
    <dgm:pt modelId="{49597E77-063A-EC41-A9DA-E5525E677EC5}" type="parTrans" cxnId="{834BC056-4E30-1448-B6D3-A2B5892063D1}">
      <dgm:prSet/>
      <dgm:spPr/>
      <dgm:t>
        <a:bodyPr/>
        <a:lstStyle/>
        <a:p>
          <a:endParaRPr lang="en-US"/>
        </a:p>
      </dgm:t>
    </dgm:pt>
    <dgm:pt modelId="{B37FF192-4395-8849-B3C7-2DBB861A012D}" type="sibTrans" cxnId="{834BC056-4E30-1448-B6D3-A2B5892063D1}">
      <dgm:prSet/>
      <dgm:spPr/>
      <dgm:t>
        <a:bodyPr/>
        <a:lstStyle/>
        <a:p>
          <a:endParaRPr lang="en-US"/>
        </a:p>
      </dgm:t>
    </dgm:pt>
    <dgm:pt modelId="{307F5F63-B4E8-1C4E-96E5-9C9A1945C20B}">
      <dgm:prSet/>
      <dgm:spPr>
        <a:solidFill>
          <a:schemeClr val="tx1"/>
        </a:solidFill>
      </dgm:spPr>
      <dgm:t>
        <a:bodyPr/>
        <a:lstStyle/>
        <a:p>
          <a:pPr rtl="0"/>
          <a:r>
            <a:rPr lang="en-US" b="1" dirty="0">
              <a:latin typeface="+mj-lt"/>
            </a:rPr>
            <a:t>Sends itself as an attachment via an instant message service</a:t>
          </a:r>
          <a:endParaRPr lang="en-US" dirty="0">
            <a:latin typeface="+mj-lt"/>
          </a:endParaRPr>
        </a:p>
      </dgm:t>
    </dgm:pt>
    <dgm:pt modelId="{DDA9EFE2-0130-5E45-A8C4-75F46E8F19ED}" type="parTrans" cxnId="{0AD2CE7B-3C93-7D44-8032-C9A43DD64E0A}">
      <dgm:prSet/>
      <dgm:spPr/>
      <dgm:t>
        <a:bodyPr/>
        <a:lstStyle/>
        <a:p>
          <a:endParaRPr lang="en-US"/>
        </a:p>
      </dgm:t>
    </dgm:pt>
    <dgm:pt modelId="{BE403B6D-6F8E-EA4A-A125-8BA210581358}" type="sibTrans" cxnId="{0AD2CE7B-3C93-7D44-8032-C9A43DD64E0A}">
      <dgm:prSet/>
      <dgm:spPr/>
      <dgm:t>
        <a:bodyPr/>
        <a:lstStyle/>
        <a:p>
          <a:endParaRPr lang="en-US"/>
        </a:p>
      </dgm:t>
    </dgm:pt>
    <dgm:pt modelId="{AA9D2254-12C4-E64B-9A8F-9C7D772879C9}">
      <dgm:prSet/>
      <dgm:spPr>
        <a:solidFill>
          <a:schemeClr val="accent6">
            <a:lumMod val="75000"/>
          </a:schemeClr>
        </a:solidFill>
      </dgm:spPr>
      <dgm:t>
        <a:bodyPr/>
        <a:lstStyle/>
        <a:p>
          <a:pPr rtl="0"/>
          <a:r>
            <a:rPr lang="en-US" b="1" dirty="0">
              <a:solidFill>
                <a:schemeClr val="tx1"/>
              </a:solidFill>
              <a:latin typeface="+mj-lt"/>
            </a:rPr>
            <a:t>File sharing</a:t>
          </a:r>
        </a:p>
      </dgm:t>
    </dgm:pt>
    <dgm:pt modelId="{B171DB04-D66B-6F47-AED8-A7838F550642}" type="parTrans" cxnId="{C2C12C3F-7484-2142-BD46-4476766CB7B8}">
      <dgm:prSet/>
      <dgm:spPr/>
      <dgm:t>
        <a:bodyPr/>
        <a:lstStyle/>
        <a:p>
          <a:endParaRPr lang="en-US"/>
        </a:p>
      </dgm:t>
    </dgm:pt>
    <dgm:pt modelId="{A96BF268-3580-F243-90ED-0CCA5ACC3ED7}" type="sibTrans" cxnId="{C2C12C3F-7484-2142-BD46-4476766CB7B8}">
      <dgm:prSet/>
      <dgm:spPr/>
      <dgm:t>
        <a:bodyPr/>
        <a:lstStyle/>
        <a:p>
          <a:endParaRPr lang="en-US"/>
        </a:p>
      </dgm:t>
    </dgm:pt>
    <dgm:pt modelId="{9581EE21-956D-9848-81DE-D38356A52A2C}">
      <dgm:prSet/>
      <dgm:spPr>
        <a:solidFill>
          <a:schemeClr val="tx1"/>
        </a:solidFill>
      </dgm:spPr>
      <dgm:t>
        <a:bodyPr/>
        <a:lstStyle/>
        <a:p>
          <a:pPr rtl="0"/>
          <a:r>
            <a:rPr lang="en-US" b="1" dirty="0">
              <a:latin typeface="+mj-lt"/>
            </a:rPr>
            <a:t>Creates a copy of itself or infects a file as a virus on removable media</a:t>
          </a:r>
          <a:endParaRPr lang="en-US" dirty="0">
            <a:latin typeface="+mj-lt"/>
          </a:endParaRPr>
        </a:p>
      </dgm:t>
    </dgm:pt>
    <dgm:pt modelId="{EDE70E62-581F-ED4D-8A5B-52E1E14A19D2}" type="parTrans" cxnId="{53DD798F-188D-EE42-908C-8D71D37B8ECA}">
      <dgm:prSet/>
      <dgm:spPr/>
      <dgm:t>
        <a:bodyPr/>
        <a:lstStyle/>
        <a:p>
          <a:endParaRPr lang="en-US"/>
        </a:p>
      </dgm:t>
    </dgm:pt>
    <dgm:pt modelId="{9E9E583E-A013-DA41-B28B-99BCB8711C75}" type="sibTrans" cxnId="{53DD798F-188D-EE42-908C-8D71D37B8ECA}">
      <dgm:prSet/>
      <dgm:spPr/>
      <dgm:t>
        <a:bodyPr/>
        <a:lstStyle/>
        <a:p>
          <a:endParaRPr lang="en-US"/>
        </a:p>
      </dgm:t>
    </dgm:pt>
    <dgm:pt modelId="{EDE8EA06-1C38-564B-B1C9-2264B4F44BC2}">
      <dgm:prSet/>
      <dgm:spPr>
        <a:solidFill>
          <a:schemeClr val="accent5">
            <a:lumMod val="75000"/>
          </a:schemeClr>
        </a:solidFill>
      </dgm:spPr>
      <dgm:t>
        <a:bodyPr/>
        <a:lstStyle/>
        <a:p>
          <a:pPr rtl="0"/>
          <a:r>
            <a:rPr lang="en-US" b="1" dirty="0">
              <a:solidFill>
                <a:schemeClr val="tx1"/>
              </a:solidFill>
              <a:latin typeface="+mj-lt"/>
            </a:rPr>
            <a:t>Remote execution capability</a:t>
          </a:r>
        </a:p>
      </dgm:t>
    </dgm:pt>
    <dgm:pt modelId="{A7483F20-60EF-AB41-B889-D5116BA127F6}" type="parTrans" cxnId="{CCBDC9F7-F1F0-8D4A-94FA-97696C8AF37E}">
      <dgm:prSet/>
      <dgm:spPr/>
      <dgm:t>
        <a:bodyPr/>
        <a:lstStyle/>
        <a:p>
          <a:endParaRPr lang="en-US"/>
        </a:p>
      </dgm:t>
    </dgm:pt>
    <dgm:pt modelId="{C772D4E5-B72E-5840-AE55-8C43CCBF5877}" type="sibTrans" cxnId="{CCBDC9F7-F1F0-8D4A-94FA-97696C8AF37E}">
      <dgm:prSet/>
      <dgm:spPr/>
      <dgm:t>
        <a:bodyPr/>
        <a:lstStyle/>
        <a:p>
          <a:endParaRPr lang="en-US"/>
        </a:p>
      </dgm:t>
    </dgm:pt>
    <dgm:pt modelId="{2D59E4BE-BC2A-6D42-A0CA-EB35F9962A95}">
      <dgm:prSet/>
      <dgm:spPr>
        <a:solidFill>
          <a:schemeClr val="tx1"/>
        </a:solidFill>
      </dgm:spPr>
      <dgm:t>
        <a:bodyPr/>
        <a:lstStyle/>
        <a:p>
          <a:pPr rtl="0"/>
          <a:r>
            <a:rPr lang="en-US" b="1" dirty="0">
              <a:latin typeface="+mj-lt"/>
            </a:rPr>
            <a:t>Worm executes a copy of itself on another system</a:t>
          </a:r>
          <a:endParaRPr lang="en-US" dirty="0">
            <a:latin typeface="+mj-lt"/>
          </a:endParaRPr>
        </a:p>
      </dgm:t>
    </dgm:pt>
    <dgm:pt modelId="{3340C372-84F1-B94A-B534-B9991C46EF8A}" type="parTrans" cxnId="{3E810C85-9CDF-484C-BD32-D08C501F85C4}">
      <dgm:prSet/>
      <dgm:spPr/>
      <dgm:t>
        <a:bodyPr/>
        <a:lstStyle/>
        <a:p>
          <a:endParaRPr lang="en-US"/>
        </a:p>
      </dgm:t>
    </dgm:pt>
    <dgm:pt modelId="{3297917D-E07A-FD49-BBCB-1AC7E257EAB1}" type="sibTrans" cxnId="{3E810C85-9CDF-484C-BD32-D08C501F85C4}">
      <dgm:prSet/>
      <dgm:spPr/>
      <dgm:t>
        <a:bodyPr/>
        <a:lstStyle/>
        <a:p>
          <a:endParaRPr lang="en-US"/>
        </a:p>
      </dgm:t>
    </dgm:pt>
    <dgm:pt modelId="{FCAA0E17-EBD1-7E49-939C-57128952A9AF}">
      <dgm:prSet/>
      <dgm:spPr>
        <a:solidFill>
          <a:schemeClr val="accent6">
            <a:lumMod val="75000"/>
          </a:schemeClr>
        </a:solidFill>
      </dgm:spPr>
      <dgm:t>
        <a:bodyPr/>
        <a:lstStyle/>
        <a:p>
          <a:pPr rtl="0"/>
          <a:r>
            <a:rPr lang="en-US" b="1" dirty="0">
              <a:solidFill>
                <a:schemeClr val="tx1"/>
              </a:solidFill>
              <a:latin typeface="+mj-lt"/>
            </a:rPr>
            <a:t>Remote file access or transfer capability</a:t>
          </a:r>
        </a:p>
      </dgm:t>
    </dgm:pt>
    <dgm:pt modelId="{AB3C6213-56CE-374D-BDF6-B8DB761B18D7}" type="parTrans" cxnId="{16F69619-9DE5-DB4A-BD5C-24B893845576}">
      <dgm:prSet/>
      <dgm:spPr/>
      <dgm:t>
        <a:bodyPr/>
        <a:lstStyle/>
        <a:p>
          <a:endParaRPr lang="en-US"/>
        </a:p>
      </dgm:t>
    </dgm:pt>
    <dgm:pt modelId="{C2125D76-B333-0947-8B38-078DB901193C}" type="sibTrans" cxnId="{16F69619-9DE5-DB4A-BD5C-24B893845576}">
      <dgm:prSet/>
      <dgm:spPr/>
      <dgm:t>
        <a:bodyPr/>
        <a:lstStyle/>
        <a:p>
          <a:endParaRPr lang="en-US"/>
        </a:p>
      </dgm:t>
    </dgm:pt>
    <dgm:pt modelId="{3777E620-C955-3E4B-B5FF-DF53E3D76AB6}">
      <dgm:prSet/>
      <dgm:spPr>
        <a:solidFill>
          <a:schemeClr val="tx1"/>
        </a:solidFill>
      </dgm:spPr>
      <dgm:t>
        <a:bodyPr/>
        <a:lstStyle/>
        <a:p>
          <a:pPr rtl="0"/>
          <a:r>
            <a:rPr lang="en-US" b="1" dirty="0">
              <a:latin typeface="+mj-lt"/>
            </a:rPr>
            <a:t>Worm uses a remote file access or transfer service to copy itself from one system to the other</a:t>
          </a:r>
          <a:endParaRPr lang="en-US" dirty="0">
            <a:latin typeface="+mj-lt"/>
          </a:endParaRPr>
        </a:p>
      </dgm:t>
    </dgm:pt>
    <dgm:pt modelId="{CBB4F215-E494-4841-B865-3F020F84F5F5}" type="parTrans" cxnId="{0A1C3AE5-6226-7641-89D9-2B462BB3F318}">
      <dgm:prSet/>
      <dgm:spPr/>
      <dgm:t>
        <a:bodyPr/>
        <a:lstStyle/>
        <a:p>
          <a:endParaRPr lang="en-US"/>
        </a:p>
      </dgm:t>
    </dgm:pt>
    <dgm:pt modelId="{D9E5CAA6-4D84-5446-A69A-6A884ABCDE7B}" type="sibTrans" cxnId="{0A1C3AE5-6226-7641-89D9-2B462BB3F318}">
      <dgm:prSet/>
      <dgm:spPr/>
      <dgm:t>
        <a:bodyPr/>
        <a:lstStyle/>
        <a:p>
          <a:endParaRPr lang="en-US"/>
        </a:p>
      </dgm:t>
    </dgm:pt>
    <dgm:pt modelId="{847B1FB8-52B7-774A-82B7-A4AE44215322}">
      <dgm:prSet/>
      <dgm:spPr>
        <a:solidFill>
          <a:schemeClr val="accent3">
            <a:lumMod val="75000"/>
          </a:schemeClr>
        </a:solidFill>
      </dgm:spPr>
      <dgm:t>
        <a:bodyPr/>
        <a:lstStyle/>
        <a:p>
          <a:pPr rtl="0"/>
          <a:r>
            <a:rPr lang="en-US" b="1" dirty="0">
              <a:solidFill>
                <a:schemeClr val="tx1"/>
              </a:solidFill>
              <a:latin typeface="+mj-lt"/>
            </a:rPr>
            <a:t>Remote login capability</a:t>
          </a:r>
        </a:p>
      </dgm:t>
    </dgm:pt>
    <dgm:pt modelId="{268587F9-9424-204D-8DFD-BB10622FDF09}" type="parTrans" cxnId="{E6938C4F-CF56-C14A-99BB-3DCB38261C5E}">
      <dgm:prSet/>
      <dgm:spPr/>
      <dgm:t>
        <a:bodyPr/>
        <a:lstStyle/>
        <a:p>
          <a:endParaRPr lang="en-US"/>
        </a:p>
      </dgm:t>
    </dgm:pt>
    <dgm:pt modelId="{4E25DBAC-D8D0-854D-901C-DA80AD636C96}" type="sibTrans" cxnId="{E6938C4F-CF56-C14A-99BB-3DCB38261C5E}">
      <dgm:prSet/>
      <dgm:spPr/>
      <dgm:t>
        <a:bodyPr/>
        <a:lstStyle/>
        <a:p>
          <a:endParaRPr lang="en-US"/>
        </a:p>
      </dgm:t>
    </dgm:pt>
    <dgm:pt modelId="{DD25D6CF-B048-C345-ADA8-70947047FD6A}">
      <dgm:prSet/>
      <dgm:spPr>
        <a:solidFill>
          <a:schemeClr val="tx1"/>
        </a:solidFill>
      </dgm:spPr>
      <dgm:t>
        <a:bodyPr/>
        <a:lstStyle/>
        <a:p>
          <a:pPr rtl="0"/>
          <a:r>
            <a:rPr lang="en-US" b="1" dirty="0">
              <a:latin typeface="+mj-lt"/>
            </a:rPr>
            <a:t>Worm logs onto a remote system as a user and then uses commands to copy itself from one system to the other</a:t>
          </a:r>
        </a:p>
      </dgm:t>
    </dgm:pt>
    <dgm:pt modelId="{51B03FA5-724F-2346-9ABC-93A0ABFD4651}" type="parTrans" cxnId="{BF1EB1D1-5A7A-A748-A6CA-1A41B67DD0FD}">
      <dgm:prSet/>
      <dgm:spPr/>
      <dgm:t>
        <a:bodyPr/>
        <a:lstStyle/>
        <a:p>
          <a:endParaRPr lang="en-US"/>
        </a:p>
      </dgm:t>
    </dgm:pt>
    <dgm:pt modelId="{92D4CA32-4545-9F42-BFAC-F50AB3F4187D}" type="sibTrans" cxnId="{BF1EB1D1-5A7A-A748-A6CA-1A41B67DD0FD}">
      <dgm:prSet/>
      <dgm:spPr/>
      <dgm:t>
        <a:bodyPr/>
        <a:lstStyle/>
        <a:p>
          <a:endParaRPr lang="en-US"/>
        </a:p>
      </dgm:t>
    </dgm:pt>
    <dgm:pt modelId="{40A171E3-7A15-A14F-908E-1B245CED8AF2}" type="pres">
      <dgm:prSet presAssocID="{4C1CC08E-6906-F04F-AA1D-24F8D142CD37}" presName="Name0" presStyleCnt="0">
        <dgm:presLayoutVars>
          <dgm:dir/>
          <dgm:animLvl val="lvl"/>
          <dgm:resizeHandles val="exact"/>
        </dgm:presLayoutVars>
      </dgm:prSet>
      <dgm:spPr/>
      <dgm:t>
        <a:bodyPr/>
        <a:lstStyle/>
        <a:p>
          <a:endParaRPr lang="en-US"/>
        </a:p>
      </dgm:t>
    </dgm:pt>
    <dgm:pt modelId="{A2674257-3BF1-F643-951F-13DEC6E433CB}" type="pres">
      <dgm:prSet presAssocID="{FE9713D8-29EE-EA44-A8A1-19FCD176683E}" presName="linNode" presStyleCnt="0"/>
      <dgm:spPr/>
    </dgm:pt>
    <dgm:pt modelId="{E1E0970F-0907-F244-BFE7-FA3A665AC84A}" type="pres">
      <dgm:prSet presAssocID="{FE9713D8-29EE-EA44-A8A1-19FCD176683E}" presName="parentText" presStyleLbl="node1" presStyleIdx="0" presStyleCnt="5">
        <dgm:presLayoutVars>
          <dgm:chMax val="1"/>
          <dgm:bulletEnabled val="1"/>
        </dgm:presLayoutVars>
      </dgm:prSet>
      <dgm:spPr/>
      <dgm:t>
        <a:bodyPr/>
        <a:lstStyle/>
        <a:p>
          <a:endParaRPr lang="en-US"/>
        </a:p>
      </dgm:t>
    </dgm:pt>
    <dgm:pt modelId="{F78E7295-D7EB-CD46-9D6D-375BC99FA006}" type="pres">
      <dgm:prSet presAssocID="{FE9713D8-29EE-EA44-A8A1-19FCD176683E}" presName="descendantText" presStyleLbl="alignAccFollowNode1" presStyleIdx="0" presStyleCnt="5">
        <dgm:presLayoutVars>
          <dgm:bulletEnabled val="1"/>
        </dgm:presLayoutVars>
      </dgm:prSet>
      <dgm:spPr/>
      <dgm:t>
        <a:bodyPr/>
        <a:lstStyle/>
        <a:p>
          <a:endParaRPr lang="en-US"/>
        </a:p>
      </dgm:t>
    </dgm:pt>
    <dgm:pt modelId="{D58625A5-5E13-BA49-B316-3A87292B7AB7}" type="pres">
      <dgm:prSet presAssocID="{29165784-ECA5-B446-88F4-4A42EF56A6BB}" presName="sp" presStyleCnt="0"/>
      <dgm:spPr/>
    </dgm:pt>
    <dgm:pt modelId="{AC90A092-D25B-6847-97DF-60AFC1E9E9AE}" type="pres">
      <dgm:prSet presAssocID="{AA9D2254-12C4-E64B-9A8F-9C7D772879C9}" presName="linNode" presStyleCnt="0"/>
      <dgm:spPr/>
    </dgm:pt>
    <dgm:pt modelId="{AA46F3A1-973A-D541-8C10-D6332E49AB54}" type="pres">
      <dgm:prSet presAssocID="{AA9D2254-12C4-E64B-9A8F-9C7D772879C9}" presName="parentText" presStyleLbl="node1" presStyleIdx="1" presStyleCnt="5">
        <dgm:presLayoutVars>
          <dgm:chMax val="1"/>
          <dgm:bulletEnabled val="1"/>
        </dgm:presLayoutVars>
      </dgm:prSet>
      <dgm:spPr/>
      <dgm:t>
        <a:bodyPr/>
        <a:lstStyle/>
        <a:p>
          <a:endParaRPr lang="en-US"/>
        </a:p>
      </dgm:t>
    </dgm:pt>
    <dgm:pt modelId="{00F1EE6F-A680-5D47-BE2C-5D9099BCAD7E}" type="pres">
      <dgm:prSet presAssocID="{AA9D2254-12C4-E64B-9A8F-9C7D772879C9}" presName="descendantText" presStyleLbl="alignAccFollowNode1" presStyleIdx="1" presStyleCnt="5">
        <dgm:presLayoutVars>
          <dgm:bulletEnabled val="1"/>
        </dgm:presLayoutVars>
      </dgm:prSet>
      <dgm:spPr/>
      <dgm:t>
        <a:bodyPr/>
        <a:lstStyle/>
        <a:p>
          <a:endParaRPr lang="en-US"/>
        </a:p>
      </dgm:t>
    </dgm:pt>
    <dgm:pt modelId="{3990C908-8D47-1340-80E2-243B1F44A1C7}" type="pres">
      <dgm:prSet presAssocID="{A96BF268-3580-F243-90ED-0CCA5ACC3ED7}" presName="sp" presStyleCnt="0"/>
      <dgm:spPr/>
    </dgm:pt>
    <dgm:pt modelId="{E768EAE1-D6C3-184C-A113-D969016ABA42}" type="pres">
      <dgm:prSet presAssocID="{EDE8EA06-1C38-564B-B1C9-2264B4F44BC2}" presName="linNode" presStyleCnt="0"/>
      <dgm:spPr/>
    </dgm:pt>
    <dgm:pt modelId="{3643834B-A836-AE40-8CCA-98EC9257C527}" type="pres">
      <dgm:prSet presAssocID="{EDE8EA06-1C38-564B-B1C9-2264B4F44BC2}" presName="parentText" presStyleLbl="node1" presStyleIdx="2" presStyleCnt="5">
        <dgm:presLayoutVars>
          <dgm:chMax val="1"/>
          <dgm:bulletEnabled val="1"/>
        </dgm:presLayoutVars>
      </dgm:prSet>
      <dgm:spPr/>
      <dgm:t>
        <a:bodyPr/>
        <a:lstStyle/>
        <a:p>
          <a:endParaRPr lang="en-US"/>
        </a:p>
      </dgm:t>
    </dgm:pt>
    <dgm:pt modelId="{EAE3CD11-86DC-D148-B0A4-B97E022278AC}" type="pres">
      <dgm:prSet presAssocID="{EDE8EA06-1C38-564B-B1C9-2264B4F44BC2}" presName="descendantText" presStyleLbl="alignAccFollowNode1" presStyleIdx="2" presStyleCnt="5">
        <dgm:presLayoutVars>
          <dgm:bulletEnabled val="1"/>
        </dgm:presLayoutVars>
      </dgm:prSet>
      <dgm:spPr/>
      <dgm:t>
        <a:bodyPr/>
        <a:lstStyle/>
        <a:p>
          <a:endParaRPr lang="en-US"/>
        </a:p>
      </dgm:t>
    </dgm:pt>
    <dgm:pt modelId="{E26CFCC7-2806-B247-A671-D9BC41F2406E}" type="pres">
      <dgm:prSet presAssocID="{C772D4E5-B72E-5840-AE55-8C43CCBF5877}" presName="sp" presStyleCnt="0"/>
      <dgm:spPr/>
    </dgm:pt>
    <dgm:pt modelId="{6EE993D3-FC72-1448-8B46-1726050E2E22}" type="pres">
      <dgm:prSet presAssocID="{FCAA0E17-EBD1-7E49-939C-57128952A9AF}" presName="linNode" presStyleCnt="0"/>
      <dgm:spPr/>
    </dgm:pt>
    <dgm:pt modelId="{32A7F985-A05D-9A45-A255-9E65F500E120}" type="pres">
      <dgm:prSet presAssocID="{FCAA0E17-EBD1-7E49-939C-57128952A9AF}" presName="parentText" presStyleLbl="node1" presStyleIdx="3" presStyleCnt="5">
        <dgm:presLayoutVars>
          <dgm:chMax val="1"/>
          <dgm:bulletEnabled val="1"/>
        </dgm:presLayoutVars>
      </dgm:prSet>
      <dgm:spPr/>
      <dgm:t>
        <a:bodyPr/>
        <a:lstStyle/>
        <a:p>
          <a:endParaRPr lang="en-US"/>
        </a:p>
      </dgm:t>
    </dgm:pt>
    <dgm:pt modelId="{177802D0-FB31-4B41-8EB4-26CD25007ABC}" type="pres">
      <dgm:prSet presAssocID="{FCAA0E17-EBD1-7E49-939C-57128952A9AF}" presName="descendantText" presStyleLbl="alignAccFollowNode1" presStyleIdx="3" presStyleCnt="5">
        <dgm:presLayoutVars>
          <dgm:bulletEnabled val="1"/>
        </dgm:presLayoutVars>
      </dgm:prSet>
      <dgm:spPr/>
      <dgm:t>
        <a:bodyPr/>
        <a:lstStyle/>
        <a:p>
          <a:endParaRPr lang="en-US"/>
        </a:p>
      </dgm:t>
    </dgm:pt>
    <dgm:pt modelId="{B8AB093A-B855-BB4E-B0C6-89BD7264A54A}" type="pres">
      <dgm:prSet presAssocID="{C2125D76-B333-0947-8B38-078DB901193C}" presName="sp" presStyleCnt="0"/>
      <dgm:spPr/>
    </dgm:pt>
    <dgm:pt modelId="{2DDF0DD6-8644-464C-B731-5985B21F12B7}" type="pres">
      <dgm:prSet presAssocID="{847B1FB8-52B7-774A-82B7-A4AE44215322}" presName="linNode" presStyleCnt="0"/>
      <dgm:spPr/>
    </dgm:pt>
    <dgm:pt modelId="{4E9E9A9B-C119-9141-8246-9E5820C59B44}" type="pres">
      <dgm:prSet presAssocID="{847B1FB8-52B7-774A-82B7-A4AE44215322}" presName="parentText" presStyleLbl="node1" presStyleIdx="4" presStyleCnt="5">
        <dgm:presLayoutVars>
          <dgm:chMax val="1"/>
          <dgm:bulletEnabled val="1"/>
        </dgm:presLayoutVars>
      </dgm:prSet>
      <dgm:spPr/>
      <dgm:t>
        <a:bodyPr/>
        <a:lstStyle/>
        <a:p>
          <a:endParaRPr lang="en-US"/>
        </a:p>
      </dgm:t>
    </dgm:pt>
    <dgm:pt modelId="{F548D0B3-D601-2640-9C5D-22FE0D733D27}" type="pres">
      <dgm:prSet presAssocID="{847B1FB8-52B7-774A-82B7-A4AE44215322}" presName="descendantText" presStyleLbl="alignAccFollowNode1" presStyleIdx="4" presStyleCnt="5">
        <dgm:presLayoutVars>
          <dgm:bulletEnabled val="1"/>
        </dgm:presLayoutVars>
      </dgm:prSet>
      <dgm:spPr/>
      <dgm:t>
        <a:bodyPr/>
        <a:lstStyle/>
        <a:p>
          <a:endParaRPr lang="en-US"/>
        </a:p>
      </dgm:t>
    </dgm:pt>
  </dgm:ptLst>
  <dgm:cxnLst>
    <dgm:cxn modelId="{3E810C85-9CDF-484C-BD32-D08C501F85C4}" srcId="{EDE8EA06-1C38-564B-B1C9-2264B4F44BC2}" destId="{2D59E4BE-BC2A-6D42-A0CA-EB35F9962A95}" srcOrd="0" destOrd="0" parTransId="{3340C372-84F1-B94A-B534-B9991C46EF8A}" sibTransId="{3297917D-E07A-FD49-BBCB-1AC7E257EAB1}"/>
    <dgm:cxn modelId="{5A044ED7-768A-AC4F-9CB5-E01CE40F8A80}" type="presOf" srcId="{2D59E4BE-BC2A-6D42-A0CA-EB35F9962A95}" destId="{EAE3CD11-86DC-D148-B0A4-B97E022278AC}" srcOrd="0" destOrd="0" presId="urn:microsoft.com/office/officeart/2005/8/layout/vList5"/>
    <dgm:cxn modelId="{CCBDC9F7-F1F0-8D4A-94FA-97696C8AF37E}" srcId="{4C1CC08E-6906-F04F-AA1D-24F8D142CD37}" destId="{EDE8EA06-1C38-564B-B1C9-2264B4F44BC2}" srcOrd="2" destOrd="0" parTransId="{A7483F20-60EF-AB41-B889-D5116BA127F6}" sibTransId="{C772D4E5-B72E-5840-AE55-8C43CCBF5877}"/>
    <dgm:cxn modelId="{B08CE160-8C63-A041-B41C-8D6D83CBFD04}" type="presOf" srcId="{FCAA0E17-EBD1-7E49-939C-57128952A9AF}" destId="{32A7F985-A05D-9A45-A255-9E65F500E120}" srcOrd="0" destOrd="0" presId="urn:microsoft.com/office/officeart/2005/8/layout/vList5"/>
    <dgm:cxn modelId="{2872FB75-569A-6F44-AB3C-DDBDBC276263}" srcId="{4C1CC08E-6906-F04F-AA1D-24F8D142CD37}" destId="{FE9713D8-29EE-EA44-A8A1-19FCD176683E}" srcOrd="0" destOrd="0" parTransId="{661804BC-2252-4F4B-BF7F-446E16E813B6}" sibTransId="{29165784-ECA5-B446-88F4-4A42EF56A6BB}"/>
    <dgm:cxn modelId="{E6938C4F-CF56-C14A-99BB-3DCB38261C5E}" srcId="{4C1CC08E-6906-F04F-AA1D-24F8D142CD37}" destId="{847B1FB8-52B7-774A-82B7-A4AE44215322}" srcOrd="4" destOrd="0" parTransId="{268587F9-9424-204D-8DFD-BB10622FDF09}" sibTransId="{4E25DBAC-D8D0-854D-901C-DA80AD636C96}"/>
    <dgm:cxn modelId="{C2C12C3F-7484-2142-BD46-4476766CB7B8}" srcId="{4C1CC08E-6906-F04F-AA1D-24F8D142CD37}" destId="{AA9D2254-12C4-E64B-9A8F-9C7D772879C9}" srcOrd="1" destOrd="0" parTransId="{B171DB04-D66B-6F47-AED8-A7838F550642}" sibTransId="{A96BF268-3580-F243-90ED-0CCA5ACC3ED7}"/>
    <dgm:cxn modelId="{AF7D922C-D9D2-C14F-A951-CB929C2CDA24}" type="presOf" srcId="{3777E620-C955-3E4B-B5FF-DF53E3D76AB6}" destId="{177802D0-FB31-4B41-8EB4-26CD25007ABC}" srcOrd="0" destOrd="0" presId="urn:microsoft.com/office/officeart/2005/8/layout/vList5"/>
    <dgm:cxn modelId="{22C8A097-5015-E546-ABB1-E694BE9C2F61}" type="presOf" srcId="{307F5F63-B4E8-1C4E-96E5-9C9A1945C20B}" destId="{F78E7295-D7EB-CD46-9D6D-375BC99FA006}" srcOrd="0" destOrd="1" presId="urn:microsoft.com/office/officeart/2005/8/layout/vList5"/>
    <dgm:cxn modelId="{0A1C3AE5-6226-7641-89D9-2B462BB3F318}" srcId="{FCAA0E17-EBD1-7E49-939C-57128952A9AF}" destId="{3777E620-C955-3E4B-B5FF-DF53E3D76AB6}" srcOrd="0" destOrd="0" parTransId="{CBB4F215-E494-4841-B865-3F020F84F5F5}" sibTransId="{D9E5CAA6-4D84-5446-A69A-6A884ABCDE7B}"/>
    <dgm:cxn modelId="{16F69619-9DE5-DB4A-BD5C-24B893845576}" srcId="{4C1CC08E-6906-F04F-AA1D-24F8D142CD37}" destId="{FCAA0E17-EBD1-7E49-939C-57128952A9AF}" srcOrd="3" destOrd="0" parTransId="{AB3C6213-56CE-374D-BDF6-B8DB761B18D7}" sibTransId="{C2125D76-B333-0947-8B38-078DB901193C}"/>
    <dgm:cxn modelId="{6F329847-0529-ED4D-BAE1-8D0D3077FB40}" type="presOf" srcId="{4C1CC08E-6906-F04F-AA1D-24F8D142CD37}" destId="{40A171E3-7A15-A14F-908E-1B245CED8AF2}" srcOrd="0" destOrd="0" presId="urn:microsoft.com/office/officeart/2005/8/layout/vList5"/>
    <dgm:cxn modelId="{834BC056-4E30-1448-B6D3-A2B5892063D1}" srcId="{FE9713D8-29EE-EA44-A8A1-19FCD176683E}" destId="{EA82C179-6CD6-DF4C-9775-B576BB1B1279}" srcOrd="0" destOrd="0" parTransId="{49597E77-063A-EC41-A9DA-E5525E677EC5}" sibTransId="{B37FF192-4395-8849-B3C7-2DBB861A012D}"/>
    <dgm:cxn modelId="{2F7F6693-08D0-124C-82B0-561992704CAB}" type="presOf" srcId="{EA82C179-6CD6-DF4C-9775-B576BB1B1279}" destId="{F78E7295-D7EB-CD46-9D6D-375BC99FA006}" srcOrd="0" destOrd="0" presId="urn:microsoft.com/office/officeart/2005/8/layout/vList5"/>
    <dgm:cxn modelId="{53DD798F-188D-EE42-908C-8D71D37B8ECA}" srcId="{AA9D2254-12C4-E64B-9A8F-9C7D772879C9}" destId="{9581EE21-956D-9848-81DE-D38356A52A2C}" srcOrd="0" destOrd="0" parTransId="{EDE70E62-581F-ED4D-8A5B-52E1E14A19D2}" sibTransId="{9E9E583E-A013-DA41-B28B-99BCB8711C75}"/>
    <dgm:cxn modelId="{6A2D1AC5-5678-6742-B960-E644A0A1087E}" type="presOf" srcId="{FE9713D8-29EE-EA44-A8A1-19FCD176683E}" destId="{E1E0970F-0907-F244-BFE7-FA3A665AC84A}" srcOrd="0" destOrd="0" presId="urn:microsoft.com/office/officeart/2005/8/layout/vList5"/>
    <dgm:cxn modelId="{0C00E520-51B5-C644-A901-F49445C665CA}" type="presOf" srcId="{EDE8EA06-1C38-564B-B1C9-2264B4F44BC2}" destId="{3643834B-A836-AE40-8CCA-98EC9257C527}" srcOrd="0" destOrd="0" presId="urn:microsoft.com/office/officeart/2005/8/layout/vList5"/>
    <dgm:cxn modelId="{BF1EB1D1-5A7A-A748-A6CA-1A41B67DD0FD}" srcId="{847B1FB8-52B7-774A-82B7-A4AE44215322}" destId="{DD25D6CF-B048-C345-ADA8-70947047FD6A}" srcOrd="0" destOrd="0" parTransId="{51B03FA5-724F-2346-9ABC-93A0ABFD4651}" sibTransId="{92D4CA32-4545-9F42-BFAC-F50AB3F4187D}"/>
    <dgm:cxn modelId="{BBEA0A10-A636-4440-B4B0-C0A86A171BA2}" type="presOf" srcId="{9581EE21-956D-9848-81DE-D38356A52A2C}" destId="{00F1EE6F-A680-5D47-BE2C-5D9099BCAD7E}" srcOrd="0" destOrd="0" presId="urn:microsoft.com/office/officeart/2005/8/layout/vList5"/>
    <dgm:cxn modelId="{7C3BD567-1840-1D45-9E23-1E6567244794}" type="presOf" srcId="{847B1FB8-52B7-774A-82B7-A4AE44215322}" destId="{4E9E9A9B-C119-9141-8246-9E5820C59B44}" srcOrd="0" destOrd="0" presId="urn:microsoft.com/office/officeart/2005/8/layout/vList5"/>
    <dgm:cxn modelId="{0AD2CE7B-3C93-7D44-8032-C9A43DD64E0A}" srcId="{FE9713D8-29EE-EA44-A8A1-19FCD176683E}" destId="{307F5F63-B4E8-1C4E-96E5-9C9A1945C20B}" srcOrd="1" destOrd="0" parTransId="{DDA9EFE2-0130-5E45-A8C4-75F46E8F19ED}" sibTransId="{BE403B6D-6F8E-EA4A-A125-8BA210581358}"/>
    <dgm:cxn modelId="{51372E59-330B-2F40-B3FD-D06E674932FF}" type="presOf" srcId="{DD25D6CF-B048-C345-ADA8-70947047FD6A}" destId="{F548D0B3-D601-2640-9C5D-22FE0D733D27}" srcOrd="0" destOrd="0" presId="urn:microsoft.com/office/officeart/2005/8/layout/vList5"/>
    <dgm:cxn modelId="{884169DC-E20F-6F45-B6D4-FCA01AB7AB48}" type="presOf" srcId="{AA9D2254-12C4-E64B-9A8F-9C7D772879C9}" destId="{AA46F3A1-973A-D541-8C10-D6332E49AB54}" srcOrd="0" destOrd="0" presId="urn:microsoft.com/office/officeart/2005/8/layout/vList5"/>
    <dgm:cxn modelId="{A7911F2D-E6B4-864F-BE0A-63E0383C76D0}" type="presParOf" srcId="{40A171E3-7A15-A14F-908E-1B245CED8AF2}" destId="{A2674257-3BF1-F643-951F-13DEC6E433CB}" srcOrd="0" destOrd="0" presId="urn:microsoft.com/office/officeart/2005/8/layout/vList5"/>
    <dgm:cxn modelId="{58412ACB-F42F-A448-965E-E10B27E037C9}" type="presParOf" srcId="{A2674257-3BF1-F643-951F-13DEC6E433CB}" destId="{E1E0970F-0907-F244-BFE7-FA3A665AC84A}" srcOrd="0" destOrd="0" presId="urn:microsoft.com/office/officeart/2005/8/layout/vList5"/>
    <dgm:cxn modelId="{A0591A63-F851-4144-97A7-977A0C6A73D6}" type="presParOf" srcId="{A2674257-3BF1-F643-951F-13DEC6E433CB}" destId="{F78E7295-D7EB-CD46-9D6D-375BC99FA006}" srcOrd="1" destOrd="0" presId="urn:microsoft.com/office/officeart/2005/8/layout/vList5"/>
    <dgm:cxn modelId="{49BED8B9-F405-AA41-B11B-3A3FAD6314D8}" type="presParOf" srcId="{40A171E3-7A15-A14F-908E-1B245CED8AF2}" destId="{D58625A5-5E13-BA49-B316-3A87292B7AB7}" srcOrd="1" destOrd="0" presId="urn:microsoft.com/office/officeart/2005/8/layout/vList5"/>
    <dgm:cxn modelId="{B483091F-5B4A-3B42-AB27-299D25A0E144}" type="presParOf" srcId="{40A171E3-7A15-A14F-908E-1B245CED8AF2}" destId="{AC90A092-D25B-6847-97DF-60AFC1E9E9AE}" srcOrd="2" destOrd="0" presId="urn:microsoft.com/office/officeart/2005/8/layout/vList5"/>
    <dgm:cxn modelId="{02AA4C13-5EC3-3F4D-8C67-32FCC7A48A9E}" type="presParOf" srcId="{AC90A092-D25B-6847-97DF-60AFC1E9E9AE}" destId="{AA46F3A1-973A-D541-8C10-D6332E49AB54}" srcOrd="0" destOrd="0" presId="urn:microsoft.com/office/officeart/2005/8/layout/vList5"/>
    <dgm:cxn modelId="{677042D9-39C6-DE4A-BE43-09F9E7DD7E1D}" type="presParOf" srcId="{AC90A092-D25B-6847-97DF-60AFC1E9E9AE}" destId="{00F1EE6F-A680-5D47-BE2C-5D9099BCAD7E}" srcOrd="1" destOrd="0" presId="urn:microsoft.com/office/officeart/2005/8/layout/vList5"/>
    <dgm:cxn modelId="{0ADD06D5-6996-DF4A-86C4-010CA2D7DE1B}" type="presParOf" srcId="{40A171E3-7A15-A14F-908E-1B245CED8AF2}" destId="{3990C908-8D47-1340-80E2-243B1F44A1C7}" srcOrd="3" destOrd="0" presId="urn:microsoft.com/office/officeart/2005/8/layout/vList5"/>
    <dgm:cxn modelId="{C2F3074B-22F5-5448-BD0E-69AB1F51CA5B}" type="presParOf" srcId="{40A171E3-7A15-A14F-908E-1B245CED8AF2}" destId="{E768EAE1-D6C3-184C-A113-D969016ABA42}" srcOrd="4" destOrd="0" presId="urn:microsoft.com/office/officeart/2005/8/layout/vList5"/>
    <dgm:cxn modelId="{8B3BFE08-1E9B-2E47-9814-574A61BEE2A3}" type="presParOf" srcId="{E768EAE1-D6C3-184C-A113-D969016ABA42}" destId="{3643834B-A836-AE40-8CCA-98EC9257C527}" srcOrd="0" destOrd="0" presId="urn:microsoft.com/office/officeart/2005/8/layout/vList5"/>
    <dgm:cxn modelId="{7C6CB97F-9012-CD4B-82D2-A7A12A508C3B}" type="presParOf" srcId="{E768EAE1-D6C3-184C-A113-D969016ABA42}" destId="{EAE3CD11-86DC-D148-B0A4-B97E022278AC}" srcOrd="1" destOrd="0" presId="urn:microsoft.com/office/officeart/2005/8/layout/vList5"/>
    <dgm:cxn modelId="{F8C1428C-F4EE-404D-AF0B-AD611B236ADE}" type="presParOf" srcId="{40A171E3-7A15-A14F-908E-1B245CED8AF2}" destId="{E26CFCC7-2806-B247-A671-D9BC41F2406E}" srcOrd="5" destOrd="0" presId="urn:microsoft.com/office/officeart/2005/8/layout/vList5"/>
    <dgm:cxn modelId="{04AA88AB-5A7B-5143-87D9-695DF69B9FDC}" type="presParOf" srcId="{40A171E3-7A15-A14F-908E-1B245CED8AF2}" destId="{6EE993D3-FC72-1448-8B46-1726050E2E22}" srcOrd="6" destOrd="0" presId="urn:microsoft.com/office/officeart/2005/8/layout/vList5"/>
    <dgm:cxn modelId="{CED4A5B0-1A4F-9E40-BF0B-B996C29A92EE}" type="presParOf" srcId="{6EE993D3-FC72-1448-8B46-1726050E2E22}" destId="{32A7F985-A05D-9A45-A255-9E65F500E120}" srcOrd="0" destOrd="0" presId="urn:microsoft.com/office/officeart/2005/8/layout/vList5"/>
    <dgm:cxn modelId="{2A6E5965-0F48-574D-97F5-967C454E732F}" type="presParOf" srcId="{6EE993D3-FC72-1448-8B46-1726050E2E22}" destId="{177802D0-FB31-4B41-8EB4-26CD25007ABC}" srcOrd="1" destOrd="0" presId="urn:microsoft.com/office/officeart/2005/8/layout/vList5"/>
    <dgm:cxn modelId="{B371E855-ECF6-3348-BE7E-9FCFB9258CD1}" type="presParOf" srcId="{40A171E3-7A15-A14F-908E-1B245CED8AF2}" destId="{B8AB093A-B855-BB4E-B0C6-89BD7264A54A}" srcOrd="7" destOrd="0" presId="urn:microsoft.com/office/officeart/2005/8/layout/vList5"/>
    <dgm:cxn modelId="{9D4ABA54-C0A8-D84D-94C8-B394ACBBAA9D}" type="presParOf" srcId="{40A171E3-7A15-A14F-908E-1B245CED8AF2}" destId="{2DDF0DD6-8644-464C-B731-5985B21F12B7}" srcOrd="8" destOrd="0" presId="urn:microsoft.com/office/officeart/2005/8/layout/vList5"/>
    <dgm:cxn modelId="{C0D280A7-E6F2-CB4C-946E-7F2E4594B2F5}" type="presParOf" srcId="{2DDF0DD6-8644-464C-B731-5985B21F12B7}" destId="{4E9E9A9B-C119-9141-8246-9E5820C59B44}" srcOrd="0" destOrd="0" presId="urn:microsoft.com/office/officeart/2005/8/layout/vList5"/>
    <dgm:cxn modelId="{0C8234F2-D19A-384D-BF03-6C9EBB693CB8}" type="presParOf" srcId="{2DDF0DD6-8644-464C-B731-5985B21F12B7}" destId="{F548D0B3-D601-2640-9C5D-22FE0D733D27}"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94CA9CD-D4B1-D740-B071-C60C0FB75068}" type="doc">
      <dgm:prSet loTypeId="urn:microsoft.com/office/officeart/2005/8/layout/matrix3" loCatId="matrix" qsTypeId="urn:microsoft.com/office/officeart/2005/8/quickstyle/simple4" qsCatId="simple" csTypeId="urn:microsoft.com/office/officeart/2005/8/colors/accent1_2" csCatId="accent1" phldr="1"/>
      <dgm:spPr/>
      <dgm:t>
        <a:bodyPr/>
        <a:lstStyle/>
        <a:p>
          <a:endParaRPr lang="en-US"/>
        </a:p>
      </dgm:t>
    </dgm:pt>
    <dgm:pt modelId="{6BD39E72-A2AE-9545-A5A8-E34ED852F2B9}">
      <dgm:prSet/>
      <dgm:spPr>
        <a:solidFill>
          <a:schemeClr val="accent5">
            <a:lumMod val="75000"/>
          </a:schemeClr>
        </a:solidFill>
      </dgm:spPr>
      <dgm:t>
        <a:bodyPr/>
        <a:lstStyle/>
        <a:p>
          <a:pPr rtl="0"/>
          <a:r>
            <a:rPr lang="en-US" b="1" dirty="0">
              <a:solidFill>
                <a:schemeClr val="bg1"/>
              </a:solidFill>
            </a:rPr>
            <a:t>Ransomware attack in May 2017 that spread extremely fast over a period of hours to days, infecting hundreds of thousands of systems belonging to both public and private organizations in more than 150 countries</a:t>
          </a:r>
        </a:p>
      </dgm:t>
    </dgm:pt>
    <dgm:pt modelId="{4A5A9392-277E-0141-96F4-A980AFB0B235}" type="parTrans" cxnId="{587790E3-CD85-2B4F-A5AD-6D7A79C6AD92}">
      <dgm:prSet/>
      <dgm:spPr/>
      <dgm:t>
        <a:bodyPr/>
        <a:lstStyle/>
        <a:p>
          <a:endParaRPr lang="en-US"/>
        </a:p>
      </dgm:t>
    </dgm:pt>
    <dgm:pt modelId="{02874A0E-7485-C345-9473-025301E04B6C}" type="sibTrans" cxnId="{587790E3-CD85-2B4F-A5AD-6D7A79C6AD92}">
      <dgm:prSet/>
      <dgm:spPr/>
      <dgm:t>
        <a:bodyPr/>
        <a:lstStyle/>
        <a:p>
          <a:endParaRPr lang="en-US"/>
        </a:p>
      </dgm:t>
    </dgm:pt>
    <dgm:pt modelId="{4C1AD1CF-FB66-9C42-BB2E-223447990F1D}">
      <dgm:prSet/>
      <dgm:spPr>
        <a:solidFill>
          <a:schemeClr val="accent3">
            <a:lumMod val="75000"/>
          </a:schemeClr>
        </a:solidFill>
      </dgm:spPr>
      <dgm:t>
        <a:bodyPr/>
        <a:lstStyle/>
        <a:p>
          <a:pPr rtl="0"/>
          <a:r>
            <a:rPr lang="en-US" b="1" dirty="0">
              <a:solidFill>
                <a:schemeClr val="bg1"/>
              </a:solidFill>
            </a:rPr>
            <a:t>It spread as a worm by aggressively scanning both local and random remote networks, attempting to exploit a vulnerability in the Server Message Block protocol file sharing service on unpatched Windows systems</a:t>
          </a:r>
        </a:p>
      </dgm:t>
    </dgm:pt>
    <dgm:pt modelId="{C5780629-0D1B-D24E-B996-B5708F0A4206}" type="parTrans" cxnId="{F13280B1-4C5A-D644-A621-5D92F02EBD30}">
      <dgm:prSet/>
      <dgm:spPr/>
      <dgm:t>
        <a:bodyPr/>
        <a:lstStyle/>
        <a:p>
          <a:endParaRPr lang="en-US"/>
        </a:p>
      </dgm:t>
    </dgm:pt>
    <dgm:pt modelId="{7B12CD30-D8B9-7346-A243-04016560B6A2}" type="sibTrans" cxnId="{F13280B1-4C5A-D644-A621-5D92F02EBD30}">
      <dgm:prSet/>
      <dgm:spPr/>
      <dgm:t>
        <a:bodyPr/>
        <a:lstStyle/>
        <a:p>
          <a:endParaRPr lang="en-US"/>
        </a:p>
      </dgm:t>
    </dgm:pt>
    <dgm:pt modelId="{8191AEF8-830E-E444-912C-5E6B6736B38E}">
      <dgm:prSet/>
      <dgm:spPr>
        <a:solidFill>
          <a:schemeClr val="accent3">
            <a:lumMod val="75000"/>
          </a:schemeClr>
        </a:solidFill>
      </dgm:spPr>
      <dgm:t>
        <a:bodyPr/>
        <a:lstStyle/>
        <a:p>
          <a:pPr rtl="0"/>
          <a:r>
            <a:rPr lang="en-US" b="1" dirty="0">
              <a:solidFill>
                <a:schemeClr val="bg1"/>
              </a:solidFill>
            </a:rPr>
            <a:t>This rapid spread was only slowed by the accidental activation of a “kill-switch” domain by a UK security researcher</a:t>
          </a:r>
        </a:p>
      </dgm:t>
    </dgm:pt>
    <dgm:pt modelId="{B7C0F894-5AEC-884C-81E1-56D824632049}" type="parTrans" cxnId="{47E1A177-6FE9-664E-95B2-C3EB2D353DC9}">
      <dgm:prSet/>
      <dgm:spPr/>
      <dgm:t>
        <a:bodyPr/>
        <a:lstStyle/>
        <a:p>
          <a:endParaRPr lang="en-US"/>
        </a:p>
      </dgm:t>
    </dgm:pt>
    <dgm:pt modelId="{A0B1511A-5F7C-DE4E-8F5C-9B86108765F2}" type="sibTrans" cxnId="{47E1A177-6FE9-664E-95B2-C3EB2D353DC9}">
      <dgm:prSet/>
      <dgm:spPr/>
      <dgm:t>
        <a:bodyPr/>
        <a:lstStyle/>
        <a:p>
          <a:endParaRPr lang="en-US"/>
        </a:p>
      </dgm:t>
    </dgm:pt>
    <dgm:pt modelId="{9DBDAB8E-B7C4-A440-8DF3-CB6649224F6A}">
      <dgm:prSet/>
      <dgm:spPr>
        <a:solidFill>
          <a:schemeClr val="accent5">
            <a:lumMod val="75000"/>
          </a:schemeClr>
        </a:solidFill>
      </dgm:spPr>
      <dgm:t>
        <a:bodyPr/>
        <a:lstStyle/>
        <a:p>
          <a:pPr rtl="0"/>
          <a:r>
            <a:rPr lang="en-US" b="1" dirty="0">
              <a:solidFill>
                <a:schemeClr val="bg1"/>
              </a:solidFill>
            </a:rPr>
            <a:t>Once installed on infected systems, it also encrypted files, demanding a ransom payment to recover them</a:t>
          </a:r>
        </a:p>
      </dgm:t>
    </dgm:pt>
    <dgm:pt modelId="{A09DBAFD-5349-0F45-8359-A93D035B9D26}" type="parTrans" cxnId="{A82DAACE-5958-F346-A17B-371ACB6021D3}">
      <dgm:prSet/>
      <dgm:spPr/>
      <dgm:t>
        <a:bodyPr/>
        <a:lstStyle/>
        <a:p>
          <a:endParaRPr lang="en-US"/>
        </a:p>
      </dgm:t>
    </dgm:pt>
    <dgm:pt modelId="{50218FF3-7EDA-5747-B7E4-8002F1B899D1}" type="sibTrans" cxnId="{A82DAACE-5958-F346-A17B-371ACB6021D3}">
      <dgm:prSet/>
      <dgm:spPr/>
      <dgm:t>
        <a:bodyPr/>
        <a:lstStyle/>
        <a:p>
          <a:endParaRPr lang="en-US"/>
        </a:p>
      </dgm:t>
    </dgm:pt>
    <dgm:pt modelId="{73939C93-1CA8-8547-860E-73CA3DEA994E}" type="pres">
      <dgm:prSet presAssocID="{094CA9CD-D4B1-D740-B071-C60C0FB75068}" presName="matrix" presStyleCnt="0">
        <dgm:presLayoutVars>
          <dgm:chMax val="1"/>
          <dgm:dir/>
          <dgm:resizeHandles val="exact"/>
        </dgm:presLayoutVars>
      </dgm:prSet>
      <dgm:spPr/>
      <dgm:t>
        <a:bodyPr/>
        <a:lstStyle/>
        <a:p>
          <a:endParaRPr lang="en-US"/>
        </a:p>
      </dgm:t>
    </dgm:pt>
    <dgm:pt modelId="{35527C6F-2B09-D549-8F7C-974FD99EE026}" type="pres">
      <dgm:prSet presAssocID="{094CA9CD-D4B1-D740-B071-C60C0FB75068}" presName="diamond" presStyleLbl="bgShp" presStyleIdx="0" presStyleCnt="1" custLinFactNeighborX="4910" custLinFactNeighborY="-2248"/>
      <dgm:spPr/>
    </dgm:pt>
    <dgm:pt modelId="{2A7E89E5-2DDA-BC41-A64E-74E0DF287100}" type="pres">
      <dgm:prSet presAssocID="{094CA9CD-D4B1-D740-B071-C60C0FB75068}" presName="quad1" presStyleLbl="node1" presStyleIdx="0" presStyleCnt="4">
        <dgm:presLayoutVars>
          <dgm:chMax val="0"/>
          <dgm:chPref val="0"/>
          <dgm:bulletEnabled val="1"/>
        </dgm:presLayoutVars>
      </dgm:prSet>
      <dgm:spPr/>
      <dgm:t>
        <a:bodyPr/>
        <a:lstStyle/>
        <a:p>
          <a:endParaRPr lang="en-US"/>
        </a:p>
      </dgm:t>
    </dgm:pt>
    <dgm:pt modelId="{E41A8419-78ED-AD41-A3C0-8E9B9F7B1206}" type="pres">
      <dgm:prSet presAssocID="{094CA9CD-D4B1-D740-B071-C60C0FB75068}" presName="quad2" presStyleLbl="node1" presStyleIdx="1" presStyleCnt="4">
        <dgm:presLayoutVars>
          <dgm:chMax val="0"/>
          <dgm:chPref val="0"/>
          <dgm:bulletEnabled val="1"/>
        </dgm:presLayoutVars>
      </dgm:prSet>
      <dgm:spPr/>
      <dgm:t>
        <a:bodyPr/>
        <a:lstStyle/>
        <a:p>
          <a:endParaRPr lang="en-US"/>
        </a:p>
      </dgm:t>
    </dgm:pt>
    <dgm:pt modelId="{D65002E7-5471-E045-8899-52405CA0AECD}" type="pres">
      <dgm:prSet presAssocID="{094CA9CD-D4B1-D740-B071-C60C0FB75068}" presName="quad3" presStyleLbl="node1" presStyleIdx="2" presStyleCnt="4">
        <dgm:presLayoutVars>
          <dgm:chMax val="0"/>
          <dgm:chPref val="0"/>
          <dgm:bulletEnabled val="1"/>
        </dgm:presLayoutVars>
      </dgm:prSet>
      <dgm:spPr/>
      <dgm:t>
        <a:bodyPr/>
        <a:lstStyle/>
        <a:p>
          <a:endParaRPr lang="en-US"/>
        </a:p>
      </dgm:t>
    </dgm:pt>
    <dgm:pt modelId="{6AFE1F2A-87B4-ED4A-A848-2ECBF8CCBB0B}" type="pres">
      <dgm:prSet presAssocID="{094CA9CD-D4B1-D740-B071-C60C0FB75068}" presName="quad4" presStyleLbl="node1" presStyleIdx="3" presStyleCnt="4">
        <dgm:presLayoutVars>
          <dgm:chMax val="0"/>
          <dgm:chPref val="0"/>
          <dgm:bulletEnabled val="1"/>
        </dgm:presLayoutVars>
      </dgm:prSet>
      <dgm:spPr/>
      <dgm:t>
        <a:bodyPr/>
        <a:lstStyle/>
        <a:p>
          <a:endParaRPr lang="en-US"/>
        </a:p>
      </dgm:t>
    </dgm:pt>
  </dgm:ptLst>
  <dgm:cxnLst>
    <dgm:cxn modelId="{47E1A177-6FE9-664E-95B2-C3EB2D353DC9}" srcId="{094CA9CD-D4B1-D740-B071-C60C0FB75068}" destId="{8191AEF8-830E-E444-912C-5E6B6736B38E}" srcOrd="2" destOrd="0" parTransId="{B7C0F894-5AEC-884C-81E1-56D824632049}" sibTransId="{A0B1511A-5F7C-DE4E-8F5C-9B86108765F2}"/>
    <dgm:cxn modelId="{587790E3-CD85-2B4F-A5AD-6D7A79C6AD92}" srcId="{094CA9CD-D4B1-D740-B071-C60C0FB75068}" destId="{6BD39E72-A2AE-9545-A5A8-E34ED852F2B9}" srcOrd="0" destOrd="0" parTransId="{4A5A9392-277E-0141-96F4-A980AFB0B235}" sibTransId="{02874A0E-7485-C345-9473-025301E04B6C}"/>
    <dgm:cxn modelId="{43179AA3-D76B-814F-B0A7-BBB951B8E682}" type="presOf" srcId="{094CA9CD-D4B1-D740-B071-C60C0FB75068}" destId="{73939C93-1CA8-8547-860E-73CA3DEA994E}" srcOrd="0" destOrd="0" presId="urn:microsoft.com/office/officeart/2005/8/layout/matrix3"/>
    <dgm:cxn modelId="{1EE73CB5-9C57-724A-BC3A-8D695EAAE4C7}" type="presOf" srcId="{8191AEF8-830E-E444-912C-5E6B6736B38E}" destId="{D65002E7-5471-E045-8899-52405CA0AECD}" srcOrd="0" destOrd="0" presId="urn:microsoft.com/office/officeart/2005/8/layout/matrix3"/>
    <dgm:cxn modelId="{B237569E-6D03-C24C-880B-9D70FE3B4FB1}" type="presOf" srcId="{6BD39E72-A2AE-9545-A5A8-E34ED852F2B9}" destId="{2A7E89E5-2DDA-BC41-A64E-74E0DF287100}" srcOrd="0" destOrd="0" presId="urn:microsoft.com/office/officeart/2005/8/layout/matrix3"/>
    <dgm:cxn modelId="{A82DAACE-5958-F346-A17B-371ACB6021D3}" srcId="{094CA9CD-D4B1-D740-B071-C60C0FB75068}" destId="{9DBDAB8E-B7C4-A440-8DF3-CB6649224F6A}" srcOrd="3" destOrd="0" parTransId="{A09DBAFD-5349-0F45-8359-A93D035B9D26}" sibTransId="{50218FF3-7EDA-5747-B7E4-8002F1B899D1}"/>
    <dgm:cxn modelId="{7B8EF429-594C-C54D-8887-1E06C3B3EF09}" type="presOf" srcId="{4C1AD1CF-FB66-9C42-BB2E-223447990F1D}" destId="{E41A8419-78ED-AD41-A3C0-8E9B9F7B1206}" srcOrd="0" destOrd="0" presId="urn:microsoft.com/office/officeart/2005/8/layout/matrix3"/>
    <dgm:cxn modelId="{7FB5686F-14AA-994B-8039-031439BB93A1}" type="presOf" srcId="{9DBDAB8E-B7C4-A440-8DF3-CB6649224F6A}" destId="{6AFE1F2A-87B4-ED4A-A848-2ECBF8CCBB0B}" srcOrd="0" destOrd="0" presId="urn:microsoft.com/office/officeart/2005/8/layout/matrix3"/>
    <dgm:cxn modelId="{F13280B1-4C5A-D644-A621-5D92F02EBD30}" srcId="{094CA9CD-D4B1-D740-B071-C60C0FB75068}" destId="{4C1AD1CF-FB66-9C42-BB2E-223447990F1D}" srcOrd="1" destOrd="0" parTransId="{C5780629-0D1B-D24E-B996-B5708F0A4206}" sibTransId="{7B12CD30-D8B9-7346-A243-04016560B6A2}"/>
    <dgm:cxn modelId="{57E60907-0FBE-7540-92C7-4DD25A46A035}" type="presParOf" srcId="{73939C93-1CA8-8547-860E-73CA3DEA994E}" destId="{35527C6F-2B09-D549-8F7C-974FD99EE026}" srcOrd="0" destOrd="0" presId="urn:microsoft.com/office/officeart/2005/8/layout/matrix3"/>
    <dgm:cxn modelId="{F31DC0CE-C559-8E44-AEAB-F87595D8AD2C}" type="presParOf" srcId="{73939C93-1CA8-8547-860E-73CA3DEA994E}" destId="{2A7E89E5-2DDA-BC41-A64E-74E0DF287100}" srcOrd="1" destOrd="0" presId="urn:microsoft.com/office/officeart/2005/8/layout/matrix3"/>
    <dgm:cxn modelId="{14C19ABC-A2B6-3648-B8D3-49E5A5064FD3}" type="presParOf" srcId="{73939C93-1CA8-8547-860E-73CA3DEA994E}" destId="{E41A8419-78ED-AD41-A3C0-8E9B9F7B1206}" srcOrd="2" destOrd="0" presId="urn:microsoft.com/office/officeart/2005/8/layout/matrix3"/>
    <dgm:cxn modelId="{80459ED1-E7FA-F741-B742-43F27172A174}" type="presParOf" srcId="{73939C93-1CA8-8547-860E-73CA3DEA994E}" destId="{D65002E7-5471-E045-8899-52405CA0AECD}" srcOrd="3" destOrd="0" presId="urn:microsoft.com/office/officeart/2005/8/layout/matrix3"/>
    <dgm:cxn modelId="{D175E6F3-05A6-A940-BB81-D5AA2742EE42}" type="presParOf" srcId="{73939C93-1CA8-8547-860E-73CA3DEA994E}" destId="{6AFE1F2A-87B4-ED4A-A848-2ECBF8CCBB0B}"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3E06CB8-F099-F040-B8D5-AEEFD3820F05}" type="doc">
      <dgm:prSet loTypeId="urn:microsoft.com/office/officeart/2005/8/layout/radial3" loCatId="relationship" qsTypeId="urn:microsoft.com/office/officeart/2005/8/quickstyle/simple4" qsCatId="simple" csTypeId="urn:microsoft.com/office/officeart/2005/8/colors/accent1_2" csCatId="accent1" phldr="1"/>
      <dgm:spPr/>
      <dgm:t>
        <a:bodyPr/>
        <a:lstStyle/>
        <a:p>
          <a:endParaRPr lang="en-US"/>
        </a:p>
      </dgm:t>
    </dgm:pt>
    <dgm:pt modelId="{10C02F25-8758-E84E-A06D-B72186D1564A}">
      <dgm:prSet/>
      <dgm:spPr>
        <a:solidFill>
          <a:schemeClr val="accent5"/>
        </a:solidFill>
        <a:ln w="22225">
          <a:solidFill>
            <a:schemeClr val="bg1"/>
          </a:solidFill>
        </a:ln>
      </dgm:spPr>
      <dgm:t>
        <a:bodyPr/>
        <a:lstStyle/>
        <a:p>
          <a:pPr rtl="0"/>
          <a:r>
            <a:rPr lang="en-US" b="1" dirty="0">
              <a:solidFill>
                <a:schemeClr val="bg1"/>
              </a:solidFill>
            </a:rPr>
            <a:t>Worm Technology</a:t>
          </a:r>
          <a:endParaRPr lang="en-US" dirty="0">
            <a:solidFill>
              <a:schemeClr val="bg1"/>
            </a:solidFill>
          </a:endParaRPr>
        </a:p>
      </dgm:t>
    </dgm:pt>
    <dgm:pt modelId="{3C8E5403-F4A5-B24A-995F-8F6EA23BBA90}" type="parTrans" cxnId="{7C9668B2-9BB5-1948-A541-BB650CCBB465}">
      <dgm:prSet/>
      <dgm:spPr/>
      <dgm:t>
        <a:bodyPr/>
        <a:lstStyle/>
        <a:p>
          <a:endParaRPr lang="en-US"/>
        </a:p>
      </dgm:t>
    </dgm:pt>
    <dgm:pt modelId="{775E9DAD-8302-CE4B-8985-856710CB6A00}" type="sibTrans" cxnId="{7C9668B2-9BB5-1948-A541-BB650CCBB465}">
      <dgm:prSet/>
      <dgm:spPr/>
      <dgm:t>
        <a:bodyPr/>
        <a:lstStyle/>
        <a:p>
          <a:endParaRPr lang="en-US"/>
        </a:p>
      </dgm:t>
    </dgm:pt>
    <dgm:pt modelId="{7DBFA506-5E97-934F-ABC9-0484F6E0B52A}">
      <dgm:prSet/>
      <dgm:spPr>
        <a:solidFill>
          <a:schemeClr val="tx1"/>
        </a:solidFill>
        <a:ln w="22225">
          <a:solidFill>
            <a:schemeClr val="bg1"/>
          </a:solidFill>
        </a:ln>
      </dgm:spPr>
      <dgm:t>
        <a:bodyPr/>
        <a:lstStyle/>
        <a:p>
          <a:pPr rtl="0"/>
          <a:r>
            <a:rPr lang="en-US" b="1" dirty="0">
              <a:solidFill>
                <a:schemeClr val="bg1"/>
              </a:solidFill>
            </a:rPr>
            <a:t>Multi-exploit</a:t>
          </a:r>
          <a:endParaRPr lang="en-US" dirty="0">
            <a:solidFill>
              <a:schemeClr val="bg1"/>
            </a:solidFill>
          </a:endParaRPr>
        </a:p>
      </dgm:t>
    </dgm:pt>
    <dgm:pt modelId="{75993CAC-DE75-CD43-998E-612889418DA9}" type="parTrans" cxnId="{C1F56846-45AC-A44B-86F5-0D091BA4D284}">
      <dgm:prSet/>
      <dgm:spPr/>
      <dgm:t>
        <a:bodyPr/>
        <a:lstStyle/>
        <a:p>
          <a:endParaRPr lang="en-US"/>
        </a:p>
      </dgm:t>
    </dgm:pt>
    <dgm:pt modelId="{A88716E7-B013-5A4A-AB8E-A7CD910DF4C4}" type="sibTrans" cxnId="{C1F56846-45AC-A44B-86F5-0D091BA4D284}">
      <dgm:prSet/>
      <dgm:spPr/>
      <dgm:t>
        <a:bodyPr/>
        <a:lstStyle/>
        <a:p>
          <a:endParaRPr lang="en-US"/>
        </a:p>
      </dgm:t>
    </dgm:pt>
    <dgm:pt modelId="{7035CCCF-4BCD-1149-93BF-AB4D9DD2637F}">
      <dgm:prSet/>
      <dgm:spPr>
        <a:solidFill>
          <a:schemeClr val="tx1"/>
        </a:solidFill>
        <a:ln w="22225">
          <a:solidFill>
            <a:schemeClr val="bg1"/>
          </a:solidFill>
        </a:ln>
      </dgm:spPr>
      <dgm:t>
        <a:bodyPr/>
        <a:lstStyle/>
        <a:p>
          <a:pPr rtl="0"/>
          <a:r>
            <a:rPr lang="en-US" b="1" dirty="0">
              <a:solidFill>
                <a:schemeClr val="bg1"/>
              </a:solidFill>
            </a:rPr>
            <a:t>Ultrafast spreading</a:t>
          </a:r>
          <a:endParaRPr lang="en-US" dirty="0">
            <a:solidFill>
              <a:schemeClr val="bg1"/>
            </a:solidFill>
          </a:endParaRPr>
        </a:p>
      </dgm:t>
    </dgm:pt>
    <dgm:pt modelId="{DE981C7D-ED4C-B543-A2C8-0AD90866AFC3}" type="parTrans" cxnId="{359B4676-98B2-BE45-86FA-C212BB9B54B2}">
      <dgm:prSet/>
      <dgm:spPr/>
      <dgm:t>
        <a:bodyPr/>
        <a:lstStyle/>
        <a:p>
          <a:endParaRPr lang="en-US"/>
        </a:p>
      </dgm:t>
    </dgm:pt>
    <dgm:pt modelId="{E892ECCC-7C3C-4B4A-BFE5-652FA95E2C5C}" type="sibTrans" cxnId="{359B4676-98B2-BE45-86FA-C212BB9B54B2}">
      <dgm:prSet/>
      <dgm:spPr/>
      <dgm:t>
        <a:bodyPr/>
        <a:lstStyle/>
        <a:p>
          <a:endParaRPr lang="en-US"/>
        </a:p>
      </dgm:t>
    </dgm:pt>
    <dgm:pt modelId="{B5138346-F05A-0340-9644-B2D5EA514E24}">
      <dgm:prSet/>
      <dgm:spPr>
        <a:solidFill>
          <a:schemeClr val="tx1"/>
        </a:solidFill>
        <a:ln w="22225">
          <a:solidFill>
            <a:schemeClr val="bg1"/>
          </a:solidFill>
        </a:ln>
      </dgm:spPr>
      <dgm:t>
        <a:bodyPr/>
        <a:lstStyle/>
        <a:p>
          <a:pPr rtl="0"/>
          <a:r>
            <a:rPr lang="en-US" b="1" dirty="0">
              <a:solidFill>
                <a:schemeClr val="bg1"/>
              </a:solidFill>
            </a:rPr>
            <a:t>Polymorphic</a:t>
          </a:r>
          <a:endParaRPr lang="en-US" dirty="0">
            <a:solidFill>
              <a:schemeClr val="bg1"/>
            </a:solidFill>
          </a:endParaRPr>
        </a:p>
      </dgm:t>
    </dgm:pt>
    <dgm:pt modelId="{965FC293-4343-D741-9AE6-B4D2C9C77C97}" type="parTrans" cxnId="{B32E632C-A6B6-2A4F-BBB2-E99A405097FF}">
      <dgm:prSet/>
      <dgm:spPr/>
      <dgm:t>
        <a:bodyPr/>
        <a:lstStyle/>
        <a:p>
          <a:endParaRPr lang="en-US"/>
        </a:p>
      </dgm:t>
    </dgm:pt>
    <dgm:pt modelId="{A017D4D8-CE84-A446-AEF0-B6AD7FA24DDB}" type="sibTrans" cxnId="{B32E632C-A6B6-2A4F-BBB2-E99A405097FF}">
      <dgm:prSet/>
      <dgm:spPr/>
      <dgm:t>
        <a:bodyPr/>
        <a:lstStyle/>
        <a:p>
          <a:endParaRPr lang="en-US"/>
        </a:p>
      </dgm:t>
    </dgm:pt>
    <dgm:pt modelId="{70B507D9-95BF-3949-BB1B-6709582C38EC}">
      <dgm:prSet/>
      <dgm:spPr>
        <a:solidFill>
          <a:schemeClr val="tx1"/>
        </a:solidFill>
        <a:ln w="22225">
          <a:solidFill>
            <a:schemeClr val="bg1"/>
          </a:solidFill>
        </a:ln>
      </dgm:spPr>
      <dgm:t>
        <a:bodyPr/>
        <a:lstStyle/>
        <a:p>
          <a:pPr rtl="0"/>
          <a:r>
            <a:rPr lang="en-US" b="1" dirty="0">
              <a:solidFill>
                <a:schemeClr val="bg1"/>
              </a:solidFill>
            </a:rPr>
            <a:t>Metamorphic</a:t>
          </a:r>
          <a:endParaRPr lang="en-US" dirty="0">
            <a:solidFill>
              <a:schemeClr val="bg1"/>
            </a:solidFill>
          </a:endParaRPr>
        </a:p>
      </dgm:t>
    </dgm:pt>
    <dgm:pt modelId="{58CBE927-F0BA-B342-94CD-43FF424DB8C9}" type="parTrans" cxnId="{2333364A-ED6E-3F43-A677-D4CD5178F20A}">
      <dgm:prSet/>
      <dgm:spPr/>
      <dgm:t>
        <a:bodyPr/>
        <a:lstStyle/>
        <a:p>
          <a:endParaRPr lang="en-US"/>
        </a:p>
      </dgm:t>
    </dgm:pt>
    <dgm:pt modelId="{B9513E70-EE15-134F-B459-B5A1A048D977}" type="sibTrans" cxnId="{2333364A-ED6E-3F43-A677-D4CD5178F20A}">
      <dgm:prSet/>
      <dgm:spPr/>
      <dgm:t>
        <a:bodyPr/>
        <a:lstStyle/>
        <a:p>
          <a:endParaRPr lang="en-US"/>
        </a:p>
      </dgm:t>
    </dgm:pt>
    <dgm:pt modelId="{EEB20E87-851C-974B-96BE-6ECD57A910D1}">
      <dgm:prSet/>
      <dgm:spPr>
        <a:solidFill>
          <a:schemeClr val="tx1"/>
        </a:solidFill>
        <a:ln w="22225">
          <a:solidFill>
            <a:schemeClr val="bg1"/>
          </a:solidFill>
        </a:ln>
      </dgm:spPr>
      <dgm:t>
        <a:bodyPr/>
        <a:lstStyle/>
        <a:p>
          <a:pPr rtl="0"/>
          <a:r>
            <a:rPr lang="en-US" b="1" dirty="0">
              <a:solidFill>
                <a:schemeClr val="bg1"/>
              </a:solidFill>
            </a:rPr>
            <a:t>Multiplatform</a:t>
          </a:r>
          <a:endParaRPr lang="en-US" dirty="0">
            <a:solidFill>
              <a:schemeClr val="bg1"/>
            </a:solidFill>
          </a:endParaRPr>
        </a:p>
      </dgm:t>
    </dgm:pt>
    <dgm:pt modelId="{DAC8A6C2-F6C3-FF4B-B164-DA36C927C12E}" type="parTrans" cxnId="{EE8755A8-7F62-F34B-9195-93FC5586D147}">
      <dgm:prSet/>
      <dgm:spPr/>
      <dgm:t>
        <a:bodyPr/>
        <a:lstStyle/>
        <a:p>
          <a:endParaRPr lang="en-US"/>
        </a:p>
      </dgm:t>
    </dgm:pt>
    <dgm:pt modelId="{1830942C-06E5-AC41-A968-ED9094F0EF75}" type="sibTrans" cxnId="{EE8755A8-7F62-F34B-9195-93FC5586D147}">
      <dgm:prSet/>
      <dgm:spPr/>
      <dgm:t>
        <a:bodyPr/>
        <a:lstStyle/>
        <a:p>
          <a:endParaRPr lang="en-US"/>
        </a:p>
      </dgm:t>
    </dgm:pt>
    <dgm:pt modelId="{625233F0-3B1E-D642-A1FB-63572CD687F3}" type="pres">
      <dgm:prSet presAssocID="{03E06CB8-F099-F040-B8D5-AEEFD3820F05}" presName="composite" presStyleCnt="0">
        <dgm:presLayoutVars>
          <dgm:chMax val="1"/>
          <dgm:dir/>
          <dgm:resizeHandles val="exact"/>
        </dgm:presLayoutVars>
      </dgm:prSet>
      <dgm:spPr/>
      <dgm:t>
        <a:bodyPr/>
        <a:lstStyle/>
        <a:p>
          <a:endParaRPr lang="en-US"/>
        </a:p>
      </dgm:t>
    </dgm:pt>
    <dgm:pt modelId="{4AF7FBF6-E1A8-FF4E-950B-231CC8AD01A9}" type="pres">
      <dgm:prSet presAssocID="{03E06CB8-F099-F040-B8D5-AEEFD3820F05}" presName="radial" presStyleCnt="0">
        <dgm:presLayoutVars>
          <dgm:animLvl val="ctr"/>
        </dgm:presLayoutVars>
      </dgm:prSet>
      <dgm:spPr/>
    </dgm:pt>
    <dgm:pt modelId="{4B4D0653-6265-5A47-B3FD-D6FE1A35E718}" type="pres">
      <dgm:prSet presAssocID="{10C02F25-8758-E84E-A06D-B72186D1564A}" presName="centerShape" presStyleLbl="vennNode1" presStyleIdx="0" presStyleCnt="6"/>
      <dgm:spPr/>
      <dgm:t>
        <a:bodyPr/>
        <a:lstStyle/>
        <a:p>
          <a:endParaRPr lang="en-US"/>
        </a:p>
      </dgm:t>
    </dgm:pt>
    <dgm:pt modelId="{B4BEB0F9-D7FC-5B41-8A77-1772BE16071E}" type="pres">
      <dgm:prSet presAssocID="{EEB20E87-851C-974B-96BE-6ECD57A910D1}" presName="node" presStyleLbl="vennNode1" presStyleIdx="1" presStyleCnt="6">
        <dgm:presLayoutVars>
          <dgm:bulletEnabled val="1"/>
        </dgm:presLayoutVars>
      </dgm:prSet>
      <dgm:spPr/>
      <dgm:t>
        <a:bodyPr/>
        <a:lstStyle/>
        <a:p>
          <a:endParaRPr lang="en-US"/>
        </a:p>
      </dgm:t>
    </dgm:pt>
    <dgm:pt modelId="{FB105C74-5023-9549-9909-7AFC2BC8A41A}" type="pres">
      <dgm:prSet presAssocID="{7DBFA506-5E97-934F-ABC9-0484F6E0B52A}" presName="node" presStyleLbl="vennNode1" presStyleIdx="2" presStyleCnt="6">
        <dgm:presLayoutVars>
          <dgm:bulletEnabled val="1"/>
        </dgm:presLayoutVars>
      </dgm:prSet>
      <dgm:spPr/>
      <dgm:t>
        <a:bodyPr/>
        <a:lstStyle/>
        <a:p>
          <a:endParaRPr lang="en-US"/>
        </a:p>
      </dgm:t>
    </dgm:pt>
    <dgm:pt modelId="{14A307A0-559D-5F4E-A70F-C01D11B0546F}" type="pres">
      <dgm:prSet presAssocID="{7035CCCF-4BCD-1149-93BF-AB4D9DD2637F}" presName="node" presStyleLbl="vennNode1" presStyleIdx="3" presStyleCnt="6">
        <dgm:presLayoutVars>
          <dgm:bulletEnabled val="1"/>
        </dgm:presLayoutVars>
      </dgm:prSet>
      <dgm:spPr/>
      <dgm:t>
        <a:bodyPr/>
        <a:lstStyle/>
        <a:p>
          <a:endParaRPr lang="en-US"/>
        </a:p>
      </dgm:t>
    </dgm:pt>
    <dgm:pt modelId="{ADCE9D15-6654-AD4A-B316-C2451993F9C8}" type="pres">
      <dgm:prSet presAssocID="{B5138346-F05A-0340-9644-B2D5EA514E24}" presName="node" presStyleLbl="vennNode1" presStyleIdx="4" presStyleCnt="6">
        <dgm:presLayoutVars>
          <dgm:bulletEnabled val="1"/>
        </dgm:presLayoutVars>
      </dgm:prSet>
      <dgm:spPr/>
      <dgm:t>
        <a:bodyPr/>
        <a:lstStyle/>
        <a:p>
          <a:endParaRPr lang="en-US"/>
        </a:p>
      </dgm:t>
    </dgm:pt>
    <dgm:pt modelId="{6AF1FB02-7F67-9045-92F3-3A592F29C8AD}" type="pres">
      <dgm:prSet presAssocID="{70B507D9-95BF-3949-BB1B-6709582C38EC}" presName="node" presStyleLbl="vennNode1" presStyleIdx="5" presStyleCnt="6">
        <dgm:presLayoutVars>
          <dgm:bulletEnabled val="1"/>
        </dgm:presLayoutVars>
      </dgm:prSet>
      <dgm:spPr/>
      <dgm:t>
        <a:bodyPr/>
        <a:lstStyle/>
        <a:p>
          <a:endParaRPr lang="en-US"/>
        </a:p>
      </dgm:t>
    </dgm:pt>
  </dgm:ptLst>
  <dgm:cxnLst>
    <dgm:cxn modelId="{359B4676-98B2-BE45-86FA-C212BB9B54B2}" srcId="{10C02F25-8758-E84E-A06D-B72186D1564A}" destId="{7035CCCF-4BCD-1149-93BF-AB4D9DD2637F}" srcOrd="2" destOrd="0" parTransId="{DE981C7D-ED4C-B543-A2C8-0AD90866AFC3}" sibTransId="{E892ECCC-7C3C-4B4A-BFE5-652FA95E2C5C}"/>
    <dgm:cxn modelId="{BA7851B8-41B3-894E-A6DA-0C15C1BC030C}" type="presOf" srcId="{EEB20E87-851C-974B-96BE-6ECD57A910D1}" destId="{B4BEB0F9-D7FC-5B41-8A77-1772BE16071E}" srcOrd="0" destOrd="0" presId="urn:microsoft.com/office/officeart/2005/8/layout/radial3"/>
    <dgm:cxn modelId="{D6C3DF06-5B70-CD41-BDF5-34C5F5D275DC}" type="presOf" srcId="{03E06CB8-F099-F040-B8D5-AEEFD3820F05}" destId="{625233F0-3B1E-D642-A1FB-63572CD687F3}" srcOrd="0" destOrd="0" presId="urn:microsoft.com/office/officeart/2005/8/layout/radial3"/>
    <dgm:cxn modelId="{7C9668B2-9BB5-1948-A541-BB650CCBB465}" srcId="{03E06CB8-F099-F040-B8D5-AEEFD3820F05}" destId="{10C02F25-8758-E84E-A06D-B72186D1564A}" srcOrd="0" destOrd="0" parTransId="{3C8E5403-F4A5-B24A-995F-8F6EA23BBA90}" sibTransId="{775E9DAD-8302-CE4B-8985-856710CB6A00}"/>
    <dgm:cxn modelId="{EE8755A8-7F62-F34B-9195-93FC5586D147}" srcId="{10C02F25-8758-E84E-A06D-B72186D1564A}" destId="{EEB20E87-851C-974B-96BE-6ECD57A910D1}" srcOrd="0" destOrd="0" parTransId="{DAC8A6C2-F6C3-FF4B-B164-DA36C927C12E}" sibTransId="{1830942C-06E5-AC41-A968-ED9094F0EF75}"/>
    <dgm:cxn modelId="{7DB636B0-9BAE-5247-8E5F-B6641663BFA1}" type="presOf" srcId="{10C02F25-8758-E84E-A06D-B72186D1564A}" destId="{4B4D0653-6265-5A47-B3FD-D6FE1A35E718}" srcOrd="0" destOrd="0" presId="urn:microsoft.com/office/officeart/2005/8/layout/radial3"/>
    <dgm:cxn modelId="{22BDDFEC-E7AC-FE4A-B018-11831B69C22A}" type="presOf" srcId="{7035CCCF-4BCD-1149-93BF-AB4D9DD2637F}" destId="{14A307A0-559D-5F4E-A70F-C01D11B0546F}" srcOrd="0" destOrd="0" presId="urn:microsoft.com/office/officeart/2005/8/layout/radial3"/>
    <dgm:cxn modelId="{B32E632C-A6B6-2A4F-BBB2-E99A405097FF}" srcId="{10C02F25-8758-E84E-A06D-B72186D1564A}" destId="{B5138346-F05A-0340-9644-B2D5EA514E24}" srcOrd="3" destOrd="0" parTransId="{965FC293-4343-D741-9AE6-B4D2C9C77C97}" sibTransId="{A017D4D8-CE84-A446-AEF0-B6AD7FA24DDB}"/>
    <dgm:cxn modelId="{2333364A-ED6E-3F43-A677-D4CD5178F20A}" srcId="{10C02F25-8758-E84E-A06D-B72186D1564A}" destId="{70B507D9-95BF-3949-BB1B-6709582C38EC}" srcOrd="4" destOrd="0" parTransId="{58CBE927-F0BA-B342-94CD-43FF424DB8C9}" sibTransId="{B9513E70-EE15-134F-B459-B5A1A048D977}"/>
    <dgm:cxn modelId="{E2F8772E-945B-1E4E-A5CD-B0A229BE3A05}" type="presOf" srcId="{7DBFA506-5E97-934F-ABC9-0484F6E0B52A}" destId="{FB105C74-5023-9549-9909-7AFC2BC8A41A}" srcOrd="0" destOrd="0" presId="urn:microsoft.com/office/officeart/2005/8/layout/radial3"/>
    <dgm:cxn modelId="{0649CB12-6953-9449-9341-E1AE19E59AFF}" type="presOf" srcId="{B5138346-F05A-0340-9644-B2D5EA514E24}" destId="{ADCE9D15-6654-AD4A-B316-C2451993F9C8}" srcOrd="0" destOrd="0" presId="urn:microsoft.com/office/officeart/2005/8/layout/radial3"/>
    <dgm:cxn modelId="{C1F56846-45AC-A44B-86F5-0D091BA4D284}" srcId="{10C02F25-8758-E84E-A06D-B72186D1564A}" destId="{7DBFA506-5E97-934F-ABC9-0484F6E0B52A}" srcOrd="1" destOrd="0" parTransId="{75993CAC-DE75-CD43-998E-612889418DA9}" sibTransId="{A88716E7-B013-5A4A-AB8E-A7CD910DF4C4}"/>
    <dgm:cxn modelId="{E980AF3A-142B-E04B-94F9-D3B0423DBF2C}" type="presOf" srcId="{70B507D9-95BF-3949-BB1B-6709582C38EC}" destId="{6AF1FB02-7F67-9045-92F3-3A592F29C8AD}" srcOrd="0" destOrd="0" presId="urn:microsoft.com/office/officeart/2005/8/layout/radial3"/>
    <dgm:cxn modelId="{336C8574-C2C3-B144-90D9-450EEB2715C6}" type="presParOf" srcId="{625233F0-3B1E-D642-A1FB-63572CD687F3}" destId="{4AF7FBF6-E1A8-FF4E-950B-231CC8AD01A9}" srcOrd="0" destOrd="0" presId="urn:microsoft.com/office/officeart/2005/8/layout/radial3"/>
    <dgm:cxn modelId="{BFF6B7BE-C7D7-7042-A882-E38E51BCF350}" type="presParOf" srcId="{4AF7FBF6-E1A8-FF4E-950B-231CC8AD01A9}" destId="{4B4D0653-6265-5A47-B3FD-D6FE1A35E718}" srcOrd="0" destOrd="0" presId="urn:microsoft.com/office/officeart/2005/8/layout/radial3"/>
    <dgm:cxn modelId="{651F159E-A52A-A24C-8F92-4E382FA23C12}" type="presParOf" srcId="{4AF7FBF6-E1A8-FF4E-950B-231CC8AD01A9}" destId="{B4BEB0F9-D7FC-5B41-8A77-1772BE16071E}" srcOrd="1" destOrd="0" presId="urn:microsoft.com/office/officeart/2005/8/layout/radial3"/>
    <dgm:cxn modelId="{22D7CA52-A7D5-DF4E-B071-577CA7E72CC4}" type="presParOf" srcId="{4AF7FBF6-E1A8-FF4E-950B-231CC8AD01A9}" destId="{FB105C74-5023-9549-9909-7AFC2BC8A41A}" srcOrd="2" destOrd="0" presId="urn:microsoft.com/office/officeart/2005/8/layout/radial3"/>
    <dgm:cxn modelId="{0C0FF69C-EFDE-8543-A2C3-176245D50A9B}" type="presParOf" srcId="{4AF7FBF6-E1A8-FF4E-950B-231CC8AD01A9}" destId="{14A307A0-559D-5F4E-A70F-C01D11B0546F}" srcOrd="3" destOrd="0" presId="urn:microsoft.com/office/officeart/2005/8/layout/radial3"/>
    <dgm:cxn modelId="{715D9ABC-297D-A940-ABA1-8BF722D73843}" type="presParOf" srcId="{4AF7FBF6-E1A8-FF4E-950B-231CC8AD01A9}" destId="{ADCE9D15-6654-AD4A-B316-C2451993F9C8}" srcOrd="4" destOrd="0" presId="urn:microsoft.com/office/officeart/2005/8/layout/radial3"/>
    <dgm:cxn modelId="{01DA7757-73A4-2940-A632-4C2D58C20C92}" type="presParOf" srcId="{4AF7FBF6-E1A8-FF4E-950B-231CC8AD01A9}" destId="{6AF1FB02-7F67-9045-92F3-3A592F29C8AD}" srcOrd="5"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9341733-3EA1-0144-9587-2624D3083024}"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32697608-7E4E-444E-B154-202E987D0654}">
      <dgm:prSet/>
      <dgm:spPr>
        <a:solidFill>
          <a:schemeClr val="accent3">
            <a:lumMod val="75000"/>
          </a:schemeClr>
        </a:solidFill>
      </dgm:spPr>
      <dgm:t>
        <a:bodyPr/>
        <a:lstStyle/>
        <a:p>
          <a:pPr rtl="0"/>
          <a:r>
            <a:rPr lang="en-US" dirty="0">
              <a:solidFill>
                <a:schemeClr val="bg1"/>
              </a:solidFill>
            </a:rPr>
            <a:t>Exploits browser and plugin vulnerabilities so when the user views a webpage controlled by the attacker, it contains code that exploits the bug to download and install malware on the system without the user’s knowledge or consent</a:t>
          </a:r>
        </a:p>
      </dgm:t>
    </dgm:pt>
    <dgm:pt modelId="{9DB4402B-7FFB-A944-84C3-2A3BE0B025AB}" type="parTrans" cxnId="{CD9C12F4-88D3-004F-B0BB-06A63A866C7F}">
      <dgm:prSet/>
      <dgm:spPr/>
      <dgm:t>
        <a:bodyPr/>
        <a:lstStyle/>
        <a:p>
          <a:endParaRPr lang="en-US"/>
        </a:p>
      </dgm:t>
    </dgm:pt>
    <dgm:pt modelId="{E5FC4325-F380-7249-B7A4-3B1D970B3D23}" type="sibTrans" cxnId="{CD9C12F4-88D3-004F-B0BB-06A63A866C7F}">
      <dgm:prSet/>
      <dgm:spPr/>
      <dgm:t>
        <a:bodyPr/>
        <a:lstStyle/>
        <a:p>
          <a:endParaRPr lang="en-US"/>
        </a:p>
      </dgm:t>
    </dgm:pt>
    <dgm:pt modelId="{09C70A05-E9A6-FD4A-9121-F77133674EFC}">
      <dgm:prSet/>
      <dgm:spPr/>
      <dgm:t>
        <a:bodyPr/>
        <a:lstStyle/>
        <a:p>
          <a:pPr rtl="0"/>
          <a:r>
            <a:rPr lang="en-US" dirty="0">
              <a:solidFill>
                <a:schemeClr val="bg1"/>
              </a:solidFill>
            </a:rPr>
            <a:t>In most cases the malware does not actively propagate as a worm does</a:t>
          </a:r>
        </a:p>
      </dgm:t>
    </dgm:pt>
    <dgm:pt modelId="{43888AFF-9C42-484D-9B04-61E6986A58B4}" type="parTrans" cxnId="{049F9C66-7780-4946-8C89-D97725E70A5A}">
      <dgm:prSet/>
      <dgm:spPr/>
      <dgm:t>
        <a:bodyPr/>
        <a:lstStyle/>
        <a:p>
          <a:endParaRPr lang="en-US"/>
        </a:p>
      </dgm:t>
    </dgm:pt>
    <dgm:pt modelId="{B7E02321-59E6-9D40-B369-48692AA07319}" type="sibTrans" cxnId="{049F9C66-7780-4946-8C89-D97725E70A5A}">
      <dgm:prSet/>
      <dgm:spPr/>
      <dgm:t>
        <a:bodyPr/>
        <a:lstStyle/>
        <a:p>
          <a:endParaRPr lang="en-US"/>
        </a:p>
      </dgm:t>
    </dgm:pt>
    <dgm:pt modelId="{BE174E17-455E-7743-B54C-1F2A4B31F473}">
      <dgm:prSet/>
      <dgm:spPr>
        <a:solidFill>
          <a:schemeClr val="accent5">
            <a:lumMod val="75000"/>
          </a:schemeClr>
        </a:solidFill>
      </dgm:spPr>
      <dgm:t>
        <a:bodyPr/>
        <a:lstStyle/>
        <a:p>
          <a:pPr rtl="0"/>
          <a:r>
            <a:rPr lang="en-US" dirty="0">
              <a:solidFill>
                <a:schemeClr val="bg1"/>
              </a:solidFill>
            </a:rPr>
            <a:t>Spreads when users visit the malicious Web page</a:t>
          </a:r>
        </a:p>
      </dgm:t>
    </dgm:pt>
    <dgm:pt modelId="{9236EC6A-CB23-5D45-8B3C-D06162FB724A}" type="parTrans" cxnId="{FDC088EA-ADD6-C048-BC9D-870475530A65}">
      <dgm:prSet/>
      <dgm:spPr/>
      <dgm:t>
        <a:bodyPr/>
        <a:lstStyle/>
        <a:p>
          <a:endParaRPr lang="en-US"/>
        </a:p>
      </dgm:t>
    </dgm:pt>
    <dgm:pt modelId="{FDE401BA-0895-D840-BE22-BE8C29AD44D9}" type="sibTrans" cxnId="{FDC088EA-ADD6-C048-BC9D-870475530A65}">
      <dgm:prSet/>
      <dgm:spPr/>
      <dgm:t>
        <a:bodyPr/>
        <a:lstStyle/>
        <a:p>
          <a:endParaRPr lang="en-US"/>
        </a:p>
      </dgm:t>
    </dgm:pt>
    <dgm:pt modelId="{8E592B8B-CC14-2D4D-937D-6934F57C9C57}" type="pres">
      <dgm:prSet presAssocID="{99341733-3EA1-0144-9587-2624D3083024}" presName="Name0" presStyleCnt="0">
        <dgm:presLayoutVars>
          <dgm:dir/>
          <dgm:animLvl val="lvl"/>
          <dgm:resizeHandles val="exact"/>
        </dgm:presLayoutVars>
      </dgm:prSet>
      <dgm:spPr/>
      <dgm:t>
        <a:bodyPr/>
        <a:lstStyle/>
        <a:p>
          <a:endParaRPr lang="en-US"/>
        </a:p>
      </dgm:t>
    </dgm:pt>
    <dgm:pt modelId="{EF208EAC-EDEF-C44A-A18B-BEED88A3F6E8}" type="pres">
      <dgm:prSet presAssocID="{32697608-7E4E-444E-B154-202E987D0654}" presName="linNode" presStyleCnt="0"/>
      <dgm:spPr/>
    </dgm:pt>
    <dgm:pt modelId="{CED76B07-51BB-1245-AF60-0C6452EE04BD}" type="pres">
      <dgm:prSet presAssocID="{32697608-7E4E-444E-B154-202E987D0654}" presName="parentText" presStyleLbl="node1" presStyleIdx="0" presStyleCnt="3" custScaleX="138192" custLinFactNeighborX="-68786" custLinFactNeighborY="4434">
        <dgm:presLayoutVars>
          <dgm:chMax val="1"/>
          <dgm:bulletEnabled val="1"/>
        </dgm:presLayoutVars>
      </dgm:prSet>
      <dgm:spPr/>
      <dgm:t>
        <a:bodyPr/>
        <a:lstStyle/>
        <a:p>
          <a:endParaRPr lang="en-US"/>
        </a:p>
      </dgm:t>
    </dgm:pt>
    <dgm:pt modelId="{13D74561-5D42-CA4A-A620-B887E5146DBA}" type="pres">
      <dgm:prSet presAssocID="{E5FC4325-F380-7249-B7A4-3B1D970B3D23}" presName="sp" presStyleCnt="0"/>
      <dgm:spPr/>
    </dgm:pt>
    <dgm:pt modelId="{00B5BD9B-E8C6-A54B-A1D7-33A57E9B7859}" type="pres">
      <dgm:prSet presAssocID="{09C70A05-E9A6-FD4A-9121-F77133674EFC}" presName="linNode" presStyleCnt="0"/>
      <dgm:spPr/>
    </dgm:pt>
    <dgm:pt modelId="{1AD249A0-6B01-B341-8A3A-17F99B708EA3}" type="pres">
      <dgm:prSet presAssocID="{09C70A05-E9A6-FD4A-9121-F77133674EFC}" presName="parentText" presStyleLbl="node1" presStyleIdx="1" presStyleCnt="3" custScaleX="125691" custScaleY="68443">
        <dgm:presLayoutVars>
          <dgm:chMax val="1"/>
          <dgm:bulletEnabled val="1"/>
        </dgm:presLayoutVars>
      </dgm:prSet>
      <dgm:spPr/>
      <dgm:t>
        <a:bodyPr/>
        <a:lstStyle/>
        <a:p>
          <a:endParaRPr lang="en-US"/>
        </a:p>
      </dgm:t>
    </dgm:pt>
    <dgm:pt modelId="{7F316B01-758E-DC44-8BE5-94FC4014B753}" type="pres">
      <dgm:prSet presAssocID="{B7E02321-59E6-9D40-B369-48692AA07319}" presName="sp" presStyleCnt="0"/>
      <dgm:spPr/>
    </dgm:pt>
    <dgm:pt modelId="{4E0E251B-873D-D940-87FF-F2CD35384319}" type="pres">
      <dgm:prSet presAssocID="{BE174E17-455E-7743-B54C-1F2A4B31F473}" presName="linNode" presStyleCnt="0"/>
      <dgm:spPr/>
    </dgm:pt>
    <dgm:pt modelId="{9FB8E040-7664-184B-97F7-B6CA58CB139A}" type="pres">
      <dgm:prSet presAssocID="{BE174E17-455E-7743-B54C-1F2A4B31F473}" presName="parentText" presStyleLbl="node1" presStyleIdx="2" presStyleCnt="3" custScaleX="140206" custScaleY="53146" custLinFactNeighborX="87882" custLinFactNeighborY="-11289">
        <dgm:presLayoutVars>
          <dgm:chMax val="1"/>
          <dgm:bulletEnabled val="1"/>
        </dgm:presLayoutVars>
      </dgm:prSet>
      <dgm:spPr/>
      <dgm:t>
        <a:bodyPr/>
        <a:lstStyle/>
        <a:p>
          <a:endParaRPr lang="en-US"/>
        </a:p>
      </dgm:t>
    </dgm:pt>
  </dgm:ptLst>
  <dgm:cxnLst>
    <dgm:cxn modelId="{35EB8F21-1250-7145-9D33-C4B6E6E302F5}" type="presOf" srcId="{32697608-7E4E-444E-B154-202E987D0654}" destId="{CED76B07-51BB-1245-AF60-0C6452EE04BD}" srcOrd="0" destOrd="0" presId="urn:microsoft.com/office/officeart/2005/8/layout/vList5"/>
    <dgm:cxn modelId="{049F9C66-7780-4946-8C89-D97725E70A5A}" srcId="{99341733-3EA1-0144-9587-2624D3083024}" destId="{09C70A05-E9A6-FD4A-9121-F77133674EFC}" srcOrd="1" destOrd="0" parTransId="{43888AFF-9C42-484D-9B04-61E6986A58B4}" sibTransId="{B7E02321-59E6-9D40-B369-48692AA07319}"/>
    <dgm:cxn modelId="{CD9C12F4-88D3-004F-B0BB-06A63A866C7F}" srcId="{99341733-3EA1-0144-9587-2624D3083024}" destId="{32697608-7E4E-444E-B154-202E987D0654}" srcOrd="0" destOrd="0" parTransId="{9DB4402B-7FFB-A944-84C3-2A3BE0B025AB}" sibTransId="{E5FC4325-F380-7249-B7A4-3B1D970B3D23}"/>
    <dgm:cxn modelId="{32727195-4377-FE46-81BB-C2BE148B3086}" type="presOf" srcId="{99341733-3EA1-0144-9587-2624D3083024}" destId="{8E592B8B-CC14-2D4D-937D-6934F57C9C57}" srcOrd="0" destOrd="0" presId="urn:microsoft.com/office/officeart/2005/8/layout/vList5"/>
    <dgm:cxn modelId="{6ED7BBF9-ED0D-0740-B516-2E03569C872D}" type="presOf" srcId="{09C70A05-E9A6-FD4A-9121-F77133674EFC}" destId="{1AD249A0-6B01-B341-8A3A-17F99B708EA3}" srcOrd="0" destOrd="0" presId="urn:microsoft.com/office/officeart/2005/8/layout/vList5"/>
    <dgm:cxn modelId="{6564BCD6-CB29-404D-BD56-1A76BC9580C3}" type="presOf" srcId="{BE174E17-455E-7743-B54C-1F2A4B31F473}" destId="{9FB8E040-7664-184B-97F7-B6CA58CB139A}" srcOrd="0" destOrd="0" presId="urn:microsoft.com/office/officeart/2005/8/layout/vList5"/>
    <dgm:cxn modelId="{FDC088EA-ADD6-C048-BC9D-870475530A65}" srcId="{99341733-3EA1-0144-9587-2624D3083024}" destId="{BE174E17-455E-7743-B54C-1F2A4B31F473}" srcOrd="2" destOrd="0" parTransId="{9236EC6A-CB23-5D45-8B3C-D06162FB724A}" sibTransId="{FDE401BA-0895-D840-BE22-BE8C29AD44D9}"/>
    <dgm:cxn modelId="{34F37933-39D1-5E47-97ED-3AC87A680BF3}" type="presParOf" srcId="{8E592B8B-CC14-2D4D-937D-6934F57C9C57}" destId="{EF208EAC-EDEF-C44A-A18B-BEED88A3F6E8}" srcOrd="0" destOrd="0" presId="urn:microsoft.com/office/officeart/2005/8/layout/vList5"/>
    <dgm:cxn modelId="{09F5C299-65E9-E64F-B96D-2248ED138D04}" type="presParOf" srcId="{EF208EAC-EDEF-C44A-A18B-BEED88A3F6E8}" destId="{CED76B07-51BB-1245-AF60-0C6452EE04BD}" srcOrd="0" destOrd="0" presId="urn:microsoft.com/office/officeart/2005/8/layout/vList5"/>
    <dgm:cxn modelId="{DAB59A48-C0E9-0E44-8B7A-FF17B361C4A1}" type="presParOf" srcId="{8E592B8B-CC14-2D4D-937D-6934F57C9C57}" destId="{13D74561-5D42-CA4A-A620-B887E5146DBA}" srcOrd="1" destOrd="0" presId="urn:microsoft.com/office/officeart/2005/8/layout/vList5"/>
    <dgm:cxn modelId="{4EB26B27-299B-874C-A06F-B29D5695389E}" type="presParOf" srcId="{8E592B8B-CC14-2D4D-937D-6934F57C9C57}" destId="{00B5BD9B-E8C6-A54B-A1D7-33A57E9B7859}" srcOrd="2" destOrd="0" presId="urn:microsoft.com/office/officeart/2005/8/layout/vList5"/>
    <dgm:cxn modelId="{BBC3364A-203D-8B42-B366-60A328E6DE8D}" type="presParOf" srcId="{00B5BD9B-E8C6-A54B-A1D7-33A57E9B7859}" destId="{1AD249A0-6B01-B341-8A3A-17F99B708EA3}" srcOrd="0" destOrd="0" presId="urn:microsoft.com/office/officeart/2005/8/layout/vList5"/>
    <dgm:cxn modelId="{CBBF8FDC-93A8-E642-8F7D-3D3BC6E46F21}" type="presParOf" srcId="{8E592B8B-CC14-2D4D-937D-6934F57C9C57}" destId="{7F316B01-758E-DC44-8BE5-94FC4014B753}" srcOrd="3" destOrd="0" presId="urn:microsoft.com/office/officeart/2005/8/layout/vList5"/>
    <dgm:cxn modelId="{AAF713D2-BA39-904C-AD0C-894DA22E877E}" type="presParOf" srcId="{8E592B8B-CC14-2D4D-937D-6934F57C9C57}" destId="{4E0E251B-873D-D940-87FF-F2CD35384319}" srcOrd="4" destOrd="0" presId="urn:microsoft.com/office/officeart/2005/8/layout/vList5"/>
    <dgm:cxn modelId="{274FFBEF-CA61-7E40-8A66-AC5B2BB8938F}" type="presParOf" srcId="{4E0E251B-873D-D940-87FF-F2CD35384319}" destId="{9FB8E040-7664-184B-97F7-B6CA58CB139A}"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44F9867-C69E-6B42-A699-09B0263AEE8C}"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B1A3C26D-5433-3643-B410-DA3DE9FA397D}">
      <dgm:prSet/>
      <dgm:spPr>
        <a:solidFill>
          <a:schemeClr val="accent3">
            <a:lumMod val="75000"/>
          </a:schemeClr>
        </a:solidFill>
      </dgm:spPr>
      <dgm:t>
        <a:bodyPr/>
        <a:lstStyle/>
        <a:p>
          <a:pPr rtl="0"/>
          <a:r>
            <a:rPr lang="en-US" b="1" dirty="0">
              <a:solidFill>
                <a:schemeClr val="bg1"/>
              </a:solidFill>
            </a:rPr>
            <a:t>Places malware on websites without actually compromising them</a:t>
          </a:r>
        </a:p>
      </dgm:t>
    </dgm:pt>
    <dgm:pt modelId="{75B5DF45-DBB2-A947-A05E-2C2562E713A1}" type="parTrans" cxnId="{0B50339D-5C3F-C84A-B205-61E8C92D5F96}">
      <dgm:prSet/>
      <dgm:spPr/>
      <dgm:t>
        <a:bodyPr/>
        <a:lstStyle/>
        <a:p>
          <a:endParaRPr lang="en-US"/>
        </a:p>
      </dgm:t>
    </dgm:pt>
    <dgm:pt modelId="{40CA31C5-EA66-FB42-97B7-FC2DEC728C5F}" type="sibTrans" cxnId="{0B50339D-5C3F-C84A-B205-61E8C92D5F96}">
      <dgm:prSet/>
      <dgm:spPr/>
      <dgm:t>
        <a:bodyPr/>
        <a:lstStyle/>
        <a:p>
          <a:endParaRPr lang="en-US"/>
        </a:p>
      </dgm:t>
    </dgm:pt>
    <dgm:pt modelId="{FDC22411-CC85-B54E-890B-416569916F56}">
      <dgm:prSet/>
      <dgm:spPr>
        <a:solidFill>
          <a:schemeClr val="accent5">
            <a:lumMod val="75000"/>
          </a:schemeClr>
        </a:solidFill>
      </dgm:spPr>
      <dgm:t>
        <a:bodyPr/>
        <a:lstStyle/>
        <a:p>
          <a:pPr rtl="0"/>
          <a:r>
            <a:rPr lang="en-US" b="1" dirty="0">
              <a:solidFill>
                <a:schemeClr val="bg1"/>
              </a:solidFill>
            </a:rPr>
            <a:t>The attacker pays for advertisements that are highly likely to be placed on their intended target websites and incorporate malware in them</a:t>
          </a:r>
        </a:p>
      </dgm:t>
    </dgm:pt>
    <dgm:pt modelId="{F81E6284-5FD8-204A-9556-D5ADEDCC483C}" type="parTrans" cxnId="{910F6907-07B3-4644-9084-2051D117C160}">
      <dgm:prSet/>
      <dgm:spPr/>
      <dgm:t>
        <a:bodyPr/>
        <a:lstStyle/>
        <a:p>
          <a:endParaRPr lang="en-US"/>
        </a:p>
      </dgm:t>
    </dgm:pt>
    <dgm:pt modelId="{784CFD08-3317-8E4F-85C8-F22A19F5CEC1}" type="sibTrans" cxnId="{910F6907-07B3-4644-9084-2051D117C160}">
      <dgm:prSet/>
      <dgm:spPr/>
      <dgm:t>
        <a:bodyPr/>
        <a:lstStyle/>
        <a:p>
          <a:endParaRPr lang="en-US"/>
        </a:p>
      </dgm:t>
    </dgm:pt>
    <dgm:pt modelId="{054727E8-9D7A-7C43-8A07-D4B1294FE9A6}">
      <dgm:prSet/>
      <dgm:spPr>
        <a:solidFill>
          <a:schemeClr val="accent3">
            <a:lumMod val="75000"/>
          </a:schemeClr>
        </a:solidFill>
      </dgm:spPr>
      <dgm:t>
        <a:bodyPr/>
        <a:lstStyle/>
        <a:p>
          <a:pPr rtl="0"/>
          <a:r>
            <a:rPr lang="en-US" b="1" dirty="0">
              <a:solidFill>
                <a:schemeClr val="bg1"/>
              </a:solidFill>
            </a:rPr>
            <a:t>Using these malicious ads, attackers can infect visitors to sites displaying them</a:t>
          </a:r>
        </a:p>
      </dgm:t>
    </dgm:pt>
    <dgm:pt modelId="{8E076889-F144-2947-A986-3F73716AB3C2}" type="parTrans" cxnId="{FAA56E06-1C39-5849-B626-99EF6EF042DF}">
      <dgm:prSet/>
      <dgm:spPr/>
      <dgm:t>
        <a:bodyPr/>
        <a:lstStyle/>
        <a:p>
          <a:endParaRPr lang="en-US"/>
        </a:p>
      </dgm:t>
    </dgm:pt>
    <dgm:pt modelId="{0FE84A6D-BBF7-5140-AB06-D900852FC6DB}" type="sibTrans" cxnId="{FAA56E06-1C39-5849-B626-99EF6EF042DF}">
      <dgm:prSet/>
      <dgm:spPr/>
      <dgm:t>
        <a:bodyPr/>
        <a:lstStyle/>
        <a:p>
          <a:endParaRPr lang="en-US"/>
        </a:p>
      </dgm:t>
    </dgm:pt>
    <dgm:pt modelId="{043F2DE6-D3F9-7D47-AF1E-C16458834B17}">
      <dgm:prSet/>
      <dgm:spPr>
        <a:solidFill>
          <a:schemeClr val="accent5">
            <a:lumMod val="75000"/>
          </a:schemeClr>
        </a:solidFill>
      </dgm:spPr>
      <dgm:t>
        <a:bodyPr/>
        <a:lstStyle/>
        <a:p>
          <a:pPr rtl="0"/>
          <a:r>
            <a:rPr lang="en-US" b="1" dirty="0">
              <a:solidFill>
                <a:schemeClr val="bg1"/>
              </a:solidFill>
            </a:rPr>
            <a:t>The malware code may be dynamically generated to either reduce the chance of detection or to only infect specific systems</a:t>
          </a:r>
        </a:p>
      </dgm:t>
    </dgm:pt>
    <dgm:pt modelId="{FA9DE815-4B9C-D341-84A7-7A1126F082C7}" type="parTrans" cxnId="{D37BF765-E0F0-C248-B614-1BE89CD95287}">
      <dgm:prSet/>
      <dgm:spPr/>
      <dgm:t>
        <a:bodyPr/>
        <a:lstStyle/>
        <a:p>
          <a:endParaRPr lang="en-US"/>
        </a:p>
      </dgm:t>
    </dgm:pt>
    <dgm:pt modelId="{9B79DA21-C4CA-2C44-BAB6-102B3945057E}" type="sibTrans" cxnId="{D37BF765-E0F0-C248-B614-1BE89CD95287}">
      <dgm:prSet/>
      <dgm:spPr/>
      <dgm:t>
        <a:bodyPr/>
        <a:lstStyle/>
        <a:p>
          <a:endParaRPr lang="en-US"/>
        </a:p>
      </dgm:t>
    </dgm:pt>
    <dgm:pt modelId="{A36B2ED6-6A9D-A94B-8AF6-1D9B17E9D759}">
      <dgm:prSet/>
      <dgm:spPr>
        <a:solidFill>
          <a:schemeClr val="accent3">
            <a:lumMod val="75000"/>
          </a:schemeClr>
        </a:solidFill>
      </dgm:spPr>
      <dgm:t>
        <a:bodyPr/>
        <a:lstStyle/>
        <a:p>
          <a:pPr rtl="0"/>
          <a:r>
            <a:rPr lang="en-US" b="1" dirty="0">
              <a:solidFill>
                <a:schemeClr val="bg1"/>
              </a:solidFill>
            </a:rPr>
            <a:t>Has grown rapidly in recent years because they are easy to place on desired websites with few questions asked and are hard to track</a:t>
          </a:r>
        </a:p>
      </dgm:t>
    </dgm:pt>
    <dgm:pt modelId="{B5DD50E9-E653-9E45-92C4-335422049F6B}" type="parTrans" cxnId="{B33A463C-54A8-DB47-9AA9-98F048DCBD9B}">
      <dgm:prSet/>
      <dgm:spPr/>
      <dgm:t>
        <a:bodyPr/>
        <a:lstStyle/>
        <a:p>
          <a:endParaRPr lang="en-US"/>
        </a:p>
      </dgm:t>
    </dgm:pt>
    <dgm:pt modelId="{31A80055-A771-234B-8811-CA4D90DDAF8D}" type="sibTrans" cxnId="{B33A463C-54A8-DB47-9AA9-98F048DCBD9B}">
      <dgm:prSet/>
      <dgm:spPr/>
      <dgm:t>
        <a:bodyPr/>
        <a:lstStyle/>
        <a:p>
          <a:endParaRPr lang="en-US"/>
        </a:p>
      </dgm:t>
    </dgm:pt>
    <dgm:pt modelId="{4CB8034E-F8C5-F54D-ABEC-819E36FE696A}">
      <dgm:prSet/>
      <dgm:spPr>
        <a:solidFill>
          <a:schemeClr val="accent5">
            <a:lumMod val="75000"/>
          </a:schemeClr>
        </a:solidFill>
      </dgm:spPr>
      <dgm:t>
        <a:bodyPr/>
        <a:lstStyle/>
        <a:p>
          <a:pPr rtl="0"/>
          <a:r>
            <a:rPr lang="en-US" b="1" dirty="0">
              <a:solidFill>
                <a:schemeClr val="bg1"/>
              </a:solidFill>
            </a:rPr>
            <a:t>Attackers can place these ads for as little as a few hours, when they expect their intended victims could be browsing the targeted websites, greatly reducing their visibility</a:t>
          </a:r>
        </a:p>
      </dgm:t>
    </dgm:pt>
    <dgm:pt modelId="{1C1F3C4E-E173-0043-BCF0-E6D0EF885559}" type="parTrans" cxnId="{4AF89D09-BB2E-DC40-83AD-37B965230F7D}">
      <dgm:prSet/>
      <dgm:spPr/>
      <dgm:t>
        <a:bodyPr/>
        <a:lstStyle/>
        <a:p>
          <a:endParaRPr lang="en-US"/>
        </a:p>
      </dgm:t>
    </dgm:pt>
    <dgm:pt modelId="{2CBFD52E-3572-6644-A139-76F98F82D18A}" type="sibTrans" cxnId="{4AF89D09-BB2E-DC40-83AD-37B965230F7D}">
      <dgm:prSet/>
      <dgm:spPr/>
      <dgm:t>
        <a:bodyPr/>
        <a:lstStyle/>
        <a:p>
          <a:endParaRPr lang="en-US"/>
        </a:p>
      </dgm:t>
    </dgm:pt>
    <dgm:pt modelId="{D09E353C-39E2-F34F-A91E-2B5258F40DBB}" type="pres">
      <dgm:prSet presAssocID="{044F9867-C69E-6B42-A699-09B0263AEE8C}" presName="linear" presStyleCnt="0">
        <dgm:presLayoutVars>
          <dgm:animLvl val="lvl"/>
          <dgm:resizeHandles val="exact"/>
        </dgm:presLayoutVars>
      </dgm:prSet>
      <dgm:spPr/>
      <dgm:t>
        <a:bodyPr/>
        <a:lstStyle/>
        <a:p>
          <a:endParaRPr lang="en-US"/>
        </a:p>
      </dgm:t>
    </dgm:pt>
    <dgm:pt modelId="{724A25A2-A8D4-1143-9F0B-7379DA60D3D7}" type="pres">
      <dgm:prSet presAssocID="{B1A3C26D-5433-3643-B410-DA3DE9FA397D}" presName="parentText" presStyleLbl="node1" presStyleIdx="0" presStyleCnt="6">
        <dgm:presLayoutVars>
          <dgm:chMax val="0"/>
          <dgm:bulletEnabled val="1"/>
        </dgm:presLayoutVars>
      </dgm:prSet>
      <dgm:spPr/>
      <dgm:t>
        <a:bodyPr/>
        <a:lstStyle/>
        <a:p>
          <a:endParaRPr lang="en-US"/>
        </a:p>
      </dgm:t>
    </dgm:pt>
    <dgm:pt modelId="{628FD43F-A5D4-EB48-A2BE-565B8A094DA9}" type="pres">
      <dgm:prSet presAssocID="{40CA31C5-EA66-FB42-97B7-FC2DEC728C5F}" presName="spacer" presStyleCnt="0"/>
      <dgm:spPr/>
    </dgm:pt>
    <dgm:pt modelId="{DDDBEAB2-0D3F-FE46-BBD3-DBD8CA4F9CB1}" type="pres">
      <dgm:prSet presAssocID="{FDC22411-CC85-B54E-890B-416569916F56}" presName="parentText" presStyleLbl="node1" presStyleIdx="1" presStyleCnt="6">
        <dgm:presLayoutVars>
          <dgm:chMax val="0"/>
          <dgm:bulletEnabled val="1"/>
        </dgm:presLayoutVars>
      </dgm:prSet>
      <dgm:spPr/>
      <dgm:t>
        <a:bodyPr/>
        <a:lstStyle/>
        <a:p>
          <a:endParaRPr lang="en-US"/>
        </a:p>
      </dgm:t>
    </dgm:pt>
    <dgm:pt modelId="{EAECFD3F-6CAF-F443-8960-43788E0F4DBA}" type="pres">
      <dgm:prSet presAssocID="{784CFD08-3317-8E4F-85C8-F22A19F5CEC1}" presName="spacer" presStyleCnt="0"/>
      <dgm:spPr/>
    </dgm:pt>
    <dgm:pt modelId="{E49FACDF-C552-BD45-AFA0-D38572A1CA74}" type="pres">
      <dgm:prSet presAssocID="{054727E8-9D7A-7C43-8A07-D4B1294FE9A6}" presName="parentText" presStyleLbl="node1" presStyleIdx="2" presStyleCnt="6">
        <dgm:presLayoutVars>
          <dgm:chMax val="0"/>
          <dgm:bulletEnabled val="1"/>
        </dgm:presLayoutVars>
      </dgm:prSet>
      <dgm:spPr/>
      <dgm:t>
        <a:bodyPr/>
        <a:lstStyle/>
        <a:p>
          <a:endParaRPr lang="en-US"/>
        </a:p>
      </dgm:t>
    </dgm:pt>
    <dgm:pt modelId="{1DE0902D-ACD4-D34E-BA7A-36E851153308}" type="pres">
      <dgm:prSet presAssocID="{0FE84A6D-BBF7-5140-AB06-D900852FC6DB}" presName="spacer" presStyleCnt="0"/>
      <dgm:spPr/>
    </dgm:pt>
    <dgm:pt modelId="{5683987F-E621-FF43-9582-F89ECDEB36ED}" type="pres">
      <dgm:prSet presAssocID="{043F2DE6-D3F9-7D47-AF1E-C16458834B17}" presName="parentText" presStyleLbl="node1" presStyleIdx="3" presStyleCnt="6">
        <dgm:presLayoutVars>
          <dgm:chMax val="0"/>
          <dgm:bulletEnabled val="1"/>
        </dgm:presLayoutVars>
      </dgm:prSet>
      <dgm:spPr/>
      <dgm:t>
        <a:bodyPr/>
        <a:lstStyle/>
        <a:p>
          <a:endParaRPr lang="en-US"/>
        </a:p>
      </dgm:t>
    </dgm:pt>
    <dgm:pt modelId="{B55CEBD3-00B0-2447-9F6A-DC509673C6B9}" type="pres">
      <dgm:prSet presAssocID="{9B79DA21-C4CA-2C44-BAB6-102B3945057E}" presName="spacer" presStyleCnt="0"/>
      <dgm:spPr/>
    </dgm:pt>
    <dgm:pt modelId="{909A5F0D-7A87-E44E-B593-2BFE4E038310}" type="pres">
      <dgm:prSet presAssocID="{A36B2ED6-6A9D-A94B-8AF6-1D9B17E9D759}" presName="parentText" presStyleLbl="node1" presStyleIdx="4" presStyleCnt="6">
        <dgm:presLayoutVars>
          <dgm:chMax val="0"/>
          <dgm:bulletEnabled val="1"/>
        </dgm:presLayoutVars>
      </dgm:prSet>
      <dgm:spPr/>
      <dgm:t>
        <a:bodyPr/>
        <a:lstStyle/>
        <a:p>
          <a:endParaRPr lang="en-US"/>
        </a:p>
      </dgm:t>
    </dgm:pt>
    <dgm:pt modelId="{E8B9ED28-EA5A-2747-9CA0-C1B350BDC34C}" type="pres">
      <dgm:prSet presAssocID="{31A80055-A771-234B-8811-CA4D90DDAF8D}" presName="spacer" presStyleCnt="0"/>
      <dgm:spPr/>
    </dgm:pt>
    <dgm:pt modelId="{EDE32FAD-A338-2848-8674-1D43B7DD08C7}" type="pres">
      <dgm:prSet presAssocID="{4CB8034E-F8C5-F54D-ABEC-819E36FE696A}" presName="parentText" presStyleLbl="node1" presStyleIdx="5" presStyleCnt="6">
        <dgm:presLayoutVars>
          <dgm:chMax val="0"/>
          <dgm:bulletEnabled val="1"/>
        </dgm:presLayoutVars>
      </dgm:prSet>
      <dgm:spPr/>
      <dgm:t>
        <a:bodyPr/>
        <a:lstStyle/>
        <a:p>
          <a:endParaRPr lang="en-US"/>
        </a:p>
      </dgm:t>
    </dgm:pt>
  </dgm:ptLst>
  <dgm:cxnLst>
    <dgm:cxn modelId="{951D36B1-B6CF-9743-A90B-1D6729C11596}" type="presOf" srcId="{054727E8-9D7A-7C43-8A07-D4B1294FE9A6}" destId="{E49FACDF-C552-BD45-AFA0-D38572A1CA74}" srcOrd="0" destOrd="0" presId="urn:microsoft.com/office/officeart/2005/8/layout/vList2"/>
    <dgm:cxn modelId="{13EB5274-3857-0C44-9764-5A67E373994F}" type="presOf" srcId="{043F2DE6-D3F9-7D47-AF1E-C16458834B17}" destId="{5683987F-E621-FF43-9582-F89ECDEB36ED}" srcOrd="0" destOrd="0" presId="urn:microsoft.com/office/officeart/2005/8/layout/vList2"/>
    <dgm:cxn modelId="{0B50339D-5C3F-C84A-B205-61E8C92D5F96}" srcId="{044F9867-C69E-6B42-A699-09B0263AEE8C}" destId="{B1A3C26D-5433-3643-B410-DA3DE9FA397D}" srcOrd="0" destOrd="0" parTransId="{75B5DF45-DBB2-A947-A05E-2C2562E713A1}" sibTransId="{40CA31C5-EA66-FB42-97B7-FC2DEC728C5F}"/>
    <dgm:cxn modelId="{29278E9A-4A6F-C64A-9A22-A6CDA8A3CB14}" type="presOf" srcId="{A36B2ED6-6A9D-A94B-8AF6-1D9B17E9D759}" destId="{909A5F0D-7A87-E44E-B593-2BFE4E038310}" srcOrd="0" destOrd="0" presId="urn:microsoft.com/office/officeart/2005/8/layout/vList2"/>
    <dgm:cxn modelId="{CBE66F6A-CC21-F947-874F-272CEFC5C58F}" type="presOf" srcId="{4CB8034E-F8C5-F54D-ABEC-819E36FE696A}" destId="{EDE32FAD-A338-2848-8674-1D43B7DD08C7}" srcOrd="0" destOrd="0" presId="urn:microsoft.com/office/officeart/2005/8/layout/vList2"/>
    <dgm:cxn modelId="{CA37CC51-5477-A540-9AFE-549F97E36081}" type="presOf" srcId="{044F9867-C69E-6B42-A699-09B0263AEE8C}" destId="{D09E353C-39E2-F34F-A91E-2B5258F40DBB}" srcOrd="0" destOrd="0" presId="urn:microsoft.com/office/officeart/2005/8/layout/vList2"/>
    <dgm:cxn modelId="{46097198-1F2C-AE46-BF56-DCCDF984D1D3}" type="presOf" srcId="{B1A3C26D-5433-3643-B410-DA3DE9FA397D}" destId="{724A25A2-A8D4-1143-9F0B-7379DA60D3D7}" srcOrd="0" destOrd="0" presId="urn:microsoft.com/office/officeart/2005/8/layout/vList2"/>
    <dgm:cxn modelId="{4AF89D09-BB2E-DC40-83AD-37B965230F7D}" srcId="{044F9867-C69E-6B42-A699-09B0263AEE8C}" destId="{4CB8034E-F8C5-F54D-ABEC-819E36FE696A}" srcOrd="5" destOrd="0" parTransId="{1C1F3C4E-E173-0043-BCF0-E6D0EF885559}" sibTransId="{2CBFD52E-3572-6644-A139-76F98F82D18A}"/>
    <dgm:cxn modelId="{9388B059-0426-1247-8E49-69F6DFA5AE68}" type="presOf" srcId="{FDC22411-CC85-B54E-890B-416569916F56}" destId="{DDDBEAB2-0D3F-FE46-BBD3-DBD8CA4F9CB1}" srcOrd="0" destOrd="0" presId="urn:microsoft.com/office/officeart/2005/8/layout/vList2"/>
    <dgm:cxn modelId="{D37BF765-E0F0-C248-B614-1BE89CD95287}" srcId="{044F9867-C69E-6B42-A699-09B0263AEE8C}" destId="{043F2DE6-D3F9-7D47-AF1E-C16458834B17}" srcOrd="3" destOrd="0" parTransId="{FA9DE815-4B9C-D341-84A7-7A1126F082C7}" sibTransId="{9B79DA21-C4CA-2C44-BAB6-102B3945057E}"/>
    <dgm:cxn modelId="{910F6907-07B3-4644-9084-2051D117C160}" srcId="{044F9867-C69E-6B42-A699-09B0263AEE8C}" destId="{FDC22411-CC85-B54E-890B-416569916F56}" srcOrd="1" destOrd="0" parTransId="{F81E6284-5FD8-204A-9556-D5ADEDCC483C}" sibTransId="{784CFD08-3317-8E4F-85C8-F22A19F5CEC1}"/>
    <dgm:cxn modelId="{B33A463C-54A8-DB47-9AA9-98F048DCBD9B}" srcId="{044F9867-C69E-6B42-A699-09B0263AEE8C}" destId="{A36B2ED6-6A9D-A94B-8AF6-1D9B17E9D759}" srcOrd="4" destOrd="0" parTransId="{B5DD50E9-E653-9E45-92C4-335422049F6B}" sibTransId="{31A80055-A771-234B-8811-CA4D90DDAF8D}"/>
    <dgm:cxn modelId="{FAA56E06-1C39-5849-B626-99EF6EF042DF}" srcId="{044F9867-C69E-6B42-A699-09B0263AEE8C}" destId="{054727E8-9D7A-7C43-8A07-D4B1294FE9A6}" srcOrd="2" destOrd="0" parTransId="{8E076889-F144-2947-A986-3F73716AB3C2}" sibTransId="{0FE84A6D-BBF7-5140-AB06-D900852FC6DB}"/>
    <dgm:cxn modelId="{85FB4FD5-4A8C-AE48-B183-0E5513DE1BF7}" type="presParOf" srcId="{D09E353C-39E2-F34F-A91E-2B5258F40DBB}" destId="{724A25A2-A8D4-1143-9F0B-7379DA60D3D7}" srcOrd="0" destOrd="0" presId="urn:microsoft.com/office/officeart/2005/8/layout/vList2"/>
    <dgm:cxn modelId="{8A3A427E-489A-F74F-9531-6ED6E2932C14}" type="presParOf" srcId="{D09E353C-39E2-F34F-A91E-2B5258F40DBB}" destId="{628FD43F-A5D4-EB48-A2BE-565B8A094DA9}" srcOrd="1" destOrd="0" presId="urn:microsoft.com/office/officeart/2005/8/layout/vList2"/>
    <dgm:cxn modelId="{E8F9A084-020D-514D-8957-3AF7640F7396}" type="presParOf" srcId="{D09E353C-39E2-F34F-A91E-2B5258F40DBB}" destId="{DDDBEAB2-0D3F-FE46-BBD3-DBD8CA4F9CB1}" srcOrd="2" destOrd="0" presId="urn:microsoft.com/office/officeart/2005/8/layout/vList2"/>
    <dgm:cxn modelId="{A9ECF6FA-4569-3842-A6E4-19940D59D969}" type="presParOf" srcId="{D09E353C-39E2-F34F-A91E-2B5258F40DBB}" destId="{EAECFD3F-6CAF-F443-8960-43788E0F4DBA}" srcOrd="3" destOrd="0" presId="urn:microsoft.com/office/officeart/2005/8/layout/vList2"/>
    <dgm:cxn modelId="{60BCB5D7-F4BF-914F-AECF-3066F07F00BE}" type="presParOf" srcId="{D09E353C-39E2-F34F-A91E-2B5258F40DBB}" destId="{E49FACDF-C552-BD45-AFA0-D38572A1CA74}" srcOrd="4" destOrd="0" presId="urn:microsoft.com/office/officeart/2005/8/layout/vList2"/>
    <dgm:cxn modelId="{B9BE3F90-6678-E24F-A51C-2E7A242840F7}" type="presParOf" srcId="{D09E353C-39E2-F34F-A91E-2B5258F40DBB}" destId="{1DE0902D-ACD4-D34E-BA7A-36E851153308}" srcOrd="5" destOrd="0" presId="urn:microsoft.com/office/officeart/2005/8/layout/vList2"/>
    <dgm:cxn modelId="{10EAC861-C73A-E448-ADA8-27475DB207F7}" type="presParOf" srcId="{D09E353C-39E2-F34F-A91E-2B5258F40DBB}" destId="{5683987F-E621-FF43-9582-F89ECDEB36ED}" srcOrd="6" destOrd="0" presId="urn:microsoft.com/office/officeart/2005/8/layout/vList2"/>
    <dgm:cxn modelId="{D4E3AE72-EB67-DF4A-ABAA-F24363000C3D}" type="presParOf" srcId="{D09E353C-39E2-F34F-A91E-2B5258F40DBB}" destId="{B55CEBD3-00B0-2447-9F6A-DC509673C6B9}" srcOrd="7" destOrd="0" presId="urn:microsoft.com/office/officeart/2005/8/layout/vList2"/>
    <dgm:cxn modelId="{546C9EF9-7652-0A49-988D-770788DB94CC}" type="presParOf" srcId="{D09E353C-39E2-F34F-A91E-2B5258F40DBB}" destId="{909A5F0D-7A87-E44E-B593-2BFE4E038310}" srcOrd="8" destOrd="0" presId="urn:microsoft.com/office/officeart/2005/8/layout/vList2"/>
    <dgm:cxn modelId="{C21EAD60-9EAE-2D4A-AEF9-B145EE3A2482}" type="presParOf" srcId="{D09E353C-39E2-F34F-A91E-2B5258F40DBB}" destId="{E8B9ED28-EA5A-2747-9CA0-C1B350BDC34C}" srcOrd="9" destOrd="0" presId="urn:microsoft.com/office/officeart/2005/8/layout/vList2"/>
    <dgm:cxn modelId="{DBC37C52-BC3D-3142-AC87-2ED2223107D8}" type="presParOf" srcId="{D09E353C-39E2-F34F-A91E-2B5258F40DBB}" destId="{EDE32FAD-A338-2848-8674-1D43B7DD08C7}"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B8A6779-534F-9A46-BA4E-7A267BBC0215}"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282473DD-4E52-814D-8769-7ECC00C674CA}">
      <dgm:prSet phldrT="[Text]"/>
      <dgm:spPr>
        <a:solidFill>
          <a:schemeClr val="tx1"/>
        </a:solidFill>
        <a:ln>
          <a:solidFill>
            <a:schemeClr val="bg1"/>
          </a:solidFill>
        </a:ln>
      </dgm:spPr>
      <dgm:t>
        <a:bodyPr/>
        <a:lstStyle/>
        <a:p>
          <a:r>
            <a:rPr lang="en-US" dirty="0"/>
            <a:t>Spam</a:t>
          </a:r>
        </a:p>
      </dgm:t>
    </dgm:pt>
    <dgm:pt modelId="{71043E8D-9992-F844-96E4-A1D44D62ED71}" type="parTrans" cxnId="{7BA3F8D2-B311-E94B-98BA-B3DB4D64BCBE}">
      <dgm:prSet/>
      <dgm:spPr/>
      <dgm:t>
        <a:bodyPr/>
        <a:lstStyle/>
        <a:p>
          <a:endParaRPr lang="en-US"/>
        </a:p>
      </dgm:t>
    </dgm:pt>
    <dgm:pt modelId="{F439CC1B-69EF-C04E-811A-9540EE6B6B1E}" type="sibTrans" cxnId="{7BA3F8D2-B311-E94B-98BA-B3DB4D64BCBE}">
      <dgm:prSet/>
      <dgm:spPr/>
      <dgm:t>
        <a:bodyPr/>
        <a:lstStyle/>
        <a:p>
          <a:endParaRPr lang="en-US"/>
        </a:p>
      </dgm:t>
    </dgm:pt>
    <dgm:pt modelId="{3807DCA8-1DDE-2C49-B1A3-E32883AA2051}">
      <dgm:prSet/>
      <dgm:spPr>
        <a:solidFill>
          <a:schemeClr val="accent3">
            <a:lumMod val="75000"/>
          </a:schemeClr>
        </a:solidFill>
        <a:ln>
          <a:solidFill>
            <a:schemeClr val="bg1"/>
          </a:solidFill>
        </a:ln>
      </dgm:spPr>
      <dgm:t>
        <a:bodyPr/>
        <a:lstStyle/>
        <a:p>
          <a:r>
            <a:rPr lang="en-US" b="0" dirty="0">
              <a:solidFill>
                <a:schemeClr val="bg1"/>
              </a:solidFill>
              <a:latin typeface="+mn-lt"/>
            </a:rPr>
            <a:t>Unsolicited bulk</a:t>
          </a:r>
        </a:p>
        <a:p>
          <a:r>
            <a:rPr lang="en-US" b="0" dirty="0">
              <a:solidFill>
                <a:schemeClr val="bg1"/>
              </a:solidFill>
              <a:latin typeface="+mn-lt"/>
            </a:rPr>
            <a:t> e-mail</a:t>
          </a:r>
        </a:p>
      </dgm:t>
    </dgm:pt>
    <dgm:pt modelId="{D73B1C9E-6505-CE45-A9CC-3E576B5F059E}" type="parTrans" cxnId="{C551DD88-FE64-D74C-80F9-42112AD038BD}">
      <dgm:prSet/>
      <dgm:spPr/>
      <dgm:t>
        <a:bodyPr/>
        <a:lstStyle/>
        <a:p>
          <a:endParaRPr lang="en-US"/>
        </a:p>
      </dgm:t>
    </dgm:pt>
    <dgm:pt modelId="{A7C2CB36-9BC9-7E4E-B68D-F1CF3D812083}" type="sibTrans" cxnId="{C551DD88-FE64-D74C-80F9-42112AD038BD}">
      <dgm:prSet/>
      <dgm:spPr/>
      <dgm:t>
        <a:bodyPr/>
        <a:lstStyle/>
        <a:p>
          <a:endParaRPr lang="en-US"/>
        </a:p>
      </dgm:t>
    </dgm:pt>
    <dgm:pt modelId="{7046B813-EFD8-874A-A332-FAB2925F24A2}">
      <dgm:prSet/>
      <dgm:spPr>
        <a:solidFill>
          <a:schemeClr val="accent6">
            <a:lumMod val="40000"/>
            <a:lumOff val="60000"/>
          </a:schemeClr>
        </a:solidFill>
        <a:ln>
          <a:solidFill>
            <a:schemeClr val="bg1"/>
          </a:solidFill>
        </a:ln>
      </dgm:spPr>
      <dgm:t>
        <a:bodyPr/>
        <a:lstStyle/>
        <a:p>
          <a:r>
            <a:rPr lang="en-US" b="0" dirty="0">
              <a:solidFill>
                <a:schemeClr val="bg1"/>
              </a:solidFill>
              <a:latin typeface="+mn-lt"/>
            </a:rPr>
            <a:t>Significant carrier of malware</a:t>
          </a:r>
        </a:p>
      </dgm:t>
    </dgm:pt>
    <dgm:pt modelId="{C711C0D5-CED8-C14E-B089-7739942BBE44}" type="parTrans" cxnId="{EBB02584-133B-4943-AB29-E98A4DDCB8BC}">
      <dgm:prSet/>
      <dgm:spPr/>
      <dgm:t>
        <a:bodyPr/>
        <a:lstStyle/>
        <a:p>
          <a:endParaRPr lang="en-US"/>
        </a:p>
      </dgm:t>
    </dgm:pt>
    <dgm:pt modelId="{179E9D8A-F808-A34E-9CF1-31CBC6197E97}" type="sibTrans" cxnId="{EBB02584-133B-4943-AB29-E98A4DDCB8BC}">
      <dgm:prSet/>
      <dgm:spPr/>
      <dgm:t>
        <a:bodyPr/>
        <a:lstStyle/>
        <a:p>
          <a:endParaRPr lang="en-US"/>
        </a:p>
      </dgm:t>
    </dgm:pt>
    <dgm:pt modelId="{95CAEB11-D744-E142-9FC4-4A5B2B97B48D}">
      <dgm:prSet/>
      <dgm:spPr>
        <a:solidFill>
          <a:schemeClr val="accent5">
            <a:lumMod val="75000"/>
          </a:schemeClr>
        </a:solidFill>
        <a:ln>
          <a:solidFill>
            <a:schemeClr val="bg1"/>
          </a:solidFill>
        </a:ln>
      </dgm:spPr>
      <dgm:t>
        <a:bodyPr/>
        <a:lstStyle/>
        <a:p>
          <a:r>
            <a:rPr lang="en-US" b="0" dirty="0">
              <a:solidFill>
                <a:schemeClr val="bg1"/>
              </a:solidFill>
              <a:latin typeface="+mn-lt"/>
            </a:rPr>
            <a:t>Used for phishing attacks</a:t>
          </a:r>
        </a:p>
      </dgm:t>
    </dgm:pt>
    <dgm:pt modelId="{28A22B2A-CD3F-044C-8F14-2808507F4684}" type="parTrans" cxnId="{04D25601-1B0A-2C4A-BEDA-EB3D1CA9BC79}">
      <dgm:prSet/>
      <dgm:spPr/>
      <dgm:t>
        <a:bodyPr/>
        <a:lstStyle/>
        <a:p>
          <a:endParaRPr lang="en-US"/>
        </a:p>
      </dgm:t>
    </dgm:pt>
    <dgm:pt modelId="{DA8A204B-D384-8645-9BD5-688FAD0FD8D7}" type="sibTrans" cxnId="{04D25601-1B0A-2C4A-BEDA-EB3D1CA9BC79}">
      <dgm:prSet/>
      <dgm:spPr/>
      <dgm:t>
        <a:bodyPr/>
        <a:lstStyle/>
        <a:p>
          <a:endParaRPr lang="en-US"/>
        </a:p>
      </dgm:t>
    </dgm:pt>
    <dgm:pt modelId="{14F1597F-0168-B14F-9683-CA195C94D828}">
      <dgm:prSet/>
      <dgm:spPr>
        <a:solidFill>
          <a:schemeClr val="tx1"/>
        </a:solidFill>
        <a:ln>
          <a:solidFill>
            <a:schemeClr val="bg1"/>
          </a:solidFill>
        </a:ln>
      </dgm:spPr>
      <dgm:t>
        <a:bodyPr/>
        <a:lstStyle/>
        <a:p>
          <a:r>
            <a:rPr lang="en-US" dirty="0">
              <a:latin typeface="+mn-lt"/>
            </a:rPr>
            <a:t>Trojan horse</a:t>
          </a:r>
        </a:p>
      </dgm:t>
    </dgm:pt>
    <dgm:pt modelId="{90E5C60D-7E6B-2D4C-AFCE-49C7A6017EA5}" type="parTrans" cxnId="{1472C037-E0DB-1645-9C9D-E00A5378F440}">
      <dgm:prSet/>
      <dgm:spPr/>
      <dgm:t>
        <a:bodyPr/>
        <a:lstStyle/>
        <a:p>
          <a:endParaRPr lang="en-US"/>
        </a:p>
      </dgm:t>
    </dgm:pt>
    <dgm:pt modelId="{1304D34C-00FD-7245-A311-00FBD911CC15}" type="sibTrans" cxnId="{1472C037-E0DB-1645-9C9D-E00A5378F440}">
      <dgm:prSet/>
      <dgm:spPr/>
      <dgm:t>
        <a:bodyPr/>
        <a:lstStyle/>
        <a:p>
          <a:endParaRPr lang="en-US"/>
        </a:p>
      </dgm:t>
    </dgm:pt>
    <dgm:pt modelId="{36B1AC52-F78F-364E-898D-A03C27D3447B}">
      <dgm:prSet/>
      <dgm:spPr>
        <a:solidFill>
          <a:schemeClr val="accent5">
            <a:lumMod val="75000"/>
          </a:schemeClr>
        </a:solidFill>
        <a:ln>
          <a:solidFill>
            <a:schemeClr val="bg1"/>
          </a:solidFill>
        </a:ln>
      </dgm:spPr>
      <dgm:t>
        <a:bodyPr/>
        <a:lstStyle/>
        <a:p>
          <a:r>
            <a:rPr lang="en-US" b="0" dirty="0">
              <a:solidFill>
                <a:schemeClr val="bg1"/>
              </a:solidFill>
              <a:latin typeface="+mn-lt"/>
            </a:rPr>
            <a:t>Program or utility containing harmful hidden code</a:t>
          </a:r>
        </a:p>
      </dgm:t>
    </dgm:pt>
    <dgm:pt modelId="{98ED77B4-C0C1-9344-A91B-0D3DB9A6CC5F}" type="parTrans" cxnId="{EF4A1E36-193C-3647-957A-3B0160D84791}">
      <dgm:prSet/>
      <dgm:spPr/>
      <dgm:t>
        <a:bodyPr/>
        <a:lstStyle/>
        <a:p>
          <a:endParaRPr lang="en-US"/>
        </a:p>
      </dgm:t>
    </dgm:pt>
    <dgm:pt modelId="{81D1671B-8EB0-3245-BD4E-2CA3036996BB}" type="sibTrans" cxnId="{EF4A1E36-193C-3647-957A-3B0160D84791}">
      <dgm:prSet/>
      <dgm:spPr/>
      <dgm:t>
        <a:bodyPr/>
        <a:lstStyle/>
        <a:p>
          <a:endParaRPr lang="en-US"/>
        </a:p>
      </dgm:t>
    </dgm:pt>
    <dgm:pt modelId="{0D375E54-645D-614D-AF9A-41A1A1B85744}">
      <dgm:prSet/>
      <dgm:spPr>
        <a:solidFill>
          <a:schemeClr val="accent3">
            <a:lumMod val="75000"/>
          </a:schemeClr>
        </a:solidFill>
        <a:ln>
          <a:solidFill>
            <a:schemeClr val="bg1"/>
          </a:solidFill>
        </a:ln>
      </dgm:spPr>
      <dgm:t>
        <a:bodyPr/>
        <a:lstStyle/>
        <a:p>
          <a:r>
            <a:rPr lang="en-US" b="0" dirty="0">
              <a:solidFill>
                <a:schemeClr val="bg1"/>
              </a:solidFill>
              <a:latin typeface="+mn-lt"/>
            </a:rPr>
            <a:t>Used to accomplish functions that the attacker could not accomplish directly</a:t>
          </a:r>
        </a:p>
      </dgm:t>
    </dgm:pt>
    <dgm:pt modelId="{9F53D059-B573-5F49-AB5B-8263B818746E}" type="parTrans" cxnId="{F53BB41A-8306-ED4A-A2E0-A5F5D37DABEC}">
      <dgm:prSet/>
      <dgm:spPr/>
      <dgm:t>
        <a:bodyPr/>
        <a:lstStyle/>
        <a:p>
          <a:endParaRPr lang="en-US"/>
        </a:p>
      </dgm:t>
    </dgm:pt>
    <dgm:pt modelId="{1135EBFC-D008-6B4A-B206-0BC2437F011B}" type="sibTrans" cxnId="{F53BB41A-8306-ED4A-A2E0-A5F5D37DABEC}">
      <dgm:prSet/>
      <dgm:spPr/>
      <dgm:t>
        <a:bodyPr/>
        <a:lstStyle/>
        <a:p>
          <a:endParaRPr lang="en-US"/>
        </a:p>
      </dgm:t>
    </dgm:pt>
    <dgm:pt modelId="{760F102A-4090-F046-BE2A-6BF6AA847370}">
      <dgm:prSet/>
      <dgm:spPr>
        <a:solidFill>
          <a:schemeClr val="tx1"/>
        </a:solidFill>
        <a:ln>
          <a:solidFill>
            <a:schemeClr val="bg1"/>
          </a:solidFill>
        </a:ln>
      </dgm:spPr>
      <dgm:t>
        <a:bodyPr/>
        <a:lstStyle/>
        <a:p>
          <a:r>
            <a:rPr lang="en-US" dirty="0">
              <a:latin typeface="+mn-lt"/>
            </a:rPr>
            <a:t>Mobile phone Trojans</a:t>
          </a:r>
        </a:p>
      </dgm:t>
    </dgm:pt>
    <dgm:pt modelId="{713F917B-1B96-8047-B7FA-694D8461F226}" type="parTrans" cxnId="{D13B0EDE-D00D-3845-85EB-21A34B35A0B1}">
      <dgm:prSet/>
      <dgm:spPr/>
      <dgm:t>
        <a:bodyPr/>
        <a:lstStyle/>
        <a:p>
          <a:endParaRPr lang="en-US"/>
        </a:p>
      </dgm:t>
    </dgm:pt>
    <dgm:pt modelId="{2F6DF5BB-1A96-4142-9CB5-994992189E5F}" type="sibTrans" cxnId="{D13B0EDE-D00D-3845-85EB-21A34B35A0B1}">
      <dgm:prSet/>
      <dgm:spPr/>
      <dgm:t>
        <a:bodyPr/>
        <a:lstStyle/>
        <a:p>
          <a:endParaRPr lang="en-US"/>
        </a:p>
      </dgm:t>
    </dgm:pt>
    <dgm:pt modelId="{9A434528-7C2D-2A4D-8F03-5FE9C5FDAC5B}">
      <dgm:prSet/>
      <dgm:spPr>
        <a:solidFill>
          <a:schemeClr val="accent3">
            <a:lumMod val="75000"/>
          </a:schemeClr>
        </a:solidFill>
        <a:ln>
          <a:solidFill>
            <a:schemeClr val="bg1"/>
          </a:solidFill>
        </a:ln>
      </dgm:spPr>
      <dgm:t>
        <a:bodyPr/>
        <a:lstStyle/>
        <a:p>
          <a:r>
            <a:rPr lang="en-US" b="0" dirty="0">
              <a:solidFill>
                <a:schemeClr val="bg1"/>
              </a:solidFill>
              <a:latin typeface="+mn-lt"/>
            </a:rPr>
            <a:t>First appeared in 2004 (</a:t>
          </a:r>
          <a:r>
            <a:rPr lang="en-US" b="0" dirty="0" err="1">
              <a:solidFill>
                <a:schemeClr val="bg1"/>
              </a:solidFill>
              <a:latin typeface="+mn-lt"/>
            </a:rPr>
            <a:t>Skuller</a:t>
          </a:r>
          <a:r>
            <a:rPr lang="en-US" b="0" dirty="0">
              <a:solidFill>
                <a:schemeClr val="bg1"/>
              </a:solidFill>
              <a:latin typeface="+mn-lt"/>
            </a:rPr>
            <a:t>)</a:t>
          </a:r>
        </a:p>
      </dgm:t>
    </dgm:pt>
    <dgm:pt modelId="{F367BF03-407B-C64A-B015-283ABB5AEA79}" type="parTrans" cxnId="{7619CC4A-47DA-C044-9703-95AB163AFBCD}">
      <dgm:prSet/>
      <dgm:spPr/>
      <dgm:t>
        <a:bodyPr/>
        <a:lstStyle/>
        <a:p>
          <a:endParaRPr lang="en-US"/>
        </a:p>
      </dgm:t>
    </dgm:pt>
    <dgm:pt modelId="{95DEECD2-87C5-E845-9A3F-CF45268BE8BB}" type="sibTrans" cxnId="{7619CC4A-47DA-C044-9703-95AB163AFBCD}">
      <dgm:prSet/>
      <dgm:spPr/>
      <dgm:t>
        <a:bodyPr/>
        <a:lstStyle/>
        <a:p>
          <a:endParaRPr lang="en-US"/>
        </a:p>
      </dgm:t>
    </dgm:pt>
    <dgm:pt modelId="{0EE67DFF-B2EB-4E4F-9A32-81D3D44183E4}">
      <dgm:prSet/>
      <dgm:spPr>
        <a:solidFill>
          <a:schemeClr val="accent6">
            <a:lumMod val="40000"/>
            <a:lumOff val="60000"/>
          </a:schemeClr>
        </a:solidFill>
        <a:ln>
          <a:solidFill>
            <a:schemeClr val="bg1"/>
          </a:solidFill>
        </a:ln>
      </dgm:spPr>
      <dgm:t>
        <a:bodyPr/>
        <a:lstStyle/>
        <a:p>
          <a:r>
            <a:rPr lang="en-US" b="0" dirty="0">
              <a:solidFill>
                <a:schemeClr val="bg1"/>
              </a:solidFill>
              <a:latin typeface="+mn-lt"/>
            </a:rPr>
            <a:t>Target is the smartphone</a:t>
          </a:r>
        </a:p>
      </dgm:t>
    </dgm:pt>
    <dgm:pt modelId="{CD6F503F-AF9B-A84E-8E04-88E5C112505D}" type="parTrans" cxnId="{18B61F1C-C998-F643-8ABE-A6A1DED674E4}">
      <dgm:prSet/>
      <dgm:spPr/>
      <dgm:t>
        <a:bodyPr/>
        <a:lstStyle/>
        <a:p>
          <a:endParaRPr lang="en-US"/>
        </a:p>
      </dgm:t>
    </dgm:pt>
    <dgm:pt modelId="{D1C149AE-A48D-5242-87AD-7585EAA079DF}" type="sibTrans" cxnId="{18B61F1C-C998-F643-8ABE-A6A1DED674E4}">
      <dgm:prSet/>
      <dgm:spPr/>
      <dgm:t>
        <a:bodyPr/>
        <a:lstStyle/>
        <a:p>
          <a:endParaRPr lang="en-US"/>
        </a:p>
      </dgm:t>
    </dgm:pt>
    <dgm:pt modelId="{2F1BED99-168B-524B-AF11-904D26FAEE9F}" type="pres">
      <dgm:prSet presAssocID="{7B8A6779-534F-9A46-BA4E-7A267BBC0215}" presName="theList" presStyleCnt="0">
        <dgm:presLayoutVars>
          <dgm:dir/>
          <dgm:animLvl val="lvl"/>
          <dgm:resizeHandles val="exact"/>
        </dgm:presLayoutVars>
      </dgm:prSet>
      <dgm:spPr/>
      <dgm:t>
        <a:bodyPr/>
        <a:lstStyle/>
        <a:p>
          <a:endParaRPr lang="en-US"/>
        </a:p>
      </dgm:t>
    </dgm:pt>
    <dgm:pt modelId="{A7E3B4EF-E5AA-2340-8407-E35206C154F5}" type="pres">
      <dgm:prSet presAssocID="{282473DD-4E52-814D-8769-7ECC00C674CA}" presName="compNode" presStyleCnt="0"/>
      <dgm:spPr/>
    </dgm:pt>
    <dgm:pt modelId="{33A783DF-A826-E844-BB4F-7DB286566F73}" type="pres">
      <dgm:prSet presAssocID="{282473DD-4E52-814D-8769-7ECC00C674CA}" presName="aNode" presStyleLbl="bgShp" presStyleIdx="0" presStyleCnt="3"/>
      <dgm:spPr/>
      <dgm:t>
        <a:bodyPr/>
        <a:lstStyle/>
        <a:p>
          <a:endParaRPr lang="en-US"/>
        </a:p>
      </dgm:t>
    </dgm:pt>
    <dgm:pt modelId="{B842D724-9656-E246-9591-8C8FB960405F}" type="pres">
      <dgm:prSet presAssocID="{282473DD-4E52-814D-8769-7ECC00C674CA}" presName="textNode" presStyleLbl="bgShp" presStyleIdx="0" presStyleCnt="3"/>
      <dgm:spPr/>
      <dgm:t>
        <a:bodyPr/>
        <a:lstStyle/>
        <a:p>
          <a:endParaRPr lang="en-US"/>
        </a:p>
      </dgm:t>
    </dgm:pt>
    <dgm:pt modelId="{30786497-71A9-FE44-8B5A-CC2006A7786D}" type="pres">
      <dgm:prSet presAssocID="{282473DD-4E52-814D-8769-7ECC00C674CA}" presName="compChildNode" presStyleCnt="0"/>
      <dgm:spPr/>
    </dgm:pt>
    <dgm:pt modelId="{A1A53AD8-0F3D-8C41-B810-E6270C4B9197}" type="pres">
      <dgm:prSet presAssocID="{282473DD-4E52-814D-8769-7ECC00C674CA}" presName="theInnerList" presStyleCnt="0"/>
      <dgm:spPr/>
    </dgm:pt>
    <dgm:pt modelId="{3FF2CAA5-6E7F-EF4C-9B02-6A90DD359AF1}" type="pres">
      <dgm:prSet presAssocID="{3807DCA8-1DDE-2C49-B1A3-E32883AA2051}" presName="childNode" presStyleLbl="node1" presStyleIdx="0" presStyleCnt="7">
        <dgm:presLayoutVars>
          <dgm:bulletEnabled val="1"/>
        </dgm:presLayoutVars>
      </dgm:prSet>
      <dgm:spPr/>
      <dgm:t>
        <a:bodyPr/>
        <a:lstStyle/>
        <a:p>
          <a:endParaRPr lang="en-US"/>
        </a:p>
      </dgm:t>
    </dgm:pt>
    <dgm:pt modelId="{09FD747B-4481-1046-BC6A-E6F12697872F}" type="pres">
      <dgm:prSet presAssocID="{3807DCA8-1DDE-2C49-B1A3-E32883AA2051}" presName="aSpace2" presStyleCnt="0"/>
      <dgm:spPr/>
    </dgm:pt>
    <dgm:pt modelId="{6FE50D95-AA55-4744-8640-B2B3540673C3}" type="pres">
      <dgm:prSet presAssocID="{7046B813-EFD8-874A-A332-FAB2925F24A2}" presName="childNode" presStyleLbl="node1" presStyleIdx="1" presStyleCnt="7">
        <dgm:presLayoutVars>
          <dgm:bulletEnabled val="1"/>
        </dgm:presLayoutVars>
      </dgm:prSet>
      <dgm:spPr/>
      <dgm:t>
        <a:bodyPr/>
        <a:lstStyle/>
        <a:p>
          <a:endParaRPr lang="en-US"/>
        </a:p>
      </dgm:t>
    </dgm:pt>
    <dgm:pt modelId="{C460AD8A-8AC6-6E4E-8E60-F528F363F184}" type="pres">
      <dgm:prSet presAssocID="{7046B813-EFD8-874A-A332-FAB2925F24A2}" presName="aSpace2" presStyleCnt="0"/>
      <dgm:spPr/>
    </dgm:pt>
    <dgm:pt modelId="{46CCBB17-C841-654B-B78D-27845626891C}" type="pres">
      <dgm:prSet presAssocID="{95CAEB11-D744-E142-9FC4-4A5B2B97B48D}" presName="childNode" presStyleLbl="node1" presStyleIdx="2" presStyleCnt="7">
        <dgm:presLayoutVars>
          <dgm:bulletEnabled val="1"/>
        </dgm:presLayoutVars>
      </dgm:prSet>
      <dgm:spPr/>
      <dgm:t>
        <a:bodyPr/>
        <a:lstStyle/>
        <a:p>
          <a:endParaRPr lang="en-US"/>
        </a:p>
      </dgm:t>
    </dgm:pt>
    <dgm:pt modelId="{C9846557-3DF9-B348-841B-D4F618C5EDAF}" type="pres">
      <dgm:prSet presAssocID="{282473DD-4E52-814D-8769-7ECC00C674CA}" presName="aSpace" presStyleCnt="0"/>
      <dgm:spPr/>
    </dgm:pt>
    <dgm:pt modelId="{1F1F28D9-576C-D34E-9416-5AE87AB2CC12}" type="pres">
      <dgm:prSet presAssocID="{14F1597F-0168-B14F-9683-CA195C94D828}" presName="compNode" presStyleCnt="0"/>
      <dgm:spPr/>
    </dgm:pt>
    <dgm:pt modelId="{0FB8B290-EEEC-0C47-9F93-05681CD27AC2}" type="pres">
      <dgm:prSet presAssocID="{14F1597F-0168-B14F-9683-CA195C94D828}" presName="aNode" presStyleLbl="bgShp" presStyleIdx="1" presStyleCnt="3"/>
      <dgm:spPr/>
      <dgm:t>
        <a:bodyPr/>
        <a:lstStyle/>
        <a:p>
          <a:endParaRPr lang="en-US"/>
        </a:p>
      </dgm:t>
    </dgm:pt>
    <dgm:pt modelId="{6E887711-FD0B-5345-A764-5A0F2538A410}" type="pres">
      <dgm:prSet presAssocID="{14F1597F-0168-B14F-9683-CA195C94D828}" presName="textNode" presStyleLbl="bgShp" presStyleIdx="1" presStyleCnt="3"/>
      <dgm:spPr/>
      <dgm:t>
        <a:bodyPr/>
        <a:lstStyle/>
        <a:p>
          <a:endParaRPr lang="en-US"/>
        </a:p>
      </dgm:t>
    </dgm:pt>
    <dgm:pt modelId="{5E91D623-4386-F547-A71F-249966FCEF30}" type="pres">
      <dgm:prSet presAssocID="{14F1597F-0168-B14F-9683-CA195C94D828}" presName="compChildNode" presStyleCnt="0"/>
      <dgm:spPr/>
    </dgm:pt>
    <dgm:pt modelId="{70B2DCBE-89A2-9744-BF14-C30B2EF64019}" type="pres">
      <dgm:prSet presAssocID="{14F1597F-0168-B14F-9683-CA195C94D828}" presName="theInnerList" presStyleCnt="0"/>
      <dgm:spPr/>
    </dgm:pt>
    <dgm:pt modelId="{8D1AB2C6-C8C2-264A-AB94-906857099761}" type="pres">
      <dgm:prSet presAssocID="{36B1AC52-F78F-364E-898D-A03C27D3447B}" presName="childNode" presStyleLbl="node1" presStyleIdx="3" presStyleCnt="7">
        <dgm:presLayoutVars>
          <dgm:bulletEnabled val="1"/>
        </dgm:presLayoutVars>
      </dgm:prSet>
      <dgm:spPr/>
      <dgm:t>
        <a:bodyPr/>
        <a:lstStyle/>
        <a:p>
          <a:endParaRPr lang="en-US"/>
        </a:p>
      </dgm:t>
    </dgm:pt>
    <dgm:pt modelId="{DCFF7A05-B452-BE4A-9A95-8B3C5905A221}" type="pres">
      <dgm:prSet presAssocID="{36B1AC52-F78F-364E-898D-A03C27D3447B}" presName="aSpace2" presStyleCnt="0"/>
      <dgm:spPr/>
    </dgm:pt>
    <dgm:pt modelId="{CA0D8F73-6837-6D4C-846D-34586ACB84FE}" type="pres">
      <dgm:prSet presAssocID="{0D375E54-645D-614D-AF9A-41A1A1B85744}" presName="childNode" presStyleLbl="node1" presStyleIdx="4" presStyleCnt="7">
        <dgm:presLayoutVars>
          <dgm:bulletEnabled val="1"/>
        </dgm:presLayoutVars>
      </dgm:prSet>
      <dgm:spPr/>
      <dgm:t>
        <a:bodyPr/>
        <a:lstStyle/>
        <a:p>
          <a:endParaRPr lang="en-US"/>
        </a:p>
      </dgm:t>
    </dgm:pt>
    <dgm:pt modelId="{E83E54DF-BD22-1841-8539-2C5E3407B571}" type="pres">
      <dgm:prSet presAssocID="{14F1597F-0168-B14F-9683-CA195C94D828}" presName="aSpace" presStyleCnt="0"/>
      <dgm:spPr/>
    </dgm:pt>
    <dgm:pt modelId="{531489F8-45A4-9D41-A865-85D462168229}" type="pres">
      <dgm:prSet presAssocID="{760F102A-4090-F046-BE2A-6BF6AA847370}" presName="compNode" presStyleCnt="0"/>
      <dgm:spPr/>
    </dgm:pt>
    <dgm:pt modelId="{E3CD1909-82DC-5245-8C0A-079E52A0B644}" type="pres">
      <dgm:prSet presAssocID="{760F102A-4090-F046-BE2A-6BF6AA847370}" presName="aNode" presStyleLbl="bgShp" presStyleIdx="2" presStyleCnt="3"/>
      <dgm:spPr/>
      <dgm:t>
        <a:bodyPr/>
        <a:lstStyle/>
        <a:p>
          <a:endParaRPr lang="en-US"/>
        </a:p>
      </dgm:t>
    </dgm:pt>
    <dgm:pt modelId="{9F880B6E-199A-B744-A1D4-4A1EC6E226A3}" type="pres">
      <dgm:prSet presAssocID="{760F102A-4090-F046-BE2A-6BF6AA847370}" presName="textNode" presStyleLbl="bgShp" presStyleIdx="2" presStyleCnt="3"/>
      <dgm:spPr/>
      <dgm:t>
        <a:bodyPr/>
        <a:lstStyle/>
        <a:p>
          <a:endParaRPr lang="en-US"/>
        </a:p>
      </dgm:t>
    </dgm:pt>
    <dgm:pt modelId="{7E6DECE1-D6A6-5D4D-A078-A335445B66E4}" type="pres">
      <dgm:prSet presAssocID="{760F102A-4090-F046-BE2A-6BF6AA847370}" presName="compChildNode" presStyleCnt="0"/>
      <dgm:spPr/>
    </dgm:pt>
    <dgm:pt modelId="{DBE981F0-CF9E-D04D-8782-2679CEAFE878}" type="pres">
      <dgm:prSet presAssocID="{760F102A-4090-F046-BE2A-6BF6AA847370}" presName="theInnerList" presStyleCnt="0"/>
      <dgm:spPr/>
    </dgm:pt>
    <dgm:pt modelId="{C8375C9C-C22E-4441-BF7D-39B9C69C123B}" type="pres">
      <dgm:prSet presAssocID="{9A434528-7C2D-2A4D-8F03-5FE9C5FDAC5B}" presName="childNode" presStyleLbl="node1" presStyleIdx="5" presStyleCnt="7">
        <dgm:presLayoutVars>
          <dgm:bulletEnabled val="1"/>
        </dgm:presLayoutVars>
      </dgm:prSet>
      <dgm:spPr/>
      <dgm:t>
        <a:bodyPr/>
        <a:lstStyle/>
        <a:p>
          <a:endParaRPr lang="en-US"/>
        </a:p>
      </dgm:t>
    </dgm:pt>
    <dgm:pt modelId="{F51487FA-4B78-3143-AB57-C253994AA440}" type="pres">
      <dgm:prSet presAssocID="{9A434528-7C2D-2A4D-8F03-5FE9C5FDAC5B}" presName="aSpace2" presStyleCnt="0"/>
      <dgm:spPr/>
    </dgm:pt>
    <dgm:pt modelId="{4453455A-2854-964D-B616-448291BE042A}" type="pres">
      <dgm:prSet presAssocID="{0EE67DFF-B2EB-4E4F-9A32-81D3D44183E4}" presName="childNode" presStyleLbl="node1" presStyleIdx="6" presStyleCnt="7">
        <dgm:presLayoutVars>
          <dgm:bulletEnabled val="1"/>
        </dgm:presLayoutVars>
      </dgm:prSet>
      <dgm:spPr/>
      <dgm:t>
        <a:bodyPr/>
        <a:lstStyle/>
        <a:p>
          <a:endParaRPr lang="en-US"/>
        </a:p>
      </dgm:t>
    </dgm:pt>
  </dgm:ptLst>
  <dgm:cxnLst>
    <dgm:cxn modelId="{F9289EBF-0C6F-CC4C-B8A1-166F56E05F3A}" type="presOf" srcId="{14F1597F-0168-B14F-9683-CA195C94D828}" destId="{0FB8B290-EEEC-0C47-9F93-05681CD27AC2}" srcOrd="0" destOrd="0" presId="urn:microsoft.com/office/officeart/2005/8/layout/lProcess2"/>
    <dgm:cxn modelId="{3451F73C-64C3-B144-9C30-FD83DB1442A0}" type="presOf" srcId="{95CAEB11-D744-E142-9FC4-4A5B2B97B48D}" destId="{46CCBB17-C841-654B-B78D-27845626891C}" srcOrd="0" destOrd="0" presId="urn:microsoft.com/office/officeart/2005/8/layout/lProcess2"/>
    <dgm:cxn modelId="{C551DD88-FE64-D74C-80F9-42112AD038BD}" srcId="{282473DD-4E52-814D-8769-7ECC00C674CA}" destId="{3807DCA8-1DDE-2C49-B1A3-E32883AA2051}" srcOrd="0" destOrd="0" parTransId="{D73B1C9E-6505-CE45-A9CC-3E576B5F059E}" sibTransId="{A7C2CB36-9BC9-7E4E-B68D-F1CF3D812083}"/>
    <dgm:cxn modelId="{1BD02C91-B665-724E-876E-A5E7D427175A}" type="presOf" srcId="{36B1AC52-F78F-364E-898D-A03C27D3447B}" destId="{8D1AB2C6-C8C2-264A-AB94-906857099761}" srcOrd="0" destOrd="0" presId="urn:microsoft.com/office/officeart/2005/8/layout/lProcess2"/>
    <dgm:cxn modelId="{1A443A53-52A3-414E-B1C0-68FE2D392684}" type="presOf" srcId="{7046B813-EFD8-874A-A332-FAB2925F24A2}" destId="{6FE50D95-AA55-4744-8640-B2B3540673C3}" srcOrd="0" destOrd="0" presId="urn:microsoft.com/office/officeart/2005/8/layout/lProcess2"/>
    <dgm:cxn modelId="{6C4A1DFC-562C-EA43-B4F0-5E0037AAEB29}" type="presOf" srcId="{282473DD-4E52-814D-8769-7ECC00C674CA}" destId="{B842D724-9656-E246-9591-8C8FB960405F}" srcOrd="1" destOrd="0" presId="urn:microsoft.com/office/officeart/2005/8/layout/lProcess2"/>
    <dgm:cxn modelId="{EBB02584-133B-4943-AB29-E98A4DDCB8BC}" srcId="{282473DD-4E52-814D-8769-7ECC00C674CA}" destId="{7046B813-EFD8-874A-A332-FAB2925F24A2}" srcOrd="1" destOrd="0" parTransId="{C711C0D5-CED8-C14E-B089-7739942BBE44}" sibTransId="{179E9D8A-F808-A34E-9CF1-31CBC6197E97}"/>
    <dgm:cxn modelId="{152F4B57-BD4E-2246-BA0B-F156C2483097}" type="presOf" srcId="{282473DD-4E52-814D-8769-7ECC00C674CA}" destId="{33A783DF-A826-E844-BB4F-7DB286566F73}" srcOrd="0" destOrd="0" presId="urn:microsoft.com/office/officeart/2005/8/layout/lProcess2"/>
    <dgm:cxn modelId="{18B61F1C-C998-F643-8ABE-A6A1DED674E4}" srcId="{760F102A-4090-F046-BE2A-6BF6AA847370}" destId="{0EE67DFF-B2EB-4E4F-9A32-81D3D44183E4}" srcOrd="1" destOrd="0" parTransId="{CD6F503F-AF9B-A84E-8E04-88E5C112505D}" sibTransId="{D1C149AE-A48D-5242-87AD-7585EAA079DF}"/>
    <dgm:cxn modelId="{1472C037-E0DB-1645-9C9D-E00A5378F440}" srcId="{7B8A6779-534F-9A46-BA4E-7A267BBC0215}" destId="{14F1597F-0168-B14F-9683-CA195C94D828}" srcOrd="1" destOrd="0" parTransId="{90E5C60D-7E6B-2D4C-AFCE-49C7A6017EA5}" sibTransId="{1304D34C-00FD-7245-A311-00FBD911CC15}"/>
    <dgm:cxn modelId="{7619CC4A-47DA-C044-9703-95AB163AFBCD}" srcId="{760F102A-4090-F046-BE2A-6BF6AA847370}" destId="{9A434528-7C2D-2A4D-8F03-5FE9C5FDAC5B}" srcOrd="0" destOrd="0" parTransId="{F367BF03-407B-C64A-B015-283ABB5AEA79}" sibTransId="{95DEECD2-87C5-E845-9A3F-CF45268BE8BB}"/>
    <dgm:cxn modelId="{7BA3F8D2-B311-E94B-98BA-B3DB4D64BCBE}" srcId="{7B8A6779-534F-9A46-BA4E-7A267BBC0215}" destId="{282473DD-4E52-814D-8769-7ECC00C674CA}" srcOrd="0" destOrd="0" parTransId="{71043E8D-9992-F844-96E4-A1D44D62ED71}" sibTransId="{F439CC1B-69EF-C04E-811A-9540EE6B6B1E}"/>
    <dgm:cxn modelId="{4F1BFB81-9C1D-1A4D-9CB1-41FFB52B8EDB}" type="presOf" srcId="{760F102A-4090-F046-BE2A-6BF6AA847370}" destId="{E3CD1909-82DC-5245-8C0A-079E52A0B644}" srcOrd="0" destOrd="0" presId="urn:microsoft.com/office/officeart/2005/8/layout/lProcess2"/>
    <dgm:cxn modelId="{8FF3CFCB-CFB2-A140-B929-84E98FE2D327}" type="presOf" srcId="{9A434528-7C2D-2A4D-8F03-5FE9C5FDAC5B}" destId="{C8375C9C-C22E-4441-BF7D-39B9C69C123B}" srcOrd="0" destOrd="0" presId="urn:microsoft.com/office/officeart/2005/8/layout/lProcess2"/>
    <dgm:cxn modelId="{CA12A6A2-B1FB-0D49-8FBD-2337016BFA60}" type="presOf" srcId="{0D375E54-645D-614D-AF9A-41A1A1B85744}" destId="{CA0D8F73-6837-6D4C-846D-34586ACB84FE}" srcOrd="0" destOrd="0" presId="urn:microsoft.com/office/officeart/2005/8/layout/lProcess2"/>
    <dgm:cxn modelId="{3898603C-291D-674E-8111-0FC44CF6775C}" type="presOf" srcId="{3807DCA8-1DDE-2C49-B1A3-E32883AA2051}" destId="{3FF2CAA5-6E7F-EF4C-9B02-6A90DD359AF1}" srcOrd="0" destOrd="0" presId="urn:microsoft.com/office/officeart/2005/8/layout/lProcess2"/>
    <dgm:cxn modelId="{04D25601-1B0A-2C4A-BEDA-EB3D1CA9BC79}" srcId="{282473DD-4E52-814D-8769-7ECC00C674CA}" destId="{95CAEB11-D744-E142-9FC4-4A5B2B97B48D}" srcOrd="2" destOrd="0" parTransId="{28A22B2A-CD3F-044C-8F14-2808507F4684}" sibTransId="{DA8A204B-D384-8645-9BD5-688FAD0FD8D7}"/>
    <dgm:cxn modelId="{A4D29A07-FDF2-DF4A-AB6B-C19A3370F310}" type="presOf" srcId="{14F1597F-0168-B14F-9683-CA195C94D828}" destId="{6E887711-FD0B-5345-A764-5A0F2538A410}" srcOrd="1" destOrd="0" presId="urn:microsoft.com/office/officeart/2005/8/layout/lProcess2"/>
    <dgm:cxn modelId="{EF4A1E36-193C-3647-957A-3B0160D84791}" srcId="{14F1597F-0168-B14F-9683-CA195C94D828}" destId="{36B1AC52-F78F-364E-898D-A03C27D3447B}" srcOrd="0" destOrd="0" parTransId="{98ED77B4-C0C1-9344-A91B-0D3DB9A6CC5F}" sibTransId="{81D1671B-8EB0-3245-BD4E-2CA3036996BB}"/>
    <dgm:cxn modelId="{410E6A8B-34D9-AE4F-8E0D-E9F7B1C1E36B}" type="presOf" srcId="{0EE67DFF-B2EB-4E4F-9A32-81D3D44183E4}" destId="{4453455A-2854-964D-B616-448291BE042A}" srcOrd="0" destOrd="0" presId="urn:microsoft.com/office/officeart/2005/8/layout/lProcess2"/>
    <dgm:cxn modelId="{D13B0EDE-D00D-3845-85EB-21A34B35A0B1}" srcId="{7B8A6779-534F-9A46-BA4E-7A267BBC0215}" destId="{760F102A-4090-F046-BE2A-6BF6AA847370}" srcOrd="2" destOrd="0" parTransId="{713F917B-1B96-8047-B7FA-694D8461F226}" sibTransId="{2F6DF5BB-1A96-4142-9CB5-994992189E5F}"/>
    <dgm:cxn modelId="{F53BB41A-8306-ED4A-A2E0-A5F5D37DABEC}" srcId="{14F1597F-0168-B14F-9683-CA195C94D828}" destId="{0D375E54-645D-614D-AF9A-41A1A1B85744}" srcOrd="1" destOrd="0" parTransId="{9F53D059-B573-5F49-AB5B-8263B818746E}" sibTransId="{1135EBFC-D008-6B4A-B206-0BC2437F011B}"/>
    <dgm:cxn modelId="{CE112593-A8E1-9A43-860A-61D3F9089CA4}" type="presOf" srcId="{7B8A6779-534F-9A46-BA4E-7A267BBC0215}" destId="{2F1BED99-168B-524B-AF11-904D26FAEE9F}" srcOrd="0" destOrd="0" presId="urn:microsoft.com/office/officeart/2005/8/layout/lProcess2"/>
    <dgm:cxn modelId="{309B907C-F18A-B849-919F-ED9ED454457D}" type="presOf" srcId="{760F102A-4090-F046-BE2A-6BF6AA847370}" destId="{9F880B6E-199A-B744-A1D4-4A1EC6E226A3}" srcOrd="1" destOrd="0" presId="urn:microsoft.com/office/officeart/2005/8/layout/lProcess2"/>
    <dgm:cxn modelId="{00D65339-3BFD-9F44-8274-9BEC17F90703}" type="presParOf" srcId="{2F1BED99-168B-524B-AF11-904D26FAEE9F}" destId="{A7E3B4EF-E5AA-2340-8407-E35206C154F5}" srcOrd="0" destOrd="0" presId="urn:microsoft.com/office/officeart/2005/8/layout/lProcess2"/>
    <dgm:cxn modelId="{C519C5E5-0667-4343-8684-49880E4AD2F8}" type="presParOf" srcId="{A7E3B4EF-E5AA-2340-8407-E35206C154F5}" destId="{33A783DF-A826-E844-BB4F-7DB286566F73}" srcOrd="0" destOrd="0" presId="urn:microsoft.com/office/officeart/2005/8/layout/lProcess2"/>
    <dgm:cxn modelId="{B6478F00-8101-2049-98CF-31E650037AA3}" type="presParOf" srcId="{A7E3B4EF-E5AA-2340-8407-E35206C154F5}" destId="{B842D724-9656-E246-9591-8C8FB960405F}" srcOrd="1" destOrd="0" presId="urn:microsoft.com/office/officeart/2005/8/layout/lProcess2"/>
    <dgm:cxn modelId="{F9C5BE42-DE6E-D24E-A3EB-DA5DFED8C7FE}" type="presParOf" srcId="{A7E3B4EF-E5AA-2340-8407-E35206C154F5}" destId="{30786497-71A9-FE44-8B5A-CC2006A7786D}" srcOrd="2" destOrd="0" presId="urn:microsoft.com/office/officeart/2005/8/layout/lProcess2"/>
    <dgm:cxn modelId="{A3CCAA65-C27A-2A41-AF96-1225F0CB31CB}" type="presParOf" srcId="{30786497-71A9-FE44-8B5A-CC2006A7786D}" destId="{A1A53AD8-0F3D-8C41-B810-E6270C4B9197}" srcOrd="0" destOrd="0" presId="urn:microsoft.com/office/officeart/2005/8/layout/lProcess2"/>
    <dgm:cxn modelId="{F0C597E6-3958-2D40-BF68-30FAA60EA736}" type="presParOf" srcId="{A1A53AD8-0F3D-8C41-B810-E6270C4B9197}" destId="{3FF2CAA5-6E7F-EF4C-9B02-6A90DD359AF1}" srcOrd="0" destOrd="0" presId="urn:microsoft.com/office/officeart/2005/8/layout/lProcess2"/>
    <dgm:cxn modelId="{DCB098BA-67EA-2646-A72D-30982D070193}" type="presParOf" srcId="{A1A53AD8-0F3D-8C41-B810-E6270C4B9197}" destId="{09FD747B-4481-1046-BC6A-E6F12697872F}" srcOrd="1" destOrd="0" presId="urn:microsoft.com/office/officeart/2005/8/layout/lProcess2"/>
    <dgm:cxn modelId="{EEBB82B4-D9CB-0A4F-8240-BCF9473BAD20}" type="presParOf" srcId="{A1A53AD8-0F3D-8C41-B810-E6270C4B9197}" destId="{6FE50D95-AA55-4744-8640-B2B3540673C3}" srcOrd="2" destOrd="0" presId="urn:microsoft.com/office/officeart/2005/8/layout/lProcess2"/>
    <dgm:cxn modelId="{891189E1-9D49-AC43-AEDE-18F9BAE5B6DB}" type="presParOf" srcId="{A1A53AD8-0F3D-8C41-B810-E6270C4B9197}" destId="{C460AD8A-8AC6-6E4E-8E60-F528F363F184}" srcOrd="3" destOrd="0" presId="urn:microsoft.com/office/officeart/2005/8/layout/lProcess2"/>
    <dgm:cxn modelId="{DA7ABA63-A94C-774F-A136-607CCE69AA7B}" type="presParOf" srcId="{A1A53AD8-0F3D-8C41-B810-E6270C4B9197}" destId="{46CCBB17-C841-654B-B78D-27845626891C}" srcOrd="4" destOrd="0" presId="urn:microsoft.com/office/officeart/2005/8/layout/lProcess2"/>
    <dgm:cxn modelId="{48AE3FE1-63E8-8B43-96FB-02E7EB68FB41}" type="presParOf" srcId="{2F1BED99-168B-524B-AF11-904D26FAEE9F}" destId="{C9846557-3DF9-B348-841B-D4F618C5EDAF}" srcOrd="1" destOrd="0" presId="urn:microsoft.com/office/officeart/2005/8/layout/lProcess2"/>
    <dgm:cxn modelId="{4DAEA0F2-CA65-7C45-859A-69A2A7262AA7}" type="presParOf" srcId="{2F1BED99-168B-524B-AF11-904D26FAEE9F}" destId="{1F1F28D9-576C-D34E-9416-5AE87AB2CC12}" srcOrd="2" destOrd="0" presId="urn:microsoft.com/office/officeart/2005/8/layout/lProcess2"/>
    <dgm:cxn modelId="{17937F83-6265-5D43-A670-4DF8562E7A95}" type="presParOf" srcId="{1F1F28D9-576C-D34E-9416-5AE87AB2CC12}" destId="{0FB8B290-EEEC-0C47-9F93-05681CD27AC2}" srcOrd="0" destOrd="0" presId="urn:microsoft.com/office/officeart/2005/8/layout/lProcess2"/>
    <dgm:cxn modelId="{8856BC59-8298-184F-9F27-B022679AFA3E}" type="presParOf" srcId="{1F1F28D9-576C-D34E-9416-5AE87AB2CC12}" destId="{6E887711-FD0B-5345-A764-5A0F2538A410}" srcOrd="1" destOrd="0" presId="urn:microsoft.com/office/officeart/2005/8/layout/lProcess2"/>
    <dgm:cxn modelId="{CED8B0D1-E91D-0447-8E6F-9188DCB94E38}" type="presParOf" srcId="{1F1F28D9-576C-D34E-9416-5AE87AB2CC12}" destId="{5E91D623-4386-F547-A71F-249966FCEF30}" srcOrd="2" destOrd="0" presId="urn:microsoft.com/office/officeart/2005/8/layout/lProcess2"/>
    <dgm:cxn modelId="{88704417-26DA-7D47-8385-A4A9785DAE81}" type="presParOf" srcId="{5E91D623-4386-F547-A71F-249966FCEF30}" destId="{70B2DCBE-89A2-9744-BF14-C30B2EF64019}" srcOrd="0" destOrd="0" presId="urn:microsoft.com/office/officeart/2005/8/layout/lProcess2"/>
    <dgm:cxn modelId="{8D204147-6BFC-584D-9608-5E9691AD4F7E}" type="presParOf" srcId="{70B2DCBE-89A2-9744-BF14-C30B2EF64019}" destId="{8D1AB2C6-C8C2-264A-AB94-906857099761}" srcOrd="0" destOrd="0" presId="urn:microsoft.com/office/officeart/2005/8/layout/lProcess2"/>
    <dgm:cxn modelId="{0FA3E1F6-B1C9-F24E-8895-283BB1FE5499}" type="presParOf" srcId="{70B2DCBE-89A2-9744-BF14-C30B2EF64019}" destId="{DCFF7A05-B452-BE4A-9A95-8B3C5905A221}" srcOrd="1" destOrd="0" presId="urn:microsoft.com/office/officeart/2005/8/layout/lProcess2"/>
    <dgm:cxn modelId="{DBDF6FB6-9F01-064D-9C35-152AAE6B3A1F}" type="presParOf" srcId="{70B2DCBE-89A2-9744-BF14-C30B2EF64019}" destId="{CA0D8F73-6837-6D4C-846D-34586ACB84FE}" srcOrd="2" destOrd="0" presId="urn:microsoft.com/office/officeart/2005/8/layout/lProcess2"/>
    <dgm:cxn modelId="{C29A034B-EDBD-C940-B950-0022A0DA0751}" type="presParOf" srcId="{2F1BED99-168B-524B-AF11-904D26FAEE9F}" destId="{E83E54DF-BD22-1841-8539-2C5E3407B571}" srcOrd="3" destOrd="0" presId="urn:microsoft.com/office/officeart/2005/8/layout/lProcess2"/>
    <dgm:cxn modelId="{94E7607E-8FFE-0C47-8B99-F595B0895EA2}" type="presParOf" srcId="{2F1BED99-168B-524B-AF11-904D26FAEE9F}" destId="{531489F8-45A4-9D41-A865-85D462168229}" srcOrd="4" destOrd="0" presId="urn:microsoft.com/office/officeart/2005/8/layout/lProcess2"/>
    <dgm:cxn modelId="{B9FFA5E3-A5EB-804E-BC97-B5497589E808}" type="presParOf" srcId="{531489F8-45A4-9D41-A865-85D462168229}" destId="{E3CD1909-82DC-5245-8C0A-079E52A0B644}" srcOrd="0" destOrd="0" presId="urn:microsoft.com/office/officeart/2005/8/layout/lProcess2"/>
    <dgm:cxn modelId="{0C03379D-F232-8C41-AB19-EBE6E24A01B6}" type="presParOf" srcId="{531489F8-45A4-9D41-A865-85D462168229}" destId="{9F880B6E-199A-B744-A1D4-4A1EC6E226A3}" srcOrd="1" destOrd="0" presId="urn:microsoft.com/office/officeart/2005/8/layout/lProcess2"/>
    <dgm:cxn modelId="{B56DE921-A22A-B945-8655-14361B868C26}" type="presParOf" srcId="{531489F8-45A4-9D41-A865-85D462168229}" destId="{7E6DECE1-D6A6-5D4D-A078-A335445B66E4}" srcOrd="2" destOrd="0" presId="urn:microsoft.com/office/officeart/2005/8/layout/lProcess2"/>
    <dgm:cxn modelId="{B204BA8B-3A00-9544-982D-7C7A0A6B27DB}" type="presParOf" srcId="{7E6DECE1-D6A6-5D4D-A078-A335445B66E4}" destId="{DBE981F0-CF9E-D04D-8782-2679CEAFE878}" srcOrd="0" destOrd="0" presId="urn:microsoft.com/office/officeart/2005/8/layout/lProcess2"/>
    <dgm:cxn modelId="{076548A2-DB2D-B848-8E61-980394DEF767}" type="presParOf" srcId="{DBE981F0-CF9E-D04D-8782-2679CEAFE878}" destId="{C8375C9C-C22E-4441-BF7D-39B9C69C123B}" srcOrd="0" destOrd="0" presId="urn:microsoft.com/office/officeart/2005/8/layout/lProcess2"/>
    <dgm:cxn modelId="{A413BD6A-1F66-FA4A-ADF6-78C8436EF3C8}" type="presParOf" srcId="{DBE981F0-CF9E-D04D-8782-2679CEAFE878}" destId="{F51487FA-4B78-3143-AB57-C253994AA440}" srcOrd="1" destOrd="0" presId="urn:microsoft.com/office/officeart/2005/8/layout/lProcess2"/>
    <dgm:cxn modelId="{EF2A4E99-E1F4-E841-9286-875E6995E69C}" type="presParOf" srcId="{DBE981F0-CF9E-D04D-8782-2679CEAFE878}" destId="{4453455A-2854-964D-B616-448291BE042A}"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E35A4A4-B6A7-B049-B007-4558291E9DE0}" type="doc">
      <dgm:prSet loTypeId="urn:microsoft.com/office/officeart/2005/8/layout/default#3" loCatId="list" qsTypeId="urn:microsoft.com/office/officeart/2005/8/quickstyle/simple4" qsCatId="simple" csTypeId="urn:microsoft.com/office/officeart/2005/8/colors/accent1_2" csCatId="accent1" phldr="1"/>
      <dgm:spPr/>
      <dgm:t>
        <a:bodyPr/>
        <a:lstStyle/>
        <a:p>
          <a:endParaRPr lang="en-US"/>
        </a:p>
      </dgm:t>
    </dgm:pt>
    <dgm:pt modelId="{7180435B-5149-224D-B0F2-3D1F5F02D58F}">
      <dgm:prSet phldrT="[Text]"/>
      <dgm:spPr/>
      <dgm:t>
        <a:bodyPr/>
        <a:lstStyle/>
        <a:p>
          <a:r>
            <a:rPr lang="en-US" b="1" dirty="0">
              <a:effectLst/>
              <a:latin typeface="+mn-lt"/>
              <a:ea typeface="ＭＳ Ｐゴシック" pitchFamily="-65" charset="-128"/>
            </a:rPr>
            <a:t>Chernobyl</a:t>
          </a:r>
          <a:r>
            <a:rPr lang="en-US" b="1" dirty="0">
              <a:effectLst/>
              <a:ea typeface="ＭＳ Ｐゴシック" pitchFamily="-65" charset="-128"/>
            </a:rPr>
            <a:t> virus</a:t>
          </a:r>
          <a:endParaRPr lang="en-US" b="1" dirty="0">
            <a:effectLst/>
          </a:endParaRPr>
        </a:p>
      </dgm:t>
    </dgm:pt>
    <dgm:pt modelId="{1C353E28-42B4-A842-91D1-7A91625AFEA3}" type="parTrans" cxnId="{1D508A54-DE38-8543-B580-73C65892CB2F}">
      <dgm:prSet/>
      <dgm:spPr/>
      <dgm:t>
        <a:bodyPr/>
        <a:lstStyle/>
        <a:p>
          <a:endParaRPr lang="en-US"/>
        </a:p>
      </dgm:t>
    </dgm:pt>
    <dgm:pt modelId="{7174AA39-C0DF-0C4E-BEC7-862E0FAD5C8E}" type="sibTrans" cxnId="{1D508A54-DE38-8543-B580-73C65892CB2F}">
      <dgm:prSet/>
      <dgm:spPr/>
      <dgm:t>
        <a:bodyPr/>
        <a:lstStyle/>
        <a:p>
          <a:endParaRPr lang="en-US"/>
        </a:p>
      </dgm:t>
    </dgm:pt>
    <dgm:pt modelId="{DFA9ECF7-E8B4-F647-B319-FCAF6D9F4DEB}">
      <dgm:prSet phldrT="[Text]"/>
      <dgm:spPr/>
      <dgm:t>
        <a:bodyPr/>
        <a:lstStyle/>
        <a:p>
          <a:r>
            <a:rPr lang="en-US" b="1" dirty="0" err="1">
              <a:effectLst/>
              <a:ea typeface="ＭＳ Ｐゴシック" pitchFamily="-65" charset="-128"/>
            </a:rPr>
            <a:t>Klez</a:t>
          </a:r>
          <a:r>
            <a:rPr lang="en-US" b="1" dirty="0">
              <a:effectLst/>
              <a:ea typeface="ＭＳ Ｐゴシック" pitchFamily="-65" charset="-128"/>
            </a:rPr>
            <a:t> </a:t>
          </a:r>
        </a:p>
      </dgm:t>
    </dgm:pt>
    <dgm:pt modelId="{8E2F2AA8-5429-704A-9FF7-F7626FDFAD59}" type="parTrans" cxnId="{38B35DE7-71A7-294C-9C66-D676D694AA1A}">
      <dgm:prSet/>
      <dgm:spPr/>
      <dgm:t>
        <a:bodyPr/>
        <a:lstStyle/>
        <a:p>
          <a:endParaRPr lang="en-US"/>
        </a:p>
      </dgm:t>
    </dgm:pt>
    <dgm:pt modelId="{35E658EC-D3E5-F04B-8439-2C5857D775C3}" type="sibTrans" cxnId="{38B35DE7-71A7-294C-9C66-D676D694AA1A}">
      <dgm:prSet/>
      <dgm:spPr/>
      <dgm:t>
        <a:bodyPr/>
        <a:lstStyle/>
        <a:p>
          <a:endParaRPr lang="en-US"/>
        </a:p>
      </dgm:t>
    </dgm:pt>
    <dgm:pt modelId="{5DC3A8FE-9536-394A-ADBF-6D9D54D5DB39}">
      <dgm:prSet phldrT="[Text]"/>
      <dgm:spPr/>
      <dgm:t>
        <a:bodyPr/>
        <a:lstStyle/>
        <a:p>
          <a:r>
            <a:rPr lang="en-US" b="1" dirty="0" err="1">
              <a:effectLst/>
              <a:ea typeface="ＭＳ Ｐゴシック" pitchFamily="-65" charset="-128"/>
            </a:rPr>
            <a:t>Ransomware</a:t>
          </a:r>
          <a:endParaRPr lang="en-US" b="1" dirty="0">
            <a:effectLst/>
            <a:ea typeface="ＭＳ Ｐゴシック" pitchFamily="-65" charset="-128"/>
          </a:endParaRPr>
        </a:p>
      </dgm:t>
    </dgm:pt>
    <dgm:pt modelId="{30A58200-CDDD-F541-8C71-7DE4F7557CDE}" type="parTrans" cxnId="{EF57C64C-158D-1B47-AFF2-AB54ECBC2C07}">
      <dgm:prSet/>
      <dgm:spPr/>
      <dgm:t>
        <a:bodyPr/>
        <a:lstStyle/>
        <a:p>
          <a:endParaRPr lang="en-US"/>
        </a:p>
      </dgm:t>
    </dgm:pt>
    <dgm:pt modelId="{1910F444-3897-FC41-A7E7-51215875EC68}" type="sibTrans" cxnId="{EF57C64C-158D-1B47-AFF2-AB54ECBC2C07}">
      <dgm:prSet/>
      <dgm:spPr/>
      <dgm:t>
        <a:bodyPr/>
        <a:lstStyle/>
        <a:p>
          <a:endParaRPr lang="en-US"/>
        </a:p>
      </dgm:t>
    </dgm:pt>
    <dgm:pt modelId="{446811B6-C53D-904B-AA4F-EC83FEB6B522}">
      <dgm:prSet/>
      <dgm:spPr/>
      <dgm:t>
        <a:bodyPr/>
        <a:lstStyle/>
        <a:p>
          <a:r>
            <a:rPr lang="en-US" b="1" dirty="0">
              <a:effectLst/>
              <a:ea typeface="ＭＳ Ｐゴシック" pitchFamily="-65" charset="-128"/>
            </a:rPr>
            <a:t>First seen in 1998 </a:t>
          </a:r>
        </a:p>
      </dgm:t>
    </dgm:pt>
    <dgm:pt modelId="{E55258DB-7C1F-C749-8ACA-E07D6EF9F2F7}" type="parTrans" cxnId="{CDD0D099-2990-1742-9B51-43C26A2A5C3D}">
      <dgm:prSet/>
      <dgm:spPr/>
      <dgm:t>
        <a:bodyPr/>
        <a:lstStyle/>
        <a:p>
          <a:endParaRPr lang="en-US"/>
        </a:p>
      </dgm:t>
    </dgm:pt>
    <dgm:pt modelId="{DC79E94F-371B-2443-90E8-4D94B1C70F59}" type="sibTrans" cxnId="{CDD0D099-2990-1742-9B51-43C26A2A5C3D}">
      <dgm:prSet/>
      <dgm:spPr/>
      <dgm:t>
        <a:bodyPr/>
        <a:lstStyle/>
        <a:p>
          <a:endParaRPr lang="en-US"/>
        </a:p>
      </dgm:t>
    </dgm:pt>
    <dgm:pt modelId="{B9A4684C-9197-8145-ADAC-DE3BCB1A59F7}">
      <dgm:prSet/>
      <dgm:spPr/>
      <dgm:t>
        <a:bodyPr/>
        <a:lstStyle/>
        <a:p>
          <a:r>
            <a:rPr lang="en-US" b="1" dirty="0">
              <a:effectLst/>
              <a:ea typeface="ＭＳ Ｐゴシック" pitchFamily="-65" charset="-128"/>
            </a:rPr>
            <a:t>Infects executable files when they are opened and when a trigger date is reached, the virus deletes data on the infected system by overwriting the first megabyte of the hard drive with zeroes, resulting in massive corruption of the entire file system</a:t>
          </a:r>
        </a:p>
      </dgm:t>
    </dgm:pt>
    <dgm:pt modelId="{80D97073-4B19-4041-9FB2-201EEF1D2152}" type="parTrans" cxnId="{AACFCD32-8CA4-3848-9053-54A3E407C2D9}">
      <dgm:prSet/>
      <dgm:spPr/>
      <dgm:t>
        <a:bodyPr/>
        <a:lstStyle/>
        <a:p>
          <a:endParaRPr lang="en-US"/>
        </a:p>
      </dgm:t>
    </dgm:pt>
    <dgm:pt modelId="{83296E5B-9BCA-BD4C-90CF-FBB1024F50EC}" type="sibTrans" cxnId="{AACFCD32-8CA4-3848-9053-54A3E407C2D9}">
      <dgm:prSet/>
      <dgm:spPr/>
      <dgm:t>
        <a:bodyPr/>
        <a:lstStyle/>
        <a:p>
          <a:endParaRPr lang="en-US"/>
        </a:p>
      </dgm:t>
    </dgm:pt>
    <dgm:pt modelId="{E213D9C2-7CE6-5D43-BE5F-C18545927001}">
      <dgm:prSet/>
      <dgm:spPr/>
      <dgm:t>
        <a:bodyPr/>
        <a:lstStyle/>
        <a:p>
          <a:r>
            <a:rPr lang="en-US" b="1" dirty="0">
              <a:effectLst/>
              <a:ea typeface="ＭＳ Ｐゴシック" pitchFamily="-65" charset="-128"/>
            </a:rPr>
            <a:t>Mass mailing worm infecting                                  Windows 95 to XP systems</a:t>
          </a:r>
        </a:p>
      </dgm:t>
    </dgm:pt>
    <dgm:pt modelId="{9557A83B-B6FC-5043-955D-D88DF0D266BE}" type="parTrans" cxnId="{D84D0026-1907-F64C-84FE-2F7ECD8A1622}">
      <dgm:prSet/>
      <dgm:spPr/>
      <dgm:t>
        <a:bodyPr/>
        <a:lstStyle/>
        <a:p>
          <a:endParaRPr lang="en-US"/>
        </a:p>
      </dgm:t>
    </dgm:pt>
    <dgm:pt modelId="{FB433600-D786-FE49-BE67-292BE32D3A68}" type="sibTrans" cxnId="{D84D0026-1907-F64C-84FE-2F7ECD8A1622}">
      <dgm:prSet/>
      <dgm:spPr/>
      <dgm:t>
        <a:bodyPr/>
        <a:lstStyle/>
        <a:p>
          <a:endParaRPr lang="en-US"/>
        </a:p>
      </dgm:t>
    </dgm:pt>
    <dgm:pt modelId="{AA7E47BD-A8DD-BA43-9A45-B3365DAF56D2}">
      <dgm:prSet/>
      <dgm:spPr/>
      <dgm:t>
        <a:bodyPr/>
        <a:lstStyle/>
        <a:p>
          <a:r>
            <a:rPr lang="en-US" b="1" dirty="0">
              <a:effectLst/>
              <a:ea typeface="ＭＳ Ｐゴシック" pitchFamily="-65" charset="-128"/>
            </a:rPr>
            <a:t>On trigger date causes files on the hard drive to become empty</a:t>
          </a:r>
        </a:p>
      </dgm:t>
    </dgm:pt>
    <dgm:pt modelId="{EA2B8F3D-FD05-B547-9E6C-5CB276E3C4D6}" type="parTrans" cxnId="{A08ADF4C-6825-D64B-B63A-4FF479E8A903}">
      <dgm:prSet/>
      <dgm:spPr/>
      <dgm:t>
        <a:bodyPr/>
        <a:lstStyle/>
        <a:p>
          <a:endParaRPr lang="en-US"/>
        </a:p>
      </dgm:t>
    </dgm:pt>
    <dgm:pt modelId="{801B0D31-548A-4544-8EA7-D97D68CDAB1B}" type="sibTrans" cxnId="{A08ADF4C-6825-D64B-B63A-4FF479E8A903}">
      <dgm:prSet/>
      <dgm:spPr/>
      <dgm:t>
        <a:bodyPr/>
        <a:lstStyle/>
        <a:p>
          <a:endParaRPr lang="en-US"/>
        </a:p>
      </dgm:t>
    </dgm:pt>
    <dgm:pt modelId="{C82EE885-D50E-B444-8DBA-B28186EB021F}">
      <dgm:prSet/>
      <dgm:spPr/>
      <dgm:t>
        <a:bodyPr/>
        <a:lstStyle/>
        <a:p>
          <a:r>
            <a:rPr lang="en-US" b="1" dirty="0">
              <a:effectLst/>
              <a:ea typeface="ＭＳ Ｐゴシック" pitchFamily="-65" charset="-128"/>
            </a:rPr>
            <a:t>Encrypts the user’s data and demands payment in order to access the key needed to recover the information</a:t>
          </a:r>
        </a:p>
      </dgm:t>
    </dgm:pt>
    <dgm:pt modelId="{F1830A6B-1B4E-E848-8D05-DADF8604158D}" type="parTrans" cxnId="{A0A068D8-E768-DC43-8118-C6B188F23629}">
      <dgm:prSet/>
      <dgm:spPr/>
      <dgm:t>
        <a:bodyPr/>
        <a:lstStyle/>
        <a:p>
          <a:endParaRPr lang="en-US"/>
        </a:p>
      </dgm:t>
    </dgm:pt>
    <dgm:pt modelId="{362BDC1E-9490-4444-A231-F97F056EFD89}" type="sibTrans" cxnId="{A0A068D8-E768-DC43-8118-C6B188F23629}">
      <dgm:prSet/>
      <dgm:spPr/>
      <dgm:t>
        <a:bodyPr/>
        <a:lstStyle/>
        <a:p>
          <a:endParaRPr lang="en-US"/>
        </a:p>
      </dgm:t>
    </dgm:pt>
    <dgm:pt modelId="{CBEE651C-DA9A-9042-B2AD-C5C55EFE28CF}">
      <dgm:prSet/>
      <dgm:spPr/>
      <dgm:t>
        <a:bodyPr/>
        <a:lstStyle/>
        <a:p>
          <a:r>
            <a:rPr lang="en-US" b="1" dirty="0">
              <a:effectLst/>
              <a:ea typeface="ＭＳ Ｐゴシック" pitchFamily="-65" charset="-128"/>
            </a:rPr>
            <a:t>PC Cyborg Trojan (1989)</a:t>
          </a:r>
        </a:p>
      </dgm:t>
    </dgm:pt>
    <dgm:pt modelId="{38CDF19E-84B8-6548-9F3B-78C41BF0958B}" type="parTrans" cxnId="{451221C8-7F5B-D143-B415-D18EC08AEE03}">
      <dgm:prSet/>
      <dgm:spPr/>
      <dgm:t>
        <a:bodyPr/>
        <a:lstStyle/>
        <a:p>
          <a:endParaRPr lang="en-US"/>
        </a:p>
      </dgm:t>
    </dgm:pt>
    <dgm:pt modelId="{9F924B21-3DE3-424E-85A6-F37A5EF71317}" type="sibTrans" cxnId="{451221C8-7F5B-D143-B415-D18EC08AEE03}">
      <dgm:prSet/>
      <dgm:spPr/>
      <dgm:t>
        <a:bodyPr/>
        <a:lstStyle/>
        <a:p>
          <a:endParaRPr lang="en-US"/>
        </a:p>
      </dgm:t>
    </dgm:pt>
    <dgm:pt modelId="{66D2251D-824F-E840-A3F7-380C8CBE6984}">
      <dgm:prSet/>
      <dgm:spPr/>
      <dgm:t>
        <a:bodyPr/>
        <a:lstStyle/>
        <a:p>
          <a:r>
            <a:rPr lang="en-US" b="1" dirty="0">
              <a:effectLst/>
              <a:ea typeface="ＭＳ Ｐゴシック" pitchFamily="-65" charset="-128"/>
            </a:rPr>
            <a:t>Mid-2006 a number of worms and Trojans appeared that used public-key cryptography with </a:t>
          </a:r>
          <a:r>
            <a:rPr lang="en-US" b="1" dirty="0" err="1">
              <a:effectLst/>
              <a:ea typeface="ＭＳ Ｐゴシック" pitchFamily="-65" charset="-128"/>
            </a:rPr>
            <a:t>incresasingly</a:t>
          </a:r>
          <a:r>
            <a:rPr lang="en-US" b="1" dirty="0">
              <a:effectLst/>
              <a:ea typeface="ＭＳ Ｐゴシック" pitchFamily="-65" charset="-128"/>
            </a:rPr>
            <a:t> larger key sizes to encrypt data</a:t>
          </a:r>
        </a:p>
      </dgm:t>
    </dgm:pt>
    <dgm:pt modelId="{A3F5EAD9-4681-6448-9C39-83CC4F24F984}" type="parTrans" cxnId="{6FEE837C-E3BB-F145-90F2-09021D84A0BD}">
      <dgm:prSet/>
      <dgm:spPr/>
      <dgm:t>
        <a:bodyPr/>
        <a:lstStyle/>
        <a:p>
          <a:endParaRPr lang="en-US"/>
        </a:p>
      </dgm:t>
    </dgm:pt>
    <dgm:pt modelId="{F035F9D9-1B18-4D41-84AC-CF6A9706A843}" type="sibTrans" cxnId="{6FEE837C-E3BB-F145-90F2-09021D84A0BD}">
      <dgm:prSet/>
      <dgm:spPr/>
      <dgm:t>
        <a:bodyPr/>
        <a:lstStyle/>
        <a:p>
          <a:endParaRPr lang="en-US"/>
        </a:p>
      </dgm:t>
    </dgm:pt>
    <dgm:pt modelId="{9EA72A88-3DA2-984E-8711-854594BA23A1}">
      <dgm:prSet/>
      <dgm:spPr/>
      <dgm:t>
        <a:bodyPr/>
        <a:lstStyle/>
        <a:p>
          <a:r>
            <a:rPr lang="en-US" b="1" dirty="0">
              <a:effectLst/>
              <a:ea typeface="ＭＳ Ｐゴシック" pitchFamily="-65" charset="-128"/>
            </a:rPr>
            <a:t>Example of a destructive parasitic memory-resident Windows 95 and 98 virus</a:t>
          </a:r>
        </a:p>
      </dgm:t>
    </dgm:pt>
    <dgm:pt modelId="{BFFC3653-E16B-AF49-84BE-6039D2EC253E}" type="parTrans" cxnId="{93862869-C67F-2C49-9742-645A2570ECAF}">
      <dgm:prSet/>
      <dgm:spPr/>
      <dgm:t>
        <a:bodyPr/>
        <a:lstStyle/>
        <a:p>
          <a:endParaRPr lang="en-US"/>
        </a:p>
      </dgm:t>
    </dgm:pt>
    <dgm:pt modelId="{4A483C58-FC8C-D541-8562-9F28C969DE2C}" type="sibTrans" cxnId="{93862869-C67F-2C49-9742-645A2570ECAF}">
      <dgm:prSet/>
      <dgm:spPr/>
      <dgm:t>
        <a:bodyPr/>
        <a:lstStyle/>
        <a:p>
          <a:endParaRPr lang="en-US"/>
        </a:p>
      </dgm:t>
    </dgm:pt>
    <dgm:pt modelId="{27A08E96-2D19-704C-9B1D-2F2BBC6F4CB4}">
      <dgm:prSet/>
      <dgm:spPr/>
      <dgm:t>
        <a:bodyPr/>
        <a:lstStyle/>
        <a:p>
          <a:r>
            <a:rPr lang="en-US" b="1" dirty="0">
              <a:effectLst/>
              <a:ea typeface="ＭＳ Ｐゴシック" pitchFamily="-65" charset="-128"/>
            </a:rPr>
            <a:t>First seen in October 2001</a:t>
          </a:r>
        </a:p>
      </dgm:t>
    </dgm:pt>
    <dgm:pt modelId="{01425A03-1AE3-3041-8F97-B61C0EF40191}" type="parTrans" cxnId="{0D9D4219-48CC-BF40-8C9E-332E4A0F56A9}">
      <dgm:prSet/>
      <dgm:spPr/>
      <dgm:t>
        <a:bodyPr/>
        <a:lstStyle/>
        <a:p>
          <a:endParaRPr lang="en-US"/>
        </a:p>
      </dgm:t>
    </dgm:pt>
    <dgm:pt modelId="{5AF54C87-2909-B543-94E3-E05B5D5B5445}" type="sibTrans" cxnId="{0D9D4219-48CC-BF40-8C9E-332E4A0F56A9}">
      <dgm:prSet/>
      <dgm:spPr/>
      <dgm:t>
        <a:bodyPr/>
        <a:lstStyle/>
        <a:p>
          <a:endParaRPr lang="en-US"/>
        </a:p>
      </dgm:t>
    </dgm:pt>
    <dgm:pt modelId="{1E7E776E-B5D2-CA41-8188-C0942C0CDD36}">
      <dgm:prSet/>
      <dgm:spPr/>
      <dgm:t>
        <a:bodyPr/>
        <a:lstStyle/>
        <a:p>
          <a:r>
            <a:rPr lang="en-US" b="1" dirty="0">
              <a:effectLst/>
              <a:ea typeface="ＭＳ Ｐゴシック" pitchFamily="-65" charset="-128"/>
            </a:rPr>
            <a:t>Spreads by e-mailing copies of itself to addresses found in the address book and in files on the system</a:t>
          </a:r>
        </a:p>
      </dgm:t>
    </dgm:pt>
    <dgm:pt modelId="{4D3EEDAE-B988-E748-8586-67218EC81470}" type="parTrans" cxnId="{AEF1D43F-0914-E742-9678-0B16DDD60773}">
      <dgm:prSet/>
      <dgm:spPr/>
      <dgm:t>
        <a:bodyPr/>
        <a:lstStyle/>
        <a:p>
          <a:endParaRPr lang="en-US"/>
        </a:p>
      </dgm:t>
    </dgm:pt>
    <dgm:pt modelId="{F992F1BE-CF09-944B-A58D-55E1B0FE6519}" type="sibTrans" cxnId="{AEF1D43F-0914-E742-9678-0B16DDD60773}">
      <dgm:prSet/>
      <dgm:spPr/>
      <dgm:t>
        <a:bodyPr/>
        <a:lstStyle/>
        <a:p>
          <a:endParaRPr lang="en-US"/>
        </a:p>
      </dgm:t>
    </dgm:pt>
    <dgm:pt modelId="{2C1023AC-3C2A-E349-BD74-235AFB688DD9}">
      <dgm:prSet/>
      <dgm:spPr/>
      <dgm:t>
        <a:bodyPr/>
        <a:lstStyle/>
        <a:p>
          <a:r>
            <a:rPr lang="en-US" b="1" dirty="0">
              <a:effectLst/>
              <a:ea typeface="ＭＳ Ｐゴシック" pitchFamily="-65" charset="-128"/>
            </a:rPr>
            <a:t>It can stop and delete some anti-virus programs running on the system</a:t>
          </a:r>
        </a:p>
      </dgm:t>
    </dgm:pt>
    <dgm:pt modelId="{C6DDE8CE-FE33-E64B-B7C3-D5D3F0D63C67}" type="parTrans" cxnId="{A9EF3635-B979-234C-804D-026EAD202D9B}">
      <dgm:prSet/>
      <dgm:spPr/>
      <dgm:t>
        <a:bodyPr/>
        <a:lstStyle/>
        <a:p>
          <a:endParaRPr lang="en-US"/>
        </a:p>
      </dgm:t>
    </dgm:pt>
    <dgm:pt modelId="{0A4A30F9-392C-E543-A70E-2C04D1D193AD}" type="sibTrans" cxnId="{A9EF3635-B979-234C-804D-026EAD202D9B}">
      <dgm:prSet/>
      <dgm:spPr/>
      <dgm:t>
        <a:bodyPr/>
        <a:lstStyle/>
        <a:p>
          <a:endParaRPr lang="en-US"/>
        </a:p>
      </dgm:t>
    </dgm:pt>
    <dgm:pt modelId="{6567AED0-2BCC-F24C-B03C-DD4521BAB3D5}">
      <dgm:prSet/>
      <dgm:spPr/>
      <dgm:t>
        <a:bodyPr/>
        <a:lstStyle/>
        <a:p>
          <a:r>
            <a:rPr lang="en-US" b="1" dirty="0">
              <a:effectLst/>
              <a:ea typeface="ＭＳ Ｐゴシック" pitchFamily="-65" charset="-128"/>
            </a:rPr>
            <a:t>The user needed to pay a ransom, or to make a purchase from certain sites, in order to receive the key to decrypt this data</a:t>
          </a:r>
        </a:p>
      </dgm:t>
    </dgm:pt>
    <dgm:pt modelId="{7E2DFA7F-C785-874F-A463-1B053B548FA7}" type="parTrans" cxnId="{365C6F41-202A-4240-B523-7C28907B217B}">
      <dgm:prSet/>
      <dgm:spPr/>
      <dgm:t>
        <a:bodyPr/>
        <a:lstStyle/>
        <a:p>
          <a:endParaRPr lang="en-US"/>
        </a:p>
      </dgm:t>
    </dgm:pt>
    <dgm:pt modelId="{D6E6099E-567A-B14A-A8B5-C3414711F88A}" type="sibTrans" cxnId="{365C6F41-202A-4240-B523-7C28907B217B}">
      <dgm:prSet/>
      <dgm:spPr/>
      <dgm:t>
        <a:bodyPr/>
        <a:lstStyle/>
        <a:p>
          <a:endParaRPr lang="en-US"/>
        </a:p>
      </dgm:t>
    </dgm:pt>
    <dgm:pt modelId="{DE14A224-3D65-574D-99C9-01A82B9FF580}" type="pres">
      <dgm:prSet presAssocID="{7E35A4A4-B6A7-B049-B007-4558291E9DE0}" presName="diagram" presStyleCnt="0">
        <dgm:presLayoutVars>
          <dgm:dir/>
          <dgm:resizeHandles val="exact"/>
        </dgm:presLayoutVars>
      </dgm:prSet>
      <dgm:spPr/>
      <dgm:t>
        <a:bodyPr/>
        <a:lstStyle/>
        <a:p>
          <a:endParaRPr lang="en-US"/>
        </a:p>
      </dgm:t>
    </dgm:pt>
    <dgm:pt modelId="{4028CC31-1B14-9049-A7D7-E65031D08E0F}" type="pres">
      <dgm:prSet presAssocID="{7180435B-5149-224D-B0F2-3D1F5F02D58F}" presName="node" presStyleLbl="node1" presStyleIdx="0" presStyleCnt="3" custScaleX="123633" custScaleY="102218" custLinFactNeighborX="58" custLinFactNeighborY="1193">
        <dgm:presLayoutVars>
          <dgm:bulletEnabled val="1"/>
        </dgm:presLayoutVars>
      </dgm:prSet>
      <dgm:spPr/>
      <dgm:t>
        <a:bodyPr/>
        <a:lstStyle/>
        <a:p>
          <a:endParaRPr lang="en-US"/>
        </a:p>
      </dgm:t>
    </dgm:pt>
    <dgm:pt modelId="{789215A7-FA02-B24B-8186-52809C0376E9}" type="pres">
      <dgm:prSet presAssocID="{7174AA39-C0DF-0C4E-BEC7-862E0FAD5C8E}" presName="sibTrans" presStyleCnt="0"/>
      <dgm:spPr/>
    </dgm:pt>
    <dgm:pt modelId="{074F123A-5B09-A24D-9F49-D73992185EAF}" type="pres">
      <dgm:prSet presAssocID="{DFA9ECF7-E8B4-F647-B319-FCAF6D9F4DEB}" presName="node" presStyleLbl="node1" presStyleIdx="1" presStyleCnt="3" custScaleX="112860" custScaleY="123282" custLinFactNeighborX="4471" custLinFactNeighborY="10780">
        <dgm:presLayoutVars>
          <dgm:bulletEnabled val="1"/>
        </dgm:presLayoutVars>
      </dgm:prSet>
      <dgm:spPr/>
      <dgm:t>
        <a:bodyPr/>
        <a:lstStyle/>
        <a:p>
          <a:endParaRPr lang="en-US"/>
        </a:p>
      </dgm:t>
    </dgm:pt>
    <dgm:pt modelId="{95C75FE4-A703-6340-995E-6EB42ABFB3A2}" type="pres">
      <dgm:prSet presAssocID="{35E658EC-D3E5-F04B-8439-2C5857D775C3}" presName="sibTrans" presStyleCnt="0"/>
      <dgm:spPr/>
    </dgm:pt>
    <dgm:pt modelId="{50B4F61C-6FC3-8546-A4AC-CA0B55E21DD5}" type="pres">
      <dgm:prSet presAssocID="{5DC3A8FE-9536-394A-ADBF-6D9D54D5DB39}" presName="node" presStyleLbl="node1" presStyleIdx="2" presStyleCnt="3" custScaleX="138910">
        <dgm:presLayoutVars>
          <dgm:bulletEnabled val="1"/>
        </dgm:presLayoutVars>
      </dgm:prSet>
      <dgm:spPr/>
      <dgm:t>
        <a:bodyPr/>
        <a:lstStyle/>
        <a:p>
          <a:endParaRPr lang="en-US"/>
        </a:p>
      </dgm:t>
    </dgm:pt>
  </dgm:ptLst>
  <dgm:cxnLst>
    <dgm:cxn modelId="{44DA176A-3148-334C-8D92-60C9661D5488}" type="presOf" srcId="{7E35A4A4-B6A7-B049-B007-4558291E9DE0}" destId="{DE14A224-3D65-574D-99C9-01A82B9FF580}" srcOrd="0" destOrd="0" presId="urn:microsoft.com/office/officeart/2005/8/layout/default#3"/>
    <dgm:cxn modelId="{CDD0D099-2990-1742-9B51-43C26A2A5C3D}" srcId="{7180435B-5149-224D-B0F2-3D1F5F02D58F}" destId="{446811B6-C53D-904B-AA4F-EC83FEB6B522}" srcOrd="0" destOrd="0" parTransId="{E55258DB-7C1F-C749-8ACA-E07D6EF9F2F7}" sibTransId="{DC79E94F-371B-2443-90E8-4D94B1C70F59}"/>
    <dgm:cxn modelId="{D08F03C7-427B-BE47-8069-DC6A3251D033}" type="presOf" srcId="{9EA72A88-3DA2-984E-8711-854594BA23A1}" destId="{4028CC31-1B14-9049-A7D7-E65031D08E0F}" srcOrd="0" destOrd="2" presId="urn:microsoft.com/office/officeart/2005/8/layout/default#3"/>
    <dgm:cxn modelId="{EF57C64C-158D-1B47-AFF2-AB54ECBC2C07}" srcId="{7E35A4A4-B6A7-B049-B007-4558291E9DE0}" destId="{5DC3A8FE-9536-394A-ADBF-6D9D54D5DB39}" srcOrd="2" destOrd="0" parTransId="{30A58200-CDDD-F541-8C71-7DE4F7557CDE}" sibTransId="{1910F444-3897-FC41-A7E7-51215875EC68}"/>
    <dgm:cxn modelId="{AACFCD32-8CA4-3848-9053-54A3E407C2D9}" srcId="{7180435B-5149-224D-B0F2-3D1F5F02D58F}" destId="{B9A4684C-9197-8145-ADAC-DE3BCB1A59F7}" srcOrd="2" destOrd="0" parTransId="{80D97073-4B19-4041-9FB2-201EEF1D2152}" sibTransId="{83296E5B-9BCA-BD4C-90CF-FBB1024F50EC}"/>
    <dgm:cxn modelId="{6CA42BB0-686F-9446-B58C-8B84CF0261B2}" type="presOf" srcId="{CBEE651C-DA9A-9042-B2AD-C5C55EFE28CF}" destId="{50B4F61C-6FC3-8546-A4AC-CA0B55E21DD5}" srcOrd="0" destOrd="2" presId="urn:microsoft.com/office/officeart/2005/8/layout/default#3"/>
    <dgm:cxn modelId="{97687F45-907E-0341-8508-AFE922CB1122}" type="presOf" srcId="{27A08E96-2D19-704C-9B1D-2F2BBC6F4CB4}" destId="{074F123A-5B09-A24D-9F49-D73992185EAF}" srcOrd="0" destOrd="2" presId="urn:microsoft.com/office/officeart/2005/8/layout/default#3"/>
    <dgm:cxn modelId="{38B35DE7-71A7-294C-9C66-D676D694AA1A}" srcId="{7E35A4A4-B6A7-B049-B007-4558291E9DE0}" destId="{DFA9ECF7-E8B4-F647-B319-FCAF6D9F4DEB}" srcOrd="1" destOrd="0" parTransId="{8E2F2AA8-5429-704A-9FF7-F7626FDFAD59}" sibTransId="{35E658EC-D3E5-F04B-8439-2C5857D775C3}"/>
    <dgm:cxn modelId="{6FEE837C-E3BB-F145-90F2-09021D84A0BD}" srcId="{5DC3A8FE-9536-394A-ADBF-6D9D54D5DB39}" destId="{66D2251D-824F-E840-A3F7-380C8CBE6984}" srcOrd="2" destOrd="0" parTransId="{A3F5EAD9-4681-6448-9C39-83CC4F24F984}" sibTransId="{F035F9D9-1B18-4D41-84AC-CF6A9706A843}"/>
    <dgm:cxn modelId="{903A6C1E-754E-924B-BD7B-140B52549E92}" type="presOf" srcId="{2C1023AC-3C2A-E349-BD74-235AFB688DD9}" destId="{074F123A-5B09-A24D-9F49-D73992185EAF}" srcOrd="0" destOrd="4" presId="urn:microsoft.com/office/officeart/2005/8/layout/default#3"/>
    <dgm:cxn modelId="{24A5732A-6734-CD42-8F69-9E73D59487F0}" type="presOf" srcId="{B9A4684C-9197-8145-ADAC-DE3BCB1A59F7}" destId="{4028CC31-1B14-9049-A7D7-E65031D08E0F}" srcOrd="0" destOrd="3" presId="urn:microsoft.com/office/officeart/2005/8/layout/default#3"/>
    <dgm:cxn modelId="{10A1B5A0-C2E6-D147-BD0A-3E886D5ACE7A}" type="presOf" srcId="{6567AED0-2BCC-F24C-B03C-DD4521BAB3D5}" destId="{50B4F61C-6FC3-8546-A4AC-CA0B55E21DD5}" srcOrd="0" destOrd="4" presId="urn:microsoft.com/office/officeart/2005/8/layout/default#3"/>
    <dgm:cxn modelId="{A0A068D8-E768-DC43-8118-C6B188F23629}" srcId="{5DC3A8FE-9536-394A-ADBF-6D9D54D5DB39}" destId="{C82EE885-D50E-B444-8DBA-B28186EB021F}" srcOrd="0" destOrd="0" parTransId="{F1830A6B-1B4E-E848-8D05-DADF8604158D}" sibTransId="{362BDC1E-9490-4444-A231-F97F056EFD89}"/>
    <dgm:cxn modelId="{8B9CBEC1-2FB4-154C-8B2B-EC6E709706B1}" type="presOf" srcId="{66D2251D-824F-E840-A3F7-380C8CBE6984}" destId="{50B4F61C-6FC3-8546-A4AC-CA0B55E21DD5}" srcOrd="0" destOrd="3" presId="urn:microsoft.com/office/officeart/2005/8/layout/default#3"/>
    <dgm:cxn modelId="{9B4B9607-62B4-464E-9094-B4422DD1A02F}" type="presOf" srcId="{1E7E776E-B5D2-CA41-8188-C0942C0CDD36}" destId="{074F123A-5B09-A24D-9F49-D73992185EAF}" srcOrd="0" destOrd="3" presId="urn:microsoft.com/office/officeart/2005/8/layout/default#3"/>
    <dgm:cxn modelId="{D9903C88-90ED-924A-A95C-7B8A580F486B}" type="presOf" srcId="{7180435B-5149-224D-B0F2-3D1F5F02D58F}" destId="{4028CC31-1B14-9049-A7D7-E65031D08E0F}" srcOrd="0" destOrd="0" presId="urn:microsoft.com/office/officeart/2005/8/layout/default#3"/>
    <dgm:cxn modelId="{A08ADF4C-6825-D64B-B63A-4FF479E8A903}" srcId="{DFA9ECF7-E8B4-F647-B319-FCAF6D9F4DEB}" destId="{AA7E47BD-A8DD-BA43-9A45-B3365DAF56D2}" srcOrd="4" destOrd="0" parTransId="{EA2B8F3D-FD05-B547-9E6C-5CB276E3C4D6}" sibTransId="{801B0D31-548A-4544-8EA7-D97D68CDAB1B}"/>
    <dgm:cxn modelId="{3EB75885-5918-654F-8EA2-6129453CDA8F}" type="presOf" srcId="{DFA9ECF7-E8B4-F647-B319-FCAF6D9F4DEB}" destId="{074F123A-5B09-A24D-9F49-D73992185EAF}" srcOrd="0" destOrd="0" presId="urn:microsoft.com/office/officeart/2005/8/layout/default#3"/>
    <dgm:cxn modelId="{A9EF3635-B979-234C-804D-026EAD202D9B}" srcId="{DFA9ECF7-E8B4-F647-B319-FCAF6D9F4DEB}" destId="{2C1023AC-3C2A-E349-BD74-235AFB688DD9}" srcOrd="3" destOrd="0" parTransId="{C6DDE8CE-FE33-E64B-B7C3-D5D3F0D63C67}" sibTransId="{0A4A30F9-392C-E543-A70E-2C04D1D193AD}"/>
    <dgm:cxn modelId="{1D508A54-DE38-8543-B580-73C65892CB2F}" srcId="{7E35A4A4-B6A7-B049-B007-4558291E9DE0}" destId="{7180435B-5149-224D-B0F2-3D1F5F02D58F}" srcOrd="0" destOrd="0" parTransId="{1C353E28-42B4-A842-91D1-7A91625AFEA3}" sibTransId="{7174AA39-C0DF-0C4E-BEC7-862E0FAD5C8E}"/>
    <dgm:cxn modelId="{56A8855D-11B8-5549-B233-2C382869E0BF}" type="presOf" srcId="{AA7E47BD-A8DD-BA43-9A45-B3365DAF56D2}" destId="{074F123A-5B09-A24D-9F49-D73992185EAF}" srcOrd="0" destOrd="5" presId="urn:microsoft.com/office/officeart/2005/8/layout/default#3"/>
    <dgm:cxn modelId="{1ABFCCDF-AEA6-C346-9B6D-D11B2FEC752C}" type="presOf" srcId="{5DC3A8FE-9536-394A-ADBF-6D9D54D5DB39}" destId="{50B4F61C-6FC3-8546-A4AC-CA0B55E21DD5}" srcOrd="0" destOrd="0" presId="urn:microsoft.com/office/officeart/2005/8/layout/default#3"/>
    <dgm:cxn modelId="{AEF1D43F-0914-E742-9678-0B16DDD60773}" srcId="{DFA9ECF7-E8B4-F647-B319-FCAF6D9F4DEB}" destId="{1E7E776E-B5D2-CA41-8188-C0942C0CDD36}" srcOrd="2" destOrd="0" parTransId="{4D3EEDAE-B988-E748-8586-67218EC81470}" sibTransId="{F992F1BE-CF09-944B-A58D-55E1B0FE6519}"/>
    <dgm:cxn modelId="{C93FABB2-E73C-F545-A6E3-967A38BBAEB4}" type="presOf" srcId="{E213D9C2-7CE6-5D43-BE5F-C18545927001}" destId="{074F123A-5B09-A24D-9F49-D73992185EAF}" srcOrd="0" destOrd="1" presId="urn:microsoft.com/office/officeart/2005/8/layout/default#3"/>
    <dgm:cxn modelId="{93862869-C67F-2C49-9742-645A2570ECAF}" srcId="{7180435B-5149-224D-B0F2-3D1F5F02D58F}" destId="{9EA72A88-3DA2-984E-8711-854594BA23A1}" srcOrd="1" destOrd="0" parTransId="{BFFC3653-E16B-AF49-84BE-6039D2EC253E}" sibTransId="{4A483C58-FC8C-D541-8562-9F28C969DE2C}"/>
    <dgm:cxn modelId="{0D9D4219-48CC-BF40-8C9E-332E4A0F56A9}" srcId="{DFA9ECF7-E8B4-F647-B319-FCAF6D9F4DEB}" destId="{27A08E96-2D19-704C-9B1D-2F2BBC6F4CB4}" srcOrd="1" destOrd="0" parTransId="{01425A03-1AE3-3041-8F97-B61C0EF40191}" sibTransId="{5AF54C87-2909-B543-94E3-E05B5D5B5445}"/>
    <dgm:cxn modelId="{64F68952-8815-234F-A9A0-A3560C8B281F}" type="presOf" srcId="{446811B6-C53D-904B-AA4F-EC83FEB6B522}" destId="{4028CC31-1B14-9049-A7D7-E65031D08E0F}" srcOrd="0" destOrd="1" presId="urn:microsoft.com/office/officeart/2005/8/layout/default#3"/>
    <dgm:cxn modelId="{D84D0026-1907-F64C-84FE-2F7ECD8A1622}" srcId="{DFA9ECF7-E8B4-F647-B319-FCAF6D9F4DEB}" destId="{E213D9C2-7CE6-5D43-BE5F-C18545927001}" srcOrd="0" destOrd="0" parTransId="{9557A83B-B6FC-5043-955D-D88DF0D266BE}" sibTransId="{FB433600-D786-FE49-BE67-292BE32D3A68}"/>
    <dgm:cxn modelId="{365C6F41-202A-4240-B523-7C28907B217B}" srcId="{5DC3A8FE-9536-394A-ADBF-6D9D54D5DB39}" destId="{6567AED0-2BCC-F24C-B03C-DD4521BAB3D5}" srcOrd="3" destOrd="0" parTransId="{7E2DFA7F-C785-874F-A463-1B053B548FA7}" sibTransId="{D6E6099E-567A-B14A-A8B5-C3414711F88A}"/>
    <dgm:cxn modelId="{EDD3451B-2EEF-6043-98EE-68CD34139F35}" type="presOf" srcId="{C82EE885-D50E-B444-8DBA-B28186EB021F}" destId="{50B4F61C-6FC3-8546-A4AC-CA0B55E21DD5}" srcOrd="0" destOrd="1" presId="urn:microsoft.com/office/officeart/2005/8/layout/default#3"/>
    <dgm:cxn modelId="{451221C8-7F5B-D143-B415-D18EC08AEE03}" srcId="{5DC3A8FE-9536-394A-ADBF-6D9D54D5DB39}" destId="{CBEE651C-DA9A-9042-B2AD-C5C55EFE28CF}" srcOrd="1" destOrd="0" parTransId="{38CDF19E-84B8-6548-9F3B-78C41BF0958B}" sibTransId="{9F924B21-3DE3-424E-85A6-F37A5EF71317}"/>
    <dgm:cxn modelId="{D00BF892-BF46-824B-AE5B-9E87A00E53B6}" type="presParOf" srcId="{DE14A224-3D65-574D-99C9-01A82B9FF580}" destId="{4028CC31-1B14-9049-A7D7-E65031D08E0F}" srcOrd="0" destOrd="0" presId="urn:microsoft.com/office/officeart/2005/8/layout/default#3"/>
    <dgm:cxn modelId="{6F7C0932-1087-0045-A843-6743EB0A9BD7}" type="presParOf" srcId="{DE14A224-3D65-574D-99C9-01A82B9FF580}" destId="{789215A7-FA02-B24B-8186-52809C0376E9}" srcOrd="1" destOrd="0" presId="urn:microsoft.com/office/officeart/2005/8/layout/default#3"/>
    <dgm:cxn modelId="{9876FE5A-8D1E-9045-A9B3-626FD3487948}" type="presParOf" srcId="{DE14A224-3D65-574D-99C9-01A82B9FF580}" destId="{074F123A-5B09-A24D-9F49-D73992185EAF}" srcOrd="2" destOrd="0" presId="urn:microsoft.com/office/officeart/2005/8/layout/default#3"/>
    <dgm:cxn modelId="{615402EC-60E9-E344-92A7-4F82DDD471C1}" type="presParOf" srcId="{DE14A224-3D65-574D-99C9-01A82B9FF580}" destId="{95C75FE4-A703-6340-995E-6EB42ABFB3A2}" srcOrd="3" destOrd="0" presId="urn:microsoft.com/office/officeart/2005/8/layout/default#3"/>
    <dgm:cxn modelId="{67CE58E8-CD67-C843-AF46-E3FBBB2E9449}" type="presParOf" srcId="{DE14A224-3D65-574D-99C9-01A82B9FF580}" destId="{50B4F61C-6FC3-8546-A4AC-CA0B55E21DD5}" srcOrd="4" destOrd="0" presId="urn:microsoft.com/office/officeart/2005/8/layout/defaul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E35A4A4-B6A7-B049-B007-4558291E9DE0}" type="doc">
      <dgm:prSet loTypeId="urn:microsoft.com/office/officeart/2005/8/layout/default#3" loCatId="list" qsTypeId="urn:microsoft.com/office/officeart/2005/8/quickstyle/simple4" qsCatId="simple" csTypeId="urn:microsoft.com/office/officeart/2005/8/colors/accent1_2" csCatId="accent1" phldr="1"/>
      <dgm:spPr/>
      <dgm:t>
        <a:bodyPr/>
        <a:lstStyle/>
        <a:p>
          <a:endParaRPr lang="en-US"/>
        </a:p>
      </dgm:t>
    </dgm:pt>
    <dgm:pt modelId="{7180435B-5149-224D-B0F2-3D1F5F02D58F}">
      <dgm:prSet phldrT="[Text]"/>
      <dgm:spPr/>
      <dgm:t>
        <a:bodyPr/>
        <a:lstStyle/>
        <a:p>
          <a:r>
            <a:rPr lang="en-US" b="1" dirty="0">
              <a:effectLst/>
              <a:latin typeface="+mn-lt"/>
              <a:ea typeface="ＭＳ Ｐゴシック" pitchFamily="-65" charset="-128"/>
            </a:rPr>
            <a:t>Chernobyl</a:t>
          </a:r>
          <a:r>
            <a:rPr lang="en-US" b="1" dirty="0">
              <a:effectLst/>
              <a:ea typeface="ＭＳ Ｐゴシック" pitchFamily="-65" charset="-128"/>
            </a:rPr>
            <a:t> virus</a:t>
          </a:r>
          <a:endParaRPr lang="en-US" b="1" dirty="0">
            <a:effectLst/>
          </a:endParaRPr>
        </a:p>
      </dgm:t>
    </dgm:pt>
    <dgm:pt modelId="{1C353E28-42B4-A842-91D1-7A91625AFEA3}" type="parTrans" cxnId="{1D508A54-DE38-8543-B580-73C65892CB2F}">
      <dgm:prSet/>
      <dgm:spPr/>
      <dgm:t>
        <a:bodyPr/>
        <a:lstStyle/>
        <a:p>
          <a:endParaRPr lang="en-US"/>
        </a:p>
      </dgm:t>
    </dgm:pt>
    <dgm:pt modelId="{7174AA39-C0DF-0C4E-BEC7-862E0FAD5C8E}" type="sibTrans" cxnId="{1D508A54-DE38-8543-B580-73C65892CB2F}">
      <dgm:prSet/>
      <dgm:spPr/>
      <dgm:t>
        <a:bodyPr/>
        <a:lstStyle/>
        <a:p>
          <a:endParaRPr lang="en-US"/>
        </a:p>
      </dgm:t>
    </dgm:pt>
    <dgm:pt modelId="{DFA9ECF7-E8B4-F647-B319-FCAF6D9F4DEB}">
      <dgm:prSet phldrT="[Text]"/>
      <dgm:spPr/>
      <dgm:t>
        <a:bodyPr/>
        <a:lstStyle/>
        <a:p>
          <a:r>
            <a:rPr lang="en-US" b="1" dirty="0" err="1">
              <a:effectLst/>
              <a:ea typeface="ＭＳ Ｐゴシック" pitchFamily="-65" charset="-128"/>
            </a:rPr>
            <a:t>Klez</a:t>
          </a:r>
          <a:r>
            <a:rPr lang="en-US" b="1" dirty="0">
              <a:effectLst/>
              <a:ea typeface="ＭＳ Ｐゴシック" pitchFamily="-65" charset="-128"/>
            </a:rPr>
            <a:t> </a:t>
          </a:r>
        </a:p>
      </dgm:t>
    </dgm:pt>
    <dgm:pt modelId="{8E2F2AA8-5429-704A-9FF7-F7626FDFAD59}" type="parTrans" cxnId="{38B35DE7-71A7-294C-9C66-D676D694AA1A}">
      <dgm:prSet/>
      <dgm:spPr/>
      <dgm:t>
        <a:bodyPr/>
        <a:lstStyle/>
        <a:p>
          <a:endParaRPr lang="en-US"/>
        </a:p>
      </dgm:t>
    </dgm:pt>
    <dgm:pt modelId="{35E658EC-D3E5-F04B-8439-2C5857D775C3}" type="sibTrans" cxnId="{38B35DE7-71A7-294C-9C66-D676D694AA1A}">
      <dgm:prSet/>
      <dgm:spPr/>
      <dgm:t>
        <a:bodyPr/>
        <a:lstStyle/>
        <a:p>
          <a:endParaRPr lang="en-US"/>
        </a:p>
      </dgm:t>
    </dgm:pt>
    <dgm:pt modelId="{5DC3A8FE-9536-394A-ADBF-6D9D54D5DB39}">
      <dgm:prSet phldrT="[Text]"/>
      <dgm:spPr/>
      <dgm:t>
        <a:bodyPr/>
        <a:lstStyle/>
        <a:p>
          <a:r>
            <a:rPr lang="en-US" b="1" dirty="0" err="1">
              <a:effectLst/>
              <a:ea typeface="ＭＳ Ｐゴシック" pitchFamily="-65" charset="-128"/>
            </a:rPr>
            <a:t>Ransomware</a:t>
          </a:r>
          <a:endParaRPr lang="en-US" b="1" dirty="0">
            <a:effectLst/>
            <a:ea typeface="ＭＳ Ｐゴシック" pitchFamily="-65" charset="-128"/>
          </a:endParaRPr>
        </a:p>
      </dgm:t>
    </dgm:pt>
    <dgm:pt modelId="{30A58200-CDDD-F541-8C71-7DE4F7557CDE}" type="parTrans" cxnId="{EF57C64C-158D-1B47-AFF2-AB54ECBC2C07}">
      <dgm:prSet/>
      <dgm:spPr/>
      <dgm:t>
        <a:bodyPr/>
        <a:lstStyle/>
        <a:p>
          <a:endParaRPr lang="en-US"/>
        </a:p>
      </dgm:t>
    </dgm:pt>
    <dgm:pt modelId="{1910F444-3897-FC41-A7E7-51215875EC68}" type="sibTrans" cxnId="{EF57C64C-158D-1B47-AFF2-AB54ECBC2C07}">
      <dgm:prSet/>
      <dgm:spPr/>
      <dgm:t>
        <a:bodyPr/>
        <a:lstStyle/>
        <a:p>
          <a:endParaRPr lang="en-US"/>
        </a:p>
      </dgm:t>
    </dgm:pt>
    <dgm:pt modelId="{446811B6-C53D-904B-AA4F-EC83FEB6B522}">
      <dgm:prSet/>
      <dgm:spPr/>
      <dgm:t>
        <a:bodyPr/>
        <a:lstStyle/>
        <a:p>
          <a:r>
            <a:rPr lang="en-US" b="1" dirty="0">
              <a:effectLst/>
              <a:ea typeface="ＭＳ Ｐゴシック" pitchFamily="-65" charset="-128"/>
            </a:rPr>
            <a:t>First seen in 1998 </a:t>
          </a:r>
        </a:p>
      </dgm:t>
    </dgm:pt>
    <dgm:pt modelId="{E55258DB-7C1F-C749-8ACA-E07D6EF9F2F7}" type="parTrans" cxnId="{CDD0D099-2990-1742-9B51-43C26A2A5C3D}">
      <dgm:prSet/>
      <dgm:spPr/>
      <dgm:t>
        <a:bodyPr/>
        <a:lstStyle/>
        <a:p>
          <a:endParaRPr lang="en-US"/>
        </a:p>
      </dgm:t>
    </dgm:pt>
    <dgm:pt modelId="{DC79E94F-371B-2443-90E8-4D94B1C70F59}" type="sibTrans" cxnId="{CDD0D099-2990-1742-9B51-43C26A2A5C3D}">
      <dgm:prSet/>
      <dgm:spPr/>
      <dgm:t>
        <a:bodyPr/>
        <a:lstStyle/>
        <a:p>
          <a:endParaRPr lang="en-US"/>
        </a:p>
      </dgm:t>
    </dgm:pt>
    <dgm:pt modelId="{B9A4684C-9197-8145-ADAC-DE3BCB1A59F7}">
      <dgm:prSet/>
      <dgm:spPr/>
      <dgm:t>
        <a:bodyPr/>
        <a:lstStyle/>
        <a:p>
          <a:r>
            <a:rPr lang="en-US" b="1" dirty="0">
              <a:effectLst/>
              <a:ea typeface="ＭＳ Ｐゴシック" pitchFamily="-65" charset="-128"/>
            </a:rPr>
            <a:t>Infects executable files when they are opened and when a trigger date is reached, the virus deletes data on the infected system by overwriting the first megabyte of the hard drive with zeroes, resulting in massive corruption of the entire file system</a:t>
          </a:r>
        </a:p>
      </dgm:t>
    </dgm:pt>
    <dgm:pt modelId="{80D97073-4B19-4041-9FB2-201EEF1D2152}" type="parTrans" cxnId="{AACFCD32-8CA4-3848-9053-54A3E407C2D9}">
      <dgm:prSet/>
      <dgm:spPr/>
      <dgm:t>
        <a:bodyPr/>
        <a:lstStyle/>
        <a:p>
          <a:endParaRPr lang="en-US"/>
        </a:p>
      </dgm:t>
    </dgm:pt>
    <dgm:pt modelId="{83296E5B-9BCA-BD4C-90CF-FBB1024F50EC}" type="sibTrans" cxnId="{AACFCD32-8CA4-3848-9053-54A3E407C2D9}">
      <dgm:prSet/>
      <dgm:spPr/>
      <dgm:t>
        <a:bodyPr/>
        <a:lstStyle/>
        <a:p>
          <a:endParaRPr lang="en-US"/>
        </a:p>
      </dgm:t>
    </dgm:pt>
    <dgm:pt modelId="{E213D9C2-7CE6-5D43-BE5F-C18545927001}">
      <dgm:prSet/>
      <dgm:spPr/>
      <dgm:t>
        <a:bodyPr/>
        <a:lstStyle/>
        <a:p>
          <a:r>
            <a:rPr lang="en-US" b="1" dirty="0">
              <a:effectLst/>
              <a:ea typeface="ＭＳ Ｐゴシック" pitchFamily="-65" charset="-128"/>
            </a:rPr>
            <a:t>Mass mailing worm infecting                                  Windows 95 to XP systems</a:t>
          </a:r>
        </a:p>
      </dgm:t>
    </dgm:pt>
    <dgm:pt modelId="{9557A83B-B6FC-5043-955D-D88DF0D266BE}" type="parTrans" cxnId="{D84D0026-1907-F64C-84FE-2F7ECD8A1622}">
      <dgm:prSet/>
      <dgm:spPr/>
      <dgm:t>
        <a:bodyPr/>
        <a:lstStyle/>
        <a:p>
          <a:endParaRPr lang="en-US"/>
        </a:p>
      </dgm:t>
    </dgm:pt>
    <dgm:pt modelId="{FB433600-D786-FE49-BE67-292BE32D3A68}" type="sibTrans" cxnId="{D84D0026-1907-F64C-84FE-2F7ECD8A1622}">
      <dgm:prSet/>
      <dgm:spPr/>
      <dgm:t>
        <a:bodyPr/>
        <a:lstStyle/>
        <a:p>
          <a:endParaRPr lang="en-US"/>
        </a:p>
      </dgm:t>
    </dgm:pt>
    <dgm:pt modelId="{AA7E47BD-A8DD-BA43-9A45-B3365DAF56D2}">
      <dgm:prSet/>
      <dgm:spPr/>
      <dgm:t>
        <a:bodyPr/>
        <a:lstStyle/>
        <a:p>
          <a:r>
            <a:rPr lang="en-US" b="1" dirty="0">
              <a:effectLst/>
              <a:ea typeface="ＭＳ Ｐゴシック" pitchFamily="-65" charset="-128"/>
            </a:rPr>
            <a:t>On trigger date causes files on the hard drive to become empty</a:t>
          </a:r>
        </a:p>
      </dgm:t>
    </dgm:pt>
    <dgm:pt modelId="{EA2B8F3D-FD05-B547-9E6C-5CB276E3C4D6}" type="parTrans" cxnId="{A08ADF4C-6825-D64B-B63A-4FF479E8A903}">
      <dgm:prSet/>
      <dgm:spPr/>
      <dgm:t>
        <a:bodyPr/>
        <a:lstStyle/>
        <a:p>
          <a:endParaRPr lang="en-US"/>
        </a:p>
      </dgm:t>
    </dgm:pt>
    <dgm:pt modelId="{801B0D31-548A-4544-8EA7-D97D68CDAB1B}" type="sibTrans" cxnId="{A08ADF4C-6825-D64B-B63A-4FF479E8A903}">
      <dgm:prSet/>
      <dgm:spPr/>
      <dgm:t>
        <a:bodyPr/>
        <a:lstStyle/>
        <a:p>
          <a:endParaRPr lang="en-US"/>
        </a:p>
      </dgm:t>
    </dgm:pt>
    <dgm:pt modelId="{C82EE885-D50E-B444-8DBA-B28186EB021F}">
      <dgm:prSet/>
      <dgm:spPr/>
      <dgm:t>
        <a:bodyPr/>
        <a:lstStyle/>
        <a:p>
          <a:r>
            <a:rPr lang="en-US" b="1" dirty="0">
              <a:effectLst/>
              <a:ea typeface="ＭＳ Ｐゴシック" pitchFamily="-65" charset="-128"/>
            </a:rPr>
            <a:t>Encrypts the user’s data and demands payment in order to access the key needed to recover the information</a:t>
          </a:r>
        </a:p>
      </dgm:t>
    </dgm:pt>
    <dgm:pt modelId="{F1830A6B-1B4E-E848-8D05-DADF8604158D}" type="parTrans" cxnId="{A0A068D8-E768-DC43-8118-C6B188F23629}">
      <dgm:prSet/>
      <dgm:spPr/>
      <dgm:t>
        <a:bodyPr/>
        <a:lstStyle/>
        <a:p>
          <a:endParaRPr lang="en-US"/>
        </a:p>
      </dgm:t>
    </dgm:pt>
    <dgm:pt modelId="{362BDC1E-9490-4444-A231-F97F056EFD89}" type="sibTrans" cxnId="{A0A068D8-E768-DC43-8118-C6B188F23629}">
      <dgm:prSet/>
      <dgm:spPr/>
      <dgm:t>
        <a:bodyPr/>
        <a:lstStyle/>
        <a:p>
          <a:endParaRPr lang="en-US"/>
        </a:p>
      </dgm:t>
    </dgm:pt>
    <dgm:pt modelId="{CBEE651C-DA9A-9042-B2AD-C5C55EFE28CF}">
      <dgm:prSet/>
      <dgm:spPr/>
      <dgm:t>
        <a:bodyPr/>
        <a:lstStyle/>
        <a:p>
          <a:r>
            <a:rPr lang="en-US" b="1" dirty="0">
              <a:effectLst/>
              <a:ea typeface="ＭＳ Ｐゴシック" pitchFamily="-65" charset="-128"/>
            </a:rPr>
            <a:t>PC Cyborg Trojan (1989)</a:t>
          </a:r>
        </a:p>
      </dgm:t>
    </dgm:pt>
    <dgm:pt modelId="{38CDF19E-84B8-6548-9F3B-78C41BF0958B}" type="parTrans" cxnId="{451221C8-7F5B-D143-B415-D18EC08AEE03}">
      <dgm:prSet/>
      <dgm:spPr/>
      <dgm:t>
        <a:bodyPr/>
        <a:lstStyle/>
        <a:p>
          <a:endParaRPr lang="en-US"/>
        </a:p>
      </dgm:t>
    </dgm:pt>
    <dgm:pt modelId="{9F924B21-3DE3-424E-85A6-F37A5EF71317}" type="sibTrans" cxnId="{451221C8-7F5B-D143-B415-D18EC08AEE03}">
      <dgm:prSet/>
      <dgm:spPr/>
      <dgm:t>
        <a:bodyPr/>
        <a:lstStyle/>
        <a:p>
          <a:endParaRPr lang="en-US"/>
        </a:p>
      </dgm:t>
    </dgm:pt>
    <dgm:pt modelId="{66D2251D-824F-E840-A3F7-380C8CBE6984}">
      <dgm:prSet/>
      <dgm:spPr/>
      <dgm:t>
        <a:bodyPr/>
        <a:lstStyle/>
        <a:p>
          <a:r>
            <a:rPr lang="en-US" b="1" dirty="0">
              <a:effectLst/>
              <a:ea typeface="ＭＳ Ｐゴシック" pitchFamily="-65" charset="-128"/>
            </a:rPr>
            <a:t>Mid-2006 a number of worms and Trojans appeared that used public-key cryptography with </a:t>
          </a:r>
          <a:r>
            <a:rPr lang="en-US" b="1" dirty="0" err="1">
              <a:effectLst/>
              <a:ea typeface="ＭＳ Ｐゴシック" pitchFamily="-65" charset="-128"/>
            </a:rPr>
            <a:t>incresasingly</a:t>
          </a:r>
          <a:r>
            <a:rPr lang="en-US" b="1" dirty="0">
              <a:effectLst/>
              <a:ea typeface="ＭＳ Ｐゴシック" pitchFamily="-65" charset="-128"/>
            </a:rPr>
            <a:t> larger key sizes to encrypt data</a:t>
          </a:r>
        </a:p>
      </dgm:t>
    </dgm:pt>
    <dgm:pt modelId="{A3F5EAD9-4681-6448-9C39-83CC4F24F984}" type="parTrans" cxnId="{6FEE837C-E3BB-F145-90F2-09021D84A0BD}">
      <dgm:prSet/>
      <dgm:spPr/>
      <dgm:t>
        <a:bodyPr/>
        <a:lstStyle/>
        <a:p>
          <a:endParaRPr lang="en-US"/>
        </a:p>
      </dgm:t>
    </dgm:pt>
    <dgm:pt modelId="{F035F9D9-1B18-4D41-84AC-CF6A9706A843}" type="sibTrans" cxnId="{6FEE837C-E3BB-F145-90F2-09021D84A0BD}">
      <dgm:prSet/>
      <dgm:spPr/>
      <dgm:t>
        <a:bodyPr/>
        <a:lstStyle/>
        <a:p>
          <a:endParaRPr lang="en-US"/>
        </a:p>
      </dgm:t>
    </dgm:pt>
    <dgm:pt modelId="{9EA72A88-3DA2-984E-8711-854594BA23A1}">
      <dgm:prSet/>
      <dgm:spPr/>
      <dgm:t>
        <a:bodyPr/>
        <a:lstStyle/>
        <a:p>
          <a:r>
            <a:rPr lang="en-US" b="1" dirty="0">
              <a:effectLst/>
              <a:ea typeface="ＭＳ Ｐゴシック" pitchFamily="-65" charset="-128"/>
            </a:rPr>
            <a:t>Example of a destructive parasitic memory-resident Windows 95 and 98 virus</a:t>
          </a:r>
        </a:p>
      </dgm:t>
    </dgm:pt>
    <dgm:pt modelId="{BFFC3653-E16B-AF49-84BE-6039D2EC253E}" type="parTrans" cxnId="{93862869-C67F-2C49-9742-645A2570ECAF}">
      <dgm:prSet/>
      <dgm:spPr/>
      <dgm:t>
        <a:bodyPr/>
        <a:lstStyle/>
        <a:p>
          <a:endParaRPr lang="en-US"/>
        </a:p>
      </dgm:t>
    </dgm:pt>
    <dgm:pt modelId="{4A483C58-FC8C-D541-8562-9F28C969DE2C}" type="sibTrans" cxnId="{93862869-C67F-2C49-9742-645A2570ECAF}">
      <dgm:prSet/>
      <dgm:spPr/>
      <dgm:t>
        <a:bodyPr/>
        <a:lstStyle/>
        <a:p>
          <a:endParaRPr lang="en-US"/>
        </a:p>
      </dgm:t>
    </dgm:pt>
    <dgm:pt modelId="{27A08E96-2D19-704C-9B1D-2F2BBC6F4CB4}">
      <dgm:prSet/>
      <dgm:spPr/>
      <dgm:t>
        <a:bodyPr/>
        <a:lstStyle/>
        <a:p>
          <a:r>
            <a:rPr lang="en-US" b="1" dirty="0">
              <a:effectLst/>
              <a:ea typeface="ＭＳ Ｐゴシック" pitchFamily="-65" charset="-128"/>
            </a:rPr>
            <a:t>First seen in October 2001</a:t>
          </a:r>
        </a:p>
      </dgm:t>
    </dgm:pt>
    <dgm:pt modelId="{01425A03-1AE3-3041-8F97-B61C0EF40191}" type="parTrans" cxnId="{0D9D4219-48CC-BF40-8C9E-332E4A0F56A9}">
      <dgm:prSet/>
      <dgm:spPr/>
      <dgm:t>
        <a:bodyPr/>
        <a:lstStyle/>
        <a:p>
          <a:endParaRPr lang="en-US"/>
        </a:p>
      </dgm:t>
    </dgm:pt>
    <dgm:pt modelId="{5AF54C87-2909-B543-94E3-E05B5D5B5445}" type="sibTrans" cxnId="{0D9D4219-48CC-BF40-8C9E-332E4A0F56A9}">
      <dgm:prSet/>
      <dgm:spPr/>
      <dgm:t>
        <a:bodyPr/>
        <a:lstStyle/>
        <a:p>
          <a:endParaRPr lang="en-US"/>
        </a:p>
      </dgm:t>
    </dgm:pt>
    <dgm:pt modelId="{1E7E776E-B5D2-CA41-8188-C0942C0CDD36}">
      <dgm:prSet/>
      <dgm:spPr/>
      <dgm:t>
        <a:bodyPr/>
        <a:lstStyle/>
        <a:p>
          <a:r>
            <a:rPr lang="en-US" b="1" dirty="0">
              <a:effectLst/>
              <a:ea typeface="ＭＳ Ｐゴシック" pitchFamily="-65" charset="-128"/>
            </a:rPr>
            <a:t>Spreads by e-mailing copies of itself to addresses found in the address book and in files on the system</a:t>
          </a:r>
        </a:p>
      </dgm:t>
    </dgm:pt>
    <dgm:pt modelId="{4D3EEDAE-B988-E748-8586-67218EC81470}" type="parTrans" cxnId="{AEF1D43F-0914-E742-9678-0B16DDD60773}">
      <dgm:prSet/>
      <dgm:spPr/>
      <dgm:t>
        <a:bodyPr/>
        <a:lstStyle/>
        <a:p>
          <a:endParaRPr lang="en-US"/>
        </a:p>
      </dgm:t>
    </dgm:pt>
    <dgm:pt modelId="{F992F1BE-CF09-944B-A58D-55E1B0FE6519}" type="sibTrans" cxnId="{AEF1D43F-0914-E742-9678-0B16DDD60773}">
      <dgm:prSet/>
      <dgm:spPr/>
      <dgm:t>
        <a:bodyPr/>
        <a:lstStyle/>
        <a:p>
          <a:endParaRPr lang="en-US"/>
        </a:p>
      </dgm:t>
    </dgm:pt>
    <dgm:pt modelId="{2C1023AC-3C2A-E349-BD74-235AFB688DD9}">
      <dgm:prSet/>
      <dgm:spPr/>
      <dgm:t>
        <a:bodyPr/>
        <a:lstStyle/>
        <a:p>
          <a:r>
            <a:rPr lang="en-US" b="1" dirty="0">
              <a:effectLst/>
              <a:ea typeface="ＭＳ Ｐゴシック" pitchFamily="-65" charset="-128"/>
            </a:rPr>
            <a:t>It can stop and delete some anti-virus programs running on the system</a:t>
          </a:r>
        </a:p>
      </dgm:t>
    </dgm:pt>
    <dgm:pt modelId="{C6DDE8CE-FE33-E64B-B7C3-D5D3F0D63C67}" type="parTrans" cxnId="{A9EF3635-B979-234C-804D-026EAD202D9B}">
      <dgm:prSet/>
      <dgm:spPr/>
      <dgm:t>
        <a:bodyPr/>
        <a:lstStyle/>
        <a:p>
          <a:endParaRPr lang="en-US"/>
        </a:p>
      </dgm:t>
    </dgm:pt>
    <dgm:pt modelId="{0A4A30F9-392C-E543-A70E-2C04D1D193AD}" type="sibTrans" cxnId="{A9EF3635-B979-234C-804D-026EAD202D9B}">
      <dgm:prSet/>
      <dgm:spPr/>
      <dgm:t>
        <a:bodyPr/>
        <a:lstStyle/>
        <a:p>
          <a:endParaRPr lang="en-US"/>
        </a:p>
      </dgm:t>
    </dgm:pt>
    <dgm:pt modelId="{6567AED0-2BCC-F24C-B03C-DD4521BAB3D5}">
      <dgm:prSet/>
      <dgm:spPr/>
      <dgm:t>
        <a:bodyPr/>
        <a:lstStyle/>
        <a:p>
          <a:r>
            <a:rPr lang="en-US" b="1" dirty="0">
              <a:effectLst/>
              <a:ea typeface="ＭＳ Ｐゴシック" pitchFamily="-65" charset="-128"/>
            </a:rPr>
            <a:t>The user needed to pay a ransom, or to make a purchase from certain sites, in order to receive the key to decrypt this data</a:t>
          </a:r>
        </a:p>
      </dgm:t>
    </dgm:pt>
    <dgm:pt modelId="{7E2DFA7F-C785-874F-A463-1B053B548FA7}" type="parTrans" cxnId="{365C6F41-202A-4240-B523-7C28907B217B}">
      <dgm:prSet/>
      <dgm:spPr/>
      <dgm:t>
        <a:bodyPr/>
        <a:lstStyle/>
        <a:p>
          <a:endParaRPr lang="en-US"/>
        </a:p>
      </dgm:t>
    </dgm:pt>
    <dgm:pt modelId="{D6E6099E-567A-B14A-A8B5-C3414711F88A}" type="sibTrans" cxnId="{365C6F41-202A-4240-B523-7C28907B217B}">
      <dgm:prSet/>
      <dgm:spPr/>
      <dgm:t>
        <a:bodyPr/>
        <a:lstStyle/>
        <a:p>
          <a:endParaRPr lang="en-US"/>
        </a:p>
      </dgm:t>
    </dgm:pt>
    <dgm:pt modelId="{DE14A224-3D65-574D-99C9-01A82B9FF580}" type="pres">
      <dgm:prSet presAssocID="{7E35A4A4-B6A7-B049-B007-4558291E9DE0}" presName="diagram" presStyleCnt="0">
        <dgm:presLayoutVars>
          <dgm:dir/>
          <dgm:resizeHandles val="exact"/>
        </dgm:presLayoutVars>
      </dgm:prSet>
      <dgm:spPr/>
      <dgm:t>
        <a:bodyPr/>
        <a:lstStyle/>
        <a:p>
          <a:endParaRPr lang="en-US"/>
        </a:p>
      </dgm:t>
    </dgm:pt>
    <dgm:pt modelId="{4028CC31-1B14-9049-A7D7-E65031D08E0F}" type="pres">
      <dgm:prSet presAssocID="{7180435B-5149-224D-B0F2-3D1F5F02D58F}" presName="node" presStyleLbl="node1" presStyleIdx="0" presStyleCnt="3" custScaleX="123633" custScaleY="102218" custLinFactNeighborX="58" custLinFactNeighborY="1193">
        <dgm:presLayoutVars>
          <dgm:bulletEnabled val="1"/>
        </dgm:presLayoutVars>
      </dgm:prSet>
      <dgm:spPr/>
      <dgm:t>
        <a:bodyPr/>
        <a:lstStyle/>
        <a:p>
          <a:endParaRPr lang="en-US"/>
        </a:p>
      </dgm:t>
    </dgm:pt>
    <dgm:pt modelId="{789215A7-FA02-B24B-8186-52809C0376E9}" type="pres">
      <dgm:prSet presAssocID="{7174AA39-C0DF-0C4E-BEC7-862E0FAD5C8E}" presName="sibTrans" presStyleCnt="0"/>
      <dgm:spPr/>
    </dgm:pt>
    <dgm:pt modelId="{074F123A-5B09-A24D-9F49-D73992185EAF}" type="pres">
      <dgm:prSet presAssocID="{DFA9ECF7-E8B4-F647-B319-FCAF6D9F4DEB}" presName="node" presStyleLbl="node1" presStyleIdx="1" presStyleCnt="3" custScaleX="112860" custScaleY="123282" custLinFactNeighborX="4471" custLinFactNeighborY="10780">
        <dgm:presLayoutVars>
          <dgm:bulletEnabled val="1"/>
        </dgm:presLayoutVars>
      </dgm:prSet>
      <dgm:spPr/>
      <dgm:t>
        <a:bodyPr/>
        <a:lstStyle/>
        <a:p>
          <a:endParaRPr lang="en-US"/>
        </a:p>
      </dgm:t>
    </dgm:pt>
    <dgm:pt modelId="{95C75FE4-A703-6340-995E-6EB42ABFB3A2}" type="pres">
      <dgm:prSet presAssocID="{35E658EC-D3E5-F04B-8439-2C5857D775C3}" presName="sibTrans" presStyleCnt="0"/>
      <dgm:spPr/>
    </dgm:pt>
    <dgm:pt modelId="{50B4F61C-6FC3-8546-A4AC-CA0B55E21DD5}" type="pres">
      <dgm:prSet presAssocID="{5DC3A8FE-9536-394A-ADBF-6D9D54D5DB39}" presName="node" presStyleLbl="node1" presStyleIdx="2" presStyleCnt="3" custScaleX="138910">
        <dgm:presLayoutVars>
          <dgm:bulletEnabled val="1"/>
        </dgm:presLayoutVars>
      </dgm:prSet>
      <dgm:spPr/>
      <dgm:t>
        <a:bodyPr/>
        <a:lstStyle/>
        <a:p>
          <a:endParaRPr lang="en-US"/>
        </a:p>
      </dgm:t>
    </dgm:pt>
  </dgm:ptLst>
  <dgm:cxnLst>
    <dgm:cxn modelId="{44DA176A-3148-334C-8D92-60C9661D5488}" type="presOf" srcId="{7E35A4A4-B6A7-B049-B007-4558291E9DE0}" destId="{DE14A224-3D65-574D-99C9-01A82B9FF580}" srcOrd="0" destOrd="0" presId="urn:microsoft.com/office/officeart/2005/8/layout/default#3"/>
    <dgm:cxn modelId="{CDD0D099-2990-1742-9B51-43C26A2A5C3D}" srcId="{7180435B-5149-224D-B0F2-3D1F5F02D58F}" destId="{446811B6-C53D-904B-AA4F-EC83FEB6B522}" srcOrd="0" destOrd="0" parTransId="{E55258DB-7C1F-C749-8ACA-E07D6EF9F2F7}" sibTransId="{DC79E94F-371B-2443-90E8-4D94B1C70F59}"/>
    <dgm:cxn modelId="{D08F03C7-427B-BE47-8069-DC6A3251D033}" type="presOf" srcId="{9EA72A88-3DA2-984E-8711-854594BA23A1}" destId="{4028CC31-1B14-9049-A7D7-E65031D08E0F}" srcOrd="0" destOrd="2" presId="urn:microsoft.com/office/officeart/2005/8/layout/default#3"/>
    <dgm:cxn modelId="{EF57C64C-158D-1B47-AFF2-AB54ECBC2C07}" srcId="{7E35A4A4-B6A7-B049-B007-4558291E9DE0}" destId="{5DC3A8FE-9536-394A-ADBF-6D9D54D5DB39}" srcOrd="2" destOrd="0" parTransId="{30A58200-CDDD-F541-8C71-7DE4F7557CDE}" sibTransId="{1910F444-3897-FC41-A7E7-51215875EC68}"/>
    <dgm:cxn modelId="{AACFCD32-8CA4-3848-9053-54A3E407C2D9}" srcId="{7180435B-5149-224D-B0F2-3D1F5F02D58F}" destId="{B9A4684C-9197-8145-ADAC-DE3BCB1A59F7}" srcOrd="2" destOrd="0" parTransId="{80D97073-4B19-4041-9FB2-201EEF1D2152}" sibTransId="{83296E5B-9BCA-BD4C-90CF-FBB1024F50EC}"/>
    <dgm:cxn modelId="{6CA42BB0-686F-9446-B58C-8B84CF0261B2}" type="presOf" srcId="{CBEE651C-DA9A-9042-B2AD-C5C55EFE28CF}" destId="{50B4F61C-6FC3-8546-A4AC-CA0B55E21DD5}" srcOrd="0" destOrd="2" presId="urn:microsoft.com/office/officeart/2005/8/layout/default#3"/>
    <dgm:cxn modelId="{97687F45-907E-0341-8508-AFE922CB1122}" type="presOf" srcId="{27A08E96-2D19-704C-9B1D-2F2BBC6F4CB4}" destId="{074F123A-5B09-A24D-9F49-D73992185EAF}" srcOrd="0" destOrd="2" presId="urn:microsoft.com/office/officeart/2005/8/layout/default#3"/>
    <dgm:cxn modelId="{38B35DE7-71A7-294C-9C66-D676D694AA1A}" srcId="{7E35A4A4-B6A7-B049-B007-4558291E9DE0}" destId="{DFA9ECF7-E8B4-F647-B319-FCAF6D9F4DEB}" srcOrd="1" destOrd="0" parTransId="{8E2F2AA8-5429-704A-9FF7-F7626FDFAD59}" sibTransId="{35E658EC-D3E5-F04B-8439-2C5857D775C3}"/>
    <dgm:cxn modelId="{6FEE837C-E3BB-F145-90F2-09021D84A0BD}" srcId="{5DC3A8FE-9536-394A-ADBF-6D9D54D5DB39}" destId="{66D2251D-824F-E840-A3F7-380C8CBE6984}" srcOrd="2" destOrd="0" parTransId="{A3F5EAD9-4681-6448-9C39-83CC4F24F984}" sibTransId="{F035F9D9-1B18-4D41-84AC-CF6A9706A843}"/>
    <dgm:cxn modelId="{903A6C1E-754E-924B-BD7B-140B52549E92}" type="presOf" srcId="{2C1023AC-3C2A-E349-BD74-235AFB688DD9}" destId="{074F123A-5B09-A24D-9F49-D73992185EAF}" srcOrd="0" destOrd="4" presId="urn:microsoft.com/office/officeart/2005/8/layout/default#3"/>
    <dgm:cxn modelId="{24A5732A-6734-CD42-8F69-9E73D59487F0}" type="presOf" srcId="{B9A4684C-9197-8145-ADAC-DE3BCB1A59F7}" destId="{4028CC31-1B14-9049-A7D7-E65031D08E0F}" srcOrd="0" destOrd="3" presId="urn:microsoft.com/office/officeart/2005/8/layout/default#3"/>
    <dgm:cxn modelId="{10A1B5A0-C2E6-D147-BD0A-3E886D5ACE7A}" type="presOf" srcId="{6567AED0-2BCC-F24C-B03C-DD4521BAB3D5}" destId="{50B4F61C-6FC3-8546-A4AC-CA0B55E21DD5}" srcOrd="0" destOrd="4" presId="urn:microsoft.com/office/officeart/2005/8/layout/default#3"/>
    <dgm:cxn modelId="{A0A068D8-E768-DC43-8118-C6B188F23629}" srcId="{5DC3A8FE-9536-394A-ADBF-6D9D54D5DB39}" destId="{C82EE885-D50E-B444-8DBA-B28186EB021F}" srcOrd="0" destOrd="0" parTransId="{F1830A6B-1B4E-E848-8D05-DADF8604158D}" sibTransId="{362BDC1E-9490-4444-A231-F97F056EFD89}"/>
    <dgm:cxn modelId="{8B9CBEC1-2FB4-154C-8B2B-EC6E709706B1}" type="presOf" srcId="{66D2251D-824F-E840-A3F7-380C8CBE6984}" destId="{50B4F61C-6FC3-8546-A4AC-CA0B55E21DD5}" srcOrd="0" destOrd="3" presId="urn:microsoft.com/office/officeart/2005/8/layout/default#3"/>
    <dgm:cxn modelId="{9B4B9607-62B4-464E-9094-B4422DD1A02F}" type="presOf" srcId="{1E7E776E-B5D2-CA41-8188-C0942C0CDD36}" destId="{074F123A-5B09-A24D-9F49-D73992185EAF}" srcOrd="0" destOrd="3" presId="urn:microsoft.com/office/officeart/2005/8/layout/default#3"/>
    <dgm:cxn modelId="{D9903C88-90ED-924A-A95C-7B8A580F486B}" type="presOf" srcId="{7180435B-5149-224D-B0F2-3D1F5F02D58F}" destId="{4028CC31-1B14-9049-A7D7-E65031D08E0F}" srcOrd="0" destOrd="0" presId="urn:microsoft.com/office/officeart/2005/8/layout/default#3"/>
    <dgm:cxn modelId="{A08ADF4C-6825-D64B-B63A-4FF479E8A903}" srcId="{DFA9ECF7-E8B4-F647-B319-FCAF6D9F4DEB}" destId="{AA7E47BD-A8DD-BA43-9A45-B3365DAF56D2}" srcOrd="4" destOrd="0" parTransId="{EA2B8F3D-FD05-B547-9E6C-5CB276E3C4D6}" sibTransId="{801B0D31-548A-4544-8EA7-D97D68CDAB1B}"/>
    <dgm:cxn modelId="{3EB75885-5918-654F-8EA2-6129453CDA8F}" type="presOf" srcId="{DFA9ECF7-E8B4-F647-B319-FCAF6D9F4DEB}" destId="{074F123A-5B09-A24D-9F49-D73992185EAF}" srcOrd="0" destOrd="0" presId="urn:microsoft.com/office/officeart/2005/8/layout/default#3"/>
    <dgm:cxn modelId="{A9EF3635-B979-234C-804D-026EAD202D9B}" srcId="{DFA9ECF7-E8B4-F647-B319-FCAF6D9F4DEB}" destId="{2C1023AC-3C2A-E349-BD74-235AFB688DD9}" srcOrd="3" destOrd="0" parTransId="{C6DDE8CE-FE33-E64B-B7C3-D5D3F0D63C67}" sibTransId="{0A4A30F9-392C-E543-A70E-2C04D1D193AD}"/>
    <dgm:cxn modelId="{1D508A54-DE38-8543-B580-73C65892CB2F}" srcId="{7E35A4A4-B6A7-B049-B007-4558291E9DE0}" destId="{7180435B-5149-224D-B0F2-3D1F5F02D58F}" srcOrd="0" destOrd="0" parTransId="{1C353E28-42B4-A842-91D1-7A91625AFEA3}" sibTransId="{7174AA39-C0DF-0C4E-BEC7-862E0FAD5C8E}"/>
    <dgm:cxn modelId="{56A8855D-11B8-5549-B233-2C382869E0BF}" type="presOf" srcId="{AA7E47BD-A8DD-BA43-9A45-B3365DAF56D2}" destId="{074F123A-5B09-A24D-9F49-D73992185EAF}" srcOrd="0" destOrd="5" presId="urn:microsoft.com/office/officeart/2005/8/layout/default#3"/>
    <dgm:cxn modelId="{1ABFCCDF-AEA6-C346-9B6D-D11B2FEC752C}" type="presOf" srcId="{5DC3A8FE-9536-394A-ADBF-6D9D54D5DB39}" destId="{50B4F61C-6FC3-8546-A4AC-CA0B55E21DD5}" srcOrd="0" destOrd="0" presId="urn:microsoft.com/office/officeart/2005/8/layout/default#3"/>
    <dgm:cxn modelId="{AEF1D43F-0914-E742-9678-0B16DDD60773}" srcId="{DFA9ECF7-E8B4-F647-B319-FCAF6D9F4DEB}" destId="{1E7E776E-B5D2-CA41-8188-C0942C0CDD36}" srcOrd="2" destOrd="0" parTransId="{4D3EEDAE-B988-E748-8586-67218EC81470}" sibTransId="{F992F1BE-CF09-944B-A58D-55E1B0FE6519}"/>
    <dgm:cxn modelId="{C93FABB2-E73C-F545-A6E3-967A38BBAEB4}" type="presOf" srcId="{E213D9C2-7CE6-5D43-BE5F-C18545927001}" destId="{074F123A-5B09-A24D-9F49-D73992185EAF}" srcOrd="0" destOrd="1" presId="urn:microsoft.com/office/officeart/2005/8/layout/default#3"/>
    <dgm:cxn modelId="{93862869-C67F-2C49-9742-645A2570ECAF}" srcId="{7180435B-5149-224D-B0F2-3D1F5F02D58F}" destId="{9EA72A88-3DA2-984E-8711-854594BA23A1}" srcOrd="1" destOrd="0" parTransId="{BFFC3653-E16B-AF49-84BE-6039D2EC253E}" sibTransId="{4A483C58-FC8C-D541-8562-9F28C969DE2C}"/>
    <dgm:cxn modelId="{0D9D4219-48CC-BF40-8C9E-332E4A0F56A9}" srcId="{DFA9ECF7-E8B4-F647-B319-FCAF6D9F4DEB}" destId="{27A08E96-2D19-704C-9B1D-2F2BBC6F4CB4}" srcOrd="1" destOrd="0" parTransId="{01425A03-1AE3-3041-8F97-B61C0EF40191}" sibTransId="{5AF54C87-2909-B543-94E3-E05B5D5B5445}"/>
    <dgm:cxn modelId="{64F68952-8815-234F-A9A0-A3560C8B281F}" type="presOf" srcId="{446811B6-C53D-904B-AA4F-EC83FEB6B522}" destId="{4028CC31-1B14-9049-A7D7-E65031D08E0F}" srcOrd="0" destOrd="1" presId="urn:microsoft.com/office/officeart/2005/8/layout/default#3"/>
    <dgm:cxn modelId="{D84D0026-1907-F64C-84FE-2F7ECD8A1622}" srcId="{DFA9ECF7-E8B4-F647-B319-FCAF6D9F4DEB}" destId="{E213D9C2-7CE6-5D43-BE5F-C18545927001}" srcOrd="0" destOrd="0" parTransId="{9557A83B-B6FC-5043-955D-D88DF0D266BE}" sibTransId="{FB433600-D786-FE49-BE67-292BE32D3A68}"/>
    <dgm:cxn modelId="{365C6F41-202A-4240-B523-7C28907B217B}" srcId="{5DC3A8FE-9536-394A-ADBF-6D9D54D5DB39}" destId="{6567AED0-2BCC-F24C-B03C-DD4521BAB3D5}" srcOrd="3" destOrd="0" parTransId="{7E2DFA7F-C785-874F-A463-1B053B548FA7}" sibTransId="{D6E6099E-567A-B14A-A8B5-C3414711F88A}"/>
    <dgm:cxn modelId="{EDD3451B-2EEF-6043-98EE-68CD34139F35}" type="presOf" srcId="{C82EE885-D50E-B444-8DBA-B28186EB021F}" destId="{50B4F61C-6FC3-8546-A4AC-CA0B55E21DD5}" srcOrd="0" destOrd="1" presId="urn:microsoft.com/office/officeart/2005/8/layout/default#3"/>
    <dgm:cxn modelId="{451221C8-7F5B-D143-B415-D18EC08AEE03}" srcId="{5DC3A8FE-9536-394A-ADBF-6D9D54D5DB39}" destId="{CBEE651C-DA9A-9042-B2AD-C5C55EFE28CF}" srcOrd="1" destOrd="0" parTransId="{38CDF19E-84B8-6548-9F3B-78C41BF0958B}" sibTransId="{9F924B21-3DE3-424E-85A6-F37A5EF71317}"/>
    <dgm:cxn modelId="{D00BF892-BF46-824B-AE5B-9E87A00E53B6}" type="presParOf" srcId="{DE14A224-3D65-574D-99C9-01A82B9FF580}" destId="{4028CC31-1B14-9049-A7D7-E65031D08E0F}" srcOrd="0" destOrd="0" presId="urn:microsoft.com/office/officeart/2005/8/layout/default#3"/>
    <dgm:cxn modelId="{6F7C0932-1087-0045-A843-6743EB0A9BD7}" type="presParOf" srcId="{DE14A224-3D65-574D-99C9-01A82B9FF580}" destId="{789215A7-FA02-B24B-8186-52809C0376E9}" srcOrd="1" destOrd="0" presId="urn:microsoft.com/office/officeart/2005/8/layout/default#3"/>
    <dgm:cxn modelId="{9876FE5A-8D1E-9045-A9B3-626FD3487948}" type="presParOf" srcId="{DE14A224-3D65-574D-99C9-01A82B9FF580}" destId="{074F123A-5B09-A24D-9F49-D73992185EAF}" srcOrd="2" destOrd="0" presId="urn:microsoft.com/office/officeart/2005/8/layout/default#3"/>
    <dgm:cxn modelId="{615402EC-60E9-E344-92A7-4F82DDD471C1}" type="presParOf" srcId="{DE14A224-3D65-574D-99C9-01A82B9FF580}" destId="{95C75FE4-A703-6340-995E-6EB42ABFB3A2}" srcOrd="3" destOrd="0" presId="urn:microsoft.com/office/officeart/2005/8/layout/default#3"/>
    <dgm:cxn modelId="{67CE58E8-CD67-C843-AF46-E3FBBB2E9449}" type="presParOf" srcId="{DE14A224-3D65-574D-99C9-01A82B9FF580}" destId="{50B4F61C-6FC3-8546-A4AC-CA0B55E21DD5}" srcOrd="4" destOrd="0" presId="urn:microsoft.com/office/officeart/2005/8/layout/defaul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4CD5FDD-3E23-D14D-867E-A660F7B4AF9D}"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B94F0689-7322-8A4F-B311-1131BDF95662}">
      <dgm:prSet/>
      <dgm:spPr>
        <a:solidFill>
          <a:schemeClr val="accent5"/>
        </a:solidFill>
      </dgm:spPr>
      <dgm:t>
        <a:bodyPr/>
        <a:lstStyle/>
        <a:p>
          <a:pPr algn="ctr" rtl="0"/>
          <a:r>
            <a:rPr lang="en-US" b="1" dirty="0" err="1">
              <a:solidFill>
                <a:schemeClr val="bg1"/>
              </a:solidFill>
            </a:rPr>
            <a:t>Keylogger</a:t>
          </a:r>
          <a:endParaRPr lang="en-US" dirty="0">
            <a:solidFill>
              <a:schemeClr val="bg1"/>
            </a:solidFill>
          </a:endParaRPr>
        </a:p>
      </dgm:t>
    </dgm:pt>
    <dgm:pt modelId="{8FF18536-BA39-4347-A1C2-43E9A140035D}" type="parTrans" cxnId="{55F5ABAD-E016-8C46-9673-A4AB4C71EBEC}">
      <dgm:prSet/>
      <dgm:spPr/>
      <dgm:t>
        <a:bodyPr/>
        <a:lstStyle/>
        <a:p>
          <a:endParaRPr lang="en-US"/>
        </a:p>
      </dgm:t>
    </dgm:pt>
    <dgm:pt modelId="{6BCE686B-D11E-194D-8484-D843F4E56EFE}" type="sibTrans" cxnId="{55F5ABAD-E016-8C46-9673-A4AB4C71EBEC}">
      <dgm:prSet/>
      <dgm:spPr/>
      <dgm:t>
        <a:bodyPr/>
        <a:lstStyle/>
        <a:p>
          <a:endParaRPr lang="en-US"/>
        </a:p>
      </dgm:t>
    </dgm:pt>
    <dgm:pt modelId="{7B947D24-2725-6E4B-B697-3855ABC42F0A}">
      <dgm:prSet/>
      <dgm:spPr/>
      <dgm:t>
        <a:bodyPr/>
        <a:lstStyle/>
        <a:p>
          <a:pPr rtl="0"/>
          <a:r>
            <a:rPr lang="en-US" b="0" dirty="0">
              <a:latin typeface="+mn-lt"/>
            </a:rPr>
            <a:t>Captures keystrokes to allow attacker to monitor sensitive information</a:t>
          </a:r>
        </a:p>
      </dgm:t>
    </dgm:pt>
    <dgm:pt modelId="{017FF03C-1900-6C41-8661-1DBC726BBCB8}" type="parTrans" cxnId="{A1C1D605-E172-F34F-B55D-F0D23D516089}">
      <dgm:prSet/>
      <dgm:spPr/>
      <dgm:t>
        <a:bodyPr/>
        <a:lstStyle/>
        <a:p>
          <a:endParaRPr lang="en-US"/>
        </a:p>
      </dgm:t>
    </dgm:pt>
    <dgm:pt modelId="{75ABAF23-CCE7-F549-B029-6A3433A82024}" type="sibTrans" cxnId="{A1C1D605-E172-F34F-B55D-F0D23D516089}">
      <dgm:prSet/>
      <dgm:spPr/>
      <dgm:t>
        <a:bodyPr/>
        <a:lstStyle/>
        <a:p>
          <a:endParaRPr lang="en-US"/>
        </a:p>
      </dgm:t>
    </dgm:pt>
    <dgm:pt modelId="{6F40F308-E3E5-1942-A4AD-41ABD146AEC9}">
      <dgm:prSet/>
      <dgm:spPr/>
      <dgm:t>
        <a:bodyPr/>
        <a:lstStyle/>
        <a:p>
          <a:pPr rtl="0"/>
          <a:r>
            <a:rPr lang="en-US" b="0" dirty="0">
              <a:latin typeface="+mn-lt"/>
            </a:rPr>
            <a:t>Typically uses some form of filtering mechanism that only returns information close to keywords (“login”, “password”)</a:t>
          </a:r>
        </a:p>
      </dgm:t>
    </dgm:pt>
    <dgm:pt modelId="{5F8623D1-C869-1743-8F96-A61316B7F2A9}" type="parTrans" cxnId="{7B0CE60A-134A-4540-8A63-7CB445448D39}">
      <dgm:prSet/>
      <dgm:spPr/>
      <dgm:t>
        <a:bodyPr/>
        <a:lstStyle/>
        <a:p>
          <a:endParaRPr lang="en-US"/>
        </a:p>
      </dgm:t>
    </dgm:pt>
    <dgm:pt modelId="{4989028D-19DD-B540-8DEC-C6AFDB32A41F}" type="sibTrans" cxnId="{7B0CE60A-134A-4540-8A63-7CB445448D39}">
      <dgm:prSet/>
      <dgm:spPr/>
      <dgm:t>
        <a:bodyPr/>
        <a:lstStyle/>
        <a:p>
          <a:endParaRPr lang="en-US"/>
        </a:p>
      </dgm:t>
    </dgm:pt>
    <dgm:pt modelId="{0B2449B9-842E-B448-A67B-515097385F15}">
      <dgm:prSet/>
      <dgm:spPr>
        <a:solidFill>
          <a:schemeClr val="accent3">
            <a:lumMod val="75000"/>
          </a:schemeClr>
        </a:solidFill>
      </dgm:spPr>
      <dgm:t>
        <a:bodyPr/>
        <a:lstStyle/>
        <a:p>
          <a:pPr algn="ctr" rtl="0"/>
          <a:r>
            <a:rPr lang="en-US" b="1" dirty="0">
              <a:solidFill>
                <a:schemeClr val="bg1"/>
              </a:solidFill>
            </a:rPr>
            <a:t>Spyware</a:t>
          </a:r>
          <a:endParaRPr lang="en-US" dirty="0">
            <a:solidFill>
              <a:schemeClr val="bg1"/>
            </a:solidFill>
          </a:endParaRPr>
        </a:p>
      </dgm:t>
    </dgm:pt>
    <dgm:pt modelId="{142732F0-78F2-B645-8810-BDA197ADC979}" type="parTrans" cxnId="{B2432071-DEC3-EF49-A2EE-83EC764D776A}">
      <dgm:prSet/>
      <dgm:spPr/>
      <dgm:t>
        <a:bodyPr/>
        <a:lstStyle/>
        <a:p>
          <a:endParaRPr lang="en-US"/>
        </a:p>
      </dgm:t>
    </dgm:pt>
    <dgm:pt modelId="{79E8A411-5538-4A45-87E1-2958ADC5B184}" type="sibTrans" cxnId="{B2432071-DEC3-EF49-A2EE-83EC764D776A}">
      <dgm:prSet/>
      <dgm:spPr/>
      <dgm:t>
        <a:bodyPr/>
        <a:lstStyle/>
        <a:p>
          <a:endParaRPr lang="en-US"/>
        </a:p>
      </dgm:t>
    </dgm:pt>
    <dgm:pt modelId="{06C297C7-4C0B-9046-AAB5-53B50F53620B}">
      <dgm:prSet/>
      <dgm:spPr/>
      <dgm:t>
        <a:bodyPr/>
        <a:lstStyle/>
        <a:p>
          <a:pPr rtl="0"/>
          <a:r>
            <a:rPr lang="en-US" sz="1900" b="0" dirty="0">
              <a:latin typeface="+mn-lt"/>
            </a:rPr>
            <a:t>Subverts the compromised machine to allow monitoring of a wide range of activity on the system</a:t>
          </a:r>
        </a:p>
      </dgm:t>
    </dgm:pt>
    <dgm:pt modelId="{324FACB8-D098-4A43-9568-FD0BE653D941}" type="parTrans" cxnId="{28E5FBB8-80FC-034E-BC75-CDE8C19838DB}">
      <dgm:prSet/>
      <dgm:spPr/>
      <dgm:t>
        <a:bodyPr/>
        <a:lstStyle/>
        <a:p>
          <a:endParaRPr lang="en-US"/>
        </a:p>
      </dgm:t>
    </dgm:pt>
    <dgm:pt modelId="{A96D1B4B-D8A9-4F4B-A487-83D5B4808E76}" type="sibTrans" cxnId="{28E5FBB8-80FC-034E-BC75-CDE8C19838DB}">
      <dgm:prSet/>
      <dgm:spPr/>
      <dgm:t>
        <a:bodyPr/>
        <a:lstStyle/>
        <a:p>
          <a:endParaRPr lang="en-US"/>
        </a:p>
      </dgm:t>
    </dgm:pt>
    <dgm:pt modelId="{E0D1BE0A-BA57-AE41-B45E-E6DFD0823B88}">
      <dgm:prSet custT="1"/>
      <dgm:spPr/>
      <dgm:t>
        <a:bodyPr/>
        <a:lstStyle/>
        <a:p>
          <a:pPr rtl="0"/>
          <a:r>
            <a:rPr lang="en-US" sz="1800" b="0" dirty="0">
              <a:latin typeface="+mn-lt"/>
            </a:rPr>
            <a:t>Monitoring history and content of browsing activity</a:t>
          </a:r>
        </a:p>
      </dgm:t>
    </dgm:pt>
    <dgm:pt modelId="{93128017-3521-724E-864C-82D26A77565E}" type="parTrans" cxnId="{5840BDF8-D25A-D047-8029-5A28BFB04415}">
      <dgm:prSet/>
      <dgm:spPr/>
      <dgm:t>
        <a:bodyPr/>
        <a:lstStyle/>
        <a:p>
          <a:endParaRPr lang="en-US"/>
        </a:p>
      </dgm:t>
    </dgm:pt>
    <dgm:pt modelId="{D8EC4CF6-D8B6-CD4E-86A1-38623CC37EA2}" type="sibTrans" cxnId="{5840BDF8-D25A-D047-8029-5A28BFB04415}">
      <dgm:prSet/>
      <dgm:spPr/>
      <dgm:t>
        <a:bodyPr/>
        <a:lstStyle/>
        <a:p>
          <a:endParaRPr lang="en-US"/>
        </a:p>
      </dgm:t>
    </dgm:pt>
    <dgm:pt modelId="{FDE605C1-02A6-514E-A99F-A53EC8CC25BF}">
      <dgm:prSet custT="1"/>
      <dgm:spPr/>
      <dgm:t>
        <a:bodyPr/>
        <a:lstStyle/>
        <a:p>
          <a:pPr rtl="0"/>
          <a:r>
            <a:rPr lang="en-US" sz="1800" b="0" dirty="0">
              <a:latin typeface="+mn-lt"/>
            </a:rPr>
            <a:t>Redirecting certain Web page requests to fake sites</a:t>
          </a:r>
        </a:p>
      </dgm:t>
    </dgm:pt>
    <dgm:pt modelId="{C4C2C0B7-93B7-E34C-A1AE-2E26AE4C9047}" type="parTrans" cxnId="{9917BF2F-7A7B-484C-9D30-77FB8539A03C}">
      <dgm:prSet/>
      <dgm:spPr/>
      <dgm:t>
        <a:bodyPr/>
        <a:lstStyle/>
        <a:p>
          <a:endParaRPr lang="en-US"/>
        </a:p>
      </dgm:t>
    </dgm:pt>
    <dgm:pt modelId="{35DC5F0C-7646-4342-93EB-1CAC5E2EF766}" type="sibTrans" cxnId="{9917BF2F-7A7B-484C-9D30-77FB8539A03C}">
      <dgm:prSet/>
      <dgm:spPr/>
      <dgm:t>
        <a:bodyPr/>
        <a:lstStyle/>
        <a:p>
          <a:endParaRPr lang="en-US"/>
        </a:p>
      </dgm:t>
    </dgm:pt>
    <dgm:pt modelId="{FCFB8E09-2A7D-114B-A7B0-44C686154FFC}">
      <dgm:prSet custT="1"/>
      <dgm:spPr/>
      <dgm:t>
        <a:bodyPr/>
        <a:lstStyle/>
        <a:p>
          <a:pPr rtl="0"/>
          <a:r>
            <a:rPr lang="en-US" sz="1800" b="0" dirty="0">
              <a:latin typeface="+mn-lt"/>
            </a:rPr>
            <a:t>Dynamically modifying data exchanged between the browser and certain Web sites of interest</a:t>
          </a:r>
        </a:p>
      </dgm:t>
    </dgm:pt>
    <dgm:pt modelId="{45FD0452-7681-FD4C-8298-76FCA5582124}" type="parTrans" cxnId="{FD0B63A7-C4AC-6A4D-8C7B-6CA9384DDCBD}">
      <dgm:prSet/>
      <dgm:spPr/>
      <dgm:t>
        <a:bodyPr/>
        <a:lstStyle/>
        <a:p>
          <a:endParaRPr lang="en-US"/>
        </a:p>
      </dgm:t>
    </dgm:pt>
    <dgm:pt modelId="{79AC107C-F345-3843-8F8E-C195B63B8DA2}" type="sibTrans" cxnId="{FD0B63A7-C4AC-6A4D-8C7B-6CA9384DDCBD}">
      <dgm:prSet/>
      <dgm:spPr/>
      <dgm:t>
        <a:bodyPr/>
        <a:lstStyle/>
        <a:p>
          <a:endParaRPr lang="en-US"/>
        </a:p>
      </dgm:t>
    </dgm:pt>
    <dgm:pt modelId="{58583719-3BE6-C040-A8E4-E7004102C6A2}" type="pres">
      <dgm:prSet presAssocID="{84CD5FDD-3E23-D14D-867E-A660F7B4AF9D}" presName="linear" presStyleCnt="0">
        <dgm:presLayoutVars>
          <dgm:animLvl val="lvl"/>
          <dgm:resizeHandles val="exact"/>
        </dgm:presLayoutVars>
      </dgm:prSet>
      <dgm:spPr/>
      <dgm:t>
        <a:bodyPr/>
        <a:lstStyle/>
        <a:p>
          <a:endParaRPr lang="en-US"/>
        </a:p>
      </dgm:t>
    </dgm:pt>
    <dgm:pt modelId="{6ED16D23-CB7C-7146-804D-02F7F2F0993C}" type="pres">
      <dgm:prSet presAssocID="{B94F0689-7322-8A4F-B311-1131BDF95662}" presName="parentText" presStyleLbl="node1" presStyleIdx="0" presStyleCnt="2" custScaleX="20834" custLinFactNeighborX="-35590" custLinFactNeighborY="-325">
        <dgm:presLayoutVars>
          <dgm:chMax val="0"/>
          <dgm:bulletEnabled val="1"/>
        </dgm:presLayoutVars>
      </dgm:prSet>
      <dgm:spPr/>
      <dgm:t>
        <a:bodyPr/>
        <a:lstStyle/>
        <a:p>
          <a:endParaRPr lang="en-US"/>
        </a:p>
      </dgm:t>
    </dgm:pt>
    <dgm:pt modelId="{6EC0B32E-D560-6E48-80D9-7FDA089E9536}" type="pres">
      <dgm:prSet presAssocID="{B94F0689-7322-8A4F-B311-1131BDF95662}" presName="childText" presStyleLbl="revTx" presStyleIdx="0" presStyleCnt="2" custLinFactNeighborY="11927">
        <dgm:presLayoutVars>
          <dgm:bulletEnabled val="1"/>
        </dgm:presLayoutVars>
      </dgm:prSet>
      <dgm:spPr/>
      <dgm:t>
        <a:bodyPr/>
        <a:lstStyle/>
        <a:p>
          <a:endParaRPr lang="en-US"/>
        </a:p>
      </dgm:t>
    </dgm:pt>
    <dgm:pt modelId="{442D52DF-67B0-7044-9065-75ABFAA2374F}" type="pres">
      <dgm:prSet presAssocID="{0B2449B9-842E-B448-A67B-515097385F15}" presName="parentText" presStyleLbl="node1" presStyleIdx="1" presStyleCnt="2" custScaleX="24306" custLinFactNeighborX="-33346" custLinFactNeighborY="-7246">
        <dgm:presLayoutVars>
          <dgm:chMax val="0"/>
          <dgm:bulletEnabled val="1"/>
        </dgm:presLayoutVars>
      </dgm:prSet>
      <dgm:spPr/>
      <dgm:t>
        <a:bodyPr/>
        <a:lstStyle/>
        <a:p>
          <a:endParaRPr lang="en-US"/>
        </a:p>
      </dgm:t>
    </dgm:pt>
    <dgm:pt modelId="{3B3E35FC-5EFA-7D41-B5C5-12A734B7553B}" type="pres">
      <dgm:prSet presAssocID="{0B2449B9-842E-B448-A67B-515097385F15}" presName="childText" presStyleLbl="revTx" presStyleIdx="1" presStyleCnt="2">
        <dgm:presLayoutVars>
          <dgm:bulletEnabled val="1"/>
        </dgm:presLayoutVars>
      </dgm:prSet>
      <dgm:spPr/>
      <dgm:t>
        <a:bodyPr/>
        <a:lstStyle/>
        <a:p>
          <a:endParaRPr lang="en-US"/>
        </a:p>
      </dgm:t>
    </dgm:pt>
  </dgm:ptLst>
  <dgm:cxnLst>
    <dgm:cxn modelId="{BB0A6C7C-CA23-2346-BAAE-65ED1FA719B7}" type="presOf" srcId="{FCFB8E09-2A7D-114B-A7B0-44C686154FFC}" destId="{3B3E35FC-5EFA-7D41-B5C5-12A734B7553B}" srcOrd="0" destOrd="3" presId="urn:microsoft.com/office/officeart/2005/8/layout/vList2"/>
    <dgm:cxn modelId="{55F5ABAD-E016-8C46-9673-A4AB4C71EBEC}" srcId="{84CD5FDD-3E23-D14D-867E-A660F7B4AF9D}" destId="{B94F0689-7322-8A4F-B311-1131BDF95662}" srcOrd="0" destOrd="0" parTransId="{8FF18536-BA39-4347-A1C2-43E9A140035D}" sibTransId="{6BCE686B-D11E-194D-8484-D843F4E56EFE}"/>
    <dgm:cxn modelId="{A1C1D605-E172-F34F-B55D-F0D23D516089}" srcId="{B94F0689-7322-8A4F-B311-1131BDF95662}" destId="{7B947D24-2725-6E4B-B697-3855ABC42F0A}" srcOrd="0" destOrd="0" parTransId="{017FF03C-1900-6C41-8661-1DBC726BBCB8}" sibTransId="{75ABAF23-CCE7-F549-B029-6A3433A82024}"/>
    <dgm:cxn modelId="{59888995-3D0D-0B4A-B578-CE5C640192A0}" type="presOf" srcId="{0B2449B9-842E-B448-A67B-515097385F15}" destId="{442D52DF-67B0-7044-9065-75ABFAA2374F}" srcOrd="0" destOrd="0" presId="urn:microsoft.com/office/officeart/2005/8/layout/vList2"/>
    <dgm:cxn modelId="{FD0B63A7-C4AC-6A4D-8C7B-6CA9384DDCBD}" srcId="{06C297C7-4C0B-9046-AAB5-53B50F53620B}" destId="{FCFB8E09-2A7D-114B-A7B0-44C686154FFC}" srcOrd="2" destOrd="0" parTransId="{45FD0452-7681-FD4C-8298-76FCA5582124}" sibTransId="{79AC107C-F345-3843-8F8E-C195B63B8DA2}"/>
    <dgm:cxn modelId="{B2432071-DEC3-EF49-A2EE-83EC764D776A}" srcId="{84CD5FDD-3E23-D14D-867E-A660F7B4AF9D}" destId="{0B2449B9-842E-B448-A67B-515097385F15}" srcOrd="1" destOrd="0" parTransId="{142732F0-78F2-B645-8810-BDA197ADC979}" sibTransId="{79E8A411-5538-4A45-87E1-2958ADC5B184}"/>
    <dgm:cxn modelId="{77C4D3B0-AB9D-5248-BC91-0838E90CEF98}" type="presOf" srcId="{7B947D24-2725-6E4B-B697-3855ABC42F0A}" destId="{6EC0B32E-D560-6E48-80D9-7FDA089E9536}" srcOrd="0" destOrd="0" presId="urn:microsoft.com/office/officeart/2005/8/layout/vList2"/>
    <dgm:cxn modelId="{28E5FBB8-80FC-034E-BC75-CDE8C19838DB}" srcId="{0B2449B9-842E-B448-A67B-515097385F15}" destId="{06C297C7-4C0B-9046-AAB5-53B50F53620B}" srcOrd="0" destOrd="0" parTransId="{324FACB8-D098-4A43-9568-FD0BE653D941}" sibTransId="{A96D1B4B-D8A9-4F4B-A487-83D5B4808E76}"/>
    <dgm:cxn modelId="{78081400-C9A6-D548-8E72-614D2E95256D}" type="presOf" srcId="{B94F0689-7322-8A4F-B311-1131BDF95662}" destId="{6ED16D23-CB7C-7146-804D-02F7F2F0993C}" srcOrd="0" destOrd="0" presId="urn:microsoft.com/office/officeart/2005/8/layout/vList2"/>
    <dgm:cxn modelId="{89562C2C-A934-844E-B4BD-3A6A8D313E52}" type="presOf" srcId="{06C297C7-4C0B-9046-AAB5-53B50F53620B}" destId="{3B3E35FC-5EFA-7D41-B5C5-12A734B7553B}" srcOrd="0" destOrd="0" presId="urn:microsoft.com/office/officeart/2005/8/layout/vList2"/>
    <dgm:cxn modelId="{D8AB5F35-8596-3340-9734-DB08E7AB3553}" type="presOf" srcId="{84CD5FDD-3E23-D14D-867E-A660F7B4AF9D}" destId="{58583719-3BE6-C040-A8E4-E7004102C6A2}" srcOrd="0" destOrd="0" presId="urn:microsoft.com/office/officeart/2005/8/layout/vList2"/>
    <dgm:cxn modelId="{5840BDF8-D25A-D047-8029-5A28BFB04415}" srcId="{06C297C7-4C0B-9046-AAB5-53B50F53620B}" destId="{E0D1BE0A-BA57-AE41-B45E-E6DFD0823B88}" srcOrd="0" destOrd="0" parTransId="{93128017-3521-724E-864C-82D26A77565E}" sibTransId="{D8EC4CF6-D8B6-CD4E-86A1-38623CC37EA2}"/>
    <dgm:cxn modelId="{4567200F-C6DC-F74E-AEBA-751181D443D1}" type="presOf" srcId="{E0D1BE0A-BA57-AE41-B45E-E6DFD0823B88}" destId="{3B3E35FC-5EFA-7D41-B5C5-12A734B7553B}" srcOrd="0" destOrd="1" presId="urn:microsoft.com/office/officeart/2005/8/layout/vList2"/>
    <dgm:cxn modelId="{DD8B77E9-E315-A44F-872D-45F01865F0DD}" type="presOf" srcId="{6F40F308-E3E5-1942-A4AD-41ABD146AEC9}" destId="{6EC0B32E-D560-6E48-80D9-7FDA089E9536}" srcOrd="0" destOrd="1" presId="urn:microsoft.com/office/officeart/2005/8/layout/vList2"/>
    <dgm:cxn modelId="{7B0CE60A-134A-4540-8A63-7CB445448D39}" srcId="{B94F0689-7322-8A4F-B311-1131BDF95662}" destId="{6F40F308-E3E5-1942-A4AD-41ABD146AEC9}" srcOrd="1" destOrd="0" parTransId="{5F8623D1-C869-1743-8F96-A61316B7F2A9}" sibTransId="{4989028D-19DD-B540-8DEC-C6AFDB32A41F}"/>
    <dgm:cxn modelId="{9917BF2F-7A7B-484C-9D30-77FB8539A03C}" srcId="{06C297C7-4C0B-9046-AAB5-53B50F53620B}" destId="{FDE605C1-02A6-514E-A99F-A53EC8CC25BF}" srcOrd="1" destOrd="0" parTransId="{C4C2C0B7-93B7-E34C-A1AE-2E26AE4C9047}" sibTransId="{35DC5F0C-7646-4342-93EB-1CAC5E2EF766}"/>
    <dgm:cxn modelId="{5F6F3522-B5F5-2C4E-A84B-18460DEE8992}" type="presOf" srcId="{FDE605C1-02A6-514E-A99F-A53EC8CC25BF}" destId="{3B3E35FC-5EFA-7D41-B5C5-12A734B7553B}" srcOrd="0" destOrd="2" presId="urn:microsoft.com/office/officeart/2005/8/layout/vList2"/>
    <dgm:cxn modelId="{D5237AC6-F03D-4E4D-8E29-6DA538295CC4}" type="presParOf" srcId="{58583719-3BE6-C040-A8E4-E7004102C6A2}" destId="{6ED16D23-CB7C-7146-804D-02F7F2F0993C}" srcOrd="0" destOrd="0" presId="urn:microsoft.com/office/officeart/2005/8/layout/vList2"/>
    <dgm:cxn modelId="{39A96E4C-FCD1-9147-A7DD-3BC58962B9AC}" type="presParOf" srcId="{58583719-3BE6-C040-A8E4-E7004102C6A2}" destId="{6EC0B32E-D560-6E48-80D9-7FDA089E9536}" srcOrd="1" destOrd="0" presId="urn:microsoft.com/office/officeart/2005/8/layout/vList2"/>
    <dgm:cxn modelId="{827EFFAE-28C1-314C-BC29-C197889815A5}" type="presParOf" srcId="{58583719-3BE6-C040-A8E4-E7004102C6A2}" destId="{442D52DF-67B0-7044-9065-75ABFAA2374F}" srcOrd="2" destOrd="0" presId="urn:microsoft.com/office/officeart/2005/8/layout/vList2"/>
    <dgm:cxn modelId="{63E15B59-61B3-C349-AE9A-49125F9C57CF}" type="presParOf" srcId="{58583719-3BE6-C040-A8E4-E7004102C6A2}" destId="{3B3E35FC-5EFA-7D41-B5C5-12A734B7553B}"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C09018F-96CC-F343-91E8-888C19E657B3}" type="doc">
      <dgm:prSet loTypeId="urn:microsoft.com/office/officeart/2005/8/layout/default#2" loCatId="list" qsTypeId="urn:microsoft.com/office/officeart/2005/8/quickstyle/simple4" qsCatId="simple" csTypeId="urn:microsoft.com/office/officeart/2005/8/colors/accent1_2" csCatId="accent1" phldr="1"/>
      <dgm:spPr/>
      <dgm:t>
        <a:bodyPr/>
        <a:lstStyle/>
        <a:p>
          <a:endParaRPr lang="en-US"/>
        </a:p>
      </dgm:t>
    </dgm:pt>
    <dgm:pt modelId="{7945994E-9F8B-004A-899B-63399F05D0A5}">
      <dgm:prSet/>
      <dgm:spPr>
        <a:solidFill>
          <a:schemeClr val="accent5">
            <a:lumMod val="75000"/>
          </a:schemeClr>
        </a:solidFill>
      </dgm:spPr>
      <dgm:t>
        <a:bodyPr/>
        <a:lstStyle/>
        <a:p>
          <a:pPr rtl="0"/>
          <a:r>
            <a:rPr lang="en-US" b="1" dirty="0">
              <a:solidFill>
                <a:schemeClr val="bg1"/>
              </a:solidFill>
            </a:rPr>
            <a:t>Persistent</a:t>
          </a:r>
          <a:endParaRPr lang="en-US" dirty="0">
            <a:solidFill>
              <a:schemeClr val="bg1"/>
            </a:solidFill>
          </a:endParaRPr>
        </a:p>
      </dgm:t>
    </dgm:pt>
    <dgm:pt modelId="{C50D4767-247F-A540-B32D-C9A6677400D8}" type="parTrans" cxnId="{42D5E922-503F-B849-81AB-8AF608BDD2C2}">
      <dgm:prSet/>
      <dgm:spPr/>
      <dgm:t>
        <a:bodyPr/>
        <a:lstStyle/>
        <a:p>
          <a:endParaRPr lang="en-US"/>
        </a:p>
      </dgm:t>
    </dgm:pt>
    <dgm:pt modelId="{9B7B5C93-2B8A-8543-BC8B-144E34FB4E00}" type="sibTrans" cxnId="{42D5E922-503F-B849-81AB-8AF608BDD2C2}">
      <dgm:prSet/>
      <dgm:spPr/>
      <dgm:t>
        <a:bodyPr/>
        <a:lstStyle/>
        <a:p>
          <a:endParaRPr lang="en-US"/>
        </a:p>
      </dgm:t>
    </dgm:pt>
    <dgm:pt modelId="{9510BF75-C479-6847-8233-5D43425B6CE7}">
      <dgm:prSet/>
      <dgm:spPr>
        <a:solidFill>
          <a:schemeClr val="accent3">
            <a:lumMod val="75000"/>
          </a:schemeClr>
        </a:solidFill>
      </dgm:spPr>
      <dgm:t>
        <a:bodyPr/>
        <a:lstStyle/>
        <a:p>
          <a:pPr rtl="0"/>
          <a:r>
            <a:rPr lang="en-US" b="1" dirty="0">
              <a:solidFill>
                <a:schemeClr val="tx1"/>
              </a:solidFill>
            </a:rPr>
            <a:t>Memory based</a:t>
          </a:r>
          <a:endParaRPr lang="en-US" dirty="0">
            <a:solidFill>
              <a:schemeClr val="tx1"/>
            </a:solidFill>
          </a:endParaRPr>
        </a:p>
      </dgm:t>
    </dgm:pt>
    <dgm:pt modelId="{E30DA538-D5B8-5146-BA87-404B234079B3}" type="parTrans" cxnId="{D281DF10-3850-484D-9620-A7B1B6934DEB}">
      <dgm:prSet/>
      <dgm:spPr/>
      <dgm:t>
        <a:bodyPr/>
        <a:lstStyle/>
        <a:p>
          <a:endParaRPr lang="en-US"/>
        </a:p>
      </dgm:t>
    </dgm:pt>
    <dgm:pt modelId="{2C49B8A4-C190-084B-B090-C65215125991}" type="sibTrans" cxnId="{D281DF10-3850-484D-9620-A7B1B6934DEB}">
      <dgm:prSet/>
      <dgm:spPr/>
      <dgm:t>
        <a:bodyPr/>
        <a:lstStyle/>
        <a:p>
          <a:endParaRPr lang="en-US"/>
        </a:p>
      </dgm:t>
    </dgm:pt>
    <dgm:pt modelId="{4A97A6B8-9EDD-2E4B-BDC5-F191BD827914}">
      <dgm:prSet/>
      <dgm:spPr>
        <a:solidFill>
          <a:schemeClr val="accent5">
            <a:lumMod val="75000"/>
          </a:schemeClr>
        </a:solidFill>
      </dgm:spPr>
      <dgm:t>
        <a:bodyPr/>
        <a:lstStyle/>
        <a:p>
          <a:pPr rtl="0"/>
          <a:r>
            <a:rPr lang="en-US" b="1" dirty="0">
              <a:solidFill>
                <a:srgbClr val="000000"/>
              </a:solidFill>
            </a:rPr>
            <a:t>User mode</a:t>
          </a:r>
          <a:endParaRPr lang="en-US" dirty="0">
            <a:solidFill>
              <a:srgbClr val="000000"/>
            </a:solidFill>
          </a:endParaRPr>
        </a:p>
      </dgm:t>
    </dgm:pt>
    <dgm:pt modelId="{D03EE256-346A-3E4E-95E0-9F89FD79017C}" type="parTrans" cxnId="{CAA4D9A5-246F-934C-B43D-1CD28B422E91}">
      <dgm:prSet/>
      <dgm:spPr/>
      <dgm:t>
        <a:bodyPr/>
        <a:lstStyle/>
        <a:p>
          <a:endParaRPr lang="en-US"/>
        </a:p>
      </dgm:t>
    </dgm:pt>
    <dgm:pt modelId="{DCF2517E-9171-0341-9383-7F971B8DA491}" type="sibTrans" cxnId="{CAA4D9A5-246F-934C-B43D-1CD28B422E91}">
      <dgm:prSet/>
      <dgm:spPr/>
      <dgm:t>
        <a:bodyPr/>
        <a:lstStyle/>
        <a:p>
          <a:endParaRPr lang="en-US"/>
        </a:p>
      </dgm:t>
    </dgm:pt>
    <dgm:pt modelId="{6372CB02-1596-0141-8895-DFA8F45003DA}">
      <dgm:prSet/>
      <dgm:spPr>
        <a:solidFill>
          <a:schemeClr val="accent3">
            <a:lumMod val="75000"/>
          </a:schemeClr>
        </a:solidFill>
      </dgm:spPr>
      <dgm:t>
        <a:bodyPr/>
        <a:lstStyle/>
        <a:p>
          <a:pPr rtl="0"/>
          <a:r>
            <a:rPr lang="en-US" b="1" dirty="0">
              <a:solidFill>
                <a:schemeClr val="tx1"/>
              </a:solidFill>
            </a:rPr>
            <a:t>Kernel mode</a:t>
          </a:r>
        </a:p>
      </dgm:t>
    </dgm:pt>
    <dgm:pt modelId="{E0DC38B3-E708-CC49-B3A0-971E51B689F0}" type="parTrans" cxnId="{B00846C4-29BA-A14E-93D8-5884BA77B763}">
      <dgm:prSet/>
      <dgm:spPr/>
      <dgm:t>
        <a:bodyPr/>
        <a:lstStyle/>
        <a:p>
          <a:endParaRPr lang="en-US"/>
        </a:p>
      </dgm:t>
    </dgm:pt>
    <dgm:pt modelId="{2A2C1681-334A-E149-8781-5F2E063F9ECC}" type="sibTrans" cxnId="{B00846C4-29BA-A14E-93D8-5884BA77B763}">
      <dgm:prSet/>
      <dgm:spPr/>
      <dgm:t>
        <a:bodyPr/>
        <a:lstStyle/>
        <a:p>
          <a:endParaRPr lang="en-US"/>
        </a:p>
      </dgm:t>
    </dgm:pt>
    <dgm:pt modelId="{5DAE60C4-6E90-C94A-8857-6EAC72A2EC6C}">
      <dgm:prSet/>
      <dgm:spPr>
        <a:solidFill>
          <a:schemeClr val="accent5">
            <a:lumMod val="75000"/>
          </a:schemeClr>
        </a:solidFill>
      </dgm:spPr>
      <dgm:t>
        <a:bodyPr/>
        <a:lstStyle/>
        <a:p>
          <a:pPr rtl="0"/>
          <a:r>
            <a:rPr lang="en-US" b="1" dirty="0">
              <a:solidFill>
                <a:srgbClr val="000000"/>
              </a:solidFill>
            </a:rPr>
            <a:t>Virtual machine based</a:t>
          </a:r>
          <a:endParaRPr lang="en-US" dirty="0">
            <a:solidFill>
              <a:srgbClr val="000000"/>
            </a:solidFill>
          </a:endParaRPr>
        </a:p>
      </dgm:t>
    </dgm:pt>
    <dgm:pt modelId="{257BB762-77F5-3B47-A422-F9BA3DB186A0}" type="parTrans" cxnId="{3B8874FF-FF0F-314C-B249-FF7E79EC522E}">
      <dgm:prSet/>
      <dgm:spPr/>
      <dgm:t>
        <a:bodyPr/>
        <a:lstStyle/>
        <a:p>
          <a:endParaRPr lang="en-US"/>
        </a:p>
      </dgm:t>
    </dgm:pt>
    <dgm:pt modelId="{6434B346-4C97-E64C-9110-C3120D3FE0CA}" type="sibTrans" cxnId="{3B8874FF-FF0F-314C-B249-FF7E79EC522E}">
      <dgm:prSet/>
      <dgm:spPr/>
      <dgm:t>
        <a:bodyPr/>
        <a:lstStyle/>
        <a:p>
          <a:endParaRPr lang="en-US"/>
        </a:p>
      </dgm:t>
    </dgm:pt>
    <dgm:pt modelId="{0D5901AB-6A59-4541-82C2-5526BDBF6B0E}">
      <dgm:prSet/>
      <dgm:spPr>
        <a:solidFill>
          <a:schemeClr val="accent3">
            <a:lumMod val="75000"/>
          </a:schemeClr>
        </a:solidFill>
      </dgm:spPr>
      <dgm:t>
        <a:bodyPr/>
        <a:lstStyle/>
        <a:p>
          <a:pPr rtl="0"/>
          <a:r>
            <a:rPr lang="en-US" b="1" dirty="0">
              <a:solidFill>
                <a:schemeClr val="tx1"/>
              </a:solidFill>
            </a:rPr>
            <a:t>External mode</a:t>
          </a:r>
        </a:p>
      </dgm:t>
    </dgm:pt>
    <dgm:pt modelId="{C068509A-8EB9-E14E-B57D-FFF87C5253D9}" type="parTrans" cxnId="{23F92D49-0F5B-5348-B406-195436BFA7B8}">
      <dgm:prSet/>
      <dgm:spPr/>
      <dgm:t>
        <a:bodyPr/>
        <a:lstStyle/>
        <a:p>
          <a:endParaRPr lang="en-US"/>
        </a:p>
      </dgm:t>
    </dgm:pt>
    <dgm:pt modelId="{B79CB585-FDB7-BC4B-91FE-E6DF7463B199}" type="sibTrans" cxnId="{23F92D49-0F5B-5348-B406-195436BFA7B8}">
      <dgm:prSet/>
      <dgm:spPr/>
      <dgm:t>
        <a:bodyPr/>
        <a:lstStyle/>
        <a:p>
          <a:endParaRPr lang="en-US"/>
        </a:p>
      </dgm:t>
    </dgm:pt>
    <dgm:pt modelId="{F4B28C59-5773-264B-A804-53529FE3DEAB}" type="pres">
      <dgm:prSet presAssocID="{2C09018F-96CC-F343-91E8-888C19E657B3}" presName="diagram" presStyleCnt="0">
        <dgm:presLayoutVars>
          <dgm:dir/>
          <dgm:resizeHandles val="exact"/>
        </dgm:presLayoutVars>
      </dgm:prSet>
      <dgm:spPr/>
      <dgm:t>
        <a:bodyPr/>
        <a:lstStyle/>
        <a:p>
          <a:endParaRPr lang="en-US"/>
        </a:p>
      </dgm:t>
    </dgm:pt>
    <dgm:pt modelId="{E44C8787-EF38-C84D-9B63-EE5A5591B063}" type="pres">
      <dgm:prSet presAssocID="{7945994E-9F8B-004A-899B-63399F05D0A5}" presName="node" presStyleLbl="node1" presStyleIdx="0" presStyleCnt="6">
        <dgm:presLayoutVars>
          <dgm:bulletEnabled val="1"/>
        </dgm:presLayoutVars>
      </dgm:prSet>
      <dgm:spPr/>
      <dgm:t>
        <a:bodyPr/>
        <a:lstStyle/>
        <a:p>
          <a:endParaRPr lang="en-US"/>
        </a:p>
      </dgm:t>
    </dgm:pt>
    <dgm:pt modelId="{42806043-3A1D-474D-9134-34D9E44EBF41}" type="pres">
      <dgm:prSet presAssocID="{9B7B5C93-2B8A-8543-BC8B-144E34FB4E00}" presName="sibTrans" presStyleCnt="0"/>
      <dgm:spPr/>
    </dgm:pt>
    <dgm:pt modelId="{6072D17B-F6A5-5047-8836-727A094DE50A}" type="pres">
      <dgm:prSet presAssocID="{9510BF75-C479-6847-8233-5D43425B6CE7}" presName="node" presStyleLbl="node1" presStyleIdx="1" presStyleCnt="6">
        <dgm:presLayoutVars>
          <dgm:bulletEnabled val="1"/>
        </dgm:presLayoutVars>
      </dgm:prSet>
      <dgm:spPr/>
      <dgm:t>
        <a:bodyPr/>
        <a:lstStyle/>
        <a:p>
          <a:endParaRPr lang="en-US"/>
        </a:p>
      </dgm:t>
    </dgm:pt>
    <dgm:pt modelId="{2861C1AB-D9EC-5F4D-84EC-81DA6C621C99}" type="pres">
      <dgm:prSet presAssocID="{2C49B8A4-C190-084B-B090-C65215125991}" presName="sibTrans" presStyleCnt="0"/>
      <dgm:spPr/>
    </dgm:pt>
    <dgm:pt modelId="{C7A1B8EF-C024-DD42-B327-0C43B33F32C7}" type="pres">
      <dgm:prSet presAssocID="{4A97A6B8-9EDD-2E4B-BDC5-F191BD827914}" presName="node" presStyleLbl="node1" presStyleIdx="2" presStyleCnt="6">
        <dgm:presLayoutVars>
          <dgm:bulletEnabled val="1"/>
        </dgm:presLayoutVars>
      </dgm:prSet>
      <dgm:spPr/>
      <dgm:t>
        <a:bodyPr/>
        <a:lstStyle/>
        <a:p>
          <a:endParaRPr lang="en-US"/>
        </a:p>
      </dgm:t>
    </dgm:pt>
    <dgm:pt modelId="{65458AEB-8ADC-EC43-BCBB-33BEBD6FCB20}" type="pres">
      <dgm:prSet presAssocID="{DCF2517E-9171-0341-9383-7F971B8DA491}" presName="sibTrans" presStyleCnt="0"/>
      <dgm:spPr/>
    </dgm:pt>
    <dgm:pt modelId="{8B48159E-09EA-364F-A510-D8162959C1D3}" type="pres">
      <dgm:prSet presAssocID="{6372CB02-1596-0141-8895-DFA8F45003DA}" presName="node" presStyleLbl="node1" presStyleIdx="3" presStyleCnt="6">
        <dgm:presLayoutVars>
          <dgm:bulletEnabled val="1"/>
        </dgm:presLayoutVars>
      </dgm:prSet>
      <dgm:spPr/>
      <dgm:t>
        <a:bodyPr/>
        <a:lstStyle/>
        <a:p>
          <a:endParaRPr lang="en-US"/>
        </a:p>
      </dgm:t>
    </dgm:pt>
    <dgm:pt modelId="{2EA93FE1-283A-5B4B-9F4A-6B5DD73001A4}" type="pres">
      <dgm:prSet presAssocID="{2A2C1681-334A-E149-8781-5F2E063F9ECC}" presName="sibTrans" presStyleCnt="0"/>
      <dgm:spPr/>
    </dgm:pt>
    <dgm:pt modelId="{F87C3173-1EE5-6A4C-872A-CD220AD18035}" type="pres">
      <dgm:prSet presAssocID="{5DAE60C4-6E90-C94A-8857-6EAC72A2EC6C}" presName="node" presStyleLbl="node1" presStyleIdx="4" presStyleCnt="6">
        <dgm:presLayoutVars>
          <dgm:bulletEnabled val="1"/>
        </dgm:presLayoutVars>
      </dgm:prSet>
      <dgm:spPr/>
      <dgm:t>
        <a:bodyPr/>
        <a:lstStyle/>
        <a:p>
          <a:endParaRPr lang="en-US"/>
        </a:p>
      </dgm:t>
    </dgm:pt>
    <dgm:pt modelId="{76C31CD0-FAD5-6048-A606-D8BA95C8188B}" type="pres">
      <dgm:prSet presAssocID="{6434B346-4C97-E64C-9110-C3120D3FE0CA}" presName="sibTrans" presStyleCnt="0"/>
      <dgm:spPr/>
    </dgm:pt>
    <dgm:pt modelId="{E0353279-FF85-2046-A116-4276350C938F}" type="pres">
      <dgm:prSet presAssocID="{0D5901AB-6A59-4541-82C2-5526BDBF6B0E}" presName="node" presStyleLbl="node1" presStyleIdx="5" presStyleCnt="6">
        <dgm:presLayoutVars>
          <dgm:bulletEnabled val="1"/>
        </dgm:presLayoutVars>
      </dgm:prSet>
      <dgm:spPr/>
      <dgm:t>
        <a:bodyPr/>
        <a:lstStyle/>
        <a:p>
          <a:endParaRPr lang="en-US"/>
        </a:p>
      </dgm:t>
    </dgm:pt>
  </dgm:ptLst>
  <dgm:cxnLst>
    <dgm:cxn modelId="{D281DF10-3850-484D-9620-A7B1B6934DEB}" srcId="{2C09018F-96CC-F343-91E8-888C19E657B3}" destId="{9510BF75-C479-6847-8233-5D43425B6CE7}" srcOrd="1" destOrd="0" parTransId="{E30DA538-D5B8-5146-BA87-404B234079B3}" sibTransId="{2C49B8A4-C190-084B-B090-C65215125991}"/>
    <dgm:cxn modelId="{4CD36719-BB1E-B748-9F87-01C62D09F6E3}" type="presOf" srcId="{6372CB02-1596-0141-8895-DFA8F45003DA}" destId="{8B48159E-09EA-364F-A510-D8162959C1D3}" srcOrd="0" destOrd="0" presId="urn:microsoft.com/office/officeart/2005/8/layout/default#2"/>
    <dgm:cxn modelId="{C87FAB9F-F091-B041-8BCA-31BA85ACE6D7}" type="presOf" srcId="{2C09018F-96CC-F343-91E8-888C19E657B3}" destId="{F4B28C59-5773-264B-A804-53529FE3DEAB}" srcOrd="0" destOrd="0" presId="urn:microsoft.com/office/officeart/2005/8/layout/default#2"/>
    <dgm:cxn modelId="{B00846C4-29BA-A14E-93D8-5884BA77B763}" srcId="{2C09018F-96CC-F343-91E8-888C19E657B3}" destId="{6372CB02-1596-0141-8895-DFA8F45003DA}" srcOrd="3" destOrd="0" parTransId="{E0DC38B3-E708-CC49-B3A0-971E51B689F0}" sibTransId="{2A2C1681-334A-E149-8781-5F2E063F9ECC}"/>
    <dgm:cxn modelId="{8CC2D51F-396E-4C4A-BD7A-047F8801C8FE}" type="presOf" srcId="{4A97A6B8-9EDD-2E4B-BDC5-F191BD827914}" destId="{C7A1B8EF-C024-DD42-B327-0C43B33F32C7}" srcOrd="0" destOrd="0" presId="urn:microsoft.com/office/officeart/2005/8/layout/default#2"/>
    <dgm:cxn modelId="{5DBEDBE1-0CA8-304B-A908-7ED0718E0C6A}" type="presOf" srcId="{7945994E-9F8B-004A-899B-63399F05D0A5}" destId="{E44C8787-EF38-C84D-9B63-EE5A5591B063}" srcOrd="0" destOrd="0" presId="urn:microsoft.com/office/officeart/2005/8/layout/default#2"/>
    <dgm:cxn modelId="{2305D7F0-56C6-3E4E-AF7C-816B1459A332}" type="presOf" srcId="{5DAE60C4-6E90-C94A-8857-6EAC72A2EC6C}" destId="{F87C3173-1EE5-6A4C-872A-CD220AD18035}" srcOrd="0" destOrd="0" presId="urn:microsoft.com/office/officeart/2005/8/layout/default#2"/>
    <dgm:cxn modelId="{14484F62-97D8-A34F-9F86-BBDC33240205}" type="presOf" srcId="{0D5901AB-6A59-4541-82C2-5526BDBF6B0E}" destId="{E0353279-FF85-2046-A116-4276350C938F}" srcOrd="0" destOrd="0" presId="urn:microsoft.com/office/officeart/2005/8/layout/default#2"/>
    <dgm:cxn modelId="{3B8874FF-FF0F-314C-B249-FF7E79EC522E}" srcId="{2C09018F-96CC-F343-91E8-888C19E657B3}" destId="{5DAE60C4-6E90-C94A-8857-6EAC72A2EC6C}" srcOrd="4" destOrd="0" parTransId="{257BB762-77F5-3B47-A422-F9BA3DB186A0}" sibTransId="{6434B346-4C97-E64C-9110-C3120D3FE0CA}"/>
    <dgm:cxn modelId="{CAA4D9A5-246F-934C-B43D-1CD28B422E91}" srcId="{2C09018F-96CC-F343-91E8-888C19E657B3}" destId="{4A97A6B8-9EDD-2E4B-BDC5-F191BD827914}" srcOrd="2" destOrd="0" parTransId="{D03EE256-346A-3E4E-95E0-9F89FD79017C}" sibTransId="{DCF2517E-9171-0341-9383-7F971B8DA491}"/>
    <dgm:cxn modelId="{B866A201-B325-304B-BFC7-05096E040E91}" type="presOf" srcId="{9510BF75-C479-6847-8233-5D43425B6CE7}" destId="{6072D17B-F6A5-5047-8836-727A094DE50A}" srcOrd="0" destOrd="0" presId="urn:microsoft.com/office/officeart/2005/8/layout/default#2"/>
    <dgm:cxn modelId="{42D5E922-503F-B849-81AB-8AF608BDD2C2}" srcId="{2C09018F-96CC-F343-91E8-888C19E657B3}" destId="{7945994E-9F8B-004A-899B-63399F05D0A5}" srcOrd="0" destOrd="0" parTransId="{C50D4767-247F-A540-B32D-C9A6677400D8}" sibTransId="{9B7B5C93-2B8A-8543-BC8B-144E34FB4E00}"/>
    <dgm:cxn modelId="{23F92D49-0F5B-5348-B406-195436BFA7B8}" srcId="{2C09018F-96CC-F343-91E8-888C19E657B3}" destId="{0D5901AB-6A59-4541-82C2-5526BDBF6B0E}" srcOrd="5" destOrd="0" parTransId="{C068509A-8EB9-E14E-B57D-FFF87C5253D9}" sibTransId="{B79CB585-FDB7-BC4B-91FE-E6DF7463B199}"/>
    <dgm:cxn modelId="{43FE5BDB-8795-AF46-9A94-438C2BFFF7AB}" type="presParOf" srcId="{F4B28C59-5773-264B-A804-53529FE3DEAB}" destId="{E44C8787-EF38-C84D-9B63-EE5A5591B063}" srcOrd="0" destOrd="0" presId="urn:microsoft.com/office/officeart/2005/8/layout/default#2"/>
    <dgm:cxn modelId="{ABA10C9B-E625-134F-A2B4-F1ABC4284B38}" type="presParOf" srcId="{F4B28C59-5773-264B-A804-53529FE3DEAB}" destId="{42806043-3A1D-474D-9134-34D9E44EBF41}" srcOrd="1" destOrd="0" presId="urn:microsoft.com/office/officeart/2005/8/layout/default#2"/>
    <dgm:cxn modelId="{F80CF799-D358-8741-AA00-010446045AA0}" type="presParOf" srcId="{F4B28C59-5773-264B-A804-53529FE3DEAB}" destId="{6072D17B-F6A5-5047-8836-727A094DE50A}" srcOrd="2" destOrd="0" presId="urn:microsoft.com/office/officeart/2005/8/layout/default#2"/>
    <dgm:cxn modelId="{472F3026-1F25-3C4C-B933-C2E336005628}" type="presParOf" srcId="{F4B28C59-5773-264B-A804-53529FE3DEAB}" destId="{2861C1AB-D9EC-5F4D-84EC-81DA6C621C99}" srcOrd="3" destOrd="0" presId="urn:microsoft.com/office/officeart/2005/8/layout/default#2"/>
    <dgm:cxn modelId="{11362635-9CC8-1049-81FC-4F3AE10A59A9}" type="presParOf" srcId="{F4B28C59-5773-264B-A804-53529FE3DEAB}" destId="{C7A1B8EF-C024-DD42-B327-0C43B33F32C7}" srcOrd="4" destOrd="0" presId="urn:microsoft.com/office/officeart/2005/8/layout/default#2"/>
    <dgm:cxn modelId="{C3AE3110-2C0D-8D4C-A7D3-2B64354AA962}" type="presParOf" srcId="{F4B28C59-5773-264B-A804-53529FE3DEAB}" destId="{65458AEB-8ADC-EC43-BCBB-33BEBD6FCB20}" srcOrd="5" destOrd="0" presId="urn:microsoft.com/office/officeart/2005/8/layout/default#2"/>
    <dgm:cxn modelId="{09385047-F4A0-C241-B1FD-BEAAD245808D}" type="presParOf" srcId="{F4B28C59-5773-264B-A804-53529FE3DEAB}" destId="{8B48159E-09EA-364F-A510-D8162959C1D3}" srcOrd="6" destOrd="0" presId="urn:microsoft.com/office/officeart/2005/8/layout/default#2"/>
    <dgm:cxn modelId="{EEC94EB5-4960-DA4D-A173-A80CD774A692}" type="presParOf" srcId="{F4B28C59-5773-264B-A804-53529FE3DEAB}" destId="{2EA93FE1-283A-5B4B-9F4A-6B5DD73001A4}" srcOrd="7" destOrd="0" presId="urn:microsoft.com/office/officeart/2005/8/layout/default#2"/>
    <dgm:cxn modelId="{BC5C7F4A-AB33-C049-A275-799D6EE9145B}" type="presParOf" srcId="{F4B28C59-5773-264B-A804-53529FE3DEAB}" destId="{F87C3173-1EE5-6A4C-872A-CD220AD18035}" srcOrd="8" destOrd="0" presId="urn:microsoft.com/office/officeart/2005/8/layout/default#2"/>
    <dgm:cxn modelId="{1BC9EE3D-F6AE-634B-ACB3-FD207141ACED}" type="presParOf" srcId="{F4B28C59-5773-264B-A804-53529FE3DEAB}" destId="{76C31CD0-FAD5-6048-A606-D8BA95C8188B}" srcOrd="9" destOrd="0" presId="urn:microsoft.com/office/officeart/2005/8/layout/default#2"/>
    <dgm:cxn modelId="{49F2FD09-CE86-314F-94F2-D23F814F1231}" type="presParOf" srcId="{F4B28C59-5773-264B-A804-53529FE3DEAB}" destId="{E0353279-FF85-2046-A116-4276350C938F}" srcOrd="10" destOrd="0" presId="urn:microsoft.com/office/officeart/2005/8/layout/defaul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597C373-B344-4647-9666-45221E1A5803}"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A2F49F7D-DC29-234E-8131-187DE0ECA205}">
      <dgm:prSet phldrT="[Text]"/>
      <dgm:spPr>
        <a:solidFill>
          <a:schemeClr val="accent3">
            <a:lumMod val="75000"/>
          </a:schemeClr>
        </a:solidFill>
      </dgm:spPr>
      <dgm:t>
        <a:bodyPr/>
        <a:lstStyle/>
        <a:p>
          <a:r>
            <a:rPr lang="en-US" b="1" dirty="0">
              <a:solidFill>
                <a:schemeClr val="tx1"/>
              </a:solidFill>
            </a:rPr>
            <a:t>Four main elements of prevention:</a:t>
          </a:r>
        </a:p>
      </dgm:t>
    </dgm:pt>
    <dgm:pt modelId="{407ACF3F-BDBE-A348-80BA-DFA5485D56AD}" type="parTrans" cxnId="{947BD9AE-F2FE-E349-9C6D-BBC8D627F16A}">
      <dgm:prSet/>
      <dgm:spPr/>
      <dgm:t>
        <a:bodyPr/>
        <a:lstStyle/>
        <a:p>
          <a:endParaRPr lang="en-US"/>
        </a:p>
      </dgm:t>
    </dgm:pt>
    <dgm:pt modelId="{CC2B33C9-2022-A841-A120-F57B5A3BD772}" type="sibTrans" cxnId="{947BD9AE-F2FE-E349-9C6D-BBC8D627F16A}">
      <dgm:prSet/>
      <dgm:spPr/>
      <dgm:t>
        <a:bodyPr/>
        <a:lstStyle/>
        <a:p>
          <a:endParaRPr lang="en-US"/>
        </a:p>
      </dgm:t>
    </dgm:pt>
    <dgm:pt modelId="{A85B7817-CDD7-C049-A073-D8CFFC417918}">
      <dgm:prSet/>
      <dgm:spPr>
        <a:ln>
          <a:solidFill>
            <a:schemeClr val="accent3">
              <a:lumMod val="50000"/>
            </a:schemeClr>
          </a:solidFill>
        </a:ln>
      </dgm:spPr>
      <dgm:t>
        <a:bodyPr/>
        <a:lstStyle/>
        <a:p>
          <a:r>
            <a:rPr lang="en-US" dirty="0"/>
            <a:t>Policy</a:t>
          </a:r>
        </a:p>
      </dgm:t>
    </dgm:pt>
    <dgm:pt modelId="{3DC4848E-004B-1A4C-A744-3C816C74AA8E}" type="parTrans" cxnId="{E9798DC8-6B8A-4E49-9C73-9B5112E6C969}">
      <dgm:prSet/>
      <dgm:spPr/>
      <dgm:t>
        <a:bodyPr/>
        <a:lstStyle/>
        <a:p>
          <a:endParaRPr lang="en-US"/>
        </a:p>
      </dgm:t>
    </dgm:pt>
    <dgm:pt modelId="{34B90911-2D46-694F-B675-A32B2099E060}" type="sibTrans" cxnId="{E9798DC8-6B8A-4E49-9C73-9B5112E6C969}">
      <dgm:prSet/>
      <dgm:spPr/>
      <dgm:t>
        <a:bodyPr/>
        <a:lstStyle/>
        <a:p>
          <a:endParaRPr lang="en-US"/>
        </a:p>
      </dgm:t>
    </dgm:pt>
    <dgm:pt modelId="{5633FEA8-F733-7744-9130-BBE890A6AB21}">
      <dgm:prSet/>
      <dgm:spPr>
        <a:ln>
          <a:solidFill>
            <a:schemeClr val="accent3">
              <a:lumMod val="50000"/>
            </a:schemeClr>
          </a:solidFill>
        </a:ln>
      </dgm:spPr>
      <dgm:t>
        <a:bodyPr/>
        <a:lstStyle/>
        <a:p>
          <a:r>
            <a:rPr lang="en-US" dirty="0"/>
            <a:t>Awareness</a:t>
          </a:r>
        </a:p>
      </dgm:t>
    </dgm:pt>
    <dgm:pt modelId="{14835D0F-8544-6043-BDAB-70AAD06D0B05}" type="parTrans" cxnId="{C8B246A7-146B-D44C-A0B6-D62B3B46D552}">
      <dgm:prSet/>
      <dgm:spPr/>
      <dgm:t>
        <a:bodyPr/>
        <a:lstStyle/>
        <a:p>
          <a:endParaRPr lang="en-US"/>
        </a:p>
      </dgm:t>
    </dgm:pt>
    <dgm:pt modelId="{40ECE71D-49B5-AB4A-8E18-60582BBB76FE}" type="sibTrans" cxnId="{C8B246A7-146B-D44C-A0B6-D62B3B46D552}">
      <dgm:prSet/>
      <dgm:spPr/>
      <dgm:t>
        <a:bodyPr/>
        <a:lstStyle/>
        <a:p>
          <a:endParaRPr lang="en-US"/>
        </a:p>
      </dgm:t>
    </dgm:pt>
    <dgm:pt modelId="{C10341DE-4D1C-5644-A899-2A5BBD88FFE5}">
      <dgm:prSet/>
      <dgm:spPr>
        <a:ln>
          <a:solidFill>
            <a:schemeClr val="accent3">
              <a:lumMod val="50000"/>
            </a:schemeClr>
          </a:solidFill>
        </a:ln>
      </dgm:spPr>
      <dgm:t>
        <a:bodyPr/>
        <a:lstStyle/>
        <a:p>
          <a:r>
            <a:rPr lang="en-US" dirty="0"/>
            <a:t>Vulnerability mitigation</a:t>
          </a:r>
        </a:p>
      </dgm:t>
    </dgm:pt>
    <dgm:pt modelId="{0A306DCB-897E-9942-A224-C2F30E6CD166}" type="parTrans" cxnId="{CD0E990E-AD1A-B14D-BCC8-6115E392DE23}">
      <dgm:prSet/>
      <dgm:spPr/>
      <dgm:t>
        <a:bodyPr/>
        <a:lstStyle/>
        <a:p>
          <a:endParaRPr lang="en-US"/>
        </a:p>
      </dgm:t>
    </dgm:pt>
    <dgm:pt modelId="{2C5C60B3-1CB3-3D43-A1B6-2100A0FBC3E9}" type="sibTrans" cxnId="{CD0E990E-AD1A-B14D-BCC8-6115E392DE23}">
      <dgm:prSet/>
      <dgm:spPr/>
      <dgm:t>
        <a:bodyPr/>
        <a:lstStyle/>
        <a:p>
          <a:endParaRPr lang="en-US"/>
        </a:p>
      </dgm:t>
    </dgm:pt>
    <dgm:pt modelId="{19933629-1549-9244-A2EB-710BFBB3F3C0}">
      <dgm:prSet/>
      <dgm:spPr>
        <a:ln>
          <a:solidFill>
            <a:schemeClr val="accent3">
              <a:lumMod val="50000"/>
            </a:schemeClr>
          </a:solidFill>
        </a:ln>
      </dgm:spPr>
      <dgm:t>
        <a:bodyPr/>
        <a:lstStyle/>
        <a:p>
          <a:r>
            <a:rPr lang="en-US" dirty="0"/>
            <a:t>Threat mitigation</a:t>
          </a:r>
        </a:p>
      </dgm:t>
    </dgm:pt>
    <dgm:pt modelId="{A4128A9A-6B83-7440-B38E-DCF55E94D982}" type="parTrans" cxnId="{9EFE0D47-8602-F147-B259-32678CD072D1}">
      <dgm:prSet/>
      <dgm:spPr/>
      <dgm:t>
        <a:bodyPr/>
        <a:lstStyle/>
        <a:p>
          <a:endParaRPr lang="en-US"/>
        </a:p>
      </dgm:t>
    </dgm:pt>
    <dgm:pt modelId="{1C91BF96-12DA-8C4A-BFA7-91C385C85FB8}" type="sibTrans" cxnId="{9EFE0D47-8602-F147-B259-32678CD072D1}">
      <dgm:prSet/>
      <dgm:spPr/>
      <dgm:t>
        <a:bodyPr/>
        <a:lstStyle/>
        <a:p>
          <a:endParaRPr lang="en-US"/>
        </a:p>
      </dgm:t>
    </dgm:pt>
    <dgm:pt modelId="{38921C6F-F36A-4841-BAD8-C903163E6987}" type="pres">
      <dgm:prSet presAssocID="{E597C373-B344-4647-9666-45221E1A5803}" presName="linear" presStyleCnt="0">
        <dgm:presLayoutVars>
          <dgm:dir/>
          <dgm:animLvl val="lvl"/>
          <dgm:resizeHandles val="exact"/>
        </dgm:presLayoutVars>
      </dgm:prSet>
      <dgm:spPr/>
      <dgm:t>
        <a:bodyPr/>
        <a:lstStyle/>
        <a:p>
          <a:endParaRPr lang="en-US"/>
        </a:p>
      </dgm:t>
    </dgm:pt>
    <dgm:pt modelId="{CA75C928-7EBF-194E-8D6D-A82F986CD0C6}" type="pres">
      <dgm:prSet presAssocID="{A2F49F7D-DC29-234E-8131-187DE0ECA205}" presName="parentLin" presStyleCnt="0"/>
      <dgm:spPr/>
    </dgm:pt>
    <dgm:pt modelId="{952E37D5-2D17-2248-94E4-2E967F62D580}" type="pres">
      <dgm:prSet presAssocID="{A2F49F7D-DC29-234E-8131-187DE0ECA205}" presName="parentLeftMargin" presStyleLbl="node1" presStyleIdx="0" presStyleCnt="1"/>
      <dgm:spPr/>
      <dgm:t>
        <a:bodyPr/>
        <a:lstStyle/>
        <a:p>
          <a:endParaRPr lang="en-US"/>
        </a:p>
      </dgm:t>
    </dgm:pt>
    <dgm:pt modelId="{9F27D6DC-1F2B-7744-AB44-F95CB3588EA2}" type="pres">
      <dgm:prSet presAssocID="{A2F49F7D-DC29-234E-8131-187DE0ECA205}" presName="parentText" presStyleLbl="node1" presStyleIdx="0" presStyleCnt="1">
        <dgm:presLayoutVars>
          <dgm:chMax val="0"/>
          <dgm:bulletEnabled val="1"/>
        </dgm:presLayoutVars>
      </dgm:prSet>
      <dgm:spPr/>
      <dgm:t>
        <a:bodyPr/>
        <a:lstStyle/>
        <a:p>
          <a:endParaRPr lang="en-US"/>
        </a:p>
      </dgm:t>
    </dgm:pt>
    <dgm:pt modelId="{1FF102FA-668D-A04B-8834-D142FA6C52EC}" type="pres">
      <dgm:prSet presAssocID="{A2F49F7D-DC29-234E-8131-187DE0ECA205}" presName="negativeSpace" presStyleCnt="0"/>
      <dgm:spPr/>
    </dgm:pt>
    <dgm:pt modelId="{AA82D9DB-A488-6D46-8B85-3412B019F831}" type="pres">
      <dgm:prSet presAssocID="{A2F49F7D-DC29-234E-8131-187DE0ECA205}" presName="childText" presStyleLbl="conFgAcc1" presStyleIdx="0" presStyleCnt="1">
        <dgm:presLayoutVars>
          <dgm:bulletEnabled val="1"/>
        </dgm:presLayoutVars>
      </dgm:prSet>
      <dgm:spPr/>
      <dgm:t>
        <a:bodyPr/>
        <a:lstStyle/>
        <a:p>
          <a:endParaRPr lang="en-US"/>
        </a:p>
      </dgm:t>
    </dgm:pt>
  </dgm:ptLst>
  <dgm:cxnLst>
    <dgm:cxn modelId="{E9798DC8-6B8A-4E49-9C73-9B5112E6C969}" srcId="{A2F49F7D-DC29-234E-8131-187DE0ECA205}" destId="{A85B7817-CDD7-C049-A073-D8CFFC417918}" srcOrd="0" destOrd="0" parTransId="{3DC4848E-004B-1A4C-A744-3C816C74AA8E}" sibTransId="{34B90911-2D46-694F-B675-A32B2099E060}"/>
    <dgm:cxn modelId="{17234A70-C927-0D4D-875C-3CA219B139BC}" type="presOf" srcId="{A85B7817-CDD7-C049-A073-D8CFFC417918}" destId="{AA82D9DB-A488-6D46-8B85-3412B019F831}" srcOrd="0" destOrd="0" presId="urn:microsoft.com/office/officeart/2005/8/layout/list1"/>
    <dgm:cxn modelId="{E9330A34-A6DF-1C40-9680-7C311615E0F6}" type="presOf" srcId="{E597C373-B344-4647-9666-45221E1A5803}" destId="{38921C6F-F36A-4841-BAD8-C903163E6987}" srcOrd="0" destOrd="0" presId="urn:microsoft.com/office/officeart/2005/8/layout/list1"/>
    <dgm:cxn modelId="{43987F15-A4C3-1346-9EBA-584B627F7276}" type="presOf" srcId="{A2F49F7D-DC29-234E-8131-187DE0ECA205}" destId="{9F27D6DC-1F2B-7744-AB44-F95CB3588EA2}" srcOrd="1" destOrd="0" presId="urn:microsoft.com/office/officeart/2005/8/layout/list1"/>
    <dgm:cxn modelId="{9EFE0D47-8602-F147-B259-32678CD072D1}" srcId="{A2F49F7D-DC29-234E-8131-187DE0ECA205}" destId="{19933629-1549-9244-A2EB-710BFBB3F3C0}" srcOrd="3" destOrd="0" parTransId="{A4128A9A-6B83-7440-B38E-DCF55E94D982}" sibTransId="{1C91BF96-12DA-8C4A-BFA7-91C385C85FB8}"/>
    <dgm:cxn modelId="{CD0E990E-AD1A-B14D-BCC8-6115E392DE23}" srcId="{A2F49F7D-DC29-234E-8131-187DE0ECA205}" destId="{C10341DE-4D1C-5644-A899-2A5BBD88FFE5}" srcOrd="2" destOrd="0" parTransId="{0A306DCB-897E-9942-A224-C2F30E6CD166}" sibTransId="{2C5C60B3-1CB3-3D43-A1B6-2100A0FBC3E9}"/>
    <dgm:cxn modelId="{A3513AD7-0DC4-9645-B854-4B1723DC57B4}" type="presOf" srcId="{5633FEA8-F733-7744-9130-BBE890A6AB21}" destId="{AA82D9DB-A488-6D46-8B85-3412B019F831}" srcOrd="0" destOrd="1" presId="urn:microsoft.com/office/officeart/2005/8/layout/list1"/>
    <dgm:cxn modelId="{99BDBF3A-8DFD-984C-8EEB-0047233345C3}" type="presOf" srcId="{C10341DE-4D1C-5644-A899-2A5BBD88FFE5}" destId="{AA82D9DB-A488-6D46-8B85-3412B019F831}" srcOrd="0" destOrd="2" presId="urn:microsoft.com/office/officeart/2005/8/layout/list1"/>
    <dgm:cxn modelId="{3930B535-7F68-3D49-91F7-082DCFE52FD8}" type="presOf" srcId="{19933629-1549-9244-A2EB-710BFBB3F3C0}" destId="{AA82D9DB-A488-6D46-8B85-3412B019F831}" srcOrd="0" destOrd="3" presId="urn:microsoft.com/office/officeart/2005/8/layout/list1"/>
    <dgm:cxn modelId="{947BD9AE-F2FE-E349-9C6D-BBC8D627F16A}" srcId="{E597C373-B344-4647-9666-45221E1A5803}" destId="{A2F49F7D-DC29-234E-8131-187DE0ECA205}" srcOrd="0" destOrd="0" parTransId="{407ACF3F-BDBE-A348-80BA-DFA5485D56AD}" sibTransId="{CC2B33C9-2022-A841-A120-F57B5A3BD772}"/>
    <dgm:cxn modelId="{C8B246A7-146B-D44C-A0B6-D62B3B46D552}" srcId="{A2F49F7D-DC29-234E-8131-187DE0ECA205}" destId="{5633FEA8-F733-7744-9130-BBE890A6AB21}" srcOrd="1" destOrd="0" parTransId="{14835D0F-8544-6043-BDAB-70AAD06D0B05}" sibTransId="{40ECE71D-49B5-AB4A-8E18-60582BBB76FE}"/>
    <dgm:cxn modelId="{95BB7CAF-88D5-DC4D-9F0C-C26F1BDE0EEB}" type="presOf" srcId="{A2F49F7D-DC29-234E-8131-187DE0ECA205}" destId="{952E37D5-2D17-2248-94E4-2E967F62D580}" srcOrd="0" destOrd="0" presId="urn:microsoft.com/office/officeart/2005/8/layout/list1"/>
    <dgm:cxn modelId="{983CAEC9-5139-4847-8656-EA0EC86D5721}" type="presParOf" srcId="{38921C6F-F36A-4841-BAD8-C903163E6987}" destId="{CA75C928-7EBF-194E-8D6D-A82F986CD0C6}" srcOrd="0" destOrd="0" presId="urn:microsoft.com/office/officeart/2005/8/layout/list1"/>
    <dgm:cxn modelId="{503EFAA2-F142-6346-91F9-CEA865E9E737}" type="presParOf" srcId="{CA75C928-7EBF-194E-8D6D-A82F986CD0C6}" destId="{952E37D5-2D17-2248-94E4-2E967F62D580}" srcOrd="0" destOrd="0" presId="urn:microsoft.com/office/officeart/2005/8/layout/list1"/>
    <dgm:cxn modelId="{489BEECD-ED80-4D47-AC67-CBA9BB3C0920}" type="presParOf" srcId="{CA75C928-7EBF-194E-8D6D-A82F986CD0C6}" destId="{9F27D6DC-1F2B-7744-AB44-F95CB3588EA2}" srcOrd="1" destOrd="0" presId="urn:microsoft.com/office/officeart/2005/8/layout/list1"/>
    <dgm:cxn modelId="{8E0FF3DB-1F48-154D-AE21-3F79EA6F7EDE}" type="presParOf" srcId="{38921C6F-F36A-4841-BAD8-C903163E6987}" destId="{1FF102FA-668D-A04B-8834-D142FA6C52EC}" srcOrd="1" destOrd="0" presId="urn:microsoft.com/office/officeart/2005/8/layout/list1"/>
    <dgm:cxn modelId="{EADD1087-8378-6243-AE9E-96456EE57ECE}" type="presParOf" srcId="{38921C6F-F36A-4841-BAD8-C903163E6987}" destId="{AA82D9DB-A488-6D46-8B85-3412B019F831}"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34C8CA6-6FBB-9543-B7CE-61E8B118F161}"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A9387B20-B672-7340-B5F6-86E17F6B3B71}">
      <dgm:prSet custT="1"/>
      <dgm:spPr>
        <a:solidFill>
          <a:schemeClr val="tx1"/>
        </a:solidFill>
        <a:ln w="25400">
          <a:solidFill>
            <a:schemeClr val="accent5">
              <a:lumMod val="50000"/>
            </a:schemeClr>
          </a:solidFill>
        </a:ln>
      </dgm:spPr>
      <dgm:t>
        <a:bodyPr/>
        <a:lstStyle/>
        <a:p>
          <a:pPr rtl="0"/>
          <a:r>
            <a:rPr lang="en-US" sz="1800" b="1" dirty="0">
              <a:solidFill>
                <a:schemeClr val="bg1"/>
              </a:solidFill>
            </a:rPr>
            <a:t>First generation:  simple scanners</a:t>
          </a:r>
          <a:endParaRPr lang="en-US" sz="1800" dirty="0">
            <a:solidFill>
              <a:schemeClr val="bg1"/>
            </a:solidFill>
          </a:endParaRPr>
        </a:p>
      </dgm:t>
    </dgm:pt>
    <dgm:pt modelId="{A0FB0AFA-7044-F944-A68F-E4B57752DA85}" type="parTrans" cxnId="{1601031A-F7DA-CB4F-924C-7FB78F92F8D0}">
      <dgm:prSet/>
      <dgm:spPr/>
      <dgm:t>
        <a:bodyPr/>
        <a:lstStyle/>
        <a:p>
          <a:endParaRPr lang="en-US"/>
        </a:p>
      </dgm:t>
    </dgm:pt>
    <dgm:pt modelId="{849488E8-B7E6-C144-8049-60F5D218F3E2}" type="sibTrans" cxnId="{1601031A-F7DA-CB4F-924C-7FB78F92F8D0}">
      <dgm:prSet/>
      <dgm:spPr>
        <a:solidFill>
          <a:schemeClr val="accent5">
            <a:lumMod val="75000"/>
          </a:schemeClr>
        </a:solidFill>
        <a:ln w="19050">
          <a:solidFill>
            <a:schemeClr val="bg1"/>
          </a:solidFill>
        </a:ln>
      </dgm:spPr>
      <dgm:t>
        <a:bodyPr/>
        <a:lstStyle/>
        <a:p>
          <a:endParaRPr lang="en-US"/>
        </a:p>
      </dgm:t>
    </dgm:pt>
    <dgm:pt modelId="{A5796948-3AB1-F347-9BCD-7900063785F2}">
      <dgm:prSet custT="1"/>
      <dgm:spPr>
        <a:solidFill>
          <a:schemeClr val="tx1"/>
        </a:solidFill>
        <a:ln w="25400">
          <a:solidFill>
            <a:schemeClr val="accent5">
              <a:lumMod val="50000"/>
            </a:schemeClr>
          </a:solidFill>
        </a:ln>
      </dgm:spPr>
      <dgm:t>
        <a:bodyPr/>
        <a:lstStyle/>
        <a:p>
          <a:pPr rtl="0"/>
          <a:r>
            <a:rPr lang="en-US" sz="1400" b="1" dirty="0">
              <a:solidFill>
                <a:schemeClr val="bg1"/>
              </a:solidFill>
            </a:rPr>
            <a:t>Requires a malware signature to identify the malware</a:t>
          </a:r>
          <a:endParaRPr lang="en-US" sz="1400" dirty="0">
            <a:solidFill>
              <a:schemeClr val="bg1"/>
            </a:solidFill>
          </a:endParaRPr>
        </a:p>
      </dgm:t>
    </dgm:pt>
    <dgm:pt modelId="{8ABDEA3F-342A-3E4D-831D-69C8F24027F2}" type="parTrans" cxnId="{E00F53A8-AFBC-8342-890B-912ED3421150}">
      <dgm:prSet/>
      <dgm:spPr/>
      <dgm:t>
        <a:bodyPr/>
        <a:lstStyle/>
        <a:p>
          <a:endParaRPr lang="en-US"/>
        </a:p>
      </dgm:t>
    </dgm:pt>
    <dgm:pt modelId="{B7FCF397-94DF-8346-9A6C-564C15E14D8D}" type="sibTrans" cxnId="{E00F53A8-AFBC-8342-890B-912ED3421150}">
      <dgm:prSet/>
      <dgm:spPr/>
      <dgm:t>
        <a:bodyPr/>
        <a:lstStyle/>
        <a:p>
          <a:endParaRPr lang="en-US"/>
        </a:p>
      </dgm:t>
    </dgm:pt>
    <dgm:pt modelId="{A1A8CB4B-B54D-E340-A2E4-F09B835C31E9}">
      <dgm:prSet custT="1"/>
      <dgm:spPr>
        <a:solidFill>
          <a:schemeClr val="tx1"/>
        </a:solidFill>
        <a:ln w="25400">
          <a:solidFill>
            <a:schemeClr val="accent5">
              <a:lumMod val="50000"/>
            </a:schemeClr>
          </a:solidFill>
        </a:ln>
      </dgm:spPr>
      <dgm:t>
        <a:bodyPr/>
        <a:lstStyle/>
        <a:p>
          <a:pPr rtl="0"/>
          <a:r>
            <a:rPr lang="en-US" sz="1400" b="1" dirty="0">
              <a:solidFill>
                <a:schemeClr val="bg1"/>
              </a:solidFill>
            </a:rPr>
            <a:t>Limited to the detection of known malware</a:t>
          </a:r>
          <a:endParaRPr lang="en-US" sz="1400" dirty="0">
            <a:solidFill>
              <a:schemeClr val="bg1"/>
            </a:solidFill>
          </a:endParaRPr>
        </a:p>
      </dgm:t>
    </dgm:pt>
    <dgm:pt modelId="{C44E964B-029B-0A48-AAE4-1414F6C63E07}" type="parTrans" cxnId="{246A4C6F-7311-C140-95C7-60AA5E838251}">
      <dgm:prSet/>
      <dgm:spPr/>
      <dgm:t>
        <a:bodyPr/>
        <a:lstStyle/>
        <a:p>
          <a:endParaRPr lang="en-US"/>
        </a:p>
      </dgm:t>
    </dgm:pt>
    <dgm:pt modelId="{EA9F4899-8D8A-AD4D-915A-B15A305A28BB}" type="sibTrans" cxnId="{246A4C6F-7311-C140-95C7-60AA5E838251}">
      <dgm:prSet/>
      <dgm:spPr/>
      <dgm:t>
        <a:bodyPr/>
        <a:lstStyle/>
        <a:p>
          <a:endParaRPr lang="en-US"/>
        </a:p>
      </dgm:t>
    </dgm:pt>
    <dgm:pt modelId="{44A84398-7644-C24F-B9C2-C86C1A26AC36}">
      <dgm:prSet custT="1"/>
      <dgm:spPr>
        <a:solidFill>
          <a:schemeClr val="tx1"/>
        </a:solidFill>
        <a:ln w="25400">
          <a:solidFill>
            <a:schemeClr val="accent3">
              <a:lumMod val="50000"/>
            </a:schemeClr>
          </a:solidFill>
        </a:ln>
      </dgm:spPr>
      <dgm:t>
        <a:bodyPr/>
        <a:lstStyle/>
        <a:p>
          <a:pPr rtl="0"/>
          <a:r>
            <a:rPr lang="en-US" sz="1800" b="1" dirty="0">
              <a:solidFill>
                <a:schemeClr val="bg1"/>
              </a:solidFill>
            </a:rPr>
            <a:t>Second generation:  heuristic scanners</a:t>
          </a:r>
        </a:p>
      </dgm:t>
    </dgm:pt>
    <dgm:pt modelId="{786C87B5-FD21-2549-B4FF-604DB196A17D}" type="parTrans" cxnId="{E912463C-A38E-5A40-AB70-7E1983D94C01}">
      <dgm:prSet/>
      <dgm:spPr/>
      <dgm:t>
        <a:bodyPr/>
        <a:lstStyle/>
        <a:p>
          <a:endParaRPr lang="en-US"/>
        </a:p>
      </dgm:t>
    </dgm:pt>
    <dgm:pt modelId="{93B04E5D-953A-0441-8ACE-78909736AB34}" type="sibTrans" cxnId="{E912463C-A38E-5A40-AB70-7E1983D94C01}">
      <dgm:prSet/>
      <dgm:spPr>
        <a:solidFill>
          <a:schemeClr val="accent3">
            <a:lumMod val="75000"/>
          </a:schemeClr>
        </a:solidFill>
        <a:ln w="19050">
          <a:solidFill>
            <a:schemeClr val="bg1"/>
          </a:solidFill>
        </a:ln>
      </dgm:spPr>
      <dgm:t>
        <a:bodyPr/>
        <a:lstStyle/>
        <a:p>
          <a:endParaRPr lang="en-US"/>
        </a:p>
      </dgm:t>
    </dgm:pt>
    <dgm:pt modelId="{14118421-1D3D-AD46-92B8-A8BFA8461ADB}">
      <dgm:prSet custT="1"/>
      <dgm:spPr>
        <a:solidFill>
          <a:schemeClr val="tx1"/>
        </a:solidFill>
        <a:ln w="25400">
          <a:solidFill>
            <a:schemeClr val="accent3">
              <a:lumMod val="50000"/>
            </a:schemeClr>
          </a:solidFill>
        </a:ln>
      </dgm:spPr>
      <dgm:t>
        <a:bodyPr/>
        <a:lstStyle/>
        <a:p>
          <a:pPr rtl="0"/>
          <a:r>
            <a:rPr lang="en-US" sz="1400" b="1" dirty="0">
              <a:solidFill>
                <a:schemeClr val="bg1"/>
              </a:solidFill>
            </a:rPr>
            <a:t>Uses heuristic rules to search for probable malware instances</a:t>
          </a:r>
          <a:endParaRPr lang="en-US" sz="1400" dirty="0">
            <a:solidFill>
              <a:schemeClr val="bg1"/>
            </a:solidFill>
          </a:endParaRPr>
        </a:p>
      </dgm:t>
    </dgm:pt>
    <dgm:pt modelId="{1D205F1D-37B8-F047-A343-EDA71298926A}" type="parTrans" cxnId="{DE48BCDB-FC3A-0346-AD62-D064995ECEF6}">
      <dgm:prSet/>
      <dgm:spPr/>
      <dgm:t>
        <a:bodyPr/>
        <a:lstStyle/>
        <a:p>
          <a:endParaRPr lang="en-US"/>
        </a:p>
      </dgm:t>
    </dgm:pt>
    <dgm:pt modelId="{A8429D03-48B4-2C44-BA6D-1FCF7B433F3C}" type="sibTrans" cxnId="{DE48BCDB-FC3A-0346-AD62-D064995ECEF6}">
      <dgm:prSet/>
      <dgm:spPr/>
      <dgm:t>
        <a:bodyPr/>
        <a:lstStyle/>
        <a:p>
          <a:endParaRPr lang="en-US"/>
        </a:p>
      </dgm:t>
    </dgm:pt>
    <dgm:pt modelId="{DDDD0939-CE4B-F34C-9DBD-A7F165D6D474}">
      <dgm:prSet custT="1"/>
      <dgm:spPr>
        <a:solidFill>
          <a:schemeClr val="tx1"/>
        </a:solidFill>
        <a:ln w="25400">
          <a:solidFill>
            <a:schemeClr val="accent3">
              <a:lumMod val="50000"/>
            </a:schemeClr>
          </a:solidFill>
        </a:ln>
      </dgm:spPr>
      <dgm:t>
        <a:bodyPr/>
        <a:lstStyle/>
        <a:p>
          <a:pPr rtl="0"/>
          <a:r>
            <a:rPr lang="en-US" sz="1400" b="1" dirty="0">
              <a:solidFill>
                <a:schemeClr val="bg1"/>
              </a:solidFill>
            </a:rPr>
            <a:t>Another approach is integrity checking</a:t>
          </a:r>
          <a:endParaRPr lang="en-US" sz="1400" dirty="0">
            <a:solidFill>
              <a:schemeClr val="bg1"/>
            </a:solidFill>
          </a:endParaRPr>
        </a:p>
      </dgm:t>
    </dgm:pt>
    <dgm:pt modelId="{C629B42A-69EB-1E4A-B3EE-472BEC1A8507}" type="parTrans" cxnId="{3FD62E7D-44FB-C94A-BC04-0A54F7E66067}">
      <dgm:prSet/>
      <dgm:spPr/>
      <dgm:t>
        <a:bodyPr/>
        <a:lstStyle/>
        <a:p>
          <a:endParaRPr lang="en-US"/>
        </a:p>
      </dgm:t>
    </dgm:pt>
    <dgm:pt modelId="{510935BB-F9DE-184A-A13B-850A96CCE03E}" type="sibTrans" cxnId="{3FD62E7D-44FB-C94A-BC04-0A54F7E66067}">
      <dgm:prSet/>
      <dgm:spPr/>
      <dgm:t>
        <a:bodyPr/>
        <a:lstStyle/>
        <a:p>
          <a:endParaRPr lang="en-US"/>
        </a:p>
      </dgm:t>
    </dgm:pt>
    <dgm:pt modelId="{8BC51053-E83D-0C4A-AD93-FD61B50E4F39}">
      <dgm:prSet custT="1"/>
      <dgm:spPr>
        <a:solidFill>
          <a:schemeClr val="tx1"/>
        </a:solidFill>
        <a:ln w="25400">
          <a:solidFill>
            <a:schemeClr val="accent5">
              <a:lumMod val="50000"/>
            </a:schemeClr>
          </a:solidFill>
        </a:ln>
      </dgm:spPr>
      <dgm:t>
        <a:bodyPr/>
        <a:lstStyle/>
        <a:p>
          <a:pPr rtl="0"/>
          <a:r>
            <a:rPr lang="en-US" sz="1800" b="1" dirty="0">
              <a:solidFill>
                <a:schemeClr val="bg1"/>
              </a:solidFill>
            </a:rPr>
            <a:t>Third generation:  activity traps</a:t>
          </a:r>
        </a:p>
      </dgm:t>
    </dgm:pt>
    <dgm:pt modelId="{9C010144-3946-9A4D-8782-C56F15F9D59B}" type="parTrans" cxnId="{1B3C2C02-3A46-2C44-84BE-5E9E9E249A15}">
      <dgm:prSet/>
      <dgm:spPr/>
      <dgm:t>
        <a:bodyPr/>
        <a:lstStyle/>
        <a:p>
          <a:endParaRPr lang="en-US"/>
        </a:p>
      </dgm:t>
    </dgm:pt>
    <dgm:pt modelId="{F54950E8-7470-2F42-91D4-281FD4B5AE4B}" type="sibTrans" cxnId="{1B3C2C02-3A46-2C44-84BE-5E9E9E249A15}">
      <dgm:prSet/>
      <dgm:spPr>
        <a:solidFill>
          <a:schemeClr val="accent5">
            <a:lumMod val="75000"/>
          </a:schemeClr>
        </a:solidFill>
        <a:ln w="19050">
          <a:solidFill>
            <a:schemeClr val="bg1"/>
          </a:solidFill>
        </a:ln>
      </dgm:spPr>
      <dgm:t>
        <a:bodyPr/>
        <a:lstStyle/>
        <a:p>
          <a:endParaRPr lang="en-US"/>
        </a:p>
      </dgm:t>
    </dgm:pt>
    <dgm:pt modelId="{C3464D69-FAA5-2D41-A248-E2866BFC71B0}">
      <dgm:prSet custT="1"/>
      <dgm:spPr>
        <a:solidFill>
          <a:schemeClr val="tx1"/>
        </a:solidFill>
        <a:ln w="25400">
          <a:solidFill>
            <a:schemeClr val="accent5">
              <a:lumMod val="50000"/>
            </a:schemeClr>
          </a:solidFill>
        </a:ln>
      </dgm:spPr>
      <dgm:t>
        <a:bodyPr/>
        <a:lstStyle/>
        <a:p>
          <a:pPr rtl="0"/>
          <a:r>
            <a:rPr lang="en-US" sz="1400" b="1" dirty="0">
              <a:solidFill>
                <a:schemeClr val="bg1"/>
              </a:solidFill>
            </a:rPr>
            <a:t>Memory-resident programs that identify malware by its actions rather than its structure in an infected program</a:t>
          </a:r>
          <a:endParaRPr lang="en-US" sz="1400" dirty="0">
            <a:solidFill>
              <a:schemeClr val="bg1"/>
            </a:solidFill>
          </a:endParaRPr>
        </a:p>
      </dgm:t>
    </dgm:pt>
    <dgm:pt modelId="{664587F9-5C86-B440-B7D3-F0D448642E96}" type="parTrans" cxnId="{D8B3DEB2-406E-9549-9A94-57648CF30860}">
      <dgm:prSet/>
      <dgm:spPr/>
      <dgm:t>
        <a:bodyPr/>
        <a:lstStyle/>
        <a:p>
          <a:endParaRPr lang="en-US"/>
        </a:p>
      </dgm:t>
    </dgm:pt>
    <dgm:pt modelId="{E255B738-9193-6748-B057-B64FB2FCFDE8}" type="sibTrans" cxnId="{D8B3DEB2-406E-9549-9A94-57648CF30860}">
      <dgm:prSet/>
      <dgm:spPr/>
      <dgm:t>
        <a:bodyPr/>
        <a:lstStyle/>
        <a:p>
          <a:endParaRPr lang="en-US"/>
        </a:p>
      </dgm:t>
    </dgm:pt>
    <dgm:pt modelId="{9F20680C-5A0E-FC42-B945-A1979A0A769C}">
      <dgm:prSet custT="1"/>
      <dgm:spPr>
        <a:solidFill>
          <a:schemeClr val="tx1"/>
        </a:solidFill>
        <a:ln w="25400">
          <a:solidFill>
            <a:schemeClr val="accent3">
              <a:lumMod val="50000"/>
            </a:schemeClr>
          </a:solidFill>
        </a:ln>
      </dgm:spPr>
      <dgm:t>
        <a:bodyPr/>
        <a:lstStyle/>
        <a:p>
          <a:pPr rtl="0"/>
          <a:r>
            <a:rPr lang="en-US" sz="1800" b="1" dirty="0">
              <a:solidFill>
                <a:schemeClr val="bg1"/>
              </a:solidFill>
              <a:latin typeface="+mn-lt"/>
            </a:rPr>
            <a:t>Fourth generation:  full-featured protection</a:t>
          </a:r>
        </a:p>
      </dgm:t>
    </dgm:pt>
    <dgm:pt modelId="{30838EF4-1E14-BC45-9251-1DB65C6C224F}" type="parTrans" cxnId="{D389312F-4DC4-BE45-83E9-D7C416C73DF9}">
      <dgm:prSet/>
      <dgm:spPr/>
      <dgm:t>
        <a:bodyPr/>
        <a:lstStyle/>
        <a:p>
          <a:endParaRPr lang="en-US"/>
        </a:p>
      </dgm:t>
    </dgm:pt>
    <dgm:pt modelId="{AF5D4AAF-3929-054F-BC76-04943D023AE7}" type="sibTrans" cxnId="{D389312F-4DC4-BE45-83E9-D7C416C73DF9}">
      <dgm:prSet/>
      <dgm:spPr/>
      <dgm:t>
        <a:bodyPr/>
        <a:lstStyle/>
        <a:p>
          <a:endParaRPr lang="en-US"/>
        </a:p>
      </dgm:t>
    </dgm:pt>
    <dgm:pt modelId="{FEF33A1F-9467-E946-9327-ACEF826BCA77}">
      <dgm:prSet custT="1"/>
      <dgm:spPr>
        <a:solidFill>
          <a:schemeClr val="tx1"/>
        </a:solidFill>
        <a:ln w="25400">
          <a:solidFill>
            <a:schemeClr val="accent3">
              <a:lumMod val="50000"/>
            </a:schemeClr>
          </a:solidFill>
        </a:ln>
      </dgm:spPr>
      <dgm:t>
        <a:bodyPr/>
        <a:lstStyle/>
        <a:p>
          <a:pPr rtl="0"/>
          <a:r>
            <a:rPr lang="en-US" sz="1400" b="1" dirty="0">
              <a:solidFill>
                <a:schemeClr val="bg1"/>
              </a:solidFill>
              <a:latin typeface="+mn-lt"/>
            </a:rPr>
            <a:t>Packages consisting of a variety of anti-virus techniques used in conjunction</a:t>
          </a:r>
          <a:endParaRPr lang="en-US" sz="1400" dirty="0">
            <a:solidFill>
              <a:schemeClr val="bg1"/>
            </a:solidFill>
            <a:latin typeface="+mn-lt"/>
          </a:endParaRPr>
        </a:p>
      </dgm:t>
    </dgm:pt>
    <dgm:pt modelId="{983420CE-2DB1-0546-98EF-B669BF2CFFAB}" type="parTrans" cxnId="{EF4559A8-70E2-F046-92D1-B6343F2A3D26}">
      <dgm:prSet/>
      <dgm:spPr/>
      <dgm:t>
        <a:bodyPr/>
        <a:lstStyle/>
        <a:p>
          <a:endParaRPr lang="en-US"/>
        </a:p>
      </dgm:t>
    </dgm:pt>
    <dgm:pt modelId="{AEF5ECFB-E8A9-0248-9B3C-9D3DC3B27179}" type="sibTrans" cxnId="{EF4559A8-70E2-F046-92D1-B6343F2A3D26}">
      <dgm:prSet/>
      <dgm:spPr/>
      <dgm:t>
        <a:bodyPr/>
        <a:lstStyle/>
        <a:p>
          <a:endParaRPr lang="en-US"/>
        </a:p>
      </dgm:t>
    </dgm:pt>
    <dgm:pt modelId="{5A66A6CD-C50B-A643-9F51-B915134C965A}">
      <dgm:prSet custT="1"/>
      <dgm:spPr>
        <a:solidFill>
          <a:schemeClr val="tx1"/>
        </a:solidFill>
        <a:ln w="25400">
          <a:solidFill>
            <a:schemeClr val="accent3">
              <a:lumMod val="50000"/>
            </a:schemeClr>
          </a:solidFill>
        </a:ln>
      </dgm:spPr>
      <dgm:t>
        <a:bodyPr/>
        <a:lstStyle/>
        <a:p>
          <a:pPr rtl="0"/>
          <a:r>
            <a:rPr lang="en-US" sz="1400" b="1" dirty="0">
              <a:solidFill>
                <a:schemeClr val="bg1"/>
              </a:solidFill>
              <a:latin typeface="+mn-lt"/>
            </a:rPr>
            <a:t>Include scanning and activity trap components and access control capability</a:t>
          </a:r>
        </a:p>
      </dgm:t>
    </dgm:pt>
    <dgm:pt modelId="{5B9F8891-F68C-9A47-AAEC-DDE3D0D04F0A}" type="parTrans" cxnId="{223C8C5B-CD90-8B4D-BFD0-08FC040CF2C7}">
      <dgm:prSet/>
      <dgm:spPr/>
      <dgm:t>
        <a:bodyPr/>
        <a:lstStyle/>
        <a:p>
          <a:endParaRPr lang="en-US"/>
        </a:p>
      </dgm:t>
    </dgm:pt>
    <dgm:pt modelId="{2BB31764-3E6D-D842-8FB0-731F0FB8EAC5}" type="sibTrans" cxnId="{223C8C5B-CD90-8B4D-BFD0-08FC040CF2C7}">
      <dgm:prSet/>
      <dgm:spPr/>
      <dgm:t>
        <a:bodyPr/>
        <a:lstStyle/>
        <a:p>
          <a:endParaRPr lang="en-US"/>
        </a:p>
      </dgm:t>
    </dgm:pt>
    <dgm:pt modelId="{673A5DDD-4EF7-F745-8BD9-3D506144519E}" type="pres">
      <dgm:prSet presAssocID="{934C8CA6-6FBB-9543-B7CE-61E8B118F161}" presName="outerComposite" presStyleCnt="0">
        <dgm:presLayoutVars>
          <dgm:chMax val="5"/>
          <dgm:dir/>
          <dgm:resizeHandles val="exact"/>
        </dgm:presLayoutVars>
      </dgm:prSet>
      <dgm:spPr/>
      <dgm:t>
        <a:bodyPr/>
        <a:lstStyle/>
        <a:p>
          <a:endParaRPr lang="en-US"/>
        </a:p>
      </dgm:t>
    </dgm:pt>
    <dgm:pt modelId="{3880EE71-66AC-D845-B2FC-AD972C825022}" type="pres">
      <dgm:prSet presAssocID="{934C8CA6-6FBB-9543-B7CE-61E8B118F161}" presName="dummyMaxCanvas" presStyleCnt="0">
        <dgm:presLayoutVars/>
      </dgm:prSet>
      <dgm:spPr/>
    </dgm:pt>
    <dgm:pt modelId="{AB278546-B3AD-1D4A-A57A-27C45BE738AF}" type="pres">
      <dgm:prSet presAssocID="{934C8CA6-6FBB-9543-B7CE-61E8B118F161}" presName="FourNodes_1" presStyleLbl="node1" presStyleIdx="0" presStyleCnt="4">
        <dgm:presLayoutVars>
          <dgm:bulletEnabled val="1"/>
        </dgm:presLayoutVars>
      </dgm:prSet>
      <dgm:spPr/>
      <dgm:t>
        <a:bodyPr/>
        <a:lstStyle/>
        <a:p>
          <a:endParaRPr lang="en-US"/>
        </a:p>
      </dgm:t>
    </dgm:pt>
    <dgm:pt modelId="{94FD8FE7-6F22-4446-A769-855654CE6791}" type="pres">
      <dgm:prSet presAssocID="{934C8CA6-6FBB-9543-B7CE-61E8B118F161}" presName="FourNodes_2" presStyleLbl="node1" presStyleIdx="1" presStyleCnt="4">
        <dgm:presLayoutVars>
          <dgm:bulletEnabled val="1"/>
        </dgm:presLayoutVars>
      </dgm:prSet>
      <dgm:spPr/>
      <dgm:t>
        <a:bodyPr/>
        <a:lstStyle/>
        <a:p>
          <a:endParaRPr lang="en-US"/>
        </a:p>
      </dgm:t>
    </dgm:pt>
    <dgm:pt modelId="{AC2EFB6D-8EA1-E644-86A1-65580E90AFF3}" type="pres">
      <dgm:prSet presAssocID="{934C8CA6-6FBB-9543-B7CE-61E8B118F161}" presName="FourNodes_3" presStyleLbl="node1" presStyleIdx="2" presStyleCnt="4">
        <dgm:presLayoutVars>
          <dgm:bulletEnabled val="1"/>
        </dgm:presLayoutVars>
      </dgm:prSet>
      <dgm:spPr/>
      <dgm:t>
        <a:bodyPr/>
        <a:lstStyle/>
        <a:p>
          <a:endParaRPr lang="en-US"/>
        </a:p>
      </dgm:t>
    </dgm:pt>
    <dgm:pt modelId="{13F1E58B-65A0-384C-87AB-DB53A019CB12}" type="pres">
      <dgm:prSet presAssocID="{934C8CA6-6FBB-9543-B7CE-61E8B118F161}" presName="FourNodes_4" presStyleLbl="node1" presStyleIdx="3" presStyleCnt="4" custScaleX="102713" custScaleY="104865">
        <dgm:presLayoutVars>
          <dgm:bulletEnabled val="1"/>
        </dgm:presLayoutVars>
      </dgm:prSet>
      <dgm:spPr/>
      <dgm:t>
        <a:bodyPr/>
        <a:lstStyle/>
        <a:p>
          <a:endParaRPr lang="en-US"/>
        </a:p>
      </dgm:t>
    </dgm:pt>
    <dgm:pt modelId="{A85C3921-15A0-C549-9569-F89001426921}" type="pres">
      <dgm:prSet presAssocID="{934C8CA6-6FBB-9543-B7CE-61E8B118F161}" presName="FourConn_1-2" presStyleLbl="fgAccFollowNode1" presStyleIdx="0" presStyleCnt="3">
        <dgm:presLayoutVars>
          <dgm:bulletEnabled val="1"/>
        </dgm:presLayoutVars>
      </dgm:prSet>
      <dgm:spPr/>
      <dgm:t>
        <a:bodyPr/>
        <a:lstStyle/>
        <a:p>
          <a:endParaRPr lang="en-US"/>
        </a:p>
      </dgm:t>
    </dgm:pt>
    <dgm:pt modelId="{3CB918A4-7D15-6C48-8FC2-A2F2A79D93C2}" type="pres">
      <dgm:prSet presAssocID="{934C8CA6-6FBB-9543-B7CE-61E8B118F161}" presName="FourConn_2-3" presStyleLbl="fgAccFollowNode1" presStyleIdx="1" presStyleCnt="3">
        <dgm:presLayoutVars>
          <dgm:bulletEnabled val="1"/>
        </dgm:presLayoutVars>
      </dgm:prSet>
      <dgm:spPr/>
      <dgm:t>
        <a:bodyPr/>
        <a:lstStyle/>
        <a:p>
          <a:endParaRPr lang="en-US"/>
        </a:p>
      </dgm:t>
    </dgm:pt>
    <dgm:pt modelId="{26AF2E0D-887C-644F-B5C8-6BFDF633602B}" type="pres">
      <dgm:prSet presAssocID="{934C8CA6-6FBB-9543-B7CE-61E8B118F161}" presName="FourConn_3-4" presStyleLbl="fgAccFollowNode1" presStyleIdx="2" presStyleCnt="3">
        <dgm:presLayoutVars>
          <dgm:bulletEnabled val="1"/>
        </dgm:presLayoutVars>
      </dgm:prSet>
      <dgm:spPr/>
      <dgm:t>
        <a:bodyPr/>
        <a:lstStyle/>
        <a:p>
          <a:endParaRPr lang="en-US"/>
        </a:p>
      </dgm:t>
    </dgm:pt>
    <dgm:pt modelId="{B8ED5B37-5D16-C94A-8836-EB8D8B08BE3B}" type="pres">
      <dgm:prSet presAssocID="{934C8CA6-6FBB-9543-B7CE-61E8B118F161}" presName="FourNodes_1_text" presStyleLbl="node1" presStyleIdx="3" presStyleCnt="4">
        <dgm:presLayoutVars>
          <dgm:bulletEnabled val="1"/>
        </dgm:presLayoutVars>
      </dgm:prSet>
      <dgm:spPr/>
      <dgm:t>
        <a:bodyPr/>
        <a:lstStyle/>
        <a:p>
          <a:endParaRPr lang="en-US"/>
        </a:p>
      </dgm:t>
    </dgm:pt>
    <dgm:pt modelId="{AE798FCC-0D4E-8B46-93F3-5F646AE410F4}" type="pres">
      <dgm:prSet presAssocID="{934C8CA6-6FBB-9543-B7CE-61E8B118F161}" presName="FourNodes_2_text" presStyleLbl="node1" presStyleIdx="3" presStyleCnt="4">
        <dgm:presLayoutVars>
          <dgm:bulletEnabled val="1"/>
        </dgm:presLayoutVars>
      </dgm:prSet>
      <dgm:spPr/>
      <dgm:t>
        <a:bodyPr/>
        <a:lstStyle/>
        <a:p>
          <a:endParaRPr lang="en-US"/>
        </a:p>
      </dgm:t>
    </dgm:pt>
    <dgm:pt modelId="{C871861A-17A3-BE45-9DE8-E1950D7A7023}" type="pres">
      <dgm:prSet presAssocID="{934C8CA6-6FBB-9543-B7CE-61E8B118F161}" presName="FourNodes_3_text" presStyleLbl="node1" presStyleIdx="3" presStyleCnt="4">
        <dgm:presLayoutVars>
          <dgm:bulletEnabled val="1"/>
        </dgm:presLayoutVars>
      </dgm:prSet>
      <dgm:spPr/>
      <dgm:t>
        <a:bodyPr/>
        <a:lstStyle/>
        <a:p>
          <a:endParaRPr lang="en-US"/>
        </a:p>
      </dgm:t>
    </dgm:pt>
    <dgm:pt modelId="{9B2FB06B-605C-174F-A620-6B0E16A43446}" type="pres">
      <dgm:prSet presAssocID="{934C8CA6-6FBB-9543-B7CE-61E8B118F161}" presName="FourNodes_4_text" presStyleLbl="node1" presStyleIdx="3" presStyleCnt="4">
        <dgm:presLayoutVars>
          <dgm:bulletEnabled val="1"/>
        </dgm:presLayoutVars>
      </dgm:prSet>
      <dgm:spPr/>
      <dgm:t>
        <a:bodyPr/>
        <a:lstStyle/>
        <a:p>
          <a:endParaRPr lang="en-US"/>
        </a:p>
      </dgm:t>
    </dgm:pt>
  </dgm:ptLst>
  <dgm:cxnLst>
    <dgm:cxn modelId="{40E89A75-0DF7-4848-AFA4-37CF87A5A7CF}" type="presOf" srcId="{44A84398-7644-C24F-B9C2-C86C1A26AC36}" destId="{AE798FCC-0D4E-8B46-93F3-5F646AE410F4}" srcOrd="1" destOrd="0" presId="urn:microsoft.com/office/officeart/2005/8/layout/vProcess5"/>
    <dgm:cxn modelId="{AEF5AE54-94C6-5E40-8B66-4A359DE668CF}" type="presOf" srcId="{9F20680C-5A0E-FC42-B945-A1979A0A769C}" destId="{13F1E58B-65A0-384C-87AB-DB53A019CB12}" srcOrd="0" destOrd="0" presId="urn:microsoft.com/office/officeart/2005/8/layout/vProcess5"/>
    <dgm:cxn modelId="{B8E1B52C-D066-3D4B-8488-923EC3FC1A4F}" type="presOf" srcId="{9F20680C-5A0E-FC42-B945-A1979A0A769C}" destId="{9B2FB06B-605C-174F-A620-6B0E16A43446}" srcOrd="1" destOrd="0" presId="urn:microsoft.com/office/officeart/2005/8/layout/vProcess5"/>
    <dgm:cxn modelId="{A0AB61AA-E935-2E4F-A7C4-743DFA124F2D}" type="presOf" srcId="{A1A8CB4B-B54D-E340-A2E4-F09B835C31E9}" destId="{B8ED5B37-5D16-C94A-8836-EB8D8B08BE3B}" srcOrd="1" destOrd="2" presId="urn:microsoft.com/office/officeart/2005/8/layout/vProcess5"/>
    <dgm:cxn modelId="{8DE4F614-6BE9-EF43-8640-73360885999C}" type="presOf" srcId="{A9387B20-B672-7340-B5F6-86E17F6B3B71}" destId="{AB278546-B3AD-1D4A-A57A-27C45BE738AF}" srcOrd="0" destOrd="0" presId="urn:microsoft.com/office/officeart/2005/8/layout/vProcess5"/>
    <dgm:cxn modelId="{9984E5CB-2165-B947-A134-842FDA1BCF63}" type="presOf" srcId="{5A66A6CD-C50B-A643-9F51-B915134C965A}" destId="{9B2FB06B-605C-174F-A620-6B0E16A43446}" srcOrd="1" destOrd="2" presId="urn:microsoft.com/office/officeart/2005/8/layout/vProcess5"/>
    <dgm:cxn modelId="{3FD62E7D-44FB-C94A-BC04-0A54F7E66067}" srcId="{44A84398-7644-C24F-B9C2-C86C1A26AC36}" destId="{DDDD0939-CE4B-F34C-9DBD-A7F165D6D474}" srcOrd="1" destOrd="0" parTransId="{C629B42A-69EB-1E4A-B3EE-472BEC1A8507}" sibTransId="{510935BB-F9DE-184A-A13B-850A96CCE03E}"/>
    <dgm:cxn modelId="{00815BB7-4C44-2A41-B169-BCDB8BF252DE}" type="presOf" srcId="{14118421-1D3D-AD46-92B8-A8BFA8461ADB}" destId="{94FD8FE7-6F22-4446-A769-855654CE6791}" srcOrd="0" destOrd="1" presId="urn:microsoft.com/office/officeart/2005/8/layout/vProcess5"/>
    <dgm:cxn modelId="{6AA2EF46-1326-9744-9D7F-62C8196813B3}" type="presOf" srcId="{FEF33A1F-9467-E946-9327-ACEF826BCA77}" destId="{9B2FB06B-605C-174F-A620-6B0E16A43446}" srcOrd="1" destOrd="1" presId="urn:microsoft.com/office/officeart/2005/8/layout/vProcess5"/>
    <dgm:cxn modelId="{1601031A-F7DA-CB4F-924C-7FB78F92F8D0}" srcId="{934C8CA6-6FBB-9543-B7CE-61E8B118F161}" destId="{A9387B20-B672-7340-B5F6-86E17F6B3B71}" srcOrd="0" destOrd="0" parTransId="{A0FB0AFA-7044-F944-A68F-E4B57752DA85}" sibTransId="{849488E8-B7E6-C144-8049-60F5D218F3E2}"/>
    <dgm:cxn modelId="{E00F53A8-AFBC-8342-890B-912ED3421150}" srcId="{A9387B20-B672-7340-B5F6-86E17F6B3B71}" destId="{A5796948-3AB1-F347-9BCD-7900063785F2}" srcOrd="0" destOrd="0" parTransId="{8ABDEA3F-342A-3E4D-831D-69C8F24027F2}" sibTransId="{B7FCF397-94DF-8346-9A6C-564C15E14D8D}"/>
    <dgm:cxn modelId="{1B3C2C02-3A46-2C44-84BE-5E9E9E249A15}" srcId="{934C8CA6-6FBB-9543-B7CE-61E8B118F161}" destId="{8BC51053-E83D-0C4A-AD93-FD61B50E4F39}" srcOrd="2" destOrd="0" parTransId="{9C010144-3946-9A4D-8782-C56F15F9D59B}" sibTransId="{F54950E8-7470-2F42-91D4-281FD4B5AE4B}"/>
    <dgm:cxn modelId="{90C3ADBB-8C00-E74D-B245-D1124EFB590C}" type="presOf" srcId="{934C8CA6-6FBB-9543-B7CE-61E8B118F161}" destId="{673A5DDD-4EF7-F745-8BD9-3D506144519E}" srcOrd="0" destOrd="0" presId="urn:microsoft.com/office/officeart/2005/8/layout/vProcess5"/>
    <dgm:cxn modelId="{CC803436-5A36-CD46-8F75-3B1983B4A2AB}" type="presOf" srcId="{5A66A6CD-C50B-A643-9F51-B915134C965A}" destId="{13F1E58B-65A0-384C-87AB-DB53A019CB12}" srcOrd="0" destOrd="2" presId="urn:microsoft.com/office/officeart/2005/8/layout/vProcess5"/>
    <dgm:cxn modelId="{71CC8AC8-5A3C-7A4D-B8D5-CC5428D0320A}" type="presOf" srcId="{44A84398-7644-C24F-B9C2-C86C1A26AC36}" destId="{94FD8FE7-6F22-4446-A769-855654CE6791}" srcOrd="0" destOrd="0" presId="urn:microsoft.com/office/officeart/2005/8/layout/vProcess5"/>
    <dgm:cxn modelId="{E912463C-A38E-5A40-AB70-7E1983D94C01}" srcId="{934C8CA6-6FBB-9543-B7CE-61E8B118F161}" destId="{44A84398-7644-C24F-B9C2-C86C1A26AC36}" srcOrd="1" destOrd="0" parTransId="{786C87B5-FD21-2549-B4FF-604DB196A17D}" sibTransId="{93B04E5D-953A-0441-8ACE-78909736AB34}"/>
    <dgm:cxn modelId="{DE48BCDB-FC3A-0346-AD62-D064995ECEF6}" srcId="{44A84398-7644-C24F-B9C2-C86C1A26AC36}" destId="{14118421-1D3D-AD46-92B8-A8BFA8461ADB}" srcOrd="0" destOrd="0" parTransId="{1D205F1D-37B8-F047-A343-EDA71298926A}" sibTransId="{A8429D03-48B4-2C44-BA6D-1FCF7B433F3C}"/>
    <dgm:cxn modelId="{A413037F-21E8-AB4E-9CB7-65636982BE47}" type="presOf" srcId="{93B04E5D-953A-0441-8ACE-78909736AB34}" destId="{3CB918A4-7D15-6C48-8FC2-A2F2A79D93C2}" srcOrd="0" destOrd="0" presId="urn:microsoft.com/office/officeart/2005/8/layout/vProcess5"/>
    <dgm:cxn modelId="{223C8C5B-CD90-8B4D-BFD0-08FC040CF2C7}" srcId="{9F20680C-5A0E-FC42-B945-A1979A0A769C}" destId="{5A66A6CD-C50B-A643-9F51-B915134C965A}" srcOrd="1" destOrd="0" parTransId="{5B9F8891-F68C-9A47-AAEC-DDE3D0D04F0A}" sibTransId="{2BB31764-3E6D-D842-8FB0-731F0FB8EAC5}"/>
    <dgm:cxn modelId="{011E86E0-95FC-6945-9EEA-8F49F50697A8}" type="presOf" srcId="{F54950E8-7470-2F42-91D4-281FD4B5AE4B}" destId="{26AF2E0D-887C-644F-B5C8-6BFDF633602B}" srcOrd="0" destOrd="0" presId="urn:microsoft.com/office/officeart/2005/8/layout/vProcess5"/>
    <dgm:cxn modelId="{EF4559A8-70E2-F046-92D1-B6343F2A3D26}" srcId="{9F20680C-5A0E-FC42-B945-A1979A0A769C}" destId="{FEF33A1F-9467-E946-9327-ACEF826BCA77}" srcOrd="0" destOrd="0" parTransId="{983420CE-2DB1-0546-98EF-B669BF2CFFAB}" sibTransId="{AEF5ECFB-E8A9-0248-9B3C-9D3DC3B27179}"/>
    <dgm:cxn modelId="{09469893-E03C-9841-92FA-4FDED2B829B9}" type="presOf" srcId="{C3464D69-FAA5-2D41-A248-E2866BFC71B0}" destId="{C871861A-17A3-BE45-9DE8-E1950D7A7023}" srcOrd="1" destOrd="1" presId="urn:microsoft.com/office/officeart/2005/8/layout/vProcess5"/>
    <dgm:cxn modelId="{246A4C6F-7311-C140-95C7-60AA5E838251}" srcId="{A9387B20-B672-7340-B5F6-86E17F6B3B71}" destId="{A1A8CB4B-B54D-E340-A2E4-F09B835C31E9}" srcOrd="1" destOrd="0" parTransId="{C44E964B-029B-0A48-AAE4-1414F6C63E07}" sibTransId="{EA9F4899-8D8A-AD4D-915A-B15A305A28BB}"/>
    <dgm:cxn modelId="{D389312F-4DC4-BE45-83E9-D7C416C73DF9}" srcId="{934C8CA6-6FBB-9543-B7CE-61E8B118F161}" destId="{9F20680C-5A0E-FC42-B945-A1979A0A769C}" srcOrd="3" destOrd="0" parTransId="{30838EF4-1E14-BC45-9251-1DB65C6C224F}" sibTransId="{AF5D4AAF-3929-054F-BC76-04943D023AE7}"/>
    <dgm:cxn modelId="{A4DAF352-E045-754A-8912-7C2E061AE40A}" type="presOf" srcId="{14118421-1D3D-AD46-92B8-A8BFA8461ADB}" destId="{AE798FCC-0D4E-8B46-93F3-5F646AE410F4}" srcOrd="1" destOrd="1" presId="urn:microsoft.com/office/officeart/2005/8/layout/vProcess5"/>
    <dgm:cxn modelId="{686B0E2A-D323-064A-8AAF-DB7E2898A377}" type="presOf" srcId="{A5796948-3AB1-F347-9BCD-7900063785F2}" destId="{AB278546-B3AD-1D4A-A57A-27C45BE738AF}" srcOrd="0" destOrd="1" presId="urn:microsoft.com/office/officeart/2005/8/layout/vProcess5"/>
    <dgm:cxn modelId="{5C19F547-9CB0-6F4E-B46F-9FB363E7E8C1}" type="presOf" srcId="{A5796948-3AB1-F347-9BCD-7900063785F2}" destId="{B8ED5B37-5D16-C94A-8836-EB8D8B08BE3B}" srcOrd="1" destOrd="1" presId="urn:microsoft.com/office/officeart/2005/8/layout/vProcess5"/>
    <dgm:cxn modelId="{69E8759D-6FAE-CF4B-BB45-F09A25EAB174}" type="presOf" srcId="{C3464D69-FAA5-2D41-A248-E2866BFC71B0}" destId="{AC2EFB6D-8EA1-E644-86A1-65580E90AFF3}" srcOrd="0" destOrd="1" presId="urn:microsoft.com/office/officeart/2005/8/layout/vProcess5"/>
    <dgm:cxn modelId="{B52BF030-D194-E74C-B14E-11CA66C64522}" type="presOf" srcId="{DDDD0939-CE4B-F34C-9DBD-A7F165D6D474}" destId="{AE798FCC-0D4E-8B46-93F3-5F646AE410F4}" srcOrd="1" destOrd="2" presId="urn:microsoft.com/office/officeart/2005/8/layout/vProcess5"/>
    <dgm:cxn modelId="{5CF370B3-840B-3F4B-8A8A-488B2C2B09CE}" type="presOf" srcId="{A9387B20-B672-7340-B5F6-86E17F6B3B71}" destId="{B8ED5B37-5D16-C94A-8836-EB8D8B08BE3B}" srcOrd="1" destOrd="0" presId="urn:microsoft.com/office/officeart/2005/8/layout/vProcess5"/>
    <dgm:cxn modelId="{CE2DD149-8D75-034E-9476-1681421736C8}" type="presOf" srcId="{A1A8CB4B-B54D-E340-A2E4-F09B835C31E9}" destId="{AB278546-B3AD-1D4A-A57A-27C45BE738AF}" srcOrd="0" destOrd="2" presId="urn:microsoft.com/office/officeart/2005/8/layout/vProcess5"/>
    <dgm:cxn modelId="{2C4D7460-0B16-5141-963C-BC4A45986074}" type="presOf" srcId="{849488E8-B7E6-C144-8049-60F5D218F3E2}" destId="{A85C3921-15A0-C549-9569-F89001426921}" srcOrd="0" destOrd="0" presId="urn:microsoft.com/office/officeart/2005/8/layout/vProcess5"/>
    <dgm:cxn modelId="{6100C7DA-E1E7-5243-8FD1-DAC572586602}" type="presOf" srcId="{DDDD0939-CE4B-F34C-9DBD-A7F165D6D474}" destId="{94FD8FE7-6F22-4446-A769-855654CE6791}" srcOrd="0" destOrd="2" presId="urn:microsoft.com/office/officeart/2005/8/layout/vProcess5"/>
    <dgm:cxn modelId="{12289F56-D7F0-A84D-BD70-3D5E1AA0F3D7}" type="presOf" srcId="{8BC51053-E83D-0C4A-AD93-FD61B50E4F39}" destId="{AC2EFB6D-8EA1-E644-86A1-65580E90AFF3}" srcOrd="0" destOrd="0" presId="urn:microsoft.com/office/officeart/2005/8/layout/vProcess5"/>
    <dgm:cxn modelId="{525F19C7-1F01-0040-B821-C6F0A782FB9B}" type="presOf" srcId="{FEF33A1F-9467-E946-9327-ACEF826BCA77}" destId="{13F1E58B-65A0-384C-87AB-DB53A019CB12}" srcOrd="0" destOrd="1" presId="urn:microsoft.com/office/officeart/2005/8/layout/vProcess5"/>
    <dgm:cxn modelId="{0A811B8E-A7C5-9F4B-87EE-E842FBCA4C6F}" type="presOf" srcId="{8BC51053-E83D-0C4A-AD93-FD61B50E4F39}" destId="{C871861A-17A3-BE45-9DE8-E1950D7A7023}" srcOrd="1" destOrd="0" presId="urn:microsoft.com/office/officeart/2005/8/layout/vProcess5"/>
    <dgm:cxn modelId="{D8B3DEB2-406E-9549-9A94-57648CF30860}" srcId="{8BC51053-E83D-0C4A-AD93-FD61B50E4F39}" destId="{C3464D69-FAA5-2D41-A248-E2866BFC71B0}" srcOrd="0" destOrd="0" parTransId="{664587F9-5C86-B440-B7D3-F0D448642E96}" sibTransId="{E255B738-9193-6748-B057-B64FB2FCFDE8}"/>
    <dgm:cxn modelId="{AB9CD3A5-CD65-5A43-8EE6-0AEFE579F3AB}" type="presParOf" srcId="{673A5DDD-4EF7-F745-8BD9-3D506144519E}" destId="{3880EE71-66AC-D845-B2FC-AD972C825022}" srcOrd="0" destOrd="0" presId="urn:microsoft.com/office/officeart/2005/8/layout/vProcess5"/>
    <dgm:cxn modelId="{56D944F5-FCFA-4643-A3B4-9044A8460F07}" type="presParOf" srcId="{673A5DDD-4EF7-F745-8BD9-3D506144519E}" destId="{AB278546-B3AD-1D4A-A57A-27C45BE738AF}" srcOrd="1" destOrd="0" presId="urn:microsoft.com/office/officeart/2005/8/layout/vProcess5"/>
    <dgm:cxn modelId="{3D77C279-AA16-0147-B486-2403BD46D3A7}" type="presParOf" srcId="{673A5DDD-4EF7-F745-8BD9-3D506144519E}" destId="{94FD8FE7-6F22-4446-A769-855654CE6791}" srcOrd="2" destOrd="0" presId="urn:microsoft.com/office/officeart/2005/8/layout/vProcess5"/>
    <dgm:cxn modelId="{9F5E8B27-0B61-CA48-99EA-CDE1C57D5269}" type="presParOf" srcId="{673A5DDD-4EF7-F745-8BD9-3D506144519E}" destId="{AC2EFB6D-8EA1-E644-86A1-65580E90AFF3}" srcOrd="3" destOrd="0" presId="urn:microsoft.com/office/officeart/2005/8/layout/vProcess5"/>
    <dgm:cxn modelId="{DBC5E65A-A585-A946-8893-8D0AD84CBEDE}" type="presParOf" srcId="{673A5DDD-4EF7-F745-8BD9-3D506144519E}" destId="{13F1E58B-65A0-384C-87AB-DB53A019CB12}" srcOrd="4" destOrd="0" presId="urn:microsoft.com/office/officeart/2005/8/layout/vProcess5"/>
    <dgm:cxn modelId="{A668581E-C06F-3545-97FC-82A3F4D31C9B}" type="presParOf" srcId="{673A5DDD-4EF7-F745-8BD9-3D506144519E}" destId="{A85C3921-15A0-C549-9569-F89001426921}" srcOrd="5" destOrd="0" presId="urn:microsoft.com/office/officeart/2005/8/layout/vProcess5"/>
    <dgm:cxn modelId="{2BC53527-E148-7243-8461-D319C5908F37}" type="presParOf" srcId="{673A5DDD-4EF7-F745-8BD9-3D506144519E}" destId="{3CB918A4-7D15-6C48-8FC2-A2F2A79D93C2}" srcOrd="6" destOrd="0" presId="urn:microsoft.com/office/officeart/2005/8/layout/vProcess5"/>
    <dgm:cxn modelId="{27F912F4-621E-F949-9D31-6F0486D6F795}" type="presParOf" srcId="{673A5DDD-4EF7-F745-8BD9-3D506144519E}" destId="{26AF2E0D-887C-644F-B5C8-6BFDF633602B}" srcOrd="7" destOrd="0" presId="urn:microsoft.com/office/officeart/2005/8/layout/vProcess5"/>
    <dgm:cxn modelId="{EE47DCDD-216C-2344-B5BE-48C401BF91A2}" type="presParOf" srcId="{673A5DDD-4EF7-F745-8BD9-3D506144519E}" destId="{B8ED5B37-5D16-C94A-8836-EB8D8B08BE3B}" srcOrd="8" destOrd="0" presId="urn:microsoft.com/office/officeart/2005/8/layout/vProcess5"/>
    <dgm:cxn modelId="{323B458D-AC9A-5848-B88D-55CCF92A5A0F}" type="presParOf" srcId="{673A5DDD-4EF7-F745-8BD9-3D506144519E}" destId="{AE798FCC-0D4E-8B46-93F3-5F646AE410F4}" srcOrd="9" destOrd="0" presId="urn:microsoft.com/office/officeart/2005/8/layout/vProcess5"/>
    <dgm:cxn modelId="{CFF6596F-A00F-044B-A3DA-17EB4D2BC1AB}" type="presParOf" srcId="{673A5DDD-4EF7-F745-8BD9-3D506144519E}" destId="{C871861A-17A3-BE45-9DE8-E1950D7A7023}" srcOrd="10" destOrd="0" presId="urn:microsoft.com/office/officeart/2005/8/layout/vProcess5"/>
    <dgm:cxn modelId="{FB124E7C-99B0-4D41-A71F-235A751B37F1}" type="presParOf" srcId="{673A5DDD-4EF7-F745-8BD9-3D506144519E}" destId="{9B2FB06B-605C-174F-A620-6B0E16A43446}"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15EF84D0-6647-4E4C-9813-A55665B36B6A}"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2679E822-FABA-2249-8854-D55A64A292C9}">
      <dgm:prSet phldrT="[Text]" custT="1"/>
      <dgm:spPr>
        <a:solidFill>
          <a:schemeClr val="accent3">
            <a:lumMod val="75000"/>
          </a:schemeClr>
        </a:solidFill>
        <a:ln>
          <a:solidFill>
            <a:schemeClr val="accent3">
              <a:lumMod val="75000"/>
            </a:schemeClr>
          </a:solidFill>
        </a:ln>
      </dgm:spPr>
      <dgm:t>
        <a:bodyPr/>
        <a:lstStyle/>
        <a:p>
          <a:r>
            <a:rPr lang="en-US" sz="2400" b="1" dirty="0">
              <a:solidFill>
                <a:schemeClr val="bg1"/>
              </a:solidFill>
            </a:rPr>
            <a:t>Limitations</a:t>
          </a:r>
        </a:p>
      </dgm:t>
    </dgm:pt>
    <dgm:pt modelId="{1DBAF106-3C25-4B4C-8F27-4E4178D84A3F}" type="parTrans" cxnId="{78BBAA4D-6127-5249-A362-32039BBC6A96}">
      <dgm:prSet/>
      <dgm:spPr/>
      <dgm:t>
        <a:bodyPr/>
        <a:lstStyle/>
        <a:p>
          <a:endParaRPr lang="en-US"/>
        </a:p>
      </dgm:t>
    </dgm:pt>
    <dgm:pt modelId="{FA95EDC8-71B8-9349-9DED-34B2509ED7C8}" type="sibTrans" cxnId="{78BBAA4D-6127-5249-A362-32039BBC6A96}">
      <dgm:prSet/>
      <dgm:spPr/>
      <dgm:t>
        <a:bodyPr/>
        <a:lstStyle/>
        <a:p>
          <a:endParaRPr lang="en-US"/>
        </a:p>
      </dgm:t>
    </dgm:pt>
    <dgm:pt modelId="{1816FA76-9179-5A43-813E-19BF3D9FD242}">
      <dgm:prSet/>
      <dgm:spPr/>
      <dgm:t>
        <a:bodyPr/>
        <a:lstStyle/>
        <a:p>
          <a:r>
            <a:rPr lang="en-US" dirty="0"/>
            <a:t>Because malicious code must run on the target machine before all its behaviors can be identified, it can cause harm before it has been detected and blocked</a:t>
          </a:r>
        </a:p>
      </dgm:t>
    </dgm:pt>
    <dgm:pt modelId="{0535B2CC-BE8E-1B45-B575-A5EDC0B6D939}" type="parTrans" cxnId="{E5116217-207C-9E46-823A-799237972CB1}">
      <dgm:prSet/>
      <dgm:spPr/>
      <dgm:t>
        <a:bodyPr/>
        <a:lstStyle/>
        <a:p>
          <a:endParaRPr lang="en-US"/>
        </a:p>
      </dgm:t>
    </dgm:pt>
    <dgm:pt modelId="{001CEF24-6F55-3B4C-A331-97287643566C}" type="sibTrans" cxnId="{E5116217-207C-9E46-823A-799237972CB1}">
      <dgm:prSet/>
      <dgm:spPr/>
      <dgm:t>
        <a:bodyPr/>
        <a:lstStyle/>
        <a:p>
          <a:endParaRPr lang="en-US"/>
        </a:p>
      </dgm:t>
    </dgm:pt>
    <dgm:pt modelId="{B26AED8C-CC50-FA4B-AECA-08BF294A2C86}" type="pres">
      <dgm:prSet presAssocID="{15EF84D0-6647-4E4C-9813-A55665B36B6A}" presName="Name0" presStyleCnt="0">
        <dgm:presLayoutVars>
          <dgm:dir/>
          <dgm:animLvl val="lvl"/>
          <dgm:resizeHandles val="exact"/>
        </dgm:presLayoutVars>
      </dgm:prSet>
      <dgm:spPr/>
      <dgm:t>
        <a:bodyPr/>
        <a:lstStyle/>
        <a:p>
          <a:endParaRPr lang="en-US"/>
        </a:p>
      </dgm:t>
    </dgm:pt>
    <dgm:pt modelId="{F480D903-B882-8640-BF8D-696D1724E482}" type="pres">
      <dgm:prSet presAssocID="{2679E822-FABA-2249-8854-D55A64A292C9}" presName="composite" presStyleCnt="0"/>
      <dgm:spPr/>
    </dgm:pt>
    <dgm:pt modelId="{3126E29D-81B9-3F4E-8767-9C436B29F342}" type="pres">
      <dgm:prSet presAssocID="{2679E822-FABA-2249-8854-D55A64A292C9}" presName="parTx" presStyleLbl="alignNode1" presStyleIdx="0" presStyleCnt="1">
        <dgm:presLayoutVars>
          <dgm:chMax val="0"/>
          <dgm:chPref val="0"/>
          <dgm:bulletEnabled val="1"/>
        </dgm:presLayoutVars>
      </dgm:prSet>
      <dgm:spPr/>
      <dgm:t>
        <a:bodyPr/>
        <a:lstStyle/>
        <a:p>
          <a:endParaRPr lang="en-US"/>
        </a:p>
      </dgm:t>
    </dgm:pt>
    <dgm:pt modelId="{A52D1D64-ABBA-EF44-91FB-3EC9E2D9120F}" type="pres">
      <dgm:prSet presAssocID="{2679E822-FABA-2249-8854-D55A64A292C9}" presName="desTx" presStyleLbl="alignAccFollowNode1" presStyleIdx="0" presStyleCnt="1">
        <dgm:presLayoutVars>
          <dgm:bulletEnabled val="1"/>
        </dgm:presLayoutVars>
      </dgm:prSet>
      <dgm:spPr/>
      <dgm:t>
        <a:bodyPr/>
        <a:lstStyle/>
        <a:p>
          <a:endParaRPr lang="en-US"/>
        </a:p>
      </dgm:t>
    </dgm:pt>
  </dgm:ptLst>
  <dgm:cxnLst>
    <dgm:cxn modelId="{C9D88A70-824A-E548-A400-F1A989D5CEF9}" type="presOf" srcId="{15EF84D0-6647-4E4C-9813-A55665B36B6A}" destId="{B26AED8C-CC50-FA4B-AECA-08BF294A2C86}" srcOrd="0" destOrd="0" presId="urn:microsoft.com/office/officeart/2005/8/layout/hList1"/>
    <dgm:cxn modelId="{15516779-052A-7D43-B39C-E070F9CFA1BE}" type="presOf" srcId="{1816FA76-9179-5A43-813E-19BF3D9FD242}" destId="{A52D1D64-ABBA-EF44-91FB-3EC9E2D9120F}" srcOrd="0" destOrd="0" presId="urn:microsoft.com/office/officeart/2005/8/layout/hList1"/>
    <dgm:cxn modelId="{895CF3FB-1E87-AE42-BFA9-FDEBAB0CF918}" type="presOf" srcId="{2679E822-FABA-2249-8854-D55A64A292C9}" destId="{3126E29D-81B9-3F4E-8767-9C436B29F342}" srcOrd="0" destOrd="0" presId="urn:microsoft.com/office/officeart/2005/8/layout/hList1"/>
    <dgm:cxn modelId="{78BBAA4D-6127-5249-A362-32039BBC6A96}" srcId="{15EF84D0-6647-4E4C-9813-A55665B36B6A}" destId="{2679E822-FABA-2249-8854-D55A64A292C9}" srcOrd="0" destOrd="0" parTransId="{1DBAF106-3C25-4B4C-8F27-4E4178D84A3F}" sibTransId="{FA95EDC8-71B8-9349-9DED-34B2509ED7C8}"/>
    <dgm:cxn modelId="{E5116217-207C-9E46-823A-799237972CB1}" srcId="{2679E822-FABA-2249-8854-D55A64A292C9}" destId="{1816FA76-9179-5A43-813E-19BF3D9FD242}" srcOrd="0" destOrd="0" parTransId="{0535B2CC-BE8E-1B45-B575-A5EDC0B6D939}" sibTransId="{001CEF24-6F55-3B4C-A331-97287643566C}"/>
    <dgm:cxn modelId="{647A893A-5DF5-434C-9350-D25FDDD814EE}" type="presParOf" srcId="{B26AED8C-CC50-FA4B-AECA-08BF294A2C86}" destId="{F480D903-B882-8640-BF8D-696D1724E482}" srcOrd="0" destOrd="0" presId="urn:microsoft.com/office/officeart/2005/8/layout/hList1"/>
    <dgm:cxn modelId="{20D87284-085C-4045-9FF0-454F0DBFA70B}" type="presParOf" srcId="{F480D903-B882-8640-BF8D-696D1724E482}" destId="{3126E29D-81B9-3F4E-8767-9C436B29F342}" srcOrd="0" destOrd="0" presId="urn:microsoft.com/office/officeart/2005/8/layout/hList1"/>
    <dgm:cxn modelId="{93009375-BE42-F840-8F66-E3C7B9E979D1}" type="presParOf" srcId="{F480D903-B882-8640-BF8D-696D1724E482}" destId="{A52D1D64-ABBA-EF44-91FB-3EC9E2D9120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821F9D88-2E06-DF41-8369-B191662882C6}"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857C5BCE-2EA8-7643-A788-F8A31BCF0732}">
      <dgm:prSet phldrT="[Text]" custT="1"/>
      <dgm:spPr>
        <a:solidFill>
          <a:schemeClr val="tx1"/>
        </a:solidFill>
      </dgm:spPr>
      <dgm:t>
        <a:bodyPr/>
        <a:lstStyle/>
        <a:p>
          <a:r>
            <a:rPr lang="en-US" sz="2800" b="1" dirty="0"/>
            <a:t>Ingress monitors</a:t>
          </a:r>
        </a:p>
      </dgm:t>
    </dgm:pt>
    <dgm:pt modelId="{B105AEE0-47F4-3D48-969D-317C7117E75D}" type="parTrans" cxnId="{459ED126-3223-3F4F-86DF-B3FDB9AF7B35}">
      <dgm:prSet/>
      <dgm:spPr/>
      <dgm:t>
        <a:bodyPr/>
        <a:lstStyle/>
        <a:p>
          <a:endParaRPr lang="en-US"/>
        </a:p>
      </dgm:t>
    </dgm:pt>
    <dgm:pt modelId="{1571D731-AFF1-1A49-9F0E-4C59752B6C95}" type="sibTrans" cxnId="{459ED126-3223-3F4F-86DF-B3FDB9AF7B35}">
      <dgm:prSet/>
      <dgm:spPr/>
      <dgm:t>
        <a:bodyPr/>
        <a:lstStyle/>
        <a:p>
          <a:endParaRPr lang="en-US"/>
        </a:p>
      </dgm:t>
    </dgm:pt>
    <dgm:pt modelId="{6DA376A2-1149-3445-A29B-2D1A0269852D}">
      <dgm:prSet custT="1"/>
      <dgm:spPr>
        <a:solidFill>
          <a:schemeClr val="accent5"/>
        </a:solidFill>
        <a:ln>
          <a:solidFill>
            <a:schemeClr val="bg1"/>
          </a:solidFill>
        </a:ln>
      </dgm:spPr>
      <dgm:t>
        <a:bodyPr/>
        <a:lstStyle/>
        <a:p>
          <a:r>
            <a:rPr lang="en-US" sz="1400" b="1" dirty="0">
              <a:solidFill>
                <a:schemeClr val="bg1"/>
              </a:solidFill>
            </a:rPr>
            <a:t>Located at the border between the enterprise network and the Internet </a:t>
          </a:r>
        </a:p>
      </dgm:t>
    </dgm:pt>
    <dgm:pt modelId="{872FA437-8FA9-2248-AF0B-4FDB69AEA76F}" type="parTrans" cxnId="{82093B57-B99B-964B-A830-834040698374}">
      <dgm:prSet/>
      <dgm:spPr/>
      <dgm:t>
        <a:bodyPr/>
        <a:lstStyle/>
        <a:p>
          <a:endParaRPr lang="en-US"/>
        </a:p>
      </dgm:t>
    </dgm:pt>
    <dgm:pt modelId="{D7972775-98EF-CD4E-9B91-7F1C29A8567D}" type="sibTrans" cxnId="{82093B57-B99B-964B-A830-834040698374}">
      <dgm:prSet/>
      <dgm:spPr/>
      <dgm:t>
        <a:bodyPr/>
        <a:lstStyle/>
        <a:p>
          <a:endParaRPr lang="en-US"/>
        </a:p>
      </dgm:t>
    </dgm:pt>
    <dgm:pt modelId="{B450FF1C-92FE-384D-BE9C-A82D6DE95DEF}">
      <dgm:prSet custT="1"/>
      <dgm:spPr>
        <a:solidFill>
          <a:schemeClr val="accent5"/>
        </a:solidFill>
        <a:ln>
          <a:solidFill>
            <a:schemeClr val="bg1"/>
          </a:solidFill>
        </a:ln>
      </dgm:spPr>
      <dgm:t>
        <a:bodyPr/>
        <a:lstStyle/>
        <a:p>
          <a:r>
            <a:rPr lang="en-US" sz="1400" b="1" dirty="0">
              <a:solidFill>
                <a:schemeClr val="bg1"/>
              </a:solidFill>
            </a:rPr>
            <a:t>One technique is to look for incoming traffic to unused local IP addresses</a:t>
          </a:r>
        </a:p>
      </dgm:t>
    </dgm:pt>
    <dgm:pt modelId="{C2C9ADD8-2861-6D42-AD74-2DFCCCE68D2A}" type="parTrans" cxnId="{8E6691DA-A865-9A43-BF53-0FA0C21DCD41}">
      <dgm:prSet/>
      <dgm:spPr/>
      <dgm:t>
        <a:bodyPr/>
        <a:lstStyle/>
        <a:p>
          <a:endParaRPr lang="en-US"/>
        </a:p>
      </dgm:t>
    </dgm:pt>
    <dgm:pt modelId="{64C5A7A0-F99F-0040-AA5F-160113CDDA58}" type="sibTrans" cxnId="{8E6691DA-A865-9A43-BF53-0FA0C21DCD41}">
      <dgm:prSet/>
      <dgm:spPr/>
      <dgm:t>
        <a:bodyPr/>
        <a:lstStyle/>
        <a:p>
          <a:endParaRPr lang="en-US"/>
        </a:p>
      </dgm:t>
    </dgm:pt>
    <dgm:pt modelId="{812FADF3-D6BF-5440-A991-16BAC70C22CA}">
      <dgm:prSet custT="1"/>
      <dgm:spPr>
        <a:solidFill>
          <a:schemeClr val="tx1"/>
        </a:solidFill>
      </dgm:spPr>
      <dgm:t>
        <a:bodyPr/>
        <a:lstStyle/>
        <a:p>
          <a:r>
            <a:rPr lang="en-US" sz="2800" b="1" dirty="0"/>
            <a:t>Egress monitors</a:t>
          </a:r>
        </a:p>
      </dgm:t>
    </dgm:pt>
    <dgm:pt modelId="{92117008-5834-DD4B-B6BC-3777204966B7}" type="parTrans" cxnId="{ADF893DF-C41B-3C4D-8229-882F033FF2D8}">
      <dgm:prSet/>
      <dgm:spPr/>
      <dgm:t>
        <a:bodyPr/>
        <a:lstStyle/>
        <a:p>
          <a:endParaRPr lang="en-US"/>
        </a:p>
      </dgm:t>
    </dgm:pt>
    <dgm:pt modelId="{81D7C8A1-93D9-F44A-8370-C2E32EA81B17}" type="sibTrans" cxnId="{ADF893DF-C41B-3C4D-8229-882F033FF2D8}">
      <dgm:prSet/>
      <dgm:spPr/>
      <dgm:t>
        <a:bodyPr/>
        <a:lstStyle/>
        <a:p>
          <a:endParaRPr lang="en-US"/>
        </a:p>
      </dgm:t>
    </dgm:pt>
    <dgm:pt modelId="{6DFAD406-5842-6A46-8D7C-1804FA5F54F8}">
      <dgm:prSet custT="1"/>
      <dgm:spPr>
        <a:solidFill>
          <a:schemeClr val="accent5"/>
        </a:solidFill>
        <a:ln>
          <a:solidFill>
            <a:schemeClr val="bg1"/>
          </a:solidFill>
        </a:ln>
      </dgm:spPr>
      <dgm:t>
        <a:bodyPr/>
        <a:lstStyle/>
        <a:p>
          <a:r>
            <a:rPr lang="en-US" sz="1400" b="1" dirty="0">
              <a:solidFill>
                <a:schemeClr val="bg1"/>
              </a:solidFill>
            </a:rPr>
            <a:t>Located at the egress point of individual LANs as well as at the border between the enterprise network and the Internet </a:t>
          </a:r>
        </a:p>
      </dgm:t>
    </dgm:pt>
    <dgm:pt modelId="{87BCBA13-290C-6246-8DE6-E90D53206FB2}" type="parTrans" cxnId="{9AB36BAB-03DE-E746-96C2-063DF8D96846}">
      <dgm:prSet/>
      <dgm:spPr/>
      <dgm:t>
        <a:bodyPr/>
        <a:lstStyle/>
        <a:p>
          <a:endParaRPr lang="en-US"/>
        </a:p>
      </dgm:t>
    </dgm:pt>
    <dgm:pt modelId="{47C2A4E9-DC6B-724E-9027-B561811E9C2A}" type="sibTrans" cxnId="{9AB36BAB-03DE-E746-96C2-063DF8D96846}">
      <dgm:prSet/>
      <dgm:spPr/>
      <dgm:t>
        <a:bodyPr/>
        <a:lstStyle/>
        <a:p>
          <a:endParaRPr lang="en-US"/>
        </a:p>
      </dgm:t>
    </dgm:pt>
    <dgm:pt modelId="{D148498D-FF0D-AA47-BDA7-FCF6CE5352DE}">
      <dgm:prSet custT="1"/>
      <dgm:spPr>
        <a:solidFill>
          <a:schemeClr val="accent5"/>
        </a:solidFill>
        <a:ln>
          <a:solidFill>
            <a:schemeClr val="bg1"/>
          </a:solidFill>
        </a:ln>
      </dgm:spPr>
      <dgm:t>
        <a:bodyPr/>
        <a:lstStyle/>
        <a:p>
          <a:r>
            <a:rPr lang="en-US" sz="1400" b="1" dirty="0">
              <a:solidFill>
                <a:schemeClr val="bg1"/>
              </a:solidFill>
            </a:rPr>
            <a:t>Monitors outgoing traffic for signs of scanning or other suspicious behavior</a:t>
          </a:r>
        </a:p>
      </dgm:t>
    </dgm:pt>
    <dgm:pt modelId="{374C135A-B404-1941-83A5-C38AA5CCA7F8}" type="parTrans" cxnId="{569549D8-660A-1440-8063-4EEBFFC6488F}">
      <dgm:prSet/>
      <dgm:spPr/>
      <dgm:t>
        <a:bodyPr/>
        <a:lstStyle/>
        <a:p>
          <a:endParaRPr lang="en-US"/>
        </a:p>
      </dgm:t>
    </dgm:pt>
    <dgm:pt modelId="{2DC6981A-58E9-5644-85E7-B02DCB9F2BB8}" type="sibTrans" cxnId="{569549D8-660A-1440-8063-4EEBFFC6488F}">
      <dgm:prSet/>
      <dgm:spPr/>
      <dgm:t>
        <a:bodyPr/>
        <a:lstStyle/>
        <a:p>
          <a:endParaRPr lang="en-US"/>
        </a:p>
      </dgm:t>
    </dgm:pt>
    <dgm:pt modelId="{AA2ABC48-FC2E-E648-A2C2-800CDFA5F985}" type="pres">
      <dgm:prSet presAssocID="{821F9D88-2E06-DF41-8369-B191662882C6}" presName="theList" presStyleCnt="0">
        <dgm:presLayoutVars>
          <dgm:dir/>
          <dgm:animLvl val="lvl"/>
          <dgm:resizeHandles val="exact"/>
        </dgm:presLayoutVars>
      </dgm:prSet>
      <dgm:spPr/>
      <dgm:t>
        <a:bodyPr/>
        <a:lstStyle/>
        <a:p>
          <a:endParaRPr lang="en-US"/>
        </a:p>
      </dgm:t>
    </dgm:pt>
    <dgm:pt modelId="{36AE751B-84EA-0747-A33F-AAA8E8DDF878}" type="pres">
      <dgm:prSet presAssocID="{857C5BCE-2EA8-7643-A788-F8A31BCF0732}" presName="compNode" presStyleCnt="0"/>
      <dgm:spPr/>
    </dgm:pt>
    <dgm:pt modelId="{DCE25E27-D72D-0642-AF8D-D59EE600A8A6}" type="pres">
      <dgm:prSet presAssocID="{857C5BCE-2EA8-7643-A788-F8A31BCF0732}" presName="aNode" presStyleLbl="bgShp" presStyleIdx="0" presStyleCnt="2"/>
      <dgm:spPr/>
      <dgm:t>
        <a:bodyPr/>
        <a:lstStyle/>
        <a:p>
          <a:endParaRPr lang="en-US"/>
        </a:p>
      </dgm:t>
    </dgm:pt>
    <dgm:pt modelId="{92E7900E-54A2-9C41-8A73-CA7E75155ED1}" type="pres">
      <dgm:prSet presAssocID="{857C5BCE-2EA8-7643-A788-F8A31BCF0732}" presName="textNode" presStyleLbl="bgShp" presStyleIdx="0" presStyleCnt="2"/>
      <dgm:spPr/>
      <dgm:t>
        <a:bodyPr/>
        <a:lstStyle/>
        <a:p>
          <a:endParaRPr lang="en-US"/>
        </a:p>
      </dgm:t>
    </dgm:pt>
    <dgm:pt modelId="{035047D7-ECF9-AB40-9AE0-202050EE7C51}" type="pres">
      <dgm:prSet presAssocID="{857C5BCE-2EA8-7643-A788-F8A31BCF0732}" presName="compChildNode" presStyleCnt="0"/>
      <dgm:spPr/>
    </dgm:pt>
    <dgm:pt modelId="{ACAA6BA4-F1CC-6D48-AF52-CB7EA74DE6E6}" type="pres">
      <dgm:prSet presAssocID="{857C5BCE-2EA8-7643-A788-F8A31BCF0732}" presName="theInnerList" presStyleCnt="0"/>
      <dgm:spPr/>
    </dgm:pt>
    <dgm:pt modelId="{4298F018-B8EE-4944-8F10-2BB9C0F91D51}" type="pres">
      <dgm:prSet presAssocID="{6DA376A2-1149-3445-A29B-2D1A0269852D}" presName="childNode" presStyleLbl="node1" presStyleIdx="0" presStyleCnt="4">
        <dgm:presLayoutVars>
          <dgm:bulletEnabled val="1"/>
        </dgm:presLayoutVars>
      </dgm:prSet>
      <dgm:spPr/>
      <dgm:t>
        <a:bodyPr/>
        <a:lstStyle/>
        <a:p>
          <a:endParaRPr lang="en-US"/>
        </a:p>
      </dgm:t>
    </dgm:pt>
    <dgm:pt modelId="{02AC8F82-4743-F644-848D-59E19CF03E43}" type="pres">
      <dgm:prSet presAssocID="{6DA376A2-1149-3445-A29B-2D1A0269852D}" presName="aSpace2" presStyleCnt="0"/>
      <dgm:spPr/>
    </dgm:pt>
    <dgm:pt modelId="{1F641F22-F0BF-C649-8A66-6DBF3453F8AD}" type="pres">
      <dgm:prSet presAssocID="{B450FF1C-92FE-384D-BE9C-A82D6DE95DEF}" presName="childNode" presStyleLbl="node1" presStyleIdx="1" presStyleCnt="4">
        <dgm:presLayoutVars>
          <dgm:bulletEnabled val="1"/>
        </dgm:presLayoutVars>
      </dgm:prSet>
      <dgm:spPr/>
      <dgm:t>
        <a:bodyPr/>
        <a:lstStyle/>
        <a:p>
          <a:endParaRPr lang="en-US"/>
        </a:p>
      </dgm:t>
    </dgm:pt>
    <dgm:pt modelId="{96376EEE-5BA7-BE43-9F07-FFC77B4110C7}" type="pres">
      <dgm:prSet presAssocID="{857C5BCE-2EA8-7643-A788-F8A31BCF0732}" presName="aSpace" presStyleCnt="0"/>
      <dgm:spPr/>
    </dgm:pt>
    <dgm:pt modelId="{327D953C-C43C-C548-A5CE-651ABEB980D6}" type="pres">
      <dgm:prSet presAssocID="{812FADF3-D6BF-5440-A991-16BAC70C22CA}" presName="compNode" presStyleCnt="0"/>
      <dgm:spPr/>
    </dgm:pt>
    <dgm:pt modelId="{1748A2BC-C0AF-7249-BEFC-3EBC8E632AD1}" type="pres">
      <dgm:prSet presAssocID="{812FADF3-D6BF-5440-A991-16BAC70C22CA}" presName="aNode" presStyleLbl="bgShp" presStyleIdx="1" presStyleCnt="2"/>
      <dgm:spPr/>
      <dgm:t>
        <a:bodyPr/>
        <a:lstStyle/>
        <a:p>
          <a:endParaRPr lang="en-US"/>
        </a:p>
      </dgm:t>
    </dgm:pt>
    <dgm:pt modelId="{943F34FC-7AAF-EA40-8115-1BF88D6F9901}" type="pres">
      <dgm:prSet presAssocID="{812FADF3-D6BF-5440-A991-16BAC70C22CA}" presName="textNode" presStyleLbl="bgShp" presStyleIdx="1" presStyleCnt="2"/>
      <dgm:spPr/>
      <dgm:t>
        <a:bodyPr/>
        <a:lstStyle/>
        <a:p>
          <a:endParaRPr lang="en-US"/>
        </a:p>
      </dgm:t>
    </dgm:pt>
    <dgm:pt modelId="{C06F248C-D0DD-D04B-990C-65275A532651}" type="pres">
      <dgm:prSet presAssocID="{812FADF3-D6BF-5440-A991-16BAC70C22CA}" presName="compChildNode" presStyleCnt="0"/>
      <dgm:spPr/>
    </dgm:pt>
    <dgm:pt modelId="{6340A26E-49C3-824A-AE23-780D38AB79FE}" type="pres">
      <dgm:prSet presAssocID="{812FADF3-D6BF-5440-A991-16BAC70C22CA}" presName="theInnerList" presStyleCnt="0"/>
      <dgm:spPr/>
    </dgm:pt>
    <dgm:pt modelId="{729B7C7C-47B3-F544-89C8-D914FF0C3DF8}" type="pres">
      <dgm:prSet presAssocID="{6DFAD406-5842-6A46-8D7C-1804FA5F54F8}" presName="childNode" presStyleLbl="node1" presStyleIdx="2" presStyleCnt="4" custScaleX="105111" custScaleY="209915">
        <dgm:presLayoutVars>
          <dgm:bulletEnabled val="1"/>
        </dgm:presLayoutVars>
      </dgm:prSet>
      <dgm:spPr/>
      <dgm:t>
        <a:bodyPr/>
        <a:lstStyle/>
        <a:p>
          <a:endParaRPr lang="en-US"/>
        </a:p>
      </dgm:t>
    </dgm:pt>
    <dgm:pt modelId="{50E9D80A-D1F3-854A-9182-59C10A696A46}" type="pres">
      <dgm:prSet presAssocID="{6DFAD406-5842-6A46-8D7C-1804FA5F54F8}" presName="aSpace2" presStyleCnt="0"/>
      <dgm:spPr/>
    </dgm:pt>
    <dgm:pt modelId="{4FD7667B-FD88-9247-AEF5-8020748D5EB0}" type="pres">
      <dgm:prSet presAssocID="{D148498D-FF0D-AA47-BDA7-FCF6CE5352DE}" presName="childNode" presStyleLbl="node1" presStyleIdx="3" presStyleCnt="4" custScaleX="113091" custScaleY="135878">
        <dgm:presLayoutVars>
          <dgm:bulletEnabled val="1"/>
        </dgm:presLayoutVars>
      </dgm:prSet>
      <dgm:spPr/>
      <dgm:t>
        <a:bodyPr/>
        <a:lstStyle/>
        <a:p>
          <a:endParaRPr lang="en-US"/>
        </a:p>
      </dgm:t>
    </dgm:pt>
  </dgm:ptLst>
  <dgm:cxnLst>
    <dgm:cxn modelId="{9AB36BAB-03DE-E746-96C2-063DF8D96846}" srcId="{812FADF3-D6BF-5440-A991-16BAC70C22CA}" destId="{6DFAD406-5842-6A46-8D7C-1804FA5F54F8}" srcOrd="0" destOrd="0" parTransId="{87BCBA13-290C-6246-8DE6-E90D53206FB2}" sibTransId="{47C2A4E9-DC6B-724E-9027-B561811E9C2A}"/>
    <dgm:cxn modelId="{459ED126-3223-3F4F-86DF-B3FDB9AF7B35}" srcId="{821F9D88-2E06-DF41-8369-B191662882C6}" destId="{857C5BCE-2EA8-7643-A788-F8A31BCF0732}" srcOrd="0" destOrd="0" parTransId="{B105AEE0-47F4-3D48-969D-317C7117E75D}" sibTransId="{1571D731-AFF1-1A49-9F0E-4C59752B6C95}"/>
    <dgm:cxn modelId="{46B18B2E-903B-C044-860F-69F3E94BB1A7}" type="presOf" srcId="{6DA376A2-1149-3445-A29B-2D1A0269852D}" destId="{4298F018-B8EE-4944-8F10-2BB9C0F91D51}" srcOrd="0" destOrd="0" presId="urn:microsoft.com/office/officeart/2005/8/layout/lProcess2"/>
    <dgm:cxn modelId="{ADF893DF-C41B-3C4D-8229-882F033FF2D8}" srcId="{821F9D88-2E06-DF41-8369-B191662882C6}" destId="{812FADF3-D6BF-5440-A991-16BAC70C22CA}" srcOrd="1" destOrd="0" parTransId="{92117008-5834-DD4B-B6BC-3777204966B7}" sibTransId="{81D7C8A1-93D9-F44A-8370-C2E32EA81B17}"/>
    <dgm:cxn modelId="{F9271681-9584-CA45-8C42-D0F30B801E51}" type="presOf" srcId="{857C5BCE-2EA8-7643-A788-F8A31BCF0732}" destId="{92E7900E-54A2-9C41-8A73-CA7E75155ED1}" srcOrd="1" destOrd="0" presId="urn:microsoft.com/office/officeart/2005/8/layout/lProcess2"/>
    <dgm:cxn modelId="{8E6691DA-A865-9A43-BF53-0FA0C21DCD41}" srcId="{857C5BCE-2EA8-7643-A788-F8A31BCF0732}" destId="{B450FF1C-92FE-384D-BE9C-A82D6DE95DEF}" srcOrd="1" destOrd="0" parTransId="{C2C9ADD8-2861-6D42-AD74-2DFCCCE68D2A}" sibTransId="{64C5A7A0-F99F-0040-AA5F-160113CDDA58}"/>
    <dgm:cxn modelId="{569549D8-660A-1440-8063-4EEBFFC6488F}" srcId="{812FADF3-D6BF-5440-A991-16BAC70C22CA}" destId="{D148498D-FF0D-AA47-BDA7-FCF6CE5352DE}" srcOrd="1" destOrd="0" parTransId="{374C135A-B404-1941-83A5-C38AA5CCA7F8}" sibTransId="{2DC6981A-58E9-5644-85E7-B02DCB9F2BB8}"/>
    <dgm:cxn modelId="{A68ECC1F-80B5-DA48-B002-A83D19D9E388}" type="presOf" srcId="{857C5BCE-2EA8-7643-A788-F8A31BCF0732}" destId="{DCE25E27-D72D-0642-AF8D-D59EE600A8A6}" srcOrd="0" destOrd="0" presId="urn:microsoft.com/office/officeart/2005/8/layout/lProcess2"/>
    <dgm:cxn modelId="{64F6D462-C776-B84D-B580-C60AA97632F9}" type="presOf" srcId="{812FADF3-D6BF-5440-A991-16BAC70C22CA}" destId="{1748A2BC-C0AF-7249-BEFC-3EBC8E632AD1}" srcOrd="0" destOrd="0" presId="urn:microsoft.com/office/officeart/2005/8/layout/lProcess2"/>
    <dgm:cxn modelId="{3070FF33-BA8C-654B-BA34-A914BA6032A0}" type="presOf" srcId="{821F9D88-2E06-DF41-8369-B191662882C6}" destId="{AA2ABC48-FC2E-E648-A2C2-800CDFA5F985}" srcOrd="0" destOrd="0" presId="urn:microsoft.com/office/officeart/2005/8/layout/lProcess2"/>
    <dgm:cxn modelId="{E4094571-4F41-C449-BE37-F5F4A87838D9}" type="presOf" srcId="{812FADF3-D6BF-5440-A991-16BAC70C22CA}" destId="{943F34FC-7AAF-EA40-8115-1BF88D6F9901}" srcOrd="1" destOrd="0" presId="urn:microsoft.com/office/officeart/2005/8/layout/lProcess2"/>
    <dgm:cxn modelId="{CA794109-8951-1543-B800-5F856462D74C}" type="presOf" srcId="{D148498D-FF0D-AA47-BDA7-FCF6CE5352DE}" destId="{4FD7667B-FD88-9247-AEF5-8020748D5EB0}" srcOrd="0" destOrd="0" presId="urn:microsoft.com/office/officeart/2005/8/layout/lProcess2"/>
    <dgm:cxn modelId="{82093B57-B99B-964B-A830-834040698374}" srcId="{857C5BCE-2EA8-7643-A788-F8A31BCF0732}" destId="{6DA376A2-1149-3445-A29B-2D1A0269852D}" srcOrd="0" destOrd="0" parTransId="{872FA437-8FA9-2248-AF0B-4FDB69AEA76F}" sibTransId="{D7972775-98EF-CD4E-9B91-7F1C29A8567D}"/>
    <dgm:cxn modelId="{FEEFB816-9E4E-154E-9C26-E9AD21B5A7E7}" type="presOf" srcId="{6DFAD406-5842-6A46-8D7C-1804FA5F54F8}" destId="{729B7C7C-47B3-F544-89C8-D914FF0C3DF8}" srcOrd="0" destOrd="0" presId="urn:microsoft.com/office/officeart/2005/8/layout/lProcess2"/>
    <dgm:cxn modelId="{623B4985-1460-924C-B5B7-D5FD8B02A837}" type="presOf" srcId="{B450FF1C-92FE-384D-BE9C-A82D6DE95DEF}" destId="{1F641F22-F0BF-C649-8A66-6DBF3453F8AD}" srcOrd="0" destOrd="0" presId="urn:microsoft.com/office/officeart/2005/8/layout/lProcess2"/>
    <dgm:cxn modelId="{7898DFE0-C8D5-9247-8F14-69D8642C446E}" type="presParOf" srcId="{AA2ABC48-FC2E-E648-A2C2-800CDFA5F985}" destId="{36AE751B-84EA-0747-A33F-AAA8E8DDF878}" srcOrd="0" destOrd="0" presId="urn:microsoft.com/office/officeart/2005/8/layout/lProcess2"/>
    <dgm:cxn modelId="{C4F5D82C-FB3E-9C46-9C97-D7B8C684C712}" type="presParOf" srcId="{36AE751B-84EA-0747-A33F-AAA8E8DDF878}" destId="{DCE25E27-D72D-0642-AF8D-D59EE600A8A6}" srcOrd="0" destOrd="0" presId="urn:microsoft.com/office/officeart/2005/8/layout/lProcess2"/>
    <dgm:cxn modelId="{340B893F-E20F-E749-A0D9-21DBF960546E}" type="presParOf" srcId="{36AE751B-84EA-0747-A33F-AAA8E8DDF878}" destId="{92E7900E-54A2-9C41-8A73-CA7E75155ED1}" srcOrd="1" destOrd="0" presId="urn:microsoft.com/office/officeart/2005/8/layout/lProcess2"/>
    <dgm:cxn modelId="{22A3E43A-BC87-6440-B18F-4D0A1778ED79}" type="presParOf" srcId="{36AE751B-84EA-0747-A33F-AAA8E8DDF878}" destId="{035047D7-ECF9-AB40-9AE0-202050EE7C51}" srcOrd="2" destOrd="0" presId="urn:microsoft.com/office/officeart/2005/8/layout/lProcess2"/>
    <dgm:cxn modelId="{48B92B9E-A120-E246-8CC3-B94FB716E483}" type="presParOf" srcId="{035047D7-ECF9-AB40-9AE0-202050EE7C51}" destId="{ACAA6BA4-F1CC-6D48-AF52-CB7EA74DE6E6}" srcOrd="0" destOrd="0" presId="urn:microsoft.com/office/officeart/2005/8/layout/lProcess2"/>
    <dgm:cxn modelId="{8FBD8300-E504-984B-B1BB-2FB814D8B4C6}" type="presParOf" srcId="{ACAA6BA4-F1CC-6D48-AF52-CB7EA74DE6E6}" destId="{4298F018-B8EE-4944-8F10-2BB9C0F91D51}" srcOrd="0" destOrd="0" presId="urn:microsoft.com/office/officeart/2005/8/layout/lProcess2"/>
    <dgm:cxn modelId="{A391A2A8-788F-834A-AB36-36DAE803065E}" type="presParOf" srcId="{ACAA6BA4-F1CC-6D48-AF52-CB7EA74DE6E6}" destId="{02AC8F82-4743-F644-848D-59E19CF03E43}" srcOrd="1" destOrd="0" presId="urn:microsoft.com/office/officeart/2005/8/layout/lProcess2"/>
    <dgm:cxn modelId="{041F2FD2-F04A-3D4B-8D97-7B42D8069201}" type="presParOf" srcId="{ACAA6BA4-F1CC-6D48-AF52-CB7EA74DE6E6}" destId="{1F641F22-F0BF-C649-8A66-6DBF3453F8AD}" srcOrd="2" destOrd="0" presId="urn:microsoft.com/office/officeart/2005/8/layout/lProcess2"/>
    <dgm:cxn modelId="{907249DF-5693-0141-838F-13799BA564E9}" type="presParOf" srcId="{AA2ABC48-FC2E-E648-A2C2-800CDFA5F985}" destId="{96376EEE-5BA7-BE43-9F07-FFC77B4110C7}" srcOrd="1" destOrd="0" presId="urn:microsoft.com/office/officeart/2005/8/layout/lProcess2"/>
    <dgm:cxn modelId="{27707433-B73B-F946-B02F-8E5F0193E388}" type="presParOf" srcId="{AA2ABC48-FC2E-E648-A2C2-800CDFA5F985}" destId="{327D953C-C43C-C548-A5CE-651ABEB980D6}" srcOrd="2" destOrd="0" presId="urn:microsoft.com/office/officeart/2005/8/layout/lProcess2"/>
    <dgm:cxn modelId="{35C7DCD5-850D-9443-BA90-0F22439E52AE}" type="presParOf" srcId="{327D953C-C43C-C548-A5CE-651ABEB980D6}" destId="{1748A2BC-C0AF-7249-BEFC-3EBC8E632AD1}" srcOrd="0" destOrd="0" presId="urn:microsoft.com/office/officeart/2005/8/layout/lProcess2"/>
    <dgm:cxn modelId="{4C544083-1625-924E-BC18-77F2AD285AA5}" type="presParOf" srcId="{327D953C-C43C-C548-A5CE-651ABEB980D6}" destId="{943F34FC-7AAF-EA40-8115-1BF88D6F9901}" srcOrd="1" destOrd="0" presId="urn:microsoft.com/office/officeart/2005/8/layout/lProcess2"/>
    <dgm:cxn modelId="{01CCD08B-DC09-B849-A438-1837BD894EFC}" type="presParOf" srcId="{327D953C-C43C-C548-A5CE-651ABEB980D6}" destId="{C06F248C-D0DD-D04B-990C-65275A532651}" srcOrd="2" destOrd="0" presId="urn:microsoft.com/office/officeart/2005/8/layout/lProcess2"/>
    <dgm:cxn modelId="{B0A36E3B-46B9-B14A-9E8E-0D4207244859}" type="presParOf" srcId="{C06F248C-D0DD-D04B-990C-65275A532651}" destId="{6340A26E-49C3-824A-AE23-780D38AB79FE}" srcOrd="0" destOrd="0" presId="urn:microsoft.com/office/officeart/2005/8/layout/lProcess2"/>
    <dgm:cxn modelId="{4561F266-4BFF-8E46-9184-4731A9527DED}" type="presParOf" srcId="{6340A26E-49C3-824A-AE23-780D38AB79FE}" destId="{729B7C7C-47B3-F544-89C8-D914FF0C3DF8}" srcOrd="0" destOrd="0" presId="urn:microsoft.com/office/officeart/2005/8/layout/lProcess2"/>
    <dgm:cxn modelId="{F72DB5C9-B613-AF45-BEFF-2C98BCE36722}" type="presParOf" srcId="{6340A26E-49C3-824A-AE23-780D38AB79FE}" destId="{50E9D80A-D1F3-854A-9182-59C10A696A46}" srcOrd="1" destOrd="0" presId="urn:microsoft.com/office/officeart/2005/8/layout/lProcess2"/>
    <dgm:cxn modelId="{6E72AC49-E1B1-D244-AEEB-E55E2B33EBDF}" type="presParOf" srcId="{6340A26E-49C3-824A-AE23-780D38AB79FE}" destId="{4FD7667B-FD88-9247-AEF5-8020748D5EB0}"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683EB3-9145-414D-BA47-C91BB8F520AC}">
      <dsp:nvSpPr>
        <dsp:cNvPr id="0" name=""/>
        <dsp:cNvSpPr/>
      </dsp:nvSpPr>
      <dsp:spPr>
        <a:xfrm>
          <a:off x="1033211" y="0"/>
          <a:ext cx="3177416" cy="794354"/>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rtl="0">
            <a:lnSpc>
              <a:spcPct val="90000"/>
            </a:lnSpc>
            <a:spcBef>
              <a:spcPct val="0"/>
            </a:spcBef>
            <a:spcAft>
              <a:spcPct val="35000"/>
            </a:spcAft>
          </a:pPr>
          <a:r>
            <a:rPr lang="en-US" sz="2400" b="1" kern="1200" dirty="0">
              <a:solidFill>
                <a:schemeClr val="tx1"/>
              </a:solidFill>
              <a:effectLst/>
            </a:rPr>
            <a:t>Classified into two broad categories:</a:t>
          </a:r>
        </a:p>
      </dsp:txBody>
      <dsp:txXfrm>
        <a:off x="1056477" y="23266"/>
        <a:ext cx="3130884" cy="747822"/>
      </dsp:txXfrm>
    </dsp:sp>
    <dsp:sp modelId="{EDB22133-E8C5-564E-9BDE-77A9A6AFF0D9}">
      <dsp:nvSpPr>
        <dsp:cNvPr id="0" name=""/>
        <dsp:cNvSpPr/>
      </dsp:nvSpPr>
      <dsp:spPr>
        <a:xfrm rot="5400000">
          <a:off x="2552413" y="863860"/>
          <a:ext cx="139011" cy="139011"/>
        </a:xfrm>
        <a:prstGeom prst="rightArrow">
          <a:avLst>
            <a:gd name="adj1" fmla="val 667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23949CA4-11FE-B44B-8096-7F92BA04476C}">
      <dsp:nvSpPr>
        <dsp:cNvPr id="0" name=""/>
        <dsp:cNvSpPr/>
      </dsp:nvSpPr>
      <dsp:spPr>
        <a:xfrm>
          <a:off x="1033211" y="1072377"/>
          <a:ext cx="3177416" cy="794354"/>
        </a:xfrm>
        <a:prstGeom prst="roundRect">
          <a:avLst>
            <a:gd name="adj" fmla="val 1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rtl="0">
            <a:lnSpc>
              <a:spcPct val="90000"/>
            </a:lnSpc>
            <a:spcBef>
              <a:spcPct val="0"/>
            </a:spcBef>
            <a:spcAft>
              <a:spcPct val="35000"/>
            </a:spcAft>
          </a:pPr>
          <a:r>
            <a:rPr lang="en-US" sz="1600" b="1" i="0" kern="1200" dirty="0">
              <a:latin typeface="+mj-lt"/>
            </a:rPr>
            <a:t>Based first on how it spreads or propagates to reach the desired targets</a:t>
          </a:r>
        </a:p>
      </dsp:txBody>
      <dsp:txXfrm>
        <a:off x="1056477" y="1095643"/>
        <a:ext cx="3130884" cy="747822"/>
      </dsp:txXfrm>
    </dsp:sp>
    <dsp:sp modelId="{AB73B6B3-49AA-5044-87E7-043168FDA1C2}">
      <dsp:nvSpPr>
        <dsp:cNvPr id="0" name=""/>
        <dsp:cNvSpPr/>
      </dsp:nvSpPr>
      <dsp:spPr>
        <a:xfrm rot="5400000">
          <a:off x="2552413" y="1936238"/>
          <a:ext cx="139011" cy="139011"/>
        </a:xfrm>
        <a:prstGeom prst="rightArrow">
          <a:avLst>
            <a:gd name="adj1" fmla="val 667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318E9CFC-7000-5948-92CC-E06FCC323ED3}">
      <dsp:nvSpPr>
        <dsp:cNvPr id="0" name=""/>
        <dsp:cNvSpPr/>
      </dsp:nvSpPr>
      <dsp:spPr>
        <a:xfrm>
          <a:off x="1033211" y="2144755"/>
          <a:ext cx="3177416" cy="794354"/>
        </a:xfrm>
        <a:prstGeom prst="roundRect">
          <a:avLst>
            <a:gd name="adj" fmla="val 1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rtl="0">
            <a:lnSpc>
              <a:spcPct val="90000"/>
            </a:lnSpc>
            <a:spcBef>
              <a:spcPct val="0"/>
            </a:spcBef>
            <a:spcAft>
              <a:spcPct val="35000"/>
            </a:spcAft>
          </a:pPr>
          <a:r>
            <a:rPr lang="en-US" sz="1600" b="1" i="0" kern="1200" dirty="0">
              <a:latin typeface="+mj-lt"/>
            </a:rPr>
            <a:t>Then on the actions or payloads it performs once a target is reached</a:t>
          </a:r>
        </a:p>
      </dsp:txBody>
      <dsp:txXfrm>
        <a:off x="1056477" y="2168021"/>
        <a:ext cx="3130884" cy="747822"/>
      </dsp:txXfrm>
    </dsp:sp>
    <dsp:sp modelId="{CAF028A9-25B4-7042-8AC7-32B854073429}">
      <dsp:nvSpPr>
        <dsp:cNvPr id="0" name=""/>
        <dsp:cNvSpPr/>
      </dsp:nvSpPr>
      <dsp:spPr>
        <a:xfrm>
          <a:off x="4655466" y="0"/>
          <a:ext cx="3177416" cy="794354"/>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rtl="0">
            <a:lnSpc>
              <a:spcPct val="90000"/>
            </a:lnSpc>
            <a:spcBef>
              <a:spcPct val="0"/>
            </a:spcBef>
            <a:spcAft>
              <a:spcPct val="35000"/>
            </a:spcAft>
          </a:pPr>
          <a:r>
            <a:rPr lang="en-US" sz="2400" b="1" kern="1200" dirty="0">
              <a:solidFill>
                <a:schemeClr val="tx1"/>
              </a:solidFill>
              <a:effectLst/>
            </a:rPr>
            <a:t>Also classified by: </a:t>
          </a:r>
          <a:endParaRPr lang="en-US" sz="2400" kern="1200" dirty="0">
            <a:solidFill>
              <a:schemeClr val="tx1"/>
            </a:solidFill>
            <a:effectLst/>
          </a:endParaRPr>
        </a:p>
      </dsp:txBody>
      <dsp:txXfrm>
        <a:off x="4678732" y="23266"/>
        <a:ext cx="3130884" cy="747822"/>
      </dsp:txXfrm>
    </dsp:sp>
    <dsp:sp modelId="{3DDCB43C-A170-0943-B0D8-AF848C17E12A}">
      <dsp:nvSpPr>
        <dsp:cNvPr id="0" name=""/>
        <dsp:cNvSpPr/>
      </dsp:nvSpPr>
      <dsp:spPr>
        <a:xfrm rot="5400000">
          <a:off x="6174668" y="863860"/>
          <a:ext cx="139011" cy="139011"/>
        </a:xfrm>
        <a:prstGeom prst="rightArrow">
          <a:avLst>
            <a:gd name="adj1" fmla="val 667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D5206BD-938A-9E47-BA58-471B4BFB7074}">
      <dsp:nvSpPr>
        <dsp:cNvPr id="0" name=""/>
        <dsp:cNvSpPr/>
      </dsp:nvSpPr>
      <dsp:spPr>
        <a:xfrm>
          <a:off x="4655466" y="1072377"/>
          <a:ext cx="3177416" cy="794354"/>
        </a:xfrm>
        <a:prstGeom prst="roundRect">
          <a:avLst>
            <a:gd name="adj" fmla="val 1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rtl="0">
            <a:lnSpc>
              <a:spcPct val="90000"/>
            </a:lnSpc>
            <a:spcBef>
              <a:spcPct val="0"/>
            </a:spcBef>
            <a:spcAft>
              <a:spcPct val="35000"/>
            </a:spcAft>
          </a:pPr>
          <a:r>
            <a:rPr lang="en-US" sz="1600" b="1" i="0" kern="1200" dirty="0">
              <a:latin typeface="+mj-lt"/>
            </a:rPr>
            <a:t>Those that need a host  program (parasitic code such as viruses)</a:t>
          </a:r>
        </a:p>
      </dsp:txBody>
      <dsp:txXfrm>
        <a:off x="4678732" y="1095643"/>
        <a:ext cx="3130884" cy="747822"/>
      </dsp:txXfrm>
    </dsp:sp>
    <dsp:sp modelId="{5294E86B-9DC9-C242-BE4F-6917AE89A034}">
      <dsp:nvSpPr>
        <dsp:cNvPr id="0" name=""/>
        <dsp:cNvSpPr/>
      </dsp:nvSpPr>
      <dsp:spPr>
        <a:xfrm rot="5400000">
          <a:off x="6174668" y="1936238"/>
          <a:ext cx="139011" cy="139011"/>
        </a:xfrm>
        <a:prstGeom prst="rightArrow">
          <a:avLst>
            <a:gd name="adj1" fmla="val 667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96C0851B-4FB5-6248-AF53-A2A3E18CD2D5}">
      <dsp:nvSpPr>
        <dsp:cNvPr id="0" name=""/>
        <dsp:cNvSpPr/>
      </dsp:nvSpPr>
      <dsp:spPr>
        <a:xfrm>
          <a:off x="4655466" y="2144755"/>
          <a:ext cx="3177416" cy="794354"/>
        </a:xfrm>
        <a:prstGeom prst="roundRect">
          <a:avLst>
            <a:gd name="adj" fmla="val 1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rtl="0">
            <a:lnSpc>
              <a:spcPct val="90000"/>
            </a:lnSpc>
            <a:spcBef>
              <a:spcPct val="0"/>
            </a:spcBef>
            <a:spcAft>
              <a:spcPct val="35000"/>
            </a:spcAft>
          </a:pPr>
          <a:r>
            <a:rPr lang="en-US" sz="1600" b="1" i="0" kern="1200" dirty="0">
              <a:latin typeface="+mj-lt"/>
            </a:rPr>
            <a:t>Those that are independent, self-contained programs (worms, trojans, and bots)</a:t>
          </a:r>
        </a:p>
      </dsp:txBody>
      <dsp:txXfrm>
        <a:off x="4678732" y="2168021"/>
        <a:ext cx="3130884" cy="747822"/>
      </dsp:txXfrm>
    </dsp:sp>
    <dsp:sp modelId="{72589221-705F-AA40-B4C6-05F80364904C}">
      <dsp:nvSpPr>
        <dsp:cNvPr id="0" name=""/>
        <dsp:cNvSpPr/>
      </dsp:nvSpPr>
      <dsp:spPr>
        <a:xfrm rot="5400000">
          <a:off x="6174668" y="3008616"/>
          <a:ext cx="139011" cy="139011"/>
        </a:xfrm>
        <a:prstGeom prst="rightArrow">
          <a:avLst>
            <a:gd name="adj1" fmla="val 667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2CFCC1E6-6884-8F42-AAC4-8F51DCBE28BD}">
      <dsp:nvSpPr>
        <dsp:cNvPr id="0" name=""/>
        <dsp:cNvSpPr/>
      </dsp:nvSpPr>
      <dsp:spPr>
        <a:xfrm>
          <a:off x="4655466" y="3217133"/>
          <a:ext cx="3177416" cy="794354"/>
        </a:xfrm>
        <a:prstGeom prst="roundRect">
          <a:avLst>
            <a:gd name="adj" fmla="val 1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rtl="0">
            <a:lnSpc>
              <a:spcPct val="90000"/>
            </a:lnSpc>
            <a:spcBef>
              <a:spcPct val="0"/>
            </a:spcBef>
            <a:spcAft>
              <a:spcPct val="35000"/>
            </a:spcAft>
          </a:pPr>
          <a:r>
            <a:rPr lang="en-US" sz="1600" b="1" i="0" kern="1200" dirty="0">
              <a:latin typeface="+mj-lt"/>
            </a:rPr>
            <a:t>Malware that does not replicate (trojans and spam  e-mail)</a:t>
          </a:r>
        </a:p>
      </dsp:txBody>
      <dsp:txXfrm>
        <a:off x="4678732" y="3240399"/>
        <a:ext cx="3130884" cy="747822"/>
      </dsp:txXfrm>
    </dsp:sp>
    <dsp:sp modelId="{73DDE64E-DD84-7746-BE01-849021843D34}">
      <dsp:nvSpPr>
        <dsp:cNvPr id="0" name=""/>
        <dsp:cNvSpPr/>
      </dsp:nvSpPr>
      <dsp:spPr>
        <a:xfrm rot="5400000">
          <a:off x="6174668" y="4080993"/>
          <a:ext cx="139011" cy="139011"/>
        </a:xfrm>
        <a:prstGeom prst="rightArrow">
          <a:avLst>
            <a:gd name="adj1" fmla="val 667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C9811A8-A431-9545-AB24-6FCE1425685B}">
      <dsp:nvSpPr>
        <dsp:cNvPr id="0" name=""/>
        <dsp:cNvSpPr/>
      </dsp:nvSpPr>
      <dsp:spPr>
        <a:xfrm>
          <a:off x="4655466" y="4289511"/>
          <a:ext cx="3177416" cy="794354"/>
        </a:xfrm>
        <a:prstGeom prst="roundRect">
          <a:avLst>
            <a:gd name="adj" fmla="val 10000"/>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rtl="0">
            <a:lnSpc>
              <a:spcPct val="90000"/>
            </a:lnSpc>
            <a:spcBef>
              <a:spcPct val="0"/>
            </a:spcBef>
            <a:spcAft>
              <a:spcPct val="35000"/>
            </a:spcAft>
          </a:pPr>
          <a:r>
            <a:rPr lang="en-US" sz="1600" b="1" i="0" kern="1200" dirty="0">
              <a:latin typeface="+mj-lt"/>
            </a:rPr>
            <a:t>Malware that does replicate (viruses and worms)</a:t>
          </a:r>
        </a:p>
      </dsp:txBody>
      <dsp:txXfrm>
        <a:off x="4678732" y="4312777"/>
        <a:ext cx="3130884" cy="7478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429F8F-E5E9-4474-86AC-D3C335BBC595}">
      <dsp:nvSpPr>
        <dsp:cNvPr id="0" name=""/>
        <dsp:cNvSpPr/>
      </dsp:nvSpPr>
      <dsp:spPr>
        <a:xfrm>
          <a:off x="43" y="16020"/>
          <a:ext cx="4130426" cy="152640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b="0" kern="1200" dirty="0">
              <a:effectLst/>
              <a:latin typeface="+mn-lt"/>
            </a:rPr>
            <a:t>Propagation mechanisms include:</a:t>
          </a:r>
        </a:p>
      </dsp:txBody>
      <dsp:txXfrm>
        <a:off x="43" y="16020"/>
        <a:ext cx="4130426" cy="1526400"/>
      </dsp:txXfrm>
    </dsp:sp>
    <dsp:sp modelId="{6E37A9CA-B9D2-40E3-8A47-26669D337C03}">
      <dsp:nvSpPr>
        <dsp:cNvPr id="0" name=""/>
        <dsp:cNvSpPr/>
      </dsp:nvSpPr>
      <dsp:spPr>
        <a:xfrm>
          <a:off x="43" y="1542420"/>
          <a:ext cx="4130426" cy="2327760"/>
        </a:xfrm>
        <a:prstGeom prst="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just" defTabSz="711200" rtl="0">
            <a:lnSpc>
              <a:spcPct val="90000"/>
            </a:lnSpc>
            <a:spcBef>
              <a:spcPct val="0"/>
            </a:spcBef>
            <a:spcAft>
              <a:spcPct val="15000"/>
            </a:spcAft>
            <a:buChar char="••"/>
          </a:pPr>
          <a:r>
            <a:rPr lang="en-US" sz="1600" b="0" kern="1200" dirty="0">
              <a:effectLst/>
              <a:latin typeface="+mn-lt"/>
            </a:rPr>
            <a:t>Infection of existing content by viruses that is subsequently spread to other systems</a:t>
          </a:r>
        </a:p>
        <a:p>
          <a:pPr marL="171450" lvl="1" indent="-171450" algn="just" defTabSz="711200" rtl="0">
            <a:lnSpc>
              <a:spcPct val="90000"/>
            </a:lnSpc>
            <a:spcBef>
              <a:spcPct val="0"/>
            </a:spcBef>
            <a:spcAft>
              <a:spcPct val="15000"/>
            </a:spcAft>
            <a:buChar char="••"/>
          </a:pPr>
          <a:r>
            <a:rPr lang="en-US" sz="1600" b="0" kern="1200" dirty="0">
              <a:effectLst/>
              <a:latin typeface="+mn-lt"/>
            </a:rPr>
            <a:t>Exploit of software vulnerabilities by worms or drive-by-downloads to allow the malware to replicate</a:t>
          </a:r>
        </a:p>
        <a:p>
          <a:pPr marL="171450" lvl="1" indent="-171450" algn="just" defTabSz="711200" rtl="0">
            <a:lnSpc>
              <a:spcPct val="90000"/>
            </a:lnSpc>
            <a:spcBef>
              <a:spcPct val="0"/>
            </a:spcBef>
            <a:spcAft>
              <a:spcPct val="15000"/>
            </a:spcAft>
            <a:buChar char="••"/>
          </a:pPr>
          <a:r>
            <a:rPr lang="en-US" sz="1600" b="0" kern="1200" dirty="0">
              <a:effectLst/>
              <a:latin typeface="+mn-lt"/>
            </a:rPr>
            <a:t>Social engineering attacks that convince users to bypass security mechanisms to install Trojans or to respond to phishing attacks</a:t>
          </a:r>
        </a:p>
      </dsp:txBody>
      <dsp:txXfrm>
        <a:off x="43" y="1542420"/>
        <a:ext cx="4130426" cy="2327760"/>
      </dsp:txXfrm>
    </dsp:sp>
    <dsp:sp modelId="{C95C397C-2754-4537-8480-AC072D283C27}">
      <dsp:nvSpPr>
        <dsp:cNvPr id="0" name=""/>
        <dsp:cNvSpPr/>
      </dsp:nvSpPr>
      <dsp:spPr>
        <a:xfrm>
          <a:off x="4708729" y="16020"/>
          <a:ext cx="4130426" cy="152640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en-US" sz="2000" b="0" kern="1200" dirty="0">
              <a:latin typeface="+mn-lt"/>
            </a:rPr>
            <a:t>Payload actions performed by malware once it reaches a target system can include:</a:t>
          </a:r>
        </a:p>
      </dsp:txBody>
      <dsp:txXfrm>
        <a:off x="4708729" y="16020"/>
        <a:ext cx="4130426" cy="1526400"/>
      </dsp:txXfrm>
    </dsp:sp>
    <dsp:sp modelId="{A178B776-949C-4314-8D98-DC278D7A39C4}">
      <dsp:nvSpPr>
        <dsp:cNvPr id="0" name=""/>
        <dsp:cNvSpPr/>
      </dsp:nvSpPr>
      <dsp:spPr>
        <a:xfrm>
          <a:off x="4708729" y="1542420"/>
          <a:ext cx="4130426" cy="2327760"/>
        </a:xfrm>
        <a:prstGeom prst="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just" defTabSz="711200" rtl="0">
            <a:lnSpc>
              <a:spcPct val="90000"/>
            </a:lnSpc>
            <a:spcBef>
              <a:spcPct val="0"/>
            </a:spcBef>
            <a:spcAft>
              <a:spcPct val="15000"/>
            </a:spcAft>
            <a:buChar char="••"/>
          </a:pPr>
          <a:r>
            <a:rPr lang="en-US" sz="1600" b="0" kern="1200" dirty="0">
              <a:latin typeface="+mn-lt"/>
            </a:rPr>
            <a:t>Corruption of system or data files</a:t>
          </a:r>
        </a:p>
        <a:p>
          <a:pPr marL="171450" lvl="1" indent="-171450" algn="just" defTabSz="711200" rtl="0">
            <a:lnSpc>
              <a:spcPct val="90000"/>
            </a:lnSpc>
            <a:spcBef>
              <a:spcPct val="0"/>
            </a:spcBef>
            <a:spcAft>
              <a:spcPct val="15000"/>
            </a:spcAft>
            <a:buChar char="••"/>
          </a:pPr>
          <a:r>
            <a:rPr lang="en-US" sz="1600" b="0" kern="1200" dirty="0">
              <a:latin typeface="+mn-lt"/>
            </a:rPr>
            <a:t>Theft of service/make the system a zombie agent of attack as part of a botnet</a:t>
          </a:r>
        </a:p>
        <a:p>
          <a:pPr marL="171450" lvl="1" indent="-171450" algn="just" defTabSz="711200" rtl="0">
            <a:lnSpc>
              <a:spcPct val="90000"/>
            </a:lnSpc>
            <a:spcBef>
              <a:spcPct val="0"/>
            </a:spcBef>
            <a:spcAft>
              <a:spcPct val="15000"/>
            </a:spcAft>
            <a:buChar char="••"/>
          </a:pPr>
          <a:r>
            <a:rPr lang="en-US" sz="1600" b="0" kern="1200" dirty="0">
              <a:latin typeface="+mn-lt"/>
            </a:rPr>
            <a:t>Theft of information from the system/keylogging</a:t>
          </a:r>
        </a:p>
        <a:p>
          <a:pPr marL="171450" lvl="1" indent="-171450" algn="just" defTabSz="711200" rtl="0">
            <a:lnSpc>
              <a:spcPct val="90000"/>
            </a:lnSpc>
            <a:spcBef>
              <a:spcPct val="0"/>
            </a:spcBef>
            <a:spcAft>
              <a:spcPct val="15000"/>
            </a:spcAft>
            <a:buChar char="••"/>
          </a:pPr>
          <a:r>
            <a:rPr lang="en-US" sz="1600" b="0" kern="1200" dirty="0">
              <a:latin typeface="+mn-lt"/>
            </a:rPr>
            <a:t>Stealthing/hiding its presence on the system</a:t>
          </a:r>
        </a:p>
      </dsp:txBody>
      <dsp:txXfrm>
        <a:off x="4708729" y="1542420"/>
        <a:ext cx="4130426" cy="23277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8E7295-D7EB-CD46-9D6D-375BC99FA006}">
      <dsp:nvSpPr>
        <dsp:cNvPr id="0" name=""/>
        <dsp:cNvSpPr/>
      </dsp:nvSpPr>
      <dsp:spPr>
        <a:xfrm rot="5400000">
          <a:off x="5313238" y="-2196877"/>
          <a:ext cx="773043" cy="5364480"/>
        </a:xfrm>
        <a:prstGeom prst="round2SameRect">
          <a:avLst/>
        </a:prstGeom>
        <a:solidFill>
          <a:schemeClr val="tx1"/>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b="1" kern="1200" dirty="0">
              <a:latin typeface="+mj-lt"/>
            </a:rPr>
            <a:t>Worm e-mails a copy of itself to other systems</a:t>
          </a:r>
          <a:endParaRPr lang="en-US" sz="1400" kern="1200" dirty="0">
            <a:latin typeface="+mj-lt"/>
          </a:endParaRPr>
        </a:p>
        <a:p>
          <a:pPr marL="114300" lvl="1" indent="-114300" algn="l" defTabSz="622300" rtl="0">
            <a:lnSpc>
              <a:spcPct val="90000"/>
            </a:lnSpc>
            <a:spcBef>
              <a:spcPct val="0"/>
            </a:spcBef>
            <a:spcAft>
              <a:spcPct val="15000"/>
            </a:spcAft>
            <a:buChar char="••"/>
          </a:pPr>
          <a:r>
            <a:rPr lang="en-US" sz="1400" b="1" kern="1200" dirty="0">
              <a:latin typeface="+mj-lt"/>
            </a:rPr>
            <a:t>Sends itself as an attachment via an instant message service</a:t>
          </a:r>
          <a:endParaRPr lang="en-US" sz="1400" kern="1200" dirty="0">
            <a:latin typeface="+mj-lt"/>
          </a:endParaRPr>
        </a:p>
      </dsp:txBody>
      <dsp:txXfrm rot="-5400000">
        <a:off x="3017520" y="136578"/>
        <a:ext cx="5326743" cy="697569"/>
      </dsp:txXfrm>
    </dsp:sp>
    <dsp:sp modelId="{E1E0970F-0907-F244-BFE7-FA3A665AC84A}">
      <dsp:nvSpPr>
        <dsp:cNvPr id="0" name=""/>
        <dsp:cNvSpPr/>
      </dsp:nvSpPr>
      <dsp:spPr>
        <a:xfrm>
          <a:off x="0" y="2210"/>
          <a:ext cx="3017520" cy="966303"/>
        </a:xfrm>
        <a:prstGeom prst="roundRect">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lvl="0" algn="ctr" defTabSz="844550" rtl="0">
            <a:lnSpc>
              <a:spcPct val="90000"/>
            </a:lnSpc>
            <a:spcBef>
              <a:spcPct val="0"/>
            </a:spcBef>
            <a:spcAft>
              <a:spcPct val="35000"/>
            </a:spcAft>
          </a:pPr>
          <a:r>
            <a:rPr lang="en-US" sz="1900" b="1" kern="1200" dirty="0">
              <a:solidFill>
                <a:schemeClr val="tx1"/>
              </a:solidFill>
              <a:latin typeface="+mj-lt"/>
            </a:rPr>
            <a:t>Electronic mail or instant messenger facility</a:t>
          </a:r>
          <a:endParaRPr lang="en-US" sz="1900" kern="1200" dirty="0">
            <a:solidFill>
              <a:schemeClr val="tx1"/>
            </a:solidFill>
            <a:latin typeface="+mj-lt"/>
          </a:endParaRPr>
        </a:p>
      </dsp:txBody>
      <dsp:txXfrm>
        <a:off x="47171" y="49381"/>
        <a:ext cx="2923178" cy="871961"/>
      </dsp:txXfrm>
    </dsp:sp>
    <dsp:sp modelId="{00F1EE6F-A680-5D47-BE2C-5D9099BCAD7E}">
      <dsp:nvSpPr>
        <dsp:cNvPr id="0" name=""/>
        <dsp:cNvSpPr/>
      </dsp:nvSpPr>
      <dsp:spPr>
        <a:xfrm rot="5400000">
          <a:off x="5313238" y="-1182258"/>
          <a:ext cx="773043" cy="5364480"/>
        </a:xfrm>
        <a:prstGeom prst="round2SameRect">
          <a:avLst/>
        </a:prstGeom>
        <a:solidFill>
          <a:schemeClr val="tx1"/>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b="1" kern="1200" dirty="0">
              <a:latin typeface="+mj-lt"/>
            </a:rPr>
            <a:t>Creates a copy of itself or infects a file as a virus on removable media</a:t>
          </a:r>
          <a:endParaRPr lang="en-US" sz="1400" kern="1200" dirty="0">
            <a:latin typeface="+mj-lt"/>
          </a:endParaRPr>
        </a:p>
      </dsp:txBody>
      <dsp:txXfrm rot="-5400000">
        <a:off x="3017520" y="1151197"/>
        <a:ext cx="5326743" cy="697569"/>
      </dsp:txXfrm>
    </dsp:sp>
    <dsp:sp modelId="{AA46F3A1-973A-D541-8C10-D6332E49AB54}">
      <dsp:nvSpPr>
        <dsp:cNvPr id="0" name=""/>
        <dsp:cNvSpPr/>
      </dsp:nvSpPr>
      <dsp:spPr>
        <a:xfrm>
          <a:off x="0" y="1016829"/>
          <a:ext cx="3017520" cy="966303"/>
        </a:xfrm>
        <a:prstGeom prst="roundRect">
          <a:avLst/>
        </a:prstGeom>
        <a:solidFill>
          <a:schemeClr val="accent6">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lvl="0" algn="ctr" defTabSz="844550" rtl="0">
            <a:lnSpc>
              <a:spcPct val="90000"/>
            </a:lnSpc>
            <a:spcBef>
              <a:spcPct val="0"/>
            </a:spcBef>
            <a:spcAft>
              <a:spcPct val="35000"/>
            </a:spcAft>
          </a:pPr>
          <a:r>
            <a:rPr lang="en-US" sz="1900" b="1" kern="1200" dirty="0">
              <a:solidFill>
                <a:schemeClr val="tx1"/>
              </a:solidFill>
              <a:latin typeface="+mj-lt"/>
            </a:rPr>
            <a:t>File sharing</a:t>
          </a:r>
        </a:p>
      </dsp:txBody>
      <dsp:txXfrm>
        <a:off x="47171" y="1064000"/>
        <a:ext cx="2923178" cy="871961"/>
      </dsp:txXfrm>
    </dsp:sp>
    <dsp:sp modelId="{EAE3CD11-86DC-D148-B0A4-B97E022278AC}">
      <dsp:nvSpPr>
        <dsp:cNvPr id="0" name=""/>
        <dsp:cNvSpPr/>
      </dsp:nvSpPr>
      <dsp:spPr>
        <a:xfrm rot="5400000">
          <a:off x="5313238" y="-167640"/>
          <a:ext cx="773043" cy="5364480"/>
        </a:xfrm>
        <a:prstGeom prst="round2SameRect">
          <a:avLst/>
        </a:prstGeom>
        <a:solidFill>
          <a:schemeClr val="tx1"/>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b="1" kern="1200" dirty="0">
              <a:latin typeface="+mj-lt"/>
            </a:rPr>
            <a:t>Worm executes a copy of itself on another system</a:t>
          </a:r>
          <a:endParaRPr lang="en-US" sz="1400" kern="1200" dirty="0">
            <a:latin typeface="+mj-lt"/>
          </a:endParaRPr>
        </a:p>
      </dsp:txBody>
      <dsp:txXfrm rot="-5400000">
        <a:off x="3017520" y="2165815"/>
        <a:ext cx="5326743" cy="697569"/>
      </dsp:txXfrm>
    </dsp:sp>
    <dsp:sp modelId="{3643834B-A836-AE40-8CCA-98EC9257C527}">
      <dsp:nvSpPr>
        <dsp:cNvPr id="0" name=""/>
        <dsp:cNvSpPr/>
      </dsp:nvSpPr>
      <dsp:spPr>
        <a:xfrm>
          <a:off x="0" y="2031448"/>
          <a:ext cx="3017520" cy="966303"/>
        </a:xfrm>
        <a:prstGeom prst="roundRect">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lvl="0" algn="ctr" defTabSz="844550" rtl="0">
            <a:lnSpc>
              <a:spcPct val="90000"/>
            </a:lnSpc>
            <a:spcBef>
              <a:spcPct val="0"/>
            </a:spcBef>
            <a:spcAft>
              <a:spcPct val="35000"/>
            </a:spcAft>
          </a:pPr>
          <a:r>
            <a:rPr lang="en-US" sz="1900" b="1" kern="1200" dirty="0">
              <a:solidFill>
                <a:schemeClr val="tx1"/>
              </a:solidFill>
              <a:latin typeface="+mj-lt"/>
            </a:rPr>
            <a:t>Remote execution capability</a:t>
          </a:r>
        </a:p>
      </dsp:txBody>
      <dsp:txXfrm>
        <a:off x="47171" y="2078619"/>
        <a:ext cx="2923178" cy="871961"/>
      </dsp:txXfrm>
    </dsp:sp>
    <dsp:sp modelId="{177802D0-FB31-4B41-8EB4-26CD25007ABC}">
      <dsp:nvSpPr>
        <dsp:cNvPr id="0" name=""/>
        <dsp:cNvSpPr/>
      </dsp:nvSpPr>
      <dsp:spPr>
        <a:xfrm rot="5400000">
          <a:off x="5313238" y="846978"/>
          <a:ext cx="773043" cy="5364480"/>
        </a:xfrm>
        <a:prstGeom prst="round2SameRect">
          <a:avLst/>
        </a:prstGeom>
        <a:solidFill>
          <a:schemeClr val="tx1"/>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b="1" kern="1200" dirty="0">
              <a:latin typeface="+mj-lt"/>
            </a:rPr>
            <a:t>Worm uses a remote file access or transfer service to copy itself from one system to the other</a:t>
          </a:r>
          <a:endParaRPr lang="en-US" sz="1400" kern="1200" dirty="0">
            <a:latin typeface="+mj-lt"/>
          </a:endParaRPr>
        </a:p>
      </dsp:txBody>
      <dsp:txXfrm rot="-5400000">
        <a:off x="3017520" y="3180434"/>
        <a:ext cx="5326743" cy="697569"/>
      </dsp:txXfrm>
    </dsp:sp>
    <dsp:sp modelId="{32A7F985-A05D-9A45-A255-9E65F500E120}">
      <dsp:nvSpPr>
        <dsp:cNvPr id="0" name=""/>
        <dsp:cNvSpPr/>
      </dsp:nvSpPr>
      <dsp:spPr>
        <a:xfrm>
          <a:off x="0" y="3046067"/>
          <a:ext cx="3017520" cy="966303"/>
        </a:xfrm>
        <a:prstGeom prst="roundRect">
          <a:avLst/>
        </a:prstGeom>
        <a:solidFill>
          <a:schemeClr val="accent6">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lvl="0" algn="ctr" defTabSz="844550" rtl="0">
            <a:lnSpc>
              <a:spcPct val="90000"/>
            </a:lnSpc>
            <a:spcBef>
              <a:spcPct val="0"/>
            </a:spcBef>
            <a:spcAft>
              <a:spcPct val="35000"/>
            </a:spcAft>
          </a:pPr>
          <a:r>
            <a:rPr lang="en-US" sz="1900" b="1" kern="1200" dirty="0">
              <a:solidFill>
                <a:schemeClr val="tx1"/>
              </a:solidFill>
              <a:latin typeface="+mj-lt"/>
            </a:rPr>
            <a:t>Remote file access or transfer capability</a:t>
          </a:r>
        </a:p>
      </dsp:txBody>
      <dsp:txXfrm>
        <a:off x="47171" y="3093238"/>
        <a:ext cx="2923178" cy="871961"/>
      </dsp:txXfrm>
    </dsp:sp>
    <dsp:sp modelId="{F548D0B3-D601-2640-9C5D-22FE0D733D27}">
      <dsp:nvSpPr>
        <dsp:cNvPr id="0" name=""/>
        <dsp:cNvSpPr/>
      </dsp:nvSpPr>
      <dsp:spPr>
        <a:xfrm rot="5400000">
          <a:off x="5313238" y="1861597"/>
          <a:ext cx="773043" cy="5364480"/>
        </a:xfrm>
        <a:prstGeom prst="round2SameRect">
          <a:avLst/>
        </a:prstGeom>
        <a:solidFill>
          <a:schemeClr val="tx1"/>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US" sz="1400" b="1" kern="1200" dirty="0">
              <a:latin typeface="+mj-lt"/>
            </a:rPr>
            <a:t>Worm logs onto a remote system as a user and then uses commands to copy itself from one system to the other</a:t>
          </a:r>
        </a:p>
      </dsp:txBody>
      <dsp:txXfrm rot="-5400000">
        <a:off x="3017520" y="4195053"/>
        <a:ext cx="5326743" cy="697569"/>
      </dsp:txXfrm>
    </dsp:sp>
    <dsp:sp modelId="{4E9E9A9B-C119-9141-8246-9E5820C59B44}">
      <dsp:nvSpPr>
        <dsp:cNvPr id="0" name=""/>
        <dsp:cNvSpPr/>
      </dsp:nvSpPr>
      <dsp:spPr>
        <a:xfrm>
          <a:off x="0" y="4060686"/>
          <a:ext cx="3017520" cy="966303"/>
        </a:xfrm>
        <a:prstGeom prst="roundRect">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lvl="0" algn="ctr" defTabSz="844550" rtl="0">
            <a:lnSpc>
              <a:spcPct val="90000"/>
            </a:lnSpc>
            <a:spcBef>
              <a:spcPct val="0"/>
            </a:spcBef>
            <a:spcAft>
              <a:spcPct val="35000"/>
            </a:spcAft>
          </a:pPr>
          <a:r>
            <a:rPr lang="en-US" sz="1900" b="1" kern="1200" dirty="0">
              <a:solidFill>
                <a:schemeClr val="tx1"/>
              </a:solidFill>
              <a:latin typeface="+mj-lt"/>
            </a:rPr>
            <a:t>Remote login capability</a:t>
          </a:r>
        </a:p>
      </dsp:txBody>
      <dsp:txXfrm>
        <a:off x="47171" y="4107857"/>
        <a:ext cx="2923178" cy="87196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527C6F-2B09-D549-8F7C-974FD99EE026}">
      <dsp:nvSpPr>
        <dsp:cNvPr id="0" name=""/>
        <dsp:cNvSpPr/>
      </dsp:nvSpPr>
      <dsp:spPr>
        <a:xfrm>
          <a:off x="1800187" y="0"/>
          <a:ext cx="5760640" cy="5760640"/>
        </a:xfrm>
        <a:prstGeom prst="diamond">
          <a:avLst/>
        </a:prstGeom>
        <a:solidFill>
          <a:schemeClr val="accent1">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A7E89E5-2DDA-BC41-A64E-74E0DF287100}">
      <dsp:nvSpPr>
        <dsp:cNvPr id="0" name=""/>
        <dsp:cNvSpPr/>
      </dsp:nvSpPr>
      <dsp:spPr>
        <a:xfrm>
          <a:off x="2064600" y="547260"/>
          <a:ext cx="2246649" cy="2246649"/>
        </a:xfrm>
        <a:prstGeom prst="roundRect">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b="1" kern="1200" dirty="0">
              <a:solidFill>
                <a:schemeClr val="bg1"/>
              </a:solidFill>
            </a:rPr>
            <a:t>Ransomware attack in May 2017 that spread extremely fast over a period of hours to days, infecting hundreds of thousands of systems belonging to both public and private organizations in more than 150 countries</a:t>
          </a:r>
        </a:p>
      </dsp:txBody>
      <dsp:txXfrm>
        <a:off x="2174272" y="656932"/>
        <a:ext cx="2027305" cy="2027305"/>
      </dsp:txXfrm>
    </dsp:sp>
    <dsp:sp modelId="{E41A8419-78ED-AD41-A3C0-8E9B9F7B1206}">
      <dsp:nvSpPr>
        <dsp:cNvPr id="0" name=""/>
        <dsp:cNvSpPr/>
      </dsp:nvSpPr>
      <dsp:spPr>
        <a:xfrm>
          <a:off x="4484069" y="547260"/>
          <a:ext cx="2246649" cy="2246649"/>
        </a:xfrm>
        <a:prstGeom prst="roundRect">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b="1" kern="1200" dirty="0">
              <a:solidFill>
                <a:schemeClr val="bg1"/>
              </a:solidFill>
            </a:rPr>
            <a:t>It spread as a worm by aggressively scanning both local and random remote networks, attempting to exploit a vulnerability in the Server Message Block protocol file sharing service on unpatched Windows systems</a:t>
          </a:r>
        </a:p>
      </dsp:txBody>
      <dsp:txXfrm>
        <a:off x="4593741" y="656932"/>
        <a:ext cx="2027305" cy="2027305"/>
      </dsp:txXfrm>
    </dsp:sp>
    <dsp:sp modelId="{D65002E7-5471-E045-8899-52405CA0AECD}">
      <dsp:nvSpPr>
        <dsp:cNvPr id="0" name=""/>
        <dsp:cNvSpPr/>
      </dsp:nvSpPr>
      <dsp:spPr>
        <a:xfrm>
          <a:off x="2064600" y="2966729"/>
          <a:ext cx="2246649" cy="2246649"/>
        </a:xfrm>
        <a:prstGeom prst="roundRect">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b="1" kern="1200" dirty="0">
              <a:solidFill>
                <a:schemeClr val="bg1"/>
              </a:solidFill>
            </a:rPr>
            <a:t>This rapid spread was only slowed by the accidental activation of a “kill-switch” domain by a UK security researcher</a:t>
          </a:r>
        </a:p>
      </dsp:txBody>
      <dsp:txXfrm>
        <a:off x="2174272" y="3076401"/>
        <a:ext cx="2027305" cy="2027305"/>
      </dsp:txXfrm>
    </dsp:sp>
    <dsp:sp modelId="{6AFE1F2A-87B4-ED4A-A848-2ECBF8CCBB0B}">
      <dsp:nvSpPr>
        <dsp:cNvPr id="0" name=""/>
        <dsp:cNvSpPr/>
      </dsp:nvSpPr>
      <dsp:spPr>
        <a:xfrm>
          <a:off x="4484069" y="2966729"/>
          <a:ext cx="2246649" cy="2246649"/>
        </a:xfrm>
        <a:prstGeom prst="roundRect">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sz="1200" b="1" kern="1200" dirty="0">
              <a:solidFill>
                <a:schemeClr val="bg1"/>
              </a:solidFill>
            </a:rPr>
            <a:t>Once installed on infected systems, it also encrypted files, demanding a ransom payment to recover them</a:t>
          </a:r>
        </a:p>
      </dsp:txBody>
      <dsp:txXfrm>
        <a:off x="4593741" y="3076401"/>
        <a:ext cx="2027305" cy="202730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4D0653-6265-5A47-B3FD-D6FE1A35E718}">
      <dsp:nvSpPr>
        <dsp:cNvPr id="0" name=""/>
        <dsp:cNvSpPr/>
      </dsp:nvSpPr>
      <dsp:spPr>
        <a:xfrm>
          <a:off x="3226444" y="1588256"/>
          <a:ext cx="3681710" cy="3681710"/>
        </a:xfrm>
        <a:prstGeom prst="ellipse">
          <a:avLst/>
        </a:prstGeom>
        <a:solidFill>
          <a:schemeClr val="accent5"/>
        </a:solidFill>
        <a:ln w="22225">
          <a:solidFill>
            <a:schemeClr val="bg1"/>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46990" tIns="46990" rIns="46990" bIns="46990" numCol="1" spcCol="1270" anchor="ctr" anchorCtr="0">
          <a:noAutofit/>
        </a:bodyPr>
        <a:lstStyle/>
        <a:p>
          <a:pPr lvl="0" algn="ctr" defTabSz="1644650" rtl="0">
            <a:lnSpc>
              <a:spcPct val="90000"/>
            </a:lnSpc>
            <a:spcBef>
              <a:spcPct val="0"/>
            </a:spcBef>
            <a:spcAft>
              <a:spcPct val="35000"/>
            </a:spcAft>
          </a:pPr>
          <a:r>
            <a:rPr lang="en-US" sz="3700" b="1" kern="1200" dirty="0">
              <a:solidFill>
                <a:schemeClr val="bg1"/>
              </a:solidFill>
            </a:rPr>
            <a:t>Worm Technology</a:t>
          </a:r>
          <a:endParaRPr lang="en-US" sz="3700" kern="1200" dirty="0">
            <a:solidFill>
              <a:schemeClr val="bg1"/>
            </a:solidFill>
          </a:endParaRPr>
        </a:p>
      </dsp:txBody>
      <dsp:txXfrm>
        <a:off x="3765618" y="2127430"/>
        <a:ext cx="2603362" cy="2603362"/>
      </dsp:txXfrm>
    </dsp:sp>
    <dsp:sp modelId="{B4BEB0F9-D7FC-5B41-8A77-1772BE16071E}">
      <dsp:nvSpPr>
        <dsp:cNvPr id="0" name=""/>
        <dsp:cNvSpPr/>
      </dsp:nvSpPr>
      <dsp:spPr>
        <a:xfrm>
          <a:off x="4146872" y="113589"/>
          <a:ext cx="1840855" cy="1840855"/>
        </a:xfrm>
        <a:prstGeom prst="ellipse">
          <a:avLst/>
        </a:prstGeom>
        <a:solidFill>
          <a:schemeClr val="tx1"/>
        </a:solidFill>
        <a:ln w="22225">
          <a:solidFill>
            <a:schemeClr val="bg1"/>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19050" tIns="19050" rIns="19050" bIns="19050" numCol="1" spcCol="1270" anchor="ctr" anchorCtr="0">
          <a:noAutofit/>
        </a:bodyPr>
        <a:lstStyle/>
        <a:p>
          <a:pPr lvl="0" algn="ctr" defTabSz="666750" rtl="0">
            <a:lnSpc>
              <a:spcPct val="90000"/>
            </a:lnSpc>
            <a:spcBef>
              <a:spcPct val="0"/>
            </a:spcBef>
            <a:spcAft>
              <a:spcPct val="35000"/>
            </a:spcAft>
          </a:pPr>
          <a:r>
            <a:rPr lang="en-US" sz="1500" b="1" kern="1200" dirty="0">
              <a:solidFill>
                <a:schemeClr val="bg1"/>
              </a:solidFill>
            </a:rPr>
            <a:t>Multiplatform</a:t>
          </a:r>
          <a:endParaRPr lang="en-US" sz="1500" kern="1200" dirty="0">
            <a:solidFill>
              <a:schemeClr val="bg1"/>
            </a:solidFill>
          </a:endParaRPr>
        </a:p>
      </dsp:txBody>
      <dsp:txXfrm>
        <a:off x="4416459" y="383176"/>
        <a:ext cx="1301681" cy="1301681"/>
      </dsp:txXfrm>
    </dsp:sp>
    <dsp:sp modelId="{FB105C74-5023-9549-9909-7AFC2BC8A41A}">
      <dsp:nvSpPr>
        <dsp:cNvPr id="0" name=""/>
        <dsp:cNvSpPr/>
      </dsp:nvSpPr>
      <dsp:spPr>
        <a:xfrm>
          <a:off x="6424742" y="1768558"/>
          <a:ext cx="1840855" cy="1840855"/>
        </a:xfrm>
        <a:prstGeom prst="ellipse">
          <a:avLst/>
        </a:prstGeom>
        <a:solidFill>
          <a:schemeClr val="tx1"/>
        </a:solidFill>
        <a:ln w="22225">
          <a:solidFill>
            <a:schemeClr val="bg1"/>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19050" tIns="19050" rIns="19050" bIns="19050" numCol="1" spcCol="1270" anchor="ctr" anchorCtr="0">
          <a:noAutofit/>
        </a:bodyPr>
        <a:lstStyle/>
        <a:p>
          <a:pPr lvl="0" algn="ctr" defTabSz="666750" rtl="0">
            <a:lnSpc>
              <a:spcPct val="90000"/>
            </a:lnSpc>
            <a:spcBef>
              <a:spcPct val="0"/>
            </a:spcBef>
            <a:spcAft>
              <a:spcPct val="35000"/>
            </a:spcAft>
          </a:pPr>
          <a:r>
            <a:rPr lang="en-US" sz="1500" b="1" kern="1200" dirty="0">
              <a:solidFill>
                <a:schemeClr val="bg1"/>
              </a:solidFill>
            </a:rPr>
            <a:t>Multi-exploit</a:t>
          </a:r>
          <a:endParaRPr lang="en-US" sz="1500" kern="1200" dirty="0">
            <a:solidFill>
              <a:schemeClr val="bg1"/>
            </a:solidFill>
          </a:endParaRPr>
        </a:p>
      </dsp:txBody>
      <dsp:txXfrm>
        <a:off x="6694329" y="2038145"/>
        <a:ext cx="1301681" cy="1301681"/>
      </dsp:txXfrm>
    </dsp:sp>
    <dsp:sp modelId="{14A307A0-559D-5F4E-A70F-C01D11B0546F}">
      <dsp:nvSpPr>
        <dsp:cNvPr id="0" name=""/>
        <dsp:cNvSpPr/>
      </dsp:nvSpPr>
      <dsp:spPr>
        <a:xfrm>
          <a:off x="5554673" y="4446355"/>
          <a:ext cx="1840855" cy="1840855"/>
        </a:xfrm>
        <a:prstGeom prst="ellipse">
          <a:avLst/>
        </a:prstGeom>
        <a:solidFill>
          <a:schemeClr val="tx1"/>
        </a:solidFill>
        <a:ln w="22225">
          <a:solidFill>
            <a:schemeClr val="bg1"/>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19050" tIns="19050" rIns="19050" bIns="19050" numCol="1" spcCol="1270" anchor="ctr" anchorCtr="0">
          <a:noAutofit/>
        </a:bodyPr>
        <a:lstStyle/>
        <a:p>
          <a:pPr lvl="0" algn="ctr" defTabSz="666750" rtl="0">
            <a:lnSpc>
              <a:spcPct val="90000"/>
            </a:lnSpc>
            <a:spcBef>
              <a:spcPct val="0"/>
            </a:spcBef>
            <a:spcAft>
              <a:spcPct val="35000"/>
            </a:spcAft>
          </a:pPr>
          <a:r>
            <a:rPr lang="en-US" sz="1500" b="1" kern="1200" dirty="0">
              <a:solidFill>
                <a:schemeClr val="bg1"/>
              </a:solidFill>
            </a:rPr>
            <a:t>Ultrafast spreading</a:t>
          </a:r>
          <a:endParaRPr lang="en-US" sz="1500" kern="1200" dirty="0">
            <a:solidFill>
              <a:schemeClr val="bg1"/>
            </a:solidFill>
          </a:endParaRPr>
        </a:p>
      </dsp:txBody>
      <dsp:txXfrm>
        <a:off x="5824260" y="4715942"/>
        <a:ext cx="1301681" cy="1301681"/>
      </dsp:txXfrm>
    </dsp:sp>
    <dsp:sp modelId="{ADCE9D15-6654-AD4A-B316-C2451993F9C8}">
      <dsp:nvSpPr>
        <dsp:cNvPr id="0" name=""/>
        <dsp:cNvSpPr/>
      </dsp:nvSpPr>
      <dsp:spPr>
        <a:xfrm>
          <a:off x="2739071" y="4446355"/>
          <a:ext cx="1840855" cy="1840855"/>
        </a:xfrm>
        <a:prstGeom prst="ellipse">
          <a:avLst/>
        </a:prstGeom>
        <a:solidFill>
          <a:schemeClr val="tx1"/>
        </a:solidFill>
        <a:ln w="22225">
          <a:solidFill>
            <a:schemeClr val="bg1"/>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19050" tIns="19050" rIns="19050" bIns="19050" numCol="1" spcCol="1270" anchor="ctr" anchorCtr="0">
          <a:noAutofit/>
        </a:bodyPr>
        <a:lstStyle/>
        <a:p>
          <a:pPr lvl="0" algn="ctr" defTabSz="666750" rtl="0">
            <a:lnSpc>
              <a:spcPct val="90000"/>
            </a:lnSpc>
            <a:spcBef>
              <a:spcPct val="0"/>
            </a:spcBef>
            <a:spcAft>
              <a:spcPct val="35000"/>
            </a:spcAft>
          </a:pPr>
          <a:r>
            <a:rPr lang="en-US" sz="1500" b="1" kern="1200" dirty="0">
              <a:solidFill>
                <a:schemeClr val="bg1"/>
              </a:solidFill>
            </a:rPr>
            <a:t>Polymorphic</a:t>
          </a:r>
          <a:endParaRPr lang="en-US" sz="1500" kern="1200" dirty="0">
            <a:solidFill>
              <a:schemeClr val="bg1"/>
            </a:solidFill>
          </a:endParaRPr>
        </a:p>
      </dsp:txBody>
      <dsp:txXfrm>
        <a:off x="3008658" y="4715942"/>
        <a:ext cx="1301681" cy="1301681"/>
      </dsp:txXfrm>
    </dsp:sp>
    <dsp:sp modelId="{6AF1FB02-7F67-9045-92F3-3A592F29C8AD}">
      <dsp:nvSpPr>
        <dsp:cNvPr id="0" name=""/>
        <dsp:cNvSpPr/>
      </dsp:nvSpPr>
      <dsp:spPr>
        <a:xfrm>
          <a:off x="1869002" y="1768558"/>
          <a:ext cx="1840855" cy="1840855"/>
        </a:xfrm>
        <a:prstGeom prst="ellipse">
          <a:avLst/>
        </a:prstGeom>
        <a:solidFill>
          <a:schemeClr val="tx1"/>
        </a:solidFill>
        <a:ln w="22225">
          <a:solidFill>
            <a:schemeClr val="bg1"/>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19050" tIns="19050" rIns="19050" bIns="19050" numCol="1" spcCol="1270" anchor="ctr" anchorCtr="0">
          <a:noAutofit/>
        </a:bodyPr>
        <a:lstStyle/>
        <a:p>
          <a:pPr lvl="0" algn="ctr" defTabSz="666750" rtl="0">
            <a:lnSpc>
              <a:spcPct val="90000"/>
            </a:lnSpc>
            <a:spcBef>
              <a:spcPct val="0"/>
            </a:spcBef>
            <a:spcAft>
              <a:spcPct val="35000"/>
            </a:spcAft>
          </a:pPr>
          <a:r>
            <a:rPr lang="en-US" sz="1500" b="1" kern="1200" dirty="0">
              <a:solidFill>
                <a:schemeClr val="bg1"/>
              </a:solidFill>
            </a:rPr>
            <a:t>Metamorphic</a:t>
          </a:r>
          <a:endParaRPr lang="en-US" sz="1500" kern="1200" dirty="0">
            <a:solidFill>
              <a:schemeClr val="bg1"/>
            </a:solidFill>
          </a:endParaRPr>
        </a:p>
      </dsp:txBody>
      <dsp:txXfrm>
        <a:off x="2138589" y="2038145"/>
        <a:ext cx="1301681" cy="130168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D76B07-51BB-1245-AF60-0C6452EE04BD}">
      <dsp:nvSpPr>
        <dsp:cNvPr id="0" name=""/>
        <dsp:cNvSpPr/>
      </dsp:nvSpPr>
      <dsp:spPr>
        <a:xfrm>
          <a:off x="0" y="97397"/>
          <a:ext cx="4094153" cy="2175710"/>
        </a:xfrm>
        <a:prstGeom prst="roundRect">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rtl="0">
            <a:lnSpc>
              <a:spcPct val="90000"/>
            </a:lnSpc>
            <a:spcBef>
              <a:spcPct val="0"/>
            </a:spcBef>
            <a:spcAft>
              <a:spcPct val="35000"/>
            </a:spcAft>
          </a:pPr>
          <a:r>
            <a:rPr lang="en-US" sz="1700" kern="1200" dirty="0">
              <a:solidFill>
                <a:schemeClr val="bg1"/>
              </a:solidFill>
            </a:rPr>
            <a:t>Exploits browser and plugin vulnerabilities so when the user views a webpage controlled by the attacker, it contains code that exploits the bug to download and install malware on the system without the user’s knowledge or consent</a:t>
          </a:r>
        </a:p>
      </dsp:txBody>
      <dsp:txXfrm>
        <a:off x="106209" y="203606"/>
        <a:ext cx="3881735" cy="1963292"/>
      </dsp:txXfrm>
    </dsp:sp>
    <dsp:sp modelId="{1AD249A0-6B01-B341-8A3A-17F99B708EA3}">
      <dsp:nvSpPr>
        <dsp:cNvPr id="0" name=""/>
        <dsp:cNvSpPr/>
      </dsp:nvSpPr>
      <dsp:spPr>
        <a:xfrm>
          <a:off x="2037889" y="2285422"/>
          <a:ext cx="3723791" cy="1489121"/>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rtl="0">
            <a:lnSpc>
              <a:spcPct val="90000"/>
            </a:lnSpc>
            <a:spcBef>
              <a:spcPct val="0"/>
            </a:spcBef>
            <a:spcAft>
              <a:spcPct val="35000"/>
            </a:spcAft>
          </a:pPr>
          <a:r>
            <a:rPr lang="en-US" sz="1700" kern="1200" dirty="0">
              <a:solidFill>
                <a:schemeClr val="bg1"/>
              </a:solidFill>
            </a:rPr>
            <a:t>In most cases the malware does not actively propagate as a worm does</a:t>
          </a:r>
        </a:p>
      </dsp:txBody>
      <dsp:txXfrm>
        <a:off x="2110582" y="2358115"/>
        <a:ext cx="3578405" cy="1343735"/>
      </dsp:txXfrm>
    </dsp:sp>
    <dsp:sp modelId="{9FB8E040-7664-184B-97F7-B6CA58CB139A}">
      <dsp:nvSpPr>
        <dsp:cNvPr id="0" name=""/>
        <dsp:cNvSpPr/>
      </dsp:nvSpPr>
      <dsp:spPr>
        <a:xfrm>
          <a:off x="4075778" y="3637714"/>
          <a:ext cx="4153821" cy="1156303"/>
        </a:xfrm>
        <a:prstGeom prst="roundRect">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32385" rIns="64770" bIns="32385" numCol="1" spcCol="1270" anchor="ctr" anchorCtr="0">
          <a:noAutofit/>
        </a:bodyPr>
        <a:lstStyle/>
        <a:p>
          <a:pPr lvl="0" algn="ctr" defTabSz="755650" rtl="0">
            <a:lnSpc>
              <a:spcPct val="90000"/>
            </a:lnSpc>
            <a:spcBef>
              <a:spcPct val="0"/>
            </a:spcBef>
            <a:spcAft>
              <a:spcPct val="35000"/>
            </a:spcAft>
          </a:pPr>
          <a:r>
            <a:rPr lang="en-US" sz="1700" kern="1200" dirty="0">
              <a:solidFill>
                <a:schemeClr val="bg1"/>
              </a:solidFill>
            </a:rPr>
            <a:t>Spreads when users visit the malicious Web page</a:t>
          </a:r>
        </a:p>
      </dsp:txBody>
      <dsp:txXfrm>
        <a:off x="4132224" y="3694160"/>
        <a:ext cx="4040929" cy="104341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4A25A2-A8D4-1143-9F0B-7379DA60D3D7}">
      <dsp:nvSpPr>
        <dsp:cNvPr id="0" name=""/>
        <dsp:cNvSpPr/>
      </dsp:nvSpPr>
      <dsp:spPr>
        <a:xfrm>
          <a:off x="0" y="646781"/>
          <a:ext cx="8496944" cy="682110"/>
        </a:xfrm>
        <a:prstGeom prst="roundRect">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dirty="0">
              <a:solidFill>
                <a:schemeClr val="bg1"/>
              </a:solidFill>
            </a:rPr>
            <a:t>Places malware on websites without actually compromising them</a:t>
          </a:r>
        </a:p>
      </dsp:txBody>
      <dsp:txXfrm>
        <a:off x="33298" y="680079"/>
        <a:ext cx="8430348" cy="615514"/>
      </dsp:txXfrm>
    </dsp:sp>
    <dsp:sp modelId="{DDDBEAB2-0D3F-FE46-BBD3-DBD8CA4F9CB1}">
      <dsp:nvSpPr>
        <dsp:cNvPr id="0" name=""/>
        <dsp:cNvSpPr/>
      </dsp:nvSpPr>
      <dsp:spPr>
        <a:xfrm>
          <a:off x="0" y="1374971"/>
          <a:ext cx="8496944" cy="682110"/>
        </a:xfrm>
        <a:prstGeom prst="roundRect">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dirty="0">
              <a:solidFill>
                <a:schemeClr val="bg1"/>
              </a:solidFill>
            </a:rPr>
            <a:t>The attacker pays for advertisements that are highly likely to be placed on their intended target websites and incorporate malware in them</a:t>
          </a:r>
        </a:p>
      </dsp:txBody>
      <dsp:txXfrm>
        <a:off x="33298" y="1408269"/>
        <a:ext cx="8430348" cy="615514"/>
      </dsp:txXfrm>
    </dsp:sp>
    <dsp:sp modelId="{E49FACDF-C552-BD45-AFA0-D38572A1CA74}">
      <dsp:nvSpPr>
        <dsp:cNvPr id="0" name=""/>
        <dsp:cNvSpPr/>
      </dsp:nvSpPr>
      <dsp:spPr>
        <a:xfrm>
          <a:off x="0" y="2103162"/>
          <a:ext cx="8496944" cy="682110"/>
        </a:xfrm>
        <a:prstGeom prst="roundRect">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dirty="0">
              <a:solidFill>
                <a:schemeClr val="bg1"/>
              </a:solidFill>
            </a:rPr>
            <a:t>Using these malicious ads, attackers can infect visitors to sites displaying them</a:t>
          </a:r>
        </a:p>
      </dsp:txBody>
      <dsp:txXfrm>
        <a:off x="33298" y="2136460"/>
        <a:ext cx="8430348" cy="615514"/>
      </dsp:txXfrm>
    </dsp:sp>
    <dsp:sp modelId="{5683987F-E621-FF43-9582-F89ECDEB36ED}">
      <dsp:nvSpPr>
        <dsp:cNvPr id="0" name=""/>
        <dsp:cNvSpPr/>
      </dsp:nvSpPr>
      <dsp:spPr>
        <a:xfrm>
          <a:off x="0" y="2831351"/>
          <a:ext cx="8496944" cy="682110"/>
        </a:xfrm>
        <a:prstGeom prst="roundRect">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dirty="0">
              <a:solidFill>
                <a:schemeClr val="bg1"/>
              </a:solidFill>
            </a:rPr>
            <a:t>The malware code may be dynamically generated to either reduce the chance of detection or to only infect specific systems</a:t>
          </a:r>
        </a:p>
      </dsp:txBody>
      <dsp:txXfrm>
        <a:off x="33298" y="2864649"/>
        <a:ext cx="8430348" cy="615514"/>
      </dsp:txXfrm>
    </dsp:sp>
    <dsp:sp modelId="{909A5F0D-7A87-E44E-B593-2BFE4E038310}">
      <dsp:nvSpPr>
        <dsp:cNvPr id="0" name=""/>
        <dsp:cNvSpPr/>
      </dsp:nvSpPr>
      <dsp:spPr>
        <a:xfrm>
          <a:off x="0" y="3559542"/>
          <a:ext cx="8496944" cy="682110"/>
        </a:xfrm>
        <a:prstGeom prst="roundRect">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dirty="0">
              <a:solidFill>
                <a:schemeClr val="bg1"/>
              </a:solidFill>
            </a:rPr>
            <a:t>Has grown rapidly in recent years because they are easy to place on desired websites with few questions asked and are hard to track</a:t>
          </a:r>
        </a:p>
      </dsp:txBody>
      <dsp:txXfrm>
        <a:off x="33298" y="3592840"/>
        <a:ext cx="8430348" cy="615514"/>
      </dsp:txXfrm>
    </dsp:sp>
    <dsp:sp modelId="{EDE32FAD-A338-2848-8674-1D43B7DD08C7}">
      <dsp:nvSpPr>
        <dsp:cNvPr id="0" name=""/>
        <dsp:cNvSpPr/>
      </dsp:nvSpPr>
      <dsp:spPr>
        <a:xfrm>
          <a:off x="0" y="4287732"/>
          <a:ext cx="8496944" cy="682110"/>
        </a:xfrm>
        <a:prstGeom prst="roundRect">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dirty="0">
              <a:solidFill>
                <a:schemeClr val="bg1"/>
              </a:solidFill>
            </a:rPr>
            <a:t>Attackers can place these ads for as little as a few hours, when they expect their intended victims could be browsing the targeted websites, greatly reducing their visibility</a:t>
          </a:r>
        </a:p>
      </dsp:txBody>
      <dsp:txXfrm>
        <a:off x="33298" y="4321030"/>
        <a:ext cx="8430348" cy="61551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A783DF-A826-E844-BB4F-7DB286566F73}">
      <dsp:nvSpPr>
        <dsp:cNvPr id="0" name=""/>
        <dsp:cNvSpPr/>
      </dsp:nvSpPr>
      <dsp:spPr>
        <a:xfrm>
          <a:off x="1054" y="0"/>
          <a:ext cx="2742492" cy="4608512"/>
        </a:xfrm>
        <a:prstGeom prst="roundRect">
          <a:avLst>
            <a:gd name="adj" fmla="val 10000"/>
          </a:avLst>
        </a:prstGeom>
        <a:solidFill>
          <a:schemeClr val="tx1"/>
        </a:solidFill>
        <a:ln>
          <a:solidFill>
            <a:schemeClr val="bg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a:t>Spam</a:t>
          </a:r>
        </a:p>
      </dsp:txBody>
      <dsp:txXfrm>
        <a:off x="1054" y="0"/>
        <a:ext cx="2742492" cy="1382553"/>
      </dsp:txXfrm>
    </dsp:sp>
    <dsp:sp modelId="{3FF2CAA5-6E7F-EF4C-9B02-6A90DD359AF1}">
      <dsp:nvSpPr>
        <dsp:cNvPr id="0" name=""/>
        <dsp:cNvSpPr/>
      </dsp:nvSpPr>
      <dsp:spPr>
        <a:xfrm>
          <a:off x="275304" y="1382947"/>
          <a:ext cx="2193993" cy="905388"/>
        </a:xfrm>
        <a:prstGeom prst="roundRect">
          <a:avLst>
            <a:gd name="adj" fmla="val 10000"/>
          </a:avLst>
        </a:prstGeom>
        <a:solidFill>
          <a:schemeClr val="accent3">
            <a:lumMod val="75000"/>
          </a:schemeClr>
        </a:solidFill>
        <a:ln>
          <a:solidFill>
            <a:schemeClr val="bg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lvl="0" algn="ctr" defTabSz="800100">
            <a:lnSpc>
              <a:spcPct val="90000"/>
            </a:lnSpc>
            <a:spcBef>
              <a:spcPct val="0"/>
            </a:spcBef>
            <a:spcAft>
              <a:spcPct val="35000"/>
            </a:spcAft>
          </a:pPr>
          <a:r>
            <a:rPr lang="en-US" sz="1800" b="0" kern="1200" dirty="0">
              <a:solidFill>
                <a:schemeClr val="bg1"/>
              </a:solidFill>
              <a:latin typeface="+mn-lt"/>
            </a:rPr>
            <a:t>Unsolicited bulk</a:t>
          </a:r>
        </a:p>
        <a:p>
          <a:pPr lvl="0" algn="ctr" defTabSz="800100">
            <a:lnSpc>
              <a:spcPct val="90000"/>
            </a:lnSpc>
            <a:spcBef>
              <a:spcPct val="0"/>
            </a:spcBef>
            <a:spcAft>
              <a:spcPct val="35000"/>
            </a:spcAft>
          </a:pPr>
          <a:r>
            <a:rPr lang="en-US" sz="1800" b="0" kern="1200" dirty="0">
              <a:solidFill>
                <a:schemeClr val="bg1"/>
              </a:solidFill>
              <a:latin typeface="+mn-lt"/>
            </a:rPr>
            <a:t> e-mail</a:t>
          </a:r>
        </a:p>
      </dsp:txBody>
      <dsp:txXfrm>
        <a:off x="301822" y="1409465"/>
        <a:ext cx="2140957" cy="852352"/>
      </dsp:txXfrm>
    </dsp:sp>
    <dsp:sp modelId="{6FE50D95-AA55-4744-8640-B2B3540673C3}">
      <dsp:nvSpPr>
        <dsp:cNvPr id="0" name=""/>
        <dsp:cNvSpPr/>
      </dsp:nvSpPr>
      <dsp:spPr>
        <a:xfrm>
          <a:off x="275304" y="2427625"/>
          <a:ext cx="2193993" cy="905388"/>
        </a:xfrm>
        <a:prstGeom prst="roundRect">
          <a:avLst>
            <a:gd name="adj" fmla="val 10000"/>
          </a:avLst>
        </a:prstGeom>
        <a:solidFill>
          <a:schemeClr val="accent6">
            <a:lumMod val="40000"/>
            <a:lumOff val="60000"/>
          </a:schemeClr>
        </a:solidFill>
        <a:ln>
          <a:solidFill>
            <a:schemeClr val="bg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lvl="0" algn="ctr" defTabSz="800100">
            <a:lnSpc>
              <a:spcPct val="90000"/>
            </a:lnSpc>
            <a:spcBef>
              <a:spcPct val="0"/>
            </a:spcBef>
            <a:spcAft>
              <a:spcPct val="35000"/>
            </a:spcAft>
          </a:pPr>
          <a:r>
            <a:rPr lang="en-US" sz="1800" b="0" kern="1200" dirty="0">
              <a:solidFill>
                <a:schemeClr val="bg1"/>
              </a:solidFill>
              <a:latin typeface="+mn-lt"/>
            </a:rPr>
            <a:t>Significant carrier of malware</a:t>
          </a:r>
        </a:p>
      </dsp:txBody>
      <dsp:txXfrm>
        <a:off x="301822" y="2454143"/>
        <a:ext cx="2140957" cy="852352"/>
      </dsp:txXfrm>
    </dsp:sp>
    <dsp:sp modelId="{46CCBB17-C841-654B-B78D-27845626891C}">
      <dsp:nvSpPr>
        <dsp:cNvPr id="0" name=""/>
        <dsp:cNvSpPr/>
      </dsp:nvSpPr>
      <dsp:spPr>
        <a:xfrm>
          <a:off x="275304" y="3472304"/>
          <a:ext cx="2193993" cy="905388"/>
        </a:xfrm>
        <a:prstGeom prst="roundRect">
          <a:avLst>
            <a:gd name="adj" fmla="val 10000"/>
          </a:avLst>
        </a:prstGeom>
        <a:solidFill>
          <a:schemeClr val="accent5">
            <a:lumMod val="75000"/>
          </a:schemeClr>
        </a:solidFill>
        <a:ln>
          <a:solidFill>
            <a:schemeClr val="bg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lvl="0" algn="ctr" defTabSz="800100">
            <a:lnSpc>
              <a:spcPct val="90000"/>
            </a:lnSpc>
            <a:spcBef>
              <a:spcPct val="0"/>
            </a:spcBef>
            <a:spcAft>
              <a:spcPct val="35000"/>
            </a:spcAft>
          </a:pPr>
          <a:r>
            <a:rPr lang="en-US" sz="1800" b="0" kern="1200" dirty="0">
              <a:solidFill>
                <a:schemeClr val="bg1"/>
              </a:solidFill>
              <a:latin typeface="+mn-lt"/>
            </a:rPr>
            <a:t>Used for phishing attacks</a:t>
          </a:r>
        </a:p>
      </dsp:txBody>
      <dsp:txXfrm>
        <a:off x="301822" y="3498822"/>
        <a:ext cx="2140957" cy="852352"/>
      </dsp:txXfrm>
    </dsp:sp>
    <dsp:sp modelId="{0FB8B290-EEEC-0C47-9F93-05681CD27AC2}">
      <dsp:nvSpPr>
        <dsp:cNvPr id="0" name=""/>
        <dsp:cNvSpPr/>
      </dsp:nvSpPr>
      <dsp:spPr>
        <a:xfrm>
          <a:off x="2949233" y="0"/>
          <a:ext cx="2742492" cy="4608512"/>
        </a:xfrm>
        <a:prstGeom prst="roundRect">
          <a:avLst>
            <a:gd name="adj" fmla="val 10000"/>
          </a:avLst>
        </a:prstGeom>
        <a:solidFill>
          <a:schemeClr val="tx1"/>
        </a:solidFill>
        <a:ln>
          <a:solidFill>
            <a:schemeClr val="bg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a:latin typeface="+mn-lt"/>
            </a:rPr>
            <a:t>Trojan horse</a:t>
          </a:r>
        </a:p>
      </dsp:txBody>
      <dsp:txXfrm>
        <a:off x="2949233" y="0"/>
        <a:ext cx="2742492" cy="1382553"/>
      </dsp:txXfrm>
    </dsp:sp>
    <dsp:sp modelId="{8D1AB2C6-C8C2-264A-AB94-906857099761}">
      <dsp:nvSpPr>
        <dsp:cNvPr id="0" name=""/>
        <dsp:cNvSpPr/>
      </dsp:nvSpPr>
      <dsp:spPr>
        <a:xfrm>
          <a:off x="3223483" y="1383903"/>
          <a:ext cx="2193993" cy="1389529"/>
        </a:xfrm>
        <a:prstGeom prst="roundRect">
          <a:avLst>
            <a:gd name="adj" fmla="val 10000"/>
          </a:avLst>
        </a:prstGeom>
        <a:solidFill>
          <a:schemeClr val="accent5">
            <a:lumMod val="75000"/>
          </a:schemeClr>
        </a:solidFill>
        <a:ln>
          <a:solidFill>
            <a:schemeClr val="bg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lvl="0" algn="ctr" defTabSz="800100">
            <a:lnSpc>
              <a:spcPct val="90000"/>
            </a:lnSpc>
            <a:spcBef>
              <a:spcPct val="0"/>
            </a:spcBef>
            <a:spcAft>
              <a:spcPct val="35000"/>
            </a:spcAft>
          </a:pPr>
          <a:r>
            <a:rPr lang="en-US" sz="1800" b="0" kern="1200" dirty="0">
              <a:solidFill>
                <a:schemeClr val="bg1"/>
              </a:solidFill>
              <a:latin typeface="+mn-lt"/>
            </a:rPr>
            <a:t>Program or utility containing harmful hidden code</a:t>
          </a:r>
        </a:p>
      </dsp:txBody>
      <dsp:txXfrm>
        <a:off x="3264181" y="1424601"/>
        <a:ext cx="2112597" cy="1308133"/>
      </dsp:txXfrm>
    </dsp:sp>
    <dsp:sp modelId="{CA0D8F73-6837-6D4C-846D-34586ACB84FE}">
      <dsp:nvSpPr>
        <dsp:cNvPr id="0" name=""/>
        <dsp:cNvSpPr/>
      </dsp:nvSpPr>
      <dsp:spPr>
        <a:xfrm>
          <a:off x="3223483" y="2987206"/>
          <a:ext cx="2193993" cy="1389529"/>
        </a:xfrm>
        <a:prstGeom prst="roundRect">
          <a:avLst>
            <a:gd name="adj" fmla="val 10000"/>
          </a:avLst>
        </a:prstGeom>
        <a:solidFill>
          <a:schemeClr val="accent3">
            <a:lumMod val="75000"/>
          </a:schemeClr>
        </a:solidFill>
        <a:ln>
          <a:solidFill>
            <a:schemeClr val="bg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lvl="0" algn="ctr" defTabSz="800100">
            <a:lnSpc>
              <a:spcPct val="90000"/>
            </a:lnSpc>
            <a:spcBef>
              <a:spcPct val="0"/>
            </a:spcBef>
            <a:spcAft>
              <a:spcPct val="35000"/>
            </a:spcAft>
          </a:pPr>
          <a:r>
            <a:rPr lang="en-US" sz="1800" b="0" kern="1200" dirty="0">
              <a:solidFill>
                <a:schemeClr val="bg1"/>
              </a:solidFill>
              <a:latin typeface="+mn-lt"/>
            </a:rPr>
            <a:t>Used to accomplish functions that the attacker could not accomplish directly</a:t>
          </a:r>
        </a:p>
      </dsp:txBody>
      <dsp:txXfrm>
        <a:off x="3264181" y="3027904"/>
        <a:ext cx="2112597" cy="1308133"/>
      </dsp:txXfrm>
    </dsp:sp>
    <dsp:sp modelId="{E3CD1909-82DC-5245-8C0A-079E52A0B644}">
      <dsp:nvSpPr>
        <dsp:cNvPr id="0" name=""/>
        <dsp:cNvSpPr/>
      </dsp:nvSpPr>
      <dsp:spPr>
        <a:xfrm>
          <a:off x="5897413" y="0"/>
          <a:ext cx="2742492" cy="4608512"/>
        </a:xfrm>
        <a:prstGeom prst="roundRect">
          <a:avLst>
            <a:gd name="adj" fmla="val 10000"/>
          </a:avLst>
        </a:prstGeom>
        <a:solidFill>
          <a:schemeClr val="tx1"/>
        </a:solidFill>
        <a:ln>
          <a:solidFill>
            <a:schemeClr val="bg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a:latin typeface="+mn-lt"/>
            </a:rPr>
            <a:t>Mobile phone Trojans</a:t>
          </a:r>
        </a:p>
      </dsp:txBody>
      <dsp:txXfrm>
        <a:off x="5897413" y="0"/>
        <a:ext cx="2742492" cy="1382553"/>
      </dsp:txXfrm>
    </dsp:sp>
    <dsp:sp modelId="{C8375C9C-C22E-4441-BF7D-39B9C69C123B}">
      <dsp:nvSpPr>
        <dsp:cNvPr id="0" name=""/>
        <dsp:cNvSpPr/>
      </dsp:nvSpPr>
      <dsp:spPr>
        <a:xfrm>
          <a:off x="6171662" y="1383903"/>
          <a:ext cx="2193993" cy="1389529"/>
        </a:xfrm>
        <a:prstGeom prst="roundRect">
          <a:avLst>
            <a:gd name="adj" fmla="val 10000"/>
          </a:avLst>
        </a:prstGeom>
        <a:solidFill>
          <a:schemeClr val="accent3">
            <a:lumMod val="75000"/>
          </a:schemeClr>
        </a:solidFill>
        <a:ln>
          <a:solidFill>
            <a:schemeClr val="bg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lvl="0" algn="ctr" defTabSz="800100">
            <a:lnSpc>
              <a:spcPct val="90000"/>
            </a:lnSpc>
            <a:spcBef>
              <a:spcPct val="0"/>
            </a:spcBef>
            <a:spcAft>
              <a:spcPct val="35000"/>
            </a:spcAft>
          </a:pPr>
          <a:r>
            <a:rPr lang="en-US" sz="1800" b="0" kern="1200" dirty="0">
              <a:solidFill>
                <a:schemeClr val="bg1"/>
              </a:solidFill>
              <a:latin typeface="+mn-lt"/>
            </a:rPr>
            <a:t>First appeared in 2004 (</a:t>
          </a:r>
          <a:r>
            <a:rPr lang="en-US" sz="1800" b="0" kern="1200" dirty="0" err="1">
              <a:solidFill>
                <a:schemeClr val="bg1"/>
              </a:solidFill>
              <a:latin typeface="+mn-lt"/>
            </a:rPr>
            <a:t>Skuller</a:t>
          </a:r>
          <a:r>
            <a:rPr lang="en-US" sz="1800" b="0" kern="1200" dirty="0">
              <a:solidFill>
                <a:schemeClr val="bg1"/>
              </a:solidFill>
              <a:latin typeface="+mn-lt"/>
            </a:rPr>
            <a:t>)</a:t>
          </a:r>
        </a:p>
      </dsp:txBody>
      <dsp:txXfrm>
        <a:off x="6212360" y="1424601"/>
        <a:ext cx="2112597" cy="1308133"/>
      </dsp:txXfrm>
    </dsp:sp>
    <dsp:sp modelId="{4453455A-2854-964D-B616-448291BE042A}">
      <dsp:nvSpPr>
        <dsp:cNvPr id="0" name=""/>
        <dsp:cNvSpPr/>
      </dsp:nvSpPr>
      <dsp:spPr>
        <a:xfrm>
          <a:off x="6171662" y="2987206"/>
          <a:ext cx="2193993" cy="1389529"/>
        </a:xfrm>
        <a:prstGeom prst="roundRect">
          <a:avLst>
            <a:gd name="adj" fmla="val 10000"/>
          </a:avLst>
        </a:prstGeom>
        <a:solidFill>
          <a:schemeClr val="accent6">
            <a:lumMod val="40000"/>
            <a:lumOff val="60000"/>
          </a:schemeClr>
        </a:solidFill>
        <a:ln>
          <a:solidFill>
            <a:schemeClr val="bg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lvl="0" algn="ctr" defTabSz="800100">
            <a:lnSpc>
              <a:spcPct val="90000"/>
            </a:lnSpc>
            <a:spcBef>
              <a:spcPct val="0"/>
            </a:spcBef>
            <a:spcAft>
              <a:spcPct val="35000"/>
            </a:spcAft>
          </a:pPr>
          <a:r>
            <a:rPr lang="en-US" sz="1800" b="0" kern="1200" dirty="0">
              <a:solidFill>
                <a:schemeClr val="bg1"/>
              </a:solidFill>
              <a:latin typeface="+mn-lt"/>
            </a:rPr>
            <a:t>Target is the smartphone</a:t>
          </a:r>
        </a:p>
      </dsp:txBody>
      <dsp:txXfrm>
        <a:off x="6212360" y="3027904"/>
        <a:ext cx="2112597" cy="130813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28CC31-1B14-9049-A7D7-E65031D08E0F}">
      <dsp:nvSpPr>
        <dsp:cNvPr id="0" name=""/>
        <dsp:cNvSpPr/>
      </dsp:nvSpPr>
      <dsp:spPr>
        <a:xfrm>
          <a:off x="205686" y="237739"/>
          <a:ext cx="4165774" cy="2066521"/>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t" anchorCtr="0">
          <a:noAutofit/>
        </a:bodyPr>
        <a:lstStyle/>
        <a:p>
          <a:pPr lvl="0" algn="l" defTabSz="666750">
            <a:lnSpc>
              <a:spcPct val="90000"/>
            </a:lnSpc>
            <a:spcBef>
              <a:spcPct val="0"/>
            </a:spcBef>
            <a:spcAft>
              <a:spcPct val="35000"/>
            </a:spcAft>
          </a:pPr>
          <a:r>
            <a:rPr lang="en-US" sz="1500" b="1" kern="1200" dirty="0">
              <a:effectLst/>
              <a:latin typeface="+mn-lt"/>
              <a:ea typeface="ＭＳ Ｐゴシック" pitchFamily="-65" charset="-128"/>
            </a:rPr>
            <a:t>Chernobyl</a:t>
          </a:r>
          <a:r>
            <a:rPr lang="en-US" sz="1500" b="1" kern="1200" dirty="0">
              <a:effectLst/>
              <a:ea typeface="ＭＳ Ｐゴシック" pitchFamily="-65" charset="-128"/>
            </a:rPr>
            <a:t> virus</a:t>
          </a:r>
          <a:endParaRPr lang="en-US" sz="1500" b="1" kern="1200" dirty="0">
            <a:effectLst/>
          </a:endParaRP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First seen in 1998 </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Example of a destructive parasitic memory-resident Windows 95 and 98 virus</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Infects executable files when they are opened and when a trigger date is reached, the virus deletes data on the infected system by overwriting the first megabyte of the hard drive with zeroes, resulting in massive corruption of the entire file system</a:t>
          </a:r>
        </a:p>
      </dsp:txBody>
      <dsp:txXfrm>
        <a:off x="205686" y="237739"/>
        <a:ext cx="4165774" cy="2066521"/>
      </dsp:txXfrm>
    </dsp:sp>
    <dsp:sp modelId="{074F123A-5B09-A24D-9F49-D73992185EAF}">
      <dsp:nvSpPr>
        <dsp:cNvPr id="0" name=""/>
        <dsp:cNvSpPr/>
      </dsp:nvSpPr>
      <dsp:spPr>
        <a:xfrm>
          <a:off x="4857102" y="218635"/>
          <a:ext cx="3802781" cy="2492368"/>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t" anchorCtr="0">
          <a:noAutofit/>
        </a:bodyPr>
        <a:lstStyle/>
        <a:p>
          <a:pPr lvl="0" algn="l" defTabSz="666750">
            <a:lnSpc>
              <a:spcPct val="90000"/>
            </a:lnSpc>
            <a:spcBef>
              <a:spcPct val="0"/>
            </a:spcBef>
            <a:spcAft>
              <a:spcPct val="35000"/>
            </a:spcAft>
          </a:pPr>
          <a:r>
            <a:rPr lang="en-US" sz="1500" b="1" kern="1200" dirty="0" err="1">
              <a:effectLst/>
              <a:ea typeface="ＭＳ Ｐゴシック" pitchFamily="-65" charset="-128"/>
            </a:rPr>
            <a:t>Klez</a:t>
          </a:r>
          <a:r>
            <a:rPr lang="en-US" sz="1500" b="1" kern="1200" dirty="0">
              <a:effectLst/>
              <a:ea typeface="ＭＳ Ｐゴシック" pitchFamily="-65" charset="-128"/>
            </a:rPr>
            <a:t> </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Mass mailing worm infecting                                  Windows 95 to XP systems</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First seen in October 2001</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Spreads by e-mailing copies of itself to addresses found in the address book and in files on the system</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It can stop and delete some anti-virus programs running on the system</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On trigger date causes files on the hard drive to become empty</a:t>
          </a:r>
        </a:p>
      </dsp:txBody>
      <dsp:txXfrm>
        <a:off x="4857102" y="218635"/>
        <a:ext cx="3802781" cy="2492368"/>
      </dsp:txXfrm>
    </dsp:sp>
    <dsp:sp modelId="{50B4F61C-6FC3-8546-A4AC-CA0B55E21DD5}">
      <dsp:nvSpPr>
        <dsp:cNvPr id="0" name=""/>
        <dsp:cNvSpPr/>
      </dsp:nvSpPr>
      <dsp:spPr>
        <a:xfrm>
          <a:off x="2016219" y="2830013"/>
          <a:ext cx="4680528" cy="2021680"/>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t" anchorCtr="0">
          <a:noAutofit/>
        </a:bodyPr>
        <a:lstStyle/>
        <a:p>
          <a:pPr lvl="0" algn="l" defTabSz="666750">
            <a:lnSpc>
              <a:spcPct val="90000"/>
            </a:lnSpc>
            <a:spcBef>
              <a:spcPct val="0"/>
            </a:spcBef>
            <a:spcAft>
              <a:spcPct val="35000"/>
            </a:spcAft>
          </a:pPr>
          <a:r>
            <a:rPr lang="en-US" sz="1500" b="1" kern="1200" dirty="0" err="1">
              <a:effectLst/>
              <a:ea typeface="ＭＳ Ｐゴシック" pitchFamily="-65" charset="-128"/>
            </a:rPr>
            <a:t>Ransomware</a:t>
          </a:r>
          <a:endParaRPr lang="en-US" sz="1500" b="1" kern="1200" dirty="0">
            <a:effectLst/>
            <a:ea typeface="ＭＳ Ｐゴシック" pitchFamily="-65" charset="-128"/>
          </a:endParaRP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Encrypts the user’s data and demands payment in order to access the key needed to recover the information</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PC Cyborg Trojan (1989)</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Mid-2006 a number of worms and Trojans appeared that used public-key cryptography with </a:t>
          </a:r>
          <a:r>
            <a:rPr lang="en-US" sz="1200" b="1" kern="1200" dirty="0" err="1">
              <a:effectLst/>
              <a:ea typeface="ＭＳ Ｐゴシック" pitchFamily="-65" charset="-128"/>
            </a:rPr>
            <a:t>incresasingly</a:t>
          </a:r>
          <a:r>
            <a:rPr lang="en-US" sz="1200" b="1" kern="1200" dirty="0">
              <a:effectLst/>
              <a:ea typeface="ＭＳ Ｐゴシック" pitchFamily="-65" charset="-128"/>
            </a:rPr>
            <a:t> larger key sizes to encrypt data</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The user needed to pay a ransom, or to make a purchase from certain sites, in order to receive the key to decrypt this data</a:t>
          </a:r>
        </a:p>
      </dsp:txBody>
      <dsp:txXfrm>
        <a:off x="2016219" y="2830013"/>
        <a:ext cx="4680528" cy="202168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28CC31-1B14-9049-A7D7-E65031D08E0F}">
      <dsp:nvSpPr>
        <dsp:cNvPr id="0" name=""/>
        <dsp:cNvSpPr/>
      </dsp:nvSpPr>
      <dsp:spPr>
        <a:xfrm>
          <a:off x="205686" y="237739"/>
          <a:ext cx="4165774" cy="2066521"/>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t" anchorCtr="0">
          <a:noAutofit/>
        </a:bodyPr>
        <a:lstStyle/>
        <a:p>
          <a:pPr lvl="0" algn="l" defTabSz="666750">
            <a:lnSpc>
              <a:spcPct val="90000"/>
            </a:lnSpc>
            <a:spcBef>
              <a:spcPct val="0"/>
            </a:spcBef>
            <a:spcAft>
              <a:spcPct val="35000"/>
            </a:spcAft>
          </a:pPr>
          <a:r>
            <a:rPr lang="en-US" sz="1500" b="1" kern="1200" dirty="0">
              <a:effectLst/>
              <a:latin typeface="+mn-lt"/>
              <a:ea typeface="ＭＳ Ｐゴシック" pitchFamily="-65" charset="-128"/>
            </a:rPr>
            <a:t>Chernobyl</a:t>
          </a:r>
          <a:r>
            <a:rPr lang="en-US" sz="1500" b="1" kern="1200" dirty="0">
              <a:effectLst/>
              <a:ea typeface="ＭＳ Ｐゴシック" pitchFamily="-65" charset="-128"/>
            </a:rPr>
            <a:t> virus</a:t>
          </a:r>
          <a:endParaRPr lang="en-US" sz="1500" b="1" kern="1200" dirty="0">
            <a:effectLst/>
          </a:endParaRP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First seen in 1998 </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Example of a destructive parasitic memory-resident Windows 95 and 98 virus</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Infects executable files when they are opened and when a trigger date is reached, the virus deletes data on the infected system by overwriting the first megabyte of the hard drive with zeroes, resulting in massive corruption of the entire file system</a:t>
          </a:r>
        </a:p>
      </dsp:txBody>
      <dsp:txXfrm>
        <a:off x="205686" y="237739"/>
        <a:ext cx="4165774" cy="2066521"/>
      </dsp:txXfrm>
    </dsp:sp>
    <dsp:sp modelId="{074F123A-5B09-A24D-9F49-D73992185EAF}">
      <dsp:nvSpPr>
        <dsp:cNvPr id="0" name=""/>
        <dsp:cNvSpPr/>
      </dsp:nvSpPr>
      <dsp:spPr>
        <a:xfrm>
          <a:off x="4857102" y="218635"/>
          <a:ext cx="3802781" cy="2492368"/>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t" anchorCtr="0">
          <a:noAutofit/>
        </a:bodyPr>
        <a:lstStyle/>
        <a:p>
          <a:pPr lvl="0" algn="l" defTabSz="666750">
            <a:lnSpc>
              <a:spcPct val="90000"/>
            </a:lnSpc>
            <a:spcBef>
              <a:spcPct val="0"/>
            </a:spcBef>
            <a:spcAft>
              <a:spcPct val="35000"/>
            </a:spcAft>
          </a:pPr>
          <a:r>
            <a:rPr lang="en-US" sz="1500" b="1" kern="1200" dirty="0" err="1">
              <a:effectLst/>
              <a:ea typeface="ＭＳ Ｐゴシック" pitchFamily="-65" charset="-128"/>
            </a:rPr>
            <a:t>Klez</a:t>
          </a:r>
          <a:r>
            <a:rPr lang="en-US" sz="1500" b="1" kern="1200" dirty="0">
              <a:effectLst/>
              <a:ea typeface="ＭＳ Ｐゴシック" pitchFamily="-65" charset="-128"/>
            </a:rPr>
            <a:t> </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Mass mailing worm infecting                                  Windows 95 to XP systems</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First seen in October 2001</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Spreads by e-mailing copies of itself to addresses found in the address book and in files on the system</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It can stop and delete some anti-virus programs running on the system</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On trigger date causes files on the hard drive to become empty</a:t>
          </a:r>
        </a:p>
      </dsp:txBody>
      <dsp:txXfrm>
        <a:off x="4857102" y="218635"/>
        <a:ext cx="3802781" cy="2492368"/>
      </dsp:txXfrm>
    </dsp:sp>
    <dsp:sp modelId="{50B4F61C-6FC3-8546-A4AC-CA0B55E21DD5}">
      <dsp:nvSpPr>
        <dsp:cNvPr id="0" name=""/>
        <dsp:cNvSpPr/>
      </dsp:nvSpPr>
      <dsp:spPr>
        <a:xfrm>
          <a:off x="2016219" y="2830013"/>
          <a:ext cx="4680528" cy="2021680"/>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t" anchorCtr="0">
          <a:noAutofit/>
        </a:bodyPr>
        <a:lstStyle/>
        <a:p>
          <a:pPr lvl="0" algn="l" defTabSz="666750">
            <a:lnSpc>
              <a:spcPct val="90000"/>
            </a:lnSpc>
            <a:spcBef>
              <a:spcPct val="0"/>
            </a:spcBef>
            <a:spcAft>
              <a:spcPct val="35000"/>
            </a:spcAft>
          </a:pPr>
          <a:r>
            <a:rPr lang="en-US" sz="1500" b="1" kern="1200" dirty="0" err="1">
              <a:effectLst/>
              <a:ea typeface="ＭＳ Ｐゴシック" pitchFamily="-65" charset="-128"/>
            </a:rPr>
            <a:t>Ransomware</a:t>
          </a:r>
          <a:endParaRPr lang="en-US" sz="1500" b="1" kern="1200" dirty="0">
            <a:effectLst/>
            <a:ea typeface="ＭＳ Ｐゴシック" pitchFamily="-65" charset="-128"/>
          </a:endParaRP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Encrypts the user’s data and demands payment in order to access the key needed to recover the information</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PC Cyborg Trojan (1989)</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Mid-2006 a number of worms and Trojans appeared that used public-key cryptography with </a:t>
          </a:r>
          <a:r>
            <a:rPr lang="en-US" sz="1200" b="1" kern="1200" dirty="0" err="1">
              <a:effectLst/>
              <a:ea typeface="ＭＳ Ｐゴシック" pitchFamily="-65" charset="-128"/>
            </a:rPr>
            <a:t>incresasingly</a:t>
          </a:r>
          <a:r>
            <a:rPr lang="en-US" sz="1200" b="1" kern="1200" dirty="0">
              <a:effectLst/>
              <a:ea typeface="ＭＳ Ｐゴシック" pitchFamily="-65" charset="-128"/>
            </a:rPr>
            <a:t> larger key sizes to encrypt data</a:t>
          </a:r>
        </a:p>
        <a:p>
          <a:pPr marL="114300" lvl="1" indent="-114300" algn="l" defTabSz="533400">
            <a:lnSpc>
              <a:spcPct val="90000"/>
            </a:lnSpc>
            <a:spcBef>
              <a:spcPct val="0"/>
            </a:spcBef>
            <a:spcAft>
              <a:spcPct val="15000"/>
            </a:spcAft>
            <a:buChar char="••"/>
          </a:pPr>
          <a:r>
            <a:rPr lang="en-US" sz="1200" b="1" kern="1200" dirty="0">
              <a:effectLst/>
              <a:ea typeface="ＭＳ Ｐゴシック" pitchFamily="-65" charset="-128"/>
            </a:rPr>
            <a:t>The user needed to pay a ransom, or to make a purchase from certain sites, in order to receive the key to decrypt this data</a:t>
          </a:r>
        </a:p>
      </dsp:txBody>
      <dsp:txXfrm>
        <a:off x="2016219" y="2830013"/>
        <a:ext cx="4680528" cy="202168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D16D23-CB7C-7146-804D-02F7F2F0993C}">
      <dsp:nvSpPr>
        <dsp:cNvPr id="0" name=""/>
        <dsp:cNvSpPr/>
      </dsp:nvSpPr>
      <dsp:spPr>
        <a:xfrm>
          <a:off x="328607" y="7205"/>
          <a:ext cx="1714554" cy="643500"/>
        </a:xfrm>
        <a:prstGeom prst="roundRect">
          <a:avLst/>
        </a:prstGeom>
        <a:solidFill>
          <a:schemeClr val="accent5"/>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b="1" kern="1200" dirty="0" err="1">
              <a:solidFill>
                <a:schemeClr val="bg1"/>
              </a:solidFill>
            </a:rPr>
            <a:t>Keylogger</a:t>
          </a:r>
          <a:endParaRPr lang="en-US" sz="2400" kern="1200" dirty="0">
            <a:solidFill>
              <a:schemeClr val="bg1"/>
            </a:solidFill>
          </a:endParaRPr>
        </a:p>
      </dsp:txBody>
      <dsp:txXfrm>
        <a:off x="360020" y="38618"/>
        <a:ext cx="1651728" cy="580674"/>
      </dsp:txXfrm>
    </dsp:sp>
    <dsp:sp modelId="{6EC0B32E-D560-6E48-80D9-7FDA089E9536}">
      <dsp:nvSpPr>
        <dsp:cNvPr id="0" name=""/>
        <dsp:cNvSpPr/>
      </dsp:nvSpPr>
      <dsp:spPr>
        <a:xfrm>
          <a:off x="0" y="731912"/>
          <a:ext cx="8229600" cy="137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rtl="0">
            <a:lnSpc>
              <a:spcPct val="90000"/>
            </a:lnSpc>
            <a:spcBef>
              <a:spcPct val="0"/>
            </a:spcBef>
            <a:spcAft>
              <a:spcPct val="20000"/>
            </a:spcAft>
            <a:buChar char="••"/>
          </a:pPr>
          <a:r>
            <a:rPr lang="en-US" sz="1900" b="0" kern="1200" dirty="0">
              <a:latin typeface="+mn-lt"/>
            </a:rPr>
            <a:t>Captures keystrokes to allow attacker to monitor sensitive information</a:t>
          </a:r>
        </a:p>
        <a:p>
          <a:pPr marL="171450" lvl="1" indent="-171450" algn="l" defTabSz="844550" rtl="0">
            <a:lnSpc>
              <a:spcPct val="90000"/>
            </a:lnSpc>
            <a:spcBef>
              <a:spcPct val="0"/>
            </a:spcBef>
            <a:spcAft>
              <a:spcPct val="20000"/>
            </a:spcAft>
            <a:buChar char="••"/>
          </a:pPr>
          <a:r>
            <a:rPr lang="en-US" sz="1900" b="0" kern="1200" dirty="0">
              <a:latin typeface="+mn-lt"/>
            </a:rPr>
            <a:t>Typically uses some form of filtering mechanism that only returns information close to keywords (“login”, “password”)</a:t>
          </a:r>
        </a:p>
      </dsp:txBody>
      <dsp:txXfrm>
        <a:off x="0" y="731912"/>
        <a:ext cx="8229600" cy="1371375"/>
      </dsp:txXfrm>
    </dsp:sp>
    <dsp:sp modelId="{442D52DF-67B0-7044-9065-75ABFAA2374F}">
      <dsp:nvSpPr>
        <dsp:cNvPr id="0" name=""/>
        <dsp:cNvSpPr/>
      </dsp:nvSpPr>
      <dsp:spPr>
        <a:xfrm>
          <a:off x="370414" y="1884044"/>
          <a:ext cx="2000286" cy="643500"/>
        </a:xfrm>
        <a:prstGeom prst="roundRect">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90000"/>
            </a:lnSpc>
            <a:spcBef>
              <a:spcPct val="0"/>
            </a:spcBef>
            <a:spcAft>
              <a:spcPct val="35000"/>
            </a:spcAft>
          </a:pPr>
          <a:r>
            <a:rPr lang="en-US" sz="2400" b="1" kern="1200" dirty="0">
              <a:solidFill>
                <a:schemeClr val="bg1"/>
              </a:solidFill>
            </a:rPr>
            <a:t>Spyware</a:t>
          </a:r>
          <a:endParaRPr lang="en-US" sz="2400" kern="1200" dirty="0">
            <a:solidFill>
              <a:schemeClr val="bg1"/>
            </a:solidFill>
          </a:endParaRPr>
        </a:p>
      </dsp:txBody>
      <dsp:txXfrm>
        <a:off x="401827" y="1915457"/>
        <a:ext cx="1937460" cy="580674"/>
      </dsp:txXfrm>
    </dsp:sp>
    <dsp:sp modelId="{3B3E35FC-5EFA-7D41-B5C5-12A734B7553B}">
      <dsp:nvSpPr>
        <dsp:cNvPr id="0" name=""/>
        <dsp:cNvSpPr/>
      </dsp:nvSpPr>
      <dsp:spPr>
        <a:xfrm>
          <a:off x="0" y="2670037"/>
          <a:ext cx="8229600" cy="1966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2860" rIns="128016" bIns="22860" numCol="1" spcCol="1270" anchor="t" anchorCtr="0">
          <a:noAutofit/>
        </a:bodyPr>
        <a:lstStyle/>
        <a:p>
          <a:pPr marL="171450" lvl="1" indent="-171450" algn="l" defTabSz="844550" rtl="0">
            <a:lnSpc>
              <a:spcPct val="90000"/>
            </a:lnSpc>
            <a:spcBef>
              <a:spcPct val="0"/>
            </a:spcBef>
            <a:spcAft>
              <a:spcPct val="20000"/>
            </a:spcAft>
            <a:buChar char="••"/>
          </a:pPr>
          <a:r>
            <a:rPr lang="en-US" sz="1900" b="0" kern="1200" dirty="0">
              <a:latin typeface="+mn-lt"/>
            </a:rPr>
            <a:t>Subverts the compromised machine to allow monitoring of a wide range of activity on the system</a:t>
          </a:r>
        </a:p>
        <a:p>
          <a:pPr marL="342900" lvl="2" indent="-171450" algn="l" defTabSz="800100" rtl="0">
            <a:lnSpc>
              <a:spcPct val="90000"/>
            </a:lnSpc>
            <a:spcBef>
              <a:spcPct val="0"/>
            </a:spcBef>
            <a:spcAft>
              <a:spcPct val="20000"/>
            </a:spcAft>
            <a:buChar char="••"/>
          </a:pPr>
          <a:r>
            <a:rPr lang="en-US" sz="1800" b="0" kern="1200" dirty="0">
              <a:latin typeface="+mn-lt"/>
            </a:rPr>
            <a:t>Monitoring history and content of browsing activity</a:t>
          </a:r>
        </a:p>
        <a:p>
          <a:pPr marL="342900" lvl="2" indent="-171450" algn="l" defTabSz="800100" rtl="0">
            <a:lnSpc>
              <a:spcPct val="90000"/>
            </a:lnSpc>
            <a:spcBef>
              <a:spcPct val="0"/>
            </a:spcBef>
            <a:spcAft>
              <a:spcPct val="20000"/>
            </a:spcAft>
            <a:buChar char="••"/>
          </a:pPr>
          <a:r>
            <a:rPr lang="en-US" sz="1800" b="0" kern="1200" dirty="0">
              <a:latin typeface="+mn-lt"/>
            </a:rPr>
            <a:t>Redirecting certain Web page requests to fake sites</a:t>
          </a:r>
        </a:p>
        <a:p>
          <a:pPr marL="342900" lvl="2" indent="-171450" algn="l" defTabSz="800100" rtl="0">
            <a:lnSpc>
              <a:spcPct val="90000"/>
            </a:lnSpc>
            <a:spcBef>
              <a:spcPct val="0"/>
            </a:spcBef>
            <a:spcAft>
              <a:spcPct val="20000"/>
            </a:spcAft>
            <a:buChar char="••"/>
          </a:pPr>
          <a:r>
            <a:rPr lang="en-US" sz="1800" b="0" kern="1200" dirty="0">
              <a:latin typeface="+mn-lt"/>
            </a:rPr>
            <a:t>Dynamically modifying data exchanged between the browser and certain Web sites of interest</a:t>
          </a:r>
        </a:p>
      </dsp:txBody>
      <dsp:txXfrm>
        <a:off x="0" y="2670037"/>
        <a:ext cx="8229600" cy="19665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4C8787-EF38-C84D-9B63-EE5A5591B063}">
      <dsp:nvSpPr>
        <dsp:cNvPr id="0" name=""/>
        <dsp:cNvSpPr/>
      </dsp:nvSpPr>
      <dsp:spPr>
        <a:xfrm>
          <a:off x="0" y="680454"/>
          <a:ext cx="2571749" cy="1543050"/>
        </a:xfrm>
        <a:prstGeom prst="rect">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rtl="0">
            <a:lnSpc>
              <a:spcPct val="90000"/>
            </a:lnSpc>
            <a:spcBef>
              <a:spcPct val="0"/>
            </a:spcBef>
            <a:spcAft>
              <a:spcPct val="35000"/>
            </a:spcAft>
          </a:pPr>
          <a:r>
            <a:rPr lang="en-US" sz="2800" b="1" kern="1200" dirty="0">
              <a:solidFill>
                <a:schemeClr val="bg1"/>
              </a:solidFill>
            </a:rPr>
            <a:t>Persistent</a:t>
          </a:r>
          <a:endParaRPr lang="en-US" sz="2800" kern="1200" dirty="0">
            <a:solidFill>
              <a:schemeClr val="bg1"/>
            </a:solidFill>
          </a:endParaRPr>
        </a:p>
      </dsp:txBody>
      <dsp:txXfrm>
        <a:off x="0" y="680454"/>
        <a:ext cx="2571749" cy="1543050"/>
      </dsp:txXfrm>
    </dsp:sp>
    <dsp:sp modelId="{6072D17B-F6A5-5047-8836-727A094DE50A}">
      <dsp:nvSpPr>
        <dsp:cNvPr id="0" name=""/>
        <dsp:cNvSpPr/>
      </dsp:nvSpPr>
      <dsp:spPr>
        <a:xfrm>
          <a:off x="2828925" y="680454"/>
          <a:ext cx="2571749" cy="1543050"/>
        </a:xfrm>
        <a:prstGeom prst="rect">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rtl="0">
            <a:lnSpc>
              <a:spcPct val="90000"/>
            </a:lnSpc>
            <a:spcBef>
              <a:spcPct val="0"/>
            </a:spcBef>
            <a:spcAft>
              <a:spcPct val="35000"/>
            </a:spcAft>
          </a:pPr>
          <a:r>
            <a:rPr lang="en-US" sz="2800" b="1" kern="1200" dirty="0">
              <a:solidFill>
                <a:schemeClr val="tx1"/>
              </a:solidFill>
            </a:rPr>
            <a:t>Memory based</a:t>
          </a:r>
          <a:endParaRPr lang="en-US" sz="2800" kern="1200" dirty="0">
            <a:solidFill>
              <a:schemeClr val="tx1"/>
            </a:solidFill>
          </a:endParaRPr>
        </a:p>
      </dsp:txBody>
      <dsp:txXfrm>
        <a:off x="2828925" y="680454"/>
        <a:ext cx="2571749" cy="1543050"/>
      </dsp:txXfrm>
    </dsp:sp>
    <dsp:sp modelId="{C7A1B8EF-C024-DD42-B327-0C43B33F32C7}">
      <dsp:nvSpPr>
        <dsp:cNvPr id="0" name=""/>
        <dsp:cNvSpPr/>
      </dsp:nvSpPr>
      <dsp:spPr>
        <a:xfrm>
          <a:off x="5657849" y="680454"/>
          <a:ext cx="2571749" cy="1543050"/>
        </a:xfrm>
        <a:prstGeom prst="rect">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rtl="0">
            <a:lnSpc>
              <a:spcPct val="90000"/>
            </a:lnSpc>
            <a:spcBef>
              <a:spcPct val="0"/>
            </a:spcBef>
            <a:spcAft>
              <a:spcPct val="35000"/>
            </a:spcAft>
          </a:pPr>
          <a:r>
            <a:rPr lang="en-US" sz="2800" b="1" kern="1200" dirty="0">
              <a:solidFill>
                <a:srgbClr val="000000"/>
              </a:solidFill>
            </a:rPr>
            <a:t>User mode</a:t>
          </a:r>
          <a:endParaRPr lang="en-US" sz="2800" kern="1200" dirty="0">
            <a:solidFill>
              <a:srgbClr val="000000"/>
            </a:solidFill>
          </a:endParaRPr>
        </a:p>
      </dsp:txBody>
      <dsp:txXfrm>
        <a:off x="5657849" y="680454"/>
        <a:ext cx="2571749" cy="1543050"/>
      </dsp:txXfrm>
    </dsp:sp>
    <dsp:sp modelId="{8B48159E-09EA-364F-A510-D8162959C1D3}">
      <dsp:nvSpPr>
        <dsp:cNvPr id="0" name=""/>
        <dsp:cNvSpPr/>
      </dsp:nvSpPr>
      <dsp:spPr>
        <a:xfrm>
          <a:off x="0" y="2480679"/>
          <a:ext cx="2571749" cy="1543050"/>
        </a:xfrm>
        <a:prstGeom prst="rect">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rtl="0">
            <a:lnSpc>
              <a:spcPct val="90000"/>
            </a:lnSpc>
            <a:spcBef>
              <a:spcPct val="0"/>
            </a:spcBef>
            <a:spcAft>
              <a:spcPct val="35000"/>
            </a:spcAft>
          </a:pPr>
          <a:r>
            <a:rPr lang="en-US" sz="2800" b="1" kern="1200" dirty="0">
              <a:solidFill>
                <a:schemeClr val="tx1"/>
              </a:solidFill>
            </a:rPr>
            <a:t>Kernel mode</a:t>
          </a:r>
        </a:p>
      </dsp:txBody>
      <dsp:txXfrm>
        <a:off x="0" y="2480679"/>
        <a:ext cx="2571749" cy="1543050"/>
      </dsp:txXfrm>
    </dsp:sp>
    <dsp:sp modelId="{F87C3173-1EE5-6A4C-872A-CD220AD18035}">
      <dsp:nvSpPr>
        <dsp:cNvPr id="0" name=""/>
        <dsp:cNvSpPr/>
      </dsp:nvSpPr>
      <dsp:spPr>
        <a:xfrm>
          <a:off x="2828925" y="2480679"/>
          <a:ext cx="2571749" cy="1543050"/>
        </a:xfrm>
        <a:prstGeom prst="rect">
          <a:avLst/>
        </a:prstGeom>
        <a:solidFill>
          <a:schemeClr val="accent5">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rtl="0">
            <a:lnSpc>
              <a:spcPct val="90000"/>
            </a:lnSpc>
            <a:spcBef>
              <a:spcPct val="0"/>
            </a:spcBef>
            <a:spcAft>
              <a:spcPct val="35000"/>
            </a:spcAft>
          </a:pPr>
          <a:r>
            <a:rPr lang="en-US" sz="2800" b="1" kern="1200" dirty="0">
              <a:solidFill>
                <a:srgbClr val="000000"/>
              </a:solidFill>
            </a:rPr>
            <a:t>Virtual machine based</a:t>
          </a:r>
          <a:endParaRPr lang="en-US" sz="2800" kern="1200" dirty="0">
            <a:solidFill>
              <a:srgbClr val="000000"/>
            </a:solidFill>
          </a:endParaRPr>
        </a:p>
      </dsp:txBody>
      <dsp:txXfrm>
        <a:off x="2828925" y="2480679"/>
        <a:ext cx="2571749" cy="1543050"/>
      </dsp:txXfrm>
    </dsp:sp>
    <dsp:sp modelId="{E0353279-FF85-2046-A116-4276350C938F}">
      <dsp:nvSpPr>
        <dsp:cNvPr id="0" name=""/>
        <dsp:cNvSpPr/>
      </dsp:nvSpPr>
      <dsp:spPr>
        <a:xfrm>
          <a:off x="5657849" y="2480679"/>
          <a:ext cx="2571749" cy="1543050"/>
        </a:xfrm>
        <a:prstGeom prst="rect">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rtl="0">
            <a:lnSpc>
              <a:spcPct val="90000"/>
            </a:lnSpc>
            <a:spcBef>
              <a:spcPct val="0"/>
            </a:spcBef>
            <a:spcAft>
              <a:spcPct val="35000"/>
            </a:spcAft>
          </a:pPr>
          <a:r>
            <a:rPr lang="en-US" sz="2800" b="1" kern="1200" dirty="0">
              <a:solidFill>
                <a:schemeClr val="tx1"/>
              </a:solidFill>
            </a:rPr>
            <a:t>External mode</a:t>
          </a:r>
        </a:p>
      </dsp:txBody>
      <dsp:txXfrm>
        <a:off x="5657849" y="2480679"/>
        <a:ext cx="2571749" cy="154305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82D9DB-A488-6D46-8B85-3412B019F831}">
      <dsp:nvSpPr>
        <dsp:cNvPr id="0" name=""/>
        <dsp:cNvSpPr/>
      </dsp:nvSpPr>
      <dsp:spPr>
        <a:xfrm>
          <a:off x="0" y="1244544"/>
          <a:ext cx="6096000" cy="1855350"/>
        </a:xfrm>
        <a:prstGeom prst="rect">
          <a:avLst/>
        </a:prstGeom>
        <a:solidFill>
          <a:schemeClr val="lt1">
            <a:alpha val="90000"/>
            <a:hueOff val="0"/>
            <a:satOff val="0"/>
            <a:lumOff val="0"/>
            <a:alphaOff val="0"/>
          </a:schemeClr>
        </a:solidFill>
        <a:ln w="9525" cap="flat" cmpd="sng" algn="ctr">
          <a:solidFill>
            <a:schemeClr val="accent3">
              <a:lumMod val="5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73117" tIns="395732" rIns="473117"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dirty="0"/>
            <a:t>Policy</a:t>
          </a:r>
        </a:p>
        <a:p>
          <a:pPr marL="171450" lvl="1" indent="-171450" algn="l" defTabSz="844550">
            <a:lnSpc>
              <a:spcPct val="90000"/>
            </a:lnSpc>
            <a:spcBef>
              <a:spcPct val="0"/>
            </a:spcBef>
            <a:spcAft>
              <a:spcPct val="15000"/>
            </a:spcAft>
            <a:buChar char="••"/>
          </a:pPr>
          <a:r>
            <a:rPr lang="en-US" sz="1900" kern="1200" dirty="0"/>
            <a:t>Awareness</a:t>
          </a:r>
        </a:p>
        <a:p>
          <a:pPr marL="171450" lvl="1" indent="-171450" algn="l" defTabSz="844550">
            <a:lnSpc>
              <a:spcPct val="90000"/>
            </a:lnSpc>
            <a:spcBef>
              <a:spcPct val="0"/>
            </a:spcBef>
            <a:spcAft>
              <a:spcPct val="15000"/>
            </a:spcAft>
            <a:buChar char="••"/>
          </a:pPr>
          <a:r>
            <a:rPr lang="en-US" sz="1900" kern="1200" dirty="0"/>
            <a:t>Vulnerability mitigation</a:t>
          </a:r>
        </a:p>
        <a:p>
          <a:pPr marL="171450" lvl="1" indent="-171450" algn="l" defTabSz="844550">
            <a:lnSpc>
              <a:spcPct val="90000"/>
            </a:lnSpc>
            <a:spcBef>
              <a:spcPct val="0"/>
            </a:spcBef>
            <a:spcAft>
              <a:spcPct val="15000"/>
            </a:spcAft>
            <a:buChar char="••"/>
          </a:pPr>
          <a:r>
            <a:rPr lang="en-US" sz="1900" kern="1200" dirty="0"/>
            <a:t>Threat mitigation</a:t>
          </a:r>
        </a:p>
      </dsp:txBody>
      <dsp:txXfrm>
        <a:off x="0" y="1244544"/>
        <a:ext cx="6096000" cy="1855350"/>
      </dsp:txXfrm>
    </dsp:sp>
    <dsp:sp modelId="{9F27D6DC-1F2B-7744-AB44-F95CB3588EA2}">
      <dsp:nvSpPr>
        <dsp:cNvPr id="0" name=""/>
        <dsp:cNvSpPr/>
      </dsp:nvSpPr>
      <dsp:spPr>
        <a:xfrm>
          <a:off x="304800" y="964104"/>
          <a:ext cx="4267200" cy="560880"/>
        </a:xfrm>
        <a:prstGeom prst="roundRect">
          <a:avLst/>
        </a:prstGeom>
        <a:solidFill>
          <a:schemeClr val="accent3">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1290" tIns="0" rIns="161290" bIns="0" numCol="1" spcCol="1270" anchor="ctr" anchorCtr="0">
          <a:noAutofit/>
        </a:bodyPr>
        <a:lstStyle/>
        <a:p>
          <a:pPr lvl="0" algn="l" defTabSz="844550">
            <a:lnSpc>
              <a:spcPct val="90000"/>
            </a:lnSpc>
            <a:spcBef>
              <a:spcPct val="0"/>
            </a:spcBef>
            <a:spcAft>
              <a:spcPct val="35000"/>
            </a:spcAft>
          </a:pPr>
          <a:r>
            <a:rPr lang="en-US" sz="1900" b="1" kern="1200" dirty="0">
              <a:solidFill>
                <a:schemeClr val="tx1"/>
              </a:solidFill>
            </a:rPr>
            <a:t>Four main elements of prevention:</a:t>
          </a:r>
        </a:p>
      </dsp:txBody>
      <dsp:txXfrm>
        <a:off x="332180" y="991484"/>
        <a:ext cx="4212440" cy="50612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278546-B3AD-1D4A-A57A-27C45BE738AF}">
      <dsp:nvSpPr>
        <dsp:cNvPr id="0" name=""/>
        <dsp:cNvSpPr/>
      </dsp:nvSpPr>
      <dsp:spPr>
        <a:xfrm>
          <a:off x="-46596" y="-15571"/>
          <a:ext cx="6870144" cy="1280288"/>
        </a:xfrm>
        <a:prstGeom prst="roundRect">
          <a:avLst>
            <a:gd name="adj" fmla="val 10000"/>
          </a:avLst>
        </a:prstGeom>
        <a:solidFill>
          <a:schemeClr val="tx1"/>
        </a:solidFill>
        <a:ln w="25400">
          <a:solidFill>
            <a:schemeClr val="accent5">
              <a:lumMod val="5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a:solidFill>
                <a:schemeClr val="bg1"/>
              </a:solidFill>
            </a:rPr>
            <a:t>First generation:  simple scanners</a:t>
          </a:r>
          <a:endParaRPr lang="en-US" sz="1800" kern="1200" dirty="0">
            <a:solidFill>
              <a:schemeClr val="bg1"/>
            </a:solidFill>
          </a:endParaRPr>
        </a:p>
        <a:p>
          <a:pPr marL="114300" lvl="1" indent="-114300" algn="l" defTabSz="622300" rtl="0">
            <a:lnSpc>
              <a:spcPct val="90000"/>
            </a:lnSpc>
            <a:spcBef>
              <a:spcPct val="0"/>
            </a:spcBef>
            <a:spcAft>
              <a:spcPct val="15000"/>
            </a:spcAft>
            <a:buChar char="••"/>
          </a:pPr>
          <a:r>
            <a:rPr lang="en-US" sz="1400" b="1" kern="1200" dirty="0">
              <a:solidFill>
                <a:schemeClr val="bg1"/>
              </a:solidFill>
            </a:rPr>
            <a:t>Requires a malware signature to identify the malware</a:t>
          </a:r>
          <a:endParaRPr lang="en-US" sz="1400" kern="1200" dirty="0">
            <a:solidFill>
              <a:schemeClr val="bg1"/>
            </a:solidFill>
          </a:endParaRPr>
        </a:p>
        <a:p>
          <a:pPr marL="114300" lvl="1" indent="-114300" algn="l" defTabSz="622300" rtl="0">
            <a:lnSpc>
              <a:spcPct val="90000"/>
            </a:lnSpc>
            <a:spcBef>
              <a:spcPct val="0"/>
            </a:spcBef>
            <a:spcAft>
              <a:spcPct val="15000"/>
            </a:spcAft>
            <a:buChar char="••"/>
          </a:pPr>
          <a:r>
            <a:rPr lang="en-US" sz="1400" b="1" kern="1200" dirty="0">
              <a:solidFill>
                <a:schemeClr val="bg1"/>
              </a:solidFill>
            </a:rPr>
            <a:t>Limited to the detection of known malware</a:t>
          </a:r>
          <a:endParaRPr lang="en-US" sz="1400" kern="1200" dirty="0">
            <a:solidFill>
              <a:schemeClr val="bg1"/>
            </a:solidFill>
          </a:endParaRPr>
        </a:p>
      </dsp:txBody>
      <dsp:txXfrm>
        <a:off x="-9098" y="21927"/>
        <a:ext cx="5380428" cy="1205292"/>
      </dsp:txXfrm>
    </dsp:sp>
    <dsp:sp modelId="{94FD8FE7-6F22-4446-A769-855654CE6791}">
      <dsp:nvSpPr>
        <dsp:cNvPr id="0" name=""/>
        <dsp:cNvSpPr/>
      </dsp:nvSpPr>
      <dsp:spPr>
        <a:xfrm>
          <a:off x="528777" y="1497497"/>
          <a:ext cx="6870144" cy="1280288"/>
        </a:xfrm>
        <a:prstGeom prst="roundRect">
          <a:avLst>
            <a:gd name="adj" fmla="val 10000"/>
          </a:avLst>
        </a:prstGeom>
        <a:solidFill>
          <a:schemeClr val="tx1"/>
        </a:solidFill>
        <a:ln w="25400">
          <a:solidFill>
            <a:schemeClr val="accent3">
              <a:lumMod val="5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a:solidFill>
                <a:schemeClr val="bg1"/>
              </a:solidFill>
            </a:rPr>
            <a:t>Second generation:  heuristic scanners</a:t>
          </a:r>
        </a:p>
        <a:p>
          <a:pPr marL="114300" lvl="1" indent="-114300" algn="l" defTabSz="622300" rtl="0">
            <a:lnSpc>
              <a:spcPct val="90000"/>
            </a:lnSpc>
            <a:spcBef>
              <a:spcPct val="0"/>
            </a:spcBef>
            <a:spcAft>
              <a:spcPct val="15000"/>
            </a:spcAft>
            <a:buChar char="••"/>
          </a:pPr>
          <a:r>
            <a:rPr lang="en-US" sz="1400" b="1" kern="1200" dirty="0">
              <a:solidFill>
                <a:schemeClr val="bg1"/>
              </a:solidFill>
            </a:rPr>
            <a:t>Uses heuristic rules to search for probable malware instances</a:t>
          </a:r>
          <a:endParaRPr lang="en-US" sz="1400" kern="1200" dirty="0">
            <a:solidFill>
              <a:schemeClr val="bg1"/>
            </a:solidFill>
          </a:endParaRPr>
        </a:p>
        <a:p>
          <a:pPr marL="114300" lvl="1" indent="-114300" algn="l" defTabSz="622300" rtl="0">
            <a:lnSpc>
              <a:spcPct val="90000"/>
            </a:lnSpc>
            <a:spcBef>
              <a:spcPct val="0"/>
            </a:spcBef>
            <a:spcAft>
              <a:spcPct val="15000"/>
            </a:spcAft>
            <a:buChar char="••"/>
          </a:pPr>
          <a:r>
            <a:rPr lang="en-US" sz="1400" b="1" kern="1200" dirty="0">
              <a:solidFill>
                <a:schemeClr val="bg1"/>
              </a:solidFill>
            </a:rPr>
            <a:t>Another approach is integrity checking</a:t>
          </a:r>
          <a:endParaRPr lang="en-US" sz="1400" kern="1200" dirty="0">
            <a:solidFill>
              <a:schemeClr val="bg1"/>
            </a:solidFill>
          </a:endParaRPr>
        </a:p>
      </dsp:txBody>
      <dsp:txXfrm>
        <a:off x="566275" y="1534995"/>
        <a:ext cx="5387585" cy="1205292"/>
      </dsp:txXfrm>
    </dsp:sp>
    <dsp:sp modelId="{AC2EFB6D-8EA1-E644-86A1-65580E90AFF3}">
      <dsp:nvSpPr>
        <dsp:cNvPr id="0" name=""/>
        <dsp:cNvSpPr/>
      </dsp:nvSpPr>
      <dsp:spPr>
        <a:xfrm>
          <a:off x="1095564" y="3010565"/>
          <a:ext cx="6870144" cy="1280288"/>
        </a:xfrm>
        <a:prstGeom prst="roundRect">
          <a:avLst>
            <a:gd name="adj" fmla="val 10000"/>
          </a:avLst>
        </a:prstGeom>
        <a:solidFill>
          <a:schemeClr val="tx1"/>
        </a:solidFill>
        <a:ln w="25400">
          <a:solidFill>
            <a:schemeClr val="accent5">
              <a:lumMod val="5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a:solidFill>
                <a:schemeClr val="bg1"/>
              </a:solidFill>
            </a:rPr>
            <a:t>Third generation:  activity traps</a:t>
          </a:r>
        </a:p>
        <a:p>
          <a:pPr marL="114300" lvl="1" indent="-114300" algn="l" defTabSz="622300" rtl="0">
            <a:lnSpc>
              <a:spcPct val="90000"/>
            </a:lnSpc>
            <a:spcBef>
              <a:spcPct val="0"/>
            </a:spcBef>
            <a:spcAft>
              <a:spcPct val="15000"/>
            </a:spcAft>
            <a:buChar char="••"/>
          </a:pPr>
          <a:r>
            <a:rPr lang="en-US" sz="1400" b="1" kern="1200" dirty="0">
              <a:solidFill>
                <a:schemeClr val="bg1"/>
              </a:solidFill>
            </a:rPr>
            <a:t>Memory-resident programs that identify malware by its actions rather than its structure in an infected program</a:t>
          </a:r>
          <a:endParaRPr lang="en-US" sz="1400" kern="1200" dirty="0">
            <a:solidFill>
              <a:schemeClr val="bg1"/>
            </a:solidFill>
          </a:endParaRPr>
        </a:p>
      </dsp:txBody>
      <dsp:txXfrm>
        <a:off x="1133062" y="3048063"/>
        <a:ext cx="5396173" cy="1205292"/>
      </dsp:txXfrm>
    </dsp:sp>
    <dsp:sp modelId="{13F1E58B-65A0-384C-87AB-DB53A019CB12}">
      <dsp:nvSpPr>
        <dsp:cNvPr id="0" name=""/>
        <dsp:cNvSpPr/>
      </dsp:nvSpPr>
      <dsp:spPr>
        <a:xfrm>
          <a:off x="1577745" y="4492491"/>
          <a:ext cx="7056531" cy="1342574"/>
        </a:xfrm>
        <a:prstGeom prst="roundRect">
          <a:avLst>
            <a:gd name="adj" fmla="val 10000"/>
          </a:avLst>
        </a:prstGeom>
        <a:solidFill>
          <a:schemeClr val="tx1"/>
        </a:solidFill>
        <a:ln w="25400">
          <a:solidFill>
            <a:schemeClr val="accent3">
              <a:lumMod val="50000"/>
            </a:schemeClr>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a:solidFill>
                <a:schemeClr val="bg1"/>
              </a:solidFill>
              <a:latin typeface="+mn-lt"/>
            </a:rPr>
            <a:t>Fourth generation:  full-featured protection</a:t>
          </a:r>
        </a:p>
        <a:p>
          <a:pPr marL="114300" lvl="1" indent="-114300" algn="l" defTabSz="622300" rtl="0">
            <a:lnSpc>
              <a:spcPct val="90000"/>
            </a:lnSpc>
            <a:spcBef>
              <a:spcPct val="0"/>
            </a:spcBef>
            <a:spcAft>
              <a:spcPct val="15000"/>
            </a:spcAft>
            <a:buChar char="••"/>
          </a:pPr>
          <a:r>
            <a:rPr lang="en-US" sz="1400" b="1" kern="1200" dirty="0">
              <a:solidFill>
                <a:schemeClr val="bg1"/>
              </a:solidFill>
              <a:latin typeface="+mn-lt"/>
            </a:rPr>
            <a:t>Packages consisting of a variety of anti-virus techniques used in conjunction</a:t>
          </a:r>
          <a:endParaRPr lang="en-US" sz="1400" kern="1200" dirty="0">
            <a:solidFill>
              <a:schemeClr val="bg1"/>
            </a:solidFill>
            <a:latin typeface="+mn-lt"/>
          </a:endParaRPr>
        </a:p>
        <a:p>
          <a:pPr marL="114300" lvl="1" indent="-114300" algn="l" defTabSz="622300" rtl="0">
            <a:lnSpc>
              <a:spcPct val="90000"/>
            </a:lnSpc>
            <a:spcBef>
              <a:spcPct val="0"/>
            </a:spcBef>
            <a:spcAft>
              <a:spcPct val="15000"/>
            </a:spcAft>
            <a:buChar char="••"/>
          </a:pPr>
          <a:r>
            <a:rPr lang="en-US" sz="1400" b="1" kern="1200" dirty="0">
              <a:solidFill>
                <a:schemeClr val="bg1"/>
              </a:solidFill>
              <a:latin typeface="+mn-lt"/>
            </a:rPr>
            <a:t>Include scanning and activity trap components and access control capability</a:t>
          </a:r>
        </a:p>
      </dsp:txBody>
      <dsp:txXfrm>
        <a:off x="1617068" y="4531814"/>
        <a:ext cx="5532135" cy="1263928"/>
      </dsp:txXfrm>
    </dsp:sp>
    <dsp:sp modelId="{A85C3921-15A0-C549-9569-F89001426921}">
      <dsp:nvSpPr>
        <dsp:cNvPr id="0" name=""/>
        <dsp:cNvSpPr/>
      </dsp:nvSpPr>
      <dsp:spPr>
        <a:xfrm>
          <a:off x="5991359" y="965013"/>
          <a:ext cx="832187" cy="832187"/>
        </a:xfrm>
        <a:prstGeom prst="downArrow">
          <a:avLst>
            <a:gd name="adj1" fmla="val 55000"/>
            <a:gd name="adj2" fmla="val 45000"/>
          </a:avLst>
        </a:prstGeom>
        <a:solidFill>
          <a:schemeClr val="accent5">
            <a:lumMod val="75000"/>
          </a:schemeClr>
        </a:solidFill>
        <a:ln w="19050" cap="flat" cmpd="sng" algn="ctr">
          <a:solidFill>
            <a:schemeClr val="bg1"/>
          </a:solidFill>
          <a:prstDash val="solid"/>
        </a:ln>
        <a:effectLst/>
      </dsp:spPr>
      <dsp:style>
        <a:lnRef idx="1">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lvl="0" algn="ctr" defTabSz="1511300">
            <a:lnSpc>
              <a:spcPct val="90000"/>
            </a:lnSpc>
            <a:spcBef>
              <a:spcPct val="0"/>
            </a:spcBef>
            <a:spcAft>
              <a:spcPct val="35000"/>
            </a:spcAft>
          </a:pPr>
          <a:endParaRPr lang="en-US" sz="3400" kern="1200"/>
        </a:p>
      </dsp:txBody>
      <dsp:txXfrm>
        <a:off x="6178601" y="965013"/>
        <a:ext cx="457703" cy="626221"/>
      </dsp:txXfrm>
    </dsp:sp>
    <dsp:sp modelId="{3CB918A4-7D15-6C48-8FC2-A2F2A79D93C2}">
      <dsp:nvSpPr>
        <dsp:cNvPr id="0" name=""/>
        <dsp:cNvSpPr/>
      </dsp:nvSpPr>
      <dsp:spPr>
        <a:xfrm>
          <a:off x="6566734" y="2478082"/>
          <a:ext cx="832187" cy="832187"/>
        </a:xfrm>
        <a:prstGeom prst="downArrow">
          <a:avLst>
            <a:gd name="adj1" fmla="val 55000"/>
            <a:gd name="adj2" fmla="val 45000"/>
          </a:avLst>
        </a:prstGeom>
        <a:solidFill>
          <a:schemeClr val="accent3">
            <a:lumMod val="75000"/>
          </a:schemeClr>
        </a:solidFill>
        <a:ln w="19050" cap="flat" cmpd="sng" algn="ctr">
          <a:solidFill>
            <a:schemeClr val="bg1"/>
          </a:solidFill>
          <a:prstDash val="solid"/>
        </a:ln>
        <a:effectLst/>
      </dsp:spPr>
      <dsp:style>
        <a:lnRef idx="1">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lvl="0" algn="ctr" defTabSz="1511300">
            <a:lnSpc>
              <a:spcPct val="90000"/>
            </a:lnSpc>
            <a:spcBef>
              <a:spcPct val="0"/>
            </a:spcBef>
            <a:spcAft>
              <a:spcPct val="35000"/>
            </a:spcAft>
          </a:pPr>
          <a:endParaRPr lang="en-US" sz="3400" kern="1200"/>
        </a:p>
      </dsp:txBody>
      <dsp:txXfrm>
        <a:off x="6753976" y="2478082"/>
        <a:ext cx="457703" cy="626221"/>
      </dsp:txXfrm>
    </dsp:sp>
    <dsp:sp modelId="{26AF2E0D-887C-644F-B5C8-6BFDF633602B}">
      <dsp:nvSpPr>
        <dsp:cNvPr id="0" name=""/>
        <dsp:cNvSpPr/>
      </dsp:nvSpPr>
      <dsp:spPr>
        <a:xfrm>
          <a:off x="7133520" y="3991150"/>
          <a:ext cx="832187" cy="832187"/>
        </a:xfrm>
        <a:prstGeom prst="downArrow">
          <a:avLst>
            <a:gd name="adj1" fmla="val 55000"/>
            <a:gd name="adj2" fmla="val 45000"/>
          </a:avLst>
        </a:prstGeom>
        <a:solidFill>
          <a:schemeClr val="accent5">
            <a:lumMod val="75000"/>
          </a:schemeClr>
        </a:solidFill>
        <a:ln w="19050" cap="flat" cmpd="sng" algn="ctr">
          <a:solidFill>
            <a:schemeClr val="bg1"/>
          </a:solidFill>
          <a:prstDash val="solid"/>
        </a:ln>
        <a:effectLst/>
      </dsp:spPr>
      <dsp:style>
        <a:lnRef idx="1">
          <a:scrgbClr r="0" g="0" b="0"/>
        </a:lnRef>
        <a:fillRef idx="1">
          <a:scrgbClr r="0" g="0" b="0"/>
        </a:fillRef>
        <a:effectRef idx="0">
          <a:scrgbClr r="0" g="0" b="0"/>
        </a:effectRef>
        <a:fontRef idx="minor"/>
      </dsp:style>
      <dsp:txBody>
        <a:bodyPr spcFirstLastPara="0" vert="horz" wrap="square" lIns="43180" tIns="43180" rIns="43180" bIns="43180" numCol="1" spcCol="1270" anchor="ctr" anchorCtr="0">
          <a:noAutofit/>
        </a:bodyPr>
        <a:lstStyle/>
        <a:p>
          <a:pPr lvl="0" algn="ctr" defTabSz="1511300">
            <a:lnSpc>
              <a:spcPct val="90000"/>
            </a:lnSpc>
            <a:spcBef>
              <a:spcPct val="0"/>
            </a:spcBef>
            <a:spcAft>
              <a:spcPct val="35000"/>
            </a:spcAft>
          </a:pPr>
          <a:endParaRPr lang="en-US" sz="3400" kern="1200"/>
        </a:p>
      </dsp:txBody>
      <dsp:txXfrm>
        <a:off x="7320762" y="3991150"/>
        <a:ext cx="457703" cy="62622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26E29D-81B9-3F4E-8767-9C436B29F342}">
      <dsp:nvSpPr>
        <dsp:cNvPr id="0" name=""/>
        <dsp:cNvSpPr/>
      </dsp:nvSpPr>
      <dsp:spPr>
        <a:xfrm>
          <a:off x="0" y="23924"/>
          <a:ext cx="6400800" cy="576000"/>
        </a:xfrm>
        <a:prstGeom prst="rect">
          <a:avLst/>
        </a:prstGeom>
        <a:solidFill>
          <a:schemeClr val="accent3">
            <a:lumMod val="75000"/>
          </a:schemeClr>
        </a:solidFill>
        <a:ln w="9525" cap="flat" cmpd="sng" algn="ctr">
          <a:solidFill>
            <a:schemeClr val="accent3">
              <a:lumMod val="7500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en-US" sz="2400" b="1" kern="1200" dirty="0">
              <a:solidFill>
                <a:schemeClr val="bg1"/>
              </a:solidFill>
            </a:rPr>
            <a:t>Limitations</a:t>
          </a:r>
        </a:p>
      </dsp:txBody>
      <dsp:txXfrm>
        <a:off x="0" y="23924"/>
        <a:ext cx="6400800" cy="576000"/>
      </dsp:txXfrm>
    </dsp:sp>
    <dsp:sp modelId="{A52D1D64-ABBA-EF44-91FB-3EC9E2D9120F}">
      <dsp:nvSpPr>
        <dsp:cNvPr id="0" name=""/>
        <dsp:cNvSpPr/>
      </dsp:nvSpPr>
      <dsp:spPr>
        <a:xfrm>
          <a:off x="0" y="599925"/>
          <a:ext cx="6400800" cy="1509750"/>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Because malicious code must run on the target machine before all its behaviors can be identified, it can cause harm before it has been detected and blocked</a:t>
          </a:r>
        </a:p>
      </dsp:txBody>
      <dsp:txXfrm>
        <a:off x="0" y="599925"/>
        <a:ext cx="6400800" cy="150975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E25E27-D72D-0642-AF8D-D59EE600A8A6}">
      <dsp:nvSpPr>
        <dsp:cNvPr id="0" name=""/>
        <dsp:cNvSpPr/>
      </dsp:nvSpPr>
      <dsp:spPr>
        <a:xfrm>
          <a:off x="2326" y="0"/>
          <a:ext cx="2237854" cy="4572000"/>
        </a:xfrm>
        <a:prstGeom prst="roundRect">
          <a:avLst>
            <a:gd name="adj" fmla="val 10000"/>
          </a:avLst>
        </a:prstGeom>
        <a:solidFill>
          <a:schemeClr val="tx1"/>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Ingress monitors</a:t>
          </a:r>
        </a:p>
      </dsp:txBody>
      <dsp:txXfrm>
        <a:off x="2326" y="0"/>
        <a:ext cx="2237854" cy="1371600"/>
      </dsp:txXfrm>
    </dsp:sp>
    <dsp:sp modelId="{4298F018-B8EE-4944-8F10-2BB9C0F91D51}">
      <dsp:nvSpPr>
        <dsp:cNvPr id="0" name=""/>
        <dsp:cNvSpPr/>
      </dsp:nvSpPr>
      <dsp:spPr>
        <a:xfrm>
          <a:off x="226111" y="1372939"/>
          <a:ext cx="1790283" cy="1378520"/>
        </a:xfrm>
        <a:prstGeom prst="roundRect">
          <a:avLst>
            <a:gd name="adj" fmla="val 10000"/>
          </a:avLst>
        </a:prstGeom>
        <a:solidFill>
          <a:schemeClr val="accent5"/>
        </a:solidFill>
        <a:ln>
          <a:solidFill>
            <a:schemeClr val="bg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b="1" kern="1200" dirty="0">
              <a:solidFill>
                <a:schemeClr val="bg1"/>
              </a:solidFill>
            </a:rPr>
            <a:t>Located at the border between the enterprise network and the Internet </a:t>
          </a:r>
        </a:p>
      </dsp:txBody>
      <dsp:txXfrm>
        <a:off x="266486" y="1413314"/>
        <a:ext cx="1709533" cy="1297770"/>
      </dsp:txXfrm>
    </dsp:sp>
    <dsp:sp modelId="{1F641F22-F0BF-C649-8A66-6DBF3453F8AD}">
      <dsp:nvSpPr>
        <dsp:cNvPr id="0" name=""/>
        <dsp:cNvSpPr/>
      </dsp:nvSpPr>
      <dsp:spPr>
        <a:xfrm>
          <a:off x="226111" y="2963540"/>
          <a:ext cx="1790283" cy="1378520"/>
        </a:xfrm>
        <a:prstGeom prst="roundRect">
          <a:avLst>
            <a:gd name="adj" fmla="val 10000"/>
          </a:avLst>
        </a:prstGeom>
        <a:solidFill>
          <a:schemeClr val="accent5"/>
        </a:solidFill>
        <a:ln>
          <a:solidFill>
            <a:schemeClr val="bg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b="1" kern="1200" dirty="0">
              <a:solidFill>
                <a:schemeClr val="bg1"/>
              </a:solidFill>
            </a:rPr>
            <a:t>One technique is to look for incoming traffic to unused local IP addresses</a:t>
          </a:r>
        </a:p>
      </dsp:txBody>
      <dsp:txXfrm>
        <a:off x="266486" y="3003915"/>
        <a:ext cx="1709533" cy="1297770"/>
      </dsp:txXfrm>
    </dsp:sp>
    <dsp:sp modelId="{1748A2BC-C0AF-7249-BEFC-3EBC8E632AD1}">
      <dsp:nvSpPr>
        <dsp:cNvPr id="0" name=""/>
        <dsp:cNvSpPr/>
      </dsp:nvSpPr>
      <dsp:spPr>
        <a:xfrm>
          <a:off x="2408019" y="0"/>
          <a:ext cx="2237854" cy="4572000"/>
        </a:xfrm>
        <a:prstGeom prst="roundRect">
          <a:avLst>
            <a:gd name="adj" fmla="val 10000"/>
          </a:avLst>
        </a:prstGeom>
        <a:solidFill>
          <a:schemeClr val="tx1"/>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a:t>Egress monitors</a:t>
          </a:r>
        </a:p>
      </dsp:txBody>
      <dsp:txXfrm>
        <a:off x="2408019" y="0"/>
        <a:ext cx="2237854" cy="1371600"/>
      </dsp:txXfrm>
    </dsp:sp>
    <dsp:sp modelId="{729B7C7C-47B3-F544-89C8-D914FF0C3DF8}">
      <dsp:nvSpPr>
        <dsp:cNvPr id="0" name=""/>
        <dsp:cNvSpPr/>
      </dsp:nvSpPr>
      <dsp:spPr>
        <a:xfrm>
          <a:off x="2586054" y="1371689"/>
          <a:ext cx="1881784" cy="1727094"/>
        </a:xfrm>
        <a:prstGeom prst="roundRect">
          <a:avLst>
            <a:gd name="adj" fmla="val 10000"/>
          </a:avLst>
        </a:prstGeom>
        <a:solidFill>
          <a:schemeClr val="accent5"/>
        </a:solidFill>
        <a:ln>
          <a:solidFill>
            <a:schemeClr val="bg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b="1" kern="1200" dirty="0">
              <a:solidFill>
                <a:schemeClr val="bg1"/>
              </a:solidFill>
            </a:rPr>
            <a:t>Located at the egress point of individual LANs as well as at the border between the enterprise network and the Internet </a:t>
          </a:r>
        </a:p>
      </dsp:txBody>
      <dsp:txXfrm>
        <a:off x="2636639" y="1422274"/>
        <a:ext cx="1780614" cy="1625924"/>
      </dsp:txXfrm>
    </dsp:sp>
    <dsp:sp modelId="{4FD7667B-FD88-9247-AEF5-8020748D5EB0}">
      <dsp:nvSpPr>
        <dsp:cNvPr id="0" name=""/>
        <dsp:cNvSpPr/>
      </dsp:nvSpPr>
      <dsp:spPr>
        <a:xfrm>
          <a:off x="2514621" y="3225362"/>
          <a:ext cx="2024649" cy="1117948"/>
        </a:xfrm>
        <a:prstGeom prst="roundRect">
          <a:avLst>
            <a:gd name="adj" fmla="val 10000"/>
          </a:avLst>
        </a:prstGeom>
        <a:solidFill>
          <a:schemeClr val="accent5"/>
        </a:solidFill>
        <a:ln>
          <a:solidFill>
            <a:schemeClr val="bg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en-US" sz="1400" b="1" kern="1200" dirty="0">
              <a:solidFill>
                <a:schemeClr val="bg1"/>
              </a:solidFill>
            </a:rPr>
            <a:t>Monitors outgoing traffic for signs of scanning or other suspicious behavior</a:t>
          </a:r>
        </a:p>
      </dsp:txBody>
      <dsp:txXfrm>
        <a:off x="2547365" y="3258106"/>
        <a:ext cx="1959161" cy="1052460"/>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default#3">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3">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2">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BE87DD-C0A4-4C9C-80F7-8672C7422A10}" type="datetimeFigureOut">
              <a:rPr lang="en-US" smtClean="0"/>
              <a:t>08/13/2025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28385F-8D62-453E-AF48-0848A605D8F7}" type="slidenum">
              <a:rPr lang="en-US" smtClean="0"/>
              <a:t>‹#›</a:t>
            </a:fld>
            <a:endParaRPr lang="en-US"/>
          </a:p>
        </p:txBody>
      </p:sp>
    </p:spTree>
    <p:extLst>
      <p:ext uri="{BB962C8B-B14F-4D97-AF65-F5344CB8AC3E}">
        <p14:creationId xmlns:p14="http://schemas.microsoft.com/office/powerpoint/2010/main" val="2046586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C198186-20EE-9348-AA27-7E60E141A490}" type="slidenum">
              <a:rPr lang="en-AU" smtClean="0"/>
              <a:pPr>
                <a:defRPr/>
              </a:pPr>
              <a:t>2</a:t>
            </a:fld>
            <a:endParaRPr lang="en-AU"/>
          </a:p>
        </p:txBody>
      </p:sp>
    </p:spTree>
    <p:extLst>
      <p:ext uri="{BB962C8B-B14F-4D97-AF65-F5344CB8AC3E}">
        <p14:creationId xmlns:p14="http://schemas.microsoft.com/office/powerpoint/2010/main" val="1097385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1F835C45-8877-2513-57D2-FE3FF87D961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4AD71A2-8569-4DDD-8AD2-84173F7198B7}" type="slidenum">
              <a:rPr lang="en-AU" altLang="en-PK" sz="1200"/>
              <a:pPr/>
              <a:t>3</a:t>
            </a:fld>
            <a:endParaRPr lang="en-AU" altLang="en-PK" sz="1200"/>
          </a:p>
        </p:txBody>
      </p:sp>
      <p:sp>
        <p:nvSpPr>
          <p:cNvPr id="10243" name="Rectangle 2">
            <a:extLst>
              <a:ext uri="{FF2B5EF4-FFF2-40B4-BE49-F238E27FC236}">
                <a16:creationId xmlns:a16="http://schemas.microsoft.com/office/drawing/2014/main" id="{03AAF9F9-A4DD-6053-251D-450D87E4F9BA}"/>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B833014A-3827-B77E-5405-B5C0A1F464F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PK" b="1">
                <a:latin typeface="Arial" panose="020B0604020202020204" pitchFamily="34" charset="0"/>
                <a:ea typeface="MS PGothic" panose="020B0600070205080204" pitchFamily="34" charset="-128"/>
              </a:rPr>
              <a:t>Malicious software</a:t>
            </a:r>
            <a:r>
              <a:rPr lang="en-US" altLang="en-PK">
                <a:latin typeface="Arial" panose="020B0604020202020204" pitchFamily="34" charset="0"/>
                <a:ea typeface="MS PGothic" panose="020B0600070205080204" pitchFamily="34" charset="-128"/>
              </a:rPr>
              <a:t>, or </a:t>
            </a:r>
            <a:r>
              <a:rPr lang="en-US" altLang="en-PK" b="1">
                <a:latin typeface="Arial" panose="020B0604020202020204" pitchFamily="34" charset="0"/>
                <a:ea typeface="MS PGothic" panose="020B0600070205080204" pitchFamily="34" charset="-128"/>
              </a:rPr>
              <a:t>malware</a:t>
            </a:r>
            <a:r>
              <a:rPr lang="en-US" altLang="en-PK">
                <a:latin typeface="Arial" panose="020B0604020202020204" pitchFamily="34" charset="0"/>
                <a:ea typeface="MS PGothic" panose="020B0600070205080204" pitchFamily="34" charset="-128"/>
              </a:rPr>
              <a:t>, arguably constitutes one of the most significant categories</a:t>
            </a:r>
          </a:p>
          <a:p>
            <a:pPr eaLnBrk="1" hangingPunct="1"/>
            <a:r>
              <a:rPr lang="en-US" altLang="en-PK">
                <a:latin typeface="Arial" panose="020B0604020202020204" pitchFamily="34" charset="0"/>
                <a:ea typeface="MS PGothic" panose="020B0600070205080204" pitchFamily="34" charset="-128"/>
              </a:rPr>
              <a:t>of threats to computer systems. NIST SP 800-83 </a:t>
            </a:r>
            <a:r>
              <a:rPr lang="en-US" altLang="en-PK" i="1">
                <a:latin typeface="Arial" panose="020B0604020202020204" pitchFamily="34" charset="0"/>
                <a:ea typeface="MS PGothic" panose="020B0600070205080204" pitchFamily="34" charset="-128"/>
              </a:rPr>
              <a:t>(Guide to Malware Incident Prevention and </a:t>
            </a:r>
          </a:p>
          <a:p>
            <a:pPr eaLnBrk="1" hangingPunct="1"/>
            <a:r>
              <a:rPr lang="en-US" altLang="en-PK" i="1">
                <a:latin typeface="Arial" panose="020B0604020202020204" pitchFamily="34" charset="0"/>
                <a:ea typeface="MS PGothic" panose="020B0600070205080204" pitchFamily="34" charset="-128"/>
              </a:rPr>
              <a:t>Handling for Desktops and Laptops, </a:t>
            </a:r>
            <a:r>
              <a:rPr lang="en-US" altLang="en-PK">
                <a:latin typeface="Arial" panose="020B0604020202020204" pitchFamily="34" charset="0"/>
                <a:ea typeface="MS PGothic" panose="020B0600070205080204" pitchFamily="34" charset="-128"/>
              </a:rPr>
              <a:t>July 2013) defines malware as “a program that</a:t>
            </a:r>
          </a:p>
          <a:p>
            <a:pPr eaLnBrk="1" hangingPunct="1"/>
            <a:r>
              <a:rPr lang="en-US" altLang="en-PK">
                <a:latin typeface="Arial" panose="020B0604020202020204" pitchFamily="34" charset="0"/>
                <a:ea typeface="MS PGothic" panose="020B0600070205080204" pitchFamily="34" charset="-128"/>
              </a:rPr>
              <a:t>is inserted into a system, usually covertly, with the intent of compromising the confidentiality,</a:t>
            </a:r>
          </a:p>
          <a:p>
            <a:pPr eaLnBrk="1" hangingPunct="1"/>
            <a:r>
              <a:rPr lang="en-US" altLang="en-PK">
                <a:latin typeface="Arial" panose="020B0604020202020204" pitchFamily="34" charset="0"/>
                <a:ea typeface="MS PGothic" panose="020B0600070205080204" pitchFamily="34" charset="-128"/>
              </a:rPr>
              <a:t>integrity, or availability of the victim’s data, applications, or operating</a:t>
            </a:r>
          </a:p>
          <a:p>
            <a:pPr eaLnBrk="1" hangingPunct="1"/>
            <a:r>
              <a:rPr lang="en-US" altLang="en-PK">
                <a:latin typeface="Arial" panose="020B0604020202020204" pitchFamily="34" charset="0"/>
                <a:ea typeface="MS PGothic" panose="020B0600070205080204" pitchFamily="34" charset="-128"/>
              </a:rPr>
              <a:t>system or otherwise annoying or disrupting the victim.” Hence, we are concerned</a:t>
            </a:r>
          </a:p>
          <a:p>
            <a:pPr eaLnBrk="1" hangingPunct="1"/>
            <a:r>
              <a:rPr lang="en-US" altLang="en-PK">
                <a:latin typeface="Arial" panose="020B0604020202020204" pitchFamily="34" charset="0"/>
                <a:ea typeface="MS PGothic" panose="020B0600070205080204" pitchFamily="34" charset="-128"/>
              </a:rPr>
              <a:t>with the threat malware poses to application programs, to utility programs, such as</a:t>
            </a:r>
          </a:p>
          <a:p>
            <a:pPr eaLnBrk="1" hangingPunct="1"/>
            <a:r>
              <a:rPr lang="en-US" altLang="en-PK">
                <a:latin typeface="Arial" panose="020B0604020202020204" pitchFamily="34" charset="0"/>
                <a:ea typeface="MS PGothic" panose="020B0600070205080204" pitchFamily="34" charset="-128"/>
              </a:rPr>
              <a:t>editors and compilers, and to kernel-level programs. We are also concerned with</a:t>
            </a:r>
          </a:p>
          <a:p>
            <a:pPr eaLnBrk="1" hangingPunct="1"/>
            <a:r>
              <a:rPr lang="en-US" altLang="en-PK">
                <a:latin typeface="Arial" panose="020B0604020202020204" pitchFamily="34" charset="0"/>
                <a:ea typeface="MS PGothic" panose="020B0600070205080204" pitchFamily="34" charset="-128"/>
              </a:rPr>
              <a:t>its use on compromised or malicious Web sites and servers, or in especially crafted</a:t>
            </a:r>
          </a:p>
          <a:p>
            <a:pPr eaLnBrk="1" hangingPunct="1"/>
            <a:r>
              <a:rPr lang="en-US" altLang="en-PK">
                <a:latin typeface="Arial" panose="020B0604020202020204" pitchFamily="34" charset="0"/>
                <a:ea typeface="MS PGothic" panose="020B0600070205080204" pitchFamily="34" charset="-128"/>
              </a:rPr>
              <a:t>spam e-mails or other messages, which aim to trick users into revealing sensitive</a:t>
            </a:r>
          </a:p>
          <a:p>
            <a:pPr eaLnBrk="1" hangingPunct="1"/>
            <a:r>
              <a:rPr lang="en-US" altLang="en-PK">
                <a:latin typeface="Arial" panose="020B0604020202020204" pitchFamily="34" charset="0"/>
                <a:ea typeface="MS PGothic" panose="020B0600070205080204" pitchFamily="34" charset="-128"/>
              </a:rPr>
              <a:t>personal information.</a:t>
            </a:r>
          </a:p>
          <a:p>
            <a:pPr eaLnBrk="1" hangingPunct="1"/>
            <a:endParaRPr lang="en-US" altLang="en-PK">
              <a:ea typeface="MS PGothic"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41195862-1B94-BE8B-2E6C-485D1A75318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C588309-F2AF-4D81-AF6D-F9ED13DCC56E}" type="slidenum">
              <a:rPr lang="en-AU" altLang="en-PK" sz="1200"/>
              <a:pPr/>
              <a:t>5</a:t>
            </a:fld>
            <a:endParaRPr lang="en-AU" altLang="en-PK" sz="1200"/>
          </a:p>
        </p:txBody>
      </p:sp>
      <p:sp>
        <p:nvSpPr>
          <p:cNvPr id="12291" name="Rectangle 2">
            <a:extLst>
              <a:ext uri="{FF2B5EF4-FFF2-40B4-BE49-F238E27FC236}">
                <a16:creationId xmlns:a16="http://schemas.microsoft.com/office/drawing/2014/main" id="{0045073B-1652-DCC3-955E-0839133CA5CB}"/>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B29655E0-B75F-81A7-CA02-48A7D64466F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PK">
                <a:latin typeface="Arial" panose="020B0604020202020204" pitchFamily="34" charset="0"/>
                <a:ea typeface="MS PGothic" panose="020B0600070205080204" pitchFamily="34" charset="-128"/>
              </a:rPr>
              <a:t>A number of authors attempt to classify malware, as shown in the survey and proposal</a:t>
            </a:r>
          </a:p>
          <a:p>
            <a:pPr eaLnBrk="1" hangingPunct="1"/>
            <a:r>
              <a:rPr lang="en-US" altLang="en-PK">
                <a:latin typeface="Arial" panose="020B0604020202020204" pitchFamily="34" charset="0"/>
                <a:ea typeface="MS PGothic" panose="020B0600070205080204" pitchFamily="34" charset="-128"/>
              </a:rPr>
              <a:t>of [HANS04]. Although a range of aspects can be used, one useful approach</a:t>
            </a:r>
          </a:p>
          <a:p>
            <a:pPr eaLnBrk="1" hangingPunct="1"/>
            <a:r>
              <a:rPr lang="en-US" altLang="en-PK">
                <a:latin typeface="Arial" panose="020B0604020202020204" pitchFamily="34" charset="0"/>
                <a:ea typeface="MS PGothic" panose="020B0600070205080204" pitchFamily="34" charset="-128"/>
              </a:rPr>
              <a:t>classifies malware into two broad categories, based first on how it spreads or propagates</a:t>
            </a:r>
          </a:p>
          <a:p>
            <a:pPr eaLnBrk="1" hangingPunct="1"/>
            <a:r>
              <a:rPr lang="en-US" altLang="en-PK">
                <a:latin typeface="Arial" panose="020B0604020202020204" pitchFamily="34" charset="0"/>
                <a:ea typeface="MS PGothic" panose="020B0600070205080204" pitchFamily="34" charset="-128"/>
              </a:rPr>
              <a:t>to reach the desired targets; and then on the actions or payloads it performs</a:t>
            </a:r>
          </a:p>
          <a:p>
            <a:pPr eaLnBrk="1" hangingPunct="1"/>
            <a:r>
              <a:rPr lang="en-US" altLang="en-PK">
                <a:latin typeface="Arial" panose="020B0604020202020204" pitchFamily="34" charset="0"/>
                <a:ea typeface="MS PGothic" panose="020B0600070205080204" pitchFamily="34" charset="-128"/>
              </a:rPr>
              <a:t>once a target is reached.</a:t>
            </a:r>
          </a:p>
          <a:p>
            <a:pPr eaLnBrk="1" hangingPunct="1"/>
            <a:endParaRPr lang="en-US" altLang="en-PK">
              <a:latin typeface="Arial" panose="020B0604020202020204" pitchFamily="34" charset="0"/>
              <a:ea typeface="MS PGothic" panose="020B0600070205080204" pitchFamily="34" charset="-128"/>
            </a:endParaRPr>
          </a:p>
          <a:p>
            <a:pPr eaLnBrk="1" hangingPunct="1"/>
            <a:r>
              <a:rPr lang="en-US" altLang="en-PK">
                <a:latin typeface="Arial" panose="020B0604020202020204" pitchFamily="34" charset="0"/>
                <a:ea typeface="MS PGothic" panose="020B0600070205080204" pitchFamily="34" charset="-128"/>
              </a:rPr>
              <a:t>Earlier approaches to malware classification distinguished between those that</a:t>
            </a:r>
          </a:p>
          <a:p>
            <a:pPr eaLnBrk="1" hangingPunct="1"/>
            <a:r>
              <a:rPr lang="en-US" altLang="en-PK">
                <a:latin typeface="Arial" panose="020B0604020202020204" pitchFamily="34" charset="0"/>
                <a:ea typeface="MS PGothic" panose="020B0600070205080204" pitchFamily="34" charset="-128"/>
              </a:rPr>
              <a:t>need a host program, being parasitic code such as viruses, and those that are independent,</a:t>
            </a:r>
          </a:p>
          <a:p>
            <a:pPr eaLnBrk="1" hangingPunct="1"/>
            <a:r>
              <a:rPr lang="en-US" altLang="en-PK">
                <a:latin typeface="Arial" panose="020B0604020202020204" pitchFamily="34" charset="0"/>
                <a:ea typeface="MS PGothic" panose="020B0600070205080204" pitchFamily="34" charset="-128"/>
              </a:rPr>
              <a:t>self-contained programs run on the system such as worms, trojans, and</a:t>
            </a:r>
          </a:p>
          <a:p>
            <a:pPr eaLnBrk="1" hangingPunct="1"/>
            <a:r>
              <a:rPr lang="en-US" altLang="en-PK">
                <a:latin typeface="Arial" panose="020B0604020202020204" pitchFamily="34" charset="0"/>
                <a:ea typeface="MS PGothic" panose="020B0600070205080204" pitchFamily="34" charset="-128"/>
              </a:rPr>
              <a:t>bots. Another distinction used was between malware that does not replicate, such as</a:t>
            </a:r>
          </a:p>
          <a:p>
            <a:pPr eaLnBrk="1" hangingPunct="1"/>
            <a:r>
              <a:rPr lang="en-US" altLang="en-PK">
                <a:latin typeface="Arial" panose="020B0604020202020204" pitchFamily="34" charset="0"/>
                <a:ea typeface="MS PGothic" panose="020B0600070205080204" pitchFamily="34" charset="-128"/>
              </a:rPr>
              <a:t>trojans and spam e-mail, and malware that does, including viruses and worms.</a:t>
            </a:r>
          </a:p>
          <a:p>
            <a:pPr eaLnBrk="1" hangingPunct="1"/>
            <a:endParaRPr lang="en-US" altLang="en-PK">
              <a:ea typeface="MS PGothic"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41195862-1B94-BE8B-2E6C-485D1A75318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C588309-F2AF-4D81-AF6D-F9ED13DCC56E}" type="slidenum">
              <a:rPr lang="en-AU" altLang="en-PK" sz="1200"/>
              <a:pPr/>
              <a:t>6</a:t>
            </a:fld>
            <a:endParaRPr lang="en-AU" altLang="en-PK" sz="1200"/>
          </a:p>
        </p:txBody>
      </p:sp>
      <p:sp>
        <p:nvSpPr>
          <p:cNvPr id="12291" name="Rectangle 2">
            <a:extLst>
              <a:ext uri="{FF2B5EF4-FFF2-40B4-BE49-F238E27FC236}">
                <a16:creationId xmlns:a16="http://schemas.microsoft.com/office/drawing/2014/main" id="{0045073B-1652-DCC3-955E-0839133CA5CB}"/>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B29655E0-B75F-81A7-CA02-48A7D64466F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PK">
                <a:latin typeface="Arial" panose="020B0604020202020204" pitchFamily="34" charset="0"/>
                <a:ea typeface="MS PGothic" panose="020B0600070205080204" pitchFamily="34" charset="-128"/>
              </a:rPr>
              <a:t>A number of authors attempt to classify malware, as shown in the survey and proposal</a:t>
            </a:r>
          </a:p>
          <a:p>
            <a:pPr eaLnBrk="1" hangingPunct="1"/>
            <a:r>
              <a:rPr lang="en-US" altLang="en-PK">
                <a:latin typeface="Arial" panose="020B0604020202020204" pitchFamily="34" charset="0"/>
                <a:ea typeface="MS PGothic" panose="020B0600070205080204" pitchFamily="34" charset="-128"/>
              </a:rPr>
              <a:t>of [HANS04]. Although a range of aspects can be used, one useful approach</a:t>
            </a:r>
          </a:p>
          <a:p>
            <a:pPr eaLnBrk="1" hangingPunct="1"/>
            <a:r>
              <a:rPr lang="en-US" altLang="en-PK">
                <a:latin typeface="Arial" panose="020B0604020202020204" pitchFamily="34" charset="0"/>
                <a:ea typeface="MS PGothic" panose="020B0600070205080204" pitchFamily="34" charset="-128"/>
              </a:rPr>
              <a:t>classifies malware into two broad categories, based first on how it spreads or propagates</a:t>
            </a:r>
          </a:p>
          <a:p>
            <a:pPr eaLnBrk="1" hangingPunct="1"/>
            <a:r>
              <a:rPr lang="en-US" altLang="en-PK">
                <a:latin typeface="Arial" panose="020B0604020202020204" pitchFamily="34" charset="0"/>
                <a:ea typeface="MS PGothic" panose="020B0600070205080204" pitchFamily="34" charset="-128"/>
              </a:rPr>
              <a:t>to reach the desired targets; and then on the actions or payloads it performs</a:t>
            </a:r>
          </a:p>
          <a:p>
            <a:pPr eaLnBrk="1" hangingPunct="1"/>
            <a:r>
              <a:rPr lang="en-US" altLang="en-PK">
                <a:latin typeface="Arial" panose="020B0604020202020204" pitchFamily="34" charset="0"/>
                <a:ea typeface="MS PGothic" panose="020B0600070205080204" pitchFamily="34" charset="-128"/>
              </a:rPr>
              <a:t>once a target is reached.</a:t>
            </a:r>
          </a:p>
          <a:p>
            <a:pPr eaLnBrk="1" hangingPunct="1"/>
            <a:endParaRPr lang="en-US" altLang="en-PK">
              <a:latin typeface="Arial" panose="020B0604020202020204" pitchFamily="34" charset="0"/>
              <a:ea typeface="MS PGothic" panose="020B0600070205080204" pitchFamily="34" charset="-128"/>
            </a:endParaRPr>
          </a:p>
          <a:p>
            <a:pPr eaLnBrk="1" hangingPunct="1"/>
            <a:r>
              <a:rPr lang="en-US" altLang="en-PK">
                <a:latin typeface="Arial" panose="020B0604020202020204" pitchFamily="34" charset="0"/>
                <a:ea typeface="MS PGothic" panose="020B0600070205080204" pitchFamily="34" charset="-128"/>
              </a:rPr>
              <a:t>Earlier approaches to malware classification distinguished between those that</a:t>
            </a:r>
          </a:p>
          <a:p>
            <a:pPr eaLnBrk="1" hangingPunct="1"/>
            <a:r>
              <a:rPr lang="en-US" altLang="en-PK">
                <a:latin typeface="Arial" panose="020B0604020202020204" pitchFamily="34" charset="0"/>
                <a:ea typeface="MS PGothic" panose="020B0600070205080204" pitchFamily="34" charset="-128"/>
              </a:rPr>
              <a:t>need a host program, being parasitic code such as viruses, and those that are independent,</a:t>
            </a:r>
          </a:p>
          <a:p>
            <a:pPr eaLnBrk="1" hangingPunct="1"/>
            <a:r>
              <a:rPr lang="en-US" altLang="en-PK">
                <a:latin typeface="Arial" panose="020B0604020202020204" pitchFamily="34" charset="0"/>
                <a:ea typeface="MS PGothic" panose="020B0600070205080204" pitchFamily="34" charset="-128"/>
              </a:rPr>
              <a:t>self-contained programs run on the system such as worms, trojans, and</a:t>
            </a:r>
          </a:p>
          <a:p>
            <a:pPr eaLnBrk="1" hangingPunct="1"/>
            <a:r>
              <a:rPr lang="en-US" altLang="en-PK">
                <a:latin typeface="Arial" panose="020B0604020202020204" pitchFamily="34" charset="0"/>
                <a:ea typeface="MS PGothic" panose="020B0600070205080204" pitchFamily="34" charset="-128"/>
              </a:rPr>
              <a:t>bots. Another distinction used was between malware that does not replicate, such as</a:t>
            </a:r>
          </a:p>
          <a:p>
            <a:pPr eaLnBrk="1" hangingPunct="1"/>
            <a:r>
              <a:rPr lang="en-US" altLang="en-PK">
                <a:latin typeface="Arial" panose="020B0604020202020204" pitchFamily="34" charset="0"/>
                <a:ea typeface="MS PGothic" panose="020B0600070205080204" pitchFamily="34" charset="-128"/>
              </a:rPr>
              <a:t>trojans and spam e-mail, and malware that does, including viruses and worms.</a:t>
            </a:r>
          </a:p>
          <a:p>
            <a:pPr eaLnBrk="1" hangingPunct="1"/>
            <a:endParaRPr lang="en-US" altLang="en-PK">
              <a:ea typeface="MS PGothic" panose="020B0600070205080204" pitchFamily="34" charset="-128"/>
            </a:endParaRPr>
          </a:p>
        </p:txBody>
      </p:sp>
    </p:spTree>
    <p:extLst>
      <p:ext uri="{BB962C8B-B14F-4D97-AF65-F5344CB8AC3E}">
        <p14:creationId xmlns:p14="http://schemas.microsoft.com/office/powerpoint/2010/main" val="359599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64C3111-AC3A-4D49-969B-416BE39DD9F2}" type="slidenum">
              <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r>
              <a:rPr lang="en-US" dirty="0">
                <a:latin typeface="Arial" charset="0"/>
                <a:ea typeface="ＭＳ Ｐゴシック" pitchFamily="-65" charset="-128"/>
              </a:rPr>
              <a:t>The next category of malware propagation concerns the exploit of software</a:t>
            </a:r>
          </a:p>
          <a:p>
            <a:pPr eaLnBrk="1" hangingPunct="1"/>
            <a:r>
              <a:rPr lang="en-US" dirty="0">
                <a:latin typeface="Arial" charset="0"/>
                <a:ea typeface="ＭＳ Ｐゴシック" pitchFamily="-65" charset="-128"/>
              </a:rPr>
              <a:t>vulnerabilities, such as those we discuss in Chapters 10 and 11 , which are commonly</a:t>
            </a:r>
          </a:p>
          <a:p>
            <a:pPr eaLnBrk="1" hangingPunct="1"/>
            <a:r>
              <a:rPr lang="en-US" dirty="0">
                <a:latin typeface="Arial" charset="0"/>
                <a:ea typeface="ＭＳ Ｐゴシック" pitchFamily="-65" charset="-128"/>
              </a:rPr>
              <a:t>exploited by computer worms. A worm is a program that actively seeks out</a:t>
            </a:r>
          </a:p>
          <a:p>
            <a:pPr eaLnBrk="1" hangingPunct="1"/>
            <a:r>
              <a:rPr lang="en-US" dirty="0">
                <a:latin typeface="Arial" charset="0"/>
                <a:ea typeface="ＭＳ Ｐゴシック" pitchFamily="-65" charset="-128"/>
              </a:rPr>
              <a:t>more machines to infect, and then each infected machine serves as an automated</a:t>
            </a:r>
          </a:p>
          <a:p>
            <a:pPr eaLnBrk="1" hangingPunct="1"/>
            <a:r>
              <a:rPr lang="en-US" dirty="0">
                <a:latin typeface="Arial" charset="0"/>
                <a:ea typeface="ＭＳ Ｐゴシック" pitchFamily="-65" charset="-128"/>
              </a:rPr>
              <a:t>launching pad for attacks on other machines. Worm programs exploit software</a:t>
            </a:r>
          </a:p>
          <a:p>
            <a:pPr eaLnBrk="1" hangingPunct="1"/>
            <a:r>
              <a:rPr lang="en-US" dirty="0">
                <a:latin typeface="Arial" charset="0"/>
                <a:ea typeface="ＭＳ Ｐゴシック" pitchFamily="-65" charset="-128"/>
              </a:rPr>
              <a:t>vulnerabilities in client or server programs to gain access to each new system. They</a:t>
            </a:r>
          </a:p>
          <a:p>
            <a:pPr eaLnBrk="1" hangingPunct="1"/>
            <a:r>
              <a:rPr lang="en-US" dirty="0">
                <a:latin typeface="Arial" charset="0"/>
                <a:ea typeface="ＭＳ Ｐゴシック" pitchFamily="-65" charset="-128"/>
              </a:rPr>
              <a:t>can use network connections to spread from system to system. They can also spread</a:t>
            </a:r>
          </a:p>
          <a:p>
            <a:pPr eaLnBrk="1" hangingPunct="1"/>
            <a:r>
              <a:rPr lang="en-US" dirty="0">
                <a:latin typeface="Arial" charset="0"/>
                <a:ea typeface="ＭＳ Ｐゴシック" pitchFamily="-65" charset="-128"/>
              </a:rPr>
              <a:t>through shared media, such as USB drives or CD and DVD data disks. E-mail</a:t>
            </a:r>
          </a:p>
          <a:p>
            <a:pPr eaLnBrk="1" hangingPunct="1"/>
            <a:r>
              <a:rPr lang="en-US" dirty="0">
                <a:latin typeface="Arial" charset="0"/>
                <a:ea typeface="ＭＳ Ｐゴシック" pitchFamily="-65" charset="-128"/>
              </a:rPr>
              <a:t>worms spread in macro or script code included in documents attached to e-mail or</a:t>
            </a:r>
          </a:p>
          <a:p>
            <a:pPr eaLnBrk="1" hangingPunct="1"/>
            <a:r>
              <a:rPr lang="en-US" dirty="0">
                <a:latin typeface="Arial" charset="0"/>
                <a:ea typeface="ＭＳ Ｐゴシック" pitchFamily="-65" charset="-128"/>
              </a:rPr>
              <a:t>to instant messenger file transfers. Upon activation, the worm may replicate and</a:t>
            </a:r>
          </a:p>
          <a:p>
            <a:pPr eaLnBrk="1" hangingPunct="1"/>
            <a:r>
              <a:rPr lang="en-US" dirty="0">
                <a:latin typeface="Arial" charset="0"/>
                <a:ea typeface="ＭＳ Ｐゴシック" pitchFamily="-65" charset="-128"/>
              </a:rPr>
              <a:t>propagate again. In addition to propagation, the worm usually carries some form of</a:t>
            </a:r>
          </a:p>
          <a:p>
            <a:pPr eaLnBrk="1" hangingPunct="1"/>
            <a:r>
              <a:rPr lang="en-US" dirty="0">
                <a:latin typeface="Arial" charset="0"/>
                <a:ea typeface="ＭＳ Ｐゴシック" pitchFamily="-65" charset="-128"/>
              </a:rPr>
              <a:t>payload, such as those we discuss later.</a:t>
            </a:r>
          </a:p>
          <a:p>
            <a:pPr eaLnBrk="1" hangingPunct="1"/>
            <a:endParaRPr lang="en-US" dirty="0">
              <a:latin typeface="Arial" charset="0"/>
              <a:ea typeface="ＭＳ Ｐゴシック" pitchFamily="-65" charset="-128"/>
            </a:endParaRPr>
          </a:p>
          <a:p>
            <a:pPr eaLnBrk="1" hangingPunct="1"/>
            <a:r>
              <a:rPr lang="en-US" dirty="0">
                <a:latin typeface="Arial" charset="0"/>
                <a:ea typeface="ＭＳ Ｐゴシック" pitchFamily="-65" charset="-128"/>
              </a:rPr>
              <a:t>The concept of a computer worm was introduced in John Brunner’s 1975 SF</a:t>
            </a:r>
          </a:p>
          <a:p>
            <a:pPr eaLnBrk="1" hangingPunct="1"/>
            <a:r>
              <a:rPr lang="en-US" dirty="0">
                <a:latin typeface="Arial" charset="0"/>
                <a:ea typeface="ＭＳ Ｐゴシック" pitchFamily="-65" charset="-128"/>
              </a:rPr>
              <a:t>novel </a:t>
            </a:r>
            <a:r>
              <a:rPr lang="en-US" i="1" dirty="0">
                <a:latin typeface="Arial" charset="0"/>
                <a:ea typeface="ＭＳ Ｐゴシック" pitchFamily="-65" charset="-128"/>
              </a:rPr>
              <a:t>The Shockwave Rider . The first known worm implementation was done in</a:t>
            </a:r>
          </a:p>
          <a:p>
            <a:pPr eaLnBrk="1" hangingPunct="1"/>
            <a:r>
              <a:rPr lang="en-US" dirty="0">
                <a:latin typeface="Arial" charset="0"/>
                <a:ea typeface="ＭＳ Ｐゴシック" pitchFamily="-65" charset="-128"/>
              </a:rPr>
              <a:t>Xerox Palo Alto Labs in the early 1980s. It was </a:t>
            </a:r>
            <a:r>
              <a:rPr lang="en-US" dirty="0" err="1">
                <a:latin typeface="Arial" charset="0"/>
                <a:ea typeface="ＭＳ Ｐゴシック" pitchFamily="-65" charset="-128"/>
              </a:rPr>
              <a:t>nonmalicious</a:t>
            </a:r>
            <a:r>
              <a:rPr lang="en-US" dirty="0">
                <a:latin typeface="Arial" charset="0"/>
                <a:ea typeface="ＭＳ Ｐゴシック" pitchFamily="-65" charset="-128"/>
              </a:rPr>
              <a:t>, searching for idle</a:t>
            </a:r>
          </a:p>
          <a:p>
            <a:pPr eaLnBrk="1" hangingPunct="1"/>
            <a:r>
              <a:rPr lang="en-US" dirty="0">
                <a:latin typeface="Arial" charset="0"/>
                <a:ea typeface="ＭＳ Ｐゴシック" pitchFamily="-65" charset="-128"/>
              </a:rPr>
              <a:t>systems to use to run a computationally intensive task.</a:t>
            </a:r>
            <a:endParaRPr lang="en-US" dirty="0">
              <a:latin typeface="Times New Roman" pitchFamily="-65" charset="0"/>
              <a:ea typeface="ＭＳ Ｐゴシック" pitchFamily="-65" charset="-128"/>
            </a:endParaRPr>
          </a:p>
        </p:txBody>
      </p:sp>
    </p:spTree>
    <p:extLst>
      <p:ext uri="{BB962C8B-B14F-4D97-AF65-F5344CB8AC3E}">
        <p14:creationId xmlns:p14="http://schemas.microsoft.com/office/powerpoint/2010/main" val="1992976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47500" lnSpcReduction="20000"/>
          </a:bodyPr>
          <a:lstStyle/>
          <a:p>
            <a:pPr eaLnBrk="1" hangingPunct="1">
              <a:lnSpc>
                <a:spcPct val="90000"/>
              </a:lnSpc>
            </a:pPr>
            <a:r>
              <a:rPr lang="en-US" dirty="0">
                <a:latin typeface="Arial" charset="0"/>
                <a:ea typeface="ＭＳ Ｐゴシック" pitchFamily="-65" charset="-128"/>
              </a:rPr>
              <a:t>To replicate itself, a worm uses some means to access remote systems. These</a:t>
            </a:r>
          </a:p>
          <a:p>
            <a:pPr eaLnBrk="1" hangingPunct="1">
              <a:lnSpc>
                <a:spcPct val="90000"/>
              </a:lnSpc>
            </a:pPr>
            <a:r>
              <a:rPr lang="en-US" dirty="0">
                <a:latin typeface="Arial" charset="0"/>
                <a:ea typeface="ＭＳ Ｐゴシック" pitchFamily="-65" charset="-128"/>
              </a:rPr>
              <a:t>include the following, most of which are still seen in active use:</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 </a:t>
            </a:r>
            <a:r>
              <a:rPr lang="en-US" b="1" dirty="0">
                <a:latin typeface="Arial" charset="0"/>
                <a:ea typeface="ＭＳ Ｐゴシック" pitchFamily="-65" charset="-128"/>
              </a:rPr>
              <a:t>Electronic mail or instant messenger facility: </a:t>
            </a:r>
            <a:r>
              <a:rPr lang="en-US" b="0" dirty="0">
                <a:latin typeface="Arial" charset="0"/>
                <a:ea typeface="ＭＳ Ｐゴシック" pitchFamily="-65" charset="-128"/>
              </a:rPr>
              <a:t>A worm e-mails a copy of itself to</a:t>
            </a:r>
          </a:p>
          <a:p>
            <a:pPr eaLnBrk="1" hangingPunct="1">
              <a:lnSpc>
                <a:spcPct val="90000"/>
              </a:lnSpc>
            </a:pPr>
            <a:r>
              <a:rPr lang="en-US" dirty="0">
                <a:latin typeface="Arial" charset="0"/>
                <a:ea typeface="ＭＳ Ｐゴシック" pitchFamily="-65" charset="-128"/>
              </a:rPr>
              <a:t>other systems, or sends itself as an attachment via an of instant message service,</a:t>
            </a:r>
          </a:p>
          <a:p>
            <a:pPr eaLnBrk="1" hangingPunct="1">
              <a:lnSpc>
                <a:spcPct val="90000"/>
              </a:lnSpc>
            </a:pPr>
            <a:r>
              <a:rPr lang="en-US" dirty="0">
                <a:latin typeface="Arial" charset="0"/>
                <a:ea typeface="ＭＳ Ｐゴシック" pitchFamily="-65" charset="-128"/>
              </a:rPr>
              <a:t>so that its code is run when the e-mail or attachment is received or viewed.</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 </a:t>
            </a:r>
            <a:r>
              <a:rPr lang="en-US" b="1" dirty="0">
                <a:latin typeface="Arial" charset="0"/>
                <a:ea typeface="ＭＳ Ｐゴシック" pitchFamily="-65" charset="-128"/>
              </a:rPr>
              <a:t>File sharing: </a:t>
            </a:r>
            <a:r>
              <a:rPr lang="en-US" b="0" dirty="0">
                <a:latin typeface="Arial" charset="0"/>
                <a:ea typeface="ＭＳ Ｐゴシック" pitchFamily="-65" charset="-128"/>
              </a:rPr>
              <a:t>A worm either creates a copy of itself or infects other suitable</a:t>
            </a:r>
          </a:p>
          <a:p>
            <a:pPr eaLnBrk="1" hangingPunct="1">
              <a:lnSpc>
                <a:spcPct val="90000"/>
              </a:lnSpc>
            </a:pPr>
            <a:r>
              <a:rPr lang="en-US" dirty="0">
                <a:latin typeface="Arial" charset="0"/>
                <a:ea typeface="ＭＳ Ｐゴシック" pitchFamily="-65" charset="-128"/>
              </a:rPr>
              <a:t>files as a virus on removable media such as a USB drive; it then executes when</a:t>
            </a:r>
          </a:p>
          <a:p>
            <a:pPr eaLnBrk="1" hangingPunct="1">
              <a:lnSpc>
                <a:spcPct val="90000"/>
              </a:lnSpc>
            </a:pPr>
            <a:r>
              <a:rPr lang="en-US" dirty="0">
                <a:latin typeface="Arial" charset="0"/>
                <a:ea typeface="ＭＳ Ｐゴシック" pitchFamily="-65" charset="-128"/>
              </a:rPr>
              <a:t>the drive is connected to another system using the </a:t>
            </a:r>
            <a:r>
              <a:rPr lang="en-US" dirty="0" err="1">
                <a:latin typeface="Arial" charset="0"/>
                <a:ea typeface="ＭＳ Ｐゴシック" pitchFamily="-65" charset="-128"/>
              </a:rPr>
              <a:t>autorun</a:t>
            </a:r>
            <a:r>
              <a:rPr lang="en-US" dirty="0">
                <a:latin typeface="Arial" charset="0"/>
                <a:ea typeface="ＭＳ Ｐゴシック" pitchFamily="-65" charset="-128"/>
              </a:rPr>
              <a:t> mechanism by</a:t>
            </a:r>
          </a:p>
          <a:p>
            <a:pPr eaLnBrk="1" hangingPunct="1">
              <a:lnSpc>
                <a:spcPct val="90000"/>
              </a:lnSpc>
            </a:pPr>
            <a:r>
              <a:rPr lang="en-US" dirty="0">
                <a:latin typeface="Arial" charset="0"/>
                <a:ea typeface="ＭＳ Ｐゴシック" pitchFamily="-65" charset="-128"/>
              </a:rPr>
              <a:t>exploiting some software vulnerability, or when a user opens the infected file</a:t>
            </a:r>
          </a:p>
          <a:p>
            <a:pPr eaLnBrk="1" hangingPunct="1">
              <a:lnSpc>
                <a:spcPct val="90000"/>
              </a:lnSpc>
            </a:pPr>
            <a:r>
              <a:rPr lang="en-US" dirty="0">
                <a:latin typeface="Arial" charset="0"/>
                <a:ea typeface="ＭＳ Ｐゴシック" pitchFamily="-65" charset="-128"/>
              </a:rPr>
              <a:t>on the target system.</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 </a:t>
            </a:r>
            <a:r>
              <a:rPr lang="en-US" b="1" dirty="0">
                <a:latin typeface="Arial" charset="0"/>
                <a:ea typeface="ＭＳ Ｐゴシック" pitchFamily="-65" charset="-128"/>
              </a:rPr>
              <a:t>Remote execution capability: </a:t>
            </a:r>
            <a:r>
              <a:rPr lang="en-US" b="0" dirty="0">
                <a:latin typeface="Arial" charset="0"/>
                <a:ea typeface="ＭＳ Ｐゴシック" pitchFamily="-65" charset="-128"/>
              </a:rPr>
              <a:t>A worm executes a copy of itself on another</a:t>
            </a:r>
          </a:p>
          <a:p>
            <a:pPr eaLnBrk="1" hangingPunct="1">
              <a:lnSpc>
                <a:spcPct val="90000"/>
              </a:lnSpc>
            </a:pPr>
            <a:r>
              <a:rPr lang="en-US" dirty="0">
                <a:latin typeface="Arial" charset="0"/>
                <a:ea typeface="ＭＳ Ｐゴシック" pitchFamily="-65" charset="-128"/>
              </a:rPr>
              <a:t>system, either by using an explicit remote execution facility or by exploiting a</a:t>
            </a:r>
          </a:p>
          <a:p>
            <a:pPr eaLnBrk="1" hangingPunct="1">
              <a:lnSpc>
                <a:spcPct val="90000"/>
              </a:lnSpc>
            </a:pPr>
            <a:r>
              <a:rPr lang="en-US" dirty="0">
                <a:latin typeface="Arial" charset="0"/>
                <a:ea typeface="ＭＳ Ｐゴシック" pitchFamily="-65" charset="-128"/>
              </a:rPr>
              <a:t>program flaw in a network service to subvert its operations (as we discuss in</a:t>
            </a:r>
          </a:p>
          <a:p>
            <a:pPr eaLnBrk="1" hangingPunct="1">
              <a:lnSpc>
                <a:spcPct val="90000"/>
              </a:lnSpc>
            </a:pPr>
            <a:r>
              <a:rPr lang="en-US" dirty="0">
                <a:latin typeface="Arial" charset="0"/>
                <a:ea typeface="ＭＳ Ｐゴシック" pitchFamily="-65" charset="-128"/>
              </a:rPr>
              <a:t>Chapters 10 and 11 ).</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 </a:t>
            </a:r>
            <a:r>
              <a:rPr lang="en-US" b="1" dirty="0">
                <a:latin typeface="Arial" charset="0"/>
                <a:ea typeface="ＭＳ Ｐゴシック" pitchFamily="-65" charset="-128"/>
              </a:rPr>
              <a:t>Remote file access or transfer capability: </a:t>
            </a:r>
            <a:r>
              <a:rPr lang="en-US" b="0" dirty="0">
                <a:latin typeface="Arial" charset="0"/>
                <a:ea typeface="ＭＳ Ｐゴシック" pitchFamily="-65" charset="-128"/>
              </a:rPr>
              <a:t>A worm uses a remote file access or</a:t>
            </a:r>
          </a:p>
          <a:p>
            <a:pPr eaLnBrk="1" hangingPunct="1">
              <a:lnSpc>
                <a:spcPct val="90000"/>
              </a:lnSpc>
            </a:pPr>
            <a:r>
              <a:rPr lang="en-US" dirty="0">
                <a:latin typeface="Arial" charset="0"/>
                <a:ea typeface="ＭＳ Ｐゴシック" pitchFamily="-65" charset="-128"/>
              </a:rPr>
              <a:t>transfer service to another system to copy itself from one system to the other,</a:t>
            </a:r>
          </a:p>
          <a:p>
            <a:pPr eaLnBrk="1" hangingPunct="1">
              <a:lnSpc>
                <a:spcPct val="90000"/>
              </a:lnSpc>
            </a:pPr>
            <a:r>
              <a:rPr lang="en-US" dirty="0">
                <a:latin typeface="Arial" charset="0"/>
                <a:ea typeface="ＭＳ Ｐゴシック" pitchFamily="-65" charset="-128"/>
              </a:rPr>
              <a:t>where users on that system may then execute it.</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 </a:t>
            </a:r>
            <a:r>
              <a:rPr lang="en-US" b="1" dirty="0">
                <a:latin typeface="Arial" charset="0"/>
                <a:ea typeface="ＭＳ Ｐゴシック" pitchFamily="-65" charset="-128"/>
              </a:rPr>
              <a:t>Remote login capability: </a:t>
            </a:r>
            <a:r>
              <a:rPr lang="en-US" b="0" dirty="0">
                <a:latin typeface="Arial" charset="0"/>
                <a:ea typeface="ＭＳ Ｐゴシック" pitchFamily="-65" charset="-128"/>
              </a:rPr>
              <a:t>A worm logs onto a remote system as a user and</a:t>
            </a:r>
          </a:p>
          <a:p>
            <a:pPr eaLnBrk="1" hangingPunct="1">
              <a:lnSpc>
                <a:spcPct val="90000"/>
              </a:lnSpc>
            </a:pPr>
            <a:r>
              <a:rPr lang="en-US" dirty="0">
                <a:latin typeface="Arial" charset="0"/>
                <a:ea typeface="ＭＳ Ｐゴシック" pitchFamily="-65" charset="-128"/>
              </a:rPr>
              <a:t>then uses commands to copy itself from one system to the other, where it then</a:t>
            </a:r>
          </a:p>
          <a:p>
            <a:pPr eaLnBrk="1" hangingPunct="1">
              <a:lnSpc>
                <a:spcPct val="90000"/>
              </a:lnSpc>
            </a:pPr>
            <a:r>
              <a:rPr lang="en-US" dirty="0">
                <a:latin typeface="Arial" charset="0"/>
                <a:ea typeface="ＭＳ Ｐゴシック" pitchFamily="-65" charset="-128"/>
              </a:rPr>
              <a:t>executes.</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The new copy of the worm program is then run on the remote system where, in</a:t>
            </a:r>
          </a:p>
          <a:p>
            <a:pPr eaLnBrk="1" hangingPunct="1">
              <a:lnSpc>
                <a:spcPct val="90000"/>
              </a:lnSpc>
            </a:pPr>
            <a:r>
              <a:rPr lang="en-US" dirty="0">
                <a:latin typeface="Arial" charset="0"/>
                <a:ea typeface="ＭＳ Ｐゴシック" pitchFamily="-65" charset="-128"/>
              </a:rPr>
              <a:t>addition to any payload functions that it performs on that system, it continues to</a:t>
            </a:r>
          </a:p>
          <a:p>
            <a:pPr eaLnBrk="1" hangingPunct="1">
              <a:lnSpc>
                <a:spcPct val="90000"/>
              </a:lnSpc>
            </a:pPr>
            <a:r>
              <a:rPr lang="en-US" dirty="0">
                <a:latin typeface="Arial" charset="0"/>
                <a:ea typeface="ＭＳ Ｐゴシック" pitchFamily="-65" charset="-128"/>
              </a:rPr>
              <a:t>propagate.</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A worm typically uses the same phases as a computer virus: dormant, propagation,</a:t>
            </a:r>
          </a:p>
          <a:p>
            <a:pPr eaLnBrk="1" hangingPunct="1">
              <a:lnSpc>
                <a:spcPct val="90000"/>
              </a:lnSpc>
            </a:pPr>
            <a:r>
              <a:rPr lang="en-US" dirty="0">
                <a:latin typeface="Arial" charset="0"/>
                <a:ea typeface="ＭＳ Ｐゴシック" pitchFamily="-65" charset="-128"/>
              </a:rPr>
              <a:t>triggering, and execution. The propagation phase generally performs the</a:t>
            </a:r>
          </a:p>
          <a:p>
            <a:pPr eaLnBrk="1" hangingPunct="1">
              <a:lnSpc>
                <a:spcPct val="90000"/>
              </a:lnSpc>
            </a:pPr>
            <a:r>
              <a:rPr lang="en-US" dirty="0">
                <a:latin typeface="Arial" charset="0"/>
                <a:ea typeface="ＭＳ Ｐゴシック" pitchFamily="-65" charset="-128"/>
              </a:rPr>
              <a:t>following functions:</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 Search for appropriate access mechanisms to other systems to infect by examining</a:t>
            </a:r>
          </a:p>
          <a:p>
            <a:pPr eaLnBrk="1" hangingPunct="1">
              <a:lnSpc>
                <a:spcPct val="90000"/>
              </a:lnSpc>
            </a:pPr>
            <a:r>
              <a:rPr lang="en-US" dirty="0">
                <a:latin typeface="Arial" charset="0"/>
                <a:ea typeface="ＭＳ Ｐゴシック" pitchFamily="-65" charset="-128"/>
              </a:rPr>
              <a:t>host tables, address books, buddy lists, trusted peers, and other similar</a:t>
            </a:r>
          </a:p>
          <a:p>
            <a:pPr eaLnBrk="1" hangingPunct="1">
              <a:lnSpc>
                <a:spcPct val="90000"/>
              </a:lnSpc>
            </a:pPr>
            <a:r>
              <a:rPr lang="en-US" dirty="0">
                <a:latin typeface="Arial" charset="0"/>
                <a:ea typeface="ＭＳ Ｐゴシック" pitchFamily="-65" charset="-128"/>
              </a:rPr>
              <a:t>repositories of remote system access details; by scanning possible target host</a:t>
            </a:r>
          </a:p>
          <a:p>
            <a:pPr eaLnBrk="1" hangingPunct="1">
              <a:lnSpc>
                <a:spcPct val="90000"/>
              </a:lnSpc>
            </a:pPr>
            <a:r>
              <a:rPr lang="en-US" dirty="0">
                <a:latin typeface="Arial" charset="0"/>
                <a:ea typeface="ＭＳ Ｐゴシック" pitchFamily="-65" charset="-128"/>
              </a:rPr>
              <a:t>addresses; or by searching for suitable removable media devices to use.</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 Use the access mechanisms found to transfer a copy of itself to the remote</a:t>
            </a:r>
          </a:p>
          <a:p>
            <a:pPr eaLnBrk="1" hangingPunct="1">
              <a:lnSpc>
                <a:spcPct val="90000"/>
              </a:lnSpc>
            </a:pPr>
            <a:r>
              <a:rPr lang="en-US" dirty="0">
                <a:latin typeface="Arial" charset="0"/>
                <a:ea typeface="ＭＳ Ｐゴシック" pitchFamily="-65" charset="-128"/>
              </a:rPr>
              <a:t>system, and cause the copy to be run.</a:t>
            </a:r>
          </a:p>
          <a:p>
            <a:pPr eaLnBrk="1" hangingPunct="1">
              <a:lnSpc>
                <a:spcPct val="90000"/>
              </a:lnSpc>
            </a:pPr>
            <a:endParaRPr lang="en-US" dirty="0">
              <a:latin typeface="Arial" charset="0"/>
              <a:ea typeface="ＭＳ Ｐゴシック" pitchFamily="-65" charset="-128"/>
            </a:endParaRPr>
          </a:p>
          <a:p>
            <a:pPr eaLnBrk="1" hangingPunct="1">
              <a:lnSpc>
                <a:spcPct val="90000"/>
              </a:lnSpc>
            </a:pPr>
            <a:r>
              <a:rPr lang="en-US" dirty="0">
                <a:latin typeface="Arial" charset="0"/>
                <a:ea typeface="ＭＳ Ｐゴシック" pitchFamily="-65" charset="-128"/>
              </a:rPr>
              <a:t>The worm may also attempt to determine whether a system has previously</a:t>
            </a:r>
          </a:p>
          <a:p>
            <a:pPr eaLnBrk="1" hangingPunct="1">
              <a:lnSpc>
                <a:spcPct val="90000"/>
              </a:lnSpc>
            </a:pPr>
            <a:r>
              <a:rPr lang="en-US" dirty="0">
                <a:latin typeface="Arial" charset="0"/>
                <a:ea typeface="ＭＳ Ｐゴシック" pitchFamily="-65" charset="-128"/>
              </a:rPr>
              <a:t>been infected before copying itself to the system. In a multiprogramming system,</a:t>
            </a:r>
          </a:p>
          <a:p>
            <a:pPr eaLnBrk="1" hangingPunct="1">
              <a:lnSpc>
                <a:spcPct val="90000"/>
              </a:lnSpc>
            </a:pPr>
            <a:r>
              <a:rPr lang="en-US" dirty="0">
                <a:latin typeface="Arial" charset="0"/>
                <a:ea typeface="ＭＳ Ｐゴシック" pitchFamily="-65" charset="-128"/>
              </a:rPr>
              <a:t>it can also disguise its presence by naming itself as a system process or using some</a:t>
            </a:r>
          </a:p>
          <a:p>
            <a:pPr eaLnBrk="1" hangingPunct="1">
              <a:lnSpc>
                <a:spcPct val="90000"/>
              </a:lnSpc>
            </a:pPr>
            <a:r>
              <a:rPr lang="en-US" dirty="0">
                <a:latin typeface="Arial" charset="0"/>
                <a:ea typeface="ＭＳ Ｐゴシック" pitchFamily="-65" charset="-128"/>
              </a:rPr>
              <a:t>other name that may not be noticed by a system operator. More recent worms can</a:t>
            </a:r>
          </a:p>
          <a:p>
            <a:pPr eaLnBrk="1" hangingPunct="1">
              <a:lnSpc>
                <a:spcPct val="90000"/>
              </a:lnSpc>
            </a:pPr>
            <a:r>
              <a:rPr lang="en-US" dirty="0">
                <a:latin typeface="Arial" charset="0"/>
                <a:ea typeface="ＭＳ Ｐゴシック" pitchFamily="-65" charset="-128"/>
              </a:rPr>
              <a:t>even inject their code into existing processes on the system, and run using additional</a:t>
            </a:r>
          </a:p>
          <a:p>
            <a:pPr eaLnBrk="1" hangingPunct="1">
              <a:lnSpc>
                <a:spcPct val="90000"/>
              </a:lnSpc>
            </a:pPr>
            <a:r>
              <a:rPr lang="en-US" dirty="0">
                <a:latin typeface="Arial" charset="0"/>
                <a:ea typeface="ＭＳ Ｐゴシック" pitchFamily="-65" charset="-128"/>
              </a:rPr>
              <a:t>threads in that process, to further disguise their presence.</a:t>
            </a:r>
          </a:p>
        </p:txBody>
      </p:sp>
      <p:sp>
        <p:nvSpPr>
          <p:cNvPr id="47108" name="Slide Number Placeholder 3"/>
          <p:cNvSpPr>
            <a:spLocks noGrp="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E2963D8-2005-4DB4-BA38-3BF67BD199C5}" type="slidenum">
              <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Tree>
    <p:extLst>
      <p:ext uri="{BB962C8B-B14F-4D97-AF65-F5344CB8AC3E}">
        <p14:creationId xmlns:p14="http://schemas.microsoft.com/office/powerpoint/2010/main" val="11668253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9847121-D02F-4F62-859C-2EAF1728601D}" type="slidenum">
              <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r>
              <a:rPr lang="en-US" b="0" dirty="0">
                <a:latin typeface="Arial" charset="0"/>
                <a:ea typeface="ＭＳ Ｐゴシック" pitchFamily="-65" charset="-128"/>
              </a:rPr>
              <a:t>The Melissa e-mail worm that appeared in 1998 was the first of a new generation of</a:t>
            </a:r>
          </a:p>
          <a:p>
            <a:r>
              <a:rPr lang="en-US" b="0" dirty="0">
                <a:latin typeface="Arial" charset="0"/>
                <a:ea typeface="ＭＳ Ｐゴシック" pitchFamily="-65" charset="-128"/>
              </a:rPr>
              <a:t>malware that included aspects of virus, worm, and Trojan in one package [CASS01].</a:t>
            </a:r>
          </a:p>
          <a:p>
            <a:r>
              <a:rPr lang="en-US" b="0" dirty="0">
                <a:latin typeface="Arial" charset="0"/>
                <a:ea typeface="ＭＳ Ｐゴシック" pitchFamily="-65" charset="-128"/>
              </a:rPr>
              <a:t>Melissa made use of a Microsoft Word macro embedded in an attachment. If the</a:t>
            </a:r>
          </a:p>
          <a:p>
            <a:r>
              <a:rPr lang="en-US" b="0" dirty="0">
                <a:latin typeface="Arial" charset="0"/>
                <a:ea typeface="ＭＳ Ｐゴシック" pitchFamily="-65" charset="-128"/>
              </a:rPr>
              <a:t>recipient opens the e-mail attachment, the Word macro is activated. Then it</a:t>
            </a:r>
          </a:p>
          <a:p>
            <a:endParaRPr lang="en-US" b="0" dirty="0">
              <a:latin typeface="Arial" charset="0"/>
              <a:ea typeface="ＭＳ Ｐゴシック" pitchFamily="-65" charset="-128"/>
            </a:endParaRPr>
          </a:p>
          <a:p>
            <a:r>
              <a:rPr lang="en-US" b="0" dirty="0">
                <a:latin typeface="Arial" charset="0"/>
                <a:ea typeface="ＭＳ Ｐゴシック" pitchFamily="-65" charset="-128"/>
              </a:rPr>
              <a:t>1. Sends itself to everyone on the mailing list in the user’s e-mail package, propagating</a:t>
            </a:r>
          </a:p>
          <a:p>
            <a:r>
              <a:rPr lang="en-US" b="0" dirty="0">
                <a:latin typeface="Arial" charset="0"/>
                <a:ea typeface="ＭＳ Ｐゴシック" pitchFamily="-65" charset="-128"/>
              </a:rPr>
              <a:t>as a worm; and</a:t>
            </a:r>
          </a:p>
          <a:p>
            <a:endParaRPr lang="en-US" b="0" dirty="0">
              <a:latin typeface="Arial" charset="0"/>
              <a:ea typeface="ＭＳ Ｐゴシック" pitchFamily="-65" charset="-128"/>
            </a:endParaRPr>
          </a:p>
          <a:p>
            <a:r>
              <a:rPr lang="en-US" b="0" dirty="0">
                <a:latin typeface="Arial" charset="0"/>
                <a:ea typeface="ＭＳ Ｐゴシック" pitchFamily="-65" charset="-128"/>
              </a:rPr>
              <a:t>2. Does local damage on the user’s system, including disabling some security</a:t>
            </a:r>
          </a:p>
          <a:p>
            <a:r>
              <a:rPr lang="en-US" b="0" dirty="0">
                <a:latin typeface="Arial" charset="0"/>
                <a:ea typeface="ＭＳ Ｐゴシック" pitchFamily="-65" charset="-128"/>
              </a:rPr>
              <a:t>tools, and also copying itself into other documents, propagating as a</a:t>
            </a:r>
          </a:p>
          <a:p>
            <a:r>
              <a:rPr lang="en-US" b="0" dirty="0">
                <a:latin typeface="Arial" charset="0"/>
                <a:ea typeface="ＭＳ Ｐゴシック" pitchFamily="-65" charset="-128"/>
              </a:rPr>
              <a:t>virus; and</a:t>
            </a:r>
          </a:p>
          <a:p>
            <a:endParaRPr lang="en-US" b="0" dirty="0">
              <a:latin typeface="Arial" charset="0"/>
              <a:ea typeface="ＭＳ Ｐゴシック" pitchFamily="-65" charset="-128"/>
            </a:endParaRPr>
          </a:p>
          <a:p>
            <a:r>
              <a:rPr lang="en-US" b="0" dirty="0">
                <a:latin typeface="Arial" charset="0"/>
                <a:ea typeface="ＭＳ Ｐゴシック" pitchFamily="-65" charset="-128"/>
              </a:rPr>
              <a:t>3. If a trigger time was seen, it displayed a Simpson quote as its payload.</a:t>
            </a:r>
          </a:p>
          <a:p>
            <a:endParaRPr lang="en-US" b="0" dirty="0">
              <a:latin typeface="Arial" charset="0"/>
              <a:ea typeface="ＭＳ Ｐゴシック" pitchFamily="-65" charset="-128"/>
            </a:endParaRPr>
          </a:p>
          <a:p>
            <a:r>
              <a:rPr lang="en-US" b="0" dirty="0">
                <a:latin typeface="Arial" charset="0"/>
                <a:ea typeface="ＭＳ Ｐゴシック" pitchFamily="-65" charset="-128"/>
              </a:rPr>
              <a:t>In 1999, a more powerful version of this e-mail virus appeared. This version</a:t>
            </a:r>
          </a:p>
          <a:p>
            <a:r>
              <a:rPr lang="en-US" b="0" dirty="0">
                <a:latin typeface="Arial" charset="0"/>
                <a:ea typeface="ＭＳ Ｐゴシック" pitchFamily="-65" charset="-128"/>
              </a:rPr>
              <a:t>could be activated merely by opening an e-mail that contains the virus, rather</a:t>
            </a:r>
          </a:p>
          <a:p>
            <a:r>
              <a:rPr lang="en-US" b="0" dirty="0">
                <a:latin typeface="Arial" charset="0"/>
                <a:ea typeface="ＭＳ Ｐゴシック" pitchFamily="-65" charset="-128"/>
              </a:rPr>
              <a:t>than by opening an attachment. The virus uses the Visual Basic scripting language</a:t>
            </a:r>
          </a:p>
          <a:p>
            <a:r>
              <a:rPr lang="en-US" b="0" dirty="0">
                <a:latin typeface="Arial" charset="0"/>
                <a:ea typeface="ＭＳ Ｐゴシック" pitchFamily="-65" charset="-128"/>
              </a:rPr>
              <a:t>supported by the e-mail package.</a:t>
            </a:r>
          </a:p>
          <a:p>
            <a:endParaRPr lang="en-US" b="0" dirty="0">
              <a:latin typeface="Arial" charset="0"/>
              <a:ea typeface="ＭＳ Ｐゴシック" pitchFamily="-65" charset="-128"/>
            </a:endParaRPr>
          </a:p>
          <a:p>
            <a:r>
              <a:rPr lang="en-US" b="0" dirty="0">
                <a:latin typeface="Arial" charset="0"/>
                <a:ea typeface="ＭＳ Ｐゴシック" pitchFamily="-65" charset="-128"/>
              </a:rPr>
              <a:t>Melissa propagates itself as soon as it is activated (either by opening an e-mail</a:t>
            </a:r>
          </a:p>
          <a:p>
            <a:r>
              <a:rPr lang="en-US" b="0" dirty="0">
                <a:latin typeface="Arial" charset="0"/>
                <a:ea typeface="ＭＳ Ｐゴシック" pitchFamily="-65" charset="-128"/>
              </a:rPr>
              <a:t>attachment or by opening the e-mail) to all of the e-mail addresses known to the</a:t>
            </a:r>
          </a:p>
          <a:p>
            <a:r>
              <a:rPr lang="en-US" b="0" dirty="0">
                <a:latin typeface="Arial" charset="0"/>
                <a:ea typeface="ＭＳ Ｐゴシック" pitchFamily="-65" charset="-128"/>
              </a:rPr>
              <a:t>infected host. As a result, whereas viruses used to take months or years to propagate,</a:t>
            </a:r>
          </a:p>
          <a:p>
            <a:r>
              <a:rPr lang="en-US" b="0" dirty="0">
                <a:latin typeface="Arial" charset="0"/>
                <a:ea typeface="ＭＳ Ｐゴシック" pitchFamily="-65" charset="-128"/>
              </a:rPr>
              <a:t>this next generation of malware could do so in hours. [CASS01] notes that it</a:t>
            </a:r>
          </a:p>
          <a:p>
            <a:r>
              <a:rPr lang="en-US" b="0" dirty="0">
                <a:latin typeface="Arial" charset="0"/>
                <a:ea typeface="ＭＳ Ｐゴシック" pitchFamily="-65" charset="-128"/>
              </a:rPr>
              <a:t>took only three days for Melissa to infect over 100,000 computers, compared to the</a:t>
            </a:r>
          </a:p>
          <a:p>
            <a:r>
              <a:rPr lang="en-US" b="0" dirty="0">
                <a:latin typeface="Arial" charset="0"/>
                <a:ea typeface="ＭＳ Ｐゴシック" pitchFamily="-65" charset="-128"/>
              </a:rPr>
              <a:t>months it took the Brain virus to infect a few thousand computers a decade before.</a:t>
            </a:r>
          </a:p>
          <a:p>
            <a:r>
              <a:rPr lang="en-US" b="0" dirty="0">
                <a:latin typeface="Arial" charset="0"/>
                <a:ea typeface="ＭＳ Ｐゴシック" pitchFamily="-65" charset="-128"/>
              </a:rPr>
              <a:t>This makes it very difficult for anti-virus software to respond to new attacks before</a:t>
            </a:r>
          </a:p>
          <a:p>
            <a:r>
              <a:rPr lang="en-US" b="0" dirty="0">
                <a:latin typeface="Arial" charset="0"/>
                <a:ea typeface="ＭＳ Ｐゴシック" pitchFamily="-65" charset="-128"/>
              </a:rPr>
              <a:t>much damage is done.</a:t>
            </a:r>
          </a:p>
          <a:p>
            <a:endParaRPr lang="en-US" b="0" dirty="0">
              <a:latin typeface="Arial" charset="0"/>
              <a:ea typeface="ＭＳ Ｐゴシック" pitchFamily="-65" charset="-128"/>
            </a:endParaRPr>
          </a:p>
          <a:p>
            <a:r>
              <a:rPr lang="en-US" b="0" dirty="0">
                <a:latin typeface="Arial" charset="0"/>
                <a:ea typeface="ＭＳ Ｐゴシック" pitchFamily="-65" charset="-128"/>
              </a:rPr>
              <a:t>The Code Red worm first appeared in July 2001. Code Red exploits a security</a:t>
            </a:r>
          </a:p>
          <a:p>
            <a:r>
              <a:rPr lang="en-US" b="0" dirty="0">
                <a:latin typeface="Arial" charset="0"/>
                <a:ea typeface="ＭＳ Ｐゴシック" pitchFamily="-65" charset="-128"/>
              </a:rPr>
              <a:t>hole in the Microsoft Internet Information Server (IIS) to penetrate and spread.</a:t>
            </a:r>
          </a:p>
          <a:p>
            <a:r>
              <a:rPr lang="en-US" b="0" dirty="0">
                <a:latin typeface="Arial" charset="0"/>
                <a:ea typeface="ＭＳ Ｐゴシック" pitchFamily="-65" charset="-128"/>
              </a:rPr>
              <a:t>It also disables the system file checker in Windows. The worm probes random IP</a:t>
            </a:r>
          </a:p>
          <a:p>
            <a:r>
              <a:rPr lang="en-US" b="0" dirty="0">
                <a:latin typeface="Arial" charset="0"/>
                <a:ea typeface="ＭＳ Ｐゴシック" pitchFamily="-65" charset="-128"/>
              </a:rPr>
              <a:t>addresses to spread to other hosts. During a certain period of time, it only spreads.</a:t>
            </a:r>
          </a:p>
          <a:p>
            <a:r>
              <a:rPr lang="en-US" b="0" dirty="0">
                <a:latin typeface="Arial" charset="0"/>
                <a:ea typeface="ＭＳ Ｐゴシック" pitchFamily="-65" charset="-128"/>
              </a:rPr>
              <a:t>It then initiates a denial-of-service attack against a government Web site by flooding</a:t>
            </a:r>
          </a:p>
          <a:p>
            <a:r>
              <a:rPr lang="en-US" b="0" dirty="0">
                <a:latin typeface="Arial" charset="0"/>
                <a:ea typeface="ＭＳ Ｐゴシック" pitchFamily="-65" charset="-128"/>
              </a:rPr>
              <a:t>the site with packets from numerous hosts. The worm then suspends activities</a:t>
            </a:r>
          </a:p>
          <a:p>
            <a:r>
              <a:rPr lang="en-US" b="0" dirty="0">
                <a:latin typeface="Arial" charset="0"/>
                <a:ea typeface="ＭＳ Ｐゴシック" pitchFamily="-65" charset="-128"/>
              </a:rPr>
              <a:t>and reactivates periodically. In the second wave of attack, Code Red infected nearly</a:t>
            </a:r>
          </a:p>
          <a:p>
            <a:r>
              <a:rPr lang="en-US" b="0" dirty="0">
                <a:latin typeface="Arial" charset="0"/>
                <a:ea typeface="ＭＳ Ｐゴシック" pitchFamily="-65" charset="-128"/>
              </a:rPr>
              <a:t>360,000 servers in 14 hours. In addition to the havoc it caused at the targeted server,</a:t>
            </a:r>
          </a:p>
          <a:p>
            <a:r>
              <a:rPr lang="en-US" b="0" dirty="0">
                <a:latin typeface="Arial" charset="0"/>
                <a:ea typeface="ＭＳ Ｐゴシック" pitchFamily="-65" charset="-128"/>
              </a:rPr>
              <a:t>Code Red consumed enormous amounts of Internet capacity, disrupting service</a:t>
            </a:r>
          </a:p>
          <a:p>
            <a:r>
              <a:rPr lang="en-US" b="0" dirty="0">
                <a:latin typeface="Arial" charset="0"/>
                <a:ea typeface="ＭＳ Ｐゴシック" pitchFamily="-65" charset="-128"/>
              </a:rPr>
              <a:t>[MOOR02].</a:t>
            </a:r>
          </a:p>
          <a:p>
            <a:endParaRPr lang="en-US" b="0" dirty="0">
              <a:latin typeface="Arial" charset="0"/>
              <a:ea typeface="ＭＳ Ｐゴシック" pitchFamily="-65" charset="-128"/>
            </a:endParaRPr>
          </a:p>
          <a:p>
            <a:r>
              <a:rPr lang="en-US" b="0" dirty="0">
                <a:latin typeface="Arial" charset="0"/>
                <a:ea typeface="ＭＳ Ｐゴシック" pitchFamily="-65" charset="-128"/>
              </a:rPr>
              <a:t>Code Red II is another, distinct, variant that first appeared in August 2001,</a:t>
            </a:r>
          </a:p>
          <a:p>
            <a:r>
              <a:rPr lang="en-US" b="0" dirty="0">
                <a:latin typeface="Arial" charset="0"/>
                <a:ea typeface="ＭＳ Ｐゴシック" pitchFamily="-65" charset="-128"/>
              </a:rPr>
              <a:t>and also targeted Microsoft IIS. It tried to infect systems on the same subnet as the</a:t>
            </a:r>
          </a:p>
          <a:p>
            <a:r>
              <a:rPr lang="en-US" b="0" dirty="0">
                <a:latin typeface="Arial" charset="0"/>
                <a:ea typeface="ＭＳ Ｐゴシック" pitchFamily="-65" charset="-128"/>
              </a:rPr>
              <a:t>infected system. Also, this newer worm installs a backdoor, allowing a hacker to</a:t>
            </a:r>
          </a:p>
          <a:p>
            <a:r>
              <a:rPr lang="en-US" b="0" dirty="0">
                <a:latin typeface="Arial" charset="0"/>
                <a:ea typeface="ＭＳ Ｐゴシック" pitchFamily="-65" charset="-128"/>
              </a:rPr>
              <a:t>remotely execute commands on victim computers.</a:t>
            </a:r>
          </a:p>
          <a:p>
            <a:endParaRPr lang="en-US" b="0" dirty="0">
              <a:latin typeface="Arial" charset="0"/>
              <a:ea typeface="ＭＳ Ｐゴシック" pitchFamily="-65" charset="-128"/>
            </a:endParaRPr>
          </a:p>
          <a:p>
            <a:r>
              <a:rPr lang="en-US" b="0" dirty="0">
                <a:latin typeface="Arial" charset="0"/>
                <a:ea typeface="ＭＳ Ｐゴシック" pitchFamily="-65" charset="-128"/>
              </a:rPr>
              <a:t>The </a:t>
            </a:r>
            <a:r>
              <a:rPr lang="en-US" b="0" dirty="0" err="1">
                <a:latin typeface="Arial" charset="0"/>
                <a:ea typeface="ＭＳ Ｐゴシック" pitchFamily="-65" charset="-128"/>
              </a:rPr>
              <a:t>Nimda</a:t>
            </a:r>
            <a:r>
              <a:rPr lang="en-US" b="0" dirty="0">
                <a:latin typeface="Arial" charset="0"/>
                <a:ea typeface="ＭＳ Ｐゴシック" pitchFamily="-65" charset="-128"/>
              </a:rPr>
              <a:t> worm that appeared in September 2001 also has worm, virus, and</a:t>
            </a:r>
          </a:p>
          <a:p>
            <a:r>
              <a:rPr lang="en-US" b="0" dirty="0">
                <a:latin typeface="Arial" charset="0"/>
                <a:ea typeface="ＭＳ Ｐゴシック" pitchFamily="-65" charset="-128"/>
              </a:rPr>
              <a:t>mobile code characteristics. It spread using a variety of distribution methods:</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E-mail</a:t>
            </a:r>
            <a:r>
              <a:rPr lang="en-US" b="0" dirty="0">
                <a:latin typeface="Arial" charset="0"/>
                <a:ea typeface="ＭＳ Ｐゴシック" pitchFamily="-65" charset="-128"/>
              </a:rPr>
              <a:t>: A user on a vulnerable host opens an infected e-mail attachment;</a:t>
            </a:r>
          </a:p>
          <a:p>
            <a:r>
              <a:rPr lang="en-US" b="0" dirty="0" err="1">
                <a:latin typeface="Arial" charset="0"/>
                <a:ea typeface="ＭＳ Ｐゴシック" pitchFamily="-65" charset="-128"/>
              </a:rPr>
              <a:t>Nimda</a:t>
            </a:r>
            <a:r>
              <a:rPr lang="en-US" b="0" dirty="0">
                <a:latin typeface="Arial" charset="0"/>
                <a:ea typeface="ＭＳ Ｐゴシック" pitchFamily="-65" charset="-128"/>
              </a:rPr>
              <a:t> looks for e-mail addresses on the host and then sends copies of itself to</a:t>
            </a:r>
          </a:p>
          <a:p>
            <a:r>
              <a:rPr lang="en-US" b="0" dirty="0">
                <a:latin typeface="Arial" charset="0"/>
                <a:ea typeface="ＭＳ Ｐゴシック" pitchFamily="-65" charset="-128"/>
              </a:rPr>
              <a:t>those addresses.</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Windows shares</a:t>
            </a:r>
            <a:r>
              <a:rPr lang="en-US" b="0" dirty="0">
                <a:latin typeface="Arial" charset="0"/>
                <a:ea typeface="ＭＳ Ｐゴシック" pitchFamily="-65" charset="-128"/>
              </a:rPr>
              <a:t>: </a:t>
            </a:r>
            <a:r>
              <a:rPr lang="en-US" b="0" dirty="0" err="1">
                <a:latin typeface="Arial" charset="0"/>
                <a:ea typeface="ＭＳ Ｐゴシック" pitchFamily="-65" charset="-128"/>
              </a:rPr>
              <a:t>Nimda</a:t>
            </a:r>
            <a:r>
              <a:rPr lang="en-US" b="0" dirty="0">
                <a:latin typeface="Arial" charset="0"/>
                <a:ea typeface="ＭＳ Ｐゴシック" pitchFamily="-65" charset="-128"/>
              </a:rPr>
              <a:t> scans hosts for unsecured Windows file shares; it can</a:t>
            </a:r>
          </a:p>
          <a:p>
            <a:r>
              <a:rPr lang="en-US" b="0" dirty="0">
                <a:latin typeface="Arial" charset="0"/>
                <a:ea typeface="ＭＳ Ｐゴシック" pitchFamily="-65" charset="-128"/>
              </a:rPr>
              <a:t>then use NetBIOS86 as a transport mechanism to infect files on that host in</a:t>
            </a:r>
          </a:p>
          <a:p>
            <a:r>
              <a:rPr lang="en-US" b="0" dirty="0">
                <a:latin typeface="Arial" charset="0"/>
                <a:ea typeface="ＭＳ Ｐゴシック" pitchFamily="-65" charset="-128"/>
              </a:rPr>
              <a:t>the hopes that a user will run an infected file, which will activate </a:t>
            </a:r>
            <a:r>
              <a:rPr lang="en-US" b="0" dirty="0" err="1">
                <a:latin typeface="Arial" charset="0"/>
                <a:ea typeface="ＭＳ Ｐゴシック" pitchFamily="-65" charset="-128"/>
              </a:rPr>
              <a:t>Nimda</a:t>
            </a:r>
            <a:r>
              <a:rPr lang="en-US" b="0" dirty="0">
                <a:latin typeface="Arial" charset="0"/>
                <a:ea typeface="ＭＳ Ｐゴシック" pitchFamily="-65" charset="-128"/>
              </a:rPr>
              <a:t> on</a:t>
            </a:r>
          </a:p>
          <a:p>
            <a:r>
              <a:rPr lang="en-US" b="0" dirty="0">
                <a:latin typeface="Arial" charset="0"/>
                <a:ea typeface="ＭＳ Ｐゴシック" pitchFamily="-65" charset="-128"/>
              </a:rPr>
              <a:t>that host.</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Web servers</a:t>
            </a:r>
            <a:r>
              <a:rPr lang="en-US" b="0" dirty="0">
                <a:latin typeface="Arial" charset="0"/>
                <a:ea typeface="ＭＳ Ｐゴシック" pitchFamily="-65" charset="-128"/>
              </a:rPr>
              <a:t>: </a:t>
            </a:r>
            <a:r>
              <a:rPr lang="en-US" b="0" dirty="0" err="1">
                <a:latin typeface="Arial" charset="0"/>
                <a:ea typeface="ＭＳ Ｐゴシック" pitchFamily="-65" charset="-128"/>
              </a:rPr>
              <a:t>Nimda</a:t>
            </a:r>
            <a:r>
              <a:rPr lang="en-US" b="0" dirty="0">
                <a:latin typeface="Arial" charset="0"/>
                <a:ea typeface="ＭＳ Ｐゴシック" pitchFamily="-65" charset="-128"/>
              </a:rPr>
              <a:t> scans Web servers, looking for known vulnerabilities in</a:t>
            </a:r>
          </a:p>
          <a:p>
            <a:r>
              <a:rPr lang="en-US" b="0" dirty="0">
                <a:latin typeface="Arial" charset="0"/>
                <a:ea typeface="ＭＳ Ｐゴシック" pitchFamily="-65" charset="-128"/>
              </a:rPr>
              <a:t>Microsoft IIS. If it finds a vulnerable server, it attempts to transfer a copy of</a:t>
            </a:r>
          </a:p>
          <a:p>
            <a:r>
              <a:rPr lang="en-US" b="0" dirty="0">
                <a:latin typeface="Arial" charset="0"/>
                <a:ea typeface="ＭＳ Ｐゴシック" pitchFamily="-65" charset="-128"/>
              </a:rPr>
              <a:t>itself to the server and infects it and its files.</a:t>
            </a:r>
          </a:p>
          <a:p>
            <a:endParaRPr lang="en-US" b="0" dirty="0">
              <a:latin typeface="Arial" charset="0"/>
              <a:ea typeface="ＭＳ Ｐゴシック" pitchFamily="-65" charset="-128"/>
            </a:endParaRPr>
          </a:p>
          <a:p>
            <a:r>
              <a:rPr lang="en-US" b="1" dirty="0">
                <a:latin typeface="Arial" charset="0"/>
                <a:ea typeface="ＭＳ Ｐゴシック" pitchFamily="-65" charset="-128"/>
              </a:rPr>
              <a:t>Web clients</a:t>
            </a:r>
            <a:r>
              <a:rPr lang="en-US" b="0" dirty="0">
                <a:latin typeface="Arial" charset="0"/>
                <a:ea typeface="ＭＳ Ｐゴシック" pitchFamily="-65" charset="-128"/>
              </a:rPr>
              <a:t>: If a vulnerable Web client visits a Web server that has been</a:t>
            </a:r>
          </a:p>
          <a:p>
            <a:r>
              <a:rPr lang="en-US" b="0" dirty="0">
                <a:latin typeface="Arial" charset="0"/>
                <a:ea typeface="ＭＳ Ｐゴシック" pitchFamily="-65" charset="-128"/>
              </a:rPr>
              <a:t>infected by </a:t>
            </a:r>
            <a:r>
              <a:rPr lang="en-US" b="0" dirty="0" err="1">
                <a:latin typeface="Arial" charset="0"/>
                <a:ea typeface="ＭＳ Ｐゴシック" pitchFamily="-65" charset="-128"/>
              </a:rPr>
              <a:t>Nimda</a:t>
            </a:r>
            <a:r>
              <a:rPr lang="en-US" b="0" dirty="0">
                <a:latin typeface="Arial" charset="0"/>
                <a:ea typeface="ＭＳ Ｐゴシック" pitchFamily="-65" charset="-128"/>
              </a:rPr>
              <a:t>, the client’s workstation will become infected.</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Backdoors</a:t>
            </a:r>
            <a:r>
              <a:rPr lang="en-US" b="0" dirty="0">
                <a:latin typeface="Arial" charset="0"/>
                <a:ea typeface="ＭＳ Ｐゴシック" pitchFamily="-65" charset="-128"/>
              </a:rPr>
              <a:t>: If a workstation was infected by earlier worms, such as “Code Red</a:t>
            </a:r>
          </a:p>
          <a:p>
            <a:r>
              <a:rPr lang="en-US" b="0" dirty="0">
                <a:latin typeface="Arial" charset="0"/>
                <a:ea typeface="ＭＳ Ｐゴシック" pitchFamily="-65" charset="-128"/>
              </a:rPr>
              <a:t>II,” then </a:t>
            </a:r>
            <a:r>
              <a:rPr lang="en-US" b="0" dirty="0" err="1">
                <a:latin typeface="Arial" charset="0"/>
                <a:ea typeface="ＭＳ Ｐゴシック" pitchFamily="-65" charset="-128"/>
              </a:rPr>
              <a:t>Nimda</a:t>
            </a:r>
            <a:r>
              <a:rPr lang="en-US" b="0" dirty="0">
                <a:latin typeface="Arial" charset="0"/>
                <a:ea typeface="ＭＳ Ｐゴシック" pitchFamily="-65" charset="-128"/>
              </a:rPr>
              <a:t> will use the backdoor access left by these earlier infections to</a:t>
            </a:r>
          </a:p>
          <a:p>
            <a:r>
              <a:rPr lang="en-US" b="0" dirty="0">
                <a:latin typeface="Arial" charset="0"/>
                <a:ea typeface="ＭＳ Ｐゴシック" pitchFamily="-65" charset="-128"/>
              </a:rPr>
              <a:t>access the system.</a:t>
            </a:r>
          </a:p>
          <a:p>
            <a:endParaRPr lang="en-US" b="0" dirty="0">
              <a:latin typeface="Arial" charset="0"/>
              <a:ea typeface="ＭＳ Ｐゴシック" pitchFamily="-65" charset="-128"/>
            </a:endParaRPr>
          </a:p>
          <a:p>
            <a:r>
              <a:rPr lang="en-US" b="0" dirty="0">
                <a:latin typeface="Arial" charset="0"/>
                <a:ea typeface="ＭＳ Ｐゴシック" pitchFamily="-65" charset="-128"/>
              </a:rPr>
              <a:t>In early 2003, the SQL Slammer worm appeared. This worm exploited a</a:t>
            </a:r>
          </a:p>
          <a:p>
            <a:r>
              <a:rPr lang="en-US" b="0" dirty="0">
                <a:latin typeface="Arial" charset="0"/>
                <a:ea typeface="ＭＳ Ｐゴシック" pitchFamily="-65" charset="-128"/>
              </a:rPr>
              <a:t>buffer overflow vulnerability in Microsoft SQL server. The Slammer was extremely</a:t>
            </a:r>
          </a:p>
          <a:p>
            <a:r>
              <a:rPr lang="en-US" b="0" dirty="0">
                <a:latin typeface="Arial" charset="0"/>
                <a:ea typeface="ＭＳ Ｐゴシック" pitchFamily="-65" charset="-128"/>
              </a:rPr>
              <a:t>compact and spread rapidly, infecting 90% of vulnerable hosts within 10 minutes.</a:t>
            </a:r>
          </a:p>
          <a:p>
            <a:r>
              <a:rPr lang="en-US" b="0" dirty="0">
                <a:latin typeface="Arial" charset="0"/>
                <a:ea typeface="ＭＳ Ｐゴシック" pitchFamily="-65" charset="-128"/>
              </a:rPr>
              <a:t>This rapid spread caused significant congestion on the Internet.</a:t>
            </a:r>
          </a:p>
          <a:p>
            <a:endParaRPr lang="en-US" b="0" dirty="0">
              <a:latin typeface="Arial" charset="0"/>
              <a:ea typeface="ＭＳ Ｐゴシック" pitchFamily="-65" charset="-128"/>
            </a:endParaRPr>
          </a:p>
          <a:p>
            <a:r>
              <a:rPr lang="en-US" b="0" dirty="0">
                <a:latin typeface="Arial" charset="0"/>
                <a:ea typeface="ＭＳ Ｐゴシック" pitchFamily="-65" charset="-128"/>
              </a:rPr>
              <a:t>Late 2003 saw the arrival of the </a:t>
            </a:r>
            <a:r>
              <a:rPr lang="en-US" b="0" dirty="0" err="1">
                <a:latin typeface="Arial" charset="0"/>
                <a:ea typeface="ＭＳ Ｐゴシック" pitchFamily="-65" charset="-128"/>
              </a:rPr>
              <a:t>Sobig.F</a:t>
            </a:r>
            <a:r>
              <a:rPr lang="en-US" b="0" dirty="0">
                <a:latin typeface="Arial" charset="0"/>
                <a:ea typeface="ＭＳ Ｐゴシック" pitchFamily="-65" charset="-128"/>
              </a:rPr>
              <a:t> worm, which exploited open proxy</a:t>
            </a:r>
          </a:p>
          <a:p>
            <a:r>
              <a:rPr lang="en-US" b="0" dirty="0">
                <a:latin typeface="Arial" charset="0"/>
                <a:ea typeface="ＭＳ Ｐゴシック" pitchFamily="-65" charset="-128"/>
              </a:rPr>
              <a:t>servers to turn infected machines into spam engines. At its peak, </a:t>
            </a:r>
            <a:r>
              <a:rPr lang="en-US" b="0" dirty="0" err="1">
                <a:latin typeface="Arial" charset="0"/>
                <a:ea typeface="ＭＳ Ｐゴシック" pitchFamily="-65" charset="-128"/>
              </a:rPr>
              <a:t>Sobig.F</a:t>
            </a:r>
            <a:r>
              <a:rPr lang="en-US" b="0" dirty="0">
                <a:latin typeface="Arial" charset="0"/>
                <a:ea typeface="ＭＳ Ｐゴシック" pitchFamily="-65" charset="-128"/>
              </a:rPr>
              <a:t> reportedly</a:t>
            </a:r>
          </a:p>
          <a:p>
            <a:r>
              <a:rPr lang="en-US" b="0" dirty="0">
                <a:latin typeface="Arial" charset="0"/>
                <a:ea typeface="ＭＳ Ｐゴシック" pitchFamily="-65" charset="-128"/>
              </a:rPr>
              <a:t>accounted for one in every 17 messages and produced more than one million copies</a:t>
            </a:r>
          </a:p>
          <a:p>
            <a:r>
              <a:rPr lang="en-US" b="0" dirty="0">
                <a:latin typeface="Arial" charset="0"/>
                <a:ea typeface="ＭＳ Ｐゴシック" pitchFamily="-65" charset="-128"/>
              </a:rPr>
              <a:t>of itself within the first 24 hours.</a:t>
            </a:r>
          </a:p>
          <a:p>
            <a:endParaRPr lang="en-US" b="0" dirty="0">
              <a:latin typeface="Arial" charset="0"/>
              <a:ea typeface="ＭＳ Ｐゴシック" pitchFamily="-65" charset="-128"/>
            </a:endParaRPr>
          </a:p>
          <a:p>
            <a:r>
              <a:rPr lang="en-US" b="0" dirty="0" err="1">
                <a:latin typeface="Arial" charset="0"/>
                <a:ea typeface="ＭＳ Ｐゴシック" pitchFamily="-65" charset="-128"/>
              </a:rPr>
              <a:t>Mydoom</a:t>
            </a:r>
            <a:r>
              <a:rPr lang="en-US" b="0" dirty="0">
                <a:latin typeface="Arial" charset="0"/>
                <a:ea typeface="ＭＳ Ｐゴシック" pitchFamily="-65" charset="-128"/>
              </a:rPr>
              <a:t> is a mass-mailing e-mail worm that appeared in 2004. It followed</a:t>
            </a:r>
          </a:p>
          <a:p>
            <a:r>
              <a:rPr lang="en-US" b="0" dirty="0">
                <a:latin typeface="Arial" charset="0"/>
                <a:ea typeface="ＭＳ Ｐゴシック" pitchFamily="-65" charset="-128"/>
              </a:rPr>
              <a:t>a growing trend of installing a backdoor in infected computers, thereby enabling</a:t>
            </a:r>
          </a:p>
          <a:p>
            <a:r>
              <a:rPr lang="en-US" b="0" dirty="0">
                <a:latin typeface="Arial" charset="0"/>
                <a:ea typeface="ＭＳ Ｐゴシック" pitchFamily="-65" charset="-128"/>
              </a:rPr>
              <a:t>hackers to gain remote access to data such as passwords and credit card numbers.</a:t>
            </a:r>
          </a:p>
          <a:p>
            <a:r>
              <a:rPr lang="en-US" b="0" dirty="0" err="1">
                <a:latin typeface="Arial" charset="0"/>
                <a:ea typeface="ＭＳ Ｐゴシック" pitchFamily="-65" charset="-128"/>
              </a:rPr>
              <a:t>Mydoom</a:t>
            </a:r>
            <a:r>
              <a:rPr lang="en-US" b="0" dirty="0">
                <a:latin typeface="Arial" charset="0"/>
                <a:ea typeface="ＭＳ Ｐゴシック" pitchFamily="-65" charset="-128"/>
              </a:rPr>
              <a:t> replicated up to 1,000 times per minute and reportedly flooded the</a:t>
            </a:r>
          </a:p>
          <a:p>
            <a:r>
              <a:rPr lang="en-US" b="0" dirty="0">
                <a:latin typeface="Arial" charset="0"/>
                <a:ea typeface="ＭＳ Ｐゴシック" pitchFamily="-65" charset="-128"/>
              </a:rPr>
              <a:t>Internet with 100 million infected messages in 36 hours.</a:t>
            </a:r>
          </a:p>
          <a:p>
            <a:endParaRPr lang="en-US" b="0" dirty="0">
              <a:latin typeface="Arial" charset="0"/>
              <a:ea typeface="ＭＳ Ｐゴシック" pitchFamily="-65" charset="-128"/>
            </a:endParaRPr>
          </a:p>
          <a:p>
            <a:r>
              <a:rPr lang="en-US" b="0" dirty="0">
                <a:latin typeface="Arial" charset="0"/>
                <a:ea typeface="ＭＳ Ｐゴシック" pitchFamily="-65" charset="-128"/>
              </a:rPr>
              <a:t>The </a:t>
            </a:r>
            <a:r>
              <a:rPr lang="en-US" b="0" dirty="0" err="1">
                <a:latin typeface="Arial" charset="0"/>
                <a:ea typeface="ＭＳ Ｐゴシック" pitchFamily="-65" charset="-128"/>
              </a:rPr>
              <a:t>Warezov</a:t>
            </a:r>
            <a:r>
              <a:rPr lang="en-US" b="0" dirty="0">
                <a:latin typeface="Arial" charset="0"/>
                <a:ea typeface="ＭＳ Ｐゴシック" pitchFamily="-65" charset="-128"/>
              </a:rPr>
              <a:t> family of worms appeared in 2006 [KIRK06]. When the worm</a:t>
            </a:r>
          </a:p>
          <a:p>
            <a:r>
              <a:rPr lang="en-US" b="0" dirty="0">
                <a:latin typeface="Arial" charset="0"/>
                <a:ea typeface="ＭＳ Ｐゴシック" pitchFamily="-65" charset="-128"/>
              </a:rPr>
              <a:t>is launched, it creates several </a:t>
            </a:r>
            <a:r>
              <a:rPr lang="en-US" b="0" dirty="0" err="1">
                <a:latin typeface="Arial" charset="0"/>
                <a:ea typeface="ＭＳ Ｐゴシック" pitchFamily="-65" charset="-128"/>
              </a:rPr>
              <a:t>executables</a:t>
            </a:r>
            <a:r>
              <a:rPr lang="en-US" b="0" dirty="0">
                <a:latin typeface="Arial" charset="0"/>
                <a:ea typeface="ＭＳ Ｐゴシック" pitchFamily="-65" charset="-128"/>
              </a:rPr>
              <a:t> in system directories and sets itself to</a:t>
            </a:r>
          </a:p>
          <a:p>
            <a:r>
              <a:rPr lang="en-US" b="0" dirty="0">
                <a:latin typeface="Arial" charset="0"/>
                <a:ea typeface="ＭＳ Ｐゴシック" pitchFamily="-65" charset="-128"/>
              </a:rPr>
              <a:t>run every time Windows starts by creating a registry entry. </a:t>
            </a:r>
            <a:r>
              <a:rPr lang="en-US" b="0" dirty="0" err="1">
                <a:latin typeface="Arial" charset="0"/>
                <a:ea typeface="ＭＳ Ｐゴシック" pitchFamily="-65" charset="-128"/>
              </a:rPr>
              <a:t>Warezov</a:t>
            </a:r>
            <a:r>
              <a:rPr lang="en-US" b="0" dirty="0">
                <a:latin typeface="Arial" charset="0"/>
                <a:ea typeface="ＭＳ Ｐゴシック" pitchFamily="-65" charset="-128"/>
              </a:rPr>
              <a:t> scans several</a:t>
            </a:r>
          </a:p>
          <a:p>
            <a:r>
              <a:rPr lang="en-US" b="0" dirty="0">
                <a:latin typeface="Arial" charset="0"/>
                <a:ea typeface="ＭＳ Ｐゴシック" pitchFamily="-65" charset="-128"/>
              </a:rPr>
              <a:t>types of files for e-mail addresses and sends itself as an e-mail attachment. Some</a:t>
            </a:r>
          </a:p>
          <a:p>
            <a:r>
              <a:rPr lang="en-US" b="0" dirty="0">
                <a:latin typeface="Arial" charset="0"/>
                <a:ea typeface="ＭＳ Ｐゴシック" pitchFamily="-65" charset="-128"/>
              </a:rPr>
              <a:t>variants are capable of downloading other malware, such as Trojan horses and</a:t>
            </a:r>
          </a:p>
          <a:p>
            <a:r>
              <a:rPr lang="en-US" b="0" dirty="0">
                <a:latin typeface="Arial" charset="0"/>
                <a:ea typeface="ＭＳ Ｐゴシック" pitchFamily="-65" charset="-128"/>
              </a:rPr>
              <a:t>adware. Many variants disable security-related products and/or disable their</a:t>
            </a:r>
          </a:p>
          <a:p>
            <a:r>
              <a:rPr lang="en-US" b="0" dirty="0">
                <a:latin typeface="Arial" charset="0"/>
                <a:ea typeface="ＭＳ Ｐゴシック" pitchFamily="-65" charset="-128"/>
              </a:rPr>
              <a:t>updating capability.</a:t>
            </a:r>
          </a:p>
          <a:p>
            <a:endParaRPr lang="en-US" b="0" dirty="0">
              <a:latin typeface="Arial" charset="0"/>
              <a:ea typeface="ＭＳ Ｐゴシック" pitchFamily="-65" charset="-128"/>
            </a:endParaRPr>
          </a:p>
          <a:p>
            <a:r>
              <a:rPr lang="en-US" b="0" dirty="0">
                <a:latin typeface="Arial" charset="0"/>
                <a:ea typeface="ＭＳ Ｐゴシック" pitchFamily="-65" charset="-128"/>
              </a:rPr>
              <a:t>The </a:t>
            </a:r>
            <a:r>
              <a:rPr lang="en-US" b="0" dirty="0" err="1">
                <a:latin typeface="Arial" charset="0"/>
                <a:ea typeface="ＭＳ Ｐゴシック" pitchFamily="-65" charset="-128"/>
              </a:rPr>
              <a:t>Conficker</a:t>
            </a:r>
            <a:r>
              <a:rPr lang="en-US" b="0" dirty="0">
                <a:latin typeface="Arial" charset="0"/>
                <a:ea typeface="ＭＳ Ｐゴシック" pitchFamily="-65" charset="-128"/>
              </a:rPr>
              <a:t> (or </a:t>
            </a:r>
            <a:r>
              <a:rPr lang="en-US" b="0" dirty="0" err="1">
                <a:latin typeface="Arial" charset="0"/>
                <a:ea typeface="ＭＳ Ｐゴシック" pitchFamily="-65" charset="-128"/>
              </a:rPr>
              <a:t>Downadup</a:t>
            </a:r>
            <a:r>
              <a:rPr lang="en-US" b="0" dirty="0">
                <a:latin typeface="Arial" charset="0"/>
                <a:ea typeface="ＭＳ Ｐゴシック" pitchFamily="-65" charset="-128"/>
              </a:rPr>
              <a:t>) worm was first detected in November 2008</a:t>
            </a:r>
          </a:p>
          <a:p>
            <a:r>
              <a:rPr lang="en-US" b="0" dirty="0">
                <a:latin typeface="Arial" charset="0"/>
                <a:ea typeface="ＭＳ Ｐゴシック" pitchFamily="-65" charset="-128"/>
              </a:rPr>
              <a:t>and spread quickly to become one of the most widespread infections since SQL</a:t>
            </a:r>
          </a:p>
          <a:p>
            <a:r>
              <a:rPr lang="en-US" b="0" dirty="0">
                <a:latin typeface="Arial" charset="0"/>
                <a:ea typeface="ＭＳ Ｐゴシック" pitchFamily="-65" charset="-128"/>
              </a:rPr>
              <a:t>Slammer in 2003 [LAWT09]. It spread initially by exploiting a Windows buffer</a:t>
            </a:r>
          </a:p>
          <a:p>
            <a:r>
              <a:rPr lang="en-US" b="0" dirty="0">
                <a:latin typeface="Arial" charset="0"/>
                <a:ea typeface="ＭＳ Ｐゴシック" pitchFamily="-65" charset="-128"/>
              </a:rPr>
              <a:t>overflow vulnerability, though later versions could also spread via USB drives and</a:t>
            </a:r>
          </a:p>
          <a:p>
            <a:r>
              <a:rPr lang="en-US" b="0" dirty="0">
                <a:latin typeface="Arial" charset="0"/>
                <a:ea typeface="ＭＳ Ｐゴシック" pitchFamily="-65" charset="-128"/>
              </a:rPr>
              <a:t>network file shares. In 2010, it still comprised the second most common family of</a:t>
            </a:r>
          </a:p>
          <a:p>
            <a:r>
              <a:rPr lang="en-US" b="0" dirty="0">
                <a:latin typeface="Arial" charset="0"/>
                <a:ea typeface="ＭＳ Ｐゴシック" pitchFamily="-65" charset="-128"/>
              </a:rPr>
              <a:t>malware observed by Symantec [SYMA16], even though patches were available</a:t>
            </a:r>
          </a:p>
          <a:p>
            <a:r>
              <a:rPr lang="en-US" b="0" dirty="0">
                <a:latin typeface="Arial" charset="0"/>
                <a:ea typeface="ＭＳ Ｐゴシック" pitchFamily="-65" charset="-128"/>
              </a:rPr>
              <a:t>from Microsoft to close the main vulnerabilities it exploits.</a:t>
            </a:r>
          </a:p>
          <a:p>
            <a:endParaRPr lang="en-US" b="0" dirty="0">
              <a:latin typeface="Arial" charset="0"/>
              <a:ea typeface="ＭＳ Ｐゴシック" pitchFamily="-65" charset="-128"/>
            </a:endParaRPr>
          </a:p>
          <a:p>
            <a:r>
              <a:rPr lang="en-US" b="0" dirty="0">
                <a:latin typeface="Arial" charset="0"/>
                <a:ea typeface="ＭＳ Ｐゴシック" pitchFamily="-65" charset="-128"/>
              </a:rPr>
              <a:t>In 2010, the </a:t>
            </a:r>
            <a:r>
              <a:rPr lang="en-US" b="0" dirty="0" err="1">
                <a:latin typeface="Arial" charset="0"/>
                <a:ea typeface="ＭＳ Ｐゴシック" pitchFamily="-65" charset="-128"/>
              </a:rPr>
              <a:t>Stuxnet</a:t>
            </a:r>
            <a:r>
              <a:rPr lang="en-US" b="0" dirty="0">
                <a:latin typeface="Arial" charset="0"/>
                <a:ea typeface="ＭＳ Ｐゴシック" pitchFamily="-65" charset="-128"/>
              </a:rPr>
              <a:t> worm was detected, though it had been spreading quietly</a:t>
            </a:r>
          </a:p>
          <a:p>
            <a:r>
              <a:rPr lang="en-US" b="0" dirty="0">
                <a:latin typeface="Arial" charset="0"/>
                <a:ea typeface="ＭＳ Ｐゴシック" pitchFamily="-65" charset="-128"/>
              </a:rPr>
              <a:t>for some time previously [CHEN11, KUSH13]. Unlike many previous worms, it deliberately</a:t>
            </a:r>
          </a:p>
          <a:p>
            <a:r>
              <a:rPr lang="en-US" b="0" dirty="0">
                <a:latin typeface="Arial" charset="0"/>
                <a:ea typeface="ＭＳ Ｐゴシック" pitchFamily="-65" charset="-128"/>
              </a:rPr>
              <a:t>restricted its rate of spread to reduce its chance of detection. It also targeted industrial</a:t>
            </a:r>
          </a:p>
          <a:p>
            <a:r>
              <a:rPr lang="en-US" b="0" dirty="0">
                <a:latin typeface="Arial" charset="0"/>
                <a:ea typeface="ＭＳ Ｐゴシック" pitchFamily="-65" charset="-128"/>
              </a:rPr>
              <a:t>control systems, most likely those associated with the Iranian nuclear program,</a:t>
            </a:r>
          </a:p>
          <a:p>
            <a:r>
              <a:rPr lang="en-US" b="0" dirty="0">
                <a:latin typeface="Arial" charset="0"/>
                <a:ea typeface="ＭＳ Ｐゴシック" pitchFamily="-65" charset="-128"/>
              </a:rPr>
              <a:t>with the likely aim of disrupting the operation of their equipment. It supported a</a:t>
            </a:r>
          </a:p>
          <a:p>
            <a:r>
              <a:rPr lang="en-US" b="0" dirty="0">
                <a:latin typeface="Arial" charset="0"/>
                <a:ea typeface="ＭＳ Ｐゴシック" pitchFamily="-65" charset="-128"/>
              </a:rPr>
              <a:t>range of propagation mechanisms, including via USB drives, network file shares,</a:t>
            </a:r>
          </a:p>
          <a:p>
            <a:r>
              <a:rPr lang="en-US" b="0" dirty="0">
                <a:latin typeface="Arial" charset="0"/>
                <a:ea typeface="ＭＳ Ｐゴシック" pitchFamily="-65" charset="-128"/>
              </a:rPr>
              <a:t>and using no less than four unknown, zero-day vulnerability exploits. Considerable</a:t>
            </a:r>
          </a:p>
          <a:p>
            <a:r>
              <a:rPr lang="en-US" b="0" dirty="0">
                <a:latin typeface="Arial" charset="0"/>
                <a:ea typeface="ＭＳ Ｐゴシック" pitchFamily="-65" charset="-128"/>
              </a:rPr>
              <a:t>debate resulted from the size and complexity of its code, the use of an unprecedented</a:t>
            </a:r>
          </a:p>
          <a:p>
            <a:r>
              <a:rPr lang="en-US" b="0" dirty="0">
                <a:latin typeface="Arial" charset="0"/>
                <a:ea typeface="ＭＳ Ｐゴシック" pitchFamily="-65" charset="-128"/>
              </a:rPr>
              <a:t>four zero-day exploits, and the cost and effort apparent in its development.</a:t>
            </a:r>
          </a:p>
          <a:p>
            <a:r>
              <a:rPr lang="en-US" b="0" dirty="0">
                <a:latin typeface="Arial" charset="0"/>
                <a:ea typeface="ＭＳ Ｐゴシック" pitchFamily="-65" charset="-128"/>
              </a:rPr>
              <a:t>There are claims that it appears to be the first serious use of a </a:t>
            </a:r>
            <a:r>
              <a:rPr lang="en-US" b="0" dirty="0" err="1">
                <a:latin typeface="Arial" charset="0"/>
                <a:ea typeface="ＭＳ Ｐゴシック" pitchFamily="-65" charset="-128"/>
              </a:rPr>
              <a:t>cyberwarfare</a:t>
            </a:r>
            <a:r>
              <a:rPr lang="en-US" b="0" dirty="0">
                <a:latin typeface="Arial" charset="0"/>
                <a:ea typeface="ＭＳ Ｐゴシック" pitchFamily="-65" charset="-128"/>
              </a:rPr>
              <a:t> weapon</a:t>
            </a:r>
          </a:p>
          <a:p>
            <a:r>
              <a:rPr lang="en-US" b="0" dirty="0">
                <a:latin typeface="Arial" charset="0"/>
                <a:ea typeface="ＭＳ Ｐゴシック" pitchFamily="-65" charset="-128"/>
              </a:rPr>
              <a:t>against a nation’s physical infrastructure. The researchers at Symantec who analyzed</a:t>
            </a:r>
          </a:p>
          <a:p>
            <a:r>
              <a:rPr lang="en-US" b="0" dirty="0" err="1">
                <a:latin typeface="Arial" charset="0"/>
                <a:ea typeface="ＭＳ Ｐゴシック" pitchFamily="-65" charset="-128"/>
              </a:rPr>
              <a:t>Stuxnet</a:t>
            </a:r>
            <a:r>
              <a:rPr lang="en-US" b="0" dirty="0">
                <a:latin typeface="Arial" charset="0"/>
                <a:ea typeface="ＭＳ Ｐゴシック" pitchFamily="-65" charset="-128"/>
              </a:rPr>
              <a:t> noted that while they were expecting to find espionage, they never expected</a:t>
            </a:r>
          </a:p>
          <a:p>
            <a:r>
              <a:rPr lang="en-US" b="0" dirty="0">
                <a:latin typeface="Arial" charset="0"/>
                <a:ea typeface="ＭＳ Ｐゴシック" pitchFamily="-65" charset="-128"/>
              </a:rPr>
              <a:t>to see malware with targeted sabotage as its aim. As a result, greater attention is now</a:t>
            </a:r>
          </a:p>
          <a:p>
            <a:r>
              <a:rPr lang="en-US" b="0" dirty="0">
                <a:latin typeface="Arial" charset="0"/>
                <a:ea typeface="ＭＳ Ｐゴシック" pitchFamily="-65" charset="-128"/>
              </a:rPr>
              <a:t>being directed at the use of malware as a weapon by a number of nations.</a:t>
            </a:r>
          </a:p>
          <a:p>
            <a:endParaRPr lang="en-US" b="0" dirty="0">
              <a:latin typeface="Arial" charset="0"/>
              <a:ea typeface="ＭＳ Ｐゴシック" pitchFamily="-65"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In late 2011 the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Duqu</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worm was discovered, which uses code related to that in</a:t>
            </a:r>
          </a:p>
          <a:p>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Stuxnet</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Its aim is different, being cyber-espionage, though it appears to also target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 Iranian nuclear program. Another prominent, recent, cyber-espionage worm is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 Flame family, which was discovered in 2012 and appears to target Middle-Eastern</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countries. Despite the specific target areas for these various worms, their infection</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strategies have been so successful that they have been identified on computer systems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in a very large number of countries, including on systems kept physically isolated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from the general Internet. This reinforces the need for significantly improved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countermeasures to resist such infections.</a:t>
            </a:r>
            <a:endParaRPr lang="en-US" b="0" dirty="0">
              <a:latin typeface="Times New Roman" pitchFamily="-65" charset="0"/>
              <a:ea typeface="ＭＳ Ｐゴシック" pitchFamily="-65" charset="-128"/>
            </a:endParaRPr>
          </a:p>
        </p:txBody>
      </p:sp>
    </p:spTree>
    <p:extLst>
      <p:ext uri="{BB962C8B-B14F-4D97-AF65-F5344CB8AC3E}">
        <p14:creationId xmlns:p14="http://schemas.microsoft.com/office/powerpoint/2010/main" val="3882844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 In May 2017, the </a:t>
            </a:r>
            <a:r>
              <a:rPr lang="en-US" sz="1200" kern="1200" dirty="0" err="1">
                <a:solidFill>
                  <a:schemeClr val="tx1"/>
                </a:solidFill>
                <a:effectLst/>
                <a:latin typeface="Arial" pitchFamily="-110" charset="0"/>
                <a:ea typeface="ＭＳ Ｐゴシック" pitchFamily="-110" charset="-128"/>
                <a:cs typeface="ＭＳ Ｐゴシック" pitchFamily="-110" charset="-128"/>
              </a:rPr>
              <a:t>WannaCry</a:t>
            </a:r>
            <a:r>
              <a:rPr lang="en-US" sz="1200" kern="1200" dirty="0">
                <a:solidFill>
                  <a:schemeClr val="tx1"/>
                </a:solidFill>
                <a:effectLst/>
                <a:latin typeface="Arial" pitchFamily="-110" charset="0"/>
                <a:ea typeface="ＭＳ Ｐゴシック" pitchFamily="-110" charset="-128"/>
                <a:cs typeface="ＭＳ Ｐゴシック" pitchFamily="-110" charset="-128"/>
              </a:rPr>
              <a:t> ransomware attack spread extremely rapidly over a</a:t>
            </a:r>
          </a:p>
          <a:p>
            <a:r>
              <a:rPr lang="en-US" sz="1200" kern="1200" dirty="0">
                <a:solidFill>
                  <a:schemeClr val="tx1"/>
                </a:solidFill>
                <a:effectLst/>
                <a:latin typeface="Arial" pitchFamily="-110" charset="0"/>
                <a:ea typeface="ＭＳ Ｐゴシック" pitchFamily="-110" charset="-128"/>
                <a:cs typeface="ＭＳ Ｐゴシック" pitchFamily="-110" charset="-128"/>
              </a:rPr>
              <a:t>period of hours to days, infecting hundreds of thousands of systems belonging to both</a:t>
            </a:r>
          </a:p>
          <a:p>
            <a:r>
              <a:rPr lang="en-US" sz="1200" kern="1200" dirty="0">
                <a:solidFill>
                  <a:schemeClr val="tx1"/>
                </a:solidFill>
                <a:effectLst/>
                <a:latin typeface="Arial" pitchFamily="-110" charset="0"/>
                <a:ea typeface="ＭＳ Ｐゴシック" pitchFamily="-110" charset="-128"/>
                <a:cs typeface="ＭＳ Ｐゴシック" pitchFamily="-110" charset="-128"/>
              </a:rPr>
              <a:t>public and private </a:t>
            </a:r>
            <a:r>
              <a:rPr lang="en-US" sz="1200" kern="1200" dirty="0" err="1">
                <a:solidFill>
                  <a:schemeClr val="tx1"/>
                </a:solidFill>
                <a:effectLst/>
                <a:latin typeface="Arial" pitchFamily="-110" charset="0"/>
                <a:ea typeface="ＭＳ Ｐゴシック" pitchFamily="-110" charset="-128"/>
                <a:cs typeface="ＭＳ Ｐゴシック" pitchFamily="-110" charset="-128"/>
              </a:rPr>
              <a:t>organisations</a:t>
            </a:r>
            <a:r>
              <a:rPr lang="en-US" sz="1200" kern="1200" dirty="0">
                <a:solidFill>
                  <a:schemeClr val="tx1"/>
                </a:solidFill>
                <a:effectLst/>
                <a:latin typeface="Arial" pitchFamily="-110" charset="0"/>
                <a:ea typeface="ＭＳ Ｐゴシック" pitchFamily="-110" charset="-128"/>
                <a:cs typeface="ＭＳ Ｐゴシック" pitchFamily="-110" charset="-128"/>
              </a:rPr>
              <a:t> in more than 150 countries (US-CERT Alert TA17-</a:t>
            </a:r>
          </a:p>
          <a:p>
            <a:r>
              <a:rPr lang="en-US" sz="1200" kern="1200" dirty="0">
                <a:solidFill>
                  <a:schemeClr val="tx1"/>
                </a:solidFill>
                <a:effectLst/>
                <a:latin typeface="Arial" pitchFamily="-110" charset="0"/>
                <a:ea typeface="ＭＳ Ｐゴシック" pitchFamily="-110" charset="-128"/>
                <a:cs typeface="ＭＳ Ｐゴシック" pitchFamily="-110" charset="-128"/>
              </a:rPr>
              <a:t>132A) [GOOD17]. It spread as a worm by aggressively scanning both local and random</a:t>
            </a:r>
          </a:p>
          <a:p>
            <a:r>
              <a:rPr lang="en-US" sz="1200" kern="1200" dirty="0">
                <a:solidFill>
                  <a:schemeClr val="tx1"/>
                </a:solidFill>
                <a:effectLst/>
                <a:latin typeface="Arial" pitchFamily="-110" charset="0"/>
                <a:ea typeface="ＭＳ Ｐゴシック" pitchFamily="-110" charset="-128"/>
                <a:cs typeface="ＭＳ Ｐゴシック" pitchFamily="-110" charset="-128"/>
              </a:rPr>
              <a:t>remote networks, attempting to exploit a vulnerability in the SMB file sharing service on</a:t>
            </a:r>
          </a:p>
          <a:p>
            <a:r>
              <a:rPr lang="en-US" sz="1200" kern="1200" dirty="0">
                <a:solidFill>
                  <a:schemeClr val="tx1"/>
                </a:solidFill>
                <a:effectLst/>
                <a:latin typeface="Arial" pitchFamily="-110" charset="0"/>
                <a:ea typeface="ＭＳ Ｐゴシック" pitchFamily="-110" charset="-128"/>
                <a:cs typeface="ＭＳ Ｐゴシック" pitchFamily="-110" charset="-128"/>
              </a:rPr>
              <a:t>unpatched Windows systems. This rapid spread was only slowed by the accidental activation</a:t>
            </a:r>
          </a:p>
          <a:p>
            <a:r>
              <a:rPr lang="en-US" sz="1200" kern="1200" dirty="0">
                <a:solidFill>
                  <a:schemeClr val="tx1"/>
                </a:solidFill>
                <a:effectLst/>
                <a:latin typeface="Arial" pitchFamily="-110" charset="0"/>
                <a:ea typeface="ＭＳ Ｐゴシック" pitchFamily="-110" charset="-128"/>
                <a:cs typeface="ＭＳ Ｐゴシック" pitchFamily="-110" charset="-128"/>
              </a:rPr>
              <a:t>of a “kill-switch” domain by a UK security researcher, whose existence was checked</a:t>
            </a:r>
          </a:p>
          <a:p>
            <a:r>
              <a:rPr lang="en-US" sz="1200" kern="1200" dirty="0">
                <a:solidFill>
                  <a:schemeClr val="tx1"/>
                </a:solidFill>
                <a:effectLst/>
                <a:latin typeface="Arial" pitchFamily="-110" charset="0"/>
                <a:ea typeface="ＭＳ Ｐゴシック" pitchFamily="-110" charset="-128"/>
                <a:cs typeface="ＭＳ Ｐゴシック" pitchFamily="-110" charset="-128"/>
              </a:rPr>
              <a:t>for in the initial versions of this malware. Once installed on infected systems, it also</a:t>
            </a:r>
          </a:p>
          <a:p>
            <a:r>
              <a:rPr lang="en-US" sz="1200" kern="1200" dirty="0">
                <a:solidFill>
                  <a:schemeClr val="tx1"/>
                </a:solidFill>
                <a:effectLst/>
                <a:latin typeface="Arial" pitchFamily="-110" charset="0"/>
                <a:ea typeface="ＭＳ Ｐゴシック" pitchFamily="-110" charset="-128"/>
                <a:cs typeface="ＭＳ Ｐゴシック" pitchFamily="-110" charset="-128"/>
              </a:rPr>
              <a:t>encrypted files, demanding a ransom payment to recover them, as we will discuss later.</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EF01EA8-8A05-4B44-9488-279E78AAD254}" type="slidenum">
              <a:rPr kumimoji="0" lang="en-AU" sz="1200" b="0" i="0" u="none" strike="noStrike" kern="1200" cap="none" spc="0" normalizeH="0" baseline="0" noProof="0" smtClean="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Tree>
    <p:extLst>
      <p:ext uri="{BB962C8B-B14F-4D97-AF65-F5344CB8AC3E}">
        <p14:creationId xmlns:p14="http://schemas.microsoft.com/office/powerpoint/2010/main" val="653461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58B8A76-7F91-435F-9153-27AA6B070F89}" type="slidenum">
              <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p:spPr>
        <p:txBody>
          <a:bodyPr/>
          <a:lstStyle/>
          <a:p>
            <a:r>
              <a:rPr lang="en-US" b="0" dirty="0">
                <a:latin typeface="Arial" charset="0"/>
                <a:ea typeface="ＭＳ Ｐゴシック" pitchFamily="-65" charset="-128"/>
              </a:rPr>
              <a:t>The state of the art in worm technology includes the following:</a:t>
            </a:r>
          </a:p>
          <a:p>
            <a:endParaRPr lang="en-US" b="1" dirty="0">
              <a:latin typeface="Arial" charset="0"/>
              <a:ea typeface="ＭＳ Ｐゴシック" pitchFamily="-65" charset="-128"/>
            </a:endParaRPr>
          </a:p>
          <a:p>
            <a:r>
              <a:rPr lang="en-US" b="1" dirty="0">
                <a:latin typeface="Arial" charset="0"/>
                <a:ea typeface="ＭＳ Ｐゴシック" pitchFamily="-65" charset="-128"/>
              </a:rPr>
              <a:t>• Multiplatform</a:t>
            </a:r>
            <a:r>
              <a:rPr lang="en-US" b="0" dirty="0">
                <a:latin typeface="Arial" charset="0"/>
                <a:ea typeface="ＭＳ Ｐゴシック" pitchFamily="-65" charset="-128"/>
              </a:rPr>
              <a:t>: Newer worms are not limited to Windows machines but can</a:t>
            </a:r>
          </a:p>
          <a:p>
            <a:r>
              <a:rPr lang="en-US" b="0" dirty="0">
                <a:latin typeface="Arial" charset="0"/>
                <a:ea typeface="ＭＳ Ｐゴシック" pitchFamily="-65" charset="-128"/>
              </a:rPr>
              <a:t>attack a variety of platforms, especially the popular varieties of UNIX; or</a:t>
            </a:r>
          </a:p>
          <a:p>
            <a:r>
              <a:rPr lang="en-US" b="0" dirty="0">
                <a:latin typeface="Arial" charset="0"/>
                <a:ea typeface="ＭＳ Ｐゴシック" pitchFamily="-65" charset="-128"/>
              </a:rPr>
              <a:t>exploit macro or scripting languages supported in popular document types.</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Multi-exploit</a:t>
            </a:r>
            <a:r>
              <a:rPr lang="en-US" b="0" dirty="0">
                <a:latin typeface="Arial" charset="0"/>
                <a:ea typeface="ＭＳ Ｐゴシック" pitchFamily="-65" charset="-128"/>
              </a:rPr>
              <a:t>: New worms penetrate systems in a variety of ways, using exploits</a:t>
            </a:r>
          </a:p>
          <a:p>
            <a:r>
              <a:rPr lang="en-US" b="0" dirty="0">
                <a:latin typeface="Arial" charset="0"/>
                <a:ea typeface="ＭＳ Ｐゴシック" pitchFamily="-65" charset="-128"/>
              </a:rPr>
              <a:t>against Web servers, browsers, e-mail, file sharing, and other network-based</a:t>
            </a:r>
          </a:p>
          <a:p>
            <a:r>
              <a:rPr lang="en-US" b="0" dirty="0">
                <a:latin typeface="Arial" charset="0"/>
                <a:ea typeface="ＭＳ Ｐゴシック" pitchFamily="-65" charset="-128"/>
              </a:rPr>
              <a:t>applications; or via shared media.</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Ultrafast spreading</a:t>
            </a:r>
            <a:r>
              <a:rPr lang="en-US" b="0" dirty="0">
                <a:latin typeface="Arial" charset="0"/>
                <a:ea typeface="ＭＳ Ｐゴシック" pitchFamily="-65" charset="-128"/>
              </a:rPr>
              <a:t>: Exploit various techniques to optimize the rate of spread</a:t>
            </a:r>
          </a:p>
          <a:p>
            <a:r>
              <a:rPr lang="en-US" b="0" dirty="0">
                <a:latin typeface="Arial" charset="0"/>
                <a:ea typeface="ＭＳ Ｐゴシック" pitchFamily="-65" charset="-128"/>
              </a:rPr>
              <a:t>of a worm to maximize its likelihood of locating as many vulnerable machines</a:t>
            </a:r>
          </a:p>
          <a:p>
            <a:r>
              <a:rPr lang="en-US" b="0" dirty="0">
                <a:latin typeface="Arial" charset="0"/>
                <a:ea typeface="ＭＳ Ｐゴシック" pitchFamily="-65" charset="-128"/>
              </a:rPr>
              <a:t>as possible in a short time period.</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Polymorphic</a:t>
            </a:r>
            <a:r>
              <a:rPr lang="en-US" b="0" dirty="0">
                <a:latin typeface="Arial" charset="0"/>
                <a:ea typeface="ＭＳ Ｐゴシック" pitchFamily="-65" charset="-128"/>
              </a:rPr>
              <a:t>: To evade detection, skip past filters, and foil real-time analysis,</a:t>
            </a:r>
          </a:p>
          <a:p>
            <a:r>
              <a:rPr lang="en-US" b="0" dirty="0">
                <a:latin typeface="Arial" charset="0"/>
                <a:ea typeface="ＭＳ Ｐゴシック" pitchFamily="-65" charset="-128"/>
              </a:rPr>
              <a:t>worms adopt the virus polymorphic technique. Each copy of the worm has</a:t>
            </a:r>
          </a:p>
          <a:p>
            <a:r>
              <a:rPr lang="en-US" b="0" dirty="0">
                <a:latin typeface="Arial" charset="0"/>
                <a:ea typeface="ＭＳ Ｐゴシック" pitchFamily="-65" charset="-128"/>
              </a:rPr>
              <a:t>new code generated on the fly using functionally equivalent instructions and</a:t>
            </a:r>
          </a:p>
          <a:p>
            <a:r>
              <a:rPr lang="en-US" b="0" dirty="0">
                <a:latin typeface="Arial" charset="0"/>
                <a:ea typeface="ＭＳ Ｐゴシック" pitchFamily="-65" charset="-128"/>
              </a:rPr>
              <a:t>encryption techniques.</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Metamorphic</a:t>
            </a:r>
            <a:r>
              <a:rPr lang="en-US" b="0" dirty="0">
                <a:latin typeface="Arial" charset="0"/>
                <a:ea typeface="ＭＳ Ｐゴシック" pitchFamily="-65" charset="-128"/>
              </a:rPr>
              <a:t>: In addition to changing their appearance, metamorphic worms</a:t>
            </a:r>
          </a:p>
          <a:p>
            <a:r>
              <a:rPr lang="en-US" b="0" dirty="0">
                <a:latin typeface="Arial" charset="0"/>
                <a:ea typeface="ＭＳ Ｐゴシック" pitchFamily="-65" charset="-128"/>
              </a:rPr>
              <a:t>have a repertoire of behavior patterns that are unleashed at different stages of</a:t>
            </a:r>
          </a:p>
          <a:p>
            <a:r>
              <a:rPr lang="en-US" b="0" dirty="0">
                <a:latin typeface="Arial" charset="0"/>
                <a:ea typeface="ＭＳ Ｐゴシック" pitchFamily="-65" charset="-128"/>
              </a:rPr>
              <a:t>propagation.</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Transport vehicles</a:t>
            </a:r>
            <a:r>
              <a:rPr lang="en-US" b="0" dirty="0">
                <a:latin typeface="Arial" charset="0"/>
                <a:ea typeface="ＭＳ Ｐゴシック" pitchFamily="-65" charset="-128"/>
              </a:rPr>
              <a:t>: Because worms can rapidly compromise a large number of</a:t>
            </a:r>
          </a:p>
          <a:p>
            <a:r>
              <a:rPr lang="en-US" b="0" dirty="0">
                <a:latin typeface="Arial" charset="0"/>
                <a:ea typeface="ＭＳ Ｐゴシック" pitchFamily="-65" charset="-128"/>
              </a:rPr>
              <a:t>systems, they are ideal for spreading a wide variety of malicious payloads, such as</a:t>
            </a:r>
          </a:p>
          <a:p>
            <a:r>
              <a:rPr lang="en-US" b="0" dirty="0">
                <a:latin typeface="Arial" charset="0"/>
                <a:ea typeface="ＭＳ Ｐゴシック" pitchFamily="-65" charset="-128"/>
              </a:rPr>
              <a:t>distributed denial-of-service bots, rootkits, spam e-mail generators, and spyware.</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Zero-day exploi</a:t>
            </a:r>
            <a:r>
              <a:rPr lang="en-US" b="0" dirty="0">
                <a:latin typeface="Arial" charset="0"/>
                <a:ea typeface="ＭＳ Ｐゴシック" pitchFamily="-65" charset="-128"/>
              </a:rPr>
              <a:t>t : To achieve maximum surprise and distribution, a worm</a:t>
            </a:r>
          </a:p>
          <a:p>
            <a:r>
              <a:rPr lang="en-US" b="0" dirty="0">
                <a:latin typeface="Arial" charset="0"/>
                <a:ea typeface="ＭＳ Ｐゴシック" pitchFamily="-65" charset="-128"/>
              </a:rPr>
              <a:t>should exploit an unknown vulnerability that is only discovered by the general</a:t>
            </a:r>
          </a:p>
          <a:p>
            <a:r>
              <a:rPr lang="en-US" b="0" dirty="0">
                <a:latin typeface="Arial" charset="0"/>
                <a:ea typeface="ＭＳ Ｐゴシック" pitchFamily="-65" charset="-128"/>
              </a:rPr>
              <a:t>network community when the worm is launched. </a:t>
            </a:r>
            <a:r>
              <a:rPr lang="en-US" sz="1200" kern="1200" dirty="0">
                <a:solidFill>
                  <a:schemeClr val="tx1"/>
                </a:solidFill>
                <a:effectLst/>
                <a:latin typeface="Arial" pitchFamily="-110" charset="0"/>
                <a:ea typeface="ＭＳ Ｐゴシック" pitchFamily="-110" charset="-128"/>
                <a:cs typeface="ＭＳ Ｐゴシック" pitchFamily="-110" charset="-128"/>
              </a:rPr>
              <a:t> In 2015, 54 zero-day exploits were</a:t>
            </a:r>
          </a:p>
          <a:p>
            <a:r>
              <a:rPr lang="en-US" sz="1200" kern="1200" dirty="0">
                <a:solidFill>
                  <a:schemeClr val="tx1"/>
                </a:solidFill>
                <a:effectLst/>
                <a:latin typeface="Arial" pitchFamily="-110" charset="0"/>
                <a:ea typeface="ＭＳ Ｐゴシック" pitchFamily="-110" charset="-128"/>
                <a:cs typeface="ＭＳ Ｐゴシック" pitchFamily="-110" charset="-128"/>
              </a:rPr>
              <a:t>discovered and exploited, significantly more than in previous years [SYMA16].</a:t>
            </a:r>
          </a:p>
          <a:p>
            <a:r>
              <a:rPr lang="en-US" sz="1200" kern="1200" dirty="0">
                <a:solidFill>
                  <a:schemeClr val="tx1"/>
                </a:solidFill>
                <a:effectLst/>
                <a:latin typeface="Arial" pitchFamily="-110" charset="0"/>
                <a:ea typeface="ＭＳ Ｐゴシック" pitchFamily="-110" charset="-128"/>
                <a:cs typeface="ＭＳ Ｐゴシック" pitchFamily="-110" charset="-128"/>
              </a:rPr>
              <a:t>Many of these were in common computer and mobile software. Some, though,</a:t>
            </a:r>
          </a:p>
          <a:p>
            <a:r>
              <a:rPr lang="en-US" sz="1200" kern="1200" dirty="0">
                <a:solidFill>
                  <a:schemeClr val="tx1"/>
                </a:solidFill>
                <a:effectLst/>
                <a:latin typeface="Arial" pitchFamily="-110" charset="0"/>
                <a:ea typeface="ＭＳ Ｐゴシック" pitchFamily="-110" charset="-128"/>
                <a:cs typeface="ＭＳ Ｐゴシック" pitchFamily="-110" charset="-128"/>
              </a:rPr>
              <a:t>were in common libraries and development packages, and some in industrial</a:t>
            </a:r>
          </a:p>
          <a:p>
            <a:r>
              <a:rPr lang="en-US" sz="1200" kern="1200" dirty="0">
                <a:solidFill>
                  <a:schemeClr val="tx1"/>
                </a:solidFill>
                <a:effectLst/>
                <a:latin typeface="Arial" pitchFamily="-110" charset="0"/>
                <a:ea typeface="ＭＳ Ｐゴシック" pitchFamily="-110" charset="-128"/>
                <a:cs typeface="ＭＳ Ｐゴシック" pitchFamily="-110" charset="-128"/>
              </a:rPr>
              <a:t>control systems. This indicates the range of systems being targeted.</a:t>
            </a:r>
          </a:p>
          <a:p>
            <a:endParaRPr lang="en-US" b="0" dirty="0">
              <a:latin typeface="Times New Roman" pitchFamily="-65" charset="0"/>
              <a:ea typeface="ＭＳ Ｐゴシック" pitchFamily="-65" charset="-128"/>
            </a:endParaRPr>
          </a:p>
        </p:txBody>
      </p:sp>
    </p:spTree>
    <p:extLst>
      <p:ext uri="{BB962C8B-B14F-4D97-AF65-F5344CB8AC3E}">
        <p14:creationId xmlns:p14="http://schemas.microsoft.com/office/powerpoint/2010/main" val="39967733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92500"/>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NIST SP 800-28 (Guidelines on Active Content and Mobile Code , March 2008) defines</a:t>
            </a:r>
          </a:p>
          <a:p>
            <a:r>
              <a:rPr lang="en-US" sz="1200" kern="1200" dirty="0">
                <a:solidFill>
                  <a:schemeClr val="tx1"/>
                </a:solidFill>
                <a:effectLst/>
                <a:latin typeface="Arial" pitchFamily="-110" charset="0"/>
                <a:ea typeface="ＭＳ Ｐゴシック" pitchFamily="-110" charset="-128"/>
                <a:cs typeface="ＭＳ Ｐゴシック" pitchFamily="-110" charset="-128"/>
              </a:rPr>
              <a:t>mobile code as programs (e.g., script, macro, or other portable instruction) that can</a:t>
            </a:r>
          </a:p>
          <a:p>
            <a:r>
              <a:rPr lang="en-US" sz="1200" kern="1200" dirty="0">
                <a:solidFill>
                  <a:schemeClr val="tx1"/>
                </a:solidFill>
                <a:effectLst/>
                <a:latin typeface="Arial" pitchFamily="-110" charset="0"/>
                <a:ea typeface="ＭＳ Ｐゴシック" pitchFamily="-110" charset="-128"/>
                <a:cs typeface="ＭＳ Ｐゴシック" pitchFamily="-110" charset="-128"/>
              </a:rPr>
              <a:t>be shipped unchanged to a heterogeneous collection of platforms and executed with</a:t>
            </a:r>
          </a:p>
          <a:p>
            <a:r>
              <a:rPr lang="en-US" sz="1200" kern="1200" dirty="0">
                <a:solidFill>
                  <a:schemeClr val="tx1"/>
                </a:solidFill>
                <a:effectLst/>
                <a:latin typeface="Arial" pitchFamily="-110" charset="0"/>
                <a:ea typeface="ＭＳ Ｐゴシック" pitchFamily="-110" charset="-128"/>
                <a:cs typeface="ＭＳ Ｐゴシック" pitchFamily="-110" charset="-128"/>
              </a:rPr>
              <a:t>identical semantics.</a:t>
            </a:r>
          </a:p>
          <a:p>
            <a:pPr>
              <a:lnSpc>
                <a:spcPct val="90000"/>
              </a:lnSpc>
            </a:pPr>
            <a:endParaRPr lang="en-US" dirty="0">
              <a:latin typeface="Arial" charset="0"/>
              <a:ea typeface="ＭＳ Ｐゴシック" pitchFamily="-65" charset="-128"/>
            </a:endParaRPr>
          </a:p>
          <a:p>
            <a:pPr>
              <a:lnSpc>
                <a:spcPct val="90000"/>
              </a:lnSpc>
            </a:pPr>
            <a:r>
              <a:rPr lang="en-US" dirty="0">
                <a:latin typeface="Arial" charset="0"/>
                <a:ea typeface="ＭＳ Ｐゴシック" pitchFamily="-65" charset="-128"/>
              </a:rPr>
              <a:t>Mobile code is transmitted from a remote system to a local system and then</a:t>
            </a:r>
          </a:p>
          <a:p>
            <a:pPr>
              <a:lnSpc>
                <a:spcPct val="90000"/>
              </a:lnSpc>
            </a:pPr>
            <a:r>
              <a:rPr lang="en-US" dirty="0">
                <a:latin typeface="Arial" charset="0"/>
                <a:ea typeface="ＭＳ Ｐゴシック" pitchFamily="-65" charset="-128"/>
              </a:rPr>
              <a:t>executed on the local system without the user’s explicit instruction [SOUP13]. Mobile</a:t>
            </a:r>
          </a:p>
          <a:p>
            <a:pPr>
              <a:lnSpc>
                <a:spcPct val="90000"/>
              </a:lnSpc>
            </a:pPr>
            <a:r>
              <a:rPr lang="en-US" dirty="0">
                <a:latin typeface="Arial" charset="0"/>
                <a:ea typeface="ＭＳ Ｐゴシック" pitchFamily="-65" charset="-128"/>
              </a:rPr>
              <a:t>code often acts as a mechanism for a virus, worm, or Trojan horse to be transmitted to</a:t>
            </a:r>
          </a:p>
          <a:p>
            <a:pPr>
              <a:lnSpc>
                <a:spcPct val="90000"/>
              </a:lnSpc>
            </a:pPr>
            <a:r>
              <a:rPr lang="en-US" dirty="0">
                <a:latin typeface="Arial" charset="0"/>
                <a:ea typeface="ＭＳ Ｐゴシック" pitchFamily="-65" charset="-128"/>
              </a:rPr>
              <a:t>the user’s workstation. In other cases, mobile code takes advantage of vulnerabilities</a:t>
            </a:r>
          </a:p>
          <a:p>
            <a:pPr>
              <a:lnSpc>
                <a:spcPct val="90000"/>
              </a:lnSpc>
            </a:pPr>
            <a:r>
              <a:rPr lang="en-US" dirty="0">
                <a:latin typeface="Arial" charset="0"/>
                <a:ea typeface="ＭＳ Ｐゴシック" pitchFamily="-65" charset="-128"/>
              </a:rPr>
              <a:t>to perform its own exploits, such as unauthorized data access or root compromise.</a:t>
            </a:r>
          </a:p>
          <a:p>
            <a:pPr>
              <a:lnSpc>
                <a:spcPct val="90000"/>
              </a:lnSpc>
            </a:pPr>
            <a:r>
              <a:rPr lang="en-US" dirty="0">
                <a:latin typeface="Arial" charset="0"/>
                <a:ea typeface="ＭＳ Ｐゴシック" pitchFamily="-65" charset="-128"/>
              </a:rPr>
              <a:t>Popular vehicles for mobile code include Java applets, ActiveX, JavaScript, and</a:t>
            </a:r>
          </a:p>
          <a:p>
            <a:pPr>
              <a:lnSpc>
                <a:spcPct val="90000"/>
              </a:lnSpc>
            </a:pPr>
            <a:r>
              <a:rPr lang="en-US" dirty="0">
                <a:latin typeface="Arial" charset="0"/>
                <a:ea typeface="ＭＳ Ｐゴシック" pitchFamily="-65" charset="-128"/>
              </a:rPr>
              <a:t>VBScript. The most common ways of using mobile code for malicious operations on</a:t>
            </a:r>
          </a:p>
          <a:p>
            <a:pPr>
              <a:lnSpc>
                <a:spcPct val="90000"/>
              </a:lnSpc>
            </a:pPr>
            <a:r>
              <a:rPr lang="en-US" dirty="0">
                <a:latin typeface="Arial" charset="0"/>
                <a:ea typeface="ＭＳ Ｐゴシック" pitchFamily="-65" charset="-128"/>
              </a:rPr>
              <a:t>local system are cross-site scripting, interactive and dynamic Web sites, e-mail attachments,</a:t>
            </a:r>
          </a:p>
          <a:p>
            <a:pPr>
              <a:lnSpc>
                <a:spcPct val="90000"/>
              </a:lnSpc>
            </a:pPr>
            <a:r>
              <a:rPr lang="en-US" dirty="0">
                <a:latin typeface="Arial" charset="0"/>
                <a:ea typeface="ＭＳ Ｐゴシック" pitchFamily="-65" charset="-128"/>
              </a:rPr>
              <a:t>and downloads from untrusted sites or of untrusted software.</a:t>
            </a:r>
          </a:p>
        </p:txBody>
      </p:sp>
      <p:sp>
        <p:nvSpPr>
          <p:cNvPr id="57348" name="Slide Number Placeholder 3"/>
          <p:cNvSpPr>
            <a:spLocks noGrp="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53A8A23-2EEF-4597-A988-F86389022732}" type="slidenum">
              <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Tree>
    <p:extLst>
      <p:ext uri="{BB962C8B-B14F-4D97-AF65-F5344CB8AC3E}">
        <p14:creationId xmlns:p14="http://schemas.microsoft.com/office/powerpoint/2010/main" val="2134099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lnSpcReduction="10000"/>
          </a:bodyPr>
          <a:lstStyle/>
          <a:p>
            <a:r>
              <a:rPr lang="en-US" sz="1100" dirty="0">
                <a:latin typeface="Arial" charset="0"/>
                <a:ea typeface="ＭＳ Ｐゴシック" pitchFamily="-65" charset="-128"/>
              </a:rPr>
              <a:t>Worms first appeared on mobile phones with the discovery of the </a:t>
            </a:r>
            <a:r>
              <a:rPr lang="en-US" sz="1100" dirty="0" err="1">
                <a:latin typeface="Arial" charset="0"/>
                <a:ea typeface="ＭＳ Ｐゴシック" pitchFamily="-65" charset="-128"/>
              </a:rPr>
              <a:t>Cabir</a:t>
            </a:r>
            <a:r>
              <a:rPr lang="en-US" sz="1100" dirty="0">
                <a:latin typeface="Arial" charset="0"/>
                <a:ea typeface="ＭＳ Ｐゴシック" pitchFamily="-65" charset="-128"/>
              </a:rPr>
              <a:t> worm in</a:t>
            </a:r>
          </a:p>
          <a:p>
            <a:r>
              <a:rPr lang="en-US" sz="1100" dirty="0">
                <a:latin typeface="Arial" charset="0"/>
                <a:ea typeface="ＭＳ Ｐゴシック" pitchFamily="-65" charset="-128"/>
              </a:rPr>
              <a:t>2004, and then </a:t>
            </a:r>
            <a:r>
              <a:rPr lang="en-US" sz="1100" dirty="0" err="1">
                <a:latin typeface="Arial" charset="0"/>
                <a:ea typeface="ＭＳ Ｐゴシック" pitchFamily="-65" charset="-128"/>
              </a:rPr>
              <a:t>Lasco</a:t>
            </a:r>
            <a:r>
              <a:rPr lang="en-US" sz="1100" dirty="0">
                <a:latin typeface="Arial" charset="0"/>
                <a:ea typeface="ＭＳ Ｐゴシック" pitchFamily="-65" charset="-128"/>
              </a:rPr>
              <a:t> and </a:t>
            </a:r>
            <a:r>
              <a:rPr lang="en-US" sz="1100" dirty="0" err="1">
                <a:latin typeface="Arial" charset="0"/>
                <a:ea typeface="ＭＳ Ｐゴシック" pitchFamily="-65" charset="-128"/>
              </a:rPr>
              <a:t>CommWarrior</a:t>
            </a:r>
            <a:r>
              <a:rPr lang="en-US" sz="1100" dirty="0">
                <a:latin typeface="Arial" charset="0"/>
                <a:ea typeface="ＭＳ Ｐゴシック" pitchFamily="-65" charset="-128"/>
              </a:rPr>
              <a:t> in 2005. These worms communicate through</a:t>
            </a:r>
          </a:p>
          <a:p>
            <a:r>
              <a:rPr lang="en-US" sz="1100" dirty="0">
                <a:latin typeface="Arial" charset="0"/>
                <a:ea typeface="ＭＳ Ｐゴシック" pitchFamily="-65" charset="-128"/>
              </a:rPr>
              <a:t>Bluetooth wireless connections or via the multimedia messaging service (MMS).</a:t>
            </a:r>
          </a:p>
          <a:p>
            <a:r>
              <a:rPr lang="en-US" sz="1100" dirty="0">
                <a:latin typeface="Arial" charset="0"/>
                <a:ea typeface="ＭＳ Ｐゴシック" pitchFamily="-65" charset="-128"/>
              </a:rPr>
              <a:t>The target is the smartphone, which is a mobile phone that permits users to install</a:t>
            </a:r>
          </a:p>
          <a:p>
            <a:r>
              <a:rPr lang="en-US" sz="1100" dirty="0">
                <a:latin typeface="Arial" charset="0"/>
                <a:ea typeface="ＭＳ Ｐゴシック" pitchFamily="-65" charset="-128"/>
              </a:rPr>
              <a:t>software applications from sources other than the cellular network operator. All</a:t>
            </a:r>
          </a:p>
          <a:p>
            <a:r>
              <a:rPr lang="en-US" sz="1100" dirty="0">
                <a:latin typeface="Arial" charset="0"/>
                <a:ea typeface="ＭＳ Ｐゴシック" pitchFamily="-65" charset="-128"/>
              </a:rPr>
              <a:t>these early mobile worms targeted mobile phones using the Symbian operating</a:t>
            </a:r>
          </a:p>
          <a:p>
            <a:r>
              <a:rPr lang="en-US" sz="1100" dirty="0">
                <a:latin typeface="Arial" charset="0"/>
                <a:ea typeface="ＭＳ Ｐゴシック" pitchFamily="-65" charset="-128"/>
              </a:rPr>
              <a:t>system. More recent malware targets Android and iPhone systems. Mobile phone</a:t>
            </a:r>
          </a:p>
          <a:p>
            <a:r>
              <a:rPr lang="en-US" sz="1100" dirty="0">
                <a:latin typeface="Arial" charset="0"/>
                <a:ea typeface="ＭＳ Ｐゴシック" pitchFamily="-65" charset="-128"/>
              </a:rPr>
              <a:t>malware can completely disable the phone, delete data on the phone, or force the</a:t>
            </a:r>
          </a:p>
          <a:p>
            <a:r>
              <a:rPr lang="en-US" sz="1100" dirty="0">
                <a:latin typeface="Arial" charset="0"/>
                <a:ea typeface="ＭＳ Ｐゴシック" pitchFamily="-65" charset="-128"/>
              </a:rPr>
              <a:t>device to send costly messages to premium-priced numbers.</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The </a:t>
            </a:r>
            <a:r>
              <a:rPr lang="en-US" sz="1100" dirty="0" err="1">
                <a:latin typeface="Arial" charset="0"/>
                <a:ea typeface="ＭＳ Ｐゴシック" pitchFamily="-65" charset="-128"/>
              </a:rPr>
              <a:t>CommWarrior</a:t>
            </a:r>
            <a:r>
              <a:rPr lang="en-US" sz="1100" dirty="0">
                <a:latin typeface="Arial" charset="0"/>
                <a:ea typeface="ＭＳ Ｐゴシック" pitchFamily="-65" charset="-128"/>
              </a:rPr>
              <a:t> worm replicates by means of Bluetooth to other phones</a:t>
            </a:r>
          </a:p>
          <a:p>
            <a:r>
              <a:rPr lang="en-US" sz="1100" dirty="0">
                <a:latin typeface="Arial" charset="0"/>
                <a:ea typeface="ＭＳ Ｐゴシック" pitchFamily="-65" charset="-128"/>
              </a:rPr>
              <a:t>in the receiving area. It also sends itself as an MMS file to numbers in the phone’s</a:t>
            </a:r>
          </a:p>
          <a:p>
            <a:r>
              <a:rPr lang="en-US" sz="1100" dirty="0">
                <a:latin typeface="Arial" charset="0"/>
                <a:ea typeface="ＭＳ Ｐゴシック" pitchFamily="-65" charset="-128"/>
              </a:rPr>
              <a:t>address book and in automatic replies to incoming text messages and MMS messages.</a:t>
            </a:r>
          </a:p>
          <a:p>
            <a:r>
              <a:rPr lang="en-US" sz="1100" dirty="0">
                <a:latin typeface="Arial" charset="0"/>
                <a:ea typeface="ＭＳ Ｐゴシック" pitchFamily="-65" charset="-128"/>
              </a:rPr>
              <a:t>In addition, it copies itself to the removable memory card and inserts itself</a:t>
            </a:r>
          </a:p>
          <a:p>
            <a:r>
              <a:rPr lang="en-US" sz="1100" dirty="0">
                <a:latin typeface="Arial" charset="0"/>
                <a:ea typeface="ＭＳ Ｐゴシック" pitchFamily="-65" charset="-128"/>
              </a:rPr>
              <a:t>into the program installation files on the phone.</a:t>
            </a:r>
          </a:p>
          <a:p>
            <a:endParaRPr lang="en-US" sz="1100" dirty="0">
              <a:latin typeface="Arial" charset="0"/>
              <a:ea typeface="ＭＳ Ｐゴシック" pitchFamily="-65"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Although these examples demonstrate that mobile phone worms are possible,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 vast majority of mobile phone malware observed use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trojan</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apps to install themselves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[SYMA16].</a:t>
            </a:r>
            <a:endParaRPr lang="en-US" sz="1100" dirty="0">
              <a:latin typeface="Arial" charset="0"/>
              <a:ea typeface="ＭＳ Ｐゴシック" pitchFamily="-65" charset="-128"/>
            </a:endParaRPr>
          </a:p>
        </p:txBody>
      </p:sp>
      <p:sp>
        <p:nvSpPr>
          <p:cNvPr id="59396" name="Slide Number Placeholder 3"/>
          <p:cNvSpPr>
            <a:spLocks noGrp="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840E144-5D5B-4E51-A4C8-12FF29CB1015}" type="slidenum">
              <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Tree>
    <p:extLst>
      <p:ext uri="{BB962C8B-B14F-4D97-AF65-F5344CB8AC3E}">
        <p14:creationId xmlns:p14="http://schemas.microsoft.com/office/powerpoint/2010/main" val="23277333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Another approach to exploiting software vulnerabilities involves the exploit of bugs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in user applications to install malware. A common technique exploits browser vulnerabilities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so that when the user views a Web page controlled by the attacker, it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contains code that exploits the browser bug to download and install malware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on the system without the user’s knowledge or consent. This is known as a </a:t>
            </a:r>
            <a:r>
              <a:rPr lang="en-US" sz="1200" b="1" i="0" u="none" strike="noStrike" kern="1200" baseline="0" dirty="0">
                <a:solidFill>
                  <a:schemeClr val="tx1"/>
                </a:solidFill>
                <a:latin typeface="Arial" pitchFamily="-110" charset="0"/>
                <a:ea typeface="ＭＳ Ｐゴシック" pitchFamily="-110" charset="-128"/>
                <a:cs typeface="ＭＳ Ｐゴシック" pitchFamily="-110" charset="-128"/>
              </a:rPr>
              <a:t>drive-by-download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and is a common exploit in recent attack kits. </a:t>
            </a:r>
            <a:r>
              <a:rPr lang="en-US" sz="1200" kern="1200" dirty="0">
                <a:solidFill>
                  <a:schemeClr val="tx1"/>
                </a:solidFill>
                <a:effectLst/>
                <a:latin typeface="Arial" pitchFamily="-110" charset="0"/>
                <a:ea typeface="ＭＳ Ｐゴシック" pitchFamily="-110" charset="-128"/>
                <a:cs typeface="ＭＳ Ｐゴシック" pitchFamily="-110" charset="-128"/>
              </a:rPr>
              <a:t>Multiple vulnerabilities in the Adobe Flash</a:t>
            </a:r>
          </a:p>
          <a:p>
            <a:r>
              <a:rPr lang="en-US" sz="1200" kern="1200" dirty="0">
                <a:solidFill>
                  <a:schemeClr val="tx1"/>
                </a:solidFill>
                <a:effectLst/>
                <a:latin typeface="Arial" pitchFamily="-110" charset="0"/>
                <a:ea typeface="ＭＳ Ｐゴシック" pitchFamily="-110" charset="-128"/>
                <a:cs typeface="ＭＳ Ｐゴシック" pitchFamily="-110" charset="-128"/>
              </a:rPr>
              <a:t>Player and Oracle Java plugins have been exploited by attackers over many years, to</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point where many browsers are now removing support for them. In most cases, this</a:t>
            </a:r>
          </a:p>
          <a:p>
            <a:r>
              <a:rPr lang="en-US" sz="1200" kern="1200" dirty="0">
                <a:solidFill>
                  <a:schemeClr val="tx1"/>
                </a:solidFill>
                <a:effectLst/>
                <a:latin typeface="Arial" pitchFamily="-110" charset="0"/>
                <a:ea typeface="ＭＳ Ｐゴシック" pitchFamily="-110" charset="-128"/>
                <a:cs typeface="ＭＳ Ｐゴシック" pitchFamily="-110" charset="-128"/>
              </a:rPr>
              <a:t>malware does not actively propagate as a worm does, but rather waits for unsuspecting</a:t>
            </a:r>
          </a:p>
          <a:p>
            <a:r>
              <a:rPr lang="en-US" sz="1200" kern="1200" dirty="0">
                <a:solidFill>
                  <a:schemeClr val="tx1"/>
                </a:solidFill>
                <a:effectLst/>
                <a:latin typeface="Arial" pitchFamily="-110" charset="0"/>
                <a:ea typeface="ＭＳ Ｐゴシック" pitchFamily="-110" charset="-128"/>
                <a:cs typeface="ＭＳ Ｐゴシック" pitchFamily="-110" charset="-128"/>
              </a:rPr>
              <a:t>users to visit the malicious webpage in order to spread to their systems [SYMA16].</a:t>
            </a:r>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p:txBody>
      </p:sp>
      <p:sp>
        <p:nvSpPr>
          <p:cNvPr id="61444" name="Slide Number Placeholder 3"/>
          <p:cNvSpPr>
            <a:spLocks noGrp="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A1CD6A7-873F-4FC7-AA31-DFA155F764A4}" type="slidenum">
              <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Tree>
    <p:extLst>
      <p:ext uri="{BB962C8B-B14F-4D97-AF65-F5344CB8AC3E}">
        <p14:creationId xmlns:p14="http://schemas.microsoft.com/office/powerpoint/2010/main" val="18357984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In general, drive-by-download attacks are aimed at anyone who visits a compromised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site and is vulnerable to the exploits used. </a:t>
            </a:r>
            <a:r>
              <a:rPr lang="en-US" sz="1200" b="1" i="0" u="none" strike="noStrike" kern="1200" baseline="0" dirty="0">
                <a:solidFill>
                  <a:schemeClr val="tx1"/>
                </a:solidFill>
                <a:latin typeface="Arial" pitchFamily="-110" charset="0"/>
                <a:ea typeface="ＭＳ Ｐゴシック" pitchFamily="-110" charset="-128"/>
                <a:cs typeface="ＭＳ Ｐゴシック" pitchFamily="-110" charset="-128"/>
              </a:rPr>
              <a:t>Watering-hole attacks </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are a</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variant of this used in highly targeted attacks. The attacker researches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their intended victims to identify web sites they are likely to visit, and then scans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these sites to identify those with vulnerabilities that allow their compromise with</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 drive-by-download attack. They then wait for one of their intended victims to</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visit one of the compromised sites. Their attack code may even be written so that it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will only infect systems belonging to the target organization, and take no action for</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other visitors to the site. This greatly increases the likelihood of the site compromise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remaining undetected.</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p:txBody>
      </p:sp>
      <p:sp>
        <p:nvSpPr>
          <p:cNvPr id="61444" name="Slide Number Placeholder 3"/>
          <p:cNvSpPr>
            <a:spLocks noGrp="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A1CD6A7-873F-4FC7-AA31-DFA155F764A4}" type="slidenum">
              <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Tree>
    <p:extLst>
      <p:ext uri="{BB962C8B-B14F-4D97-AF65-F5344CB8AC3E}">
        <p14:creationId xmlns:p14="http://schemas.microsoft.com/office/powerpoint/2010/main" val="3085734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Malvertising</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is another technique used to place malware on websites without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actually compromising them. The attacker pays for advertisements that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are highly likely to be placed on their intended target websites, and which incorporate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malware in them. Using these malicious adds, attackers can infect visitors to</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sites displaying them. Again, the malware code may be dynamically generated to</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either reduce the chance of detection, or to only infect specific systems.</a:t>
            </a:r>
          </a:p>
          <a:p>
            <a:r>
              <a:rPr lang="en-US" sz="1200" kern="1200" dirty="0">
                <a:solidFill>
                  <a:schemeClr val="tx1"/>
                </a:solidFill>
                <a:effectLst/>
                <a:latin typeface="Arial" pitchFamily="-110" charset="0"/>
                <a:ea typeface="ＭＳ Ｐゴシック" pitchFamily="-110" charset="-128"/>
                <a:cs typeface="ＭＳ Ｐゴシック" pitchFamily="-110" charset="-128"/>
              </a:rPr>
              <a:t> </a:t>
            </a:r>
            <a:r>
              <a:rPr lang="en-US" sz="1200" kern="1200" dirty="0" err="1">
                <a:solidFill>
                  <a:schemeClr val="tx1"/>
                </a:solidFill>
                <a:effectLst/>
                <a:latin typeface="Arial" pitchFamily="-110" charset="0"/>
                <a:ea typeface="ＭＳ Ｐゴシック" pitchFamily="-110" charset="-128"/>
                <a:cs typeface="ＭＳ Ｐゴシック" pitchFamily="-110" charset="-128"/>
              </a:rPr>
              <a:t>Malvertising</a:t>
            </a:r>
            <a:r>
              <a:rPr lang="en-US" sz="1200" kern="1200" dirty="0">
                <a:solidFill>
                  <a:schemeClr val="tx1"/>
                </a:solidFill>
                <a:effectLst/>
                <a:latin typeface="Arial" pitchFamily="-110" charset="0"/>
                <a:ea typeface="ＭＳ Ｐゴシック" pitchFamily="-110" charset="-128"/>
                <a:cs typeface="ＭＳ Ｐゴシック" pitchFamily="-110" charset="-128"/>
              </a:rPr>
              <a:t> has grown rapidly</a:t>
            </a:r>
            <a:r>
              <a:rPr lang="en-US" sz="1200" kern="1200" baseline="0" dirty="0">
                <a:solidFill>
                  <a:schemeClr val="tx1"/>
                </a:solidFill>
                <a:effectLst/>
                <a:latin typeface="Arial" pitchFamily="-110" charset="0"/>
                <a:ea typeface="ＭＳ Ｐゴシック" pitchFamily="-110" charset="-128"/>
                <a:cs typeface="ＭＳ Ｐゴシック" pitchFamily="-110" charset="-128"/>
              </a:rPr>
              <a:t> </a:t>
            </a:r>
            <a:r>
              <a:rPr lang="en-US" sz="1200" kern="1200" dirty="0">
                <a:solidFill>
                  <a:schemeClr val="tx1"/>
                </a:solidFill>
                <a:effectLst/>
                <a:latin typeface="Arial" pitchFamily="-110" charset="0"/>
                <a:ea typeface="ＭＳ Ｐゴシック" pitchFamily="-110" charset="-128"/>
                <a:cs typeface="ＭＳ Ｐゴシック" pitchFamily="-110" charset="-128"/>
              </a:rPr>
              <a:t>in recent years, as they are easy to place on desired websites with few questions asked,</a:t>
            </a:r>
          </a:p>
          <a:p>
            <a:r>
              <a:rPr lang="en-US" sz="1200" kern="1200" dirty="0">
                <a:solidFill>
                  <a:schemeClr val="tx1"/>
                </a:solidFill>
                <a:effectLst/>
                <a:latin typeface="Arial" pitchFamily="-110" charset="0"/>
                <a:ea typeface="ＭＳ Ｐゴシック" pitchFamily="-110" charset="-128"/>
                <a:cs typeface="ＭＳ Ｐゴシック" pitchFamily="-110" charset="-128"/>
              </a:rPr>
              <a:t> and are hard to track. Attackers have placed these ads for as little as a few hours,</a:t>
            </a:r>
          </a:p>
          <a:p>
            <a:r>
              <a:rPr lang="en-US" sz="1200" kern="1200" dirty="0">
                <a:solidFill>
                  <a:schemeClr val="tx1"/>
                </a:solidFill>
                <a:effectLst/>
                <a:latin typeface="Arial" pitchFamily="-110" charset="0"/>
                <a:ea typeface="ＭＳ Ｐゴシック" pitchFamily="-110" charset="-128"/>
                <a:cs typeface="ＭＳ Ｐゴシック" pitchFamily="-110" charset="-128"/>
              </a:rPr>
              <a:t>when they expect their intended victims could be browsing the targeted websites,</a:t>
            </a:r>
          </a:p>
          <a:p>
            <a:r>
              <a:rPr lang="en-US" sz="1200" kern="1200" dirty="0">
                <a:solidFill>
                  <a:schemeClr val="tx1"/>
                </a:solidFill>
                <a:effectLst/>
                <a:latin typeface="Arial" pitchFamily="-110" charset="0"/>
                <a:ea typeface="ＭＳ Ｐゴシック" pitchFamily="-110" charset="-128"/>
                <a:cs typeface="ＭＳ Ｐゴシック" pitchFamily="-110" charset="-128"/>
              </a:rPr>
              <a:t>greatly reducing their visibility [SYMA16].</a:t>
            </a:r>
          </a:p>
          <a:p>
            <a:endParaRPr lang="en-US" dirty="0"/>
          </a:p>
          <a:p>
            <a:r>
              <a:rPr lang="en-US" sz="1200" kern="1200" dirty="0">
                <a:solidFill>
                  <a:schemeClr val="tx1"/>
                </a:solidFill>
                <a:effectLst/>
                <a:latin typeface="Arial" pitchFamily="-110" charset="0"/>
                <a:ea typeface="ＭＳ Ｐゴシック" pitchFamily="-110" charset="-128"/>
                <a:cs typeface="ＭＳ Ｐゴシック" pitchFamily="-110" charset="-128"/>
              </a:rPr>
              <a:t> Other malware may target common PDF viewers to also download and install</a:t>
            </a:r>
          </a:p>
          <a:p>
            <a:r>
              <a:rPr lang="en-US" sz="1200" kern="1200" dirty="0">
                <a:solidFill>
                  <a:schemeClr val="tx1"/>
                </a:solidFill>
                <a:effectLst/>
                <a:latin typeface="Arial" pitchFamily="-110" charset="0"/>
                <a:ea typeface="ＭＳ Ｐゴシック" pitchFamily="-110" charset="-128"/>
                <a:cs typeface="ＭＳ Ｐゴシック" pitchFamily="-110" charset="-128"/>
              </a:rPr>
              <a:t>malware without the user’s consent when they view a malicious PDF document</a:t>
            </a:r>
          </a:p>
          <a:p>
            <a:r>
              <a:rPr lang="en-US" sz="1200" kern="1200" dirty="0">
                <a:solidFill>
                  <a:schemeClr val="tx1"/>
                </a:solidFill>
                <a:effectLst/>
                <a:latin typeface="Arial" pitchFamily="-110" charset="0"/>
                <a:ea typeface="ＭＳ Ｐゴシック" pitchFamily="-110" charset="-128"/>
                <a:cs typeface="ＭＳ Ｐゴシック" pitchFamily="-110" charset="-128"/>
              </a:rPr>
              <a:t>[STEV11]. Such documents may be spread by spam e-mail, or be part of a targeted</a:t>
            </a:r>
          </a:p>
          <a:p>
            <a:r>
              <a:rPr lang="en-US" sz="1200" kern="1200" dirty="0">
                <a:solidFill>
                  <a:schemeClr val="tx1"/>
                </a:solidFill>
                <a:effectLst/>
                <a:latin typeface="Arial" pitchFamily="-110" charset="0"/>
                <a:ea typeface="ＭＳ Ｐゴシック" pitchFamily="-110" charset="-128"/>
                <a:cs typeface="ＭＳ Ｐゴシック" pitchFamily="-110" charset="-128"/>
              </a:rPr>
              <a:t>phishing attack, as we will discuss in the next section.</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EF01EA8-8A05-4B44-9488-279E78AAD254}" type="slidenum">
              <a:rPr kumimoji="0" lang="en-AU" sz="1200" b="0" i="0" u="none" strike="noStrike" kern="1200" cap="none" spc="0" normalizeH="0" baseline="0" noProof="0" smtClean="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Tree>
    <p:extLst>
      <p:ext uri="{BB962C8B-B14F-4D97-AF65-F5344CB8AC3E}">
        <p14:creationId xmlns:p14="http://schemas.microsoft.com/office/powerpoint/2010/main" val="25976243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Clickjacking</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also known as a </a:t>
            </a:r>
            <a:r>
              <a:rPr lang="en-US" sz="1200" b="0" i="1" u="none" strike="noStrike" kern="1200" baseline="0" dirty="0">
                <a:solidFill>
                  <a:schemeClr val="tx1"/>
                </a:solidFill>
                <a:latin typeface="Arial" pitchFamily="-110" charset="0"/>
                <a:ea typeface="ＭＳ Ｐゴシック" pitchFamily="-110" charset="-128"/>
                <a:cs typeface="ＭＳ Ｐゴシック" pitchFamily="-110" charset="-128"/>
              </a:rPr>
              <a:t>user-interface  (UI) redress attack </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is a vulnerability</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used by an attacker to collect an infected user’s clicks. The attacker can force the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user to do a variety of things from adjusting the user’s computer settings to unwittingly</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sending the user to Web sites that might have malicious code. Also, by taking</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advantage of Adobe Flash or JavaScript, an attacker could even place a button</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under or over a legitimate button, making it difficult for users to detect. A typical</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attack uses multiple transparent or opaque layers to trick a user into clicking on a</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button or link on another page when they were intending to click on the top level</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page. Thus, the attacker is hijacking clicks meant for one page and routing them to</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another page, most likely owned by another application, domain, or both.</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Using a similar technique, keystrokes can also be hijacked. With a carefully</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crafted combination of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stylesheets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iframes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and text boxes, a user can be led to</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believe they are typing in the password to their email or bank account, but are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instead typing into an invisible frame controlled by the attacker.</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There is a wide variety of techniques for accomplishing a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clickjacking</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attack,</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and new techniques are developed as defenses to older techniques are put in place.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[NIEM11] and [STON10] are useful discussions.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EF01EA8-8A05-4B44-9488-279E78AAD254}" type="slidenum">
              <a:rPr kumimoji="0" lang="en-AU" sz="1200" b="0" i="0" u="none" strike="noStrike" kern="1200" cap="none" spc="0" normalizeH="0" baseline="0" noProof="0" smtClean="0">
                <a:ln>
                  <a:noFill/>
                </a:ln>
                <a:solidFill>
                  <a:srgbClr val="000000"/>
                </a:solidFill>
                <a:effectLst/>
                <a:uLnTx/>
                <a:uFillTx/>
                <a:latin typeface="Arial" charset="0"/>
                <a:ea typeface="ＭＳ Ｐゴシック" pitchFamily="-65"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AU" sz="1200" b="0" i="0" u="none" strike="noStrike" kern="1200" cap="none" spc="0" normalizeH="0" baseline="0" noProof="0">
              <a:ln>
                <a:noFill/>
              </a:ln>
              <a:solidFill>
                <a:srgbClr val="000000"/>
              </a:solidFill>
              <a:effectLst/>
              <a:uLnTx/>
              <a:uFillTx/>
              <a:latin typeface="Arial" charset="0"/>
              <a:ea typeface="ＭＳ Ｐゴシック" pitchFamily="-65" charset="-128"/>
              <a:cs typeface="+mn-cs"/>
            </a:endParaRPr>
          </a:p>
        </p:txBody>
      </p:sp>
    </p:spTree>
    <p:extLst>
      <p:ext uri="{BB962C8B-B14F-4D97-AF65-F5344CB8AC3E}">
        <p14:creationId xmlns:p14="http://schemas.microsoft.com/office/powerpoint/2010/main" val="34040488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25000" lnSpcReduction="20000"/>
          </a:bodyPr>
          <a:lstStyle/>
          <a:p>
            <a:pPr>
              <a:lnSpc>
                <a:spcPct val="90000"/>
              </a:lnSpc>
            </a:pPr>
            <a:r>
              <a:rPr lang="en-US" dirty="0">
                <a:latin typeface="Arial" charset="0"/>
                <a:ea typeface="ＭＳ Ｐゴシック" pitchFamily="-65" charset="-128"/>
              </a:rPr>
              <a:t>The final category of malware propagation we consider involves social engineering,</a:t>
            </a:r>
          </a:p>
          <a:p>
            <a:pPr>
              <a:lnSpc>
                <a:spcPct val="90000"/>
              </a:lnSpc>
            </a:pPr>
            <a:r>
              <a:rPr lang="en-US" dirty="0">
                <a:latin typeface="Arial" charset="0"/>
                <a:ea typeface="ＭＳ Ｐゴシック" pitchFamily="-65" charset="-128"/>
              </a:rPr>
              <a:t>“tricking” users to assist in the compromise of their own systems or personal</a:t>
            </a:r>
          </a:p>
          <a:p>
            <a:pPr>
              <a:lnSpc>
                <a:spcPct val="90000"/>
              </a:lnSpc>
            </a:pPr>
            <a:r>
              <a:rPr lang="en-US" dirty="0">
                <a:latin typeface="Arial" charset="0"/>
                <a:ea typeface="ＭＳ Ｐゴシック" pitchFamily="-65" charset="-128"/>
              </a:rPr>
              <a:t>information. This can occur when a user views and responds to some SPAM</a:t>
            </a:r>
          </a:p>
          <a:p>
            <a:pPr>
              <a:lnSpc>
                <a:spcPct val="90000"/>
              </a:lnSpc>
            </a:pPr>
            <a:r>
              <a:rPr lang="en-US" dirty="0">
                <a:latin typeface="Arial" charset="0"/>
                <a:ea typeface="ＭＳ Ｐゴシック" pitchFamily="-65" charset="-128"/>
              </a:rPr>
              <a:t>e-mail, or permits the installation and execution of some Trojan horse program or</a:t>
            </a:r>
          </a:p>
          <a:p>
            <a:pPr>
              <a:lnSpc>
                <a:spcPct val="90000"/>
              </a:lnSpc>
            </a:pPr>
            <a:r>
              <a:rPr lang="en-US" dirty="0">
                <a:latin typeface="Arial" charset="0"/>
                <a:ea typeface="ＭＳ Ｐゴシック" pitchFamily="-65" charset="-128"/>
              </a:rPr>
              <a:t>scripting code.</a:t>
            </a:r>
          </a:p>
          <a:p>
            <a:pPr>
              <a:lnSpc>
                <a:spcPct val="90000"/>
              </a:lnSpc>
            </a:pPr>
            <a:endParaRPr lang="en-US" b="1" dirty="0">
              <a:latin typeface="Arial" charset="0"/>
              <a:ea typeface="ＭＳ Ｐゴシック" pitchFamily="-65" charset="-128"/>
            </a:endParaRPr>
          </a:p>
          <a:p>
            <a:pPr>
              <a:lnSpc>
                <a:spcPct val="90000"/>
              </a:lnSpc>
            </a:pPr>
            <a:r>
              <a:rPr lang="en-US" b="1" dirty="0">
                <a:latin typeface="Arial" charset="0"/>
                <a:ea typeface="ＭＳ Ｐゴシック" pitchFamily="-65" charset="-128"/>
              </a:rPr>
              <a:t>Spam (Unsolicited Bulk) E-Mail</a:t>
            </a:r>
          </a:p>
          <a:p>
            <a:pPr>
              <a:lnSpc>
                <a:spcPct val="90000"/>
              </a:lnSpc>
            </a:pPr>
            <a:endParaRPr lang="en-US" dirty="0">
              <a:latin typeface="Arial" charset="0"/>
              <a:ea typeface="ＭＳ Ｐゴシック" pitchFamily="-65"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With the explosive growth of the Internet over the last few decades, the widespread</a:t>
            </a:r>
          </a:p>
          <a:p>
            <a:r>
              <a:rPr lang="en-US" sz="1200" kern="1200" dirty="0">
                <a:solidFill>
                  <a:schemeClr val="tx1"/>
                </a:solidFill>
                <a:effectLst/>
                <a:latin typeface="Arial" pitchFamily="-110" charset="0"/>
                <a:ea typeface="ＭＳ Ｐゴシック" pitchFamily="-110" charset="-128"/>
                <a:cs typeface="ＭＳ Ｐゴシック" pitchFamily="-110" charset="-128"/>
              </a:rPr>
              <a:t>use of e-mail, and the extremely low cost required to send large volumes of e-mail, has</a:t>
            </a:r>
          </a:p>
          <a:p>
            <a:r>
              <a:rPr lang="en-US" sz="1200" kern="1200" dirty="0">
                <a:solidFill>
                  <a:schemeClr val="tx1"/>
                </a:solidFill>
                <a:effectLst/>
                <a:latin typeface="Arial" pitchFamily="-110" charset="0"/>
                <a:ea typeface="ＭＳ Ｐゴシック" pitchFamily="-110" charset="-128"/>
                <a:cs typeface="ＭＳ Ｐゴシック" pitchFamily="-110" charset="-128"/>
              </a:rPr>
              <a:t>come the rise of unsolicited bulk e-mail, commonly known as spam. [SYMA16] notes</a:t>
            </a:r>
          </a:p>
          <a:p>
            <a:r>
              <a:rPr lang="en-US" sz="1200" kern="1200" dirty="0">
                <a:solidFill>
                  <a:schemeClr val="tx1"/>
                </a:solidFill>
                <a:effectLst/>
                <a:latin typeface="Arial" pitchFamily="-110" charset="0"/>
                <a:ea typeface="ＭＳ Ｐゴシック" pitchFamily="-110" charset="-128"/>
                <a:cs typeface="ＭＳ Ｐゴシック" pitchFamily="-110" charset="-128"/>
              </a:rPr>
              <a:t>that more than half of inbound business e-mail traffic is still spam, despite a gradual</a:t>
            </a:r>
          </a:p>
          <a:p>
            <a:r>
              <a:rPr lang="en-US" sz="1200" kern="1200" dirty="0">
                <a:solidFill>
                  <a:schemeClr val="tx1"/>
                </a:solidFill>
                <a:effectLst/>
                <a:latin typeface="Arial" pitchFamily="-110" charset="0"/>
                <a:ea typeface="ＭＳ Ｐゴシック" pitchFamily="-110" charset="-128"/>
                <a:cs typeface="ＭＳ Ｐゴシック" pitchFamily="-110" charset="-128"/>
              </a:rPr>
              <a:t>decline in recent years. This imposes significant costs on both the network infrastructure</a:t>
            </a:r>
          </a:p>
          <a:p>
            <a:r>
              <a:rPr lang="en-US" sz="1200" kern="1200" dirty="0">
                <a:solidFill>
                  <a:schemeClr val="tx1"/>
                </a:solidFill>
                <a:effectLst/>
                <a:latin typeface="Arial" pitchFamily="-110" charset="0"/>
                <a:ea typeface="ＭＳ Ｐゴシック" pitchFamily="-110" charset="-128"/>
                <a:cs typeface="ＭＳ Ｐゴシック" pitchFamily="-110" charset="-128"/>
              </a:rPr>
              <a:t>needed to relay this traffic, and on users who need to filter their legitimate e-mails</a:t>
            </a:r>
          </a:p>
          <a:p>
            <a:r>
              <a:rPr lang="en-US" sz="1200" kern="1200" dirty="0">
                <a:solidFill>
                  <a:schemeClr val="tx1"/>
                </a:solidFill>
                <a:effectLst/>
                <a:latin typeface="Arial" pitchFamily="-110" charset="0"/>
                <a:ea typeface="ＭＳ Ｐゴシック" pitchFamily="-110" charset="-128"/>
                <a:cs typeface="ＭＳ Ｐゴシック" pitchFamily="-110" charset="-128"/>
              </a:rPr>
              <a:t>out of this flood. In response to this explosive growth, there has been the equally rapid</a:t>
            </a:r>
          </a:p>
          <a:p>
            <a:r>
              <a:rPr lang="en-US" sz="1200" kern="1200" dirty="0">
                <a:solidFill>
                  <a:schemeClr val="tx1"/>
                </a:solidFill>
                <a:effectLst/>
                <a:latin typeface="Arial" pitchFamily="-110" charset="0"/>
                <a:ea typeface="ＭＳ Ｐゴシック" pitchFamily="-110" charset="-128"/>
                <a:cs typeface="ＭＳ Ｐゴシック" pitchFamily="-110" charset="-128"/>
              </a:rPr>
              <a:t>growth of the anti-spam industry that provides products to detect and filter spam</a:t>
            </a:r>
          </a:p>
          <a:p>
            <a:r>
              <a:rPr lang="en-US" sz="1200" kern="1200" dirty="0">
                <a:solidFill>
                  <a:schemeClr val="tx1"/>
                </a:solidFill>
                <a:effectLst/>
                <a:latin typeface="Arial" pitchFamily="-110" charset="0"/>
                <a:ea typeface="ＭＳ Ｐゴシック" pitchFamily="-110" charset="-128"/>
                <a:cs typeface="ＭＳ Ｐゴシック" pitchFamily="-110" charset="-128"/>
              </a:rPr>
              <a:t>e-mails. This has led to an arms race between the spammers devising techniques to</a:t>
            </a:r>
          </a:p>
          <a:p>
            <a:r>
              <a:rPr lang="en-US" sz="1200" kern="1200" dirty="0">
                <a:solidFill>
                  <a:schemeClr val="tx1"/>
                </a:solidFill>
                <a:effectLst/>
                <a:latin typeface="Arial" pitchFamily="-110" charset="0"/>
                <a:ea typeface="ＭＳ Ｐゴシック" pitchFamily="-110" charset="-128"/>
                <a:cs typeface="ＭＳ Ｐゴシック" pitchFamily="-110" charset="-128"/>
              </a:rPr>
              <a:t>sneak their content through, and with the defenders, efforts to block them [KREI09].</a:t>
            </a:r>
          </a:p>
          <a:p>
            <a:pPr>
              <a:lnSpc>
                <a:spcPct val="90000"/>
              </a:lnSpc>
            </a:pPr>
            <a:endParaRPr lang="en-US" dirty="0">
              <a:latin typeface="Arial" charset="0"/>
              <a:ea typeface="ＭＳ Ｐゴシック" pitchFamily="-65"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 However, the spam problem continues, as spammers exploit other means of</a:t>
            </a:r>
          </a:p>
          <a:p>
            <a:r>
              <a:rPr lang="en-US" sz="1200" kern="1200" dirty="0">
                <a:solidFill>
                  <a:schemeClr val="tx1"/>
                </a:solidFill>
                <a:effectLst/>
                <a:latin typeface="Arial" pitchFamily="-110" charset="0"/>
                <a:ea typeface="ＭＳ Ｐゴシック" pitchFamily="-110" charset="-128"/>
                <a:cs typeface="ＭＳ Ｐゴシック" pitchFamily="-110" charset="-128"/>
              </a:rPr>
              <a:t>reaching their victims. This includes the use of social media, reflecting the rapid growth</a:t>
            </a:r>
          </a:p>
          <a:p>
            <a:r>
              <a:rPr lang="en-US" sz="1200" kern="1200" dirty="0">
                <a:solidFill>
                  <a:schemeClr val="tx1"/>
                </a:solidFill>
                <a:effectLst/>
                <a:latin typeface="Arial" pitchFamily="-110" charset="0"/>
                <a:ea typeface="ＭＳ Ｐゴシック" pitchFamily="-110" charset="-128"/>
                <a:cs typeface="ＭＳ Ｐゴシック" pitchFamily="-110" charset="-128"/>
              </a:rPr>
              <a:t>in the use of these networks. For example, [SYMA16] described a successful </a:t>
            </a:r>
            <a:r>
              <a:rPr lang="en-US" sz="1200" kern="1200" dirty="0" err="1">
                <a:solidFill>
                  <a:schemeClr val="tx1"/>
                </a:solidFill>
                <a:effectLst/>
                <a:latin typeface="Arial" pitchFamily="-110" charset="0"/>
                <a:ea typeface="ＭＳ Ｐゴシック" pitchFamily="-110" charset="-128"/>
                <a:cs typeface="ＭＳ Ｐゴシック" pitchFamily="-110" charset="-128"/>
              </a:rPr>
              <a:t>weightloss</a:t>
            </a:r>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spam campaign that exploited hundreds of thousands of fake Twitter accounts,</a:t>
            </a:r>
          </a:p>
          <a:p>
            <a:r>
              <a:rPr lang="en-US" sz="1200" kern="1200" dirty="0">
                <a:solidFill>
                  <a:schemeClr val="tx1"/>
                </a:solidFill>
                <a:effectLst/>
                <a:latin typeface="Arial" pitchFamily="-110" charset="0"/>
                <a:ea typeface="ＭＳ Ｐゴシック" pitchFamily="-110" charset="-128"/>
                <a:cs typeface="ＭＳ Ｐゴシック" pitchFamily="-110" charset="-128"/>
              </a:rPr>
              <a:t>mutually supporting and reinforcing each other, to increase their credibility and likelihood</a:t>
            </a:r>
          </a:p>
          <a:p>
            <a:r>
              <a:rPr lang="en-US" sz="1200" kern="1200" dirty="0">
                <a:solidFill>
                  <a:schemeClr val="tx1"/>
                </a:solidFill>
                <a:effectLst/>
                <a:latin typeface="Arial" pitchFamily="-110" charset="0"/>
                <a:ea typeface="ＭＳ Ｐゴシック" pitchFamily="-110" charset="-128"/>
                <a:cs typeface="ＭＳ Ｐゴシック" pitchFamily="-110" charset="-128"/>
              </a:rPr>
              <a:t>of users following them, and then falling for the scam. Social network scams often</a:t>
            </a:r>
          </a:p>
          <a:p>
            <a:r>
              <a:rPr lang="en-US" sz="1200" kern="1200" dirty="0">
                <a:solidFill>
                  <a:schemeClr val="tx1"/>
                </a:solidFill>
                <a:effectLst/>
                <a:latin typeface="Arial" pitchFamily="-110" charset="0"/>
                <a:ea typeface="ＭＳ Ｐゴシック" pitchFamily="-110" charset="-128"/>
                <a:cs typeface="ＭＳ Ｐゴシック" pitchFamily="-110" charset="-128"/>
              </a:rPr>
              <a:t>rely on victims sharing the scam, or on fake offers with incentives, to assist their spread.</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 While some spam e-mail is sent from legitimate mail servers using stolen user</a:t>
            </a:r>
          </a:p>
          <a:p>
            <a:r>
              <a:rPr lang="en-US" sz="1200" kern="1200" dirty="0">
                <a:solidFill>
                  <a:schemeClr val="tx1"/>
                </a:solidFill>
                <a:effectLst/>
                <a:latin typeface="Arial" pitchFamily="-110" charset="0"/>
                <a:ea typeface="ＭＳ Ｐゴシック" pitchFamily="-110" charset="-128"/>
                <a:cs typeface="ＭＳ Ｐゴシック" pitchFamily="-110" charset="-128"/>
              </a:rPr>
              <a:t>credentials, most recent spam is sent by botnets using compromised user systems,</a:t>
            </a:r>
          </a:p>
          <a:p>
            <a:r>
              <a:rPr lang="en-US" sz="1200" kern="1200" dirty="0">
                <a:solidFill>
                  <a:schemeClr val="tx1"/>
                </a:solidFill>
                <a:effectLst/>
                <a:latin typeface="Arial" pitchFamily="-110" charset="0"/>
                <a:ea typeface="ＭＳ Ｐゴシック" pitchFamily="-110" charset="-128"/>
                <a:cs typeface="ＭＳ Ｐゴシック" pitchFamily="-110" charset="-128"/>
              </a:rPr>
              <a:t>as we will discuss in Section 6.6. A significant portion of spam e-mail content is just</a:t>
            </a:r>
          </a:p>
          <a:p>
            <a:r>
              <a:rPr lang="en-US" sz="1200" kern="1200" dirty="0">
                <a:solidFill>
                  <a:schemeClr val="tx1"/>
                </a:solidFill>
                <a:effectLst/>
                <a:latin typeface="Arial" pitchFamily="-110" charset="0"/>
                <a:ea typeface="ＭＳ Ｐゴシック" pitchFamily="-110" charset="-128"/>
                <a:cs typeface="ＭＳ Ｐゴシック" pitchFamily="-110" charset="-128"/>
              </a:rPr>
              <a:t>advertising, trying to convince the recipient to purchase some product online, such</a:t>
            </a:r>
          </a:p>
          <a:p>
            <a:r>
              <a:rPr lang="en-US" sz="1200" kern="1200" dirty="0">
                <a:solidFill>
                  <a:schemeClr val="tx1"/>
                </a:solidFill>
                <a:effectLst/>
                <a:latin typeface="Arial" pitchFamily="-110" charset="0"/>
                <a:ea typeface="ＭＳ Ｐゴシック" pitchFamily="-110" charset="-128"/>
                <a:cs typeface="ＭＳ Ｐゴシック" pitchFamily="-110" charset="-128"/>
              </a:rPr>
              <a:t>as pharmaceuticals, or used in scams, such as stock, romance or fake trader scams, or</a:t>
            </a:r>
          </a:p>
          <a:p>
            <a:r>
              <a:rPr lang="en-US" sz="1200" kern="1200" dirty="0">
                <a:solidFill>
                  <a:schemeClr val="tx1"/>
                </a:solidFill>
                <a:effectLst/>
                <a:latin typeface="Arial" pitchFamily="-110" charset="0"/>
                <a:ea typeface="ＭＳ Ｐゴシック" pitchFamily="-110" charset="-128"/>
                <a:cs typeface="ＭＳ Ｐゴシック" pitchFamily="-110" charset="-128"/>
              </a:rPr>
              <a:t>money mule job ads. But spam is also a significant carrier of malware. The e-mail may</a:t>
            </a:r>
          </a:p>
          <a:p>
            <a:r>
              <a:rPr lang="en-US" sz="1200" kern="1200" dirty="0">
                <a:solidFill>
                  <a:schemeClr val="tx1"/>
                </a:solidFill>
                <a:effectLst/>
                <a:latin typeface="Arial" pitchFamily="-110" charset="0"/>
                <a:ea typeface="ＭＳ Ｐゴシック" pitchFamily="-110" charset="-128"/>
                <a:cs typeface="ＭＳ Ｐゴシック" pitchFamily="-110" charset="-128"/>
              </a:rPr>
              <a:t>have an attached document, which, if opened, may exploit a software vulnerability</a:t>
            </a:r>
          </a:p>
          <a:p>
            <a:r>
              <a:rPr lang="en-US" sz="1200" kern="1200" dirty="0">
                <a:solidFill>
                  <a:schemeClr val="tx1"/>
                </a:solidFill>
                <a:effectLst/>
                <a:latin typeface="Arial" pitchFamily="-110" charset="0"/>
                <a:ea typeface="ＭＳ Ｐゴシック" pitchFamily="-110" charset="-128"/>
                <a:cs typeface="ＭＳ Ｐゴシック" pitchFamily="-110" charset="-128"/>
              </a:rPr>
              <a:t>to install malware on the user’s system, as we discussed in the previous section. Or, it</a:t>
            </a:r>
          </a:p>
          <a:p>
            <a:r>
              <a:rPr lang="en-US" sz="1200" kern="1200" dirty="0">
                <a:solidFill>
                  <a:schemeClr val="tx1"/>
                </a:solidFill>
                <a:effectLst/>
                <a:latin typeface="Arial" pitchFamily="-110" charset="0"/>
                <a:ea typeface="ＭＳ Ｐゴシック" pitchFamily="-110" charset="-128"/>
                <a:cs typeface="ＭＳ Ｐゴシック" pitchFamily="-110" charset="-128"/>
              </a:rPr>
              <a:t>may have an attached Trojan horse program or scripting code that, if run, also installs</a:t>
            </a:r>
          </a:p>
          <a:p>
            <a:r>
              <a:rPr lang="en-US" sz="1200" kern="1200" dirty="0">
                <a:solidFill>
                  <a:schemeClr val="tx1"/>
                </a:solidFill>
                <a:effectLst/>
                <a:latin typeface="Arial" pitchFamily="-110" charset="0"/>
                <a:ea typeface="ＭＳ Ｐゴシック" pitchFamily="-110" charset="-128"/>
                <a:cs typeface="ＭＳ Ｐゴシック" pitchFamily="-110" charset="-128"/>
              </a:rPr>
              <a:t>malware on the user’s system. Some Trojans avoid the need for user agreement by</a:t>
            </a:r>
          </a:p>
          <a:p>
            <a:r>
              <a:rPr lang="en-US" sz="1200" kern="1200" dirty="0">
                <a:solidFill>
                  <a:schemeClr val="tx1"/>
                </a:solidFill>
                <a:effectLst/>
                <a:latin typeface="Arial" pitchFamily="-110" charset="0"/>
                <a:ea typeface="ＭＳ Ｐゴシック" pitchFamily="-110" charset="-128"/>
                <a:cs typeface="ＭＳ Ｐゴシック" pitchFamily="-110" charset="-128"/>
              </a:rPr>
              <a:t>exploiting a software vulnerability in order to install themselves, as we will discuss</a:t>
            </a:r>
          </a:p>
          <a:p>
            <a:r>
              <a:rPr lang="en-US" sz="1200" kern="1200" dirty="0">
                <a:solidFill>
                  <a:schemeClr val="tx1"/>
                </a:solidFill>
                <a:effectLst/>
                <a:latin typeface="Arial" pitchFamily="-110" charset="0"/>
                <a:ea typeface="ＭＳ Ｐゴシック" pitchFamily="-110" charset="-128"/>
                <a:cs typeface="ＭＳ Ｐゴシック" pitchFamily="-110" charset="-128"/>
              </a:rPr>
              <a:t>next. Finally the spam may be used in a phishing attack, typically directing the user</a:t>
            </a:r>
          </a:p>
          <a:p>
            <a:r>
              <a:rPr lang="en-US" sz="1200" kern="1200" dirty="0">
                <a:solidFill>
                  <a:schemeClr val="tx1"/>
                </a:solidFill>
                <a:effectLst/>
                <a:latin typeface="Arial" pitchFamily="-110" charset="0"/>
                <a:ea typeface="ＭＳ Ｐゴシック" pitchFamily="-110" charset="-128"/>
                <a:cs typeface="ＭＳ Ｐゴシック" pitchFamily="-110" charset="-128"/>
              </a:rPr>
              <a:t>either to a fake website that mirrors some legitimate service, such as an online banking</a:t>
            </a:r>
          </a:p>
          <a:p>
            <a:r>
              <a:rPr lang="en-US" sz="1200" kern="1200" dirty="0">
                <a:solidFill>
                  <a:schemeClr val="tx1"/>
                </a:solidFill>
                <a:effectLst/>
                <a:latin typeface="Arial" pitchFamily="-110" charset="0"/>
                <a:ea typeface="ＭＳ Ｐゴシック" pitchFamily="-110" charset="-128"/>
                <a:cs typeface="ＭＳ Ｐゴシック" pitchFamily="-110" charset="-128"/>
              </a:rPr>
              <a:t>site, where it attempts to capture the user’s login and password details; or to complete</a:t>
            </a:r>
          </a:p>
          <a:p>
            <a:r>
              <a:rPr lang="en-US" sz="1200" kern="1200" dirty="0">
                <a:solidFill>
                  <a:schemeClr val="tx1"/>
                </a:solidFill>
                <a:effectLst/>
                <a:latin typeface="Arial" pitchFamily="-110" charset="0"/>
                <a:ea typeface="ＭＳ Ｐゴシック" pitchFamily="-110" charset="-128"/>
                <a:cs typeface="ＭＳ Ｐゴシック" pitchFamily="-110" charset="-128"/>
              </a:rPr>
              <a:t>some form with sufficient personal details to allow the attacker to impersonate</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user in an identity theft. In recent years, the evolving criminal marketplace makes</a:t>
            </a:r>
          </a:p>
          <a:p>
            <a:r>
              <a:rPr lang="en-US" sz="1200" kern="1200" dirty="0">
                <a:solidFill>
                  <a:schemeClr val="tx1"/>
                </a:solidFill>
                <a:effectLst/>
                <a:latin typeface="Arial" pitchFamily="-110" charset="0"/>
                <a:ea typeface="ＭＳ Ｐゴシック" pitchFamily="-110" charset="-128"/>
                <a:cs typeface="ＭＳ Ｐゴシック" pitchFamily="-110" charset="-128"/>
              </a:rPr>
              <a:t>phishing campaigns easier by selling packages to scammers that largely automate the</a:t>
            </a:r>
          </a:p>
          <a:p>
            <a:r>
              <a:rPr lang="en-US" sz="1200" kern="1200" dirty="0">
                <a:solidFill>
                  <a:schemeClr val="tx1"/>
                </a:solidFill>
                <a:effectLst/>
                <a:latin typeface="Arial" pitchFamily="-110" charset="0"/>
                <a:ea typeface="ＭＳ Ｐゴシック" pitchFamily="-110" charset="-128"/>
                <a:cs typeface="ＭＳ Ｐゴシック" pitchFamily="-110" charset="-128"/>
              </a:rPr>
              <a:t>process of running the scam [SYMA16]. All of these uses make spam e-mails a significant</a:t>
            </a:r>
          </a:p>
          <a:p>
            <a:r>
              <a:rPr lang="en-US" sz="1200" kern="1200" dirty="0">
                <a:solidFill>
                  <a:schemeClr val="tx1"/>
                </a:solidFill>
                <a:effectLst/>
                <a:latin typeface="Arial" pitchFamily="-110" charset="0"/>
                <a:ea typeface="ＭＳ Ｐゴシック" pitchFamily="-110" charset="-128"/>
                <a:cs typeface="ＭＳ Ｐゴシック" pitchFamily="-110" charset="-128"/>
              </a:rPr>
              <a:t>security concern. However, in many cases, it requires the user’s active choice</a:t>
            </a:r>
          </a:p>
          <a:p>
            <a:r>
              <a:rPr lang="en-US" sz="1200" kern="1200" dirty="0">
                <a:solidFill>
                  <a:schemeClr val="tx1"/>
                </a:solidFill>
                <a:effectLst/>
                <a:latin typeface="Arial" pitchFamily="-110" charset="0"/>
                <a:ea typeface="ＭＳ Ｐゴシック" pitchFamily="-110" charset="-128"/>
                <a:cs typeface="ＭＳ Ｐゴシック" pitchFamily="-110" charset="-128"/>
              </a:rPr>
              <a:t>to view the e-mail and any attached document, or to permit the installation of some</a:t>
            </a:r>
          </a:p>
          <a:p>
            <a:r>
              <a:rPr lang="en-US" sz="1200" kern="1200" dirty="0">
                <a:solidFill>
                  <a:schemeClr val="tx1"/>
                </a:solidFill>
                <a:effectLst/>
                <a:latin typeface="Arial" pitchFamily="-110" charset="0"/>
                <a:ea typeface="ＭＳ Ｐゴシック" pitchFamily="-110" charset="-128"/>
                <a:cs typeface="ＭＳ Ｐゴシック" pitchFamily="-110" charset="-128"/>
              </a:rPr>
              <a:t>program, in order for the compromise to occur. Hence the importance of providing</a:t>
            </a:r>
          </a:p>
          <a:p>
            <a:r>
              <a:rPr lang="en-US" sz="1200" kern="1200" dirty="0">
                <a:solidFill>
                  <a:schemeClr val="tx1"/>
                </a:solidFill>
                <a:effectLst/>
                <a:latin typeface="Arial" pitchFamily="-110" charset="0"/>
                <a:ea typeface="ＭＳ Ｐゴシック" pitchFamily="-110" charset="-128"/>
                <a:cs typeface="ＭＳ Ｐゴシック" pitchFamily="-110" charset="-128"/>
              </a:rPr>
              <a:t>appropriate security awareness training to users, so they are better able to recognize</a:t>
            </a:r>
          </a:p>
          <a:p>
            <a:r>
              <a:rPr lang="en-US" sz="1200" kern="1200" dirty="0">
                <a:solidFill>
                  <a:schemeClr val="tx1"/>
                </a:solidFill>
                <a:effectLst/>
                <a:latin typeface="Arial" pitchFamily="-110" charset="0"/>
                <a:ea typeface="ＭＳ Ｐゴシック" pitchFamily="-110" charset="-128"/>
                <a:cs typeface="ＭＳ Ｐゴシック" pitchFamily="-110" charset="-128"/>
              </a:rPr>
              <a:t>and respond appropriately to such e-mails, as we will discuss in Chapter 17.</a:t>
            </a:r>
          </a:p>
          <a:p>
            <a:pPr>
              <a:lnSpc>
                <a:spcPct val="90000"/>
              </a:lnSpc>
            </a:pPr>
            <a:endParaRPr lang="en-US" b="1" dirty="0">
              <a:latin typeface="Arial" charset="0"/>
              <a:ea typeface="ＭＳ Ｐゴシック" pitchFamily="-65" charset="-128"/>
            </a:endParaRPr>
          </a:p>
          <a:p>
            <a:pPr>
              <a:lnSpc>
                <a:spcPct val="90000"/>
              </a:lnSpc>
            </a:pPr>
            <a:r>
              <a:rPr lang="en-US" b="1" dirty="0">
                <a:latin typeface="Arial" charset="0"/>
                <a:ea typeface="ＭＳ Ｐゴシック" pitchFamily="-65" charset="-128"/>
              </a:rPr>
              <a:t>Trojan Horses</a:t>
            </a:r>
          </a:p>
          <a:p>
            <a:pPr>
              <a:lnSpc>
                <a:spcPct val="90000"/>
              </a:lnSpc>
            </a:pPr>
            <a:endParaRPr lang="en-US" dirty="0">
              <a:latin typeface="Arial" charset="0"/>
              <a:ea typeface="ＭＳ Ｐゴシック" pitchFamily="-65" charset="-128"/>
            </a:endParaRPr>
          </a:p>
          <a:p>
            <a:pPr>
              <a:lnSpc>
                <a:spcPct val="90000"/>
              </a:lnSpc>
            </a:pPr>
            <a:r>
              <a:rPr lang="en-US" dirty="0">
                <a:latin typeface="Arial" charset="0"/>
                <a:ea typeface="ＭＳ Ｐゴシック" pitchFamily="-65" charset="-128"/>
              </a:rPr>
              <a:t>A Trojan horse is a useful, or apparently useful, program or utility containing</a:t>
            </a:r>
          </a:p>
          <a:p>
            <a:pPr>
              <a:lnSpc>
                <a:spcPct val="90000"/>
              </a:lnSpc>
            </a:pPr>
            <a:r>
              <a:rPr lang="en-US" dirty="0">
                <a:latin typeface="Arial" charset="0"/>
                <a:ea typeface="ＭＳ Ｐゴシック" pitchFamily="-65" charset="-128"/>
              </a:rPr>
              <a:t>hidden code that, when invoked, performs some unwanted or harmful function.</a:t>
            </a:r>
          </a:p>
          <a:p>
            <a:pPr>
              <a:lnSpc>
                <a:spcPct val="90000"/>
              </a:lnSpc>
            </a:pPr>
            <a:endParaRPr lang="en-US" dirty="0">
              <a:latin typeface="Arial" charset="0"/>
              <a:ea typeface="ＭＳ Ｐゴシック" pitchFamily="-65" charset="-128"/>
            </a:endParaRPr>
          </a:p>
          <a:p>
            <a:pPr>
              <a:lnSpc>
                <a:spcPct val="90000"/>
              </a:lnSpc>
            </a:pPr>
            <a:r>
              <a:rPr lang="en-US" dirty="0">
                <a:latin typeface="Arial" charset="0"/>
                <a:ea typeface="ＭＳ Ｐゴシック" pitchFamily="-65" charset="-128"/>
              </a:rPr>
              <a:t>Trojan horse programs can be used to accomplish functions indirectly that</a:t>
            </a:r>
          </a:p>
          <a:p>
            <a:pPr>
              <a:lnSpc>
                <a:spcPct val="90000"/>
              </a:lnSpc>
            </a:pPr>
            <a:r>
              <a:rPr lang="en-US" dirty="0">
                <a:latin typeface="Arial" charset="0"/>
                <a:ea typeface="ＭＳ Ｐゴシック" pitchFamily="-65" charset="-128"/>
              </a:rPr>
              <a:t>the attacker could not accomplish directly. For example, to gain access to sensitive,</a:t>
            </a:r>
          </a:p>
          <a:p>
            <a:pPr>
              <a:lnSpc>
                <a:spcPct val="90000"/>
              </a:lnSpc>
            </a:pPr>
            <a:r>
              <a:rPr lang="en-US" dirty="0">
                <a:latin typeface="Arial" charset="0"/>
                <a:ea typeface="ＭＳ Ｐゴシック" pitchFamily="-65" charset="-128"/>
              </a:rPr>
              <a:t>personal information stored in the files of a user, an attacker could create a Trojan</a:t>
            </a:r>
          </a:p>
          <a:p>
            <a:pPr>
              <a:lnSpc>
                <a:spcPct val="90000"/>
              </a:lnSpc>
            </a:pPr>
            <a:r>
              <a:rPr lang="en-US" dirty="0">
                <a:latin typeface="Arial" charset="0"/>
                <a:ea typeface="ＭＳ Ｐゴシック" pitchFamily="-65" charset="-128"/>
              </a:rPr>
              <a:t>horse program that, when executed, scans the user’s files for the desired sensitive</a:t>
            </a:r>
          </a:p>
          <a:p>
            <a:pPr>
              <a:lnSpc>
                <a:spcPct val="90000"/>
              </a:lnSpc>
            </a:pPr>
            <a:r>
              <a:rPr lang="en-US" dirty="0">
                <a:latin typeface="Arial" charset="0"/>
                <a:ea typeface="ＭＳ Ｐゴシック" pitchFamily="-65" charset="-128"/>
              </a:rPr>
              <a:t>information and sends a copy of it to the attacker via a Web form or e-mail or text</a:t>
            </a:r>
          </a:p>
          <a:p>
            <a:pPr>
              <a:lnSpc>
                <a:spcPct val="90000"/>
              </a:lnSpc>
            </a:pPr>
            <a:r>
              <a:rPr lang="en-US" dirty="0">
                <a:latin typeface="Arial" charset="0"/>
                <a:ea typeface="ＭＳ Ｐゴシック" pitchFamily="-65" charset="-128"/>
              </a:rPr>
              <a:t>message. The author could then entice users to run the program by incorporating it</a:t>
            </a:r>
          </a:p>
          <a:p>
            <a:pPr>
              <a:lnSpc>
                <a:spcPct val="90000"/>
              </a:lnSpc>
            </a:pPr>
            <a:r>
              <a:rPr lang="en-US" dirty="0">
                <a:latin typeface="Arial" charset="0"/>
                <a:ea typeface="ＭＳ Ｐゴシック" pitchFamily="-65" charset="-128"/>
              </a:rPr>
              <a:t>into a game or useful utility program, and making it available via a known software</a:t>
            </a:r>
          </a:p>
          <a:p>
            <a:pPr>
              <a:lnSpc>
                <a:spcPct val="90000"/>
              </a:lnSpc>
            </a:pPr>
            <a:r>
              <a:rPr lang="en-US" dirty="0">
                <a:latin typeface="Arial" charset="0"/>
                <a:ea typeface="ＭＳ Ｐゴシック" pitchFamily="-65" charset="-128"/>
              </a:rPr>
              <a:t>distribution site or app store. This approach has been used recently with utilities</a:t>
            </a:r>
          </a:p>
          <a:p>
            <a:pPr>
              <a:lnSpc>
                <a:spcPct val="90000"/>
              </a:lnSpc>
            </a:pPr>
            <a:r>
              <a:rPr lang="en-US" dirty="0">
                <a:latin typeface="Arial" charset="0"/>
                <a:ea typeface="ＭＳ Ｐゴシック" pitchFamily="-65" charset="-128"/>
              </a:rPr>
              <a:t>that “claim” to be the latest anti-virus scanner, or security update, for systems, but</a:t>
            </a:r>
          </a:p>
          <a:p>
            <a:pPr>
              <a:lnSpc>
                <a:spcPct val="90000"/>
              </a:lnSpc>
            </a:pPr>
            <a:r>
              <a:rPr lang="en-US" dirty="0">
                <a:latin typeface="Arial" charset="0"/>
                <a:ea typeface="ＭＳ Ｐゴシック" pitchFamily="-65" charset="-128"/>
              </a:rPr>
              <a:t>which are actually malicious Trojans, often carrying payloads such as spyware that</a:t>
            </a:r>
          </a:p>
          <a:p>
            <a:pPr>
              <a:lnSpc>
                <a:spcPct val="90000"/>
              </a:lnSpc>
            </a:pPr>
            <a:r>
              <a:rPr lang="en-US" dirty="0">
                <a:latin typeface="Arial" charset="0"/>
                <a:ea typeface="ＭＳ Ｐゴシック" pitchFamily="-65" charset="-128"/>
              </a:rPr>
              <a:t>searches for banking credentials. Hence, users need to take precautions to validate</a:t>
            </a:r>
          </a:p>
          <a:p>
            <a:pPr>
              <a:lnSpc>
                <a:spcPct val="90000"/>
              </a:lnSpc>
            </a:pPr>
            <a:r>
              <a:rPr lang="en-US" dirty="0">
                <a:latin typeface="Arial" charset="0"/>
                <a:ea typeface="ＭＳ Ｐゴシック" pitchFamily="-65" charset="-128"/>
              </a:rPr>
              <a:t>the source of any software they install.</a:t>
            </a:r>
          </a:p>
          <a:p>
            <a:pPr>
              <a:lnSpc>
                <a:spcPct val="90000"/>
              </a:lnSpc>
            </a:pPr>
            <a:endParaRPr lang="en-US" dirty="0">
              <a:latin typeface="Arial" charset="0"/>
              <a:ea typeface="ＭＳ Ｐゴシック" pitchFamily="-65" charset="-128"/>
            </a:endParaRPr>
          </a:p>
          <a:p>
            <a:pPr>
              <a:lnSpc>
                <a:spcPct val="90000"/>
              </a:lnSpc>
            </a:pPr>
            <a:r>
              <a:rPr lang="en-US" dirty="0">
                <a:latin typeface="Arial" charset="0"/>
                <a:ea typeface="ＭＳ Ｐゴシック" pitchFamily="-65" charset="-128"/>
              </a:rPr>
              <a:t>Trojan horses fit into one of three models:</a:t>
            </a:r>
          </a:p>
          <a:p>
            <a:pPr>
              <a:lnSpc>
                <a:spcPct val="90000"/>
              </a:lnSpc>
            </a:pPr>
            <a:endParaRPr lang="en-US" dirty="0">
              <a:latin typeface="Arial" charset="0"/>
              <a:ea typeface="ＭＳ Ｐゴシック" pitchFamily="-65" charset="-128"/>
            </a:endParaRPr>
          </a:p>
          <a:p>
            <a:pPr>
              <a:lnSpc>
                <a:spcPct val="90000"/>
              </a:lnSpc>
            </a:pPr>
            <a:r>
              <a:rPr lang="en-US" dirty="0">
                <a:latin typeface="Arial" charset="0"/>
                <a:ea typeface="ＭＳ Ｐゴシック" pitchFamily="-65" charset="-128"/>
              </a:rPr>
              <a:t>• Continuing to perform the function of the original program and additionally</a:t>
            </a:r>
          </a:p>
          <a:p>
            <a:pPr>
              <a:lnSpc>
                <a:spcPct val="90000"/>
              </a:lnSpc>
            </a:pPr>
            <a:r>
              <a:rPr lang="en-US" dirty="0">
                <a:latin typeface="Arial" charset="0"/>
                <a:ea typeface="ＭＳ Ｐゴシック" pitchFamily="-65" charset="-128"/>
              </a:rPr>
              <a:t>performing a separate malicious activity</a:t>
            </a:r>
          </a:p>
          <a:p>
            <a:pPr>
              <a:lnSpc>
                <a:spcPct val="90000"/>
              </a:lnSpc>
            </a:pPr>
            <a:endParaRPr lang="en-US" dirty="0">
              <a:latin typeface="Arial" charset="0"/>
              <a:ea typeface="ＭＳ Ｐゴシック" pitchFamily="-65" charset="-128"/>
            </a:endParaRPr>
          </a:p>
          <a:p>
            <a:pPr>
              <a:lnSpc>
                <a:spcPct val="90000"/>
              </a:lnSpc>
            </a:pPr>
            <a:r>
              <a:rPr lang="en-US" dirty="0">
                <a:latin typeface="Arial" charset="0"/>
                <a:ea typeface="ＭＳ Ｐゴシック" pitchFamily="-65" charset="-128"/>
              </a:rPr>
              <a:t>• Continuing to perform the function of the original program but modifying the</a:t>
            </a:r>
          </a:p>
          <a:p>
            <a:pPr>
              <a:lnSpc>
                <a:spcPct val="90000"/>
              </a:lnSpc>
            </a:pPr>
            <a:r>
              <a:rPr lang="en-US" dirty="0">
                <a:latin typeface="Arial" charset="0"/>
                <a:ea typeface="ＭＳ Ｐゴシック" pitchFamily="-65" charset="-128"/>
              </a:rPr>
              <a:t>function to perform malicious activity (e.g., a Trojan horse version of a login</a:t>
            </a:r>
          </a:p>
          <a:p>
            <a:pPr>
              <a:lnSpc>
                <a:spcPct val="90000"/>
              </a:lnSpc>
            </a:pPr>
            <a:r>
              <a:rPr lang="en-US" dirty="0">
                <a:latin typeface="Arial" charset="0"/>
                <a:ea typeface="ＭＳ Ｐゴシック" pitchFamily="-65" charset="-128"/>
              </a:rPr>
              <a:t>program that collects passwords) or to disguise other malicious activity (e.g., a</a:t>
            </a:r>
          </a:p>
          <a:p>
            <a:pPr>
              <a:lnSpc>
                <a:spcPct val="90000"/>
              </a:lnSpc>
            </a:pPr>
            <a:r>
              <a:rPr lang="en-US" dirty="0">
                <a:latin typeface="Arial" charset="0"/>
                <a:ea typeface="ＭＳ Ｐゴシック" pitchFamily="-65" charset="-128"/>
              </a:rPr>
              <a:t>Trojan horse version of a process listing program that does not display certain</a:t>
            </a:r>
          </a:p>
          <a:p>
            <a:pPr>
              <a:lnSpc>
                <a:spcPct val="90000"/>
              </a:lnSpc>
            </a:pPr>
            <a:r>
              <a:rPr lang="en-US" dirty="0">
                <a:latin typeface="Arial" charset="0"/>
                <a:ea typeface="ＭＳ Ｐゴシック" pitchFamily="-65" charset="-128"/>
              </a:rPr>
              <a:t>processes that are malicious)</a:t>
            </a:r>
          </a:p>
          <a:p>
            <a:pPr>
              <a:lnSpc>
                <a:spcPct val="90000"/>
              </a:lnSpc>
            </a:pPr>
            <a:endParaRPr lang="en-US" dirty="0">
              <a:latin typeface="Arial" charset="0"/>
              <a:ea typeface="ＭＳ Ｐゴシック" pitchFamily="-65" charset="-128"/>
            </a:endParaRPr>
          </a:p>
          <a:p>
            <a:pPr>
              <a:lnSpc>
                <a:spcPct val="90000"/>
              </a:lnSpc>
            </a:pPr>
            <a:r>
              <a:rPr lang="en-US" dirty="0">
                <a:latin typeface="Arial" charset="0"/>
                <a:ea typeface="ＭＳ Ｐゴシック" pitchFamily="-65" charset="-128"/>
              </a:rPr>
              <a:t>• Performing a malicious function that completely replaces the function of the</a:t>
            </a:r>
          </a:p>
          <a:p>
            <a:pPr>
              <a:lnSpc>
                <a:spcPct val="90000"/>
              </a:lnSpc>
            </a:pPr>
            <a:r>
              <a:rPr lang="en-US" dirty="0">
                <a:latin typeface="Arial" charset="0"/>
                <a:ea typeface="ＭＳ Ｐゴシック" pitchFamily="-65" charset="-128"/>
              </a:rPr>
              <a:t>original program</a:t>
            </a:r>
          </a:p>
          <a:p>
            <a:pPr>
              <a:lnSpc>
                <a:spcPct val="90000"/>
              </a:lnSpc>
            </a:pPr>
            <a:endParaRPr lang="en-US" dirty="0">
              <a:latin typeface="Arial" charset="0"/>
              <a:ea typeface="ＭＳ Ｐゴシック" pitchFamily="-65"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Some Trojans avoid the requirement for user assistance by exploiting some software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vulnerability to enable their automatic installation and execution. In this they share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some features of a worm, but unlike it, they do not replicate. A prominent example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of such an attack was the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Hydraq</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Trojan used in Operation Aurora in 2009 and early</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2010. </a:t>
            </a:r>
            <a:r>
              <a:rPr lang="en-US" sz="1200" kern="1200" dirty="0">
                <a:solidFill>
                  <a:schemeClr val="tx1"/>
                </a:solidFill>
                <a:effectLst/>
                <a:latin typeface="Arial" pitchFamily="-110" charset="0"/>
                <a:ea typeface="ＭＳ Ｐゴシック" pitchFamily="-110" charset="-128"/>
                <a:cs typeface="ＭＳ Ｐゴシック" pitchFamily="-110" charset="-128"/>
              </a:rPr>
              <a:t> This exploited a vulnerability in Internet Explorer to install itself, and targeted</a:t>
            </a:r>
          </a:p>
          <a:p>
            <a:r>
              <a:rPr lang="en-US" sz="1200" kern="1200" dirty="0">
                <a:solidFill>
                  <a:schemeClr val="tx1"/>
                </a:solidFill>
                <a:effectLst/>
                <a:latin typeface="Arial" pitchFamily="-110" charset="0"/>
                <a:ea typeface="ＭＳ Ｐゴシック" pitchFamily="-110" charset="-128"/>
                <a:cs typeface="ＭＳ Ｐゴシック" pitchFamily="-110" charset="-128"/>
              </a:rPr>
              <a:t>several high-profile companies. It was typically distributed using either spam e-mail or</a:t>
            </a:r>
          </a:p>
          <a:p>
            <a:r>
              <a:rPr lang="en-US" sz="1200" kern="1200" dirty="0">
                <a:solidFill>
                  <a:schemeClr val="tx1"/>
                </a:solidFill>
                <a:effectLst/>
                <a:latin typeface="Arial" pitchFamily="-110" charset="0"/>
                <a:ea typeface="ＭＳ Ｐゴシック" pitchFamily="-110" charset="-128"/>
                <a:cs typeface="ＭＳ Ｐゴシック" pitchFamily="-110" charset="-128"/>
              </a:rPr>
              <a:t>via a compromised website using a “watering-hole” attack. Tech Support Scams are a</a:t>
            </a:r>
          </a:p>
          <a:p>
            <a:r>
              <a:rPr lang="en-US" sz="1200" kern="1200" dirty="0">
                <a:solidFill>
                  <a:schemeClr val="tx1"/>
                </a:solidFill>
                <a:effectLst/>
                <a:latin typeface="Arial" pitchFamily="-110" charset="0"/>
                <a:ea typeface="ＭＳ Ｐゴシック" pitchFamily="-110" charset="-128"/>
                <a:cs typeface="ＭＳ Ｐゴシック" pitchFamily="-110" charset="-128"/>
              </a:rPr>
              <a:t>growing social engineering concern. These involve call centers calling users about nonexistent</a:t>
            </a:r>
          </a:p>
          <a:p>
            <a:r>
              <a:rPr lang="en-US" sz="1200" kern="1200" dirty="0">
                <a:solidFill>
                  <a:schemeClr val="tx1"/>
                </a:solidFill>
                <a:effectLst/>
                <a:latin typeface="Arial" pitchFamily="-110" charset="0"/>
                <a:ea typeface="ＭＳ Ｐゴシック" pitchFamily="-110" charset="-128"/>
                <a:cs typeface="ＭＳ Ｐゴシック" pitchFamily="-110" charset="-128"/>
              </a:rPr>
              <a:t>problems on their computer systems. If the users respond, the attackers try to</a:t>
            </a:r>
          </a:p>
          <a:p>
            <a:r>
              <a:rPr lang="en-US" sz="1200" kern="1200" dirty="0">
                <a:solidFill>
                  <a:schemeClr val="tx1"/>
                </a:solidFill>
                <a:effectLst/>
                <a:latin typeface="Arial" pitchFamily="-110" charset="0"/>
                <a:ea typeface="ＭＳ Ｐゴシック" pitchFamily="-110" charset="-128"/>
                <a:cs typeface="ＭＳ Ｐゴシック" pitchFamily="-110" charset="-128"/>
              </a:rPr>
              <a:t>sell them bogus tech support or ask them to install Trojan malware or other unwanted</a:t>
            </a:r>
          </a:p>
          <a:p>
            <a:r>
              <a:rPr lang="en-US" sz="1200" kern="1200" dirty="0">
                <a:solidFill>
                  <a:schemeClr val="tx1"/>
                </a:solidFill>
                <a:effectLst/>
                <a:latin typeface="Arial" pitchFamily="-110" charset="0"/>
                <a:ea typeface="ＭＳ Ｐゴシック" pitchFamily="-110" charset="-128"/>
                <a:cs typeface="ＭＳ Ｐゴシック" pitchFamily="-110" charset="-128"/>
              </a:rPr>
              <a:t>applications on their systems, all while claiming this will fix their problem [SYMA16].</a:t>
            </a:r>
          </a:p>
          <a:p>
            <a:pPr>
              <a:lnSpc>
                <a:spcPct val="90000"/>
              </a:lnSpc>
            </a:pPr>
            <a:endParaRPr lang="en-US" b="1" dirty="0">
              <a:latin typeface="Arial" charset="0"/>
              <a:ea typeface="ＭＳ Ｐゴシック" pitchFamily="-65" charset="-128"/>
            </a:endParaRPr>
          </a:p>
          <a:p>
            <a:pPr>
              <a:lnSpc>
                <a:spcPct val="90000"/>
              </a:lnSpc>
            </a:pPr>
            <a:r>
              <a:rPr lang="en-US" b="1" dirty="0">
                <a:latin typeface="Arial" charset="0"/>
                <a:ea typeface="ＭＳ Ｐゴシック" pitchFamily="-65" charset="-128"/>
              </a:rPr>
              <a:t>Mobile Phone Trojans</a:t>
            </a:r>
          </a:p>
          <a:p>
            <a:pPr>
              <a:lnSpc>
                <a:spcPct val="90000"/>
              </a:lnSpc>
            </a:pPr>
            <a:endParaRPr lang="en-US" dirty="0">
              <a:latin typeface="Arial" charset="0"/>
              <a:ea typeface="ＭＳ Ｐゴシック" pitchFamily="-65"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t>
            </a:r>
            <a:r>
              <a:rPr lang="en-US" sz="1200" kern="1200" dirty="0">
                <a:solidFill>
                  <a:schemeClr val="tx1"/>
                </a:solidFill>
                <a:effectLst/>
                <a:latin typeface="Arial" pitchFamily="-110" charset="0"/>
                <a:ea typeface="ＭＳ Ｐゴシック" pitchFamily="-110" charset="-128"/>
                <a:cs typeface="ＭＳ Ｐゴシック" pitchFamily="-110" charset="-128"/>
              </a:rPr>
              <a:t> Mobile phone Trojans also first appeared in 2004 with the discovery of </a:t>
            </a:r>
            <a:r>
              <a:rPr lang="en-US" sz="1200" kern="1200" dirty="0" err="1">
                <a:solidFill>
                  <a:schemeClr val="tx1"/>
                </a:solidFill>
                <a:effectLst/>
                <a:latin typeface="Arial" pitchFamily="-110" charset="0"/>
                <a:ea typeface="ＭＳ Ｐゴシック" pitchFamily="-110" charset="-128"/>
                <a:cs typeface="ＭＳ Ｐゴシック" pitchFamily="-110" charset="-128"/>
              </a:rPr>
              <a:t>Skuller</a:t>
            </a:r>
            <a:r>
              <a:rPr lang="en-US" sz="1200" kern="1200" dirty="0">
                <a:solidFill>
                  <a:schemeClr val="tx1"/>
                </a:solidFill>
                <a:effectLst/>
                <a:latin typeface="Arial" pitchFamily="-110" charset="0"/>
                <a:ea typeface="ＭＳ Ｐゴシック" pitchFamily="-110" charset="-128"/>
                <a:cs typeface="ＭＳ Ｐゴシック" pitchFamily="-110" charset="-128"/>
              </a:rPr>
              <a:t>. As</a:t>
            </a:r>
          </a:p>
          <a:p>
            <a:r>
              <a:rPr lang="en-US" sz="1200" kern="1200" dirty="0">
                <a:solidFill>
                  <a:schemeClr val="tx1"/>
                </a:solidFill>
                <a:effectLst/>
                <a:latin typeface="Arial" pitchFamily="-110" charset="0"/>
                <a:ea typeface="ＭＳ Ｐゴシック" pitchFamily="-110" charset="-128"/>
                <a:cs typeface="ＭＳ Ｐゴシック" pitchFamily="-110" charset="-128"/>
              </a:rPr>
              <a:t>with mobile worms, the target is the smartphone, and the early mobile Trojans targeted</a:t>
            </a:r>
          </a:p>
          <a:p>
            <a:r>
              <a:rPr lang="en-US" sz="1200" kern="1200" dirty="0">
                <a:solidFill>
                  <a:schemeClr val="tx1"/>
                </a:solidFill>
                <a:effectLst/>
                <a:latin typeface="Arial" pitchFamily="-110" charset="0"/>
                <a:ea typeface="ＭＳ Ｐゴシック" pitchFamily="-110" charset="-128"/>
                <a:cs typeface="ＭＳ Ｐゴシック" pitchFamily="-110" charset="-128"/>
              </a:rPr>
              <a:t>Symbian phones. More recently, a significant number of Trojans have been</a:t>
            </a:r>
          </a:p>
          <a:p>
            <a:r>
              <a:rPr lang="en-US" sz="1200" kern="1200" dirty="0">
                <a:solidFill>
                  <a:schemeClr val="tx1"/>
                </a:solidFill>
                <a:effectLst/>
                <a:latin typeface="Arial" pitchFamily="-110" charset="0"/>
                <a:ea typeface="ＭＳ Ｐゴシック" pitchFamily="-110" charset="-128"/>
                <a:cs typeface="ＭＳ Ｐゴシック" pitchFamily="-110" charset="-128"/>
              </a:rPr>
              <a:t>detected that target Android phones and Apple iPhones. These Trojans are usually</a:t>
            </a:r>
          </a:p>
          <a:p>
            <a:r>
              <a:rPr lang="en-US" sz="1200" kern="1200" dirty="0">
                <a:solidFill>
                  <a:schemeClr val="tx1"/>
                </a:solidFill>
                <a:effectLst/>
                <a:latin typeface="Arial" pitchFamily="-110" charset="0"/>
                <a:ea typeface="ＭＳ Ｐゴシック" pitchFamily="-110" charset="-128"/>
                <a:cs typeface="ＭＳ Ｐゴシック" pitchFamily="-110" charset="-128"/>
              </a:rPr>
              <a:t>distributed via one or more of the app marketplaces for the target phone O/S.</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The rapid growth in smartphone sales and use, which increasingly contain valuable</a:t>
            </a:r>
          </a:p>
          <a:p>
            <a:r>
              <a:rPr lang="en-US" sz="1200" kern="1200" dirty="0">
                <a:solidFill>
                  <a:schemeClr val="tx1"/>
                </a:solidFill>
                <a:effectLst/>
                <a:latin typeface="Arial" pitchFamily="-110" charset="0"/>
                <a:ea typeface="ＭＳ Ｐゴシック" pitchFamily="-110" charset="-128"/>
                <a:cs typeface="ＭＳ Ｐゴシック" pitchFamily="-110" charset="-128"/>
              </a:rPr>
              <a:t>personal information, make them an attractive target for criminals and other</a:t>
            </a:r>
          </a:p>
          <a:p>
            <a:r>
              <a:rPr lang="en-US" sz="1200" kern="1200" dirty="0">
                <a:solidFill>
                  <a:schemeClr val="tx1"/>
                </a:solidFill>
                <a:effectLst/>
                <a:latin typeface="Arial" pitchFamily="-110" charset="0"/>
                <a:ea typeface="ＭＳ Ｐゴシック" pitchFamily="-110" charset="-128"/>
                <a:cs typeface="ＭＳ Ｐゴシック" pitchFamily="-110" charset="-128"/>
              </a:rPr>
              <a:t>attackers. Given five in six new phones run Android, they are a key target [SYMA16].</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number of vulnerabilities discovered in, and malware families targeting these</a:t>
            </a:r>
          </a:p>
          <a:p>
            <a:r>
              <a:rPr lang="en-US" sz="1200" kern="1200" dirty="0">
                <a:solidFill>
                  <a:schemeClr val="tx1"/>
                </a:solidFill>
                <a:effectLst/>
                <a:latin typeface="Arial" pitchFamily="-110" charset="0"/>
                <a:ea typeface="ＭＳ Ｐゴシック" pitchFamily="-110" charset="-128"/>
                <a:cs typeface="ＭＳ Ｐゴシック" pitchFamily="-110" charset="-128"/>
              </a:rPr>
              <a:t>phones, have both increased steadily in recent years. Recent examples include a</a:t>
            </a:r>
          </a:p>
          <a:p>
            <a:r>
              <a:rPr lang="en-US" sz="1200" kern="1200" dirty="0">
                <a:solidFill>
                  <a:schemeClr val="tx1"/>
                </a:solidFill>
                <a:effectLst/>
                <a:latin typeface="Arial" pitchFamily="-110" charset="0"/>
                <a:ea typeface="ＭＳ Ｐゴシック" pitchFamily="-110" charset="-128"/>
                <a:cs typeface="ＭＳ Ｐゴシック" pitchFamily="-110" charset="-128"/>
              </a:rPr>
              <a:t>phishing Trojan that tricks the user into entering their banking details, and ransomware</a:t>
            </a:r>
          </a:p>
          <a:p>
            <a:r>
              <a:rPr lang="en-US" sz="1200" kern="1200" dirty="0">
                <a:solidFill>
                  <a:schemeClr val="tx1"/>
                </a:solidFill>
                <a:effectLst/>
                <a:latin typeface="Arial" pitchFamily="-110" charset="0"/>
                <a:ea typeface="ＭＳ Ｐゴシック" pitchFamily="-110" charset="-128"/>
                <a:cs typeface="ＭＳ Ｐゴシック" pitchFamily="-110" charset="-128"/>
              </a:rPr>
              <a:t>that mimics Google’s design style to appear more legitimate and intimidating.</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The tighter controls that Apple impose on their app store, mean that many</a:t>
            </a:r>
          </a:p>
          <a:p>
            <a:r>
              <a:rPr lang="en-US" sz="1200" kern="1200" dirty="0">
                <a:solidFill>
                  <a:schemeClr val="tx1"/>
                </a:solidFill>
                <a:effectLst/>
                <a:latin typeface="Arial" pitchFamily="-110" charset="0"/>
                <a:ea typeface="ＭＳ Ｐゴシック" pitchFamily="-110" charset="-128"/>
                <a:cs typeface="ＭＳ Ｐゴシック" pitchFamily="-110" charset="-128"/>
              </a:rPr>
              <a:t>iPhone Trojans target “jail-broken” phones, and are distributed via unofficial sites.</a:t>
            </a:r>
          </a:p>
          <a:p>
            <a:r>
              <a:rPr lang="en-US" sz="1200" kern="1200" dirty="0">
                <a:solidFill>
                  <a:schemeClr val="tx1"/>
                </a:solidFill>
                <a:effectLst/>
                <a:latin typeface="Arial" pitchFamily="-110" charset="0"/>
                <a:ea typeface="ＭＳ Ｐゴシック" pitchFamily="-110" charset="-128"/>
                <a:cs typeface="ＭＳ Ｐゴシック" pitchFamily="-110" charset="-128"/>
              </a:rPr>
              <a:t>However a number of versions of the iPhone O/S contained some form of graphic</a:t>
            </a:r>
          </a:p>
          <a:p>
            <a:r>
              <a:rPr lang="en-US" sz="1200" kern="1200" dirty="0">
                <a:solidFill>
                  <a:schemeClr val="tx1"/>
                </a:solidFill>
                <a:effectLst/>
                <a:latin typeface="Arial" pitchFamily="-110" charset="0"/>
                <a:ea typeface="ＭＳ Ｐゴシック" pitchFamily="-110" charset="-128"/>
                <a:cs typeface="ＭＳ Ｐゴシック" pitchFamily="-110" charset="-128"/>
              </a:rPr>
              <a:t>or PDF vulnerability. Indeed these vulnerabilities were the main means used to “jailbreak”</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phones. But they also provided a path that malware could use to target</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phones. While Apple has fixed a number of these vulnerabilities, new variants</a:t>
            </a:r>
          </a:p>
          <a:p>
            <a:r>
              <a:rPr lang="en-US" sz="1200" kern="1200" dirty="0">
                <a:solidFill>
                  <a:schemeClr val="tx1"/>
                </a:solidFill>
                <a:effectLst/>
                <a:latin typeface="Arial" pitchFamily="-110" charset="0"/>
                <a:ea typeface="ＭＳ Ｐゴシック" pitchFamily="-110" charset="-128"/>
                <a:cs typeface="ＭＳ Ｐゴシック" pitchFamily="-110" charset="-128"/>
              </a:rPr>
              <a:t> continued to be discovered. This is yet another illustration of just how difficult it is, for</a:t>
            </a:r>
          </a:p>
          <a:p>
            <a:r>
              <a:rPr lang="en-US" sz="1200" kern="1200" dirty="0">
                <a:solidFill>
                  <a:schemeClr val="tx1"/>
                </a:solidFill>
                <a:effectLst/>
                <a:latin typeface="Arial" pitchFamily="-110" charset="0"/>
                <a:ea typeface="ＭＳ Ｐゴシック" pitchFamily="-110" charset="-128"/>
                <a:cs typeface="ＭＳ Ｐゴシック" pitchFamily="-110" charset="-128"/>
              </a:rPr>
              <a:t>even well- resourced organizations, to write secure software within a complex system,</a:t>
            </a:r>
          </a:p>
          <a:p>
            <a:r>
              <a:rPr lang="en-US" sz="1200" kern="1200" dirty="0">
                <a:solidFill>
                  <a:schemeClr val="tx1"/>
                </a:solidFill>
                <a:effectLst/>
                <a:latin typeface="Arial" pitchFamily="-110" charset="0"/>
                <a:ea typeface="ＭＳ Ｐゴシック" pitchFamily="-110" charset="-128"/>
                <a:cs typeface="ＭＳ Ｐゴシック" pitchFamily="-110" charset="-128"/>
              </a:rPr>
              <a:t>such as an operating system. We will return to this topic in Chapters 10 and 11. More</a:t>
            </a:r>
          </a:p>
          <a:p>
            <a:r>
              <a:rPr lang="en-US" sz="1200" kern="1200" dirty="0">
                <a:solidFill>
                  <a:schemeClr val="tx1"/>
                </a:solidFill>
                <a:effectLst/>
                <a:latin typeface="Arial" pitchFamily="-110" charset="0"/>
                <a:ea typeface="ＭＳ Ｐゴシック" pitchFamily="-110" charset="-128"/>
                <a:cs typeface="ＭＳ Ｐゴシック" pitchFamily="-110" charset="-128"/>
              </a:rPr>
              <a:t>recently in 2015, </a:t>
            </a:r>
            <a:r>
              <a:rPr lang="en-US" sz="1200" kern="1200" dirty="0" err="1">
                <a:solidFill>
                  <a:schemeClr val="tx1"/>
                </a:solidFill>
                <a:effectLst/>
                <a:latin typeface="Arial" pitchFamily="-110" charset="0"/>
                <a:ea typeface="ＭＳ Ｐゴシック" pitchFamily="-110" charset="-128"/>
                <a:cs typeface="ＭＳ Ｐゴシック" pitchFamily="-110" charset="-128"/>
              </a:rPr>
              <a:t>XcodeGhost</a:t>
            </a:r>
            <a:r>
              <a:rPr lang="en-US" sz="1200" kern="1200" dirty="0">
                <a:solidFill>
                  <a:schemeClr val="tx1"/>
                </a:solidFill>
                <a:effectLst/>
                <a:latin typeface="Arial" pitchFamily="-110" charset="0"/>
                <a:ea typeface="ＭＳ Ｐゴシック" pitchFamily="-110" charset="-128"/>
                <a:cs typeface="ＭＳ Ｐゴシック" pitchFamily="-110" charset="-128"/>
              </a:rPr>
              <a:t> malware was discovered in a number of legitimate</a:t>
            </a:r>
          </a:p>
          <a:p>
            <a:r>
              <a:rPr lang="en-US" sz="1200" kern="1200" dirty="0">
                <a:solidFill>
                  <a:schemeClr val="tx1"/>
                </a:solidFill>
                <a:effectLst/>
                <a:latin typeface="Arial" pitchFamily="-110" charset="0"/>
                <a:ea typeface="ＭＳ Ｐゴシック" pitchFamily="-110" charset="-128"/>
                <a:cs typeface="ＭＳ Ｐゴシック" pitchFamily="-110" charset="-128"/>
              </a:rPr>
              <a:t>Apple Store apps. The apps were not intentionally designed to be malicious, but their</a:t>
            </a:r>
          </a:p>
          <a:p>
            <a:r>
              <a:rPr lang="en-US" sz="1200" kern="1200" dirty="0">
                <a:solidFill>
                  <a:schemeClr val="tx1"/>
                </a:solidFill>
                <a:effectLst/>
                <a:latin typeface="Arial" pitchFamily="-110" charset="0"/>
                <a:ea typeface="ＭＳ Ｐゴシック" pitchFamily="-110" charset="-128"/>
                <a:cs typeface="ＭＳ Ｐゴシック" pitchFamily="-110" charset="-128"/>
              </a:rPr>
              <a:t>developers used a compromised </a:t>
            </a:r>
            <a:r>
              <a:rPr lang="en-US" sz="1200" kern="1200" dirty="0" err="1">
                <a:solidFill>
                  <a:schemeClr val="tx1"/>
                </a:solidFill>
                <a:effectLst/>
                <a:latin typeface="Arial" pitchFamily="-110" charset="0"/>
                <a:ea typeface="ＭＳ Ｐゴシック" pitchFamily="-110" charset="-128"/>
                <a:cs typeface="ＭＳ Ｐゴシック" pitchFamily="-110" charset="-128"/>
              </a:rPr>
              <a:t>Xcode</a:t>
            </a:r>
            <a:r>
              <a:rPr lang="en-US" sz="1200" kern="1200" dirty="0">
                <a:solidFill>
                  <a:schemeClr val="tx1"/>
                </a:solidFill>
                <a:effectLst/>
                <a:latin typeface="Arial" pitchFamily="-110" charset="0"/>
                <a:ea typeface="ＭＳ Ｐゴシック" pitchFamily="-110" charset="-128"/>
                <a:cs typeface="ＭＳ Ｐゴシック" pitchFamily="-110" charset="-128"/>
              </a:rPr>
              <a:t> development system that covertly installed</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malware as the apps were created [SYMA16]. This is one of several examples</a:t>
            </a:r>
          </a:p>
          <a:p>
            <a:r>
              <a:rPr lang="en-US" sz="1200" kern="1200" dirty="0">
                <a:solidFill>
                  <a:schemeClr val="tx1"/>
                </a:solidFill>
                <a:effectLst/>
                <a:latin typeface="Arial" pitchFamily="-110" charset="0"/>
                <a:ea typeface="ＭＳ Ｐゴシック" pitchFamily="-110" charset="-128"/>
                <a:cs typeface="ＭＳ Ｐゴシック" pitchFamily="-110" charset="-128"/>
              </a:rPr>
              <a:t>of attackers exploiting the development or enterprise provisioning infrastructure to</a:t>
            </a:r>
          </a:p>
          <a:p>
            <a:r>
              <a:rPr lang="en-US" sz="1200" kern="1200" dirty="0">
                <a:solidFill>
                  <a:schemeClr val="tx1"/>
                </a:solidFill>
                <a:effectLst/>
                <a:latin typeface="Arial" pitchFamily="-110" charset="0"/>
                <a:ea typeface="ＭＳ Ｐゴシック" pitchFamily="-110" charset="-128"/>
                <a:cs typeface="ＭＳ Ｐゴシック" pitchFamily="-110" charset="-128"/>
              </a:rPr>
              <a:t>assist malware distribution.</a:t>
            </a:r>
          </a:p>
          <a:p>
            <a:endParaRPr lang="en-US" dirty="0">
              <a:latin typeface="Arial" charset="0"/>
              <a:ea typeface="ＭＳ Ｐゴシック" pitchFamily="-65" charset="-128"/>
            </a:endParaRPr>
          </a:p>
        </p:txBody>
      </p:sp>
      <p:sp>
        <p:nvSpPr>
          <p:cNvPr id="63492" name="Slide Number Placeholder 3"/>
          <p:cNvSpPr>
            <a:spLocks noGrp="1"/>
          </p:cNvSpPr>
          <p:nvPr>
            <p:ph type="sldNum" sz="quarter" idx="5"/>
          </p:nvPr>
        </p:nvSpPr>
        <p:spPr>
          <a:noFill/>
        </p:spPr>
        <p:txBody>
          <a:bodyPr/>
          <a:lstStyle/>
          <a:p>
            <a:fld id="{16EB63E4-2A6A-4607-9B0C-53260A018263}" type="slidenum">
              <a:rPr lang="en-AU"/>
              <a:pPr/>
              <a:t>28</a:t>
            </a:fld>
            <a:endParaRPr lang="en-AU"/>
          </a:p>
        </p:txBody>
      </p:sp>
    </p:spTree>
    <p:extLst>
      <p:ext uri="{BB962C8B-B14F-4D97-AF65-F5344CB8AC3E}">
        <p14:creationId xmlns:p14="http://schemas.microsoft.com/office/powerpoint/2010/main" val="4178901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921E718E-B85A-3BE7-7B50-5C176EC21459}"/>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DEA1093C-6B92-FDDD-0E69-F84F6F429135}"/>
              </a:ext>
            </a:extLst>
          </p:cNvPr>
          <p:cNvSpPr>
            <a:spLocks noGrp="1"/>
          </p:cNvSpPr>
          <p:nvPr>
            <p:ph type="body" idx="1"/>
          </p:nvPr>
        </p:nvSpPr>
        <p:spPr/>
        <p:txBody>
          <a:bodyPr>
            <a:normAutofit fontScale="25000" lnSpcReduction="20000"/>
          </a:bodyPr>
          <a:lstStyle/>
          <a:p>
            <a:pPr eaLnBrk="1" hangingPunct="1">
              <a:lnSpc>
                <a:spcPct val="90000"/>
              </a:lnSpc>
              <a:defRPr/>
            </a:pPr>
            <a:r>
              <a:rPr lang="en-US" dirty="0">
                <a:latin typeface="Arial" charset="0"/>
                <a:ea typeface="ＭＳ Ｐゴシック" pitchFamily="-65" charset="-128"/>
              </a:rPr>
              <a:t>The final category of malware propagation we consider involves social engineering,</a:t>
            </a:r>
          </a:p>
          <a:p>
            <a:pPr eaLnBrk="1" hangingPunct="1">
              <a:lnSpc>
                <a:spcPct val="90000"/>
              </a:lnSpc>
              <a:defRPr/>
            </a:pPr>
            <a:r>
              <a:rPr lang="en-US" dirty="0">
                <a:latin typeface="Arial" charset="0"/>
                <a:ea typeface="ＭＳ Ｐゴシック" pitchFamily="-65" charset="-128"/>
              </a:rPr>
              <a:t>“tricking” users to assist in the compromise of their own systems or personal</a:t>
            </a:r>
          </a:p>
          <a:p>
            <a:pPr eaLnBrk="1" hangingPunct="1">
              <a:lnSpc>
                <a:spcPct val="90000"/>
              </a:lnSpc>
              <a:defRPr/>
            </a:pPr>
            <a:r>
              <a:rPr lang="en-US" dirty="0">
                <a:latin typeface="Arial" charset="0"/>
                <a:ea typeface="ＭＳ Ｐゴシック" pitchFamily="-65" charset="-128"/>
              </a:rPr>
              <a:t>information. This can occur when a user views and responds to some SPAM</a:t>
            </a:r>
          </a:p>
          <a:p>
            <a:pPr eaLnBrk="1" hangingPunct="1">
              <a:lnSpc>
                <a:spcPct val="90000"/>
              </a:lnSpc>
              <a:defRPr/>
            </a:pPr>
            <a:r>
              <a:rPr lang="en-US" dirty="0">
                <a:latin typeface="Arial" charset="0"/>
                <a:ea typeface="ＭＳ Ｐゴシック" pitchFamily="-65" charset="-128"/>
              </a:rPr>
              <a:t>e-mail, or permits the installation and execution of some Trojan horse program or</a:t>
            </a:r>
          </a:p>
          <a:p>
            <a:pPr eaLnBrk="1" hangingPunct="1">
              <a:lnSpc>
                <a:spcPct val="90000"/>
              </a:lnSpc>
              <a:defRPr/>
            </a:pPr>
            <a:r>
              <a:rPr lang="en-US" dirty="0">
                <a:latin typeface="Arial" charset="0"/>
                <a:ea typeface="ＭＳ Ｐゴシック" pitchFamily="-65" charset="-128"/>
              </a:rPr>
              <a:t>scripting code.</a:t>
            </a:r>
          </a:p>
          <a:p>
            <a:pPr eaLnBrk="1" hangingPunct="1">
              <a:lnSpc>
                <a:spcPct val="90000"/>
              </a:lnSpc>
              <a:defRPr/>
            </a:pPr>
            <a:endParaRPr lang="en-US" b="1" dirty="0">
              <a:latin typeface="Arial" charset="0"/>
              <a:ea typeface="ＭＳ Ｐゴシック" pitchFamily="-65" charset="-128"/>
            </a:endParaRPr>
          </a:p>
          <a:p>
            <a:pPr eaLnBrk="1" hangingPunct="1">
              <a:lnSpc>
                <a:spcPct val="90000"/>
              </a:lnSpc>
              <a:defRPr/>
            </a:pPr>
            <a:r>
              <a:rPr lang="en-US" b="1" dirty="0">
                <a:latin typeface="Arial" charset="0"/>
                <a:ea typeface="ＭＳ Ｐゴシック" pitchFamily="-65" charset="-128"/>
              </a:rPr>
              <a:t>Spam (Unsolicited Bulk) E-Mail</a:t>
            </a:r>
          </a:p>
          <a:p>
            <a:pPr eaLnBrk="1" hangingPunct="1">
              <a:lnSpc>
                <a:spcPct val="90000"/>
              </a:lnSpc>
              <a:defRPr/>
            </a:pPr>
            <a:endParaRPr lang="en-US" dirty="0">
              <a:latin typeface="Arial" charset="0"/>
              <a:ea typeface="ＭＳ Ｐゴシック" pitchFamily="-65" charset="-128"/>
            </a:endParaRPr>
          </a:p>
          <a:p>
            <a:pPr eaLnBrk="1" hangingPunct="1">
              <a:defRPr/>
            </a:pPr>
            <a:r>
              <a:rPr lang="en-US" dirty="0">
                <a:latin typeface="Arial" pitchFamily="-110" charset="0"/>
                <a:ea typeface="ＭＳ Ｐゴシック" pitchFamily="-110" charset="-128"/>
                <a:cs typeface="ＭＳ Ｐゴシック" pitchFamily="-110" charset="-128"/>
              </a:rPr>
              <a:t>With the explosive growth of the Internet over the last few decades, the widespread</a:t>
            </a:r>
          </a:p>
          <a:p>
            <a:pPr eaLnBrk="1" hangingPunct="1">
              <a:defRPr/>
            </a:pPr>
            <a:r>
              <a:rPr lang="en-US" dirty="0">
                <a:latin typeface="Arial" pitchFamily="-110" charset="0"/>
                <a:ea typeface="ＭＳ Ｐゴシック" pitchFamily="-110" charset="-128"/>
                <a:cs typeface="ＭＳ Ｐゴシック" pitchFamily="-110" charset="-128"/>
              </a:rPr>
              <a:t>use of e-mail, and the extremely low cost required to send large volumes of e-mail, has</a:t>
            </a:r>
          </a:p>
          <a:p>
            <a:pPr eaLnBrk="1" hangingPunct="1">
              <a:defRPr/>
            </a:pPr>
            <a:r>
              <a:rPr lang="en-US" dirty="0">
                <a:latin typeface="Arial" pitchFamily="-110" charset="0"/>
                <a:ea typeface="ＭＳ Ｐゴシック" pitchFamily="-110" charset="-128"/>
                <a:cs typeface="ＭＳ Ｐゴシック" pitchFamily="-110" charset="-128"/>
              </a:rPr>
              <a:t>come the rise of unsolicited bulk e-mail, commonly known as spam. [SYMA16] notes</a:t>
            </a:r>
          </a:p>
          <a:p>
            <a:pPr eaLnBrk="1" hangingPunct="1">
              <a:defRPr/>
            </a:pPr>
            <a:r>
              <a:rPr lang="en-US" dirty="0">
                <a:latin typeface="Arial" pitchFamily="-110" charset="0"/>
                <a:ea typeface="ＭＳ Ｐゴシック" pitchFamily="-110" charset="-128"/>
                <a:cs typeface="ＭＳ Ｐゴシック" pitchFamily="-110" charset="-128"/>
              </a:rPr>
              <a:t>that more than half of inbound business e-mail traffic is still spam, despite a gradual</a:t>
            </a:r>
          </a:p>
          <a:p>
            <a:pPr eaLnBrk="1" hangingPunct="1">
              <a:defRPr/>
            </a:pPr>
            <a:r>
              <a:rPr lang="en-US" dirty="0">
                <a:latin typeface="Arial" pitchFamily="-110" charset="0"/>
                <a:ea typeface="ＭＳ Ｐゴシック" pitchFamily="-110" charset="-128"/>
                <a:cs typeface="ＭＳ Ｐゴシック" pitchFamily="-110" charset="-128"/>
              </a:rPr>
              <a:t>decline in recent years. This imposes significant costs on both the network infrastructure</a:t>
            </a:r>
          </a:p>
          <a:p>
            <a:pPr eaLnBrk="1" hangingPunct="1">
              <a:defRPr/>
            </a:pPr>
            <a:r>
              <a:rPr lang="en-US" dirty="0">
                <a:latin typeface="Arial" pitchFamily="-110" charset="0"/>
                <a:ea typeface="ＭＳ Ｐゴシック" pitchFamily="-110" charset="-128"/>
                <a:cs typeface="ＭＳ Ｐゴシック" pitchFamily="-110" charset="-128"/>
              </a:rPr>
              <a:t>needed to relay this traffic, and on users who need to filter their legitimate e-mails</a:t>
            </a:r>
          </a:p>
          <a:p>
            <a:pPr eaLnBrk="1" hangingPunct="1">
              <a:defRPr/>
            </a:pPr>
            <a:r>
              <a:rPr lang="en-US" dirty="0">
                <a:latin typeface="Arial" pitchFamily="-110" charset="0"/>
                <a:ea typeface="ＭＳ Ｐゴシック" pitchFamily="-110" charset="-128"/>
                <a:cs typeface="ＭＳ Ｐゴシック" pitchFamily="-110" charset="-128"/>
              </a:rPr>
              <a:t>out of this flood. In response to this explosive growth, there has been the equally rapid</a:t>
            </a:r>
          </a:p>
          <a:p>
            <a:pPr eaLnBrk="1" hangingPunct="1">
              <a:defRPr/>
            </a:pPr>
            <a:r>
              <a:rPr lang="en-US" dirty="0">
                <a:latin typeface="Arial" pitchFamily="-110" charset="0"/>
                <a:ea typeface="ＭＳ Ｐゴシック" pitchFamily="-110" charset="-128"/>
                <a:cs typeface="ＭＳ Ｐゴシック" pitchFamily="-110" charset="-128"/>
              </a:rPr>
              <a:t>growth of the anti-spam industry that provides products to detect and filter spam</a:t>
            </a:r>
          </a:p>
          <a:p>
            <a:pPr eaLnBrk="1" hangingPunct="1">
              <a:defRPr/>
            </a:pPr>
            <a:r>
              <a:rPr lang="en-US" dirty="0">
                <a:latin typeface="Arial" pitchFamily="-110" charset="0"/>
                <a:ea typeface="ＭＳ Ｐゴシック" pitchFamily="-110" charset="-128"/>
                <a:cs typeface="ＭＳ Ｐゴシック" pitchFamily="-110" charset="-128"/>
              </a:rPr>
              <a:t>e-mails. This has led to an arms race between the spammers devising techniques to</a:t>
            </a:r>
          </a:p>
          <a:p>
            <a:pPr eaLnBrk="1" hangingPunct="1">
              <a:defRPr/>
            </a:pPr>
            <a:r>
              <a:rPr lang="en-US" dirty="0">
                <a:latin typeface="Arial" pitchFamily="-110" charset="0"/>
                <a:ea typeface="ＭＳ Ｐゴシック" pitchFamily="-110" charset="-128"/>
                <a:cs typeface="ＭＳ Ｐゴシック" pitchFamily="-110" charset="-128"/>
              </a:rPr>
              <a:t>sneak their content through, and with the defenders, efforts to block them [KREI09].</a:t>
            </a:r>
          </a:p>
          <a:p>
            <a:pPr eaLnBrk="1" hangingPunct="1">
              <a:lnSpc>
                <a:spcPct val="90000"/>
              </a:lnSpc>
              <a:defRPr/>
            </a:pPr>
            <a:endParaRPr lang="en-US" dirty="0">
              <a:latin typeface="Arial" charset="0"/>
              <a:ea typeface="ＭＳ Ｐゴシック" pitchFamily="-65" charset="-128"/>
            </a:endParaRPr>
          </a:p>
          <a:p>
            <a:pPr eaLnBrk="1" hangingPunct="1">
              <a:defRPr/>
            </a:pPr>
            <a:r>
              <a:rPr lang="en-US" dirty="0">
                <a:latin typeface="Arial" pitchFamily="-110" charset="0"/>
                <a:ea typeface="ＭＳ Ｐゴシック" pitchFamily="-110" charset="-128"/>
                <a:cs typeface="ＭＳ Ｐゴシック" pitchFamily="-110" charset="-128"/>
              </a:rPr>
              <a:t> However, the spam problem continues, as spammers exploit other means of</a:t>
            </a:r>
          </a:p>
          <a:p>
            <a:pPr eaLnBrk="1" hangingPunct="1">
              <a:defRPr/>
            </a:pPr>
            <a:r>
              <a:rPr lang="en-US" dirty="0">
                <a:latin typeface="Arial" pitchFamily="-110" charset="0"/>
                <a:ea typeface="ＭＳ Ｐゴシック" pitchFamily="-110" charset="-128"/>
                <a:cs typeface="ＭＳ Ｐゴシック" pitchFamily="-110" charset="-128"/>
              </a:rPr>
              <a:t>reaching their victims. This includes the use of social media, reflecting the rapid growth</a:t>
            </a:r>
          </a:p>
          <a:p>
            <a:pPr eaLnBrk="1" hangingPunct="1">
              <a:defRPr/>
            </a:pPr>
            <a:r>
              <a:rPr lang="en-US" dirty="0">
                <a:latin typeface="Arial" pitchFamily="-110" charset="0"/>
                <a:ea typeface="ＭＳ Ｐゴシック" pitchFamily="-110" charset="-128"/>
                <a:cs typeface="ＭＳ Ｐゴシック" pitchFamily="-110" charset="-128"/>
              </a:rPr>
              <a:t>in the use of these networks. For example, [SYMA16] described a successful </a:t>
            </a:r>
            <a:r>
              <a:rPr lang="en-US" dirty="0" err="1">
                <a:latin typeface="Arial" pitchFamily="-110" charset="0"/>
                <a:ea typeface="ＭＳ Ｐゴシック" pitchFamily="-110" charset="-128"/>
                <a:cs typeface="ＭＳ Ｐゴシック" pitchFamily="-110" charset="-128"/>
              </a:rPr>
              <a:t>weightloss</a:t>
            </a:r>
            <a:endParaRPr lang="en-US" dirty="0">
              <a:latin typeface="Arial" pitchFamily="-110" charset="0"/>
              <a:ea typeface="ＭＳ Ｐゴシック" pitchFamily="-110" charset="-128"/>
              <a:cs typeface="ＭＳ Ｐゴシック" pitchFamily="-110" charset="-128"/>
            </a:endParaRPr>
          </a:p>
          <a:p>
            <a:pPr eaLnBrk="1" hangingPunct="1">
              <a:defRPr/>
            </a:pPr>
            <a:r>
              <a:rPr lang="en-US" dirty="0">
                <a:latin typeface="Arial" pitchFamily="-110" charset="0"/>
                <a:ea typeface="ＭＳ Ｐゴシック" pitchFamily="-110" charset="-128"/>
                <a:cs typeface="ＭＳ Ｐゴシック" pitchFamily="-110" charset="-128"/>
              </a:rPr>
              <a:t>spam campaign that exploited hundreds of thousands of fake Twitter accounts,</a:t>
            </a:r>
          </a:p>
          <a:p>
            <a:pPr eaLnBrk="1" hangingPunct="1">
              <a:defRPr/>
            </a:pPr>
            <a:r>
              <a:rPr lang="en-US" dirty="0">
                <a:latin typeface="Arial" pitchFamily="-110" charset="0"/>
                <a:ea typeface="ＭＳ Ｐゴシック" pitchFamily="-110" charset="-128"/>
                <a:cs typeface="ＭＳ Ｐゴシック" pitchFamily="-110" charset="-128"/>
              </a:rPr>
              <a:t>mutually supporting and reinforcing each other, to increase their credibility and likelihood</a:t>
            </a:r>
          </a:p>
          <a:p>
            <a:pPr eaLnBrk="1" hangingPunct="1">
              <a:defRPr/>
            </a:pPr>
            <a:r>
              <a:rPr lang="en-US" dirty="0">
                <a:latin typeface="Arial" pitchFamily="-110" charset="0"/>
                <a:ea typeface="ＭＳ Ｐゴシック" pitchFamily="-110" charset="-128"/>
                <a:cs typeface="ＭＳ Ｐゴシック" pitchFamily="-110" charset="-128"/>
              </a:rPr>
              <a:t>of users following them, and then falling for the scam. Social network scams often</a:t>
            </a:r>
          </a:p>
          <a:p>
            <a:pPr eaLnBrk="1" hangingPunct="1">
              <a:defRPr/>
            </a:pPr>
            <a:r>
              <a:rPr lang="en-US" dirty="0">
                <a:latin typeface="Arial" pitchFamily="-110" charset="0"/>
                <a:ea typeface="ＭＳ Ｐゴシック" pitchFamily="-110" charset="-128"/>
                <a:cs typeface="ＭＳ Ｐゴシック" pitchFamily="-110" charset="-128"/>
              </a:rPr>
              <a:t>rely on victims sharing the scam, or on fake offers with incentives, to assist their spread.</a:t>
            </a:r>
          </a:p>
          <a:p>
            <a:pPr eaLnBrk="1" hangingPunct="1">
              <a:defRPr/>
            </a:pPr>
            <a:endParaRPr lang="en-US" dirty="0">
              <a:latin typeface="Arial" pitchFamily="-110" charset="0"/>
              <a:ea typeface="ＭＳ Ｐゴシック" pitchFamily="-110" charset="-128"/>
              <a:cs typeface="ＭＳ Ｐゴシック" pitchFamily="-110" charset="-128"/>
            </a:endParaRPr>
          </a:p>
          <a:p>
            <a:pPr eaLnBrk="1" hangingPunct="1">
              <a:defRPr/>
            </a:pPr>
            <a:r>
              <a:rPr lang="en-US" dirty="0">
                <a:latin typeface="Arial" pitchFamily="-110" charset="0"/>
                <a:ea typeface="ＭＳ Ｐゴシック" pitchFamily="-110" charset="-128"/>
                <a:cs typeface="ＭＳ Ｐゴシック" pitchFamily="-110" charset="-128"/>
              </a:rPr>
              <a:t> While some spam e-mail is sent from legitimate mail servers using stolen user</a:t>
            </a:r>
          </a:p>
          <a:p>
            <a:pPr eaLnBrk="1" hangingPunct="1">
              <a:defRPr/>
            </a:pPr>
            <a:r>
              <a:rPr lang="en-US" dirty="0">
                <a:latin typeface="Arial" pitchFamily="-110" charset="0"/>
                <a:ea typeface="ＭＳ Ｐゴシック" pitchFamily="-110" charset="-128"/>
                <a:cs typeface="ＭＳ Ｐゴシック" pitchFamily="-110" charset="-128"/>
              </a:rPr>
              <a:t>credentials, most recent spam is sent by botnets using compromised user systems,</a:t>
            </a:r>
          </a:p>
          <a:p>
            <a:pPr eaLnBrk="1" hangingPunct="1">
              <a:defRPr/>
            </a:pPr>
            <a:r>
              <a:rPr lang="en-US" dirty="0">
                <a:latin typeface="Arial" pitchFamily="-110" charset="0"/>
                <a:ea typeface="ＭＳ Ｐゴシック" pitchFamily="-110" charset="-128"/>
                <a:cs typeface="ＭＳ Ｐゴシック" pitchFamily="-110" charset="-128"/>
              </a:rPr>
              <a:t>as we will discuss in Section 6.6. A significant portion of spam e-mail content is just</a:t>
            </a:r>
          </a:p>
          <a:p>
            <a:pPr eaLnBrk="1" hangingPunct="1">
              <a:defRPr/>
            </a:pPr>
            <a:r>
              <a:rPr lang="en-US" dirty="0">
                <a:latin typeface="Arial" pitchFamily="-110" charset="0"/>
                <a:ea typeface="ＭＳ Ｐゴシック" pitchFamily="-110" charset="-128"/>
                <a:cs typeface="ＭＳ Ｐゴシック" pitchFamily="-110" charset="-128"/>
              </a:rPr>
              <a:t>advertising, trying to convince the recipient to purchase some product online, such</a:t>
            </a:r>
          </a:p>
          <a:p>
            <a:pPr eaLnBrk="1" hangingPunct="1">
              <a:defRPr/>
            </a:pPr>
            <a:r>
              <a:rPr lang="en-US" dirty="0">
                <a:latin typeface="Arial" pitchFamily="-110" charset="0"/>
                <a:ea typeface="ＭＳ Ｐゴシック" pitchFamily="-110" charset="-128"/>
                <a:cs typeface="ＭＳ Ｐゴシック" pitchFamily="-110" charset="-128"/>
              </a:rPr>
              <a:t>as pharmaceuticals, or used in scams, such as stock, romance or fake trader scams, or</a:t>
            </a:r>
          </a:p>
          <a:p>
            <a:pPr eaLnBrk="1" hangingPunct="1">
              <a:defRPr/>
            </a:pPr>
            <a:r>
              <a:rPr lang="en-US" dirty="0">
                <a:latin typeface="Arial" pitchFamily="-110" charset="0"/>
                <a:ea typeface="ＭＳ Ｐゴシック" pitchFamily="-110" charset="-128"/>
                <a:cs typeface="ＭＳ Ｐゴシック" pitchFamily="-110" charset="-128"/>
              </a:rPr>
              <a:t>money mule job ads. But spam is also a significant carrier of malware. The e-mail may</a:t>
            </a:r>
          </a:p>
          <a:p>
            <a:pPr eaLnBrk="1" hangingPunct="1">
              <a:defRPr/>
            </a:pPr>
            <a:r>
              <a:rPr lang="en-US" dirty="0">
                <a:latin typeface="Arial" pitchFamily="-110" charset="0"/>
                <a:ea typeface="ＭＳ Ｐゴシック" pitchFamily="-110" charset="-128"/>
                <a:cs typeface="ＭＳ Ｐゴシック" pitchFamily="-110" charset="-128"/>
              </a:rPr>
              <a:t>have an attached document, which, if opened, may exploit a software vulnerability</a:t>
            </a:r>
          </a:p>
          <a:p>
            <a:pPr eaLnBrk="1" hangingPunct="1">
              <a:defRPr/>
            </a:pPr>
            <a:r>
              <a:rPr lang="en-US" dirty="0">
                <a:latin typeface="Arial" pitchFamily="-110" charset="0"/>
                <a:ea typeface="ＭＳ Ｐゴシック" pitchFamily="-110" charset="-128"/>
                <a:cs typeface="ＭＳ Ｐゴシック" pitchFamily="-110" charset="-128"/>
              </a:rPr>
              <a:t>to install malware on the user’s system, as we discussed in the previous section. Or, it</a:t>
            </a:r>
          </a:p>
          <a:p>
            <a:pPr eaLnBrk="1" hangingPunct="1">
              <a:defRPr/>
            </a:pPr>
            <a:r>
              <a:rPr lang="en-US" dirty="0">
                <a:latin typeface="Arial" pitchFamily="-110" charset="0"/>
                <a:ea typeface="ＭＳ Ｐゴシック" pitchFamily="-110" charset="-128"/>
                <a:cs typeface="ＭＳ Ｐゴシック" pitchFamily="-110" charset="-128"/>
              </a:rPr>
              <a:t>may have an attached Trojan horse program or scripting code that, if run, also installs</a:t>
            </a:r>
          </a:p>
          <a:p>
            <a:pPr eaLnBrk="1" hangingPunct="1">
              <a:defRPr/>
            </a:pPr>
            <a:r>
              <a:rPr lang="en-US" dirty="0">
                <a:latin typeface="Arial" pitchFamily="-110" charset="0"/>
                <a:ea typeface="ＭＳ Ｐゴシック" pitchFamily="-110" charset="-128"/>
                <a:cs typeface="ＭＳ Ｐゴシック" pitchFamily="-110" charset="-128"/>
              </a:rPr>
              <a:t>malware on the user’s system. Some Trojans avoid the need for user agreement by</a:t>
            </a:r>
          </a:p>
          <a:p>
            <a:pPr eaLnBrk="1" hangingPunct="1">
              <a:defRPr/>
            </a:pPr>
            <a:r>
              <a:rPr lang="en-US" dirty="0">
                <a:latin typeface="Arial" pitchFamily="-110" charset="0"/>
                <a:ea typeface="ＭＳ Ｐゴシック" pitchFamily="-110" charset="-128"/>
                <a:cs typeface="ＭＳ Ｐゴシック" pitchFamily="-110" charset="-128"/>
              </a:rPr>
              <a:t>exploiting a software vulnerability in order to install themselves, as we will discuss</a:t>
            </a:r>
          </a:p>
          <a:p>
            <a:pPr eaLnBrk="1" hangingPunct="1">
              <a:defRPr/>
            </a:pPr>
            <a:r>
              <a:rPr lang="en-US" dirty="0">
                <a:latin typeface="Arial" pitchFamily="-110" charset="0"/>
                <a:ea typeface="ＭＳ Ｐゴシック" pitchFamily="-110" charset="-128"/>
                <a:cs typeface="ＭＳ Ｐゴシック" pitchFamily="-110" charset="-128"/>
              </a:rPr>
              <a:t>next. Finally the spam may be used in a phishing attack, typically directing the user</a:t>
            </a:r>
          </a:p>
          <a:p>
            <a:pPr eaLnBrk="1" hangingPunct="1">
              <a:defRPr/>
            </a:pPr>
            <a:r>
              <a:rPr lang="en-US" dirty="0">
                <a:latin typeface="Arial" pitchFamily="-110" charset="0"/>
                <a:ea typeface="ＭＳ Ｐゴシック" pitchFamily="-110" charset="-128"/>
                <a:cs typeface="ＭＳ Ｐゴシック" pitchFamily="-110" charset="-128"/>
              </a:rPr>
              <a:t>either to a fake website that mirrors some legitimate service, such as an online banking</a:t>
            </a:r>
          </a:p>
          <a:p>
            <a:pPr eaLnBrk="1" hangingPunct="1">
              <a:defRPr/>
            </a:pPr>
            <a:r>
              <a:rPr lang="en-US" dirty="0">
                <a:latin typeface="Arial" pitchFamily="-110" charset="0"/>
                <a:ea typeface="ＭＳ Ｐゴシック" pitchFamily="-110" charset="-128"/>
                <a:cs typeface="ＭＳ Ｐゴシック" pitchFamily="-110" charset="-128"/>
              </a:rPr>
              <a:t>site, where it attempts to capture the user’s login and password details; or to complete</a:t>
            </a:r>
          </a:p>
          <a:p>
            <a:pPr eaLnBrk="1" hangingPunct="1">
              <a:defRPr/>
            </a:pPr>
            <a:r>
              <a:rPr lang="en-US" dirty="0">
                <a:latin typeface="Arial" pitchFamily="-110" charset="0"/>
                <a:ea typeface="ＭＳ Ｐゴシック" pitchFamily="-110" charset="-128"/>
                <a:cs typeface="ＭＳ Ｐゴシック" pitchFamily="-110" charset="-128"/>
              </a:rPr>
              <a:t>some form with sufficient personal details to allow the attacker to impersonate</a:t>
            </a:r>
          </a:p>
          <a:p>
            <a:pPr eaLnBrk="1" hangingPunct="1">
              <a:defRPr/>
            </a:pPr>
            <a:r>
              <a:rPr lang="en-US" dirty="0">
                <a:latin typeface="Arial" pitchFamily="-110" charset="0"/>
                <a:ea typeface="ＭＳ Ｐゴシック" pitchFamily="-110" charset="-128"/>
                <a:cs typeface="ＭＳ Ｐゴシック" pitchFamily="-110" charset="-128"/>
              </a:rPr>
              <a:t>the user in an identity theft. In recent years, the evolving criminal marketplace makes</a:t>
            </a:r>
          </a:p>
          <a:p>
            <a:pPr eaLnBrk="1" hangingPunct="1">
              <a:defRPr/>
            </a:pPr>
            <a:r>
              <a:rPr lang="en-US" dirty="0">
                <a:latin typeface="Arial" pitchFamily="-110" charset="0"/>
                <a:ea typeface="ＭＳ Ｐゴシック" pitchFamily="-110" charset="-128"/>
                <a:cs typeface="ＭＳ Ｐゴシック" pitchFamily="-110" charset="-128"/>
              </a:rPr>
              <a:t>phishing campaigns easier by selling packages to scammers that largely automate the</a:t>
            </a:r>
          </a:p>
          <a:p>
            <a:pPr eaLnBrk="1" hangingPunct="1">
              <a:defRPr/>
            </a:pPr>
            <a:r>
              <a:rPr lang="en-US" dirty="0">
                <a:latin typeface="Arial" pitchFamily="-110" charset="0"/>
                <a:ea typeface="ＭＳ Ｐゴシック" pitchFamily="-110" charset="-128"/>
                <a:cs typeface="ＭＳ Ｐゴシック" pitchFamily="-110" charset="-128"/>
              </a:rPr>
              <a:t>process of running the scam [SYMA16]. All of these uses make spam e-mails a significant</a:t>
            </a:r>
          </a:p>
          <a:p>
            <a:pPr eaLnBrk="1" hangingPunct="1">
              <a:defRPr/>
            </a:pPr>
            <a:r>
              <a:rPr lang="en-US" dirty="0">
                <a:latin typeface="Arial" pitchFamily="-110" charset="0"/>
                <a:ea typeface="ＭＳ Ｐゴシック" pitchFamily="-110" charset="-128"/>
                <a:cs typeface="ＭＳ Ｐゴシック" pitchFamily="-110" charset="-128"/>
              </a:rPr>
              <a:t>security concern. However, in many cases, it requires the user’s active choice</a:t>
            </a:r>
          </a:p>
          <a:p>
            <a:pPr eaLnBrk="1" hangingPunct="1">
              <a:defRPr/>
            </a:pPr>
            <a:r>
              <a:rPr lang="en-US" dirty="0">
                <a:latin typeface="Arial" pitchFamily="-110" charset="0"/>
                <a:ea typeface="ＭＳ Ｐゴシック" pitchFamily="-110" charset="-128"/>
                <a:cs typeface="ＭＳ Ｐゴシック" pitchFamily="-110" charset="-128"/>
              </a:rPr>
              <a:t>to view the e-mail and any attached document, or to permit the installation of some</a:t>
            </a:r>
          </a:p>
          <a:p>
            <a:pPr eaLnBrk="1" hangingPunct="1">
              <a:defRPr/>
            </a:pPr>
            <a:r>
              <a:rPr lang="en-US" dirty="0">
                <a:latin typeface="Arial" pitchFamily="-110" charset="0"/>
                <a:ea typeface="ＭＳ Ｐゴシック" pitchFamily="-110" charset="-128"/>
                <a:cs typeface="ＭＳ Ｐゴシック" pitchFamily="-110" charset="-128"/>
              </a:rPr>
              <a:t>program, in order for the compromise to occur. Hence the importance of providing</a:t>
            </a:r>
          </a:p>
          <a:p>
            <a:pPr eaLnBrk="1" hangingPunct="1">
              <a:defRPr/>
            </a:pPr>
            <a:r>
              <a:rPr lang="en-US" dirty="0">
                <a:latin typeface="Arial" pitchFamily="-110" charset="0"/>
                <a:ea typeface="ＭＳ Ｐゴシック" pitchFamily="-110" charset="-128"/>
                <a:cs typeface="ＭＳ Ｐゴシック" pitchFamily="-110" charset="-128"/>
              </a:rPr>
              <a:t>appropriate security awareness training to users, so they are better able to recognize</a:t>
            </a:r>
          </a:p>
          <a:p>
            <a:pPr eaLnBrk="1" hangingPunct="1">
              <a:defRPr/>
            </a:pPr>
            <a:r>
              <a:rPr lang="en-US" dirty="0">
                <a:latin typeface="Arial" pitchFamily="-110" charset="0"/>
                <a:ea typeface="ＭＳ Ｐゴシック" pitchFamily="-110" charset="-128"/>
                <a:cs typeface="ＭＳ Ｐゴシック" pitchFamily="-110" charset="-128"/>
              </a:rPr>
              <a:t>and respond appropriately to such e-mails, as we will discuss in Chapter 17.</a:t>
            </a:r>
          </a:p>
          <a:p>
            <a:pPr eaLnBrk="1" hangingPunct="1">
              <a:lnSpc>
                <a:spcPct val="90000"/>
              </a:lnSpc>
              <a:defRPr/>
            </a:pPr>
            <a:endParaRPr lang="en-US" b="1" dirty="0">
              <a:latin typeface="Arial" charset="0"/>
              <a:ea typeface="ＭＳ Ｐゴシック" pitchFamily="-65" charset="-128"/>
            </a:endParaRPr>
          </a:p>
          <a:p>
            <a:pPr eaLnBrk="1" hangingPunct="1">
              <a:lnSpc>
                <a:spcPct val="90000"/>
              </a:lnSpc>
              <a:defRPr/>
            </a:pPr>
            <a:r>
              <a:rPr lang="en-US" b="1" dirty="0">
                <a:latin typeface="Arial" charset="0"/>
                <a:ea typeface="ＭＳ Ｐゴシック" pitchFamily="-65" charset="-128"/>
              </a:rPr>
              <a:t>Trojan Horses</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A Trojan horse is a useful, or apparently useful, program or utility containing</a:t>
            </a:r>
          </a:p>
          <a:p>
            <a:pPr eaLnBrk="1" hangingPunct="1">
              <a:lnSpc>
                <a:spcPct val="90000"/>
              </a:lnSpc>
              <a:defRPr/>
            </a:pPr>
            <a:r>
              <a:rPr lang="en-US" dirty="0">
                <a:latin typeface="Arial" charset="0"/>
                <a:ea typeface="ＭＳ Ｐゴシック" pitchFamily="-65" charset="-128"/>
              </a:rPr>
              <a:t>hidden code that, when invoked, performs some unwanted or harmful function.</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Trojan horse programs can be used to accomplish functions indirectly that</a:t>
            </a:r>
          </a:p>
          <a:p>
            <a:pPr eaLnBrk="1" hangingPunct="1">
              <a:lnSpc>
                <a:spcPct val="90000"/>
              </a:lnSpc>
              <a:defRPr/>
            </a:pPr>
            <a:r>
              <a:rPr lang="en-US" dirty="0">
                <a:latin typeface="Arial" charset="0"/>
                <a:ea typeface="ＭＳ Ｐゴシック" pitchFamily="-65" charset="-128"/>
              </a:rPr>
              <a:t>the attacker could not accomplish directly. For example, to gain access to sensitive,</a:t>
            </a:r>
          </a:p>
          <a:p>
            <a:pPr eaLnBrk="1" hangingPunct="1">
              <a:lnSpc>
                <a:spcPct val="90000"/>
              </a:lnSpc>
              <a:defRPr/>
            </a:pPr>
            <a:r>
              <a:rPr lang="en-US" dirty="0">
                <a:latin typeface="Arial" charset="0"/>
                <a:ea typeface="ＭＳ Ｐゴシック" pitchFamily="-65" charset="-128"/>
              </a:rPr>
              <a:t>personal information stored in the files of a user, an attacker could create a Trojan</a:t>
            </a:r>
          </a:p>
          <a:p>
            <a:pPr eaLnBrk="1" hangingPunct="1">
              <a:lnSpc>
                <a:spcPct val="90000"/>
              </a:lnSpc>
              <a:defRPr/>
            </a:pPr>
            <a:r>
              <a:rPr lang="en-US" dirty="0">
                <a:latin typeface="Arial" charset="0"/>
                <a:ea typeface="ＭＳ Ｐゴシック" pitchFamily="-65" charset="-128"/>
              </a:rPr>
              <a:t>horse program that, when executed, scans the user’s files for the desired sensitive</a:t>
            </a:r>
          </a:p>
          <a:p>
            <a:pPr eaLnBrk="1" hangingPunct="1">
              <a:lnSpc>
                <a:spcPct val="90000"/>
              </a:lnSpc>
              <a:defRPr/>
            </a:pPr>
            <a:r>
              <a:rPr lang="en-US" dirty="0">
                <a:latin typeface="Arial" charset="0"/>
                <a:ea typeface="ＭＳ Ｐゴシック" pitchFamily="-65" charset="-128"/>
              </a:rPr>
              <a:t>information and sends a copy of it to the attacker via a Web form or e-mail or text</a:t>
            </a:r>
          </a:p>
          <a:p>
            <a:pPr eaLnBrk="1" hangingPunct="1">
              <a:lnSpc>
                <a:spcPct val="90000"/>
              </a:lnSpc>
              <a:defRPr/>
            </a:pPr>
            <a:r>
              <a:rPr lang="en-US" dirty="0">
                <a:latin typeface="Arial" charset="0"/>
                <a:ea typeface="ＭＳ Ｐゴシック" pitchFamily="-65" charset="-128"/>
              </a:rPr>
              <a:t>message. The author could then entice users to run the program by incorporating it</a:t>
            </a:r>
          </a:p>
          <a:p>
            <a:pPr eaLnBrk="1" hangingPunct="1">
              <a:lnSpc>
                <a:spcPct val="90000"/>
              </a:lnSpc>
              <a:defRPr/>
            </a:pPr>
            <a:r>
              <a:rPr lang="en-US" dirty="0">
                <a:latin typeface="Arial" charset="0"/>
                <a:ea typeface="ＭＳ Ｐゴシック" pitchFamily="-65" charset="-128"/>
              </a:rPr>
              <a:t>into a game or useful utility program, and making it available via a known software</a:t>
            </a:r>
          </a:p>
          <a:p>
            <a:pPr eaLnBrk="1" hangingPunct="1">
              <a:lnSpc>
                <a:spcPct val="90000"/>
              </a:lnSpc>
              <a:defRPr/>
            </a:pPr>
            <a:r>
              <a:rPr lang="en-US" dirty="0">
                <a:latin typeface="Arial" charset="0"/>
                <a:ea typeface="ＭＳ Ｐゴシック" pitchFamily="-65" charset="-128"/>
              </a:rPr>
              <a:t>distribution site or app store. This approach has been used recently with utilities</a:t>
            </a:r>
          </a:p>
          <a:p>
            <a:pPr eaLnBrk="1" hangingPunct="1">
              <a:lnSpc>
                <a:spcPct val="90000"/>
              </a:lnSpc>
              <a:defRPr/>
            </a:pPr>
            <a:r>
              <a:rPr lang="en-US" dirty="0">
                <a:latin typeface="Arial" charset="0"/>
                <a:ea typeface="ＭＳ Ｐゴシック" pitchFamily="-65" charset="-128"/>
              </a:rPr>
              <a:t>that “claim” to be the latest anti-virus scanner, or security update, for systems, but</a:t>
            </a:r>
          </a:p>
          <a:p>
            <a:pPr eaLnBrk="1" hangingPunct="1">
              <a:lnSpc>
                <a:spcPct val="90000"/>
              </a:lnSpc>
              <a:defRPr/>
            </a:pPr>
            <a:r>
              <a:rPr lang="en-US" dirty="0">
                <a:latin typeface="Arial" charset="0"/>
                <a:ea typeface="ＭＳ Ｐゴシック" pitchFamily="-65" charset="-128"/>
              </a:rPr>
              <a:t>which are actually malicious Trojans, often carrying payloads such as spyware that</a:t>
            </a:r>
          </a:p>
          <a:p>
            <a:pPr eaLnBrk="1" hangingPunct="1">
              <a:lnSpc>
                <a:spcPct val="90000"/>
              </a:lnSpc>
              <a:defRPr/>
            </a:pPr>
            <a:r>
              <a:rPr lang="en-US" dirty="0">
                <a:latin typeface="Arial" charset="0"/>
                <a:ea typeface="ＭＳ Ｐゴシック" pitchFamily="-65" charset="-128"/>
              </a:rPr>
              <a:t>searches for banking credentials. Hence, users need to take precautions to validate</a:t>
            </a:r>
          </a:p>
          <a:p>
            <a:pPr eaLnBrk="1" hangingPunct="1">
              <a:lnSpc>
                <a:spcPct val="90000"/>
              </a:lnSpc>
              <a:defRPr/>
            </a:pPr>
            <a:r>
              <a:rPr lang="en-US" dirty="0">
                <a:latin typeface="Arial" charset="0"/>
                <a:ea typeface="ＭＳ Ｐゴシック" pitchFamily="-65" charset="-128"/>
              </a:rPr>
              <a:t>the source of any software they install.</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Trojan horses fit into one of three models:</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 Continuing to perform the function of the original program and additionally</a:t>
            </a:r>
          </a:p>
          <a:p>
            <a:pPr eaLnBrk="1" hangingPunct="1">
              <a:lnSpc>
                <a:spcPct val="90000"/>
              </a:lnSpc>
              <a:defRPr/>
            </a:pPr>
            <a:r>
              <a:rPr lang="en-US" dirty="0">
                <a:latin typeface="Arial" charset="0"/>
                <a:ea typeface="ＭＳ Ｐゴシック" pitchFamily="-65" charset="-128"/>
              </a:rPr>
              <a:t>performing a separate malicious activity</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 Continuing to perform the function of the original program but modifying the</a:t>
            </a:r>
          </a:p>
          <a:p>
            <a:pPr eaLnBrk="1" hangingPunct="1">
              <a:lnSpc>
                <a:spcPct val="90000"/>
              </a:lnSpc>
              <a:defRPr/>
            </a:pPr>
            <a:r>
              <a:rPr lang="en-US" dirty="0">
                <a:latin typeface="Arial" charset="0"/>
                <a:ea typeface="ＭＳ Ｐゴシック" pitchFamily="-65" charset="-128"/>
              </a:rPr>
              <a:t>function to perform malicious activity (e.g., a Trojan horse version of a login</a:t>
            </a:r>
          </a:p>
          <a:p>
            <a:pPr eaLnBrk="1" hangingPunct="1">
              <a:lnSpc>
                <a:spcPct val="90000"/>
              </a:lnSpc>
              <a:defRPr/>
            </a:pPr>
            <a:r>
              <a:rPr lang="en-US" dirty="0">
                <a:latin typeface="Arial" charset="0"/>
                <a:ea typeface="ＭＳ Ｐゴシック" pitchFamily="-65" charset="-128"/>
              </a:rPr>
              <a:t>program that collects passwords) or to disguise other malicious activity (e.g., a</a:t>
            </a:r>
          </a:p>
          <a:p>
            <a:pPr eaLnBrk="1" hangingPunct="1">
              <a:lnSpc>
                <a:spcPct val="90000"/>
              </a:lnSpc>
              <a:defRPr/>
            </a:pPr>
            <a:r>
              <a:rPr lang="en-US" dirty="0">
                <a:latin typeface="Arial" charset="0"/>
                <a:ea typeface="ＭＳ Ｐゴシック" pitchFamily="-65" charset="-128"/>
              </a:rPr>
              <a:t>Trojan horse version of a process listing program that does not display certain</a:t>
            </a:r>
          </a:p>
          <a:p>
            <a:pPr eaLnBrk="1" hangingPunct="1">
              <a:lnSpc>
                <a:spcPct val="90000"/>
              </a:lnSpc>
              <a:defRPr/>
            </a:pPr>
            <a:r>
              <a:rPr lang="en-US" dirty="0">
                <a:latin typeface="Arial" charset="0"/>
                <a:ea typeface="ＭＳ Ｐゴシック" pitchFamily="-65" charset="-128"/>
              </a:rPr>
              <a:t>processes that are malicious)</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 Performing a malicious function that completely replaces the function of the</a:t>
            </a:r>
          </a:p>
          <a:p>
            <a:pPr eaLnBrk="1" hangingPunct="1">
              <a:lnSpc>
                <a:spcPct val="90000"/>
              </a:lnSpc>
              <a:defRPr/>
            </a:pPr>
            <a:r>
              <a:rPr lang="en-US" dirty="0">
                <a:latin typeface="Arial" charset="0"/>
                <a:ea typeface="ＭＳ Ｐゴシック" pitchFamily="-65" charset="-128"/>
              </a:rPr>
              <a:t>original program</a:t>
            </a:r>
          </a:p>
          <a:p>
            <a:pPr eaLnBrk="1" hangingPunct="1">
              <a:lnSpc>
                <a:spcPct val="90000"/>
              </a:lnSpc>
              <a:defRPr/>
            </a:pPr>
            <a:endParaRPr lang="en-US" dirty="0">
              <a:latin typeface="Arial" charset="0"/>
              <a:ea typeface="ＭＳ Ｐゴシック" pitchFamily="-65" charset="-128"/>
            </a:endParaRPr>
          </a:p>
          <a:p>
            <a:pPr eaLnBrk="1" hangingPunct="1">
              <a:defRPr/>
            </a:pPr>
            <a:r>
              <a:rPr lang="en-US" dirty="0">
                <a:latin typeface="Arial" pitchFamily="-110" charset="0"/>
                <a:ea typeface="ＭＳ Ｐゴシック" pitchFamily="-110" charset="-128"/>
                <a:cs typeface="ＭＳ Ｐゴシック" pitchFamily="-110" charset="-128"/>
              </a:rPr>
              <a:t> Some Trojans avoid the requirement for user assistance by exploiting some software</a:t>
            </a:r>
          </a:p>
          <a:p>
            <a:pPr eaLnBrk="1" hangingPunct="1">
              <a:defRPr/>
            </a:pPr>
            <a:r>
              <a:rPr lang="en-US" dirty="0">
                <a:latin typeface="Arial" pitchFamily="-110" charset="0"/>
                <a:ea typeface="ＭＳ Ｐゴシック" pitchFamily="-110" charset="-128"/>
                <a:cs typeface="ＭＳ Ｐゴシック" pitchFamily="-110" charset="-128"/>
              </a:rPr>
              <a:t>vulnerability to enable their automatic installation and execution. In this they share</a:t>
            </a:r>
          </a:p>
          <a:p>
            <a:pPr eaLnBrk="1" hangingPunct="1">
              <a:defRPr/>
            </a:pPr>
            <a:r>
              <a:rPr lang="en-US" dirty="0">
                <a:latin typeface="Arial" pitchFamily="-110" charset="0"/>
                <a:ea typeface="ＭＳ Ｐゴシック" pitchFamily="-110" charset="-128"/>
                <a:cs typeface="ＭＳ Ｐゴシック" pitchFamily="-110" charset="-128"/>
              </a:rPr>
              <a:t>some features of a worm, but unlike it, they do not replicate. A prominent example</a:t>
            </a:r>
          </a:p>
          <a:p>
            <a:pPr eaLnBrk="1" hangingPunct="1">
              <a:defRPr/>
            </a:pPr>
            <a:r>
              <a:rPr lang="en-US" dirty="0">
                <a:latin typeface="Arial" pitchFamily="-110" charset="0"/>
                <a:ea typeface="ＭＳ Ｐゴシック" pitchFamily="-110" charset="-128"/>
                <a:cs typeface="ＭＳ Ｐゴシック" pitchFamily="-110" charset="-128"/>
              </a:rPr>
              <a:t>of such an attack was the </a:t>
            </a:r>
            <a:r>
              <a:rPr lang="en-US" dirty="0" err="1">
                <a:latin typeface="Arial" pitchFamily="-110" charset="0"/>
                <a:ea typeface="ＭＳ Ｐゴシック" pitchFamily="-110" charset="-128"/>
                <a:cs typeface="ＭＳ Ｐゴシック" pitchFamily="-110" charset="-128"/>
              </a:rPr>
              <a:t>Hydraq</a:t>
            </a:r>
            <a:r>
              <a:rPr lang="en-US" dirty="0">
                <a:latin typeface="Arial" pitchFamily="-110" charset="0"/>
                <a:ea typeface="ＭＳ Ｐゴシック" pitchFamily="-110" charset="-128"/>
                <a:cs typeface="ＭＳ Ｐゴシック" pitchFamily="-110" charset="-128"/>
              </a:rPr>
              <a:t> Trojan used in Operation Aurora in 2009 and early</a:t>
            </a:r>
          </a:p>
          <a:p>
            <a:pPr eaLnBrk="1" hangingPunct="1">
              <a:defRPr/>
            </a:pPr>
            <a:r>
              <a:rPr lang="en-US" dirty="0">
                <a:latin typeface="Arial" pitchFamily="-110" charset="0"/>
                <a:ea typeface="ＭＳ Ｐゴシック" pitchFamily="-110" charset="-128"/>
                <a:cs typeface="ＭＳ Ｐゴシック" pitchFamily="-110" charset="-128"/>
              </a:rPr>
              <a:t>2010.  This exploited a vulnerability in Internet Explorer to install itself, and targeted</a:t>
            </a:r>
          </a:p>
          <a:p>
            <a:pPr eaLnBrk="1" hangingPunct="1">
              <a:defRPr/>
            </a:pPr>
            <a:r>
              <a:rPr lang="en-US" dirty="0">
                <a:latin typeface="Arial" pitchFamily="-110" charset="0"/>
                <a:ea typeface="ＭＳ Ｐゴシック" pitchFamily="-110" charset="-128"/>
                <a:cs typeface="ＭＳ Ｐゴシック" pitchFamily="-110" charset="-128"/>
              </a:rPr>
              <a:t>several high-profile companies. It was typically distributed using either spam e-mail or</a:t>
            </a:r>
          </a:p>
          <a:p>
            <a:pPr eaLnBrk="1" hangingPunct="1">
              <a:defRPr/>
            </a:pPr>
            <a:r>
              <a:rPr lang="en-US" dirty="0">
                <a:latin typeface="Arial" pitchFamily="-110" charset="0"/>
                <a:ea typeface="ＭＳ Ｐゴシック" pitchFamily="-110" charset="-128"/>
                <a:cs typeface="ＭＳ Ｐゴシック" pitchFamily="-110" charset="-128"/>
              </a:rPr>
              <a:t>via a compromised website using a “watering-hole” attack. Tech Support Scams are a</a:t>
            </a:r>
          </a:p>
          <a:p>
            <a:pPr eaLnBrk="1" hangingPunct="1">
              <a:defRPr/>
            </a:pPr>
            <a:r>
              <a:rPr lang="en-US" dirty="0">
                <a:latin typeface="Arial" pitchFamily="-110" charset="0"/>
                <a:ea typeface="ＭＳ Ｐゴシック" pitchFamily="-110" charset="-128"/>
                <a:cs typeface="ＭＳ Ｐゴシック" pitchFamily="-110" charset="-128"/>
              </a:rPr>
              <a:t>growing social engineering concern. These involve call centers calling users about nonexistent</a:t>
            </a:r>
          </a:p>
          <a:p>
            <a:pPr eaLnBrk="1" hangingPunct="1">
              <a:defRPr/>
            </a:pPr>
            <a:r>
              <a:rPr lang="en-US" dirty="0">
                <a:latin typeface="Arial" pitchFamily="-110" charset="0"/>
                <a:ea typeface="ＭＳ Ｐゴシック" pitchFamily="-110" charset="-128"/>
                <a:cs typeface="ＭＳ Ｐゴシック" pitchFamily="-110" charset="-128"/>
              </a:rPr>
              <a:t>problems on their computer systems. If the users respond, the attackers try to</a:t>
            </a:r>
          </a:p>
          <a:p>
            <a:pPr eaLnBrk="1" hangingPunct="1">
              <a:defRPr/>
            </a:pPr>
            <a:r>
              <a:rPr lang="en-US" dirty="0">
                <a:latin typeface="Arial" pitchFamily="-110" charset="0"/>
                <a:ea typeface="ＭＳ Ｐゴシック" pitchFamily="-110" charset="-128"/>
                <a:cs typeface="ＭＳ Ｐゴシック" pitchFamily="-110" charset="-128"/>
              </a:rPr>
              <a:t>sell them bogus tech support or ask them to install Trojan malware or other unwanted</a:t>
            </a:r>
          </a:p>
          <a:p>
            <a:pPr eaLnBrk="1" hangingPunct="1">
              <a:defRPr/>
            </a:pPr>
            <a:r>
              <a:rPr lang="en-US" dirty="0">
                <a:latin typeface="Arial" pitchFamily="-110" charset="0"/>
                <a:ea typeface="ＭＳ Ｐゴシック" pitchFamily="-110" charset="-128"/>
                <a:cs typeface="ＭＳ Ｐゴシック" pitchFamily="-110" charset="-128"/>
              </a:rPr>
              <a:t>applications on their systems, all while claiming this will fix their problem [SYMA16].</a:t>
            </a:r>
          </a:p>
          <a:p>
            <a:pPr eaLnBrk="1" hangingPunct="1">
              <a:lnSpc>
                <a:spcPct val="90000"/>
              </a:lnSpc>
              <a:defRPr/>
            </a:pPr>
            <a:endParaRPr lang="en-US" b="1" dirty="0">
              <a:latin typeface="Arial" charset="0"/>
              <a:ea typeface="ＭＳ Ｐゴシック" pitchFamily="-65" charset="-128"/>
            </a:endParaRPr>
          </a:p>
          <a:p>
            <a:pPr eaLnBrk="1" hangingPunct="1">
              <a:lnSpc>
                <a:spcPct val="90000"/>
              </a:lnSpc>
              <a:defRPr/>
            </a:pPr>
            <a:r>
              <a:rPr lang="en-US" b="1" dirty="0">
                <a:latin typeface="Arial" charset="0"/>
                <a:ea typeface="ＭＳ Ｐゴシック" pitchFamily="-65" charset="-128"/>
              </a:rPr>
              <a:t>Mobile Phone Trojans</a:t>
            </a:r>
          </a:p>
          <a:p>
            <a:pPr eaLnBrk="1" hangingPunct="1">
              <a:lnSpc>
                <a:spcPct val="90000"/>
              </a:lnSpc>
              <a:defRPr/>
            </a:pPr>
            <a:endParaRPr lang="en-US" dirty="0">
              <a:latin typeface="Arial" charset="0"/>
              <a:ea typeface="ＭＳ Ｐゴシック" pitchFamily="-65" charset="-128"/>
            </a:endParaRPr>
          </a:p>
          <a:p>
            <a:pPr eaLnBrk="1" hangingPunct="1">
              <a:defRPr/>
            </a:pPr>
            <a:r>
              <a:rPr lang="en-US" dirty="0">
                <a:latin typeface="Arial" pitchFamily="-110" charset="0"/>
                <a:ea typeface="ＭＳ Ｐゴシック" pitchFamily="-110" charset="-128"/>
                <a:cs typeface="ＭＳ Ｐゴシック" pitchFamily="-110" charset="-128"/>
              </a:rPr>
              <a:t>  Mobile phone Trojans also first appeared in 2004 with the discovery of </a:t>
            </a:r>
            <a:r>
              <a:rPr lang="en-US" dirty="0" err="1">
                <a:latin typeface="Arial" pitchFamily="-110" charset="0"/>
                <a:ea typeface="ＭＳ Ｐゴシック" pitchFamily="-110" charset="-128"/>
                <a:cs typeface="ＭＳ Ｐゴシック" pitchFamily="-110" charset="-128"/>
              </a:rPr>
              <a:t>Skuller</a:t>
            </a:r>
            <a:r>
              <a:rPr lang="en-US" dirty="0">
                <a:latin typeface="Arial" pitchFamily="-110" charset="0"/>
                <a:ea typeface="ＭＳ Ｐゴシック" pitchFamily="-110" charset="-128"/>
                <a:cs typeface="ＭＳ Ｐゴシック" pitchFamily="-110" charset="-128"/>
              </a:rPr>
              <a:t>. As</a:t>
            </a:r>
          </a:p>
          <a:p>
            <a:pPr eaLnBrk="1" hangingPunct="1">
              <a:defRPr/>
            </a:pPr>
            <a:r>
              <a:rPr lang="en-US" dirty="0">
                <a:latin typeface="Arial" pitchFamily="-110" charset="0"/>
                <a:ea typeface="ＭＳ Ｐゴシック" pitchFamily="-110" charset="-128"/>
                <a:cs typeface="ＭＳ Ｐゴシック" pitchFamily="-110" charset="-128"/>
              </a:rPr>
              <a:t>with mobile worms, the target is the smartphone, and the early mobile Trojans targeted</a:t>
            </a:r>
          </a:p>
          <a:p>
            <a:pPr eaLnBrk="1" hangingPunct="1">
              <a:defRPr/>
            </a:pPr>
            <a:r>
              <a:rPr lang="en-US" dirty="0">
                <a:latin typeface="Arial" pitchFamily="-110" charset="0"/>
                <a:ea typeface="ＭＳ Ｐゴシック" pitchFamily="-110" charset="-128"/>
                <a:cs typeface="ＭＳ Ｐゴシック" pitchFamily="-110" charset="-128"/>
              </a:rPr>
              <a:t>Symbian phones. More recently, a significant number of Trojans have been</a:t>
            </a:r>
          </a:p>
          <a:p>
            <a:pPr eaLnBrk="1" hangingPunct="1">
              <a:defRPr/>
            </a:pPr>
            <a:r>
              <a:rPr lang="en-US" dirty="0">
                <a:latin typeface="Arial" pitchFamily="-110" charset="0"/>
                <a:ea typeface="ＭＳ Ｐゴシック" pitchFamily="-110" charset="-128"/>
                <a:cs typeface="ＭＳ Ｐゴシック" pitchFamily="-110" charset="-128"/>
              </a:rPr>
              <a:t>detected that target Android phones and Apple iPhones. These Trojans are usually</a:t>
            </a:r>
          </a:p>
          <a:p>
            <a:pPr eaLnBrk="1" hangingPunct="1">
              <a:defRPr/>
            </a:pPr>
            <a:r>
              <a:rPr lang="en-US" dirty="0">
                <a:latin typeface="Arial" pitchFamily="-110" charset="0"/>
                <a:ea typeface="ＭＳ Ｐゴシック" pitchFamily="-110" charset="-128"/>
                <a:cs typeface="ＭＳ Ｐゴシック" pitchFamily="-110" charset="-128"/>
              </a:rPr>
              <a:t>distributed via one or more of the app marketplaces for the target phone O/S.</a:t>
            </a:r>
          </a:p>
          <a:p>
            <a:pPr eaLnBrk="1" hangingPunct="1">
              <a:defRPr/>
            </a:pPr>
            <a:endParaRPr lang="en-US" dirty="0">
              <a:latin typeface="Arial" pitchFamily="-110" charset="0"/>
              <a:ea typeface="ＭＳ Ｐゴシック" pitchFamily="-110" charset="-128"/>
              <a:cs typeface="ＭＳ Ｐゴシック" pitchFamily="-110" charset="-128"/>
            </a:endParaRPr>
          </a:p>
          <a:p>
            <a:pPr eaLnBrk="1" hangingPunct="1">
              <a:defRPr/>
            </a:pPr>
            <a:r>
              <a:rPr lang="en-US" dirty="0">
                <a:latin typeface="Arial" pitchFamily="-110" charset="0"/>
                <a:ea typeface="ＭＳ Ｐゴシック" pitchFamily="-110" charset="-128"/>
                <a:cs typeface="ＭＳ Ｐゴシック" pitchFamily="-110" charset="-128"/>
              </a:rPr>
              <a:t>The rapid growth in smartphone sales and use, which increasingly contain valuable</a:t>
            </a:r>
          </a:p>
          <a:p>
            <a:pPr eaLnBrk="1" hangingPunct="1">
              <a:defRPr/>
            </a:pPr>
            <a:r>
              <a:rPr lang="en-US" dirty="0">
                <a:latin typeface="Arial" pitchFamily="-110" charset="0"/>
                <a:ea typeface="ＭＳ Ｐゴシック" pitchFamily="-110" charset="-128"/>
                <a:cs typeface="ＭＳ Ｐゴシック" pitchFamily="-110" charset="-128"/>
              </a:rPr>
              <a:t>personal information, make them an attractive target for criminals and other</a:t>
            </a:r>
          </a:p>
          <a:p>
            <a:pPr eaLnBrk="1" hangingPunct="1">
              <a:defRPr/>
            </a:pPr>
            <a:r>
              <a:rPr lang="en-US" dirty="0">
                <a:latin typeface="Arial" pitchFamily="-110" charset="0"/>
                <a:ea typeface="ＭＳ Ｐゴシック" pitchFamily="-110" charset="-128"/>
                <a:cs typeface="ＭＳ Ｐゴシック" pitchFamily="-110" charset="-128"/>
              </a:rPr>
              <a:t>attackers. Given five in six new phones run Android, they are a key target [SYMA16].</a:t>
            </a:r>
          </a:p>
          <a:p>
            <a:pPr eaLnBrk="1" hangingPunct="1">
              <a:defRPr/>
            </a:pPr>
            <a:r>
              <a:rPr lang="en-US" dirty="0">
                <a:latin typeface="Arial" pitchFamily="-110" charset="0"/>
                <a:ea typeface="ＭＳ Ｐゴシック" pitchFamily="-110" charset="-128"/>
                <a:cs typeface="ＭＳ Ｐゴシック" pitchFamily="-110" charset="-128"/>
              </a:rPr>
              <a:t>The number of vulnerabilities discovered in, and malware families targeting these</a:t>
            </a:r>
          </a:p>
          <a:p>
            <a:pPr eaLnBrk="1" hangingPunct="1">
              <a:defRPr/>
            </a:pPr>
            <a:r>
              <a:rPr lang="en-US" dirty="0">
                <a:latin typeface="Arial" pitchFamily="-110" charset="0"/>
                <a:ea typeface="ＭＳ Ｐゴシック" pitchFamily="-110" charset="-128"/>
                <a:cs typeface="ＭＳ Ｐゴシック" pitchFamily="-110" charset="-128"/>
              </a:rPr>
              <a:t>phones, have both increased steadily in recent years. Recent examples include a</a:t>
            </a:r>
          </a:p>
          <a:p>
            <a:pPr eaLnBrk="1" hangingPunct="1">
              <a:defRPr/>
            </a:pPr>
            <a:r>
              <a:rPr lang="en-US" dirty="0">
                <a:latin typeface="Arial" pitchFamily="-110" charset="0"/>
                <a:ea typeface="ＭＳ Ｐゴシック" pitchFamily="-110" charset="-128"/>
                <a:cs typeface="ＭＳ Ｐゴシック" pitchFamily="-110" charset="-128"/>
              </a:rPr>
              <a:t>phishing Trojan that tricks the user into entering their banking details, and ransomware</a:t>
            </a:r>
          </a:p>
          <a:p>
            <a:pPr eaLnBrk="1" hangingPunct="1">
              <a:defRPr/>
            </a:pPr>
            <a:r>
              <a:rPr lang="en-US" dirty="0">
                <a:latin typeface="Arial" pitchFamily="-110" charset="0"/>
                <a:ea typeface="ＭＳ Ｐゴシック" pitchFamily="-110" charset="-128"/>
                <a:cs typeface="ＭＳ Ｐゴシック" pitchFamily="-110" charset="-128"/>
              </a:rPr>
              <a:t>that mimics Google’s design style to appear more legitimate and intimidating.</a:t>
            </a:r>
          </a:p>
          <a:p>
            <a:pPr eaLnBrk="1" hangingPunct="1">
              <a:defRPr/>
            </a:pPr>
            <a:endParaRPr lang="en-US" dirty="0">
              <a:latin typeface="Arial" pitchFamily="-110" charset="0"/>
              <a:ea typeface="ＭＳ Ｐゴシック" pitchFamily="-110" charset="-128"/>
              <a:cs typeface="ＭＳ Ｐゴシック" pitchFamily="-110" charset="-128"/>
            </a:endParaRPr>
          </a:p>
          <a:p>
            <a:pPr eaLnBrk="1" hangingPunct="1">
              <a:defRPr/>
            </a:pPr>
            <a:r>
              <a:rPr lang="en-US" dirty="0">
                <a:latin typeface="Arial" pitchFamily="-110" charset="0"/>
                <a:ea typeface="ＭＳ Ｐゴシック" pitchFamily="-110" charset="-128"/>
                <a:cs typeface="ＭＳ Ｐゴシック" pitchFamily="-110" charset="-128"/>
              </a:rPr>
              <a:t>The tighter controls that Apple impose on their app store, mean that many</a:t>
            </a:r>
          </a:p>
          <a:p>
            <a:pPr eaLnBrk="1" hangingPunct="1">
              <a:defRPr/>
            </a:pPr>
            <a:r>
              <a:rPr lang="en-US" dirty="0">
                <a:latin typeface="Arial" pitchFamily="-110" charset="0"/>
                <a:ea typeface="ＭＳ Ｐゴシック" pitchFamily="-110" charset="-128"/>
                <a:cs typeface="ＭＳ Ｐゴシック" pitchFamily="-110" charset="-128"/>
              </a:rPr>
              <a:t>iPhone Trojans target “jail-broken” phones, and are distributed via unofficial sites.</a:t>
            </a:r>
          </a:p>
          <a:p>
            <a:pPr eaLnBrk="1" hangingPunct="1">
              <a:defRPr/>
            </a:pPr>
            <a:r>
              <a:rPr lang="en-US" dirty="0">
                <a:latin typeface="Arial" pitchFamily="-110" charset="0"/>
                <a:ea typeface="ＭＳ Ｐゴシック" pitchFamily="-110" charset="-128"/>
                <a:cs typeface="ＭＳ Ｐゴシック" pitchFamily="-110" charset="-128"/>
              </a:rPr>
              <a:t>However a number of versions of the iPhone O/S contained some form of graphic</a:t>
            </a:r>
          </a:p>
          <a:p>
            <a:pPr eaLnBrk="1" hangingPunct="1">
              <a:defRPr/>
            </a:pPr>
            <a:r>
              <a:rPr lang="en-US" dirty="0">
                <a:latin typeface="Arial" pitchFamily="-110" charset="0"/>
                <a:ea typeface="ＭＳ Ｐゴシック" pitchFamily="-110" charset="-128"/>
                <a:cs typeface="ＭＳ Ｐゴシック" pitchFamily="-110" charset="-128"/>
              </a:rPr>
              <a:t>or PDF vulnerability. Indeed these vulnerabilities were the main means used to “jailbreak”</a:t>
            </a:r>
          </a:p>
          <a:p>
            <a:pPr eaLnBrk="1" hangingPunct="1">
              <a:defRPr/>
            </a:pPr>
            <a:r>
              <a:rPr lang="en-US" dirty="0">
                <a:latin typeface="Arial" pitchFamily="-110" charset="0"/>
                <a:ea typeface="ＭＳ Ｐゴシック" pitchFamily="-110" charset="-128"/>
                <a:cs typeface="ＭＳ Ｐゴシック" pitchFamily="-110" charset="-128"/>
              </a:rPr>
              <a:t>the phones. But they also provided a path that malware could use to target</a:t>
            </a:r>
          </a:p>
          <a:p>
            <a:pPr eaLnBrk="1" hangingPunct="1">
              <a:defRPr/>
            </a:pPr>
            <a:r>
              <a:rPr lang="en-US" dirty="0">
                <a:latin typeface="Arial" pitchFamily="-110" charset="0"/>
                <a:ea typeface="ＭＳ Ｐゴシック" pitchFamily="-110" charset="-128"/>
                <a:cs typeface="ＭＳ Ｐゴシック" pitchFamily="-110" charset="-128"/>
              </a:rPr>
              <a:t>the phones. While Apple has fixed a number of these vulnerabilities, new variants</a:t>
            </a:r>
          </a:p>
          <a:p>
            <a:pPr eaLnBrk="1" hangingPunct="1">
              <a:defRPr/>
            </a:pPr>
            <a:r>
              <a:rPr lang="en-US" dirty="0">
                <a:latin typeface="Arial" pitchFamily="-110" charset="0"/>
                <a:ea typeface="ＭＳ Ｐゴシック" pitchFamily="-110" charset="-128"/>
                <a:cs typeface="ＭＳ Ｐゴシック" pitchFamily="-110" charset="-128"/>
              </a:rPr>
              <a:t> continued to be discovered. This is yet another illustration of just how difficult it is, for</a:t>
            </a:r>
          </a:p>
          <a:p>
            <a:pPr eaLnBrk="1" hangingPunct="1">
              <a:defRPr/>
            </a:pPr>
            <a:r>
              <a:rPr lang="en-US" dirty="0">
                <a:latin typeface="Arial" pitchFamily="-110" charset="0"/>
                <a:ea typeface="ＭＳ Ｐゴシック" pitchFamily="-110" charset="-128"/>
                <a:cs typeface="ＭＳ Ｐゴシック" pitchFamily="-110" charset="-128"/>
              </a:rPr>
              <a:t>even well- resourced organizations, to write secure software within a complex system,</a:t>
            </a:r>
          </a:p>
          <a:p>
            <a:pPr eaLnBrk="1" hangingPunct="1">
              <a:defRPr/>
            </a:pPr>
            <a:r>
              <a:rPr lang="en-US" dirty="0">
                <a:latin typeface="Arial" pitchFamily="-110" charset="0"/>
                <a:ea typeface="ＭＳ Ｐゴシック" pitchFamily="-110" charset="-128"/>
                <a:cs typeface="ＭＳ Ｐゴシック" pitchFamily="-110" charset="-128"/>
              </a:rPr>
              <a:t>such as an operating system. We will return to this topic in Chapters 10 and 11. More</a:t>
            </a:r>
          </a:p>
          <a:p>
            <a:pPr eaLnBrk="1" hangingPunct="1">
              <a:defRPr/>
            </a:pPr>
            <a:r>
              <a:rPr lang="en-US" dirty="0">
                <a:latin typeface="Arial" pitchFamily="-110" charset="0"/>
                <a:ea typeface="ＭＳ Ｐゴシック" pitchFamily="-110" charset="-128"/>
                <a:cs typeface="ＭＳ Ｐゴシック" pitchFamily="-110" charset="-128"/>
              </a:rPr>
              <a:t>recently in 2015, </a:t>
            </a:r>
            <a:r>
              <a:rPr lang="en-US" dirty="0" err="1">
                <a:latin typeface="Arial" pitchFamily="-110" charset="0"/>
                <a:ea typeface="ＭＳ Ｐゴシック" pitchFamily="-110" charset="-128"/>
                <a:cs typeface="ＭＳ Ｐゴシック" pitchFamily="-110" charset="-128"/>
              </a:rPr>
              <a:t>XcodeGhost</a:t>
            </a:r>
            <a:r>
              <a:rPr lang="en-US" dirty="0">
                <a:latin typeface="Arial" pitchFamily="-110" charset="0"/>
                <a:ea typeface="ＭＳ Ｐゴシック" pitchFamily="-110" charset="-128"/>
                <a:cs typeface="ＭＳ Ｐゴシック" pitchFamily="-110" charset="-128"/>
              </a:rPr>
              <a:t> malware was discovered in a number of legitimate</a:t>
            </a:r>
          </a:p>
          <a:p>
            <a:pPr eaLnBrk="1" hangingPunct="1">
              <a:defRPr/>
            </a:pPr>
            <a:r>
              <a:rPr lang="en-US" dirty="0">
                <a:latin typeface="Arial" pitchFamily="-110" charset="0"/>
                <a:ea typeface="ＭＳ Ｐゴシック" pitchFamily="-110" charset="-128"/>
                <a:cs typeface="ＭＳ Ｐゴシック" pitchFamily="-110" charset="-128"/>
              </a:rPr>
              <a:t>Apple Store apps. The apps were not intentionally designed to be malicious, but their</a:t>
            </a:r>
          </a:p>
          <a:p>
            <a:pPr eaLnBrk="1" hangingPunct="1">
              <a:defRPr/>
            </a:pPr>
            <a:r>
              <a:rPr lang="en-US" dirty="0">
                <a:latin typeface="Arial" pitchFamily="-110" charset="0"/>
                <a:ea typeface="ＭＳ Ｐゴシック" pitchFamily="-110" charset="-128"/>
                <a:cs typeface="ＭＳ Ｐゴシック" pitchFamily="-110" charset="-128"/>
              </a:rPr>
              <a:t>developers used a compromised </a:t>
            </a:r>
            <a:r>
              <a:rPr lang="en-US" dirty="0" err="1">
                <a:latin typeface="Arial" pitchFamily="-110" charset="0"/>
                <a:ea typeface="ＭＳ Ｐゴシック" pitchFamily="-110" charset="-128"/>
                <a:cs typeface="ＭＳ Ｐゴシック" pitchFamily="-110" charset="-128"/>
              </a:rPr>
              <a:t>Xcode</a:t>
            </a:r>
            <a:r>
              <a:rPr lang="en-US" dirty="0">
                <a:latin typeface="Arial" pitchFamily="-110" charset="0"/>
                <a:ea typeface="ＭＳ Ｐゴシック" pitchFamily="-110" charset="-128"/>
                <a:cs typeface="ＭＳ Ｐゴシック" pitchFamily="-110" charset="-128"/>
              </a:rPr>
              <a:t> development system that covertly installed</a:t>
            </a:r>
          </a:p>
          <a:p>
            <a:pPr eaLnBrk="1" hangingPunct="1">
              <a:defRPr/>
            </a:pPr>
            <a:r>
              <a:rPr lang="en-US" dirty="0">
                <a:latin typeface="Arial" pitchFamily="-110" charset="0"/>
                <a:ea typeface="ＭＳ Ｐゴシック" pitchFamily="-110" charset="-128"/>
                <a:cs typeface="ＭＳ Ｐゴシック" pitchFamily="-110" charset="-128"/>
              </a:rPr>
              <a:t>the malware as the apps were created [SYMA16]. This is one of several examples</a:t>
            </a:r>
          </a:p>
          <a:p>
            <a:pPr eaLnBrk="1" hangingPunct="1">
              <a:defRPr/>
            </a:pPr>
            <a:r>
              <a:rPr lang="en-US" dirty="0">
                <a:latin typeface="Arial" pitchFamily="-110" charset="0"/>
                <a:ea typeface="ＭＳ Ｐゴシック" pitchFamily="-110" charset="-128"/>
                <a:cs typeface="ＭＳ Ｐゴシック" pitchFamily="-110" charset="-128"/>
              </a:rPr>
              <a:t>of attackers exploiting the development or enterprise provisioning infrastructure to</a:t>
            </a:r>
          </a:p>
          <a:p>
            <a:pPr eaLnBrk="1" hangingPunct="1">
              <a:defRPr/>
            </a:pPr>
            <a:r>
              <a:rPr lang="en-US" dirty="0">
                <a:latin typeface="Arial" pitchFamily="-110" charset="0"/>
                <a:ea typeface="ＭＳ Ｐゴシック" pitchFamily="-110" charset="-128"/>
                <a:cs typeface="ＭＳ Ｐゴシック" pitchFamily="-110" charset="-128"/>
              </a:rPr>
              <a:t>assist malware distribution.</a:t>
            </a:r>
          </a:p>
          <a:p>
            <a:pPr eaLnBrk="1" hangingPunct="1">
              <a:defRPr/>
            </a:pPr>
            <a:endParaRPr lang="en-US" dirty="0">
              <a:latin typeface="Arial" charset="0"/>
              <a:ea typeface="ＭＳ Ｐゴシック" pitchFamily="-65" charset="-128"/>
            </a:endParaRPr>
          </a:p>
        </p:txBody>
      </p:sp>
      <p:sp>
        <p:nvSpPr>
          <p:cNvPr id="45060" name="Slide Number Placeholder 3">
            <a:extLst>
              <a:ext uri="{FF2B5EF4-FFF2-40B4-BE49-F238E27FC236}">
                <a16:creationId xmlns:a16="http://schemas.microsoft.com/office/drawing/2014/main" id="{70AFCBB5-B91F-8B58-CC00-39B50AFC84AF}"/>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8F8A1E9-C958-4733-BEB6-96C6DE27AECB}" type="slidenum">
              <a:rPr lang="en-AU" altLang="en-PK" sz="1200"/>
              <a:pPr/>
              <a:t>29</a:t>
            </a:fld>
            <a:endParaRPr lang="en-AU" altLang="en-PK"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921E718E-B85A-3BE7-7B50-5C176EC21459}"/>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DEA1093C-6B92-FDDD-0E69-F84F6F429135}"/>
              </a:ext>
            </a:extLst>
          </p:cNvPr>
          <p:cNvSpPr>
            <a:spLocks noGrp="1"/>
          </p:cNvSpPr>
          <p:nvPr>
            <p:ph type="body" idx="1"/>
          </p:nvPr>
        </p:nvSpPr>
        <p:spPr/>
        <p:txBody>
          <a:bodyPr>
            <a:normAutofit fontScale="25000" lnSpcReduction="20000"/>
          </a:bodyPr>
          <a:lstStyle/>
          <a:p>
            <a:pPr eaLnBrk="1" hangingPunct="1">
              <a:lnSpc>
                <a:spcPct val="90000"/>
              </a:lnSpc>
              <a:defRPr/>
            </a:pPr>
            <a:r>
              <a:rPr lang="en-US" dirty="0">
                <a:latin typeface="Arial" charset="0"/>
                <a:ea typeface="ＭＳ Ｐゴシック" pitchFamily="-65" charset="-128"/>
              </a:rPr>
              <a:t>The final category of malware propagation we consider involves social engineering,</a:t>
            </a:r>
          </a:p>
          <a:p>
            <a:pPr eaLnBrk="1" hangingPunct="1">
              <a:lnSpc>
                <a:spcPct val="90000"/>
              </a:lnSpc>
              <a:defRPr/>
            </a:pPr>
            <a:r>
              <a:rPr lang="en-US" dirty="0">
                <a:latin typeface="Arial" charset="0"/>
                <a:ea typeface="ＭＳ Ｐゴシック" pitchFamily="-65" charset="-128"/>
              </a:rPr>
              <a:t>“tricking” users to assist in the compromise of their own systems or personal</a:t>
            </a:r>
          </a:p>
          <a:p>
            <a:pPr eaLnBrk="1" hangingPunct="1">
              <a:lnSpc>
                <a:spcPct val="90000"/>
              </a:lnSpc>
              <a:defRPr/>
            </a:pPr>
            <a:r>
              <a:rPr lang="en-US" dirty="0">
                <a:latin typeface="Arial" charset="0"/>
                <a:ea typeface="ＭＳ Ｐゴシック" pitchFamily="-65" charset="-128"/>
              </a:rPr>
              <a:t>information. This can occur when a user views and responds to some SPAM</a:t>
            </a:r>
          </a:p>
          <a:p>
            <a:pPr eaLnBrk="1" hangingPunct="1">
              <a:lnSpc>
                <a:spcPct val="90000"/>
              </a:lnSpc>
              <a:defRPr/>
            </a:pPr>
            <a:r>
              <a:rPr lang="en-US" dirty="0">
                <a:latin typeface="Arial" charset="0"/>
                <a:ea typeface="ＭＳ Ｐゴシック" pitchFamily="-65" charset="-128"/>
              </a:rPr>
              <a:t>e-mail, or permits the installation and execution of some Trojan horse program or</a:t>
            </a:r>
          </a:p>
          <a:p>
            <a:pPr eaLnBrk="1" hangingPunct="1">
              <a:lnSpc>
                <a:spcPct val="90000"/>
              </a:lnSpc>
              <a:defRPr/>
            </a:pPr>
            <a:r>
              <a:rPr lang="en-US" dirty="0">
                <a:latin typeface="Arial" charset="0"/>
                <a:ea typeface="ＭＳ Ｐゴシック" pitchFamily="-65" charset="-128"/>
              </a:rPr>
              <a:t>scripting code.</a:t>
            </a:r>
          </a:p>
          <a:p>
            <a:pPr eaLnBrk="1" hangingPunct="1">
              <a:lnSpc>
                <a:spcPct val="90000"/>
              </a:lnSpc>
              <a:defRPr/>
            </a:pPr>
            <a:endParaRPr lang="en-US" b="1" dirty="0">
              <a:latin typeface="Arial" charset="0"/>
              <a:ea typeface="ＭＳ Ｐゴシック" pitchFamily="-65" charset="-128"/>
            </a:endParaRPr>
          </a:p>
          <a:p>
            <a:pPr eaLnBrk="1" hangingPunct="1">
              <a:lnSpc>
                <a:spcPct val="90000"/>
              </a:lnSpc>
              <a:defRPr/>
            </a:pPr>
            <a:r>
              <a:rPr lang="en-US" b="1" dirty="0">
                <a:latin typeface="Arial" charset="0"/>
                <a:ea typeface="ＭＳ Ｐゴシック" pitchFamily="-65" charset="-128"/>
              </a:rPr>
              <a:t>Spam (Unsolicited Bulk) E-Mail</a:t>
            </a:r>
          </a:p>
          <a:p>
            <a:pPr eaLnBrk="1" hangingPunct="1">
              <a:lnSpc>
                <a:spcPct val="90000"/>
              </a:lnSpc>
              <a:defRPr/>
            </a:pPr>
            <a:endParaRPr lang="en-US" dirty="0">
              <a:latin typeface="Arial" charset="0"/>
              <a:ea typeface="ＭＳ Ｐゴシック" pitchFamily="-65" charset="-128"/>
            </a:endParaRPr>
          </a:p>
          <a:p>
            <a:pPr eaLnBrk="1" hangingPunct="1">
              <a:defRPr/>
            </a:pPr>
            <a:r>
              <a:rPr lang="en-US" dirty="0">
                <a:latin typeface="Arial" pitchFamily="-110" charset="0"/>
                <a:ea typeface="ＭＳ Ｐゴシック" pitchFamily="-110" charset="-128"/>
                <a:cs typeface="ＭＳ Ｐゴシック" pitchFamily="-110" charset="-128"/>
              </a:rPr>
              <a:t>With the explosive growth of the Internet over the last few decades, the widespread</a:t>
            </a:r>
          </a:p>
          <a:p>
            <a:pPr eaLnBrk="1" hangingPunct="1">
              <a:defRPr/>
            </a:pPr>
            <a:r>
              <a:rPr lang="en-US" dirty="0">
                <a:latin typeface="Arial" pitchFamily="-110" charset="0"/>
                <a:ea typeface="ＭＳ Ｐゴシック" pitchFamily="-110" charset="-128"/>
                <a:cs typeface="ＭＳ Ｐゴシック" pitchFamily="-110" charset="-128"/>
              </a:rPr>
              <a:t>use of e-mail, and the extremely low cost required to send large volumes of e-mail, has</a:t>
            </a:r>
          </a:p>
          <a:p>
            <a:pPr eaLnBrk="1" hangingPunct="1">
              <a:defRPr/>
            </a:pPr>
            <a:r>
              <a:rPr lang="en-US" dirty="0">
                <a:latin typeface="Arial" pitchFamily="-110" charset="0"/>
                <a:ea typeface="ＭＳ Ｐゴシック" pitchFamily="-110" charset="-128"/>
                <a:cs typeface="ＭＳ Ｐゴシック" pitchFamily="-110" charset="-128"/>
              </a:rPr>
              <a:t>come the rise of unsolicited bulk e-mail, commonly known as spam. [SYMA16] notes</a:t>
            </a:r>
          </a:p>
          <a:p>
            <a:pPr eaLnBrk="1" hangingPunct="1">
              <a:defRPr/>
            </a:pPr>
            <a:r>
              <a:rPr lang="en-US" dirty="0">
                <a:latin typeface="Arial" pitchFamily="-110" charset="0"/>
                <a:ea typeface="ＭＳ Ｐゴシック" pitchFamily="-110" charset="-128"/>
                <a:cs typeface="ＭＳ Ｐゴシック" pitchFamily="-110" charset="-128"/>
              </a:rPr>
              <a:t>that more than half of inbound business e-mail traffic is still spam, despite a gradual</a:t>
            </a:r>
          </a:p>
          <a:p>
            <a:pPr eaLnBrk="1" hangingPunct="1">
              <a:defRPr/>
            </a:pPr>
            <a:r>
              <a:rPr lang="en-US" dirty="0">
                <a:latin typeface="Arial" pitchFamily="-110" charset="0"/>
                <a:ea typeface="ＭＳ Ｐゴシック" pitchFamily="-110" charset="-128"/>
                <a:cs typeface="ＭＳ Ｐゴシック" pitchFamily="-110" charset="-128"/>
              </a:rPr>
              <a:t>decline in recent years. This imposes significant costs on both the network infrastructure</a:t>
            </a:r>
          </a:p>
          <a:p>
            <a:pPr eaLnBrk="1" hangingPunct="1">
              <a:defRPr/>
            </a:pPr>
            <a:r>
              <a:rPr lang="en-US" dirty="0">
                <a:latin typeface="Arial" pitchFamily="-110" charset="0"/>
                <a:ea typeface="ＭＳ Ｐゴシック" pitchFamily="-110" charset="-128"/>
                <a:cs typeface="ＭＳ Ｐゴシック" pitchFamily="-110" charset="-128"/>
              </a:rPr>
              <a:t>needed to relay this traffic, and on users who need to filter their legitimate e-mails</a:t>
            </a:r>
          </a:p>
          <a:p>
            <a:pPr eaLnBrk="1" hangingPunct="1">
              <a:defRPr/>
            </a:pPr>
            <a:r>
              <a:rPr lang="en-US" dirty="0">
                <a:latin typeface="Arial" pitchFamily="-110" charset="0"/>
                <a:ea typeface="ＭＳ Ｐゴシック" pitchFamily="-110" charset="-128"/>
                <a:cs typeface="ＭＳ Ｐゴシック" pitchFamily="-110" charset="-128"/>
              </a:rPr>
              <a:t>out of this flood. In response to this explosive growth, there has been the equally rapid</a:t>
            </a:r>
          </a:p>
          <a:p>
            <a:pPr eaLnBrk="1" hangingPunct="1">
              <a:defRPr/>
            </a:pPr>
            <a:r>
              <a:rPr lang="en-US" dirty="0">
                <a:latin typeface="Arial" pitchFamily="-110" charset="0"/>
                <a:ea typeface="ＭＳ Ｐゴシック" pitchFamily="-110" charset="-128"/>
                <a:cs typeface="ＭＳ Ｐゴシック" pitchFamily="-110" charset="-128"/>
              </a:rPr>
              <a:t>growth of the anti-spam industry that provides products to detect and filter spam</a:t>
            </a:r>
          </a:p>
          <a:p>
            <a:pPr eaLnBrk="1" hangingPunct="1">
              <a:defRPr/>
            </a:pPr>
            <a:r>
              <a:rPr lang="en-US" dirty="0">
                <a:latin typeface="Arial" pitchFamily="-110" charset="0"/>
                <a:ea typeface="ＭＳ Ｐゴシック" pitchFamily="-110" charset="-128"/>
                <a:cs typeface="ＭＳ Ｐゴシック" pitchFamily="-110" charset="-128"/>
              </a:rPr>
              <a:t>e-mails. This has led to an arms race between the spammers devising techniques to</a:t>
            </a:r>
          </a:p>
          <a:p>
            <a:pPr eaLnBrk="1" hangingPunct="1">
              <a:defRPr/>
            </a:pPr>
            <a:r>
              <a:rPr lang="en-US" dirty="0">
                <a:latin typeface="Arial" pitchFamily="-110" charset="0"/>
                <a:ea typeface="ＭＳ Ｐゴシック" pitchFamily="-110" charset="-128"/>
                <a:cs typeface="ＭＳ Ｐゴシック" pitchFamily="-110" charset="-128"/>
              </a:rPr>
              <a:t>sneak their content through, and with the defenders, efforts to block them [KREI09].</a:t>
            </a:r>
          </a:p>
          <a:p>
            <a:pPr eaLnBrk="1" hangingPunct="1">
              <a:lnSpc>
                <a:spcPct val="90000"/>
              </a:lnSpc>
              <a:defRPr/>
            </a:pPr>
            <a:endParaRPr lang="en-US" dirty="0">
              <a:latin typeface="Arial" charset="0"/>
              <a:ea typeface="ＭＳ Ｐゴシック" pitchFamily="-65" charset="-128"/>
            </a:endParaRPr>
          </a:p>
          <a:p>
            <a:pPr eaLnBrk="1" hangingPunct="1">
              <a:defRPr/>
            </a:pPr>
            <a:r>
              <a:rPr lang="en-US" dirty="0">
                <a:latin typeface="Arial" pitchFamily="-110" charset="0"/>
                <a:ea typeface="ＭＳ Ｐゴシック" pitchFamily="-110" charset="-128"/>
                <a:cs typeface="ＭＳ Ｐゴシック" pitchFamily="-110" charset="-128"/>
              </a:rPr>
              <a:t> However, the spam problem continues, as spammers exploit other means of</a:t>
            </a:r>
          </a:p>
          <a:p>
            <a:pPr eaLnBrk="1" hangingPunct="1">
              <a:defRPr/>
            </a:pPr>
            <a:r>
              <a:rPr lang="en-US" dirty="0">
                <a:latin typeface="Arial" pitchFamily="-110" charset="0"/>
                <a:ea typeface="ＭＳ Ｐゴシック" pitchFamily="-110" charset="-128"/>
                <a:cs typeface="ＭＳ Ｐゴシック" pitchFamily="-110" charset="-128"/>
              </a:rPr>
              <a:t>reaching their victims. This includes the use of social media, reflecting the rapid growth</a:t>
            </a:r>
          </a:p>
          <a:p>
            <a:pPr eaLnBrk="1" hangingPunct="1">
              <a:defRPr/>
            </a:pPr>
            <a:r>
              <a:rPr lang="en-US" dirty="0">
                <a:latin typeface="Arial" pitchFamily="-110" charset="0"/>
                <a:ea typeface="ＭＳ Ｐゴシック" pitchFamily="-110" charset="-128"/>
                <a:cs typeface="ＭＳ Ｐゴシック" pitchFamily="-110" charset="-128"/>
              </a:rPr>
              <a:t>in the use of these networks. For example, [SYMA16] described a successful </a:t>
            </a:r>
            <a:r>
              <a:rPr lang="en-US" dirty="0" err="1">
                <a:latin typeface="Arial" pitchFamily="-110" charset="0"/>
                <a:ea typeface="ＭＳ Ｐゴシック" pitchFamily="-110" charset="-128"/>
                <a:cs typeface="ＭＳ Ｐゴシック" pitchFamily="-110" charset="-128"/>
              </a:rPr>
              <a:t>weightloss</a:t>
            </a:r>
            <a:endParaRPr lang="en-US" dirty="0">
              <a:latin typeface="Arial" pitchFamily="-110" charset="0"/>
              <a:ea typeface="ＭＳ Ｐゴシック" pitchFamily="-110" charset="-128"/>
              <a:cs typeface="ＭＳ Ｐゴシック" pitchFamily="-110" charset="-128"/>
            </a:endParaRPr>
          </a:p>
          <a:p>
            <a:pPr eaLnBrk="1" hangingPunct="1">
              <a:defRPr/>
            </a:pPr>
            <a:r>
              <a:rPr lang="en-US" dirty="0">
                <a:latin typeface="Arial" pitchFamily="-110" charset="0"/>
                <a:ea typeface="ＭＳ Ｐゴシック" pitchFamily="-110" charset="-128"/>
                <a:cs typeface="ＭＳ Ｐゴシック" pitchFamily="-110" charset="-128"/>
              </a:rPr>
              <a:t>spam campaign that exploited hundreds of thousands of fake Twitter accounts,</a:t>
            </a:r>
          </a:p>
          <a:p>
            <a:pPr eaLnBrk="1" hangingPunct="1">
              <a:defRPr/>
            </a:pPr>
            <a:r>
              <a:rPr lang="en-US" dirty="0">
                <a:latin typeface="Arial" pitchFamily="-110" charset="0"/>
                <a:ea typeface="ＭＳ Ｐゴシック" pitchFamily="-110" charset="-128"/>
                <a:cs typeface="ＭＳ Ｐゴシック" pitchFamily="-110" charset="-128"/>
              </a:rPr>
              <a:t>mutually supporting and reinforcing each other, to increase their credibility and likelihood</a:t>
            </a:r>
          </a:p>
          <a:p>
            <a:pPr eaLnBrk="1" hangingPunct="1">
              <a:defRPr/>
            </a:pPr>
            <a:r>
              <a:rPr lang="en-US" dirty="0">
                <a:latin typeface="Arial" pitchFamily="-110" charset="0"/>
                <a:ea typeface="ＭＳ Ｐゴシック" pitchFamily="-110" charset="-128"/>
                <a:cs typeface="ＭＳ Ｐゴシック" pitchFamily="-110" charset="-128"/>
              </a:rPr>
              <a:t>of users following them, and then falling for the scam. Social network scams often</a:t>
            </a:r>
          </a:p>
          <a:p>
            <a:pPr eaLnBrk="1" hangingPunct="1">
              <a:defRPr/>
            </a:pPr>
            <a:r>
              <a:rPr lang="en-US" dirty="0">
                <a:latin typeface="Arial" pitchFamily="-110" charset="0"/>
                <a:ea typeface="ＭＳ Ｐゴシック" pitchFamily="-110" charset="-128"/>
                <a:cs typeface="ＭＳ Ｐゴシック" pitchFamily="-110" charset="-128"/>
              </a:rPr>
              <a:t>rely on victims sharing the scam, or on fake offers with incentives, to assist their spread.</a:t>
            </a:r>
          </a:p>
          <a:p>
            <a:pPr eaLnBrk="1" hangingPunct="1">
              <a:defRPr/>
            </a:pPr>
            <a:endParaRPr lang="en-US" dirty="0">
              <a:latin typeface="Arial" pitchFamily="-110" charset="0"/>
              <a:ea typeface="ＭＳ Ｐゴシック" pitchFamily="-110" charset="-128"/>
              <a:cs typeface="ＭＳ Ｐゴシック" pitchFamily="-110" charset="-128"/>
            </a:endParaRPr>
          </a:p>
          <a:p>
            <a:pPr eaLnBrk="1" hangingPunct="1">
              <a:defRPr/>
            </a:pPr>
            <a:r>
              <a:rPr lang="en-US" dirty="0">
                <a:latin typeface="Arial" pitchFamily="-110" charset="0"/>
                <a:ea typeface="ＭＳ Ｐゴシック" pitchFamily="-110" charset="-128"/>
                <a:cs typeface="ＭＳ Ｐゴシック" pitchFamily="-110" charset="-128"/>
              </a:rPr>
              <a:t> While some spam e-mail is sent from legitimate mail servers using stolen user</a:t>
            </a:r>
          </a:p>
          <a:p>
            <a:pPr eaLnBrk="1" hangingPunct="1">
              <a:defRPr/>
            </a:pPr>
            <a:r>
              <a:rPr lang="en-US" dirty="0">
                <a:latin typeface="Arial" pitchFamily="-110" charset="0"/>
                <a:ea typeface="ＭＳ Ｐゴシック" pitchFamily="-110" charset="-128"/>
                <a:cs typeface="ＭＳ Ｐゴシック" pitchFamily="-110" charset="-128"/>
              </a:rPr>
              <a:t>credentials, most recent spam is sent by botnets using compromised user systems,</a:t>
            </a:r>
          </a:p>
          <a:p>
            <a:pPr eaLnBrk="1" hangingPunct="1">
              <a:defRPr/>
            </a:pPr>
            <a:r>
              <a:rPr lang="en-US" dirty="0">
                <a:latin typeface="Arial" pitchFamily="-110" charset="0"/>
                <a:ea typeface="ＭＳ Ｐゴシック" pitchFamily="-110" charset="-128"/>
                <a:cs typeface="ＭＳ Ｐゴシック" pitchFamily="-110" charset="-128"/>
              </a:rPr>
              <a:t>as we will discuss in Section 6.6. A significant portion of spam e-mail content is just</a:t>
            </a:r>
          </a:p>
          <a:p>
            <a:pPr eaLnBrk="1" hangingPunct="1">
              <a:defRPr/>
            </a:pPr>
            <a:r>
              <a:rPr lang="en-US" dirty="0">
                <a:latin typeface="Arial" pitchFamily="-110" charset="0"/>
                <a:ea typeface="ＭＳ Ｐゴシック" pitchFamily="-110" charset="-128"/>
                <a:cs typeface="ＭＳ Ｐゴシック" pitchFamily="-110" charset="-128"/>
              </a:rPr>
              <a:t>advertising, trying to convince the recipient to purchase some product online, such</a:t>
            </a:r>
          </a:p>
          <a:p>
            <a:pPr eaLnBrk="1" hangingPunct="1">
              <a:defRPr/>
            </a:pPr>
            <a:r>
              <a:rPr lang="en-US" dirty="0">
                <a:latin typeface="Arial" pitchFamily="-110" charset="0"/>
                <a:ea typeface="ＭＳ Ｐゴシック" pitchFamily="-110" charset="-128"/>
                <a:cs typeface="ＭＳ Ｐゴシック" pitchFamily="-110" charset="-128"/>
              </a:rPr>
              <a:t>as pharmaceuticals, or used in scams, such as stock, romance or fake trader scams, or</a:t>
            </a:r>
          </a:p>
          <a:p>
            <a:pPr eaLnBrk="1" hangingPunct="1">
              <a:defRPr/>
            </a:pPr>
            <a:r>
              <a:rPr lang="en-US" dirty="0">
                <a:latin typeface="Arial" pitchFamily="-110" charset="0"/>
                <a:ea typeface="ＭＳ Ｐゴシック" pitchFamily="-110" charset="-128"/>
                <a:cs typeface="ＭＳ Ｐゴシック" pitchFamily="-110" charset="-128"/>
              </a:rPr>
              <a:t>money mule job ads. But spam is also a significant carrier of malware. The e-mail may</a:t>
            </a:r>
          </a:p>
          <a:p>
            <a:pPr eaLnBrk="1" hangingPunct="1">
              <a:defRPr/>
            </a:pPr>
            <a:r>
              <a:rPr lang="en-US" dirty="0">
                <a:latin typeface="Arial" pitchFamily="-110" charset="0"/>
                <a:ea typeface="ＭＳ Ｐゴシック" pitchFamily="-110" charset="-128"/>
                <a:cs typeface="ＭＳ Ｐゴシック" pitchFamily="-110" charset="-128"/>
              </a:rPr>
              <a:t>have an attached document, which, if opened, may exploit a software vulnerability</a:t>
            </a:r>
          </a:p>
          <a:p>
            <a:pPr eaLnBrk="1" hangingPunct="1">
              <a:defRPr/>
            </a:pPr>
            <a:r>
              <a:rPr lang="en-US" dirty="0">
                <a:latin typeface="Arial" pitchFamily="-110" charset="0"/>
                <a:ea typeface="ＭＳ Ｐゴシック" pitchFamily="-110" charset="-128"/>
                <a:cs typeface="ＭＳ Ｐゴシック" pitchFamily="-110" charset="-128"/>
              </a:rPr>
              <a:t>to install malware on the user’s system, as we discussed in the previous section. Or, it</a:t>
            </a:r>
          </a:p>
          <a:p>
            <a:pPr eaLnBrk="1" hangingPunct="1">
              <a:defRPr/>
            </a:pPr>
            <a:r>
              <a:rPr lang="en-US" dirty="0">
                <a:latin typeface="Arial" pitchFamily="-110" charset="0"/>
                <a:ea typeface="ＭＳ Ｐゴシック" pitchFamily="-110" charset="-128"/>
                <a:cs typeface="ＭＳ Ｐゴシック" pitchFamily="-110" charset="-128"/>
              </a:rPr>
              <a:t>may have an attached Trojan horse program or scripting code that, if run, also installs</a:t>
            </a:r>
          </a:p>
          <a:p>
            <a:pPr eaLnBrk="1" hangingPunct="1">
              <a:defRPr/>
            </a:pPr>
            <a:r>
              <a:rPr lang="en-US" dirty="0">
                <a:latin typeface="Arial" pitchFamily="-110" charset="0"/>
                <a:ea typeface="ＭＳ Ｐゴシック" pitchFamily="-110" charset="-128"/>
                <a:cs typeface="ＭＳ Ｐゴシック" pitchFamily="-110" charset="-128"/>
              </a:rPr>
              <a:t>malware on the user’s system. Some Trojans avoid the need for user agreement by</a:t>
            </a:r>
          </a:p>
          <a:p>
            <a:pPr eaLnBrk="1" hangingPunct="1">
              <a:defRPr/>
            </a:pPr>
            <a:r>
              <a:rPr lang="en-US" dirty="0">
                <a:latin typeface="Arial" pitchFamily="-110" charset="0"/>
                <a:ea typeface="ＭＳ Ｐゴシック" pitchFamily="-110" charset="-128"/>
                <a:cs typeface="ＭＳ Ｐゴシック" pitchFamily="-110" charset="-128"/>
              </a:rPr>
              <a:t>exploiting a software vulnerability in order to install themselves, as we will discuss</a:t>
            </a:r>
          </a:p>
          <a:p>
            <a:pPr eaLnBrk="1" hangingPunct="1">
              <a:defRPr/>
            </a:pPr>
            <a:r>
              <a:rPr lang="en-US" dirty="0">
                <a:latin typeface="Arial" pitchFamily="-110" charset="0"/>
                <a:ea typeface="ＭＳ Ｐゴシック" pitchFamily="-110" charset="-128"/>
                <a:cs typeface="ＭＳ Ｐゴシック" pitchFamily="-110" charset="-128"/>
              </a:rPr>
              <a:t>next. Finally the spam may be used in a phishing attack, typically directing the user</a:t>
            </a:r>
          </a:p>
          <a:p>
            <a:pPr eaLnBrk="1" hangingPunct="1">
              <a:defRPr/>
            </a:pPr>
            <a:r>
              <a:rPr lang="en-US" dirty="0">
                <a:latin typeface="Arial" pitchFamily="-110" charset="0"/>
                <a:ea typeface="ＭＳ Ｐゴシック" pitchFamily="-110" charset="-128"/>
                <a:cs typeface="ＭＳ Ｐゴシック" pitchFamily="-110" charset="-128"/>
              </a:rPr>
              <a:t>either to a fake website that mirrors some legitimate service, such as an online banking</a:t>
            </a:r>
          </a:p>
          <a:p>
            <a:pPr eaLnBrk="1" hangingPunct="1">
              <a:defRPr/>
            </a:pPr>
            <a:r>
              <a:rPr lang="en-US" dirty="0">
                <a:latin typeface="Arial" pitchFamily="-110" charset="0"/>
                <a:ea typeface="ＭＳ Ｐゴシック" pitchFamily="-110" charset="-128"/>
                <a:cs typeface="ＭＳ Ｐゴシック" pitchFamily="-110" charset="-128"/>
              </a:rPr>
              <a:t>site, where it attempts to capture the user’s login and password details; or to complete</a:t>
            </a:r>
          </a:p>
          <a:p>
            <a:pPr eaLnBrk="1" hangingPunct="1">
              <a:defRPr/>
            </a:pPr>
            <a:r>
              <a:rPr lang="en-US" dirty="0">
                <a:latin typeface="Arial" pitchFamily="-110" charset="0"/>
                <a:ea typeface="ＭＳ Ｐゴシック" pitchFamily="-110" charset="-128"/>
                <a:cs typeface="ＭＳ Ｐゴシック" pitchFamily="-110" charset="-128"/>
              </a:rPr>
              <a:t>some form with sufficient personal details to allow the attacker to impersonate</a:t>
            </a:r>
          </a:p>
          <a:p>
            <a:pPr eaLnBrk="1" hangingPunct="1">
              <a:defRPr/>
            </a:pPr>
            <a:r>
              <a:rPr lang="en-US" dirty="0">
                <a:latin typeface="Arial" pitchFamily="-110" charset="0"/>
                <a:ea typeface="ＭＳ Ｐゴシック" pitchFamily="-110" charset="-128"/>
                <a:cs typeface="ＭＳ Ｐゴシック" pitchFamily="-110" charset="-128"/>
              </a:rPr>
              <a:t>the user in an identity theft. In recent years, the evolving criminal marketplace makes</a:t>
            </a:r>
          </a:p>
          <a:p>
            <a:pPr eaLnBrk="1" hangingPunct="1">
              <a:defRPr/>
            </a:pPr>
            <a:r>
              <a:rPr lang="en-US" dirty="0">
                <a:latin typeface="Arial" pitchFamily="-110" charset="0"/>
                <a:ea typeface="ＭＳ Ｐゴシック" pitchFamily="-110" charset="-128"/>
                <a:cs typeface="ＭＳ Ｐゴシック" pitchFamily="-110" charset="-128"/>
              </a:rPr>
              <a:t>phishing campaigns easier by selling packages to scammers that largely automate the</a:t>
            </a:r>
          </a:p>
          <a:p>
            <a:pPr eaLnBrk="1" hangingPunct="1">
              <a:defRPr/>
            </a:pPr>
            <a:r>
              <a:rPr lang="en-US" dirty="0">
                <a:latin typeface="Arial" pitchFamily="-110" charset="0"/>
                <a:ea typeface="ＭＳ Ｐゴシック" pitchFamily="-110" charset="-128"/>
                <a:cs typeface="ＭＳ Ｐゴシック" pitchFamily="-110" charset="-128"/>
              </a:rPr>
              <a:t>process of running the scam [SYMA16]. All of these uses make spam e-mails a significant</a:t>
            </a:r>
          </a:p>
          <a:p>
            <a:pPr eaLnBrk="1" hangingPunct="1">
              <a:defRPr/>
            </a:pPr>
            <a:r>
              <a:rPr lang="en-US" dirty="0">
                <a:latin typeface="Arial" pitchFamily="-110" charset="0"/>
                <a:ea typeface="ＭＳ Ｐゴシック" pitchFamily="-110" charset="-128"/>
                <a:cs typeface="ＭＳ Ｐゴシック" pitchFamily="-110" charset="-128"/>
              </a:rPr>
              <a:t>security concern. However, in many cases, it requires the user’s active choice</a:t>
            </a:r>
          </a:p>
          <a:p>
            <a:pPr eaLnBrk="1" hangingPunct="1">
              <a:defRPr/>
            </a:pPr>
            <a:r>
              <a:rPr lang="en-US" dirty="0">
                <a:latin typeface="Arial" pitchFamily="-110" charset="0"/>
                <a:ea typeface="ＭＳ Ｐゴシック" pitchFamily="-110" charset="-128"/>
                <a:cs typeface="ＭＳ Ｐゴシック" pitchFamily="-110" charset="-128"/>
              </a:rPr>
              <a:t>to view the e-mail and any attached document, or to permit the installation of some</a:t>
            </a:r>
          </a:p>
          <a:p>
            <a:pPr eaLnBrk="1" hangingPunct="1">
              <a:defRPr/>
            </a:pPr>
            <a:r>
              <a:rPr lang="en-US" dirty="0">
                <a:latin typeface="Arial" pitchFamily="-110" charset="0"/>
                <a:ea typeface="ＭＳ Ｐゴシック" pitchFamily="-110" charset="-128"/>
                <a:cs typeface="ＭＳ Ｐゴシック" pitchFamily="-110" charset="-128"/>
              </a:rPr>
              <a:t>program, in order for the compromise to occur. Hence the importance of providing</a:t>
            </a:r>
          </a:p>
          <a:p>
            <a:pPr eaLnBrk="1" hangingPunct="1">
              <a:defRPr/>
            </a:pPr>
            <a:r>
              <a:rPr lang="en-US" dirty="0">
                <a:latin typeface="Arial" pitchFamily="-110" charset="0"/>
                <a:ea typeface="ＭＳ Ｐゴシック" pitchFamily="-110" charset="-128"/>
                <a:cs typeface="ＭＳ Ｐゴシック" pitchFamily="-110" charset="-128"/>
              </a:rPr>
              <a:t>appropriate security awareness training to users, so they are better able to recognize</a:t>
            </a:r>
          </a:p>
          <a:p>
            <a:pPr eaLnBrk="1" hangingPunct="1">
              <a:defRPr/>
            </a:pPr>
            <a:r>
              <a:rPr lang="en-US" dirty="0">
                <a:latin typeface="Arial" pitchFamily="-110" charset="0"/>
                <a:ea typeface="ＭＳ Ｐゴシック" pitchFamily="-110" charset="-128"/>
                <a:cs typeface="ＭＳ Ｐゴシック" pitchFamily="-110" charset="-128"/>
              </a:rPr>
              <a:t>and respond appropriately to such e-mails, as we will discuss in Chapter 17.</a:t>
            </a:r>
          </a:p>
          <a:p>
            <a:pPr eaLnBrk="1" hangingPunct="1">
              <a:lnSpc>
                <a:spcPct val="90000"/>
              </a:lnSpc>
              <a:defRPr/>
            </a:pPr>
            <a:endParaRPr lang="en-US" b="1" dirty="0">
              <a:latin typeface="Arial" charset="0"/>
              <a:ea typeface="ＭＳ Ｐゴシック" pitchFamily="-65" charset="-128"/>
            </a:endParaRPr>
          </a:p>
          <a:p>
            <a:pPr eaLnBrk="1" hangingPunct="1">
              <a:lnSpc>
                <a:spcPct val="90000"/>
              </a:lnSpc>
              <a:defRPr/>
            </a:pPr>
            <a:r>
              <a:rPr lang="en-US" b="1" dirty="0">
                <a:latin typeface="Arial" charset="0"/>
                <a:ea typeface="ＭＳ Ｐゴシック" pitchFamily="-65" charset="-128"/>
              </a:rPr>
              <a:t>Trojan Horses</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A Trojan horse is a useful, or apparently useful, program or utility containing</a:t>
            </a:r>
          </a:p>
          <a:p>
            <a:pPr eaLnBrk="1" hangingPunct="1">
              <a:lnSpc>
                <a:spcPct val="90000"/>
              </a:lnSpc>
              <a:defRPr/>
            </a:pPr>
            <a:r>
              <a:rPr lang="en-US" dirty="0">
                <a:latin typeface="Arial" charset="0"/>
                <a:ea typeface="ＭＳ Ｐゴシック" pitchFamily="-65" charset="-128"/>
              </a:rPr>
              <a:t>hidden code that, when invoked, performs some unwanted or harmful function.</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Trojan horse programs can be used to accomplish functions indirectly that</a:t>
            </a:r>
          </a:p>
          <a:p>
            <a:pPr eaLnBrk="1" hangingPunct="1">
              <a:lnSpc>
                <a:spcPct val="90000"/>
              </a:lnSpc>
              <a:defRPr/>
            </a:pPr>
            <a:r>
              <a:rPr lang="en-US" dirty="0">
                <a:latin typeface="Arial" charset="0"/>
                <a:ea typeface="ＭＳ Ｐゴシック" pitchFamily="-65" charset="-128"/>
              </a:rPr>
              <a:t>the attacker could not accomplish directly. For example, to gain access to sensitive,</a:t>
            </a:r>
          </a:p>
          <a:p>
            <a:pPr eaLnBrk="1" hangingPunct="1">
              <a:lnSpc>
                <a:spcPct val="90000"/>
              </a:lnSpc>
              <a:defRPr/>
            </a:pPr>
            <a:r>
              <a:rPr lang="en-US" dirty="0">
                <a:latin typeface="Arial" charset="0"/>
                <a:ea typeface="ＭＳ Ｐゴシック" pitchFamily="-65" charset="-128"/>
              </a:rPr>
              <a:t>personal information stored in the files of a user, an attacker could create a Trojan</a:t>
            </a:r>
          </a:p>
          <a:p>
            <a:pPr eaLnBrk="1" hangingPunct="1">
              <a:lnSpc>
                <a:spcPct val="90000"/>
              </a:lnSpc>
              <a:defRPr/>
            </a:pPr>
            <a:r>
              <a:rPr lang="en-US" dirty="0">
                <a:latin typeface="Arial" charset="0"/>
                <a:ea typeface="ＭＳ Ｐゴシック" pitchFamily="-65" charset="-128"/>
              </a:rPr>
              <a:t>horse program that, when executed, scans the user’s files for the desired sensitive</a:t>
            </a:r>
          </a:p>
          <a:p>
            <a:pPr eaLnBrk="1" hangingPunct="1">
              <a:lnSpc>
                <a:spcPct val="90000"/>
              </a:lnSpc>
              <a:defRPr/>
            </a:pPr>
            <a:r>
              <a:rPr lang="en-US" dirty="0">
                <a:latin typeface="Arial" charset="0"/>
                <a:ea typeface="ＭＳ Ｐゴシック" pitchFamily="-65" charset="-128"/>
              </a:rPr>
              <a:t>information and sends a copy of it to the attacker via a Web form or e-mail or text</a:t>
            </a:r>
          </a:p>
          <a:p>
            <a:pPr eaLnBrk="1" hangingPunct="1">
              <a:lnSpc>
                <a:spcPct val="90000"/>
              </a:lnSpc>
              <a:defRPr/>
            </a:pPr>
            <a:r>
              <a:rPr lang="en-US" dirty="0">
                <a:latin typeface="Arial" charset="0"/>
                <a:ea typeface="ＭＳ Ｐゴシック" pitchFamily="-65" charset="-128"/>
              </a:rPr>
              <a:t>message. The author could then entice users to run the program by incorporating it</a:t>
            </a:r>
          </a:p>
          <a:p>
            <a:pPr eaLnBrk="1" hangingPunct="1">
              <a:lnSpc>
                <a:spcPct val="90000"/>
              </a:lnSpc>
              <a:defRPr/>
            </a:pPr>
            <a:r>
              <a:rPr lang="en-US" dirty="0">
                <a:latin typeface="Arial" charset="0"/>
                <a:ea typeface="ＭＳ Ｐゴシック" pitchFamily="-65" charset="-128"/>
              </a:rPr>
              <a:t>into a game or useful utility program, and making it available via a known software</a:t>
            </a:r>
          </a:p>
          <a:p>
            <a:pPr eaLnBrk="1" hangingPunct="1">
              <a:lnSpc>
                <a:spcPct val="90000"/>
              </a:lnSpc>
              <a:defRPr/>
            </a:pPr>
            <a:r>
              <a:rPr lang="en-US" dirty="0">
                <a:latin typeface="Arial" charset="0"/>
                <a:ea typeface="ＭＳ Ｐゴシック" pitchFamily="-65" charset="-128"/>
              </a:rPr>
              <a:t>distribution site or app store. This approach has been used recently with utilities</a:t>
            </a:r>
          </a:p>
          <a:p>
            <a:pPr eaLnBrk="1" hangingPunct="1">
              <a:lnSpc>
                <a:spcPct val="90000"/>
              </a:lnSpc>
              <a:defRPr/>
            </a:pPr>
            <a:r>
              <a:rPr lang="en-US" dirty="0">
                <a:latin typeface="Arial" charset="0"/>
                <a:ea typeface="ＭＳ Ｐゴシック" pitchFamily="-65" charset="-128"/>
              </a:rPr>
              <a:t>that “claim” to be the latest anti-virus scanner, or security update, for systems, but</a:t>
            </a:r>
          </a:p>
          <a:p>
            <a:pPr eaLnBrk="1" hangingPunct="1">
              <a:lnSpc>
                <a:spcPct val="90000"/>
              </a:lnSpc>
              <a:defRPr/>
            </a:pPr>
            <a:r>
              <a:rPr lang="en-US" dirty="0">
                <a:latin typeface="Arial" charset="0"/>
                <a:ea typeface="ＭＳ Ｐゴシック" pitchFamily="-65" charset="-128"/>
              </a:rPr>
              <a:t>which are actually malicious Trojans, often carrying payloads such as spyware that</a:t>
            </a:r>
          </a:p>
          <a:p>
            <a:pPr eaLnBrk="1" hangingPunct="1">
              <a:lnSpc>
                <a:spcPct val="90000"/>
              </a:lnSpc>
              <a:defRPr/>
            </a:pPr>
            <a:r>
              <a:rPr lang="en-US" dirty="0">
                <a:latin typeface="Arial" charset="0"/>
                <a:ea typeface="ＭＳ Ｐゴシック" pitchFamily="-65" charset="-128"/>
              </a:rPr>
              <a:t>searches for banking credentials. Hence, users need to take precautions to validate</a:t>
            </a:r>
          </a:p>
          <a:p>
            <a:pPr eaLnBrk="1" hangingPunct="1">
              <a:lnSpc>
                <a:spcPct val="90000"/>
              </a:lnSpc>
              <a:defRPr/>
            </a:pPr>
            <a:r>
              <a:rPr lang="en-US" dirty="0">
                <a:latin typeface="Arial" charset="0"/>
                <a:ea typeface="ＭＳ Ｐゴシック" pitchFamily="-65" charset="-128"/>
              </a:rPr>
              <a:t>the source of any software they install.</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Trojan horses fit into one of three models:</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 Continuing to perform the function of the original program and additionally</a:t>
            </a:r>
          </a:p>
          <a:p>
            <a:pPr eaLnBrk="1" hangingPunct="1">
              <a:lnSpc>
                <a:spcPct val="90000"/>
              </a:lnSpc>
              <a:defRPr/>
            </a:pPr>
            <a:r>
              <a:rPr lang="en-US" dirty="0">
                <a:latin typeface="Arial" charset="0"/>
                <a:ea typeface="ＭＳ Ｐゴシック" pitchFamily="-65" charset="-128"/>
              </a:rPr>
              <a:t>performing a separate malicious activity</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 Continuing to perform the function of the original program but modifying the</a:t>
            </a:r>
          </a:p>
          <a:p>
            <a:pPr eaLnBrk="1" hangingPunct="1">
              <a:lnSpc>
                <a:spcPct val="90000"/>
              </a:lnSpc>
              <a:defRPr/>
            </a:pPr>
            <a:r>
              <a:rPr lang="en-US" dirty="0">
                <a:latin typeface="Arial" charset="0"/>
                <a:ea typeface="ＭＳ Ｐゴシック" pitchFamily="-65" charset="-128"/>
              </a:rPr>
              <a:t>function to perform malicious activity (e.g., a Trojan horse version of a login</a:t>
            </a:r>
          </a:p>
          <a:p>
            <a:pPr eaLnBrk="1" hangingPunct="1">
              <a:lnSpc>
                <a:spcPct val="90000"/>
              </a:lnSpc>
              <a:defRPr/>
            </a:pPr>
            <a:r>
              <a:rPr lang="en-US" dirty="0">
                <a:latin typeface="Arial" charset="0"/>
                <a:ea typeface="ＭＳ Ｐゴシック" pitchFamily="-65" charset="-128"/>
              </a:rPr>
              <a:t>program that collects passwords) or to disguise other malicious activity (e.g., a</a:t>
            </a:r>
          </a:p>
          <a:p>
            <a:pPr eaLnBrk="1" hangingPunct="1">
              <a:lnSpc>
                <a:spcPct val="90000"/>
              </a:lnSpc>
              <a:defRPr/>
            </a:pPr>
            <a:r>
              <a:rPr lang="en-US" dirty="0">
                <a:latin typeface="Arial" charset="0"/>
                <a:ea typeface="ＭＳ Ｐゴシック" pitchFamily="-65" charset="-128"/>
              </a:rPr>
              <a:t>Trojan horse version of a process listing program that does not display certain</a:t>
            </a:r>
          </a:p>
          <a:p>
            <a:pPr eaLnBrk="1" hangingPunct="1">
              <a:lnSpc>
                <a:spcPct val="90000"/>
              </a:lnSpc>
              <a:defRPr/>
            </a:pPr>
            <a:r>
              <a:rPr lang="en-US" dirty="0">
                <a:latin typeface="Arial" charset="0"/>
                <a:ea typeface="ＭＳ Ｐゴシック" pitchFamily="-65" charset="-128"/>
              </a:rPr>
              <a:t>processes that are malicious)</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 Performing a malicious function that completely replaces the function of the</a:t>
            </a:r>
          </a:p>
          <a:p>
            <a:pPr eaLnBrk="1" hangingPunct="1">
              <a:lnSpc>
                <a:spcPct val="90000"/>
              </a:lnSpc>
              <a:defRPr/>
            </a:pPr>
            <a:r>
              <a:rPr lang="en-US" dirty="0">
                <a:latin typeface="Arial" charset="0"/>
                <a:ea typeface="ＭＳ Ｐゴシック" pitchFamily="-65" charset="-128"/>
              </a:rPr>
              <a:t>original program</a:t>
            </a:r>
          </a:p>
          <a:p>
            <a:pPr eaLnBrk="1" hangingPunct="1">
              <a:lnSpc>
                <a:spcPct val="90000"/>
              </a:lnSpc>
              <a:defRPr/>
            </a:pPr>
            <a:endParaRPr lang="en-US" dirty="0">
              <a:latin typeface="Arial" charset="0"/>
              <a:ea typeface="ＭＳ Ｐゴシック" pitchFamily="-65" charset="-128"/>
            </a:endParaRPr>
          </a:p>
          <a:p>
            <a:pPr eaLnBrk="1" hangingPunct="1">
              <a:defRPr/>
            </a:pPr>
            <a:r>
              <a:rPr lang="en-US" dirty="0">
                <a:latin typeface="Arial" pitchFamily="-110" charset="0"/>
                <a:ea typeface="ＭＳ Ｐゴシック" pitchFamily="-110" charset="-128"/>
                <a:cs typeface="ＭＳ Ｐゴシック" pitchFamily="-110" charset="-128"/>
              </a:rPr>
              <a:t> Some Trojans avoid the requirement for user assistance by exploiting some software</a:t>
            </a:r>
          </a:p>
          <a:p>
            <a:pPr eaLnBrk="1" hangingPunct="1">
              <a:defRPr/>
            </a:pPr>
            <a:r>
              <a:rPr lang="en-US" dirty="0">
                <a:latin typeface="Arial" pitchFamily="-110" charset="0"/>
                <a:ea typeface="ＭＳ Ｐゴシック" pitchFamily="-110" charset="-128"/>
                <a:cs typeface="ＭＳ Ｐゴシック" pitchFamily="-110" charset="-128"/>
              </a:rPr>
              <a:t>vulnerability to enable their automatic installation and execution. In this they share</a:t>
            </a:r>
          </a:p>
          <a:p>
            <a:pPr eaLnBrk="1" hangingPunct="1">
              <a:defRPr/>
            </a:pPr>
            <a:r>
              <a:rPr lang="en-US" dirty="0">
                <a:latin typeface="Arial" pitchFamily="-110" charset="0"/>
                <a:ea typeface="ＭＳ Ｐゴシック" pitchFamily="-110" charset="-128"/>
                <a:cs typeface="ＭＳ Ｐゴシック" pitchFamily="-110" charset="-128"/>
              </a:rPr>
              <a:t>some features of a worm, but unlike it, they do not replicate. A prominent example</a:t>
            </a:r>
          </a:p>
          <a:p>
            <a:pPr eaLnBrk="1" hangingPunct="1">
              <a:defRPr/>
            </a:pPr>
            <a:r>
              <a:rPr lang="en-US" dirty="0">
                <a:latin typeface="Arial" pitchFamily="-110" charset="0"/>
                <a:ea typeface="ＭＳ Ｐゴシック" pitchFamily="-110" charset="-128"/>
                <a:cs typeface="ＭＳ Ｐゴシック" pitchFamily="-110" charset="-128"/>
              </a:rPr>
              <a:t>of such an attack was the </a:t>
            </a:r>
            <a:r>
              <a:rPr lang="en-US" dirty="0" err="1">
                <a:latin typeface="Arial" pitchFamily="-110" charset="0"/>
                <a:ea typeface="ＭＳ Ｐゴシック" pitchFamily="-110" charset="-128"/>
                <a:cs typeface="ＭＳ Ｐゴシック" pitchFamily="-110" charset="-128"/>
              </a:rPr>
              <a:t>Hydraq</a:t>
            </a:r>
            <a:r>
              <a:rPr lang="en-US" dirty="0">
                <a:latin typeface="Arial" pitchFamily="-110" charset="0"/>
                <a:ea typeface="ＭＳ Ｐゴシック" pitchFamily="-110" charset="-128"/>
                <a:cs typeface="ＭＳ Ｐゴシック" pitchFamily="-110" charset="-128"/>
              </a:rPr>
              <a:t> Trojan used in Operation Aurora in 2009 and early</a:t>
            </a:r>
          </a:p>
          <a:p>
            <a:pPr eaLnBrk="1" hangingPunct="1">
              <a:defRPr/>
            </a:pPr>
            <a:r>
              <a:rPr lang="en-US" dirty="0">
                <a:latin typeface="Arial" pitchFamily="-110" charset="0"/>
                <a:ea typeface="ＭＳ Ｐゴシック" pitchFamily="-110" charset="-128"/>
                <a:cs typeface="ＭＳ Ｐゴシック" pitchFamily="-110" charset="-128"/>
              </a:rPr>
              <a:t>2010.  This exploited a vulnerability in Internet Explorer to install itself, and targeted</a:t>
            </a:r>
          </a:p>
          <a:p>
            <a:pPr eaLnBrk="1" hangingPunct="1">
              <a:defRPr/>
            </a:pPr>
            <a:r>
              <a:rPr lang="en-US" dirty="0">
                <a:latin typeface="Arial" pitchFamily="-110" charset="0"/>
                <a:ea typeface="ＭＳ Ｐゴシック" pitchFamily="-110" charset="-128"/>
                <a:cs typeface="ＭＳ Ｐゴシック" pitchFamily="-110" charset="-128"/>
              </a:rPr>
              <a:t>several high-profile companies. It was typically distributed using either spam e-mail or</a:t>
            </a:r>
          </a:p>
          <a:p>
            <a:pPr eaLnBrk="1" hangingPunct="1">
              <a:defRPr/>
            </a:pPr>
            <a:r>
              <a:rPr lang="en-US" dirty="0">
                <a:latin typeface="Arial" pitchFamily="-110" charset="0"/>
                <a:ea typeface="ＭＳ Ｐゴシック" pitchFamily="-110" charset="-128"/>
                <a:cs typeface="ＭＳ Ｐゴシック" pitchFamily="-110" charset="-128"/>
              </a:rPr>
              <a:t>via a compromised website using a “watering-hole” attack. Tech Support Scams are a</a:t>
            </a:r>
          </a:p>
          <a:p>
            <a:pPr eaLnBrk="1" hangingPunct="1">
              <a:defRPr/>
            </a:pPr>
            <a:r>
              <a:rPr lang="en-US" dirty="0">
                <a:latin typeface="Arial" pitchFamily="-110" charset="0"/>
                <a:ea typeface="ＭＳ Ｐゴシック" pitchFamily="-110" charset="-128"/>
                <a:cs typeface="ＭＳ Ｐゴシック" pitchFamily="-110" charset="-128"/>
              </a:rPr>
              <a:t>growing social engineering concern. These involve call centers calling users about nonexistent</a:t>
            </a:r>
          </a:p>
          <a:p>
            <a:pPr eaLnBrk="1" hangingPunct="1">
              <a:defRPr/>
            </a:pPr>
            <a:r>
              <a:rPr lang="en-US" dirty="0">
                <a:latin typeface="Arial" pitchFamily="-110" charset="0"/>
                <a:ea typeface="ＭＳ Ｐゴシック" pitchFamily="-110" charset="-128"/>
                <a:cs typeface="ＭＳ Ｐゴシック" pitchFamily="-110" charset="-128"/>
              </a:rPr>
              <a:t>problems on their computer systems. If the users respond, the attackers try to</a:t>
            </a:r>
          </a:p>
          <a:p>
            <a:pPr eaLnBrk="1" hangingPunct="1">
              <a:defRPr/>
            </a:pPr>
            <a:r>
              <a:rPr lang="en-US" dirty="0">
                <a:latin typeface="Arial" pitchFamily="-110" charset="0"/>
                <a:ea typeface="ＭＳ Ｐゴシック" pitchFamily="-110" charset="-128"/>
                <a:cs typeface="ＭＳ Ｐゴシック" pitchFamily="-110" charset="-128"/>
              </a:rPr>
              <a:t>sell them bogus tech support or ask them to install Trojan malware or other unwanted</a:t>
            </a:r>
          </a:p>
          <a:p>
            <a:pPr eaLnBrk="1" hangingPunct="1">
              <a:defRPr/>
            </a:pPr>
            <a:r>
              <a:rPr lang="en-US" dirty="0">
                <a:latin typeface="Arial" pitchFamily="-110" charset="0"/>
                <a:ea typeface="ＭＳ Ｐゴシック" pitchFamily="-110" charset="-128"/>
                <a:cs typeface="ＭＳ Ｐゴシック" pitchFamily="-110" charset="-128"/>
              </a:rPr>
              <a:t>applications on their systems, all while claiming this will fix their problem [SYMA16].</a:t>
            </a:r>
          </a:p>
          <a:p>
            <a:pPr eaLnBrk="1" hangingPunct="1">
              <a:lnSpc>
                <a:spcPct val="90000"/>
              </a:lnSpc>
              <a:defRPr/>
            </a:pPr>
            <a:endParaRPr lang="en-US" b="1" dirty="0">
              <a:latin typeface="Arial" charset="0"/>
              <a:ea typeface="ＭＳ Ｐゴシック" pitchFamily="-65" charset="-128"/>
            </a:endParaRPr>
          </a:p>
          <a:p>
            <a:pPr eaLnBrk="1" hangingPunct="1">
              <a:lnSpc>
                <a:spcPct val="90000"/>
              </a:lnSpc>
              <a:defRPr/>
            </a:pPr>
            <a:r>
              <a:rPr lang="en-US" b="1" dirty="0">
                <a:latin typeface="Arial" charset="0"/>
                <a:ea typeface="ＭＳ Ｐゴシック" pitchFamily="-65" charset="-128"/>
              </a:rPr>
              <a:t>Mobile Phone Trojans</a:t>
            </a:r>
          </a:p>
          <a:p>
            <a:pPr eaLnBrk="1" hangingPunct="1">
              <a:lnSpc>
                <a:spcPct val="90000"/>
              </a:lnSpc>
              <a:defRPr/>
            </a:pPr>
            <a:endParaRPr lang="en-US" dirty="0">
              <a:latin typeface="Arial" charset="0"/>
              <a:ea typeface="ＭＳ Ｐゴシック" pitchFamily="-65" charset="-128"/>
            </a:endParaRPr>
          </a:p>
          <a:p>
            <a:pPr eaLnBrk="1" hangingPunct="1">
              <a:defRPr/>
            </a:pPr>
            <a:r>
              <a:rPr lang="en-US" dirty="0">
                <a:latin typeface="Arial" pitchFamily="-110" charset="0"/>
                <a:ea typeface="ＭＳ Ｐゴシック" pitchFamily="-110" charset="-128"/>
                <a:cs typeface="ＭＳ Ｐゴシック" pitchFamily="-110" charset="-128"/>
              </a:rPr>
              <a:t>  Mobile phone Trojans also first appeared in 2004 with the discovery of </a:t>
            </a:r>
            <a:r>
              <a:rPr lang="en-US" dirty="0" err="1">
                <a:latin typeface="Arial" pitchFamily="-110" charset="0"/>
                <a:ea typeface="ＭＳ Ｐゴシック" pitchFamily="-110" charset="-128"/>
                <a:cs typeface="ＭＳ Ｐゴシック" pitchFamily="-110" charset="-128"/>
              </a:rPr>
              <a:t>Skuller</a:t>
            </a:r>
            <a:r>
              <a:rPr lang="en-US" dirty="0">
                <a:latin typeface="Arial" pitchFamily="-110" charset="0"/>
                <a:ea typeface="ＭＳ Ｐゴシック" pitchFamily="-110" charset="-128"/>
                <a:cs typeface="ＭＳ Ｐゴシック" pitchFamily="-110" charset="-128"/>
              </a:rPr>
              <a:t>. As</a:t>
            </a:r>
          </a:p>
          <a:p>
            <a:pPr eaLnBrk="1" hangingPunct="1">
              <a:defRPr/>
            </a:pPr>
            <a:r>
              <a:rPr lang="en-US" dirty="0">
                <a:latin typeface="Arial" pitchFamily="-110" charset="0"/>
                <a:ea typeface="ＭＳ Ｐゴシック" pitchFamily="-110" charset="-128"/>
                <a:cs typeface="ＭＳ Ｐゴシック" pitchFamily="-110" charset="-128"/>
              </a:rPr>
              <a:t>with mobile worms, the target is the smartphone, and the early mobile Trojans targeted</a:t>
            </a:r>
          </a:p>
          <a:p>
            <a:pPr eaLnBrk="1" hangingPunct="1">
              <a:defRPr/>
            </a:pPr>
            <a:r>
              <a:rPr lang="en-US" dirty="0">
                <a:latin typeface="Arial" pitchFamily="-110" charset="0"/>
                <a:ea typeface="ＭＳ Ｐゴシック" pitchFamily="-110" charset="-128"/>
                <a:cs typeface="ＭＳ Ｐゴシック" pitchFamily="-110" charset="-128"/>
              </a:rPr>
              <a:t>Symbian phones. More recently, a significant number of Trojans have been</a:t>
            </a:r>
          </a:p>
          <a:p>
            <a:pPr eaLnBrk="1" hangingPunct="1">
              <a:defRPr/>
            </a:pPr>
            <a:r>
              <a:rPr lang="en-US" dirty="0">
                <a:latin typeface="Arial" pitchFamily="-110" charset="0"/>
                <a:ea typeface="ＭＳ Ｐゴシック" pitchFamily="-110" charset="-128"/>
                <a:cs typeface="ＭＳ Ｐゴシック" pitchFamily="-110" charset="-128"/>
              </a:rPr>
              <a:t>detected that target Android phones and Apple iPhones. These Trojans are usually</a:t>
            </a:r>
          </a:p>
          <a:p>
            <a:pPr eaLnBrk="1" hangingPunct="1">
              <a:defRPr/>
            </a:pPr>
            <a:r>
              <a:rPr lang="en-US" dirty="0">
                <a:latin typeface="Arial" pitchFamily="-110" charset="0"/>
                <a:ea typeface="ＭＳ Ｐゴシック" pitchFamily="-110" charset="-128"/>
                <a:cs typeface="ＭＳ Ｐゴシック" pitchFamily="-110" charset="-128"/>
              </a:rPr>
              <a:t>distributed via one or more of the app marketplaces for the target phone O/S.</a:t>
            </a:r>
          </a:p>
          <a:p>
            <a:pPr eaLnBrk="1" hangingPunct="1">
              <a:defRPr/>
            </a:pPr>
            <a:endParaRPr lang="en-US" dirty="0">
              <a:latin typeface="Arial" pitchFamily="-110" charset="0"/>
              <a:ea typeface="ＭＳ Ｐゴシック" pitchFamily="-110" charset="-128"/>
              <a:cs typeface="ＭＳ Ｐゴシック" pitchFamily="-110" charset="-128"/>
            </a:endParaRPr>
          </a:p>
          <a:p>
            <a:pPr eaLnBrk="1" hangingPunct="1">
              <a:defRPr/>
            </a:pPr>
            <a:r>
              <a:rPr lang="en-US" dirty="0">
                <a:latin typeface="Arial" pitchFamily="-110" charset="0"/>
                <a:ea typeface="ＭＳ Ｐゴシック" pitchFamily="-110" charset="-128"/>
                <a:cs typeface="ＭＳ Ｐゴシック" pitchFamily="-110" charset="-128"/>
              </a:rPr>
              <a:t>The rapid growth in smartphone sales and use, which increasingly contain valuable</a:t>
            </a:r>
          </a:p>
          <a:p>
            <a:pPr eaLnBrk="1" hangingPunct="1">
              <a:defRPr/>
            </a:pPr>
            <a:r>
              <a:rPr lang="en-US" dirty="0">
                <a:latin typeface="Arial" pitchFamily="-110" charset="0"/>
                <a:ea typeface="ＭＳ Ｐゴシック" pitchFamily="-110" charset="-128"/>
                <a:cs typeface="ＭＳ Ｐゴシック" pitchFamily="-110" charset="-128"/>
              </a:rPr>
              <a:t>personal information, make them an attractive target for criminals and other</a:t>
            </a:r>
          </a:p>
          <a:p>
            <a:pPr eaLnBrk="1" hangingPunct="1">
              <a:defRPr/>
            </a:pPr>
            <a:r>
              <a:rPr lang="en-US" dirty="0">
                <a:latin typeface="Arial" pitchFamily="-110" charset="0"/>
                <a:ea typeface="ＭＳ Ｐゴシック" pitchFamily="-110" charset="-128"/>
                <a:cs typeface="ＭＳ Ｐゴシック" pitchFamily="-110" charset="-128"/>
              </a:rPr>
              <a:t>attackers. Given five in six new phones run Android, they are a key target [SYMA16].</a:t>
            </a:r>
          </a:p>
          <a:p>
            <a:pPr eaLnBrk="1" hangingPunct="1">
              <a:defRPr/>
            </a:pPr>
            <a:r>
              <a:rPr lang="en-US" dirty="0">
                <a:latin typeface="Arial" pitchFamily="-110" charset="0"/>
                <a:ea typeface="ＭＳ Ｐゴシック" pitchFamily="-110" charset="-128"/>
                <a:cs typeface="ＭＳ Ｐゴシック" pitchFamily="-110" charset="-128"/>
              </a:rPr>
              <a:t>The number of vulnerabilities discovered in, and malware families targeting these</a:t>
            </a:r>
          </a:p>
          <a:p>
            <a:pPr eaLnBrk="1" hangingPunct="1">
              <a:defRPr/>
            </a:pPr>
            <a:r>
              <a:rPr lang="en-US" dirty="0">
                <a:latin typeface="Arial" pitchFamily="-110" charset="0"/>
                <a:ea typeface="ＭＳ Ｐゴシック" pitchFamily="-110" charset="-128"/>
                <a:cs typeface="ＭＳ Ｐゴシック" pitchFamily="-110" charset="-128"/>
              </a:rPr>
              <a:t>phones, have both increased steadily in recent years. Recent examples include a</a:t>
            </a:r>
          </a:p>
          <a:p>
            <a:pPr eaLnBrk="1" hangingPunct="1">
              <a:defRPr/>
            </a:pPr>
            <a:r>
              <a:rPr lang="en-US" dirty="0">
                <a:latin typeface="Arial" pitchFamily="-110" charset="0"/>
                <a:ea typeface="ＭＳ Ｐゴシック" pitchFamily="-110" charset="-128"/>
                <a:cs typeface="ＭＳ Ｐゴシック" pitchFamily="-110" charset="-128"/>
              </a:rPr>
              <a:t>phishing Trojan that tricks the user into entering their banking details, and ransomware</a:t>
            </a:r>
          </a:p>
          <a:p>
            <a:pPr eaLnBrk="1" hangingPunct="1">
              <a:defRPr/>
            </a:pPr>
            <a:r>
              <a:rPr lang="en-US" dirty="0">
                <a:latin typeface="Arial" pitchFamily="-110" charset="0"/>
                <a:ea typeface="ＭＳ Ｐゴシック" pitchFamily="-110" charset="-128"/>
                <a:cs typeface="ＭＳ Ｐゴシック" pitchFamily="-110" charset="-128"/>
              </a:rPr>
              <a:t>that mimics Google’s design style to appear more legitimate and intimidating.</a:t>
            </a:r>
          </a:p>
          <a:p>
            <a:pPr eaLnBrk="1" hangingPunct="1">
              <a:defRPr/>
            </a:pPr>
            <a:endParaRPr lang="en-US" dirty="0">
              <a:latin typeface="Arial" pitchFamily="-110" charset="0"/>
              <a:ea typeface="ＭＳ Ｐゴシック" pitchFamily="-110" charset="-128"/>
              <a:cs typeface="ＭＳ Ｐゴシック" pitchFamily="-110" charset="-128"/>
            </a:endParaRPr>
          </a:p>
          <a:p>
            <a:pPr eaLnBrk="1" hangingPunct="1">
              <a:defRPr/>
            </a:pPr>
            <a:r>
              <a:rPr lang="en-US" dirty="0">
                <a:latin typeface="Arial" pitchFamily="-110" charset="0"/>
                <a:ea typeface="ＭＳ Ｐゴシック" pitchFamily="-110" charset="-128"/>
                <a:cs typeface="ＭＳ Ｐゴシック" pitchFamily="-110" charset="-128"/>
              </a:rPr>
              <a:t>The tighter controls that Apple impose on their app store, mean that many</a:t>
            </a:r>
          </a:p>
          <a:p>
            <a:pPr eaLnBrk="1" hangingPunct="1">
              <a:defRPr/>
            </a:pPr>
            <a:r>
              <a:rPr lang="en-US" dirty="0">
                <a:latin typeface="Arial" pitchFamily="-110" charset="0"/>
                <a:ea typeface="ＭＳ Ｐゴシック" pitchFamily="-110" charset="-128"/>
                <a:cs typeface="ＭＳ Ｐゴシック" pitchFamily="-110" charset="-128"/>
              </a:rPr>
              <a:t>iPhone Trojans target “jail-broken” phones, and are distributed via unofficial sites.</a:t>
            </a:r>
          </a:p>
          <a:p>
            <a:pPr eaLnBrk="1" hangingPunct="1">
              <a:defRPr/>
            </a:pPr>
            <a:r>
              <a:rPr lang="en-US" dirty="0">
                <a:latin typeface="Arial" pitchFamily="-110" charset="0"/>
                <a:ea typeface="ＭＳ Ｐゴシック" pitchFamily="-110" charset="-128"/>
                <a:cs typeface="ＭＳ Ｐゴシック" pitchFamily="-110" charset="-128"/>
              </a:rPr>
              <a:t>However a number of versions of the iPhone O/S contained some form of graphic</a:t>
            </a:r>
          </a:p>
          <a:p>
            <a:pPr eaLnBrk="1" hangingPunct="1">
              <a:defRPr/>
            </a:pPr>
            <a:r>
              <a:rPr lang="en-US" dirty="0">
                <a:latin typeface="Arial" pitchFamily="-110" charset="0"/>
                <a:ea typeface="ＭＳ Ｐゴシック" pitchFamily="-110" charset="-128"/>
                <a:cs typeface="ＭＳ Ｐゴシック" pitchFamily="-110" charset="-128"/>
              </a:rPr>
              <a:t>or PDF vulnerability. Indeed these vulnerabilities were the main means used to “jailbreak”</a:t>
            </a:r>
          </a:p>
          <a:p>
            <a:pPr eaLnBrk="1" hangingPunct="1">
              <a:defRPr/>
            </a:pPr>
            <a:r>
              <a:rPr lang="en-US" dirty="0">
                <a:latin typeface="Arial" pitchFamily="-110" charset="0"/>
                <a:ea typeface="ＭＳ Ｐゴシック" pitchFamily="-110" charset="-128"/>
                <a:cs typeface="ＭＳ Ｐゴシック" pitchFamily="-110" charset="-128"/>
              </a:rPr>
              <a:t>the phones. But they also provided a path that malware could use to target</a:t>
            </a:r>
          </a:p>
          <a:p>
            <a:pPr eaLnBrk="1" hangingPunct="1">
              <a:defRPr/>
            </a:pPr>
            <a:r>
              <a:rPr lang="en-US" dirty="0">
                <a:latin typeface="Arial" pitchFamily="-110" charset="0"/>
                <a:ea typeface="ＭＳ Ｐゴシック" pitchFamily="-110" charset="-128"/>
                <a:cs typeface="ＭＳ Ｐゴシック" pitchFamily="-110" charset="-128"/>
              </a:rPr>
              <a:t>the phones. While Apple has fixed a number of these vulnerabilities, new variants</a:t>
            </a:r>
          </a:p>
          <a:p>
            <a:pPr eaLnBrk="1" hangingPunct="1">
              <a:defRPr/>
            </a:pPr>
            <a:r>
              <a:rPr lang="en-US" dirty="0">
                <a:latin typeface="Arial" pitchFamily="-110" charset="0"/>
                <a:ea typeface="ＭＳ Ｐゴシック" pitchFamily="-110" charset="-128"/>
                <a:cs typeface="ＭＳ Ｐゴシック" pitchFamily="-110" charset="-128"/>
              </a:rPr>
              <a:t> continued to be discovered. This is yet another illustration of just how difficult it is, for</a:t>
            </a:r>
          </a:p>
          <a:p>
            <a:pPr eaLnBrk="1" hangingPunct="1">
              <a:defRPr/>
            </a:pPr>
            <a:r>
              <a:rPr lang="en-US" dirty="0">
                <a:latin typeface="Arial" pitchFamily="-110" charset="0"/>
                <a:ea typeface="ＭＳ Ｐゴシック" pitchFamily="-110" charset="-128"/>
                <a:cs typeface="ＭＳ Ｐゴシック" pitchFamily="-110" charset="-128"/>
              </a:rPr>
              <a:t>even well- resourced organizations, to write secure software within a complex system,</a:t>
            </a:r>
          </a:p>
          <a:p>
            <a:pPr eaLnBrk="1" hangingPunct="1">
              <a:defRPr/>
            </a:pPr>
            <a:r>
              <a:rPr lang="en-US" dirty="0">
                <a:latin typeface="Arial" pitchFamily="-110" charset="0"/>
                <a:ea typeface="ＭＳ Ｐゴシック" pitchFamily="-110" charset="-128"/>
                <a:cs typeface="ＭＳ Ｐゴシック" pitchFamily="-110" charset="-128"/>
              </a:rPr>
              <a:t>such as an operating system. We will return to this topic in Chapters 10 and 11. More</a:t>
            </a:r>
          </a:p>
          <a:p>
            <a:pPr eaLnBrk="1" hangingPunct="1">
              <a:defRPr/>
            </a:pPr>
            <a:r>
              <a:rPr lang="en-US" dirty="0">
                <a:latin typeface="Arial" pitchFamily="-110" charset="0"/>
                <a:ea typeface="ＭＳ Ｐゴシック" pitchFamily="-110" charset="-128"/>
                <a:cs typeface="ＭＳ Ｐゴシック" pitchFamily="-110" charset="-128"/>
              </a:rPr>
              <a:t>recently in 2015, </a:t>
            </a:r>
            <a:r>
              <a:rPr lang="en-US" dirty="0" err="1">
                <a:latin typeface="Arial" pitchFamily="-110" charset="0"/>
                <a:ea typeface="ＭＳ Ｐゴシック" pitchFamily="-110" charset="-128"/>
                <a:cs typeface="ＭＳ Ｐゴシック" pitchFamily="-110" charset="-128"/>
              </a:rPr>
              <a:t>XcodeGhost</a:t>
            </a:r>
            <a:r>
              <a:rPr lang="en-US" dirty="0">
                <a:latin typeface="Arial" pitchFamily="-110" charset="0"/>
                <a:ea typeface="ＭＳ Ｐゴシック" pitchFamily="-110" charset="-128"/>
                <a:cs typeface="ＭＳ Ｐゴシック" pitchFamily="-110" charset="-128"/>
              </a:rPr>
              <a:t> malware was discovered in a number of legitimate</a:t>
            </a:r>
          </a:p>
          <a:p>
            <a:pPr eaLnBrk="1" hangingPunct="1">
              <a:defRPr/>
            </a:pPr>
            <a:r>
              <a:rPr lang="en-US" dirty="0">
                <a:latin typeface="Arial" pitchFamily="-110" charset="0"/>
                <a:ea typeface="ＭＳ Ｐゴシック" pitchFamily="-110" charset="-128"/>
                <a:cs typeface="ＭＳ Ｐゴシック" pitchFamily="-110" charset="-128"/>
              </a:rPr>
              <a:t>Apple Store apps. The apps were not intentionally designed to be malicious, but their</a:t>
            </a:r>
          </a:p>
          <a:p>
            <a:pPr eaLnBrk="1" hangingPunct="1">
              <a:defRPr/>
            </a:pPr>
            <a:r>
              <a:rPr lang="en-US" dirty="0">
                <a:latin typeface="Arial" pitchFamily="-110" charset="0"/>
                <a:ea typeface="ＭＳ Ｐゴシック" pitchFamily="-110" charset="-128"/>
                <a:cs typeface="ＭＳ Ｐゴシック" pitchFamily="-110" charset="-128"/>
              </a:rPr>
              <a:t>developers used a compromised </a:t>
            </a:r>
            <a:r>
              <a:rPr lang="en-US" dirty="0" err="1">
                <a:latin typeface="Arial" pitchFamily="-110" charset="0"/>
                <a:ea typeface="ＭＳ Ｐゴシック" pitchFamily="-110" charset="-128"/>
                <a:cs typeface="ＭＳ Ｐゴシック" pitchFamily="-110" charset="-128"/>
              </a:rPr>
              <a:t>Xcode</a:t>
            </a:r>
            <a:r>
              <a:rPr lang="en-US" dirty="0">
                <a:latin typeface="Arial" pitchFamily="-110" charset="0"/>
                <a:ea typeface="ＭＳ Ｐゴシック" pitchFamily="-110" charset="-128"/>
                <a:cs typeface="ＭＳ Ｐゴシック" pitchFamily="-110" charset="-128"/>
              </a:rPr>
              <a:t> development system that covertly installed</a:t>
            </a:r>
          </a:p>
          <a:p>
            <a:pPr eaLnBrk="1" hangingPunct="1">
              <a:defRPr/>
            </a:pPr>
            <a:r>
              <a:rPr lang="en-US" dirty="0">
                <a:latin typeface="Arial" pitchFamily="-110" charset="0"/>
                <a:ea typeface="ＭＳ Ｐゴシック" pitchFamily="-110" charset="-128"/>
                <a:cs typeface="ＭＳ Ｐゴシック" pitchFamily="-110" charset="-128"/>
              </a:rPr>
              <a:t>the malware as the apps were created [SYMA16]. This is one of several examples</a:t>
            </a:r>
          </a:p>
          <a:p>
            <a:pPr eaLnBrk="1" hangingPunct="1">
              <a:defRPr/>
            </a:pPr>
            <a:r>
              <a:rPr lang="en-US" dirty="0">
                <a:latin typeface="Arial" pitchFamily="-110" charset="0"/>
                <a:ea typeface="ＭＳ Ｐゴシック" pitchFamily="-110" charset="-128"/>
                <a:cs typeface="ＭＳ Ｐゴシック" pitchFamily="-110" charset="-128"/>
              </a:rPr>
              <a:t>of attackers exploiting the development or enterprise provisioning infrastructure to</a:t>
            </a:r>
          </a:p>
          <a:p>
            <a:pPr eaLnBrk="1" hangingPunct="1">
              <a:defRPr/>
            </a:pPr>
            <a:r>
              <a:rPr lang="en-US" dirty="0">
                <a:latin typeface="Arial" pitchFamily="-110" charset="0"/>
                <a:ea typeface="ＭＳ Ｐゴシック" pitchFamily="-110" charset="-128"/>
                <a:cs typeface="ＭＳ Ｐゴシック" pitchFamily="-110" charset="-128"/>
              </a:rPr>
              <a:t>assist malware distribution.</a:t>
            </a:r>
          </a:p>
          <a:p>
            <a:pPr eaLnBrk="1" hangingPunct="1">
              <a:defRPr/>
            </a:pPr>
            <a:endParaRPr lang="en-US" dirty="0">
              <a:latin typeface="Arial" charset="0"/>
              <a:ea typeface="ＭＳ Ｐゴシック" pitchFamily="-65" charset="-128"/>
            </a:endParaRPr>
          </a:p>
        </p:txBody>
      </p:sp>
      <p:sp>
        <p:nvSpPr>
          <p:cNvPr id="45060" name="Slide Number Placeholder 3">
            <a:extLst>
              <a:ext uri="{FF2B5EF4-FFF2-40B4-BE49-F238E27FC236}">
                <a16:creationId xmlns:a16="http://schemas.microsoft.com/office/drawing/2014/main" id="{70AFCBB5-B91F-8B58-CC00-39B50AFC84AF}"/>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8F8A1E9-C958-4733-BEB6-96C6DE27AECB}" type="slidenum">
              <a:rPr lang="en-AU" altLang="en-PK" sz="1200"/>
              <a:pPr/>
              <a:t>30</a:t>
            </a:fld>
            <a:endParaRPr lang="en-AU" altLang="en-PK" sz="1200"/>
          </a:p>
        </p:txBody>
      </p:sp>
    </p:spTree>
    <p:extLst>
      <p:ext uri="{BB962C8B-B14F-4D97-AF65-F5344CB8AC3E}">
        <p14:creationId xmlns:p14="http://schemas.microsoft.com/office/powerpoint/2010/main" val="29213410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921E718E-B85A-3BE7-7B50-5C176EC21459}"/>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DEA1093C-6B92-FDDD-0E69-F84F6F429135}"/>
              </a:ext>
            </a:extLst>
          </p:cNvPr>
          <p:cNvSpPr>
            <a:spLocks noGrp="1"/>
          </p:cNvSpPr>
          <p:nvPr>
            <p:ph type="body" idx="1"/>
          </p:nvPr>
        </p:nvSpPr>
        <p:spPr/>
        <p:txBody>
          <a:bodyPr>
            <a:normAutofit fontScale="25000" lnSpcReduction="20000"/>
          </a:bodyPr>
          <a:lstStyle/>
          <a:p>
            <a:pPr eaLnBrk="1" hangingPunct="1">
              <a:lnSpc>
                <a:spcPct val="90000"/>
              </a:lnSpc>
              <a:defRPr/>
            </a:pPr>
            <a:r>
              <a:rPr lang="en-US" dirty="0">
                <a:latin typeface="Arial" charset="0"/>
                <a:ea typeface="ＭＳ Ｐゴシック" pitchFamily="-65" charset="-128"/>
              </a:rPr>
              <a:t>The final category of malware propagation we consider involves social engineering,</a:t>
            </a:r>
          </a:p>
          <a:p>
            <a:pPr eaLnBrk="1" hangingPunct="1">
              <a:lnSpc>
                <a:spcPct val="90000"/>
              </a:lnSpc>
              <a:defRPr/>
            </a:pPr>
            <a:r>
              <a:rPr lang="en-US" dirty="0">
                <a:latin typeface="Arial" charset="0"/>
                <a:ea typeface="ＭＳ Ｐゴシック" pitchFamily="-65" charset="-128"/>
              </a:rPr>
              <a:t>“tricking” users to assist in the compromise of their own systems or personal</a:t>
            </a:r>
          </a:p>
          <a:p>
            <a:pPr eaLnBrk="1" hangingPunct="1">
              <a:lnSpc>
                <a:spcPct val="90000"/>
              </a:lnSpc>
              <a:defRPr/>
            </a:pPr>
            <a:r>
              <a:rPr lang="en-US" dirty="0">
                <a:latin typeface="Arial" charset="0"/>
                <a:ea typeface="ＭＳ Ｐゴシック" pitchFamily="-65" charset="-128"/>
              </a:rPr>
              <a:t>information. This can occur when a user views and responds to some SPAM</a:t>
            </a:r>
          </a:p>
          <a:p>
            <a:pPr eaLnBrk="1" hangingPunct="1">
              <a:lnSpc>
                <a:spcPct val="90000"/>
              </a:lnSpc>
              <a:defRPr/>
            </a:pPr>
            <a:r>
              <a:rPr lang="en-US" dirty="0">
                <a:latin typeface="Arial" charset="0"/>
                <a:ea typeface="ＭＳ Ｐゴシック" pitchFamily="-65" charset="-128"/>
              </a:rPr>
              <a:t>e-mail, or permits the installation and execution of some Trojan horse program or</a:t>
            </a:r>
          </a:p>
          <a:p>
            <a:pPr eaLnBrk="1" hangingPunct="1">
              <a:lnSpc>
                <a:spcPct val="90000"/>
              </a:lnSpc>
              <a:defRPr/>
            </a:pPr>
            <a:r>
              <a:rPr lang="en-US" dirty="0">
                <a:latin typeface="Arial" charset="0"/>
                <a:ea typeface="ＭＳ Ｐゴシック" pitchFamily="-65" charset="-128"/>
              </a:rPr>
              <a:t>scripting code.</a:t>
            </a:r>
          </a:p>
          <a:p>
            <a:pPr eaLnBrk="1" hangingPunct="1">
              <a:lnSpc>
                <a:spcPct val="90000"/>
              </a:lnSpc>
              <a:defRPr/>
            </a:pPr>
            <a:endParaRPr lang="en-US" b="1" dirty="0">
              <a:latin typeface="Arial" charset="0"/>
              <a:ea typeface="ＭＳ Ｐゴシック" pitchFamily="-65" charset="-128"/>
            </a:endParaRPr>
          </a:p>
          <a:p>
            <a:pPr eaLnBrk="1" hangingPunct="1">
              <a:lnSpc>
                <a:spcPct val="90000"/>
              </a:lnSpc>
              <a:defRPr/>
            </a:pPr>
            <a:r>
              <a:rPr lang="en-US" b="1" dirty="0">
                <a:latin typeface="Arial" charset="0"/>
                <a:ea typeface="ＭＳ Ｐゴシック" pitchFamily="-65" charset="-128"/>
              </a:rPr>
              <a:t>Spam (Unsolicited Bulk) E-Mail</a:t>
            </a:r>
          </a:p>
          <a:p>
            <a:pPr eaLnBrk="1" hangingPunct="1">
              <a:lnSpc>
                <a:spcPct val="90000"/>
              </a:lnSpc>
              <a:defRPr/>
            </a:pPr>
            <a:endParaRPr lang="en-US" dirty="0">
              <a:latin typeface="Arial" charset="0"/>
              <a:ea typeface="ＭＳ Ｐゴシック" pitchFamily="-65" charset="-128"/>
            </a:endParaRPr>
          </a:p>
          <a:p>
            <a:pPr eaLnBrk="1" hangingPunct="1">
              <a:defRPr/>
            </a:pPr>
            <a:r>
              <a:rPr lang="en-US" dirty="0">
                <a:latin typeface="Arial" pitchFamily="-110" charset="0"/>
                <a:ea typeface="ＭＳ Ｐゴシック" pitchFamily="-110" charset="-128"/>
                <a:cs typeface="ＭＳ Ｐゴシック" pitchFamily="-110" charset="-128"/>
              </a:rPr>
              <a:t>With the explosive growth of the Internet over the last few decades, the widespread</a:t>
            </a:r>
          </a:p>
          <a:p>
            <a:pPr eaLnBrk="1" hangingPunct="1">
              <a:defRPr/>
            </a:pPr>
            <a:r>
              <a:rPr lang="en-US" dirty="0">
                <a:latin typeface="Arial" pitchFamily="-110" charset="0"/>
                <a:ea typeface="ＭＳ Ｐゴシック" pitchFamily="-110" charset="-128"/>
                <a:cs typeface="ＭＳ Ｐゴシック" pitchFamily="-110" charset="-128"/>
              </a:rPr>
              <a:t>use of e-mail, and the extremely low cost required to send large volumes of e-mail, has</a:t>
            </a:r>
          </a:p>
          <a:p>
            <a:pPr eaLnBrk="1" hangingPunct="1">
              <a:defRPr/>
            </a:pPr>
            <a:r>
              <a:rPr lang="en-US" dirty="0">
                <a:latin typeface="Arial" pitchFamily="-110" charset="0"/>
                <a:ea typeface="ＭＳ Ｐゴシック" pitchFamily="-110" charset="-128"/>
                <a:cs typeface="ＭＳ Ｐゴシック" pitchFamily="-110" charset="-128"/>
              </a:rPr>
              <a:t>come the rise of unsolicited bulk e-mail, commonly known as spam. [SYMA16] notes</a:t>
            </a:r>
          </a:p>
          <a:p>
            <a:pPr eaLnBrk="1" hangingPunct="1">
              <a:defRPr/>
            </a:pPr>
            <a:r>
              <a:rPr lang="en-US" dirty="0">
                <a:latin typeface="Arial" pitchFamily="-110" charset="0"/>
                <a:ea typeface="ＭＳ Ｐゴシック" pitchFamily="-110" charset="-128"/>
                <a:cs typeface="ＭＳ Ｐゴシック" pitchFamily="-110" charset="-128"/>
              </a:rPr>
              <a:t>that more than half of inbound business e-mail traffic is still spam, despite a gradual</a:t>
            </a:r>
          </a:p>
          <a:p>
            <a:pPr eaLnBrk="1" hangingPunct="1">
              <a:defRPr/>
            </a:pPr>
            <a:r>
              <a:rPr lang="en-US" dirty="0">
                <a:latin typeface="Arial" pitchFamily="-110" charset="0"/>
                <a:ea typeface="ＭＳ Ｐゴシック" pitchFamily="-110" charset="-128"/>
                <a:cs typeface="ＭＳ Ｐゴシック" pitchFamily="-110" charset="-128"/>
              </a:rPr>
              <a:t>decline in recent years. This imposes significant costs on both the network infrastructure</a:t>
            </a:r>
          </a:p>
          <a:p>
            <a:pPr eaLnBrk="1" hangingPunct="1">
              <a:defRPr/>
            </a:pPr>
            <a:r>
              <a:rPr lang="en-US" dirty="0">
                <a:latin typeface="Arial" pitchFamily="-110" charset="0"/>
                <a:ea typeface="ＭＳ Ｐゴシック" pitchFamily="-110" charset="-128"/>
                <a:cs typeface="ＭＳ Ｐゴシック" pitchFamily="-110" charset="-128"/>
              </a:rPr>
              <a:t>needed to relay this traffic, and on users who need to filter their legitimate e-mails</a:t>
            </a:r>
          </a:p>
          <a:p>
            <a:pPr eaLnBrk="1" hangingPunct="1">
              <a:defRPr/>
            </a:pPr>
            <a:r>
              <a:rPr lang="en-US" dirty="0">
                <a:latin typeface="Arial" pitchFamily="-110" charset="0"/>
                <a:ea typeface="ＭＳ Ｐゴシック" pitchFamily="-110" charset="-128"/>
                <a:cs typeface="ＭＳ Ｐゴシック" pitchFamily="-110" charset="-128"/>
              </a:rPr>
              <a:t>out of this flood. In response to this explosive growth, there has been the equally rapid</a:t>
            </a:r>
          </a:p>
          <a:p>
            <a:pPr eaLnBrk="1" hangingPunct="1">
              <a:defRPr/>
            </a:pPr>
            <a:r>
              <a:rPr lang="en-US" dirty="0">
                <a:latin typeface="Arial" pitchFamily="-110" charset="0"/>
                <a:ea typeface="ＭＳ Ｐゴシック" pitchFamily="-110" charset="-128"/>
                <a:cs typeface="ＭＳ Ｐゴシック" pitchFamily="-110" charset="-128"/>
              </a:rPr>
              <a:t>growth of the anti-spam industry that provides products to detect and filter spam</a:t>
            </a:r>
          </a:p>
          <a:p>
            <a:pPr eaLnBrk="1" hangingPunct="1">
              <a:defRPr/>
            </a:pPr>
            <a:r>
              <a:rPr lang="en-US" dirty="0">
                <a:latin typeface="Arial" pitchFamily="-110" charset="0"/>
                <a:ea typeface="ＭＳ Ｐゴシック" pitchFamily="-110" charset="-128"/>
                <a:cs typeface="ＭＳ Ｐゴシック" pitchFamily="-110" charset="-128"/>
              </a:rPr>
              <a:t>e-mails. This has led to an arms race between the spammers devising techniques to</a:t>
            </a:r>
          </a:p>
          <a:p>
            <a:pPr eaLnBrk="1" hangingPunct="1">
              <a:defRPr/>
            </a:pPr>
            <a:r>
              <a:rPr lang="en-US" dirty="0">
                <a:latin typeface="Arial" pitchFamily="-110" charset="0"/>
                <a:ea typeface="ＭＳ Ｐゴシック" pitchFamily="-110" charset="-128"/>
                <a:cs typeface="ＭＳ Ｐゴシック" pitchFamily="-110" charset="-128"/>
              </a:rPr>
              <a:t>sneak their content through, and with the defenders, efforts to block them [KREI09].</a:t>
            </a:r>
          </a:p>
          <a:p>
            <a:pPr eaLnBrk="1" hangingPunct="1">
              <a:lnSpc>
                <a:spcPct val="90000"/>
              </a:lnSpc>
              <a:defRPr/>
            </a:pPr>
            <a:endParaRPr lang="en-US" dirty="0">
              <a:latin typeface="Arial" charset="0"/>
              <a:ea typeface="ＭＳ Ｐゴシック" pitchFamily="-65" charset="-128"/>
            </a:endParaRPr>
          </a:p>
          <a:p>
            <a:pPr eaLnBrk="1" hangingPunct="1">
              <a:defRPr/>
            </a:pPr>
            <a:r>
              <a:rPr lang="en-US" dirty="0">
                <a:latin typeface="Arial" pitchFamily="-110" charset="0"/>
                <a:ea typeface="ＭＳ Ｐゴシック" pitchFamily="-110" charset="-128"/>
                <a:cs typeface="ＭＳ Ｐゴシック" pitchFamily="-110" charset="-128"/>
              </a:rPr>
              <a:t> However, the spam problem continues, as spammers exploit other means of</a:t>
            </a:r>
          </a:p>
          <a:p>
            <a:pPr eaLnBrk="1" hangingPunct="1">
              <a:defRPr/>
            </a:pPr>
            <a:r>
              <a:rPr lang="en-US" dirty="0">
                <a:latin typeface="Arial" pitchFamily="-110" charset="0"/>
                <a:ea typeface="ＭＳ Ｐゴシック" pitchFamily="-110" charset="-128"/>
                <a:cs typeface="ＭＳ Ｐゴシック" pitchFamily="-110" charset="-128"/>
              </a:rPr>
              <a:t>reaching their victims. This includes the use of social media, reflecting the rapid growth</a:t>
            </a:r>
          </a:p>
          <a:p>
            <a:pPr eaLnBrk="1" hangingPunct="1">
              <a:defRPr/>
            </a:pPr>
            <a:r>
              <a:rPr lang="en-US" dirty="0">
                <a:latin typeface="Arial" pitchFamily="-110" charset="0"/>
                <a:ea typeface="ＭＳ Ｐゴシック" pitchFamily="-110" charset="-128"/>
                <a:cs typeface="ＭＳ Ｐゴシック" pitchFamily="-110" charset="-128"/>
              </a:rPr>
              <a:t>in the use of these networks. For example, [SYMA16] described a successful </a:t>
            </a:r>
            <a:r>
              <a:rPr lang="en-US" dirty="0" err="1">
                <a:latin typeface="Arial" pitchFamily="-110" charset="0"/>
                <a:ea typeface="ＭＳ Ｐゴシック" pitchFamily="-110" charset="-128"/>
                <a:cs typeface="ＭＳ Ｐゴシック" pitchFamily="-110" charset="-128"/>
              </a:rPr>
              <a:t>weightloss</a:t>
            </a:r>
            <a:endParaRPr lang="en-US" dirty="0">
              <a:latin typeface="Arial" pitchFamily="-110" charset="0"/>
              <a:ea typeface="ＭＳ Ｐゴシック" pitchFamily="-110" charset="-128"/>
              <a:cs typeface="ＭＳ Ｐゴシック" pitchFamily="-110" charset="-128"/>
            </a:endParaRPr>
          </a:p>
          <a:p>
            <a:pPr eaLnBrk="1" hangingPunct="1">
              <a:defRPr/>
            </a:pPr>
            <a:r>
              <a:rPr lang="en-US" dirty="0">
                <a:latin typeface="Arial" pitchFamily="-110" charset="0"/>
                <a:ea typeface="ＭＳ Ｐゴシック" pitchFamily="-110" charset="-128"/>
                <a:cs typeface="ＭＳ Ｐゴシック" pitchFamily="-110" charset="-128"/>
              </a:rPr>
              <a:t>spam campaign that exploited hundreds of thousands of fake Twitter accounts,</a:t>
            </a:r>
          </a:p>
          <a:p>
            <a:pPr eaLnBrk="1" hangingPunct="1">
              <a:defRPr/>
            </a:pPr>
            <a:r>
              <a:rPr lang="en-US" dirty="0">
                <a:latin typeface="Arial" pitchFamily="-110" charset="0"/>
                <a:ea typeface="ＭＳ Ｐゴシック" pitchFamily="-110" charset="-128"/>
                <a:cs typeface="ＭＳ Ｐゴシック" pitchFamily="-110" charset="-128"/>
              </a:rPr>
              <a:t>mutually supporting and reinforcing each other, to increase their credibility and likelihood</a:t>
            </a:r>
          </a:p>
          <a:p>
            <a:pPr eaLnBrk="1" hangingPunct="1">
              <a:defRPr/>
            </a:pPr>
            <a:r>
              <a:rPr lang="en-US" dirty="0">
                <a:latin typeface="Arial" pitchFamily="-110" charset="0"/>
                <a:ea typeface="ＭＳ Ｐゴシック" pitchFamily="-110" charset="-128"/>
                <a:cs typeface="ＭＳ Ｐゴシック" pitchFamily="-110" charset="-128"/>
              </a:rPr>
              <a:t>of users following them, and then falling for the scam. Social network scams often</a:t>
            </a:r>
          </a:p>
          <a:p>
            <a:pPr eaLnBrk="1" hangingPunct="1">
              <a:defRPr/>
            </a:pPr>
            <a:r>
              <a:rPr lang="en-US" dirty="0">
                <a:latin typeface="Arial" pitchFamily="-110" charset="0"/>
                <a:ea typeface="ＭＳ Ｐゴシック" pitchFamily="-110" charset="-128"/>
                <a:cs typeface="ＭＳ Ｐゴシック" pitchFamily="-110" charset="-128"/>
              </a:rPr>
              <a:t>rely on victims sharing the scam, or on fake offers with incentives, to assist their spread.</a:t>
            </a:r>
          </a:p>
          <a:p>
            <a:pPr eaLnBrk="1" hangingPunct="1">
              <a:defRPr/>
            </a:pPr>
            <a:endParaRPr lang="en-US" dirty="0">
              <a:latin typeface="Arial" pitchFamily="-110" charset="0"/>
              <a:ea typeface="ＭＳ Ｐゴシック" pitchFamily="-110" charset="-128"/>
              <a:cs typeface="ＭＳ Ｐゴシック" pitchFamily="-110" charset="-128"/>
            </a:endParaRPr>
          </a:p>
          <a:p>
            <a:pPr eaLnBrk="1" hangingPunct="1">
              <a:defRPr/>
            </a:pPr>
            <a:r>
              <a:rPr lang="en-US" dirty="0">
                <a:latin typeface="Arial" pitchFamily="-110" charset="0"/>
                <a:ea typeface="ＭＳ Ｐゴシック" pitchFamily="-110" charset="-128"/>
                <a:cs typeface="ＭＳ Ｐゴシック" pitchFamily="-110" charset="-128"/>
              </a:rPr>
              <a:t> While some spam e-mail is sent from legitimate mail servers using stolen user</a:t>
            </a:r>
          </a:p>
          <a:p>
            <a:pPr eaLnBrk="1" hangingPunct="1">
              <a:defRPr/>
            </a:pPr>
            <a:r>
              <a:rPr lang="en-US" dirty="0">
                <a:latin typeface="Arial" pitchFamily="-110" charset="0"/>
                <a:ea typeface="ＭＳ Ｐゴシック" pitchFamily="-110" charset="-128"/>
                <a:cs typeface="ＭＳ Ｐゴシック" pitchFamily="-110" charset="-128"/>
              </a:rPr>
              <a:t>credentials, most recent spam is sent by botnets using compromised user systems,</a:t>
            </a:r>
          </a:p>
          <a:p>
            <a:pPr eaLnBrk="1" hangingPunct="1">
              <a:defRPr/>
            </a:pPr>
            <a:r>
              <a:rPr lang="en-US" dirty="0">
                <a:latin typeface="Arial" pitchFamily="-110" charset="0"/>
                <a:ea typeface="ＭＳ Ｐゴシック" pitchFamily="-110" charset="-128"/>
                <a:cs typeface="ＭＳ Ｐゴシック" pitchFamily="-110" charset="-128"/>
              </a:rPr>
              <a:t>as we will discuss in Section 6.6. A significant portion of spam e-mail content is just</a:t>
            </a:r>
          </a:p>
          <a:p>
            <a:pPr eaLnBrk="1" hangingPunct="1">
              <a:defRPr/>
            </a:pPr>
            <a:r>
              <a:rPr lang="en-US" dirty="0">
                <a:latin typeface="Arial" pitchFamily="-110" charset="0"/>
                <a:ea typeface="ＭＳ Ｐゴシック" pitchFamily="-110" charset="-128"/>
                <a:cs typeface="ＭＳ Ｐゴシック" pitchFamily="-110" charset="-128"/>
              </a:rPr>
              <a:t>advertising, trying to convince the recipient to purchase some product online, such</a:t>
            </a:r>
          </a:p>
          <a:p>
            <a:pPr eaLnBrk="1" hangingPunct="1">
              <a:defRPr/>
            </a:pPr>
            <a:r>
              <a:rPr lang="en-US" dirty="0">
                <a:latin typeface="Arial" pitchFamily="-110" charset="0"/>
                <a:ea typeface="ＭＳ Ｐゴシック" pitchFamily="-110" charset="-128"/>
                <a:cs typeface="ＭＳ Ｐゴシック" pitchFamily="-110" charset="-128"/>
              </a:rPr>
              <a:t>as pharmaceuticals, or used in scams, such as stock, romance or fake trader scams, or</a:t>
            </a:r>
          </a:p>
          <a:p>
            <a:pPr eaLnBrk="1" hangingPunct="1">
              <a:defRPr/>
            </a:pPr>
            <a:r>
              <a:rPr lang="en-US" dirty="0">
                <a:latin typeface="Arial" pitchFamily="-110" charset="0"/>
                <a:ea typeface="ＭＳ Ｐゴシック" pitchFamily="-110" charset="-128"/>
                <a:cs typeface="ＭＳ Ｐゴシック" pitchFamily="-110" charset="-128"/>
              </a:rPr>
              <a:t>money mule job ads. But spam is also a significant carrier of malware. The e-mail may</a:t>
            </a:r>
          </a:p>
          <a:p>
            <a:pPr eaLnBrk="1" hangingPunct="1">
              <a:defRPr/>
            </a:pPr>
            <a:r>
              <a:rPr lang="en-US" dirty="0">
                <a:latin typeface="Arial" pitchFamily="-110" charset="0"/>
                <a:ea typeface="ＭＳ Ｐゴシック" pitchFamily="-110" charset="-128"/>
                <a:cs typeface="ＭＳ Ｐゴシック" pitchFamily="-110" charset="-128"/>
              </a:rPr>
              <a:t>have an attached document, which, if opened, may exploit a software vulnerability</a:t>
            </a:r>
          </a:p>
          <a:p>
            <a:pPr eaLnBrk="1" hangingPunct="1">
              <a:defRPr/>
            </a:pPr>
            <a:r>
              <a:rPr lang="en-US" dirty="0">
                <a:latin typeface="Arial" pitchFamily="-110" charset="0"/>
                <a:ea typeface="ＭＳ Ｐゴシック" pitchFamily="-110" charset="-128"/>
                <a:cs typeface="ＭＳ Ｐゴシック" pitchFamily="-110" charset="-128"/>
              </a:rPr>
              <a:t>to install malware on the user’s system, as we discussed in the previous section. Or, it</a:t>
            </a:r>
          </a:p>
          <a:p>
            <a:pPr eaLnBrk="1" hangingPunct="1">
              <a:defRPr/>
            </a:pPr>
            <a:r>
              <a:rPr lang="en-US" dirty="0">
                <a:latin typeface="Arial" pitchFamily="-110" charset="0"/>
                <a:ea typeface="ＭＳ Ｐゴシック" pitchFamily="-110" charset="-128"/>
                <a:cs typeface="ＭＳ Ｐゴシック" pitchFamily="-110" charset="-128"/>
              </a:rPr>
              <a:t>may have an attached Trojan horse program or scripting code that, if run, also installs</a:t>
            </a:r>
          </a:p>
          <a:p>
            <a:pPr eaLnBrk="1" hangingPunct="1">
              <a:defRPr/>
            </a:pPr>
            <a:r>
              <a:rPr lang="en-US" dirty="0">
                <a:latin typeface="Arial" pitchFamily="-110" charset="0"/>
                <a:ea typeface="ＭＳ Ｐゴシック" pitchFamily="-110" charset="-128"/>
                <a:cs typeface="ＭＳ Ｐゴシック" pitchFamily="-110" charset="-128"/>
              </a:rPr>
              <a:t>malware on the user’s system. Some Trojans avoid the need for user agreement by</a:t>
            </a:r>
          </a:p>
          <a:p>
            <a:pPr eaLnBrk="1" hangingPunct="1">
              <a:defRPr/>
            </a:pPr>
            <a:r>
              <a:rPr lang="en-US" dirty="0">
                <a:latin typeface="Arial" pitchFamily="-110" charset="0"/>
                <a:ea typeface="ＭＳ Ｐゴシック" pitchFamily="-110" charset="-128"/>
                <a:cs typeface="ＭＳ Ｐゴシック" pitchFamily="-110" charset="-128"/>
              </a:rPr>
              <a:t>exploiting a software vulnerability in order to install themselves, as we will discuss</a:t>
            </a:r>
          </a:p>
          <a:p>
            <a:pPr eaLnBrk="1" hangingPunct="1">
              <a:defRPr/>
            </a:pPr>
            <a:r>
              <a:rPr lang="en-US" dirty="0">
                <a:latin typeface="Arial" pitchFamily="-110" charset="0"/>
                <a:ea typeface="ＭＳ Ｐゴシック" pitchFamily="-110" charset="-128"/>
                <a:cs typeface="ＭＳ Ｐゴシック" pitchFamily="-110" charset="-128"/>
              </a:rPr>
              <a:t>next. Finally the spam may be used in a phishing attack, typically directing the user</a:t>
            </a:r>
          </a:p>
          <a:p>
            <a:pPr eaLnBrk="1" hangingPunct="1">
              <a:defRPr/>
            </a:pPr>
            <a:r>
              <a:rPr lang="en-US" dirty="0">
                <a:latin typeface="Arial" pitchFamily="-110" charset="0"/>
                <a:ea typeface="ＭＳ Ｐゴシック" pitchFamily="-110" charset="-128"/>
                <a:cs typeface="ＭＳ Ｐゴシック" pitchFamily="-110" charset="-128"/>
              </a:rPr>
              <a:t>either to a fake website that mirrors some legitimate service, such as an online banking</a:t>
            </a:r>
          </a:p>
          <a:p>
            <a:pPr eaLnBrk="1" hangingPunct="1">
              <a:defRPr/>
            </a:pPr>
            <a:r>
              <a:rPr lang="en-US" dirty="0">
                <a:latin typeface="Arial" pitchFamily="-110" charset="0"/>
                <a:ea typeface="ＭＳ Ｐゴシック" pitchFamily="-110" charset="-128"/>
                <a:cs typeface="ＭＳ Ｐゴシック" pitchFamily="-110" charset="-128"/>
              </a:rPr>
              <a:t>site, where it attempts to capture the user’s login and password details; or to complete</a:t>
            </a:r>
          </a:p>
          <a:p>
            <a:pPr eaLnBrk="1" hangingPunct="1">
              <a:defRPr/>
            </a:pPr>
            <a:r>
              <a:rPr lang="en-US" dirty="0">
                <a:latin typeface="Arial" pitchFamily="-110" charset="0"/>
                <a:ea typeface="ＭＳ Ｐゴシック" pitchFamily="-110" charset="-128"/>
                <a:cs typeface="ＭＳ Ｐゴシック" pitchFamily="-110" charset="-128"/>
              </a:rPr>
              <a:t>some form with sufficient personal details to allow the attacker to impersonate</a:t>
            </a:r>
          </a:p>
          <a:p>
            <a:pPr eaLnBrk="1" hangingPunct="1">
              <a:defRPr/>
            </a:pPr>
            <a:r>
              <a:rPr lang="en-US" dirty="0">
                <a:latin typeface="Arial" pitchFamily="-110" charset="0"/>
                <a:ea typeface="ＭＳ Ｐゴシック" pitchFamily="-110" charset="-128"/>
                <a:cs typeface="ＭＳ Ｐゴシック" pitchFamily="-110" charset="-128"/>
              </a:rPr>
              <a:t>the user in an identity theft. In recent years, the evolving criminal marketplace makes</a:t>
            </a:r>
          </a:p>
          <a:p>
            <a:pPr eaLnBrk="1" hangingPunct="1">
              <a:defRPr/>
            </a:pPr>
            <a:r>
              <a:rPr lang="en-US" dirty="0">
                <a:latin typeface="Arial" pitchFamily="-110" charset="0"/>
                <a:ea typeface="ＭＳ Ｐゴシック" pitchFamily="-110" charset="-128"/>
                <a:cs typeface="ＭＳ Ｐゴシック" pitchFamily="-110" charset="-128"/>
              </a:rPr>
              <a:t>phishing campaigns easier by selling packages to scammers that largely automate the</a:t>
            </a:r>
          </a:p>
          <a:p>
            <a:pPr eaLnBrk="1" hangingPunct="1">
              <a:defRPr/>
            </a:pPr>
            <a:r>
              <a:rPr lang="en-US" dirty="0">
                <a:latin typeface="Arial" pitchFamily="-110" charset="0"/>
                <a:ea typeface="ＭＳ Ｐゴシック" pitchFamily="-110" charset="-128"/>
                <a:cs typeface="ＭＳ Ｐゴシック" pitchFamily="-110" charset="-128"/>
              </a:rPr>
              <a:t>process of running the scam [SYMA16]. All of these uses make spam e-mails a significant</a:t>
            </a:r>
          </a:p>
          <a:p>
            <a:pPr eaLnBrk="1" hangingPunct="1">
              <a:defRPr/>
            </a:pPr>
            <a:r>
              <a:rPr lang="en-US" dirty="0">
                <a:latin typeface="Arial" pitchFamily="-110" charset="0"/>
                <a:ea typeface="ＭＳ Ｐゴシック" pitchFamily="-110" charset="-128"/>
                <a:cs typeface="ＭＳ Ｐゴシック" pitchFamily="-110" charset="-128"/>
              </a:rPr>
              <a:t>security concern. However, in many cases, it requires the user’s active choice</a:t>
            </a:r>
          </a:p>
          <a:p>
            <a:pPr eaLnBrk="1" hangingPunct="1">
              <a:defRPr/>
            </a:pPr>
            <a:r>
              <a:rPr lang="en-US" dirty="0">
                <a:latin typeface="Arial" pitchFamily="-110" charset="0"/>
                <a:ea typeface="ＭＳ Ｐゴシック" pitchFamily="-110" charset="-128"/>
                <a:cs typeface="ＭＳ Ｐゴシック" pitchFamily="-110" charset="-128"/>
              </a:rPr>
              <a:t>to view the e-mail and any attached document, or to permit the installation of some</a:t>
            </a:r>
          </a:p>
          <a:p>
            <a:pPr eaLnBrk="1" hangingPunct="1">
              <a:defRPr/>
            </a:pPr>
            <a:r>
              <a:rPr lang="en-US" dirty="0">
                <a:latin typeface="Arial" pitchFamily="-110" charset="0"/>
                <a:ea typeface="ＭＳ Ｐゴシック" pitchFamily="-110" charset="-128"/>
                <a:cs typeface="ＭＳ Ｐゴシック" pitchFamily="-110" charset="-128"/>
              </a:rPr>
              <a:t>program, in order for the compromise to occur. Hence the importance of providing</a:t>
            </a:r>
          </a:p>
          <a:p>
            <a:pPr eaLnBrk="1" hangingPunct="1">
              <a:defRPr/>
            </a:pPr>
            <a:r>
              <a:rPr lang="en-US" dirty="0">
                <a:latin typeface="Arial" pitchFamily="-110" charset="0"/>
                <a:ea typeface="ＭＳ Ｐゴシック" pitchFamily="-110" charset="-128"/>
                <a:cs typeface="ＭＳ Ｐゴシック" pitchFamily="-110" charset="-128"/>
              </a:rPr>
              <a:t>appropriate security awareness training to users, so they are better able to recognize</a:t>
            </a:r>
          </a:p>
          <a:p>
            <a:pPr eaLnBrk="1" hangingPunct="1">
              <a:defRPr/>
            </a:pPr>
            <a:r>
              <a:rPr lang="en-US" dirty="0">
                <a:latin typeface="Arial" pitchFamily="-110" charset="0"/>
                <a:ea typeface="ＭＳ Ｐゴシック" pitchFamily="-110" charset="-128"/>
                <a:cs typeface="ＭＳ Ｐゴシック" pitchFamily="-110" charset="-128"/>
              </a:rPr>
              <a:t>and respond appropriately to such e-mails, as we will discuss in Chapter 17.</a:t>
            </a:r>
          </a:p>
          <a:p>
            <a:pPr eaLnBrk="1" hangingPunct="1">
              <a:lnSpc>
                <a:spcPct val="90000"/>
              </a:lnSpc>
              <a:defRPr/>
            </a:pPr>
            <a:endParaRPr lang="en-US" b="1" dirty="0">
              <a:latin typeface="Arial" charset="0"/>
              <a:ea typeface="ＭＳ Ｐゴシック" pitchFamily="-65" charset="-128"/>
            </a:endParaRPr>
          </a:p>
          <a:p>
            <a:pPr eaLnBrk="1" hangingPunct="1">
              <a:lnSpc>
                <a:spcPct val="90000"/>
              </a:lnSpc>
              <a:defRPr/>
            </a:pPr>
            <a:r>
              <a:rPr lang="en-US" b="1" dirty="0">
                <a:latin typeface="Arial" charset="0"/>
                <a:ea typeface="ＭＳ Ｐゴシック" pitchFamily="-65" charset="-128"/>
              </a:rPr>
              <a:t>Trojan Horses</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A Trojan horse is a useful, or apparently useful, program or utility containing</a:t>
            </a:r>
          </a:p>
          <a:p>
            <a:pPr eaLnBrk="1" hangingPunct="1">
              <a:lnSpc>
                <a:spcPct val="90000"/>
              </a:lnSpc>
              <a:defRPr/>
            </a:pPr>
            <a:r>
              <a:rPr lang="en-US" dirty="0">
                <a:latin typeface="Arial" charset="0"/>
                <a:ea typeface="ＭＳ Ｐゴシック" pitchFamily="-65" charset="-128"/>
              </a:rPr>
              <a:t>hidden code that, when invoked, performs some unwanted or harmful function.</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Trojan horse programs can be used to accomplish functions indirectly that</a:t>
            </a:r>
          </a:p>
          <a:p>
            <a:pPr eaLnBrk="1" hangingPunct="1">
              <a:lnSpc>
                <a:spcPct val="90000"/>
              </a:lnSpc>
              <a:defRPr/>
            </a:pPr>
            <a:r>
              <a:rPr lang="en-US" dirty="0">
                <a:latin typeface="Arial" charset="0"/>
                <a:ea typeface="ＭＳ Ｐゴシック" pitchFamily="-65" charset="-128"/>
              </a:rPr>
              <a:t>the attacker could not accomplish directly. For example, to gain access to sensitive,</a:t>
            </a:r>
          </a:p>
          <a:p>
            <a:pPr eaLnBrk="1" hangingPunct="1">
              <a:lnSpc>
                <a:spcPct val="90000"/>
              </a:lnSpc>
              <a:defRPr/>
            </a:pPr>
            <a:r>
              <a:rPr lang="en-US" dirty="0">
                <a:latin typeface="Arial" charset="0"/>
                <a:ea typeface="ＭＳ Ｐゴシック" pitchFamily="-65" charset="-128"/>
              </a:rPr>
              <a:t>personal information stored in the files of a user, an attacker could create a Trojan</a:t>
            </a:r>
          </a:p>
          <a:p>
            <a:pPr eaLnBrk="1" hangingPunct="1">
              <a:lnSpc>
                <a:spcPct val="90000"/>
              </a:lnSpc>
              <a:defRPr/>
            </a:pPr>
            <a:r>
              <a:rPr lang="en-US" dirty="0">
                <a:latin typeface="Arial" charset="0"/>
                <a:ea typeface="ＭＳ Ｐゴシック" pitchFamily="-65" charset="-128"/>
              </a:rPr>
              <a:t>horse program that, when executed, scans the user’s files for the desired sensitive</a:t>
            </a:r>
          </a:p>
          <a:p>
            <a:pPr eaLnBrk="1" hangingPunct="1">
              <a:lnSpc>
                <a:spcPct val="90000"/>
              </a:lnSpc>
              <a:defRPr/>
            </a:pPr>
            <a:r>
              <a:rPr lang="en-US" dirty="0">
                <a:latin typeface="Arial" charset="0"/>
                <a:ea typeface="ＭＳ Ｐゴシック" pitchFamily="-65" charset="-128"/>
              </a:rPr>
              <a:t>information and sends a copy of it to the attacker via a Web form or e-mail or text</a:t>
            </a:r>
          </a:p>
          <a:p>
            <a:pPr eaLnBrk="1" hangingPunct="1">
              <a:lnSpc>
                <a:spcPct val="90000"/>
              </a:lnSpc>
              <a:defRPr/>
            </a:pPr>
            <a:r>
              <a:rPr lang="en-US" dirty="0">
                <a:latin typeface="Arial" charset="0"/>
                <a:ea typeface="ＭＳ Ｐゴシック" pitchFamily="-65" charset="-128"/>
              </a:rPr>
              <a:t>message. The author could then entice users to run the program by incorporating it</a:t>
            </a:r>
          </a:p>
          <a:p>
            <a:pPr eaLnBrk="1" hangingPunct="1">
              <a:lnSpc>
                <a:spcPct val="90000"/>
              </a:lnSpc>
              <a:defRPr/>
            </a:pPr>
            <a:r>
              <a:rPr lang="en-US" dirty="0">
                <a:latin typeface="Arial" charset="0"/>
                <a:ea typeface="ＭＳ Ｐゴシック" pitchFamily="-65" charset="-128"/>
              </a:rPr>
              <a:t>into a game or useful utility program, and making it available via a known software</a:t>
            </a:r>
          </a:p>
          <a:p>
            <a:pPr eaLnBrk="1" hangingPunct="1">
              <a:lnSpc>
                <a:spcPct val="90000"/>
              </a:lnSpc>
              <a:defRPr/>
            </a:pPr>
            <a:r>
              <a:rPr lang="en-US" dirty="0">
                <a:latin typeface="Arial" charset="0"/>
                <a:ea typeface="ＭＳ Ｐゴシック" pitchFamily="-65" charset="-128"/>
              </a:rPr>
              <a:t>distribution site or app store. This approach has been used recently with utilities</a:t>
            </a:r>
          </a:p>
          <a:p>
            <a:pPr eaLnBrk="1" hangingPunct="1">
              <a:lnSpc>
                <a:spcPct val="90000"/>
              </a:lnSpc>
              <a:defRPr/>
            </a:pPr>
            <a:r>
              <a:rPr lang="en-US" dirty="0">
                <a:latin typeface="Arial" charset="0"/>
                <a:ea typeface="ＭＳ Ｐゴシック" pitchFamily="-65" charset="-128"/>
              </a:rPr>
              <a:t>that “claim” to be the latest anti-virus scanner, or security update, for systems, but</a:t>
            </a:r>
          </a:p>
          <a:p>
            <a:pPr eaLnBrk="1" hangingPunct="1">
              <a:lnSpc>
                <a:spcPct val="90000"/>
              </a:lnSpc>
              <a:defRPr/>
            </a:pPr>
            <a:r>
              <a:rPr lang="en-US" dirty="0">
                <a:latin typeface="Arial" charset="0"/>
                <a:ea typeface="ＭＳ Ｐゴシック" pitchFamily="-65" charset="-128"/>
              </a:rPr>
              <a:t>which are actually malicious Trojans, often carrying payloads such as spyware that</a:t>
            </a:r>
          </a:p>
          <a:p>
            <a:pPr eaLnBrk="1" hangingPunct="1">
              <a:lnSpc>
                <a:spcPct val="90000"/>
              </a:lnSpc>
              <a:defRPr/>
            </a:pPr>
            <a:r>
              <a:rPr lang="en-US" dirty="0">
                <a:latin typeface="Arial" charset="0"/>
                <a:ea typeface="ＭＳ Ｐゴシック" pitchFamily="-65" charset="-128"/>
              </a:rPr>
              <a:t>searches for banking credentials. Hence, users need to take precautions to validate</a:t>
            </a:r>
          </a:p>
          <a:p>
            <a:pPr eaLnBrk="1" hangingPunct="1">
              <a:lnSpc>
                <a:spcPct val="90000"/>
              </a:lnSpc>
              <a:defRPr/>
            </a:pPr>
            <a:r>
              <a:rPr lang="en-US" dirty="0">
                <a:latin typeface="Arial" charset="0"/>
                <a:ea typeface="ＭＳ Ｐゴシック" pitchFamily="-65" charset="-128"/>
              </a:rPr>
              <a:t>the source of any software they install.</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Trojan horses fit into one of three models:</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 Continuing to perform the function of the original program and additionally</a:t>
            </a:r>
          </a:p>
          <a:p>
            <a:pPr eaLnBrk="1" hangingPunct="1">
              <a:lnSpc>
                <a:spcPct val="90000"/>
              </a:lnSpc>
              <a:defRPr/>
            </a:pPr>
            <a:r>
              <a:rPr lang="en-US" dirty="0">
                <a:latin typeface="Arial" charset="0"/>
                <a:ea typeface="ＭＳ Ｐゴシック" pitchFamily="-65" charset="-128"/>
              </a:rPr>
              <a:t>performing a separate malicious activity</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 Continuing to perform the function of the original program but modifying the</a:t>
            </a:r>
          </a:p>
          <a:p>
            <a:pPr eaLnBrk="1" hangingPunct="1">
              <a:lnSpc>
                <a:spcPct val="90000"/>
              </a:lnSpc>
              <a:defRPr/>
            </a:pPr>
            <a:r>
              <a:rPr lang="en-US" dirty="0">
                <a:latin typeface="Arial" charset="0"/>
                <a:ea typeface="ＭＳ Ｐゴシック" pitchFamily="-65" charset="-128"/>
              </a:rPr>
              <a:t>function to perform malicious activity (e.g., a Trojan horse version of a login</a:t>
            </a:r>
          </a:p>
          <a:p>
            <a:pPr eaLnBrk="1" hangingPunct="1">
              <a:lnSpc>
                <a:spcPct val="90000"/>
              </a:lnSpc>
              <a:defRPr/>
            </a:pPr>
            <a:r>
              <a:rPr lang="en-US" dirty="0">
                <a:latin typeface="Arial" charset="0"/>
                <a:ea typeface="ＭＳ Ｐゴシック" pitchFamily="-65" charset="-128"/>
              </a:rPr>
              <a:t>program that collects passwords) or to disguise other malicious activity (e.g., a</a:t>
            </a:r>
          </a:p>
          <a:p>
            <a:pPr eaLnBrk="1" hangingPunct="1">
              <a:lnSpc>
                <a:spcPct val="90000"/>
              </a:lnSpc>
              <a:defRPr/>
            </a:pPr>
            <a:r>
              <a:rPr lang="en-US" dirty="0">
                <a:latin typeface="Arial" charset="0"/>
                <a:ea typeface="ＭＳ Ｐゴシック" pitchFamily="-65" charset="-128"/>
              </a:rPr>
              <a:t>Trojan horse version of a process listing program that does not display certain</a:t>
            </a:r>
          </a:p>
          <a:p>
            <a:pPr eaLnBrk="1" hangingPunct="1">
              <a:lnSpc>
                <a:spcPct val="90000"/>
              </a:lnSpc>
              <a:defRPr/>
            </a:pPr>
            <a:r>
              <a:rPr lang="en-US" dirty="0">
                <a:latin typeface="Arial" charset="0"/>
                <a:ea typeface="ＭＳ Ｐゴシック" pitchFamily="-65" charset="-128"/>
              </a:rPr>
              <a:t>processes that are malicious)</a:t>
            </a:r>
          </a:p>
          <a:p>
            <a:pPr eaLnBrk="1" hangingPunct="1">
              <a:lnSpc>
                <a:spcPct val="90000"/>
              </a:lnSpc>
              <a:defRPr/>
            </a:pPr>
            <a:endParaRPr lang="en-US" dirty="0">
              <a:latin typeface="Arial" charset="0"/>
              <a:ea typeface="ＭＳ Ｐゴシック" pitchFamily="-65" charset="-128"/>
            </a:endParaRPr>
          </a:p>
          <a:p>
            <a:pPr eaLnBrk="1" hangingPunct="1">
              <a:lnSpc>
                <a:spcPct val="90000"/>
              </a:lnSpc>
              <a:defRPr/>
            </a:pPr>
            <a:r>
              <a:rPr lang="en-US" dirty="0">
                <a:latin typeface="Arial" charset="0"/>
                <a:ea typeface="ＭＳ Ｐゴシック" pitchFamily="-65" charset="-128"/>
              </a:rPr>
              <a:t>• Performing a malicious function that completely replaces the function of the</a:t>
            </a:r>
          </a:p>
          <a:p>
            <a:pPr eaLnBrk="1" hangingPunct="1">
              <a:lnSpc>
                <a:spcPct val="90000"/>
              </a:lnSpc>
              <a:defRPr/>
            </a:pPr>
            <a:r>
              <a:rPr lang="en-US" dirty="0">
                <a:latin typeface="Arial" charset="0"/>
                <a:ea typeface="ＭＳ Ｐゴシック" pitchFamily="-65" charset="-128"/>
              </a:rPr>
              <a:t>original program</a:t>
            </a:r>
          </a:p>
          <a:p>
            <a:pPr eaLnBrk="1" hangingPunct="1">
              <a:lnSpc>
                <a:spcPct val="90000"/>
              </a:lnSpc>
              <a:defRPr/>
            </a:pPr>
            <a:endParaRPr lang="en-US" dirty="0">
              <a:latin typeface="Arial" charset="0"/>
              <a:ea typeface="ＭＳ Ｐゴシック" pitchFamily="-65" charset="-128"/>
            </a:endParaRPr>
          </a:p>
          <a:p>
            <a:pPr eaLnBrk="1" hangingPunct="1">
              <a:defRPr/>
            </a:pPr>
            <a:r>
              <a:rPr lang="en-US" dirty="0">
                <a:latin typeface="Arial" pitchFamily="-110" charset="0"/>
                <a:ea typeface="ＭＳ Ｐゴシック" pitchFamily="-110" charset="-128"/>
                <a:cs typeface="ＭＳ Ｐゴシック" pitchFamily="-110" charset="-128"/>
              </a:rPr>
              <a:t> Some Trojans avoid the requirement for user assistance by exploiting some software</a:t>
            </a:r>
          </a:p>
          <a:p>
            <a:pPr eaLnBrk="1" hangingPunct="1">
              <a:defRPr/>
            </a:pPr>
            <a:r>
              <a:rPr lang="en-US" dirty="0">
                <a:latin typeface="Arial" pitchFamily="-110" charset="0"/>
                <a:ea typeface="ＭＳ Ｐゴシック" pitchFamily="-110" charset="-128"/>
                <a:cs typeface="ＭＳ Ｐゴシック" pitchFamily="-110" charset="-128"/>
              </a:rPr>
              <a:t>vulnerability to enable their automatic installation and execution. In this they share</a:t>
            </a:r>
          </a:p>
          <a:p>
            <a:pPr eaLnBrk="1" hangingPunct="1">
              <a:defRPr/>
            </a:pPr>
            <a:r>
              <a:rPr lang="en-US" dirty="0">
                <a:latin typeface="Arial" pitchFamily="-110" charset="0"/>
                <a:ea typeface="ＭＳ Ｐゴシック" pitchFamily="-110" charset="-128"/>
                <a:cs typeface="ＭＳ Ｐゴシック" pitchFamily="-110" charset="-128"/>
              </a:rPr>
              <a:t>some features of a worm, but unlike it, they do not replicate. A prominent example</a:t>
            </a:r>
          </a:p>
          <a:p>
            <a:pPr eaLnBrk="1" hangingPunct="1">
              <a:defRPr/>
            </a:pPr>
            <a:r>
              <a:rPr lang="en-US" dirty="0">
                <a:latin typeface="Arial" pitchFamily="-110" charset="0"/>
                <a:ea typeface="ＭＳ Ｐゴシック" pitchFamily="-110" charset="-128"/>
                <a:cs typeface="ＭＳ Ｐゴシック" pitchFamily="-110" charset="-128"/>
              </a:rPr>
              <a:t>of such an attack was the </a:t>
            </a:r>
            <a:r>
              <a:rPr lang="en-US" dirty="0" err="1">
                <a:latin typeface="Arial" pitchFamily="-110" charset="0"/>
                <a:ea typeface="ＭＳ Ｐゴシック" pitchFamily="-110" charset="-128"/>
                <a:cs typeface="ＭＳ Ｐゴシック" pitchFamily="-110" charset="-128"/>
              </a:rPr>
              <a:t>Hydraq</a:t>
            </a:r>
            <a:r>
              <a:rPr lang="en-US" dirty="0">
                <a:latin typeface="Arial" pitchFamily="-110" charset="0"/>
                <a:ea typeface="ＭＳ Ｐゴシック" pitchFamily="-110" charset="-128"/>
                <a:cs typeface="ＭＳ Ｐゴシック" pitchFamily="-110" charset="-128"/>
              </a:rPr>
              <a:t> Trojan used in Operation Aurora in 2009 and early</a:t>
            </a:r>
          </a:p>
          <a:p>
            <a:pPr eaLnBrk="1" hangingPunct="1">
              <a:defRPr/>
            </a:pPr>
            <a:r>
              <a:rPr lang="en-US" dirty="0">
                <a:latin typeface="Arial" pitchFamily="-110" charset="0"/>
                <a:ea typeface="ＭＳ Ｐゴシック" pitchFamily="-110" charset="-128"/>
                <a:cs typeface="ＭＳ Ｐゴシック" pitchFamily="-110" charset="-128"/>
              </a:rPr>
              <a:t>2010.  This exploited a vulnerability in Internet Explorer to install itself, and targeted</a:t>
            </a:r>
          </a:p>
          <a:p>
            <a:pPr eaLnBrk="1" hangingPunct="1">
              <a:defRPr/>
            </a:pPr>
            <a:r>
              <a:rPr lang="en-US" dirty="0">
                <a:latin typeface="Arial" pitchFamily="-110" charset="0"/>
                <a:ea typeface="ＭＳ Ｐゴシック" pitchFamily="-110" charset="-128"/>
                <a:cs typeface="ＭＳ Ｐゴシック" pitchFamily="-110" charset="-128"/>
              </a:rPr>
              <a:t>several high-profile companies. It was typically distributed using either spam e-mail or</a:t>
            </a:r>
          </a:p>
          <a:p>
            <a:pPr eaLnBrk="1" hangingPunct="1">
              <a:defRPr/>
            </a:pPr>
            <a:r>
              <a:rPr lang="en-US" dirty="0">
                <a:latin typeface="Arial" pitchFamily="-110" charset="0"/>
                <a:ea typeface="ＭＳ Ｐゴシック" pitchFamily="-110" charset="-128"/>
                <a:cs typeface="ＭＳ Ｐゴシック" pitchFamily="-110" charset="-128"/>
              </a:rPr>
              <a:t>via a compromised website using a “watering-hole” attack. Tech Support Scams are a</a:t>
            </a:r>
          </a:p>
          <a:p>
            <a:pPr eaLnBrk="1" hangingPunct="1">
              <a:defRPr/>
            </a:pPr>
            <a:r>
              <a:rPr lang="en-US" dirty="0">
                <a:latin typeface="Arial" pitchFamily="-110" charset="0"/>
                <a:ea typeface="ＭＳ Ｐゴシック" pitchFamily="-110" charset="-128"/>
                <a:cs typeface="ＭＳ Ｐゴシック" pitchFamily="-110" charset="-128"/>
              </a:rPr>
              <a:t>growing social engineering concern. These involve call centers calling users about nonexistent</a:t>
            </a:r>
          </a:p>
          <a:p>
            <a:pPr eaLnBrk="1" hangingPunct="1">
              <a:defRPr/>
            </a:pPr>
            <a:r>
              <a:rPr lang="en-US" dirty="0">
                <a:latin typeface="Arial" pitchFamily="-110" charset="0"/>
                <a:ea typeface="ＭＳ Ｐゴシック" pitchFamily="-110" charset="-128"/>
                <a:cs typeface="ＭＳ Ｐゴシック" pitchFamily="-110" charset="-128"/>
              </a:rPr>
              <a:t>problems on their computer systems. If the users respond, the attackers try to</a:t>
            </a:r>
          </a:p>
          <a:p>
            <a:pPr eaLnBrk="1" hangingPunct="1">
              <a:defRPr/>
            </a:pPr>
            <a:r>
              <a:rPr lang="en-US" dirty="0">
                <a:latin typeface="Arial" pitchFamily="-110" charset="0"/>
                <a:ea typeface="ＭＳ Ｐゴシック" pitchFamily="-110" charset="-128"/>
                <a:cs typeface="ＭＳ Ｐゴシック" pitchFamily="-110" charset="-128"/>
              </a:rPr>
              <a:t>sell them bogus tech support or ask them to install Trojan malware or other unwanted</a:t>
            </a:r>
          </a:p>
          <a:p>
            <a:pPr eaLnBrk="1" hangingPunct="1">
              <a:defRPr/>
            </a:pPr>
            <a:r>
              <a:rPr lang="en-US" dirty="0">
                <a:latin typeface="Arial" pitchFamily="-110" charset="0"/>
                <a:ea typeface="ＭＳ Ｐゴシック" pitchFamily="-110" charset="-128"/>
                <a:cs typeface="ＭＳ Ｐゴシック" pitchFamily="-110" charset="-128"/>
              </a:rPr>
              <a:t>applications on their systems, all while claiming this will fix their problem [SYMA16].</a:t>
            </a:r>
          </a:p>
          <a:p>
            <a:pPr eaLnBrk="1" hangingPunct="1">
              <a:lnSpc>
                <a:spcPct val="90000"/>
              </a:lnSpc>
              <a:defRPr/>
            </a:pPr>
            <a:endParaRPr lang="en-US" b="1" dirty="0">
              <a:latin typeface="Arial" charset="0"/>
              <a:ea typeface="ＭＳ Ｐゴシック" pitchFamily="-65" charset="-128"/>
            </a:endParaRPr>
          </a:p>
          <a:p>
            <a:pPr eaLnBrk="1" hangingPunct="1">
              <a:lnSpc>
                <a:spcPct val="90000"/>
              </a:lnSpc>
              <a:defRPr/>
            </a:pPr>
            <a:r>
              <a:rPr lang="en-US" b="1" dirty="0">
                <a:latin typeface="Arial" charset="0"/>
                <a:ea typeface="ＭＳ Ｐゴシック" pitchFamily="-65" charset="-128"/>
              </a:rPr>
              <a:t>Mobile Phone Trojans</a:t>
            </a:r>
          </a:p>
          <a:p>
            <a:pPr eaLnBrk="1" hangingPunct="1">
              <a:lnSpc>
                <a:spcPct val="90000"/>
              </a:lnSpc>
              <a:defRPr/>
            </a:pPr>
            <a:endParaRPr lang="en-US" dirty="0">
              <a:latin typeface="Arial" charset="0"/>
              <a:ea typeface="ＭＳ Ｐゴシック" pitchFamily="-65" charset="-128"/>
            </a:endParaRPr>
          </a:p>
          <a:p>
            <a:pPr eaLnBrk="1" hangingPunct="1">
              <a:defRPr/>
            </a:pPr>
            <a:r>
              <a:rPr lang="en-US" dirty="0">
                <a:latin typeface="Arial" pitchFamily="-110" charset="0"/>
                <a:ea typeface="ＭＳ Ｐゴシック" pitchFamily="-110" charset="-128"/>
                <a:cs typeface="ＭＳ Ｐゴシック" pitchFamily="-110" charset="-128"/>
              </a:rPr>
              <a:t>  Mobile phone Trojans also first appeared in 2004 with the discovery of </a:t>
            </a:r>
            <a:r>
              <a:rPr lang="en-US" dirty="0" err="1">
                <a:latin typeface="Arial" pitchFamily="-110" charset="0"/>
                <a:ea typeface="ＭＳ Ｐゴシック" pitchFamily="-110" charset="-128"/>
                <a:cs typeface="ＭＳ Ｐゴシック" pitchFamily="-110" charset="-128"/>
              </a:rPr>
              <a:t>Skuller</a:t>
            </a:r>
            <a:r>
              <a:rPr lang="en-US" dirty="0">
                <a:latin typeface="Arial" pitchFamily="-110" charset="0"/>
                <a:ea typeface="ＭＳ Ｐゴシック" pitchFamily="-110" charset="-128"/>
                <a:cs typeface="ＭＳ Ｐゴシック" pitchFamily="-110" charset="-128"/>
              </a:rPr>
              <a:t>. As</a:t>
            </a:r>
          </a:p>
          <a:p>
            <a:pPr eaLnBrk="1" hangingPunct="1">
              <a:defRPr/>
            </a:pPr>
            <a:r>
              <a:rPr lang="en-US" dirty="0">
                <a:latin typeface="Arial" pitchFamily="-110" charset="0"/>
                <a:ea typeface="ＭＳ Ｐゴシック" pitchFamily="-110" charset="-128"/>
                <a:cs typeface="ＭＳ Ｐゴシック" pitchFamily="-110" charset="-128"/>
              </a:rPr>
              <a:t>with mobile worms, the target is the smartphone, and the early mobile Trojans targeted</a:t>
            </a:r>
          </a:p>
          <a:p>
            <a:pPr eaLnBrk="1" hangingPunct="1">
              <a:defRPr/>
            </a:pPr>
            <a:r>
              <a:rPr lang="en-US" dirty="0">
                <a:latin typeface="Arial" pitchFamily="-110" charset="0"/>
                <a:ea typeface="ＭＳ Ｐゴシック" pitchFamily="-110" charset="-128"/>
                <a:cs typeface="ＭＳ Ｐゴシック" pitchFamily="-110" charset="-128"/>
              </a:rPr>
              <a:t>Symbian phones. More recently, a significant number of Trojans have been</a:t>
            </a:r>
          </a:p>
          <a:p>
            <a:pPr eaLnBrk="1" hangingPunct="1">
              <a:defRPr/>
            </a:pPr>
            <a:r>
              <a:rPr lang="en-US" dirty="0">
                <a:latin typeface="Arial" pitchFamily="-110" charset="0"/>
                <a:ea typeface="ＭＳ Ｐゴシック" pitchFamily="-110" charset="-128"/>
                <a:cs typeface="ＭＳ Ｐゴシック" pitchFamily="-110" charset="-128"/>
              </a:rPr>
              <a:t>detected that target Android phones and Apple iPhones. These Trojans are usually</a:t>
            </a:r>
          </a:p>
          <a:p>
            <a:pPr eaLnBrk="1" hangingPunct="1">
              <a:defRPr/>
            </a:pPr>
            <a:r>
              <a:rPr lang="en-US" dirty="0">
                <a:latin typeface="Arial" pitchFamily="-110" charset="0"/>
                <a:ea typeface="ＭＳ Ｐゴシック" pitchFamily="-110" charset="-128"/>
                <a:cs typeface="ＭＳ Ｐゴシック" pitchFamily="-110" charset="-128"/>
              </a:rPr>
              <a:t>distributed via one or more of the app marketplaces for the target phone O/S.</a:t>
            </a:r>
          </a:p>
          <a:p>
            <a:pPr eaLnBrk="1" hangingPunct="1">
              <a:defRPr/>
            </a:pPr>
            <a:endParaRPr lang="en-US" dirty="0">
              <a:latin typeface="Arial" pitchFamily="-110" charset="0"/>
              <a:ea typeface="ＭＳ Ｐゴシック" pitchFamily="-110" charset="-128"/>
              <a:cs typeface="ＭＳ Ｐゴシック" pitchFamily="-110" charset="-128"/>
            </a:endParaRPr>
          </a:p>
          <a:p>
            <a:pPr eaLnBrk="1" hangingPunct="1">
              <a:defRPr/>
            </a:pPr>
            <a:r>
              <a:rPr lang="en-US" dirty="0">
                <a:latin typeface="Arial" pitchFamily="-110" charset="0"/>
                <a:ea typeface="ＭＳ Ｐゴシック" pitchFamily="-110" charset="-128"/>
                <a:cs typeface="ＭＳ Ｐゴシック" pitchFamily="-110" charset="-128"/>
              </a:rPr>
              <a:t>The rapid growth in smartphone sales and use, which increasingly contain valuable</a:t>
            </a:r>
          </a:p>
          <a:p>
            <a:pPr eaLnBrk="1" hangingPunct="1">
              <a:defRPr/>
            </a:pPr>
            <a:r>
              <a:rPr lang="en-US" dirty="0">
                <a:latin typeface="Arial" pitchFamily="-110" charset="0"/>
                <a:ea typeface="ＭＳ Ｐゴシック" pitchFamily="-110" charset="-128"/>
                <a:cs typeface="ＭＳ Ｐゴシック" pitchFamily="-110" charset="-128"/>
              </a:rPr>
              <a:t>personal information, make them an attractive target for criminals and other</a:t>
            </a:r>
          </a:p>
          <a:p>
            <a:pPr eaLnBrk="1" hangingPunct="1">
              <a:defRPr/>
            </a:pPr>
            <a:r>
              <a:rPr lang="en-US" dirty="0">
                <a:latin typeface="Arial" pitchFamily="-110" charset="0"/>
                <a:ea typeface="ＭＳ Ｐゴシック" pitchFamily="-110" charset="-128"/>
                <a:cs typeface="ＭＳ Ｐゴシック" pitchFamily="-110" charset="-128"/>
              </a:rPr>
              <a:t>attackers. Given five in six new phones run Android, they are a key target [SYMA16].</a:t>
            </a:r>
          </a:p>
          <a:p>
            <a:pPr eaLnBrk="1" hangingPunct="1">
              <a:defRPr/>
            </a:pPr>
            <a:r>
              <a:rPr lang="en-US" dirty="0">
                <a:latin typeface="Arial" pitchFamily="-110" charset="0"/>
                <a:ea typeface="ＭＳ Ｐゴシック" pitchFamily="-110" charset="-128"/>
                <a:cs typeface="ＭＳ Ｐゴシック" pitchFamily="-110" charset="-128"/>
              </a:rPr>
              <a:t>The number of vulnerabilities discovered in, and malware families targeting these</a:t>
            </a:r>
          </a:p>
          <a:p>
            <a:pPr eaLnBrk="1" hangingPunct="1">
              <a:defRPr/>
            </a:pPr>
            <a:r>
              <a:rPr lang="en-US" dirty="0">
                <a:latin typeface="Arial" pitchFamily="-110" charset="0"/>
                <a:ea typeface="ＭＳ Ｐゴシック" pitchFamily="-110" charset="-128"/>
                <a:cs typeface="ＭＳ Ｐゴシック" pitchFamily="-110" charset="-128"/>
              </a:rPr>
              <a:t>phones, have both increased steadily in recent years. Recent examples include a</a:t>
            </a:r>
          </a:p>
          <a:p>
            <a:pPr eaLnBrk="1" hangingPunct="1">
              <a:defRPr/>
            </a:pPr>
            <a:r>
              <a:rPr lang="en-US" dirty="0">
                <a:latin typeface="Arial" pitchFamily="-110" charset="0"/>
                <a:ea typeface="ＭＳ Ｐゴシック" pitchFamily="-110" charset="-128"/>
                <a:cs typeface="ＭＳ Ｐゴシック" pitchFamily="-110" charset="-128"/>
              </a:rPr>
              <a:t>phishing Trojan that tricks the user into entering their banking details, and ransomware</a:t>
            </a:r>
          </a:p>
          <a:p>
            <a:pPr eaLnBrk="1" hangingPunct="1">
              <a:defRPr/>
            </a:pPr>
            <a:r>
              <a:rPr lang="en-US" dirty="0">
                <a:latin typeface="Arial" pitchFamily="-110" charset="0"/>
                <a:ea typeface="ＭＳ Ｐゴシック" pitchFamily="-110" charset="-128"/>
                <a:cs typeface="ＭＳ Ｐゴシック" pitchFamily="-110" charset="-128"/>
              </a:rPr>
              <a:t>that mimics Google’s design style to appear more legitimate and intimidating.</a:t>
            </a:r>
          </a:p>
          <a:p>
            <a:pPr eaLnBrk="1" hangingPunct="1">
              <a:defRPr/>
            </a:pPr>
            <a:endParaRPr lang="en-US" dirty="0">
              <a:latin typeface="Arial" pitchFamily="-110" charset="0"/>
              <a:ea typeface="ＭＳ Ｐゴシック" pitchFamily="-110" charset="-128"/>
              <a:cs typeface="ＭＳ Ｐゴシック" pitchFamily="-110" charset="-128"/>
            </a:endParaRPr>
          </a:p>
          <a:p>
            <a:pPr eaLnBrk="1" hangingPunct="1">
              <a:defRPr/>
            </a:pPr>
            <a:r>
              <a:rPr lang="en-US" dirty="0">
                <a:latin typeface="Arial" pitchFamily="-110" charset="0"/>
                <a:ea typeface="ＭＳ Ｐゴシック" pitchFamily="-110" charset="-128"/>
                <a:cs typeface="ＭＳ Ｐゴシック" pitchFamily="-110" charset="-128"/>
              </a:rPr>
              <a:t>The tighter controls that Apple impose on their app store, mean that many</a:t>
            </a:r>
          </a:p>
          <a:p>
            <a:pPr eaLnBrk="1" hangingPunct="1">
              <a:defRPr/>
            </a:pPr>
            <a:r>
              <a:rPr lang="en-US" dirty="0">
                <a:latin typeface="Arial" pitchFamily="-110" charset="0"/>
                <a:ea typeface="ＭＳ Ｐゴシック" pitchFamily="-110" charset="-128"/>
                <a:cs typeface="ＭＳ Ｐゴシック" pitchFamily="-110" charset="-128"/>
              </a:rPr>
              <a:t>iPhone Trojans target “jail-broken” phones, and are distributed via unofficial sites.</a:t>
            </a:r>
          </a:p>
          <a:p>
            <a:pPr eaLnBrk="1" hangingPunct="1">
              <a:defRPr/>
            </a:pPr>
            <a:r>
              <a:rPr lang="en-US" dirty="0">
                <a:latin typeface="Arial" pitchFamily="-110" charset="0"/>
                <a:ea typeface="ＭＳ Ｐゴシック" pitchFamily="-110" charset="-128"/>
                <a:cs typeface="ＭＳ Ｐゴシック" pitchFamily="-110" charset="-128"/>
              </a:rPr>
              <a:t>However a number of versions of the iPhone O/S contained some form of graphic</a:t>
            </a:r>
          </a:p>
          <a:p>
            <a:pPr eaLnBrk="1" hangingPunct="1">
              <a:defRPr/>
            </a:pPr>
            <a:r>
              <a:rPr lang="en-US" dirty="0">
                <a:latin typeface="Arial" pitchFamily="-110" charset="0"/>
                <a:ea typeface="ＭＳ Ｐゴシック" pitchFamily="-110" charset="-128"/>
                <a:cs typeface="ＭＳ Ｐゴシック" pitchFamily="-110" charset="-128"/>
              </a:rPr>
              <a:t>or PDF vulnerability. Indeed these vulnerabilities were the main means used to “jailbreak”</a:t>
            </a:r>
          </a:p>
          <a:p>
            <a:pPr eaLnBrk="1" hangingPunct="1">
              <a:defRPr/>
            </a:pPr>
            <a:r>
              <a:rPr lang="en-US" dirty="0">
                <a:latin typeface="Arial" pitchFamily="-110" charset="0"/>
                <a:ea typeface="ＭＳ Ｐゴシック" pitchFamily="-110" charset="-128"/>
                <a:cs typeface="ＭＳ Ｐゴシック" pitchFamily="-110" charset="-128"/>
              </a:rPr>
              <a:t>the phones. But they also provided a path that malware could use to target</a:t>
            </a:r>
          </a:p>
          <a:p>
            <a:pPr eaLnBrk="1" hangingPunct="1">
              <a:defRPr/>
            </a:pPr>
            <a:r>
              <a:rPr lang="en-US" dirty="0">
                <a:latin typeface="Arial" pitchFamily="-110" charset="0"/>
                <a:ea typeface="ＭＳ Ｐゴシック" pitchFamily="-110" charset="-128"/>
                <a:cs typeface="ＭＳ Ｐゴシック" pitchFamily="-110" charset="-128"/>
              </a:rPr>
              <a:t>the phones. While Apple has fixed a number of these vulnerabilities, new variants</a:t>
            </a:r>
          </a:p>
          <a:p>
            <a:pPr eaLnBrk="1" hangingPunct="1">
              <a:defRPr/>
            </a:pPr>
            <a:r>
              <a:rPr lang="en-US" dirty="0">
                <a:latin typeface="Arial" pitchFamily="-110" charset="0"/>
                <a:ea typeface="ＭＳ Ｐゴシック" pitchFamily="-110" charset="-128"/>
                <a:cs typeface="ＭＳ Ｐゴシック" pitchFamily="-110" charset="-128"/>
              </a:rPr>
              <a:t> continued to be discovered. This is yet another illustration of just how difficult it is, for</a:t>
            </a:r>
          </a:p>
          <a:p>
            <a:pPr eaLnBrk="1" hangingPunct="1">
              <a:defRPr/>
            </a:pPr>
            <a:r>
              <a:rPr lang="en-US" dirty="0">
                <a:latin typeface="Arial" pitchFamily="-110" charset="0"/>
                <a:ea typeface="ＭＳ Ｐゴシック" pitchFamily="-110" charset="-128"/>
                <a:cs typeface="ＭＳ Ｐゴシック" pitchFamily="-110" charset="-128"/>
              </a:rPr>
              <a:t>even well- resourced organizations, to write secure software within a complex system,</a:t>
            </a:r>
          </a:p>
          <a:p>
            <a:pPr eaLnBrk="1" hangingPunct="1">
              <a:defRPr/>
            </a:pPr>
            <a:r>
              <a:rPr lang="en-US" dirty="0">
                <a:latin typeface="Arial" pitchFamily="-110" charset="0"/>
                <a:ea typeface="ＭＳ Ｐゴシック" pitchFamily="-110" charset="-128"/>
                <a:cs typeface="ＭＳ Ｐゴシック" pitchFamily="-110" charset="-128"/>
              </a:rPr>
              <a:t>such as an operating system. We will return to this topic in Chapters 10 and 11. More</a:t>
            </a:r>
          </a:p>
          <a:p>
            <a:pPr eaLnBrk="1" hangingPunct="1">
              <a:defRPr/>
            </a:pPr>
            <a:r>
              <a:rPr lang="en-US" dirty="0">
                <a:latin typeface="Arial" pitchFamily="-110" charset="0"/>
                <a:ea typeface="ＭＳ Ｐゴシック" pitchFamily="-110" charset="-128"/>
                <a:cs typeface="ＭＳ Ｐゴシック" pitchFamily="-110" charset="-128"/>
              </a:rPr>
              <a:t>recently in 2015, </a:t>
            </a:r>
            <a:r>
              <a:rPr lang="en-US" dirty="0" err="1">
                <a:latin typeface="Arial" pitchFamily="-110" charset="0"/>
                <a:ea typeface="ＭＳ Ｐゴシック" pitchFamily="-110" charset="-128"/>
                <a:cs typeface="ＭＳ Ｐゴシック" pitchFamily="-110" charset="-128"/>
              </a:rPr>
              <a:t>XcodeGhost</a:t>
            </a:r>
            <a:r>
              <a:rPr lang="en-US" dirty="0">
                <a:latin typeface="Arial" pitchFamily="-110" charset="0"/>
                <a:ea typeface="ＭＳ Ｐゴシック" pitchFamily="-110" charset="-128"/>
                <a:cs typeface="ＭＳ Ｐゴシック" pitchFamily="-110" charset="-128"/>
              </a:rPr>
              <a:t> malware was discovered in a number of legitimate</a:t>
            </a:r>
          </a:p>
          <a:p>
            <a:pPr eaLnBrk="1" hangingPunct="1">
              <a:defRPr/>
            </a:pPr>
            <a:r>
              <a:rPr lang="en-US" dirty="0">
                <a:latin typeface="Arial" pitchFamily="-110" charset="0"/>
                <a:ea typeface="ＭＳ Ｐゴシック" pitchFamily="-110" charset="-128"/>
                <a:cs typeface="ＭＳ Ｐゴシック" pitchFamily="-110" charset="-128"/>
              </a:rPr>
              <a:t>Apple Store apps. The apps were not intentionally designed to be malicious, but their</a:t>
            </a:r>
          </a:p>
          <a:p>
            <a:pPr eaLnBrk="1" hangingPunct="1">
              <a:defRPr/>
            </a:pPr>
            <a:r>
              <a:rPr lang="en-US" dirty="0">
                <a:latin typeface="Arial" pitchFamily="-110" charset="0"/>
                <a:ea typeface="ＭＳ Ｐゴシック" pitchFamily="-110" charset="-128"/>
                <a:cs typeface="ＭＳ Ｐゴシック" pitchFamily="-110" charset="-128"/>
              </a:rPr>
              <a:t>developers used a compromised </a:t>
            </a:r>
            <a:r>
              <a:rPr lang="en-US" dirty="0" err="1">
                <a:latin typeface="Arial" pitchFamily="-110" charset="0"/>
                <a:ea typeface="ＭＳ Ｐゴシック" pitchFamily="-110" charset="-128"/>
                <a:cs typeface="ＭＳ Ｐゴシック" pitchFamily="-110" charset="-128"/>
              </a:rPr>
              <a:t>Xcode</a:t>
            </a:r>
            <a:r>
              <a:rPr lang="en-US" dirty="0">
                <a:latin typeface="Arial" pitchFamily="-110" charset="0"/>
                <a:ea typeface="ＭＳ Ｐゴシック" pitchFamily="-110" charset="-128"/>
                <a:cs typeface="ＭＳ Ｐゴシック" pitchFamily="-110" charset="-128"/>
              </a:rPr>
              <a:t> development system that covertly installed</a:t>
            </a:r>
          </a:p>
          <a:p>
            <a:pPr eaLnBrk="1" hangingPunct="1">
              <a:defRPr/>
            </a:pPr>
            <a:r>
              <a:rPr lang="en-US" dirty="0">
                <a:latin typeface="Arial" pitchFamily="-110" charset="0"/>
                <a:ea typeface="ＭＳ Ｐゴシック" pitchFamily="-110" charset="-128"/>
                <a:cs typeface="ＭＳ Ｐゴシック" pitchFamily="-110" charset="-128"/>
              </a:rPr>
              <a:t>the malware as the apps were created [SYMA16]. This is one of several examples</a:t>
            </a:r>
          </a:p>
          <a:p>
            <a:pPr eaLnBrk="1" hangingPunct="1">
              <a:defRPr/>
            </a:pPr>
            <a:r>
              <a:rPr lang="en-US" dirty="0">
                <a:latin typeface="Arial" pitchFamily="-110" charset="0"/>
                <a:ea typeface="ＭＳ Ｐゴシック" pitchFamily="-110" charset="-128"/>
                <a:cs typeface="ＭＳ Ｐゴシック" pitchFamily="-110" charset="-128"/>
              </a:rPr>
              <a:t>of attackers exploiting the development or enterprise provisioning infrastructure to</a:t>
            </a:r>
          </a:p>
          <a:p>
            <a:pPr eaLnBrk="1" hangingPunct="1">
              <a:defRPr/>
            </a:pPr>
            <a:r>
              <a:rPr lang="en-US" dirty="0">
                <a:latin typeface="Arial" pitchFamily="-110" charset="0"/>
                <a:ea typeface="ＭＳ Ｐゴシック" pitchFamily="-110" charset="-128"/>
                <a:cs typeface="ＭＳ Ｐゴシック" pitchFamily="-110" charset="-128"/>
              </a:rPr>
              <a:t>assist malware distribution.</a:t>
            </a:r>
          </a:p>
          <a:p>
            <a:pPr eaLnBrk="1" hangingPunct="1">
              <a:defRPr/>
            </a:pPr>
            <a:endParaRPr lang="en-US" dirty="0">
              <a:latin typeface="Arial" charset="0"/>
              <a:ea typeface="ＭＳ Ｐゴシック" pitchFamily="-65" charset="-128"/>
            </a:endParaRPr>
          </a:p>
        </p:txBody>
      </p:sp>
      <p:sp>
        <p:nvSpPr>
          <p:cNvPr id="45060" name="Slide Number Placeholder 3">
            <a:extLst>
              <a:ext uri="{FF2B5EF4-FFF2-40B4-BE49-F238E27FC236}">
                <a16:creationId xmlns:a16="http://schemas.microsoft.com/office/drawing/2014/main" id="{70AFCBB5-B91F-8B58-CC00-39B50AFC84AF}"/>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fld id="{B8F8A1E9-C958-4733-BEB6-96C6DE27AECB}" type="slidenum">
              <a:rPr lang="en-AU" altLang="en-PK" sz="1200"/>
              <a:pPr/>
              <a:t>31</a:t>
            </a:fld>
            <a:endParaRPr lang="en-AU" altLang="en-PK" sz="1200"/>
          </a:p>
        </p:txBody>
      </p:sp>
    </p:spTree>
    <p:extLst>
      <p:ext uri="{BB962C8B-B14F-4D97-AF65-F5344CB8AC3E}">
        <p14:creationId xmlns:p14="http://schemas.microsoft.com/office/powerpoint/2010/main" val="13255462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55000" lnSpcReduction="20000"/>
          </a:bodyPr>
          <a:lstStyle/>
          <a:p>
            <a:r>
              <a:rPr lang="en-US" sz="1100" b="0" dirty="0">
                <a:latin typeface="Arial" charset="0"/>
                <a:ea typeface="ＭＳ Ｐゴシック" pitchFamily="-65" charset="-128"/>
              </a:rPr>
              <a:t>Once malware is active on the target system, the next concern is what actions it</a:t>
            </a:r>
          </a:p>
          <a:p>
            <a:r>
              <a:rPr lang="en-US" sz="1100" b="0" dirty="0">
                <a:latin typeface="Arial" charset="0"/>
                <a:ea typeface="ＭＳ Ｐゴシック" pitchFamily="-65" charset="-128"/>
              </a:rPr>
              <a:t>will take on this system. That is, what payload does it carry. Some malware has a</a:t>
            </a:r>
          </a:p>
          <a:p>
            <a:r>
              <a:rPr lang="en-US" sz="1100" b="0" dirty="0">
                <a:latin typeface="Arial" charset="0"/>
                <a:ea typeface="ＭＳ Ｐゴシック" pitchFamily="-65" charset="-128"/>
              </a:rPr>
              <a:t>nonexistent or nonfunctional payload. Its only purpose, either deliberate or due to</a:t>
            </a:r>
          </a:p>
          <a:p>
            <a:r>
              <a:rPr lang="en-US" sz="1100" b="0" dirty="0">
                <a:latin typeface="Arial" charset="0"/>
                <a:ea typeface="ＭＳ Ｐゴシック" pitchFamily="-65" charset="-128"/>
              </a:rPr>
              <a:t>accidental early release, is to spread. More commonly, it carries one or more payloads</a:t>
            </a:r>
          </a:p>
          <a:p>
            <a:r>
              <a:rPr lang="en-US" sz="1100" b="0" dirty="0">
                <a:latin typeface="Arial" charset="0"/>
                <a:ea typeface="ＭＳ Ｐゴシック" pitchFamily="-65" charset="-128"/>
              </a:rPr>
              <a:t>that perform covert actions for the attacker.</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An early payload seen in a number of viruses and worms resulted in data</a:t>
            </a:r>
          </a:p>
          <a:p>
            <a:r>
              <a:rPr lang="en-US" sz="1100" b="0" dirty="0">
                <a:latin typeface="Arial" charset="0"/>
                <a:ea typeface="ＭＳ Ｐゴシック" pitchFamily="-65" charset="-128"/>
              </a:rPr>
              <a:t>destruction on the infected system when certain trigger conditions were met</a:t>
            </a:r>
          </a:p>
          <a:p>
            <a:r>
              <a:rPr lang="en-US" sz="1100" b="0" dirty="0">
                <a:latin typeface="Arial" charset="0"/>
                <a:ea typeface="ＭＳ Ｐゴシック" pitchFamily="-65" charset="-128"/>
              </a:rPr>
              <a:t>[WEAV03]. A related payload is one that displays unwanted messages or content</a:t>
            </a:r>
          </a:p>
          <a:p>
            <a:r>
              <a:rPr lang="en-US" sz="1100" b="0" dirty="0">
                <a:latin typeface="Arial" charset="0"/>
                <a:ea typeface="ＭＳ Ｐゴシック" pitchFamily="-65" charset="-128"/>
              </a:rPr>
              <a:t>on the user’s system when triggered. More seriously, another variant attempts to</a:t>
            </a:r>
          </a:p>
          <a:p>
            <a:r>
              <a:rPr lang="en-US" sz="1100" b="0" dirty="0">
                <a:latin typeface="Arial" charset="0"/>
                <a:ea typeface="ＭＳ Ｐゴシック" pitchFamily="-65" charset="-128"/>
              </a:rPr>
              <a:t>inflict real-world damage on the system. All of these actions target the integrity of</a:t>
            </a:r>
          </a:p>
          <a:p>
            <a:r>
              <a:rPr lang="en-US" sz="1100" b="0" dirty="0">
                <a:latin typeface="Arial" charset="0"/>
                <a:ea typeface="ＭＳ Ｐゴシック" pitchFamily="-65" charset="-128"/>
              </a:rPr>
              <a:t>the computer system’s software or hardware, or of the user’s data. These changes</a:t>
            </a:r>
          </a:p>
          <a:p>
            <a:r>
              <a:rPr lang="en-US" sz="1100" b="0" dirty="0">
                <a:latin typeface="Arial" charset="0"/>
                <a:ea typeface="ＭＳ Ｐゴシック" pitchFamily="-65" charset="-128"/>
              </a:rPr>
              <a:t>may not occur immediately, but only when specific trigger conditions are met that</a:t>
            </a:r>
          </a:p>
          <a:p>
            <a:r>
              <a:rPr lang="en-US" sz="1100" b="0" dirty="0">
                <a:latin typeface="Arial" charset="0"/>
                <a:ea typeface="ＭＳ Ｐゴシック" pitchFamily="-65" charset="-128"/>
              </a:rPr>
              <a:t>satisfy their logic-bomb code.</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The Chernobyl virus is an early example of a destructive parasitic memory-resident</a:t>
            </a:r>
          </a:p>
          <a:p>
            <a:r>
              <a:rPr lang="en-US" sz="1100" b="0" dirty="0">
                <a:latin typeface="Arial" charset="0"/>
                <a:ea typeface="ＭＳ Ｐゴシック" pitchFamily="-65" charset="-128"/>
              </a:rPr>
              <a:t>Windows-95 and 98 virus, that was first seen in 1998. It infects executable files when</a:t>
            </a:r>
          </a:p>
          <a:p>
            <a:r>
              <a:rPr lang="en-US" sz="1100" b="0" dirty="0">
                <a:latin typeface="Arial" charset="0"/>
                <a:ea typeface="ＭＳ Ｐゴシック" pitchFamily="-65" charset="-128"/>
              </a:rPr>
              <a:t>they’re opened. And when a trigger date is reached, it deletes data on the infected</a:t>
            </a:r>
          </a:p>
          <a:p>
            <a:r>
              <a:rPr lang="en-US" sz="1100" b="0" dirty="0">
                <a:latin typeface="Arial" charset="0"/>
                <a:ea typeface="ＭＳ Ｐゴシック" pitchFamily="-65" charset="-128"/>
              </a:rPr>
              <a:t>system by overwriting the first megabyte of the hard drive with zeroes, resulting in</a:t>
            </a:r>
          </a:p>
          <a:p>
            <a:r>
              <a:rPr lang="en-US" sz="1100" b="0" dirty="0">
                <a:latin typeface="Arial" charset="0"/>
                <a:ea typeface="ＭＳ Ｐゴシック" pitchFamily="-65" charset="-128"/>
              </a:rPr>
              <a:t>massive corruption of the entire file system. This first occurred on April 26, 1999,</a:t>
            </a:r>
          </a:p>
          <a:p>
            <a:r>
              <a:rPr lang="en-US" sz="1100" b="0" dirty="0">
                <a:latin typeface="Arial" charset="0"/>
                <a:ea typeface="ＭＳ Ｐゴシック" pitchFamily="-65" charset="-128"/>
              </a:rPr>
              <a:t>when estimates suggest more than one million computers were affected.</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Similarly, the </a:t>
            </a:r>
            <a:r>
              <a:rPr lang="en-US" sz="1100" b="0" dirty="0" err="1">
                <a:latin typeface="Arial" charset="0"/>
                <a:ea typeface="ＭＳ Ｐゴシック" pitchFamily="-65" charset="-128"/>
              </a:rPr>
              <a:t>Klez</a:t>
            </a:r>
            <a:r>
              <a:rPr lang="en-US" sz="1100" b="0" dirty="0">
                <a:latin typeface="Arial" charset="0"/>
                <a:ea typeface="ＭＳ Ｐゴシック" pitchFamily="-65" charset="-128"/>
              </a:rPr>
              <a:t> mass-mailing worm is an early example of a destructive</a:t>
            </a:r>
          </a:p>
          <a:p>
            <a:r>
              <a:rPr lang="en-US" sz="1100" b="0" dirty="0">
                <a:latin typeface="Arial" charset="0"/>
                <a:ea typeface="ＭＳ Ｐゴシック" pitchFamily="-65" charset="-128"/>
              </a:rPr>
              <a:t>worm infecting Windows-95 to XP systems, and was first seen in October 2001. It</a:t>
            </a:r>
          </a:p>
          <a:p>
            <a:r>
              <a:rPr lang="en-US" sz="1100" b="0" dirty="0">
                <a:latin typeface="Arial" charset="0"/>
                <a:ea typeface="ＭＳ Ｐゴシック" pitchFamily="-65" charset="-128"/>
              </a:rPr>
              <a:t>spreads by e-mailing copies of itself to addresses found in the address book and in</a:t>
            </a:r>
          </a:p>
          <a:p>
            <a:r>
              <a:rPr lang="en-US" sz="1100" b="0" dirty="0">
                <a:latin typeface="Arial" charset="0"/>
                <a:ea typeface="ＭＳ Ｐゴシック" pitchFamily="-65" charset="-128"/>
              </a:rPr>
              <a:t>files on the system. It can stop and delete some anti-virus programs running on the</a:t>
            </a:r>
          </a:p>
          <a:p>
            <a:r>
              <a:rPr lang="en-US" sz="1100" b="0" dirty="0">
                <a:latin typeface="Arial" charset="0"/>
                <a:ea typeface="ＭＳ Ｐゴシック" pitchFamily="-65" charset="-128"/>
              </a:rPr>
              <a:t>system. On trigger dates, being the 13th of several months each year, it causes files</a:t>
            </a:r>
          </a:p>
          <a:p>
            <a:r>
              <a:rPr lang="en-US" sz="1100" b="0" dirty="0">
                <a:latin typeface="Arial" charset="0"/>
                <a:ea typeface="ＭＳ Ｐゴシック" pitchFamily="-65" charset="-128"/>
              </a:rPr>
              <a:t>on the local hard drive to become empty.</a:t>
            </a:r>
          </a:p>
          <a:p>
            <a:endParaRPr lang="en-US" sz="1100" b="0" dirty="0">
              <a:latin typeface="Arial" charset="0"/>
              <a:ea typeface="ＭＳ Ｐゴシック" pitchFamily="-65"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 As an alternative to just destroying data, some malware encrypts the user’s</a:t>
            </a:r>
          </a:p>
          <a:p>
            <a:r>
              <a:rPr lang="en-US" sz="1200" kern="1200" dirty="0">
                <a:solidFill>
                  <a:schemeClr val="tx1"/>
                </a:solidFill>
                <a:effectLst/>
                <a:latin typeface="Arial" pitchFamily="-110" charset="0"/>
                <a:ea typeface="ＭＳ Ｐゴシック" pitchFamily="-110" charset="-128"/>
                <a:cs typeface="ＭＳ Ｐゴシック" pitchFamily="-110" charset="-128"/>
              </a:rPr>
              <a:t>data, and demands payment in order to access the key needed to recover this information.</a:t>
            </a:r>
          </a:p>
          <a:p>
            <a:r>
              <a:rPr lang="en-US" sz="1200" kern="1200" dirty="0">
                <a:solidFill>
                  <a:schemeClr val="tx1"/>
                </a:solidFill>
                <a:effectLst/>
                <a:latin typeface="Arial" pitchFamily="-110" charset="0"/>
                <a:ea typeface="ＭＳ Ｐゴシック" pitchFamily="-110" charset="-128"/>
                <a:cs typeface="ＭＳ Ｐゴシック" pitchFamily="-110" charset="-128"/>
              </a:rPr>
              <a:t>This is known as </a:t>
            </a:r>
            <a:r>
              <a:rPr lang="en-US" sz="1200" b="1" kern="1200" dirty="0">
                <a:solidFill>
                  <a:schemeClr val="tx1"/>
                </a:solidFill>
                <a:effectLst/>
                <a:latin typeface="Arial" pitchFamily="-110" charset="0"/>
                <a:ea typeface="ＭＳ Ｐゴシック" pitchFamily="-110" charset="-128"/>
                <a:cs typeface="ＭＳ Ｐゴシック" pitchFamily="-110" charset="-128"/>
              </a:rPr>
              <a:t>ransomware</a:t>
            </a:r>
            <a:r>
              <a:rPr lang="en-US" sz="1200" kern="1200" dirty="0">
                <a:solidFill>
                  <a:schemeClr val="tx1"/>
                </a:solidFill>
                <a:effectLst/>
                <a:latin typeface="Arial" pitchFamily="-110" charset="0"/>
                <a:ea typeface="ＭＳ Ｐゴシック" pitchFamily="-110" charset="-128"/>
                <a:cs typeface="ＭＳ Ｐゴシック" pitchFamily="-110" charset="-128"/>
              </a:rPr>
              <a:t> . The PC Cyborg Trojan seen in 1989 was an</a:t>
            </a:r>
          </a:p>
          <a:p>
            <a:r>
              <a:rPr lang="en-US" sz="1200" kern="1200" dirty="0">
                <a:solidFill>
                  <a:schemeClr val="tx1"/>
                </a:solidFill>
                <a:effectLst/>
                <a:latin typeface="Arial" pitchFamily="-110" charset="0"/>
                <a:ea typeface="ＭＳ Ｐゴシック" pitchFamily="-110" charset="-128"/>
                <a:cs typeface="ＭＳ Ｐゴシック" pitchFamily="-110" charset="-128"/>
              </a:rPr>
              <a:t>early example of this. However, around mid-2006, a number of worms and Trojans</a:t>
            </a:r>
          </a:p>
          <a:p>
            <a:r>
              <a:rPr lang="en-US" sz="1200" kern="1200" dirty="0">
                <a:solidFill>
                  <a:schemeClr val="tx1"/>
                </a:solidFill>
                <a:effectLst/>
                <a:latin typeface="Arial" pitchFamily="-110" charset="0"/>
                <a:ea typeface="ＭＳ Ｐゴシック" pitchFamily="-110" charset="-128"/>
                <a:cs typeface="ＭＳ Ｐゴシック" pitchFamily="-110" charset="-128"/>
              </a:rPr>
              <a:t>appeared, such as the </a:t>
            </a:r>
            <a:r>
              <a:rPr lang="en-US" sz="1200" kern="1200" dirty="0" err="1">
                <a:solidFill>
                  <a:schemeClr val="tx1"/>
                </a:solidFill>
                <a:effectLst/>
                <a:latin typeface="Arial" pitchFamily="-110" charset="0"/>
                <a:ea typeface="ＭＳ Ｐゴシック" pitchFamily="-110" charset="-128"/>
                <a:cs typeface="ＭＳ Ｐゴシック" pitchFamily="-110" charset="-128"/>
              </a:rPr>
              <a:t>Gpcode</a:t>
            </a:r>
            <a:r>
              <a:rPr lang="en-US" sz="1200" kern="1200" dirty="0">
                <a:solidFill>
                  <a:schemeClr val="tx1"/>
                </a:solidFill>
                <a:effectLst/>
                <a:latin typeface="Arial" pitchFamily="-110" charset="0"/>
                <a:ea typeface="ＭＳ Ｐゴシック" pitchFamily="-110" charset="-128"/>
                <a:cs typeface="ＭＳ Ｐゴシック" pitchFamily="-110" charset="-128"/>
              </a:rPr>
              <a:t> Trojan, that used public-key cryptography with increasingly</a:t>
            </a:r>
          </a:p>
          <a:p>
            <a:r>
              <a:rPr lang="en-US" sz="1200" kern="1200" dirty="0">
                <a:solidFill>
                  <a:schemeClr val="tx1"/>
                </a:solidFill>
                <a:effectLst/>
                <a:latin typeface="Arial" pitchFamily="-110" charset="0"/>
                <a:ea typeface="ＭＳ Ｐゴシック" pitchFamily="-110" charset="-128"/>
                <a:cs typeface="ＭＳ Ｐゴシック" pitchFamily="-110" charset="-128"/>
              </a:rPr>
              <a:t>larger key sizes to encrypt data. The user needed to pay a ransom, or to make</a:t>
            </a:r>
          </a:p>
          <a:p>
            <a:r>
              <a:rPr lang="en-US" sz="1200" kern="1200" dirty="0">
                <a:solidFill>
                  <a:schemeClr val="tx1"/>
                </a:solidFill>
                <a:effectLst/>
                <a:latin typeface="Arial" pitchFamily="-110" charset="0"/>
                <a:ea typeface="ＭＳ Ｐゴシック" pitchFamily="-110" charset="-128"/>
                <a:cs typeface="ＭＳ Ｐゴシック" pitchFamily="-110" charset="-128"/>
              </a:rPr>
              <a:t>a purchase from certain sites, in order to receive the key to decrypt this data. While</a:t>
            </a:r>
          </a:p>
          <a:p>
            <a:r>
              <a:rPr lang="en-US" sz="1200" kern="1200" dirty="0">
                <a:solidFill>
                  <a:schemeClr val="tx1"/>
                </a:solidFill>
                <a:effectLst/>
                <a:latin typeface="Arial" pitchFamily="-110" charset="0"/>
                <a:ea typeface="ＭＳ Ｐゴシック" pitchFamily="-110" charset="-128"/>
                <a:cs typeface="ＭＳ Ｐゴシック" pitchFamily="-110" charset="-128"/>
              </a:rPr>
              <a:t>earlier instances used weaker cryptography that could be cracked without paying the</a:t>
            </a:r>
          </a:p>
          <a:p>
            <a:r>
              <a:rPr lang="en-US" sz="1200" kern="1200" dirty="0">
                <a:solidFill>
                  <a:schemeClr val="tx1"/>
                </a:solidFill>
                <a:effectLst/>
                <a:latin typeface="Arial" pitchFamily="-110" charset="0"/>
                <a:ea typeface="ＭＳ Ｐゴシック" pitchFamily="-110" charset="-128"/>
                <a:cs typeface="ＭＳ Ｐゴシック" pitchFamily="-110" charset="-128"/>
              </a:rPr>
              <a:t>ransom, the later versions using public-key cryptography with large key sizes could</a:t>
            </a:r>
          </a:p>
          <a:p>
            <a:r>
              <a:rPr lang="en-US" sz="1200" kern="1200" dirty="0">
                <a:solidFill>
                  <a:schemeClr val="tx1"/>
                </a:solidFill>
                <a:effectLst/>
                <a:latin typeface="Arial" pitchFamily="-110" charset="0"/>
                <a:ea typeface="ＭＳ Ｐゴシック" pitchFamily="-110" charset="-128"/>
                <a:cs typeface="ＭＳ Ｐゴシック" pitchFamily="-110" charset="-128"/>
              </a:rPr>
              <a:t>not be broken this way. [SYMA16, VERI16] note that ransomware is a growing challenge,</a:t>
            </a:r>
          </a:p>
          <a:p>
            <a:r>
              <a:rPr lang="en-US" sz="1200" kern="1200" dirty="0">
                <a:solidFill>
                  <a:schemeClr val="tx1"/>
                </a:solidFill>
                <a:effectLst/>
                <a:latin typeface="Arial" pitchFamily="-110" charset="0"/>
                <a:ea typeface="ＭＳ Ｐゴシック" pitchFamily="-110" charset="-128"/>
                <a:cs typeface="ＭＳ Ｐゴシック" pitchFamily="-110" charset="-128"/>
              </a:rPr>
              <a:t>comprising one of the most common types of malware installed on systems,</a:t>
            </a:r>
          </a:p>
          <a:p>
            <a:r>
              <a:rPr lang="en-US" sz="1200" kern="1200" dirty="0">
                <a:solidFill>
                  <a:schemeClr val="tx1"/>
                </a:solidFill>
                <a:effectLst/>
                <a:latin typeface="Arial" pitchFamily="-110" charset="0"/>
                <a:ea typeface="ＭＳ Ｐゴシック" pitchFamily="-110" charset="-128"/>
                <a:cs typeface="ＭＳ Ｐゴシック" pitchFamily="-110" charset="-128"/>
              </a:rPr>
              <a:t>and is often spread via “drive-by-downloads” or via SPAM e-mails.</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p:txBody>
      </p:sp>
      <p:sp>
        <p:nvSpPr>
          <p:cNvPr id="65540" name="Slide Number Placeholder 3"/>
          <p:cNvSpPr>
            <a:spLocks noGrp="1"/>
          </p:cNvSpPr>
          <p:nvPr>
            <p:ph type="sldNum" sz="quarter" idx="5"/>
          </p:nvPr>
        </p:nvSpPr>
        <p:spPr>
          <a:noFill/>
        </p:spPr>
        <p:txBody>
          <a:bodyPr/>
          <a:lstStyle/>
          <a:p>
            <a:fld id="{9960B062-B33A-4DA9-9E89-7352DBB66A5F}" type="slidenum">
              <a:rPr lang="en-AU"/>
              <a:pPr/>
              <a:t>32</a:t>
            </a:fld>
            <a:endParaRPr lang="en-AU"/>
          </a:p>
        </p:txBody>
      </p:sp>
    </p:spTree>
    <p:extLst>
      <p:ext uri="{BB962C8B-B14F-4D97-AF65-F5344CB8AC3E}">
        <p14:creationId xmlns:p14="http://schemas.microsoft.com/office/powerpoint/2010/main" val="21491648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55000" lnSpcReduction="20000"/>
          </a:bodyPr>
          <a:lstStyle/>
          <a:p>
            <a:r>
              <a:rPr lang="en-US" sz="1100" b="0" dirty="0">
                <a:latin typeface="Arial" charset="0"/>
                <a:ea typeface="ＭＳ Ｐゴシック" pitchFamily="-65" charset="-128"/>
              </a:rPr>
              <a:t>Once malware is active on the target system, the next concern is what actions it</a:t>
            </a:r>
          </a:p>
          <a:p>
            <a:r>
              <a:rPr lang="en-US" sz="1100" b="0" dirty="0">
                <a:latin typeface="Arial" charset="0"/>
                <a:ea typeface="ＭＳ Ｐゴシック" pitchFamily="-65" charset="-128"/>
              </a:rPr>
              <a:t>will take on this system. That is, what payload does it carry. Some malware has a</a:t>
            </a:r>
          </a:p>
          <a:p>
            <a:r>
              <a:rPr lang="en-US" sz="1100" b="0" dirty="0">
                <a:latin typeface="Arial" charset="0"/>
                <a:ea typeface="ＭＳ Ｐゴシック" pitchFamily="-65" charset="-128"/>
              </a:rPr>
              <a:t>nonexistent or nonfunctional payload. Its only purpose, either deliberate or due to</a:t>
            </a:r>
          </a:p>
          <a:p>
            <a:r>
              <a:rPr lang="en-US" sz="1100" b="0" dirty="0">
                <a:latin typeface="Arial" charset="0"/>
                <a:ea typeface="ＭＳ Ｐゴシック" pitchFamily="-65" charset="-128"/>
              </a:rPr>
              <a:t>accidental early release, is to spread. More commonly, it carries one or more payloads</a:t>
            </a:r>
          </a:p>
          <a:p>
            <a:r>
              <a:rPr lang="en-US" sz="1100" b="0" dirty="0">
                <a:latin typeface="Arial" charset="0"/>
                <a:ea typeface="ＭＳ Ｐゴシック" pitchFamily="-65" charset="-128"/>
              </a:rPr>
              <a:t>that perform covert actions for the attacker.</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An early payload seen in a number of viruses and worms resulted in data</a:t>
            </a:r>
          </a:p>
          <a:p>
            <a:r>
              <a:rPr lang="en-US" sz="1100" b="0" dirty="0">
                <a:latin typeface="Arial" charset="0"/>
                <a:ea typeface="ＭＳ Ｐゴシック" pitchFamily="-65" charset="-128"/>
              </a:rPr>
              <a:t>destruction on the infected system when certain trigger conditions were met</a:t>
            </a:r>
          </a:p>
          <a:p>
            <a:r>
              <a:rPr lang="en-US" sz="1100" b="0" dirty="0">
                <a:latin typeface="Arial" charset="0"/>
                <a:ea typeface="ＭＳ Ｐゴシック" pitchFamily="-65" charset="-128"/>
              </a:rPr>
              <a:t>[WEAV03]. A related payload is one that displays unwanted messages or content</a:t>
            </a:r>
          </a:p>
          <a:p>
            <a:r>
              <a:rPr lang="en-US" sz="1100" b="0" dirty="0">
                <a:latin typeface="Arial" charset="0"/>
                <a:ea typeface="ＭＳ Ｐゴシック" pitchFamily="-65" charset="-128"/>
              </a:rPr>
              <a:t>on the user’s system when triggered. More seriously, another variant attempts to</a:t>
            </a:r>
          </a:p>
          <a:p>
            <a:r>
              <a:rPr lang="en-US" sz="1100" b="0" dirty="0">
                <a:latin typeface="Arial" charset="0"/>
                <a:ea typeface="ＭＳ Ｐゴシック" pitchFamily="-65" charset="-128"/>
              </a:rPr>
              <a:t>inflict real-world damage on the system. All of these actions target the integrity of</a:t>
            </a:r>
          </a:p>
          <a:p>
            <a:r>
              <a:rPr lang="en-US" sz="1100" b="0" dirty="0">
                <a:latin typeface="Arial" charset="0"/>
                <a:ea typeface="ＭＳ Ｐゴシック" pitchFamily="-65" charset="-128"/>
              </a:rPr>
              <a:t>the computer system’s software or hardware, or of the user’s data. These changes</a:t>
            </a:r>
          </a:p>
          <a:p>
            <a:r>
              <a:rPr lang="en-US" sz="1100" b="0" dirty="0">
                <a:latin typeface="Arial" charset="0"/>
                <a:ea typeface="ＭＳ Ｐゴシック" pitchFamily="-65" charset="-128"/>
              </a:rPr>
              <a:t>may not occur immediately, but only when specific trigger conditions are met that</a:t>
            </a:r>
          </a:p>
          <a:p>
            <a:r>
              <a:rPr lang="en-US" sz="1100" b="0" dirty="0">
                <a:latin typeface="Arial" charset="0"/>
                <a:ea typeface="ＭＳ Ｐゴシック" pitchFamily="-65" charset="-128"/>
              </a:rPr>
              <a:t>satisfy their logic-bomb code.</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The Chernobyl virus is an early example of a destructive parasitic memory-resident</a:t>
            </a:r>
          </a:p>
          <a:p>
            <a:r>
              <a:rPr lang="en-US" sz="1100" b="0" dirty="0">
                <a:latin typeface="Arial" charset="0"/>
                <a:ea typeface="ＭＳ Ｐゴシック" pitchFamily="-65" charset="-128"/>
              </a:rPr>
              <a:t>Windows-95 and 98 virus, that was first seen in 1998. It infects executable files when</a:t>
            </a:r>
          </a:p>
          <a:p>
            <a:r>
              <a:rPr lang="en-US" sz="1100" b="0" dirty="0">
                <a:latin typeface="Arial" charset="0"/>
                <a:ea typeface="ＭＳ Ｐゴシック" pitchFamily="-65" charset="-128"/>
              </a:rPr>
              <a:t>they’re opened. And when a trigger date is reached, it deletes data on the infected</a:t>
            </a:r>
          </a:p>
          <a:p>
            <a:r>
              <a:rPr lang="en-US" sz="1100" b="0" dirty="0">
                <a:latin typeface="Arial" charset="0"/>
                <a:ea typeface="ＭＳ Ｐゴシック" pitchFamily="-65" charset="-128"/>
              </a:rPr>
              <a:t>system by overwriting the first megabyte of the hard drive with zeroes, resulting in</a:t>
            </a:r>
          </a:p>
          <a:p>
            <a:r>
              <a:rPr lang="en-US" sz="1100" b="0" dirty="0">
                <a:latin typeface="Arial" charset="0"/>
                <a:ea typeface="ＭＳ Ｐゴシック" pitchFamily="-65" charset="-128"/>
              </a:rPr>
              <a:t>massive corruption of the entire file system. This first occurred on April 26, 1999,</a:t>
            </a:r>
          </a:p>
          <a:p>
            <a:r>
              <a:rPr lang="en-US" sz="1100" b="0" dirty="0">
                <a:latin typeface="Arial" charset="0"/>
                <a:ea typeface="ＭＳ Ｐゴシック" pitchFamily="-65" charset="-128"/>
              </a:rPr>
              <a:t>when estimates suggest more than one million computers were affected.</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Similarly, the </a:t>
            </a:r>
            <a:r>
              <a:rPr lang="en-US" sz="1100" b="0" dirty="0" err="1">
                <a:latin typeface="Arial" charset="0"/>
                <a:ea typeface="ＭＳ Ｐゴシック" pitchFamily="-65" charset="-128"/>
              </a:rPr>
              <a:t>Klez</a:t>
            </a:r>
            <a:r>
              <a:rPr lang="en-US" sz="1100" b="0" dirty="0">
                <a:latin typeface="Arial" charset="0"/>
                <a:ea typeface="ＭＳ Ｐゴシック" pitchFamily="-65" charset="-128"/>
              </a:rPr>
              <a:t> mass-mailing worm is an early example of a destructive</a:t>
            </a:r>
          </a:p>
          <a:p>
            <a:r>
              <a:rPr lang="en-US" sz="1100" b="0" dirty="0">
                <a:latin typeface="Arial" charset="0"/>
                <a:ea typeface="ＭＳ Ｐゴシック" pitchFamily="-65" charset="-128"/>
              </a:rPr>
              <a:t>worm infecting Windows-95 to XP systems, and was first seen in October 2001. It</a:t>
            </a:r>
          </a:p>
          <a:p>
            <a:r>
              <a:rPr lang="en-US" sz="1100" b="0" dirty="0">
                <a:latin typeface="Arial" charset="0"/>
                <a:ea typeface="ＭＳ Ｐゴシック" pitchFamily="-65" charset="-128"/>
              </a:rPr>
              <a:t>spreads by e-mailing copies of itself to addresses found in the address book and in</a:t>
            </a:r>
          </a:p>
          <a:p>
            <a:r>
              <a:rPr lang="en-US" sz="1100" b="0" dirty="0">
                <a:latin typeface="Arial" charset="0"/>
                <a:ea typeface="ＭＳ Ｐゴシック" pitchFamily="-65" charset="-128"/>
              </a:rPr>
              <a:t>files on the system. It can stop and delete some anti-virus programs running on the</a:t>
            </a:r>
          </a:p>
          <a:p>
            <a:r>
              <a:rPr lang="en-US" sz="1100" b="0" dirty="0">
                <a:latin typeface="Arial" charset="0"/>
                <a:ea typeface="ＭＳ Ｐゴシック" pitchFamily="-65" charset="-128"/>
              </a:rPr>
              <a:t>system. On trigger dates, being the 13th of several months each year, it causes files</a:t>
            </a:r>
          </a:p>
          <a:p>
            <a:r>
              <a:rPr lang="en-US" sz="1100" b="0" dirty="0">
                <a:latin typeface="Arial" charset="0"/>
                <a:ea typeface="ＭＳ Ｐゴシック" pitchFamily="-65" charset="-128"/>
              </a:rPr>
              <a:t>on the local hard drive to become empty.</a:t>
            </a:r>
          </a:p>
          <a:p>
            <a:endParaRPr lang="en-US" sz="1100" b="0" dirty="0">
              <a:latin typeface="Arial" charset="0"/>
              <a:ea typeface="ＭＳ Ｐゴシック" pitchFamily="-65"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 As an alternative to just destroying data, some malware encrypts the user’s</a:t>
            </a:r>
          </a:p>
          <a:p>
            <a:r>
              <a:rPr lang="en-US" sz="1200" kern="1200" dirty="0">
                <a:solidFill>
                  <a:schemeClr val="tx1"/>
                </a:solidFill>
                <a:effectLst/>
                <a:latin typeface="Arial" pitchFamily="-110" charset="0"/>
                <a:ea typeface="ＭＳ Ｐゴシック" pitchFamily="-110" charset="-128"/>
                <a:cs typeface="ＭＳ Ｐゴシック" pitchFamily="-110" charset="-128"/>
              </a:rPr>
              <a:t>data, and demands payment in order to access the key needed to recover this information.</a:t>
            </a:r>
          </a:p>
          <a:p>
            <a:r>
              <a:rPr lang="en-US" sz="1200" kern="1200" dirty="0">
                <a:solidFill>
                  <a:schemeClr val="tx1"/>
                </a:solidFill>
                <a:effectLst/>
                <a:latin typeface="Arial" pitchFamily="-110" charset="0"/>
                <a:ea typeface="ＭＳ Ｐゴシック" pitchFamily="-110" charset="-128"/>
                <a:cs typeface="ＭＳ Ｐゴシック" pitchFamily="-110" charset="-128"/>
              </a:rPr>
              <a:t>This is known as </a:t>
            </a:r>
            <a:r>
              <a:rPr lang="en-US" sz="1200" b="1" kern="1200" dirty="0">
                <a:solidFill>
                  <a:schemeClr val="tx1"/>
                </a:solidFill>
                <a:effectLst/>
                <a:latin typeface="Arial" pitchFamily="-110" charset="0"/>
                <a:ea typeface="ＭＳ Ｐゴシック" pitchFamily="-110" charset="-128"/>
                <a:cs typeface="ＭＳ Ｐゴシック" pitchFamily="-110" charset="-128"/>
              </a:rPr>
              <a:t>ransomware</a:t>
            </a:r>
            <a:r>
              <a:rPr lang="en-US" sz="1200" kern="1200" dirty="0">
                <a:solidFill>
                  <a:schemeClr val="tx1"/>
                </a:solidFill>
                <a:effectLst/>
                <a:latin typeface="Arial" pitchFamily="-110" charset="0"/>
                <a:ea typeface="ＭＳ Ｐゴシック" pitchFamily="-110" charset="-128"/>
                <a:cs typeface="ＭＳ Ｐゴシック" pitchFamily="-110" charset="-128"/>
              </a:rPr>
              <a:t> . The PC Cyborg Trojan seen in 1989 was an</a:t>
            </a:r>
          </a:p>
          <a:p>
            <a:r>
              <a:rPr lang="en-US" sz="1200" kern="1200" dirty="0">
                <a:solidFill>
                  <a:schemeClr val="tx1"/>
                </a:solidFill>
                <a:effectLst/>
                <a:latin typeface="Arial" pitchFamily="-110" charset="0"/>
                <a:ea typeface="ＭＳ Ｐゴシック" pitchFamily="-110" charset="-128"/>
                <a:cs typeface="ＭＳ Ｐゴシック" pitchFamily="-110" charset="-128"/>
              </a:rPr>
              <a:t>early example of this. However, around mid-2006, a number of worms and Trojans</a:t>
            </a:r>
          </a:p>
          <a:p>
            <a:r>
              <a:rPr lang="en-US" sz="1200" kern="1200" dirty="0">
                <a:solidFill>
                  <a:schemeClr val="tx1"/>
                </a:solidFill>
                <a:effectLst/>
                <a:latin typeface="Arial" pitchFamily="-110" charset="0"/>
                <a:ea typeface="ＭＳ Ｐゴシック" pitchFamily="-110" charset="-128"/>
                <a:cs typeface="ＭＳ Ｐゴシック" pitchFamily="-110" charset="-128"/>
              </a:rPr>
              <a:t>appeared, such as the </a:t>
            </a:r>
            <a:r>
              <a:rPr lang="en-US" sz="1200" kern="1200" dirty="0" err="1">
                <a:solidFill>
                  <a:schemeClr val="tx1"/>
                </a:solidFill>
                <a:effectLst/>
                <a:latin typeface="Arial" pitchFamily="-110" charset="0"/>
                <a:ea typeface="ＭＳ Ｐゴシック" pitchFamily="-110" charset="-128"/>
                <a:cs typeface="ＭＳ Ｐゴシック" pitchFamily="-110" charset="-128"/>
              </a:rPr>
              <a:t>Gpcode</a:t>
            </a:r>
            <a:r>
              <a:rPr lang="en-US" sz="1200" kern="1200" dirty="0">
                <a:solidFill>
                  <a:schemeClr val="tx1"/>
                </a:solidFill>
                <a:effectLst/>
                <a:latin typeface="Arial" pitchFamily="-110" charset="0"/>
                <a:ea typeface="ＭＳ Ｐゴシック" pitchFamily="-110" charset="-128"/>
                <a:cs typeface="ＭＳ Ｐゴシック" pitchFamily="-110" charset="-128"/>
              </a:rPr>
              <a:t> Trojan, that used public-key cryptography with increasingly</a:t>
            </a:r>
          </a:p>
          <a:p>
            <a:r>
              <a:rPr lang="en-US" sz="1200" kern="1200" dirty="0">
                <a:solidFill>
                  <a:schemeClr val="tx1"/>
                </a:solidFill>
                <a:effectLst/>
                <a:latin typeface="Arial" pitchFamily="-110" charset="0"/>
                <a:ea typeface="ＭＳ Ｐゴシック" pitchFamily="-110" charset="-128"/>
                <a:cs typeface="ＭＳ Ｐゴシック" pitchFamily="-110" charset="-128"/>
              </a:rPr>
              <a:t>larger key sizes to encrypt data. The user needed to pay a ransom, or to make</a:t>
            </a:r>
          </a:p>
          <a:p>
            <a:r>
              <a:rPr lang="en-US" sz="1200" kern="1200" dirty="0">
                <a:solidFill>
                  <a:schemeClr val="tx1"/>
                </a:solidFill>
                <a:effectLst/>
                <a:latin typeface="Arial" pitchFamily="-110" charset="0"/>
                <a:ea typeface="ＭＳ Ｐゴシック" pitchFamily="-110" charset="-128"/>
                <a:cs typeface="ＭＳ Ｐゴシック" pitchFamily="-110" charset="-128"/>
              </a:rPr>
              <a:t>a purchase from certain sites, in order to receive the key to decrypt this data. While</a:t>
            </a:r>
          </a:p>
          <a:p>
            <a:r>
              <a:rPr lang="en-US" sz="1200" kern="1200" dirty="0">
                <a:solidFill>
                  <a:schemeClr val="tx1"/>
                </a:solidFill>
                <a:effectLst/>
                <a:latin typeface="Arial" pitchFamily="-110" charset="0"/>
                <a:ea typeface="ＭＳ Ｐゴシック" pitchFamily="-110" charset="-128"/>
                <a:cs typeface="ＭＳ Ｐゴシック" pitchFamily="-110" charset="-128"/>
              </a:rPr>
              <a:t>earlier instances used weaker cryptography that could be cracked without paying the</a:t>
            </a:r>
          </a:p>
          <a:p>
            <a:r>
              <a:rPr lang="en-US" sz="1200" kern="1200" dirty="0">
                <a:solidFill>
                  <a:schemeClr val="tx1"/>
                </a:solidFill>
                <a:effectLst/>
                <a:latin typeface="Arial" pitchFamily="-110" charset="0"/>
                <a:ea typeface="ＭＳ Ｐゴシック" pitchFamily="-110" charset="-128"/>
                <a:cs typeface="ＭＳ Ｐゴシック" pitchFamily="-110" charset="-128"/>
              </a:rPr>
              <a:t>ransom, the later versions using public-key cryptography with large key sizes could</a:t>
            </a:r>
          </a:p>
          <a:p>
            <a:r>
              <a:rPr lang="en-US" sz="1200" kern="1200" dirty="0">
                <a:solidFill>
                  <a:schemeClr val="tx1"/>
                </a:solidFill>
                <a:effectLst/>
                <a:latin typeface="Arial" pitchFamily="-110" charset="0"/>
                <a:ea typeface="ＭＳ Ｐゴシック" pitchFamily="-110" charset="-128"/>
                <a:cs typeface="ＭＳ Ｐゴシック" pitchFamily="-110" charset="-128"/>
              </a:rPr>
              <a:t>not be broken this way. [SYMA16, VERI16] note that ransomware is a growing challenge,</a:t>
            </a:r>
          </a:p>
          <a:p>
            <a:r>
              <a:rPr lang="en-US" sz="1200" kern="1200" dirty="0">
                <a:solidFill>
                  <a:schemeClr val="tx1"/>
                </a:solidFill>
                <a:effectLst/>
                <a:latin typeface="Arial" pitchFamily="-110" charset="0"/>
                <a:ea typeface="ＭＳ Ｐゴシック" pitchFamily="-110" charset="-128"/>
                <a:cs typeface="ＭＳ Ｐゴシック" pitchFamily="-110" charset="-128"/>
              </a:rPr>
              <a:t>comprising one of the most common types of malware installed on systems,</a:t>
            </a:r>
          </a:p>
          <a:p>
            <a:r>
              <a:rPr lang="en-US" sz="1200" kern="1200" dirty="0">
                <a:solidFill>
                  <a:schemeClr val="tx1"/>
                </a:solidFill>
                <a:effectLst/>
                <a:latin typeface="Arial" pitchFamily="-110" charset="0"/>
                <a:ea typeface="ＭＳ Ｐゴシック" pitchFamily="-110" charset="-128"/>
                <a:cs typeface="ＭＳ Ｐゴシック" pitchFamily="-110" charset="-128"/>
              </a:rPr>
              <a:t>and is often spread via “drive-by-downloads” or via SPAM e-mails.</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p:txBody>
      </p:sp>
      <p:sp>
        <p:nvSpPr>
          <p:cNvPr id="65540" name="Slide Number Placeholder 3"/>
          <p:cNvSpPr>
            <a:spLocks noGrp="1"/>
          </p:cNvSpPr>
          <p:nvPr>
            <p:ph type="sldNum" sz="quarter" idx="5"/>
          </p:nvPr>
        </p:nvSpPr>
        <p:spPr>
          <a:noFill/>
        </p:spPr>
        <p:txBody>
          <a:bodyPr/>
          <a:lstStyle/>
          <a:p>
            <a:fld id="{9960B062-B33A-4DA9-9E89-7352DBB66A5F}" type="slidenum">
              <a:rPr lang="en-AU"/>
              <a:pPr/>
              <a:t>33</a:t>
            </a:fld>
            <a:endParaRPr lang="en-AU"/>
          </a:p>
        </p:txBody>
      </p:sp>
    </p:spTree>
    <p:extLst>
      <p:ext uri="{BB962C8B-B14F-4D97-AF65-F5344CB8AC3E}">
        <p14:creationId xmlns:p14="http://schemas.microsoft.com/office/powerpoint/2010/main" val="21491648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The </a:t>
            </a:r>
            <a:r>
              <a:rPr lang="en-US" sz="1200" kern="1200" dirty="0" err="1">
                <a:solidFill>
                  <a:schemeClr val="tx1"/>
                </a:solidFill>
                <a:effectLst/>
                <a:latin typeface="Arial" pitchFamily="-110" charset="0"/>
                <a:ea typeface="ＭＳ Ｐゴシック" pitchFamily="-110" charset="-128"/>
                <a:cs typeface="ＭＳ Ｐゴシック" pitchFamily="-110" charset="-128"/>
              </a:rPr>
              <a:t>WannaCry</a:t>
            </a:r>
            <a:r>
              <a:rPr lang="en-US" sz="1200" kern="1200" dirty="0">
                <a:solidFill>
                  <a:schemeClr val="tx1"/>
                </a:solidFill>
                <a:effectLst/>
                <a:latin typeface="Arial" pitchFamily="-110" charset="0"/>
                <a:ea typeface="ＭＳ Ｐゴシック" pitchFamily="-110" charset="-128"/>
                <a:cs typeface="ＭＳ Ｐゴシック" pitchFamily="-110" charset="-128"/>
              </a:rPr>
              <a:t> ransomware, that we mentioned earlier in our discussion of</a:t>
            </a:r>
          </a:p>
          <a:p>
            <a:r>
              <a:rPr lang="en-US" sz="1200" kern="1200" dirty="0">
                <a:solidFill>
                  <a:schemeClr val="tx1"/>
                </a:solidFill>
                <a:effectLst/>
                <a:latin typeface="Arial" pitchFamily="-110" charset="0"/>
                <a:ea typeface="ＭＳ Ｐゴシック" pitchFamily="-110" charset="-128"/>
                <a:cs typeface="ＭＳ Ｐゴシック" pitchFamily="-110" charset="-128"/>
              </a:rPr>
              <a:t>Worms, infected a large number of systems in many countries in May 2017. When</a:t>
            </a:r>
          </a:p>
          <a:p>
            <a:r>
              <a:rPr lang="en-US" sz="1200" kern="1200" dirty="0">
                <a:solidFill>
                  <a:schemeClr val="tx1"/>
                </a:solidFill>
                <a:effectLst/>
                <a:latin typeface="Arial" pitchFamily="-110" charset="0"/>
                <a:ea typeface="ＭＳ Ｐゴシック" pitchFamily="-110" charset="-128"/>
                <a:cs typeface="ＭＳ Ｐゴシック" pitchFamily="-110" charset="-128"/>
              </a:rPr>
              <a:t>installed on infected systems, it encrypted a large number of files matching a list of</a:t>
            </a:r>
          </a:p>
          <a:p>
            <a:r>
              <a:rPr lang="en-US" sz="1200" kern="1200" dirty="0">
                <a:solidFill>
                  <a:schemeClr val="tx1"/>
                </a:solidFill>
                <a:effectLst/>
                <a:latin typeface="Arial" pitchFamily="-110" charset="0"/>
                <a:ea typeface="ＭＳ Ｐゴシック" pitchFamily="-110" charset="-128"/>
                <a:cs typeface="ＭＳ Ｐゴシック" pitchFamily="-110" charset="-128"/>
              </a:rPr>
              <a:t>particular file types, and then demanded a ransom payment in Bitcoins to recover</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them. Once this had occurred, recovery of this information was generally only possible</a:t>
            </a:r>
          </a:p>
          <a:p>
            <a:r>
              <a:rPr lang="en-US" sz="1200" kern="1200" dirty="0">
                <a:solidFill>
                  <a:schemeClr val="tx1"/>
                </a:solidFill>
                <a:effectLst/>
                <a:latin typeface="Arial" pitchFamily="-110" charset="0"/>
                <a:ea typeface="ＭＳ Ｐゴシック" pitchFamily="-110" charset="-128"/>
                <a:cs typeface="ＭＳ Ｐゴシック" pitchFamily="-110" charset="-128"/>
              </a:rPr>
              <a:t>if the organization had good backups, and an appropriate incident response and disaster</a:t>
            </a:r>
          </a:p>
          <a:p>
            <a:r>
              <a:rPr lang="en-US" sz="1200" kern="1200" dirty="0">
                <a:solidFill>
                  <a:schemeClr val="tx1"/>
                </a:solidFill>
                <a:effectLst/>
                <a:latin typeface="Arial" pitchFamily="-110" charset="0"/>
                <a:ea typeface="ＭＳ Ｐゴシック" pitchFamily="-110" charset="-128"/>
                <a:cs typeface="ＭＳ Ｐゴシック" pitchFamily="-110" charset="-128"/>
              </a:rPr>
              <a:t>recovery plan, as we will discuss in Chapter 17. The </a:t>
            </a:r>
            <a:r>
              <a:rPr lang="en-US" sz="1200" kern="1200" dirty="0" err="1">
                <a:solidFill>
                  <a:schemeClr val="tx1"/>
                </a:solidFill>
                <a:effectLst/>
                <a:latin typeface="Arial" pitchFamily="-110" charset="0"/>
                <a:ea typeface="ＭＳ Ｐゴシック" pitchFamily="-110" charset="-128"/>
                <a:cs typeface="ＭＳ Ｐゴシック" pitchFamily="-110" charset="-128"/>
              </a:rPr>
              <a:t>WannaCry</a:t>
            </a:r>
            <a:r>
              <a:rPr lang="en-US" sz="1200" kern="1200" dirty="0">
                <a:solidFill>
                  <a:schemeClr val="tx1"/>
                </a:solidFill>
                <a:effectLst/>
                <a:latin typeface="Arial" pitchFamily="-110" charset="0"/>
                <a:ea typeface="ＭＳ Ｐゴシック" pitchFamily="-110" charset="-128"/>
                <a:cs typeface="ＭＳ Ｐゴシック" pitchFamily="-110" charset="-128"/>
              </a:rPr>
              <a:t> ransomware attack</a:t>
            </a:r>
          </a:p>
          <a:p>
            <a:r>
              <a:rPr lang="en-US" sz="1200" kern="1200" dirty="0">
                <a:solidFill>
                  <a:schemeClr val="tx1"/>
                </a:solidFill>
                <a:effectLst/>
                <a:latin typeface="Arial" pitchFamily="-110" charset="0"/>
                <a:ea typeface="ＭＳ Ｐゴシック" pitchFamily="-110" charset="-128"/>
                <a:cs typeface="ＭＳ Ｐゴシック" pitchFamily="-110" charset="-128"/>
              </a:rPr>
              <a:t>generated a significant amount of media attention, in part due to the large number of</a:t>
            </a:r>
          </a:p>
          <a:p>
            <a:r>
              <a:rPr lang="en-US" sz="1200" kern="1200" dirty="0">
                <a:solidFill>
                  <a:schemeClr val="tx1"/>
                </a:solidFill>
                <a:effectLst/>
                <a:latin typeface="Arial" pitchFamily="-110" charset="0"/>
                <a:ea typeface="ＭＳ Ｐゴシック" pitchFamily="-110" charset="-128"/>
                <a:cs typeface="ＭＳ Ｐゴシック" pitchFamily="-110" charset="-128"/>
              </a:rPr>
              <a:t>affected organizations, and the significant costs they incurred in recovering from it. The</a:t>
            </a:r>
          </a:p>
          <a:p>
            <a:r>
              <a:rPr lang="en-US" sz="1200" kern="1200" dirty="0">
                <a:solidFill>
                  <a:schemeClr val="tx1"/>
                </a:solidFill>
                <a:effectLst/>
                <a:latin typeface="Arial" pitchFamily="-110" charset="0"/>
                <a:ea typeface="ＭＳ Ｐゴシック" pitchFamily="-110" charset="-128"/>
                <a:cs typeface="ＭＳ Ｐゴシック" pitchFamily="-110" charset="-128"/>
              </a:rPr>
              <a:t>targets for these attacks have widened beyond personal computer systems to include</a:t>
            </a:r>
          </a:p>
          <a:p>
            <a:r>
              <a:rPr lang="en-US" sz="1200" kern="1200" dirty="0">
                <a:solidFill>
                  <a:schemeClr val="tx1"/>
                </a:solidFill>
                <a:effectLst/>
                <a:latin typeface="Arial" pitchFamily="-110" charset="0"/>
                <a:ea typeface="ＭＳ Ｐゴシック" pitchFamily="-110" charset="-128"/>
                <a:cs typeface="ＭＳ Ｐゴシック" pitchFamily="-110" charset="-128"/>
              </a:rPr>
              <a:t>mobile devices and Linux servers. And tactics such as threatening to publish sensitive</a:t>
            </a:r>
          </a:p>
          <a:p>
            <a:r>
              <a:rPr lang="en-US" sz="1200" kern="1200" dirty="0">
                <a:solidFill>
                  <a:schemeClr val="tx1"/>
                </a:solidFill>
                <a:effectLst/>
                <a:latin typeface="Arial" pitchFamily="-110" charset="0"/>
                <a:ea typeface="ＭＳ Ｐゴシック" pitchFamily="-110" charset="-128"/>
                <a:cs typeface="ＭＳ Ｐゴシック" pitchFamily="-110" charset="-128"/>
              </a:rPr>
              <a:t>personal information, or to permanently destroy the encryption key after a short</a:t>
            </a:r>
          </a:p>
          <a:p>
            <a:r>
              <a:rPr lang="en-US" sz="1200" kern="1200" dirty="0">
                <a:solidFill>
                  <a:schemeClr val="tx1"/>
                </a:solidFill>
                <a:effectLst/>
                <a:latin typeface="Arial" pitchFamily="-110" charset="0"/>
                <a:ea typeface="ＭＳ Ｐゴシック" pitchFamily="-110" charset="-128"/>
                <a:cs typeface="ＭＳ Ｐゴシック" pitchFamily="-110" charset="-128"/>
              </a:rPr>
              <a:t>period of time, are sometimes used to increase the pressure on the victim to pay up.</a:t>
            </a:r>
          </a:p>
          <a:p>
            <a:endParaRPr lang="en-US" sz="1100" b="0" dirty="0">
              <a:latin typeface="Arial" charset="0"/>
              <a:ea typeface="ＭＳ Ｐゴシック" pitchFamily="-65" charset="-128"/>
            </a:endParaRPr>
          </a:p>
          <a:p>
            <a:endParaRPr lang="en-US" dirty="0"/>
          </a:p>
        </p:txBody>
      </p:sp>
      <p:sp>
        <p:nvSpPr>
          <p:cNvPr id="4" name="Slide Number Placeholder 3"/>
          <p:cNvSpPr>
            <a:spLocks noGrp="1"/>
          </p:cNvSpPr>
          <p:nvPr>
            <p:ph type="sldNum" sz="quarter" idx="10"/>
          </p:nvPr>
        </p:nvSpPr>
        <p:spPr/>
        <p:txBody>
          <a:bodyPr/>
          <a:lstStyle/>
          <a:p>
            <a:fld id="{2EF01EA8-8A05-4B44-9488-279E78AAD254}" type="slidenum">
              <a:rPr lang="en-AU" smtClean="0"/>
              <a:pPr/>
              <a:t>34</a:t>
            </a:fld>
            <a:endParaRPr lang="en-AU"/>
          </a:p>
        </p:txBody>
      </p:sp>
    </p:spTree>
    <p:extLst>
      <p:ext uri="{BB962C8B-B14F-4D97-AF65-F5344CB8AC3E}">
        <p14:creationId xmlns:p14="http://schemas.microsoft.com/office/powerpoint/2010/main" val="19554631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62500" lnSpcReduction="20000"/>
          </a:bodyPr>
          <a:lstStyle/>
          <a:p>
            <a:r>
              <a:rPr lang="en-US" sz="1100" dirty="0">
                <a:latin typeface="Arial" charset="0"/>
                <a:ea typeface="ＭＳ Ｐゴシック" pitchFamily="-65" charset="-128"/>
              </a:rPr>
              <a:t>A further variant of system corruption payloads aims to cause damage to physical</a:t>
            </a:r>
          </a:p>
          <a:p>
            <a:r>
              <a:rPr lang="en-US" sz="1100" dirty="0">
                <a:latin typeface="Arial" charset="0"/>
                <a:ea typeface="ＭＳ Ｐゴシック" pitchFamily="-65" charset="-128"/>
              </a:rPr>
              <a:t>equipment. The infected system is clearly the device most easily targeted. The</a:t>
            </a:r>
          </a:p>
          <a:p>
            <a:r>
              <a:rPr lang="en-US" sz="1100" dirty="0">
                <a:latin typeface="Arial" charset="0"/>
                <a:ea typeface="ＭＳ Ｐゴシック" pitchFamily="-65" charset="-128"/>
              </a:rPr>
              <a:t>Chernobyl virus mentioned above not only corrupts data, but attempts to rewrite</a:t>
            </a:r>
          </a:p>
          <a:p>
            <a:r>
              <a:rPr lang="en-US" sz="1100" dirty="0">
                <a:latin typeface="Arial" charset="0"/>
                <a:ea typeface="ＭＳ Ｐゴシック" pitchFamily="-65" charset="-128"/>
              </a:rPr>
              <a:t>the BIOS code used to initially boot the computer. If it is successful, the boot process</a:t>
            </a:r>
          </a:p>
          <a:p>
            <a:r>
              <a:rPr lang="en-US" sz="1100" dirty="0">
                <a:latin typeface="Arial" charset="0"/>
                <a:ea typeface="ＭＳ Ｐゴシック" pitchFamily="-65" charset="-128"/>
              </a:rPr>
              <a:t>fails, and the system is unusable until the BIOS chip is either re-programmed or</a:t>
            </a:r>
          </a:p>
          <a:p>
            <a:r>
              <a:rPr lang="en-US" sz="1100" dirty="0">
                <a:latin typeface="Arial" charset="0"/>
                <a:ea typeface="ＭＳ Ｐゴシック" pitchFamily="-65" charset="-128"/>
              </a:rPr>
              <a:t>replaced.</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More recently, the </a:t>
            </a:r>
            <a:r>
              <a:rPr lang="en-US" sz="1100" dirty="0" err="1">
                <a:latin typeface="Arial" charset="0"/>
                <a:ea typeface="ＭＳ Ｐゴシック" pitchFamily="-65" charset="-128"/>
              </a:rPr>
              <a:t>Stuxnet</a:t>
            </a:r>
            <a:r>
              <a:rPr lang="en-US" sz="1100" dirty="0">
                <a:latin typeface="Arial" charset="0"/>
                <a:ea typeface="ＭＳ Ｐゴシック" pitchFamily="-65" charset="-128"/>
              </a:rPr>
              <a:t> worm that we discussed previously targets some</a:t>
            </a:r>
          </a:p>
          <a:p>
            <a:r>
              <a:rPr lang="en-US" sz="1100" dirty="0">
                <a:latin typeface="Arial" charset="0"/>
                <a:ea typeface="ＭＳ Ｐゴシック" pitchFamily="-65" charset="-128"/>
              </a:rPr>
              <a:t>specific industrial control system software as its key payload [CHEN11, KUSH13]. If control</a:t>
            </a:r>
          </a:p>
          <a:p>
            <a:r>
              <a:rPr lang="en-US" sz="1100" dirty="0">
                <a:latin typeface="Arial" charset="0"/>
                <a:ea typeface="ＭＳ Ｐゴシック" pitchFamily="-65" charset="-128"/>
              </a:rPr>
              <a:t>systems using certain Siemens industrial control software with a specific configuration</a:t>
            </a:r>
          </a:p>
          <a:p>
            <a:r>
              <a:rPr lang="en-US" sz="1100" dirty="0">
                <a:latin typeface="Arial" charset="0"/>
                <a:ea typeface="ＭＳ Ｐゴシック" pitchFamily="-65" charset="-128"/>
              </a:rPr>
              <a:t>of devices are infected, then the worm replaces the original control code with code</a:t>
            </a:r>
          </a:p>
          <a:p>
            <a:r>
              <a:rPr lang="en-US" sz="1100" dirty="0">
                <a:latin typeface="Arial" charset="0"/>
                <a:ea typeface="ＭＳ Ｐゴシック" pitchFamily="-65" charset="-128"/>
              </a:rPr>
              <a:t>that deliberately drives the controlled equipment outside its normal operating range,</a:t>
            </a:r>
          </a:p>
          <a:p>
            <a:r>
              <a:rPr lang="en-US" sz="1100" dirty="0">
                <a:latin typeface="Arial" charset="0"/>
                <a:ea typeface="ＭＳ Ｐゴシック" pitchFamily="-65" charset="-128"/>
              </a:rPr>
              <a:t>resulting in the failure of the attached equipment. The centrifuges used in the Iranian</a:t>
            </a:r>
          </a:p>
          <a:p>
            <a:r>
              <a:rPr lang="en-US" sz="1100" dirty="0">
                <a:latin typeface="Arial" charset="0"/>
                <a:ea typeface="ＭＳ Ｐゴシック" pitchFamily="-65" charset="-128"/>
              </a:rPr>
              <a:t>uranium enrichment program were strongly suspected as the target, with reports of</a:t>
            </a:r>
          </a:p>
          <a:p>
            <a:r>
              <a:rPr lang="en-US" sz="1100" dirty="0">
                <a:latin typeface="Arial" charset="0"/>
                <a:ea typeface="ＭＳ Ｐゴシック" pitchFamily="-65" charset="-128"/>
              </a:rPr>
              <a:t>much higher than normal failure rates observed in them over the period when this</a:t>
            </a:r>
          </a:p>
          <a:p>
            <a:r>
              <a:rPr lang="en-US" sz="1100" dirty="0">
                <a:latin typeface="Arial" charset="0"/>
                <a:ea typeface="ＭＳ Ｐゴシック" pitchFamily="-65" charset="-128"/>
              </a:rPr>
              <a:t>worm was active. As noted in our earlier discussion, this has raised concerns over the</a:t>
            </a:r>
          </a:p>
          <a:p>
            <a:r>
              <a:rPr lang="en-US" sz="1100" dirty="0">
                <a:latin typeface="Arial" charset="0"/>
                <a:ea typeface="ＭＳ Ｐゴシック" pitchFamily="-65" charset="-128"/>
              </a:rPr>
              <a:t>use of sophisticated targeted malware for industrial sabotage.</a:t>
            </a:r>
          </a:p>
          <a:p>
            <a:endParaRPr lang="en-US" sz="1100" dirty="0">
              <a:latin typeface="Arial" charset="0"/>
              <a:ea typeface="ＭＳ Ｐゴシック" pitchFamily="-65"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 The British Government’s 2015 Security and Defense Review noted their</a:t>
            </a:r>
          </a:p>
          <a:p>
            <a:r>
              <a:rPr lang="en-US" sz="1200" kern="1200" dirty="0">
                <a:solidFill>
                  <a:schemeClr val="tx1"/>
                </a:solidFill>
                <a:effectLst/>
                <a:latin typeface="Arial" pitchFamily="-110" charset="0"/>
                <a:ea typeface="ＭＳ Ｐゴシック" pitchFamily="-110" charset="-128"/>
                <a:cs typeface="ＭＳ Ｐゴシック" pitchFamily="-110" charset="-128"/>
              </a:rPr>
              <a:t>growing concerns over the use of cyber attacks against critical infrastructure by</a:t>
            </a:r>
          </a:p>
          <a:p>
            <a:r>
              <a:rPr lang="en-US" sz="1200" kern="1200" dirty="0">
                <a:solidFill>
                  <a:schemeClr val="tx1"/>
                </a:solidFill>
                <a:effectLst/>
                <a:latin typeface="Arial" pitchFamily="-110" charset="0"/>
                <a:ea typeface="ＭＳ Ｐゴシック" pitchFamily="-110" charset="-128"/>
                <a:cs typeface="ＭＳ Ｐゴシック" pitchFamily="-110" charset="-128"/>
              </a:rPr>
              <a:t>both state-sponsored and non state actors. The December 2015 attack that disrupted</a:t>
            </a:r>
          </a:p>
          <a:p>
            <a:r>
              <a:rPr lang="en-US" sz="1200" kern="1200" dirty="0">
                <a:solidFill>
                  <a:schemeClr val="tx1"/>
                </a:solidFill>
                <a:effectLst/>
                <a:latin typeface="Arial" pitchFamily="-110" charset="0"/>
                <a:ea typeface="ＭＳ Ｐゴシック" pitchFamily="-110" charset="-128"/>
                <a:cs typeface="ＭＳ Ｐゴシック" pitchFamily="-110" charset="-128"/>
              </a:rPr>
              <a:t>Ukrainian power systems shows these concerns are well-founded, given that much</a:t>
            </a:r>
          </a:p>
          <a:p>
            <a:r>
              <a:rPr lang="en-US" sz="1200" kern="1200" dirty="0">
                <a:solidFill>
                  <a:schemeClr val="tx1"/>
                </a:solidFill>
                <a:effectLst/>
                <a:latin typeface="Arial" pitchFamily="-110" charset="0"/>
                <a:ea typeface="ＭＳ Ｐゴシック" pitchFamily="-110" charset="-128"/>
                <a:cs typeface="ＭＳ Ｐゴシック" pitchFamily="-110" charset="-128"/>
              </a:rPr>
              <a:t>critical infrastructure is not sufficiently hardened to resist such attacks [SYMA16].</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A key component of data corrupting malware is the logic bomb. The logic bomb is</a:t>
            </a:r>
          </a:p>
          <a:p>
            <a:r>
              <a:rPr lang="en-US" sz="1100" dirty="0">
                <a:latin typeface="Arial" charset="0"/>
                <a:ea typeface="ＭＳ Ｐゴシック" pitchFamily="-65" charset="-128"/>
              </a:rPr>
              <a:t>code embedded in the malware that is set to “explode” when certain conditions are</a:t>
            </a:r>
          </a:p>
          <a:p>
            <a:r>
              <a:rPr lang="en-US" sz="1100" dirty="0">
                <a:latin typeface="Arial" charset="0"/>
                <a:ea typeface="ＭＳ Ｐゴシック" pitchFamily="-65" charset="-128"/>
              </a:rPr>
              <a:t>met. Examples of conditions that can be used as triggers for a logic bomb are the presence</a:t>
            </a:r>
          </a:p>
          <a:p>
            <a:r>
              <a:rPr lang="en-US" sz="1100" dirty="0">
                <a:latin typeface="Arial" charset="0"/>
                <a:ea typeface="ＭＳ Ｐゴシック" pitchFamily="-65" charset="-128"/>
              </a:rPr>
              <a:t>or absence of certain files or devices on the system, a particular day of the week</a:t>
            </a:r>
          </a:p>
          <a:p>
            <a:r>
              <a:rPr lang="en-US" sz="1100" dirty="0">
                <a:latin typeface="Arial" charset="0"/>
                <a:ea typeface="ＭＳ Ｐゴシック" pitchFamily="-65" charset="-128"/>
              </a:rPr>
              <a:t>or date, a particular version or configuration of some software, or a particular user</a:t>
            </a:r>
          </a:p>
          <a:p>
            <a:r>
              <a:rPr lang="en-US" sz="1100" dirty="0">
                <a:latin typeface="Arial" charset="0"/>
                <a:ea typeface="ＭＳ Ｐゴシック" pitchFamily="-65" charset="-128"/>
              </a:rPr>
              <a:t>running the application. Once triggered, a bomb may alter or delete data or entire files,</a:t>
            </a:r>
          </a:p>
          <a:p>
            <a:r>
              <a:rPr lang="en-US" sz="1100" dirty="0">
                <a:latin typeface="Arial" charset="0"/>
                <a:ea typeface="ＭＳ Ｐゴシック" pitchFamily="-65" charset="-128"/>
              </a:rPr>
              <a:t>cause a machine halt, or do some other damage. </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A striking example of how logic bombs can be employed was the case of Tim</a:t>
            </a:r>
          </a:p>
          <a:p>
            <a:r>
              <a:rPr lang="en-US" sz="1100" dirty="0">
                <a:latin typeface="Arial" charset="0"/>
                <a:ea typeface="ＭＳ Ｐゴシック" pitchFamily="-65" charset="-128"/>
              </a:rPr>
              <a:t>Lloyd, who was convicted of setting a logic bomb that cost his employer, Omega</a:t>
            </a:r>
          </a:p>
          <a:p>
            <a:r>
              <a:rPr lang="en-US" sz="1100" dirty="0">
                <a:latin typeface="Arial" charset="0"/>
                <a:ea typeface="ＭＳ Ｐゴシック" pitchFamily="-65" charset="-128"/>
              </a:rPr>
              <a:t>Engineering, more than $10 million, derailed its corporate growth strategy, and</a:t>
            </a:r>
          </a:p>
          <a:p>
            <a:r>
              <a:rPr lang="en-US" sz="1100" dirty="0">
                <a:latin typeface="Arial" charset="0"/>
                <a:ea typeface="ＭＳ Ｐゴシック" pitchFamily="-65" charset="-128"/>
              </a:rPr>
              <a:t>eventually led to the layoff of 80 workers [GAUD00]. Ultimately, Lloyd was</a:t>
            </a:r>
          </a:p>
          <a:p>
            <a:r>
              <a:rPr lang="en-US" sz="1100" dirty="0">
                <a:latin typeface="Arial" charset="0"/>
                <a:ea typeface="ＭＳ Ｐゴシック" pitchFamily="-65" charset="-128"/>
              </a:rPr>
              <a:t>sentenced to 41 months in prison and ordered to pay $2 million in restitution.</a:t>
            </a:r>
          </a:p>
        </p:txBody>
      </p:sp>
      <p:sp>
        <p:nvSpPr>
          <p:cNvPr id="67588" name="Slide Number Placeholder 3"/>
          <p:cNvSpPr>
            <a:spLocks noGrp="1"/>
          </p:cNvSpPr>
          <p:nvPr>
            <p:ph type="sldNum" sz="quarter" idx="5"/>
          </p:nvPr>
        </p:nvSpPr>
        <p:spPr>
          <a:noFill/>
        </p:spPr>
        <p:txBody>
          <a:bodyPr/>
          <a:lstStyle/>
          <a:p>
            <a:fld id="{C7F2DF1B-2E8A-4343-BF1C-83443696DB17}" type="slidenum">
              <a:rPr lang="en-AU"/>
              <a:pPr/>
              <a:t>35</a:t>
            </a:fld>
            <a:endParaRPr lang="en-AU"/>
          </a:p>
        </p:txBody>
      </p:sp>
    </p:spTree>
    <p:extLst>
      <p:ext uri="{BB962C8B-B14F-4D97-AF65-F5344CB8AC3E}">
        <p14:creationId xmlns:p14="http://schemas.microsoft.com/office/powerpoint/2010/main" val="37828131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0733148B-1BFD-40AE-B285-40A0AB49743A}" type="slidenum">
              <a:rPr lang="en-AU"/>
              <a:pPr/>
              <a:t>36</a:t>
            </a:fld>
            <a:endParaRPr lang="en-AU"/>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r>
              <a:rPr lang="en-US" b="0" dirty="0">
                <a:latin typeface="Arial" charset="0"/>
                <a:ea typeface="ＭＳ Ｐゴシック" pitchFamily="-65" charset="-128"/>
              </a:rPr>
              <a:t>The next category of payload we discuss is where the malware subverts the computational</a:t>
            </a:r>
          </a:p>
          <a:p>
            <a:r>
              <a:rPr lang="en-US" b="0" dirty="0">
                <a:latin typeface="Arial" charset="0"/>
                <a:ea typeface="ＭＳ Ｐゴシック" pitchFamily="-65" charset="-128"/>
              </a:rPr>
              <a:t>and network resources of the infected system for use by the attacker.</a:t>
            </a:r>
          </a:p>
          <a:p>
            <a:r>
              <a:rPr lang="en-US" b="0" dirty="0">
                <a:latin typeface="Arial" charset="0"/>
                <a:ea typeface="ＭＳ Ｐゴシック" pitchFamily="-65" charset="-128"/>
              </a:rPr>
              <a:t>Such a system is known as a bot (robot), zombie or drone, and secretly takes over</a:t>
            </a:r>
          </a:p>
          <a:p>
            <a:r>
              <a:rPr lang="en-US" b="0" dirty="0">
                <a:latin typeface="Arial" charset="0"/>
                <a:ea typeface="ＭＳ Ｐゴシック" pitchFamily="-65" charset="-128"/>
              </a:rPr>
              <a:t>another Internet-attached computer and then uses that computer to launch or manage</a:t>
            </a:r>
          </a:p>
          <a:p>
            <a:r>
              <a:rPr lang="en-US" b="0" dirty="0">
                <a:latin typeface="Arial" charset="0"/>
                <a:ea typeface="ＭＳ Ｐゴシック" pitchFamily="-65" charset="-128"/>
              </a:rPr>
              <a:t>attacks that are difficult to trace to the bot’s creator. The bot is typically planted</a:t>
            </a:r>
          </a:p>
          <a:p>
            <a:r>
              <a:rPr lang="en-US" b="0" dirty="0">
                <a:latin typeface="Arial" charset="0"/>
                <a:ea typeface="ＭＳ Ｐゴシック" pitchFamily="-65" charset="-128"/>
              </a:rPr>
              <a:t>on hundreds or thousands of computers belonging to unsuspecting third parties.</a:t>
            </a:r>
          </a:p>
          <a:p>
            <a:r>
              <a:rPr lang="en-US" b="0" dirty="0">
                <a:latin typeface="Arial" charset="0"/>
                <a:ea typeface="ＭＳ Ｐゴシック" pitchFamily="-65" charset="-128"/>
              </a:rPr>
              <a:t>The collection of bots often is capable of acting in a coordinated manner; such a</a:t>
            </a:r>
          </a:p>
          <a:p>
            <a:r>
              <a:rPr lang="en-US" b="0" dirty="0">
                <a:latin typeface="Arial" charset="0"/>
                <a:ea typeface="ＭＳ Ｐゴシック" pitchFamily="-65" charset="-128"/>
              </a:rPr>
              <a:t>collection is referred to as a botnet . This type of payload attacks the integrity and</a:t>
            </a:r>
          </a:p>
          <a:p>
            <a:r>
              <a:rPr lang="en-US" b="0" dirty="0">
                <a:latin typeface="Arial" charset="0"/>
                <a:ea typeface="ＭＳ Ｐゴシック" pitchFamily="-65" charset="-128"/>
              </a:rPr>
              <a:t>availability of the infected system.</a:t>
            </a:r>
          </a:p>
          <a:p>
            <a:endParaRPr lang="en-US" b="0" dirty="0">
              <a:latin typeface="Arial" charset="0"/>
              <a:ea typeface="ＭＳ Ｐゴシック" pitchFamily="-65" charset="-128"/>
            </a:endParaRPr>
          </a:p>
          <a:p>
            <a:r>
              <a:rPr lang="en-US" b="0" dirty="0">
                <a:latin typeface="Arial" charset="0"/>
                <a:ea typeface="ＭＳ Ｐゴシック" pitchFamily="-65" charset="-128"/>
              </a:rPr>
              <a:t>Uses of Bots</a:t>
            </a:r>
          </a:p>
          <a:p>
            <a:endParaRPr lang="en-US" b="0" dirty="0">
              <a:latin typeface="Arial" charset="0"/>
              <a:ea typeface="ＭＳ Ｐゴシック" pitchFamily="-65" charset="-128"/>
            </a:endParaRPr>
          </a:p>
          <a:p>
            <a:r>
              <a:rPr lang="en-US" b="0" dirty="0">
                <a:latin typeface="Arial" charset="0"/>
                <a:ea typeface="ＭＳ Ｐゴシック" pitchFamily="-65" charset="-128"/>
              </a:rPr>
              <a:t>[HONE05] lists the following uses of bots:</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Distributed denial-of-service (</a:t>
            </a:r>
            <a:r>
              <a:rPr lang="en-US" b="1" dirty="0" err="1">
                <a:latin typeface="Arial" charset="0"/>
                <a:ea typeface="ＭＳ Ｐゴシック" pitchFamily="-65" charset="-128"/>
              </a:rPr>
              <a:t>DDoS</a:t>
            </a:r>
            <a:r>
              <a:rPr lang="en-US" b="1" dirty="0">
                <a:latin typeface="Arial" charset="0"/>
                <a:ea typeface="ＭＳ Ｐゴシック" pitchFamily="-65" charset="-128"/>
              </a:rPr>
              <a:t>) attacks</a:t>
            </a:r>
            <a:r>
              <a:rPr lang="en-US" b="0" dirty="0">
                <a:latin typeface="Arial" charset="0"/>
                <a:ea typeface="ＭＳ Ｐゴシック" pitchFamily="-65" charset="-128"/>
              </a:rPr>
              <a:t>: A </a:t>
            </a:r>
            <a:r>
              <a:rPr lang="en-US" b="0" dirty="0" err="1">
                <a:latin typeface="Arial" charset="0"/>
                <a:ea typeface="ＭＳ Ｐゴシック" pitchFamily="-65" charset="-128"/>
              </a:rPr>
              <a:t>DDoS</a:t>
            </a:r>
            <a:r>
              <a:rPr lang="en-US" b="0" dirty="0">
                <a:latin typeface="Arial" charset="0"/>
                <a:ea typeface="ＭＳ Ｐゴシック" pitchFamily="-65" charset="-128"/>
              </a:rPr>
              <a:t> attack is an attack on</a:t>
            </a:r>
          </a:p>
          <a:p>
            <a:r>
              <a:rPr lang="en-US" b="0" dirty="0">
                <a:latin typeface="Arial" charset="0"/>
                <a:ea typeface="ＭＳ Ｐゴシック" pitchFamily="-65" charset="-128"/>
              </a:rPr>
              <a:t>a computer system or network that causes a loss of service to users. We examine</a:t>
            </a:r>
          </a:p>
          <a:p>
            <a:r>
              <a:rPr lang="en-US" b="0" dirty="0" err="1">
                <a:latin typeface="Arial" charset="0"/>
                <a:ea typeface="ＭＳ Ｐゴシック" pitchFamily="-65" charset="-128"/>
              </a:rPr>
              <a:t>DDoS</a:t>
            </a:r>
            <a:r>
              <a:rPr lang="en-US" b="0" dirty="0">
                <a:latin typeface="Arial" charset="0"/>
                <a:ea typeface="ＭＳ Ｐゴシック" pitchFamily="-65" charset="-128"/>
              </a:rPr>
              <a:t> attacks in Chapter 7 .</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Spamming</a:t>
            </a:r>
            <a:r>
              <a:rPr lang="en-US" b="0" dirty="0">
                <a:latin typeface="Arial" charset="0"/>
                <a:ea typeface="ＭＳ Ｐゴシック" pitchFamily="-65" charset="-128"/>
              </a:rPr>
              <a:t>: With the help of a botnet and thousands of bots, an attacker is able</a:t>
            </a:r>
          </a:p>
          <a:p>
            <a:r>
              <a:rPr lang="en-US" b="0" dirty="0">
                <a:latin typeface="Arial" charset="0"/>
                <a:ea typeface="ＭＳ Ｐゴシック" pitchFamily="-65" charset="-128"/>
              </a:rPr>
              <a:t>to send massive amounts of bulk e-mail (spam).</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Sniffing traffic</a:t>
            </a:r>
            <a:r>
              <a:rPr lang="en-US" b="0" dirty="0">
                <a:latin typeface="Arial" charset="0"/>
                <a:ea typeface="ＭＳ Ｐゴシック" pitchFamily="-65" charset="-128"/>
              </a:rPr>
              <a:t>: Bots can also use a packet sniffer to watch for interesting </a:t>
            </a:r>
            <a:r>
              <a:rPr lang="en-US" b="0" dirty="0" err="1">
                <a:latin typeface="Arial" charset="0"/>
                <a:ea typeface="ＭＳ Ｐゴシック" pitchFamily="-65" charset="-128"/>
              </a:rPr>
              <a:t>cleartext</a:t>
            </a:r>
            <a:endParaRPr lang="en-US" b="0" dirty="0">
              <a:latin typeface="Arial" charset="0"/>
              <a:ea typeface="ＭＳ Ｐゴシック" pitchFamily="-65" charset="-128"/>
            </a:endParaRPr>
          </a:p>
          <a:p>
            <a:r>
              <a:rPr lang="en-US" b="0" dirty="0">
                <a:latin typeface="Arial" charset="0"/>
                <a:ea typeface="ＭＳ Ｐゴシック" pitchFamily="-65" charset="-128"/>
              </a:rPr>
              <a:t>data passing by a compromised machine. The sniffers are mostly used to</a:t>
            </a:r>
          </a:p>
          <a:p>
            <a:r>
              <a:rPr lang="en-US" b="0" dirty="0">
                <a:latin typeface="Arial" charset="0"/>
                <a:ea typeface="ＭＳ Ｐゴシック" pitchFamily="-65" charset="-128"/>
              </a:rPr>
              <a:t>retrieve sensitive information like usernames and passwords.</a:t>
            </a:r>
          </a:p>
          <a:p>
            <a:endParaRPr lang="en-US" b="0" dirty="0">
              <a:latin typeface="Arial" charset="0"/>
              <a:ea typeface="ＭＳ Ｐゴシック" pitchFamily="-65" charset="-128"/>
            </a:endParaRPr>
          </a:p>
          <a:p>
            <a:pPr marL="171450" indent="-171450">
              <a:buFont typeface="Arial" charset="0"/>
              <a:buChar char="•"/>
            </a:pPr>
            <a:r>
              <a:rPr lang="en-US" b="1" dirty="0" err="1">
                <a:latin typeface="Arial" charset="0"/>
                <a:ea typeface="ＭＳ Ｐゴシック" pitchFamily="-65" charset="-128"/>
              </a:rPr>
              <a:t>Keylogging</a:t>
            </a:r>
            <a:r>
              <a:rPr lang="en-US" b="0" dirty="0">
                <a:latin typeface="Arial" charset="0"/>
                <a:ea typeface="ＭＳ Ｐゴシック" pitchFamily="-65" charset="-128"/>
              </a:rPr>
              <a:t>: If the compromised machine uses encrypted communication</a:t>
            </a:r>
          </a:p>
          <a:p>
            <a:r>
              <a:rPr lang="en-US" b="0" dirty="0">
                <a:latin typeface="Arial" charset="0"/>
                <a:ea typeface="ＭＳ Ｐゴシック" pitchFamily="-65" charset="-128"/>
              </a:rPr>
              <a:t>channels (e.g. HTTPS or POP3S), then just sniffing the network packets on</a:t>
            </a:r>
          </a:p>
          <a:p>
            <a:r>
              <a:rPr lang="en-US" b="0" dirty="0">
                <a:latin typeface="Arial" charset="0"/>
                <a:ea typeface="ＭＳ Ｐゴシック" pitchFamily="-65" charset="-128"/>
              </a:rPr>
              <a:t>the victim’s computer is useless because the appropriate key to decrypt the</a:t>
            </a:r>
          </a:p>
          <a:p>
            <a:r>
              <a:rPr lang="en-US" b="0" dirty="0">
                <a:latin typeface="Arial" charset="0"/>
                <a:ea typeface="ＭＳ Ｐゴシック" pitchFamily="-65" charset="-128"/>
              </a:rPr>
              <a:t>packets is missing. But by using a </a:t>
            </a:r>
            <a:r>
              <a:rPr lang="en-US" b="0" dirty="0" err="1">
                <a:latin typeface="Arial" charset="0"/>
                <a:ea typeface="ＭＳ Ｐゴシック" pitchFamily="-65" charset="-128"/>
              </a:rPr>
              <a:t>keylogger</a:t>
            </a:r>
            <a:r>
              <a:rPr lang="en-US" b="0" dirty="0">
                <a:latin typeface="Arial" charset="0"/>
                <a:ea typeface="ＭＳ Ｐゴシック" pitchFamily="-65" charset="-128"/>
              </a:rPr>
              <a:t>, which captures keystrokes on the</a:t>
            </a:r>
          </a:p>
          <a:p>
            <a:r>
              <a:rPr lang="en-US" b="0" dirty="0">
                <a:latin typeface="Arial" charset="0"/>
                <a:ea typeface="ＭＳ Ｐゴシック" pitchFamily="-65" charset="-128"/>
              </a:rPr>
              <a:t>infected machine, an attacker can retrieve sensitive information.</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Spreading new malware</a:t>
            </a:r>
            <a:r>
              <a:rPr lang="en-US" b="0" dirty="0">
                <a:latin typeface="Arial" charset="0"/>
                <a:ea typeface="ＭＳ Ｐゴシック" pitchFamily="-65" charset="-128"/>
              </a:rPr>
              <a:t>: Botnets are used to spread new bots. This is very</a:t>
            </a:r>
          </a:p>
          <a:p>
            <a:r>
              <a:rPr lang="en-US" b="0" dirty="0">
                <a:latin typeface="Arial" charset="0"/>
                <a:ea typeface="ＭＳ Ｐゴシック" pitchFamily="-65" charset="-128"/>
              </a:rPr>
              <a:t>easy since all bots implement mechanisms to download and execute a file via</a:t>
            </a:r>
          </a:p>
          <a:p>
            <a:r>
              <a:rPr lang="en-US" b="0" dirty="0">
                <a:latin typeface="Arial" charset="0"/>
                <a:ea typeface="ＭＳ Ｐゴシック" pitchFamily="-65" charset="-128"/>
              </a:rPr>
              <a:t>HTTP or FTP. A botnet with 10,000 hosts that acts as the start base for a</a:t>
            </a:r>
          </a:p>
          <a:p>
            <a:r>
              <a:rPr lang="en-US" b="0" dirty="0">
                <a:latin typeface="Arial" charset="0"/>
                <a:ea typeface="ＭＳ Ｐゴシック" pitchFamily="-65" charset="-128"/>
              </a:rPr>
              <a:t>worm or mail virus allows very fast spreading and thus causes more harm.</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Installing advertisement add-ons and browser helper objects (BHOs): </a:t>
            </a:r>
            <a:r>
              <a:rPr lang="en-US" b="0" dirty="0">
                <a:latin typeface="Arial" charset="0"/>
                <a:ea typeface="ＭＳ Ｐゴシック" pitchFamily="-65" charset="-128"/>
              </a:rPr>
              <a:t>Botnets</a:t>
            </a:r>
          </a:p>
          <a:p>
            <a:r>
              <a:rPr lang="en-US" b="0" dirty="0">
                <a:latin typeface="Arial" charset="0"/>
                <a:ea typeface="ＭＳ Ｐゴシック" pitchFamily="-65" charset="-128"/>
              </a:rPr>
              <a:t>can also be used to gain financial advantages. This works by setting up a fake</a:t>
            </a:r>
          </a:p>
          <a:p>
            <a:r>
              <a:rPr lang="en-US" b="0" dirty="0">
                <a:latin typeface="Arial" charset="0"/>
                <a:ea typeface="ＭＳ Ｐゴシック" pitchFamily="-65" charset="-128"/>
              </a:rPr>
              <a:t>Web site with some advertisements: The operator of this Web site negotiates a</a:t>
            </a:r>
          </a:p>
          <a:p>
            <a:r>
              <a:rPr lang="en-US" b="0" dirty="0">
                <a:latin typeface="Arial" charset="0"/>
                <a:ea typeface="ＭＳ Ｐゴシック" pitchFamily="-65" charset="-128"/>
              </a:rPr>
              <a:t>deal with some hosting companies that pay for clicks on ads. With the help of</a:t>
            </a:r>
          </a:p>
          <a:p>
            <a:r>
              <a:rPr lang="en-US" b="0" dirty="0">
                <a:latin typeface="Arial" charset="0"/>
                <a:ea typeface="ＭＳ Ｐゴシック" pitchFamily="-65" charset="-128"/>
              </a:rPr>
              <a:t>a botnet, these clicks can be “automated” so that instantly a few thousand bots</a:t>
            </a:r>
          </a:p>
          <a:p>
            <a:r>
              <a:rPr lang="en-US" b="0" dirty="0">
                <a:latin typeface="Arial" charset="0"/>
                <a:ea typeface="ＭＳ Ｐゴシック" pitchFamily="-65" charset="-128"/>
              </a:rPr>
              <a:t>click on the pop-ups. This process can be further enhanced if the bot hijacks</a:t>
            </a:r>
          </a:p>
          <a:p>
            <a:r>
              <a:rPr lang="en-US" b="0" dirty="0">
                <a:latin typeface="Arial" charset="0"/>
                <a:ea typeface="ＭＳ Ｐゴシック" pitchFamily="-65" charset="-128"/>
              </a:rPr>
              <a:t>the start-page of a compromised machine so that the “clicks” are executed</a:t>
            </a:r>
          </a:p>
          <a:p>
            <a:r>
              <a:rPr lang="en-US" b="0" dirty="0">
                <a:latin typeface="Arial" charset="0"/>
                <a:ea typeface="ＭＳ Ｐゴシック" pitchFamily="-65" charset="-128"/>
              </a:rPr>
              <a:t>each time the victim uses the browser.</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Attacking IRC chat networks</a:t>
            </a:r>
            <a:r>
              <a:rPr lang="en-US" b="0" dirty="0">
                <a:latin typeface="Arial" charset="0"/>
                <a:ea typeface="ＭＳ Ｐゴシック" pitchFamily="-65" charset="-128"/>
              </a:rPr>
              <a:t>: Botnets are also used for attacks against</a:t>
            </a:r>
          </a:p>
          <a:p>
            <a:r>
              <a:rPr lang="en-US" b="0" dirty="0">
                <a:latin typeface="Arial" charset="0"/>
                <a:ea typeface="ＭＳ Ｐゴシック" pitchFamily="-65" charset="-128"/>
              </a:rPr>
              <a:t>Internet Relay Chat (IRC) networks. Popular among attackers is especially</a:t>
            </a:r>
          </a:p>
          <a:p>
            <a:r>
              <a:rPr lang="en-US" b="0" dirty="0">
                <a:latin typeface="Arial" charset="0"/>
                <a:ea typeface="ＭＳ Ｐゴシック" pitchFamily="-65" charset="-128"/>
              </a:rPr>
              <a:t>the so-called clone attack: In this kind of attack, the controller orders each bot</a:t>
            </a:r>
          </a:p>
          <a:p>
            <a:r>
              <a:rPr lang="en-US" b="0" dirty="0">
                <a:latin typeface="Arial" charset="0"/>
                <a:ea typeface="ＭＳ Ｐゴシック" pitchFamily="-65" charset="-128"/>
              </a:rPr>
              <a:t>to connect a large number of clones to the victim IRC network. The victim is</a:t>
            </a:r>
          </a:p>
          <a:p>
            <a:r>
              <a:rPr lang="en-US" b="0" dirty="0">
                <a:latin typeface="Arial" charset="0"/>
                <a:ea typeface="ＭＳ Ｐゴシック" pitchFamily="-65" charset="-128"/>
              </a:rPr>
              <a:t>flooded by service requests from thousands of bots or thousands of </a:t>
            </a:r>
            <a:r>
              <a:rPr lang="en-US" b="0" dirty="0" err="1">
                <a:latin typeface="Arial" charset="0"/>
                <a:ea typeface="ＭＳ Ｐゴシック" pitchFamily="-65" charset="-128"/>
              </a:rPr>
              <a:t>channeljoins</a:t>
            </a:r>
            <a:endParaRPr lang="en-US" b="0" dirty="0">
              <a:latin typeface="Arial" charset="0"/>
              <a:ea typeface="ＭＳ Ｐゴシック" pitchFamily="-65" charset="-128"/>
            </a:endParaRPr>
          </a:p>
          <a:p>
            <a:r>
              <a:rPr lang="en-US" b="0" dirty="0">
                <a:latin typeface="Arial" charset="0"/>
                <a:ea typeface="ＭＳ Ｐゴシック" pitchFamily="-65" charset="-128"/>
              </a:rPr>
              <a:t>by these cloned bots. In this way, the victim IRC network is brought</a:t>
            </a:r>
          </a:p>
          <a:p>
            <a:r>
              <a:rPr lang="en-US" b="0" dirty="0">
                <a:latin typeface="Arial" charset="0"/>
                <a:ea typeface="ＭＳ Ｐゴシック" pitchFamily="-65" charset="-128"/>
              </a:rPr>
              <a:t>down, similar to a </a:t>
            </a:r>
            <a:r>
              <a:rPr lang="en-US" b="0" dirty="0" err="1">
                <a:latin typeface="Arial" charset="0"/>
                <a:ea typeface="ＭＳ Ｐゴシック" pitchFamily="-65" charset="-128"/>
              </a:rPr>
              <a:t>DDoS</a:t>
            </a:r>
            <a:r>
              <a:rPr lang="en-US" b="0" dirty="0">
                <a:latin typeface="Arial" charset="0"/>
                <a:ea typeface="ＭＳ Ｐゴシック" pitchFamily="-65" charset="-128"/>
              </a:rPr>
              <a:t> attack.</a:t>
            </a:r>
          </a:p>
          <a:p>
            <a:endParaRPr lang="en-US" b="0" dirty="0">
              <a:latin typeface="Arial" charset="0"/>
              <a:ea typeface="ＭＳ Ｐゴシック" pitchFamily="-65" charset="-128"/>
            </a:endParaRPr>
          </a:p>
          <a:p>
            <a:r>
              <a:rPr lang="en-US" b="0" dirty="0">
                <a:latin typeface="Arial" charset="0"/>
                <a:ea typeface="ＭＳ Ｐゴシック" pitchFamily="-65" charset="-128"/>
              </a:rPr>
              <a:t>• </a:t>
            </a:r>
            <a:r>
              <a:rPr lang="en-US" b="1" dirty="0">
                <a:latin typeface="Arial" charset="0"/>
                <a:ea typeface="ＭＳ Ｐゴシック" pitchFamily="-65" charset="-128"/>
              </a:rPr>
              <a:t>Manipulating online polls/games</a:t>
            </a:r>
            <a:r>
              <a:rPr lang="en-US" b="0" dirty="0">
                <a:latin typeface="Arial" charset="0"/>
                <a:ea typeface="ＭＳ Ｐゴシック" pitchFamily="-65" charset="-128"/>
              </a:rPr>
              <a:t>: Online polls/games are getting more and</a:t>
            </a:r>
          </a:p>
          <a:p>
            <a:r>
              <a:rPr lang="en-US" b="0" dirty="0">
                <a:latin typeface="Arial" charset="0"/>
                <a:ea typeface="ＭＳ Ｐゴシック" pitchFamily="-65" charset="-128"/>
              </a:rPr>
              <a:t>more attention and it is rather easy to manipulate them with botnets. Since</a:t>
            </a:r>
          </a:p>
          <a:p>
            <a:r>
              <a:rPr lang="en-US" b="0" dirty="0">
                <a:latin typeface="Arial" charset="0"/>
                <a:ea typeface="ＭＳ Ｐゴシック" pitchFamily="-65" charset="-128"/>
              </a:rPr>
              <a:t>every bot has a distinct IP address, every vote will have the same credibility as</a:t>
            </a:r>
          </a:p>
          <a:p>
            <a:r>
              <a:rPr lang="en-US" b="0" dirty="0">
                <a:latin typeface="Arial" charset="0"/>
                <a:ea typeface="ＭＳ Ｐゴシック" pitchFamily="-65" charset="-128"/>
              </a:rPr>
              <a:t>a vote cast by a real person. Online games can be manipulated in a similar way.</a:t>
            </a:r>
            <a:endParaRPr lang="en-US" b="0" dirty="0">
              <a:latin typeface="Times New Roman" pitchFamily="-65" charset="0"/>
              <a:ea typeface="ＭＳ Ｐゴシック" pitchFamily="-65" charset="-128"/>
            </a:endParaRPr>
          </a:p>
        </p:txBody>
      </p:sp>
    </p:spTree>
    <p:extLst>
      <p:ext uri="{BB962C8B-B14F-4D97-AF65-F5344CB8AC3E}">
        <p14:creationId xmlns:p14="http://schemas.microsoft.com/office/powerpoint/2010/main" val="37412856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55000" lnSpcReduction="20000"/>
          </a:bodyPr>
          <a:lstStyle/>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The remote control facility is what distinguishes a bot from a worm. A worm propagates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itself and activates itself, whereas a bot is controlled by some form of command-and-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control (C&amp;C) server network. This contact does not need to be continuous,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but can be initiated periodically when the bot observes it has network access.</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An early means of implementing the remote control facility used an IRC</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server. All bots join a specific channel on this server and treat incoming messages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as commands. More recent botnets tend to avoid IRC mechanisms and use covert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communication channels via protocols such as HTTP. Distributed control mechanisms,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using peer-to-peer protocols, are also used, to avoid a single point of failure.</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Originally these C&amp;C servers used fixed addresses, which meant they could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be located and potentially taken over or removed by law enforcement agencies.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Some more recent malware families have used techniques such as the automatic</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generation of very large numbers of server domain names that the malware will try</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to contact. If one server name is compromised, the attackers can setup a new server</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at another name they know will be tried. To defeat this requires security analysts to</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reverse engineer the name generation algorithm, and to then attempt to gain control</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over all of the extremely large number of possible domains. Another technique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used to hide the servers is fast-flux DNS, where the address associated with a given</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server name is changed frequently, often every few minutes, to rotate over a large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number of server proxies, usually other members of the botnet. Such approaches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hinder attempts by law enforcement agencies to respond to the botnet threat.</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Once a communications path is established between a control module and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 bots, the control module can manage the bots. In its simplest form, the control</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module simply issues command to the bot that causes the bot to execute routines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that are already implemented in the bot. For greater flexibility, the control module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can issue update commands that instruct the bots to download a file from some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Internet location and execute it. The bot in this latter case becomes a more general purpose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tool that can be used for multiple attacks. The control module can also collect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information gathered by the bots that the attacker can then exploit. </a:t>
            </a:r>
            <a:r>
              <a:rPr lang="en-US" sz="1200" kern="1200" dirty="0">
                <a:solidFill>
                  <a:schemeClr val="tx1"/>
                </a:solidFill>
                <a:effectLst/>
                <a:latin typeface="Arial" pitchFamily="-110" charset="0"/>
                <a:ea typeface="ＭＳ Ｐゴシック" pitchFamily="-110" charset="-128"/>
                <a:cs typeface="ＭＳ Ｐゴシック" pitchFamily="-110" charset="-128"/>
              </a:rPr>
              <a:t> One effective counter</a:t>
            </a:r>
          </a:p>
          <a:p>
            <a:r>
              <a:rPr lang="en-US" sz="1200" kern="1200" dirty="0">
                <a:solidFill>
                  <a:schemeClr val="tx1"/>
                </a:solidFill>
                <a:effectLst/>
                <a:latin typeface="Arial" pitchFamily="-110" charset="0"/>
                <a:ea typeface="ＭＳ Ｐゴシック" pitchFamily="-110" charset="-128"/>
                <a:cs typeface="ＭＳ Ｐゴシック" pitchFamily="-110" charset="-128"/>
              </a:rPr>
              <a:t>measure against a botnet is to take-over or shutdown its C&amp;C network. Increasing</a:t>
            </a:r>
          </a:p>
          <a:p>
            <a:r>
              <a:rPr lang="en-US" sz="1200" kern="1200" dirty="0">
                <a:solidFill>
                  <a:schemeClr val="tx1"/>
                </a:solidFill>
                <a:effectLst/>
                <a:latin typeface="Arial" pitchFamily="-110" charset="0"/>
                <a:ea typeface="ＭＳ Ｐゴシック" pitchFamily="-110" charset="-128"/>
                <a:cs typeface="ＭＳ Ｐゴシック" pitchFamily="-110" charset="-128"/>
              </a:rPr>
              <a:t>cooperation and coordination between law enforcement agencies in a number of</a:t>
            </a:r>
          </a:p>
          <a:p>
            <a:r>
              <a:rPr lang="en-US" sz="1200" kern="1200" dirty="0">
                <a:solidFill>
                  <a:schemeClr val="tx1"/>
                </a:solidFill>
                <a:effectLst/>
                <a:latin typeface="Arial" pitchFamily="-110" charset="0"/>
                <a:ea typeface="ＭＳ Ｐゴシック" pitchFamily="-110" charset="-128"/>
                <a:cs typeface="ＭＳ Ｐゴシック" pitchFamily="-110" charset="-128"/>
              </a:rPr>
              <a:t> countries resulted in a growing number of successful C&amp;C seizures in recent years</a:t>
            </a:r>
          </a:p>
          <a:p>
            <a:r>
              <a:rPr lang="en-US" sz="1200" kern="1200" dirty="0">
                <a:solidFill>
                  <a:schemeClr val="tx1"/>
                </a:solidFill>
                <a:effectLst/>
                <a:latin typeface="Arial" pitchFamily="-110" charset="0"/>
                <a:ea typeface="ＭＳ Ｐゴシック" pitchFamily="-110" charset="-128"/>
                <a:cs typeface="ＭＳ Ｐゴシック" pitchFamily="-110" charset="-128"/>
              </a:rPr>
              <a:t>[SYMA16], and the consequent suppression of their associated botnets. These actions</a:t>
            </a:r>
          </a:p>
          <a:p>
            <a:r>
              <a:rPr lang="en-US" sz="1200" kern="1200" dirty="0">
                <a:solidFill>
                  <a:schemeClr val="tx1"/>
                </a:solidFill>
                <a:effectLst/>
                <a:latin typeface="Arial" pitchFamily="-110" charset="0"/>
                <a:ea typeface="ＭＳ Ｐゴシック" pitchFamily="-110" charset="-128"/>
                <a:cs typeface="ＭＳ Ｐゴシック" pitchFamily="-110" charset="-128"/>
              </a:rPr>
              <a:t>also resulted in criminal charges on a number of people associated with them.</a:t>
            </a:r>
          </a:p>
        </p:txBody>
      </p:sp>
      <p:sp>
        <p:nvSpPr>
          <p:cNvPr id="71684" name="Slide Number Placeholder 3"/>
          <p:cNvSpPr>
            <a:spLocks noGrp="1"/>
          </p:cNvSpPr>
          <p:nvPr>
            <p:ph type="sldNum" sz="quarter" idx="5"/>
          </p:nvPr>
        </p:nvSpPr>
        <p:spPr>
          <a:noFill/>
        </p:spPr>
        <p:txBody>
          <a:bodyPr/>
          <a:lstStyle/>
          <a:p>
            <a:fld id="{CD8FEDF0-0128-4739-AFE3-556577D0BCA0}" type="slidenum">
              <a:rPr lang="en-AU"/>
              <a:pPr/>
              <a:t>37</a:t>
            </a:fld>
            <a:endParaRPr lang="en-AU"/>
          </a:p>
        </p:txBody>
      </p:sp>
    </p:spTree>
    <p:extLst>
      <p:ext uri="{BB962C8B-B14F-4D97-AF65-F5344CB8AC3E}">
        <p14:creationId xmlns:p14="http://schemas.microsoft.com/office/powerpoint/2010/main" val="11255131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a:lnSpc>
                <a:spcPct val="80000"/>
              </a:lnSpc>
            </a:pPr>
            <a:r>
              <a:rPr lang="en-US" sz="700" dirty="0">
                <a:latin typeface="Arial" charset="0"/>
                <a:ea typeface="ＭＳ Ｐゴシック" pitchFamily="-65" charset="-128"/>
              </a:rPr>
              <a:t>We now consider payloads where the malware gathers data stored on the infected</a:t>
            </a:r>
          </a:p>
          <a:p>
            <a:pPr>
              <a:lnSpc>
                <a:spcPct val="80000"/>
              </a:lnSpc>
            </a:pPr>
            <a:r>
              <a:rPr lang="en-US" sz="700" dirty="0">
                <a:latin typeface="Arial" charset="0"/>
                <a:ea typeface="ＭＳ Ｐゴシック" pitchFamily="-65" charset="-128"/>
              </a:rPr>
              <a:t>system for use by the attacker. A common target is the user’s login and password</a:t>
            </a:r>
          </a:p>
          <a:p>
            <a:pPr>
              <a:lnSpc>
                <a:spcPct val="80000"/>
              </a:lnSpc>
            </a:pPr>
            <a:r>
              <a:rPr lang="en-US" sz="700" dirty="0">
                <a:latin typeface="Arial" charset="0"/>
                <a:ea typeface="ＭＳ Ｐゴシック" pitchFamily="-65" charset="-128"/>
              </a:rPr>
              <a:t>credentials to banking, gaming, and related sites, which the attacker then uses to</a:t>
            </a:r>
          </a:p>
          <a:p>
            <a:pPr>
              <a:lnSpc>
                <a:spcPct val="80000"/>
              </a:lnSpc>
            </a:pPr>
            <a:r>
              <a:rPr lang="en-US" sz="700" dirty="0">
                <a:latin typeface="Arial" charset="0"/>
                <a:ea typeface="ＭＳ Ｐゴシック" pitchFamily="-65" charset="-128"/>
              </a:rPr>
              <a:t>impersonate the user to access these sites for gain. Less commonly, the payload may</a:t>
            </a:r>
          </a:p>
          <a:p>
            <a:pPr>
              <a:lnSpc>
                <a:spcPct val="80000"/>
              </a:lnSpc>
            </a:pPr>
            <a:r>
              <a:rPr lang="en-US" sz="700" dirty="0">
                <a:latin typeface="Arial" charset="0"/>
                <a:ea typeface="ＭＳ Ｐゴシック" pitchFamily="-65" charset="-128"/>
              </a:rPr>
              <a:t>target documents or system configuration details for the purpose of reconnaissance</a:t>
            </a:r>
          </a:p>
          <a:p>
            <a:pPr>
              <a:lnSpc>
                <a:spcPct val="80000"/>
              </a:lnSpc>
            </a:pPr>
            <a:r>
              <a:rPr lang="en-US" sz="700" dirty="0">
                <a:latin typeface="Arial" charset="0"/>
                <a:ea typeface="ＭＳ Ｐゴシック" pitchFamily="-65" charset="-128"/>
              </a:rPr>
              <a:t>or espionage. These attacks target the confidentiality of this information.</a:t>
            </a:r>
          </a:p>
          <a:p>
            <a:pPr>
              <a:lnSpc>
                <a:spcPct val="80000"/>
              </a:lnSpc>
            </a:pPr>
            <a:endParaRPr lang="en-US" sz="700" dirty="0">
              <a:latin typeface="Arial" charset="0"/>
              <a:ea typeface="ＭＳ Ｐゴシック" pitchFamily="-65" charset="-128"/>
            </a:endParaRPr>
          </a:p>
          <a:p>
            <a:pPr>
              <a:lnSpc>
                <a:spcPct val="80000"/>
              </a:lnSpc>
            </a:pPr>
            <a:r>
              <a:rPr lang="en-US" sz="700" dirty="0">
                <a:latin typeface="Arial" charset="0"/>
                <a:ea typeface="ＭＳ Ｐゴシック" pitchFamily="-65" charset="-128"/>
              </a:rPr>
              <a:t>Typically, users send their login and password credentials to banking, gaming, and</a:t>
            </a:r>
          </a:p>
          <a:p>
            <a:pPr>
              <a:lnSpc>
                <a:spcPct val="80000"/>
              </a:lnSpc>
            </a:pPr>
            <a:r>
              <a:rPr lang="en-US" sz="700" dirty="0">
                <a:latin typeface="Arial" charset="0"/>
                <a:ea typeface="ＭＳ Ｐゴシック" pitchFamily="-65" charset="-128"/>
              </a:rPr>
              <a:t>related sites over encrypted communication channels (e.g., HTTPS or POP3S),</a:t>
            </a:r>
          </a:p>
          <a:p>
            <a:pPr>
              <a:lnSpc>
                <a:spcPct val="80000"/>
              </a:lnSpc>
            </a:pPr>
            <a:r>
              <a:rPr lang="en-US" sz="700" dirty="0">
                <a:latin typeface="Arial" charset="0"/>
                <a:ea typeface="ＭＳ Ｐゴシック" pitchFamily="-65" charset="-128"/>
              </a:rPr>
              <a:t>which protects them from capture by monitoring network packets. To bypass this,</a:t>
            </a:r>
          </a:p>
          <a:p>
            <a:pPr>
              <a:lnSpc>
                <a:spcPct val="80000"/>
              </a:lnSpc>
            </a:pPr>
            <a:r>
              <a:rPr lang="en-US" sz="700" dirty="0">
                <a:latin typeface="Arial" charset="0"/>
                <a:ea typeface="ＭＳ Ｐゴシック" pitchFamily="-65" charset="-128"/>
              </a:rPr>
              <a:t>an attacker can install a </a:t>
            </a:r>
            <a:r>
              <a:rPr lang="en-US" sz="700" b="1" dirty="0" err="1">
                <a:latin typeface="Arial" charset="0"/>
                <a:ea typeface="ＭＳ Ｐゴシック" pitchFamily="-65" charset="-128"/>
              </a:rPr>
              <a:t>keylogger</a:t>
            </a:r>
            <a:r>
              <a:rPr lang="en-US" sz="700" b="1" dirty="0">
                <a:latin typeface="Arial" charset="0"/>
                <a:ea typeface="ＭＳ Ｐゴシック" pitchFamily="-65" charset="-128"/>
              </a:rPr>
              <a:t> , </a:t>
            </a:r>
            <a:r>
              <a:rPr lang="en-US" sz="700" b="0" dirty="0">
                <a:latin typeface="Arial" charset="0"/>
                <a:ea typeface="ＭＳ Ｐゴシック" pitchFamily="-65" charset="-128"/>
              </a:rPr>
              <a:t>which captures keystrokes on the infected</a:t>
            </a:r>
          </a:p>
          <a:p>
            <a:pPr>
              <a:lnSpc>
                <a:spcPct val="80000"/>
              </a:lnSpc>
            </a:pPr>
            <a:r>
              <a:rPr lang="en-US" sz="700" dirty="0">
                <a:latin typeface="Arial" charset="0"/>
                <a:ea typeface="ＭＳ Ｐゴシック" pitchFamily="-65" charset="-128"/>
              </a:rPr>
              <a:t>machine to allow an attacker to monitor this sensitive information. Since this would</a:t>
            </a:r>
          </a:p>
          <a:p>
            <a:pPr>
              <a:lnSpc>
                <a:spcPct val="80000"/>
              </a:lnSpc>
            </a:pPr>
            <a:r>
              <a:rPr lang="en-US" sz="700" dirty="0">
                <a:latin typeface="Arial" charset="0"/>
                <a:ea typeface="ＭＳ Ｐゴシック" pitchFamily="-65" charset="-128"/>
              </a:rPr>
              <a:t>result in the attacker receiving a copy of all text entered on the compromised</a:t>
            </a:r>
          </a:p>
          <a:p>
            <a:pPr>
              <a:lnSpc>
                <a:spcPct val="80000"/>
              </a:lnSpc>
            </a:pPr>
            <a:r>
              <a:rPr lang="en-US" sz="700" dirty="0">
                <a:latin typeface="Arial" charset="0"/>
                <a:ea typeface="ＭＳ Ｐゴシック" pitchFamily="-65" charset="-128"/>
              </a:rPr>
              <a:t>machine, </a:t>
            </a:r>
            <a:r>
              <a:rPr lang="en-US" sz="700" dirty="0" err="1">
                <a:latin typeface="Arial" charset="0"/>
                <a:ea typeface="ＭＳ Ｐゴシック" pitchFamily="-65" charset="-128"/>
              </a:rPr>
              <a:t>keyloggers</a:t>
            </a:r>
            <a:r>
              <a:rPr lang="en-US" sz="700" dirty="0">
                <a:latin typeface="Arial" charset="0"/>
                <a:ea typeface="ＭＳ Ｐゴシック" pitchFamily="-65" charset="-128"/>
              </a:rPr>
              <a:t> typical implement some form of filtering mechanism that</a:t>
            </a:r>
          </a:p>
          <a:p>
            <a:pPr>
              <a:lnSpc>
                <a:spcPct val="80000"/>
              </a:lnSpc>
            </a:pPr>
            <a:r>
              <a:rPr lang="en-US" sz="700" dirty="0">
                <a:latin typeface="Arial" charset="0"/>
                <a:ea typeface="ＭＳ Ｐゴシック" pitchFamily="-65" charset="-128"/>
              </a:rPr>
              <a:t>only returns information close to desired keywords (e.g., “login” or “password” or</a:t>
            </a:r>
          </a:p>
          <a:p>
            <a:pPr>
              <a:lnSpc>
                <a:spcPct val="80000"/>
              </a:lnSpc>
            </a:pPr>
            <a:r>
              <a:rPr lang="en-US" sz="700" dirty="0">
                <a:latin typeface="Arial" charset="0"/>
                <a:ea typeface="ＭＳ Ｐゴシック" pitchFamily="-65" charset="-128"/>
              </a:rPr>
              <a:t>“</a:t>
            </a:r>
            <a:r>
              <a:rPr lang="en-US" sz="700" dirty="0" err="1">
                <a:latin typeface="Arial" charset="0"/>
                <a:ea typeface="ＭＳ Ｐゴシック" pitchFamily="-65" charset="-128"/>
              </a:rPr>
              <a:t>paypal.com</a:t>
            </a:r>
            <a:r>
              <a:rPr lang="en-US" sz="700" dirty="0">
                <a:latin typeface="Arial" charset="0"/>
                <a:ea typeface="ＭＳ Ｐゴシック" pitchFamily="-65" charset="-128"/>
              </a:rPr>
              <a:t>”).</a:t>
            </a:r>
          </a:p>
          <a:p>
            <a:pPr>
              <a:lnSpc>
                <a:spcPct val="80000"/>
              </a:lnSpc>
            </a:pPr>
            <a:endParaRPr lang="en-US" sz="700" dirty="0">
              <a:latin typeface="Arial" charset="0"/>
              <a:ea typeface="ＭＳ Ｐゴシック" pitchFamily="-65" charset="-128"/>
            </a:endParaRPr>
          </a:p>
          <a:p>
            <a:pPr>
              <a:lnSpc>
                <a:spcPct val="80000"/>
              </a:lnSpc>
            </a:pPr>
            <a:r>
              <a:rPr lang="en-US" sz="700" dirty="0">
                <a:latin typeface="Arial" charset="0"/>
                <a:ea typeface="ＭＳ Ｐゴシック" pitchFamily="-65" charset="-128"/>
              </a:rPr>
              <a:t>In response to the use of </a:t>
            </a:r>
            <a:r>
              <a:rPr lang="en-US" sz="700" dirty="0" err="1">
                <a:latin typeface="Arial" charset="0"/>
                <a:ea typeface="ＭＳ Ｐゴシック" pitchFamily="-65" charset="-128"/>
              </a:rPr>
              <a:t>keyloggers</a:t>
            </a:r>
            <a:r>
              <a:rPr lang="en-US" sz="700" dirty="0">
                <a:latin typeface="Arial" charset="0"/>
                <a:ea typeface="ＭＳ Ｐゴシック" pitchFamily="-65" charset="-128"/>
              </a:rPr>
              <a:t>, some banking and other sites switched to</a:t>
            </a:r>
          </a:p>
          <a:p>
            <a:pPr>
              <a:lnSpc>
                <a:spcPct val="80000"/>
              </a:lnSpc>
            </a:pPr>
            <a:r>
              <a:rPr lang="en-US" sz="700" dirty="0">
                <a:latin typeface="Arial" charset="0"/>
                <a:ea typeface="ＭＳ Ｐゴシック" pitchFamily="-65" charset="-128"/>
              </a:rPr>
              <a:t>using a graphical applet to enter critical information, such as passwords. Since these</a:t>
            </a:r>
          </a:p>
          <a:p>
            <a:pPr>
              <a:lnSpc>
                <a:spcPct val="80000"/>
              </a:lnSpc>
            </a:pPr>
            <a:r>
              <a:rPr lang="en-US" sz="700" dirty="0">
                <a:latin typeface="Arial" charset="0"/>
                <a:ea typeface="ＭＳ Ｐゴシック" pitchFamily="-65" charset="-128"/>
              </a:rPr>
              <a:t>do not use text entered via the keyboard, traditional </a:t>
            </a:r>
            <a:r>
              <a:rPr lang="en-US" sz="700" dirty="0" err="1">
                <a:latin typeface="Arial" charset="0"/>
                <a:ea typeface="ＭＳ Ｐゴシック" pitchFamily="-65" charset="-128"/>
              </a:rPr>
              <a:t>keyloggers</a:t>
            </a:r>
            <a:r>
              <a:rPr lang="en-US" sz="700" dirty="0">
                <a:latin typeface="Arial" charset="0"/>
                <a:ea typeface="ＭＳ Ｐゴシック" pitchFamily="-65" charset="-128"/>
              </a:rPr>
              <a:t> do not capture this</a:t>
            </a:r>
          </a:p>
          <a:p>
            <a:pPr>
              <a:lnSpc>
                <a:spcPct val="80000"/>
              </a:lnSpc>
            </a:pPr>
            <a:r>
              <a:rPr lang="en-US" sz="700" dirty="0">
                <a:latin typeface="Arial" charset="0"/>
                <a:ea typeface="ＭＳ Ｐゴシック" pitchFamily="-65" charset="-128"/>
              </a:rPr>
              <a:t>information. In response, attackers developed more general </a:t>
            </a:r>
            <a:r>
              <a:rPr lang="en-US" sz="700" b="1" dirty="0">
                <a:latin typeface="Arial" charset="0"/>
                <a:ea typeface="ＭＳ Ｐゴシック" pitchFamily="-65" charset="-128"/>
              </a:rPr>
              <a:t>spyware </a:t>
            </a:r>
            <a:r>
              <a:rPr lang="en-US" sz="700" b="0" dirty="0">
                <a:latin typeface="Arial" charset="0"/>
                <a:ea typeface="ＭＳ Ｐゴシック" pitchFamily="-65" charset="-128"/>
              </a:rPr>
              <a:t>payloads,</a:t>
            </a:r>
          </a:p>
          <a:p>
            <a:pPr>
              <a:lnSpc>
                <a:spcPct val="80000"/>
              </a:lnSpc>
            </a:pPr>
            <a:r>
              <a:rPr lang="en-US" sz="700" dirty="0">
                <a:latin typeface="Arial" charset="0"/>
                <a:ea typeface="ＭＳ Ｐゴシック" pitchFamily="-65" charset="-128"/>
              </a:rPr>
              <a:t>which subvert the compromised machine to allow monitoring of a wide range of</a:t>
            </a:r>
          </a:p>
          <a:p>
            <a:pPr>
              <a:lnSpc>
                <a:spcPct val="80000"/>
              </a:lnSpc>
            </a:pPr>
            <a:r>
              <a:rPr lang="en-US" sz="700" dirty="0">
                <a:latin typeface="Arial" charset="0"/>
                <a:ea typeface="ＭＳ Ｐゴシック" pitchFamily="-65" charset="-128"/>
              </a:rPr>
              <a:t>activity on the system. This may include monitoring the history and content of</a:t>
            </a:r>
          </a:p>
          <a:p>
            <a:pPr>
              <a:lnSpc>
                <a:spcPct val="80000"/>
              </a:lnSpc>
            </a:pPr>
            <a:r>
              <a:rPr lang="en-US" sz="700" dirty="0">
                <a:latin typeface="Arial" charset="0"/>
                <a:ea typeface="ＭＳ Ｐゴシック" pitchFamily="-65" charset="-128"/>
              </a:rPr>
              <a:t>browsing activity, redirecting certain Web page requests to fake sites controlled by</a:t>
            </a:r>
          </a:p>
          <a:p>
            <a:pPr>
              <a:lnSpc>
                <a:spcPct val="80000"/>
              </a:lnSpc>
            </a:pPr>
            <a:r>
              <a:rPr lang="en-US" sz="700" dirty="0">
                <a:latin typeface="Arial" charset="0"/>
                <a:ea typeface="ＭＳ Ｐゴシック" pitchFamily="-65" charset="-128"/>
              </a:rPr>
              <a:t>the attacker, and dynamically modifying data exchanged between the browser and</a:t>
            </a:r>
          </a:p>
          <a:p>
            <a:pPr>
              <a:lnSpc>
                <a:spcPct val="80000"/>
              </a:lnSpc>
            </a:pPr>
            <a:r>
              <a:rPr lang="en-US" sz="700" dirty="0">
                <a:latin typeface="Arial" charset="0"/>
                <a:ea typeface="ＭＳ Ｐゴシック" pitchFamily="-65" charset="-128"/>
              </a:rPr>
              <a:t>certain Web sites of interest. All of which can result in significant compromise of</a:t>
            </a:r>
          </a:p>
          <a:p>
            <a:pPr>
              <a:lnSpc>
                <a:spcPct val="80000"/>
              </a:lnSpc>
            </a:pPr>
            <a:r>
              <a:rPr lang="en-US" sz="700" dirty="0">
                <a:latin typeface="Arial" charset="0"/>
                <a:ea typeface="ＭＳ Ｐゴシック" pitchFamily="-65" charset="-128"/>
              </a:rPr>
              <a:t>the user’s personal information.</a:t>
            </a:r>
          </a:p>
          <a:p>
            <a:pPr>
              <a:lnSpc>
                <a:spcPct val="80000"/>
              </a:lnSpc>
            </a:pPr>
            <a:endParaRPr lang="en-US" sz="700" dirty="0">
              <a:latin typeface="Arial" charset="0"/>
              <a:ea typeface="ＭＳ Ｐゴシック" pitchFamily="-65" charset="-128"/>
            </a:endParaRPr>
          </a:p>
          <a:p>
            <a:pPr>
              <a:lnSpc>
                <a:spcPct val="80000"/>
              </a:lnSpc>
            </a:pPr>
            <a:r>
              <a:rPr lang="en-US" sz="700" dirty="0">
                <a:latin typeface="Arial" charset="0"/>
                <a:ea typeface="ＭＳ Ｐゴシック" pitchFamily="-65" charset="-128"/>
              </a:rPr>
              <a:t>The Zeus banking Trojan, created from its </a:t>
            </a:r>
            <a:r>
              <a:rPr lang="en-US" sz="700" dirty="0" err="1">
                <a:latin typeface="Arial" charset="0"/>
                <a:ea typeface="ＭＳ Ｐゴシック" pitchFamily="-65" charset="-128"/>
              </a:rPr>
              <a:t>crimeware</a:t>
            </a:r>
            <a:r>
              <a:rPr lang="en-US" sz="700" dirty="0">
                <a:latin typeface="Arial" charset="0"/>
                <a:ea typeface="ＭＳ Ｐゴシック" pitchFamily="-65" charset="-128"/>
              </a:rPr>
              <a:t> toolkit, is a prominent</a:t>
            </a:r>
          </a:p>
          <a:p>
            <a:pPr>
              <a:lnSpc>
                <a:spcPct val="80000"/>
              </a:lnSpc>
            </a:pPr>
            <a:r>
              <a:rPr lang="en-US" sz="700" dirty="0">
                <a:latin typeface="Arial" charset="0"/>
                <a:ea typeface="ＭＳ Ｐゴシック" pitchFamily="-65" charset="-128"/>
              </a:rPr>
              <a:t>example of such spyware that has been widely deployed in recent years [BINS10].</a:t>
            </a:r>
          </a:p>
          <a:p>
            <a:pPr>
              <a:lnSpc>
                <a:spcPct val="80000"/>
              </a:lnSpc>
            </a:pPr>
            <a:r>
              <a:rPr lang="en-US" sz="700" dirty="0">
                <a:latin typeface="Arial" charset="0"/>
                <a:ea typeface="ＭＳ Ｐゴシック" pitchFamily="-65" charset="-128"/>
              </a:rPr>
              <a:t>It steals banking and financial credentials using both a </a:t>
            </a:r>
            <a:r>
              <a:rPr lang="en-US" sz="700" dirty="0" err="1">
                <a:latin typeface="Arial" charset="0"/>
                <a:ea typeface="ＭＳ Ｐゴシック" pitchFamily="-65" charset="-128"/>
              </a:rPr>
              <a:t>keylogger</a:t>
            </a:r>
            <a:r>
              <a:rPr lang="en-US" sz="700" dirty="0">
                <a:latin typeface="Arial" charset="0"/>
                <a:ea typeface="ＭＳ Ｐゴシック" pitchFamily="-65" charset="-128"/>
              </a:rPr>
              <a:t> and capturing and</a:t>
            </a:r>
          </a:p>
          <a:p>
            <a:pPr>
              <a:lnSpc>
                <a:spcPct val="80000"/>
              </a:lnSpc>
            </a:pPr>
            <a:r>
              <a:rPr lang="en-US" sz="700" dirty="0">
                <a:latin typeface="Arial" charset="0"/>
                <a:ea typeface="ＭＳ Ｐゴシック" pitchFamily="-65" charset="-128"/>
              </a:rPr>
              <a:t>possibly altering form data for certain Web sites. It is typically deployed using either</a:t>
            </a:r>
          </a:p>
          <a:p>
            <a:pPr>
              <a:lnSpc>
                <a:spcPct val="80000"/>
              </a:lnSpc>
            </a:pPr>
            <a:r>
              <a:rPr lang="en-US" sz="700" dirty="0">
                <a:latin typeface="Arial" charset="0"/>
                <a:ea typeface="ＭＳ Ｐゴシック" pitchFamily="-65" charset="-128"/>
              </a:rPr>
              <a:t>spam e-mails or via a compromised Web site in a “drive-by-download.”</a:t>
            </a:r>
          </a:p>
        </p:txBody>
      </p:sp>
      <p:sp>
        <p:nvSpPr>
          <p:cNvPr id="73732" name="Slide Number Placeholder 3"/>
          <p:cNvSpPr>
            <a:spLocks noGrp="1"/>
          </p:cNvSpPr>
          <p:nvPr>
            <p:ph type="sldNum" sz="quarter" idx="5"/>
          </p:nvPr>
        </p:nvSpPr>
        <p:spPr>
          <a:noFill/>
        </p:spPr>
        <p:txBody>
          <a:bodyPr/>
          <a:lstStyle/>
          <a:p>
            <a:fld id="{5DAB00E8-443A-4840-A52B-F664395D31E8}" type="slidenum">
              <a:rPr lang="en-AU"/>
              <a:pPr/>
              <a:t>38</a:t>
            </a:fld>
            <a:endParaRPr lang="en-AU"/>
          </a:p>
        </p:txBody>
      </p:sp>
    </p:spTree>
    <p:extLst>
      <p:ext uri="{BB962C8B-B14F-4D97-AF65-F5344CB8AC3E}">
        <p14:creationId xmlns:p14="http://schemas.microsoft.com/office/powerpoint/2010/main" val="38823146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47500" lnSpcReduction="20000"/>
          </a:bodyPr>
          <a:lstStyle/>
          <a:p>
            <a:pPr>
              <a:lnSpc>
                <a:spcPct val="80000"/>
              </a:lnSpc>
            </a:pPr>
            <a:r>
              <a:rPr lang="en-US" sz="900" dirty="0">
                <a:latin typeface="Arial" charset="0"/>
                <a:ea typeface="ＭＳ Ｐゴシック" pitchFamily="-65" charset="-128"/>
              </a:rPr>
              <a:t>Another approach used to capture a user’s login and password credentials is to</a:t>
            </a:r>
          </a:p>
          <a:p>
            <a:pPr>
              <a:lnSpc>
                <a:spcPct val="80000"/>
              </a:lnSpc>
            </a:pPr>
            <a:r>
              <a:rPr lang="en-US" sz="900" dirty="0">
                <a:latin typeface="Arial" charset="0"/>
                <a:ea typeface="ＭＳ Ｐゴシック" pitchFamily="-65" charset="-128"/>
              </a:rPr>
              <a:t>include a URL in a spam e-mail that links to a fake Web site controlled by the</a:t>
            </a:r>
          </a:p>
          <a:p>
            <a:pPr>
              <a:lnSpc>
                <a:spcPct val="80000"/>
              </a:lnSpc>
            </a:pPr>
            <a:r>
              <a:rPr lang="en-US" sz="900" dirty="0">
                <a:latin typeface="Arial" charset="0"/>
                <a:ea typeface="ＭＳ Ｐゴシック" pitchFamily="-65" charset="-128"/>
              </a:rPr>
              <a:t>attacker, but which mimics the login page of some banking, gaming, or similar site.</a:t>
            </a:r>
          </a:p>
          <a:p>
            <a:pPr>
              <a:lnSpc>
                <a:spcPct val="80000"/>
              </a:lnSpc>
            </a:pPr>
            <a:r>
              <a:rPr lang="en-US" sz="900" dirty="0">
                <a:latin typeface="Arial" charset="0"/>
                <a:ea typeface="ＭＳ Ｐゴシック" pitchFamily="-65" charset="-128"/>
              </a:rPr>
              <a:t>This is normally included in some message suggesting that urgent action is required</a:t>
            </a:r>
          </a:p>
          <a:p>
            <a:pPr>
              <a:lnSpc>
                <a:spcPct val="80000"/>
              </a:lnSpc>
            </a:pPr>
            <a:r>
              <a:rPr lang="en-US" sz="900" dirty="0">
                <a:latin typeface="Arial" charset="0"/>
                <a:ea typeface="ＭＳ Ｐゴシック" pitchFamily="-65" charset="-128"/>
              </a:rPr>
              <a:t>by the user to authenticate their account, to prevent it being locked. If the user is</a:t>
            </a:r>
          </a:p>
          <a:p>
            <a:pPr>
              <a:lnSpc>
                <a:spcPct val="80000"/>
              </a:lnSpc>
            </a:pPr>
            <a:r>
              <a:rPr lang="en-US" sz="900" dirty="0">
                <a:latin typeface="Arial" charset="0"/>
                <a:ea typeface="ＭＳ Ｐゴシック" pitchFamily="-65" charset="-128"/>
              </a:rPr>
              <a:t>careless, and doesn’t realize that they are being conned, then following the link and</a:t>
            </a:r>
          </a:p>
          <a:p>
            <a:pPr>
              <a:lnSpc>
                <a:spcPct val="80000"/>
              </a:lnSpc>
            </a:pPr>
            <a:r>
              <a:rPr lang="en-US" sz="900" dirty="0">
                <a:latin typeface="Arial" charset="0"/>
                <a:ea typeface="ＭＳ Ｐゴシック" pitchFamily="-65" charset="-128"/>
              </a:rPr>
              <a:t>supplying the requested details will certainly result in the attackers exploiting their</a:t>
            </a:r>
          </a:p>
          <a:p>
            <a:pPr>
              <a:lnSpc>
                <a:spcPct val="80000"/>
              </a:lnSpc>
            </a:pPr>
            <a:r>
              <a:rPr lang="en-US" sz="900" dirty="0">
                <a:latin typeface="Arial" charset="0"/>
                <a:ea typeface="ＭＳ Ｐゴシック" pitchFamily="-65" charset="-128"/>
              </a:rPr>
              <a:t>account using the captured credentials.</a:t>
            </a:r>
          </a:p>
          <a:p>
            <a:pPr>
              <a:lnSpc>
                <a:spcPct val="80000"/>
              </a:lnSpc>
            </a:pPr>
            <a:endParaRPr lang="en-US" sz="900" dirty="0">
              <a:latin typeface="Arial" charset="0"/>
              <a:ea typeface="ＭＳ Ｐゴシック" pitchFamily="-65" charset="-128"/>
            </a:endParaRPr>
          </a:p>
          <a:p>
            <a:pPr>
              <a:lnSpc>
                <a:spcPct val="80000"/>
              </a:lnSpc>
            </a:pPr>
            <a:r>
              <a:rPr lang="en-US" sz="900" dirty="0">
                <a:latin typeface="Arial" charset="0"/>
                <a:ea typeface="ＭＳ Ｐゴシック" pitchFamily="-65" charset="-128"/>
              </a:rPr>
              <a:t>More generally, such a spam e-mail may direct a user to a fake Web site</a:t>
            </a:r>
          </a:p>
          <a:p>
            <a:pPr>
              <a:lnSpc>
                <a:spcPct val="80000"/>
              </a:lnSpc>
            </a:pPr>
            <a:r>
              <a:rPr lang="en-US" sz="900" dirty="0">
                <a:latin typeface="Arial" charset="0"/>
                <a:ea typeface="ＭＳ Ｐゴシック" pitchFamily="-65" charset="-128"/>
              </a:rPr>
              <a:t>controlled by the attacker, or to complete some enclosed form and return to an e-mail</a:t>
            </a:r>
          </a:p>
          <a:p>
            <a:pPr>
              <a:lnSpc>
                <a:spcPct val="80000"/>
              </a:lnSpc>
            </a:pPr>
            <a:r>
              <a:rPr lang="en-US" sz="900" dirty="0">
                <a:latin typeface="Arial" charset="0"/>
                <a:ea typeface="ＭＳ Ｐゴシック" pitchFamily="-65" charset="-128"/>
              </a:rPr>
              <a:t>accessible to the attacker, which is used to gather a range of private, personal, information</a:t>
            </a:r>
          </a:p>
          <a:p>
            <a:pPr>
              <a:lnSpc>
                <a:spcPct val="80000"/>
              </a:lnSpc>
            </a:pPr>
            <a:r>
              <a:rPr lang="en-US" sz="900" dirty="0">
                <a:latin typeface="Arial" charset="0"/>
                <a:ea typeface="ＭＳ Ｐゴシック" pitchFamily="-65" charset="-128"/>
              </a:rPr>
              <a:t>on the user. Given sufficient details, the attacker can then “assume” the user’s</a:t>
            </a:r>
          </a:p>
          <a:p>
            <a:pPr>
              <a:lnSpc>
                <a:spcPct val="80000"/>
              </a:lnSpc>
            </a:pPr>
            <a:r>
              <a:rPr lang="en-US" sz="900" dirty="0">
                <a:latin typeface="Arial" charset="0"/>
                <a:ea typeface="ＭＳ Ｐゴシック" pitchFamily="-65" charset="-128"/>
              </a:rPr>
              <a:t>identity for the purpose of obtaining credit, or sensitive access to other resources.</a:t>
            </a:r>
          </a:p>
          <a:p>
            <a:pPr>
              <a:lnSpc>
                <a:spcPct val="80000"/>
              </a:lnSpc>
            </a:pPr>
            <a:r>
              <a:rPr lang="en-US" sz="900" dirty="0">
                <a:latin typeface="Arial" charset="0"/>
                <a:ea typeface="ＭＳ Ｐゴシック" pitchFamily="-65" charset="-128"/>
              </a:rPr>
              <a:t>This is known as a </a:t>
            </a:r>
            <a:r>
              <a:rPr lang="en-US" sz="900" b="1" dirty="0">
                <a:latin typeface="Arial" charset="0"/>
                <a:ea typeface="ＭＳ Ｐゴシック" pitchFamily="-65" charset="-128"/>
              </a:rPr>
              <a:t>phishing </a:t>
            </a:r>
            <a:r>
              <a:rPr lang="en-US" sz="900" b="0" dirty="0">
                <a:latin typeface="Arial" charset="0"/>
                <a:ea typeface="ＭＳ Ｐゴシック" pitchFamily="-65" charset="-128"/>
              </a:rPr>
              <a:t>attack and exploits social engineering to leverage user’s</a:t>
            </a:r>
          </a:p>
          <a:p>
            <a:pPr>
              <a:lnSpc>
                <a:spcPct val="80000"/>
              </a:lnSpc>
            </a:pPr>
            <a:r>
              <a:rPr lang="en-US" sz="900" dirty="0">
                <a:latin typeface="Arial" charset="0"/>
                <a:ea typeface="ＭＳ Ｐゴシック" pitchFamily="-65" charset="-128"/>
              </a:rPr>
              <a:t>trust by masquerading as communications from a trusted source [GOLD10].</a:t>
            </a:r>
          </a:p>
          <a:p>
            <a:pPr>
              <a:lnSpc>
                <a:spcPct val="80000"/>
              </a:lnSpc>
            </a:pPr>
            <a:endParaRPr lang="en-US" sz="900" dirty="0">
              <a:latin typeface="Arial" charset="0"/>
              <a:ea typeface="ＭＳ Ｐゴシック" pitchFamily="-65" charset="-128"/>
            </a:endParaRPr>
          </a:p>
          <a:p>
            <a:pPr>
              <a:lnSpc>
                <a:spcPct val="80000"/>
              </a:lnSpc>
            </a:pPr>
            <a:r>
              <a:rPr lang="en-US" sz="900" dirty="0">
                <a:latin typeface="Arial" charset="0"/>
                <a:ea typeface="ＭＳ Ｐゴシック" pitchFamily="-65" charset="-128"/>
              </a:rPr>
              <a:t>Such general spam e-mails are typically widely distributed to very large numbers</a:t>
            </a:r>
          </a:p>
          <a:p>
            <a:pPr>
              <a:lnSpc>
                <a:spcPct val="80000"/>
              </a:lnSpc>
            </a:pPr>
            <a:r>
              <a:rPr lang="en-US" sz="900" dirty="0">
                <a:latin typeface="Arial" charset="0"/>
                <a:ea typeface="ＭＳ Ｐゴシック" pitchFamily="-65" charset="-128"/>
              </a:rPr>
              <a:t>of users, often via a botnet. While the content will not match appropriate</a:t>
            </a:r>
          </a:p>
          <a:p>
            <a:pPr>
              <a:lnSpc>
                <a:spcPct val="80000"/>
              </a:lnSpc>
            </a:pPr>
            <a:r>
              <a:rPr lang="en-US" sz="900" dirty="0">
                <a:latin typeface="Arial" charset="0"/>
                <a:ea typeface="ＭＳ Ｐゴシック" pitchFamily="-65" charset="-128"/>
              </a:rPr>
              <a:t>trusted sources for a significant fraction of the recipients, the attackers rely on it</a:t>
            </a:r>
          </a:p>
          <a:p>
            <a:pPr>
              <a:lnSpc>
                <a:spcPct val="80000"/>
              </a:lnSpc>
            </a:pPr>
            <a:r>
              <a:rPr lang="en-US" sz="900" dirty="0">
                <a:latin typeface="Arial" charset="0"/>
                <a:ea typeface="ＭＳ Ｐゴシック" pitchFamily="-65" charset="-128"/>
              </a:rPr>
              <a:t>reaching sufficient users of the named trusted source, a gullible portion of whom</a:t>
            </a:r>
          </a:p>
          <a:p>
            <a:pPr>
              <a:lnSpc>
                <a:spcPct val="80000"/>
              </a:lnSpc>
            </a:pPr>
            <a:r>
              <a:rPr lang="en-US" sz="900" dirty="0">
                <a:latin typeface="Arial" charset="0"/>
                <a:ea typeface="ＭＳ Ｐゴシック" pitchFamily="-65" charset="-128"/>
              </a:rPr>
              <a:t>will respond, for it to be profitable.</a:t>
            </a:r>
          </a:p>
          <a:p>
            <a:pPr>
              <a:lnSpc>
                <a:spcPct val="80000"/>
              </a:lnSpc>
            </a:pPr>
            <a:endParaRPr lang="en-US" sz="900" dirty="0">
              <a:latin typeface="Arial" charset="0"/>
              <a:ea typeface="ＭＳ Ｐゴシック" pitchFamily="-65" charset="-128"/>
            </a:endParaRPr>
          </a:p>
          <a:p>
            <a:pPr>
              <a:lnSpc>
                <a:spcPct val="80000"/>
              </a:lnSpc>
            </a:pPr>
            <a:r>
              <a:rPr lang="en-US" sz="900" dirty="0">
                <a:latin typeface="Arial" charset="0"/>
                <a:ea typeface="ＭＳ Ｐゴシック" pitchFamily="-65" charset="-128"/>
              </a:rPr>
              <a:t>A more dangerous variant of this is the </a:t>
            </a:r>
            <a:r>
              <a:rPr lang="en-US" sz="900" b="1" dirty="0">
                <a:latin typeface="Arial" charset="0"/>
                <a:ea typeface="ＭＳ Ｐゴシック" pitchFamily="-65" charset="-128"/>
              </a:rPr>
              <a:t>spear-phishing </a:t>
            </a:r>
            <a:r>
              <a:rPr lang="en-US" sz="900" b="0" dirty="0">
                <a:latin typeface="Arial" charset="0"/>
                <a:ea typeface="ＭＳ Ｐゴシック" pitchFamily="-65" charset="-128"/>
              </a:rPr>
              <a:t>attack. This again is an</a:t>
            </a:r>
          </a:p>
          <a:p>
            <a:pPr>
              <a:lnSpc>
                <a:spcPct val="80000"/>
              </a:lnSpc>
            </a:pPr>
            <a:r>
              <a:rPr lang="en-US" sz="900" dirty="0">
                <a:latin typeface="Arial" charset="0"/>
                <a:ea typeface="ＭＳ Ｐゴシック" pitchFamily="-65" charset="-128"/>
              </a:rPr>
              <a:t>e-mail claiming to be from a trusted source. However, the recipients are carefully</a:t>
            </a:r>
          </a:p>
          <a:p>
            <a:pPr>
              <a:lnSpc>
                <a:spcPct val="80000"/>
              </a:lnSpc>
            </a:pPr>
            <a:r>
              <a:rPr lang="en-US" sz="900" dirty="0">
                <a:latin typeface="Arial" charset="0"/>
                <a:ea typeface="ＭＳ Ｐゴシック" pitchFamily="-65" charset="-128"/>
              </a:rPr>
              <a:t>researched by the attacker, and each e-mail is carefully crafted to suit its recipient specifically,</a:t>
            </a:r>
          </a:p>
          <a:p>
            <a:pPr>
              <a:lnSpc>
                <a:spcPct val="80000"/>
              </a:lnSpc>
            </a:pPr>
            <a:r>
              <a:rPr lang="en-US" sz="900" dirty="0">
                <a:latin typeface="Arial" charset="0"/>
                <a:ea typeface="ＭＳ Ｐゴシック" pitchFamily="-65" charset="-128"/>
              </a:rPr>
              <a:t>often quoting a range of information to convince them of its authenticity. This</a:t>
            </a:r>
          </a:p>
          <a:p>
            <a:pPr>
              <a:lnSpc>
                <a:spcPct val="80000"/>
              </a:lnSpc>
            </a:pPr>
            <a:r>
              <a:rPr lang="en-US" sz="900" dirty="0">
                <a:latin typeface="Arial" charset="0"/>
                <a:ea typeface="ＭＳ Ｐゴシック" pitchFamily="-65" charset="-128"/>
              </a:rPr>
              <a:t>greatly increases the likelihood of the recipient responding as desired by the attacker.</a:t>
            </a:r>
          </a:p>
          <a:p>
            <a:r>
              <a:rPr lang="en-US" sz="1200" kern="1200" dirty="0">
                <a:solidFill>
                  <a:schemeClr val="tx1"/>
                </a:solidFill>
                <a:effectLst/>
                <a:latin typeface="Arial" pitchFamily="-110" charset="0"/>
                <a:ea typeface="ＭＳ Ｐゴシック" pitchFamily="-110" charset="-128"/>
                <a:cs typeface="ＭＳ Ｐゴシック" pitchFamily="-110" charset="-128"/>
              </a:rPr>
              <a:t>This type of attack is particularly used in industrial and other</a:t>
            </a:r>
          </a:p>
          <a:p>
            <a:r>
              <a:rPr lang="en-US" sz="1200" kern="1200" dirty="0">
                <a:solidFill>
                  <a:schemeClr val="tx1"/>
                </a:solidFill>
                <a:effectLst/>
                <a:latin typeface="Arial" pitchFamily="-110" charset="0"/>
                <a:ea typeface="ＭＳ Ｐゴシック" pitchFamily="-110" charset="-128"/>
                <a:cs typeface="ＭＳ Ｐゴシック" pitchFamily="-110" charset="-128"/>
              </a:rPr>
              <a:t>forms of espionage, or in financial fraud such as bogus wire-transfer authorizations,</a:t>
            </a:r>
          </a:p>
          <a:p>
            <a:r>
              <a:rPr lang="en-US" sz="1200" kern="1200" dirty="0">
                <a:solidFill>
                  <a:schemeClr val="tx1"/>
                </a:solidFill>
                <a:effectLst/>
                <a:latin typeface="Arial" pitchFamily="-110" charset="0"/>
                <a:ea typeface="ＭＳ Ｐゴシック" pitchFamily="-110" charset="-128"/>
                <a:cs typeface="ＭＳ Ｐゴシック" pitchFamily="-110" charset="-128"/>
              </a:rPr>
              <a:t>by well-resourced organizations. Whether as a result of phishing, drive-by-download,</a:t>
            </a:r>
          </a:p>
          <a:p>
            <a:r>
              <a:rPr lang="en-US" sz="1200" kern="1200" dirty="0">
                <a:solidFill>
                  <a:schemeClr val="tx1"/>
                </a:solidFill>
                <a:effectLst/>
                <a:latin typeface="Arial" pitchFamily="-110" charset="0"/>
                <a:ea typeface="ＭＳ Ｐゴシック" pitchFamily="-110" charset="-128"/>
                <a:cs typeface="ＭＳ Ｐゴシック" pitchFamily="-110" charset="-128"/>
              </a:rPr>
              <a:t>or direct hacker attack, the number of incidents, and the quantity of personal records</a:t>
            </a:r>
          </a:p>
          <a:p>
            <a:r>
              <a:rPr lang="en-US" sz="1200" kern="1200" dirty="0">
                <a:solidFill>
                  <a:schemeClr val="tx1"/>
                </a:solidFill>
                <a:effectLst/>
                <a:latin typeface="Arial" pitchFamily="-110" charset="0"/>
                <a:ea typeface="ＭＳ Ｐゴシック" pitchFamily="-110" charset="-128"/>
                <a:cs typeface="ＭＳ Ｐゴシック" pitchFamily="-110" charset="-128"/>
              </a:rPr>
              <a:t>exposed, continues to grow. For example, the Anthem medical data breach in January</a:t>
            </a:r>
          </a:p>
          <a:p>
            <a:r>
              <a:rPr lang="en-US" sz="1200" kern="1200" dirty="0">
                <a:solidFill>
                  <a:schemeClr val="tx1"/>
                </a:solidFill>
                <a:effectLst/>
                <a:latin typeface="Arial" pitchFamily="-110" charset="0"/>
                <a:ea typeface="ＭＳ Ｐゴシック" pitchFamily="-110" charset="-128"/>
                <a:cs typeface="ＭＳ Ｐゴシック" pitchFamily="-110" charset="-128"/>
              </a:rPr>
              <a:t>2015 exposed more than 78 million personal</a:t>
            </a:r>
          </a:p>
          <a:p>
            <a:r>
              <a:rPr lang="en-US" sz="1200" kern="1200" dirty="0">
                <a:solidFill>
                  <a:schemeClr val="tx1"/>
                </a:solidFill>
                <a:effectLst/>
                <a:latin typeface="Arial" pitchFamily="-110" charset="0"/>
                <a:ea typeface="ＭＳ Ｐゴシック" pitchFamily="-110" charset="-128"/>
                <a:cs typeface="ＭＳ Ｐゴシック" pitchFamily="-110" charset="-128"/>
              </a:rPr>
              <a:t>information records that could potentially</a:t>
            </a:r>
          </a:p>
          <a:p>
            <a:r>
              <a:rPr lang="en-US" sz="1200" kern="1200" dirty="0">
                <a:solidFill>
                  <a:schemeClr val="tx1"/>
                </a:solidFill>
                <a:effectLst/>
                <a:latin typeface="Arial" pitchFamily="-110" charset="0"/>
                <a:ea typeface="ＭＳ Ｐゴシック" pitchFamily="-110" charset="-128"/>
                <a:cs typeface="ＭＳ Ｐゴシック" pitchFamily="-110" charset="-128"/>
              </a:rPr>
              <a:t>be used for identity theft. The well-resourced Black Vine cyber-espionage group</a:t>
            </a:r>
          </a:p>
          <a:p>
            <a:r>
              <a:rPr lang="en-US" sz="1200" kern="1200" dirty="0">
                <a:solidFill>
                  <a:schemeClr val="tx1"/>
                </a:solidFill>
                <a:effectLst/>
                <a:latin typeface="Arial" pitchFamily="-110" charset="0"/>
                <a:ea typeface="ＭＳ Ｐゴシック" pitchFamily="-110" charset="-128"/>
                <a:cs typeface="ＭＳ Ｐゴシック" pitchFamily="-110" charset="-128"/>
              </a:rPr>
              <a:t>is thought responsible for this attack [SYMA16].</a:t>
            </a:r>
          </a:p>
          <a:p>
            <a:pPr>
              <a:lnSpc>
                <a:spcPct val="80000"/>
              </a:lnSpc>
            </a:pPr>
            <a:endParaRPr lang="en-US" sz="900" dirty="0">
              <a:latin typeface="Arial" charset="0"/>
              <a:ea typeface="ＭＳ Ｐゴシック" pitchFamily="-65" charset="-128"/>
            </a:endParaRPr>
          </a:p>
          <a:p>
            <a:pPr>
              <a:lnSpc>
                <a:spcPct val="80000"/>
              </a:lnSpc>
            </a:pPr>
            <a:r>
              <a:rPr lang="en-US" sz="900" dirty="0">
                <a:latin typeface="Arial" charset="0"/>
                <a:ea typeface="ＭＳ Ｐゴシック" pitchFamily="-65" charset="-128"/>
              </a:rPr>
              <a:t>Credential theft and identity theft are special cases of a more general reconnaissance</a:t>
            </a:r>
          </a:p>
          <a:p>
            <a:pPr>
              <a:lnSpc>
                <a:spcPct val="80000"/>
              </a:lnSpc>
            </a:pPr>
            <a:r>
              <a:rPr lang="en-US" sz="900" dirty="0">
                <a:latin typeface="Arial" charset="0"/>
                <a:ea typeface="ＭＳ Ｐゴシック" pitchFamily="-65" charset="-128"/>
              </a:rPr>
              <a:t>payload, which aims to obtain certain types of desired information and return</a:t>
            </a:r>
          </a:p>
          <a:p>
            <a:pPr>
              <a:lnSpc>
                <a:spcPct val="80000"/>
              </a:lnSpc>
            </a:pPr>
            <a:r>
              <a:rPr lang="en-US" sz="900" dirty="0">
                <a:latin typeface="Arial" charset="0"/>
                <a:ea typeface="ＭＳ Ｐゴシック" pitchFamily="-65" charset="-128"/>
              </a:rPr>
              <a:t>this to the attacker. These special cases are certainly the most common; however,</a:t>
            </a:r>
          </a:p>
          <a:p>
            <a:pPr>
              <a:lnSpc>
                <a:spcPct val="80000"/>
              </a:lnSpc>
            </a:pPr>
            <a:r>
              <a:rPr lang="en-US" sz="900" dirty="0">
                <a:latin typeface="Arial" charset="0"/>
                <a:ea typeface="ＭＳ Ｐゴシック" pitchFamily="-65" charset="-128"/>
              </a:rPr>
              <a:t>other targets are known. Operation Aurora in 2009 used a Trojan to gain access</a:t>
            </a:r>
          </a:p>
          <a:p>
            <a:pPr>
              <a:lnSpc>
                <a:spcPct val="80000"/>
              </a:lnSpc>
            </a:pPr>
            <a:r>
              <a:rPr lang="en-US" sz="900" dirty="0">
                <a:latin typeface="Arial" charset="0"/>
                <a:ea typeface="ＭＳ Ｐゴシック" pitchFamily="-65" charset="-128"/>
              </a:rPr>
              <a:t>to and potentially modify source code repositories at a range of high tech, security,</a:t>
            </a:r>
          </a:p>
          <a:p>
            <a:pPr>
              <a:lnSpc>
                <a:spcPct val="80000"/>
              </a:lnSpc>
            </a:pPr>
            <a:r>
              <a:rPr lang="en-US" sz="900" dirty="0">
                <a:latin typeface="Arial" charset="0"/>
                <a:ea typeface="ＭＳ Ｐゴシック" pitchFamily="-65" charset="-128"/>
              </a:rPr>
              <a:t>and defense contractor companies [SYMA16]. The </a:t>
            </a:r>
            <a:r>
              <a:rPr lang="en-US" sz="900" dirty="0" err="1">
                <a:latin typeface="Arial" charset="0"/>
                <a:ea typeface="ＭＳ Ｐゴシック" pitchFamily="-65" charset="-128"/>
              </a:rPr>
              <a:t>Stuxnet</a:t>
            </a:r>
            <a:r>
              <a:rPr lang="en-US" sz="900" dirty="0">
                <a:latin typeface="Arial" charset="0"/>
                <a:ea typeface="ＭＳ Ｐゴシック" pitchFamily="-65" charset="-128"/>
              </a:rPr>
              <a:t> worm discovered</a:t>
            </a:r>
          </a:p>
          <a:p>
            <a:pPr>
              <a:lnSpc>
                <a:spcPct val="80000"/>
              </a:lnSpc>
            </a:pPr>
            <a:r>
              <a:rPr lang="en-US" sz="900" dirty="0">
                <a:latin typeface="Arial" charset="0"/>
                <a:ea typeface="ＭＳ Ｐゴシック" pitchFamily="-65" charset="-128"/>
              </a:rPr>
              <a:t>in 2010 included capture of hardware and software configuration details in order to</a:t>
            </a:r>
          </a:p>
          <a:p>
            <a:pPr>
              <a:lnSpc>
                <a:spcPct val="80000"/>
              </a:lnSpc>
            </a:pPr>
            <a:r>
              <a:rPr lang="en-US" sz="900" dirty="0">
                <a:latin typeface="Arial" charset="0"/>
                <a:ea typeface="ＭＳ Ｐゴシック" pitchFamily="-65" charset="-128"/>
              </a:rPr>
              <a:t>determine whether it had compromised the specific desired target systems. Early</a:t>
            </a:r>
          </a:p>
          <a:p>
            <a:pPr>
              <a:lnSpc>
                <a:spcPct val="80000"/>
              </a:lnSpc>
            </a:pPr>
            <a:r>
              <a:rPr lang="en-US" sz="900" dirty="0">
                <a:latin typeface="Arial" charset="0"/>
                <a:ea typeface="ＭＳ Ｐゴシック" pitchFamily="-65" charset="-128"/>
              </a:rPr>
              <a:t>versions of this worm returned this same information, which was then used to</a:t>
            </a:r>
          </a:p>
          <a:p>
            <a:r>
              <a:rPr lang="en-US" sz="900" dirty="0">
                <a:latin typeface="Arial" charset="0"/>
                <a:ea typeface="ＭＳ Ｐゴシック" pitchFamily="-65" charset="-128"/>
              </a:rPr>
              <a:t>develop the attacks deployed in later versions [CHEN11, KUSH13]. </a:t>
            </a:r>
            <a:r>
              <a:rPr lang="en-US" sz="1200" kern="1200" dirty="0">
                <a:solidFill>
                  <a:schemeClr val="tx1"/>
                </a:solidFill>
                <a:effectLst/>
                <a:latin typeface="Arial" pitchFamily="-110" charset="0"/>
                <a:ea typeface="ＭＳ Ｐゴシック" pitchFamily="-110" charset="-128"/>
                <a:cs typeface="ＭＳ Ｐゴシック" pitchFamily="-110" charset="-128"/>
              </a:rPr>
              <a:t> There are a number of other</a:t>
            </a:r>
          </a:p>
          <a:p>
            <a:r>
              <a:rPr lang="en-US" sz="1200" kern="1200" dirty="0">
                <a:solidFill>
                  <a:schemeClr val="tx1"/>
                </a:solidFill>
                <a:effectLst/>
                <a:latin typeface="Arial" pitchFamily="-110" charset="0"/>
                <a:ea typeface="ＭＳ Ｐゴシック" pitchFamily="-110" charset="-128"/>
                <a:cs typeface="ＭＳ Ｐゴシック" pitchFamily="-110" charset="-128"/>
              </a:rPr>
              <a:t>high-profile examples of mass record exposure. These include the </a:t>
            </a:r>
            <a:r>
              <a:rPr lang="en-US" sz="1200" kern="1200" dirty="0" err="1">
                <a:solidFill>
                  <a:schemeClr val="tx1"/>
                </a:solidFill>
                <a:effectLst/>
                <a:latin typeface="Arial" pitchFamily="-110" charset="0"/>
                <a:ea typeface="ＭＳ Ｐゴシック" pitchFamily="-110" charset="-128"/>
                <a:cs typeface="ＭＳ Ｐゴシック" pitchFamily="-110" charset="-128"/>
              </a:rPr>
              <a:t>Wikileaks</a:t>
            </a:r>
            <a:r>
              <a:rPr lang="en-US" sz="1200" kern="1200" dirty="0">
                <a:solidFill>
                  <a:schemeClr val="tx1"/>
                </a:solidFill>
                <a:effectLst/>
                <a:latin typeface="Arial" pitchFamily="-110" charset="0"/>
                <a:ea typeface="ＭＳ Ｐゴシック" pitchFamily="-110" charset="-128"/>
                <a:cs typeface="ＭＳ Ｐゴシック" pitchFamily="-110" charset="-128"/>
              </a:rPr>
              <a:t> leak of</a:t>
            </a:r>
          </a:p>
          <a:p>
            <a:r>
              <a:rPr lang="en-US" sz="1200" kern="1200" dirty="0">
                <a:solidFill>
                  <a:schemeClr val="tx1"/>
                </a:solidFill>
                <a:effectLst/>
                <a:latin typeface="Arial" pitchFamily="-110" charset="0"/>
                <a:ea typeface="ＭＳ Ｐゴシック" pitchFamily="-110" charset="-128"/>
                <a:cs typeface="ＭＳ Ｐゴシック" pitchFamily="-110" charset="-128"/>
              </a:rPr>
              <a:t>sensitive military and diplomatic documents by Chelsea (born Bradley) Manning</a:t>
            </a:r>
          </a:p>
          <a:p>
            <a:r>
              <a:rPr lang="en-US" sz="1200" kern="1200" dirty="0">
                <a:solidFill>
                  <a:schemeClr val="tx1"/>
                </a:solidFill>
                <a:effectLst/>
                <a:latin typeface="Arial" pitchFamily="-110" charset="0"/>
                <a:ea typeface="ＭＳ Ｐゴシック" pitchFamily="-110" charset="-128"/>
                <a:cs typeface="ＭＳ Ｐゴシック" pitchFamily="-110" charset="-128"/>
              </a:rPr>
              <a:t>in 2010, and the release of information on NSA surveillance programs by Edward</a:t>
            </a:r>
          </a:p>
          <a:p>
            <a:r>
              <a:rPr lang="en-US" sz="1200" kern="1200" dirty="0">
                <a:solidFill>
                  <a:schemeClr val="tx1"/>
                </a:solidFill>
                <a:effectLst/>
                <a:latin typeface="Arial" pitchFamily="-110" charset="0"/>
                <a:ea typeface="ＭＳ Ｐゴシック" pitchFamily="-110" charset="-128"/>
                <a:cs typeface="ＭＳ Ｐゴシック" pitchFamily="-110" charset="-128"/>
              </a:rPr>
              <a:t>Snowden in 2013. Both of these are examples of insiders exploiting their legitimate</a:t>
            </a:r>
          </a:p>
          <a:p>
            <a:r>
              <a:rPr lang="en-US" sz="1200" kern="1200" dirty="0">
                <a:solidFill>
                  <a:schemeClr val="tx1"/>
                </a:solidFill>
                <a:effectLst/>
                <a:latin typeface="Arial" pitchFamily="-110" charset="0"/>
                <a:ea typeface="ＭＳ Ｐゴシック" pitchFamily="-110" charset="-128"/>
                <a:cs typeface="ＭＳ Ｐゴシック" pitchFamily="-110" charset="-128"/>
              </a:rPr>
              <a:t>access rights to release information for ideological reasons. And both resulted in</a:t>
            </a:r>
          </a:p>
          <a:p>
            <a:r>
              <a:rPr lang="en-US" sz="1200" kern="1200" dirty="0">
                <a:solidFill>
                  <a:schemeClr val="tx1"/>
                </a:solidFill>
                <a:effectLst/>
                <a:latin typeface="Arial" pitchFamily="-110" charset="0"/>
                <a:ea typeface="ＭＳ Ｐゴシック" pitchFamily="-110" charset="-128"/>
                <a:cs typeface="ＭＳ Ｐゴシック" pitchFamily="-110" charset="-128"/>
              </a:rPr>
              <a:t>significant global discussion and debate on the consequences of these actions. In</a:t>
            </a:r>
          </a:p>
          <a:p>
            <a:r>
              <a:rPr lang="en-US" sz="1200" kern="1200" dirty="0">
                <a:solidFill>
                  <a:schemeClr val="tx1"/>
                </a:solidFill>
                <a:effectLst/>
                <a:latin typeface="Arial" pitchFamily="-110" charset="0"/>
                <a:ea typeface="ＭＳ Ｐゴシック" pitchFamily="-110" charset="-128"/>
                <a:cs typeface="ＭＳ Ｐゴシック" pitchFamily="-110" charset="-128"/>
              </a:rPr>
              <a:t>contrast, the 2015 release of personal information on the users of the Ashley Madison</a:t>
            </a:r>
          </a:p>
          <a:p>
            <a:r>
              <a:rPr lang="en-US" sz="1200" kern="1200" dirty="0">
                <a:solidFill>
                  <a:schemeClr val="tx1"/>
                </a:solidFill>
                <a:effectLst/>
                <a:latin typeface="Arial" pitchFamily="-110" charset="0"/>
                <a:ea typeface="ＭＳ Ｐゴシック" pitchFamily="-110" charset="-128"/>
                <a:cs typeface="ＭＳ Ｐゴシック" pitchFamily="-110" charset="-128"/>
              </a:rPr>
              <a:t>adult website, and the 2016 Panama Papers leak of millions of documents relating to</a:t>
            </a:r>
          </a:p>
          <a:p>
            <a:r>
              <a:rPr lang="en-US" sz="1200" kern="1200" dirty="0">
                <a:solidFill>
                  <a:schemeClr val="tx1"/>
                </a:solidFill>
                <a:effectLst/>
                <a:latin typeface="Arial" pitchFamily="-110" charset="0"/>
                <a:ea typeface="ＭＳ Ｐゴシック" pitchFamily="-110" charset="-128"/>
                <a:cs typeface="ＭＳ Ｐゴシック" pitchFamily="-110" charset="-128"/>
              </a:rPr>
              <a:t>off-shore entities used as tax havens in at least some cases, are thought to have been</a:t>
            </a:r>
          </a:p>
          <a:p>
            <a:r>
              <a:rPr lang="en-US" sz="1200" kern="1200" dirty="0">
                <a:solidFill>
                  <a:schemeClr val="tx1"/>
                </a:solidFill>
                <a:effectLst/>
                <a:latin typeface="Arial" pitchFamily="-110" charset="0"/>
                <a:ea typeface="ＭＳ Ｐゴシック" pitchFamily="-110" charset="-128"/>
                <a:cs typeface="ＭＳ Ｐゴシック" pitchFamily="-110" charset="-128"/>
              </a:rPr>
              <a:t>carried out by outside hackers attacking poorly secured systems. Both have resulted</a:t>
            </a:r>
          </a:p>
          <a:p>
            <a:r>
              <a:rPr lang="en-US" sz="1200" kern="1200" dirty="0">
                <a:solidFill>
                  <a:schemeClr val="tx1"/>
                </a:solidFill>
                <a:effectLst/>
                <a:latin typeface="Arial" pitchFamily="-110" charset="0"/>
                <a:ea typeface="ＭＳ Ｐゴシック" pitchFamily="-110" charset="-128"/>
                <a:cs typeface="ＭＳ Ｐゴシック" pitchFamily="-110" charset="-128"/>
              </a:rPr>
              <a:t>in serious consequences for some of the people named in these leaks.</a:t>
            </a:r>
          </a:p>
          <a:p>
            <a:pPr>
              <a:lnSpc>
                <a:spcPct val="80000"/>
              </a:lnSpc>
            </a:pPr>
            <a:endParaRPr lang="en-US" sz="900" dirty="0">
              <a:latin typeface="Arial" charset="0"/>
              <a:ea typeface="ＭＳ Ｐゴシック" pitchFamily="-65" charset="-128"/>
            </a:endParaRPr>
          </a:p>
          <a:p>
            <a:pPr>
              <a:lnSpc>
                <a:spcPct val="80000"/>
              </a:lnSpc>
            </a:pPr>
            <a:endParaRPr lang="en-US" sz="900" dirty="0">
              <a:latin typeface="Arial" charset="0"/>
              <a:ea typeface="ＭＳ Ｐゴシック" pitchFamily="-65"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APT attacks may result in the loss of large volumes of sensitive information,</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which is sent,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exfiltrated</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from the target organization, to the attackers. To detect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and block such data exfiltration requires suitable “data-loss” technical countermeasures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that manage either access to such information, or its transmission across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 organization’s network perimeter.</a:t>
            </a:r>
            <a:endParaRPr lang="en-US" sz="900" dirty="0">
              <a:latin typeface="Arial" charset="0"/>
              <a:ea typeface="ＭＳ Ｐゴシック" pitchFamily="-65" charset="-128"/>
            </a:endParaRPr>
          </a:p>
        </p:txBody>
      </p:sp>
      <p:sp>
        <p:nvSpPr>
          <p:cNvPr id="75780" name="Slide Number Placeholder 3"/>
          <p:cNvSpPr>
            <a:spLocks noGrp="1"/>
          </p:cNvSpPr>
          <p:nvPr>
            <p:ph type="sldNum" sz="quarter" idx="5"/>
          </p:nvPr>
        </p:nvSpPr>
        <p:spPr>
          <a:noFill/>
        </p:spPr>
        <p:txBody>
          <a:bodyPr/>
          <a:lstStyle/>
          <a:p>
            <a:fld id="{F5E89E48-221C-41CD-B383-5C58E20A453D}" type="slidenum">
              <a:rPr lang="en-AU"/>
              <a:pPr/>
              <a:t>39</a:t>
            </a:fld>
            <a:endParaRPr lang="en-AU"/>
          </a:p>
        </p:txBody>
      </p:sp>
    </p:spTree>
    <p:extLst>
      <p:ext uri="{BB962C8B-B14F-4D97-AF65-F5344CB8AC3E}">
        <p14:creationId xmlns:p14="http://schemas.microsoft.com/office/powerpoint/2010/main" val="5956086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62500" lnSpcReduction="20000"/>
          </a:bodyPr>
          <a:lstStyle/>
          <a:p>
            <a:r>
              <a:rPr lang="en-US" sz="1100" b="0" dirty="0">
                <a:latin typeface="Arial" charset="0"/>
                <a:ea typeface="ＭＳ Ｐゴシック" pitchFamily="-65" charset="-128"/>
              </a:rPr>
              <a:t>The final category of payload we discuss concerns techniques used by malware to</a:t>
            </a:r>
          </a:p>
          <a:p>
            <a:r>
              <a:rPr lang="en-US" sz="1100" b="0" dirty="0">
                <a:latin typeface="Arial" charset="0"/>
                <a:ea typeface="ＭＳ Ｐゴシック" pitchFamily="-65" charset="-128"/>
              </a:rPr>
              <a:t>hide its presence on the infected system, and to provide covert access to that system.</a:t>
            </a:r>
          </a:p>
          <a:p>
            <a:r>
              <a:rPr lang="en-US" sz="1100" b="0" dirty="0">
                <a:latin typeface="Arial" charset="0"/>
                <a:ea typeface="ＭＳ Ｐゴシック" pitchFamily="-65" charset="-128"/>
              </a:rPr>
              <a:t>This type of payload also attacks the integrity of the infected system.</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A </a:t>
            </a:r>
            <a:r>
              <a:rPr lang="en-US" sz="1100" b="1" dirty="0">
                <a:latin typeface="Arial" charset="0"/>
                <a:ea typeface="ＭＳ Ｐゴシック" pitchFamily="-65" charset="-128"/>
              </a:rPr>
              <a:t>backdoor</a:t>
            </a:r>
            <a:r>
              <a:rPr lang="en-US" sz="1100" b="0" dirty="0">
                <a:latin typeface="Arial" charset="0"/>
                <a:ea typeface="ＭＳ Ｐゴシック" pitchFamily="-65" charset="-128"/>
              </a:rPr>
              <a:t>, also known as a </a:t>
            </a:r>
            <a:r>
              <a:rPr lang="en-US" sz="1100" b="1" dirty="0">
                <a:latin typeface="Arial" charset="0"/>
                <a:ea typeface="ＭＳ Ｐゴシック" pitchFamily="-65" charset="-128"/>
              </a:rPr>
              <a:t>trapdoor</a:t>
            </a:r>
            <a:r>
              <a:rPr lang="en-US" sz="1100" b="0" dirty="0">
                <a:latin typeface="Arial" charset="0"/>
                <a:ea typeface="ＭＳ Ｐゴシック" pitchFamily="-65" charset="-128"/>
              </a:rPr>
              <a:t>, is a secret entry point into a program</a:t>
            </a:r>
          </a:p>
          <a:p>
            <a:r>
              <a:rPr lang="en-US" sz="1100" b="0" dirty="0">
                <a:latin typeface="Arial" charset="0"/>
                <a:ea typeface="ＭＳ Ｐゴシック" pitchFamily="-65" charset="-128"/>
              </a:rPr>
              <a:t>that allows someone who is aware of the backdoor to gain access without going</a:t>
            </a:r>
          </a:p>
          <a:p>
            <a:r>
              <a:rPr lang="en-US" sz="1100" b="0" dirty="0">
                <a:latin typeface="Arial" charset="0"/>
                <a:ea typeface="ＭＳ Ｐゴシック" pitchFamily="-65" charset="-128"/>
              </a:rPr>
              <a:t>through the usual security access procedures. Programmers have used backdoors</a:t>
            </a:r>
          </a:p>
          <a:p>
            <a:r>
              <a:rPr lang="en-US" sz="1100" b="0" dirty="0">
                <a:latin typeface="Arial" charset="0"/>
                <a:ea typeface="ＭＳ Ｐゴシック" pitchFamily="-65" charset="-128"/>
              </a:rPr>
              <a:t>legitimately for many years to debug and test programs; such a backdoor is called</a:t>
            </a:r>
          </a:p>
          <a:p>
            <a:r>
              <a:rPr lang="en-US" sz="1100" b="0" dirty="0">
                <a:latin typeface="Arial" charset="0"/>
                <a:ea typeface="ＭＳ Ｐゴシック" pitchFamily="-65" charset="-128"/>
              </a:rPr>
              <a:t>a maintenance hook . This usually is done when the programmer is developing an</a:t>
            </a:r>
          </a:p>
          <a:p>
            <a:r>
              <a:rPr lang="en-US" sz="1100" b="0" dirty="0">
                <a:latin typeface="Arial" charset="0"/>
                <a:ea typeface="ＭＳ Ｐゴシック" pitchFamily="-65" charset="-128"/>
              </a:rPr>
              <a:t>application that has an authentication procedure, or a long setup, requiring the user</a:t>
            </a:r>
          </a:p>
          <a:p>
            <a:r>
              <a:rPr lang="en-US" sz="1100" b="0" dirty="0">
                <a:latin typeface="Arial" charset="0"/>
                <a:ea typeface="ＭＳ Ｐゴシック" pitchFamily="-65" charset="-128"/>
              </a:rPr>
              <a:t>to enter many different values to run the application. To debug the program, the</a:t>
            </a:r>
          </a:p>
          <a:p>
            <a:r>
              <a:rPr lang="en-US" sz="1100" b="0" dirty="0">
                <a:latin typeface="Arial" charset="0"/>
                <a:ea typeface="ＭＳ Ｐゴシック" pitchFamily="-65" charset="-128"/>
              </a:rPr>
              <a:t>developer may wish to gain special privileges or to avoid all the necessary setup and</a:t>
            </a:r>
          </a:p>
          <a:p>
            <a:r>
              <a:rPr lang="en-US" sz="1100" b="0" dirty="0">
                <a:latin typeface="Arial" charset="0"/>
                <a:ea typeface="ＭＳ Ｐゴシック" pitchFamily="-65" charset="-128"/>
              </a:rPr>
              <a:t>authentication. The programmer may also want to ensure that there is a method of</a:t>
            </a:r>
          </a:p>
          <a:p>
            <a:r>
              <a:rPr lang="en-US" sz="1100" b="0" dirty="0">
                <a:latin typeface="Arial" charset="0"/>
                <a:ea typeface="ＭＳ Ｐゴシック" pitchFamily="-65" charset="-128"/>
              </a:rPr>
              <a:t>activating the program should something be wrong with the authentication procedure</a:t>
            </a:r>
          </a:p>
          <a:p>
            <a:r>
              <a:rPr lang="en-US" sz="1100" b="0" dirty="0">
                <a:latin typeface="Arial" charset="0"/>
                <a:ea typeface="ＭＳ Ｐゴシック" pitchFamily="-65" charset="-128"/>
              </a:rPr>
              <a:t>that is being built into the application. The backdoor is code that recognizes</a:t>
            </a:r>
          </a:p>
          <a:p>
            <a:r>
              <a:rPr lang="en-US" sz="1100" b="0" dirty="0">
                <a:latin typeface="Arial" charset="0"/>
                <a:ea typeface="ＭＳ Ｐゴシック" pitchFamily="-65" charset="-128"/>
              </a:rPr>
              <a:t>some special sequence of input or is triggered by being run from a certain user ID or</a:t>
            </a:r>
          </a:p>
          <a:p>
            <a:r>
              <a:rPr lang="en-US" sz="1100" b="0" dirty="0">
                <a:latin typeface="Arial" charset="0"/>
                <a:ea typeface="ＭＳ Ｐゴシック" pitchFamily="-65" charset="-128"/>
              </a:rPr>
              <a:t>by an unlikely sequence of events.</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Backdoors become threats when unscrupulous programmers use them to</a:t>
            </a:r>
          </a:p>
          <a:p>
            <a:r>
              <a:rPr lang="en-US" sz="1100" b="0" dirty="0">
                <a:latin typeface="Arial" charset="0"/>
                <a:ea typeface="ＭＳ Ｐゴシック" pitchFamily="-65" charset="-128"/>
              </a:rPr>
              <a:t>gain unauthorized access. The backdoor was the basic idea for the vulnerability</a:t>
            </a:r>
          </a:p>
          <a:p>
            <a:r>
              <a:rPr lang="en-US" sz="1100" b="0" dirty="0">
                <a:latin typeface="Arial" charset="0"/>
                <a:ea typeface="ＭＳ Ｐゴシック" pitchFamily="-65" charset="-128"/>
              </a:rPr>
              <a:t>portrayed in the movie </a:t>
            </a:r>
            <a:r>
              <a:rPr lang="en-US" sz="1100" b="0" i="1" dirty="0">
                <a:latin typeface="Arial" charset="0"/>
                <a:ea typeface="ＭＳ Ｐゴシック" pitchFamily="-65" charset="-128"/>
              </a:rPr>
              <a:t>War Games . </a:t>
            </a:r>
            <a:r>
              <a:rPr lang="en-US" sz="1100" b="0" i="0" dirty="0">
                <a:latin typeface="Arial" charset="0"/>
                <a:ea typeface="ＭＳ Ｐゴシック" pitchFamily="-65" charset="-128"/>
              </a:rPr>
              <a:t>Another example is that during the development</a:t>
            </a:r>
          </a:p>
          <a:p>
            <a:r>
              <a:rPr lang="en-US" sz="1100" b="0" dirty="0">
                <a:latin typeface="Arial" charset="0"/>
                <a:ea typeface="ＭＳ Ｐゴシック" pitchFamily="-65" charset="-128"/>
              </a:rPr>
              <a:t>of </a:t>
            </a:r>
            <a:r>
              <a:rPr lang="en-US" sz="1100" b="0" dirty="0" err="1">
                <a:latin typeface="Arial" charset="0"/>
                <a:ea typeface="ＭＳ Ｐゴシック" pitchFamily="-65" charset="-128"/>
              </a:rPr>
              <a:t>Multics</a:t>
            </a:r>
            <a:r>
              <a:rPr lang="en-US" sz="1100" b="0" dirty="0">
                <a:latin typeface="Arial" charset="0"/>
                <a:ea typeface="ＭＳ Ｐゴシック" pitchFamily="-65" charset="-128"/>
              </a:rPr>
              <a:t>, penetration tests were conducted by an Air Force “tiger team”</a:t>
            </a:r>
          </a:p>
          <a:p>
            <a:r>
              <a:rPr lang="en-US" sz="1100" b="0" dirty="0">
                <a:latin typeface="Arial" charset="0"/>
                <a:ea typeface="ＭＳ Ｐゴシック" pitchFamily="-65" charset="-128"/>
              </a:rPr>
              <a:t>(simulating adversaries). One tactic employed was to send a bogus operating system</a:t>
            </a:r>
          </a:p>
          <a:p>
            <a:r>
              <a:rPr lang="en-US" sz="1100" b="0" dirty="0">
                <a:latin typeface="Arial" charset="0"/>
                <a:ea typeface="ＭＳ Ｐゴシック" pitchFamily="-65" charset="-128"/>
              </a:rPr>
              <a:t>update to a site running </a:t>
            </a:r>
            <a:r>
              <a:rPr lang="en-US" sz="1100" b="0" dirty="0" err="1">
                <a:latin typeface="Arial" charset="0"/>
                <a:ea typeface="ＭＳ Ｐゴシック" pitchFamily="-65" charset="-128"/>
              </a:rPr>
              <a:t>Multics</a:t>
            </a:r>
            <a:r>
              <a:rPr lang="en-US" sz="1100" b="0" dirty="0">
                <a:latin typeface="Arial" charset="0"/>
                <a:ea typeface="ＭＳ Ｐゴシック" pitchFamily="-65" charset="-128"/>
              </a:rPr>
              <a:t>. The update contained a Trojan horse that could be</a:t>
            </a:r>
          </a:p>
          <a:p>
            <a:r>
              <a:rPr lang="en-US" sz="1100" b="0" dirty="0">
                <a:latin typeface="Arial" charset="0"/>
                <a:ea typeface="ＭＳ Ｐゴシック" pitchFamily="-65" charset="-128"/>
              </a:rPr>
              <a:t>activated by a backdoor and that allowed the tiger team to gain access. The threat</a:t>
            </a:r>
          </a:p>
          <a:p>
            <a:r>
              <a:rPr lang="en-US" sz="1100" b="0" dirty="0">
                <a:latin typeface="Arial" charset="0"/>
                <a:ea typeface="ＭＳ Ｐゴシック" pitchFamily="-65" charset="-128"/>
              </a:rPr>
              <a:t>was so well implemented that the </a:t>
            </a:r>
            <a:r>
              <a:rPr lang="en-US" sz="1100" b="0" dirty="0" err="1">
                <a:latin typeface="Arial" charset="0"/>
                <a:ea typeface="ＭＳ Ｐゴシック" pitchFamily="-65" charset="-128"/>
              </a:rPr>
              <a:t>Multics</a:t>
            </a:r>
            <a:r>
              <a:rPr lang="en-US" sz="1100" b="0" dirty="0">
                <a:latin typeface="Arial" charset="0"/>
                <a:ea typeface="ＭＳ Ｐゴシック" pitchFamily="-65" charset="-128"/>
              </a:rPr>
              <a:t> developers could not find it, even after</a:t>
            </a:r>
          </a:p>
          <a:p>
            <a:r>
              <a:rPr lang="en-US" sz="1100" b="0" dirty="0">
                <a:latin typeface="Arial" charset="0"/>
                <a:ea typeface="ＭＳ Ｐゴシック" pitchFamily="-65" charset="-128"/>
              </a:rPr>
              <a:t>they were informed of its presence [ENGE80].</a:t>
            </a:r>
          </a:p>
          <a:p>
            <a:endParaRPr lang="en-US" sz="1100" b="0" dirty="0">
              <a:latin typeface="Arial" charset="0"/>
              <a:ea typeface="ＭＳ Ｐゴシック" pitchFamily="-65"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 In more recent times, a backdoor is usually implemented as a network service</a:t>
            </a:r>
          </a:p>
          <a:p>
            <a:r>
              <a:rPr lang="en-US" sz="1200" kern="1200" dirty="0">
                <a:solidFill>
                  <a:schemeClr val="tx1"/>
                </a:solidFill>
                <a:effectLst/>
                <a:latin typeface="Arial" pitchFamily="-110" charset="0"/>
                <a:ea typeface="ＭＳ Ｐゴシック" pitchFamily="-110" charset="-128"/>
                <a:cs typeface="ＭＳ Ｐゴシック" pitchFamily="-110" charset="-128"/>
              </a:rPr>
              <a:t>listening on some non-standard port that the attacker can connect to and issue commands</a:t>
            </a:r>
          </a:p>
          <a:p>
            <a:r>
              <a:rPr lang="en-US" sz="1200" kern="1200" dirty="0">
                <a:solidFill>
                  <a:schemeClr val="tx1"/>
                </a:solidFill>
                <a:effectLst/>
                <a:latin typeface="Arial" pitchFamily="-110" charset="0"/>
                <a:ea typeface="ＭＳ Ｐゴシック" pitchFamily="-110" charset="-128"/>
                <a:cs typeface="ＭＳ Ｐゴシック" pitchFamily="-110" charset="-128"/>
              </a:rPr>
              <a:t>through to be run on the compromised system. The </a:t>
            </a:r>
            <a:r>
              <a:rPr lang="en-US" sz="1200" kern="1200" dirty="0" err="1">
                <a:solidFill>
                  <a:schemeClr val="tx1"/>
                </a:solidFill>
                <a:effectLst/>
                <a:latin typeface="Arial" pitchFamily="-110" charset="0"/>
                <a:ea typeface="ＭＳ Ｐゴシック" pitchFamily="-110" charset="-128"/>
                <a:cs typeface="ＭＳ Ｐゴシック" pitchFamily="-110" charset="-128"/>
              </a:rPr>
              <a:t>WannaCry</a:t>
            </a:r>
            <a:r>
              <a:rPr lang="en-US" sz="1200" kern="1200" dirty="0">
                <a:solidFill>
                  <a:schemeClr val="tx1"/>
                </a:solidFill>
                <a:effectLst/>
                <a:latin typeface="Arial" pitchFamily="-110" charset="0"/>
                <a:ea typeface="ＭＳ Ｐゴシック" pitchFamily="-110" charset="-128"/>
                <a:cs typeface="ＭＳ Ｐゴシック" pitchFamily="-110" charset="-128"/>
              </a:rPr>
              <a:t> ransomware,</a:t>
            </a:r>
          </a:p>
          <a:p>
            <a:r>
              <a:rPr lang="en-US" sz="1200" kern="1200" dirty="0">
                <a:solidFill>
                  <a:schemeClr val="tx1"/>
                </a:solidFill>
                <a:effectLst/>
                <a:latin typeface="Arial" pitchFamily="-110" charset="0"/>
                <a:ea typeface="ＭＳ Ｐゴシック" pitchFamily="-110" charset="-128"/>
                <a:cs typeface="ＭＳ Ｐゴシック" pitchFamily="-110" charset="-128"/>
              </a:rPr>
              <a:t>that we described earlier in this chapter, included such a backdoor.</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It is difficult to implement operating system controls for backdoors in</a:t>
            </a:r>
          </a:p>
          <a:p>
            <a:r>
              <a:rPr lang="en-US" sz="1100" b="0" dirty="0">
                <a:latin typeface="Arial" charset="0"/>
                <a:ea typeface="ＭＳ Ｐゴシック" pitchFamily="-65" charset="-128"/>
              </a:rPr>
              <a:t>applications. Security measures must focus on the program development and</a:t>
            </a:r>
          </a:p>
          <a:p>
            <a:r>
              <a:rPr lang="en-US" sz="1100" b="0" dirty="0">
                <a:latin typeface="Arial" charset="0"/>
                <a:ea typeface="ＭＳ Ｐゴシック" pitchFamily="-65" charset="-128"/>
              </a:rPr>
              <a:t>software update activities, and on programs that wish to offer a network service.</a:t>
            </a:r>
          </a:p>
        </p:txBody>
      </p:sp>
      <p:sp>
        <p:nvSpPr>
          <p:cNvPr id="77828" name="Slide Number Placeholder 3"/>
          <p:cNvSpPr>
            <a:spLocks noGrp="1"/>
          </p:cNvSpPr>
          <p:nvPr>
            <p:ph type="sldNum" sz="quarter" idx="5"/>
          </p:nvPr>
        </p:nvSpPr>
        <p:spPr>
          <a:noFill/>
        </p:spPr>
        <p:txBody>
          <a:bodyPr/>
          <a:lstStyle/>
          <a:p>
            <a:fld id="{3048BF5D-C960-4AE8-B338-8921E465EAEC}" type="slidenum">
              <a:rPr lang="en-AU"/>
              <a:pPr/>
              <a:t>40</a:t>
            </a:fld>
            <a:endParaRPr lang="en-AU"/>
          </a:p>
        </p:txBody>
      </p:sp>
    </p:spTree>
    <p:extLst>
      <p:ext uri="{BB962C8B-B14F-4D97-AF65-F5344CB8AC3E}">
        <p14:creationId xmlns:p14="http://schemas.microsoft.com/office/powerpoint/2010/main" val="16826665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34E35ED1-D109-4F03-A4A8-BF5B342C4B68}" type="slidenum">
              <a:rPr lang="en-AU"/>
              <a:pPr/>
              <a:t>41</a:t>
            </a:fld>
            <a:endParaRPr lang="en-AU"/>
          </a:p>
        </p:txBody>
      </p:sp>
      <p:sp>
        <p:nvSpPr>
          <p:cNvPr id="79875" name="Rectangle 1026"/>
          <p:cNvSpPr>
            <a:spLocks noGrp="1" noRot="1" noChangeAspect="1" noChangeArrowheads="1" noTextEdit="1"/>
          </p:cNvSpPr>
          <p:nvPr>
            <p:ph type="sldImg"/>
          </p:nvPr>
        </p:nvSpPr>
        <p:spPr>
          <a:ln/>
        </p:spPr>
      </p:sp>
      <p:sp>
        <p:nvSpPr>
          <p:cNvPr id="79876" name="Rectangle 1027"/>
          <p:cNvSpPr>
            <a:spLocks noGrp="1" noChangeArrowheads="1"/>
          </p:cNvSpPr>
          <p:nvPr>
            <p:ph type="body" idx="1"/>
          </p:nvPr>
        </p:nvSpPr>
        <p:spPr>
          <a:noFill/>
          <a:ln/>
        </p:spPr>
        <p:txBody>
          <a:bodyPr/>
          <a:lstStyle/>
          <a:p>
            <a:r>
              <a:rPr lang="en-US" dirty="0">
                <a:latin typeface="Arial" charset="0"/>
                <a:ea typeface="ＭＳ Ｐゴシック" pitchFamily="-65" charset="-128"/>
              </a:rPr>
              <a:t>A </a:t>
            </a:r>
            <a:r>
              <a:rPr lang="en-US" dirty="0" err="1">
                <a:latin typeface="Arial" charset="0"/>
                <a:ea typeface="ＭＳ Ｐゴシック" pitchFamily="-65" charset="-128"/>
              </a:rPr>
              <a:t>rootkit</a:t>
            </a:r>
            <a:r>
              <a:rPr lang="en-US" dirty="0">
                <a:latin typeface="Arial" charset="0"/>
                <a:ea typeface="ＭＳ Ｐゴシック" pitchFamily="-65" charset="-128"/>
              </a:rPr>
              <a:t> is a set of programs installed on a system to maintain covert access to that</a:t>
            </a:r>
          </a:p>
          <a:p>
            <a:r>
              <a:rPr lang="en-US" dirty="0">
                <a:latin typeface="Arial" charset="0"/>
                <a:ea typeface="ＭＳ Ｐゴシック" pitchFamily="-65" charset="-128"/>
              </a:rPr>
              <a:t>system with administrator (or root) privileges, while hiding evidence of its presence</a:t>
            </a:r>
          </a:p>
          <a:p>
            <a:r>
              <a:rPr lang="en-US" dirty="0">
                <a:latin typeface="Arial" charset="0"/>
                <a:ea typeface="ＭＳ Ｐゴシック" pitchFamily="-65" charset="-128"/>
              </a:rPr>
              <a:t>to the greatest extent possible. This provides access to all the functions and</a:t>
            </a:r>
          </a:p>
          <a:p>
            <a:r>
              <a:rPr lang="en-US" dirty="0">
                <a:latin typeface="Arial" charset="0"/>
                <a:ea typeface="ＭＳ Ｐゴシック" pitchFamily="-65" charset="-128"/>
              </a:rPr>
              <a:t>services of the operating system. The </a:t>
            </a:r>
            <a:r>
              <a:rPr lang="en-US" dirty="0" err="1">
                <a:latin typeface="Arial" charset="0"/>
                <a:ea typeface="ＭＳ Ｐゴシック" pitchFamily="-65" charset="-128"/>
              </a:rPr>
              <a:t>rootkit</a:t>
            </a:r>
            <a:r>
              <a:rPr lang="en-US" dirty="0">
                <a:latin typeface="Arial" charset="0"/>
                <a:ea typeface="ＭＳ Ｐゴシック" pitchFamily="-65" charset="-128"/>
              </a:rPr>
              <a:t> alters the host’s standard functionality</a:t>
            </a:r>
          </a:p>
          <a:p>
            <a:r>
              <a:rPr lang="en-US" dirty="0">
                <a:latin typeface="Arial" charset="0"/>
                <a:ea typeface="ＭＳ Ｐゴシック" pitchFamily="-65" charset="-128"/>
              </a:rPr>
              <a:t>in a malicious and stealthy way. With root access, an attacker has complete control</a:t>
            </a:r>
          </a:p>
          <a:p>
            <a:r>
              <a:rPr lang="en-US" dirty="0">
                <a:latin typeface="Arial" charset="0"/>
                <a:ea typeface="ＭＳ Ｐゴシック" pitchFamily="-65" charset="-128"/>
              </a:rPr>
              <a:t>of the system and can add or change programs and files, monitor processes, send and</a:t>
            </a:r>
          </a:p>
          <a:p>
            <a:r>
              <a:rPr lang="en-US" dirty="0">
                <a:latin typeface="Arial" charset="0"/>
                <a:ea typeface="ＭＳ Ｐゴシック" pitchFamily="-65" charset="-128"/>
              </a:rPr>
              <a:t>receive network traffic, and get backdoor access on demand.</a:t>
            </a:r>
          </a:p>
          <a:p>
            <a:endParaRPr lang="en-US" dirty="0">
              <a:latin typeface="Arial" charset="0"/>
              <a:ea typeface="ＭＳ Ｐゴシック" pitchFamily="-65" charset="-128"/>
            </a:endParaRPr>
          </a:p>
          <a:p>
            <a:r>
              <a:rPr lang="en-US" dirty="0">
                <a:latin typeface="Arial" charset="0"/>
                <a:ea typeface="ＭＳ Ｐゴシック" pitchFamily="-65" charset="-128"/>
              </a:rPr>
              <a:t>A rootkit can make many changes to a system to hide its existence, making</a:t>
            </a:r>
          </a:p>
          <a:p>
            <a:r>
              <a:rPr lang="en-US" dirty="0">
                <a:latin typeface="Arial" charset="0"/>
                <a:ea typeface="ＭＳ Ｐゴシック" pitchFamily="-65" charset="-128"/>
              </a:rPr>
              <a:t>it difficult for the user to determine that the </a:t>
            </a:r>
            <a:r>
              <a:rPr lang="en-US" dirty="0" err="1">
                <a:latin typeface="Arial" charset="0"/>
                <a:ea typeface="ＭＳ Ｐゴシック" pitchFamily="-65" charset="-128"/>
              </a:rPr>
              <a:t>rootkit</a:t>
            </a:r>
            <a:r>
              <a:rPr lang="en-US" dirty="0">
                <a:latin typeface="Arial" charset="0"/>
                <a:ea typeface="ＭＳ Ｐゴシック" pitchFamily="-65" charset="-128"/>
              </a:rPr>
              <a:t> is present and to identify what</a:t>
            </a:r>
          </a:p>
          <a:p>
            <a:r>
              <a:rPr lang="en-US" dirty="0">
                <a:latin typeface="Arial" charset="0"/>
                <a:ea typeface="ＭＳ Ｐゴシック" pitchFamily="-65" charset="-128"/>
              </a:rPr>
              <a:t>changes have been made. In essence, a </a:t>
            </a:r>
            <a:r>
              <a:rPr lang="en-US" dirty="0" err="1">
                <a:latin typeface="Arial" charset="0"/>
                <a:ea typeface="ＭＳ Ｐゴシック" pitchFamily="-65" charset="-128"/>
              </a:rPr>
              <a:t>rootkit</a:t>
            </a:r>
            <a:r>
              <a:rPr lang="en-US" dirty="0">
                <a:latin typeface="Arial" charset="0"/>
                <a:ea typeface="ＭＳ Ｐゴシック" pitchFamily="-65" charset="-128"/>
              </a:rPr>
              <a:t> hides by subverting the mechanisms</a:t>
            </a:r>
          </a:p>
          <a:p>
            <a:r>
              <a:rPr lang="en-US" dirty="0">
                <a:latin typeface="Arial" charset="0"/>
                <a:ea typeface="ＭＳ Ｐゴシック" pitchFamily="-65" charset="-128"/>
              </a:rPr>
              <a:t>that monitor and report on the processes, files, and registries on a computer.</a:t>
            </a:r>
            <a:endParaRPr lang="en-US" dirty="0">
              <a:latin typeface="Times New Roman" pitchFamily="-65" charset="0"/>
              <a:ea typeface="ＭＳ Ｐゴシック" pitchFamily="-65" charset="-128"/>
            </a:endParaRPr>
          </a:p>
        </p:txBody>
      </p:sp>
    </p:spTree>
    <p:extLst>
      <p:ext uri="{BB962C8B-B14F-4D97-AF65-F5344CB8AC3E}">
        <p14:creationId xmlns:p14="http://schemas.microsoft.com/office/powerpoint/2010/main" val="39340776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a:lnSpc>
                <a:spcPct val="80000"/>
              </a:lnSpc>
            </a:pPr>
            <a:r>
              <a:rPr lang="en-US" sz="600" b="0" dirty="0">
                <a:latin typeface="Arial" charset="0"/>
                <a:ea typeface="ＭＳ Ｐゴシック" pitchFamily="-65" charset="-128"/>
              </a:rPr>
              <a:t>A </a:t>
            </a:r>
            <a:r>
              <a:rPr lang="en-US" sz="600" b="0" dirty="0" err="1">
                <a:latin typeface="Arial" charset="0"/>
                <a:ea typeface="ＭＳ Ｐゴシック" pitchFamily="-65" charset="-128"/>
              </a:rPr>
              <a:t>rootkit</a:t>
            </a:r>
            <a:r>
              <a:rPr lang="en-US" sz="600" b="0" dirty="0">
                <a:latin typeface="Arial" charset="0"/>
                <a:ea typeface="ＭＳ Ｐゴシック" pitchFamily="-65" charset="-128"/>
              </a:rPr>
              <a:t> can be classified using the following characteristics:</a:t>
            </a:r>
          </a:p>
          <a:p>
            <a:pPr>
              <a:lnSpc>
                <a:spcPct val="80000"/>
              </a:lnSpc>
            </a:pPr>
            <a:endParaRPr lang="en-US" sz="600" b="0" dirty="0">
              <a:latin typeface="Arial" charset="0"/>
              <a:ea typeface="ＭＳ Ｐゴシック" pitchFamily="-65" charset="-128"/>
            </a:endParaRPr>
          </a:p>
          <a:p>
            <a:pPr>
              <a:lnSpc>
                <a:spcPct val="80000"/>
              </a:lnSpc>
            </a:pPr>
            <a:r>
              <a:rPr lang="en-US" sz="600" b="0" dirty="0">
                <a:latin typeface="Arial" charset="0"/>
                <a:ea typeface="ＭＳ Ｐゴシック" pitchFamily="-65" charset="-128"/>
              </a:rPr>
              <a:t>• </a:t>
            </a:r>
            <a:r>
              <a:rPr lang="en-US" sz="600" b="1" dirty="0">
                <a:latin typeface="Arial" charset="0"/>
                <a:ea typeface="ＭＳ Ｐゴシック" pitchFamily="-65" charset="-128"/>
              </a:rPr>
              <a:t>Persistent:</a:t>
            </a:r>
            <a:r>
              <a:rPr lang="en-US" sz="600" b="0" dirty="0">
                <a:latin typeface="Arial" charset="0"/>
                <a:ea typeface="ＭＳ Ｐゴシック" pitchFamily="-65" charset="-128"/>
              </a:rPr>
              <a:t> Activates each time the system boots. The </a:t>
            </a:r>
            <a:r>
              <a:rPr lang="en-US" sz="600" b="0" dirty="0" err="1">
                <a:latin typeface="Arial" charset="0"/>
                <a:ea typeface="ＭＳ Ｐゴシック" pitchFamily="-65" charset="-128"/>
              </a:rPr>
              <a:t>rootkit</a:t>
            </a:r>
            <a:r>
              <a:rPr lang="en-US" sz="600" b="0" dirty="0">
                <a:latin typeface="Arial" charset="0"/>
                <a:ea typeface="ＭＳ Ｐゴシック" pitchFamily="-65" charset="-128"/>
              </a:rPr>
              <a:t> must store code</a:t>
            </a:r>
          </a:p>
          <a:p>
            <a:pPr>
              <a:lnSpc>
                <a:spcPct val="80000"/>
              </a:lnSpc>
            </a:pPr>
            <a:r>
              <a:rPr lang="en-US" sz="600" b="0" dirty="0">
                <a:latin typeface="Arial" charset="0"/>
                <a:ea typeface="ＭＳ Ｐゴシック" pitchFamily="-65" charset="-128"/>
              </a:rPr>
              <a:t>in a persistent store, such as the registry or file system, and configure a method</a:t>
            </a:r>
          </a:p>
          <a:p>
            <a:pPr>
              <a:lnSpc>
                <a:spcPct val="80000"/>
              </a:lnSpc>
            </a:pPr>
            <a:r>
              <a:rPr lang="en-US" sz="600" b="0" dirty="0">
                <a:latin typeface="Arial" charset="0"/>
                <a:ea typeface="ＭＳ Ｐゴシック" pitchFamily="-65" charset="-128"/>
              </a:rPr>
              <a:t>by which the code executes without user intervention. This means it is easier</a:t>
            </a:r>
          </a:p>
          <a:p>
            <a:pPr>
              <a:lnSpc>
                <a:spcPct val="80000"/>
              </a:lnSpc>
            </a:pPr>
            <a:r>
              <a:rPr lang="en-US" sz="600" b="0" dirty="0">
                <a:latin typeface="Arial" charset="0"/>
                <a:ea typeface="ＭＳ Ｐゴシック" pitchFamily="-65" charset="-128"/>
              </a:rPr>
              <a:t>to detect, as the copy in persistent storage can potentially be scanned.</a:t>
            </a:r>
          </a:p>
          <a:p>
            <a:pPr>
              <a:lnSpc>
                <a:spcPct val="80000"/>
              </a:lnSpc>
            </a:pPr>
            <a:endParaRPr lang="en-US" sz="600" b="0" dirty="0">
              <a:latin typeface="Arial" charset="0"/>
              <a:ea typeface="ＭＳ Ｐゴシック" pitchFamily="-65" charset="-128"/>
            </a:endParaRPr>
          </a:p>
          <a:p>
            <a:pPr>
              <a:lnSpc>
                <a:spcPct val="80000"/>
              </a:lnSpc>
            </a:pPr>
            <a:r>
              <a:rPr lang="en-US" sz="600" b="0" dirty="0">
                <a:latin typeface="Arial" charset="0"/>
                <a:ea typeface="ＭＳ Ｐゴシック" pitchFamily="-65" charset="-128"/>
              </a:rPr>
              <a:t>• </a:t>
            </a:r>
            <a:r>
              <a:rPr lang="en-US" sz="600" b="1" dirty="0">
                <a:latin typeface="Arial" charset="0"/>
                <a:ea typeface="ＭＳ Ｐゴシック" pitchFamily="-65" charset="-128"/>
              </a:rPr>
              <a:t>Memory based</a:t>
            </a:r>
            <a:r>
              <a:rPr lang="en-US" sz="600" b="0" dirty="0">
                <a:latin typeface="Arial" charset="0"/>
                <a:ea typeface="ＭＳ Ｐゴシック" pitchFamily="-65" charset="-128"/>
              </a:rPr>
              <a:t>: Has no persistent code and therefore cannot survive a reboot.</a:t>
            </a:r>
          </a:p>
          <a:p>
            <a:pPr>
              <a:lnSpc>
                <a:spcPct val="80000"/>
              </a:lnSpc>
            </a:pPr>
            <a:r>
              <a:rPr lang="en-US" sz="600" b="0" dirty="0">
                <a:latin typeface="Arial" charset="0"/>
                <a:ea typeface="ＭＳ Ｐゴシック" pitchFamily="-65" charset="-128"/>
              </a:rPr>
              <a:t>However, because it is only in memory, it can be harder to detect.</a:t>
            </a:r>
          </a:p>
          <a:p>
            <a:pPr>
              <a:lnSpc>
                <a:spcPct val="80000"/>
              </a:lnSpc>
            </a:pPr>
            <a:endParaRPr lang="en-US" sz="600" b="0" dirty="0">
              <a:latin typeface="Arial" charset="0"/>
              <a:ea typeface="ＭＳ Ｐゴシック" pitchFamily="-65" charset="-128"/>
            </a:endParaRPr>
          </a:p>
          <a:p>
            <a:pPr>
              <a:lnSpc>
                <a:spcPct val="80000"/>
              </a:lnSpc>
            </a:pPr>
            <a:r>
              <a:rPr lang="en-US" sz="600" b="0" dirty="0">
                <a:latin typeface="Arial" charset="0"/>
                <a:ea typeface="ＭＳ Ｐゴシック" pitchFamily="-65" charset="-128"/>
              </a:rPr>
              <a:t>• </a:t>
            </a:r>
            <a:r>
              <a:rPr lang="en-US" sz="600" b="1" dirty="0">
                <a:latin typeface="Arial" charset="0"/>
                <a:ea typeface="ＭＳ Ｐゴシック" pitchFamily="-65" charset="-128"/>
              </a:rPr>
              <a:t>User mode</a:t>
            </a:r>
            <a:r>
              <a:rPr lang="en-US" sz="600" b="0" dirty="0">
                <a:latin typeface="Arial" charset="0"/>
                <a:ea typeface="ＭＳ Ｐゴシック" pitchFamily="-65" charset="-128"/>
              </a:rPr>
              <a:t>: Intercepts calls to APIs (application program interfaces) and modifies</a:t>
            </a:r>
          </a:p>
          <a:p>
            <a:pPr>
              <a:lnSpc>
                <a:spcPct val="80000"/>
              </a:lnSpc>
            </a:pPr>
            <a:r>
              <a:rPr lang="en-US" sz="600" b="0" dirty="0">
                <a:latin typeface="Arial" charset="0"/>
                <a:ea typeface="ＭＳ Ｐゴシック" pitchFamily="-65" charset="-128"/>
              </a:rPr>
              <a:t>returned results. For example, when an application performs a directory</a:t>
            </a:r>
          </a:p>
          <a:p>
            <a:pPr>
              <a:lnSpc>
                <a:spcPct val="80000"/>
              </a:lnSpc>
            </a:pPr>
            <a:r>
              <a:rPr lang="en-US" sz="600" b="0" dirty="0">
                <a:latin typeface="Arial" charset="0"/>
                <a:ea typeface="ＭＳ Ｐゴシック" pitchFamily="-65" charset="-128"/>
              </a:rPr>
              <a:t>listing, the return results don’t include entries identifying the files associated</a:t>
            </a:r>
          </a:p>
          <a:p>
            <a:pPr>
              <a:lnSpc>
                <a:spcPct val="80000"/>
              </a:lnSpc>
            </a:pPr>
            <a:r>
              <a:rPr lang="en-US" sz="600" b="0" dirty="0">
                <a:latin typeface="Arial" charset="0"/>
                <a:ea typeface="ＭＳ Ｐゴシック" pitchFamily="-65" charset="-128"/>
              </a:rPr>
              <a:t>with the </a:t>
            </a:r>
            <a:r>
              <a:rPr lang="en-US" sz="600" b="0" dirty="0" err="1">
                <a:latin typeface="Arial" charset="0"/>
                <a:ea typeface="ＭＳ Ｐゴシック" pitchFamily="-65" charset="-128"/>
              </a:rPr>
              <a:t>rootkit</a:t>
            </a:r>
            <a:r>
              <a:rPr lang="en-US" sz="600" b="0" dirty="0">
                <a:latin typeface="Arial" charset="0"/>
                <a:ea typeface="ＭＳ Ｐゴシック" pitchFamily="-65" charset="-128"/>
              </a:rPr>
              <a:t>.</a:t>
            </a:r>
          </a:p>
          <a:p>
            <a:pPr>
              <a:lnSpc>
                <a:spcPct val="80000"/>
              </a:lnSpc>
            </a:pPr>
            <a:endParaRPr lang="en-US" sz="600" b="0" dirty="0">
              <a:latin typeface="Arial" charset="0"/>
              <a:ea typeface="ＭＳ Ｐゴシック" pitchFamily="-65" charset="-128"/>
            </a:endParaRPr>
          </a:p>
          <a:p>
            <a:pPr>
              <a:lnSpc>
                <a:spcPct val="80000"/>
              </a:lnSpc>
            </a:pPr>
            <a:r>
              <a:rPr lang="en-US" sz="600" b="0" dirty="0">
                <a:latin typeface="Arial" charset="0"/>
                <a:ea typeface="ＭＳ Ｐゴシック" pitchFamily="-65" charset="-128"/>
              </a:rPr>
              <a:t>• </a:t>
            </a:r>
            <a:r>
              <a:rPr lang="en-US" sz="600" b="1" dirty="0">
                <a:latin typeface="Arial" charset="0"/>
                <a:ea typeface="ＭＳ Ｐゴシック" pitchFamily="-65" charset="-128"/>
              </a:rPr>
              <a:t>Kernel mode</a:t>
            </a:r>
            <a:r>
              <a:rPr lang="en-US" sz="600" b="0" dirty="0">
                <a:latin typeface="Arial" charset="0"/>
                <a:ea typeface="ＭＳ Ｐゴシック" pitchFamily="-65" charset="-128"/>
              </a:rPr>
              <a:t>: Can intercept calls to native APIs in kernel mode. The </a:t>
            </a:r>
            <a:r>
              <a:rPr lang="en-US" sz="600" b="0" dirty="0" err="1">
                <a:latin typeface="Arial" charset="0"/>
                <a:ea typeface="ＭＳ Ｐゴシック" pitchFamily="-65" charset="-128"/>
              </a:rPr>
              <a:t>rootkit</a:t>
            </a:r>
            <a:endParaRPr lang="en-US" sz="600" b="0" dirty="0">
              <a:latin typeface="Arial" charset="0"/>
              <a:ea typeface="ＭＳ Ｐゴシック" pitchFamily="-65" charset="-128"/>
            </a:endParaRPr>
          </a:p>
          <a:p>
            <a:pPr>
              <a:lnSpc>
                <a:spcPct val="80000"/>
              </a:lnSpc>
            </a:pPr>
            <a:r>
              <a:rPr lang="en-US" sz="600" b="0" dirty="0">
                <a:latin typeface="Arial" charset="0"/>
                <a:ea typeface="ＭＳ Ｐゴシック" pitchFamily="-65" charset="-128"/>
              </a:rPr>
              <a:t>can also hide the presence of a malware process by removing it from the</a:t>
            </a:r>
          </a:p>
          <a:p>
            <a:pPr>
              <a:lnSpc>
                <a:spcPct val="80000"/>
              </a:lnSpc>
            </a:pPr>
            <a:r>
              <a:rPr lang="en-US" sz="600" b="0" dirty="0">
                <a:latin typeface="Arial" charset="0"/>
                <a:ea typeface="ＭＳ Ｐゴシック" pitchFamily="-65" charset="-128"/>
              </a:rPr>
              <a:t>kernel’s list of active processes.</a:t>
            </a:r>
          </a:p>
          <a:p>
            <a:pPr>
              <a:lnSpc>
                <a:spcPct val="80000"/>
              </a:lnSpc>
            </a:pPr>
            <a:endParaRPr lang="en-US" sz="600" b="0" dirty="0">
              <a:latin typeface="Arial" charset="0"/>
              <a:ea typeface="ＭＳ Ｐゴシック" pitchFamily="-65" charset="-128"/>
            </a:endParaRPr>
          </a:p>
          <a:p>
            <a:pPr>
              <a:lnSpc>
                <a:spcPct val="80000"/>
              </a:lnSpc>
            </a:pPr>
            <a:r>
              <a:rPr lang="en-US" sz="600" b="0" dirty="0">
                <a:latin typeface="Arial" charset="0"/>
                <a:ea typeface="ＭＳ Ｐゴシック" pitchFamily="-65" charset="-128"/>
              </a:rPr>
              <a:t>• </a:t>
            </a:r>
            <a:r>
              <a:rPr lang="en-US" sz="600" b="1" dirty="0">
                <a:latin typeface="Arial" charset="0"/>
                <a:ea typeface="ＭＳ Ｐゴシック" pitchFamily="-65" charset="-128"/>
              </a:rPr>
              <a:t>Virtual machine based</a:t>
            </a:r>
            <a:r>
              <a:rPr lang="en-US" sz="600" b="0" dirty="0">
                <a:latin typeface="Arial" charset="0"/>
                <a:ea typeface="ＭＳ Ｐゴシック" pitchFamily="-65" charset="-128"/>
              </a:rPr>
              <a:t>: This type of </a:t>
            </a:r>
            <a:r>
              <a:rPr lang="en-US" sz="600" b="0" dirty="0" err="1">
                <a:latin typeface="Arial" charset="0"/>
                <a:ea typeface="ＭＳ Ｐゴシック" pitchFamily="-65" charset="-128"/>
              </a:rPr>
              <a:t>rootkit</a:t>
            </a:r>
            <a:r>
              <a:rPr lang="en-US" sz="600" b="0" dirty="0">
                <a:latin typeface="Arial" charset="0"/>
                <a:ea typeface="ＭＳ Ｐゴシック" pitchFamily="-65" charset="-128"/>
              </a:rPr>
              <a:t> installs a lightweight virtual</a:t>
            </a:r>
          </a:p>
          <a:p>
            <a:pPr>
              <a:lnSpc>
                <a:spcPct val="80000"/>
              </a:lnSpc>
            </a:pPr>
            <a:r>
              <a:rPr lang="en-US" sz="600" b="0" dirty="0">
                <a:latin typeface="Arial" charset="0"/>
                <a:ea typeface="ＭＳ Ｐゴシック" pitchFamily="-65" charset="-128"/>
              </a:rPr>
              <a:t>machine monitor, and then runs the operating system in a virtual machine</a:t>
            </a:r>
          </a:p>
          <a:p>
            <a:pPr>
              <a:lnSpc>
                <a:spcPct val="80000"/>
              </a:lnSpc>
            </a:pPr>
            <a:r>
              <a:rPr lang="en-US" sz="600" b="0" dirty="0">
                <a:latin typeface="Arial" charset="0"/>
                <a:ea typeface="ＭＳ Ｐゴシック" pitchFamily="-65" charset="-128"/>
              </a:rPr>
              <a:t>above it. The </a:t>
            </a:r>
            <a:r>
              <a:rPr lang="en-US" sz="600" b="0" dirty="0" err="1">
                <a:latin typeface="Arial" charset="0"/>
                <a:ea typeface="ＭＳ Ｐゴシック" pitchFamily="-65" charset="-128"/>
              </a:rPr>
              <a:t>rootkit</a:t>
            </a:r>
            <a:r>
              <a:rPr lang="en-US" sz="600" b="0" dirty="0">
                <a:latin typeface="Arial" charset="0"/>
                <a:ea typeface="ＭＳ Ｐゴシック" pitchFamily="-65" charset="-128"/>
              </a:rPr>
              <a:t> can then transparently intercept and modify states and</a:t>
            </a:r>
          </a:p>
          <a:p>
            <a:pPr>
              <a:lnSpc>
                <a:spcPct val="80000"/>
              </a:lnSpc>
            </a:pPr>
            <a:r>
              <a:rPr lang="en-US" sz="600" b="0" dirty="0">
                <a:latin typeface="Arial" charset="0"/>
                <a:ea typeface="ＭＳ Ｐゴシック" pitchFamily="-65" charset="-128"/>
              </a:rPr>
              <a:t>events occurring in the virtualized system.</a:t>
            </a:r>
          </a:p>
          <a:p>
            <a:pPr>
              <a:lnSpc>
                <a:spcPct val="80000"/>
              </a:lnSpc>
            </a:pPr>
            <a:endParaRPr lang="en-US" sz="600" b="0" dirty="0">
              <a:latin typeface="Arial" charset="0"/>
              <a:ea typeface="ＭＳ Ｐゴシック" pitchFamily="-65" charset="-128"/>
            </a:endParaRPr>
          </a:p>
          <a:p>
            <a:pPr>
              <a:lnSpc>
                <a:spcPct val="80000"/>
              </a:lnSpc>
            </a:pPr>
            <a:r>
              <a:rPr lang="en-US" sz="600" b="0" dirty="0">
                <a:latin typeface="Arial" charset="0"/>
                <a:ea typeface="ＭＳ Ｐゴシック" pitchFamily="-65" charset="-128"/>
              </a:rPr>
              <a:t>• </a:t>
            </a:r>
            <a:r>
              <a:rPr lang="en-US" sz="600" b="1" dirty="0">
                <a:latin typeface="Arial" charset="0"/>
                <a:ea typeface="ＭＳ Ｐゴシック" pitchFamily="-65" charset="-128"/>
              </a:rPr>
              <a:t>External mode</a:t>
            </a:r>
            <a:r>
              <a:rPr lang="en-US" sz="600" b="0" dirty="0">
                <a:latin typeface="Arial" charset="0"/>
                <a:ea typeface="ＭＳ Ｐゴシック" pitchFamily="-65" charset="-128"/>
              </a:rPr>
              <a:t>: The malware is located outside the normal operation mode</a:t>
            </a:r>
          </a:p>
          <a:p>
            <a:pPr>
              <a:lnSpc>
                <a:spcPct val="80000"/>
              </a:lnSpc>
            </a:pPr>
            <a:r>
              <a:rPr lang="en-US" sz="600" b="0" dirty="0">
                <a:latin typeface="Arial" charset="0"/>
                <a:ea typeface="ＭＳ Ｐゴシック" pitchFamily="-65" charset="-128"/>
              </a:rPr>
              <a:t>of the targeted system, in BIOS or system management mode, where it can</a:t>
            </a:r>
          </a:p>
          <a:p>
            <a:pPr>
              <a:lnSpc>
                <a:spcPct val="80000"/>
              </a:lnSpc>
            </a:pPr>
            <a:r>
              <a:rPr lang="en-US" sz="600" b="0" dirty="0">
                <a:latin typeface="Arial" charset="0"/>
                <a:ea typeface="ＭＳ Ｐゴシック" pitchFamily="-65" charset="-128"/>
              </a:rPr>
              <a:t>directly access hardware.</a:t>
            </a:r>
          </a:p>
          <a:p>
            <a:pPr>
              <a:lnSpc>
                <a:spcPct val="80000"/>
              </a:lnSpc>
            </a:pPr>
            <a:endParaRPr lang="en-US" sz="600" b="0" dirty="0">
              <a:latin typeface="Arial" charset="0"/>
              <a:ea typeface="ＭＳ Ｐゴシック" pitchFamily="-65" charset="-128"/>
            </a:endParaRPr>
          </a:p>
          <a:p>
            <a:pPr>
              <a:lnSpc>
                <a:spcPct val="80000"/>
              </a:lnSpc>
            </a:pPr>
            <a:r>
              <a:rPr lang="en-US" sz="600" b="0" dirty="0">
                <a:latin typeface="Arial" charset="0"/>
                <a:ea typeface="ＭＳ Ｐゴシック" pitchFamily="-65" charset="-128"/>
              </a:rPr>
              <a:t>This classification shows a continuing arms race between </a:t>
            </a:r>
            <a:r>
              <a:rPr lang="en-US" sz="600" b="0" dirty="0" err="1">
                <a:latin typeface="Arial" charset="0"/>
                <a:ea typeface="ＭＳ Ｐゴシック" pitchFamily="-65" charset="-128"/>
              </a:rPr>
              <a:t>rootkit</a:t>
            </a:r>
            <a:r>
              <a:rPr lang="en-US" sz="600" b="0" dirty="0">
                <a:latin typeface="Arial" charset="0"/>
                <a:ea typeface="ＭＳ Ｐゴシック" pitchFamily="-65" charset="-128"/>
              </a:rPr>
              <a:t> authors, who</a:t>
            </a:r>
          </a:p>
          <a:p>
            <a:pPr>
              <a:lnSpc>
                <a:spcPct val="80000"/>
              </a:lnSpc>
            </a:pPr>
            <a:r>
              <a:rPr lang="en-US" sz="600" b="0" dirty="0">
                <a:latin typeface="Arial" charset="0"/>
                <a:ea typeface="ＭＳ Ｐゴシック" pitchFamily="-65" charset="-128"/>
              </a:rPr>
              <a:t>exploit ever more stealthy mechanisms to hide their code, and those who develop</a:t>
            </a:r>
          </a:p>
          <a:p>
            <a:pPr>
              <a:lnSpc>
                <a:spcPct val="80000"/>
              </a:lnSpc>
            </a:pPr>
            <a:r>
              <a:rPr lang="en-US" sz="600" b="0" dirty="0">
                <a:latin typeface="Arial" charset="0"/>
                <a:ea typeface="ＭＳ Ｐゴシック" pitchFamily="-65" charset="-128"/>
              </a:rPr>
              <a:t>mechanisms to harden systems against such subversion, or to detect when it has</a:t>
            </a:r>
          </a:p>
          <a:p>
            <a:pPr>
              <a:lnSpc>
                <a:spcPct val="80000"/>
              </a:lnSpc>
            </a:pPr>
            <a:r>
              <a:rPr lang="en-US" sz="600" b="0" dirty="0">
                <a:latin typeface="Arial" charset="0"/>
                <a:ea typeface="ＭＳ Ｐゴシック" pitchFamily="-65" charset="-128"/>
              </a:rPr>
              <a:t>occurred. Much of this advance is associated with finding “layer-below” forms of</a:t>
            </a:r>
          </a:p>
          <a:p>
            <a:pPr>
              <a:lnSpc>
                <a:spcPct val="80000"/>
              </a:lnSpc>
            </a:pPr>
            <a:r>
              <a:rPr lang="en-US" sz="600" b="0" dirty="0">
                <a:latin typeface="Arial" charset="0"/>
                <a:ea typeface="ＭＳ Ｐゴシック" pitchFamily="-65" charset="-128"/>
              </a:rPr>
              <a:t>attack. The early </a:t>
            </a:r>
            <a:r>
              <a:rPr lang="en-US" sz="600" b="0" dirty="0" err="1">
                <a:latin typeface="Arial" charset="0"/>
                <a:ea typeface="ＭＳ Ｐゴシック" pitchFamily="-65" charset="-128"/>
              </a:rPr>
              <a:t>rootkits</a:t>
            </a:r>
            <a:r>
              <a:rPr lang="en-US" sz="600" b="0" dirty="0">
                <a:latin typeface="Arial" charset="0"/>
                <a:ea typeface="ＭＳ Ｐゴシック" pitchFamily="-65" charset="-128"/>
              </a:rPr>
              <a:t> worked in user mode, modifying utility programs and</a:t>
            </a:r>
          </a:p>
          <a:p>
            <a:pPr>
              <a:lnSpc>
                <a:spcPct val="80000"/>
              </a:lnSpc>
            </a:pPr>
            <a:r>
              <a:rPr lang="en-US" sz="600" b="0" dirty="0">
                <a:latin typeface="Arial" charset="0"/>
                <a:ea typeface="ＭＳ Ｐゴシック" pitchFamily="-65" charset="-128"/>
              </a:rPr>
              <a:t>libraries in order to hide their presence. The changes they made could be detected</a:t>
            </a:r>
          </a:p>
          <a:p>
            <a:pPr>
              <a:lnSpc>
                <a:spcPct val="80000"/>
              </a:lnSpc>
            </a:pPr>
            <a:r>
              <a:rPr lang="en-US" sz="600" b="0" dirty="0">
                <a:latin typeface="Arial" charset="0"/>
                <a:ea typeface="ＭＳ Ｐゴシック" pitchFamily="-65" charset="-128"/>
              </a:rPr>
              <a:t>by code in the kernel, as this operated in the layer below the user. Later-generation</a:t>
            </a:r>
          </a:p>
          <a:p>
            <a:pPr>
              <a:lnSpc>
                <a:spcPct val="80000"/>
              </a:lnSpc>
            </a:pPr>
            <a:r>
              <a:rPr lang="en-US" sz="600" b="0" dirty="0" err="1">
                <a:latin typeface="Arial" charset="0"/>
                <a:ea typeface="ＭＳ Ｐゴシック" pitchFamily="-65" charset="-128"/>
              </a:rPr>
              <a:t>rootkits</a:t>
            </a:r>
            <a:r>
              <a:rPr lang="en-US" sz="600" b="0" dirty="0">
                <a:latin typeface="Arial" charset="0"/>
                <a:ea typeface="ＭＳ Ｐゴシック" pitchFamily="-65" charset="-128"/>
              </a:rPr>
              <a:t> used more stealthy techniques, as we discuss next.</a:t>
            </a:r>
          </a:p>
        </p:txBody>
      </p:sp>
      <p:sp>
        <p:nvSpPr>
          <p:cNvPr id="81924" name="Slide Number Placeholder 3"/>
          <p:cNvSpPr>
            <a:spLocks noGrp="1"/>
          </p:cNvSpPr>
          <p:nvPr>
            <p:ph type="sldNum" sz="quarter" idx="5"/>
          </p:nvPr>
        </p:nvSpPr>
        <p:spPr>
          <a:noFill/>
        </p:spPr>
        <p:txBody>
          <a:bodyPr/>
          <a:lstStyle/>
          <a:p>
            <a:fld id="{DFD0395C-B016-40E2-B37C-ED63B6628E9C}" type="slidenum">
              <a:rPr lang="en-AU"/>
              <a:pPr/>
              <a:t>42</a:t>
            </a:fld>
            <a:endParaRPr lang="en-AU"/>
          </a:p>
        </p:txBody>
      </p:sp>
    </p:spTree>
    <p:extLst>
      <p:ext uri="{BB962C8B-B14F-4D97-AF65-F5344CB8AC3E}">
        <p14:creationId xmlns:p14="http://schemas.microsoft.com/office/powerpoint/2010/main" val="41315343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85000" lnSpcReduction="20000"/>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 The ideal solution to the threat of malware is prevention: Do not allow malware to</a:t>
            </a:r>
          </a:p>
          <a:p>
            <a:r>
              <a:rPr lang="en-US" sz="1200" kern="1200" dirty="0">
                <a:solidFill>
                  <a:schemeClr val="tx1"/>
                </a:solidFill>
                <a:effectLst/>
                <a:latin typeface="Arial" pitchFamily="-110" charset="0"/>
                <a:ea typeface="ＭＳ Ｐゴシック" pitchFamily="-110" charset="-128"/>
                <a:cs typeface="ＭＳ Ｐゴシック" pitchFamily="-110" charset="-128"/>
              </a:rPr>
              <a:t>get into the system in the first place, or block the ability of it to modify the system.</a:t>
            </a:r>
          </a:p>
          <a:p>
            <a:r>
              <a:rPr lang="en-US" sz="1200" kern="1200" dirty="0">
                <a:solidFill>
                  <a:schemeClr val="tx1"/>
                </a:solidFill>
                <a:effectLst/>
                <a:latin typeface="Arial" pitchFamily="-110" charset="0"/>
                <a:ea typeface="ＭＳ Ｐゴシック" pitchFamily="-110" charset="-128"/>
                <a:cs typeface="ＭＳ Ｐゴシック" pitchFamily="-110" charset="-128"/>
              </a:rPr>
              <a:t>This goal is, in general, nearly impossible to achieve, although taking suitable countermeasures</a:t>
            </a:r>
          </a:p>
          <a:p>
            <a:r>
              <a:rPr lang="en-US" sz="1200" kern="1200" dirty="0">
                <a:solidFill>
                  <a:schemeClr val="tx1"/>
                </a:solidFill>
                <a:effectLst/>
                <a:latin typeface="Arial" pitchFamily="-110" charset="0"/>
                <a:ea typeface="ＭＳ Ｐゴシック" pitchFamily="-110" charset="-128"/>
                <a:cs typeface="ＭＳ Ｐゴシック" pitchFamily="-110" charset="-128"/>
              </a:rPr>
              <a:t>to harden systems and users in preventing infection can significantly reduce</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number of successful malware attacks. NIST SP 800-83 suggests there are four</a:t>
            </a:r>
          </a:p>
          <a:p>
            <a:r>
              <a:rPr lang="en-US" sz="1200" kern="1200" dirty="0">
                <a:solidFill>
                  <a:schemeClr val="tx1"/>
                </a:solidFill>
                <a:effectLst/>
                <a:latin typeface="Arial" pitchFamily="-110" charset="0"/>
                <a:ea typeface="ＭＳ Ｐゴシック" pitchFamily="-110" charset="-128"/>
                <a:cs typeface="ＭＳ Ｐゴシック" pitchFamily="-110" charset="-128"/>
              </a:rPr>
              <a:t>main elements of prevention: policy, awareness, vulnerability mitigation, and threat</a:t>
            </a:r>
          </a:p>
          <a:p>
            <a:r>
              <a:rPr lang="en-US" sz="1200" kern="1200" dirty="0">
                <a:solidFill>
                  <a:schemeClr val="tx1"/>
                </a:solidFill>
                <a:effectLst/>
                <a:latin typeface="Arial" pitchFamily="-110" charset="0"/>
                <a:ea typeface="ＭＳ Ｐゴシック" pitchFamily="-110" charset="-128"/>
                <a:cs typeface="ＭＳ Ｐゴシック" pitchFamily="-110" charset="-128"/>
              </a:rPr>
              <a:t>mitigation. Having a suitable policy to address malware prevention provides a basis</a:t>
            </a:r>
          </a:p>
          <a:p>
            <a:r>
              <a:rPr lang="en-US" sz="1200" kern="1200" dirty="0">
                <a:solidFill>
                  <a:schemeClr val="tx1"/>
                </a:solidFill>
                <a:effectLst/>
                <a:latin typeface="Arial" pitchFamily="-110" charset="0"/>
                <a:ea typeface="ＭＳ Ｐゴシック" pitchFamily="-110" charset="-128"/>
                <a:cs typeface="ＭＳ Ｐゴシック" pitchFamily="-110" charset="-128"/>
              </a:rPr>
              <a:t>for implementing appropriate preventative countermeasures.</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One of the first countermeasures that should be employed is to ensure all</a:t>
            </a:r>
          </a:p>
          <a:p>
            <a:pPr>
              <a:lnSpc>
                <a:spcPct val="80000"/>
              </a:lnSpc>
            </a:pPr>
            <a:r>
              <a:rPr lang="en-US" sz="300" dirty="0">
                <a:latin typeface="Arial" charset="0"/>
                <a:ea typeface="ＭＳ Ｐゴシック" pitchFamily="-65" charset="-128"/>
              </a:rPr>
              <a:t>systems are as current as possible, with all patches applied, in order to reduce the</a:t>
            </a:r>
          </a:p>
          <a:p>
            <a:pPr>
              <a:lnSpc>
                <a:spcPct val="80000"/>
              </a:lnSpc>
            </a:pPr>
            <a:r>
              <a:rPr lang="en-US" sz="300" dirty="0">
                <a:latin typeface="Arial" charset="0"/>
                <a:ea typeface="ＭＳ Ｐゴシック" pitchFamily="-65" charset="-128"/>
              </a:rPr>
              <a:t>number of vulnerabilities that might be exploited on the system. The next is to set</a:t>
            </a:r>
          </a:p>
          <a:p>
            <a:pPr>
              <a:lnSpc>
                <a:spcPct val="80000"/>
              </a:lnSpc>
            </a:pPr>
            <a:r>
              <a:rPr lang="en-US" sz="300" dirty="0">
                <a:latin typeface="Arial" charset="0"/>
                <a:ea typeface="ＭＳ Ｐゴシック" pitchFamily="-65" charset="-128"/>
              </a:rPr>
              <a:t>appropriate access controls on the applications and data stored on the system, to</a:t>
            </a:r>
          </a:p>
          <a:p>
            <a:pPr>
              <a:lnSpc>
                <a:spcPct val="80000"/>
              </a:lnSpc>
            </a:pPr>
            <a:r>
              <a:rPr lang="en-US" sz="300" dirty="0">
                <a:latin typeface="Arial" charset="0"/>
                <a:ea typeface="ＭＳ Ｐゴシック" pitchFamily="-65" charset="-128"/>
              </a:rPr>
              <a:t>reduce the number of files that any user can access, and hence potentially infect or</a:t>
            </a:r>
          </a:p>
          <a:p>
            <a:pPr>
              <a:lnSpc>
                <a:spcPct val="80000"/>
              </a:lnSpc>
            </a:pPr>
            <a:r>
              <a:rPr lang="en-US" sz="300" dirty="0">
                <a:latin typeface="Arial" charset="0"/>
                <a:ea typeface="ＭＳ Ｐゴシック" pitchFamily="-65" charset="-128"/>
              </a:rPr>
              <a:t>corrupt, as a result of them executing some malware code. These measures directly</a:t>
            </a:r>
          </a:p>
          <a:p>
            <a:pPr>
              <a:lnSpc>
                <a:spcPct val="80000"/>
              </a:lnSpc>
            </a:pPr>
            <a:r>
              <a:rPr lang="en-US" sz="300" dirty="0">
                <a:latin typeface="Arial" charset="0"/>
                <a:ea typeface="ＭＳ Ｐゴシック" pitchFamily="-65" charset="-128"/>
              </a:rPr>
              <a:t>target the key propagation mechanisms used by worms, viruses, and some Trojans.</a:t>
            </a:r>
          </a:p>
          <a:p>
            <a:pPr>
              <a:lnSpc>
                <a:spcPct val="80000"/>
              </a:lnSpc>
            </a:pPr>
            <a:r>
              <a:rPr lang="en-US" sz="300" dirty="0">
                <a:latin typeface="Arial" charset="0"/>
                <a:ea typeface="ＭＳ Ｐゴシック" pitchFamily="-65" charset="-128"/>
              </a:rPr>
              <a:t>We discuss them further in Chapter 12 when we discuss hardening operating systems</a:t>
            </a:r>
          </a:p>
          <a:p>
            <a:pPr>
              <a:lnSpc>
                <a:spcPct val="80000"/>
              </a:lnSpc>
            </a:pPr>
            <a:r>
              <a:rPr lang="en-US" sz="300" dirty="0">
                <a:latin typeface="Arial" charset="0"/>
                <a:ea typeface="ＭＳ Ｐゴシック" pitchFamily="-65" charset="-128"/>
              </a:rPr>
              <a:t>and applications.</a:t>
            </a:r>
          </a:p>
          <a:p>
            <a:pPr>
              <a:lnSpc>
                <a:spcPct val="80000"/>
              </a:lnSpc>
            </a:pPr>
            <a:endParaRPr lang="en-US" sz="300" dirty="0">
              <a:latin typeface="Arial" charset="0"/>
              <a:ea typeface="ＭＳ Ｐゴシック" pitchFamily="-65"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 The third common propagation mechanism, which targets users in a social engineering</a:t>
            </a:r>
          </a:p>
          <a:p>
            <a:r>
              <a:rPr lang="en-US" sz="1200" kern="1200" dirty="0">
                <a:solidFill>
                  <a:schemeClr val="tx1"/>
                </a:solidFill>
                <a:effectLst/>
                <a:latin typeface="Arial" pitchFamily="-110" charset="0"/>
                <a:ea typeface="ＭＳ Ｐゴシック" pitchFamily="-110" charset="-128"/>
                <a:cs typeface="ＭＳ Ｐゴシック" pitchFamily="-110" charset="-128"/>
              </a:rPr>
              <a:t>attack, can be countered using appropriate user awareness and training. This</a:t>
            </a:r>
          </a:p>
          <a:p>
            <a:r>
              <a:rPr lang="en-US" sz="1200" kern="1200" dirty="0">
                <a:solidFill>
                  <a:schemeClr val="tx1"/>
                </a:solidFill>
                <a:effectLst/>
                <a:latin typeface="Arial" pitchFamily="-110" charset="0"/>
                <a:ea typeface="ＭＳ Ｐゴシック" pitchFamily="-110" charset="-128"/>
                <a:cs typeface="ＭＳ Ｐゴシック" pitchFamily="-110" charset="-128"/>
              </a:rPr>
              <a:t>aims to equip users to be more aware of these attacks, and less likely to take actions</a:t>
            </a:r>
          </a:p>
          <a:p>
            <a:r>
              <a:rPr lang="en-US" sz="1200" kern="1200" dirty="0">
                <a:solidFill>
                  <a:schemeClr val="tx1"/>
                </a:solidFill>
                <a:effectLst/>
                <a:latin typeface="Arial" pitchFamily="-110" charset="0"/>
                <a:ea typeface="ＭＳ Ｐゴシック" pitchFamily="-110" charset="-128"/>
                <a:cs typeface="ＭＳ Ｐゴシック" pitchFamily="-110" charset="-128"/>
              </a:rPr>
              <a:t>that result in their compromise. NIST SP 800-83 provides examples of suitable awareness</a:t>
            </a:r>
          </a:p>
          <a:p>
            <a:r>
              <a:rPr lang="en-US" sz="1200" kern="1200" dirty="0">
                <a:solidFill>
                  <a:schemeClr val="tx1"/>
                </a:solidFill>
                <a:effectLst/>
                <a:latin typeface="Arial" pitchFamily="-110" charset="0"/>
                <a:ea typeface="ＭＳ Ｐゴシック" pitchFamily="-110" charset="-128"/>
                <a:cs typeface="ＭＳ Ｐゴシック" pitchFamily="-110" charset="-128"/>
              </a:rPr>
              <a:t>issues. We will return to this topic in Chapter 17.</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If prevention fails, then technical mechanisms can be used to support the</a:t>
            </a:r>
          </a:p>
          <a:p>
            <a:pPr>
              <a:lnSpc>
                <a:spcPct val="80000"/>
              </a:lnSpc>
            </a:pPr>
            <a:r>
              <a:rPr lang="en-US" sz="300" dirty="0">
                <a:latin typeface="Arial" charset="0"/>
                <a:ea typeface="ＭＳ Ｐゴシック" pitchFamily="-65" charset="-128"/>
              </a:rPr>
              <a:t>following threat mitigation options:</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Detection: </a:t>
            </a:r>
            <a:r>
              <a:rPr lang="en-US" sz="300" b="0" dirty="0">
                <a:latin typeface="Arial" charset="0"/>
                <a:ea typeface="ＭＳ Ｐゴシック" pitchFamily="-65" charset="-128"/>
              </a:rPr>
              <a:t>Once the infection has occurred, determine that it has occurred</a:t>
            </a:r>
          </a:p>
          <a:p>
            <a:pPr>
              <a:lnSpc>
                <a:spcPct val="80000"/>
              </a:lnSpc>
            </a:pPr>
            <a:r>
              <a:rPr lang="en-US" sz="300" dirty="0">
                <a:latin typeface="Arial" charset="0"/>
                <a:ea typeface="ＭＳ Ｐゴシック" pitchFamily="-65" charset="-128"/>
              </a:rPr>
              <a:t>and locate the malware.</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Identification: </a:t>
            </a:r>
            <a:r>
              <a:rPr lang="en-US" sz="300" b="0" dirty="0">
                <a:latin typeface="Arial" charset="0"/>
                <a:ea typeface="ＭＳ Ｐゴシック" pitchFamily="-65" charset="-128"/>
              </a:rPr>
              <a:t>Once detection has been achieved, identify the specific malware</a:t>
            </a:r>
          </a:p>
          <a:p>
            <a:pPr>
              <a:lnSpc>
                <a:spcPct val="80000"/>
              </a:lnSpc>
            </a:pPr>
            <a:r>
              <a:rPr lang="en-US" sz="300" dirty="0">
                <a:latin typeface="Arial" charset="0"/>
                <a:ea typeface="ＭＳ Ｐゴシック" pitchFamily="-65" charset="-128"/>
              </a:rPr>
              <a:t>that has infected the system.</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Removal: </a:t>
            </a:r>
            <a:r>
              <a:rPr lang="en-US" sz="300" b="0" dirty="0">
                <a:latin typeface="Arial" charset="0"/>
                <a:ea typeface="ＭＳ Ｐゴシック" pitchFamily="-65" charset="-128"/>
              </a:rPr>
              <a:t>Once the specific malware has been identified, remove all traces of</a:t>
            </a:r>
          </a:p>
          <a:p>
            <a:pPr>
              <a:lnSpc>
                <a:spcPct val="80000"/>
              </a:lnSpc>
            </a:pPr>
            <a:r>
              <a:rPr lang="en-US" sz="300" dirty="0">
                <a:latin typeface="Arial" charset="0"/>
                <a:ea typeface="ＭＳ Ｐゴシック" pitchFamily="-65" charset="-128"/>
              </a:rPr>
              <a:t>malware virus from all infected systems so that it cannot spread further.</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If detection succeeds but either identification or removal is not possible, then the</a:t>
            </a:r>
          </a:p>
          <a:p>
            <a:pPr>
              <a:lnSpc>
                <a:spcPct val="80000"/>
              </a:lnSpc>
            </a:pPr>
            <a:r>
              <a:rPr lang="en-US" sz="300" dirty="0">
                <a:latin typeface="Arial" charset="0"/>
                <a:ea typeface="ＭＳ Ｐゴシック" pitchFamily="-65" charset="-128"/>
              </a:rPr>
              <a:t>alternative is to discard any infected or malicious files and reload a clean backup</a:t>
            </a:r>
          </a:p>
          <a:p>
            <a:pPr>
              <a:lnSpc>
                <a:spcPct val="80000"/>
              </a:lnSpc>
            </a:pPr>
            <a:r>
              <a:rPr lang="en-US" sz="300" dirty="0">
                <a:latin typeface="Arial" charset="0"/>
                <a:ea typeface="ＭＳ Ｐゴシック" pitchFamily="-65" charset="-128"/>
              </a:rPr>
              <a:t>version. In the case of some particularly nasty infections, this may require a complete</a:t>
            </a:r>
          </a:p>
          <a:p>
            <a:pPr>
              <a:lnSpc>
                <a:spcPct val="80000"/>
              </a:lnSpc>
            </a:pPr>
            <a:r>
              <a:rPr lang="en-US" sz="300" dirty="0">
                <a:latin typeface="Arial" charset="0"/>
                <a:ea typeface="ＭＳ Ｐゴシック" pitchFamily="-65" charset="-128"/>
              </a:rPr>
              <a:t>wipe of all storage, and rebuild of the infected system from known clean media.</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To begin, let us consider some requirements for effective malware countermeasures:</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Generality: </a:t>
            </a:r>
            <a:r>
              <a:rPr lang="en-US" sz="300" b="0" dirty="0">
                <a:latin typeface="Arial" charset="0"/>
                <a:ea typeface="ＭＳ Ｐゴシック" pitchFamily="-65" charset="-128"/>
              </a:rPr>
              <a:t>The approach taken should be able to handle a wide variety of attacks.</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Timeliness: </a:t>
            </a:r>
            <a:r>
              <a:rPr lang="en-US" sz="300" b="0" dirty="0">
                <a:latin typeface="Arial" charset="0"/>
                <a:ea typeface="ＭＳ Ｐゴシック" pitchFamily="-65" charset="-128"/>
              </a:rPr>
              <a:t>The approach should respond quickly so as to limit the number of</a:t>
            </a:r>
          </a:p>
          <a:p>
            <a:pPr>
              <a:lnSpc>
                <a:spcPct val="80000"/>
              </a:lnSpc>
            </a:pPr>
            <a:r>
              <a:rPr lang="en-US" sz="300" dirty="0">
                <a:latin typeface="Arial" charset="0"/>
                <a:ea typeface="ＭＳ Ｐゴシック" pitchFamily="-65" charset="-128"/>
              </a:rPr>
              <a:t>infected programs or systems and the consequent activity.</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Resiliency: </a:t>
            </a:r>
            <a:r>
              <a:rPr lang="en-US" sz="300" b="0" dirty="0">
                <a:latin typeface="Arial" charset="0"/>
                <a:ea typeface="ＭＳ Ｐゴシック" pitchFamily="-65" charset="-128"/>
              </a:rPr>
              <a:t>The approach should be resistant to evasion techniques employed</a:t>
            </a:r>
          </a:p>
          <a:p>
            <a:pPr>
              <a:lnSpc>
                <a:spcPct val="80000"/>
              </a:lnSpc>
            </a:pPr>
            <a:r>
              <a:rPr lang="en-US" sz="300" dirty="0">
                <a:latin typeface="Arial" charset="0"/>
                <a:ea typeface="ＭＳ Ｐゴシック" pitchFamily="-65" charset="-128"/>
              </a:rPr>
              <a:t>by attackers to hide the presence of their malware.</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Minimal denial-of-service costs: </a:t>
            </a:r>
            <a:r>
              <a:rPr lang="en-US" sz="300" b="0" dirty="0">
                <a:latin typeface="Arial" charset="0"/>
                <a:ea typeface="ＭＳ Ｐゴシック" pitchFamily="-65" charset="-128"/>
              </a:rPr>
              <a:t>The approach should result in minimal reduction</a:t>
            </a:r>
          </a:p>
          <a:p>
            <a:pPr>
              <a:lnSpc>
                <a:spcPct val="80000"/>
              </a:lnSpc>
            </a:pPr>
            <a:r>
              <a:rPr lang="en-US" sz="300" dirty="0">
                <a:latin typeface="Arial" charset="0"/>
                <a:ea typeface="ＭＳ Ｐゴシック" pitchFamily="-65" charset="-128"/>
              </a:rPr>
              <a:t>in capacity or service due to the actions of the countermeasure software,</a:t>
            </a:r>
          </a:p>
          <a:p>
            <a:pPr>
              <a:lnSpc>
                <a:spcPct val="80000"/>
              </a:lnSpc>
            </a:pPr>
            <a:r>
              <a:rPr lang="en-US" sz="300" dirty="0">
                <a:latin typeface="Arial" charset="0"/>
                <a:ea typeface="ＭＳ Ｐゴシック" pitchFamily="-65" charset="-128"/>
              </a:rPr>
              <a:t>and should not significantly disrupt normal operation.</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Transparency: </a:t>
            </a:r>
            <a:r>
              <a:rPr lang="en-US" sz="300" b="0" dirty="0">
                <a:latin typeface="Arial" charset="0"/>
                <a:ea typeface="ＭＳ Ｐゴシック" pitchFamily="-65" charset="-128"/>
              </a:rPr>
              <a:t>The countermeasure software and devices should not require</a:t>
            </a:r>
          </a:p>
          <a:p>
            <a:pPr>
              <a:lnSpc>
                <a:spcPct val="80000"/>
              </a:lnSpc>
            </a:pPr>
            <a:r>
              <a:rPr lang="en-US" sz="300" dirty="0">
                <a:latin typeface="Arial" charset="0"/>
                <a:ea typeface="ＭＳ Ｐゴシック" pitchFamily="-65" charset="-128"/>
              </a:rPr>
              <a:t>modification to existing (legacy) </a:t>
            </a:r>
            <a:r>
              <a:rPr lang="en-US" sz="300" dirty="0" err="1">
                <a:latin typeface="Arial" charset="0"/>
                <a:ea typeface="ＭＳ Ｐゴシック" pitchFamily="-65" charset="-128"/>
              </a:rPr>
              <a:t>OSs</a:t>
            </a:r>
            <a:r>
              <a:rPr lang="en-US" sz="300" dirty="0">
                <a:latin typeface="Arial" charset="0"/>
                <a:ea typeface="ＭＳ Ｐゴシック" pitchFamily="-65" charset="-128"/>
              </a:rPr>
              <a:t>, application software, and hardware.</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 </a:t>
            </a:r>
            <a:r>
              <a:rPr lang="en-US" sz="300" b="1" dirty="0">
                <a:latin typeface="Arial" charset="0"/>
                <a:ea typeface="ＭＳ Ｐゴシック" pitchFamily="-65" charset="-128"/>
              </a:rPr>
              <a:t>Global and local coverage: </a:t>
            </a:r>
            <a:r>
              <a:rPr lang="en-US" sz="300" b="0" dirty="0">
                <a:latin typeface="Arial" charset="0"/>
                <a:ea typeface="ＭＳ Ｐゴシック" pitchFamily="-65" charset="-128"/>
              </a:rPr>
              <a:t>The approach should be able to deal with attack</a:t>
            </a:r>
          </a:p>
          <a:p>
            <a:pPr>
              <a:lnSpc>
                <a:spcPct val="80000"/>
              </a:lnSpc>
            </a:pPr>
            <a:r>
              <a:rPr lang="en-US" sz="300" dirty="0">
                <a:latin typeface="Arial" charset="0"/>
                <a:ea typeface="ＭＳ Ｐゴシック" pitchFamily="-65" charset="-128"/>
              </a:rPr>
              <a:t>sources both from outside and inside the enterprise network.</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Achieving all these requirements often requires the use of multiple approaches.</a:t>
            </a:r>
          </a:p>
          <a:p>
            <a:pPr>
              <a:lnSpc>
                <a:spcPct val="80000"/>
              </a:lnSpc>
            </a:pPr>
            <a:endParaRPr lang="en-US" sz="300" dirty="0">
              <a:latin typeface="Arial" charset="0"/>
              <a:ea typeface="ＭＳ Ｐゴシック" pitchFamily="-65" charset="-128"/>
            </a:endParaRPr>
          </a:p>
          <a:p>
            <a:pPr>
              <a:lnSpc>
                <a:spcPct val="80000"/>
              </a:lnSpc>
            </a:pPr>
            <a:r>
              <a:rPr lang="en-US" sz="300" dirty="0">
                <a:latin typeface="Arial" charset="0"/>
                <a:ea typeface="ＭＳ Ｐゴシック" pitchFamily="-65" charset="-128"/>
              </a:rPr>
              <a:t>Detection of the presence of malware can occur in a number of locations. It</a:t>
            </a:r>
          </a:p>
          <a:p>
            <a:pPr>
              <a:lnSpc>
                <a:spcPct val="80000"/>
              </a:lnSpc>
            </a:pPr>
            <a:r>
              <a:rPr lang="en-US" sz="300" dirty="0">
                <a:latin typeface="Arial" charset="0"/>
                <a:ea typeface="ＭＳ Ｐゴシック" pitchFamily="-65" charset="-128"/>
              </a:rPr>
              <a:t>may occur on the infected system, where some host-based “anti-virus” program is</a:t>
            </a:r>
          </a:p>
          <a:p>
            <a:pPr>
              <a:lnSpc>
                <a:spcPct val="80000"/>
              </a:lnSpc>
            </a:pPr>
            <a:r>
              <a:rPr lang="en-US" sz="300" dirty="0">
                <a:latin typeface="Arial" charset="0"/>
                <a:ea typeface="ＭＳ Ｐゴシック" pitchFamily="-65" charset="-128"/>
              </a:rPr>
              <a:t>running, monitoring data imported into the system, and the execution and behavior</a:t>
            </a:r>
          </a:p>
          <a:p>
            <a:pPr>
              <a:lnSpc>
                <a:spcPct val="80000"/>
              </a:lnSpc>
            </a:pPr>
            <a:r>
              <a:rPr lang="en-US" sz="300" dirty="0">
                <a:latin typeface="Arial" charset="0"/>
                <a:ea typeface="ＭＳ Ｐゴシック" pitchFamily="-65" charset="-128"/>
              </a:rPr>
              <a:t>of programs running on the system. Or, it may take place as part of the perimeter</a:t>
            </a:r>
          </a:p>
          <a:p>
            <a:pPr>
              <a:lnSpc>
                <a:spcPct val="80000"/>
              </a:lnSpc>
            </a:pPr>
            <a:r>
              <a:rPr lang="en-US" sz="300" dirty="0">
                <a:latin typeface="Arial" charset="0"/>
                <a:ea typeface="ＭＳ Ｐゴシック" pitchFamily="-65" charset="-128"/>
              </a:rPr>
              <a:t>security mechanisms used in an organization’s firewall and intrusion detection</a:t>
            </a:r>
          </a:p>
          <a:p>
            <a:pPr>
              <a:lnSpc>
                <a:spcPct val="80000"/>
              </a:lnSpc>
            </a:pPr>
            <a:r>
              <a:rPr lang="en-US" sz="300" dirty="0">
                <a:latin typeface="Arial" charset="0"/>
                <a:ea typeface="ＭＳ Ｐゴシック" pitchFamily="-65" charset="-128"/>
              </a:rPr>
              <a:t>systems (IDS). Lastly, detection may use distributed mechanisms that gather data</a:t>
            </a:r>
          </a:p>
          <a:p>
            <a:pPr>
              <a:lnSpc>
                <a:spcPct val="80000"/>
              </a:lnSpc>
            </a:pPr>
            <a:r>
              <a:rPr lang="en-US" sz="300" dirty="0">
                <a:latin typeface="Arial" charset="0"/>
                <a:ea typeface="ＭＳ Ｐゴシック" pitchFamily="-65" charset="-128"/>
              </a:rPr>
              <a:t>from both host-based and perimeter sensors, potentially over a large number of</a:t>
            </a:r>
          </a:p>
          <a:p>
            <a:pPr>
              <a:lnSpc>
                <a:spcPct val="80000"/>
              </a:lnSpc>
            </a:pPr>
            <a:r>
              <a:rPr lang="en-US" sz="300" dirty="0">
                <a:latin typeface="Arial" charset="0"/>
                <a:ea typeface="ＭＳ Ｐゴシック" pitchFamily="-65" charset="-128"/>
              </a:rPr>
              <a:t>networks and organizations, in order to obtain the largest scale view of the movement</a:t>
            </a:r>
          </a:p>
          <a:p>
            <a:pPr>
              <a:lnSpc>
                <a:spcPct val="80000"/>
              </a:lnSpc>
            </a:pPr>
            <a:r>
              <a:rPr lang="en-US" sz="300" dirty="0">
                <a:latin typeface="Arial" charset="0"/>
                <a:ea typeface="ＭＳ Ｐゴシック" pitchFamily="-65" charset="-128"/>
              </a:rPr>
              <a:t>of malware. We now consider each of these approaches in more detail.</a:t>
            </a:r>
          </a:p>
        </p:txBody>
      </p:sp>
      <p:sp>
        <p:nvSpPr>
          <p:cNvPr id="86020" name="Slide Number Placeholder 3"/>
          <p:cNvSpPr>
            <a:spLocks noGrp="1"/>
          </p:cNvSpPr>
          <p:nvPr>
            <p:ph type="sldNum" sz="quarter" idx="5"/>
          </p:nvPr>
        </p:nvSpPr>
        <p:spPr>
          <a:noFill/>
        </p:spPr>
        <p:txBody>
          <a:bodyPr/>
          <a:lstStyle/>
          <a:p>
            <a:fld id="{BB27E824-F892-40CE-AB56-248E9936AD89}" type="slidenum">
              <a:rPr lang="en-AU"/>
              <a:pPr/>
              <a:t>43</a:t>
            </a:fld>
            <a:endParaRPr lang="en-AU"/>
          </a:p>
        </p:txBody>
      </p:sp>
    </p:spTree>
    <p:extLst>
      <p:ext uri="{BB962C8B-B14F-4D97-AF65-F5344CB8AC3E}">
        <p14:creationId xmlns:p14="http://schemas.microsoft.com/office/powerpoint/2010/main" val="14183351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32500" lnSpcReduction="20000"/>
          </a:bodyPr>
          <a:lstStyle/>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The first location where anti-virus software is used is on each end system. This gives the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software the maximum access to information on not only the behavior of the malware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as it interacts with the targeted system, but also the smallest overall view of malware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activity. The use of anti-virus software on personal computers is now widespread, in</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part caused by the explosive growth in malware volume and activity. This software can</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be regarded as a form of host-based intrusion detection system, which we discuss more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generally in Section 8.4. Advances in virus and other malware technology, and in antivirus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technology and other countermeasures, go hand in hand. Early malware used relatively</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simple and easily detected code, and hence could be identified and purged with</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relatively simple anti-virus software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packages. As the malware arms race has evolved,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both the malware code and, necessarily,</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anti-virus software have grown more complex</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and sophisticated.</a:t>
            </a:r>
            <a:endParaRPr lang="en-US" sz="1100" b="0" dirty="0">
              <a:latin typeface="Arial" charset="0"/>
              <a:ea typeface="ＭＳ Ｐゴシック" pitchFamily="-65" charset="-128"/>
            </a:endParaRP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[STEP93] identifies four generations of anti-virus software:</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 First generation: simple scanners</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 Second generation: heuristic scanners</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Third generation: activity traps</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 Fourth generation: full-featured protection</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A first-generation scanner requires a malware signature to identify the malware.</a:t>
            </a:r>
          </a:p>
          <a:p>
            <a:r>
              <a:rPr lang="en-US" sz="1100" b="0" dirty="0">
                <a:latin typeface="Arial" charset="0"/>
                <a:ea typeface="ＭＳ Ｐゴシック" pitchFamily="-65" charset="-128"/>
              </a:rPr>
              <a:t>The signature may contain “wildcards” but matches essentially the same structure</a:t>
            </a:r>
          </a:p>
          <a:p>
            <a:r>
              <a:rPr lang="en-US" sz="1100" b="0" dirty="0">
                <a:latin typeface="Arial" charset="0"/>
                <a:ea typeface="ＭＳ Ｐゴシック" pitchFamily="-65" charset="-128"/>
              </a:rPr>
              <a:t>and bit pattern in all copies of the malware. Such signature-specific scanners are</a:t>
            </a:r>
          </a:p>
          <a:p>
            <a:r>
              <a:rPr lang="en-US" sz="1100" b="0" dirty="0">
                <a:latin typeface="Arial" charset="0"/>
                <a:ea typeface="ＭＳ Ｐゴシック" pitchFamily="-65" charset="-128"/>
              </a:rPr>
              <a:t>limited to the detection of known malware. Another type of first-generation scanner</a:t>
            </a:r>
          </a:p>
          <a:p>
            <a:r>
              <a:rPr lang="en-US" sz="1100" b="0" dirty="0">
                <a:latin typeface="Arial" charset="0"/>
                <a:ea typeface="ＭＳ Ｐゴシック" pitchFamily="-65" charset="-128"/>
              </a:rPr>
              <a:t>maintains a record of the length of programs and looks for changes in length as a</a:t>
            </a:r>
          </a:p>
          <a:p>
            <a:r>
              <a:rPr lang="en-US" sz="1100" b="0" dirty="0">
                <a:latin typeface="Arial" charset="0"/>
                <a:ea typeface="ＭＳ Ｐゴシック" pitchFamily="-65" charset="-128"/>
              </a:rPr>
              <a:t>result of virus infection.</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A second-generation scanner does not rely on a specific signature. Rather, the</a:t>
            </a:r>
          </a:p>
          <a:p>
            <a:r>
              <a:rPr lang="en-US" sz="1100" b="0" dirty="0">
                <a:latin typeface="Arial" charset="0"/>
                <a:ea typeface="ＭＳ Ｐゴシック" pitchFamily="-65" charset="-128"/>
              </a:rPr>
              <a:t>scanner uses heuristic rules to search for probable malware instances. One class of</a:t>
            </a:r>
          </a:p>
          <a:p>
            <a:r>
              <a:rPr lang="en-US" sz="1100" b="0" dirty="0">
                <a:latin typeface="Arial" charset="0"/>
                <a:ea typeface="ＭＳ Ｐゴシック" pitchFamily="-65" charset="-128"/>
              </a:rPr>
              <a:t>such scanners looks for fragments of code that are often associated with malware.</a:t>
            </a:r>
          </a:p>
          <a:p>
            <a:r>
              <a:rPr lang="en-US" sz="1100" b="0" dirty="0">
                <a:latin typeface="Arial" charset="0"/>
                <a:ea typeface="ＭＳ Ｐゴシック" pitchFamily="-65" charset="-128"/>
              </a:rPr>
              <a:t>For example, a scanner may look for the beginning of an encryption loop used in a</a:t>
            </a:r>
          </a:p>
          <a:p>
            <a:r>
              <a:rPr lang="en-US" sz="1100" b="0" dirty="0">
                <a:latin typeface="Arial" charset="0"/>
                <a:ea typeface="ＭＳ Ｐゴシック" pitchFamily="-65" charset="-128"/>
              </a:rPr>
              <a:t>polymorphic virus and discover the encryption key. Once the key is discovered, the</a:t>
            </a:r>
          </a:p>
          <a:p>
            <a:r>
              <a:rPr lang="en-US" sz="1100" b="0" dirty="0">
                <a:latin typeface="Arial" charset="0"/>
                <a:ea typeface="ＭＳ Ｐゴシック" pitchFamily="-65" charset="-128"/>
              </a:rPr>
              <a:t>scanner can decrypt the malware to identify it, then remove the infection and return</a:t>
            </a:r>
          </a:p>
          <a:p>
            <a:r>
              <a:rPr lang="en-US" sz="1100" b="0" dirty="0">
                <a:latin typeface="Arial" charset="0"/>
                <a:ea typeface="ＭＳ Ｐゴシック" pitchFamily="-65" charset="-128"/>
              </a:rPr>
              <a:t>the program to service.</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Another second-generation approach is integrity checking. A checksum</a:t>
            </a:r>
          </a:p>
          <a:p>
            <a:r>
              <a:rPr lang="en-US" sz="1100" b="0" dirty="0">
                <a:latin typeface="Arial" charset="0"/>
                <a:ea typeface="ＭＳ Ｐゴシック" pitchFamily="-65" charset="-128"/>
              </a:rPr>
              <a:t>can be appended to each program. If malware alters or replaces some program</a:t>
            </a:r>
          </a:p>
          <a:p>
            <a:r>
              <a:rPr lang="en-US" sz="1100" b="0" dirty="0">
                <a:latin typeface="Arial" charset="0"/>
                <a:ea typeface="ＭＳ Ｐゴシック" pitchFamily="-65" charset="-128"/>
              </a:rPr>
              <a:t>without changing the checksum, then an integrity check will catch this change.</a:t>
            </a:r>
          </a:p>
          <a:p>
            <a:r>
              <a:rPr lang="en-US" sz="1100" b="0" dirty="0">
                <a:latin typeface="Arial" charset="0"/>
                <a:ea typeface="ＭＳ Ｐゴシック" pitchFamily="-65" charset="-128"/>
              </a:rPr>
              <a:t>To counter malware that is sophisticated enough to change the checksum when</a:t>
            </a:r>
          </a:p>
          <a:p>
            <a:r>
              <a:rPr lang="en-US" sz="1100" b="0" dirty="0">
                <a:latin typeface="Arial" charset="0"/>
                <a:ea typeface="ＭＳ Ｐゴシック" pitchFamily="-65" charset="-128"/>
              </a:rPr>
              <a:t>it alters a program, an encrypted hash function can be used. The encryption key</a:t>
            </a:r>
          </a:p>
          <a:p>
            <a:r>
              <a:rPr lang="en-US" sz="1100" b="0" dirty="0">
                <a:latin typeface="Arial" charset="0"/>
                <a:ea typeface="ＭＳ Ｐゴシック" pitchFamily="-65" charset="-128"/>
              </a:rPr>
              <a:t>is stored separately from the program so that the malware cannot generate a new</a:t>
            </a:r>
          </a:p>
          <a:p>
            <a:r>
              <a:rPr lang="en-US" sz="1100" b="0" dirty="0">
                <a:latin typeface="Arial" charset="0"/>
                <a:ea typeface="ＭＳ Ｐゴシック" pitchFamily="-65" charset="-128"/>
              </a:rPr>
              <a:t>hash code and encrypt that. By using a hash function rather than a simpler checksum,</a:t>
            </a:r>
          </a:p>
          <a:p>
            <a:r>
              <a:rPr lang="en-US" sz="1100" b="0" dirty="0">
                <a:latin typeface="Arial" charset="0"/>
                <a:ea typeface="ＭＳ Ｐゴシック" pitchFamily="-65" charset="-128"/>
              </a:rPr>
              <a:t>the malware is prevented from adjusting the program to produce the same</a:t>
            </a:r>
          </a:p>
          <a:p>
            <a:r>
              <a:rPr lang="en-US" sz="1100" b="0" dirty="0">
                <a:latin typeface="Arial" charset="0"/>
                <a:ea typeface="ＭＳ Ｐゴシック" pitchFamily="-65" charset="-128"/>
              </a:rPr>
              <a:t>hash code as before. If a protected list of programs in trusted locations is kept, this</a:t>
            </a:r>
          </a:p>
          <a:p>
            <a:r>
              <a:rPr lang="en-US" sz="1100" b="0" dirty="0">
                <a:latin typeface="Arial" charset="0"/>
                <a:ea typeface="ＭＳ Ｐゴシック" pitchFamily="-65" charset="-128"/>
              </a:rPr>
              <a:t>approach can also detect attempts to replace or install rogue code or programs in</a:t>
            </a:r>
          </a:p>
          <a:p>
            <a:r>
              <a:rPr lang="en-US" sz="1100" b="0" dirty="0">
                <a:latin typeface="Arial" charset="0"/>
                <a:ea typeface="ＭＳ Ｐゴシック" pitchFamily="-65" charset="-128"/>
              </a:rPr>
              <a:t>these locations.</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Third-generation programs are memory-resident programs that identify</a:t>
            </a:r>
          </a:p>
          <a:p>
            <a:r>
              <a:rPr lang="en-US" sz="1100" b="0" dirty="0">
                <a:latin typeface="Arial" charset="0"/>
                <a:ea typeface="ＭＳ Ｐゴシック" pitchFamily="-65" charset="-128"/>
              </a:rPr>
              <a:t>malware by its actions rather than its structure in an infected program. Such</a:t>
            </a:r>
          </a:p>
          <a:p>
            <a:r>
              <a:rPr lang="en-US" sz="1100" b="0" dirty="0">
                <a:latin typeface="Arial" charset="0"/>
                <a:ea typeface="ＭＳ Ｐゴシック" pitchFamily="-65" charset="-128"/>
              </a:rPr>
              <a:t>programs have the advantage that it is not necessary to develop signatures and</a:t>
            </a:r>
          </a:p>
          <a:p>
            <a:r>
              <a:rPr lang="en-US" sz="1100" b="0" dirty="0">
                <a:latin typeface="Arial" charset="0"/>
                <a:ea typeface="ＭＳ Ｐゴシック" pitchFamily="-65" charset="-128"/>
              </a:rPr>
              <a:t>heuristics for a wide array of malware. Rather, it is necessary only to identify the</a:t>
            </a:r>
          </a:p>
          <a:p>
            <a:r>
              <a:rPr lang="en-US" sz="1100" b="0" dirty="0">
                <a:latin typeface="Arial" charset="0"/>
                <a:ea typeface="ＭＳ Ｐゴシック" pitchFamily="-65" charset="-128"/>
              </a:rPr>
              <a:t>small set of actions that indicate malicious activity is being attempted and then to</a:t>
            </a:r>
          </a:p>
          <a:p>
            <a:r>
              <a:rPr lang="en-US" sz="1100" b="0" dirty="0">
                <a:latin typeface="Arial" charset="0"/>
                <a:ea typeface="ＭＳ Ｐゴシック" pitchFamily="-65" charset="-128"/>
              </a:rPr>
              <a:t>intervene.</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Fourth-generation products are packages consisting of a variety of anti-virus</a:t>
            </a:r>
          </a:p>
          <a:p>
            <a:r>
              <a:rPr lang="en-US" sz="1100" b="0" dirty="0">
                <a:latin typeface="Arial" charset="0"/>
                <a:ea typeface="ＭＳ Ｐゴシック" pitchFamily="-65" charset="-128"/>
              </a:rPr>
              <a:t>techniques used in conjunction. These include scanning and activity trap components.</a:t>
            </a:r>
          </a:p>
          <a:p>
            <a:r>
              <a:rPr lang="en-US" sz="1100" b="0" dirty="0">
                <a:latin typeface="Arial" charset="0"/>
                <a:ea typeface="ＭＳ Ｐゴシック" pitchFamily="-65" charset="-128"/>
              </a:rPr>
              <a:t>In addition, such a package includes access control capability, which limits</a:t>
            </a:r>
          </a:p>
          <a:p>
            <a:r>
              <a:rPr lang="en-US" sz="1100" b="0" dirty="0">
                <a:latin typeface="Arial" charset="0"/>
                <a:ea typeface="ＭＳ Ｐゴシック" pitchFamily="-65" charset="-128"/>
              </a:rPr>
              <a:t>the ability of malware to penetrate a system and then limits the ability of a malware</a:t>
            </a:r>
          </a:p>
          <a:p>
            <a:r>
              <a:rPr lang="en-US" sz="1100" b="0" dirty="0">
                <a:latin typeface="Arial" charset="0"/>
                <a:ea typeface="ＭＳ Ｐゴシック" pitchFamily="-65" charset="-128"/>
              </a:rPr>
              <a:t>to update files in order to propagate.</a:t>
            </a:r>
          </a:p>
          <a:p>
            <a:endParaRPr lang="en-US" sz="1100" b="0" dirty="0">
              <a:latin typeface="Arial" charset="0"/>
              <a:ea typeface="ＭＳ Ｐゴシック" pitchFamily="-65" charset="-128"/>
            </a:endParaRPr>
          </a:p>
          <a:p>
            <a:r>
              <a:rPr lang="en-US" sz="1100" b="0" dirty="0">
                <a:latin typeface="Arial" charset="0"/>
                <a:ea typeface="ＭＳ Ｐゴシック" pitchFamily="-65" charset="-128"/>
              </a:rPr>
              <a:t>The arms race continues. With fourth-generation packages, a more comprehensive</a:t>
            </a:r>
          </a:p>
          <a:p>
            <a:r>
              <a:rPr lang="en-US" sz="1100" b="0" dirty="0">
                <a:latin typeface="Arial" charset="0"/>
                <a:ea typeface="ＭＳ Ｐゴシック" pitchFamily="-65" charset="-128"/>
              </a:rPr>
              <a:t>defense strategy is employed, broadening the scope of defense to more</a:t>
            </a:r>
          </a:p>
          <a:p>
            <a:r>
              <a:rPr lang="en-US" sz="1100" b="0" dirty="0">
                <a:latin typeface="Arial" charset="0"/>
                <a:ea typeface="ＭＳ Ｐゴシック" pitchFamily="-65" charset="-128"/>
              </a:rPr>
              <a:t>general-purpose computer security measures. These include more sophisticated</a:t>
            </a:r>
          </a:p>
          <a:p>
            <a:r>
              <a:rPr lang="en-US" sz="1100" b="0" dirty="0">
                <a:latin typeface="Arial" charset="0"/>
                <a:ea typeface="ＭＳ Ｐゴシック" pitchFamily="-65" charset="-128"/>
              </a:rPr>
              <a:t>anti-virus approaches.</a:t>
            </a:r>
          </a:p>
        </p:txBody>
      </p:sp>
      <p:sp>
        <p:nvSpPr>
          <p:cNvPr id="88068" name="Slide Number Placeholder 3"/>
          <p:cNvSpPr>
            <a:spLocks noGrp="1"/>
          </p:cNvSpPr>
          <p:nvPr>
            <p:ph type="sldNum" sz="quarter" idx="5"/>
          </p:nvPr>
        </p:nvSpPr>
        <p:spPr>
          <a:noFill/>
        </p:spPr>
        <p:txBody>
          <a:bodyPr/>
          <a:lstStyle/>
          <a:p>
            <a:fld id="{669F400A-35DC-4E15-8C16-3E59653D853E}" type="slidenum">
              <a:rPr lang="en-AU"/>
              <a:pPr/>
              <a:t>44</a:t>
            </a:fld>
            <a:endParaRPr lang="en-AU"/>
          </a:p>
        </p:txBody>
      </p:sp>
    </p:spTree>
    <p:extLst>
      <p:ext uri="{BB962C8B-B14F-4D97-AF65-F5344CB8AC3E}">
        <p14:creationId xmlns:p14="http://schemas.microsoft.com/office/powerpoint/2010/main" val="35782099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 One method of detecting and analyzing malware involves running</a:t>
            </a:r>
          </a:p>
          <a:p>
            <a:r>
              <a:rPr lang="en-US" sz="1200" kern="1200" dirty="0">
                <a:solidFill>
                  <a:schemeClr val="tx1"/>
                </a:solidFill>
                <a:effectLst/>
                <a:latin typeface="Arial" pitchFamily="-110" charset="0"/>
                <a:ea typeface="ＭＳ Ｐゴシック" pitchFamily="-110" charset="-128"/>
                <a:cs typeface="ＭＳ Ｐゴシック" pitchFamily="-110" charset="-128"/>
              </a:rPr>
              <a:t>potentially malicious code in an emulated sandbox or on a virtual machine.</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These allow the code to execute in a controlled environment, where its behavior</a:t>
            </a:r>
          </a:p>
          <a:p>
            <a:r>
              <a:rPr lang="en-US" sz="1200" kern="1200" dirty="0">
                <a:solidFill>
                  <a:schemeClr val="tx1"/>
                </a:solidFill>
                <a:effectLst/>
                <a:latin typeface="Arial" pitchFamily="-110" charset="0"/>
                <a:ea typeface="ＭＳ Ｐゴシック" pitchFamily="-110" charset="-128"/>
                <a:cs typeface="ＭＳ Ｐゴシック" pitchFamily="-110" charset="-128"/>
              </a:rPr>
              <a:t>can be closely monitored without threatening the security of a real system. These</a:t>
            </a:r>
          </a:p>
          <a:p>
            <a:r>
              <a:rPr lang="en-US" sz="1200" kern="1200" dirty="0">
                <a:solidFill>
                  <a:schemeClr val="tx1"/>
                </a:solidFill>
                <a:effectLst/>
                <a:latin typeface="Arial" pitchFamily="-110" charset="0"/>
                <a:ea typeface="ＭＳ Ｐゴシック" pitchFamily="-110" charset="-128"/>
                <a:cs typeface="ＭＳ Ｐゴシック" pitchFamily="-110" charset="-128"/>
              </a:rPr>
              <a:t>environments range from sandbox emulators that simulate memory and CPU of a</a:t>
            </a:r>
          </a:p>
          <a:p>
            <a:r>
              <a:rPr lang="en-US" sz="1200" kern="1200" dirty="0">
                <a:solidFill>
                  <a:schemeClr val="tx1"/>
                </a:solidFill>
                <a:effectLst/>
                <a:latin typeface="Arial" pitchFamily="-110" charset="0"/>
                <a:ea typeface="ＭＳ Ｐゴシック" pitchFamily="-110" charset="-128"/>
                <a:cs typeface="ＭＳ Ｐゴシック" pitchFamily="-110" charset="-128"/>
              </a:rPr>
              <a:t>target system, up to full virtual machines, of the type we will discuss in Section 12.8,</a:t>
            </a:r>
          </a:p>
          <a:p>
            <a:r>
              <a:rPr lang="en-US" sz="1200" kern="1200" dirty="0">
                <a:solidFill>
                  <a:schemeClr val="tx1"/>
                </a:solidFill>
                <a:effectLst/>
                <a:latin typeface="Arial" pitchFamily="-110" charset="0"/>
                <a:ea typeface="ＭＳ Ｐゴシック" pitchFamily="-110" charset="-128"/>
                <a:cs typeface="ＭＳ Ｐゴシック" pitchFamily="-110" charset="-128"/>
              </a:rPr>
              <a:t>that replicate the full functionality of target systems, but which can easily be restored</a:t>
            </a:r>
          </a:p>
          <a:p>
            <a:r>
              <a:rPr lang="en-US" sz="1200" kern="1200" dirty="0">
                <a:solidFill>
                  <a:schemeClr val="tx1"/>
                </a:solidFill>
                <a:effectLst/>
                <a:latin typeface="Arial" pitchFamily="-110" charset="0"/>
                <a:ea typeface="ＭＳ Ｐゴシック" pitchFamily="-110" charset="-128"/>
                <a:cs typeface="ＭＳ Ｐゴシック" pitchFamily="-110" charset="-128"/>
              </a:rPr>
              <a:t>to a known state. Running potentially malicious software in such environments</a:t>
            </a:r>
          </a:p>
          <a:p>
            <a:r>
              <a:rPr lang="en-US" sz="1200" kern="1200" dirty="0">
                <a:solidFill>
                  <a:schemeClr val="tx1"/>
                </a:solidFill>
                <a:effectLst/>
                <a:latin typeface="Arial" pitchFamily="-110" charset="0"/>
                <a:ea typeface="ＭＳ Ｐゴシック" pitchFamily="-110" charset="-128"/>
                <a:cs typeface="ＭＳ Ｐゴシック" pitchFamily="-110" charset="-128"/>
              </a:rPr>
              <a:t>enables the detection of complex encrypted, polymorphic, or metamorphic malware.</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code must transform itself into the required machine instructions, which it then</a:t>
            </a:r>
          </a:p>
          <a:p>
            <a:r>
              <a:rPr lang="en-US" sz="1200" kern="1200" dirty="0">
                <a:solidFill>
                  <a:schemeClr val="tx1"/>
                </a:solidFill>
                <a:effectLst/>
                <a:latin typeface="Arial" pitchFamily="-110" charset="0"/>
                <a:ea typeface="ＭＳ Ｐゴシック" pitchFamily="-110" charset="-128"/>
                <a:cs typeface="ＭＳ Ｐゴシック" pitchFamily="-110" charset="-128"/>
              </a:rPr>
              <a:t>executes to perform the intended malicious actions. The resulting unpacked, transformed,</a:t>
            </a:r>
          </a:p>
          <a:p>
            <a:r>
              <a:rPr lang="en-US" sz="1200" kern="1200" dirty="0">
                <a:solidFill>
                  <a:schemeClr val="tx1"/>
                </a:solidFill>
                <a:effectLst/>
                <a:latin typeface="Arial" pitchFamily="-110" charset="0"/>
                <a:ea typeface="ＭＳ Ｐゴシック" pitchFamily="-110" charset="-128"/>
                <a:cs typeface="ＭＳ Ｐゴシック" pitchFamily="-110" charset="-128"/>
              </a:rPr>
              <a:t>or decrypted code can then be scanned for known malware signatures, or its</a:t>
            </a:r>
          </a:p>
          <a:p>
            <a:r>
              <a:rPr lang="en-US" sz="1200" kern="1200" dirty="0">
                <a:solidFill>
                  <a:schemeClr val="tx1"/>
                </a:solidFill>
                <a:effectLst/>
                <a:latin typeface="Arial" pitchFamily="-110" charset="0"/>
                <a:ea typeface="ＭＳ Ｐゴシック" pitchFamily="-110" charset="-128"/>
                <a:cs typeface="ＭＳ Ｐゴシック" pitchFamily="-110" charset="-128"/>
              </a:rPr>
              <a:t>behavior monitored as execution continues for possibly malicious activity [EGEL12,</a:t>
            </a:r>
          </a:p>
          <a:p>
            <a:r>
              <a:rPr lang="en-US" sz="1200" kern="1200" dirty="0">
                <a:solidFill>
                  <a:schemeClr val="tx1"/>
                </a:solidFill>
                <a:effectLst/>
                <a:latin typeface="Arial" pitchFamily="-110" charset="0"/>
                <a:ea typeface="ＭＳ Ｐゴシック" pitchFamily="-110" charset="-128"/>
                <a:cs typeface="ＭＳ Ｐゴシック" pitchFamily="-110" charset="-128"/>
              </a:rPr>
              <a:t>KERA16]. This extended analysis can be used to develop anti-virus signatures for</a:t>
            </a:r>
          </a:p>
          <a:p>
            <a:r>
              <a:rPr lang="en-US" sz="1200" kern="1200" dirty="0">
                <a:solidFill>
                  <a:schemeClr val="tx1"/>
                </a:solidFill>
                <a:effectLst/>
                <a:latin typeface="Arial" pitchFamily="-110" charset="0"/>
                <a:ea typeface="ＭＳ Ｐゴシック" pitchFamily="-110" charset="-128"/>
                <a:cs typeface="ＭＳ Ｐゴシック" pitchFamily="-110" charset="-128"/>
              </a:rPr>
              <a:t>new, unknown malware.</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The most difficult design issue with sandbox analysis is to determine how long</a:t>
            </a:r>
          </a:p>
          <a:p>
            <a:r>
              <a:rPr lang="en-US" sz="1200" kern="1200" dirty="0">
                <a:solidFill>
                  <a:schemeClr val="tx1"/>
                </a:solidFill>
                <a:effectLst/>
                <a:latin typeface="Arial" pitchFamily="-110" charset="0"/>
                <a:ea typeface="ＭＳ Ｐゴシック" pitchFamily="-110" charset="-128"/>
                <a:cs typeface="ＭＳ Ｐゴシック" pitchFamily="-110" charset="-128"/>
              </a:rPr>
              <a:t>to run each interpretation. Typically, malware elements are activated soon after a program</a:t>
            </a:r>
          </a:p>
          <a:p>
            <a:r>
              <a:rPr lang="en-US" sz="1200" kern="1200" dirty="0">
                <a:solidFill>
                  <a:schemeClr val="tx1"/>
                </a:solidFill>
                <a:effectLst/>
                <a:latin typeface="Arial" pitchFamily="-110" charset="0"/>
                <a:ea typeface="ＭＳ Ｐゴシック" pitchFamily="-110" charset="-128"/>
                <a:cs typeface="ＭＳ Ｐゴシック" pitchFamily="-110" charset="-128"/>
              </a:rPr>
              <a:t>begins executing, but recent malware increasingly uses evasion approaches such</a:t>
            </a:r>
          </a:p>
          <a:p>
            <a:r>
              <a:rPr lang="en-US" sz="1200" kern="1200" dirty="0">
                <a:solidFill>
                  <a:schemeClr val="tx1"/>
                </a:solidFill>
                <a:effectLst/>
                <a:latin typeface="Arial" pitchFamily="-110" charset="0"/>
                <a:ea typeface="ＭＳ Ｐゴシック" pitchFamily="-110" charset="-128"/>
                <a:cs typeface="ＭＳ Ｐゴシック" pitchFamily="-110" charset="-128"/>
              </a:rPr>
              <a:t>as extended sleep to evade detection in the analysis time used by sandbox systems</a:t>
            </a:r>
          </a:p>
          <a:p>
            <a:r>
              <a:rPr lang="en-US" sz="1200" kern="1200" dirty="0">
                <a:solidFill>
                  <a:schemeClr val="tx1"/>
                </a:solidFill>
                <a:effectLst/>
                <a:latin typeface="Arial" pitchFamily="-110" charset="0"/>
                <a:ea typeface="ＭＳ Ｐゴシック" pitchFamily="-110" charset="-128"/>
                <a:cs typeface="ＭＳ Ｐゴシック" pitchFamily="-110" charset="-128"/>
              </a:rPr>
              <a:t>[KERA16]. The longer the scanner emulates a particular program, the more likely</a:t>
            </a:r>
          </a:p>
          <a:p>
            <a:r>
              <a:rPr lang="en-US" sz="1200" kern="1200" dirty="0">
                <a:solidFill>
                  <a:schemeClr val="tx1"/>
                </a:solidFill>
                <a:effectLst/>
                <a:latin typeface="Arial" pitchFamily="-110" charset="0"/>
                <a:ea typeface="ＭＳ Ｐゴシック" pitchFamily="-110" charset="-128"/>
                <a:cs typeface="ＭＳ Ｐゴシック" pitchFamily="-110" charset="-128"/>
              </a:rPr>
              <a:t>it is to catch any hidden malware. However, the sandbox analysis has only a limited</a:t>
            </a:r>
          </a:p>
          <a:p>
            <a:r>
              <a:rPr lang="en-US" sz="1200" kern="1200" dirty="0">
                <a:solidFill>
                  <a:schemeClr val="tx1"/>
                </a:solidFill>
                <a:effectLst/>
                <a:latin typeface="Arial" pitchFamily="-110" charset="0"/>
                <a:ea typeface="ＭＳ Ｐゴシック" pitchFamily="-110" charset="-128"/>
                <a:cs typeface="ＭＳ Ｐゴシック" pitchFamily="-110" charset="-128"/>
              </a:rPr>
              <a:t>amount of time and resources available, given the need to analyze large amounts of</a:t>
            </a:r>
          </a:p>
          <a:p>
            <a:r>
              <a:rPr lang="en-US" sz="1200" kern="1200" dirty="0">
                <a:solidFill>
                  <a:schemeClr val="tx1"/>
                </a:solidFill>
                <a:effectLst/>
                <a:latin typeface="Arial" pitchFamily="-110" charset="0"/>
                <a:ea typeface="ＭＳ Ｐゴシック" pitchFamily="-110" charset="-128"/>
                <a:cs typeface="ＭＳ Ｐゴシック" pitchFamily="-110" charset="-128"/>
              </a:rPr>
              <a:t>potential malware.</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As analysis techniques improve, an arms race has developed between malware</a:t>
            </a:r>
          </a:p>
          <a:p>
            <a:r>
              <a:rPr lang="en-US" sz="1200" kern="1200" dirty="0">
                <a:solidFill>
                  <a:schemeClr val="tx1"/>
                </a:solidFill>
                <a:effectLst/>
                <a:latin typeface="Arial" pitchFamily="-110" charset="0"/>
                <a:ea typeface="ＭＳ Ｐゴシック" pitchFamily="-110" charset="-128"/>
                <a:cs typeface="ＭＳ Ｐゴシック" pitchFamily="-110" charset="-128"/>
              </a:rPr>
              <a:t>authors and defenders. Some malware checks to see if it is running in a sandbox or</a:t>
            </a:r>
          </a:p>
          <a:p>
            <a:r>
              <a:rPr lang="en-US" sz="1200" kern="1200" dirty="0">
                <a:solidFill>
                  <a:schemeClr val="tx1"/>
                </a:solidFill>
                <a:effectLst/>
                <a:latin typeface="Arial" pitchFamily="-110" charset="0"/>
                <a:ea typeface="ＭＳ Ｐゴシック" pitchFamily="-110" charset="-128"/>
                <a:cs typeface="ＭＳ Ｐゴシック" pitchFamily="-110" charset="-128"/>
              </a:rPr>
              <a:t>virtualized environment, and suppresses malicious behavior if so. Other malware</a:t>
            </a:r>
          </a:p>
          <a:p>
            <a:r>
              <a:rPr lang="en-US" sz="1200" kern="1200" dirty="0">
                <a:solidFill>
                  <a:schemeClr val="tx1"/>
                </a:solidFill>
                <a:effectLst/>
                <a:latin typeface="Arial" pitchFamily="-110" charset="0"/>
                <a:ea typeface="ＭＳ Ｐゴシック" pitchFamily="-110" charset="-128"/>
                <a:cs typeface="ＭＳ Ｐゴシック" pitchFamily="-110" charset="-128"/>
              </a:rPr>
              <a:t>includes extended sleep periods before engaging in malicious activity, in an attempt</a:t>
            </a:r>
          </a:p>
          <a:p>
            <a:r>
              <a:rPr lang="en-US" sz="1200" kern="1200" dirty="0">
                <a:solidFill>
                  <a:schemeClr val="tx1"/>
                </a:solidFill>
                <a:effectLst/>
                <a:latin typeface="Arial" pitchFamily="-110" charset="0"/>
                <a:ea typeface="ＭＳ Ｐゴシック" pitchFamily="-110" charset="-128"/>
                <a:cs typeface="ＭＳ Ｐゴシック" pitchFamily="-110" charset="-128"/>
              </a:rPr>
              <a:t>to evade detection before the analysis terminates. Or the malware may include a logic</a:t>
            </a:r>
          </a:p>
          <a:p>
            <a:r>
              <a:rPr lang="en-US" sz="1200" kern="1200" dirty="0">
                <a:solidFill>
                  <a:schemeClr val="tx1"/>
                </a:solidFill>
                <a:effectLst/>
                <a:latin typeface="Arial" pitchFamily="-110" charset="0"/>
                <a:ea typeface="ＭＳ Ｐゴシック" pitchFamily="-110" charset="-128"/>
                <a:cs typeface="ＭＳ Ｐゴシック" pitchFamily="-110" charset="-128"/>
              </a:rPr>
              <a:t>bomb looking for a specific date, or specific system type or network location before</a:t>
            </a:r>
          </a:p>
          <a:p>
            <a:r>
              <a:rPr lang="en-US" sz="1200" kern="1200" dirty="0">
                <a:solidFill>
                  <a:schemeClr val="tx1"/>
                </a:solidFill>
                <a:effectLst/>
                <a:latin typeface="Arial" pitchFamily="-110" charset="0"/>
                <a:ea typeface="ＭＳ Ｐゴシック" pitchFamily="-110" charset="-128"/>
                <a:cs typeface="ＭＳ Ｐゴシック" pitchFamily="-110" charset="-128"/>
              </a:rPr>
              <a:t>engaging in malicious activity, which the sandbox environment does not match. In</a:t>
            </a:r>
          </a:p>
          <a:p>
            <a:r>
              <a:rPr lang="en-US" sz="1200" kern="1200" dirty="0">
                <a:solidFill>
                  <a:schemeClr val="tx1"/>
                </a:solidFill>
                <a:effectLst/>
                <a:latin typeface="Arial" pitchFamily="-110" charset="0"/>
                <a:ea typeface="ＭＳ Ｐゴシック" pitchFamily="-110" charset="-128"/>
                <a:cs typeface="ＭＳ Ｐゴシック" pitchFamily="-110" charset="-128"/>
              </a:rPr>
              <a:t>response, analysts adapt their sandbox environments to attempt to evade these tests.</a:t>
            </a:r>
          </a:p>
          <a:p>
            <a:r>
              <a:rPr lang="en-US" sz="1200" kern="1200" dirty="0">
                <a:solidFill>
                  <a:schemeClr val="tx1"/>
                </a:solidFill>
                <a:effectLst/>
                <a:latin typeface="Arial" pitchFamily="-110" charset="0"/>
                <a:ea typeface="ＭＳ Ｐゴシック" pitchFamily="-110" charset="-128"/>
                <a:cs typeface="ＭＳ Ｐゴシック" pitchFamily="-110" charset="-128"/>
              </a:rPr>
              <a:t>This race continues.</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p:txBody>
      </p:sp>
      <p:sp>
        <p:nvSpPr>
          <p:cNvPr id="4" name="Slide Number Placeholder 3"/>
          <p:cNvSpPr>
            <a:spLocks noGrp="1"/>
          </p:cNvSpPr>
          <p:nvPr>
            <p:ph type="sldNum" sz="quarter" idx="10"/>
          </p:nvPr>
        </p:nvSpPr>
        <p:spPr/>
        <p:txBody>
          <a:bodyPr/>
          <a:lstStyle/>
          <a:p>
            <a:fld id="{2EF01EA8-8A05-4B44-9488-279E78AAD254}" type="slidenum">
              <a:rPr lang="en-AU" smtClean="0"/>
              <a:pPr/>
              <a:t>45</a:t>
            </a:fld>
            <a:endParaRPr lang="en-AU"/>
          </a:p>
        </p:txBody>
      </p:sp>
    </p:spTree>
    <p:extLst>
      <p:ext uri="{BB962C8B-B14F-4D97-AF65-F5344CB8AC3E}">
        <p14:creationId xmlns:p14="http://schemas.microsoft.com/office/powerpoint/2010/main" val="12290286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fontScale="55000" lnSpcReduction="20000"/>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 Unlike heuristics or fingerprint-based</a:t>
            </a:r>
          </a:p>
          <a:p>
            <a:r>
              <a:rPr lang="en-US" sz="1200" kern="1200" dirty="0">
                <a:solidFill>
                  <a:schemeClr val="tx1"/>
                </a:solidFill>
                <a:effectLst/>
                <a:latin typeface="Arial" pitchFamily="-110" charset="0"/>
                <a:ea typeface="ＭＳ Ｐゴシック" pitchFamily="-110" charset="-128"/>
                <a:cs typeface="ＭＳ Ｐゴシック" pitchFamily="-110" charset="-128"/>
              </a:rPr>
              <a:t>scanners, dynamic malware analysis or behavior-blocking software integrates with the</a:t>
            </a:r>
          </a:p>
          <a:p>
            <a:r>
              <a:rPr lang="en-US" sz="1200" kern="1200" dirty="0">
                <a:solidFill>
                  <a:schemeClr val="tx1"/>
                </a:solidFill>
                <a:effectLst/>
                <a:latin typeface="Arial" pitchFamily="-110" charset="0"/>
                <a:ea typeface="ＭＳ Ｐゴシック" pitchFamily="-110" charset="-128"/>
                <a:cs typeface="ＭＳ Ｐゴシック" pitchFamily="-110" charset="-128"/>
              </a:rPr>
              <a:t>operating system of a host computer and monitors program behavior in real time for</a:t>
            </a:r>
          </a:p>
          <a:p>
            <a:r>
              <a:rPr lang="en-US" sz="1200" kern="1200" dirty="0">
                <a:solidFill>
                  <a:schemeClr val="tx1"/>
                </a:solidFill>
                <a:effectLst/>
                <a:latin typeface="Arial" pitchFamily="-110" charset="0"/>
                <a:ea typeface="ＭＳ Ｐゴシック" pitchFamily="-110" charset="-128"/>
                <a:cs typeface="ＭＳ Ｐゴシック" pitchFamily="-110" charset="-128"/>
              </a:rPr>
              <a:t>malicious actions [CONR02, EGEL12]. It is a type of host-based intrusion prevention</a:t>
            </a:r>
          </a:p>
          <a:p>
            <a:r>
              <a:rPr lang="en-US" sz="1200" kern="1200" dirty="0">
                <a:solidFill>
                  <a:schemeClr val="tx1"/>
                </a:solidFill>
                <a:effectLst/>
                <a:latin typeface="Arial" pitchFamily="-110" charset="0"/>
                <a:ea typeface="ＭＳ Ｐゴシック" pitchFamily="-110" charset="-128"/>
                <a:cs typeface="ＭＳ Ｐゴシック" pitchFamily="-110" charset="-128"/>
              </a:rPr>
              <a:t>system, which we will discuss further in Section 9.6. This software monitors the</a:t>
            </a:r>
          </a:p>
          <a:p>
            <a:r>
              <a:rPr lang="en-US" sz="1200" kern="1200" dirty="0">
                <a:solidFill>
                  <a:schemeClr val="tx1"/>
                </a:solidFill>
                <a:effectLst/>
                <a:latin typeface="Arial" pitchFamily="-110" charset="0"/>
                <a:ea typeface="ＭＳ Ｐゴシック" pitchFamily="-110" charset="-128"/>
                <a:cs typeface="ＭＳ Ｐゴシック" pitchFamily="-110" charset="-128"/>
              </a:rPr>
              <a:t>behavior of possibly malicious code, looking for potentially malicious actions, similar</a:t>
            </a:r>
          </a:p>
          <a:p>
            <a:r>
              <a:rPr lang="en-US" sz="1200" kern="1200" dirty="0">
                <a:solidFill>
                  <a:schemeClr val="tx1"/>
                </a:solidFill>
                <a:effectLst/>
                <a:latin typeface="Arial" pitchFamily="-110" charset="0"/>
                <a:ea typeface="ＭＳ Ｐゴシック" pitchFamily="-110" charset="-128"/>
                <a:cs typeface="ＭＳ Ｐゴシック" pitchFamily="-110" charset="-128"/>
              </a:rPr>
              <a:t>to the sandbox systems we discussed in the previous section. However, it then has</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capability to block malicious actions before they can affect the target system.</a:t>
            </a:r>
          </a:p>
          <a:p>
            <a:r>
              <a:rPr lang="en-US" sz="1200" kern="1200" dirty="0">
                <a:solidFill>
                  <a:schemeClr val="tx1"/>
                </a:solidFill>
                <a:effectLst/>
                <a:latin typeface="Arial" pitchFamily="-110" charset="0"/>
                <a:ea typeface="ＭＳ Ｐゴシック" pitchFamily="-110" charset="-128"/>
                <a:cs typeface="ＭＳ Ｐゴシック" pitchFamily="-110" charset="-128"/>
              </a:rPr>
              <a:t>Monitored behaviors can include the following:</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 Attempts to open, view, delete, and/or modify files;</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 Attempts to format disk drives and other unrecoverable disk operations;</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 Modifications to the logic of executable files or macros;</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 Modification of critical system settings, such as start-up settings;</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 Scripting of e-mail and instant messaging clients to send executable content; and</a:t>
            </a:r>
          </a:p>
          <a:p>
            <a:endParaRPr lang="en-US" sz="1100" dirty="0">
              <a:latin typeface="Arial" charset="0"/>
              <a:ea typeface="ＭＳ Ｐゴシック" pitchFamily="-65" charset="-128"/>
            </a:endParaRPr>
          </a:p>
          <a:p>
            <a:r>
              <a:rPr lang="en-US" sz="1100" dirty="0">
                <a:latin typeface="Arial" charset="0"/>
                <a:ea typeface="ＭＳ Ｐゴシック" pitchFamily="-65" charset="-128"/>
              </a:rPr>
              <a:t>• Initiation of network communications.</a:t>
            </a:r>
          </a:p>
          <a:p>
            <a:endParaRPr lang="en-US" sz="1100" dirty="0">
              <a:latin typeface="Arial" charset="0"/>
              <a:ea typeface="ＭＳ Ｐゴシック" pitchFamily="-65"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 Because dynamic analysis software can block suspicious software in real time, it has</a:t>
            </a:r>
          </a:p>
          <a:p>
            <a:r>
              <a:rPr lang="en-US" sz="1200" kern="1200" dirty="0">
                <a:solidFill>
                  <a:schemeClr val="tx1"/>
                </a:solidFill>
                <a:effectLst/>
                <a:latin typeface="Arial" pitchFamily="-110" charset="0"/>
                <a:ea typeface="ＭＳ Ｐゴシック" pitchFamily="-110" charset="-128"/>
                <a:cs typeface="ＭＳ Ｐゴシック" pitchFamily="-110" charset="-128"/>
              </a:rPr>
              <a:t>an advantage over such established anti-virus detection techniques as fingerprinting</a:t>
            </a:r>
          </a:p>
          <a:p>
            <a:r>
              <a:rPr lang="en-US" sz="1200" kern="1200" dirty="0">
                <a:solidFill>
                  <a:schemeClr val="tx1"/>
                </a:solidFill>
                <a:effectLst/>
                <a:latin typeface="Arial" pitchFamily="-110" charset="0"/>
                <a:ea typeface="ＭＳ Ｐゴシック" pitchFamily="-110" charset="-128"/>
                <a:cs typeface="ＭＳ Ｐゴシック" pitchFamily="-110" charset="-128"/>
              </a:rPr>
              <a:t>or heuristics. There are literally trillions of different ways to obfuscate and rearrange</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instructions of a virus or worm, many of which will evade detection by a fingerprint</a:t>
            </a:r>
          </a:p>
          <a:p>
            <a:r>
              <a:rPr lang="en-US" sz="1200" kern="1200" dirty="0">
                <a:solidFill>
                  <a:schemeClr val="tx1"/>
                </a:solidFill>
                <a:effectLst/>
                <a:latin typeface="Arial" pitchFamily="-110" charset="0"/>
                <a:ea typeface="ＭＳ Ｐゴシック" pitchFamily="-110" charset="-128"/>
                <a:cs typeface="ＭＳ Ｐゴシック" pitchFamily="-110" charset="-128"/>
              </a:rPr>
              <a:t>scanner or heuristic. But eventually, malicious code must make a well-defined</a:t>
            </a:r>
          </a:p>
          <a:p>
            <a:r>
              <a:rPr lang="en-US" sz="1200" kern="1200" dirty="0">
                <a:solidFill>
                  <a:schemeClr val="tx1"/>
                </a:solidFill>
                <a:effectLst/>
                <a:latin typeface="Arial" pitchFamily="-110" charset="0"/>
                <a:ea typeface="ＭＳ Ｐゴシック" pitchFamily="-110" charset="-128"/>
                <a:cs typeface="ＭＳ Ｐゴシック" pitchFamily="-110" charset="-128"/>
              </a:rPr>
              <a:t>request to the operating system. Given that the behavior blocker can intercept all</a:t>
            </a:r>
          </a:p>
          <a:p>
            <a:r>
              <a:rPr lang="en-US" sz="1200" kern="1200" dirty="0">
                <a:solidFill>
                  <a:schemeClr val="tx1"/>
                </a:solidFill>
                <a:effectLst/>
                <a:latin typeface="Arial" pitchFamily="-110" charset="0"/>
                <a:ea typeface="ＭＳ Ｐゴシック" pitchFamily="-110" charset="-128"/>
                <a:cs typeface="ＭＳ Ｐゴシック" pitchFamily="-110" charset="-128"/>
              </a:rPr>
              <a:t>such requests, it can identify and block malicious actions regardless of how obfuscated</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program logic appears to be.</a:t>
            </a:r>
          </a:p>
          <a:p>
            <a:endParaRPr lang="en-US" sz="1200" kern="1200" dirty="0">
              <a:solidFill>
                <a:schemeClr val="tx1"/>
              </a:solidFill>
              <a:effectLst/>
              <a:latin typeface="Arial" pitchFamily="-110" charset="0"/>
              <a:ea typeface="ＭＳ Ｐゴシック" pitchFamily="-110" charset="-128"/>
              <a:cs typeface="ＭＳ Ｐゴシック" pitchFamily="-110"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Dynamic analysis alone has limitations. Because the malicious code must run on</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target machine before all its behaviors can be identified, it can cause harm before</a:t>
            </a:r>
          </a:p>
          <a:p>
            <a:r>
              <a:rPr lang="en-US" sz="1200" kern="1200" dirty="0">
                <a:solidFill>
                  <a:schemeClr val="tx1"/>
                </a:solidFill>
                <a:effectLst/>
                <a:latin typeface="Arial" pitchFamily="-110" charset="0"/>
                <a:ea typeface="ＭＳ Ｐゴシック" pitchFamily="-110" charset="-128"/>
                <a:cs typeface="ＭＳ Ｐゴシック" pitchFamily="-110" charset="-128"/>
              </a:rPr>
              <a:t>it has been detected and blocked. For example, a new item of malware might shuffle</a:t>
            </a:r>
          </a:p>
          <a:p>
            <a:r>
              <a:rPr lang="en-US" sz="1200" kern="1200" dirty="0">
                <a:solidFill>
                  <a:schemeClr val="tx1"/>
                </a:solidFill>
                <a:effectLst/>
                <a:latin typeface="Arial" pitchFamily="-110" charset="0"/>
                <a:ea typeface="ＭＳ Ｐゴシック" pitchFamily="-110" charset="-128"/>
                <a:cs typeface="ＭＳ Ｐゴシック" pitchFamily="-110" charset="-128"/>
              </a:rPr>
              <a:t>a number of seemingly unimportant files around the hard drive before modifying a</a:t>
            </a:r>
          </a:p>
          <a:p>
            <a:r>
              <a:rPr lang="en-US" sz="1200" kern="1200" dirty="0">
                <a:solidFill>
                  <a:schemeClr val="tx1"/>
                </a:solidFill>
                <a:effectLst/>
                <a:latin typeface="Arial" pitchFamily="-110" charset="0"/>
                <a:ea typeface="ＭＳ Ｐゴシック" pitchFamily="-110" charset="-128"/>
                <a:cs typeface="ＭＳ Ｐゴシック" pitchFamily="-110" charset="-128"/>
              </a:rPr>
              <a:t>single file and being blocked. Even though the actual modification was blocked, the</a:t>
            </a:r>
          </a:p>
          <a:p>
            <a:r>
              <a:rPr lang="en-US" sz="1200" kern="1200" dirty="0">
                <a:solidFill>
                  <a:schemeClr val="tx1"/>
                </a:solidFill>
                <a:effectLst/>
                <a:latin typeface="Arial" pitchFamily="-110" charset="0"/>
                <a:ea typeface="ＭＳ Ｐゴシック" pitchFamily="-110" charset="-128"/>
                <a:cs typeface="ＭＳ Ｐゴシック" pitchFamily="-110" charset="-128"/>
              </a:rPr>
              <a:t>user may be unable to locate his or her files, causing a loss to productivity or possibly</a:t>
            </a:r>
          </a:p>
          <a:p>
            <a:r>
              <a:rPr lang="en-US" sz="1200" kern="1200" dirty="0">
                <a:solidFill>
                  <a:schemeClr val="tx1"/>
                </a:solidFill>
                <a:effectLst/>
                <a:latin typeface="Arial" pitchFamily="-110" charset="0"/>
                <a:ea typeface="ＭＳ Ｐゴシック" pitchFamily="-110" charset="-128"/>
                <a:cs typeface="ＭＳ Ｐゴシック" pitchFamily="-110" charset="-128"/>
              </a:rPr>
              <a:t>worse.</a:t>
            </a:r>
          </a:p>
        </p:txBody>
      </p:sp>
      <p:sp>
        <p:nvSpPr>
          <p:cNvPr id="92164" name="Slide Number Placeholder 3"/>
          <p:cNvSpPr>
            <a:spLocks noGrp="1"/>
          </p:cNvSpPr>
          <p:nvPr>
            <p:ph type="sldNum" sz="quarter" idx="5"/>
          </p:nvPr>
        </p:nvSpPr>
        <p:spPr>
          <a:noFill/>
        </p:spPr>
        <p:txBody>
          <a:bodyPr/>
          <a:lstStyle/>
          <a:p>
            <a:fld id="{67ABFD09-AAAF-449D-894F-5570CA203779}" type="slidenum">
              <a:rPr lang="en-AU"/>
              <a:pPr/>
              <a:t>46</a:t>
            </a:fld>
            <a:endParaRPr lang="en-AU"/>
          </a:p>
        </p:txBody>
      </p:sp>
    </p:spTree>
    <p:extLst>
      <p:ext uri="{BB962C8B-B14F-4D97-AF65-F5344CB8AC3E}">
        <p14:creationId xmlns:p14="http://schemas.microsoft.com/office/powerpoint/2010/main" val="23462568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a:lnSpc>
                <a:spcPct val="80000"/>
              </a:lnSpc>
            </a:pPr>
            <a:r>
              <a:rPr lang="en-US" sz="700" dirty="0">
                <a:latin typeface="Arial" charset="0"/>
                <a:ea typeface="ＭＳ Ｐゴシック" pitchFamily="-65" charset="-128"/>
              </a:rPr>
              <a:t>The next location where anti-virus software is used is on an organization’s firewall</a:t>
            </a:r>
          </a:p>
          <a:p>
            <a:pPr>
              <a:lnSpc>
                <a:spcPct val="80000"/>
              </a:lnSpc>
            </a:pPr>
            <a:r>
              <a:rPr lang="en-US" sz="700" dirty="0">
                <a:latin typeface="Arial" charset="0"/>
                <a:ea typeface="ＭＳ Ｐゴシック" pitchFamily="-65" charset="-128"/>
              </a:rPr>
              <a:t>and IDS. It is typically included in e-mail and Web proxy services running on these</a:t>
            </a:r>
          </a:p>
          <a:p>
            <a:pPr>
              <a:lnSpc>
                <a:spcPct val="80000"/>
              </a:lnSpc>
            </a:pPr>
            <a:r>
              <a:rPr lang="en-US" sz="700" dirty="0">
                <a:latin typeface="Arial" charset="0"/>
                <a:ea typeface="ＭＳ Ｐゴシック" pitchFamily="-65" charset="-128"/>
              </a:rPr>
              <a:t>systems. It may also be included in the traffic analysis component of an IDS. This</a:t>
            </a:r>
          </a:p>
          <a:p>
            <a:pPr>
              <a:lnSpc>
                <a:spcPct val="80000"/>
              </a:lnSpc>
            </a:pPr>
            <a:r>
              <a:rPr lang="en-US" sz="700" dirty="0">
                <a:latin typeface="Arial" charset="0"/>
                <a:ea typeface="ＭＳ Ｐゴシック" pitchFamily="-65" charset="-128"/>
              </a:rPr>
              <a:t>gives the anti-virus software access to malware in transit over a network connection</a:t>
            </a:r>
          </a:p>
          <a:p>
            <a:pPr>
              <a:lnSpc>
                <a:spcPct val="80000"/>
              </a:lnSpc>
            </a:pPr>
            <a:r>
              <a:rPr lang="en-US" sz="700" dirty="0">
                <a:latin typeface="Arial" charset="0"/>
                <a:ea typeface="ＭＳ Ｐゴシック" pitchFamily="-65" charset="-128"/>
              </a:rPr>
              <a:t>to any of the organization’s systems, providing a larger scale view of malware activity.</a:t>
            </a:r>
          </a:p>
          <a:p>
            <a:pPr>
              <a:lnSpc>
                <a:spcPct val="80000"/>
              </a:lnSpc>
            </a:pPr>
            <a:r>
              <a:rPr lang="en-US" sz="700" dirty="0">
                <a:latin typeface="Arial" charset="0"/>
                <a:ea typeface="ＭＳ Ｐゴシック" pitchFamily="-65" charset="-128"/>
              </a:rPr>
              <a:t>This software may also include intrusion prevention measures, blocking the flow</a:t>
            </a:r>
          </a:p>
          <a:p>
            <a:pPr>
              <a:lnSpc>
                <a:spcPct val="80000"/>
              </a:lnSpc>
            </a:pPr>
            <a:r>
              <a:rPr lang="en-US" sz="700" dirty="0">
                <a:latin typeface="Arial" charset="0"/>
                <a:ea typeface="ＭＳ Ｐゴシック" pitchFamily="-65" charset="-128"/>
              </a:rPr>
              <a:t>of any suspicious traffic, thus preventing it reaching and compromising some target</a:t>
            </a:r>
          </a:p>
          <a:p>
            <a:pPr>
              <a:lnSpc>
                <a:spcPct val="80000"/>
              </a:lnSpc>
            </a:pPr>
            <a:r>
              <a:rPr lang="en-US" sz="700" dirty="0">
                <a:latin typeface="Arial" charset="0"/>
                <a:ea typeface="ＭＳ Ｐゴシック" pitchFamily="-65" charset="-128"/>
              </a:rPr>
              <a:t>system, either inside or outside the organization.</a:t>
            </a:r>
          </a:p>
          <a:p>
            <a:pPr>
              <a:lnSpc>
                <a:spcPct val="80000"/>
              </a:lnSpc>
            </a:pPr>
            <a:endParaRPr lang="en-US" sz="700" dirty="0">
              <a:latin typeface="Arial" charset="0"/>
              <a:ea typeface="ＭＳ Ｐゴシック" pitchFamily="-65" charset="-128"/>
            </a:endParaRPr>
          </a:p>
          <a:p>
            <a:pPr>
              <a:lnSpc>
                <a:spcPct val="80000"/>
              </a:lnSpc>
            </a:pPr>
            <a:r>
              <a:rPr lang="en-US" sz="700" dirty="0">
                <a:latin typeface="Arial" charset="0"/>
                <a:ea typeface="ＭＳ Ｐゴシック" pitchFamily="-65" charset="-128"/>
              </a:rPr>
              <a:t>However, this approach is limited to scanning the malware content, as it does</a:t>
            </a:r>
          </a:p>
          <a:p>
            <a:pPr>
              <a:lnSpc>
                <a:spcPct val="80000"/>
              </a:lnSpc>
            </a:pPr>
            <a:r>
              <a:rPr lang="en-US" sz="700" dirty="0">
                <a:latin typeface="Arial" charset="0"/>
                <a:ea typeface="ＭＳ Ｐゴシック" pitchFamily="-65" charset="-128"/>
              </a:rPr>
              <a:t>not have access to any behavior observed when it runs on an infected system. Two</a:t>
            </a:r>
          </a:p>
          <a:p>
            <a:pPr>
              <a:lnSpc>
                <a:spcPct val="80000"/>
              </a:lnSpc>
            </a:pPr>
            <a:r>
              <a:rPr lang="en-US" sz="700" dirty="0">
                <a:latin typeface="Arial" charset="0"/>
                <a:ea typeface="ＭＳ Ｐゴシック" pitchFamily="-65" charset="-128"/>
              </a:rPr>
              <a:t>types of monitoring software may be used:</a:t>
            </a:r>
          </a:p>
          <a:p>
            <a:pPr>
              <a:lnSpc>
                <a:spcPct val="80000"/>
              </a:lnSpc>
            </a:pPr>
            <a:endParaRPr lang="en-US" sz="700" dirty="0">
              <a:latin typeface="Arial" charset="0"/>
              <a:ea typeface="ＭＳ Ｐゴシック" pitchFamily="-65" charset="-128"/>
            </a:endParaRPr>
          </a:p>
          <a:p>
            <a:pPr>
              <a:lnSpc>
                <a:spcPct val="80000"/>
              </a:lnSpc>
            </a:pPr>
            <a:r>
              <a:rPr lang="en-US" sz="700" dirty="0">
                <a:latin typeface="Arial" charset="0"/>
                <a:ea typeface="ＭＳ Ｐゴシック" pitchFamily="-65" charset="-128"/>
              </a:rPr>
              <a:t>• </a:t>
            </a:r>
            <a:r>
              <a:rPr lang="en-US" sz="700" b="1" dirty="0">
                <a:latin typeface="Arial" charset="0"/>
                <a:ea typeface="ＭＳ Ｐゴシック" pitchFamily="-65" charset="-128"/>
              </a:rPr>
              <a:t>Ingress monitors: </a:t>
            </a:r>
            <a:r>
              <a:rPr lang="en-US" sz="700" b="0" dirty="0">
                <a:latin typeface="Arial" charset="0"/>
                <a:ea typeface="ＭＳ Ｐゴシック" pitchFamily="-65" charset="-128"/>
              </a:rPr>
              <a:t>These are located at the border between the enterprise</a:t>
            </a:r>
          </a:p>
          <a:p>
            <a:pPr>
              <a:lnSpc>
                <a:spcPct val="80000"/>
              </a:lnSpc>
            </a:pPr>
            <a:r>
              <a:rPr lang="en-US" sz="700" dirty="0">
                <a:latin typeface="Arial" charset="0"/>
                <a:ea typeface="ＭＳ Ｐゴシック" pitchFamily="-65" charset="-128"/>
              </a:rPr>
              <a:t>network and the Internet. They can be part of the ingress filtering software</a:t>
            </a:r>
          </a:p>
          <a:p>
            <a:pPr>
              <a:lnSpc>
                <a:spcPct val="80000"/>
              </a:lnSpc>
            </a:pPr>
            <a:r>
              <a:rPr lang="en-US" sz="700" dirty="0">
                <a:latin typeface="Arial" charset="0"/>
                <a:ea typeface="ＭＳ Ｐゴシック" pitchFamily="-65" charset="-128"/>
              </a:rPr>
              <a:t>of a border router or external firewall or a separate passive monitor. A</a:t>
            </a:r>
          </a:p>
          <a:p>
            <a:pPr>
              <a:lnSpc>
                <a:spcPct val="80000"/>
              </a:lnSpc>
            </a:pPr>
            <a:r>
              <a:rPr lang="en-US" sz="700" dirty="0">
                <a:latin typeface="Arial" charset="0"/>
                <a:ea typeface="ＭＳ Ｐゴシック" pitchFamily="-65" charset="-128"/>
              </a:rPr>
              <a:t>honeypot can also capture incoming malware traffic. An example of a detection</a:t>
            </a:r>
          </a:p>
          <a:p>
            <a:pPr>
              <a:lnSpc>
                <a:spcPct val="80000"/>
              </a:lnSpc>
            </a:pPr>
            <a:r>
              <a:rPr lang="en-US" sz="700" dirty="0">
                <a:latin typeface="Arial" charset="0"/>
                <a:ea typeface="ＭＳ Ｐゴシック" pitchFamily="-65" charset="-128"/>
              </a:rPr>
              <a:t>technique for an ingress monitor is to look for incoming traffic to unused</a:t>
            </a:r>
          </a:p>
          <a:p>
            <a:pPr>
              <a:lnSpc>
                <a:spcPct val="80000"/>
              </a:lnSpc>
            </a:pPr>
            <a:r>
              <a:rPr lang="en-US" sz="700" dirty="0">
                <a:latin typeface="Arial" charset="0"/>
                <a:ea typeface="ＭＳ Ｐゴシック" pitchFamily="-65" charset="-128"/>
              </a:rPr>
              <a:t>local IP addresses.</a:t>
            </a:r>
          </a:p>
          <a:p>
            <a:pPr>
              <a:lnSpc>
                <a:spcPct val="80000"/>
              </a:lnSpc>
            </a:pPr>
            <a:endParaRPr lang="en-US" sz="700" dirty="0">
              <a:latin typeface="Arial" charset="0"/>
              <a:ea typeface="ＭＳ Ｐゴシック" pitchFamily="-65" charset="-128"/>
            </a:endParaRPr>
          </a:p>
          <a:p>
            <a:pPr>
              <a:lnSpc>
                <a:spcPct val="80000"/>
              </a:lnSpc>
            </a:pPr>
            <a:r>
              <a:rPr lang="en-US" sz="700" dirty="0">
                <a:latin typeface="Arial" charset="0"/>
                <a:ea typeface="ＭＳ Ｐゴシック" pitchFamily="-65" charset="-128"/>
              </a:rPr>
              <a:t>• </a:t>
            </a:r>
            <a:r>
              <a:rPr lang="en-US" sz="700" b="1" dirty="0">
                <a:latin typeface="Arial" charset="0"/>
                <a:ea typeface="ＭＳ Ｐゴシック" pitchFamily="-65" charset="-128"/>
              </a:rPr>
              <a:t>Egress monitors: </a:t>
            </a:r>
            <a:r>
              <a:rPr lang="en-US" sz="700" b="0" dirty="0">
                <a:latin typeface="Arial" charset="0"/>
                <a:ea typeface="ＭＳ Ｐゴシック" pitchFamily="-65" charset="-128"/>
              </a:rPr>
              <a:t>These can be located at the egress point of individual LANs</a:t>
            </a:r>
          </a:p>
          <a:p>
            <a:pPr>
              <a:lnSpc>
                <a:spcPct val="80000"/>
              </a:lnSpc>
            </a:pPr>
            <a:r>
              <a:rPr lang="en-US" sz="700" dirty="0">
                <a:latin typeface="Arial" charset="0"/>
                <a:ea typeface="ＭＳ Ｐゴシック" pitchFamily="-65" charset="-128"/>
              </a:rPr>
              <a:t>on the enterprise network as well as at the border between the enterprise</a:t>
            </a:r>
          </a:p>
          <a:p>
            <a:pPr>
              <a:lnSpc>
                <a:spcPct val="80000"/>
              </a:lnSpc>
            </a:pPr>
            <a:r>
              <a:rPr lang="en-US" sz="700" dirty="0">
                <a:latin typeface="Arial" charset="0"/>
                <a:ea typeface="ＭＳ Ｐゴシック" pitchFamily="-65" charset="-128"/>
              </a:rPr>
              <a:t>network and the Internet. In the former case, the egress monitor can be part</a:t>
            </a:r>
          </a:p>
          <a:p>
            <a:pPr>
              <a:lnSpc>
                <a:spcPct val="80000"/>
              </a:lnSpc>
            </a:pPr>
            <a:r>
              <a:rPr lang="en-US" sz="700" dirty="0">
                <a:latin typeface="Arial" charset="0"/>
                <a:ea typeface="ＭＳ Ｐゴシック" pitchFamily="-65" charset="-128"/>
              </a:rPr>
              <a:t>of the egress filtering software of a LAN router or switch. As with ingress</a:t>
            </a:r>
          </a:p>
          <a:p>
            <a:pPr>
              <a:lnSpc>
                <a:spcPct val="80000"/>
              </a:lnSpc>
            </a:pPr>
            <a:r>
              <a:rPr lang="en-US" sz="700" dirty="0">
                <a:latin typeface="Arial" charset="0"/>
                <a:ea typeface="ＭＳ Ｐゴシック" pitchFamily="-65" charset="-128"/>
              </a:rPr>
              <a:t>monitors, the external firewall or a honeypot can house the monitoring software.</a:t>
            </a:r>
          </a:p>
          <a:p>
            <a:pPr>
              <a:lnSpc>
                <a:spcPct val="80000"/>
              </a:lnSpc>
            </a:pPr>
            <a:r>
              <a:rPr lang="en-US" sz="700" dirty="0">
                <a:latin typeface="Arial" charset="0"/>
                <a:ea typeface="ＭＳ Ｐゴシック" pitchFamily="-65" charset="-128"/>
              </a:rPr>
              <a:t>Indeed, the two types of monitors can be collocated. The egress monitor</a:t>
            </a:r>
          </a:p>
          <a:p>
            <a:pPr>
              <a:lnSpc>
                <a:spcPct val="80000"/>
              </a:lnSpc>
            </a:pPr>
            <a:r>
              <a:rPr lang="en-US" sz="700" dirty="0">
                <a:latin typeface="Arial" charset="0"/>
                <a:ea typeface="ＭＳ Ｐゴシック" pitchFamily="-65" charset="-128"/>
              </a:rPr>
              <a:t>is designed to catch the source of a malware attack by monitoring outgoing</a:t>
            </a:r>
          </a:p>
          <a:p>
            <a:pPr>
              <a:lnSpc>
                <a:spcPct val="80000"/>
              </a:lnSpc>
            </a:pPr>
            <a:r>
              <a:rPr lang="en-US" sz="700" dirty="0">
                <a:latin typeface="Arial" charset="0"/>
                <a:ea typeface="ＭＳ Ｐゴシック" pitchFamily="-65" charset="-128"/>
              </a:rPr>
              <a:t>traffic for signs of scanning or other suspicious behavior.</a:t>
            </a:r>
          </a:p>
          <a:p>
            <a:pPr>
              <a:lnSpc>
                <a:spcPct val="80000"/>
              </a:lnSpc>
            </a:pPr>
            <a:endParaRPr lang="en-US" sz="700" dirty="0">
              <a:latin typeface="Arial" charset="0"/>
              <a:ea typeface="ＭＳ Ｐゴシック" pitchFamily="-65" charset="-128"/>
            </a:endParaRPr>
          </a:p>
          <a:p>
            <a:pPr>
              <a:lnSpc>
                <a:spcPct val="80000"/>
              </a:lnSpc>
            </a:pPr>
            <a:r>
              <a:rPr lang="en-US" sz="700" dirty="0">
                <a:latin typeface="Arial" charset="0"/>
                <a:ea typeface="ＭＳ Ｐゴシック" pitchFamily="-65" charset="-128"/>
              </a:rPr>
              <a:t>Perimeter monitoring can also assist in detecting and responding to botnet activity</a:t>
            </a:r>
          </a:p>
          <a:p>
            <a:pPr>
              <a:lnSpc>
                <a:spcPct val="80000"/>
              </a:lnSpc>
            </a:pPr>
            <a:r>
              <a:rPr lang="en-US" sz="700" dirty="0">
                <a:latin typeface="Arial" charset="0"/>
                <a:ea typeface="ＭＳ Ｐゴシック" pitchFamily="-65" charset="-128"/>
              </a:rPr>
              <a:t>by detecting abnormal traffic patterns associated with this activity. Once bots are</a:t>
            </a:r>
          </a:p>
          <a:p>
            <a:pPr>
              <a:lnSpc>
                <a:spcPct val="80000"/>
              </a:lnSpc>
            </a:pPr>
            <a:r>
              <a:rPr lang="en-US" sz="700" dirty="0">
                <a:latin typeface="Arial" charset="0"/>
                <a:ea typeface="ＭＳ Ｐゴシック" pitchFamily="-65" charset="-128"/>
              </a:rPr>
              <a:t>activated and an attack is underway, such monitoring can be used to detect the</a:t>
            </a:r>
          </a:p>
          <a:p>
            <a:pPr>
              <a:lnSpc>
                <a:spcPct val="80000"/>
              </a:lnSpc>
            </a:pPr>
            <a:r>
              <a:rPr lang="en-US" sz="700" dirty="0">
                <a:latin typeface="Arial" charset="0"/>
                <a:ea typeface="ＭＳ Ｐゴシック" pitchFamily="-65" charset="-128"/>
              </a:rPr>
              <a:t>attack. However, the primary objective is to try to detect and disable the botnet</a:t>
            </a:r>
          </a:p>
          <a:p>
            <a:pPr>
              <a:lnSpc>
                <a:spcPct val="80000"/>
              </a:lnSpc>
            </a:pPr>
            <a:r>
              <a:rPr lang="en-US" sz="700" dirty="0">
                <a:latin typeface="Arial" charset="0"/>
                <a:ea typeface="ＭＳ Ｐゴシック" pitchFamily="-65" charset="-128"/>
              </a:rPr>
              <a:t>during its construction phase, using the various scanning techniques we have just</a:t>
            </a:r>
          </a:p>
          <a:p>
            <a:pPr>
              <a:lnSpc>
                <a:spcPct val="80000"/>
              </a:lnSpc>
            </a:pPr>
            <a:r>
              <a:rPr lang="en-US" sz="700" dirty="0">
                <a:latin typeface="Arial" charset="0"/>
                <a:ea typeface="ＭＳ Ｐゴシック" pitchFamily="-65" charset="-128"/>
              </a:rPr>
              <a:t>discussed, identifying and blocking the malware that is used to propagate this type</a:t>
            </a:r>
          </a:p>
          <a:p>
            <a:pPr>
              <a:lnSpc>
                <a:spcPct val="80000"/>
              </a:lnSpc>
            </a:pPr>
            <a:r>
              <a:rPr lang="en-US" sz="700" dirty="0">
                <a:latin typeface="Arial" charset="0"/>
                <a:ea typeface="ＭＳ Ｐゴシック" pitchFamily="-65" charset="-128"/>
              </a:rPr>
              <a:t>of payload.</a:t>
            </a:r>
          </a:p>
        </p:txBody>
      </p:sp>
      <p:sp>
        <p:nvSpPr>
          <p:cNvPr id="94212" name="Slide Number Placeholder 3"/>
          <p:cNvSpPr>
            <a:spLocks noGrp="1"/>
          </p:cNvSpPr>
          <p:nvPr>
            <p:ph type="sldNum" sz="quarter" idx="5"/>
          </p:nvPr>
        </p:nvSpPr>
        <p:spPr>
          <a:noFill/>
        </p:spPr>
        <p:txBody>
          <a:bodyPr/>
          <a:lstStyle/>
          <a:p>
            <a:fld id="{B50EAA6E-6854-4866-BCC3-1233EB2DE73E}" type="slidenum">
              <a:rPr lang="en-AU"/>
              <a:pPr/>
              <a:t>47</a:t>
            </a:fld>
            <a:endParaRPr lang="en-AU"/>
          </a:p>
        </p:txBody>
      </p:sp>
    </p:spTree>
    <p:extLst>
      <p:ext uri="{BB962C8B-B14F-4D97-AF65-F5344CB8AC3E}">
        <p14:creationId xmlns:p14="http://schemas.microsoft.com/office/powerpoint/2010/main" val="17641553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AF8046-0263-F74C-BDB1-E6E78A850B0B}" type="slidenum">
              <a:rPr lang="en-AU">
                <a:solidFill>
                  <a:srgbClr val="000000"/>
                </a:solidFill>
              </a:rPr>
              <a:pPr/>
              <a:t>48</a:t>
            </a:fld>
            <a:endParaRPr lang="en-AU" dirty="0">
              <a:solidFill>
                <a:srgbClr val="000000"/>
              </a:solidFill>
            </a:endParaRPr>
          </a:p>
        </p:txBody>
      </p:sp>
      <p:sp>
        <p:nvSpPr>
          <p:cNvPr id="206852" name="Rectangle 4"/>
          <p:cNvSpPr>
            <a:spLocks noGrp="1" noRot="1" noChangeAspect="1" noChangeArrowheads="1" noTextEdit="1"/>
          </p:cNvSpPr>
          <p:nvPr>
            <p:ph type="sldImg"/>
          </p:nvPr>
        </p:nvSpPr>
        <p:spPr>
          <a:ln/>
        </p:spPr>
      </p:sp>
      <p:sp>
        <p:nvSpPr>
          <p:cNvPr id="206853" name="Rectangle 5"/>
          <p:cNvSpPr>
            <a:spLocks noGrp="1" noChangeArrowheads="1"/>
          </p:cNvSpPr>
          <p:nvPr>
            <p:ph type="body" idx="1"/>
          </p:nvPr>
        </p:nvSpPr>
        <p:spPr/>
        <p:txBody>
          <a:bodyPr/>
          <a:lstStyle/>
          <a:p>
            <a:r>
              <a:rPr lang="en-US" dirty="0">
                <a:latin typeface="Times New Roman" pitchFamily="-107" charset="0"/>
              </a:rPr>
              <a:t>Chapter 6 summary.</a:t>
            </a:r>
          </a:p>
        </p:txBody>
      </p:sp>
    </p:spTree>
    <p:extLst>
      <p:ext uri="{BB962C8B-B14F-4D97-AF65-F5344CB8AC3E}">
        <p14:creationId xmlns:p14="http://schemas.microsoft.com/office/powerpoint/2010/main" val="2434255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EDD4908-CC23-48C0-976B-10CC20990EB2}" type="datetime1">
              <a:rPr lang="en-US" smtClean="0"/>
              <a:t>08/13/2025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895714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BFA864-45E6-4FF3-9F56-3B20DBBFC3C2}" type="datetime1">
              <a:rPr lang="en-US" smtClean="0"/>
              <a:t>08/13/2025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26230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38996E-E0E0-40F4-841D-9F1A9F67B603}" type="datetime1">
              <a:rPr lang="en-US" smtClean="0"/>
              <a:t>08/13/2025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651054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091E4FC-E453-477B-A66B-F03CC82B7056}" type="datetime1">
              <a:rPr lang="en-US" smtClean="0"/>
              <a:t>08/13/2025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101782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3B1B869-8361-44D0-BD83-AE35A5C3BED5}" type="datetime1">
              <a:rPr lang="en-US" smtClean="0"/>
              <a:t>08/13/2025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591499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C0D8ED7-1120-47C5-9976-8F42E2F562CF}" type="datetime1">
              <a:rPr lang="en-US" smtClean="0"/>
              <a:t>08/13/2025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907751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D831BB-02EA-4FD2-BB64-1808DDE74F74}" type="datetime1">
              <a:rPr lang="en-US" smtClean="0"/>
              <a:t>08/13/2025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8267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872C61-A4AD-4435-B830-F4B215C43EE3}" type="datetime1">
              <a:rPr lang="en-US" smtClean="0"/>
              <a:t>08/13/2025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3361512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BC04A30-163A-4F79-B404-FE5245FD6953}" type="datetime1">
              <a:rPr lang="en-US" smtClean="0"/>
              <a:t>08/13/2025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244597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E448FC-326D-4210-9B7F-1F78F2B0ABAC}" type="datetime1">
              <a:rPr lang="en-US" smtClean="0"/>
              <a:t>08/13/2025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520281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B785A1-B715-4328-ADC9-B20C16CF4F32}" type="datetime1">
              <a:rPr lang="en-US" smtClean="0"/>
              <a:t>08/13/2025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13582406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n-US"/>
              <a:t>Click to edit Master title style</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endParaRPr lang="en-US" dirty="0">
              <a:solidFill>
                <a:prstClr val="white">
                  <a:lumMod val="65000"/>
                  <a:lumOff val="35000"/>
                </a:prstClr>
              </a:solidFill>
            </a:endParaRPr>
          </a:p>
        </p:txBody>
      </p:sp>
      <p:sp>
        <p:nvSpPr>
          <p:cNvPr id="8" name="Slide Number Placeholder 7"/>
          <p:cNvSpPr>
            <a:spLocks noGrp="1"/>
          </p:cNvSpPr>
          <p:nvPr>
            <p:ph type="sldNum" sz="quarter" idx="11"/>
          </p:nvPr>
        </p:nvSpPr>
        <p:spPr/>
        <p:txBody>
          <a:bodyPr/>
          <a:lstStyle/>
          <a:p>
            <a:fld id="{006B9344-A600-C44C-BFF3-F262E2EAB853}"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9" name="Footer Placeholder 8"/>
          <p:cNvSpPr>
            <a:spLocks noGrp="1"/>
          </p:cNvSpPr>
          <p:nvPr>
            <p:ph type="ftr" sz="quarter" idx="12"/>
          </p:nvPr>
        </p:nvSpPr>
        <p:spPr/>
        <p:txBody>
          <a:bodyPr/>
          <a:lstStyle/>
          <a:p>
            <a:endParaRPr lang="en-US" dirty="0">
              <a:solidFill>
                <a:prstClr val="white">
                  <a:lumMod val="65000"/>
                  <a:lumOff val="35000"/>
                </a:prstClr>
              </a:solidFill>
            </a:endParaRPr>
          </a:p>
        </p:txBody>
      </p:sp>
    </p:spTree>
    <p:extLst>
      <p:ext uri="{BB962C8B-B14F-4D97-AF65-F5344CB8AC3E}">
        <p14:creationId xmlns:p14="http://schemas.microsoft.com/office/powerpoint/2010/main" val="3012691005"/>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4287621711"/>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0A00927A-0526-144F-9580-37ABB5A1E7E2}"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latin typeface="Palatino Linotype"/>
            </a:endParaRPr>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latin typeface="Palatino Linotype"/>
            </a:endParaRPr>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latin typeface="Palatino Linotype"/>
            </a:endParaRPr>
          </a:p>
        </p:txBody>
      </p:sp>
    </p:spTree>
    <p:extLst>
      <p:ext uri="{BB962C8B-B14F-4D97-AF65-F5344CB8AC3E}">
        <p14:creationId xmlns:p14="http://schemas.microsoft.com/office/powerpoint/2010/main" val="4030190187"/>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solidFill>
                <a:prstClr val="white">
                  <a:lumMod val="65000"/>
                  <a:lumOff val="35000"/>
                </a:prstClr>
              </a:solidFill>
            </a:endParaRPr>
          </a:p>
        </p:txBody>
      </p:sp>
      <p:sp>
        <p:nvSpPr>
          <p:cNvPr id="6" name="Footer Placeholder 5"/>
          <p:cNvSpPr>
            <a:spLocks noGrp="1"/>
          </p:cNvSpPr>
          <p:nvPr>
            <p:ph type="ftr" sz="quarter" idx="11"/>
          </p:nvPr>
        </p:nvSpPr>
        <p:spPr/>
        <p:txBody>
          <a:bodyPr/>
          <a:lstStyle/>
          <a:p>
            <a:endParaRPr lang="en-US" dirty="0">
              <a:solidFill>
                <a:prstClr val="white">
                  <a:lumMod val="65000"/>
                  <a:lumOff val="35000"/>
                </a:prstClr>
              </a:solidFill>
            </a:endParaRPr>
          </a:p>
        </p:txBody>
      </p:sp>
      <p:sp>
        <p:nvSpPr>
          <p:cNvPr id="7" name="Slide Number Placeholder 6"/>
          <p:cNvSpPr>
            <a:spLocks noGrp="1"/>
          </p:cNvSpPr>
          <p:nvPr>
            <p:ph type="sldNum" sz="quarter" idx="12"/>
          </p:nvPr>
        </p:nvSpPr>
        <p:spPr/>
        <p:txBody>
          <a:bodyPr/>
          <a:lstStyle/>
          <a:p>
            <a:fld id="{6D5DF91A-7C92-3743-8A2E-356816C55239}"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9" name="Content Placeholder 8"/>
          <p:cNvSpPr>
            <a:spLocks noGrp="1"/>
          </p:cNvSpPr>
          <p:nvPr>
            <p:ph sz="quarter" idx="13"/>
          </p:nvPr>
        </p:nvSpPr>
        <p:spPr>
          <a:xfrm>
            <a:off x="487680" y="1600200"/>
            <a:ext cx="5388864" cy="4526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5396336"/>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endParaRPr lang="en-US" dirty="0">
              <a:solidFill>
                <a:prstClr val="white">
                  <a:lumMod val="65000"/>
                  <a:lumOff val="35000"/>
                </a:prstClr>
              </a:solidFill>
            </a:endParaRPr>
          </a:p>
        </p:txBody>
      </p:sp>
      <p:sp>
        <p:nvSpPr>
          <p:cNvPr id="8" name="Footer Placeholder 7"/>
          <p:cNvSpPr>
            <a:spLocks noGrp="1"/>
          </p:cNvSpPr>
          <p:nvPr>
            <p:ph type="ftr" sz="quarter" idx="11"/>
          </p:nvPr>
        </p:nvSpPr>
        <p:spPr/>
        <p:txBody>
          <a:bodyPr/>
          <a:lstStyle/>
          <a:p>
            <a:endParaRPr lang="en-US" dirty="0">
              <a:solidFill>
                <a:prstClr val="white">
                  <a:lumMod val="65000"/>
                  <a:lumOff val="35000"/>
                </a:prstClr>
              </a:solidFill>
            </a:endParaRPr>
          </a:p>
        </p:txBody>
      </p:sp>
      <p:sp>
        <p:nvSpPr>
          <p:cNvPr id="9" name="Slide Number Placeholder 8"/>
          <p:cNvSpPr>
            <a:spLocks noGrp="1"/>
          </p:cNvSpPr>
          <p:nvPr>
            <p:ph type="sldNum" sz="quarter" idx="12"/>
          </p:nvPr>
        </p:nvSpPr>
        <p:spPr/>
        <p:txBody>
          <a:bodyPr/>
          <a:lstStyle/>
          <a:p>
            <a:fld id="{C5B529B3-313B-4E43-B940-6E980F955EE2}"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11" name="Content Placeholder 10"/>
          <p:cNvSpPr>
            <a:spLocks noGrp="1"/>
          </p:cNvSpPr>
          <p:nvPr>
            <p:ph sz="quarter" idx="13"/>
          </p:nvPr>
        </p:nvSpPr>
        <p:spPr>
          <a:xfrm>
            <a:off x="609600" y="2212848"/>
            <a:ext cx="5388864"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3879781"/>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solidFill>
                <a:prstClr val="white">
                  <a:lumMod val="65000"/>
                  <a:lumOff val="3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65000"/>
                  <a:lumOff val="35000"/>
                </a:prstClr>
              </a:solidFill>
            </a:endParaRPr>
          </a:p>
        </p:txBody>
      </p:sp>
      <p:sp>
        <p:nvSpPr>
          <p:cNvPr id="5" name="Slide Number Placeholder 4"/>
          <p:cNvSpPr>
            <a:spLocks noGrp="1"/>
          </p:cNvSpPr>
          <p:nvPr>
            <p:ph type="sldNum" sz="quarter" idx="12"/>
          </p:nvPr>
        </p:nvSpPr>
        <p:spPr/>
        <p:txBody>
          <a:bodyPr/>
          <a:lstStyle/>
          <a:p>
            <a:fld id="{20BE093F-740F-2B40-9952-A828B8BE9ABC}"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1840188112"/>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white">
                  <a:lumMod val="65000"/>
                  <a:lumOff val="35000"/>
                </a:prstClr>
              </a:solidFill>
            </a:endParaRPr>
          </a:p>
        </p:txBody>
      </p:sp>
      <p:sp>
        <p:nvSpPr>
          <p:cNvPr id="3" name="Footer Placeholder 2"/>
          <p:cNvSpPr>
            <a:spLocks noGrp="1"/>
          </p:cNvSpPr>
          <p:nvPr>
            <p:ph type="ftr" sz="quarter" idx="11"/>
          </p:nvPr>
        </p:nvSpPr>
        <p:spPr/>
        <p:txBody>
          <a:bodyPr/>
          <a:lstStyle/>
          <a:p>
            <a:endParaRPr lang="en-US" dirty="0">
              <a:solidFill>
                <a:prstClr val="white">
                  <a:lumMod val="65000"/>
                  <a:lumOff val="35000"/>
                </a:prstClr>
              </a:solidFill>
            </a:endParaRPr>
          </a:p>
        </p:txBody>
      </p:sp>
      <p:sp>
        <p:nvSpPr>
          <p:cNvPr id="4" name="Slide Number Placeholder 3"/>
          <p:cNvSpPr>
            <a:spLocks noGrp="1"/>
          </p:cNvSpPr>
          <p:nvPr>
            <p:ph type="sldNum" sz="quarter" idx="12"/>
          </p:nvPr>
        </p:nvSpPr>
        <p:spPr/>
        <p:txBody>
          <a:bodyPr/>
          <a:lstStyle/>
          <a:p>
            <a:fld id="{4711BA6F-B221-4442-B3E0-4DE91DDD2916}"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2206870459"/>
      </p:ext>
    </p:extLst>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a:t>Click to edit Master title style</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solidFill>
                <a:prstClr val="white">
                  <a:lumMod val="65000"/>
                  <a:lumOff val="35000"/>
                </a:prstClr>
              </a:solidFill>
            </a:endParaRPr>
          </a:p>
        </p:txBody>
      </p:sp>
      <p:sp>
        <p:nvSpPr>
          <p:cNvPr id="6" name="Footer Placeholder 5"/>
          <p:cNvSpPr>
            <a:spLocks noGrp="1"/>
          </p:cNvSpPr>
          <p:nvPr>
            <p:ph type="ftr" sz="quarter" idx="11"/>
          </p:nvPr>
        </p:nvSpPr>
        <p:spPr/>
        <p:txBody>
          <a:bodyPr/>
          <a:lstStyle/>
          <a:p>
            <a:endParaRPr lang="en-US" dirty="0">
              <a:solidFill>
                <a:prstClr val="white">
                  <a:lumMod val="65000"/>
                  <a:lumOff val="35000"/>
                </a:prstClr>
              </a:solidFill>
            </a:endParaRPr>
          </a:p>
        </p:txBody>
      </p:sp>
      <p:sp>
        <p:nvSpPr>
          <p:cNvPr id="7" name="Slide Number Placeholder 6"/>
          <p:cNvSpPr>
            <a:spLocks noGrp="1"/>
          </p:cNvSpPr>
          <p:nvPr>
            <p:ph type="sldNum" sz="quarter" idx="12"/>
          </p:nvPr>
        </p:nvSpPr>
        <p:spPr/>
        <p:txBody>
          <a:bodyPr/>
          <a:lstStyle/>
          <a:p>
            <a:fld id="{FFC3DB47-CF9E-3940-A66D-FFE81C46DA24}"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169062363"/>
      </p:ext>
    </p:extLst>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n-US"/>
              <a:t>Click to edit Master title style</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solidFill>
                <a:prstClr val="white">
                  <a:lumMod val="65000"/>
                  <a:lumOff val="35000"/>
                </a:prstClr>
              </a:solidFill>
            </a:endParaRPr>
          </a:p>
        </p:txBody>
      </p:sp>
      <p:sp>
        <p:nvSpPr>
          <p:cNvPr id="6" name="Footer Placeholder 5"/>
          <p:cNvSpPr>
            <a:spLocks noGrp="1"/>
          </p:cNvSpPr>
          <p:nvPr>
            <p:ph type="ftr" sz="quarter" idx="11"/>
          </p:nvPr>
        </p:nvSpPr>
        <p:spPr/>
        <p:txBody>
          <a:bodyPr/>
          <a:lstStyle/>
          <a:p>
            <a:endParaRPr lang="en-US" dirty="0">
              <a:solidFill>
                <a:prstClr val="white">
                  <a:lumMod val="65000"/>
                  <a:lumOff val="35000"/>
                </a:prstClr>
              </a:solidFill>
            </a:endParaRPr>
          </a:p>
        </p:txBody>
      </p:sp>
      <p:sp>
        <p:nvSpPr>
          <p:cNvPr id="7" name="Slide Number Placeholder 6"/>
          <p:cNvSpPr>
            <a:spLocks noGrp="1"/>
          </p:cNvSpPr>
          <p:nvPr>
            <p:ph type="sldNum" sz="quarter" idx="12"/>
          </p:nvPr>
        </p:nvSpPr>
        <p:spPr/>
        <p:txBody>
          <a:bodyPr/>
          <a:lstStyle/>
          <a:p>
            <a:fld id="{7CD43092-C6C6-4F4E-AC3B-C3372C3BCD24}"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2949048444"/>
      </p:ext>
    </p:extLst>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85CF7B68-3A81-2E4B-BA12-F5A493E24C50}"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4234755315"/>
      </p:ext>
    </p:extLst>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p:txBody>
          <a:bodyPr/>
          <a:lstStyle/>
          <a:p>
            <a:endParaRPr lang="en-US" dirty="0">
              <a:solidFill>
                <a:prstClr val="white">
                  <a:lumMod val="65000"/>
                  <a:lumOff val="35000"/>
                </a:prstClr>
              </a:solidFill>
            </a:endParaRPr>
          </a:p>
        </p:txBody>
      </p:sp>
      <p:sp>
        <p:nvSpPr>
          <p:cNvPr id="6" name="Slide Number Placeholder 5"/>
          <p:cNvSpPr>
            <a:spLocks noGrp="1"/>
          </p:cNvSpPr>
          <p:nvPr>
            <p:ph type="sldNum" sz="quarter" idx="12"/>
          </p:nvPr>
        </p:nvSpPr>
        <p:spPr/>
        <p:txBody>
          <a:bodyPr/>
          <a:lstStyle/>
          <a:p>
            <a:fld id="{F842B32E-5D81-2D4F-8CC9-49749ECC7299}"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Tree>
    <p:extLst>
      <p:ext uri="{BB962C8B-B14F-4D97-AF65-F5344CB8AC3E}">
        <p14:creationId xmlns:p14="http://schemas.microsoft.com/office/powerpoint/2010/main" val="3181930032"/>
      </p:ext>
    </p:extLst>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091E4FC-E453-477B-A66B-F03CC82B7056}" type="datetime1">
              <a:rPr lang="en-US" smtClean="0"/>
              <a:t>08/13/2025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A50C4D-0BA1-4E54-8DFC-01810EC97B99}" type="slidenum">
              <a:rPr lang="en-US" smtClean="0"/>
              <a:t>‹#›</a:t>
            </a:fld>
            <a:endParaRPr lang="en-US"/>
          </a:p>
        </p:txBody>
      </p:sp>
    </p:spTree>
    <p:extLst>
      <p:ext uri="{BB962C8B-B14F-4D97-AF65-F5344CB8AC3E}">
        <p14:creationId xmlns:p14="http://schemas.microsoft.com/office/powerpoint/2010/main" val="4173015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64298C-E6C4-409D-9160-EEEEF8DB9D31}" type="datetime1">
              <a:rPr lang="en-US" smtClean="0"/>
              <a:t>08/13/2025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A50C4D-0BA1-4E54-8DFC-01810EC97B99}" type="slidenum">
              <a:rPr lang="en-US" smtClean="0"/>
              <a:t>‹#›</a:t>
            </a:fld>
            <a:endParaRPr lang="en-US"/>
          </a:p>
        </p:txBody>
      </p:sp>
    </p:spTree>
    <p:extLst>
      <p:ext uri="{BB962C8B-B14F-4D97-AF65-F5344CB8AC3E}">
        <p14:creationId xmlns:p14="http://schemas.microsoft.com/office/powerpoint/2010/main" val="4137917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endParaRPr lang="en-US" dirty="0">
              <a:solidFill>
                <a:prstClr val="white">
                  <a:lumMod val="65000"/>
                  <a:lumOff val="35000"/>
                </a:prstClr>
              </a:solidFill>
              <a:ea typeface="+mn-ea"/>
            </a:endParaRPr>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dirty="0">
              <a:solidFill>
                <a:prstClr val="white">
                  <a:lumMod val="65000"/>
                  <a:lumOff val="35000"/>
                </a:prstClr>
              </a:solidFill>
              <a:ea typeface="+mn-ea"/>
            </a:endParaRPr>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A855AEC4-77F9-F44E-AF10-D517C4B655CE}" type="slidenum">
              <a:rPr lang="en-US" smtClean="0">
                <a:solidFill>
                  <a:prstClr val="white">
                    <a:lumMod val="65000"/>
                    <a:lumOff val="35000"/>
                  </a:prstClr>
                </a:solidFill>
                <a:ea typeface="+mn-ea"/>
              </a:rPr>
              <a:pPr/>
              <a:t>‹#›</a:t>
            </a:fld>
            <a:endParaRPr lang="en-US" dirty="0">
              <a:solidFill>
                <a:prstClr val="white">
                  <a:lumMod val="65000"/>
                  <a:lumOff val="35000"/>
                </a:prstClr>
              </a:solidFill>
              <a:ea typeface="+mn-ea"/>
            </a:endParaRPr>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latin typeface="Palatino Linotype"/>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prstClr val="white"/>
              </a:solidFill>
              <a:latin typeface="Palatino Linotype"/>
            </a:endParaRPr>
          </a:p>
        </p:txBody>
      </p:sp>
    </p:spTree>
    <p:extLst>
      <p:ext uri="{BB962C8B-B14F-4D97-AF65-F5344CB8AC3E}">
        <p14:creationId xmlns:p14="http://schemas.microsoft.com/office/powerpoint/2010/main" val="308305896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spd="slow"/>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3.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0.xml"/><Relationship Id="rId1" Type="http://schemas.openxmlformats.org/officeDocument/2006/relationships/slideLayout" Target="../slideLayouts/slideLayout13.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1.xml"/><Relationship Id="rId1" Type="http://schemas.openxmlformats.org/officeDocument/2006/relationships/slideLayout" Target="../slideLayouts/slideLayout13.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32.xml"/><Relationship Id="rId1" Type="http://schemas.openxmlformats.org/officeDocument/2006/relationships/slideLayout" Target="../slideLayouts/slideLayout18.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34.xml"/><Relationship Id="rId1" Type="http://schemas.openxmlformats.org/officeDocument/2006/relationships/slideLayout" Target="../slideLayouts/slideLayout13.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35.xml"/><Relationship Id="rId1" Type="http://schemas.openxmlformats.org/officeDocument/2006/relationships/slideLayout" Target="../slideLayouts/slideLayout18.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p:txBody>
          <a:bodyPr/>
          <a:lstStyle/>
          <a:p>
            <a:endParaRPr lang="en-US" dirty="0"/>
          </a:p>
        </p:txBody>
      </p:sp>
      <p:sp>
        <p:nvSpPr>
          <p:cNvPr id="4" name="Title 1"/>
          <p:cNvSpPr txBox="1">
            <a:spLocks/>
          </p:cNvSpPr>
          <p:nvPr/>
        </p:nvSpPr>
        <p:spPr>
          <a:xfrm>
            <a:off x="613956" y="702949"/>
            <a:ext cx="10946674" cy="1496554"/>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pPr algn="ctr"/>
            <a:r>
              <a:rPr lang="en-US" sz="7700" dirty="0"/>
              <a:t>CS 3002 Information Security</a:t>
            </a:r>
            <a:endParaRPr lang="en-US" sz="5400" dirty="0"/>
          </a:p>
          <a:p>
            <a:pPr algn="ctr"/>
            <a:r>
              <a:rPr lang="en-US" sz="4600" dirty="0">
                <a:solidFill>
                  <a:srgbClr val="FF0000"/>
                </a:solidFill>
              </a:rPr>
              <a:t>                                                                   Fall </a:t>
            </a:r>
            <a:r>
              <a:rPr lang="en-US" sz="4600" dirty="0" smtClean="0">
                <a:solidFill>
                  <a:srgbClr val="FF0000"/>
                </a:solidFill>
              </a:rPr>
              <a:t>2025</a:t>
            </a:r>
            <a:endParaRPr lang="en-US" sz="4600" dirty="0">
              <a:solidFill>
                <a:srgbClr val="FF0000"/>
              </a:solidFill>
            </a:endParaRPr>
          </a:p>
        </p:txBody>
      </p:sp>
      <p:sp>
        <p:nvSpPr>
          <p:cNvPr id="5" name="Subtitle 2"/>
          <p:cNvSpPr txBox="1">
            <a:spLocks/>
          </p:cNvSpPr>
          <p:nvPr/>
        </p:nvSpPr>
        <p:spPr>
          <a:xfrm>
            <a:off x="5609969" y="3525988"/>
            <a:ext cx="5950662" cy="2652390"/>
          </a:xfrm>
          <a:prstGeom prst="rect">
            <a:avLst/>
          </a:prstGeom>
          <a:solidFill>
            <a:schemeClr val="accent1">
              <a:lumMod val="40000"/>
              <a:lumOff val="60000"/>
            </a:schemeClr>
          </a:solidFill>
        </p:spPr>
        <p:txBody>
          <a:bodyPr>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lgn="ctr">
              <a:buNone/>
            </a:pPr>
            <a:r>
              <a:rPr lang="en-US" sz="3200" dirty="0"/>
              <a:t>Week # 9 </a:t>
            </a:r>
            <a:r>
              <a:rPr lang="en-US" sz="2000" dirty="0">
                <a:solidFill>
                  <a:srgbClr val="FF0000"/>
                </a:solidFill>
              </a:rPr>
              <a:t>  </a:t>
            </a:r>
          </a:p>
          <a:p>
            <a:pPr marL="130175" indent="0" algn="ctr">
              <a:buNone/>
            </a:pPr>
            <a:endParaRPr lang="en-US" sz="2000" dirty="0"/>
          </a:p>
          <a:p>
            <a:pPr marL="130175" indent="0" algn="ctr">
              <a:buNone/>
            </a:pPr>
            <a:endParaRPr lang="en-US" sz="2000" dirty="0"/>
          </a:p>
          <a:p>
            <a:pPr marL="130175" indent="0" algn="ctr">
              <a:buNone/>
            </a:pPr>
            <a:r>
              <a:rPr lang="en-US" sz="2400" dirty="0"/>
              <a:t>Ms. </a:t>
            </a:r>
            <a:r>
              <a:rPr lang="en-US" sz="2400"/>
              <a:t>Hira Tunio</a:t>
            </a:r>
            <a:endParaRPr lang="en-US" sz="2400" dirty="0"/>
          </a:p>
        </p:txBody>
      </p:sp>
      <p:pic>
        <p:nvPicPr>
          <p:cNvPr id="2" name="Picture 1"/>
          <p:cNvPicPr>
            <a:picLocks noChangeAspect="1"/>
          </p:cNvPicPr>
          <p:nvPr/>
        </p:nvPicPr>
        <p:blipFill>
          <a:blip r:embed="rId2"/>
          <a:stretch>
            <a:fillRect/>
          </a:stretch>
        </p:blipFill>
        <p:spPr>
          <a:xfrm>
            <a:off x="712809" y="1771385"/>
            <a:ext cx="5286336" cy="1501485"/>
          </a:xfrm>
          <a:prstGeom prst="rect">
            <a:avLst/>
          </a:prstGeom>
        </p:spPr>
      </p:pic>
      <p:grpSp>
        <p:nvGrpSpPr>
          <p:cNvPr id="8" name="Group 7"/>
          <p:cNvGrpSpPr/>
          <p:nvPr/>
        </p:nvGrpSpPr>
        <p:grpSpPr>
          <a:xfrm>
            <a:off x="1502463" y="3418245"/>
            <a:ext cx="2953265" cy="3120667"/>
            <a:chOff x="8830020" y="2751654"/>
            <a:chExt cx="2953265" cy="3120667"/>
          </a:xfrm>
        </p:grpSpPr>
        <p:pic>
          <p:nvPicPr>
            <p:cNvPr id="6" name="Picture 5"/>
            <p:cNvPicPr>
              <a:picLocks noChangeAspect="1"/>
            </p:cNvPicPr>
            <p:nvPr/>
          </p:nvPicPr>
          <p:blipFill>
            <a:blip r:embed="rId3"/>
            <a:stretch>
              <a:fillRect/>
            </a:stretch>
          </p:blipFill>
          <p:spPr>
            <a:xfrm>
              <a:off x="8830020" y="2751654"/>
              <a:ext cx="2953265" cy="2872982"/>
            </a:xfrm>
            <a:prstGeom prst="rect">
              <a:avLst/>
            </a:prstGeom>
          </p:spPr>
        </p:pic>
        <p:pic>
          <p:nvPicPr>
            <p:cNvPr id="7" name="Picture 6"/>
            <p:cNvPicPr>
              <a:picLocks noChangeAspect="1"/>
            </p:cNvPicPr>
            <p:nvPr/>
          </p:nvPicPr>
          <p:blipFill>
            <a:blip r:embed="rId4"/>
            <a:stretch>
              <a:fillRect/>
            </a:stretch>
          </p:blipFill>
          <p:spPr>
            <a:xfrm>
              <a:off x="9487387" y="5624636"/>
              <a:ext cx="1638529" cy="247685"/>
            </a:xfrm>
            <a:prstGeom prst="rect">
              <a:avLst/>
            </a:prstGeom>
          </p:spPr>
        </p:pic>
      </p:grpSp>
    </p:spTree>
    <p:extLst>
      <p:ext uri="{BB962C8B-B14F-4D97-AF65-F5344CB8AC3E}">
        <p14:creationId xmlns:p14="http://schemas.microsoft.com/office/powerpoint/2010/main" val="2945991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5F36C9FC-DA22-1F47-8722-58727A1D436E}" type="slidenum">
              <a:rPr lang="en-US" smtClean="0">
                <a:solidFill>
                  <a:prstClr val="white">
                    <a:lumMod val="65000"/>
                    <a:lumOff val="35000"/>
                  </a:prstClr>
                </a:solidFill>
              </a:rPr>
              <a:pPr/>
              <a:t>2</a:t>
            </a:fld>
            <a:endParaRPr lang="en-US" dirty="0">
              <a:solidFill>
                <a:prstClr val="white">
                  <a:lumMod val="65000"/>
                  <a:lumOff val="35000"/>
                </a:prstClr>
              </a:solidFill>
            </a:endParaRPr>
          </a:p>
        </p:txBody>
      </p:sp>
      <p:pic>
        <p:nvPicPr>
          <p:cNvPr id="3" name="Picture 2">
            <a:extLst>
              <a:ext uri="{FF2B5EF4-FFF2-40B4-BE49-F238E27FC236}">
                <a16:creationId xmlns:a16="http://schemas.microsoft.com/office/drawing/2014/main" id="{D1D29183-B5D3-D2EC-3270-7231CD275F12}"/>
              </a:ext>
            </a:extLst>
          </p:cNvPr>
          <p:cNvPicPr>
            <a:picLocks noChangeAspect="1"/>
          </p:cNvPicPr>
          <p:nvPr/>
        </p:nvPicPr>
        <p:blipFill>
          <a:blip r:embed="rId3"/>
          <a:stretch>
            <a:fillRect/>
          </a:stretch>
        </p:blipFill>
        <p:spPr>
          <a:xfrm>
            <a:off x="1524000" y="0"/>
            <a:ext cx="4268096" cy="6858000"/>
          </a:xfrm>
          <a:prstGeom prst="rect">
            <a:avLst/>
          </a:prstGeom>
        </p:spPr>
      </p:pic>
      <p:pic>
        <p:nvPicPr>
          <p:cNvPr id="10" name="Picture 9">
            <a:extLst>
              <a:ext uri="{FF2B5EF4-FFF2-40B4-BE49-F238E27FC236}">
                <a16:creationId xmlns:a16="http://schemas.microsoft.com/office/drawing/2014/main" id="{85B62B9F-E619-822C-0A45-FD6C95321C57}"/>
              </a:ext>
            </a:extLst>
          </p:cNvPr>
          <p:cNvPicPr>
            <a:picLocks noChangeAspect="1"/>
          </p:cNvPicPr>
          <p:nvPr/>
        </p:nvPicPr>
        <p:blipFill>
          <a:blip r:embed="rId4"/>
          <a:stretch>
            <a:fillRect/>
          </a:stretch>
        </p:blipFill>
        <p:spPr>
          <a:xfrm>
            <a:off x="5722416" y="747088"/>
            <a:ext cx="4945584" cy="2224713"/>
          </a:xfrm>
          <a:prstGeom prst="rect">
            <a:avLst/>
          </a:prstGeom>
        </p:spPr>
      </p:pic>
      <p:pic>
        <p:nvPicPr>
          <p:cNvPr id="12" name="Picture 11">
            <a:extLst>
              <a:ext uri="{FF2B5EF4-FFF2-40B4-BE49-F238E27FC236}">
                <a16:creationId xmlns:a16="http://schemas.microsoft.com/office/drawing/2014/main" id="{EA72DBF3-D325-092C-CA8F-A5B8838E71E8}"/>
              </a:ext>
            </a:extLst>
          </p:cNvPr>
          <p:cNvPicPr>
            <a:picLocks noChangeAspect="1"/>
          </p:cNvPicPr>
          <p:nvPr/>
        </p:nvPicPr>
        <p:blipFill>
          <a:blip r:embed="rId5"/>
          <a:stretch>
            <a:fillRect/>
          </a:stretch>
        </p:blipFill>
        <p:spPr>
          <a:xfrm>
            <a:off x="5792096" y="3250095"/>
            <a:ext cx="4925500" cy="1786561"/>
          </a:xfrm>
          <a:prstGeom prst="rect">
            <a:avLst/>
          </a:prstGeom>
        </p:spPr>
      </p:pic>
      <p:sp>
        <p:nvSpPr>
          <p:cNvPr id="13" name="Slide Number Placeholder 3">
            <a:extLst>
              <a:ext uri="{FF2B5EF4-FFF2-40B4-BE49-F238E27FC236}">
                <a16:creationId xmlns:a16="http://schemas.microsoft.com/office/drawing/2014/main" id="{78D64D4D-47C6-912A-90CB-E09513435B03}"/>
              </a:ext>
            </a:extLst>
          </p:cNvPr>
          <p:cNvSpPr txBox="1">
            <a:spLocks/>
          </p:cNvSpPr>
          <p:nvPr/>
        </p:nvSpPr>
        <p:spPr bwMode="auto">
          <a:xfrm>
            <a:off x="8229600" y="64008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defPPr>
              <a:defRPr lang="en-US"/>
            </a:defPPr>
            <a:lvl1pPr algn="r" rtl="0" eaLnBrk="1" fontAlgn="base" hangingPunct="1">
              <a:spcBef>
                <a:spcPct val="0"/>
              </a:spcBef>
              <a:spcAft>
                <a:spcPct val="0"/>
              </a:spcAft>
              <a:defRPr sz="1400" kern="1200" smtClean="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a:lstStyle>
          <a:p>
            <a:fld id="{006B9344-A600-C44C-BFF3-F262E2EAB853}" type="slidenum">
              <a:rPr lang="en-US"/>
              <a:pPr/>
              <a:t>2</a:t>
            </a:fld>
            <a:endParaRPr lang="en-US" dirty="0"/>
          </a:p>
        </p:txBody>
      </p:sp>
    </p:spTree>
    <p:extLst>
      <p:ext uri="{BB962C8B-B14F-4D97-AF65-F5344CB8AC3E}">
        <p14:creationId xmlns:p14="http://schemas.microsoft.com/office/powerpoint/2010/main" val="3785870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321F3E7F-125F-B0CA-98F7-E6BE0D6637DD}"/>
              </a:ext>
            </a:extLst>
          </p:cNvPr>
          <p:cNvSpPr>
            <a:spLocks noGrp="1" noChangeArrowheads="1"/>
          </p:cNvSpPr>
          <p:nvPr>
            <p:ph type="title"/>
          </p:nvPr>
        </p:nvSpPr>
        <p:spPr>
          <a:xfrm>
            <a:off x="2278741" y="838200"/>
            <a:ext cx="2279904" cy="633984"/>
          </a:xfrm>
        </p:spPr>
        <p:txBody>
          <a:bodyPr>
            <a:normAutofit fontScale="90000"/>
          </a:bodyPr>
          <a:lstStyle/>
          <a:p>
            <a:pPr eaLnBrk="1" hangingPunct="1">
              <a:defRPr/>
            </a:pPr>
            <a:r>
              <a:rPr lang="en-GB" sz="4000" b="1" dirty="0">
                <a:solidFill>
                  <a:srgbClr val="002060"/>
                </a:solidFill>
              </a:rPr>
              <a:t>Malware</a:t>
            </a:r>
            <a:endParaRPr lang="en-AU" sz="4000" b="1" dirty="0">
              <a:solidFill>
                <a:srgbClr val="002060"/>
              </a:solidFill>
            </a:endParaRPr>
          </a:p>
        </p:txBody>
      </p:sp>
      <p:sp>
        <p:nvSpPr>
          <p:cNvPr id="200707" name="Rectangle 3" descr="Rectangle: Click to edit Master text styles&#10;Second level&#10;Third level&#10;Fourth level&#10;Fifth level">
            <a:extLst>
              <a:ext uri="{FF2B5EF4-FFF2-40B4-BE49-F238E27FC236}">
                <a16:creationId xmlns:a16="http://schemas.microsoft.com/office/drawing/2014/main" id="{CC11CD00-ECEB-8E3D-19D9-1931938E034F}"/>
              </a:ext>
            </a:extLst>
          </p:cNvPr>
          <p:cNvSpPr>
            <a:spLocks noGrp="1" noChangeArrowheads="1"/>
          </p:cNvSpPr>
          <p:nvPr>
            <p:ph idx="1"/>
          </p:nvPr>
        </p:nvSpPr>
        <p:spPr>
          <a:xfrm>
            <a:off x="1757082" y="1721224"/>
            <a:ext cx="8377519" cy="4886640"/>
          </a:xfrm>
        </p:spPr>
        <p:txBody>
          <a:bodyPr>
            <a:normAutofit/>
          </a:bodyPr>
          <a:lstStyle/>
          <a:p>
            <a:pPr algn="just" eaLnBrk="1" hangingPunct="1">
              <a:buFont typeface="Wingdings" pitchFamily="-65" charset="2"/>
              <a:buNone/>
              <a:defRPr/>
            </a:pPr>
            <a:r>
              <a:rPr lang="en-US" sz="2000" dirty="0">
                <a:effectLst>
                  <a:outerShdw blurRad="38100" dist="38100" dir="2700000" algn="tl">
                    <a:srgbClr val="000000">
                      <a:alpha val="43137"/>
                    </a:srgbClr>
                  </a:outerShdw>
                </a:effectLst>
                <a:ea typeface="ＭＳ Ｐゴシック" pitchFamily="-65" charset="-128"/>
              </a:rPr>
              <a:t>NIST 800-83 defines malware as:</a:t>
            </a:r>
          </a:p>
          <a:p>
            <a:pPr algn="just" eaLnBrk="1" hangingPunct="1">
              <a:buFont typeface="Wingdings" pitchFamily="-65" charset="2"/>
              <a:buNone/>
              <a:defRPr/>
            </a:pPr>
            <a:endParaRPr lang="en-US" sz="2000" dirty="0">
              <a:effectLst>
                <a:outerShdw blurRad="38100" dist="38100" dir="2700000" algn="tl">
                  <a:srgbClr val="000000">
                    <a:alpha val="43137"/>
                  </a:srgbClr>
                </a:outerShdw>
              </a:effectLst>
              <a:ea typeface="ＭＳ Ｐゴシック" pitchFamily="-65" charset="-128"/>
            </a:endParaRPr>
          </a:p>
          <a:p>
            <a:pPr algn="just" eaLnBrk="1" hangingPunct="1">
              <a:buFont typeface="Wingdings" pitchFamily="-65" charset="2"/>
              <a:buNone/>
              <a:defRPr/>
            </a:pPr>
            <a:r>
              <a:rPr lang="en-US" sz="2000" dirty="0">
                <a:effectLst>
                  <a:outerShdw blurRad="38100" dist="38100" dir="2700000" algn="tl">
                    <a:srgbClr val="000000">
                      <a:alpha val="43137"/>
                    </a:srgbClr>
                  </a:outerShdw>
                </a:effectLst>
                <a:ea typeface="ＭＳ Ｐゴシック" pitchFamily="-65" charset="-128"/>
              </a:rPr>
              <a:t> “a program that is inserted into a system, usually covertly, with the intent of </a:t>
            </a:r>
            <a:r>
              <a:rPr lang="en-US" sz="2000" dirty="0">
                <a:effectLst>
                  <a:outerShdw blurRad="38100" dist="38100" dir="2700000" algn="tl">
                    <a:srgbClr val="000000">
                      <a:alpha val="43137"/>
                    </a:srgbClr>
                  </a:outerShdw>
                </a:effectLst>
                <a:highlight>
                  <a:srgbClr val="FFFF00"/>
                </a:highlight>
                <a:ea typeface="ＭＳ Ｐゴシック" pitchFamily="-65" charset="-128"/>
              </a:rPr>
              <a:t>compromising the confidentiality, integrity, or availability </a:t>
            </a:r>
            <a:r>
              <a:rPr lang="en-US" sz="2000" dirty="0">
                <a:effectLst>
                  <a:outerShdw blurRad="38100" dist="38100" dir="2700000" algn="tl">
                    <a:srgbClr val="000000">
                      <a:alpha val="43137"/>
                    </a:srgbClr>
                  </a:outerShdw>
                </a:effectLst>
                <a:ea typeface="ＭＳ Ｐゴシック" pitchFamily="-65" charset="-128"/>
              </a:rPr>
              <a:t>of the victim’s data, applications, or operating system or otherwise annoying or disrupting the victim.” </a:t>
            </a:r>
            <a:endParaRPr lang="en-AU" sz="2000" dirty="0">
              <a:effectLst>
                <a:outerShdw blurRad="38100" dist="38100" dir="2700000" algn="tl">
                  <a:srgbClr val="000000">
                    <a:alpha val="43137"/>
                  </a:srgbClr>
                </a:outerShdw>
              </a:effectLst>
              <a:ea typeface="ＭＳ Ｐゴシック" pitchFamily="-65" charset="-128"/>
            </a:endParaRPr>
          </a:p>
        </p:txBody>
      </p:sp>
      <p:sp>
        <p:nvSpPr>
          <p:cNvPr id="2" name="Slide Number Placeholder 1">
            <a:extLst>
              <a:ext uri="{FF2B5EF4-FFF2-40B4-BE49-F238E27FC236}">
                <a16:creationId xmlns:a16="http://schemas.microsoft.com/office/drawing/2014/main" id="{A2ED6465-CAC0-3E3C-28B7-F1C1752F84EA}"/>
              </a:ext>
            </a:extLst>
          </p:cNvPr>
          <p:cNvSpPr>
            <a:spLocks noGrp="1"/>
          </p:cNvSpPr>
          <p:nvPr>
            <p:ph type="sldNum" sz="quarter" idx="12"/>
          </p:nvPr>
        </p:nvSpPr>
        <p:spPr/>
        <p:txBody>
          <a:bodyPr/>
          <a:lstStyle/>
          <a:p>
            <a:pPr>
              <a:defRPr/>
            </a:pPr>
            <a:fld id="{0277C623-A6CC-4283-94D7-C9C807FDF6D2}" type="slidenum">
              <a:rPr lang="en-US" altLang="en-PK" smtClean="0"/>
              <a:pPr>
                <a:defRPr/>
              </a:pPr>
              <a:t>3</a:t>
            </a:fld>
            <a:endParaRPr lang="en-US" altLang="en-PK"/>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04607-AE0A-60BC-E8CD-31D08D1F4CF2}"/>
              </a:ext>
            </a:extLst>
          </p:cNvPr>
          <p:cNvSpPr>
            <a:spLocks noGrp="1"/>
          </p:cNvSpPr>
          <p:nvPr>
            <p:ph type="title"/>
          </p:nvPr>
        </p:nvSpPr>
        <p:spPr>
          <a:xfrm>
            <a:off x="2286001" y="762000"/>
            <a:ext cx="6347713" cy="609600"/>
          </a:xfrm>
        </p:spPr>
        <p:txBody>
          <a:bodyPr>
            <a:normAutofit fontScale="90000"/>
          </a:bodyPr>
          <a:lstStyle/>
          <a:p>
            <a:r>
              <a:rPr lang="en-GB" b="1" dirty="0">
                <a:solidFill>
                  <a:srgbClr val="002060"/>
                </a:solidFill>
              </a:rPr>
              <a:t>Malware</a:t>
            </a:r>
            <a:endParaRPr lang="en-PK" dirty="0"/>
          </a:p>
        </p:txBody>
      </p:sp>
      <p:sp>
        <p:nvSpPr>
          <p:cNvPr id="3" name="Content Placeholder 2">
            <a:extLst>
              <a:ext uri="{FF2B5EF4-FFF2-40B4-BE49-F238E27FC236}">
                <a16:creationId xmlns:a16="http://schemas.microsoft.com/office/drawing/2014/main" id="{7BB55C32-4E3A-1284-C9A4-42FCC2DD2730}"/>
              </a:ext>
            </a:extLst>
          </p:cNvPr>
          <p:cNvSpPr>
            <a:spLocks noGrp="1"/>
          </p:cNvSpPr>
          <p:nvPr>
            <p:ph idx="1"/>
          </p:nvPr>
        </p:nvSpPr>
        <p:spPr>
          <a:xfrm>
            <a:off x="1981200" y="1822504"/>
            <a:ext cx="7848600" cy="4648200"/>
          </a:xfrm>
        </p:spPr>
        <p:txBody>
          <a:bodyPr/>
          <a:lstStyle/>
          <a:p>
            <a:pPr algn="just"/>
            <a:r>
              <a:rPr lang="en-US" sz="2000" dirty="0">
                <a:latin typeface="TimesTenLTStd-Roman"/>
              </a:rPr>
              <a:t>Threat malware poses to </a:t>
            </a:r>
          </a:p>
          <a:p>
            <a:pPr lvl="1" algn="just"/>
            <a:r>
              <a:rPr lang="en-US" dirty="0">
                <a:latin typeface="TimesTenLTStd-Roman"/>
              </a:rPr>
              <a:t>A</a:t>
            </a:r>
            <a:r>
              <a:rPr lang="en-US" b="0" i="0" u="none" strike="noStrike" baseline="0" dirty="0">
                <a:latin typeface="TimesTenLTStd-Roman"/>
              </a:rPr>
              <a:t>pplication programs,</a:t>
            </a:r>
          </a:p>
          <a:p>
            <a:pPr lvl="1" algn="just"/>
            <a:r>
              <a:rPr lang="en-US" dirty="0">
                <a:latin typeface="TimesTenLTStd-Roman"/>
              </a:rPr>
              <a:t>U</a:t>
            </a:r>
            <a:r>
              <a:rPr lang="en-US" b="0" i="0" u="none" strike="noStrike" baseline="0" dirty="0">
                <a:latin typeface="TimesTenLTStd-Roman"/>
              </a:rPr>
              <a:t>tility programs (</a:t>
            </a:r>
            <a:r>
              <a:rPr lang="en-US" dirty="0">
                <a:latin typeface="TimesTenLTStd-Roman"/>
              </a:rPr>
              <a:t>s</a:t>
            </a:r>
            <a:r>
              <a:rPr lang="en-US" b="0" i="0" u="none" strike="noStrike" baseline="0" dirty="0">
                <a:latin typeface="TimesTenLTStd-Roman"/>
              </a:rPr>
              <a:t>uch as editors and compilers) </a:t>
            </a:r>
            <a:endParaRPr lang="en-US" dirty="0">
              <a:latin typeface="TimesTenLTStd-Roman"/>
            </a:endParaRPr>
          </a:p>
          <a:p>
            <a:pPr lvl="1" algn="just"/>
            <a:r>
              <a:rPr lang="en-US" dirty="0">
                <a:latin typeface="TimesTenLTStd-Roman"/>
              </a:rPr>
              <a:t>K</a:t>
            </a:r>
            <a:r>
              <a:rPr lang="en-US" b="0" i="0" u="none" strike="noStrike" baseline="0" dirty="0">
                <a:latin typeface="TimesTenLTStd-Roman"/>
              </a:rPr>
              <a:t>ernel-level programs</a:t>
            </a:r>
          </a:p>
          <a:p>
            <a:pPr marL="457200" lvl="1" indent="0" algn="just">
              <a:buNone/>
            </a:pPr>
            <a:endParaRPr lang="en-US" b="0" i="0" u="none" strike="noStrike" baseline="0" dirty="0">
              <a:latin typeface="TimesTenLTStd-Roman"/>
            </a:endParaRPr>
          </a:p>
          <a:p>
            <a:pPr algn="just"/>
            <a:r>
              <a:rPr lang="en-US" sz="2400" dirty="0">
                <a:latin typeface="TimesTenLTStd-Roman"/>
              </a:rPr>
              <a:t> </a:t>
            </a:r>
            <a:r>
              <a:rPr lang="en-US" sz="2000" dirty="0">
                <a:latin typeface="TimesTenLTStd-Roman"/>
              </a:rPr>
              <a:t>Malware also use on </a:t>
            </a:r>
          </a:p>
          <a:p>
            <a:pPr lvl="1" algn="just"/>
            <a:r>
              <a:rPr lang="en-US" dirty="0">
                <a:latin typeface="TimesTenLTStd-Roman"/>
              </a:rPr>
              <a:t>C</a:t>
            </a:r>
            <a:r>
              <a:rPr lang="en-US" b="0" i="0" u="none" strike="noStrike" baseline="0" dirty="0">
                <a:latin typeface="TimesTenLTStd-Roman"/>
              </a:rPr>
              <a:t>ompromised or malicious websites and servers, or </a:t>
            </a:r>
          </a:p>
          <a:p>
            <a:pPr lvl="1" algn="just"/>
            <a:r>
              <a:rPr lang="en-US" dirty="0">
                <a:latin typeface="TimesTenLTStd-Roman"/>
              </a:rPr>
              <a:t>I</a:t>
            </a:r>
            <a:r>
              <a:rPr lang="en-US" b="0" i="0" u="none" strike="noStrike" baseline="0" dirty="0">
                <a:latin typeface="TimesTenLTStd-Roman"/>
              </a:rPr>
              <a:t>n especially crafted spam e-mails or other messages</a:t>
            </a:r>
          </a:p>
          <a:p>
            <a:pPr lvl="2" algn="just"/>
            <a:r>
              <a:rPr lang="en-US" sz="1600" dirty="0">
                <a:latin typeface="TimesTenLTStd-Roman"/>
              </a:rPr>
              <a:t>Which aim to trick users into revealing sensitive personal information.</a:t>
            </a:r>
            <a:endParaRPr lang="en-PK" sz="1600" dirty="0">
              <a:latin typeface="TimesTenLTStd-Roman"/>
            </a:endParaRPr>
          </a:p>
        </p:txBody>
      </p:sp>
      <p:sp>
        <p:nvSpPr>
          <p:cNvPr id="4" name="Slide Number Placeholder 3">
            <a:extLst>
              <a:ext uri="{FF2B5EF4-FFF2-40B4-BE49-F238E27FC236}">
                <a16:creationId xmlns:a16="http://schemas.microsoft.com/office/drawing/2014/main" id="{99BD82C3-EEDD-87CF-F857-5CC6371EA937}"/>
              </a:ext>
            </a:extLst>
          </p:cNvPr>
          <p:cNvSpPr>
            <a:spLocks noGrp="1"/>
          </p:cNvSpPr>
          <p:nvPr>
            <p:ph type="sldNum" sz="quarter" idx="12"/>
          </p:nvPr>
        </p:nvSpPr>
        <p:spPr/>
        <p:txBody>
          <a:bodyPr/>
          <a:lstStyle/>
          <a:p>
            <a:pPr>
              <a:defRPr/>
            </a:pPr>
            <a:fld id="{0277C623-A6CC-4283-94D7-C9C807FDF6D2}" type="slidenum">
              <a:rPr lang="en-US" altLang="en-PK" smtClean="0"/>
              <a:pPr>
                <a:defRPr/>
              </a:pPr>
              <a:t>4</a:t>
            </a:fld>
            <a:endParaRPr lang="en-US" altLang="en-PK"/>
          </a:p>
        </p:txBody>
      </p:sp>
    </p:spTree>
    <p:extLst>
      <p:ext uri="{BB962C8B-B14F-4D97-AF65-F5344CB8AC3E}">
        <p14:creationId xmlns:p14="http://schemas.microsoft.com/office/powerpoint/2010/main" val="2967951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EF70D60D-3100-8C01-7169-267DA54F9934}"/>
              </a:ext>
            </a:extLst>
          </p:cNvPr>
          <p:cNvSpPr>
            <a:spLocks noGrp="1" noChangeArrowheads="1"/>
          </p:cNvSpPr>
          <p:nvPr>
            <p:ph type="title"/>
          </p:nvPr>
        </p:nvSpPr>
        <p:spPr>
          <a:xfrm>
            <a:off x="2209800" y="685800"/>
            <a:ext cx="8229600" cy="591344"/>
          </a:xfrm>
        </p:spPr>
        <p:txBody>
          <a:bodyPr>
            <a:noAutofit/>
          </a:bodyPr>
          <a:lstStyle/>
          <a:p>
            <a:pPr eaLnBrk="1" hangingPunct="1">
              <a:defRPr/>
            </a:pPr>
            <a:r>
              <a:rPr kumimoji="1" lang="en-GB" sz="4000" b="1" dirty="0">
                <a:ln w="18415" cmpd="sng">
                  <a:solidFill>
                    <a:srgbClr val="FFFFFF"/>
                  </a:solidFill>
                  <a:prstDash val="solid"/>
                </a:ln>
                <a:solidFill>
                  <a:srgbClr val="002060"/>
                </a:solidFill>
                <a:ea typeface="ＭＳ Ｐゴシック" pitchFamily="-65" charset="-128"/>
              </a:rPr>
              <a:t>Classification of Malware</a:t>
            </a:r>
            <a:endParaRPr kumimoji="1" lang="en-AU" sz="4000" b="1" dirty="0">
              <a:ln w="18415" cmpd="sng">
                <a:solidFill>
                  <a:srgbClr val="FFFFFF"/>
                </a:solidFill>
                <a:prstDash val="solid"/>
              </a:ln>
              <a:solidFill>
                <a:srgbClr val="002060"/>
              </a:solidFill>
              <a:ea typeface="ＭＳ Ｐゴシック" pitchFamily="-65" charset="-128"/>
            </a:endParaRPr>
          </a:p>
        </p:txBody>
      </p:sp>
      <p:graphicFrame>
        <p:nvGraphicFramePr>
          <p:cNvPr id="7" name="Content Placeholder 6">
            <a:extLst>
              <a:ext uri="{FF2B5EF4-FFF2-40B4-BE49-F238E27FC236}">
                <a16:creationId xmlns:a16="http://schemas.microsoft.com/office/drawing/2014/main" id="{2017FE90-1014-5795-52BC-9A44ABE9BEC9}"/>
              </a:ext>
            </a:extLst>
          </p:cNvPr>
          <p:cNvGraphicFramePr>
            <a:graphicFrameLocks noGrp="1"/>
          </p:cNvGraphicFramePr>
          <p:nvPr>
            <p:ph idx="1"/>
            <p:extLst>
              <p:ext uri="{D42A27DB-BD31-4B8C-83A1-F6EECF244321}">
                <p14:modId xmlns:p14="http://schemas.microsoft.com/office/powerpoint/2010/main" val="230908792"/>
              </p:ext>
            </p:extLst>
          </p:nvPr>
        </p:nvGraphicFramePr>
        <p:xfrm>
          <a:off x="1335741" y="1524000"/>
          <a:ext cx="8866094" cy="50838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A8A53271-5C08-2DC9-7677-5CCD6147A75E}"/>
              </a:ext>
            </a:extLst>
          </p:cNvPr>
          <p:cNvSpPr>
            <a:spLocks noGrp="1"/>
          </p:cNvSpPr>
          <p:nvPr>
            <p:ph type="sldNum" sz="quarter" idx="12"/>
          </p:nvPr>
        </p:nvSpPr>
        <p:spPr/>
        <p:txBody>
          <a:bodyPr/>
          <a:lstStyle/>
          <a:p>
            <a:pPr>
              <a:defRPr/>
            </a:pPr>
            <a:fld id="{0277C623-A6CC-4283-94D7-C9C807FDF6D2}" type="slidenum">
              <a:rPr lang="en-US" altLang="en-PK" smtClean="0"/>
              <a:pPr>
                <a:defRPr/>
              </a:pPr>
              <a:t>5</a:t>
            </a:fld>
            <a:endParaRPr lang="en-US" altLang="en-PK"/>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EF70D60D-3100-8C01-7169-267DA54F9934}"/>
              </a:ext>
            </a:extLst>
          </p:cNvPr>
          <p:cNvSpPr>
            <a:spLocks noGrp="1" noChangeArrowheads="1"/>
          </p:cNvSpPr>
          <p:nvPr>
            <p:ph type="title"/>
          </p:nvPr>
        </p:nvSpPr>
        <p:spPr>
          <a:xfrm>
            <a:off x="2158935" y="333521"/>
            <a:ext cx="9258300" cy="736898"/>
          </a:xfrm>
        </p:spPr>
        <p:txBody>
          <a:bodyPr>
            <a:normAutofit/>
          </a:bodyPr>
          <a:lstStyle/>
          <a:p>
            <a:pPr eaLnBrk="1" hangingPunct="1">
              <a:defRPr/>
            </a:pPr>
            <a:r>
              <a:rPr lang="en-US" sz="3200" b="1" dirty="0">
                <a:solidFill>
                  <a:srgbClr val="002060"/>
                </a:solidFill>
              </a:rPr>
              <a:t>Types of Malicious Software (Malware)</a:t>
            </a:r>
            <a:endParaRPr kumimoji="1" lang="en-AU" sz="3200" b="1" dirty="0">
              <a:ln w="18415" cmpd="sng">
                <a:solidFill>
                  <a:srgbClr val="FFFFFF"/>
                </a:solidFill>
                <a:prstDash val="solid"/>
              </a:ln>
              <a:solidFill>
                <a:srgbClr val="002060"/>
              </a:solidFill>
              <a:ea typeface="ＭＳ Ｐゴシック" pitchFamily="-65" charset="-128"/>
            </a:endParaRPr>
          </a:p>
        </p:txBody>
      </p:sp>
      <p:sp>
        <p:nvSpPr>
          <p:cNvPr id="4" name="Content Placeholder 3">
            <a:extLst>
              <a:ext uri="{FF2B5EF4-FFF2-40B4-BE49-F238E27FC236}">
                <a16:creationId xmlns:a16="http://schemas.microsoft.com/office/drawing/2014/main" id="{A98303CF-1A82-CF76-5C27-F330B1CB193E}"/>
              </a:ext>
            </a:extLst>
          </p:cNvPr>
          <p:cNvSpPr>
            <a:spLocks noGrp="1"/>
          </p:cNvSpPr>
          <p:nvPr>
            <p:ph idx="1"/>
          </p:nvPr>
        </p:nvSpPr>
        <p:spPr>
          <a:xfrm>
            <a:off x="2152650" y="1219200"/>
            <a:ext cx="7924800" cy="4648200"/>
          </a:xfrm>
        </p:spPr>
        <p:txBody>
          <a:bodyPr/>
          <a:lstStyle/>
          <a:p>
            <a:pPr algn="l"/>
            <a:r>
              <a:rPr lang="en-US" sz="2000" b="1" dirty="0">
                <a:latin typeface="TimesTenLTStd-Roman"/>
              </a:rPr>
              <a:t>Malware classification is based on: </a:t>
            </a:r>
          </a:p>
          <a:p>
            <a:pPr lvl="1">
              <a:buFont typeface="+mj-lt"/>
              <a:buAutoNum type="arabicPeriod"/>
            </a:pPr>
            <a:r>
              <a:rPr lang="en-US" sz="1600" dirty="0">
                <a:latin typeface="TimesTenLTStd-Roman"/>
              </a:rPr>
              <a:t>How it spreads or propagates to reach the desired targets</a:t>
            </a:r>
          </a:p>
          <a:p>
            <a:pPr lvl="1">
              <a:buFont typeface="+mj-lt"/>
              <a:buAutoNum type="arabicPeriod"/>
            </a:pPr>
            <a:r>
              <a:rPr lang="en-US" sz="1600" dirty="0">
                <a:latin typeface="TimesTenLTStd-Roman"/>
              </a:rPr>
              <a:t>On the actions or payloads, it performs once a target is reached</a:t>
            </a:r>
            <a:endParaRPr lang="en-US" sz="2000" dirty="0">
              <a:latin typeface="TimesTenLTStd-Roman"/>
            </a:endParaRPr>
          </a:p>
          <a:p>
            <a:endParaRPr lang="en-PK" dirty="0"/>
          </a:p>
        </p:txBody>
      </p:sp>
      <p:sp>
        <p:nvSpPr>
          <p:cNvPr id="2" name="Slide Number Placeholder 1">
            <a:extLst>
              <a:ext uri="{FF2B5EF4-FFF2-40B4-BE49-F238E27FC236}">
                <a16:creationId xmlns:a16="http://schemas.microsoft.com/office/drawing/2014/main" id="{A8A53271-5C08-2DC9-7677-5CCD6147A75E}"/>
              </a:ext>
            </a:extLst>
          </p:cNvPr>
          <p:cNvSpPr>
            <a:spLocks noGrp="1"/>
          </p:cNvSpPr>
          <p:nvPr>
            <p:ph type="sldNum" sz="quarter" idx="12"/>
          </p:nvPr>
        </p:nvSpPr>
        <p:spPr/>
        <p:txBody>
          <a:bodyPr/>
          <a:lstStyle/>
          <a:p>
            <a:pPr>
              <a:defRPr/>
            </a:pPr>
            <a:fld id="{0277C623-A6CC-4283-94D7-C9C807FDF6D2}" type="slidenum">
              <a:rPr lang="en-US" altLang="en-PK" smtClean="0"/>
              <a:pPr>
                <a:defRPr/>
              </a:pPr>
              <a:t>6</a:t>
            </a:fld>
            <a:endParaRPr lang="en-US" altLang="en-PK"/>
          </a:p>
        </p:txBody>
      </p:sp>
      <p:sp>
        <p:nvSpPr>
          <p:cNvPr id="5" name="Slide Number Placeholder 1">
            <a:extLst>
              <a:ext uri="{FF2B5EF4-FFF2-40B4-BE49-F238E27FC236}">
                <a16:creationId xmlns:a16="http://schemas.microsoft.com/office/drawing/2014/main" id="{0811A721-B81E-6770-1A23-0BE06F495B2B}"/>
              </a:ext>
            </a:extLst>
          </p:cNvPr>
          <p:cNvSpPr txBox="1">
            <a:spLocks/>
          </p:cNvSpPr>
          <p:nvPr/>
        </p:nvSpPr>
        <p:spPr bwMode="auto">
          <a:xfrm>
            <a:off x="7981950" y="6356351"/>
            <a:ext cx="2057400" cy="365125"/>
          </a:xfrm>
          <a:prstGeom prst="rect">
            <a:avLst/>
          </a:prstGeom>
          <a:noFill/>
          <a:ln>
            <a:noFill/>
          </a:ln>
          <a:effectLst/>
        </p:spPr>
        <p:txBody>
          <a:bodyPr vert="horz" wrap="square" lIns="91440" tIns="45720" rIns="91440" bIns="45720" numCol="1" rtlCol="0" anchor="ctr" anchorCtr="0" compatLnSpc="1">
            <a:prstTxWarp prst="textNoShape">
              <a:avLst/>
            </a:prstTxWarp>
            <a:normAutofit/>
          </a:bodyPr>
          <a:lstStyle>
            <a:defPPr>
              <a:defRPr lang="en-US"/>
            </a:defPPr>
            <a:lvl1pPr algn="r" rtl="0" eaLnBrk="1" fontAlgn="base" hangingPunct="1">
              <a:spcBef>
                <a:spcPct val="0"/>
              </a:spcBef>
              <a:spcAft>
                <a:spcPct val="0"/>
              </a:spcAft>
              <a:defRPr sz="14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a:lstStyle>
          <a:p>
            <a:pPr fontAlgn="auto">
              <a:spcBef>
                <a:spcPts val="0"/>
              </a:spcBef>
              <a:spcAft>
                <a:spcPts val="600"/>
              </a:spcAft>
              <a:defRPr/>
            </a:pPr>
            <a:fld id="{0277C623-A6CC-4283-94D7-C9C807FDF6D2}" type="slidenum">
              <a:rPr lang="en-US" altLang="en-PK" sz="1200">
                <a:solidFill>
                  <a:prstClr val="black">
                    <a:tint val="75000"/>
                  </a:prstClr>
                </a:solidFill>
                <a:latin typeface="Calibri" panose="020F0502020204030204"/>
              </a:rPr>
              <a:pPr fontAlgn="auto">
                <a:spcBef>
                  <a:spcPts val="0"/>
                </a:spcBef>
                <a:spcAft>
                  <a:spcPts val="600"/>
                </a:spcAft>
                <a:defRPr/>
              </a:pPr>
              <a:t>6</a:t>
            </a:fld>
            <a:endParaRPr lang="en-US" altLang="en-PK" sz="1200">
              <a:solidFill>
                <a:prstClr val="black">
                  <a:tint val="75000"/>
                </a:prstClr>
              </a:solidFill>
              <a:latin typeface="Calibri" panose="020F0502020204030204"/>
            </a:endParaRPr>
          </a:p>
        </p:txBody>
      </p:sp>
      <p:graphicFrame>
        <p:nvGraphicFramePr>
          <p:cNvPr id="6" name="Content Placeholder 14">
            <a:extLst>
              <a:ext uri="{FF2B5EF4-FFF2-40B4-BE49-F238E27FC236}">
                <a16:creationId xmlns:a16="http://schemas.microsoft.com/office/drawing/2014/main" id="{7D775688-06E0-DBA8-50A3-00BCD6576E93}"/>
              </a:ext>
            </a:extLst>
          </p:cNvPr>
          <p:cNvGraphicFramePr>
            <a:graphicFrameLocks/>
          </p:cNvGraphicFramePr>
          <p:nvPr/>
        </p:nvGraphicFramePr>
        <p:xfrm>
          <a:off x="1676400" y="2743200"/>
          <a:ext cx="8839200" cy="3886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63534708"/>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56E1E19-5070-3B24-4CDF-6A572F15F7FC}"/>
              </a:ext>
            </a:extLst>
          </p:cNvPr>
          <p:cNvSpPr>
            <a:spLocks noGrp="1"/>
          </p:cNvSpPr>
          <p:nvPr>
            <p:ph type="title"/>
          </p:nvPr>
        </p:nvSpPr>
        <p:spPr>
          <a:xfrm>
            <a:off x="2133601" y="373360"/>
            <a:ext cx="8305801" cy="762000"/>
          </a:xfrm>
        </p:spPr>
        <p:txBody>
          <a:bodyPr>
            <a:normAutofit/>
          </a:bodyPr>
          <a:lstStyle/>
          <a:p>
            <a:r>
              <a:rPr lang="en-US" sz="2800" b="1" dirty="0">
                <a:solidFill>
                  <a:srgbClr val="002060"/>
                </a:solidFill>
                <a:latin typeface="BemboMTPro-ExtraBold"/>
              </a:rPr>
              <a:t>TYPES OF MALICIOUS SOFTWARE (MALWARE)</a:t>
            </a:r>
            <a:endParaRPr lang="en-PK" sz="2800" dirty="0">
              <a:solidFill>
                <a:srgbClr val="002060"/>
              </a:solidFill>
            </a:endParaRPr>
          </a:p>
        </p:txBody>
      </p:sp>
      <p:sp>
        <p:nvSpPr>
          <p:cNvPr id="4" name="Slide Number Placeholder 3">
            <a:extLst>
              <a:ext uri="{FF2B5EF4-FFF2-40B4-BE49-F238E27FC236}">
                <a16:creationId xmlns:a16="http://schemas.microsoft.com/office/drawing/2014/main" id="{3ABA7E84-4879-F89A-EFB4-14CBFE10BE41}"/>
              </a:ext>
            </a:extLst>
          </p:cNvPr>
          <p:cNvSpPr>
            <a:spLocks noGrp="1"/>
          </p:cNvSpPr>
          <p:nvPr>
            <p:ph type="sldNum" sz="quarter" idx="12"/>
          </p:nvPr>
        </p:nvSpPr>
        <p:spPr/>
        <p:txBody>
          <a:bodyPr/>
          <a:lstStyle/>
          <a:p>
            <a:pPr>
              <a:defRPr/>
            </a:pPr>
            <a:fld id="{0277C623-A6CC-4283-94D7-C9C807FDF6D2}" type="slidenum">
              <a:rPr lang="en-US" altLang="en-PK" smtClean="0"/>
              <a:pPr>
                <a:defRPr/>
              </a:pPr>
              <a:t>7</a:t>
            </a:fld>
            <a:endParaRPr lang="en-US" altLang="en-PK"/>
          </a:p>
        </p:txBody>
      </p:sp>
      <p:pic>
        <p:nvPicPr>
          <p:cNvPr id="10" name="Picture 9">
            <a:extLst>
              <a:ext uri="{FF2B5EF4-FFF2-40B4-BE49-F238E27FC236}">
                <a16:creationId xmlns:a16="http://schemas.microsoft.com/office/drawing/2014/main" id="{5AD933AD-9F2A-84BB-FC0C-6E72CE998739}"/>
              </a:ext>
            </a:extLst>
          </p:cNvPr>
          <p:cNvPicPr>
            <a:picLocks noChangeAspect="1"/>
          </p:cNvPicPr>
          <p:nvPr/>
        </p:nvPicPr>
        <p:blipFill>
          <a:blip r:embed="rId2"/>
          <a:stretch>
            <a:fillRect/>
          </a:stretch>
        </p:blipFill>
        <p:spPr>
          <a:xfrm>
            <a:off x="1887946" y="1219200"/>
            <a:ext cx="6798855" cy="4884441"/>
          </a:xfrm>
          <a:prstGeom prst="rect">
            <a:avLst/>
          </a:prstGeom>
        </p:spPr>
      </p:pic>
    </p:spTree>
    <p:extLst>
      <p:ext uri="{BB962C8B-B14F-4D97-AF65-F5344CB8AC3E}">
        <p14:creationId xmlns:p14="http://schemas.microsoft.com/office/powerpoint/2010/main" val="3309246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BA7E84-4879-F89A-EFB4-14CBFE10BE41}"/>
              </a:ext>
            </a:extLst>
          </p:cNvPr>
          <p:cNvSpPr>
            <a:spLocks noGrp="1"/>
          </p:cNvSpPr>
          <p:nvPr>
            <p:ph type="sldNum" sz="quarter" idx="12"/>
          </p:nvPr>
        </p:nvSpPr>
        <p:spPr/>
        <p:txBody>
          <a:bodyPr/>
          <a:lstStyle/>
          <a:p>
            <a:pPr>
              <a:defRPr/>
            </a:pPr>
            <a:fld id="{0277C623-A6CC-4283-94D7-C9C807FDF6D2}" type="slidenum">
              <a:rPr lang="en-US" altLang="en-PK" smtClean="0"/>
              <a:pPr>
                <a:defRPr/>
              </a:pPr>
              <a:t>8</a:t>
            </a:fld>
            <a:endParaRPr lang="en-US" altLang="en-PK"/>
          </a:p>
        </p:txBody>
      </p:sp>
      <p:pic>
        <p:nvPicPr>
          <p:cNvPr id="11" name="Picture 10">
            <a:extLst>
              <a:ext uri="{FF2B5EF4-FFF2-40B4-BE49-F238E27FC236}">
                <a16:creationId xmlns:a16="http://schemas.microsoft.com/office/drawing/2014/main" id="{CB2A0E7E-669C-4E4B-A34B-57239E651CC0}"/>
              </a:ext>
            </a:extLst>
          </p:cNvPr>
          <p:cNvPicPr>
            <a:picLocks noChangeAspect="1"/>
          </p:cNvPicPr>
          <p:nvPr/>
        </p:nvPicPr>
        <p:blipFill>
          <a:blip r:embed="rId2"/>
          <a:stretch>
            <a:fillRect/>
          </a:stretch>
        </p:blipFill>
        <p:spPr>
          <a:xfrm>
            <a:off x="1637011" y="609299"/>
            <a:ext cx="7080253" cy="3789041"/>
          </a:xfrm>
          <a:prstGeom prst="rect">
            <a:avLst/>
          </a:prstGeom>
        </p:spPr>
      </p:pic>
      <p:pic>
        <p:nvPicPr>
          <p:cNvPr id="8" name="Picture 7">
            <a:extLst>
              <a:ext uri="{FF2B5EF4-FFF2-40B4-BE49-F238E27FC236}">
                <a16:creationId xmlns:a16="http://schemas.microsoft.com/office/drawing/2014/main" id="{040C374B-7E91-D931-2D50-F4950E66C411}"/>
              </a:ext>
            </a:extLst>
          </p:cNvPr>
          <p:cNvPicPr>
            <a:picLocks noChangeAspect="1"/>
          </p:cNvPicPr>
          <p:nvPr/>
        </p:nvPicPr>
        <p:blipFill>
          <a:blip r:embed="rId3"/>
          <a:stretch>
            <a:fillRect/>
          </a:stretch>
        </p:blipFill>
        <p:spPr>
          <a:xfrm>
            <a:off x="1637010" y="4191000"/>
            <a:ext cx="6975999" cy="990600"/>
          </a:xfrm>
          <a:prstGeom prst="rect">
            <a:avLst/>
          </a:prstGeom>
        </p:spPr>
      </p:pic>
    </p:spTree>
    <p:extLst>
      <p:ext uri="{BB962C8B-B14F-4D97-AF65-F5344CB8AC3E}">
        <p14:creationId xmlns:p14="http://schemas.microsoft.com/office/powerpoint/2010/main" val="3046482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04607-AE0A-60BC-E8CD-31D08D1F4CF2}"/>
              </a:ext>
            </a:extLst>
          </p:cNvPr>
          <p:cNvSpPr>
            <a:spLocks noGrp="1"/>
          </p:cNvSpPr>
          <p:nvPr>
            <p:ph type="title"/>
          </p:nvPr>
        </p:nvSpPr>
        <p:spPr>
          <a:xfrm>
            <a:off x="2552699" y="228600"/>
            <a:ext cx="5509512" cy="881218"/>
          </a:xfrm>
        </p:spPr>
        <p:txBody>
          <a:bodyPr/>
          <a:lstStyle/>
          <a:p>
            <a:r>
              <a:rPr lang="en-GB" b="1" dirty="0">
                <a:solidFill>
                  <a:srgbClr val="002060"/>
                </a:solidFill>
              </a:rPr>
              <a:t>Malware</a:t>
            </a:r>
            <a:endParaRPr lang="en-PK" dirty="0"/>
          </a:p>
        </p:txBody>
      </p:sp>
      <p:sp>
        <p:nvSpPr>
          <p:cNvPr id="3" name="Content Placeholder 2">
            <a:extLst>
              <a:ext uri="{FF2B5EF4-FFF2-40B4-BE49-F238E27FC236}">
                <a16:creationId xmlns:a16="http://schemas.microsoft.com/office/drawing/2014/main" id="{7BB55C32-4E3A-1284-C9A4-42FCC2DD2730}"/>
              </a:ext>
            </a:extLst>
          </p:cNvPr>
          <p:cNvSpPr>
            <a:spLocks noGrp="1"/>
          </p:cNvSpPr>
          <p:nvPr>
            <p:ph idx="1"/>
          </p:nvPr>
        </p:nvSpPr>
        <p:spPr>
          <a:xfrm>
            <a:off x="1916555" y="1624553"/>
            <a:ext cx="6781800" cy="4648200"/>
          </a:xfrm>
        </p:spPr>
        <p:txBody>
          <a:bodyPr>
            <a:normAutofit fontScale="92500"/>
          </a:bodyPr>
          <a:lstStyle/>
          <a:p>
            <a:pPr algn="just"/>
            <a:r>
              <a:rPr lang="en-US" sz="2400" dirty="0">
                <a:latin typeface="TimesTenLTStd-Roman"/>
              </a:rPr>
              <a:t>While early malware tended to use a single means of propagation to deliver a single payload, as it evolved, we see a growth of blended malware that incorporates a range of both propagation mechanisms and payloads that increase its ability to spread, hide, and perform a range of actions on targets. </a:t>
            </a:r>
          </a:p>
          <a:p>
            <a:pPr algn="just"/>
            <a:endParaRPr lang="en-US" sz="2400" dirty="0">
              <a:latin typeface="TimesTenLTStd-Roman"/>
            </a:endParaRPr>
          </a:p>
          <a:p>
            <a:pPr algn="just"/>
            <a:r>
              <a:rPr lang="en-US" sz="2400" i="1" dirty="0">
                <a:effectLst>
                  <a:outerShdw blurRad="38100" dist="38100" dir="2700000" algn="tl">
                    <a:srgbClr val="000000">
                      <a:alpha val="43137"/>
                    </a:srgbClr>
                  </a:outerShdw>
                </a:effectLst>
                <a:latin typeface="TimesTenLTStd-Roman"/>
              </a:rPr>
              <a:t>A </a:t>
            </a:r>
            <a:r>
              <a:rPr lang="en-US" sz="2400" b="1" i="1" dirty="0">
                <a:effectLst>
                  <a:outerShdw blurRad="38100" dist="38100" dir="2700000" algn="tl">
                    <a:srgbClr val="000000">
                      <a:alpha val="43137"/>
                    </a:srgbClr>
                  </a:outerShdw>
                </a:effectLst>
                <a:latin typeface="TimesTenLTStd-Roman"/>
              </a:rPr>
              <a:t>blended attack </a:t>
            </a:r>
            <a:r>
              <a:rPr lang="en-US" sz="2400" i="1" dirty="0">
                <a:effectLst>
                  <a:outerShdw blurRad="38100" dist="38100" dir="2700000" algn="tl">
                    <a:srgbClr val="000000">
                      <a:alpha val="43137"/>
                    </a:srgbClr>
                  </a:outerShdw>
                </a:effectLst>
                <a:latin typeface="TimesTenLTStd-Roman"/>
              </a:rPr>
              <a:t>uses multiple methods of infection or propagation to maximize the speed of contagion and the severity of the attack. Some malware even support an update mechanism that allows it to change the range of propagation and payload mechanisms utilized once it is deployed</a:t>
            </a:r>
            <a:endParaRPr lang="en-PK" sz="1600" dirty="0"/>
          </a:p>
        </p:txBody>
      </p:sp>
      <p:sp>
        <p:nvSpPr>
          <p:cNvPr id="4" name="Slide Number Placeholder 3">
            <a:extLst>
              <a:ext uri="{FF2B5EF4-FFF2-40B4-BE49-F238E27FC236}">
                <a16:creationId xmlns:a16="http://schemas.microsoft.com/office/drawing/2014/main" id="{99BD82C3-EEDD-87CF-F857-5CC6371EA937}"/>
              </a:ext>
            </a:extLst>
          </p:cNvPr>
          <p:cNvSpPr>
            <a:spLocks noGrp="1"/>
          </p:cNvSpPr>
          <p:nvPr>
            <p:ph type="sldNum" sz="quarter" idx="12"/>
          </p:nvPr>
        </p:nvSpPr>
        <p:spPr/>
        <p:txBody>
          <a:bodyPr/>
          <a:lstStyle/>
          <a:p>
            <a:pPr>
              <a:defRPr/>
            </a:pPr>
            <a:fld id="{0277C623-A6CC-4283-94D7-C9C807FDF6D2}" type="slidenum">
              <a:rPr lang="en-US" altLang="en-PK" smtClean="0"/>
              <a:pPr>
                <a:defRPr/>
              </a:pPr>
              <a:t>9</a:t>
            </a:fld>
            <a:endParaRPr lang="en-US" altLang="en-PK"/>
          </a:p>
        </p:txBody>
      </p:sp>
    </p:spTree>
    <p:extLst>
      <p:ext uri="{BB962C8B-B14F-4D97-AF65-F5344CB8AC3E}">
        <p14:creationId xmlns:p14="http://schemas.microsoft.com/office/powerpoint/2010/main" val="3260942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45741"/>
            <a:ext cx="10515600" cy="4731222"/>
          </a:xfrm>
        </p:spPr>
        <p:txBody>
          <a:bodyPr>
            <a:normAutofit fontScale="92500"/>
          </a:bodyPr>
          <a:lstStyle/>
          <a:p>
            <a:r>
              <a:rPr lang="en-US" dirty="0"/>
              <a:t>This category of malware propagation concerns </a:t>
            </a:r>
            <a:r>
              <a:rPr lang="en-US" dirty="0">
                <a:solidFill>
                  <a:srgbClr val="FF0000"/>
                </a:solidFill>
              </a:rPr>
              <a:t>parasitic software fragments that attach themselves to some existing executable content</a:t>
            </a:r>
            <a:r>
              <a:rPr lang="en-US" dirty="0"/>
              <a:t>. </a:t>
            </a:r>
          </a:p>
          <a:p>
            <a:pPr lvl="1"/>
            <a:r>
              <a:rPr lang="en-US" dirty="0"/>
              <a:t>The fragment may be </a:t>
            </a:r>
            <a:r>
              <a:rPr lang="en-US" dirty="0">
                <a:solidFill>
                  <a:srgbClr val="0070C0"/>
                </a:solidFill>
              </a:rPr>
              <a:t>machine code</a:t>
            </a:r>
            <a:r>
              <a:rPr lang="en-US" dirty="0"/>
              <a:t> that infects some existing application, utility, or system program, or even </a:t>
            </a:r>
            <a:r>
              <a:rPr lang="en-US" dirty="0">
                <a:solidFill>
                  <a:srgbClr val="0070C0"/>
                </a:solidFill>
              </a:rPr>
              <a:t>the code used to boot a computer system</a:t>
            </a:r>
            <a:r>
              <a:rPr lang="en-US" dirty="0"/>
              <a:t>. </a:t>
            </a:r>
          </a:p>
          <a:p>
            <a:pPr lvl="1"/>
            <a:endParaRPr lang="en-US" dirty="0"/>
          </a:p>
          <a:p>
            <a:pPr lvl="1"/>
            <a:r>
              <a:rPr lang="en-US" dirty="0"/>
              <a:t>Recent addition is some form of scripting code, typically used to support active content within data files such as Microsoft Word documents, Excel spreadsheets, or Adobe PDF documents.</a:t>
            </a:r>
          </a:p>
          <a:p>
            <a:pPr lvl="1"/>
            <a:endParaRPr lang="en-US" dirty="0"/>
          </a:p>
          <a:p>
            <a:r>
              <a:rPr lang="en-US" dirty="0"/>
              <a:t>Computer virus infections formed the majority of malware seen in the early personal computer era. </a:t>
            </a:r>
          </a:p>
          <a:p>
            <a:pPr lvl="1"/>
            <a:r>
              <a:rPr lang="en-US" dirty="0"/>
              <a:t>The term “</a:t>
            </a:r>
            <a:r>
              <a:rPr lang="en-US" dirty="0">
                <a:solidFill>
                  <a:srgbClr val="0070C0"/>
                </a:solidFill>
              </a:rPr>
              <a:t>computer virus</a:t>
            </a:r>
            <a:r>
              <a:rPr lang="en-US" dirty="0"/>
              <a:t>” is still often used to refer </a:t>
            </a:r>
            <a:r>
              <a:rPr lang="en-US" dirty="0">
                <a:solidFill>
                  <a:srgbClr val="FF0000"/>
                </a:solidFill>
              </a:rPr>
              <a:t>to malware in general, rather than just computer viruses specifically</a:t>
            </a:r>
            <a:r>
              <a:rPr lang="en-US" dirty="0"/>
              <a:t>. </a:t>
            </a:r>
          </a:p>
        </p:txBody>
      </p:sp>
      <p:sp>
        <p:nvSpPr>
          <p:cNvPr id="4" name="Slide Number Placeholder 3"/>
          <p:cNvSpPr>
            <a:spLocks noGrp="1"/>
          </p:cNvSpPr>
          <p:nvPr>
            <p:ph type="sldNum" sz="quarter" idx="12"/>
          </p:nvPr>
        </p:nvSpPr>
        <p:spPr/>
        <p:txBody>
          <a:bodyPr/>
          <a:lstStyle/>
          <a:p>
            <a:fld id="{A2A50C4D-0BA1-4E54-8DFC-01810EC97B99}" type="slidenum">
              <a:rPr lang="en-US" smtClean="0"/>
              <a:t>10</a:t>
            </a:fld>
            <a:endParaRPr lang="en-US"/>
          </a:p>
        </p:txBody>
      </p:sp>
      <p:pic>
        <p:nvPicPr>
          <p:cNvPr id="5" name="Picture 4"/>
          <p:cNvPicPr>
            <a:picLocks noChangeAspect="1"/>
          </p:cNvPicPr>
          <p:nvPr/>
        </p:nvPicPr>
        <p:blipFill>
          <a:blip r:embed="rId2"/>
          <a:stretch>
            <a:fillRect/>
          </a:stretch>
        </p:blipFill>
        <p:spPr>
          <a:xfrm>
            <a:off x="563993" y="543697"/>
            <a:ext cx="7765157" cy="502656"/>
          </a:xfrm>
          <a:prstGeom prst="rect">
            <a:avLst/>
          </a:prstGeom>
        </p:spPr>
      </p:pic>
    </p:spTree>
    <p:extLst>
      <p:ext uri="{BB962C8B-B14F-4D97-AF65-F5344CB8AC3E}">
        <p14:creationId xmlns:p14="http://schemas.microsoft.com/office/powerpoint/2010/main" val="3681846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45741"/>
            <a:ext cx="10515600" cy="4731222"/>
          </a:xfrm>
        </p:spPr>
        <p:txBody>
          <a:bodyPr>
            <a:normAutofit fontScale="85000" lnSpcReduction="10000"/>
          </a:bodyPr>
          <a:lstStyle/>
          <a:p>
            <a:r>
              <a:rPr lang="en-US" dirty="0"/>
              <a:t>Most viruses carry out their work that is specific to a particular operating system and/or to a particular hardware platform. </a:t>
            </a:r>
          </a:p>
          <a:p>
            <a:pPr lvl="1"/>
            <a:r>
              <a:rPr lang="en-US" dirty="0"/>
              <a:t>Thus, they are designed to take advantage of the details and weaknesses of particular systems.  Macro viruses however target specific document types, which are often supported on a variety of systems.</a:t>
            </a:r>
          </a:p>
          <a:p>
            <a:r>
              <a:rPr lang="en-US" dirty="0"/>
              <a:t>A virus can infect some or all of the other files on that system with executable content when it executes. Depending on the access permissions it has. </a:t>
            </a:r>
          </a:p>
          <a:p>
            <a:pPr lvl="1"/>
            <a:r>
              <a:rPr lang="en-US" dirty="0"/>
              <a:t>Thus Viral infection can be completely prevented by blocking the virus from gaining entry in the first place. </a:t>
            </a:r>
          </a:p>
          <a:p>
            <a:r>
              <a:rPr lang="en-US" dirty="0"/>
              <a:t>Unfortunately, prevention is extraordinarily difficult because a virus can be part of any program outside a system.</a:t>
            </a:r>
          </a:p>
          <a:p>
            <a:pPr lvl="1"/>
            <a:r>
              <a:rPr lang="en-US" dirty="0"/>
              <a:t>Thus, unless one is content to take an absolutely bare piece of iron and write all one’s</a:t>
            </a:r>
            <a:br>
              <a:rPr lang="en-US" dirty="0"/>
            </a:br>
            <a:r>
              <a:rPr lang="en-US" dirty="0"/>
              <a:t>own system and application programs, one is vulnerable. </a:t>
            </a:r>
          </a:p>
          <a:p>
            <a:pPr lvl="1"/>
            <a:r>
              <a:rPr lang="en-US" dirty="0"/>
              <a:t>Many forms of infection can also be blocked by denying normal users the right to modify programs on the system.</a:t>
            </a:r>
          </a:p>
        </p:txBody>
      </p:sp>
      <p:sp>
        <p:nvSpPr>
          <p:cNvPr id="4" name="Slide Number Placeholder 3"/>
          <p:cNvSpPr>
            <a:spLocks noGrp="1"/>
          </p:cNvSpPr>
          <p:nvPr>
            <p:ph type="sldNum" sz="quarter" idx="12"/>
          </p:nvPr>
        </p:nvSpPr>
        <p:spPr/>
        <p:txBody>
          <a:bodyPr/>
          <a:lstStyle/>
          <a:p>
            <a:fld id="{A2A50C4D-0BA1-4E54-8DFC-01810EC97B99}" type="slidenum">
              <a:rPr lang="en-US" smtClean="0"/>
              <a:t>11</a:t>
            </a:fld>
            <a:endParaRPr lang="en-US"/>
          </a:p>
        </p:txBody>
      </p:sp>
      <p:pic>
        <p:nvPicPr>
          <p:cNvPr id="5" name="Picture 4"/>
          <p:cNvPicPr>
            <a:picLocks noChangeAspect="1"/>
          </p:cNvPicPr>
          <p:nvPr/>
        </p:nvPicPr>
        <p:blipFill>
          <a:blip r:embed="rId2"/>
          <a:stretch>
            <a:fillRect/>
          </a:stretch>
        </p:blipFill>
        <p:spPr>
          <a:xfrm>
            <a:off x="563993" y="543697"/>
            <a:ext cx="7765157" cy="502656"/>
          </a:xfrm>
          <a:prstGeom prst="rect">
            <a:avLst/>
          </a:prstGeom>
        </p:spPr>
      </p:pic>
    </p:spTree>
    <p:extLst>
      <p:ext uri="{BB962C8B-B14F-4D97-AF65-F5344CB8AC3E}">
        <p14:creationId xmlns:p14="http://schemas.microsoft.com/office/powerpoint/2010/main" val="3876441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45741"/>
            <a:ext cx="10515600" cy="976183"/>
          </a:xfrm>
        </p:spPr>
        <p:txBody>
          <a:bodyPr>
            <a:normAutofit/>
          </a:bodyPr>
          <a:lstStyle/>
          <a:p>
            <a:pPr marL="0" indent="0">
              <a:buNone/>
            </a:pPr>
            <a:r>
              <a:rPr lang="en-US" dirty="0"/>
              <a:t>A computer virus (and many types of current malware) has three components:</a:t>
            </a:r>
          </a:p>
        </p:txBody>
      </p:sp>
      <p:sp>
        <p:nvSpPr>
          <p:cNvPr id="4" name="Slide Number Placeholder 3"/>
          <p:cNvSpPr>
            <a:spLocks noGrp="1"/>
          </p:cNvSpPr>
          <p:nvPr>
            <p:ph type="sldNum" sz="quarter" idx="12"/>
          </p:nvPr>
        </p:nvSpPr>
        <p:spPr/>
        <p:txBody>
          <a:bodyPr/>
          <a:lstStyle/>
          <a:p>
            <a:fld id="{A2A50C4D-0BA1-4E54-8DFC-01810EC97B99}" type="slidenum">
              <a:rPr lang="en-US" smtClean="0"/>
              <a:t>12</a:t>
            </a:fld>
            <a:endParaRPr lang="en-US"/>
          </a:p>
        </p:txBody>
      </p:sp>
      <p:pic>
        <p:nvPicPr>
          <p:cNvPr id="5" name="Picture 4"/>
          <p:cNvPicPr>
            <a:picLocks noChangeAspect="1"/>
          </p:cNvPicPr>
          <p:nvPr/>
        </p:nvPicPr>
        <p:blipFill>
          <a:blip r:embed="rId2"/>
          <a:stretch>
            <a:fillRect/>
          </a:stretch>
        </p:blipFill>
        <p:spPr>
          <a:xfrm>
            <a:off x="563993" y="543697"/>
            <a:ext cx="7765157" cy="502656"/>
          </a:xfrm>
          <a:prstGeom prst="rect">
            <a:avLst/>
          </a:prstGeom>
        </p:spPr>
      </p:pic>
      <p:pic>
        <p:nvPicPr>
          <p:cNvPr id="2" name="Picture 1"/>
          <p:cNvPicPr>
            <a:picLocks noChangeAspect="1"/>
          </p:cNvPicPr>
          <p:nvPr/>
        </p:nvPicPr>
        <p:blipFill>
          <a:blip r:embed="rId3"/>
          <a:stretch>
            <a:fillRect/>
          </a:stretch>
        </p:blipFill>
        <p:spPr>
          <a:xfrm>
            <a:off x="1000704" y="2712592"/>
            <a:ext cx="10543997" cy="2379397"/>
          </a:xfrm>
          <a:prstGeom prst="rect">
            <a:avLst/>
          </a:prstGeom>
        </p:spPr>
      </p:pic>
    </p:spTree>
    <p:extLst>
      <p:ext uri="{BB962C8B-B14F-4D97-AF65-F5344CB8AC3E}">
        <p14:creationId xmlns:p14="http://schemas.microsoft.com/office/powerpoint/2010/main" val="2065144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8707" y="1361550"/>
            <a:ext cx="10765093" cy="593124"/>
          </a:xfrm>
        </p:spPr>
        <p:txBody>
          <a:bodyPr>
            <a:normAutofit/>
          </a:bodyPr>
          <a:lstStyle/>
          <a:p>
            <a:pPr marL="0" indent="0">
              <a:buNone/>
            </a:pPr>
            <a:r>
              <a:rPr lang="en-US" dirty="0"/>
              <a:t>A typical virus goes through the following four phases during its lifetime: </a:t>
            </a:r>
          </a:p>
        </p:txBody>
      </p:sp>
      <p:sp>
        <p:nvSpPr>
          <p:cNvPr id="4" name="Slide Number Placeholder 3"/>
          <p:cNvSpPr>
            <a:spLocks noGrp="1"/>
          </p:cNvSpPr>
          <p:nvPr>
            <p:ph type="sldNum" sz="quarter" idx="12"/>
          </p:nvPr>
        </p:nvSpPr>
        <p:spPr/>
        <p:txBody>
          <a:bodyPr/>
          <a:lstStyle/>
          <a:p>
            <a:fld id="{A2A50C4D-0BA1-4E54-8DFC-01810EC97B99}" type="slidenum">
              <a:rPr lang="en-US" smtClean="0"/>
              <a:t>13</a:t>
            </a:fld>
            <a:endParaRPr lang="en-US"/>
          </a:p>
        </p:txBody>
      </p:sp>
      <p:pic>
        <p:nvPicPr>
          <p:cNvPr id="5" name="Picture 4"/>
          <p:cNvPicPr>
            <a:picLocks noChangeAspect="1"/>
          </p:cNvPicPr>
          <p:nvPr/>
        </p:nvPicPr>
        <p:blipFill>
          <a:blip r:embed="rId2"/>
          <a:stretch>
            <a:fillRect/>
          </a:stretch>
        </p:blipFill>
        <p:spPr>
          <a:xfrm>
            <a:off x="563993" y="543697"/>
            <a:ext cx="7765157" cy="502656"/>
          </a:xfrm>
          <a:prstGeom prst="rect">
            <a:avLst/>
          </a:prstGeom>
        </p:spPr>
      </p:pic>
      <p:grpSp>
        <p:nvGrpSpPr>
          <p:cNvPr id="8" name="Group 7"/>
          <p:cNvGrpSpPr/>
          <p:nvPr/>
        </p:nvGrpSpPr>
        <p:grpSpPr>
          <a:xfrm>
            <a:off x="1508502" y="2037789"/>
            <a:ext cx="8876074" cy="4319638"/>
            <a:chOff x="2899916" y="2180016"/>
            <a:chExt cx="6401693" cy="3258005"/>
          </a:xfrm>
        </p:grpSpPr>
        <p:pic>
          <p:nvPicPr>
            <p:cNvPr id="6" name="Picture 5"/>
            <p:cNvPicPr>
              <a:picLocks noChangeAspect="1"/>
            </p:cNvPicPr>
            <p:nvPr/>
          </p:nvPicPr>
          <p:blipFill>
            <a:blip r:embed="rId3"/>
            <a:stretch>
              <a:fillRect/>
            </a:stretch>
          </p:blipFill>
          <p:spPr>
            <a:xfrm>
              <a:off x="2899916" y="2180016"/>
              <a:ext cx="6401693" cy="2572109"/>
            </a:xfrm>
            <a:prstGeom prst="rect">
              <a:avLst/>
            </a:prstGeom>
          </p:spPr>
        </p:pic>
        <p:pic>
          <p:nvPicPr>
            <p:cNvPr id="7" name="Picture 6"/>
            <p:cNvPicPr>
              <a:picLocks noChangeAspect="1"/>
            </p:cNvPicPr>
            <p:nvPr/>
          </p:nvPicPr>
          <p:blipFill>
            <a:blip r:embed="rId4"/>
            <a:stretch>
              <a:fillRect/>
            </a:stretch>
          </p:blipFill>
          <p:spPr>
            <a:xfrm>
              <a:off x="2899916" y="4752125"/>
              <a:ext cx="6392167" cy="685896"/>
            </a:xfrm>
            <a:prstGeom prst="rect">
              <a:avLst/>
            </a:prstGeom>
          </p:spPr>
        </p:pic>
      </p:grpSp>
    </p:spTree>
    <p:extLst>
      <p:ext uri="{BB962C8B-B14F-4D97-AF65-F5344CB8AC3E}">
        <p14:creationId xmlns:p14="http://schemas.microsoft.com/office/powerpoint/2010/main" val="1439730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a:xfrm>
            <a:off x="1981200" y="-304800"/>
            <a:ext cx="8229600" cy="1600200"/>
          </a:xfrm>
        </p:spPr>
        <p:txBody>
          <a:bodyPr/>
          <a:lstStyle/>
          <a:p>
            <a:pPr>
              <a:defRPr/>
            </a:pPr>
            <a:r>
              <a:rPr lang="en-US" dirty="0">
                <a:solidFill>
                  <a:schemeClr val="accent6">
                    <a:lumMod val="40000"/>
                    <a:lumOff val="60000"/>
                  </a:schemeClr>
                </a:solidFill>
              </a:rPr>
              <a:t>Worms</a:t>
            </a:r>
          </a:p>
        </p:txBody>
      </p:sp>
      <p:sp>
        <p:nvSpPr>
          <p:cNvPr id="238595" name="Rectangle 3"/>
          <p:cNvSpPr>
            <a:spLocks noGrp="1" noChangeArrowheads="1"/>
          </p:cNvSpPr>
          <p:nvPr>
            <p:ph idx="1"/>
          </p:nvPr>
        </p:nvSpPr>
        <p:spPr>
          <a:xfrm>
            <a:off x="1981200" y="1828800"/>
            <a:ext cx="8229600" cy="5029200"/>
          </a:xfrm>
        </p:spPr>
        <p:txBody>
          <a:bodyPr wrap="square" numCol="1" anchor="t" anchorCtr="0" compatLnSpc="1">
            <a:prstTxWarp prst="textNoShape">
              <a:avLst/>
            </a:prstTxWarp>
            <a:normAutofit/>
          </a:bodyPr>
          <a:lstStyle/>
          <a:p>
            <a:pPr marL="342900" lvl="2" indent="-342900">
              <a:lnSpc>
                <a:spcPct val="80000"/>
              </a:lnSpc>
              <a:spcBef>
                <a:spcPts val="2000"/>
              </a:spcBef>
              <a:buClr>
                <a:schemeClr val="accent6">
                  <a:lumMod val="60000"/>
                  <a:lumOff val="40000"/>
                </a:schemeClr>
              </a:buClr>
              <a:buSzPct val="140000"/>
            </a:pPr>
            <a:r>
              <a:rPr lang="en-US" sz="1800" dirty="0">
                <a:solidFill>
                  <a:schemeClr val="tx1"/>
                </a:solidFill>
                <a:effectLst>
                  <a:outerShdw blurRad="38100" dist="38100" dir="2700000" algn="tl">
                    <a:srgbClr val="0064E2"/>
                  </a:outerShdw>
                </a:effectLst>
                <a:latin typeface="+mn-lt"/>
                <a:ea typeface="ＭＳ Ｐゴシック" pitchFamily="-65" charset="-128"/>
              </a:rPr>
              <a:t>Program that actively seeks out more machines to infect and each infected machine serves as an automated launching pad for attacks on other machines</a:t>
            </a:r>
          </a:p>
          <a:p>
            <a:pPr marL="342900" lvl="2" indent="-342900">
              <a:lnSpc>
                <a:spcPct val="80000"/>
              </a:lnSpc>
              <a:spcBef>
                <a:spcPts val="2000"/>
              </a:spcBef>
              <a:buClr>
                <a:schemeClr val="accent6">
                  <a:lumMod val="60000"/>
                  <a:lumOff val="40000"/>
                </a:schemeClr>
              </a:buClr>
              <a:buSzPct val="140000"/>
            </a:pPr>
            <a:r>
              <a:rPr lang="en-US" sz="1800" dirty="0">
                <a:solidFill>
                  <a:schemeClr val="tx1"/>
                </a:solidFill>
                <a:effectLst>
                  <a:outerShdw blurRad="38100" dist="38100" dir="2700000" algn="tl">
                    <a:srgbClr val="0064E2"/>
                  </a:outerShdw>
                </a:effectLst>
                <a:latin typeface="+mn-lt"/>
                <a:ea typeface="ＭＳ Ｐゴシック" pitchFamily="-65" charset="-128"/>
              </a:rPr>
              <a:t>Exploits software vulnerabilities in client or server programs</a:t>
            </a:r>
          </a:p>
          <a:p>
            <a:pPr marL="342900" lvl="2" indent="-342900">
              <a:lnSpc>
                <a:spcPct val="80000"/>
              </a:lnSpc>
              <a:spcBef>
                <a:spcPts val="2000"/>
              </a:spcBef>
              <a:buClr>
                <a:schemeClr val="accent6">
                  <a:lumMod val="60000"/>
                  <a:lumOff val="40000"/>
                </a:schemeClr>
              </a:buClr>
              <a:buSzPct val="140000"/>
            </a:pPr>
            <a:r>
              <a:rPr lang="en-US" sz="1800" dirty="0">
                <a:solidFill>
                  <a:schemeClr val="tx1"/>
                </a:solidFill>
                <a:effectLst>
                  <a:outerShdw blurRad="38100" dist="38100" dir="2700000" algn="tl">
                    <a:srgbClr val="0064E2"/>
                  </a:outerShdw>
                </a:effectLst>
                <a:latin typeface="+mn-lt"/>
                <a:ea typeface="ＭＳ Ｐゴシック" pitchFamily="-65" charset="-128"/>
              </a:rPr>
              <a:t>Can use network connections to spread from system to system</a:t>
            </a:r>
          </a:p>
          <a:p>
            <a:pPr marL="342900" lvl="2" indent="-342900">
              <a:lnSpc>
                <a:spcPct val="80000"/>
              </a:lnSpc>
              <a:spcBef>
                <a:spcPts val="2000"/>
              </a:spcBef>
              <a:buClr>
                <a:schemeClr val="accent6">
                  <a:lumMod val="60000"/>
                  <a:lumOff val="40000"/>
                </a:schemeClr>
              </a:buClr>
              <a:buSzPct val="140000"/>
            </a:pPr>
            <a:r>
              <a:rPr lang="en-US" sz="1800" dirty="0">
                <a:solidFill>
                  <a:schemeClr val="tx1"/>
                </a:solidFill>
                <a:effectLst>
                  <a:outerShdw blurRad="38100" dist="38100" dir="2700000" algn="tl">
                    <a:srgbClr val="0064E2"/>
                  </a:outerShdw>
                </a:effectLst>
                <a:latin typeface="+mn-lt"/>
                <a:ea typeface="ＭＳ Ｐゴシック" pitchFamily="-65" charset="-128"/>
              </a:rPr>
              <a:t>Spreads through shared media (USB drives, CD, DVD data disks)</a:t>
            </a:r>
          </a:p>
          <a:p>
            <a:pPr marL="342900" lvl="2" indent="-342900">
              <a:lnSpc>
                <a:spcPct val="80000"/>
              </a:lnSpc>
              <a:spcBef>
                <a:spcPts val="2000"/>
              </a:spcBef>
              <a:buClr>
                <a:schemeClr val="accent6">
                  <a:lumMod val="60000"/>
                  <a:lumOff val="40000"/>
                </a:schemeClr>
              </a:buClr>
              <a:buSzPct val="140000"/>
            </a:pPr>
            <a:r>
              <a:rPr lang="en-US" sz="1800" dirty="0">
                <a:solidFill>
                  <a:schemeClr val="tx1"/>
                </a:solidFill>
                <a:effectLst>
                  <a:outerShdw blurRad="38100" dist="38100" dir="2700000" algn="tl">
                    <a:srgbClr val="0064E2"/>
                  </a:outerShdw>
                </a:effectLst>
                <a:latin typeface="+mn-lt"/>
                <a:ea typeface="ＭＳ Ｐゴシック" pitchFamily="-65" charset="-128"/>
              </a:rPr>
              <a:t>E-mail worms spread in macro or script code included in attachments and instant messenger file transfers</a:t>
            </a:r>
          </a:p>
          <a:p>
            <a:pPr marL="342900" lvl="2" indent="-342900">
              <a:lnSpc>
                <a:spcPct val="80000"/>
              </a:lnSpc>
              <a:spcBef>
                <a:spcPts val="2000"/>
              </a:spcBef>
              <a:buClr>
                <a:schemeClr val="accent6">
                  <a:lumMod val="60000"/>
                  <a:lumOff val="40000"/>
                </a:schemeClr>
              </a:buClr>
              <a:buSzPct val="140000"/>
            </a:pPr>
            <a:r>
              <a:rPr lang="en-US" sz="1800" dirty="0">
                <a:solidFill>
                  <a:schemeClr val="tx1"/>
                </a:solidFill>
                <a:effectLst>
                  <a:outerShdw blurRad="38100" dist="38100" dir="2700000" algn="tl">
                    <a:srgbClr val="0064E2"/>
                  </a:outerShdw>
                </a:effectLst>
                <a:latin typeface="+mn-lt"/>
                <a:ea typeface="ＭＳ Ｐゴシック" pitchFamily="-65" charset="-128"/>
              </a:rPr>
              <a:t>Upon activation the worm may replicate and propagate again </a:t>
            </a:r>
          </a:p>
          <a:p>
            <a:pPr marL="342900" lvl="2" indent="-342900">
              <a:lnSpc>
                <a:spcPct val="80000"/>
              </a:lnSpc>
              <a:spcBef>
                <a:spcPts val="2000"/>
              </a:spcBef>
              <a:buClr>
                <a:schemeClr val="accent6">
                  <a:lumMod val="60000"/>
                  <a:lumOff val="40000"/>
                </a:schemeClr>
              </a:buClr>
              <a:buSzPct val="140000"/>
            </a:pPr>
            <a:r>
              <a:rPr lang="en-US" sz="1800" dirty="0">
                <a:solidFill>
                  <a:schemeClr val="tx1"/>
                </a:solidFill>
                <a:effectLst>
                  <a:outerShdw blurRad="38100" dist="38100" dir="2700000" algn="tl">
                    <a:srgbClr val="0064E2"/>
                  </a:outerShdw>
                </a:effectLst>
                <a:latin typeface="+mn-lt"/>
                <a:ea typeface="ＭＳ Ｐゴシック" pitchFamily="-65" charset="-128"/>
              </a:rPr>
              <a:t>Usually carries some form of payload</a:t>
            </a:r>
          </a:p>
          <a:p>
            <a:pPr marL="342900" lvl="2" indent="-342900">
              <a:lnSpc>
                <a:spcPct val="80000"/>
              </a:lnSpc>
              <a:spcBef>
                <a:spcPts val="2000"/>
              </a:spcBef>
              <a:buClr>
                <a:schemeClr val="accent6">
                  <a:lumMod val="60000"/>
                  <a:lumOff val="40000"/>
                </a:schemeClr>
              </a:buClr>
              <a:buSzPct val="140000"/>
            </a:pPr>
            <a:r>
              <a:rPr lang="en-US" sz="1800" dirty="0">
                <a:solidFill>
                  <a:schemeClr val="tx1"/>
                </a:solidFill>
                <a:effectLst>
                  <a:outerShdw blurRad="38100" dist="38100" dir="2700000" algn="tl">
                    <a:srgbClr val="0064E2"/>
                  </a:outerShdw>
                </a:effectLst>
                <a:latin typeface="+mn-lt"/>
                <a:ea typeface="ＭＳ Ｐゴシック" pitchFamily="-65" charset="-128"/>
              </a:rPr>
              <a:t>First known implementation was done in Xerox Palo Alto Labs in the early 1980s</a:t>
            </a:r>
          </a:p>
        </p:txBody>
      </p:sp>
    </p:spTree>
    <p:extLst>
      <p:ext uri="{BB962C8B-B14F-4D97-AF65-F5344CB8AC3E}">
        <p14:creationId xmlns:p14="http://schemas.microsoft.com/office/powerpoint/2010/main" val="2030410892"/>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idx="4294967295"/>
          </p:nvPr>
        </p:nvSpPr>
        <p:spPr>
          <a:xfrm>
            <a:off x="2567608" y="116632"/>
            <a:ext cx="8100392" cy="1143000"/>
          </a:xfrm>
        </p:spPr>
        <p:txBody>
          <a:bodyPr wrap="square" numCol="1" anchorCtr="0" compatLnSpc="1">
            <a:prstTxWarp prst="textNoShape">
              <a:avLst/>
            </a:prstTxWarp>
          </a:bodyPr>
          <a:lstStyle/>
          <a:p>
            <a:pPr eaLnBrk="1" hangingPunct="1"/>
            <a:r>
              <a:rPr lang="en-US" dirty="0">
                <a:solidFill>
                  <a:schemeClr val="accent6">
                    <a:lumMod val="40000"/>
                    <a:lumOff val="60000"/>
                  </a:schemeClr>
                </a:solidFill>
                <a:effectLst/>
                <a:ea typeface="ＭＳ Ｐゴシック" pitchFamily="-65" charset="-128"/>
              </a:rPr>
              <a:t>Worm Replication</a:t>
            </a:r>
          </a:p>
        </p:txBody>
      </p:sp>
      <p:graphicFrame>
        <p:nvGraphicFramePr>
          <p:cNvPr id="4" name="Content Placeholder 3"/>
          <p:cNvGraphicFramePr>
            <a:graphicFrameLocks noGrp="1"/>
          </p:cNvGraphicFramePr>
          <p:nvPr>
            <p:ph idx="4294967295"/>
          </p:nvPr>
        </p:nvGraphicFramePr>
        <p:xfrm>
          <a:off x="2057400" y="1600200"/>
          <a:ext cx="83820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98900574"/>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idx="4294967295"/>
          </p:nvPr>
        </p:nvSpPr>
        <p:spPr>
          <a:xfrm>
            <a:off x="1524000" y="76200"/>
            <a:ext cx="9144000" cy="685800"/>
          </a:xfrm>
        </p:spPr>
        <p:txBody>
          <a:bodyPr>
            <a:normAutofit fontScale="90000"/>
          </a:bodyPr>
          <a:lstStyle/>
          <a:p>
            <a:pPr>
              <a:defRPr/>
            </a:pPr>
            <a:r>
              <a:rPr lang="en-US" dirty="0">
                <a:ln w="18415" cmpd="sng">
                  <a:solidFill>
                    <a:srgbClr val="FFFFFF"/>
                  </a:solidFill>
                  <a:prstDash val="solid"/>
                </a:ln>
                <a:solidFill>
                  <a:srgbClr val="FFFFFF"/>
                </a:solidFill>
                <a:effectLst>
                  <a:outerShdw blurRad="63500" dir="3600000" algn="tl" rotWithShape="0">
                    <a:srgbClr val="000000">
                      <a:alpha val="70000"/>
                    </a:srgbClr>
                  </a:outerShdw>
                </a:effectLst>
                <a:ea typeface="+mj-ea"/>
                <a:cs typeface="+mj-cs"/>
              </a:rPr>
              <a:t>Recent Worm Attacks</a:t>
            </a:r>
          </a:p>
        </p:txBody>
      </p:sp>
      <p:graphicFrame>
        <p:nvGraphicFramePr>
          <p:cNvPr id="4" name="Table 3"/>
          <p:cNvGraphicFramePr>
            <a:graphicFrameLocks noGrp="1"/>
          </p:cNvGraphicFramePr>
          <p:nvPr/>
        </p:nvGraphicFramePr>
        <p:xfrm>
          <a:off x="1524000" y="762001"/>
          <a:ext cx="9144000" cy="6005195"/>
        </p:xfrm>
        <a:graphic>
          <a:graphicData uri="http://schemas.openxmlformats.org/drawingml/2006/table">
            <a:tbl>
              <a:tblPr/>
              <a:tblGrid>
                <a:gridCol w="1524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5791200">
                  <a:extLst>
                    <a:ext uri="{9D8B030D-6E8A-4147-A177-3AD203B41FA5}">
                      <a16:colId xmlns:a16="http://schemas.microsoft.com/office/drawing/2014/main" val="20002"/>
                    </a:ext>
                  </a:extLst>
                </a:gridCol>
              </a:tblGrid>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Melissa</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1998</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E-mail worm</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First to include virus, worm and Trojan in one package</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54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extLst>
                  <a:ext uri="{0D108BD9-81ED-4DB2-BD59-A6C34878D82A}">
                    <a16:rowId xmlns:a16="http://schemas.microsoft.com/office/drawing/2014/main" val="10000"/>
                  </a:ext>
                </a:extLst>
              </a:tr>
              <a:tr h="77787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mn-lt"/>
                          <a:ea typeface="ＭＳ Ｐゴシック" pitchFamily="-65" charset="-128"/>
                        </a:rPr>
                        <a:t>Code Red</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July 2001</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Exploited Microsoft IIS bug</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Probes random IP addresses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Consumes significant Internet capacity when active</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254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extLst>
                  <a:ext uri="{0D108BD9-81ED-4DB2-BD59-A6C34878D82A}">
                    <a16:rowId xmlns:a16="http://schemas.microsoft.com/office/drawing/2014/main" val="10001"/>
                  </a:ext>
                </a:extLst>
              </a:tr>
              <a:tr h="5334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Code Red II</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August 2001</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Also targeted Microsoft IIS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Installs a backdoor for access</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5">
                        <a:lumMod val="75000"/>
                      </a:schemeClr>
                    </a:solidFill>
                  </a:tcPr>
                </a:tc>
                <a:extLst>
                  <a:ext uri="{0D108BD9-81ED-4DB2-BD59-A6C34878D82A}">
                    <a16:rowId xmlns:a16="http://schemas.microsoft.com/office/drawing/2014/main" val="10002"/>
                  </a:ext>
                </a:extLst>
              </a:tr>
              <a:tr h="762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mn-lt"/>
                          <a:ea typeface="ＭＳ Ｐゴシック" pitchFamily="-65" charset="-128"/>
                        </a:rPr>
                        <a:t>Nimda</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mn-lt"/>
                          <a:ea typeface="ＭＳ Ｐゴシック" pitchFamily="-65" charset="-128"/>
                        </a:rPr>
                        <a:t>September 2001</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Had worm, virus and mobile code characteristics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Spread using e-mail, Windows shares, Web servers,  Web clients, backdoors</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extLst>
                  <a:ext uri="{0D108BD9-81ED-4DB2-BD59-A6C34878D82A}">
                    <a16:rowId xmlns:a16="http://schemas.microsoft.com/office/drawing/2014/main" val="10003"/>
                  </a:ext>
                </a:extLst>
              </a:tr>
              <a:tr h="5334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SQL Slammer</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Early 2003</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Exploited a buffer overflow vulnerability in SQL server</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compact and spread rapidly</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mn-lt"/>
                          <a:ea typeface="ＭＳ Ｐゴシック" pitchFamily="-65" charset="-128"/>
                        </a:rPr>
                        <a:t>Sobig.F</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mn-lt"/>
                          <a:ea typeface="ＭＳ Ｐゴシック" pitchFamily="-65" charset="-128"/>
                        </a:rPr>
                        <a:t>Late 2003</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Exploited open proxy servers to turn infected machines into spam engines</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extLst>
                  <a:ext uri="{0D108BD9-81ED-4DB2-BD59-A6C34878D82A}">
                    <a16:rowId xmlns:a16="http://schemas.microsoft.com/office/drawing/2014/main" val="10005"/>
                  </a:ext>
                </a:extLst>
              </a:tr>
              <a:tr h="5334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err="1">
                          <a:ln>
                            <a:noFill/>
                          </a:ln>
                          <a:solidFill>
                            <a:schemeClr val="tx1"/>
                          </a:solidFill>
                          <a:effectLst/>
                          <a:latin typeface="+mn-lt"/>
                          <a:ea typeface="ＭＳ Ｐゴシック" pitchFamily="-65" charset="-128"/>
                        </a:rPr>
                        <a:t>Mydoom</a:t>
                      </a:r>
                      <a:endParaRPr kumimoji="0" lang="en-US" sz="1400" b="1" i="0" u="none" strike="noStrike" cap="none" normalizeH="0" baseline="0" dirty="0">
                        <a:ln>
                          <a:noFill/>
                        </a:ln>
                        <a:solidFill>
                          <a:schemeClr val="tx1"/>
                        </a:solidFill>
                        <a:effectLst/>
                        <a:latin typeface="+mn-lt"/>
                        <a:ea typeface="ＭＳ Ｐゴシック" pitchFamily="-65" charset="-128"/>
                      </a:endParaRP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2004</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Mass-mailing e-mail worm</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Installed a backdoor in infected machines</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5">
                        <a:lumMod val="75000"/>
                      </a:schemeClr>
                    </a:solidFill>
                  </a:tcPr>
                </a:tc>
                <a:extLst>
                  <a:ext uri="{0D108BD9-81ED-4DB2-BD59-A6C34878D82A}">
                    <a16:rowId xmlns:a16="http://schemas.microsoft.com/office/drawing/2014/main" val="10006"/>
                  </a:ext>
                </a:extLst>
              </a:tr>
              <a:tr h="762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mn-lt"/>
                          <a:ea typeface="ＭＳ Ｐゴシック" pitchFamily="-65" charset="-128"/>
                        </a:rPr>
                        <a:t>Warezov</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mn-lt"/>
                          <a:ea typeface="ＭＳ Ｐゴシック" pitchFamily="-65" charset="-128"/>
                        </a:rPr>
                        <a:t>2006</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Creates executables in system directories</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Sends itself as an e-mail attachment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Can disable security related products</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extLst>
                  <a:ext uri="{0D108BD9-81ED-4DB2-BD59-A6C34878D82A}">
                    <a16:rowId xmlns:a16="http://schemas.microsoft.com/office/drawing/2014/main" val="10007"/>
                  </a:ext>
                </a:extLst>
              </a:tr>
              <a:tr h="5334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err="1">
                          <a:ln>
                            <a:noFill/>
                          </a:ln>
                          <a:solidFill>
                            <a:schemeClr val="tx1"/>
                          </a:solidFill>
                          <a:effectLst/>
                          <a:latin typeface="+mn-lt"/>
                          <a:ea typeface="ＭＳ Ｐゴシック" pitchFamily="-65" charset="-128"/>
                        </a:rPr>
                        <a:t>Conficker</a:t>
                      </a:r>
                      <a:r>
                        <a:rPr kumimoji="0" lang="en-US" sz="1400" b="1" i="0" u="none" strike="noStrike" cap="none" normalizeH="0" baseline="0" dirty="0">
                          <a:ln>
                            <a:noFill/>
                          </a:ln>
                          <a:solidFill>
                            <a:schemeClr val="tx1"/>
                          </a:solidFill>
                          <a:effectLst/>
                          <a:latin typeface="+mn-lt"/>
                          <a:ea typeface="ＭＳ Ｐゴシック" pitchFamily="-65" charset="-128"/>
                        </a:rPr>
                        <a:t> (</a:t>
                      </a:r>
                      <a:r>
                        <a:rPr kumimoji="0" lang="en-US" sz="1400" b="1" i="0" u="none" strike="noStrike" cap="none" normalizeH="0" baseline="0" dirty="0" err="1">
                          <a:ln>
                            <a:noFill/>
                          </a:ln>
                          <a:solidFill>
                            <a:schemeClr val="tx1"/>
                          </a:solidFill>
                          <a:effectLst/>
                          <a:latin typeface="+mn-lt"/>
                          <a:ea typeface="ＭＳ Ｐゴシック" pitchFamily="-65" charset="-128"/>
                        </a:rPr>
                        <a:t>Downadup</a:t>
                      </a:r>
                      <a:r>
                        <a:rPr kumimoji="0" lang="en-US" sz="1400" b="1" i="0" u="none" strike="noStrike" cap="none" normalizeH="0" baseline="0" dirty="0">
                          <a:ln>
                            <a:noFill/>
                          </a:ln>
                          <a:solidFill>
                            <a:schemeClr val="tx1"/>
                          </a:solidFill>
                          <a:effectLst/>
                          <a:latin typeface="+mn-lt"/>
                          <a:ea typeface="ＭＳ Ｐゴシック" pitchFamily="-65" charset="-128"/>
                        </a:rPr>
                        <a:t>)</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November 2008</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Exploits a Windows buffer overflow vulnerability</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Most widespread infection since SQL Slammer</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3">
                        <a:lumMod val="75000"/>
                      </a:schemeClr>
                    </a:solidFill>
                  </a:tcPr>
                </a:tc>
                <a:extLst>
                  <a:ext uri="{0D108BD9-81ED-4DB2-BD59-A6C34878D82A}">
                    <a16:rowId xmlns:a16="http://schemas.microsoft.com/office/drawing/2014/main" val="10008"/>
                  </a:ext>
                </a:extLst>
              </a:tr>
              <a:tr h="5334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mn-lt"/>
                          <a:ea typeface="ＭＳ Ｐゴシック" pitchFamily="-65" charset="-128"/>
                        </a:rPr>
                        <a:t>Stuxnet</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a:ln>
                            <a:noFill/>
                          </a:ln>
                          <a:solidFill>
                            <a:schemeClr val="tx1"/>
                          </a:solidFill>
                          <a:effectLst/>
                          <a:latin typeface="+mn-lt"/>
                          <a:ea typeface="ＭＳ Ｐゴシック" pitchFamily="-65" charset="-128"/>
                        </a:rPr>
                        <a:t>2010</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Restricted rate of spread to reduce chance of detection</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mn-lt"/>
                          <a:ea typeface="ＭＳ Ｐゴシック" pitchFamily="-65" charset="-128"/>
                        </a:rPr>
                        <a:t>Targeted industrial control systems</a:t>
                      </a:r>
                    </a:p>
                  </a:txBody>
                  <a:tcP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chemeClr val="accent1">
                        <a:alpha val="20000"/>
                      </a:scheme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859077414"/>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17</a:t>
            </a:fld>
            <a:endParaRPr lang="en-US"/>
          </a:p>
        </p:txBody>
      </p:sp>
      <p:pic>
        <p:nvPicPr>
          <p:cNvPr id="5" name="Picture 4"/>
          <p:cNvPicPr>
            <a:picLocks noChangeAspect="1"/>
          </p:cNvPicPr>
          <p:nvPr/>
        </p:nvPicPr>
        <p:blipFill>
          <a:blip r:embed="rId2"/>
          <a:stretch>
            <a:fillRect/>
          </a:stretch>
        </p:blipFill>
        <p:spPr>
          <a:xfrm>
            <a:off x="1473512" y="0"/>
            <a:ext cx="8148763" cy="6858000"/>
          </a:xfrm>
          <a:prstGeom prst="rect">
            <a:avLst/>
          </a:prstGeom>
        </p:spPr>
      </p:pic>
    </p:spTree>
    <p:extLst>
      <p:ext uri="{BB962C8B-B14F-4D97-AF65-F5344CB8AC3E}">
        <p14:creationId xmlns:p14="http://schemas.microsoft.com/office/powerpoint/2010/main" val="2213605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513157" y="832698"/>
            <a:ext cx="5175057" cy="1230137"/>
          </a:xfrm>
          <a:prstGeom prst="rect">
            <a:avLst/>
          </a:prstGeom>
        </p:spPr>
      </p:pic>
      <p:sp>
        <p:nvSpPr>
          <p:cNvPr id="6" name="Content Placeholder 5"/>
          <p:cNvSpPr>
            <a:spLocks noGrp="1"/>
          </p:cNvSpPr>
          <p:nvPr>
            <p:ph sz="half" idx="2"/>
          </p:nvPr>
        </p:nvSpPr>
        <p:spPr>
          <a:xfrm>
            <a:off x="5820033" y="247929"/>
            <a:ext cx="6017739" cy="6108421"/>
          </a:xfrm>
        </p:spPr>
        <p:txBody>
          <a:bodyPr>
            <a:normAutofit lnSpcReduction="10000"/>
          </a:bodyPr>
          <a:lstStyle/>
          <a:p>
            <a:r>
              <a:rPr lang="en-US" dirty="0"/>
              <a:t>Propagation proceeds through three phases:</a:t>
            </a:r>
          </a:p>
          <a:p>
            <a:pPr lvl="1"/>
            <a:r>
              <a:rPr lang="en-US" dirty="0"/>
              <a:t>In the initial phase, the number of hosts increases exponentially. To see that this is so, consider a simplified case in which a worm is launched from a single host and infects two nearby hosts. Each of these hosts infects two more hosts, and so on. This results in exponential growth. </a:t>
            </a:r>
          </a:p>
          <a:p>
            <a:pPr lvl="1"/>
            <a:r>
              <a:rPr lang="en-US" dirty="0"/>
              <a:t>After a time, infecting hosts waste some time attacking already infected hosts, which reduces the rate of infection. During this middle phase, growth is approximately linear, but the rate of</a:t>
            </a:r>
            <a:br>
              <a:rPr lang="en-US" dirty="0"/>
            </a:br>
            <a:r>
              <a:rPr lang="en-US" dirty="0"/>
              <a:t>infection is rapid. When most vulnerable computers have been infected, </a:t>
            </a:r>
          </a:p>
          <a:p>
            <a:pPr lvl="1"/>
            <a:r>
              <a:rPr lang="en-US" dirty="0"/>
              <a:t>the attack enters a slow finish phase as the worm seeks out those remaining hosts that are difficult to identify. </a:t>
            </a:r>
          </a:p>
          <a:p>
            <a:r>
              <a:rPr lang="en-US" dirty="0"/>
              <a:t>Clearly, the objective in countering a worm is to catch the worm in its slow start phase, at a time when few hosts have been infected. </a:t>
            </a:r>
          </a:p>
        </p:txBody>
      </p:sp>
      <p:sp>
        <p:nvSpPr>
          <p:cNvPr id="2" name="Slide Number Placeholder 1"/>
          <p:cNvSpPr>
            <a:spLocks noGrp="1"/>
          </p:cNvSpPr>
          <p:nvPr>
            <p:ph type="sldNum" sz="quarter" idx="12"/>
          </p:nvPr>
        </p:nvSpPr>
        <p:spPr/>
        <p:txBody>
          <a:bodyPr/>
          <a:lstStyle/>
          <a:p>
            <a:fld id="{A2A50C4D-0BA1-4E54-8DFC-01810EC97B99}" type="slidenum">
              <a:rPr lang="en-US" smtClean="0"/>
              <a:t>18</a:t>
            </a:fld>
            <a:endParaRPr lang="en-US"/>
          </a:p>
        </p:txBody>
      </p:sp>
      <p:pic>
        <p:nvPicPr>
          <p:cNvPr id="3" name="Picture 2"/>
          <p:cNvPicPr>
            <a:picLocks noChangeAspect="1"/>
          </p:cNvPicPr>
          <p:nvPr/>
        </p:nvPicPr>
        <p:blipFill>
          <a:blip r:embed="rId3"/>
          <a:stretch>
            <a:fillRect/>
          </a:stretch>
        </p:blipFill>
        <p:spPr>
          <a:xfrm>
            <a:off x="555582" y="2305395"/>
            <a:ext cx="5090205" cy="4050955"/>
          </a:xfrm>
          <a:prstGeom prst="rect">
            <a:avLst/>
          </a:prstGeom>
        </p:spPr>
      </p:pic>
      <p:pic>
        <p:nvPicPr>
          <p:cNvPr id="7" name="Picture 6"/>
          <p:cNvPicPr>
            <a:picLocks noChangeAspect="1"/>
          </p:cNvPicPr>
          <p:nvPr/>
        </p:nvPicPr>
        <p:blipFill>
          <a:blip r:embed="rId4">
            <a:duotone>
              <a:prstClr val="black"/>
              <a:schemeClr val="accent4">
                <a:tint val="45000"/>
                <a:satMod val="400000"/>
              </a:schemeClr>
            </a:duotone>
          </a:blip>
          <a:stretch>
            <a:fillRect/>
          </a:stretch>
        </p:blipFill>
        <p:spPr>
          <a:xfrm>
            <a:off x="1808672" y="247929"/>
            <a:ext cx="2584024" cy="684417"/>
          </a:xfrm>
          <a:prstGeom prst="rect">
            <a:avLst/>
          </a:prstGeom>
        </p:spPr>
      </p:pic>
    </p:spTree>
    <p:extLst>
      <p:ext uri="{BB962C8B-B14F-4D97-AF65-F5344CB8AC3E}">
        <p14:creationId xmlns:p14="http://schemas.microsoft.com/office/powerpoint/2010/main" val="2514541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43408"/>
            <a:ext cx="9144000" cy="1080120"/>
          </a:xfrm>
        </p:spPr>
        <p:txBody>
          <a:bodyPr/>
          <a:lstStyle/>
          <a:p>
            <a:r>
              <a:rPr lang="en-US">
                <a:solidFill>
                  <a:schemeClr val="accent6">
                    <a:lumMod val="40000"/>
                    <a:lumOff val="60000"/>
                  </a:schemeClr>
                </a:solidFill>
              </a:rPr>
              <a:t>WannaCry</a:t>
            </a:r>
            <a:endParaRPr lang="en-US" dirty="0">
              <a:solidFill>
                <a:schemeClr val="accent6">
                  <a:lumMod val="40000"/>
                  <a:lumOff val="60000"/>
                </a:schemeClr>
              </a:solidFill>
            </a:endParaRPr>
          </a:p>
        </p:txBody>
      </p:sp>
      <p:graphicFrame>
        <p:nvGraphicFramePr>
          <p:cNvPr id="5" name="Content Placeholder 4"/>
          <p:cNvGraphicFramePr>
            <a:graphicFrameLocks noGrp="1"/>
          </p:cNvGraphicFramePr>
          <p:nvPr>
            <p:ph idx="1"/>
          </p:nvPr>
        </p:nvGraphicFramePr>
        <p:xfrm>
          <a:off x="1631237" y="785075"/>
          <a:ext cx="8795320" cy="5760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06732346"/>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ontent Placeholder 14"/>
          <p:cNvGraphicFramePr>
            <a:graphicFrameLocks noGrp="1"/>
          </p:cNvGraphicFramePr>
          <p:nvPr>
            <p:ph idx="1"/>
          </p:nvPr>
        </p:nvGraphicFramePr>
        <p:xfrm>
          <a:off x="1524000" y="228600"/>
          <a:ext cx="10134600" cy="6400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37780450"/>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2A50C4D-0BA1-4E54-8DFC-01810EC97B99}" type="slidenum">
              <a:rPr lang="en-US" smtClean="0"/>
              <a:t>21</a:t>
            </a:fld>
            <a:endParaRPr lang="en-US"/>
          </a:p>
        </p:txBody>
      </p:sp>
      <p:pic>
        <p:nvPicPr>
          <p:cNvPr id="5" name="Picture 4"/>
          <p:cNvPicPr>
            <a:picLocks noChangeAspect="1"/>
          </p:cNvPicPr>
          <p:nvPr/>
        </p:nvPicPr>
        <p:blipFill>
          <a:blip r:embed="rId2"/>
          <a:stretch>
            <a:fillRect/>
          </a:stretch>
        </p:blipFill>
        <p:spPr>
          <a:xfrm>
            <a:off x="2842054" y="9599"/>
            <a:ext cx="6517027" cy="6848401"/>
          </a:xfrm>
          <a:prstGeom prst="rect">
            <a:avLst/>
          </a:prstGeom>
        </p:spPr>
      </p:pic>
    </p:spTree>
    <p:extLst>
      <p:ext uri="{BB962C8B-B14F-4D97-AF65-F5344CB8AC3E}">
        <p14:creationId xmlns:p14="http://schemas.microsoft.com/office/powerpoint/2010/main" val="3640063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052736"/>
          </a:xfrm>
        </p:spPr>
        <p:txBody>
          <a:bodyPr wrap="square" numCol="1" anchorCtr="0" compatLnSpc="1">
            <a:prstTxWarp prst="textNoShape">
              <a:avLst/>
            </a:prstTxWarp>
          </a:bodyPr>
          <a:lstStyle/>
          <a:p>
            <a:pPr eaLnBrk="1" hangingPunct="1"/>
            <a:r>
              <a:rPr lang="en-US" dirty="0">
                <a:solidFill>
                  <a:schemeClr val="accent6">
                    <a:lumMod val="40000"/>
                    <a:lumOff val="60000"/>
                  </a:schemeClr>
                </a:solidFill>
                <a:effectLst/>
                <a:ea typeface="ＭＳ Ｐゴシック" pitchFamily="-65" charset="-128"/>
              </a:rPr>
              <a:t>Mobile Code</a:t>
            </a:r>
          </a:p>
        </p:txBody>
      </p:sp>
      <p:sp>
        <p:nvSpPr>
          <p:cNvPr id="3" name="Content Placeholder 2"/>
          <p:cNvSpPr>
            <a:spLocks noGrp="1"/>
          </p:cNvSpPr>
          <p:nvPr>
            <p:ph idx="1"/>
          </p:nvPr>
        </p:nvSpPr>
        <p:spPr>
          <a:xfrm>
            <a:off x="1981200" y="1268760"/>
            <a:ext cx="8229600" cy="5589240"/>
          </a:xfrm>
        </p:spPr>
        <p:txBody>
          <a:bodyPr wrap="square" numCol="1" anchor="t" anchorCtr="0" compatLnSpc="1">
            <a:prstTxWarp prst="textNoShape">
              <a:avLst/>
            </a:prstTxWarp>
            <a:normAutofit/>
          </a:bodyPr>
          <a:lstStyle/>
          <a:p>
            <a:pPr eaLnBrk="1" hangingPunct="1">
              <a:buClr>
                <a:schemeClr val="accent6">
                  <a:lumMod val="60000"/>
                  <a:lumOff val="40000"/>
                </a:schemeClr>
              </a:buClr>
              <a:buSzPct val="140000"/>
            </a:pPr>
            <a:r>
              <a:rPr lang="en-US" sz="1800" dirty="0">
                <a:solidFill>
                  <a:schemeClr val="tx1"/>
                </a:solidFill>
                <a:effectLst>
                  <a:outerShdw blurRad="38100" dist="38100" dir="2700000" algn="tl">
                    <a:srgbClr val="0064E2"/>
                  </a:outerShdw>
                </a:effectLst>
                <a:ea typeface="ＭＳ Ｐゴシック" pitchFamily="-65" charset="-128"/>
              </a:rPr>
              <a:t>NIST SP 800-28 defines mobile code as</a:t>
            </a:r>
          </a:p>
          <a:p>
            <a:pPr marL="914400" lvl="2" indent="0">
              <a:buClr>
                <a:schemeClr val="accent6">
                  <a:lumMod val="60000"/>
                  <a:lumOff val="40000"/>
                </a:schemeClr>
              </a:buClr>
              <a:buSzPct val="140000"/>
              <a:buNone/>
            </a:pPr>
            <a:r>
              <a:rPr lang="en-US" sz="1400" dirty="0">
                <a:solidFill>
                  <a:schemeClr val="tx1"/>
                </a:solidFill>
                <a:effectLst>
                  <a:outerShdw blurRad="38100" dist="38100" dir="2700000" algn="tl">
                    <a:srgbClr val="0064E2"/>
                  </a:outerShdw>
                </a:effectLst>
                <a:ea typeface="ＭＳ Ｐゴシック" pitchFamily="-65" charset="-128"/>
              </a:rPr>
              <a:t>“programs that can be shipped unchanged to a heterogeneous collection of platforms and executed with identical semantics”</a:t>
            </a:r>
          </a:p>
          <a:p>
            <a:pPr eaLnBrk="1" hangingPunct="1">
              <a:buClr>
                <a:schemeClr val="accent6">
                  <a:lumMod val="60000"/>
                  <a:lumOff val="40000"/>
                </a:schemeClr>
              </a:buClr>
              <a:buSzPct val="140000"/>
            </a:pPr>
            <a:r>
              <a:rPr lang="en-US" sz="1800" dirty="0">
                <a:solidFill>
                  <a:schemeClr val="tx1"/>
                </a:solidFill>
                <a:effectLst>
                  <a:outerShdw blurRad="38100" dist="38100" dir="2700000" algn="tl">
                    <a:srgbClr val="0064E2"/>
                  </a:outerShdw>
                </a:effectLst>
                <a:ea typeface="ＭＳ Ｐゴシック" pitchFamily="-65" charset="-128"/>
              </a:rPr>
              <a:t>Transmitted from a remote system to a local system and then executed on the local system</a:t>
            </a:r>
          </a:p>
          <a:p>
            <a:pPr eaLnBrk="1" hangingPunct="1">
              <a:buClr>
                <a:schemeClr val="accent6">
                  <a:lumMod val="60000"/>
                  <a:lumOff val="40000"/>
                </a:schemeClr>
              </a:buClr>
              <a:buSzPct val="140000"/>
            </a:pPr>
            <a:r>
              <a:rPr lang="en-US" sz="1800" dirty="0">
                <a:solidFill>
                  <a:schemeClr val="tx1"/>
                </a:solidFill>
                <a:effectLst>
                  <a:outerShdw blurRad="38100" dist="38100" dir="2700000" algn="tl">
                    <a:srgbClr val="0064E2"/>
                  </a:outerShdw>
                </a:effectLst>
                <a:ea typeface="ＭＳ Ｐゴシック" pitchFamily="-65" charset="-128"/>
              </a:rPr>
              <a:t>Often acts as a mechanism for a virus, worm, or Trojan horse</a:t>
            </a:r>
          </a:p>
          <a:p>
            <a:pPr eaLnBrk="1" hangingPunct="1">
              <a:buClr>
                <a:schemeClr val="accent6">
                  <a:lumMod val="60000"/>
                  <a:lumOff val="40000"/>
                </a:schemeClr>
              </a:buClr>
              <a:buSzPct val="140000"/>
            </a:pPr>
            <a:r>
              <a:rPr lang="en-US" sz="1800" dirty="0">
                <a:solidFill>
                  <a:schemeClr val="tx1"/>
                </a:solidFill>
                <a:effectLst>
                  <a:outerShdw blurRad="38100" dist="38100" dir="2700000" algn="tl">
                    <a:srgbClr val="0064E2"/>
                  </a:outerShdw>
                </a:effectLst>
                <a:ea typeface="ＭＳ Ｐゴシック" pitchFamily="-65" charset="-128"/>
              </a:rPr>
              <a:t>Takes advantage of vulnerabilities to perform its own exploits</a:t>
            </a:r>
          </a:p>
          <a:p>
            <a:pPr eaLnBrk="1" hangingPunct="1">
              <a:buClr>
                <a:schemeClr val="accent6">
                  <a:lumMod val="60000"/>
                  <a:lumOff val="40000"/>
                </a:schemeClr>
              </a:buClr>
              <a:buSzPct val="140000"/>
            </a:pPr>
            <a:r>
              <a:rPr lang="en-US" sz="1800" dirty="0">
                <a:solidFill>
                  <a:schemeClr val="tx1"/>
                </a:solidFill>
                <a:effectLst>
                  <a:outerShdw blurRad="38100" dist="38100" dir="2700000" algn="tl">
                    <a:srgbClr val="0064E2"/>
                  </a:outerShdw>
                </a:effectLst>
                <a:ea typeface="ＭＳ Ｐゴシック" pitchFamily="-65" charset="-128"/>
              </a:rPr>
              <a:t>Popular vehicles include:</a:t>
            </a:r>
          </a:p>
          <a:p>
            <a:pPr lvl="2">
              <a:buClr>
                <a:schemeClr val="accent6">
                  <a:lumMod val="60000"/>
                  <a:lumOff val="40000"/>
                </a:schemeClr>
              </a:buClr>
              <a:buSzPct val="140000"/>
            </a:pPr>
            <a:r>
              <a:rPr lang="en-US" sz="1400" dirty="0">
                <a:solidFill>
                  <a:schemeClr val="tx1"/>
                </a:solidFill>
                <a:effectLst>
                  <a:outerShdw blurRad="38100" dist="38100" dir="2700000" algn="tl">
                    <a:srgbClr val="0064E2"/>
                  </a:outerShdw>
                </a:effectLst>
                <a:ea typeface="ＭＳ Ｐゴシック" pitchFamily="-65" charset="-128"/>
              </a:rPr>
              <a:t> Java applets</a:t>
            </a:r>
          </a:p>
          <a:p>
            <a:pPr lvl="2">
              <a:buClr>
                <a:schemeClr val="accent6">
                  <a:lumMod val="60000"/>
                  <a:lumOff val="40000"/>
                </a:schemeClr>
              </a:buClr>
              <a:buSzPct val="140000"/>
            </a:pPr>
            <a:r>
              <a:rPr lang="en-US" sz="1400" dirty="0">
                <a:solidFill>
                  <a:schemeClr val="tx1"/>
                </a:solidFill>
                <a:effectLst>
                  <a:outerShdw blurRad="38100" dist="38100" dir="2700000" algn="tl">
                    <a:srgbClr val="0064E2"/>
                  </a:outerShdw>
                </a:effectLst>
                <a:ea typeface="ＭＳ Ｐゴシック" pitchFamily="-65" charset="-128"/>
              </a:rPr>
              <a:t>ActiveX</a:t>
            </a:r>
          </a:p>
          <a:p>
            <a:pPr lvl="2">
              <a:buClr>
                <a:schemeClr val="accent6">
                  <a:lumMod val="60000"/>
                  <a:lumOff val="40000"/>
                </a:schemeClr>
              </a:buClr>
              <a:buSzPct val="140000"/>
            </a:pPr>
            <a:r>
              <a:rPr lang="en-US" sz="1400" dirty="0">
                <a:solidFill>
                  <a:schemeClr val="tx1"/>
                </a:solidFill>
                <a:effectLst>
                  <a:outerShdw blurRad="38100" dist="38100" dir="2700000" algn="tl">
                    <a:srgbClr val="0064E2"/>
                  </a:outerShdw>
                </a:effectLst>
                <a:ea typeface="ＭＳ Ｐゴシック" pitchFamily="-65" charset="-128"/>
              </a:rPr>
              <a:t>JavaScript</a:t>
            </a:r>
          </a:p>
          <a:p>
            <a:pPr lvl="2">
              <a:buClr>
                <a:schemeClr val="accent6">
                  <a:lumMod val="60000"/>
                  <a:lumOff val="40000"/>
                </a:schemeClr>
              </a:buClr>
              <a:buSzPct val="140000"/>
            </a:pPr>
            <a:r>
              <a:rPr lang="en-US" sz="1400" dirty="0">
                <a:solidFill>
                  <a:schemeClr val="tx1"/>
                </a:solidFill>
                <a:effectLst>
                  <a:outerShdw blurRad="38100" dist="38100" dir="2700000" algn="tl">
                    <a:srgbClr val="0064E2"/>
                  </a:outerShdw>
                </a:effectLst>
                <a:ea typeface="ＭＳ Ｐゴシック" pitchFamily="-65" charset="-128"/>
              </a:rPr>
              <a:t>VBScript</a:t>
            </a:r>
          </a:p>
          <a:p>
            <a:pPr eaLnBrk="1" hangingPunct="1">
              <a:buClr>
                <a:schemeClr val="accent6">
                  <a:lumMod val="60000"/>
                  <a:lumOff val="40000"/>
                </a:schemeClr>
              </a:buClr>
              <a:buSzPct val="140000"/>
            </a:pPr>
            <a:r>
              <a:rPr lang="en-US" sz="1800" dirty="0">
                <a:solidFill>
                  <a:schemeClr val="tx1"/>
                </a:solidFill>
                <a:effectLst>
                  <a:outerShdw blurRad="38100" dist="38100" dir="2700000" algn="tl">
                    <a:srgbClr val="0064E2"/>
                  </a:outerShdw>
                </a:effectLst>
                <a:ea typeface="ＭＳ Ｐゴシック" pitchFamily="-65" charset="-128"/>
              </a:rPr>
              <a:t>Most common ways of using mobile code for malicious operations on local system are:</a:t>
            </a:r>
          </a:p>
          <a:p>
            <a:pPr lvl="2">
              <a:buClr>
                <a:schemeClr val="accent6">
                  <a:lumMod val="60000"/>
                  <a:lumOff val="40000"/>
                </a:schemeClr>
              </a:buClr>
              <a:buSzPct val="140000"/>
            </a:pPr>
            <a:r>
              <a:rPr lang="en-US" sz="1400" dirty="0">
                <a:solidFill>
                  <a:schemeClr val="tx1"/>
                </a:solidFill>
                <a:effectLst>
                  <a:outerShdw blurRad="38100" dist="38100" dir="2700000" algn="tl">
                    <a:srgbClr val="0064E2"/>
                  </a:outerShdw>
                </a:effectLst>
                <a:ea typeface="ＭＳ Ｐゴシック" pitchFamily="-65" charset="-128"/>
              </a:rPr>
              <a:t>Cross-site scripting</a:t>
            </a:r>
          </a:p>
          <a:p>
            <a:pPr lvl="2">
              <a:buClr>
                <a:schemeClr val="accent6">
                  <a:lumMod val="60000"/>
                  <a:lumOff val="40000"/>
                </a:schemeClr>
              </a:buClr>
              <a:buSzPct val="140000"/>
            </a:pPr>
            <a:r>
              <a:rPr lang="en-US" sz="1400" dirty="0">
                <a:solidFill>
                  <a:schemeClr val="tx1"/>
                </a:solidFill>
                <a:effectLst>
                  <a:outerShdw blurRad="38100" dist="38100" dir="2700000" algn="tl">
                    <a:srgbClr val="0064E2"/>
                  </a:outerShdw>
                </a:effectLst>
                <a:ea typeface="ＭＳ Ｐゴシック" pitchFamily="-65" charset="-128"/>
              </a:rPr>
              <a:t>Interactive and dynamic Web sites</a:t>
            </a:r>
          </a:p>
          <a:p>
            <a:pPr lvl="2">
              <a:buClr>
                <a:schemeClr val="accent6">
                  <a:lumMod val="60000"/>
                  <a:lumOff val="40000"/>
                </a:schemeClr>
              </a:buClr>
              <a:buSzPct val="140000"/>
            </a:pPr>
            <a:r>
              <a:rPr lang="en-US" sz="1400" dirty="0">
                <a:solidFill>
                  <a:schemeClr val="tx1"/>
                </a:solidFill>
                <a:effectLst>
                  <a:outerShdw blurRad="38100" dist="38100" dir="2700000" algn="tl">
                    <a:srgbClr val="0064E2"/>
                  </a:outerShdw>
                </a:effectLst>
                <a:ea typeface="ＭＳ Ｐゴシック" pitchFamily="-65" charset="-128"/>
              </a:rPr>
              <a:t>E-mail attachments</a:t>
            </a:r>
          </a:p>
          <a:p>
            <a:pPr lvl="2">
              <a:buClr>
                <a:schemeClr val="accent6">
                  <a:lumMod val="60000"/>
                  <a:lumOff val="40000"/>
                </a:schemeClr>
              </a:buClr>
              <a:buSzPct val="140000"/>
            </a:pPr>
            <a:r>
              <a:rPr lang="en-US" sz="1400" dirty="0">
                <a:solidFill>
                  <a:schemeClr val="tx1"/>
                </a:solidFill>
                <a:effectLst>
                  <a:outerShdw blurRad="38100" dist="38100" dir="2700000" algn="tl">
                    <a:srgbClr val="0064E2"/>
                  </a:outerShdw>
                </a:effectLst>
                <a:ea typeface="ＭＳ Ｐゴシック" pitchFamily="-65" charset="-128"/>
              </a:rPr>
              <a:t>Downloads from untrusted sites or of untrusted software</a:t>
            </a:r>
          </a:p>
        </p:txBody>
      </p:sp>
    </p:spTree>
    <p:extLst>
      <p:ext uri="{BB962C8B-B14F-4D97-AF65-F5344CB8AC3E}">
        <p14:creationId xmlns:p14="http://schemas.microsoft.com/office/powerpoint/2010/main" val="2325731042"/>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numCol="1" anchorCtr="0" compatLnSpc="1">
            <a:prstTxWarp prst="textNoShape">
              <a:avLst/>
            </a:prstTxWarp>
          </a:bodyPr>
          <a:lstStyle/>
          <a:p>
            <a:pPr eaLnBrk="1" hangingPunct="1"/>
            <a:r>
              <a:rPr lang="en-US" dirty="0">
                <a:solidFill>
                  <a:srgbClr val="EDD3B6"/>
                </a:solidFill>
                <a:effectLst/>
                <a:ea typeface="ＭＳ Ｐゴシック" pitchFamily="-65" charset="-128"/>
              </a:rPr>
              <a:t>Mobile Phone Worms</a:t>
            </a:r>
          </a:p>
        </p:txBody>
      </p:sp>
      <p:sp>
        <p:nvSpPr>
          <p:cNvPr id="3" name="Content Placeholder 2"/>
          <p:cNvSpPr>
            <a:spLocks noGrp="1"/>
          </p:cNvSpPr>
          <p:nvPr>
            <p:ph idx="1"/>
          </p:nvPr>
        </p:nvSpPr>
        <p:spPr>
          <a:xfrm>
            <a:off x="1981200" y="2057400"/>
            <a:ext cx="8229600" cy="4419600"/>
          </a:xfrm>
        </p:spPr>
        <p:txBody>
          <a:bodyPr wrap="square" numCol="1" anchor="t" anchorCtr="0" compatLnSpc="1">
            <a:prstTxWarp prst="textNoShape">
              <a:avLst/>
            </a:prstTxWarp>
          </a:bodyPr>
          <a:lstStyle/>
          <a:p>
            <a:pPr eaLnBrk="1" hangingPunct="1">
              <a:buClr>
                <a:schemeClr val="accent6">
                  <a:lumMod val="60000"/>
                  <a:lumOff val="40000"/>
                </a:schemeClr>
              </a:buClr>
              <a:buSzPct val="140000"/>
            </a:pPr>
            <a:r>
              <a:rPr lang="en-US" sz="2200" dirty="0">
                <a:solidFill>
                  <a:schemeClr val="tx1"/>
                </a:solidFill>
                <a:effectLst>
                  <a:outerShdw blurRad="38100" dist="38100" dir="2700000" algn="tl">
                    <a:srgbClr val="0064E2"/>
                  </a:outerShdw>
                </a:effectLst>
                <a:ea typeface="ＭＳ Ｐゴシック" pitchFamily="-65" charset="-128"/>
              </a:rPr>
              <a:t>First discovery was </a:t>
            </a:r>
            <a:r>
              <a:rPr lang="en-US" sz="2200" dirty="0" err="1">
                <a:solidFill>
                  <a:schemeClr val="tx1"/>
                </a:solidFill>
                <a:effectLst>
                  <a:outerShdw blurRad="38100" dist="38100" dir="2700000" algn="tl">
                    <a:srgbClr val="0064E2"/>
                  </a:outerShdw>
                </a:effectLst>
                <a:ea typeface="ＭＳ Ｐゴシック" pitchFamily="-65" charset="-128"/>
              </a:rPr>
              <a:t>Cabir</a:t>
            </a:r>
            <a:r>
              <a:rPr lang="en-US" sz="2200" dirty="0">
                <a:solidFill>
                  <a:schemeClr val="tx1"/>
                </a:solidFill>
                <a:effectLst>
                  <a:outerShdw blurRad="38100" dist="38100" dir="2700000" algn="tl">
                    <a:srgbClr val="0064E2"/>
                  </a:outerShdw>
                </a:effectLst>
                <a:ea typeface="ＭＳ Ｐゴシック" pitchFamily="-65" charset="-128"/>
              </a:rPr>
              <a:t> worm in 2004</a:t>
            </a:r>
          </a:p>
          <a:p>
            <a:pPr eaLnBrk="1" hangingPunct="1">
              <a:buClr>
                <a:schemeClr val="accent6">
                  <a:lumMod val="60000"/>
                  <a:lumOff val="40000"/>
                </a:schemeClr>
              </a:buClr>
              <a:buSzPct val="140000"/>
            </a:pPr>
            <a:r>
              <a:rPr lang="en-US" sz="2200" dirty="0">
                <a:solidFill>
                  <a:schemeClr val="tx1"/>
                </a:solidFill>
                <a:effectLst>
                  <a:outerShdw blurRad="38100" dist="38100" dir="2700000" algn="tl">
                    <a:srgbClr val="0064E2"/>
                  </a:outerShdw>
                </a:effectLst>
                <a:ea typeface="ＭＳ Ｐゴシック" pitchFamily="-65" charset="-128"/>
              </a:rPr>
              <a:t>Then </a:t>
            </a:r>
            <a:r>
              <a:rPr lang="en-US" sz="2200" dirty="0" err="1">
                <a:solidFill>
                  <a:schemeClr val="tx1"/>
                </a:solidFill>
                <a:effectLst>
                  <a:outerShdw blurRad="38100" dist="38100" dir="2700000" algn="tl">
                    <a:srgbClr val="0064E2"/>
                  </a:outerShdw>
                </a:effectLst>
                <a:ea typeface="ＭＳ Ｐゴシック" pitchFamily="-65" charset="-128"/>
              </a:rPr>
              <a:t>Lasco</a:t>
            </a:r>
            <a:r>
              <a:rPr lang="en-US" sz="2200" dirty="0">
                <a:solidFill>
                  <a:schemeClr val="tx1"/>
                </a:solidFill>
                <a:effectLst>
                  <a:outerShdw blurRad="38100" dist="38100" dir="2700000" algn="tl">
                    <a:srgbClr val="0064E2"/>
                  </a:outerShdw>
                </a:effectLst>
                <a:ea typeface="ＭＳ Ｐゴシック" pitchFamily="-65" charset="-128"/>
              </a:rPr>
              <a:t> and </a:t>
            </a:r>
            <a:r>
              <a:rPr lang="en-US" sz="2200" dirty="0" err="1">
                <a:solidFill>
                  <a:schemeClr val="tx1"/>
                </a:solidFill>
                <a:effectLst>
                  <a:outerShdw blurRad="38100" dist="38100" dir="2700000" algn="tl">
                    <a:srgbClr val="0064E2"/>
                  </a:outerShdw>
                </a:effectLst>
                <a:ea typeface="ＭＳ Ｐゴシック" pitchFamily="-65" charset="-128"/>
              </a:rPr>
              <a:t>CommWarrior</a:t>
            </a:r>
            <a:r>
              <a:rPr lang="en-US" sz="2200" dirty="0">
                <a:solidFill>
                  <a:schemeClr val="tx1"/>
                </a:solidFill>
                <a:effectLst>
                  <a:outerShdw blurRad="38100" dist="38100" dir="2700000" algn="tl">
                    <a:srgbClr val="0064E2"/>
                  </a:outerShdw>
                </a:effectLst>
                <a:ea typeface="ＭＳ Ｐゴシック" pitchFamily="-65" charset="-128"/>
              </a:rPr>
              <a:t> in 2005</a:t>
            </a:r>
          </a:p>
          <a:p>
            <a:pPr eaLnBrk="1" hangingPunct="1">
              <a:buClr>
                <a:schemeClr val="accent6">
                  <a:lumMod val="60000"/>
                  <a:lumOff val="40000"/>
                </a:schemeClr>
              </a:buClr>
              <a:buSzPct val="140000"/>
            </a:pPr>
            <a:r>
              <a:rPr lang="en-US" sz="2200" dirty="0">
                <a:solidFill>
                  <a:schemeClr val="tx1"/>
                </a:solidFill>
                <a:effectLst>
                  <a:outerShdw blurRad="38100" dist="38100" dir="2700000" algn="tl">
                    <a:srgbClr val="0064E2"/>
                  </a:outerShdw>
                </a:effectLst>
                <a:ea typeface="ＭＳ Ｐゴシック" pitchFamily="-65" charset="-128"/>
              </a:rPr>
              <a:t>Communicate through Bluetooth wireless connections or MMS</a:t>
            </a:r>
          </a:p>
          <a:p>
            <a:pPr eaLnBrk="1" hangingPunct="1">
              <a:buClr>
                <a:schemeClr val="accent6">
                  <a:lumMod val="60000"/>
                  <a:lumOff val="40000"/>
                </a:schemeClr>
              </a:buClr>
              <a:buSzPct val="140000"/>
            </a:pPr>
            <a:r>
              <a:rPr lang="en-US" sz="2200" dirty="0">
                <a:solidFill>
                  <a:schemeClr val="tx1"/>
                </a:solidFill>
                <a:effectLst>
                  <a:outerShdw blurRad="38100" dist="38100" dir="2700000" algn="tl">
                    <a:srgbClr val="0064E2"/>
                  </a:outerShdw>
                </a:effectLst>
                <a:ea typeface="ＭＳ Ｐゴシック" pitchFamily="-65" charset="-128"/>
              </a:rPr>
              <a:t>Target is the smartphone</a:t>
            </a:r>
          </a:p>
          <a:p>
            <a:pPr eaLnBrk="1" hangingPunct="1">
              <a:buClr>
                <a:schemeClr val="accent6">
                  <a:lumMod val="60000"/>
                  <a:lumOff val="40000"/>
                </a:schemeClr>
              </a:buClr>
              <a:buSzPct val="140000"/>
            </a:pPr>
            <a:r>
              <a:rPr lang="en-US" sz="2200" dirty="0">
                <a:solidFill>
                  <a:schemeClr val="tx1"/>
                </a:solidFill>
                <a:effectLst>
                  <a:outerShdw blurRad="38100" dist="38100" dir="2700000" algn="tl">
                    <a:srgbClr val="0064E2"/>
                  </a:outerShdw>
                </a:effectLst>
                <a:ea typeface="ＭＳ Ｐゴシック" pitchFamily="-65" charset="-128"/>
              </a:rPr>
              <a:t>Can completely disable the phone, delete data on the phone, or force the device to send costly messages</a:t>
            </a:r>
          </a:p>
          <a:p>
            <a:pPr eaLnBrk="1" hangingPunct="1">
              <a:buClr>
                <a:schemeClr val="accent6">
                  <a:lumMod val="60000"/>
                  <a:lumOff val="40000"/>
                </a:schemeClr>
              </a:buClr>
              <a:buSzPct val="140000"/>
            </a:pPr>
            <a:r>
              <a:rPr lang="en-US" sz="2200" dirty="0" err="1">
                <a:solidFill>
                  <a:schemeClr val="tx1"/>
                </a:solidFill>
                <a:effectLst>
                  <a:outerShdw blurRad="38100" dist="38100" dir="2700000" algn="tl">
                    <a:srgbClr val="0064E2"/>
                  </a:outerShdw>
                </a:effectLst>
                <a:ea typeface="ＭＳ Ｐゴシック" pitchFamily="-65" charset="-128"/>
              </a:rPr>
              <a:t>CommWarrior</a:t>
            </a:r>
            <a:r>
              <a:rPr lang="en-US" sz="2200" dirty="0">
                <a:solidFill>
                  <a:schemeClr val="tx1"/>
                </a:solidFill>
                <a:effectLst>
                  <a:outerShdw blurRad="38100" dist="38100" dir="2700000" algn="tl">
                    <a:srgbClr val="0064E2"/>
                  </a:outerShdw>
                </a:effectLst>
                <a:ea typeface="ＭＳ Ｐゴシック" pitchFamily="-65" charset="-128"/>
              </a:rPr>
              <a:t> replicates by means of Bluetooth to other phones, sends itself as an MMS file to contacts and as an auto reply to incoming text messages</a:t>
            </a:r>
          </a:p>
        </p:txBody>
      </p:sp>
    </p:spTree>
    <p:extLst>
      <p:ext uri="{BB962C8B-B14F-4D97-AF65-F5344CB8AC3E}">
        <p14:creationId xmlns:p14="http://schemas.microsoft.com/office/powerpoint/2010/main" val="3442731062"/>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81000"/>
            <a:ext cx="8229600" cy="1600200"/>
          </a:xfrm>
        </p:spPr>
        <p:txBody>
          <a:bodyPr wrap="square" numCol="1" anchorCtr="0" compatLnSpc="1">
            <a:prstTxWarp prst="textNoShape">
              <a:avLst/>
            </a:prstTxWarp>
          </a:bodyPr>
          <a:lstStyle/>
          <a:p>
            <a:pPr eaLnBrk="1" hangingPunct="1"/>
            <a:r>
              <a:rPr lang="en-US" dirty="0">
                <a:solidFill>
                  <a:schemeClr val="accent6">
                    <a:lumMod val="40000"/>
                    <a:lumOff val="60000"/>
                  </a:schemeClr>
                </a:solidFill>
              </a:rPr>
              <a:t>Drive-By-Downloads</a:t>
            </a:r>
          </a:p>
        </p:txBody>
      </p:sp>
      <p:graphicFrame>
        <p:nvGraphicFramePr>
          <p:cNvPr id="7" name="Content Placeholder 6"/>
          <p:cNvGraphicFramePr>
            <a:graphicFrameLocks noGrp="1"/>
          </p:cNvGraphicFramePr>
          <p:nvPr>
            <p:ph idx="1"/>
          </p:nvPr>
        </p:nvGraphicFramePr>
        <p:xfrm>
          <a:off x="1981200" y="1484784"/>
          <a:ext cx="8229600" cy="5040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78483396"/>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81000"/>
            <a:ext cx="8229600" cy="1600200"/>
          </a:xfrm>
        </p:spPr>
        <p:txBody>
          <a:bodyPr wrap="square" numCol="1" anchorCtr="0" compatLnSpc="1">
            <a:prstTxWarp prst="textNoShape">
              <a:avLst/>
            </a:prstTxWarp>
          </a:bodyPr>
          <a:lstStyle/>
          <a:p>
            <a:pPr eaLnBrk="1" hangingPunct="1"/>
            <a:r>
              <a:rPr lang="en-US" dirty="0">
                <a:solidFill>
                  <a:schemeClr val="accent6">
                    <a:lumMod val="40000"/>
                    <a:lumOff val="60000"/>
                  </a:schemeClr>
                </a:solidFill>
              </a:rPr>
              <a:t>Watering-Hole Attacks</a:t>
            </a:r>
          </a:p>
        </p:txBody>
      </p:sp>
      <p:sp>
        <p:nvSpPr>
          <p:cNvPr id="3" name="Content Placeholder 2"/>
          <p:cNvSpPr>
            <a:spLocks noGrp="1"/>
          </p:cNvSpPr>
          <p:nvPr>
            <p:ph idx="1"/>
          </p:nvPr>
        </p:nvSpPr>
        <p:spPr/>
        <p:txBody>
          <a:bodyPr>
            <a:normAutofit/>
          </a:bodyPr>
          <a:lstStyle/>
          <a:p>
            <a:pPr>
              <a:buClr>
                <a:schemeClr val="accent6">
                  <a:lumMod val="40000"/>
                  <a:lumOff val="60000"/>
                </a:schemeClr>
              </a:buClr>
              <a:buSzPct val="140000"/>
            </a:pPr>
            <a:r>
              <a:rPr lang="en-US" dirty="0">
                <a:latin typeface="+mn-lt"/>
              </a:rPr>
              <a:t>A variant of drive-by-download used in highly targeted attacks</a:t>
            </a:r>
          </a:p>
          <a:p>
            <a:pPr>
              <a:buClr>
                <a:schemeClr val="accent6">
                  <a:lumMod val="40000"/>
                  <a:lumOff val="60000"/>
                </a:schemeClr>
              </a:buClr>
              <a:buSzPct val="140000"/>
            </a:pPr>
            <a:r>
              <a:rPr lang="en-US" dirty="0">
                <a:latin typeface="+mn-lt"/>
              </a:rPr>
              <a:t>The attacker researches their intended victims to identify websites they are likely to visit, then scans these sites to identify those with vulnerabilities that allow their compromise</a:t>
            </a:r>
          </a:p>
          <a:p>
            <a:pPr>
              <a:buClr>
                <a:schemeClr val="accent6">
                  <a:lumMod val="40000"/>
                  <a:lumOff val="60000"/>
                </a:schemeClr>
              </a:buClr>
              <a:buSzPct val="140000"/>
            </a:pPr>
            <a:r>
              <a:rPr lang="en-US" dirty="0">
                <a:latin typeface="+mn-lt"/>
              </a:rPr>
              <a:t>They then wait for one of their intended victims to visit one of the compromised sites</a:t>
            </a:r>
          </a:p>
          <a:p>
            <a:pPr>
              <a:buClr>
                <a:schemeClr val="accent6">
                  <a:lumMod val="40000"/>
                  <a:lumOff val="60000"/>
                </a:schemeClr>
              </a:buClr>
              <a:buSzPct val="140000"/>
            </a:pPr>
            <a:r>
              <a:rPr lang="en-US" dirty="0">
                <a:latin typeface="+mn-lt"/>
              </a:rPr>
              <a:t>Attack code may even be written so that it will only infect systems belonging to the target organization and take no action for other visitors to the site</a:t>
            </a:r>
          </a:p>
          <a:p>
            <a:pPr>
              <a:buClr>
                <a:schemeClr val="accent6">
                  <a:lumMod val="40000"/>
                  <a:lumOff val="60000"/>
                </a:schemeClr>
              </a:buClr>
              <a:buSzPct val="140000"/>
            </a:pPr>
            <a:r>
              <a:rPr lang="en-US" dirty="0">
                <a:latin typeface="+mn-lt"/>
              </a:rPr>
              <a:t>This greatly increases the likelihood of the site compromise remaining undetected</a:t>
            </a:r>
          </a:p>
        </p:txBody>
      </p:sp>
    </p:spTree>
    <p:extLst>
      <p:ext uri="{BB962C8B-B14F-4D97-AF65-F5344CB8AC3E}">
        <p14:creationId xmlns:p14="http://schemas.microsoft.com/office/powerpoint/2010/main" val="1803376274"/>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052736"/>
          </a:xfrm>
        </p:spPr>
        <p:txBody>
          <a:bodyPr/>
          <a:lstStyle/>
          <a:p>
            <a:r>
              <a:rPr lang="en-US" dirty="0" err="1">
                <a:solidFill>
                  <a:schemeClr val="accent6">
                    <a:lumMod val="40000"/>
                    <a:lumOff val="60000"/>
                  </a:schemeClr>
                </a:solidFill>
              </a:rPr>
              <a:t>Malvertising</a:t>
            </a:r>
            <a:r>
              <a:rPr lang="en-US" dirty="0">
                <a:solidFill>
                  <a:schemeClr val="accent6">
                    <a:lumMod val="40000"/>
                    <a:lumOff val="60000"/>
                  </a:schemeClr>
                </a:solidFill>
              </a:rPr>
              <a:t> </a:t>
            </a:r>
          </a:p>
        </p:txBody>
      </p:sp>
      <p:graphicFrame>
        <p:nvGraphicFramePr>
          <p:cNvPr id="5" name="Content Placeholder 4"/>
          <p:cNvGraphicFramePr>
            <a:graphicFrameLocks noGrp="1"/>
          </p:cNvGraphicFramePr>
          <p:nvPr>
            <p:ph idx="1"/>
          </p:nvPr>
        </p:nvGraphicFramePr>
        <p:xfrm>
          <a:off x="1847528" y="1052736"/>
          <a:ext cx="8496944" cy="56166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87557082"/>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533400"/>
            <a:ext cx="8229600" cy="1600200"/>
          </a:xfrm>
        </p:spPr>
        <p:txBody>
          <a:bodyPr/>
          <a:lstStyle/>
          <a:p>
            <a:r>
              <a:rPr lang="en-US" dirty="0" err="1">
                <a:solidFill>
                  <a:schemeClr val="accent6">
                    <a:lumMod val="40000"/>
                    <a:lumOff val="60000"/>
                  </a:schemeClr>
                </a:solidFill>
              </a:rPr>
              <a:t>Clickjacking</a:t>
            </a:r>
            <a:r>
              <a:rPr lang="en-US" dirty="0">
                <a:solidFill>
                  <a:schemeClr val="accent6">
                    <a:lumMod val="40000"/>
                    <a:lumOff val="60000"/>
                  </a:schemeClr>
                </a:solidFill>
              </a:rPr>
              <a:t> </a:t>
            </a:r>
          </a:p>
        </p:txBody>
      </p:sp>
      <p:sp>
        <p:nvSpPr>
          <p:cNvPr id="3" name="Content Placeholder 2"/>
          <p:cNvSpPr>
            <a:spLocks noGrp="1"/>
          </p:cNvSpPr>
          <p:nvPr>
            <p:ph sz="half" idx="2"/>
          </p:nvPr>
        </p:nvSpPr>
        <p:spPr>
          <a:xfrm>
            <a:off x="1752600" y="1447800"/>
            <a:ext cx="4419600" cy="4953000"/>
          </a:xfrm>
        </p:spPr>
        <p:txBody>
          <a:bodyPr>
            <a:normAutofit/>
          </a:bodyPr>
          <a:lstStyle/>
          <a:p>
            <a:pPr>
              <a:buClr>
                <a:schemeClr val="accent6">
                  <a:lumMod val="60000"/>
                  <a:lumOff val="40000"/>
                </a:schemeClr>
              </a:buClr>
              <a:buSzPct val="140000"/>
              <a:buFont typeface="Arial" charset="0"/>
              <a:buChar char="•"/>
            </a:pPr>
            <a:r>
              <a:rPr lang="en-US" dirty="0">
                <a:solidFill>
                  <a:schemeClr val="tx1"/>
                </a:solidFill>
                <a:latin typeface="+mn-lt"/>
              </a:rPr>
              <a:t>Also known as a user-interface (UI) redress attack</a:t>
            </a:r>
          </a:p>
          <a:p>
            <a:pPr>
              <a:buClr>
                <a:schemeClr val="accent6">
                  <a:lumMod val="60000"/>
                  <a:lumOff val="40000"/>
                </a:schemeClr>
              </a:buClr>
              <a:buSzPct val="140000"/>
              <a:buFont typeface="Arial" charset="0"/>
              <a:buChar char="•"/>
            </a:pPr>
            <a:r>
              <a:rPr lang="en-US" dirty="0">
                <a:solidFill>
                  <a:schemeClr val="tx1"/>
                </a:solidFill>
                <a:latin typeface="+mn-lt"/>
              </a:rPr>
              <a:t>Using a similar technique, keystrokes can also be hijacked</a:t>
            </a:r>
          </a:p>
          <a:p>
            <a:pPr lvl="1">
              <a:buClr>
                <a:schemeClr val="accent6">
                  <a:lumMod val="60000"/>
                  <a:lumOff val="40000"/>
                </a:schemeClr>
              </a:buClr>
              <a:buSzPct val="140000"/>
              <a:buFont typeface="Arial" charset="0"/>
              <a:buChar char="•"/>
            </a:pPr>
            <a:r>
              <a:rPr lang="en-US" dirty="0">
                <a:solidFill>
                  <a:schemeClr val="tx1"/>
                </a:solidFill>
                <a:latin typeface="+mn-lt"/>
              </a:rPr>
              <a:t>A user can be led to believe they are typing in the password to their email or bank account, but are instead typing into an invisible frame controlled by the attacker</a:t>
            </a:r>
          </a:p>
        </p:txBody>
      </p:sp>
      <p:sp>
        <p:nvSpPr>
          <p:cNvPr id="4" name="Content Placeholder 3"/>
          <p:cNvSpPr>
            <a:spLocks noGrp="1"/>
          </p:cNvSpPr>
          <p:nvPr>
            <p:ph sz="quarter" idx="13"/>
          </p:nvPr>
        </p:nvSpPr>
        <p:spPr>
          <a:xfrm>
            <a:off x="5879976" y="1447800"/>
            <a:ext cx="4559424" cy="5410200"/>
          </a:xfrm>
        </p:spPr>
        <p:txBody>
          <a:bodyPr>
            <a:normAutofit fontScale="85000" lnSpcReduction="10000"/>
          </a:bodyPr>
          <a:lstStyle/>
          <a:p>
            <a:pPr>
              <a:buClr>
                <a:schemeClr val="accent6">
                  <a:lumMod val="60000"/>
                  <a:lumOff val="40000"/>
                </a:schemeClr>
              </a:buClr>
              <a:buSzPct val="140000"/>
              <a:buFont typeface="Arial" charset="0"/>
              <a:buChar char="•"/>
            </a:pPr>
            <a:r>
              <a:rPr lang="en-US" dirty="0">
                <a:solidFill>
                  <a:schemeClr val="tx1"/>
                </a:solidFill>
                <a:latin typeface="+mn-lt"/>
              </a:rPr>
              <a:t>Vulnerability used by an attacker to collect an infected user’s clicks</a:t>
            </a:r>
          </a:p>
          <a:p>
            <a:pPr lvl="1">
              <a:spcAft>
                <a:spcPts val="1200"/>
              </a:spcAft>
              <a:buClr>
                <a:schemeClr val="accent6">
                  <a:lumMod val="60000"/>
                  <a:lumOff val="40000"/>
                </a:schemeClr>
              </a:buClr>
              <a:buSzPct val="140000"/>
              <a:buFont typeface="Arial" charset="0"/>
              <a:buChar char="•"/>
            </a:pPr>
            <a:r>
              <a:rPr lang="en-US" sz="1900" dirty="0">
                <a:solidFill>
                  <a:schemeClr val="tx1"/>
                </a:solidFill>
                <a:latin typeface="+mn-lt"/>
              </a:rPr>
              <a:t>The attacker can force the user to do a variety of things from adjusting the user’s computer settings to unwittingly sending the user to Web sites that might have malicious code</a:t>
            </a:r>
          </a:p>
          <a:p>
            <a:pPr lvl="1">
              <a:spcAft>
                <a:spcPts val="1200"/>
              </a:spcAft>
              <a:buClr>
                <a:schemeClr val="accent6">
                  <a:lumMod val="60000"/>
                  <a:lumOff val="40000"/>
                </a:schemeClr>
              </a:buClr>
              <a:buSzPct val="140000"/>
              <a:buFont typeface="Arial" charset="0"/>
              <a:buChar char="•"/>
            </a:pPr>
            <a:r>
              <a:rPr lang="en-US" sz="1900" dirty="0">
                <a:solidFill>
                  <a:schemeClr val="tx1"/>
                </a:solidFill>
                <a:latin typeface="+mn-lt"/>
              </a:rPr>
              <a:t>By taking advantage of Adobe Flash or JavaScript an attacker could even place a button under or over a legitimate button making it difficult for users to detect</a:t>
            </a:r>
          </a:p>
          <a:p>
            <a:pPr lvl="1">
              <a:spcAft>
                <a:spcPts val="1200"/>
              </a:spcAft>
              <a:buClr>
                <a:schemeClr val="accent6">
                  <a:lumMod val="60000"/>
                  <a:lumOff val="40000"/>
                </a:schemeClr>
              </a:buClr>
              <a:buSzPct val="140000"/>
              <a:buFont typeface="Arial" charset="0"/>
              <a:buChar char="•"/>
            </a:pPr>
            <a:r>
              <a:rPr lang="en-US" sz="1900" dirty="0">
                <a:solidFill>
                  <a:schemeClr val="tx1"/>
                </a:solidFill>
                <a:latin typeface="+mn-lt"/>
              </a:rPr>
              <a:t>A typical attack uses multiple transparent or opaque layers to trick a user into clicking on a button or link on another page when they were intending to click on the top level page</a:t>
            </a:r>
          </a:p>
          <a:p>
            <a:pPr lvl="1">
              <a:spcAft>
                <a:spcPts val="1200"/>
              </a:spcAft>
              <a:buClr>
                <a:schemeClr val="accent6">
                  <a:lumMod val="60000"/>
                  <a:lumOff val="40000"/>
                </a:schemeClr>
              </a:buClr>
              <a:buSzPct val="140000"/>
              <a:buFont typeface="Arial" charset="0"/>
              <a:buChar char="•"/>
            </a:pPr>
            <a:r>
              <a:rPr lang="en-US" sz="1900" dirty="0">
                <a:solidFill>
                  <a:schemeClr val="tx1"/>
                </a:solidFill>
                <a:latin typeface="+mn-lt"/>
              </a:rPr>
              <a:t>The attacker is hijacking clicks meant for one page and routing them to another page</a:t>
            </a:r>
          </a:p>
          <a:p>
            <a:endParaRPr lang="en-US" dirty="0"/>
          </a:p>
        </p:txBody>
      </p:sp>
    </p:spTree>
    <p:extLst>
      <p:ext uri="{BB962C8B-B14F-4D97-AF65-F5344CB8AC3E}">
        <p14:creationId xmlns:p14="http://schemas.microsoft.com/office/powerpoint/2010/main" val="739990027"/>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980728"/>
          </a:xfrm>
        </p:spPr>
        <p:txBody>
          <a:bodyPr wrap="square" numCol="1" anchorCtr="0" compatLnSpc="1">
            <a:prstTxWarp prst="textNoShape">
              <a:avLst/>
            </a:prstTxWarp>
          </a:bodyPr>
          <a:lstStyle/>
          <a:p>
            <a:pPr eaLnBrk="1" hangingPunct="1"/>
            <a:r>
              <a:rPr lang="en-US" dirty="0">
                <a:solidFill>
                  <a:schemeClr val="accent6">
                    <a:lumMod val="40000"/>
                    <a:lumOff val="60000"/>
                  </a:schemeClr>
                </a:solidFill>
              </a:rPr>
              <a:t>Social Engineering</a:t>
            </a:r>
          </a:p>
        </p:txBody>
      </p:sp>
      <p:sp>
        <p:nvSpPr>
          <p:cNvPr id="3" name="Content Placeholder 2"/>
          <p:cNvSpPr>
            <a:spLocks noGrp="1"/>
          </p:cNvSpPr>
          <p:nvPr>
            <p:ph idx="1"/>
          </p:nvPr>
        </p:nvSpPr>
        <p:spPr>
          <a:xfrm>
            <a:off x="1981200" y="1124744"/>
            <a:ext cx="8229600" cy="1295400"/>
          </a:xfrm>
        </p:spPr>
        <p:txBody>
          <a:bodyPr wrap="square" numCol="1" anchor="t" anchorCtr="0" compatLnSpc="1">
            <a:prstTxWarp prst="textNoShape">
              <a:avLst/>
            </a:prstTxWarp>
          </a:bodyPr>
          <a:lstStyle/>
          <a:p>
            <a:pPr eaLnBrk="1" hangingPunct="1">
              <a:buClr>
                <a:schemeClr val="accent6">
                  <a:lumMod val="60000"/>
                  <a:lumOff val="40000"/>
                </a:schemeClr>
              </a:buClr>
              <a:buSzPct val="140000"/>
            </a:pPr>
            <a:r>
              <a:rPr lang="en-US" dirty="0">
                <a:solidFill>
                  <a:schemeClr val="tx1"/>
                </a:solidFill>
                <a:effectLst>
                  <a:outerShdw blurRad="38100" dist="38100" dir="2700000" algn="tl">
                    <a:srgbClr val="0064E2"/>
                  </a:outerShdw>
                </a:effectLst>
                <a:latin typeface="+mn-lt"/>
                <a:ea typeface="ＭＳ Ｐゴシック" pitchFamily="-65" charset="-128"/>
              </a:rPr>
              <a:t>“Tricking” users to assist in the compromise of their own systems</a:t>
            </a:r>
          </a:p>
        </p:txBody>
      </p:sp>
      <p:graphicFrame>
        <p:nvGraphicFramePr>
          <p:cNvPr id="4" name="Diagram 3"/>
          <p:cNvGraphicFramePr/>
          <p:nvPr/>
        </p:nvGraphicFramePr>
        <p:xfrm>
          <a:off x="1775520" y="2132856"/>
          <a:ext cx="8640960" cy="46085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F2737-7E5F-B59F-CDA0-82688F595338}"/>
              </a:ext>
            </a:extLst>
          </p:cNvPr>
          <p:cNvSpPr>
            <a:spLocks noGrp="1"/>
          </p:cNvSpPr>
          <p:nvPr>
            <p:ph type="title"/>
          </p:nvPr>
        </p:nvSpPr>
        <p:spPr>
          <a:xfrm>
            <a:off x="2209800" y="228601"/>
            <a:ext cx="8229600" cy="981075"/>
          </a:xfrm>
        </p:spPr>
        <p:txBody>
          <a:bodyPr>
            <a:normAutofit fontScale="90000"/>
          </a:bodyPr>
          <a:lstStyle/>
          <a:p>
            <a:pPr eaLnBrk="1" hangingPunct="1">
              <a:defRPr/>
            </a:pPr>
            <a:r>
              <a:rPr lang="en-US" sz="3200" b="1" dirty="0">
                <a:solidFill>
                  <a:schemeClr val="accent1"/>
                </a:solidFill>
              </a:rPr>
              <a:t>Propagation — Social Engineering—</a:t>
            </a:r>
            <a:br>
              <a:rPr lang="en-US" sz="3200" b="1" dirty="0">
                <a:solidFill>
                  <a:schemeClr val="accent1"/>
                </a:solidFill>
              </a:rPr>
            </a:br>
            <a:r>
              <a:rPr lang="en-US" sz="3200" b="1" dirty="0">
                <a:solidFill>
                  <a:schemeClr val="accent1"/>
                </a:solidFill>
              </a:rPr>
              <a:t>Spam E-mail, Trojans</a:t>
            </a:r>
          </a:p>
        </p:txBody>
      </p:sp>
      <p:sp>
        <p:nvSpPr>
          <p:cNvPr id="3" name="Content Placeholder 2" descr="Rectangle: Click to edit Master text styles&#10;Second level&#10;Third level&#10;Fourth level&#10;Fifth level">
            <a:extLst>
              <a:ext uri="{FF2B5EF4-FFF2-40B4-BE49-F238E27FC236}">
                <a16:creationId xmlns:a16="http://schemas.microsoft.com/office/drawing/2014/main" id="{AB5E8465-414E-131B-E5FF-E28BF70172B3}"/>
              </a:ext>
            </a:extLst>
          </p:cNvPr>
          <p:cNvSpPr>
            <a:spLocks noGrp="1"/>
          </p:cNvSpPr>
          <p:nvPr>
            <p:ph idx="1"/>
          </p:nvPr>
        </p:nvSpPr>
        <p:spPr>
          <a:xfrm>
            <a:off x="2133600" y="1397557"/>
            <a:ext cx="8153400" cy="4953001"/>
          </a:xfrm>
        </p:spPr>
        <p:txBody>
          <a:bodyPr>
            <a:noAutofit/>
          </a:bodyPr>
          <a:lstStyle/>
          <a:p>
            <a:pPr algn="just">
              <a:buFont typeface="Courier New" panose="02070309020205020404" pitchFamily="49" charset="0"/>
              <a:buChar char="o"/>
            </a:pPr>
            <a:r>
              <a:rPr lang="en-US" sz="1400" dirty="0">
                <a:latin typeface="Times New Roman" panose="02020603050405020304" pitchFamily="18" charset="0"/>
                <a:cs typeface="Times New Roman" panose="02020603050405020304" pitchFamily="18" charset="0"/>
              </a:rPr>
              <a:t> The final category of malware propagation we consider involves social engineering,</a:t>
            </a:r>
          </a:p>
          <a:p>
            <a:pPr marL="0" indent="0" algn="just">
              <a:buNone/>
            </a:pPr>
            <a:r>
              <a:rPr lang="en-US" sz="1400" b="1" i="1" dirty="0">
                <a:latin typeface="Times New Roman" panose="02020603050405020304" pitchFamily="18" charset="0"/>
                <a:cs typeface="Times New Roman" panose="02020603050405020304" pitchFamily="18" charset="0"/>
              </a:rPr>
              <a:t> “tricking” users to assist in the compromise of their own systems or personal information. </a:t>
            </a:r>
          </a:p>
          <a:p>
            <a:pPr algn="just">
              <a:buFont typeface="Courier New" panose="02070309020205020404" pitchFamily="49" charset="0"/>
              <a:buChar char="o"/>
            </a:pPr>
            <a:r>
              <a:rPr lang="en-US" sz="1400" dirty="0">
                <a:latin typeface="Times New Roman" panose="02020603050405020304" pitchFamily="18" charset="0"/>
                <a:cs typeface="Times New Roman" panose="02020603050405020304" pitchFamily="18" charset="0"/>
              </a:rPr>
              <a:t>This can occur when a user views and responds to some SPAM e-mail, or permits the installation and execution of some Trojan horse program or scripting code.</a:t>
            </a:r>
          </a:p>
          <a:p>
            <a:pPr marL="128016" lvl="1" indent="0">
              <a:buNone/>
            </a:pPr>
            <a:endParaRPr lang="en-US" b="1" dirty="0">
              <a:latin typeface="Times New Roman" panose="02020603050405020304" pitchFamily="18" charset="0"/>
              <a:ea typeface="ＭＳ Ｐゴシック" pitchFamily="-65" charset="-128"/>
              <a:cs typeface="Times New Roman" panose="02020603050405020304" pitchFamily="18" charset="0"/>
            </a:endParaRPr>
          </a:p>
          <a:p>
            <a:pPr marL="128016" lvl="1" indent="0">
              <a:buNone/>
            </a:pPr>
            <a:r>
              <a:rPr lang="en-US" b="1" i="0" u="none" strike="noStrike" baseline="0" dirty="0">
                <a:solidFill>
                  <a:schemeClr val="tx1"/>
                </a:solidFill>
                <a:latin typeface="Times New Roman" panose="02020603050405020304" pitchFamily="18" charset="0"/>
                <a:cs typeface="Times New Roman" panose="02020603050405020304" pitchFamily="18" charset="0"/>
              </a:rPr>
              <a:t>Spam (Unsolicited Bulk) E-Mail</a:t>
            </a:r>
          </a:p>
          <a:p>
            <a:pPr lvl="1" algn="just">
              <a:buFont typeface="Courier New" panose="02070309020205020404" pitchFamily="49" charset="0"/>
              <a:buChar char="o"/>
            </a:pPr>
            <a:r>
              <a:rPr lang="en-US" sz="1200" b="1" dirty="0">
                <a:solidFill>
                  <a:schemeClr val="tx1"/>
                </a:solidFill>
                <a:latin typeface="Times New Roman" panose="02020603050405020304" pitchFamily="18" charset="0"/>
                <a:ea typeface="ＭＳ Ｐゴシック" pitchFamily="-65" charset="-128"/>
                <a:cs typeface="Times New Roman" panose="02020603050405020304" pitchFamily="18" charset="0"/>
              </a:rPr>
              <a:t> </a:t>
            </a: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With the explosive growth of the Internet over the last few decades, the widespread use of e-mail, and the extremely low cost required to send large volumes of e-mail, has come the rise of unsolicited bulk e-mail, commonly known as spam. </a:t>
            </a:r>
          </a:p>
          <a:p>
            <a:pPr lvl="1" algn="just">
              <a:buFont typeface="Courier New" panose="02070309020205020404" pitchFamily="49" charset="0"/>
              <a:buChar char="o"/>
            </a:pP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A significant portion of spam e-mail content is just advertising, trying to convince the recipient to purchase some product online, such as pharmaceuticals, or used in scams, such as stock, fake trader scams, or money mule job ads. But spam is also a significant carrier of malware. </a:t>
            </a:r>
          </a:p>
          <a:p>
            <a:pPr lvl="1" algn="just">
              <a:buFont typeface="Courier New" panose="02070309020205020404" pitchFamily="49" charset="0"/>
              <a:buChar char="o"/>
            </a:pP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The e-mail may have an attached document, which, if opened, may exploit a software vulnerability to install malware on the user’s system </a:t>
            </a:r>
            <a:r>
              <a:rPr lang="en-US" sz="1400" b="1" dirty="0">
                <a:solidFill>
                  <a:schemeClr val="tx1"/>
                </a:solidFill>
                <a:latin typeface="Times New Roman" panose="02020603050405020304" pitchFamily="18" charset="0"/>
                <a:ea typeface="ＭＳ Ｐゴシック" pitchFamily="-65" charset="-128"/>
                <a:cs typeface="Times New Roman" panose="02020603050405020304" pitchFamily="18" charset="0"/>
              </a:rPr>
              <a:t>Or, </a:t>
            </a: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it may have an attached Trojan horse program or scripting code that, if run, also installs malware on the user’s system. </a:t>
            </a:r>
          </a:p>
          <a:p>
            <a:pPr lvl="1" algn="just">
              <a:buFont typeface="Courier New" panose="02070309020205020404" pitchFamily="49" charset="0"/>
              <a:buChar char="o"/>
            </a:pP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Spam may be used in a phishing attack, typically directing the user either to a fake website that mirrors some legitimate service, such as an online banking site, where it attempts to capture the user’s login and password details; or to complete some form with sufficient personal details to allow the attacker to impersonate the user in an identity theft. </a:t>
            </a:r>
          </a:p>
        </p:txBody>
      </p:sp>
      <p:sp>
        <p:nvSpPr>
          <p:cNvPr id="5" name="Slide Number Placeholder 4">
            <a:extLst>
              <a:ext uri="{FF2B5EF4-FFF2-40B4-BE49-F238E27FC236}">
                <a16:creationId xmlns:a16="http://schemas.microsoft.com/office/drawing/2014/main" id="{D35E8160-680F-29AC-A7C1-63726956809D}"/>
              </a:ext>
            </a:extLst>
          </p:cNvPr>
          <p:cNvSpPr>
            <a:spLocks noGrp="1"/>
          </p:cNvSpPr>
          <p:nvPr>
            <p:ph type="sldNum" sz="quarter" idx="12"/>
          </p:nvPr>
        </p:nvSpPr>
        <p:spPr/>
        <p:txBody>
          <a:bodyPr/>
          <a:lstStyle/>
          <a:p>
            <a:pPr>
              <a:defRPr/>
            </a:pPr>
            <a:fld id="{0277C623-A6CC-4283-94D7-C9C807FDF6D2}" type="slidenum">
              <a:rPr lang="en-US" altLang="en-PK" smtClean="0"/>
              <a:pPr>
                <a:defRPr/>
              </a:pPr>
              <a:t>29</a:t>
            </a:fld>
            <a:endParaRPr lang="en-US" altLang="en-PK"/>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F2737-7E5F-B59F-CDA0-82688F595338}"/>
              </a:ext>
            </a:extLst>
          </p:cNvPr>
          <p:cNvSpPr>
            <a:spLocks noGrp="1"/>
          </p:cNvSpPr>
          <p:nvPr>
            <p:ph type="title"/>
          </p:nvPr>
        </p:nvSpPr>
        <p:spPr>
          <a:xfrm>
            <a:off x="2274540" y="228601"/>
            <a:ext cx="8229600" cy="981075"/>
          </a:xfrm>
        </p:spPr>
        <p:txBody>
          <a:bodyPr>
            <a:normAutofit fontScale="90000"/>
          </a:bodyPr>
          <a:lstStyle/>
          <a:p>
            <a:pPr eaLnBrk="1" hangingPunct="1">
              <a:defRPr/>
            </a:pPr>
            <a:r>
              <a:rPr lang="en-US" sz="3200" b="1" dirty="0">
                <a:solidFill>
                  <a:schemeClr val="accent1"/>
                </a:solidFill>
              </a:rPr>
              <a:t>Propagation — Social Engineering—</a:t>
            </a:r>
            <a:br>
              <a:rPr lang="en-US" sz="3200" b="1" dirty="0">
                <a:solidFill>
                  <a:schemeClr val="accent1"/>
                </a:solidFill>
              </a:rPr>
            </a:br>
            <a:r>
              <a:rPr lang="en-US" sz="3200" b="1" dirty="0">
                <a:solidFill>
                  <a:schemeClr val="accent1"/>
                </a:solidFill>
              </a:rPr>
              <a:t>Spam E-mail, Trojans</a:t>
            </a:r>
          </a:p>
        </p:txBody>
      </p:sp>
      <p:sp>
        <p:nvSpPr>
          <p:cNvPr id="3" name="Content Placeholder 2" descr="Rectangle: Click to edit Master text styles&#10;Second level&#10;Third level&#10;Fourth level&#10;Fifth level">
            <a:extLst>
              <a:ext uri="{FF2B5EF4-FFF2-40B4-BE49-F238E27FC236}">
                <a16:creationId xmlns:a16="http://schemas.microsoft.com/office/drawing/2014/main" id="{AB5E8465-414E-131B-E5FF-E28BF70172B3}"/>
              </a:ext>
            </a:extLst>
          </p:cNvPr>
          <p:cNvSpPr>
            <a:spLocks noGrp="1"/>
          </p:cNvSpPr>
          <p:nvPr>
            <p:ph idx="1"/>
          </p:nvPr>
        </p:nvSpPr>
        <p:spPr>
          <a:xfrm>
            <a:off x="2152650" y="1600200"/>
            <a:ext cx="8229600" cy="5029200"/>
          </a:xfrm>
        </p:spPr>
        <p:txBody>
          <a:bodyPr>
            <a:normAutofit/>
          </a:bodyPr>
          <a:lstStyle/>
          <a:p>
            <a:pPr marL="0" indent="0" algn="just">
              <a:buNone/>
            </a:pPr>
            <a:r>
              <a:rPr lang="en-US" b="1" dirty="0">
                <a:solidFill>
                  <a:schemeClr val="tx1"/>
                </a:solidFill>
                <a:latin typeface="BemboMTPro-Bold"/>
                <a:ea typeface="ＭＳ Ｐゴシック" pitchFamily="-65" charset="-128"/>
              </a:rPr>
              <a:t>Trojan Horses</a:t>
            </a:r>
          </a:p>
          <a:p>
            <a:pPr algn="just">
              <a:buFont typeface="Courier New" panose="02070309020205020404" pitchFamily="49" charset="0"/>
              <a:buChar char="o"/>
            </a:pPr>
            <a:r>
              <a:rPr lang="en-US" sz="1600" dirty="0">
                <a:solidFill>
                  <a:schemeClr val="tx1"/>
                </a:solidFill>
                <a:latin typeface="Times New Roman" panose="02020603050405020304" pitchFamily="18" charset="0"/>
                <a:ea typeface="ＭＳ Ｐゴシック" pitchFamily="-65" charset="-128"/>
                <a:cs typeface="Times New Roman" panose="02020603050405020304" pitchFamily="18" charset="0"/>
              </a:rPr>
              <a:t> </a:t>
            </a:r>
            <a:r>
              <a:rPr lang="en-US" sz="1600" b="1" i="1" dirty="0">
                <a:solidFill>
                  <a:schemeClr val="tx1"/>
                </a:solidFill>
                <a:latin typeface="Times New Roman" panose="02020603050405020304" pitchFamily="18" charset="0"/>
                <a:ea typeface="ＭＳ Ｐゴシック" pitchFamily="-65" charset="-128"/>
                <a:cs typeface="Times New Roman" panose="02020603050405020304" pitchFamily="18" charset="0"/>
              </a:rPr>
              <a:t>A Trojan is a useful, or apparently useful, program or utility containing hidden code that, when invoked, performs some unwanted or harmful function.</a:t>
            </a:r>
          </a:p>
          <a:p>
            <a:pPr algn="just">
              <a:buFont typeface="Courier New" panose="02070309020205020404" pitchFamily="49" charset="0"/>
              <a:buChar char="o"/>
            </a:pPr>
            <a:r>
              <a:rPr lang="en-US" sz="1600" dirty="0">
                <a:solidFill>
                  <a:schemeClr val="tx1"/>
                </a:solidFill>
                <a:latin typeface="Times New Roman" panose="02020603050405020304" pitchFamily="18" charset="0"/>
                <a:ea typeface="ＭＳ Ｐゴシック" pitchFamily="-65" charset="-128"/>
                <a:cs typeface="Times New Roman" panose="02020603050405020304" pitchFamily="18" charset="0"/>
              </a:rPr>
              <a:t> Trojan horse programs can be used to accomplish functions indirectly that the attacker could not accomplish directly. </a:t>
            </a:r>
          </a:p>
          <a:p>
            <a:pPr lvl="1" algn="just">
              <a:buFont typeface="Courier New" panose="02070309020205020404" pitchFamily="49" charset="0"/>
              <a:buChar char="o"/>
            </a:pPr>
            <a:r>
              <a:rPr lang="en-US" sz="1200" b="1" i="1" dirty="0">
                <a:solidFill>
                  <a:schemeClr val="tx1"/>
                </a:solidFill>
                <a:latin typeface="Times New Roman" panose="02020603050405020304" pitchFamily="18" charset="0"/>
                <a:ea typeface="ＭＳ Ｐゴシック" pitchFamily="-65" charset="-128"/>
                <a:cs typeface="Times New Roman" panose="02020603050405020304" pitchFamily="18" charset="0"/>
              </a:rPr>
              <a:t>For example, to gain access to sensitive, personal information stored in the files of a user, an attacker could create a Trojan horse program that, when executed, scans the user’s files for the desired sensitive information and sends a copy of it to the attacker via a webform or e-mail or text message. </a:t>
            </a:r>
          </a:p>
          <a:p>
            <a:pPr algn="just">
              <a:buFont typeface="Courier New" panose="02070309020205020404" pitchFamily="49" charset="0"/>
              <a:buChar char="o"/>
            </a:pPr>
            <a:r>
              <a:rPr lang="en-US" sz="1600" b="1" dirty="0">
                <a:solidFill>
                  <a:schemeClr val="tx1"/>
                </a:solidFill>
                <a:latin typeface="Times New Roman" panose="02020603050405020304" pitchFamily="18" charset="0"/>
                <a:ea typeface="ＭＳ Ｐゴシック" pitchFamily="-65" charset="-128"/>
                <a:cs typeface="Times New Roman" panose="02020603050405020304" pitchFamily="18" charset="0"/>
              </a:rPr>
              <a:t>Trojan horses fit into one of three models: </a:t>
            </a:r>
          </a:p>
          <a:p>
            <a:pPr lvl="1" algn="just">
              <a:buFont typeface="Courier New" panose="02070309020205020404" pitchFamily="49" charset="0"/>
              <a:buChar char="o"/>
            </a:pP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Continuing to perform the function of the original program and additionally performing a separate malicious activity.</a:t>
            </a:r>
          </a:p>
          <a:p>
            <a:pPr lvl="1" algn="just">
              <a:buFont typeface="Courier New" panose="02070309020205020404" pitchFamily="49" charset="0"/>
              <a:buChar char="o"/>
            </a:pP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Continuing to perform the function of the original program but modifying the function to perform malicious activity (e.g., a Trojan horse version of a login program that collects passwords) </a:t>
            </a:r>
            <a:r>
              <a:rPr lang="en-US" sz="1400" b="1" dirty="0">
                <a:solidFill>
                  <a:schemeClr val="tx1"/>
                </a:solidFill>
                <a:latin typeface="Times New Roman" panose="02020603050405020304" pitchFamily="18" charset="0"/>
                <a:ea typeface="ＭＳ Ｐゴシック" pitchFamily="-65" charset="-128"/>
                <a:cs typeface="Times New Roman" panose="02020603050405020304" pitchFamily="18" charset="0"/>
              </a:rPr>
              <a:t>or</a:t>
            </a: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 to disguise other malicious activity (e.g., a Trojan horse version of a process listing program that does not display certain processes that are malicious).</a:t>
            </a:r>
          </a:p>
          <a:p>
            <a:pPr lvl="1" algn="just">
              <a:buFont typeface="Courier New" panose="02070309020205020404" pitchFamily="49" charset="0"/>
              <a:buChar char="o"/>
            </a:pP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Performing a malicious function that completely replaces the function of the original program. </a:t>
            </a:r>
          </a:p>
        </p:txBody>
      </p:sp>
      <p:sp>
        <p:nvSpPr>
          <p:cNvPr id="5" name="Slide Number Placeholder 4">
            <a:extLst>
              <a:ext uri="{FF2B5EF4-FFF2-40B4-BE49-F238E27FC236}">
                <a16:creationId xmlns:a16="http://schemas.microsoft.com/office/drawing/2014/main" id="{D35E8160-680F-29AC-A7C1-63726956809D}"/>
              </a:ext>
            </a:extLst>
          </p:cNvPr>
          <p:cNvSpPr>
            <a:spLocks noGrp="1"/>
          </p:cNvSpPr>
          <p:nvPr>
            <p:ph type="sldNum" sz="quarter" idx="12"/>
          </p:nvPr>
        </p:nvSpPr>
        <p:spPr/>
        <p:txBody>
          <a:bodyPr/>
          <a:lstStyle/>
          <a:p>
            <a:pPr>
              <a:defRPr/>
            </a:pPr>
            <a:fld id="{0277C623-A6CC-4283-94D7-C9C807FDF6D2}" type="slidenum">
              <a:rPr lang="en-US" altLang="en-PK" smtClean="0"/>
              <a:pPr>
                <a:defRPr/>
              </a:pPr>
              <a:t>30</a:t>
            </a:fld>
            <a:endParaRPr lang="en-US" altLang="en-PK"/>
          </a:p>
        </p:txBody>
      </p:sp>
    </p:spTree>
    <p:extLst>
      <p:ext uri="{BB962C8B-B14F-4D97-AF65-F5344CB8AC3E}">
        <p14:creationId xmlns:p14="http://schemas.microsoft.com/office/powerpoint/2010/main" val="3972026153"/>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F2737-7E5F-B59F-CDA0-82688F595338}"/>
              </a:ext>
            </a:extLst>
          </p:cNvPr>
          <p:cNvSpPr>
            <a:spLocks noGrp="1"/>
          </p:cNvSpPr>
          <p:nvPr>
            <p:ph type="title"/>
          </p:nvPr>
        </p:nvSpPr>
        <p:spPr>
          <a:xfrm>
            <a:off x="2209800" y="421006"/>
            <a:ext cx="8839200" cy="981075"/>
          </a:xfrm>
        </p:spPr>
        <p:txBody>
          <a:bodyPr>
            <a:normAutofit fontScale="90000"/>
          </a:bodyPr>
          <a:lstStyle/>
          <a:p>
            <a:pPr eaLnBrk="1" hangingPunct="1">
              <a:defRPr/>
            </a:pPr>
            <a:r>
              <a:rPr lang="en-US" sz="3200" b="1" dirty="0">
                <a:solidFill>
                  <a:schemeClr val="accent1"/>
                </a:solidFill>
              </a:rPr>
              <a:t>Propagation — Social Engineering—</a:t>
            </a:r>
            <a:br>
              <a:rPr lang="en-US" sz="3200" b="1" dirty="0">
                <a:solidFill>
                  <a:schemeClr val="accent1"/>
                </a:solidFill>
              </a:rPr>
            </a:br>
            <a:r>
              <a:rPr lang="en-US" sz="3200" b="1" dirty="0">
                <a:solidFill>
                  <a:schemeClr val="accent1"/>
                </a:solidFill>
              </a:rPr>
              <a:t>Spam E-mail, Trojans</a:t>
            </a:r>
          </a:p>
        </p:txBody>
      </p:sp>
      <p:sp>
        <p:nvSpPr>
          <p:cNvPr id="3" name="Content Placeholder 2" descr="Rectangle: Click to edit Master text styles&#10;Second level&#10;Third level&#10;Fourth level&#10;Fifth level">
            <a:extLst>
              <a:ext uri="{FF2B5EF4-FFF2-40B4-BE49-F238E27FC236}">
                <a16:creationId xmlns:a16="http://schemas.microsoft.com/office/drawing/2014/main" id="{AB5E8465-414E-131B-E5FF-E28BF70172B3}"/>
              </a:ext>
            </a:extLst>
          </p:cNvPr>
          <p:cNvSpPr>
            <a:spLocks noGrp="1"/>
          </p:cNvSpPr>
          <p:nvPr>
            <p:ph idx="1"/>
          </p:nvPr>
        </p:nvSpPr>
        <p:spPr>
          <a:xfrm>
            <a:off x="2152650" y="1828800"/>
            <a:ext cx="8229600" cy="4608195"/>
          </a:xfrm>
        </p:spPr>
        <p:txBody>
          <a:bodyPr>
            <a:normAutofit/>
          </a:bodyPr>
          <a:lstStyle/>
          <a:p>
            <a:pPr marL="0" indent="0" algn="just">
              <a:buNone/>
            </a:pPr>
            <a:r>
              <a:rPr lang="en-US" b="1" dirty="0">
                <a:solidFill>
                  <a:schemeClr val="tx1"/>
                </a:solidFill>
                <a:ea typeface="ＭＳ Ｐゴシック" pitchFamily="-65" charset="-128"/>
              </a:rPr>
              <a:t>Mobile Phone Trojan</a:t>
            </a:r>
          </a:p>
          <a:p>
            <a:pPr algn="just">
              <a:buFont typeface="Courier New" panose="02070309020205020404" pitchFamily="49" charset="0"/>
              <a:buChar char="o"/>
            </a:pP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 Mobile phone Trojans also first appeared in 2004 with the discovery of </a:t>
            </a:r>
            <a:r>
              <a:rPr lang="en-US" sz="1400" dirty="0" err="1">
                <a:solidFill>
                  <a:schemeClr val="tx1"/>
                </a:solidFill>
                <a:latin typeface="Times New Roman" panose="02020603050405020304" pitchFamily="18" charset="0"/>
                <a:ea typeface="ＭＳ Ｐゴシック" pitchFamily="-65" charset="-128"/>
                <a:cs typeface="Times New Roman" panose="02020603050405020304" pitchFamily="18" charset="0"/>
              </a:rPr>
              <a:t>Skuller</a:t>
            </a: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 </a:t>
            </a:r>
          </a:p>
          <a:p>
            <a:pPr algn="just">
              <a:buFont typeface="Courier New" panose="02070309020205020404" pitchFamily="49" charset="0"/>
              <a:buChar char="o"/>
            </a:pP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As with mobile worms, the target is the smartphone, and the early mobile Trojans targeted Symbian phones.</a:t>
            </a:r>
          </a:p>
          <a:p>
            <a:pPr algn="just">
              <a:buFont typeface="Courier New" panose="02070309020205020404" pitchFamily="49" charset="0"/>
              <a:buChar char="o"/>
            </a:pP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More recently, a significant number of Trojans have been detected that target Android phones and Apple iPhones. These Trojans are usually distributed via one or more of the app marketplaces for the target phone O/S.</a:t>
            </a:r>
          </a:p>
          <a:p>
            <a:pPr algn="just">
              <a:buFont typeface="Courier New" panose="02070309020205020404" pitchFamily="49" charset="0"/>
              <a:buChar char="o"/>
            </a:pP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The rapid growth in smartphone sales and use, which increasingly contain valuable personal information, make them an attractive target for criminals and other attackers</a:t>
            </a:r>
          </a:p>
          <a:p>
            <a:pPr algn="just">
              <a:buFont typeface="Courier New" panose="02070309020205020404" pitchFamily="49" charset="0"/>
              <a:buChar char="o"/>
            </a:pP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Recent examples include a phishing Trojan that tricks the user into entering their banking details, and ransomware that mimics Google’s design style to appear more legitimate and intimidating. </a:t>
            </a:r>
          </a:p>
          <a:p>
            <a:pPr algn="just">
              <a:buFont typeface="Courier New" panose="02070309020205020404" pitchFamily="49" charset="0"/>
              <a:buChar char="o"/>
            </a:pP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 More recently in 2015, </a:t>
            </a:r>
            <a:r>
              <a:rPr lang="en-US" sz="1400" dirty="0" err="1">
                <a:solidFill>
                  <a:schemeClr val="tx1"/>
                </a:solidFill>
                <a:latin typeface="Times New Roman" panose="02020603050405020304" pitchFamily="18" charset="0"/>
                <a:ea typeface="ＭＳ Ｐゴシック" pitchFamily="-65" charset="-128"/>
                <a:cs typeface="Times New Roman" panose="02020603050405020304" pitchFamily="18" charset="0"/>
              </a:rPr>
              <a:t>XcodeGhost</a:t>
            </a: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 malware was discovered in a number of legitimate Apple Store apps. </a:t>
            </a:r>
          </a:p>
          <a:p>
            <a:pPr algn="just">
              <a:buFont typeface="Courier New" panose="02070309020205020404" pitchFamily="49" charset="0"/>
              <a:buChar char="o"/>
            </a:pP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The apps were not intentionally designed to be malicious, but their developers used a compromised </a:t>
            </a:r>
            <a:r>
              <a:rPr lang="en-US" sz="1400" dirty="0" err="1">
                <a:solidFill>
                  <a:schemeClr val="tx1"/>
                </a:solidFill>
                <a:latin typeface="Times New Roman" panose="02020603050405020304" pitchFamily="18" charset="0"/>
                <a:ea typeface="ＭＳ Ｐゴシック" pitchFamily="-65" charset="-128"/>
                <a:cs typeface="Times New Roman" panose="02020603050405020304" pitchFamily="18" charset="0"/>
              </a:rPr>
              <a:t>Xcode</a:t>
            </a: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 development system that covertly installed the malware as the apps were created [SYMA16]. </a:t>
            </a:r>
          </a:p>
          <a:p>
            <a:pPr algn="just">
              <a:buFont typeface="Courier New" panose="02070309020205020404" pitchFamily="49" charset="0"/>
              <a:buChar char="o"/>
            </a:pPr>
            <a:r>
              <a:rPr lang="en-US" sz="1400" dirty="0">
                <a:solidFill>
                  <a:schemeClr val="tx1"/>
                </a:solidFill>
                <a:latin typeface="Times New Roman" panose="02020603050405020304" pitchFamily="18" charset="0"/>
                <a:ea typeface="ＭＳ Ｐゴシック" pitchFamily="-65" charset="-128"/>
                <a:cs typeface="Times New Roman" panose="02020603050405020304" pitchFamily="18" charset="0"/>
              </a:rPr>
              <a:t>This is one of several examples of attackers exploiting the development or enterprise provisioning infrastructure to assist malware distribution.</a:t>
            </a:r>
          </a:p>
        </p:txBody>
      </p:sp>
      <p:sp>
        <p:nvSpPr>
          <p:cNvPr id="5" name="Slide Number Placeholder 4">
            <a:extLst>
              <a:ext uri="{FF2B5EF4-FFF2-40B4-BE49-F238E27FC236}">
                <a16:creationId xmlns:a16="http://schemas.microsoft.com/office/drawing/2014/main" id="{D35E8160-680F-29AC-A7C1-63726956809D}"/>
              </a:ext>
            </a:extLst>
          </p:cNvPr>
          <p:cNvSpPr>
            <a:spLocks noGrp="1"/>
          </p:cNvSpPr>
          <p:nvPr>
            <p:ph type="sldNum" sz="quarter" idx="12"/>
          </p:nvPr>
        </p:nvSpPr>
        <p:spPr/>
        <p:txBody>
          <a:bodyPr/>
          <a:lstStyle/>
          <a:p>
            <a:pPr>
              <a:defRPr/>
            </a:pPr>
            <a:fld id="{0277C623-A6CC-4283-94D7-C9C807FDF6D2}" type="slidenum">
              <a:rPr lang="en-US" altLang="en-PK" smtClean="0"/>
              <a:pPr>
                <a:defRPr/>
              </a:pPr>
              <a:t>31</a:t>
            </a:fld>
            <a:endParaRPr lang="en-US" altLang="en-PK"/>
          </a:p>
        </p:txBody>
      </p:sp>
    </p:spTree>
    <p:extLst>
      <p:ext uri="{BB962C8B-B14F-4D97-AF65-F5344CB8AC3E}">
        <p14:creationId xmlns:p14="http://schemas.microsoft.com/office/powerpoint/2010/main" val="1839497299"/>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p:cNvGraphicFramePr/>
          <p:nvPr/>
        </p:nvGraphicFramePr>
        <p:xfrm>
          <a:off x="1775520" y="1700808"/>
          <a:ext cx="8712968" cy="48523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p:txBody>
          <a:bodyPr wrap="square" numCol="1" anchorCtr="0" compatLnSpc="1">
            <a:prstTxWarp prst="textNoShape">
              <a:avLst/>
            </a:prstTxWarp>
            <a:normAutofit/>
          </a:bodyPr>
          <a:lstStyle/>
          <a:p>
            <a:pPr eaLnBrk="1" hangingPunct="1"/>
            <a:r>
              <a:rPr lang="en-US" sz="4300" dirty="0">
                <a:solidFill>
                  <a:schemeClr val="accent6">
                    <a:lumMod val="40000"/>
                    <a:lumOff val="60000"/>
                  </a:schemeClr>
                </a:solidFill>
                <a:effectLst/>
                <a:ea typeface="ＭＳ Ｐゴシック" pitchFamily="-65" charset="-128"/>
              </a:rPr>
              <a:t>Payload</a:t>
            </a:r>
            <a:br>
              <a:rPr lang="en-US" sz="4300" dirty="0">
                <a:solidFill>
                  <a:schemeClr val="accent6">
                    <a:lumMod val="40000"/>
                    <a:lumOff val="60000"/>
                  </a:schemeClr>
                </a:solidFill>
                <a:effectLst/>
                <a:ea typeface="ＭＳ Ｐゴシック" pitchFamily="-65" charset="-128"/>
              </a:rPr>
            </a:br>
            <a:r>
              <a:rPr lang="en-US" sz="4300" dirty="0">
                <a:solidFill>
                  <a:schemeClr val="accent6">
                    <a:lumMod val="40000"/>
                    <a:lumOff val="60000"/>
                  </a:schemeClr>
                </a:solidFill>
                <a:effectLst/>
                <a:ea typeface="ＭＳ Ｐゴシック" pitchFamily="-65" charset="-128"/>
              </a:rPr>
              <a:t>System Corruption</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p:cNvGraphicFramePr/>
          <p:nvPr/>
        </p:nvGraphicFramePr>
        <p:xfrm>
          <a:off x="1775520" y="1700808"/>
          <a:ext cx="8712968" cy="48523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p:txBody>
          <a:bodyPr wrap="square" numCol="1" anchorCtr="0" compatLnSpc="1">
            <a:prstTxWarp prst="textNoShape">
              <a:avLst/>
            </a:prstTxWarp>
            <a:normAutofit/>
          </a:bodyPr>
          <a:lstStyle/>
          <a:p>
            <a:pPr eaLnBrk="1" hangingPunct="1"/>
            <a:r>
              <a:rPr lang="en-US" sz="4300" dirty="0">
                <a:solidFill>
                  <a:schemeClr val="accent6">
                    <a:lumMod val="40000"/>
                    <a:lumOff val="60000"/>
                  </a:schemeClr>
                </a:solidFill>
                <a:effectLst/>
                <a:ea typeface="ＭＳ Ｐゴシック" pitchFamily="-65" charset="-128"/>
              </a:rPr>
              <a:t>Payload</a:t>
            </a:r>
            <a:br>
              <a:rPr lang="en-US" sz="4300" dirty="0">
                <a:solidFill>
                  <a:schemeClr val="accent6">
                    <a:lumMod val="40000"/>
                    <a:lumOff val="60000"/>
                  </a:schemeClr>
                </a:solidFill>
                <a:effectLst/>
                <a:ea typeface="ＭＳ Ｐゴシック" pitchFamily="-65" charset="-128"/>
              </a:rPr>
            </a:br>
            <a:r>
              <a:rPr lang="en-US" sz="4300" dirty="0">
                <a:solidFill>
                  <a:schemeClr val="accent6">
                    <a:lumMod val="40000"/>
                    <a:lumOff val="60000"/>
                  </a:schemeClr>
                </a:solidFill>
                <a:effectLst/>
                <a:ea typeface="ＭＳ Ｐゴシック" pitchFamily="-65" charset="-128"/>
              </a:rPr>
              <a:t>System Corruption</a:t>
            </a: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124744"/>
          </a:xfrm>
        </p:spPr>
        <p:txBody>
          <a:bodyPr/>
          <a:lstStyle/>
          <a:p>
            <a:r>
              <a:rPr lang="en-US" dirty="0">
                <a:solidFill>
                  <a:schemeClr val="accent6">
                    <a:lumMod val="40000"/>
                    <a:lumOff val="60000"/>
                  </a:schemeClr>
                </a:solidFill>
              </a:rPr>
              <a:t>Ransomware</a:t>
            </a:r>
          </a:p>
        </p:txBody>
      </p:sp>
      <p:sp>
        <p:nvSpPr>
          <p:cNvPr id="3" name="Content Placeholder 2"/>
          <p:cNvSpPr>
            <a:spLocks noGrp="1"/>
          </p:cNvSpPr>
          <p:nvPr>
            <p:ph idx="1"/>
          </p:nvPr>
        </p:nvSpPr>
        <p:spPr/>
        <p:txBody>
          <a:bodyPr/>
          <a:lstStyle/>
          <a:p>
            <a:pPr>
              <a:buClr>
                <a:schemeClr val="accent6">
                  <a:lumMod val="60000"/>
                  <a:lumOff val="40000"/>
                </a:schemeClr>
              </a:buClr>
              <a:buSzPct val="140000"/>
            </a:pPr>
            <a:r>
              <a:rPr lang="en-US" dirty="0" err="1"/>
              <a:t>WannaCry</a:t>
            </a:r>
            <a:endParaRPr lang="en-US" dirty="0"/>
          </a:p>
          <a:p>
            <a:pPr lvl="2">
              <a:buClr>
                <a:schemeClr val="accent6">
                  <a:lumMod val="60000"/>
                  <a:lumOff val="40000"/>
                </a:schemeClr>
              </a:buClr>
              <a:buSzPct val="140000"/>
            </a:pPr>
            <a:r>
              <a:rPr lang="en-US" dirty="0"/>
              <a:t>Infected a large number of systems in many countries in May 2017</a:t>
            </a:r>
          </a:p>
          <a:p>
            <a:pPr lvl="2">
              <a:buClr>
                <a:schemeClr val="accent6">
                  <a:lumMod val="60000"/>
                  <a:lumOff val="40000"/>
                </a:schemeClr>
              </a:buClr>
              <a:buSzPct val="140000"/>
            </a:pPr>
            <a:r>
              <a:rPr lang="en-US" dirty="0"/>
              <a:t>When installed on infected systems, it encrypted a large number of files and then demanded a ransom payment in Bitcoins to recover them</a:t>
            </a:r>
          </a:p>
          <a:p>
            <a:pPr lvl="2">
              <a:buClr>
                <a:schemeClr val="accent6">
                  <a:lumMod val="60000"/>
                  <a:lumOff val="40000"/>
                </a:schemeClr>
              </a:buClr>
              <a:buSzPct val="140000"/>
            </a:pPr>
            <a:r>
              <a:rPr lang="en-US" dirty="0"/>
              <a:t>Recovery of this information was generally only possible if the organization had good backups and an appropriate incident response and disaster recovery plan</a:t>
            </a:r>
          </a:p>
          <a:p>
            <a:pPr lvl="2">
              <a:buClr>
                <a:schemeClr val="accent6">
                  <a:lumMod val="60000"/>
                  <a:lumOff val="40000"/>
                </a:schemeClr>
              </a:buClr>
              <a:buSzPct val="140000"/>
            </a:pPr>
            <a:r>
              <a:rPr lang="en-US" dirty="0"/>
              <a:t>Targets widened beyond personal computer systems to include mobile devices and Linux servers</a:t>
            </a:r>
          </a:p>
          <a:p>
            <a:pPr lvl="2">
              <a:buClr>
                <a:schemeClr val="accent6">
                  <a:lumMod val="60000"/>
                  <a:lumOff val="40000"/>
                </a:schemeClr>
              </a:buClr>
              <a:buSzPct val="140000"/>
            </a:pPr>
            <a:r>
              <a:rPr lang="en-US" dirty="0"/>
              <a:t>Tactics such as threatening to publish sensitive personal information, or to permanently destroy the encryption key after a short period of time, are sometimes used to increase the pressure on the victim to pay up</a:t>
            </a:r>
          </a:p>
        </p:txBody>
      </p:sp>
    </p:spTree>
    <p:extLst>
      <p:ext uri="{BB962C8B-B14F-4D97-AF65-F5344CB8AC3E}">
        <p14:creationId xmlns:p14="http://schemas.microsoft.com/office/powerpoint/2010/main" val="1399360319"/>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numCol="1" anchorCtr="0" compatLnSpc="1">
            <a:prstTxWarp prst="textNoShape">
              <a:avLst/>
            </a:prstTxWarp>
            <a:normAutofit/>
          </a:bodyPr>
          <a:lstStyle/>
          <a:p>
            <a:r>
              <a:rPr lang="en-US" dirty="0">
                <a:solidFill>
                  <a:schemeClr val="accent6">
                    <a:lumMod val="40000"/>
                    <a:lumOff val="60000"/>
                  </a:schemeClr>
                </a:solidFill>
              </a:rPr>
              <a:t>Payload</a:t>
            </a:r>
            <a:br>
              <a:rPr lang="en-US" dirty="0">
                <a:solidFill>
                  <a:schemeClr val="accent6">
                    <a:lumMod val="40000"/>
                    <a:lumOff val="60000"/>
                  </a:schemeClr>
                </a:solidFill>
              </a:rPr>
            </a:br>
            <a:r>
              <a:rPr lang="en-US" dirty="0">
                <a:solidFill>
                  <a:schemeClr val="accent6">
                    <a:lumMod val="40000"/>
                    <a:lumOff val="60000"/>
                  </a:schemeClr>
                </a:solidFill>
              </a:rPr>
              <a:t>System Corruption</a:t>
            </a:r>
          </a:p>
        </p:txBody>
      </p:sp>
      <p:sp>
        <p:nvSpPr>
          <p:cNvPr id="3" name="Content Placeholder 2"/>
          <p:cNvSpPr>
            <a:spLocks noGrp="1"/>
          </p:cNvSpPr>
          <p:nvPr>
            <p:ph idx="1"/>
          </p:nvPr>
        </p:nvSpPr>
        <p:spPr>
          <a:xfrm>
            <a:off x="1981200" y="2057400"/>
            <a:ext cx="8229600" cy="5044008"/>
          </a:xfrm>
        </p:spPr>
        <p:txBody>
          <a:bodyPr wrap="square" numCol="1" anchor="t" anchorCtr="0" compatLnSpc="1">
            <a:prstTxWarp prst="textNoShape">
              <a:avLst/>
            </a:prstTxWarp>
          </a:bodyPr>
          <a:lstStyle/>
          <a:p>
            <a:pPr eaLnBrk="1" hangingPunct="1">
              <a:buClr>
                <a:schemeClr val="accent6">
                  <a:lumMod val="60000"/>
                  <a:lumOff val="40000"/>
                </a:schemeClr>
              </a:buClr>
              <a:buFont typeface="Arial" charset="0"/>
              <a:buChar char="•"/>
            </a:pPr>
            <a:r>
              <a:rPr lang="en-US" sz="2800" dirty="0">
                <a:latin typeface="+mn-lt"/>
                <a:ea typeface="ＭＳ Ｐゴシック" pitchFamily="-65" charset="-128"/>
              </a:rPr>
              <a:t>Real-world damage</a:t>
            </a:r>
          </a:p>
          <a:p>
            <a:pPr lvl="2" eaLnBrk="1" hangingPunct="1">
              <a:buClr>
                <a:schemeClr val="accent6">
                  <a:lumMod val="60000"/>
                  <a:lumOff val="40000"/>
                </a:schemeClr>
              </a:buClr>
              <a:buFont typeface="Arial" charset="0"/>
              <a:buChar char="•"/>
            </a:pPr>
            <a:r>
              <a:rPr lang="en-US" sz="2000" dirty="0">
                <a:latin typeface="+mn-lt"/>
                <a:ea typeface="ＭＳ Ｐゴシック" pitchFamily="-65" charset="-128"/>
              </a:rPr>
              <a:t>Causes damage to physical equipment</a:t>
            </a:r>
          </a:p>
          <a:p>
            <a:pPr lvl="3" eaLnBrk="1" hangingPunct="1">
              <a:buClr>
                <a:schemeClr val="accent6">
                  <a:lumMod val="60000"/>
                  <a:lumOff val="40000"/>
                </a:schemeClr>
              </a:buClr>
              <a:buFont typeface="Arial" charset="0"/>
              <a:buChar char="•"/>
            </a:pPr>
            <a:r>
              <a:rPr lang="en-US" sz="1800" dirty="0">
                <a:latin typeface="+mn-lt"/>
                <a:ea typeface="ＭＳ Ｐゴシック" pitchFamily="-65" charset="-128"/>
              </a:rPr>
              <a:t>Chernobyl virus rewrites BIOS code</a:t>
            </a:r>
          </a:p>
          <a:p>
            <a:pPr lvl="2">
              <a:buClr>
                <a:schemeClr val="accent6">
                  <a:lumMod val="60000"/>
                  <a:lumOff val="40000"/>
                </a:schemeClr>
              </a:buClr>
              <a:buFont typeface="Arial" charset="0"/>
              <a:buChar char="•"/>
            </a:pPr>
            <a:r>
              <a:rPr lang="en-US" sz="2000" dirty="0" err="1">
                <a:latin typeface="+mn-lt"/>
                <a:ea typeface="ＭＳ Ｐゴシック" pitchFamily="-65" charset="-128"/>
              </a:rPr>
              <a:t>Stuxnet</a:t>
            </a:r>
            <a:r>
              <a:rPr lang="en-US" sz="2000" dirty="0">
                <a:latin typeface="+mn-lt"/>
                <a:ea typeface="ＭＳ Ｐゴシック" pitchFamily="-65" charset="-128"/>
              </a:rPr>
              <a:t> worm</a:t>
            </a:r>
          </a:p>
          <a:p>
            <a:pPr lvl="3" eaLnBrk="1" hangingPunct="1">
              <a:buClr>
                <a:schemeClr val="accent6">
                  <a:lumMod val="60000"/>
                  <a:lumOff val="40000"/>
                </a:schemeClr>
              </a:buClr>
              <a:buFont typeface="Arial" charset="0"/>
              <a:buChar char="•"/>
            </a:pPr>
            <a:r>
              <a:rPr lang="en-US" sz="1800" dirty="0">
                <a:latin typeface="+mn-lt"/>
                <a:ea typeface="ＭＳ Ｐゴシック" pitchFamily="-65" charset="-128"/>
              </a:rPr>
              <a:t>Targets specific industrial control system software</a:t>
            </a:r>
          </a:p>
          <a:p>
            <a:pPr lvl="2">
              <a:buClr>
                <a:schemeClr val="accent6">
                  <a:lumMod val="60000"/>
                  <a:lumOff val="40000"/>
                </a:schemeClr>
              </a:buClr>
              <a:buFont typeface="Arial" charset="0"/>
              <a:buChar char="•"/>
            </a:pPr>
            <a:r>
              <a:rPr lang="en-US" sz="2000" dirty="0">
                <a:latin typeface="+mn-lt"/>
                <a:ea typeface="ＭＳ Ｐゴシック" pitchFamily="-65" charset="-128"/>
              </a:rPr>
              <a:t>There are concerns about using sophisticated targeted malware for  industrial sabotage</a:t>
            </a:r>
          </a:p>
          <a:p>
            <a:pPr marL="457200" lvl="2" indent="-457200">
              <a:spcBef>
                <a:spcPts val="2000"/>
              </a:spcBef>
              <a:buClr>
                <a:schemeClr val="accent6">
                  <a:lumMod val="60000"/>
                  <a:lumOff val="40000"/>
                </a:schemeClr>
              </a:buClr>
              <a:buFont typeface="Arial" charset="0"/>
              <a:buChar char="•"/>
            </a:pPr>
            <a:r>
              <a:rPr lang="en-US" sz="2800" dirty="0">
                <a:latin typeface="+mn-lt"/>
                <a:ea typeface="ＭＳ Ｐゴシック" pitchFamily="-65" charset="-128"/>
                <a:cs typeface="ＭＳ Ｐゴシック" pitchFamily="-110" charset="-128"/>
              </a:rPr>
              <a:t>Logic bomb</a:t>
            </a:r>
          </a:p>
          <a:p>
            <a:pPr lvl="2" eaLnBrk="1" hangingPunct="1">
              <a:buClr>
                <a:schemeClr val="accent6">
                  <a:lumMod val="60000"/>
                  <a:lumOff val="40000"/>
                </a:schemeClr>
              </a:buClr>
              <a:buFont typeface="Arial" charset="0"/>
              <a:buChar char="•"/>
            </a:pPr>
            <a:r>
              <a:rPr lang="en-US" sz="2000" dirty="0">
                <a:latin typeface="+mn-lt"/>
                <a:ea typeface="ＭＳ Ｐゴシック" pitchFamily="-65" charset="-128"/>
              </a:rPr>
              <a:t>Code embedded in the malware that is set to “explode” when certain conditions are met</a:t>
            </a: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a:xfrm>
            <a:off x="1991544" y="188640"/>
            <a:ext cx="8229600" cy="1600200"/>
          </a:xfrm>
        </p:spPr>
        <p:txBody>
          <a:bodyPr wrap="square" numCol="1" anchorCtr="0" compatLnSpc="1">
            <a:prstTxWarp prst="textNoShape">
              <a:avLst/>
            </a:prstTxWarp>
            <a:normAutofit/>
          </a:bodyPr>
          <a:lstStyle/>
          <a:p>
            <a:pPr eaLnBrk="1" hangingPunct="1"/>
            <a:r>
              <a:rPr lang="en-US" dirty="0">
                <a:solidFill>
                  <a:schemeClr val="accent6">
                    <a:lumMod val="40000"/>
                    <a:lumOff val="60000"/>
                  </a:schemeClr>
                </a:solidFill>
              </a:rPr>
              <a:t>Payload – Attack Agents</a:t>
            </a:r>
            <a:br>
              <a:rPr lang="en-US" dirty="0">
                <a:solidFill>
                  <a:schemeClr val="accent6">
                    <a:lumMod val="40000"/>
                    <a:lumOff val="60000"/>
                  </a:schemeClr>
                </a:solidFill>
              </a:rPr>
            </a:br>
            <a:r>
              <a:rPr lang="en-US" dirty="0">
                <a:solidFill>
                  <a:schemeClr val="accent6">
                    <a:lumMod val="40000"/>
                    <a:lumOff val="60000"/>
                  </a:schemeClr>
                </a:solidFill>
              </a:rPr>
              <a:t>Bots</a:t>
            </a:r>
          </a:p>
        </p:txBody>
      </p:sp>
      <p:sp>
        <p:nvSpPr>
          <p:cNvPr id="253955" name="Rectangle 3"/>
          <p:cNvSpPr>
            <a:spLocks noGrp="1" noChangeArrowheads="1"/>
          </p:cNvSpPr>
          <p:nvPr>
            <p:ph idx="1"/>
          </p:nvPr>
        </p:nvSpPr>
        <p:spPr>
          <a:xfrm>
            <a:off x="1981200" y="2057400"/>
            <a:ext cx="8229600" cy="4572000"/>
          </a:xfrm>
        </p:spPr>
        <p:txBody>
          <a:bodyPr wrap="square" numCol="1" anchor="t" anchorCtr="0" compatLnSpc="1">
            <a:prstTxWarp prst="textNoShape">
              <a:avLst/>
            </a:prstTxWarp>
          </a:bodyPr>
          <a:lstStyle/>
          <a:p>
            <a:pPr>
              <a:lnSpc>
                <a:spcPct val="70000"/>
              </a:lnSpc>
              <a:spcAft>
                <a:spcPts val="600"/>
              </a:spcAft>
              <a:buClr>
                <a:schemeClr val="accent6">
                  <a:lumMod val="60000"/>
                  <a:lumOff val="40000"/>
                </a:schemeClr>
              </a:buClr>
              <a:buSzPct val="140000"/>
            </a:pPr>
            <a:r>
              <a:rPr lang="en-US" sz="2200" dirty="0">
                <a:latin typeface="+mn-lt"/>
                <a:ea typeface="ＭＳ Ｐゴシック" pitchFamily="-65" charset="-128"/>
              </a:rPr>
              <a:t>Takes over another Internet attached computer and uses that computer to launch or manage attacks</a:t>
            </a:r>
          </a:p>
          <a:p>
            <a:pPr>
              <a:lnSpc>
                <a:spcPct val="70000"/>
              </a:lnSpc>
              <a:spcAft>
                <a:spcPts val="600"/>
              </a:spcAft>
              <a:buClr>
                <a:schemeClr val="accent6">
                  <a:lumMod val="60000"/>
                  <a:lumOff val="40000"/>
                </a:schemeClr>
              </a:buClr>
              <a:buSzPct val="140000"/>
            </a:pPr>
            <a:r>
              <a:rPr lang="en-US" sz="2200" i="1" dirty="0">
                <a:latin typeface="+mn-lt"/>
                <a:ea typeface="ＭＳ Ｐゴシック" pitchFamily="-65" charset="-128"/>
              </a:rPr>
              <a:t>Botnet</a:t>
            </a:r>
            <a:r>
              <a:rPr lang="en-US" sz="2200" dirty="0">
                <a:latin typeface="+mn-lt"/>
                <a:ea typeface="ＭＳ Ｐゴシック" pitchFamily="-65" charset="-128"/>
              </a:rPr>
              <a:t> - collection of bots capable of acting in a coordinated manner</a:t>
            </a:r>
          </a:p>
          <a:p>
            <a:pPr>
              <a:lnSpc>
                <a:spcPct val="70000"/>
              </a:lnSpc>
              <a:spcAft>
                <a:spcPts val="600"/>
              </a:spcAft>
              <a:buClr>
                <a:schemeClr val="accent6">
                  <a:lumMod val="60000"/>
                  <a:lumOff val="40000"/>
                </a:schemeClr>
              </a:buClr>
              <a:buSzPct val="140000"/>
            </a:pPr>
            <a:r>
              <a:rPr lang="en-US" sz="2200" dirty="0">
                <a:latin typeface="+mn-lt"/>
                <a:ea typeface="ＭＳ Ｐゴシック" pitchFamily="-65" charset="-128"/>
              </a:rPr>
              <a:t>Uses:</a:t>
            </a:r>
          </a:p>
          <a:p>
            <a:pPr lvl="2">
              <a:lnSpc>
                <a:spcPct val="70000"/>
              </a:lnSpc>
              <a:spcAft>
                <a:spcPts val="600"/>
              </a:spcAft>
              <a:buClr>
                <a:schemeClr val="accent6">
                  <a:lumMod val="60000"/>
                  <a:lumOff val="40000"/>
                </a:schemeClr>
              </a:buClr>
              <a:buSzPct val="140000"/>
            </a:pPr>
            <a:r>
              <a:rPr lang="en-US" sz="1900" dirty="0">
                <a:latin typeface="+mn-lt"/>
                <a:ea typeface="ＭＳ Ｐゴシック" pitchFamily="-65" charset="-128"/>
              </a:rPr>
              <a:t>Distributed denial-of-service (</a:t>
            </a:r>
            <a:r>
              <a:rPr lang="en-US" sz="1900" dirty="0" err="1">
                <a:latin typeface="+mn-lt"/>
                <a:ea typeface="ＭＳ Ｐゴシック" pitchFamily="-65" charset="-128"/>
              </a:rPr>
              <a:t>DDoS</a:t>
            </a:r>
            <a:r>
              <a:rPr lang="en-US" sz="1900" dirty="0">
                <a:latin typeface="+mn-lt"/>
                <a:ea typeface="ＭＳ Ｐゴシック" pitchFamily="-65" charset="-128"/>
              </a:rPr>
              <a:t>) attacks</a:t>
            </a:r>
          </a:p>
          <a:p>
            <a:pPr lvl="2">
              <a:lnSpc>
                <a:spcPct val="70000"/>
              </a:lnSpc>
              <a:spcAft>
                <a:spcPts val="600"/>
              </a:spcAft>
              <a:buClr>
                <a:schemeClr val="accent6">
                  <a:lumMod val="60000"/>
                  <a:lumOff val="40000"/>
                </a:schemeClr>
              </a:buClr>
              <a:buSzPct val="140000"/>
            </a:pPr>
            <a:r>
              <a:rPr lang="en-US" sz="1900" dirty="0">
                <a:latin typeface="+mn-lt"/>
                <a:ea typeface="ＭＳ Ｐゴシック" pitchFamily="-65" charset="-128"/>
              </a:rPr>
              <a:t>Spamming</a:t>
            </a:r>
          </a:p>
          <a:p>
            <a:pPr lvl="2">
              <a:lnSpc>
                <a:spcPct val="70000"/>
              </a:lnSpc>
              <a:spcAft>
                <a:spcPts val="600"/>
              </a:spcAft>
              <a:buClr>
                <a:schemeClr val="accent6">
                  <a:lumMod val="60000"/>
                  <a:lumOff val="40000"/>
                </a:schemeClr>
              </a:buClr>
              <a:buSzPct val="140000"/>
            </a:pPr>
            <a:r>
              <a:rPr lang="en-US" sz="1900" dirty="0">
                <a:latin typeface="+mn-lt"/>
                <a:ea typeface="ＭＳ Ｐゴシック" pitchFamily="-65" charset="-128"/>
              </a:rPr>
              <a:t>Sniffing traffic</a:t>
            </a:r>
          </a:p>
          <a:p>
            <a:pPr lvl="2">
              <a:lnSpc>
                <a:spcPct val="70000"/>
              </a:lnSpc>
              <a:spcAft>
                <a:spcPts val="600"/>
              </a:spcAft>
              <a:buClr>
                <a:schemeClr val="accent6">
                  <a:lumMod val="60000"/>
                  <a:lumOff val="40000"/>
                </a:schemeClr>
              </a:buClr>
              <a:buSzPct val="140000"/>
            </a:pPr>
            <a:r>
              <a:rPr lang="en-US" sz="1900" dirty="0" err="1">
                <a:latin typeface="+mn-lt"/>
                <a:ea typeface="ＭＳ Ｐゴシック" pitchFamily="-65" charset="-128"/>
              </a:rPr>
              <a:t>Keylogging</a:t>
            </a:r>
            <a:endParaRPr lang="en-US" sz="1900" dirty="0">
              <a:latin typeface="+mn-lt"/>
              <a:ea typeface="ＭＳ Ｐゴシック" pitchFamily="-65" charset="-128"/>
            </a:endParaRPr>
          </a:p>
          <a:p>
            <a:pPr lvl="2">
              <a:lnSpc>
                <a:spcPct val="70000"/>
              </a:lnSpc>
              <a:spcAft>
                <a:spcPts val="600"/>
              </a:spcAft>
              <a:buClr>
                <a:schemeClr val="accent6">
                  <a:lumMod val="60000"/>
                  <a:lumOff val="40000"/>
                </a:schemeClr>
              </a:buClr>
              <a:buSzPct val="140000"/>
            </a:pPr>
            <a:r>
              <a:rPr lang="en-US" sz="1900" dirty="0">
                <a:latin typeface="+mn-lt"/>
                <a:ea typeface="ＭＳ Ｐゴシック" pitchFamily="-65" charset="-128"/>
              </a:rPr>
              <a:t>Spreading new malware</a:t>
            </a:r>
          </a:p>
          <a:p>
            <a:pPr lvl="2">
              <a:lnSpc>
                <a:spcPct val="70000"/>
              </a:lnSpc>
              <a:spcAft>
                <a:spcPts val="600"/>
              </a:spcAft>
              <a:buClr>
                <a:schemeClr val="accent6">
                  <a:lumMod val="60000"/>
                  <a:lumOff val="40000"/>
                </a:schemeClr>
              </a:buClr>
              <a:buSzPct val="140000"/>
            </a:pPr>
            <a:r>
              <a:rPr lang="en-US" sz="1900" dirty="0">
                <a:latin typeface="+mn-lt"/>
                <a:ea typeface="ＭＳ Ｐゴシック" pitchFamily="-65" charset="-128"/>
              </a:rPr>
              <a:t>Installing advertisement add-ons and browser helper objects (BHOs)</a:t>
            </a:r>
          </a:p>
          <a:p>
            <a:pPr lvl="2">
              <a:lnSpc>
                <a:spcPct val="70000"/>
              </a:lnSpc>
              <a:spcAft>
                <a:spcPts val="600"/>
              </a:spcAft>
              <a:buClr>
                <a:schemeClr val="accent6">
                  <a:lumMod val="60000"/>
                  <a:lumOff val="40000"/>
                </a:schemeClr>
              </a:buClr>
              <a:buSzPct val="140000"/>
            </a:pPr>
            <a:r>
              <a:rPr lang="en-US" sz="1900" dirty="0">
                <a:latin typeface="+mn-lt"/>
                <a:ea typeface="ＭＳ Ｐゴシック" pitchFamily="-65" charset="-128"/>
              </a:rPr>
              <a:t>Attacking IRC chat networks</a:t>
            </a:r>
          </a:p>
          <a:p>
            <a:pPr lvl="2">
              <a:lnSpc>
                <a:spcPct val="70000"/>
              </a:lnSpc>
              <a:spcAft>
                <a:spcPts val="600"/>
              </a:spcAft>
              <a:buClr>
                <a:schemeClr val="accent6">
                  <a:lumMod val="60000"/>
                  <a:lumOff val="40000"/>
                </a:schemeClr>
              </a:buClr>
              <a:buSzPct val="140000"/>
            </a:pPr>
            <a:r>
              <a:rPr lang="en-US" sz="1900" dirty="0">
                <a:latin typeface="+mn-lt"/>
                <a:ea typeface="ＭＳ Ｐゴシック" pitchFamily="-65" charset="-128"/>
              </a:rPr>
              <a:t>Manipulating online polls/games</a:t>
            </a:r>
          </a:p>
        </p:txBody>
      </p:sp>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9144000" cy="1143000"/>
          </a:xfrm>
        </p:spPr>
        <p:txBody>
          <a:bodyPr wrap="square" numCol="1" anchorCtr="0" compatLnSpc="1">
            <a:prstTxWarp prst="textNoShape">
              <a:avLst/>
            </a:prstTxWarp>
          </a:bodyPr>
          <a:lstStyle/>
          <a:p>
            <a:r>
              <a:rPr lang="en-US" dirty="0">
                <a:solidFill>
                  <a:schemeClr val="accent6">
                    <a:lumMod val="40000"/>
                    <a:lumOff val="60000"/>
                  </a:schemeClr>
                </a:solidFill>
              </a:rPr>
              <a:t>Remote Control Facility</a:t>
            </a:r>
          </a:p>
        </p:txBody>
      </p:sp>
      <p:sp>
        <p:nvSpPr>
          <p:cNvPr id="3" name="Content Placeholder 2"/>
          <p:cNvSpPr>
            <a:spLocks noGrp="1"/>
          </p:cNvSpPr>
          <p:nvPr>
            <p:ph idx="1"/>
          </p:nvPr>
        </p:nvSpPr>
        <p:spPr>
          <a:xfrm>
            <a:off x="2057400" y="1484784"/>
            <a:ext cx="8229600" cy="5044752"/>
          </a:xfrm>
        </p:spPr>
        <p:txBody>
          <a:bodyPr wrap="square" numCol="1" anchor="t" anchorCtr="0" compatLnSpc="1">
            <a:prstTxWarp prst="textNoShape">
              <a:avLst/>
            </a:prstTxWarp>
            <a:normAutofit/>
          </a:bodyPr>
          <a:lstStyle/>
          <a:p>
            <a:pPr eaLnBrk="1" hangingPunct="1">
              <a:lnSpc>
                <a:spcPct val="90000"/>
              </a:lnSpc>
              <a:buClr>
                <a:schemeClr val="accent6">
                  <a:lumMod val="60000"/>
                  <a:lumOff val="40000"/>
                </a:schemeClr>
              </a:buClr>
              <a:buSzPct val="140000"/>
            </a:pPr>
            <a:r>
              <a:rPr lang="en-US" sz="2200" dirty="0">
                <a:solidFill>
                  <a:schemeClr val="tx1"/>
                </a:solidFill>
                <a:effectLst>
                  <a:outerShdw blurRad="38100" dist="38100" dir="2700000" algn="tl">
                    <a:srgbClr val="0064E2"/>
                  </a:outerShdw>
                </a:effectLst>
                <a:latin typeface="+mn-lt"/>
                <a:ea typeface="ＭＳ Ｐゴシック" pitchFamily="-65" charset="-128"/>
              </a:rPr>
              <a:t>Distinguishes a bot from a worm </a:t>
            </a:r>
          </a:p>
          <a:p>
            <a:pPr lvl="2" eaLnBrk="1" hangingPunct="1">
              <a:lnSpc>
                <a:spcPct val="90000"/>
              </a:lnSpc>
              <a:buClr>
                <a:schemeClr val="accent6">
                  <a:lumMod val="60000"/>
                  <a:lumOff val="40000"/>
                </a:schemeClr>
              </a:buClr>
              <a:buSzPct val="140000"/>
            </a:pPr>
            <a:r>
              <a:rPr lang="en-US" sz="2000" dirty="0">
                <a:solidFill>
                  <a:schemeClr val="tx1"/>
                </a:solidFill>
                <a:effectLst>
                  <a:outerShdw blurRad="38100" dist="38100" dir="2700000" algn="tl">
                    <a:srgbClr val="0064E2"/>
                  </a:outerShdw>
                </a:effectLst>
                <a:latin typeface="+mn-lt"/>
                <a:ea typeface="ＭＳ Ｐゴシック" pitchFamily="-65" charset="-128"/>
              </a:rPr>
              <a:t>Worm propagates itself and activates itself</a:t>
            </a:r>
          </a:p>
          <a:p>
            <a:pPr lvl="2" eaLnBrk="1" hangingPunct="1">
              <a:lnSpc>
                <a:spcPct val="90000"/>
              </a:lnSpc>
              <a:buClr>
                <a:schemeClr val="accent6">
                  <a:lumMod val="60000"/>
                  <a:lumOff val="40000"/>
                </a:schemeClr>
              </a:buClr>
              <a:buSzPct val="140000"/>
            </a:pPr>
            <a:r>
              <a:rPr lang="en-US" sz="2000" dirty="0">
                <a:solidFill>
                  <a:schemeClr val="tx1"/>
                </a:solidFill>
                <a:effectLst>
                  <a:outerShdw blurRad="38100" dist="38100" dir="2700000" algn="tl">
                    <a:srgbClr val="0064E2"/>
                  </a:outerShdw>
                </a:effectLst>
                <a:latin typeface="+mn-lt"/>
                <a:ea typeface="ＭＳ Ｐゴシック" pitchFamily="-65" charset="-128"/>
              </a:rPr>
              <a:t>Bot is initially controlled from some central facility</a:t>
            </a:r>
          </a:p>
          <a:p>
            <a:pPr eaLnBrk="1" hangingPunct="1">
              <a:lnSpc>
                <a:spcPct val="90000"/>
              </a:lnSpc>
              <a:buClr>
                <a:schemeClr val="accent6">
                  <a:lumMod val="60000"/>
                  <a:lumOff val="40000"/>
                </a:schemeClr>
              </a:buClr>
              <a:buSzPct val="140000"/>
            </a:pPr>
            <a:r>
              <a:rPr lang="en-US" sz="2200" dirty="0">
                <a:solidFill>
                  <a:schemeClr val="tx1"/>
                </a:solidFill>
                <a:effectLst>
                  <a:outerShdw blurRad="38100" dist="38100" dir="2700000" algn="tl">
                    <a:srgbClr val="0064E2"/>
                  </a:outerShdw>
                </a:effectLst>
                <a:latin typeface="+mn-lt"/>
                <a:ea typeface="ＭＳ Ｐゴシック" pitchFamily="-65" charset="-128"/>
              </a:rPr>
              <a:t>Typical means of implementing the remote control facility is on an IRC server</a:t>
            </a:r>
          </a:p>
          <a:p>
            <a:pPr lvl="2">
              <a:lnSpc>
                <a:spcPct val="90000"/>
              </a:lnSpc>
              <a:spcBef>
                <a:spcPts val="2000"/>
              </a:spcBef>
              <a:buClr>
                <a:schemeClr val="accent6">
                  <a:lumMod val="60000"/>
                  <a:lumOff val="40000"/>
                </a:schemeClr>
              </a:buClr>
              <a:buSzPct val="140000"/>
            </a:pPr>
            <a:r>
              <a:rPr lang="en-US" sz="2000" dirty="0">
                <a:solidFill>
                  <a:schemeClr val="tx1"/>
                </a:solidFill>
                <a:effectLst>
                  <a:outerShdw blurRad="38100" dist="38100" dir="2700000" algn="tl">
                    <a:srgbClr val="0064E2"/>
                  </a:outerShdw>
                </a:effectLst>
                <a:latin typeface="+mn-lt"/>
                <a:ea typeface="ＭＳ Ｐゴシック" pitchFamily="-65" charset="-128"/>
              </a:rPr>
              <a:t>Bots join a specific channel on this server and treat incoming messages as commands</a:t>
            </a:r>
          </a:p>
          <a:p>
            <a:pPr lvl="2">
              <a:lnSpc>
                <a:spcPct val="90000"/>
              </a:lnSpc>
              <a:spcBef>
                <a:spcPts val="2000"/>
              </a:spcBef>
              <a:buClr>
                <a:schemeClr val="accent6">
                  <a:lumMod val="60000"/>
                  <a:lumOff val="40000"/>
                </a:schemeClr>
              </a:buClr>
              <a:buSzPct val="140000"/>
            </a:pPr>
            <a:r>
              <a:rPr lang="en-US" sz="2000" dirty="0">
                <a:solidFill>
                  <a:schemeClr val="tx1"/>
                </a:solidFill>
                <a:effectLst>
                  <a:outerShdw blurRad="38100" dist="38100" dir="2700000" algn="tl">
                    <a:srgbClr val="0064E2"/>
                  </a:outerShdw>
                </a:effectLst>
                <a:latin typeface="+mn-lt"/>
                <a:ea typeface="ＭＳ Ｐゴシック" pitchFamily="-65" charset="-128"/>
              </a:rPr>
              <a:t>More recent botnets use covert communication channels via protocols such as HTTP</a:t>
            </a:r>
          </a:p>
          <a:p>
            <a:pPr lvl="2">
              <a:lnSpc>
                <a:spcPct val="90000"/>
              </a:lnSpc>
              <a:spcBef>
                <a:spcPts val="2000"/>
              </a:spcBef>
              <a:buClr>
                <a:schemeClr val="accent6">
                  <a:lumMod val="60000"/>
                  <a:lumOff val="40000"/>
                </a:schemeClr>
              </a:buClr>
              <a:buSzPct val="140000"/>
            </a:pPr>
            <a:r>
              <a:rPr lang="en-US" sz="2000" dirty="0">
                <a:solidFill>
                  <a:schemeClr val="tx1"/>
                </a:solidFill>
                <a:effectLst>
                  <a:outerShdw blurRad="38100" dist="38100" dir="2700000" algn="tl">
                    <a:srgbClr val="0064E2"/>
                  </a:outerShdw>
                </a:effectLst>
                <a:latin typeface="+mn-lt"/>
                <a:ea typeface="ＭＳ Ｐゴシック" pitchFamily="-65" charset="-128"/>
              </a:rPr>
              <a:t>Distributed control mechanisms use peer-to-peer protocols to avoid a single point of failure</a:t>
            </a:r>
          </a:p>
          <a:p>
            <a:pPr eaLnBrk="1" hangingPunct="1">
              <a:lnSpc>
                <a:spcPct val="90000"/>
              </a:lnSpc>
            </a:pPr>
            <a:endParaRPr lang="en-US" sz="2200" dirty="0">
              <a:effectLst>
                <a:outerShdw blurRad="38100" dist="38100" dir="2700000" algn="tl">
                  <a:srgbClr val="0064E2"/>
                </a:outerShdw>
              </a:effectLst>
              <a:ea typeface="ＭＳ Ｐゴシック" pitchFamily="-65" charset="-128"/>
            </a:endParaRPr>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numCol="1" anchorCtr="0" compatLnSpc="1">
            <a:prstTxWarp prst="textNoShape">
              <a:avLst/>
            </a:prstTxWarp>
            <a:normAutofit/>
          </a:bodyPr>
          <a:lstStyle/>
          <a:p>
            <a:pPr eaLnBrk="1" hangingPunct="1"/>
            <a:r>
              <a:rPr lang="en-US" dirty="0">
                <a:solidFill>
                  <a:schemeClr val="accent6">
                    <a:lumMod val="40000"/>
                    <a:lumOff val="60000"/>
                  </a:schemeClr>
                </a:solidFill>
              </a:rPr>
              <a:t>Payload – Information Theft</a:t>
            </a:r>
            <a:br>
              <a:rPr lang="en-US" dirty="0">
                <a:solidFill>
                  <a:schemeClr val="accent6">
                    <a:lumMod val="40000"/>
                    <a:lumOff val="60000"/>
                  </a:schemeClr>
                </a:solidFill>
              </a:rPr>
            </a:br>
            <a:r>
              <a:rPr lang="en-US" dirty="0" err="1">
                <a:solidFill>
                  <a:schemeClr val="accent6">
                    <a:lumMod val="40000"/>
                    <a:lumOff val="60000"/>
                  </a:schemeClr>
                </a:solidFill>
              </a:rPr>
              <a:t>Keyloggers</a:t>
            </a:r>
            <a:r>
              <a:rPr lang="en-US" dirty="0">
                <a:solidFill>
                  <a:schemeClr val="accent6">
                    <a:lumMod val="40000"/>
                    <a:lumOff val="60000"/>
                  </a:schemeClr>
                </a:solidFill>
              </a:rPr>
              <a:t> and Spyware</a:t>
            </a:r>
          </a:p>
        </p:txBody>
      </p:sp>
      <p:graphicFrame>
        <p:nvGraphicFramePr>
          <p:cNvPr id="4" name="Content Placeholder 3"/>
          <p:cNvGraphicFramePr>
            <a:graphicFrameLocks noGrp="1"/>
          </p:cNvGraphicFramePr>
          <p:nvPr>
            <p:ph idx="1"/>
          </p:nvPr>
        </p:nvGraphicFramePr>
        <p:xfrm>
          <a:off x="1981200" y="1905000"/>
          <a:ext cx="82296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7568" y="-1"/>
            <a:ext cx="8229600" cy="1728317"/>
          </a:xfrm>
        </p:spPr>
        <p:txBody>
          <a:bodyPr wrap="square" numCol="1" anchorCtr="0" compatLnSpc="1">
            <a:prstTxWarp prst="textNoShape">
              <a:avLst/>
            </a:prstTxWarp>
            <a:normAutofit fontScale="90000"/>
          </a:bodyPr>
          <a:lstStyle/>
          <a:p>
            <a:pPr eaLnBrk="1" hangingPunct="1"/>
            <a:r>
              <a:rPr lang="en-US" dirty="0">
                <a:solidFill>
                  <a:schemeClr val="accent6">
                    <a:lumMod val="40000"/>
                    <a:lumOff val="60000"/>
                  </a:schemeClr>
                </a:solidFill>
              </a:rPr>
              <a:t>Payload – Information Theft</a:t>
            </a:r>
            <a:br>
              <a:rPr lang="en-US" dirty="0">
                <a:solidFill>
                  <a:schemeClr val="accent6">
                    <a:lumMod val="40000"/>
                    <a:lumOff val="60000"/>
                  </a:schemeClr>
                </a:solidFill>
              </a:rPr>
            </a:br>
            <a:r>
              <a:rPr lang="en-US" dirty="0">
                <a:solidFill>
                  <a:schemeClr val="accent6">
                    <a:lumMod val="40000"/>
                    <a:lumOff val="60000"/>
                  </a:schemeClr>
                </a:solidFill>
              </a:rPr>
              <a:t>Phishing</a:t>
            </a:r>
          </a:p>
        </p:txBody>
      </p:sp>
      <p:sp>
        <p:nvSpPr>
          <p:cNvPr id="3" name="Content Placeholder 2"/>
          <p:cNvSpPr>
            <a:spLocks noGrp="1"/>
          </p:cNvSpPr>
          <p:nvPr>
            <p:ph sz="half" idx="2"/>
          </p:nvPr>
        </p:nvSpPr>
        <p:spPr>
          <a:xfrm>
            <a:off x="1631504" y="1905000"/>
            <a:ext cx="4536504" cy="4953000"/>
          </a:xfrm>
        </p:spPr>
        <p:txBody>
          <a:bodyPr wrap="square" numCol="1" anchor="t" anchorCtr="0" compatLnSpc="1">
            <a:prstTxWarp prst="textNoShape">
              <a:avLst/>
            </a:prstTxWarp>
            <a:normAutofit/>
          </a:bodyPr>
          <a:lstStyle/>
          <a:p>
            <a:pPr marL="342900" lvl="2" indent="-342900">
              <a:spcBef>
                <a:spcPts val="2000"/>
              </a:spcBef>
              <a:spcAft>
                <a:spcPts val="600"/>
              </a:spcAft>
              <a:buClr>
                <a:schemeClr val="accent6">
                  <a:lumMod val="60000"/>
                  <a:lumOff val="40000"/>
                </a:schemeClr>
              </a:buClr>
              <a:buSzPct val="140000"/>
            </a:pPr>
            <a:r>
              <a:rPr lang="en-US" sz="2000" dirty="0">
                <a:latin typeface="+mn-lt"/>
                <a:ea typeface="ＭＳ Ｐゴシック" pitchFamily="-65" charset="-128"/>
              </a:rPr>
              <a:t>Exploits social engineering to leverage the user’s trust by masquerading as communication from a trusted source</a:t>
            </a:r>
          </a:p>
          <a:p>
            <a:pPr lvl="2">
              <a:spcBef>
                <a:spcPts val="1008"/>
              </a:spcBef>
              <a:spcAft>
                <a:spcPts val="600"/>
              </a:spcAft>
              <a:buClr>
                <a:schemeClr val="accent6">
                  <a:lumMod val="60000"/>
                  <a:lumOff val="40000"/>
                </a:schemeClr>
              </a:buClr>
              <a:buSzPct val="140000"/>
            </a:pPr>
            <a:r>
              <a:rPr lang="en-US" sz="1800" dirty="0">
                <a:latin typeface="+mn-lt"/>
                <a:ea typeface="ＭＳ Ｐゴシック" pitchFamily="-65" charset="-128"/>
              </a:rPr>
              <a:t>Include a URL in a spam e-mail that links to a fake Web site that mimics the login page of a banking, gaming, or similar site</a:t>
            </a:r>
          </a:p>
          <a:p>
            <a:pPr lvl="2">
              <a:spcBef>
                <a:spcPts val="1008"/>
              </a:spcBef>
              <a:spcAft>
                <a:spcPts val="600"/>
              </a:spcAft>
              <a:buClr>
                <a:schemeClr val="accent6">
                  <a:lumMod val="60000"/>
                  <a:lumOff val="40000"/>
                </a:schemeClr>
              </a:buClr>
              <a:buSzPct val="140000"/>
            </a:pPr>
            <a:r>
              <a:rPr lang="en-US" sz="1800" dirty="0">
                <a:latin typeface="+mn-lt"/>
                <a:ea typeface="ＭＳ Ｐゴシック" pitchFamily="-65" charset="-128"/>
              </a:rPr>
              <a:t>Suggests that urgent action is required by the user to authenticate their account</a:t>
            </a:r>
          </a:p>
          <a:p>
            <a:pPr lvl="2">
              <a:spcBef>
                <a:spcPts val="1008"/>
              </a:spcBef>
              <a:spcAft>
                <a:spcPts val="600"/>
              </a:spcAft>
              <a:buClr>
                <a:schemeClr val="accent6">
                  <a:lumMod val="60000"/>
                  <a:lumOff val="40000"/>
                </a:schemeClr>
              </a:buClr>
              <a:buSzPct val="140000"/>
            </a:pPr>
            <a:r>
              <a:rPr lang="en-US" sz="1800" dirty="0">
                <a:latin typeface="+mn-lt"/>
                <a:ea typeface="ＭＳ Ｐゴシック" pitchFamily="-65" charset="-128"/>
              </a:rPr>
              <a:t>Attacker exploits the account using the captured credentials</a:t>
            </a:r>
          </a:p>
        </p:txBody>
      </p:sp>
      <p:sp>
        <p:nvSpPr>
          <p:cNvPr id="12" name="Content Placeholder 11"/>
          <p:cNvSpPr>
            <a:spLocks noGrp="1"/>
          </p:cNvSpPr>
          <p:nvPr>
            <p:ph sz="quarter" idx="13"/>
          </p:nvPr>
        </p:nvSpPr>
        <p:spPr>
          <a:xfrm>
            <a:off x="6456040" y="2492896"/>
            <a:ext cx="3960440" cy="4114800"/>
          </a:xfrm>
        </p:spPr>
        <p:txBody>
          <a:bodyPr wrap="square" numCol="1" anchor="t" anchorCtr="0" compatLnSpc="1">
            <a:prstTxWarp prst="textNoShape">
              <a:avLst/>
            </a:prstTxWarp>
            <a:normAutofit/>
          </a:bodyPr>
          <a:lstStyle/>
          <a:p>
            <a:pPr marL="342900" lvl="2" indent="-342900">
              <a:lnSpc>
                <a:spcPct val="80000"/>
              </a:lnSpc>
              <a:spcBef>
                <a:spcPts val="2000"/>
              </a:spcBef>
              <a:buClr>
                <a:schemeClr val="accent6">
                  <a:lumMod val="60000"/>
                  <a:lumOff val="40000"/>
                </a:schemeClr>
              </a:buClr>
              <a:buSzPct val="140000"/>
            </a:pPr>
            <a:r>
              <a:rPr lang="en-US" sz="2200" dirty="0">
                <a:latin typeface="+mn-lt"/>
                <a:ea typeface="ＭＳ Ｐゴシック" pitchFamily="-65" charset="-128"/>
              </a:rPr>
              <a:t>Spear-phishing</a:t>
            </a:r>
          </a:p>
          <a:p>
            <a:pPr lvl="2">
              <a:lnSpc>
                <a:spcPct val="80000"/>
              </a:lnSpc>
              <a:spcBef>
                <a:spcPts val="1008"/>
              </a:spcBef>
              <a:buClr>
                <a:schemeClr val="accent6">
                  <a:lumMod val="60000"/>
                  <a:lumOff val="40000"/>
                </a:schemeClr>
              </a:buClr>
              <a:buSzPct val="140000"/>
            </a:pPr>
            <a:r>
              <a:rPr lang="en-US" sz="1900" dirty="0">
                <a:latin typeface="+mn-lt"/>
                <a:ea typeface="ＭＳ Ｐゴシック" pitchFamily="-65" charset="-128"/>
              </a:rPr>
              <a:t>Recipients are carefully researched by the attacker</a:t>
            </a:r>
          </a:p>
          <a:p>
            <a:pPr lvl="2">
              <a:lnSpc>
                <a:spcPct val="80000"/>
              </a:lnSpc>
              <a:spcBef>
                <a:spcPts val="1008"/>
              </a:spcBef>
              <a:buClr>
                <a:schemeClr val="accent6">
                  <a:lumMod val="60000"/>
                  <a:lumOff val="40000"/>
                </a:schemeClr>
              </a:buClr>
              <a:buSzPct val="140000"/>
            </a:pPr>
            <a:r>
              <a:rPr lang="en-US" sz="1900" dirty="0">
                <a:latin typeface="+mn-lt"/>
                <a:ea typeface="ＭＳ Ｐゴシック" pitchFamily="-65" charset="-128"/>
              </a:rPr>
              <a:t>E-mail is crafted to specifically suit its                                              recipient, often quoting a range of information                                           to convince them of its authenticity</a:t>
            </a:r>
          </a:p>
          <a:p>
            <a:pPr>
              <a:lnSpc>
                <a:spcPct val="80000"/>
              </a:lnSpc>
            </a:pPr>
            <a:endParaRPr lang="en-US" sz="1900" dirty="0">
              <a:effectLst>
                <a:outerShdw blurRad="38100" dist="38100" dir="2700000" algn="tl">
                  <a:srgbClr val="0064E2"/>
                </a:outerShdw>
              </a:effectLst>
              <a:ea typeface="ＭＳ Ｐゴシック" pitchFamily="-65" charset="-128"/>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544" y="116632"/>
            <a:ext cx="8229600" cy="1628800"/>
          </a:xfrm>
        </p:spPr>
        <p:txBody>
          <a:bodyPr wrap="square" numCol="1" anchorCtr="0" compatLnSpc="1">
            <a:prstTxWarp prst="textNoShape">
              <a:avLst/>
            </a:prstTxWarp>
            <a:normAutofit/>
          </a:bodyPr>
          <a:lstStyle/>
          <a:p>
            <a:pPr eaLnBrk="1" hangingPunct="1"/>
            <a:r>
              <a:rPr lang="en-US" sz="4300" dirty="0">
                <a:solidFill>
                  <a:schemeClr val="accent6">
                    <a:lumMod val="40000"/>
                    <a:lumOff val="60000"/>
                  </a:schemeClr>
                </a:solidFill>
                <a:effectLst/>
                <a:ea typeface="ＭＳ Ｐゴシック" pitchFamily="-65" charset="-128"/>
              </a:rPr>
              <a:t>Payload – </a:t>
            </a:r>
            <a:r>
              <a:rPr lang="en-US" sz="4300" dirty="0" err="1">
                <a:solidFill>
                  <a:schemeClr val="accent6">
                    <a:lumMod val="40000"/>
                    <a:lumOff val="60000"/>
                  </a:schemeClr>
                </a:solidFill>
                <a:effectLst/>
                <a:ea typeface="ＭＳ Ｐゴシック" pitchFamily="-65" charset="-128"/>
              </a:rPr>
              <a:t>Stealthing</a:t>
            </a:r>
            <a:r>
              <a:rPr lang="en-US" sz="4300" dirty="0">
                <a:solidFill>
                  <a:schemeClr val="accent6">
                    <a:lumMod val="40000"/>
                    <a:lumOff val="60000"/>
                  </a:schemeClr>
                </a:solidFill>
                <a:effectLst/>
                <a:ea typeface="ＭＳ Ｐゴシック" pitchFamily="-65" charset="-128"/>
              </a:rPr>
              <a:t/>
            </a:r>
            <a:br>
              <a:rPr lang="en-US" sz="4300" dirty="0">
                <a:solidFill>
                  <a:schemeClr val="accent6">
                    <a:lumMod val="40000"/>
                    <a:lumOff val="60000"/>
                  </a:schemeClr>
                </a:solidFill>
                <a:effectLst/>
                <a:ea typeface="ＭＳ Ｐゴシック" pitchFamily="-65" charset="-128"/>
              </a:rPr>
            </a:br>
            <a:r>
              <a:rPr lang="en-US" sz="4300" dirty="0">
                <a:solidFill>
                  <a:schemeClr val="accent6">
                    <a:lumMod val="40000"/>
                    <a:lumOff val="60000"/>
                  </a:schemeClr>
                </a:solidFill>
                <a:effectLst/>
                <a:ea typeface="ＭＳ Ｐゴシック" pitchFamily="-65" charset="-128"/>
              </a:rPr>
              <a:t>Backdoor</a:t>
            </a:r>
          </a:p>
        </p:txBody>
      </p:sp>
      <p:sp>
        <p:nvSpPr>
          <p:cNvPr id="3" name="Content Placeholder 2"/>
          <p:cNvSpPr>
            <a:spLocks noGrp="1"/>
          </p:cNvSpPr>
          <p:nvPr>
            <p:ph idx="1"/>
          </p:nvPr>
        </p:nvSpPr>
        <p:spPr>
          <a:xfrm>
            <a:off x="1991544" y="1844825"/>
            <a:ext cx="8229600" cy="4525963"/>
          </a:xfrm>
        </p:spPr>
        <p:txBody>
          <a:bodyPr wrap="square" numCol="1" anchor="t" anchorCtr="0" compatLnSpc="1">
            <a:prstTxWarp prst="textNoShape">
              <a:avLst/>
            </a:prstTxWarp>
          </a:bodyPr>
          <a:lstStyle/>
          <a:p>
            <a:pPr eaLnBrk="1" hangingPunct="1">
              <a:buClr>
                <a:schemeClr val="accent6">
                  <a:lumMod val="60000"/>
                  <a:lumOff val="40000"/>
                </a:schemeClr>
              </a:buClr>
              <a:buSzPct val="140000"/>
            </a:pPr>
            <a:r>
              <a:rPr lang="en-US" dirty="0">
                <a:latin typeface="+mn-lt"/>
                <a:ea typeface="ＭＳ Ｐゴシック" pitchFamily="-65" charset="-128"/>
              </a:rPr>
              <a:t>Also known as a </a:t>
            </a:r>
            <a:r>
              <a:rPr lang="en-US" i="1" dirty="0">
                <a:latin typeface="+mn-lt"/>
                <a:ea typeface="ＭＳ Ｐゴシック" pitchFamily="-65" charset="-128"/>
              </a:rPr>
              <a:t>trapdoor</a:t>
            </a:r>
          </a:p>
          <a:p>
            <a:pPr eaLnBrk="1" hangingPunct="1">
              <a:buClr>
                <a:schemeClr val="accent6">
                  <a:lumMod val="60000"/>
                  <a:lumOff val="40000"/>
                </a:schemeClr>
              </a:buClr>
              <a:buSzPct val="140000"/>
            </a:pPr>
            <a:r>
              <a:rPr lang="en-US" dirty="0">
                <a:latin typeface="+mn-lt"/>
                <a:ea typeface="ＭＳ Ｐゴシック" pitchFamily="-65" charset="-128"/>
              </a:rPr>
              <a:t>Secret entry point into a program allowing the attacker to gain access and bypass the security access procedures</a:t>
            </a:r>
          </a:p>
          <a:p>
            <a:pPr eaLnBrk="1" hangingPunct="1">
              <a:buClr>
                <a:schemeClr val="accent6">
                  <a:lumMod val="60000"/>
                  <a:lumOff val="40000"/>
                </a:schemeClr>
              </a:buClr>
              <a:buSzPct val="140000"/>
            </a:pPr>
            <a:r>
              <a:rPr lang="en-US" i="1" dirty="0">
                <a:latin typeface="+mn-lt"/>
                <a:ea typeface="ＭＳ Ｐゴシック" pitchFamily="-65" charset="-128"/>
              </a:rPr>
              <a:t>Maintenance hook </a:t>
            </a:r>
            <a:r>
              <a:rPr lang="en-US" dirty="0">
                <a:latin typeface="+mn-lt"/>
                <a:ea typeface="ＭＳ Ｐゴシック" pitchFamily="-65" charset="-128"/>
              </a:rPr>
              <a:t>is a backdoor used by Programmers to debug and test programs</a:t>
            </a:r>
          </a:p>
          <a:p>
            <a:pPr eaLnBrk="1" hangingPunct="1">
              <a:buClr>
                <a:schemeClr val="accent6">
                  <a:lumMod val="60000"/>
                  <a:lumOff val="40000"/>
                </a:schemeClr>
              </a:buClr>
              <a:buSzPct val="140000"/>
            </a:pPr>
            <a:r>
              <a:rPr lang="en-US" dirty="0">
                <a:latin typeface="+mn-lt"/>
                <a:ea typeface="ＭＳ Ｐゴシック" pitchFamily="-65" charset="-128"/>
              </a:rPr>
              <a:t>Difficult to implement operating system                          controls for backdoors in applications</a:t>
            </a: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1026"/>
          <p:cNvSpPr>
            <a:spLocks noGrp="1" noChangeArrowheads="1"/>
          </p:cNvSpPr>
          <p:nvPr>
            <p:ph type="title"/>
          </p:nvPr>
        </p:nvSpPr>
        <p:spPr>
          <a:xfrm>
            <a:off x="1991544" y="404665"/>
            <a:ext cx="8229600" cy="1216025"/>
          </a:xfrm>
        </p:spPr>
        <p:txBody>
          <a:bodyPr wrap="square" numCol="1" anchorCtr="0" compatLnSpc="1">
            <a:prstTxWarp prst="textNoShape">
              <a:avLst/>
            </a:prstTxWarp>
            <a:normAutofit fontScale="90000"/>
          </a:bodyPr>
          <a:lstStyle/>
          <a:p>
            <a:pPr eaLnBrk="1" hangingPunct="1"/>
            <a:r>
              <a:rPr lang="en-US" dirty="0">
                <a:solidFill>
                  <a:schemeClr val="accent6">
                    <a:lumMod val="40000"/>
                    <a:lumOff val="60000"/>
                  </a:schemeClr>
                </a:solidFill>
              </a:rPr>
              <a:t>Payload - </a:t>
            </a:r>
            <a:r>
              <a:rPr lang="en-US" dirty="0" err="1">
                <a:solidFill>
                  <a:schemeClr val="accent6">
                    <a:lumMod val="40000"/>
                    <a:lumOff val="60000"/>
                  </a:schemeClr>
                </a:solidFill>
              </a:rPr>
              <a:t>Stealthing</a:t>
            </a:r>
            <a:r>
              <a:rPr lang="en-US" dirty="0">
                <a:solidFill>
                  <a:schemeClr val="accent6">
                    <a:lumMod val="40000"/>
                    <a:lumOff val="60000"/>
                  </a:schemeClr>
                </a:solidFill>
              </a:rPr>
              <a:t/>
            </a:r>
            <a:br>
              <a:rPr lang="en-US" dirty="0">
                <a:solidFill>
                  <a:schemeClr val="accent6">
                    <a:lumMod val="40000"/>
                    <a:lumOff val="60000"/>
                  </a:schemeClr>
                </a:solidFill>
              </a:rPr>
            </a:br>
            <a:r>
              <a:rPr lang="en-US" dirty="0" err="1">
                <a:solidFill>
                  <a:schemeClr val="accent6">
                    <a:lumMod val="40000"/>
                    <a:lumOff val="60000"/>
                  </a:schemeClr>
                </a:solidFill>
              </a:rPr>
              <a:t>Rootkit</a:t>
            </a:r>
            <a:endParaRPr lang="en-US" dirty="0">
              <a:solidFill>
                <a:schemeClr val="accent6">
                  <a:lumMod val="40000"/>
                  <a:lumOff val="60000"/>
                </a:schemeClr>
              </a:solidFill>
            </a:endParaRPr>
          </a:p>
        </p:txBody>
      </p:sp>
      <p:sp>
        <p:nvSpPr>
          <p:cNvPr id="256003" name="Rectangle 1027"/>
          <p:cNvSpPr>
            <a:spLocks noGrp="1" noChangeArrowheads="1"/>
          </p:cNvSpPr>
          <p:nvPr>
            <p:ph idx="1"/>
          </p:nvPr>
        </p:nvSpPr>
        <p:spPr>
          <a:xfrm>
            <a:off x="1991544" y="1700808"/>
            <a:ext cx="8229600" cy="4800600"/>
          </a:xfrm>
        </p:spPr>
        <p:txBody>
          <a:bodyPr wrap="square" numCol="1" anchor="t" anchorCtr="0" compatLnSpc="1">
            <a:prstTxWarp prst="textNoShape">
              <a:avLst/>
            </a:prstTxWarp>
          </a:bodyPr>
          <a:lstStyle/>
          <a:p>
            <a:pPr eaLnBrk="1" hangingPunct="1">
              <a:buClr>
                <a:schemeClr val="accent6">
                  <a:lumMod val="60000"/>
                  <a:lumOff val="40000"/>
                </a:schemeClr>
              </a:buClr>
              <a:buSzPct val="140000"/>
            </a:pPr>
            <a:r>
              <a:rPr lang="en-US" sz="2800" dirty="0">
                <a:latin typeface="+mn-lt"/>
                <a:ea typeface="ＭＳ Ｐゴシック" pitchFamily="-65" charset="-128"/>
              </a:rPr>
              <a:t>Set of hidden programs installed on a system to maintain covert access to that system </a:t>
            </a:r>
          </a:p>
          <a:p>
            <a:pPr eaLnBrk="1" hangingPunct="1">
              <a:buClr>
                <a:schemeClr val="accent6">
                  <a:lumMod val="60000"/>
                  <a:lumOff val="40000"/>
                </a:schemeClr>
              </a:buClr>
              <a:buSzPct val="140000"/>
            </a:pPr>
            <a:r>
              <a:rPr lang="en-US" sz="2800" dirty="0">
                <a:latin typeface="+mn-lt"/>
                <a:ea typeface="ＭＳ Ｐゴシック" pitchFamily="-65" charset="-128"/>
              </a:rPr>
              <a:t>Hides by subverting the mechanisms that monitor and report on the processes, files, and registries on a computer</a:t>
            </a:r>
          </a:p>
          <a:p>
            <a:pPr eaLnBrk="1" hangingPunct="1">
              <a:buClr>
                <a:schemeClr val="accent6">
                  <a:lumMod val="60000"/>
                  <a:lumOff val="40000"/>
                </a:schemeClr>
              </a:buClr>
              <a:buSzPct val="140000"/>
            </a:pPr>
            <a:r>
              <a:rPr lang="en-US" sz="2800" dirty="0">
                <a:latin typeface="+mn-lt"/>
                <a:ea typeface="ＭＳ Ｐゴシック" pitchFamily="-65" charset="-128"/>
              </a:rPr>
              <a:t>Gives administrator (or root) privileges to attacker</a:t>
            </a:r>
          </a:p>
          <a:p>
            <a:pPr lvl="2">
              <a:buClr>
                <a:schemeClr val="accent6">
                  <a:lumMod val="60000"/>
                  <a:lumOff val="40000"/>
                </a:schemeClr>
              </a:buClr>
              <a:buSzPct val="140000"/>
            </a:pPr>
            <a:r>
              <a:rPr lang="en-US" sz="2200" dirty="0">
                <a:latin typeface="+mn-lt"/>
                <a:ea typeface="ＭＳ Ｐゴシック" pitchFamily="-65" charset="-128"/>
              </a:rPr>
              <a:t>Can add or change programs and files, monitor processes, send and receive network traffic, and get backdoor access on demand</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544" y="116632"/>
            <a:ext cx="8229600" cy="1656184"/>
          </a:xfrm>
        </p:spPr>
        <p:txBody>
          <a:bodyPr wrap="square" numCol="1" anchorCtr="0" compatLnSpc="1">
            <a:prstTxWarp prst="textNoShape">
              <a:avLst/>
            </a:prstTxWarp>
            <a:normAutofit/>
          </a:bodyPr>
          <a:lstStyle/>
          <a:p>
            <a:pPr eaLnBrk="1" hangingPunct="1"/>
            <a:r>
              <a:rPr lang="en-US" dirty="0" err="1">
                <a:solidFill>
                  <a:schemeClr val="accent6">
                    <a:lumMod val="40000"/>
                    <a:lumOff val="60000"/>
                  </a:schemeClr>
                </a:solidFill>
              </a:rPr>
              <a:t>Rootkit</a:t>
            </a:r>
            <a:r>
              <a:rPr lang="en-US" dirty="0">
                <a:solidFill>
                  <a:schemeClr val="accent6">
                    <a:lumMod val="40000"/>
                    <a:lumOff val="60000"/>
                  </a:schemeClr>
                </a:solidFill>
              </a:rPr>
              <a:t> Classification Characteristics</a:t>
            </a:r>
          </a:p>
        </p:txBody>
      </p:sp>
      <p:graphicFrame>
        <p:nvGraphicFramePr>
          <p:cNvPr id="4" name="Content Placeholder 3"/>
          <p:cNvGraphicFramePr>
            <a:graphicFrameLocks noGrp="1"/>
          </p:cNvGraphicFramePr>
          <p:nvPr>
            <p:ph idx="1"/>
          </p:nvPr>
        </p:nvGraphicFramePr>
        <p:xfrm>
          <a:off x="1981200" y="1772816"/>
          <a:ext cx="8229600" cy="47041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numCol="1" anchorCtr="0" compatLnSpc="1">
            <a:prstTxWarp prst="textNoShape">
              <a:avLst/>
            </a:prstTxWarp>
            <a:normAutofit/>
          </a:bodyPr>
          <a:lstStyle/>
          <a:p>
            <a:pPr eaLnBrk="1" hangingPunct="1"/>
            <a:r>
              <a:rPr lang="en-US" dirty="0">
                <a:solidFill>
                  <a:schemeClr val="accent6">
                    <a:lumMod val="40000"/>
                    <a:lumOff val="60000"/>
                  </a:schemeClr>
                </a:solidFill>
              </a:rPr>
              <a:t>Malware Countermeasure Approaches</a:t>
            </a:r>
          </a:p>
        </p:txBody>
      </p:sp>
      <p:sp>
        <p:nvSpPr>
          <p:cNvPr id="3" name="Content Placeholder 2"/>
          <p:cNvSpPr>
            <a:spLocks noGrp="1"/>
          </p:cNvSpPr>
          <p:nvPr>
            <p:ph idx="1"/>
          </p:nvPr>
        </p:nvSpPr>
        <p:spPr>
          <a:xfrm>
            <a:off x="1981200" y="1828800"/>
            <a:ext cx="8229600" cy="4724400"/>
          </a:xfrm>
        </p:spPr>
        <p:txBody>
          <a:bodyPr wrap="square" numCol="1" anchor="t" anchorCtr="0" compatLnSpc="1">
            <a:prstTxWarp prst="textNoShape">
              <a:avLst/>
            </a:prstTxWarp>
            <a:normAutofit/>
          </a:bodyPr>
          <a:lstStyle/>
          <a:p>
            <a:pPr eaLnBrk="1" hangingPunct="1">
              <a:lnSpc>
                <a:spcPct val="90000"/>
              </a:lnSpc>
              <a:buClr>
                <a:schemeClr val="accent6">
                  <a:lumMod val="60000"/>
                  <a:lumOff val="40000"/>
                </a:schemeClr>
              </a:buClr>
              <a:buSzPct val="140000"/>
            </a:pPr>
            <a:r>
              <a:rPr lang="en-US" dirty="0">
                <a:latin typeface="+mn-lt"/>
                <a:ea typeface="ＭＳ Ｐゴシック" pitchFamily="-65" charset="-128"/>
              </a:rPr>
              <a:t>Ideal solution to the threat of malware is prevention</a:t>
            </a:r>
          </a:p>
          <a:p>
            <a:pPr marL="342900" lvl="2" indent="-342900">
              <a:lnSpc>
                <a:spcPct val="90000"/>
              </a:lnSpc>
              <a:spcBef>
                <a:spcPts val="2000"/>
              </a:spcBef>
              <a:buClr>
                <a:schemeClr val="accent6">
                  <a:lumMod val="60000"/>
                  <a:lumOff val="40000"/>
                </a:schemeClr>
              </a:buClr>
              <a:buSzPct val="140000"/>
            </a:pPr>
            <a:endParaRPr lang="en-US" sz="2400" dirty="0">
              <a:latin typeface="+mn-lt"/>
              <a:ea typeface="ＭＳ Ｐゴシック" pitchFamily="-65" charset="-128"/>
            </a:endParaRPr>
          </a:p>
          <a:p>
            <a:pPr marL="342900" lvl="2" indent="-342900">
              <a:lnSpc>
                <a:spcPct val="90000"/>
              </a:lnSpc>
              <a:spcBef>
                <a:spcPts val="2000"/>
              </a:spcBef>
              <a:buClr>
                <a:schemeClr val="accent6">
                  <a:lumMod val="60000"/>
                  <a:lumOff val="40000"/>
                </a:schemeClr>
              </a:buClr>
              <a:buSzPct val="140000"/>
            </a:pPr>
            <a:endParaRPr lang="en-US" sz="2400" dirty="0">
              <a:latin typeface="+mn-lt"/>
              <a:ea typeface="ＭＳ Ｐゴシック" pitchFamily="-65" charset="-128"/>
            </a:endParaRPr>
          </a:p>
          <a:p>
            <a:pPr marL="342900" lvl="2" indent="-342900">
              <a:lnSpc>
                <a:spcPct val="90000"/>
              </a:lnSpc>
              <a:spcBef>
                <a:spcPts val="2000"/>
              </a:spcBef>
              <a:buClr>
                <a:schemeClr val="accent6">
                  <a:lumMod val="60000"/>
                  <a:lumOff val="40000"/>
                </a:schemeClr>
              </a:buClr>
              <a:buSzPct val="140000"/>
            </a:pPr>
            <a:endParaRPr lang="en-US" sz="2400" dirty="0">
              <a:latin typeface="+mn-lt"/>
              <a:ea typeface="ＭＳ Ｐゴシック" pitchFamily="-65" charset="-128"/>
            </a:endParaRPr>
          </a:p>
          <a:p>
            <a:pPr marL="342900" lvl="2" indent="-342900">
              <a:lnSpc>
                <a:spcPct val="90000"/>
              </a:lnSpc>
              <a:spcBef>
                <a:spcPts val="2000"/>
              </a:spcBef>
              <a:buClr>
                <a:schemeClr val="accent6">
                  <a:lumMod val="60000"/>
                  <a:lumOff val="40000"/>
                </a:schemeClr>
              </a:buClr>
              <a:buSzPct val="140000"/>
            </a:pPr>
            <a:endParaRPr lang="en-US" sz="2400" dirty="0">
              <a:latin typeface="+mn-lt"/>
              <a:ea typeface="ＭＳ Ｐゴシック" pitchFamily="-65" charset="-128"/>
            </a:endParaRPr>
          </a:p>
          <a:p>
            <a:pPr marL="342900" lvl="2" indent="-342900">
              <a:lnSpc>
                <a:spcPct val="90000"/>
              </a:lnSpc>
              <a:spcBef>
                <a:spcPts val="2000"/>
              </a:spcBef>
              <a:buClr>
                <a:schemeClr val="accent6">
                  <a:lumMod val="60000"/>
                  <a:lumOff val="40000"/>
                </a:schemeClr>
              </a:buClr>
              <a:buSzPct val="140000"/>
            </a:pPr>
            <a:r>
              <a:rPr lang="en-US" sz="2400" dirty="0">
                <a:latin typeface="+mn-lt"/>
                <a:ea typeface="ＭＳ Ｐゴシック" pitchFamily="-65" charset="-128"/>
              </a:rPr>
              <a:t>If prevention fails, technical mechanisms can be used to support the following threat mitigation options:</a:t>
            </a:r>
          </a:p>
          <a:p>
            <a:pPr marL="1257300" lvl="4" indent="-342900">
              <a:lnSpc>
                <a:spcPct val="90000"/>
              </a:lnSpc>
              <a:spcBef>
                <a:spcPts val="2000"/>
              </a:spcBef>
              <a:buClr>
                <a:schemeClr val="accent6">
                  <a:lumMod val="60000"/>
                  <a:lumOff val="40000"/>
                </a:schemeClr>
              </a:buClr>
              <a:buSzPct val="140000"/>
            </a:pPr>
            <a:r>
              <a:rPr lang="en-US" dirty="0">
                <a:latin typeface="+mn-lt"/>
                <a:ea typeface="ＭＳ Ｐゴシック" pitchFamily="-65" charset="-128"/>
              </a:rPr>
              <a:t>Detection</a:t>
            </a:r>
          </a:p>
          <a:p>
            <a:pPr marL="1257300" lvl="4" indent="-342900">
              <a:lnSpc>
                <a:spcPct val="90000"/>
              </a:lnSpc>
              <a:buClr>
                <a:schemeClr val="accent6">
                  <a:lumMod val="60000"/>
                  <a:lumOff val="40000"/>
                </a:schemeClr>
              </a:buClr>
              <a:buSzPct val="140000"/>
            </a:pPr>
            <a:r>
              <a:rPr lang="en-US" dirty="0">
                <a:latin typeface="+mn-lt"/>
                <a:ea typeface="ＭＳ Ｐゴシック" pitchFamily="-65" charset="-128"/>
              </a:rPr>
              <a:t>Identification</a:t>
            </a:r>
          </a:p>
          <a:p>
            <a:pPr marL="1257300" lvl="4" indent="-342900">
              <a:lnSpc>
                <a:spcPct val="90000"/>
              </a:lnSpc>
              <a:buClr>
                <a:schemeClr val="accent6">
                  <a:lumMod val="60000"/>
                  <a:lumOff val="40000"/>
                </a:schemeClr>
              </a:buClr>
              <a:buSzPct val="140000"/>
            </a:pPr>
            <a:r>
              <a:rPr lang="en-US" dirty="0">
                <a:latin typeface="+mn-lt"/>
                <a:ea typeface="ＭＳ Ｐゴシック" pitchFamily="-65" charset="-128"/>
              </a:rPr>
              <a:t>Removal</a:t>
            </a:r>
          </a:p>
        </p:txBody>
      </p:sp>
      <p:graphicFrame>
        <p:nvGraphicFramePr>
          <p:cNvPr id="4" name="Diagram 3"/>
          <p:cNvGraphicFramePr/>
          <p:nvPr/>
        </p:nvGraphicFramePr>
        <p:xfrm>
          <a:off x="3048000" y="13970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08022" y="0"/>
            <a:ext cx="9144000" cy="836712"/>
          </a:xfrm>
        </p:spPr>
        <p:txBody>
          <a:bodyPr wrap="square" numCol="1" anchorCtr="0" compatLnSpc="1">
            <a:prstTxWarp prst="textNoShape">
              <a:avLst/>
            </a:prstTxWarp>
          </a:bodyPr>
          <a:lstStyle/>
          <a:p>
            <a:pPr eaLnBrk="1" hangingPunct="1"/>
            <a:r>
              <a:rPr lang="en-US" sz="4400" dirty="0">
                <a:solidFill>
                  <a:schemeClr val="accent6">
                    <a:lumMod val="40000"/>
                    <a:lumOff val="60000"/>
                  </a:schemeClr>
                </a:solidFill>
              </a:rPr>
              <a:t>Generations of Anti-Virus Software</a:t>
            </a:r>
          </a:p>
        </p:txBody>
      </p:sp>
      <p:graphicFrame>
        <p:nvGraphicFramePr>
          <p:cNvPr id="4" name="Content Placeholder 3"/>
          <p:cNvGraphicFramePr>
            <a:graphicFrameLocks noGrp="1"/>
          </p:cNvGraphicFramePr>
          <p:nvPr>
            <p:ph idx="4294967295"/>
          </p:nvPr>
        </p:nvGraphicFramePr>
        <p:xfrm>
          <a:off x="1828800" y="836713"/>
          <a:ext cx="8587680" cy="58194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1268760"/>
          </a:xfrm>
        </p:spPr>
        <p:txBody>
          <a:bodyPr/>
          <a:lstStyle/>
          <a:p>
            <a:r>
              <a:rPr lang="en-US" dirty="0">
                <a:solidFill>
                  <a:schemeClr val="accent6">
                    <a:lumMod val="40000"/>
                    <a:lumOff val="60000"/>
                  </a:schemeClr>
                </a:solidFill>
              </a:rPr>
              <a:t>Sandbox Analysis</a:t>
            </a:r>
          </a:p>
        </p:txBody>
      </p:sp>
      <p:sp>
        <p:nvSpPr>
          <p:cNvPr id="3" name="Content Placeholder 2"/>
          <p:cNvSpPr>
            <a:spLocks noGrp="1"/>
          </p:cNvSpPr>
          <p:nvPr>
            <p:ph idx="1"/>
          </p:nvPr>
        </p:nvSpPr>
        <p:spPr>
          <a:xfrm>
            <a:off x="1981200" y="1484785"/>
            <a:ext cx="8229600" cy="4641379"/>
          </a:xfrm>
        </p:spPr>
        <p:txBody>
          <a:bodyPr>
            <a:normAutofit/>
          </a:bodyPr>
          <a:lstStyle/>
          <a:p>
            <a:pPr>
              <a:buClr>
                <a:schemeClr val="accent6">
                  <a:lumMod val="60000"/>
                  <a:lumOff val="40000"/>
                </a:schemeClr>
              </a:buClr>
              <a:buSzPct val="140000"/>
            </a:pPr>
            <a:r>
              <a:rPr lang="en-US" dirty="0">
                <a:latin typeface="+mn-lt"/>
              </a:rPr>
              <a:t>Running potentially malicious code in an emulated sandbox or on a virtual machine</a:t>
            </a:r>
          </a:p>
          <a:p>
            <a:pPr>
              <a:buClr>
                <a:schemeClr val="accent6">
                  <a:lumMod val="60000"/>
                  <a:lumOff val="40000"/>
                </a:schemeClr>
              </a:buClr>
              <a:buSzPct val="140000"/>
            </a:pPr>
            <a:r>
              <a:rPr lang="en-US" dirty="0">
                <a:latin typeface="+mn-lt"/>
              </a:rPr>
              <a:t>Allows the code to execute in a controlled environment where its behavior can be closely monitored without threatening the security of a real system</a:t>
            </a:r>
          </a:p>
          <a:p>
            <a:pPr>
              <a:buClr>
                <a:schemeClr val="accent6">
                  <a:lumMod val="60000"/>
                  <a:lumOff val="40000"/>
                </a:schemeClr>
              </a:buClr>
              <a:buSzPct val="140000"/>
            </a:pPr>
            <a:r>
              <a:rPr lang="en-US" dirty="0">
                <a:latin typeface="+mn-lt"/>
              </a:rPr>
              <a:t>Running potentially malicious software in such environments enables the detection of complex encrypted, polymorphic, or metamorphic malware</a:t>
            </a:r>
          </a:p>
          <a:p>
            <a:pPr>
              <a:buClr>
                <a:schemeClr val="accent6">
                  <a:lumMod val="60000"/>
                  <a:lumOff val="40000"/>
                </a:schemeClr>
              </a:buClr>
              <a:buSzPct val="140000"/>
            </a:pPr>
            <a:r>
              <a:rPr lang="en-US" dirty="0">
                <a:latin typeface="+mn-lt"/>
              </a:rPr>
              <a:t>The most difficult design issue with sandbox analysis is to determine how long to run each interpretation</a:t>
            </a:r>
          </a:p>
          <a:p>
            <a:endParaRPr lang="en-US" dirty="0"/>
          </a:p>
        </p:txBody>
      </p:sp>
    </p:spTree>
    <p:extLst>
      <p:ext uri="{BB962C8B-B14F-4D97-AF65-F5344CB8AC3E}">
        <p14:creationId xmlns:p14="http://schemas.microsoft.com/office/powerpoint/2010/main" val="667943479"/>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0"/>
            <a:ext cx="9144000" cy="1143000"/>
          </a:xfrm>
        </p:spPr>
        <p:txBody>
          <a:bodyPr wrap="square" numCol="1" anchorCtr="0" compatLnSpc="1">
            <a:prstTxWarp prst="textNoShape">
              <a:avLst/>
            </a:prstTxWarp>
            <a:noAutofit/>
          </a:bodyPr>
          <a:lstStyle/>
          <a:p>
            <a:pPr eaLnBrk="1" hangingPunct="1"/>
            <a:r>
              <a:rPr lang="en-US" sz="3600" dirty="0">
                <a:solidFill>
                  <a:schemeClr val="accent6">
                    <a:lumMod val="40000"/>
                    <a:lumOff val="60000"/>
                  </a:schemeClr>
                </a:solidFill>
              </a:rPr>
              <a:t>Host-Based Behavior-Blocking Software</a:t>
            </a:r>
          </a:p>
        </p:txBody>
      </p:sp>
      <p:sp>
        <p:nvSpPr>
          <p:cNvPr id="3" name="Content Placeholder 2"/>
          <p:cNvSpPr>
            <a:spLocks noGrp="1"/>
          </p:cNvSpPr>
          <p:nvPr>
            <p:ph idx="1"/>
          </p:nvPr>
        </p:nvSpPr>
        <p:spPr>
          <a:xfrm>
            <a:off x="1981200" y="1143000"/>
            <a:ext cx="8458200" cy="3048000"/>
          </a:xfrm>
        </p:spPr>
        <p:txBody>
          <a:bodyPr wrap="square" numCol="1" anchor="t" anchorCtr="0" compatLnSpc="1">
            <a:prstTxWarp prst="textNoShape">
              <a:avLst/>
            </a:prstTxWarp>
          </a:bodyPr>
          <a:lstStyle/>
          <a:p>
            <a:pPr eaLnBrk="1" hangingPunct="1">
              <a:buClr>
                <a:schemeClr val="accent6">
                  <a:lumMod val="60000"/>
                  <a:lumOff val="40000"/>
                </a:schemeClr>
              </a:buClr>
              <a:buSzPct val="140000"/>
            </a:pPr>
            <a:r>
              <a:rPr lang="en-US" dirty="0">
                <a:latin typeface="+mn-lt"/>
                <a:ea typeface="ＭＳ Ｐゴシック" pitchFamily="-65" charset="-128"/>
              </a:rPr>
              <a:t>Integrates with the operating system of a host computer and monitors program behavior in real time for malicious action </a:t>
            </a:r>
          </a:p>
          <a:p>
            <a:pPr lvl="2" eaLnBrk="1" hangingPunct="1">
              <a:buClr>
                <a:schemeClr val="accent6">
                  <a:lumMod val="60000"/>
                  <a:lumOff val="40000"/>
                </a:schemeClr>
              </a:buClr>
              <a:buSzPct val="140000"/>
            </a:pPr>
            <a:r>
              <a:rPr lang="en-US" dirty="0">
                <a:latin typeface="+mn-lt"/>
                <a:ea typeface="ＭＳ Ｐゴシック" pitchFamily="-65" charset="-128"/>
              </a:rPr>
              <a:t>Blocks potentially malicious actions before they have a chance to affect the system</a:t>
            </a:r>
          </a:p>
          <a:p>
            <a:pPr lvl="2" eaLnBrk="1" hangingPunct="1">
              <a:buClr>
                <a:schemeClr val="accent6">
                  <a:lumMod val="60000"/>
                  <a:lumOff val="40000"/>
                </a:schemeClr>
              </a:buClr>
              <a:buSzPct val="140000"/>
            </a:pPr>
            <a:r>
              <a:rPr lang="en-US" dirty="0">
                <a:latin typeface="+mn-lt"/>
                <a:ea typeface="ＭＳ Ｐゴシック" pitchFamily="-65" charset="-128"/>
              </a:rPr>
              <a:t>Blocks software in real time so it has an advantage over anti-virus detection techniques such as fingerprinting or heuristics</a:t>
            </a:r>
          </a:p>
        </p:txBody>
      </p:sp>
      <p:graphicFrame>
        <p:nvGraphicFramePr>
          <p:cNvPr id="4" name="Diagram 3"/>
          <p:cNvGraphicFramePr/>
          <p:nvPr/>
        </p:nvGraphicFramePr>
        <p:xfrm>
          <a:off x="3124200" y="3886200"/>
          <a:ext cx="6400800" cy="213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274638"/>
            <a:ext cx="9144000" cy="850106"/>
          </a:xfrm>
        </p:spPr>
        <p:txBody>
          <a:bodyPr wrap="square" numCol="1" anchorCtr="0" compatLnSpc="1">
            <a:prstTxWarp prst="textNoShape">
              <a:avLst/>
            </a:prstTxWarp>
          </a:bodyPr>
          <a:lstStyle/>
          <a:p>
            <a:pPr eaLnBrk="1" hangingPunct="1"/>
            <a:r>
              <a:rPr lang="en-US" sz="4800" dirty="0">
                <a:solidFill>
                  <a:schemeClr val="accent6">
                    <a:lumMod val="40000"/>
                    <a:lumOff val="60000"/>
                  </a:schemeClr>
                </a:solidFill>
              </a:rPr>
              <a:t>Perimeter Scanning Approaches</a:t>
            </a:r>
          </a:p>
        </p:txBody>
      </p:sp>
      <p:sp>
        <p:nvSpPr>
          <p:cNvPr id="3" name="Content Placeholder 2"/>
          <p:cNvSpPr>
            <a:spLocks noGrp="1"/>
          </p:cNvSpPr>
          <p:nvPr>
            <p:ph sz="half" idx="4294967295"/>
          </p:nvPr>
        </p:nvSpPr>
        <p:spPr>
          <a:xfrm>
            <a:off x="1703512" y="1368115"/>
            <a:ext cx="3932238" cy="5172025"/>
          </a:xfrm>
        </p:spPr>
        <p:txBody>
          <a:bodyPr wrap="square" numCol="1" anchor="t" anchorCtr="0" compatLnSpc="1">
            <a:prstTxWarp prst="textNoShape">
              <a:avLst/>
            </a:prstTxWarp>
            <a:normAutofit lnSpcReduction="10000"/>
          </a:bodyPr>
          <a:lstStyle/>
          <a:p>
            <a:pPr>
              <a:lnSpc>
                <a:spcPct val="90000"/>
              </a:lnSpc>
              <a:spcAft>
                <a:spcPts val="1200"/>
              </a:spcAft>
              <a:buClr>
                <a:schemeClr val="accent6">
                  <a:lumMod val="60000"/>
                  <a:lumOff val="40000"/>
                </a:schemeClr>
              </a:buClr>
              <a:buSzPct val="140000"/>
            </a:pPr>
            <a:r>
              <a:rPr lang="en-US" dirty="0">
                <a:latin typeface="+mn-lt"/>
                <a:ea typeface="ＭＳ Ｐゴシック" pitchFamily="-65" charset="-128"/>
              </a:rPr>
              <a:t>Anti-virus software typically included in     e-mail and Web proxy services running on an organization’s firewall and IDS</a:t>
            </a:r>
          </a:p>
          <a:p>
            <a:pPr>
              <a:lnSpc>
                <a:spcPct val="90000"/>
              </a:lnSpc>
              <a:spcAft>
                <a:spcPts val="1200"/>
              </a:spcAft>
              <a:buClr>
                <a:schemeClr val="accent6">
                  <a:lumMod val="60000"/>
                  <a:lumOff val="40000"/>
                </a:schemeClr>
              </a:buClr>
              <a:buSzPct val="140000"/>
            </a:pPr>
            <a:r>
              <a:rPr lang="en-US" dirty="0">
                <a:latin typeface="+mn-lt"/>
                <a:ea typeface="ＭＳ Ｐゴシック" pitchFamily="-65" charset="-128"/>
              </a:rPr>
              <a:t>May also be included in the traffic analysis component of an IDS</a:t>
            </a:r>
          </a:p>
          <a:p>
            <a:pPr>
              <a:lnSpc>
                <a:spcPct val="90000"/>
              </a:lnSpc>
              <a:spcAft>
                <a:spcPts val="1200"/>
              </a:spcAft>
              <a:buClr>
                <a:schemeClr val="accent6">
                  <a:lumMod val="60000"/>
                  <a:lumOff val="40000"/>
                </a:schemeClr>
              </a:buClr>
              <a:buSzPct val="140000"/>
            </a:pPr>
            <a:r>
              <a:rPr lang="en-US" dirty="0">
                <a:latin typeface="+mn-lt"/>
                <a:ea typeface="ＭＳ Ｐゴシック" pitchFamily="-65" charset="-128"/>
              </a:rPr>
              <a:t>May include intrusion prevention measures, blocking the flow of any suspicious traffic</a:t>
            </a:r>
          </a:p>
          <a:p>
            <a:pPr>
              <a:lnSpc>
                <a:spcPct val="90000"/>
              </a:lnSpc>
              <a:spcAft>
                <a:spcPts val="1200"/>
              </a:spcAft>
              <a:buClr>
                <a:schemeClr val="accent6">
                  <a:lumMod val="60000"/>
                  <a:lumOff val="40000"/>
                </a:schemeClr>
              </a:buClr>
              <a:buSzPct val="140000"/>
            </a:pPr>
            <a:r>
              <a:rPr lang="en-US" dirty="0">
                <a:latin typeface="+mn-lt"/>
                <a:ea typeface="ＭＳ Ｐゴシック" pitchFamily="-65" charset="-128"/>
              </a:rPr>
              <a:t>Approach is limited to scanning malware</a:t>
            </a:r>
          </a:p>
        </p:txBody>
      </p:sp>
      <p:graphicFrame>
        <p:nvGraphicFramePr>
          <p:cNvPr id="5" name="Content Placeholder 4"/>
          <p:cNvGraphicFramePr>
            <a:graphicFrameLocks noGrp="1"/>
          </p:cNvGraphicFramePr>
          <p:nvPr>
            <p:ph sz="half" idx="4294967295"/>
          </p:nvPr>
        </p:nvGraphicFramePr>
        <p:xfrm>
          <a:off x="5791200" y="1600200"/>
          <a:ext cx="46482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3189" name="TextBox 5"/>
          <p:cNvSpPr txBox="1">
            <a:spLocks noChangeArrowheads="1"/>
          </p:cNvSpPr>
          <p:nvPr/>
        </p:nvSpPr>
        <p:spPr bwMode="auto">
          <a:xfrm>
            <a:off x="6400800" y="6211670"/>
            <a:ext cx="4724400" cy="646331"/>
          </a:xfrm>
          <a:prstGeom prst="rect">
            <a:avLst/>
          </a:prstGeom>
          <a:noFill/>
          <a:ln w="9525">
            <a:noFill/>
            <a:miter lim="800000"/>
            <a:headEnd/>
            <a:tailEnd/>
          </a:ln>
        </p:spPr>
        <p:txBody>
          <a:bodyPr wrap="square">
            <a:spAutoFit/>
          </a:bodyPr>
          <a:lstStyle/>
          <a:p>
            <a:r>
              <a:rPr lang="en-US" dirty="0"/>
              <a:t>Two types of monitoring software</a:t>
            </a:r>
          </a:p>
          <a:p>
            <a:endParaRPr lang="en-US" dirty="0"/>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a:xfrm>
            <a:off x="1631504" y="-459432"/>
            <a:ext cx="8928992" cy="1368152"/>
          </a:xfrm>
        </p:spPr>
        <p:txBody>
          <a:bodyPr/>
          <a:lstStyle/>
          <a:p>
            <a:r>
              <a:rPr lang="en-US" dirty="0">
                <a:solidFill>
                  <a:schemeClr val="accent6">
                    <a:lumMod val="60000"/>
                    <a:lumOff val="40000"/>
                  </a:schemeClr>
                </a:solidFill>
              </a:rPr>
              <a:t>Summary</a:t>
            </a:r>
            <a:endParaRPr lang="en-AU" dirty="0">
              <a:solidFill>
                <a:schemeClr val="accent6">
                  <a:lumMod val="60000"/>
                  <a:lumOff val="40000"/>
                </a:schemeClr>
              </a:solidFill>
            </a:endParaRPr>
          </a:p>
        </p:txBody>
      </p:sp>
      <p:sp>
        <p:nvSpPr>
          <p:cNvPr id="11" name="Content Placeholder 10"/>
          <p:cNvSpPr>
            <a:spLocks noGrp="1"/>
          </p:cNvSpPr>
          <p:nvPr>
            <p:ph sz="half" idx="2"/>
          </p:nvPr>
        </p:nvSpPr>
        <p:spPr>
          <a:xfrm>
            <a:off x="6023992" y="1221139"/>
            <a:ext cx="4392488" cy="5590085"/>
          </a:xfrm>
        </p:spPr>
        <p:txBody>
          <a:bodyPr>
            <a:normAutofit fontScale="92500" lnSpcReduction="20000"/>
          </a:bodyPr>
          <a:lstStyle/>
          <a:p>
            <a:pPr marL="342900" lvl="1" indent="-342900">
              <a:buClr>
                <a:schemeClr val="accent6">
                  <a:lumMod val="60000"/>
                  <a:lumOff val="40000"/>
                </a:schemeClr>
              </a:buClr>
              <a:buSzPct val="140000"/>
              <a:buFont typeface="Arial" charset="0"/>
              <a:buChar char="•"/>
            </a:pPr>
            <a:r>
              <a:rPr lang="en-AU" sz="2200" dirty="0">
                <a:latin typeface="+mn-lt"/>
              </a:rPr>
              <a:t>Propagation-social engineering-span E-mail, Trojans</a:t>
            </a:r>
          </a:p>
          <a:p>
            <a:pPr lvl="1">
              <a:lnSpc>
                <a:spcPct val="80000"/>
              </a:lnSpc>
              <a:buClr>
                <a:schemeClr val="accent6">
                  <a:lumMod val="60000"/>
                  <a:lumOff val="40000"/>
                </a:schemeClr>
              </a:buClr>
              <a:buSzPct val="140000"/>
              <a:buFont typeface="Arial" charset="0"/>
              <a:buChar char="•"/>
            </a:pPr>
            <a:r>
              <a:rPr lang="en-AU" sz="1500" dirty="0">
                <a:latin typeface="+mn-lt"/>
              </a:rPr>
              <a:t>Spam E-mail</a:t>
            </a:r>
          </a:p>
          <a:p>
            <a:pPr lvl="1">
              <a:lnSpc>
                <a:spcPct val="80000"/>
              </a:lnSpc>
              <a:buClr>
                <a:schemeClr val="accent6">
                  <a:lumMod val="60000"/>
                  <a:lumOff val="40000"/>
                </a:schemeClr>
              </a:buClr>
              <a:buSzPct val="140000"/>
              <a:buFont typeface="Arial" charset="0"/>
              <a:buChar char="•"/>
            </a:pPr>
            <a:r>
              <a:rPr lang="en-AU" sz="1500" dirty="0">
                <a:latin typeface="+mn-lt"/>
              </a:rPr>
              <a:t>Trojan horses</a:t>
            </a:r>
          </a:p>
          <a:p>
            <a:pPr lvl="1">
              <a:lnSpc>
                <a:spcPct val="80000"/>
              </a:lnSpc>
              <a:buClr>
                <a:schemeClr val="accent6">
                  <a:lumMod val="60000"/>
                  <a:lumOff val="40000"/>
                </a:schemeClr>
              </a:buClr>
              <a:buSzPct val="140000"/>
              <a:buFont typeface="Arial" charset="0"/>
              <a:buChar char="•"/>
            </a:pPr>
            <a:r>
              <a:rPr lang="en-AU" sz="1500" dirty="0">
                <a:latin typeface="+mn-lt"/>
              </a:rPr>
              <a:t>Mobile phone Trojans</a:t>
            </a:r>
          </a:p>
          <a:p>
            <a:pPr marL="342900" lvl="1" indent="-342900">
              <a:buClr>
                <a:schemeClr val="accent6">
                  <a:lumMod val="60000"/>
                  <a:lumOff val="40000"/>
                </a:schemeClr>
              </a:buClr>
              <a:buSzPct val="140000"/>
              <a:buFont typeface="Arial" charset="0"/>
              <a:buChar char="•"/>
            </a:pPr>
            <a:r>
              <a:rPr lang="en-AU" sz="2200" dirty="0">
                <a:latin typeface="+mn-lt"/>
              </a:rPr>
              <a:t>Payload-system corruption</a:t>
            </a:r>
          </a:p>
          <a:p>
            <a:pPr lvl="1">
              <a:lnSpc>
                <a:spcPct val="80000"/>
              </a:lnSpc>
              <a:buClr>
                <a:schemeClr val="accent6">
                  <a:lumMod val="60000"/>
                  <a:lumOff val="40000"/>
                </a:schemeClr>
              </a:buClr>
              <a:buSzPct val="140000"/>
              <a:buFont typeface="Arial" charset="0"/>
              <a:buChar char="•"/>
            </a:pPr>
            <a:r>
              <a:rPr lang="en-AU" sz="1500" dirty="0">
                <a:latin typeface="+mn-lt"/>
              </a:rPr>
              <a:t>Data destruction</a:t>
            </a:r>
          </a:p>
          <a:p>
            <a:pPr lvl="1">
              <a:lnSpc>
                <a:spcPct val="80000"/>
              </a:lnSpc>
              <a:buClr>
                <a:schemeClr val="accent6">
                  <a:lumMod val="60000"/>
                  <a:lumOff val="40000"/>
                </a:schemeClr>
              </a:buClr>
              <a:buSzPct val="140000"/>
              <a:buFont typeface="Arial" charset="0"/>
              <a:buChar char="•"/>
            </a:pPr>
            <a:r>
              <a:rPr lang="en-AU" sz="1500" dirty="0">
                <a:latin typeface="+mn-lt"/>
              </a:rPr>
              <a:t>Real-world damage</a:t>
            </a:r>
          </a:p>
          <a:p>
            <a:pPr lvl="1">
              <a:lnSpc>
                <a:spcPct val="80000"/>
              </a:lnSpc>
              <a:buClr>
                <a:schemeClr val="accent6">
                  <a:lumMod val="60000"/>
                  <a:lumOff val="40000"/>
                </a:schemeClr>
              </a:buClr>
              <a:buSzPct val="140000"/>
              <a:buFont typeface="Arial" charset="0"/>
              <a:buChar char="•"/>
            </a:pPr>
            <a:r>
              <a:rPr lang="en-AU" sz="1500" dirty="0">
                <a:latin typeface="+mn-lt"/>
              </a:rPr>
              <a:t>Logic bomb</a:t>
            </a:r>
          </a:p>
          <a:p>
            <a:pPr marL="342900" lvl="1" indent="-342900">
              <a:buClr>
                <a:schemeClr val="accent6">
                  <a:lumMod val="60000"/>
                  <a:lumOff val="40000"/>
                </a:schemeClr>
              </a:buClr>
              <a:buSzPct val="140000"/>
              <a:buFont typeface="Arial" charset="0"/>
              <a:buChar char="•"/>
            </a:pPr>
            <a:r>
              <a:rPr lang="en-AU" sz="2200" dirty="0">
                <a:latin typeface="+mn-lt"/>
              </a:rPr>
              <a:t>Payload-attack agent-zombie, bots</a:t>
            </a:r>
          </a:p>
          <a:p>
            <a:pPr lvl="1">
              <a:lnSpc>
                <a:spcPct val="80000"/>
              </a:lnSpc>
              <a:buClr>
                <a:schemeClr val="accent6">
                  <a:lumMod val="60000"/>
                  <a:lumOff val="40000"/>
                </a:schemeClr>
              </a:buClr>
              <a:buSzPct val="140000"/>
              <a:buFont typeface="Arial" charset="0"/>
              <a:buChar char="•"/>
            </a:pPr>
            <a:r>
              <a:rPr lang="en-AU" sz="1500" dirty="0">
                <a:latin typeface="+mn-lt"/>
              </a:rPr>
              <a:t>Uses of bots</a:t>
            </a:r>
          </a:p>
          <a:p>
            <a:pPr lvl="1">
              <a:lnSpc>
                <a:spcPct val="80000"/>
              </a:lnSpc>
              <a:buClr>
                <a:schemeClr val="accent6">
                  <a:lumMod val="60000"/>
                  <a:lumOff val="40000"/>
                </a:schemeClr>
              </a:buClr>
              <a:buSzPct val="140000"/>
              <a:buFont typeface="Arial" charset="0"/>
              <a:buChar char="•"/>
            </a:pPr>
            <a:r>
              <a:rPr lang="en-AU" sz="1500" dirty="0">
                <a:latin typeface="+mn-lt"/>
              </a:rPr>
              <a:t>Remote control facility</a:t>
            </a:r>
          </a:p>
          <a:p>
            <a:pPr marL="342900" lvl="1" indent="-342900">
              <a:buClr>
                <a:schemeClr val="accent6">
                  <a:lumMod val="60000"/>
                  <a:lumOff val="40000"/>
                </a:schemeClr>
              </a:buClr>
              <a:buSzPct val="140000"/>
              <a:buFont typeface="Arial" charset="0"/>
              <a:buChar char="•"/>
            </a:pPr>
            <a:r>
              <a:rPr lang="en-AU" sz="2200" dirty="0">
                <a:latin typeface="+mn-lt"/>
              </a:rPr>
              <a:t>Payload-information theft-</a:t>
            </a:r>
            <a:r>
              <a:rPr lang="en-AU" sz="2200" dirty="0" err="1">
                <a:latin typeface="+mn-lt"/>
              </a:rPr>
              <a:t>keyloggers</a:t>
            </a:r>
            <a:r>
              <a:rPr lang="en-AU" sz="2200" dirty="0">
                <a:latin typeface="+mn-lt"/>
              </a:rPr>
              <a:t>, phishing, spyware</a:t>
            </a:r>
          </a:p>
          <a:p>
            <a:pPr lvl="1">
              <a:lnSpc>
                <a:spcPct val="80000"/>
              </a:lnSpc>
              <a:buClr>
                <a:schemeClr val="accent6">
                  <a:lumMod val="60000"/>
                  <a:lumOff val="40000"/>
                </a:schemeClr>
              </a:buClr>
              <a:buSzPct val="140000"/>
              <a:buFont typeface="Arial" charset="0"/>
              <a:buChar char="•"/>
            </a:pPr>
            <a:r>
              <a:rPr lang="en-AU" sz="1500" dirty="0">
                <a:latin typeface="+mn-lt"/>
              </a:rPr>
              <a:t>Credential theft, </a:t>
            </a:r>
            <a:r>
              <a:rPr lang="en-AU" sz="1500" dirty="0" err="1">
                <a:latin typeface="+mn-lt"/>
              </a:rPr>
              <a:t>keyloggers</a:t>
            </a:r>
            <a:r>
              <a:rPr lang="en-AU" sz="1500" dirty="0">
                <a:latin typeface="+mn-lt"/>
              </a:rPr>
              <a:t>, and spyware</a:t>
            </a:r>
          </a:p>
          <a:p>
            <a:pPr lvl="1">
              <a:lnSpc>
                <a:spcPct val="80000"/>
              </a:lnSpc>
              <a:buClr>
                <a:schemeClr val="accent6">
                  <a:lumMod val="60000"/>
                  <a:lumOff val="40000"/>
                </a:schemeClr>
              </a:buClr>
              <a:buSzPct val="140000"/>
              <a:buFont typeface="Arial" charset="0"/>
              <a:buChar char="•"/>
            </a:pPr>
            <a:r>
              <a:rPr lang="en-AU" sz="1500" dirty="0">
                <a:latin typeface="+mn-lt"/>
              </a:rPr>
              <a:t>Phishing and identity theft</a:t>
            </a:r>
          </a:p>
          <a:p>
            <a:pPr lvl="1">
              <a:lnSpc>
                <a:spcPct val="80000"/>
              </a:lnSpc>
              <a:buClr>
                <a:schemeClr val="accent6">
                  <a:lumMod val="60000"/>
                  <a:lumOff val="40000"/>
                </a:schemeClr>
              </a:buClr>
              <a:buSzPct val="140000"/>
              <a:buFont typeface="Arial" charset="0"/>
              <a:buChar char="•"/>
            </a:pPr>
            <a:r>
              <a:rPr lang="en-AU" sz="1500" dirty="0">
                <a:latin typeface="+mn-lt"/>
              </a:rPr>
              <a:t>Reconnaissance, espionage, and data exfiltration</a:t>
            </a:r>
          </a:p>
          <a:p>
            <a:pPr marL="342900" lvl="1" indent="-342900">
              <a:buClr>
                <a:schemeClr val="accent6">
                  <a:lumMod val="60000"/>
                  <a:lumOff val="40000"/>
                </a:schemeClr>
              </a:buClr>
              <a:buSzPct val="140000"/>
              <a:buFont typeface="Arial" charset="0"/>
              <a:buChar char="•"/>
            </a:pPr>
            <a:r>
              <a:rPr lang="en-AU" sz="2200" dirty="0">
                <a:latin typeface="+mn-lt"/>
              </a:rPr>
              <a:t>Countermeasures</a:t>
            </a:r>
          </a:p>
          <a:p>
            <a:pPr lvl="1">
              <a:lnSpc>
                <a:spcPct val="80000"/>
              </a:lnSpc>
              <a:buClr>
                <a:schemeClr val="accent6">
                  <a:lumMod val="60000"/>
                  <a:lumOff val="40000"/>
                </a:schemeClr>
              </a:buClr>
              <a:buSzPct val="140000"/>
              <a:buFont typeface="Arial" charset="0"/>
              <a:buChar char="•"/>
            </a:pPr>
            <a:r>
              <a:rPr lang="en-AU" sz="1500" dirty="0">
                <a:latin typeface="+mn-lt"/>
              </a:rPr>
              <a:t>Malware countermeasure approaches</a:t>
            </a:r>
          </a:p>
          <a:p>
            <a:pPr lvl="1">
              <a:lnSpc>
                <a:spcPct val="80000"/>
              </a:lnSpc>
              <a:buClr>
                <a:schemeClr val="accent6">
                  <a:lumMod val="60000"/>
                  <a:lumOff val="40000"/>
                </a:schemeClr>
              </a:buClr>
              <a:buSzPct val="140000"/>
              <a:buFont typeface="Arial" charset="0"/>
              <a:buChar char="•"/>
            </a:pPr>
            <a:r>
              <a:rPr lang="en-AU" sz="1500" dirty="0">
                <a:latin typeface="+mn-lt"/>
              </a:rPr>
              <a:t>Host-based scanners</a:t>
            </a:r>
          </a:p>
          <a:p>
            <a:pPr lvl="1">
              <a:lnSpc>
                <a:spcPct val="80000"/>
              </a:lnSpc>
              <a:buClr>
                <a:schemeClr val="accent6">
                  <a:lumMod val="60000"/>
                  <a:lumOff val="40000"/>
                </a:schemeClr>
              </a:buClr>
              <a:buSzPct val="140000"/>
              <a:buFont typeface="Arial" charset="0"/>
              <a:buChar char="•"/>
            </a:pPr>
            <a:r>
              <a:rPr lang="en-AU" sz="1500" dirty="0">
                <a:latin typeface="+mn-lt"/>
              </a:rPr>
              <a:t>Signature-based anti-virus</a:t>
            </a:r>
          </a:p>
          <a:p>
            <a:pPr lvl="1">
              <a:lnSpc>
                <a:spcPct val="80000"/>
              </a:lnSpc>
              <a:buClr>
                <a:schemeClr val="accent6">
                  <a:lumMod val="60000"/>
                  <a:lumOff val="40000"/>
                </a:schemeClr>
              </a:buClr>
              <a:buSzPct val="140000"/>
              <a:buFont typeface="Arial" charset="0"/>
              <a:buChar char="•"/>
            </a:pPr>
            <a:r>
              <a:rPr lang="en-AU" sz="1500" dirty="0">
                <a:latin typeface="+mn-lt"/>
              </a:rPr>
              <a:t>Perimeter scanning approaches</a:t>
            </a:r>
          </a:p>
          <a:p>
            <a:pPr lvl="1">
              <a:lnSpc>
                <a:spcPct val="80000"/>
              </a:lnSpc>
              <a:buClr>
                <a:schemeClr val="accent6">
                  <a:lumMod val="60000"/>
                  <a:lumOff val="40000"/>
                </a:schemeClr>
              </a:buClr>
              <a:buSzPct val="140000"/>
              <a:buFont typeface="Arial" charset="0"/>
              <a:buChar char="•"/>
            </a:pPr>
            <a:r>
              <a:rPr lang="en-AU" sz="1500" dirty="0">
                <a:latin typeface="+mn-lt"/>
              </a:rPr>
              <a:t>Distributed intelligence gathering approaches</a:t>
            </a:r>
          </a:p>
        </p:txBody>
      </p:sp>
      <p:sp>
        <p:nvSpPr>
          <p:cNvPr id="2" name="Content Placeholder 1"/>
          <p:cNvSpPr>
            <a:spLocks noGrp="1"/>
          </p:cNvSpPr>
          <p:nvPr>
            <p:ph sz="quarter" idx="13"/>
          </p:nvPr>
        </p:nvSpPr>
        <p:spPr>
          <a:xfrm>
            <a:off x="1790912" y="836712"/>
            <a:ext cx="4320480" cy="5935388"/>
          </a:xfrm>
        </p:spPr>
        <p:txBody>
          <a:bodyPr>
            <a:normAutofit lnSpcReduction="10000"/>
          </a:bodyPr>
          <a:lstStyle/>
          <a:p>
            <a:pPr>
              <a:buClr>
                <a:schemeClr val="accent6">
                  <a:lumMod val="60000"/>
                  <a:lumOff val="40000"/>
                </a:schemeClr>
              </a:buClr>
              <a:buSzPct val="140000"/>
              <a:buFont typeface="Arial" charset="0"/>
              <a:buChar char="•"/>
            </a:pPr>
            <a:r>
              <a:rPr lang="en-US" sz="2000" dirty="0">
                <a:latin typeface="+mn-lt"/>
              </a:rPr>
              <a:t>Types of malicious software (malware)</a:t>
            </a:r>
          </a:p>
          <a:p>
            <a:pPr lvl="1">
              <a:lnSpc>
                <a:spcPct val="80000"/>
              </a:lnSpc>
              <a:buClr>
                <a:schemeClr val="accent6">
                  <a:lumMod val="60000"/>
                  <a:lumOff val="40000"/>
                </a:schemeClr>
              </a:buClr>
              <a:buSzPct val="140000"/>
              <a:buFont typeface="Arial" charset="0"/>
              <a:buChar char="•"/>
            </a:pPr>
            <a:r>
              <a:rPr lang="en-US" sz="1400" dirty="0">
                <a:latin typeface="+mn-lt"/>
              </a:rPr>
              <a:t>Broad classification of malware</a:t>
            </a:r>
          </a:p>
          <a:p>
            <a:pPr lvl="1">
              <a:lnSpc>
                <a:spcPct val="80000"/>
              </a:lnSpc>
              <a:buClr>
                <a:schemeClr val="accent6">
                  <a:lumMod val="60000"/>
                  <a:lumOff val="40000"/>
                </a:schemeClr>
              </a:buClr>
              <a:buSzPct val="140000"/>
              <a:buFont typeface="Arial" charset="0"/>
              <a:buChar char="•"/>
            </a:pPr>
            <a:r>
              <a:rPr lang="en-US" sz="1400" dirty="0">
                <a:latin typeface="+mn-lt"/>
              </a:rPr>
              <a:t>Attack kits</a:t>
            </a:r>
          </a:p>
          <a:p>
            <a:pPr lvl="1">
              <a:lnSpc>
                <a:spcPct val="80000"/>
              </a:lnSpc>
              <a:buClr>
                <a:schemeClr val="accent6">
                  <a:lumMod val="60000"/>
                  <a:lumOff val="40000"/>
                </a:schemeClr>
              </a:buClr>
              <a:buSzPct val="140000"/>
              <a:buFont typeface="Arial" charset="0"/>
              <a:buChar char="•"/>
            </a:pPr>
            <a:r>
              <a:rPr lang="en-US" sz="1400" dirty="0">
                <a:latin typeface="+mn-lt"/>
              </a:rPr>
              <a:t>Attack sources</a:t>
            </a:r>
          </a:p>
          <a:p>
            <a:pPr>
              <a:buClr>
                <a:schemeClr val="accent6">
                  <a:lumMod val="60000"/>
                  <a:lumOff val="40000"/>
                </a:schemeClr>
              </a:buClr>
              <a:buSzPct val="140000"/>
              <a:buFont typeface="Arial" charset="0"/>
              <a:buChar char="•"/>
            </a:pPr>
            <a:r>
              <a:rPr lang="en-US" sz="2000" dirty="0">
                <a:latin typeface="+mn-lt"/>
              </a:rPr>
              <a:t>Advanced persistent threat</a:t>
            </a:r>
          </a:p>
          <a:p>
            <a:pPr>
              <a:buClr>
                <a:schemeClr val="accent6">
                  <a:lumMod val="60000"/>
                  <a:lumOff val="40000"/>
                </a:schemeClr>
              </a:buClr>
              <a:buSzPct val="140000"/>
              <a:buFont typeface="Arial" charset="0"/>
              <a:buChar char="•"/>
            </a:pPr>
            <a:r>
              <a:rPr lang="en-US" sz="2000" dirty="0">
                <a:latin typeface="+mn-lt"/>
              </a:rPr>
              <a:t>Propagation-vulnerability exploit-worms</a:t>
            </a:r>
          </a:p>
          <a:p>
            <a:pPr lvl="1">
              <a:lnSpc>
                <a:spcPct val="80000"/>
              </a:lnSpc>
              <a:buClr>
                <a:schemeClr val="accent6">
                  <a:lumMod val="60000"/>
                  <a:lumOff val="40000"/>
                </a:schemeClr>
              </a:buClr>
              <a:buSzPct val="140000"/>
              <a:buFont typeface="Arial" charset="0"/>
              <a:buChar char="•"/>
            </a:pPr>
            <a:r>
              <a:rPr lang="en-US" sz="1400" dirty="0">
                <a:latin typeface="+mn-lt"/>
              </a:rPr>
              <a:t>Target discovery</a:t>
            </a:r>
          </a:p>
          <a:p>
            <a:pPr lvl="1">
              <a:lnSpc>
                <a:spcPct val="80000"/>
              </a:lnSpc>
              <a:buClr>
                <a:schemeClr val="accent6">
                  <a:lumMod val="60000"/>
                  <a:lumOff val="40000"/>
                </a:schemeClr>
              </a:buClr>
              <a:buSzPct val="140000"/>
              <a:buFont typeface="Arial" charset="0"/>
              <a:buChar char="•"/>
            </a:pPr>
            <a:r>
              <a:rPr lang="en-US" sz="1400" dirty="0">
                <a:latin typeface="+mn-lt"/>
              </a:rPr>
              <a:t>Worm propagation model</a:t>
            </a:r>
          </a:p>
          <a:p>
            <a:pPr lvl="1">
              <a:lnSpc>
                <a:spcPct val="80000"/>
              </a:lnSpc>
              <a:buClr>
                <a:schemeClr val="accent6">
                  <a:lumMod val="60000"/>
                  <a:lumOff val="40000"/>
                </a:schemeClr>
              </a:buClr>
              <a:buSzPct val="140000"/>
              <a:buFont typeface="Arial" charset="0"/>
              <a:buChar char="•"/>
            </a:pPr>
            <a:r>
              <a:rPr lang="en-US" sz="1400" dirty="0">
                <a:latin typeface="+mn-lt"/>
              </a:rPr>
              <a:t>The Morris Worm</a:t>
            </a:r>
          </a:p>
          <a:p>
            <a:pPr lvl="1">
              <a:lnSpc>
                <a:spcPct val="80000"/>
              </a:lnSpc>
              <a:buClr>
                <a:schemeClr val="accent6">
                  <a:lumMod val="60000"/>
                  <a:lumOff val="40000"/>
                </a:schemeClr>
              </a:buClr>
              <a:buSzPct val="140000"/>
              <a:buFont typeface="Arial" charset="0"/>
              <a:buChar char="•"/>
            </a:pPr>
            <a:r>
              <a:rPr lang="en-US" sz="1400" dirty="0">
                <a:latin typeface="+mn-lt"/>
              </a:rPr>
              <a:t>Brief history of worm attacks</a:t>
            </a:r>
          </a:p>
          <a:p>
            <a:pPr lvl="1">
              <a:lnSpc>
                <a:spcPct val="80000"/>
              </a:lnSpc>
              <a:buClr>
                <a:schemeClr val="accent6">
                  <a:lumMod val="60000"/>
                  <a:lumOff val="40000"/>
                </a:schemeClr>
              </a:buClr>
              <a:buSzPct val="140000"/>
              <a:buFont typeface="Arial" charset="0"/>
              <a:buChar char="•"/>
            </a:pPr>
            <a:r>
              <a:rPr lang="en-US" sz="1400" dirty="0">
                <a:latin typeface="+mn-lt"/>
              </a:rPr>
              <a:t>State of worm technology</a:t>
            </a:r>
          </a:p>
          <a:p>
            <a:pPr lvl="1">
              <a:lnSpc>
                <a:spcPct val="80000"/>
              </a:lnSpc>
              <a:buClr>
                <a:schemeClr val="accent6">
                  <a:lumMod val="60000"/>
                  <a:lumOff val="40000"/>
                </a:schemeClr>
              </a:buClr>
              <a:buSzPct val="140000"/>
              <a:buFont typeface="Arial" charset="0"/>
              <a:buChar char="•"/>
            </a:pPr>
            <a:r>
              <a:rPr lang="en-US" sz="1400" dirty="0">
                <a:latin typeface="+mn-lt"/>
              </a:rPr>
              <a:t>Mobile code</a:t>
            </a:r>
          </a:p>
          <a:p>
            <a:pPr lvl="1">
              <a:lnSpc>
                <a:spcPct val="80000"/>
              </a:lnSpc>
              <a:buClr>
                <a:schemeClr val="accent6">
                  <a:lumMod val="60000"/>
                  <a:lumOff val="40000"/>
                </a:schemeClr>
              </a:buClr>
              <a:buSzPct val="140000"/>
              <a:buFont typeface="Arial" charset="0"/>
              <a:buChar char="•"/>
            </a:pPr>
            <a:r>
              <a:rPr lang="en-US" sz="1400" dirty="0">
                <a:latin typeface="+mn-lt"/>
              </a:rPr>
              <a:t>Mobile phone worms</a:t>
            </a:r>
          </a:p>
          <a:p>
            <a:pPr lvl="1">
              <a:lnSpc>
                <a:spcPct val="80000"/>
              </a:lnSpc>
              <a:buClr>
                <a:schemeClr val="accent6">
                  <a:lumMod val="60000"/>
                  <a:lumOff val="40000"/>
                </a:schemeClr>
              </a:buClr>
              <a:buSzPct val="140000"/>
              <a:buFont typeface="Arial" charset="0"/>
              <a:buChar char="•"/>
            </a:pPr>
            <a:r>
              <a:rPr lang="en-US" sz="1400" dirty="0">
                <a:latin typeface="+mn-lt"/>
              </a:rPr>
              <a:t>Client-side vulnerabilities </a:t>
            </a:r>
          </a:p>
          <a:p>
            <a:pPr lvl="1">
              <a:lnSpc>
                <a:spcPct val="80000"/>
              </a:lnSpc>
              <a:buClr>
                <a:schemeClr val="accent6">
                  <a:lumMod val="60000"/>
                  <a:lumOff val="40000"/>
                </a:schemeClr>
              </a:buClr>
              <a:buSzPct val="140000"/>
              <a:buFont typeface="Arial" charset="0"/>
              <a:buChar char="•"/>
            </a:pPr>
            <a:r>
              <a:rPr lang="en-US" sz="1400" dirty="0">
                <a:latin typeface="+mn-lt"/>
              </a:rPr>
              <a:t>Drive-by-downloads</a:t>
            </a:r>
          </a:p>
          <a:p>
            <a:pPr lvl="1">
              <a:lnSpc>
                <a:spcPct val="80000"/>
              </a:lnSpc>
              <a:buClr>
                <a:schemeClr val="accent6">
                  <a:lumMod val="60000"/>
                  <a:lumOff val="40000"/>
                </a:schemeClr>
              </a:buClr>
              <a:buSzPct val="140000"/>
              <a:buFont typeface="Arial" charset="0"/>
              <a:buChar char="•"/>
            </a:pPr>
            <a:r>
              <a:rPr lang="en-US" sz="1400" dirty="0">
                <a:latin typeface="+mn-lt"/>
              </a:rPr>
              <a:t>Clickjacking </a:t>
            </a:r>
          </a:p>
          <a:p>
            <a:pPr marL="342900" lvl="1" indent="-342900">
              <a:lnSpc>
                <a:spcPct val="90000"/>
              </a:lnSpc>
              <a:buClr>
                <a:schemeClr val="accent6">
                  <a:lumMod val="60000"/>
                  <a:lumOff val="40000"/>
                </a:schemeClr>
              </a:buClr>
              <a:buSzPct val="140000"/>
              <a:buFont typeface="Arial" charset="0"/>
              <a:buChar char="•"/>
            </a:pPr>
            <a:r>
              <a:rPr lang="en-US" sz="2000" dirty="0">
                <a:latin typeface="+mn-lt"/>
              </a:rPr>
              <a:t>Payload-</a:t>
            </a:r>
            <a:r>
              <a:rPr lang="en-US" sz="2000" dirty="0" err="1">
                <a:latin typeface="+mn-lt"/>
              </a:rPr>
              <a:t>stealthing</a:t>
            </a:r>
            <a:r>
              <a:rPr lang="en-US" sz="2000" dirty="0">
                <a:latin typeface="+mn-lt"/>
              </a:rPr>
              <a:t>-backdoors, rootkits</a:t>
            </a:r>
          </a:p>
          <a:p>
            <a:pPr marL="742950" lvl="2" indent="-342900">
              <a:lnSpc>
                <a:spcPct val="90000"/>
              </a:lnSpc>
              <a:buClr>
                <a:schemeClr val="accent6">
                  <a:lumMod val="60000"/>
                  <a:lumOff val="40000"/>
                </a:schemeClr>
              </a:buClr>
              <a:buSzPct val="140000"/>
              <a:buFont typeface="Arial" charset="0"/>
              <a:buChar char="•"/>
            </a:pPr>
            <a:r>
              <a:rPr lang="en-US" sz="1400" dirty="0">
                <a:latin typeface="+mn-lt"/>
              </a:rPr>
              <a:t>Backdoor</a:t>
            </a:r>
          </a:p>
          <a:p>
            <a:pPr marL="742950" lvl="2" indent="-342900">
              <a:lnSpc>
                <a:spcPct val="90000"/>
              </a:lnSpc>
              <a:buClr>
                <a:schemeClr val="accent6">
                  <a:lumMod val="60000"/>
                  <a:lumOff val="40000"/>
                </a:schemeClr>
              </a:buClr>
              <a:buSzPct val="140000"/>
              <a:buFont typeface="Arial" charset="0"/>
              <a:buChar char="•"/>
            </a:pPr>
            <a:r>
              <a:rPr lang="en-US" sz="1400" dirty="0">
                <a:latin typeface="+mn-lt"/>
              </a:rPr>
              <a:t>Rootkit</a:t>
            </a:r>
          </a:p>
          <a:p>
            <a:pPr marL="742950" lvl="2" indent="-342900">
              <a:lnSpc>
                <a:spcPct val="90000"/>
              </a:lnSpc>
              <a:buClr>
                <a:schemeClr val="accent6">
                  <a:lumMod val="60000"/>
                  <a:lumOff val="40000"/>
                </a:schemeClr>
              </a:buClr>
              <a:buSzPct val="140000"/>
              <a:buFont typeface="Arial" charset="0"/>
              <a:buChar char="•"/>
            </a:pPr>
            <a:r>
              <a:rPr lang="en-US" sz="1400" dirty="0">
                <a:latin typeface="+mn-lt"/>
              </a:rPr>
              <a:t>Kernel mode rootkits</a:t>
            </a:r>
          </a:p>
          <a:p>
            <a:pPr marL="742950" lvl="2" indent="-342900">
              <a:lnSpc>
                <a:spcPct val="90000"/>
              </a:lnSpc>
              <a:buClr>
                <a:schemeClr val="accent6">
                  <a:lumMod val="60000"/>
                  <a:lumOff val="40000"/>
                </a:schemeClr>
              </a:buClr>
              <a:buSzPct val="140000"/>
              <a:buFont typeface="Arial" charset="0"/>
              <a:buChar char="•"/>
            </a:pPr>
            <a:r>
              <a:rPr lang="en-US" sz="1400" dirty="0">
                <a:latin typeface="+mn-lt"/>
              </a:rPr>
              <a:t>Virtual machine and other external rootkits</a:t>
            </a: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5C2F3E-75A1-931C-8801-7FF6A4B77946}"/>
              </a:ext>
            </a:extLst>
          </p:cNvPr>
          <p:cNvSpPr>
            <a:spLocks noGrp="1"/>
          </p:cNvSpPr>
          <p:nvPr>
            <p:ph type="sldNum" sz="quarter" idx="12"/>
          </p:nvPr>
        </p:nvSpPr>
        <p:spPr/>
        <p:txBody>
          <a:bodyPr/>
          <a:lstStyle/>
          <a:p>
            <a:fld id="{A2A50C4D-0BA1-4E54-8DFC-01810EC97B99}" type="slidenum">
              <a:rPr lang="en-US" smtClean="0"/>
              <a:t>49</a:t>
            </a:fld>
            <a:endParaRPr lang="en-US"/>
          </a:p>
        </p:txBody>
      </p:sp>
      <p:pic>
        <p:nvPicPr>
          <p:cNvPr id="4" name="Picture 3">
            <a:extLst>
              <a:ext uri="{FF2B5EF4-FFF2-40B4-BE49-F238E27FC236}">
                <a16:creationId xmlns:a16="http://schemas.microsoft.com/office/drawing/2014/main" id="{9558E1BA-3868-C6AD-82AC-9132EF80591B}"/>
              </a:ext>
            </a:extLst>
          </p:cNvPr>
          <p:cNvPicPr>
            <a:picLocks noChangeAspect="1"/>
          </p:cNvPicPr>
          <p:nvPr/>
        </p:nvPicPr>
        <p:blipFill>
          <a:blip r:embed="rId2"/>
          <a:stretch>
            <a:fillRect/>
          </a:stretch>
        </p:blipFill>
        <p:spPr>
          <a:xfrm>
            <a:off x="981010" y="811982"/>
            <a:ext cx="10731751" cy="5234035"/>
          </a:xfrm>
          <a:prstGeom prst="rect">
            <a:avLst/>
          </a:prstGeom>
        </p:spPr>
      </p:pic>
    </p:spTree>
    <p:extLst>
      <p:ext uri="{BB962C8B-B14F-4D97-AF65-F5344CB8AC3E}">
        <p14:creationId xmlns:p14="http://schemas.microsoft.com/office/powerpoint/2010/main" val="2755803343"/>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xecutive">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Executive">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38618</TotalTime>
  <Words>14088</Words>
  <Application>Microsoft Office PowerPoint</Application>
  <PresentationFormat>Widescreen</PresentationFormat>
  <Paragraphs>2001</Paragraphs>
  <Slides>49</Slides>
  <Notes>36</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49</vt:i4>
      </vt:variant>
    </vt:vector>
  </HeadingPairs>
  <TitlesOfParts>
    <vt:vector size="65" baseType="lpstr">
      <vt:lpstr>MS PGothic</vt:lpstr>
      <vt:lpstr>MS PGothic</vt:lpstr>
      <vt:lpstr>Arial</vt:lpstr>
      <vt:lpstr>BemboMTPro-Bold</vt:lpstr>
      <vt:lpstr>BemboMTPro-ExtraBold</vt:lpstr>
      <vt:lpstr>Calibri</vt:lpstr>
      <vt:lpstr>Calibri Light</vt:lpstr>
      <vt:lpstr>Century Gothic</vt:lpstr>
      <vt:lpstr>Courier New</vt:lpstr>
      <vt:lpstr>Palatino Linotype</vt:lpstr>
      <vt:lpstr>Tahoma</vt:lpstr>
      <vt:lpstr>Times New Roman</vt:lpstr>
      <vt:lpstr>TimesTenLTStd-Roman</vt:lpstr>
      <vt:lpstr>Wingdings</vt:lpstr>
      <vt:lpstr>Office Theme</vt:lpstr>
      <vt:lpstr>Executive</vt:lpstr>
      <vt:lpstr>PowerPoint Presentation</vt:lpstr>
      <vt:lpstr>PowerPoint Presentation</vt:lpstr>
      <vt:lpstr>Malware</vt:lpstr>
      <vt:lpstr>Malware</vt:lpstr>
      <vt:lpstr>Classification of Malware</vt:lpstr>
      <vt:lpstr>Types of Malicious Software (Malware)</vt:lpstr>
      <vt:lpstr>TYPES OF MALICIOUS SOFTWARE (MALWARE)</vt:lpstr>
      <vt:lpstr>PowerPoint Presentation</vt:lpstr>
      <vt:lpstr>Malware</vt:lpstr>
      <vt:lpstr>PowerPoint Presentation</vt:lpstr>
      <vt:lpstr>PowerPoint Presentation</vt:lpstr>
      <vt:lpstr>PowerPoint Presentation</vt:lpstr>
      <vt:lpstr>PowerPoint Presentation</vt:lpstr>
      <vt:lpstr>Worms</vt:lpstr>
      <vt:lpstr>Worm Replication</vt:lpstr>
      <vt:lpstr>Recent Worm Attacks</vt:lpstr>
      <vt:lpstr>PowerPoint Presentation</vt:lpstr>
      <vt:lpstr>PowerPoint Presentation</vt:lpstr>
      <vt:lpstr>WannaCry</vt:lpstr>
      <vt:lpstr>PowerPoint Presentation</vt:lpstr>
      <vt:lpstr>PowerPoint Presentation</vt:lpstr>
      <vt:lpstr>Mobile Code</vt:lpstr>
      <vt:lpstr>Mobile Phone Worms</vt:lpstr>
      <vt:lpstr>Drive-By-Downloads</vt:lpstr>
      <vt:lpstr>Watering-Hole Attacks</vt:lpstr>
      <vt:lpstr>Malvertising </vt:lpstr>
      <vt:lpstr>Clickjacking </vt:lpstr>
      <vt:lpstr>Social Engineering</vt:lpstr>
      <vt:lpstr>Propagation — Social Engineering— Spam E-mail, Trojans</vt:lpstr>
      <vt:lpstr>Propagation — Social Engineering— Spam E-mail, Trojans</vt:lpstr>
      <vt:lpstr>Propagation — Social Engineering— Spam E-mail, Trojans</vt:lpstr>
      <vt:lpstr>Payload System Corruption</vt:lpstr>
      <vt:lpstr>Payload System Corruption</vt:lpstr>
      <vt:lpstr>Ransomware</vt:lpstr>
      <vt:lpstr>Payload System Corruption</vt:lpstr>
      <vt:lpstr>Payload – Attack Agents Bots</vt:lpstr>
      <vt:lpstr>Remote Control Facility</vt:lpstr>
      <vt:lpstr>Payload – Information Theft Keyloggers and Spyware</vt:lpstr>
      <vt:lpstr>Payload – Information Theft Phishing</vt:lpstr>
      <vt:lpstr>Payload – Stealthing Backdoor</vt:lpstr>
      <vt:lpstr>Payload - Stealthing Rootkit</vt:lpstr>
      <vt:lpstr>Rootkit Classification Characteristics</vt:lpstr>
      <vt:lpstr>Malware Countermeasure Approaches</vt:lpstr>
      <vt:lpstr>Generations of Anti-Virus Software</vt:lpstr>
      <vt:lpstr>Sandbox Analysis</vt:lpstr>
      <vt:lpstr>Host-Based Behavior-Blocking Software</vt:lpstr>
      <vt:lpstr>Perimeter Scanning Approaches</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InfoSec CLOs and Topic List</dc:title>
  <dc:creator>NU FAST</dc:creator>
  <cp:lastModifiedBy>Ms. Hira Tunio</cp:lastModifiedBy>
  <cp:revision>526</cp:revision>
  <cp:lastPrinted>2022-08-31T10:35:52Z</cp:lastPrinted>
  <dcterms:created xsi:type="dcterms:W3CDTF">2022-08-11T15:54:49Z</dcterms:created>
  <dcterms:modified xsi:type="dcterms:W3CDTF">2025-08-13T07:59:48Z</dcterms:modified>
</cp:coreProperties>
</file>