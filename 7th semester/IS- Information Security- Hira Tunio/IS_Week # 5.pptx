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82" r:id="rId2"/>
    <p:sldId id="427" r:id="rId3"/>
    <p:sldId id="428" r:id="rId4"/>
    <p:sldId id="333" r:id="rId5"/>
    <p:sldId id="429" r:id="rId6"/>
    <p:sldId id="430" r:id="rId7"/>
    <p:sldId id="335" r:id="rId8"/>
    <p:sldId id="283" r:id="rId9"/>
    <p:sldId id="416" r:id="rId10"/>
    <p:sldId id="285" r:id="rId11"/>
    <p:sldId id="286" r:id="rId12"/>
    <p:sldId id="287" r:id="rId13"/>
    <p:sldId id="431" r:id="rId14"/>
    <p:sldId id="444" r:id="rId15"/>
    <p:sldId id="288" r:id="rId16"/>
    <p:sldId id="447" r:id="rId17"/>
    <p:sldId id="451" r:id="rId18"/>
    <p:sldId id="294" r:id="rId19"/>
    <p:sldId id="305" r:id="rId20"/>
    <p:sldId id="295" r:id="rId21"/>
    <p:sldId id="296" r:id="rId22"/>
    <p:sldId id="464" r:id="rId23"/>
    <p:sldId id="297" r:id="rId24"/>
    <p:sldId id="298" r:id="rId25"/>
    <p:sldId id="299" r:id="rId26"/>
    <p:sldId id="302" r:id="rId27"/>
    <p:sldId id="300" r:id="rId28"/>
    <p:sldId id="469" r:id="rId29"/>
    <p:sldId id="475" r:id="rId30"/>
    <p:sldId id="476" r:id="rId31"/>
    <p:sldId id="470" r:id="rId3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2F634E-A977-463D-B8DD-61EC8E15EDF5}" type="datetimeFigureOut">
              <a:rPr lang="en-PK" smtClean="0"/>
              <a:t>22/09/2023</a:t>
            </a:fld>
            <a:endParaRPr lang="en-PK"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B8B6A-8163-4DFE-A150-0D3B741D9098}" type="slidenum">
              <a:rPr lang="en-PK" smtClean="0"/>
              <a:t>‹#›</a:t>
            </a:fld>
            <a:endParaRPr lang="en-PK" dirty="0"/>
          </a:p>
        </p:txBody>
      </p:sp>
    </p:spTree>
    <p:extLst>
      <p:ext uri="{BB962C8B-B14F-4D97-AF65-F5344CB8AC3E}">
        <p14:creationId xmlns:p14="http://schemas.microsoft.com/office/powerpoint/2010/main" val="3756716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9FA45A9E-7761-3846-9783-F10EE5B548CC}" type="slidenum">
              <a:rPr lang="en-AU" smtClean="0"/>
              <a:pPr>
                <a:defRPr/>
              </a:pPr>
              <a:t>14</a:t>
            </a:fld>
            <a:endParaRPr lang="en-AU" dirty="0"/>
          </a:p>
        </p:txBody>
      </p:sp>
    </p:spTree>
    <p:extLst>
      <p:ext uri="{BB962C8B-B14F-4D97-AF65-F5344CB8AC3E}">
        <p14:creationId xmlns:p14="http://schemas.microsoft.com/office/powerpoint/2010/main" val="1124295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1EDBC4D-E578-439E-AB12-1F656FCC4327}" type="slidenum">
              <a:rPr lang="en-AU" altLang="en-US" smtClean="0"/>
              <a:pPr>
                <a:spcBef>
                  <a:spcPct val="0"/>
                </a:spcBef>
              </a:pPr>
              <a:t>16</a:t>
            </a:fld>
            <a:endParaRPr lang="en-AU"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traditional approach to password guessing, or password cracking as it is called, is to develop a large dictionary of possible passwords and to try each of these against the password file. This means that each password must be hashed using each available salt value and then compared to stored hash values. If no match is found, then the cracking program tries variations on all the words in its dictionary of likely passwords. Such variations include backward spelling of words, additional numbers or special characters, or sequence of characters, An alternative is to trade off space for time by precomputing potential hash values. In this approach the attacker generates a large dictionary of possible passwords. For each password, the attacker generates the hash values associated with each possible salt value. The result is a mammoth table of hash values known as a rainbow table. For example, [OECH03] showed that using 1.4 GB of data, he could crack 99.9% of all alphanumeric Windows password hashes in 13.8 seconds. This approach can be countered by using a sufficiently large salt value and a sufficiently large hash length. Both the FreeBSD and OpenBSD approaches should be secure from this attack for the foreseeable future. </a:t>
            </a:r>
          </a:p>
        </p:txBody>
      </p:sp>
    </p:spTree>
    <p:extLst>
      <p:ext uri="{BB962C8B-B14F-4D97-AF65-F5344CB8AC3E}">
        <p14:creationId xmlns:p14="http://schemas.microsoft.com/office/powerpoint/2010/main" val="263019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3A34A0B-B428-4336-84B8-694F3A58FCEE}" type="slidenum">
              <a:rPr lang="en-AU" altLang="en-US" smtClean="0"/>
              <a:pPr>
                <a:spcBef>
                  <a:spcPct val="0"/>
                </a:spcBef>
              </a:pPr>
              <a:t>17</a:t>
            </a:fld>
            <a:endParaRPr lang="en-AU"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lesson from the two experiments just described (Tables 3.1and 3.2) is that, when not constrained,many users choose a password that is too short or too easy to guess. At the other extreme,if users are assigned passwords consisting of eight randomly selected printable characters, password cracking is effectively impossible. But it would be almost as impossible for most users to remember their passwords. Fortunately, even if we limit the password universe to strings of characters that are reasonably memorable, the size of the universe is still too large to permit practical cracking. Our goal, then, is to eliminate guessable passwords while allowing the user to select a password that is memorable. Four basic techniques are in use: </a:t>
            </a:r>
          </a:p>
          <a:p>
            <a:pPr eaLnBrk="1" hangingPunct="1"/>
            <a:r>
              <a:rPr lang="en-US" altLang="en-US">
                <a:latin typeface="Times New Roman" panose="02020603050405020304" pitchFamily="18" charset="0"/>
              </a:rPr>
              <a:t>• User education - Users can be told the importance of using hard-to-guess passwords and can be provided with guidelines for selecting strong passwords. Can be problematic when have a large user population or a lot of turnover, and because many users will simply ignore the guidelines.</a:t>
            </a:r>
          </a:p>
          <a:p>
            <a:pPr eaLnBrk="1" hangingPunct="1"/>
            <a:r>
              <a:rPr lang="en-US" altLang="en-US">
                <a:latin typeface="Times New Roman" panose="02020603050405020304" pitchFamily="18" charset="0"/>
              </a:rPr>
              <a:t>• Computer-generated passwords - have a history of poor acceptance by users, if random in nature, users will not remember them, if pronounceable, the user may still  be tempted to write it down.</a:t>
            </a:r>
          </a:p>
          <a:p>
            <a:pPr eaLnBrk="1" hangingPunct="1"/>
            <a:r>
              <a:rPr lang="en-US" altLang="en-US">
                <a:latin typeface="Times New Roman" panose="02020603050405020304" pitchFamily="18" charset="0"/>
              </a:rPr>
              <a:t>• Reactive password checking - where the system periodically runs its own password cracker to find guessable passwords.The system cancels any passwords that are guessed and notifies the user. Can be costly in resources to implement.</a:t>
            </a:r>
          </a:p>
          <a:p>
            <a:pPr eaLnBrk="1" hangingPunct="1"/>
            <a:r>
              <a:rPr lang="en-US" altLang="en-US">
                <a:latin typeface="Times New Roman" panose="02020603050405020304" pitchFamily="18" charset="0"/>
              </a:rPr>
              <a:t>• Proactive password checking - where user selects own password which the system then checks to see if it is is allowable and, if not, rejects it. It must strike a balance between user acceptability and strength. Likely the best solution.</a:t>
            </a:r>
          </a:p>
        </p:txBody>
      </p:sp>
    </p:spTree>
    <p:extLst>
      <p:ext uri="{BB962C8B-B14F-4D97-AF65-F5344CB8AC3E}">
        <p14:creationId xmlns:p14="http://schemas.microsoft.com/office/powerpoint/2010/main" val="1270130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dirty="0"/>
              <a:t>In this example, a user first transmits his or her identity to</a:t>
            </a:r>
          </a:p>
          <a:p>
            <a:pPr marL="0" indent="0" algn="just">
              <a:buNone/>
            </a:pPr>
            <a:r>
              <a:rPr lang="en-US" sz="1200" dirty="0"/>
              <a:t>the remote host.</a:t>
            </a:r>
            <a:r>
              <a:rPr lang="en-US" sz="1200" baseline="0" dirty="0"/>
              <a:t> </a:t>
            </a:r>
            <a:r>
              <a:rPr lang="en-US" sz="1200" dirty="0"/>
              <a:t>The host generates a random number </a:t>
            </a:r>
            <a:r>
              <a:rPr lang="en-US" sz="1200" i="1" dirty="0"/>
              <a:t>r</a:t>
            </a:r>
            <a:r>
              <a:rPr lang="en-US" sz="1200" dirty="0"/>
              <a:t>, often called a </a:t>
            </a:r>
            <a:r>
              <a:rPr lang="en-US" sz="1200" b="1" dirty="0"/>
              <a:t>nonce</a:t>
            </a:r>
            <a:r>
              <a:rPr lang="en-US" sz="1200" dirty="0"/>
              <a:t>, and</a:t>
            </a:r>
          </a:p>
          <a:p>
            <a:pPr marL="0" indent="0" algn="just">
              <a:buNone/>
            </a:pPr>
            <a:r>
              <a:rPr lang="en-US" sz="1200" dirty="0"/>
              <a:t>returns this nonce to the user. In addition, the host specifies two functions, </a:t>
            </a:r>
            <a:r>
              <a:rPr lang="en-US" sz="1200" i="1" dirty="0"/>
              <a:t>h</a:t>
            </a:r>
            <a:r>
              <a:rPr lang="en-US" sz="1200" dirty="0"/>
              <a:t>() and</a:t>
            </a:r>
          </a:p>
          <a:p>
            <a:pPr marL="0" indent="0" algn="just">
              <a:buNone/>
            </a:pPr>
            <a:r>
              <a:rPr lang="en-US" sz="1200" i="1" dirty="0"/>
              <a:t>f</a:t>
            </a:r>
            <a:r>
              <a:rPr lang="en-US" sz="1200" dirty="0"/>
              <a:t>(), to be used in the response. </a:t>
            </a:r>
            <a:r>
              <a:rPr lang="en-US" sz="1200" baseline="0" dirty="0"/>
              <a:t> </a:t>
            </a:r>
            <a:r>
              <a:rPr lang="en-US" sz="1200" dirty="0"/>
              <a:t>This transmission from host to user is the challenge.</a:t>
            </a:r>
          </a:p>
          <a:p>
            <a:pPr marL="0" indent="0" algn="just">
              <a:buNone/>
            </a:pPr>
            <a:r>
              <a:rPr lang="en-US" sz="1200" dirty="0"/>
              <a:t>The user’s response is the quantity </a:t>
            </a:r>
            <a:r>
              <a:rPr lang="en-US" sz="1200" i="1" dirty="0"/>
              <a:t>f</a:t>
            </a:r>
            <a:r>
              <a:rPr lang="en-US" sz="1200" dirty="0"/>
              <a:t>(</a:t>
            </a:r>
            <a:r>
              <a:rPr lang="en-US" sz="1200" i="1" dirty="0"/>
              <a:t>r</a:t>
            </a:r>
            <a:r>
              <a:rPr lang="en-US" sz="1200" dirty="0"/>
              <a:t>, </a:t>
            </a:r>
            <a:r>
              <a:rPr lang="en-US" sz="1200" i="1" dirty="0"/>
              <a:t>h</a:t>
            </a:r>
            <a:r>
              <a:rPr lang="en-US" sz="1200" dirty="0"/>
              <a:t>(</a:t>
            </a:r>
            <a:r>
              <a:rPr lang="en-US" sz="1200" i="1" dirty="0"/>
              <a:t>P</a:t>
            </a:r>
            <a:r>
              <a:rPr lang="en-US" sz="1200" dirty="0"/>
              <a:t>)), where </a:t>
            </a:r>
            <a:r>
              <a:rPr lang="en-US" sz="1200" i="1" dirty="0"/>
              <a:t>r</a:t>
            </a:r>
            <a:r>
              <a:rPr lang="en-US" sz="1200" dirty="0"/>
              <a:t> = </a:t>
            </a:r>
            <a:r>
              <a:rPr lang="en-US" sz="1200" i="1" dirty="0"/>
              <a:t>r </a:t>
            </a:r>
            <a:r>
              <a:rPr lang="en-US" sz="1200" dirty="0"/>
              <a:t>and </a:t>
            </a:r>
            <a:r>
              <a:rPr lang="en-US" sz="1200" i="1" dirty="0"/>
              <a:t>P</a:t>
            </a:r>
            <a:r>
              <a:rPr lang="en-US" sz="1200" dirty="0"/>
              <a:t> is the user’s</a:t>
            </a:r>
          </a:p>
          <a:p>
            <a:pPr marL="0" indent="0" algn="just">
              <a:buNone/>
            </a:pPr>
            <a:r>
              <a:rPr lang="en-US" sz="1200" dirty="0"/>
              <a:t>password. </a:t>
            </a:r>
            <a:r>
              <a:rPr lang="en-US" sz="1200" baseline="0" dirty="0"/>
              <a:t> </a:t>
            </a:r>
            <a:r>
              <a:rPr lang="en-US" sz="1200" dirty="0"/>
              <a:t>The function </a:t>
            </a:r>
            <a:r>
              <a:rPr lang="en-US" sz="1200" i="1" dirty="0"/>
              <a:t>h </a:t>
            </a:r>
            <a:r>
              <a:rPr lang="en-US" sz="1200" dirty="0"/>
              <a:t>is a hash function, so the response consists of the hash function</a:t>
            </a:r>
          </a:p>
          <a:p>
            <a:pPr marL="0" indent="0" algn="just">
              <a:buNone/>
            </a:pPr>
            <a:r>
              <a:rPr lang="en-US" sz="1200" dirty="0"/>
              <a:t>of the user’s password combined with the random number using the function </a:t>
            </a:r>
            <a:r>
              <a:rPr lang="en-US" sz="1200" i="1" dirty="0"/>
              <a:t>f</a:t>
            </a:r>
            <a:r>
              <a:rPr lang="en-US" sz="1200" dirty="0"/>
              <a:t>.</a:t>
            </a:r>
          </a:p>
          <a:p>
            <a:pPr marL="0" indent="0" algn="just">
              <a:buNone/>
            </a:pPr>
            <a:r>
              <a:rPr lang="en-US" sz="1200" dirty="0"/>
              <a:t>The host stores the hash function of each registered user’s password, depicted</a:t>
            </a:r>
          </a:p>
          <a:p>
            <a:pPr marL="0" indent="0" algn="just">
              <a:buNone/>
            </a:pPr>
            <a:r>
              <a:rPr lang="en-US" sz="1200" dirty="0"/>
              <a:t>as </a:t>
            </a:r>
            <a:r>
              <a:rPr lang="en-US" sz="1200" i="1" dirty="0"/>
              <a:t>h</a:t>
            </a:r>
            <a:r>
              <a:rPr lang="en-US" sz="1200" dirty="0"/>
              <a:t>(</a:t>
            </a:r>
            <a:r>
              <a:rPr lang="en-US" sz="1200" i="1" dirty="0"/>
              <a:t>P</a:t>
            </a:r>
            <a:r>
              <a:rPr lang="en-US" sz="1200" dirty="0"/>
              <a:t>(</a:t>
            </a:r>
            <a:r>
              <a:rPr lang="en-US" sz="1200" i="1" dirty="0"/>
              <a:t>U</a:t>
            </a:r>
            <a:r>
              <a:rPr lang="en-US" sz="1200" dirty="0"/>
              <a:t>)) for user </a:t>
            </a:r>
            <a:r>
              <a:rPr lang="en-US" sz="1200" i="1" dirty="0"/>
              <a:t>U</a:t>
            </a:r>
            <a:r>
              <a:rPr lang="en-US" sz="1200" dirty="0"/>
              <a:t>. When the response arrives, the host compares the incoming</a:t>
            </a:r>
          </a:p>
          <a:p>
            <a:pPr marL="0" indent="0" algn="just">
              <a:buNone/>
            </a:pPr>
            <a:r>
              <a:rPr lang="en-US" sz="1200" i="1" dirty="0"/>
              <a:t>f</a:t>
            </a:r>
            <a:r>
              <a:rPr lang="en-US" sz="1200" dirty="0"/>
              <a:t>(</a:t>
            </a:r>
            <a:r>
              <a:rPr lang="en-US" sz="1200" i="1" dirty="0"/>
              <a:t>r</a:t>
            </a:r>
            <a:r>
              <a:rPr lang="en-US" sz="1200" dirty="0"/>
              <a:t>, </a:t>
            </a:r>
            <a:r>
              <a:rPr lang="en-US" sz="1200" i="1" dirty="0"/>
              <a:t>h</a:t>
            </a:r>
            <a:r>
              <a:rPr lang="en-US" sz="1200" dirty="0"/>
              <a:t>(</a:t>
            </a:r>
            <a:r>
              <a:rPr lang="en-US" sz="1200" i="1" dirty="0"/>
              <a:t>P</a:t>
            </a:r>
            <a:r>
              <a:rPr lang="en-US" sz="1200" dirty="0"/>
              <a:t>)) to the calculated </a:t>
            </a:r>
            <a:r>
              <a:rPr lang="en-US" sz="1200" i="1" dirty="0"/>
              <a:t>f</a:t>
            </a:r>
            <a:r>
              <a:rPr lang="en-US" sz="1200" dirty="0"/>
              <a:t>(</a:t>
            </a:r>
            <a:r>
              <a:rPr lang="en-US" sz="1200" i="1" dirty="0"/>
              <a:t>r</a:t>
            </a:r>
            <a:r>
              <a:rPr lang="en-US" sz="1200" dirty="0"/>
              <a:t>, h(</a:t>
            </a:r>
            <a:r>
              <a:rPr lang="en-US" sz="1200" i="1" dirty="0"/>
              <a:t>P</a:t>
            </a:r>
            <a:r>
              <a:rPr lang="en-US" sz="1200" dirty="0"/>
              <a:t>(</a:t>
            </a:r>
            <a:r>
              <a:rPr lang="en-US" sz="1200" i="1" dirty="0"/>
              <a:t>U</a:t>
            </a:r>
            <a:r>
              <a:rPr lang="en-US" sz="1200" dirty="0"/>
              <a:t>))). If the quantities match, the user is</a:t>
            </a:r>
          </a:p>
          <a:p>
            <a:pPr marL="0" indent="0" algn="just">
              <a:buNone/>
            </a:pPr>
            <a:r>
              <a:rPr lang="en-US" sz="1200" dirty="0"/>
              <a:t>authenticated.</a:t>
            </a:r>
            <a:endParaRPr lang="en-US" altLang="en-US" sz="1200" dirty="0"/>
          </a:p>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29</a:t>
            </a:fld>
            <a:endParaRPr lang="en-AU"/>
          </a:p>
        </p:txBody>
      </p:sp>
    </p:spTree>
    <p:extLst>
      <p:ext uri="{BB962C8B-B14F-4D97-AF65-F5344CB8AC3E}">
        <p14:creationId xmlns:p14="http://schemas.microsoft.com/office/powerpoint/2010/main" val="753722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61AE-8452-C547-8F44-5F3A211E37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517FB29B-A20B-5C0D-A4E0-582AC64BD8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6796FCF7-37AD-0665-4AED-A2C72CC6815D}"/>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25CBF435-9AF1-E5C2-AE0A-071F66ED032E}"/>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B5617DA2-DB55-2705-F537-91487932250A}"/>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1757900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9B12-78EE-D098-43CD-8EFCF257AAA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69CA072-11A2-01B8-AB90-AED05C544E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131E2C0-78EC-0DEC-9633-D61977EDCE1A}"/>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D1679FAF-3927-9A90-68A9-2BB008E387CF}"/>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10FD3956-62E2-46D9-5A23-9C2779370649}"/>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912074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091A-7DB4-E7CA-6C08-5DF0B91FF1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1F018876-4A32-FC81-2D7A-F302576E7F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CC6DF3-AFEB-30C9-B242-E6DE16806922}"/>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6AF2E968-06CD-84B8-862F-CF327E5F319E}"/>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E5DC3E7C-B71B-41AD-AAC3-8124EBE3EC77}"/>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03689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1AB0-85A9-5114-8E6B-2EB734B60E0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C290619-7D41-EC7E-5426-42F178DEE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8FEC224-7D80-78EE-63A8-9760F8D57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9A60647-EF42-F082-4FF2-C5C0EBDF421B}"/>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6" name="Footer Placeholder 5">
            <a:extLst>
              <a:ext uri="{FF2B5EF4-FFF2-40B4-BE49-F238E27FC236}">
                <a16:creationId xmlns:a16="http://schemas.microsoft.com/office/drawing/2014/main" id="{E26FA79E-B65E-E480-740A-5DA5A13EC330}"/>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4AA66204-968F-1730-92C3-788A9CD7152D}"/>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80234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E1CFD-0726-2433-8CA1-E76A30CB788D}"/>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4CBEBAD8-F882-8584-2B4A-339DB0025C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5AFD94-75CB-B1CA-03B4-FAB19ECAE6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7028734-0969-DD9E-B645-09A797BCC6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BF910D-59F9-07DF-0AD0-48881DB0B0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D167694-F32F-ECBD-6BA5-4936A0AD11D8}"/>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8" name="Footer Placeholder 7">
            <a:extLst>
              <a:ext uri="{FF2B5EF4-FFF2-40B4-BE49-F238E27FC236}">
                <a16:creationId xmlns:a16="http://schemas.microsoft.com/office/drawing/2014/main" id="{0C10CF9E-AC91-5EBF-5250-F964B9406C98}"/>
              </a:ext>
            </a:extLst>
          </p:cNvPr>
          <p:cNvSpPr>
            <a:spLocks noGrp="1"/>
          </p:cNvSpPr>
          <p:nvPr>
            <p:ph type="ftr" sz="quarter" idx="11"/>
          </p:nvPr>
        </p:nvSpPr>
        <p:spPr/>
        <p:txBody>
          <a:bodyPr/>
          <a:lstStyle/>
          <a:p>
            <a:endParaRPr lang="en-PK" dirty="0"/>
          </a:p>
        </p:txBody>
      </p:sp>
      <p:sp>
        <p:nvSpPr>
          <p:cNvPr id="9" name="Slide Number Placeholder 8">
            <a:extLst>
              <a:ext uri="{FF2B5EF4-FFF2-40B4-BE49-F238E27FC236}">
                <a16:creationId xmlns:a16="http://schemas.microsoft.com/office/drawing/2014/main" id="{35634C69-ED53-56C9-342A-299365531533}"/>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44490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60543-94B6-D204-98CB-40EB094E155A}"/>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BEE441B3-B8C0-DC15-5BB1-E2C1F4EC3727}"/>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4" name="Footer Placeholder 3">
            <a:extLst>
              <a:ext uri="{FF2B5EF4-FFF2-40B4-BE49-F238E27FC236}">
                <a16:creationId xmlns:a16="http://schemas.microsoft.com/office/drawing/2014/main" id="{302FA664-FE19-D6D4-A301-945B81C9B9C3}"/>
              </a:ext>
            </a:extLst>
          </p:cNvPr>
          <p:cNvSpPr>
            <a:spLocks noGrp="1"/>
          </p:cNvSpPr>
          <p:nvPr>
            <p:ph type="ftr" sz="quarter" idx="11"/>
          </p:nvPr>
        </p:nvSpPr>
        <p:spPr/>
        <p:txBody>
          <a:bodyPr/>
          <a:lstStyle/>
          <a:p>
            <a:endParaRPr lang="en-PK" dirty="0"/>
          </a:p>
        </p:txBody>
      </p:sp>
      <p:sp>
        <p:nvSpPr>
          <p:cNvPr id="5" name="Slide Number Placeholder 4">
            <a:extLst>
              <a:ext uri="{FF2B5EF4-FFF2-40B4-BE49-F238E27FC236}">
                <a16:creationId xmlns:a16="http://schemas.microsoft.com/office/drawing/2014/main" id="{362EB6D2-0EAF-5064-2C5F-736EE2C6BA24}"/>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904200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69614E-2BF3-873F-F524-E61BFE097F0F}"/>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3" name="Footer Placeholder 2">
            <a:extLst>
              <a:ext uri="{FF2B5EF4-FFF2-40B4-BE49-F238E27FC236}">
                <a16:creationId xmlns:a16="http://schemas.microsoft.com/office/drawing/2014/main" id="{B1E34CA4-C6A6-F6F5-D471-41773E564CF2}"/>
              </a:ext>
            </a:extLst>
          </p:cNvPr>
          <p:cNvSpPr>
            <a:spLocks noGrp="1"/>
          </p:cNvSpPr>
          <p:nvPr>
            <p:ph type="ftr" sz="quarter" idx="11"/>
          </p:nvPr>
        </p:nvSpPr>
        <p:spPr/>
        <p:txBody>
          <a:bodyPr/>
          <a:lstStyle/>
          <a:p>
            <a:endParaRPr lang="en-PK" dirty="0"/>
          </a:p>
        </p:txBody>
      </p:sp>
      <p:sp>
        <p:nvSpPr>
          <p:cNvPr id="4" name="Slide Number Placeholder 3">
            <a:extLst>
              <a:ext uri="{FF2B5EF4-FFF2-40B4-BE49-F238E27FC236}">
                <a16:creationId xmlns:a16="http://schemas.microsoft.com/office/drawing/2014/main" id="{A1BB0ED5-77BC-CC1B-74EB-E3D1B979CBDD}"/>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134898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0F48-8107-C6DC-4E9F-B4DF4FB57A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31A1266-E4B7-141E-34A7-C20FC0246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1C8F33E-B00A-C51E-2C1F-BFD47DB96B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F3295-8CEC-8497-E190-F63EC942E0DC}"/>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6" name="Footer Placeholder 5">
            <a:extLst>
              <a:ext uri="{FF2B5EF4-FFF2-40B4-BE49-F238E27FC236}">
                <a16:creationId xmlns:a16="http://schemas.microsoft.com/office/drawing/2014/main" id="{B16A2147-64A3-CF0A-AD75-39F4C87B7112}"/>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FB4B5364-E72F-08E9-02C0-79FE616FE98C}"/>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3961293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3748D-014C-13A0-0EDF-0042BA621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277FB676-22F7-E455-B158-D2844BBD47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dirty="0"/>
          </a:p>
        </p:txBody>
      </p:sp>
      <p:sp>
        <p:nvSpPr>
          <p:cNvPr id="4" name="Text Placeholder 3">
            <a:extLst>
              <a:ext uri="{FF2B5EF4-FFF2-40B4-BE49-F238E27FC236}">
                <a16:creationId xmlns:a16="http://schemas.microsoft.com/office/drawing/2014/main" id="{9EC3C694-E2D2-F1AE-EC93-D6F760F3D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B99065-5DEA-47FD-0ABA-34E2CC11D862}"/>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6" name="Footer Placeholder 5">
            <a:extLst>
              <a:ext uri="{FF2B5EF4-FFF2-40B4-BE49-F238E27FC236}">
                <a16:creationId xmlns:a16="http://schemas.microsoft.com/office/drawing/2014/main" id="{DCB5059C-16CA-21AD-0979-58EA797ABC13}"/>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27B4ECB3-6E1D-B093-889C-9A84E5C7E8A3}"/>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936012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5E29-63A2-EB91-BAEB-CB30BFDBF9A1}"/>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039D937-97F5-7071-8538-AB35C39E80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3FBB073-1D95-AF08-B67D-7C1319BF7A5C}"/>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10C009BC-3944-4A38-898A-44CCEE4D789B}"/>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7338D745-36A9-7646-8A09-DA4025DB6AEF}"/>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46705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98FCFB-4871-2522-1ABB-59887B329E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0CD9DF-45A3-924C-9605-68FDC8167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DDF2036-4080-C323-06C4-A14B8CBA4946}"/>
              </a:ext>
            </a:extLst>
          </p:cNvPr>
          <p:cNvSpPr>
            <a:spLocks noGrp="1"/>
          </p:cNvSpPr>
          <p:nvPr>
            <p:ph type="dt" sz="half" idx="10"/>
          </p:nvPr>
        </p:nvSpPr>
        <p:spPr/>
        <p:txBody>
          <a:body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C8C4CBD3-9EF7-46D6-A99D-BE296BC3AAD7}"/>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6863679C-BF0C-3B4F-6BD8-9A7A8ADCC021}"/>
              </a:ext>
            </a:extLst>
          </p:cNvPr>
          <p:cNvSpPr>
            <a:spLocks noGrp="1"/>
          </p:cNvSpPr>
          <p:nvPr>
            <p:ph type="sldNum" sz="quarter" idx="12"/>
          </p:nvPr>
        </p:nvSpPr>
        <p:spPr/>
        <p:txBody>
          <a:bodyPr/>
          <a:lstStyle/>
          <a:p>
            <a:fld id="{09505BB3-D73B-478F-8D60-8A2B01C40E30}" type="slidenum">
              <a:rPr lang="en-PK" smtClean="0"/>
              <a:t>‹#›</a:t>
            </a:fld>
            <a:endParaRPr lang="en-PK" dirty="0"/>
          </a:p>
        </p:txBody>
      </p:sp>
    </p:spTree>
    <p:extLst>
      <p:ext uri="{BB962C8B-B14F-4D97-AF65-F5344CB8AC3E}">
        <p14:creationId xmlns:p14="http://schemas.microsoft.com/office/powerpoint/2010/main" val="2583509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44A0B-F028-89F9-67D3-578007AD0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91DCA5B-0561-57E7-CC46-D95277923F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EC7025B-0BF8-1989-2EA0-A13276EB0A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F748F5-C417-4262-80F6-5F340EC89228}" type="datetimeFigureOut">
              <a:rPr lang="en-PK" smtClean="0"/>
              <a:t>22/09/2023</a:t>
            </a:fld>
            <a:endParaRPr lang="en-PK" dirty="0"/>
          </a:p>
        </p:txBody>
      </p:sp>
      <p:sp>
        <p:nvSpPr>
          <p:cNvPr id="5" name="Footer Placeholder 4">
            <a:extLst>
              <a:ext uri="{FF2B5EF4-FFF2-40B4-BE49-F238E27FC236}">
                <a16:creationId xmlns:a16="http://schemas.microsoft.com/office/drawing/2014/main" id="{3E7C41FA-CBDD-A854-EBE7-A052DB98C0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dirty="0"/>
          </a:p>
        </p:txBody>
      </p:sp>
      <p:sp>
        <p:nvSpPr>
          <p:cNvPr id="6" name="Slide Number Placeholder 5">
            <a:extLst>
              <a:ext uri="{FF2B5EF4-FFF2-40B4-BE49-F238E27FC236}">
                <a16:creationId xmlns:a16="http://schemas.microsoft.com/office/drawing/2014/main" id="{911D0CAA-985C-33C8-1AA8-EFF1D89AE4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505BB3-D73B-478F-8D60-8A2B01C40E30}" type="slidenum">
              <a:rPr lang="en-PK" smtClean="0"/>
              <a:t>‹#›</a:t>
            </a:fld>
            <a:endParaRPr lang="en-PK" dirty="0"/>
          </a:p>
        </p:txBody>
      </p:sp>
    </p:spTree>
    <p:extLst>
      <p:ext uri="{BB962C8B-B14F-4D97-AF65-F5344CB8AC3E}">
        <p14:creationId xmlns:p14="http://schemas.microsoft.com/office/powerpoint/2010/main" val="3299705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microsoft.com/office/2007/relationships/hdphoto" Target="../media/hdphoto6.wdp"/><Relationship Id="rId3" Type="http://schemas.microsoft.com/office/2007/relationships/hdphoto" Target="../media/hdphoto4.wdp"/><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2023</a:t>
            </a:r>
          </a:p>
        </p:txBody>
      </p:sp>
      <p:sp>
        <p:nvSpPr>
          <p:cNvPr id="5" name="Subtitle 2"/>
          <p:cNvSpPr txBox="1">
            <a:spLocks/>
          </p:cNvSpPr>
          <p:nvPr/>
        </p:nvSpPr>
        <p:spPr>
          <a:xfrm>
            <a:off x="5609969" y="3525988"/>
            <a:ext cx="595066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5 – Lecture # 13, 14, 15</a:t>
            </a:r>
          </a:p>
          <a:p>
            <a:pPr marL="130175" indent="0" algn="ctr">
              <a:buNone/>
            </a:pPr>
            <a:endParaRPr lang="en-US" sz="2000" dirty="0"/>
          </a:p>
          <a:p>
            <a:pPr marL="130175" indent="0" algn="ctr">
              <a:buNone/>
            </a:pPr>
            <a:r>
              <a:rPr lang="en-US" sz="2400"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2</a:t>
            </a:fld>
            <a:endParaRPr lang="en-US" dirty="0">
              <a:solidFill>
                <a:prstClr val="white">
                  <a:lumMod val="65000"/>
                  <a:lumOff val="35000"/>
                </a:prstClr>
              </a:solidFill>
            </a:endParaRPr>
          </a:p>
        </p:txBody>
      </p:sp>
      <p:pic>
        <p:nvPicPr>
          <p:cNvPr id="5" name="Picture 4"/>
          <p:cNvPicPr>
            <a:picLocks noChangeAspect="1"/>
          </p:cNvPicPr>
          <p:nvPr/>
        </p:nvPicPr>
        <p:blipFill rotWithShape="1">
          <a:blip r:embed="rId2"/>
          <a:srcRect l="8431" t="2737"/>
          <a:stretch/>
        </p:blipFill>
        <p:spPr>
          <a:xfrm>
            <a:off x="1544324" y="40774"/>
            <a:ext cx="5125500" cy="6817227"/>
          </a:xfrm>
          <a:prstGeom prst="rect">
            <a:avLst/>
          </a:prstGeom>
        </p:spPr>
      </p:pic>
      <p:pic>
        <p:nvPicPr>
          <p:cNvPr id="6" name="Picture 5"/>
          <p:cNvPicPr>
            <a:picLocks noChangeAspect="1"/>
          </p:cNvPicPr>
          <p:nvPr/>
        </p:nvPicPr>
        <p:blipFill rotWithShape="1">
          <a:blip r:embed="rId3"/>
          <a:srcRect l="4169" t="6631" r="15750" b="6742"/>
          <a:stretch/>
        </p:blipFill>
        <p:spPr>
          <a:xfrm>
            <a:off x="6669823" y="784665"/>
            <a:ext cx="5543469" cy="2568135"/>
          </a:xfrm>
          <a:prstGeom prst="rect">
            <a:avLst/>
          </a:prstGeom>
        </p:spPr>
      </p:pic>
    </p:spTree>
    <p:extLst>
      <p:ext uri="{BB962C8B-B14F-4D97-AF65-F5344CB8AC3E}">
        <p14:creationId xmlns:p14="http://schemas.microsoft.com/office/powerpoint/2010/main" val="103052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466" y="156243"/>
            <a:ext cx="7290054" cy="899568"/>
          </a:xfrm>
        </p:spPr>
        <p:txBody>
          <a:bodyPr/>
          <a:lstStyle/>
          <a:p>
            <a:r>
              <a:rPr kumimoji="1" lang="en-GB" altLang="en-US" b="1" dirty="0">
                <a:solidFill>
                  <a:schemeClr val="tx1"/>
                </a:solidFill>
              </a:rPr>
              <a:t>User Authentication</a:t>
            </a:r>
            <a:endParaRPr lang="en-US" b="1" dirty="0">
              <a:solidFill>
                <a:schemeClr val="tx1"/>
              </a:solidFill>
            </a:endParaRPr>
          </a:p>
        </p:txBody>
      </p:sp>
      <p:sp>
        <p:nvSpPr>
          <p:cNvPr id="3" name="Content Placeholder 2"/>
          <p:cNvSpPr>
            <a:spLocks noGrp="1"/>
          </p:cNvSpPr>
          <p:nvPr>
            <p:ph idx="1"/>
          </p:nvPr>
        </p:nvSpPr>
        <p:spPr>
          <a:xfrm>
            <a:off x="797859" y="1080651"/>
            <a:ext cx="9888902" cy="4836253"/>
          </a:xfrm>
        </p:spPr>
        <p:txBody>
          <a:bodyPr>
            <a:normAutofit/>
          </a:bodyPr>
          <a:lstStyle/>
          <a:p>
            <a:r>
              <a:rPr lang="en-US" sz="2200" dirty="0"/>
              <a:t> User authentication is a f</a:t>
            </a:r>
            <a:r>
              <a:rPr lang="en-US" altLang="en-US" sz="2200" dirty="0"/>
              <a:t>undamental security building block</a:t>
            </a:r>
          </a:p>
          <a:p>
            <a:r>
              <a:rPr lang="en-US" sz="2200" dirty="0"/>
              <a:t>User authentication is the basis for:</a:t>
            </a:r>
          </a:p>
          <a:p>
            <a:pPr lvl="1">
              <a:buFont typeface="Wingdings" panose="05000000000000000000" pitchFamily="2" charset="2"/>
              <a:buChar char="Ø"/>
            </a:pPr>
            <a:r>
              <a:rPr lang="en-US" sz="2200" dirty="0"/>
              <a:t> </a:t>
            </a:r>
            <a:r>
              <a:rPr lang="en-US" sz="2200" b="1" dirty="0"/>
              <a:t>Access control </a:t>
            </a:r>
            <a:r>
              <a:rPr lang="en-US" sz="2200" dirty="0"/>
              <a:t>and </a:t>
            </a:r>
            <a:r>
              <a:rPr lang="en-US" sz="2200" b="1" dirty="0"/>
              <a:t>User accountability</a:t>
            </a:r>
          </a:p>
          <a:p>
            <a:r>
              <a:rPr lang="en-US" sz="2200" dirty="0"/>
              <a:t>User authentication encompasses two functions</a:t>
            </a:r>
          </a:p>
          <a:p>
            <a:pPr lvl="1" indent="-457200">
              <a:buFont typeface="+mj-lt"/>
              <a:buAutoNum type="arabicPeriod"/>
            </a:pPr>
            <a:r>
              <a:rPr lang="en-US" sz="2200" b="1" dirty="0"/>
              <a:t>Identification:</a:t>
            </a:r>
          </a:p>
          <a:p>
            <a:pPr lvl="2"/>
            <a:r>
              <a:rPr lang="en-US" sz="2200" dirty="0"/>
              <a:t>The user identifies herself to the system by presenting a credential</a:t>
            </a:r>
          </a:p>
          <a:p>
            <a:pPr lvl="3"/>
            <a:r>
              <a:rPr lang="en-US" sz="2200" dirty="0"/>
              <a:t>such as user ID. </a:t>
            </a:r>
          </a:p>
          <a:p>
            <a:pPr lvl="1" indent="-457200">
              <a:buFont typeface="+mj-lt"/>
              <a:buAutoNum type="arabicPeriod"/>
            </a:pPr>
            <a:r>
              <a:rPr lang="en-US" sz="2200" b="1" dirty="0"/>
              <a:t>Verification:</a:t>
            </a:r>
          </a:p>
          <a:p>
            <a:pPr lvl="2"/>
            <a:r>
              <a:rPr lang="en-US" sz="2200" dirty="0"/>
              <a:t>The system verifies the user by the exchange of authentication information.</a:t>
            </a:r>
          </a:p>
          <a:p>
            <a:r>
              <a:rPr lang="en-US" altLang="en-US" sz="2200" dirty="0"/>
              <a:t>User Authentication is distinct from message authentication </a:t>
            </a:r>
          </a:p>
          <a:p>
            <a:pPr lvl="1"/>
            <a:r>
              <a:rPr lang="en-US" altLang="en-US" sz="2200" dirty="0"/>
              <a:t>(when communicating parties are concerned with the integrity of the exchanges messages)</a:t>
            </a:r>
          </a:p>
          <a:p>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3</a:t>
            </a:fld>
            <a:endParaRPr lang="en-US" dirty="0">
              <a:solidFill>
                <a:prstClr val="white">
                  <a:lumMod val="65000"/>
                  <a:lumOff val="35000"/>
                </a:prstClr>
              </a:solidFill>
            </a:endParaRPr>
          </a:p>
        </p:txBody>
      </p:sp>
      <p:sp>
        <p:nvSpPr>
          <p:cNvPr id="5" name="Rectangle 4"/>
          <p:cNvSpPr/>
          <p:nvPr/>
        </p:nvSpPr>
        <p:spPr>
          <a:xfrm>
            <a:off x="477340" y="5941744"/>
            <a:ext cx="8928992" cy="646331"/>
          </a:xfrm>
          <a:prstGeom prst="rect">
            <a:avLst/>
          </a:prstGeom>
        </p:spPr>
        <p:txBody>
          <a:bodyPr wrap="square">
            <a:spAutoFit/>
          </a:bodyPr>
          <a:lstStyle/>
          <a:p>
            <a:pPr marL="285750" indent="-285750">
              <a:buFont typeface="Arial" panose="020B0604020202020204" pitchFamily="34" charset="0"/>
              <a:buChar char="•"/>
            </a:pPr>
            <a:r>
              <a:rPr lang="en-US" b="1" i="1" dirty="0">
                <a:latin typeface="TimesTenLTStd-Roman"/>
              </a:rPr>
              <a:t>Identification</a:t>
            </a:r>
            <a:r>
              <a:rPr lang="en-US" i="1" dirty="0">
                <a:latin typeface="TimesTenLTStd-Roman"/>
              </a:rPr>
              <a:t> </a:t>
            </a:r>
            <a:r>
              <a:rPr lang="en-US" i="1" dirty="0">
                <a:latin typeface="TimesTenLTStd-Roman"/>
                <a:sym typeface="Wingdings" panose="05000000000000000000" pitchFamily="2" charset="2"/>
              </a:rPr>
              <a:t> </a:t>
            </a:r>
            <a:r>
              <a:rPr lang="en-US" i="1" dirty="0">
                <a:latin typeface="TimesTenLTStd-Roman"/>
              </a:rPr>
              <a:t>means by which a user provides a claimed identity to the system </a:t>
            </a:r>
          </a:p>
          <a:p>
            <a:pPr marL="285750" indent="-285750">
              <a:buFont typeface="Arial" panose="020B0604020202020204" pitchFamily="34" charset="0"/>
              <a:buChar char="•"/>
            </a:pPr>
            <a:r>
              <a:rPr lang="en-US" b="1" i="1" dirty="0">
                <a:latin typeface="TimesTenLTStd-Roman"/>
              </a:rPr>
              <a:t>User authentication </a:t>
            </a:r>
            <a:r>
              <a:rPr lang="en-US" i="1" dirty="0">
                <a:latin typeface="TimesTenLTStd-Roman"/>
                <a:sym typeface="Wingdings" panose="05000000000000000000" pitchFamily="2" charset="2"/>
              </a:rPr>
              <a:t> </a:t>
            </a:r>
            <a:r>
              <a:rPr lang="en-US" i="1" dirty="0">
                <a:latin typeface="TimesTenLTStd-Roman"/>
              </a:rPr>
              <a:t>means of establishing the validity of the claim</a:t>
            </a:r>
            <a:endParaRPr lang="en-US" i="1" dirty="0"/>
          </a:p>
        </p:txBody>
      </p:sp>
    </p:spTree>
    <p:extLst>
      <p:ext uri="{BB962C8B-B14F-4D97-AF65-F5344CB8AC3E}">
        <p14:creationId xmlns:p14="http://schemas.microsoft.com/office/powerpoint/2010/main" val="206104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a:t>
            </a:fld>
            <a:endParaRPr lang="en-US" dirty="0"/>
          </a:p>
        </p:txBody>
      </p:sp>
      <p:pic>
        <p:nvPicPr>
          <p:cNvPr id="3" name="Picture 2"/>
          <p:cNvPicPr>
            <a:picLocks noChangeAspect="1"/>
          </p:cNvPicPr>
          <p:nvPr/>
        </p:nvPicPr>
        <p:blipFill>
          <a:blip r:embed="rId2"/>
          <a:stretch>
            <a:fillRect/>
          </a:stretch>
        </p:blipFill>
        <p:spPr>
          <a:xfrm>
            <a:off x="605481" y="456152"/>
            <a:ext cx="10560499" cy="5900197"/>
          </a:xfrm>
          <a:prstGeom prst="rect">
            <a:avLst/>
          </a:prstGeom>
        </p:spPr>
      </p:pic>
    </p:spTree>
    <p:extLst>
      <p:ext uri="{BB962C8B-B14F-4D97-AF65-F5344CB8AC3E}">
        <p14:creationId xmlns:p14="http://schemas.microsoft.com/office/powerpoint/2010/main" val="289190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03294"/>
            <a:ext cx="9902507" cy="5404516"/>
          </a:xfrm>
        </p:spPr>
        <p:txBody>
          <a:bodyPr/>
          <a:lstStyle/>
          <a:p>
            <a:pPr algn="just"/>
            <a:r>
              <a:rPr lang="en-US" i="1" dirty="0"/>
              <a:t>NIST SP 800-63-3 (Digital Authentication Guideline, October 2016) </a:t>
            </a:r>
            <a:r>
              <a:rPr lang="en-US" b="1" i="1" dirty="0"/>
              <a:t>defines digital user authentication as the process of establishing confidence in user identities that are presented electronically to an information system. </a:t>
            </a:r>
          </a:p>
          <a:p>
            <a:pPr lvl="1" algn="just"/>
            <a:r>
              <a:rPr lang="en-US" dirty="0"/>
              <a:t>Systems can use the authenticated identity to determine if the authenticated individual is authorized to perform particular function such as database transactions or access to system resources. </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5</a:t>
            </a:fld>
            <a:endParaRPr lang="en-US" dirty="0">
              <a:solidFill>
                <a:prstClr val="white">
                  <a:lumMod val="65000"/>
                  <a:lumOff val="35000"/>
                </a:prstClr>
              </a:solidFill>
            </a:endParaRPr>
          </a:p>
        </p:txBody>
      </p:sp>
      <p:pic>
        <p:nvPicPr>
          <p:cNvPr id="6" name="Picture 5">
            <a:extLst>
              <a:ext uri="{FF2B5EF4-FFF2-40B4-BE49-F238E27FC236}">
                <a16:creationId xmlns:a16="http://schemas.microsoft.com/office/drawing/2014/main" id="{2C6D8E5E-0531-1864-C749-7BA7F96AB0FF}"/>
              </a:ext>
            </a:extLst>
          </p:cNvPr>
          <p:cNvPicPr>
            <a:picLocks noChangeAspect="1"/>
          </p:cNvPicPr>
          <p:nvPr/>
        </p:nvPicPr>
        <p:blipFill rotWithShape="1">
          <a:blip r:embed="rId2"/>
          <a:srcRect b="63366"/>
          <a:stretch/>
        </p:blipFill>
        <p:spPr>
          <a:xfrm>
            <a:off x="807577" y="901933"/>
            <a:ext cx="9933130" cy="648072"/>
          </a:xfrm>
          <a:prstGeom prst="rect">
            <a:avLst/>
          </a:prstGeom>
        </p:spPr>
      </p:pic>
    </p:spTree>
    <p:extLst>
      <p:ext uri="{BB962C8B-B14F-4D97-AF65-F5344CB8AC3E}">
        <p14:creationId xmlns:p14="http://schemas.microsoft.com/office/powerpoint/2010/main" val="222068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164" y="290098"/>
            <a:ext cx="9375948" cy="648072"/>
          </a:xfrm>
        </p:spPr>
        <p:txBody>
          <a:bodyPr>
            <a:normAutofit fontScale="90000"/>
          </a:bodyPr>
          <a:lstStyle/>
          <a:p>
            <a:r>
              <a:rPr lang="en-US" b="1" dirty="0"/>
              <a:t>A Model for Digital User Authentication</a:t>
            </a:r>
            <a:endParaRPr lang="en-US" dirty="0"/>
          </a:p>
        </p:txBody>
      </p:sp>
      <p:sp>
        <p:nvSpPr>
          <p:cNvPr id="3" name="Content Placeholder 2"/>
          <p:cNvSpPr>
            <a:spLocks noGrp="1"/>
          </p:cNvSpPr>
          <p:nvPr>
            <p:ph idx="1"/>
          </p:nvPr>
        </p:nvSpPr>
        <p:spPr>
          <a:xfrm>
            <a:off x="439271" y="1246094"/>
            <a:ext cx="11295529" cy="5783305"/>
          </a:xfrm>
        </p:spPr>
        <p:txBody>
          <a:bodyPr>
            <a:normAutofit/>
          </a:bodyPr>
          <a:lstStyle/>
          <a:p>
            <a:pPr algn="just">
              <a:defRPr/>
            </a:pPr>
            <a:r>
              <a:rPr lang="en-US" altLang="en-US" sz="1600" dirty="0">
                <a:latin typeface="Times New Roman" panose="02020603050405020304" pitchFamily="18" charset="0"/>
                <a:cs typeface="Times New Roman" panose="02020603050405020304" pitchFamily="18" charset="0"/>
              </a:rPr>
              <a:t>The NIST SP 800-63-2 model </a:t>
            </a:r>
          </a:p>
          <a:p>
            <a:pPr lvl="1"/>
            <a:r>
              <a:rPr lang="en-US" sz="1600" dirty="0">
                <a:latin typeface="Times New Roman" panose="02020603050405020304" pitchFamily="18" charset="0"/>
                <a:cs typeface="Times New Roman" panose="02020603050405020304" pitchFamily="18" charset="0"/>
              </a:rPr>
              <a:t>The initial requirement for performing user authentication is that the user must be registered with the system.</a:t>
            </a:r>
          </a:p>
          <a:p>
            <a:pPr lvl="1"/>
            <a:r>
              <a:rPr lang="en-US" sz="1600" dirty="0">
                <a:latin typeface="Times New Roman" panose="02020603050405020304" pitchFamily="18" charset="0"/>
                <a:cs typeface="Times New Roman" panose="02020603050405020304" pitchFamily="18" charset="0"/>
              </a:rPr>
              <a:t>An applicant applies to a </a:t>
            </a:r>
            <a:r>
              <a:rPr lang="en-US" sz="1600" b="1" dirty="0">
                <a:latin typeface="Times New Roman" panose="02020603050405020304" pitchFamily="18" charset="0"/>
                <a:cs typeface="Times New Roman" panose="02020603050405020304" pitchFamily="18" charset="0"/>
              </a:rPr>
              <a:t>registration authority (RA) </a:t>
            </a:r>
            <a:r>
              <a:rPr lang="en-US" sz="1600" dirty="0">
                <a:latin typeface="Times New Roman" panose="02020603050405020304" pitchFamily="18" charset="0"/>
                <a:cs typeface="Times New Roman" panose="02020603050405020304" pitchFamily="18" charset="0"/>
              </a:rPr>
              <a:t>to become a </a:t>
            </a:r>
            <a:r>
              <a:rPr lang="en-US" sz="1600" b="1" dirty="0">
                <a:latin typeface="Times New Roman" panose="02020603050405020304" pitchFamily="18" charset="0"/>
                <a:cs typeface="Times New Roman" panose="02020603050405020304" pitchFamily="18" charset="0"/>
              </a:rPr>
              <a:t>subscriber </a:t>
            </a:r>
            <a:r>
              <a:rPr lang="en-US" sz="1600" dirty="0">
                <a:latin typeface="Times New Roman" panose="02020603050405020304" pitchFamily="18" charset="0"/>
                <a:cs typeface="Times New Roman" panose="02020603050405020304" pitchFamily="18" charset="0"/>
              </a:rPr>
              <a:t>of a </a:t>
            </a:r>
            <a:r>
              <a:rPr lang="en-US" sz="1600" b="1" dirty="0">
                <a:latin typeface="Times New Roman" panose="02020603050405020304" pitchFamily="18" charset="0"/>
                <a:cs typeface="Times New Roman" panose="02020603050405020304" pitchFamily="18" charset="0"/>
              </a:rPr>
              <a:t>credential service provider (CSP)</a:t>
            </a:r>
            <a:r>
              <a:rPr lang="en-US" sz="1600" dirty="0">
                <a:latin typeface="Times New Roman" panose="02020603050405020304" pitchFamily="18" charset="0"/>
                <a:cs typeface="Times New Roman" panose="02020603050405020304" pitchFamily="18" charset="0"/>
              </a:rPr>
              <a:t>.</a:t>
            </a:r>
          </a:p>
          <a:p>
            <a:pPr lvl="2"/>
            <a:r>
              <a:rPr lang="en-US" sz="1600" b="1" dirty="0">
                <a:latin typeface="Times New Roman" panose="02020603050405020304" pitchFamily="18" charset="0"/>
                <a:cs typeface="Times New Roman" panose="02020603050405020304" pitchFamily="18" charset="0"/>
              </a:rPr>
              <a:t>RA</a:t>
            </a:r>
            <a:r>
              <a:rPr lang="en-US" sz="1600" dirty="0">
                <a:latin typeface="Times New Roman" panose="02020603050405020304" pitchFamily="18" charset="0"/>
                <a:cs typeface="Times New Roman" panose="02020603050405020304" pitchFamily="18" charset="0"/>
              </a:rPr>
              <a:t> is a trusted entity that establishes and vouches for the identity of an applicant to a CSP. </a:t>
            </a:r>
          </a:p>
          <a:p>
            <a:pPr lvl="2"/>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CSP</a:t>
            </a:r>
            <a:r>
              <a:rPr lang="en-US" sz="1600" dirty="0">
                <a:latin typeface="Times New Roman" panose="02020603050405020304" pitchFamily="18" charset="0"/>
                <a:cs typeface="Times New Roman" panose="02020603050405020304" pitchFamily="18" charset="0"/>
              </a:rPr>
              <a:t> then engages in an exchange with the subscriber. The CSP issues some sort of electronic credential to the subscriber. </a:t>
            </a:r>
            <a:r>
              <a:rPr lang="en-US" altLang="en-US" sz="1600" dirty="0">
                <a:latin typeface="Times New Roman" panose="02020603050405020304" pitchFamily="18" charset="0"/>
                <a:cs typeface="Times New Roman" panose="02020603050405020304" pitchFamily="18" charset="0"/>
              </a:rPr>
              <a:t>The credential (a data structure) binds an identity to a token possessed by the subscriber</a:t>
            </a:r>
          </a:p>
          <a:p>
            <a:pPr lvl="3">
              <a:defRPr/>
            </a:pPr>
            <a:endParaRPr lang="en-US" alt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The party to be authenticated is called a </a:t>
            </a:r>
            <a:r>
              <a:rPr lang="en-US" sz="1600" b="1" dirty="0">
                <a:latin typeface="Times New Roman" panose="02020603050405020304" pitchFamily="18" charset="0"/>
                <a:cs typeface="Times New Roman" panose="02020603050405020304" pitchFamily="18" charset="0"/>
              </a:rPr>
              <a:t>claimant</a:t>
            </a:r>
          </a:p>
          <a:p>
            <a:pPr lvl="1"/>
            <a:r>
              <a:rPr lang="en-US" sz="1600" dirty="0">
                <a:latin typeface="Times New Roman" panose="02020603050405020304" pitchFamily="18" charset="0"/>
                <a:cs typeface="Times New Roman" panose="02020603050405020304" pitchFamily="18" charset="0"/>
              </a:rPr>
              <a:t>The party verifying that identity is called a </a:t>
            </a:r>
            <a:r>
              <a:rPr lang="en-US" sz="1600" b="1" dirty="0">
                <a:latin typeface="Times New Roman" panose="02020603050405020304" pitchFamily="18" charset="0"/>
                <a:cs typeface="Times New Roman" panose="02020603050405020304" pitchFamily="18" charset="0"/>
              </a:rPr>
              <a:t>verifier</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The verifier passes on an assertion about the identity of the subscriber to the </a:t>
            </a:r>
            <a:r>
              <a:rPr lang="en-US" sz="1600" b="1" dirty="0">
                <a:latin typeface="Times New Roman" panose="02020603050405020304" pitchFamily="18" charset="0"/>
                <a:cs typeface="Times New Roman" panose="02020603050405020304" pitchFamily="18" charset="0"/>
              </a:rPr>
              <a:t>relying party (RP)</a:t>
            </a:r>
            <a:r>
              <a:rPr lang="en-US" sz="1600" dirty="0">
                <a:latin typeface="Times New Roman" panose="02020603050405020304" pitchFamily="18" charset="0"/>
                <a:cs typeface="Times New Roman" panose="02020603050405020304" pitchFamily="18" charset="0"/>
              </a:rPr>
              <a:t>. </a:t>
            </a:r>
          </a:p>
          <a:p>
            <a:pPr lvl="2"/>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RP </a:t>
            </a:r>
            <a:r>
              <a:rPr lang="en-US" sz="1600" dirty="0">
                <a:latin typeface="Times New Roman" panose="02020603050405020304" pitchFamily="18" charset="0"/>
                <a:cs typeface="Times New Roman" panose="02020603050405020304" pitchFamily="18" charset="0"/>
              </a:rPr>
              <a:t>can use the authenticated information provided by the verifier to  make access control or authorization decisions.</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6</a:t>
            </a:fld>
            <a:endParaRPr lang="en-US" dirty="0">
              <a:solidFill>
                <a:prstClr val="white">
                  <a:lumMod val="65000"/>
                  <a:lumOff val="35000"/>
                </a:prstClr>
              </a:solidFill>
            </a:endParaRPr>
          </a:p>
        </p:txBody>
      </p:sp>
    </p:spTree>
    <p:extLst>
      <p:ext uri="{BB962C8B-B14F-4D97-AF65-F5344CB8AC3E}">
        <p14:creationId xmlns:p14="http://schemas.microsoft.com/office/powerpoint/2010/main" val="424651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a:t>
            </a:fld>
            <a:endParaRPr lang="en-US" dirty="0"/>
          </a:p>
        </p:txBody>
      </p:sp>
      <p:pic>
        <p:nvPicPr>
          <p:cNvPr id="3" name="Picture 2"/>
          <p:cNvPicPr>
            <a:picLocks noChangeAspect="1"/>
          </p:cNvPicPr>
          <p:nvPr/>
        </p:nvPicPr>
        <p:blipFill>
          <a:blip r:embed="rId2"/>
          <a:stretch>
            <a:fillRect/>
          </a:stretch>
        </p:blipFill>
        <p:spPr>
          <a:xfrm>
            <a:off x="925814" y="617858"/>
            <a:ext cx="10294121" cy="5738492"/>
          </a:xfrm>
          <a:prstGeom prst="rect">
            <a:avLst/>
          </a:prstGeom>
        </p:spPr>
      </p:pic>
    </p:spTree>
    <p:extLst>
      <p:ext uri="{BB962C8B-B14F-4D97-AF65-F5344CB8AC3E}">
        <p14:creationId xmlns:p14="http://schemas.microsoft.com/office/powerpoint/2010/main" val="223782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689852" y="3281228"/>
            <a:ext cx="5502148" cy="3546519"/>
          </a:xfrm>
          <a:prstGeom prst="rect">
            <a:avLst/>
          </a:prstGeom>
        </p:spPr>
      </p:pic>
      <p:sp>
        <p:nvSpPr>
          <p:cNvPr id="4" name="Slide Number Placeholder 3"/>
          <p:cNvSpPr>
            <a:spLocks noGrp="1"/>
          </p:cNvSpPr>
          <p:nvPr>
            <p:ph type="sldNum" sz="quarter" idx="12"/>
          </p:nvPr>
        </p:nvSpPr>
        <p:spPr/>
        <p:txBody>
          <a:bodyPr/>
          <a:lstStyle/>
          <a:p>
            <a:fld id="{A2A50C4D-0BA1-4E54-8DFC-01810EC97B99}" type="slidenum">
              <a:rPr lang="en-US" smtClean="0"/>
              <a:t>8</a:t>
            </a:fld>
            <a:endParaRPr lang="en-US" dirty="0"/>
          </a:p>
        </p:txBody>
      </p:sp>
      <p:grpSp>
        <p:nvGrpSpPr>
          <p:cNvPr id="7" name="Group 6"/>
          <p:cNvGrpSpPr/>
          <p:nvPr/>
        </p:nvGrpSpPr>
        <p:grpSpPr>
          <a:xfrm>
            <a:off x="383652" y="638789"/>
            <a:ext cx="7351677" cy="3142379"/>
            <a:chOff x="2860016" y="889939"/>
            <a:chExt cx="6373114" cy="2784323"/>
          </a:xfrm>
        </p:grpSpPr>
        <p:pic>
          <p:nvPicPr>
            <p:cNvPr id="6" name="Picture 5"/>
            <p:cNvPicPr>
              <a:picLocks noChangeAspect="1"/>
            </p:cNvPicPr>
            <p:nvPr/>
          </p:nvPicPr>
          <p:blipFill>
            <a:blip r:embed="rId4"/>
            <a:stretch>
              <a:fillRect/>
            </a:stretch>
          </p:blipFill>
          <p:spPr>
            <a:xfrm>
              <a:off x="3085680" y="2788313"/>
              <a:ext cx="6020640" cy="885949"/>
            </a:xfrm>
            <a:prstGeom prst="rect">
              <a:avLst/>
            </a:prstGeom>
          </p:spPr>
        </p:pic>
        <p:pic>
          <p:nvPicPr>
            <p:cNvPr id="5" name="Picture 4"/>
            <p:cNvPicPr>
              <a:picLocks noChangeAspect="1"/>
            </p:cNvPicPr>
            <p:nvPr/>
          </p:nvPicPr>
          <p:blipFill>
            <a:blip r:embed="rId5"/>
            <a:stretch>
              <a:fillRect/>
            </a:stretch>
          </p:blipFill>
          <p:spPr>
            <a:xfrm>
              <a:off x="2860016" y="889939"/>
              <a:ext cx="6373114" cy="1914792"/>
            </a:xfrm>
            <a:prstGeom prst="rect">
              <a:avLst/>
            </a:prstGeom>
          </p:spPr>
        </p:pic>
      </p:grpSp>
      <p:sp>
        <p:nvSpPr>
          <p:cNvPr id="8" name="Rectangle 7"/>
          <p:cNvSpPr/>
          <p:nvPr/>
        </p:nvSpPr>
        <p:spPr>
          <a:xfrm>
            <a:off x="383653" y="4169341"/>
            <a:ext cx="5683516" cy="1754326"/>
          </a:xfrm>
          <a:prstGeom prst="rect">
            <a:avLst/>
          </a:prstGeom>
        </p:spPr>
        <p:txBody>
          <a:bodyPr wrap="square">
            <a:spAutoFit/>
          </a:bodyPr>
          <a:lstStyle/>
          <a:p>
            <a:r>
              <a:rPr lang="en-US" b="1" dirty="0">
                <a:solidFill>
                  <a:srgbClr val="FF0000"/>
                </a:solidFill>
                <a:latin typeface="TimesTenLTStd-Bold"/>
              </a:rPr>
              <a:t>Multifactor authentication </a:t>
            </a:r>
            <a:r>
              <a:rPr lang="en-US" dirty="0">
                <a:solidFill>
                  <a:srgbClr val="FF0000"/>
                </a:solidFill>
                <a:latin typeface="TimesTenLTStd-Roman"/>
              </a:rPr>
              <a:t>refers to the use of more than one of the authentication means in the preceding list. </a:t>
            </a:r>
            <a:r>
              <a:rPr lang="en-US" dirty="0"/>
              <a:t>Implementations that use two factors are considered to be stronger than those that use only one factor; systems that incorporate three factors are stronger than systems that only incorporate two of the factors, and so on. </a:t>
            </a:r>
            <a:endParaRPr lang="en-US" dirty="0">
              <a:solidFill>
                <a:srgbClr val="FF0000"/>
              </a:solidFill>
            </a:endParaRPr>
          </a:p>
        </p:txBody>
      </p:sp>
    </p:spTree>
    <p:extLst>
      <p:ext uri="{BB962C8B-B14F-4D97-AF65-F5344CB8AC3E}">
        <p14:creationId xmlns:p14="http://schemas.microsoft.com/office/powerpoint/2010/main" val="316291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9</a:t>
            </a:fld>
            <a:endParaRPr lang="en-US"/>
          </a:p>
        </p:txBody>
      </p:sp>
      <p:pic>
        <p:nvPicPr>
          <p:cNvPr id="3" name="Picture 2"/>
          <p:cNvPicPr>
            <a:picLocks noChangeAspect="1"/>
          </p:cNvPicPr>
          <p:nvPr/>
        </p:nvPicPr>
        <p:blipFill>
          <a:blip r:embed="rId2"/>
          <a:stretch>
            <a:fillRect/>
          </a:stretch>
        </p:blipFill>
        <p:spPr>
          <a:xfrm>
            <a:off x="532868" y="352712"/>
            <a:ext cx="8325767" cy="715603"/>
          </a:xfrm>
          <a:prstGeom prst="rect">
            <a:avLst/>
          </a:prstGeom>
        </p:spPr>
      </p:pic>
      <p:sp>
        <p:nvSpPr>
          <p:cNvPr id="4" name="TextBox 3"/>
          <p:cNvSpPr txBox="1"/>
          <p:nvPr/>
        </p:nvSpPr>
        <p:spPr>
          <a:xfrm>
            <a:off x="3454477" y="6171684"/>
            <a:ext cx="5449441" cy="369332"/>
          </a:xfrm>
          <a:prstGeom prst="rect">
            <a:avLst/>
          </a:prstGeom>
          <a:noFill/>
        </p:spPr>
        <p:txBody>
          <a:bodyPr wrap="none" rtlCol="0">
            <a:spAutoFit/>
          </a:bodyPr>
          <a:lstStyle/>
          <a:p>
            <a:r>
              <a:rPr lang="en-US" dirty="0">
                <a:solidFill>
                  <a:srgbClr val="FF0000"/>
                </a:solidFill>
              </a:rPr>
              <a:t>Read Assurance levels, Potential risk, Risk  from the book</a:t>
            </a:r>
          </a:p>
        </p:txBody>
      </p:sp>
      <p:pic>
        <p:nvPicPr>
          <p:cNvPr id="5" name="Picture 4"/>
          <p:cNvPicPr>
            <a:picLocks noChangeAspect="1"/>
          </p:cNvPicPr>
          <p:nvPr/>
        </p:nvPicPr>
        <p:blipFill>
          <a:blip r:embed="rId3">
            <a:duotone>
              <a:prstClr val="black"/>
              <a:schemeClr val="accent2">
                <a:tint val="45000"/>
                <a:satMod val="400000"/>
              </a:schemeClr>
            </a:duotone>
          </a:blip>
          <a:stretch>
            <a:fillRect/>
          </a:stretch>
        </p:blipFill>
        <p:spPr>
          <a:xfrm>
            <a:off x="889687" y="1068315"/>
            <a:ext cx="8536459" cy="443069"/>
          </a:xfrm>
          <a:prstGeom prst="rect">
            <a:avLst/>
          </a:prstGeom>
        </p:spPr>
      </p:pic>
      <p:pic>
        <p:nvPicPr>
          <p:cNvPr id="6" name="Picture 5"/>
          <p:cNvPicPr>
            <a:picLocks noChangeAspect="1"/>
          </p:cNvPicPr>
          <p:nvPr/>
        </p:nvPicPr>
        <p:blipFill>
          <a:blip r:embed="rId4"/>
          <a:stretch>
            <a:fillRect/>
          </a:stretch>
        </p:blipFill>
        <p:spPr>
          <a:xfrm>
            <a:off x="889687" y="1630052"/>
            <a:ext cx="10259857" cy="3772426"/>
          </a:xfrm>
          <a:prstGeom prst="rect">
            <a:avLst/>
          </a:prstGeom>
        </p:spPr>
      </p:pic>
      <p:sp>
        <p:nvSpPr>
          <p:cNvPr id="7" name="Rectangle 6"/>
          <p:cNvSpPr/>
          <p:nvPr/>
        </p:nvSpPr>
        <p:spPr>
          <a:xfrm>
            <a:off x="532868" y="5279250"/>
            <a:ext cx="11292660" cy="1200329"/>
          </a:xfrm>
          <a:prstGeom prst="rect">
            <a:avLst/>
          </a:prstGeom>
        </p:spPr>
        <p:txBody>
          <a:bodyPr wrap="square">
            <a:spAutoFit/>
          </a:bodyPr>
          <a:lstStyle/>
          <a:p>
            <a:r>
              <a:rPr lang="en-US" dirty="0">
                <a:solidFill>
                  <a:srgbClr val="242021"/>
                </a:solidFill>
                <a:latin typeface="TimesTenLTStd-Roman"/>
              </a:rPr>
              <a:t>This table suggests a technique for doing risk assessment. For a given information system or service asset of an organization, the organization needs to determine the level of impact if an authentication failure occurs, using the categories of impact, or risk areas, that are of concern.</a:t>
            </a:r>
            <a:r>
              <a:rPr lang="en-US" dirty="0"/>
              <a:t> </a:t>
            </a:r>
            <a:br>
              <a:rPr lang="en-US" dirty="0"/>
            </a:br>
            <a:endParaRPr lang="en-US" dirty="0"/>
          </a:p>
        </p:txBody>
      </p:sp>
    </p:spTree>
    <p:extLst>
      <p:ext uri="{BB962C8B-B14F-4D97-AF65-F5344CB8AC3E}">
        <p14:creationId xmlns:p14="http://schemas.microsoft.com/office/powerpoint/2010/main" val="2826716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10</a:t>
            </a:fld>
            <a:endParaRPr lang="en-US" dirty="0"/>
          </a:p>
        </p:txBody>
      </p:sp>
      <p:pic>
        <p:nvPicPr>
          <p:cNvPr id="3" name="Picture 2"/>
          <p:cNvPicPr>
            <a:picLocks noChangeAspect="1"/>
          </p:cNvPicPr>
          <p:nvPr/>
        </p:nvPicPr>
        <p:blipFill>
          <a:blip r:embed="rId2"/>
          <a:stretch>
            <a:fillRect/>
          </a:stretch>
        </p:blipFill>
        <p:spPr>
          <a:xfrm>
            <a:off x="1254883" y="489705"/>
            <a:ext cx="9137150" cy="5962271"/>
          </a:xfrm>
          <a:prstGeom prst="rect">
            <a:avLst/>
          </a:prstGeom>
        </p:spPr>
      </p:pic>
    </p:spTree>
    <p:extLst>
      <p:ext uri="{BB962C8B-B14F-4D97-AF65-F5344CB8AC3E}">
        <p14:creationId xmlns:p14="http://schemas.microsoft.com/office/powerpoint/2010/main" val="1968042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11</a:t>
            </a:fld>
            <a:endParaRPr lang="en-US" dirty="0"/>
          </a:p>
        </p:txBody>
      </p:sp>
      <p:grpSp>
        <p:nvGrpSpPr>
          <p:cNvPr id="7" name="Group 6"/>
          <p:cNvGrpSpPr/>
          <p:nvPr/>
        </p:nvGrpSpPr>
        <p:grpSpPr>
          <a:xfrm>
            <a:off x="394737" y="835891"/>
            <a:ext cx="5684787" cy="5631672"/>
            <a:chOff x="357667" y="546706"/>
            <a:chExt cx="6064407" cy="6053085"/>
          </a:xfrm>
        </p:grpSpPr>
        <p:pic>
          <p:nvPicPr>
            <p:cNvPr id="4" name="Picture 3"/>
            <p:cNvPicPr>
              <a:picLocks noChangeAspect="1"/>
            </p:cNvPicPr>
            <p:nvPr/>
          </p:nvPicPr>
          <p:blipFill>
            <a:blip r:embed="rId2"/>
            <a:stretch>
              <a:fillRect/>
            </a:stretch>
          </p:blipFill>
          <p:spPr>
            <a:xfrm>
              <a:off x="357667" y="546706"/>
              <a:ext cx="6039693" cy="1143160"/>
            </a:xfrm>
            <a:prstGeom prst="rect">
              <a:avLst/>
            </a:prstGeom>
          </p:spPr>
        </p:pic>
        <p:pic>
          <p:nvPicPr>
            <p:cNvPr id="5" name="Picture 4"/>
            <p:cNvPicPr>
              <a:picLocks noChangeAspect="1"/>
            </p:cNvPicPr>
            <p:nvPr/>
          </p:nvPicPr>
          <p:blipFill>
            <a:blip r:embed="rId3"/>
            <a:stretch>
              <a:fillRect/>
            </a:stretch>
          </p:blipFill>
          <p:spPr>
            <a:xfrm>
              <a:off x="401434" y="1665152"/>
              <a:ext cx="6020640" cy="4934639"/>
            </a:xfrm>
            <a:prstGeom prst="rect">
              <a:avLst/>
            </a:prstGeom>
          </p:spPr>
        </p:pic>
      </p:grpSp>
      <p:pic>
        <p:nvPicPr>
          <p:cNvPr id="6" name="Picture 5"/>
          <p:cNvPicPr>
            <a:picLocks noChangeAspect="1"/>
          </p:cNvPicPr>
          <p:nvPr/>
        </p:nvPicPr>
        <p:blipFill>
          <a:blip r:embed="rId4"/>
          <a:stretch>
            <a:fillRect/>
          </a:stretch>
        </p:blipFill>
        <p:spPr>
          <a:xfrm>
            <a:off x="6256604" y="1145176"/>
            <a:ext cx="5542924" cy="4378297"/>
          </a:xfrm>
          <a:prstGeom prst="rect">
            <a:avLst/>
          </a:prstGeom>
        </p:spPr>
      </p:pic>
      <p:pic>
        <p:nvPicPr>
          <p:cNvPr id="8" name="Picture 7"/>
          <p:cNvPicPr>
            <a:picLocks noChangeAspect="1"/>
          </p:cNvPicPr>
          <p:nvPr/>
        </p:nvPicPr>
        <p:blipFill>
          <a:blip r:embed="rId5"/>
          <a:stretch>
            <a:fillRect/>
          </a:stretch>
        </p:blipFill>
        <p:spPr>
          <a:xfrm>
            <a:off x="3286822" y="392635"/>
            <a:ext cx="5539070" cy="412294"/>
          </a:xfrm>
          <a:prstGeom prst="rect">
            <a:avLst/>
          </a:prstGeom>
        </p:spPr>
      </p:pic>
    </p:spTree>
    <p:extLst>
      <p:ext uri="{BB962C8B-B14F-4D97-AF65-F5344CB8AC3E}">
        <p14:creationId xmlns:p14="http://schemas.microsoft.com/office/powerpoint/2010/main" val="2074091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dirty="0"/>
          </a:p>
        </p:txBody>
      </p:sp>
      <p:pic>
        <p:nvPicPr>
          <p:cNvPr id="3" name="Picture 2"/>
          <p:cNvPicPr>
            <a:picLocks noChangeAspect="1"/>
          </p:cNvPicPr>
          <p:nvPr/>
        </p:nvPicPr>
        <p:blipFill>
          <a:blip r:embed="rId2"/>
          <a:stretch>
            <a:fillRect/>
          </a:stretch>
        </p:blipFill>
        <p:spPr>
          <a:xfrm>
            <a:off x="6943659" y="1430742"/>
            <a:ext cx="4939663" cy="3624558"/>
          </a:xfrm>
          <a:prstGeom prst="rect">
            <a:avLst/>
          </a:prstGeom>
        </p:spPr>
      </p:pic>
      <p:pic>
        <p:nvPicPr>
          <p:cNvPr id="5" name="Picture 4"/>
          <p:cNvPicPr>
            <a:picLocks noChangeAspect="1"/>
          </p:cNvPicPr>
          <p:nvPr/>
        </p:nvPicPr>
        <p:blipFill>
          <a:blip r:embed="rId3"/>
          <a:stretch>
            <a:fillRect/>
          </a:stretch>
        </p:blipFill>
        <p:spPr>
          <a:xfrm>
            <a:off x="6453618" y="561041"/>
            <a:ext cx="5556907" cy="572034"/>
          </a:xfrm>
          <a:prstGeom prst="rect">
            <a:avLst/>
          </a:prstGeom>
        </p:spPr>
      </p:pic>
      <p:sp>
        <p:nvSpPr>
          <p:cNvPr id="6" name="Content Placeholder 2">
            <a:extLst>
              <a:ext uri="{FF2B5EF4-FFF2-40B4-BE49-F238E27FC236}">
                <a16:creationId xmlns:a16="http://schemas.microsoft.com/office/drawing/2014/main" id="{02C2C136-3FAD-E9D1-F3EF-2436C4983F47}"/>
              </a:ext>
            </a:extLst>
          </p:cNvPr>
          <p:cNvSpPr txBox="1">
            <a:spLocks/>
          </p:cNvSpPr>
          <p:nvPr/>
        </p:nvSpPr>
        <p:spPr>
          <a:xfrm>
            <a:off x="82863" y="1349935"/>
            <a:ext cx="6634981" cy="6021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latin typeface="Times New Roman" panose="02020603050405020304" pitchFamily="18" charset="0"/>
                <a:cs typeface="Times New Roman" panose="02020603050405020304" pitchFamily="18" charset="0"/>
              </a:rPr>
              <a:t>A widely used password security technique</a:t>
            </a:r>
          </a:p>
          <a:p>
            <a:pPr lvl="1"/>
            <a:r>
              <a:rPr lang="en-US" sz="1800" b="1" dirty="0">
                <a:solidFill>
                  <a:srgbClr val="C00000"/>
                </a:solidFill>
                <a:latin typeface="Times New Roman" panose="02020603050405020304" pitchFamily="18" charset="0"/>
                <a:cs typeface="Times New Roman" panose="02020603050405020304" pitchFamily="18" charset="0"/>
              </a:rPr>
              <a:t>use of hashed passwords and a salt value</a:t>
            </a:r>
          </a:p>
          <a:p>
            <a:pPr lvl="1"/>
            <a:r>
              <a:rPr lang="en-US" sz="1800" b="1" dirty="0">
                <a:latin typeface="Times New Roman" panose="02020603050405020304" pitchFamily="18" charset="0"/>
                <a:cs typeface="Times New Roman" panose="02020603050405020304" pitchFamily="18" charset="0"/>
              </a:rPr>
              <a:t>This scheme is found on virtually all UNIX operating system</a:t>
            </a:r>
          </a:p>
          <a:p>
            <a:pPr algn="just"/>
            <a:r>
              <a:rPr lang="en-US" sz="1800" dirty="0">
                <a:latin typeface="Times New Roman" panose="02020603050405020304" pitchFamily="18" charset="0"/>
                <a:cs typeface="Times New Roman" panose="02020603050405020304" pitchFamily="18" charset="0"/>
              </a:rPr>
              <a:t>To load a new password into the system, the user selects or is assigned a password. (see Figure 3.3a).</a:t>
            </a:r>
          </a:p>
          <a:p>
            <a:pPr lvl="1"/>
            <a:r>
              <a:rPr lang="en-US" sz="1800" dirty="0">
                <a:latin typeface="Times New Roman" panose="02020603050405020304" pitchFamily="18" charset="0"/>
                <a:cs typeface="Times New Roman" panose="02020603050405020304" pitchFamily="18" charset="0"/>
              </a:rPr>
              <a:t>This password is </a:t>
            </a:r>
            <a:r>
              <a:rPr lang="en-US" sz="1800" b="1" dirty="0">
                <a:solidFill>
                  <a:srgbClr val="C00000"/>
                </a:solidFill>
                <a:latin typeface="Times New Roman" panose="02020603050405020304" pitchFamily="18" charset="0"/>
                <a:cs typeface="Times New Roman" panose="02020603050405020304" pitchFamily="18" charset="0"/>
              </a:rPr>
              <a:t>combined with a fixed-length salt value</a:t>
            </a:r>
          </a:p>
          <a:p>
            <a:pPr lvl="2"/>
            <a:r>
              <a:rPr lang="en-US" sz="1800" dirty="0">
                <a:latin typeface="Times New Roman" panose="02020603050405020304" pitchFamily="18" charset="0"/>
                <a:cs typeface="Times New Roman" panose="02020603050405020304" pitchFamily="18" charset="0"/>
              </a:rPr>
              <a:t>use a pseudorandom or random number.</a:t>
            </a:r>
            <a:endParaRPr lang="en-US" sz="1800" b="1" dirty="0">
              <a:solidFill>
                <a:srgbClr val="C00000"/>
              </a:solidFill>
              <a:latin typeface="Times New Roman" panose="02020603050405020304" pitchFamily="18" charset="0"/>
              <a:cs typeface="Times New Roman" panose="02020603050405020304" pitchFamily="18" charset="0"/>
            </a:endParaRPr>
          </a:p>
          <a:p>
            <a:pPr lvl="3"/>
            <a:r>
              <a:rPr lang="en-US" dirty="0">
                <a:latin typeface="Times New Roman" panose="02020603050405020304" pitchFamily="18" charset="0"/>
                <a:cs typeface="Times New Roman" panose="02020603050405020304" pitchFamily="18" charset="0"/>
              </a:rPr>
              <a:t>can be anything </a:t>
            </a:r>
            <a:r>
              <a:rPr lang="en-US" b="1" dirty="0">
                <a:solidFill>
                  <a:srgbClr val="C00000"/>
                </a:solidFill>
                <a:latin typeface="Times New Roman" panose="02020603050405020304" pitchFamily="18" charset="0"/>
                <a:cs typeface="Times New Roman" panose="02020603050405020304" pitchFamily="18" charset="0"/>
              </a:rPr>
              <a:t>like time, date etc.</a:t>
            </a:r>
          </a:p>
          <a:p>
            <a:pPr algn="just"/>
            <a:r>
              <a:rPr lang="en-US" sz="1800" dirty="0">
                <a:solidFill>
                  <a:srgbClr val="242021"/>
                </a:solidFill>
                <a:latin typeface="TimesTenLTStd-Roman"/>
              </a:rPr>
              <a:t>The hash algorithm is designed to be slow to execute in order to thwart attacks</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hashed password is then stored, together with a plaintext copy of the salt, in the password file for the corresponding user ID. </a:t>
            </a:r>
          </a:p>
          <a:p>
            <a:pPr lvl="1" algn="just"/>
            <a:r>
              <a:rPr lang="en-US" sz="1400" dirty="0">
                <a:solidFill>
                  <a:srgbClr val="242021"/>
                </a:solidFill>
                <a:latin typeface="TimesTenLTStd-Roman"/>
              </a:rPr>
              <a:t>The hashed password method has been shown to be secure against a variety of cryptanalytic attacks</a:t>
            </a:r>
            <a:endParaRPr lang="en-US" sz="1400" dirty="0"/>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5407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dirty="0"/>
          </a:p>
        </p:txBody>
      </p:sp>
      <p:pic>
        <p:nvPicPr>
          <p:cNvPr id="4" name="Picture 3"/>
          <p:cNvPicPr>
            <a:picLocks noChangeAspect="1"/>
          </p:cNvPicPr>
          <p:nvPr/>
        </p:nvPicPr>
        <p:blipFill>
          <a:blip r:embed="rId2"/>
          <a:stretch>
            <a:fillRect/>
          </a:stretch>
        </p:blipFill>
        <p:spPr>
          <a:xfrm>
            <a:off x="6777318" y="1843119"/>
            <a:ext cx="5306165" cy="3562847"/>
          </a:xfrm>
          <a:prstGeom prst="rect">
            <a:avLst/>
          </a:prstGeom>
        </p:spPr>
      </p:pic>
      <p:pic>
        <p:nvPicPr>
          <p:cNvPr id="5" name="Picture 4"/>
          <p:cNvPicPr>
            <a:picLocks noChangeAspect="1"/>
          </p:cNvPicPr>
          <p:nvPr/>
        </p:nvPicPr>
        <p:blipFill>
          <a:blip r:embed="rId3"/>
          <a:stretch>
            <a:fillRect/>
          </a:stretch>
        </p:blipFill>
        <p:spPr>
          <a:xfrm>
            <a:off x="6458468" y="665051"/>
            <a:ext cx="5556907" cy="572034"/>
          </a:xfrm>
          <a:prstGeom prst="rect">
            <a:avLst/>
          </a:prstGeom>
        </p:spPr>
      </p:pic>
      <p:sp>
        <p:nvSpPr>
          <p:cNvPr id="6" name="Content Placeholder 2">
            <a:extLst>
              <a:ext uri="{FF2B5EF4-FFF2-40B4-BE49-F238E27FC236}">
                <a16:creationId xmlns:a16="http://schemas.microsoft.com/office/drawing/2014/main" id="{1A6FB7C1-DBA1-3042-1BF5-7BE910A00335}"/>
              </a:ext>
            </a:extLst>
          </p:cNvPr>
          <p:cNvSpPr txBox="1">
            <a:spLocks/>
          </p:cNvSpPr>
          <p:nvPr/>
        </p:nvSpPr>
        <p:spPr>
          <a:xfrm>
            <a:off x="0" y="1487892"/>
            <a:ext cx="6777318" cy="36343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When a user attempts to log on to a UNIX system, the user provides:</a:t>
            </a:r>
          </a:p>
          <a:p>
            <a:pPr lvl="1"/>
            <a:r>
              <a:rPr lang="en-US" sz="1600" b="1" dirty="0"/>
              <a:t>an ID and a password </a:t>
            </a:r>
            <a:r>
              <a:rPr lang="en-US" sz="1600" dirty="0"/>
              <a:t>(see Figure 3.3b).</a:t>
            </a:r>
          </a:p>
          <a:p>
            <a:pPr lvl="1"/>
            <a:r>
              <a:rPr lang="en-US" sz="1600" dirty="0"/>
              <a:t>The operating system uses:</a:t>
            </a:r>
          </a:p>
          <a:p>
            <a:pPr lvl="2"/>
            <a:r>
              <a:rPr lang="en-US" sz="1600" dirty="0"/>
              <a:t> </a:t>
            </a:r>
            <a:r>
              <a:rPr lang="en-US" sz="1600" b="1" i="1" dirty="0">
                <a:solidFill>
                  <a:srgbClr val="C00000"/>
                </a:solidFill>
              </a:rPr>
              <a:t>the ID to index into the password file and retrieve the plaintext salt and the encrypted password. </a:t>
            </a:r>
          </a:p>
          <a:p>
            <a:pPr lvl="2"/>
            <a:r>
              <a:rPr lang="en-US" sz="1600" b="1" dirty="0">
                <a:solidFill>
                  <a:srgbClr val="C00000"/>
                </a:solidFill>
              </a:rPr>
              <a:t>The salt and user-supplied password are used as input to the encryption routine</a:t>
            </a:r>
            <a:r>
              <a:rPr lang="en-US" sz="1600" dirty="0"/>
              <a:t>.</a:t>
            </a:r>
          </a:p>
          <a:p>
            <a:pPr lvl="1"/>
            <a:r>
              <a:rPr lang="en-US" dirty="0"/>
              <a:t> </a:t>
            </a:r>
            <a:r>
              <a:rPr lang="en-US" sz="2000" dirty="0"/>
              <a:t>If the result matches the stored value, the password is accepted.</a:t>
            </a:r>
          </a:p>
        </p:txBody>
      </p:sp>
    </p:spTree>
    <p:extLst>
      <p:ext uri="{BB962C8B-B14F-4D97-AF65-F5344CB8AC3E}">
        <p14:creationId xmlns:p14="http://schemas.microsoft.com/office/powerpoint/2010/main" val="870504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969857" y="314146"/>
            <a:ext cx="7200900" cy="967807"/>
          </a:xfrm>
        </p:spPr>
        <p:txBody>
          <a:bodyPr/>
          <a:lstStyle/>
          <a:p>
            <a:r>
              <a:rPr lang="en-US" altLang="en-US" b="1" dirty="0"/>
              <a:t>Why a salt value?</a:t>
            </a:r>
          </a:p>
        </p:txBody>
      </p:sp>
      <p:sp>
        <p:nvSpPr>
          <p:cNvPr id="26627" name="Content Placeholder 2"/>
          <p:cNvSpPr>
            <a:spLocks noGrp="1"/>
          </p:cNvSpPr>
          <p:nvPr>
            <p:ph idx="1"/>
          </p:nvPr>
        </p:nvSpPr>
        <p:spPr>
          <a:xfrm>
            <a:off x="969857" y="1581654"/>
            <a:ext cx="10675295" cy="4729499"/>
          </a:xfrm>
        </p:spPr>
        <p:txBody>
          <a:bodyPr>
            <a:normAutofit/>
          </a:bodyPr>
          <a:lstStyle/>
          <a:p>
            <a:pPr algn="just"/>
            <a:r>
              <a:rPr lang="en-US" dirty="0"/>
              <a:t>The </a:t>
            </a:r>
            <a:r>
              <a:rPr lang="en-US" b="1" dirty="0"/>
              <a:t>salt serves </a:t>
            </a:r>
            <a:r>
              <a:rPr lang="en-US" dirty="0"/>
              <a:t>three purposes:</a:t>
            </a:r>
          </a:p>
          <a:p>
            <a:pPr marL="987552" lvl="1" indent="-457200" algn="just">
              <a:buFont typeface="+mj-lt"/>
              <a:buAutoNum type="arabicPeriod"/>
            </a:pPr>
            <a:r>
              <a:rPr lang="en-US" dirty="0"/>
              <a:t>It prevents </a:t>
            </a:r>
            <a:r>
              <a:rPr lang="en-US" b="1" dirty="0">
                <a:solidFill>
                  <a:srgbClr val="C00000"/>
                </a:solidFill>
              </a:rPr>
              <a:t>duplicate passwords </a:t>
            </a:r>
            <a:r>
              <a:rPr lang="en-US" dirty="0"/>
              <a:t>from being visible in the password file.</a:t>
            </a:r>
          </a:p>
          <a:p>
            <a:pPr lvl="2" algn="just"/>
            <a:r>
              <a:rPr lang="en-US" dirty="0"/>
              <a:t>Even if two users choose the same password, those passwords will be assigned different salt values. </a:t>
            </a:r>
          </a:p>
          <a:p>
            <a:pPr lvl="3" algn="just"/>
            <a:r>
              <a:rPr lang="en-US" dirty="0"/>
              <a:t>Hence, the hashed passwords of the two users will differ.</a:t>
            </a:r>
            <a:endParaRPr lang="en-US" altLang="en-US" dirty="0"/>
          </a:p>
          <a:p>
            <a:pPr marL="987552" lvl="1" indent="-457200">
              <a:buFont typeface="+mj-lt"/>
              <a:buAutoNum type="arabicPeriod"/>
            </a:pPr>
            <a:r>
              <a:rPr lang="en-US" dirty="0"/>
              <a:t>It greatly increases the </a:t>
            </a:r>
            <a:r>
              <a:rPr lang="en-US" b="1" dirty="0">
                <a:solidFill>
                  <a:srgbClr val="C00000"/>
                </a:solidFill>
              </a:rPr>
              <a:t>difficulty of offline dictionary attacks. </a:t>
            </a:r>
          </a:p>
          <a:p>
            <a:pPr lvl="2"/>
            <a:r>
              <a:rPr lang="en-US" dirty="0"/>
              <a:t>For a </a:t>
            </a:r>
            <a:r>
              <a:rPr lang="en-US" b="1" dirty="0"/>
              <a:t>salt of length </a:t>
            </a:r>
            <a:r>
              <a:rPr lang="en-US" b="1" i="1" dirty="0"/>
              <a:t>b </a:t>
            </a:r>
            <a:r>
              <a:rPr lang="en-US" b="1" dirty="0"/>
              <a:t>bits</a:t>
            </a:r>
            <a:r>
              <a:rPr lang="en-US" dirty="0"/>
              <a:t>, the number of possible passwords is increased by a factor of 2</a:t>
            </a:r>
            <a:r>
              <a:rPr lang="en-US" i="1" dirty="0"/>
              <a:t>b</a:t>
            </a:r>
            <a:r>
              <a:rPr lang="en-US" dirty="0"/>
              <a:t>,</a:t>
            </a:r>
          </a:p>
          <a:p>
            <a:pPr lvl="3"/>
            <a:r>
              <a:rPr lang="en-US" dirty="0"/>
              <a:t> Increasing  the difficulty of guessing a password in a dictionary attack.</a:t>
            </a:r>
            <a:endParaRPr lang="en-US" altLang="en-US" dirty="0"/>
          </a:p>
          <a:p>
            <a:pPr marL="987552" lvl="1" indent="-457200">
              <a:buFont typeface="+mj-lt"/>
              <a:buAutoNum type="arabicPeriod"/>
            </a:pPr>
            <a:r>
              <a:rPr lang="en-US" altLang="en-US" dirty="0"/>
              <a:t>Nearly </a:t>
            </a:r>
            <a:r>
              <a:rPr lang="en-US" altLang="en-US" b="1" dirty="0">
                <a:solidFill>
                  <a:srgbClr val="C00000"/>
                </a:solidFill>
              </a:rPr>
              <a:t>impossible</a:t>
            </a:r>
            <a:r>
              <a:rPr lang="en-US" altLang="en-US" dirty="0"/>
              <a:t> to tell if a person </a:t>
            </a:r>
            <a:r>
              <a:rPr lang="en-US" altLang="en-US" b="1" dirty="0">
                <a:solidFill>
                  <a:srgbClr val="C00000"/>
                </a:solidFill>
              </a:rPr>
              <a:t>used the same password on multiple systems</a:t>
            </a:r>
          </a:p>
        </p:txBody>
      </p:sp>
    </p:spTree>
    <p:extLst>
      <p:ext uri="{BB962C8B-B14F-4D97-AF65-F5344CB8AC3E}">
        <p14:creationId xmlns:p14="http://schemas.microsoft.com/office/powerpoint/2010/main" val="34822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dirty="0"/>
          </a:p>
        </p:txBody>
      </p:sp>
      <p:pic>
        <p:nvPicPr>
          <p:cNvPr id="3" name="Picture 2"/>
          <p:cNvPicPr>
            <a:picLocks noChangeAspect="1"/>
          </p:cNvPicPr>
          <p:nvPr/>
        </p:nvPicPr>
        <p:blipFill>
          <a:blip r:embed="rId2"/>
          <a:stretch>
            <a:fillRect/>
          </a:stretch>
        </p:blipFill>
        <p:spPr>
          <a:xfrm>
            <a:off x="1633558" y="495629"/>
            <a:ext cx="7501370" cy="409463"/>
          </a:xfrm>
          <a:prstGeom prst="rect">
            <a:avLst/>
          </a:prstGeom>
        </p:spPr>
      </p:pic>
      <p:pic>
        <p:nvPicPr>
          <p:cNvPr id="4" name="Picture 3"/>
          <p:cNvPicPr>
            <a:picLocks noChangeAspect="1"/>
          </p:cNvPicPr>
          <p:nvPr/>
        </p:nvPicPr>
        <p:blipFill>
          <a:blip r:embed="rId3"/>
          <a:stretch>
            <a:fillRect/>
          </a:stretch>
        </p:blipFill>
        <p:spPr>
          <a:xfrm>
            <a:off x="1204200" y="1270111"/>
            <a:ext cx="9072746" cy="5104275"/>
          </a:xfrm>
          <a:prstGeom prst="rect">
            <a:avLst/>
          </a:prstGeom>
        </p:spPr>
      </p:pic>
    </p:spTree>
    <p:extLst>
      <p:ext uri="{BB962C8B-B14F-4D97-AF65-F5344CB8AC3E}">
        <p14:creationId xmlns:p14="http://schemas.microsoft.com/office/powerpoint/2010/main" val="3636668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79576" y="286916"/>
            <a:ext cx="7200900" cy="981844"/>
          </a:xfrm>
        </p:spPr>
        <p:txBody>
          <a:bodyPr/>
          <a:lstStyle/>
          <a:p>
            <a:pPr algn="ctr" eaLnBrk="1" hangingPunct="1"/>
            <a:r>
              <a:rPr lang="en-US" altLang="en-US" b="1" dirty="0"/>
              <a:t>Password Cracking</a:t>
            </a:r>
          </a:p>
        </p:txBody>
      </p:sp>
      <p:pic>
        <p:nvPicPr>
          <p:cNvPr id="4" name="Picture 3"/>
          <p:cNvPicPr>
            <a:picLocks noChangeAspect="1"/>
          </p:cNvPicPr>
          <p:nvPr/>
        </p:nvPicPr>
        <p:blipFill rotWithShape="1">
          <a:blip r:embed="rId3"/>
          <a:srcRect l="2757" t="3245" r="1633"/>
          <a:stretch/>
        </p:blipFill>
        <p:spPr>
          <a:xfrm>
            <a:off x="2142564" y="1069972"/>
            <a:ext cx="7913875" cy="5780076"/>
          </a:xfrm>
          <a:prstGeom prst="rect">
            <a:avLst/>
          </a:prstGeom>
        </p:spPr>
      </p:pic>
    </p:spTree>
    <p:extLst>
      <p:ext uri="{BB962C8B-B14F-4D97-AF65-F5344CB8AC3E}">
        <p14:creationId xmlns:p14="http://schemas.microsoft.com/office/powerpoint/2010/main" val="2486018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3039034" y="385482"/>
            <a:ext cx="7628965" cy="433086"/>
          </a:xfrm>
        </p:spPr>
        <p:txBody>
          <a:bodyPr>
            <a:normAutofit fontScale="90000"/>
          </a:bodyPr>
          <a:lstStyle/>
          <a:p>
            <a:pPr algn="ctr" eaLnBrk="1" hangingPunct="1"/>
            <a:r>
              <a:rPr lang="en-US" altLang="en-US" b="1" dirty="0"/>
              <a:t>Password select strategies</a:t>
            </a:r>
          </a:p>
        </p:txBody>
      </p:sp>
      <p:sp>
        <p:nvSpPr>
          <p:cNvPr id="38915" name="Rectangle 1027"/>
          <p:cNvSpPr>
            <a:spLocks noGrp="1" noChangeArrowheads="1"/>
          </p:cNvSpPr>
          <p:nvPr>
            <p:ph type="body" idx="1"/>
          </p:nvPr>
        </p:nvSpPr>
        <p:spPr>
          <a:xfrm>
            <a:off x="692243" y="944289"/>
            <a:ext cx="8532439" cy="5184576"/>
          </a:xfrm>
        </p:spPr>
        <p:txBody>
          <a:bodyPr/>
          <a:lstStyle/>
          <a:p>
            <a:pPr eaLnBrk="1" hangingPunct="1"/>
            <a:r>
              <a:rPr lang="en-US" altLang="en-US" sz="2400" dirty="0"/>
              <a:t>Goal to eliminate guessable passwords</a:t>
            </a:r>
          </a:p>
          <a:p>
            <a:pPr lvl="1" eaLnBrk="1" hangingPunct="1"/>
            <a:r>
              <a:rPr lang="en-US" altLang="en-US" sz="2000" dirty="0"/>
              <a:t>Still easy for user to remember</a:t>
            </a:r>
          </a:p>
          <a:p>
            <a:pPr eaLnBrk="1" hangingPunct="1"/>
            <a:r>
              <a:rPr lang="en-US" altLang="en-US" sz="2400" b="1" dirty="0"/>
              <a:t>Techniques</a:t>
            </a:r>
          </a:p>
        </p:txBody>
      </p:sp>
      <p:pic>
        <p:nvPicPr>
          <p:cNvPr id="2" name="Picture 1"/>
          <p:cNvPicPr>
            <a:picLocks noChangeAspect="1"/>
          </p:cNvPicPr>
          <p:nvPr/>
        </p:nvPicPr>
        <p:blipFill>
          <a:blip r:embed="rId3"/>
          <a:stretch>
            <a:fillRect/>
          </a:stretch>
        </p:blipFill>
        <p:spPr>
          <a:xfrm>
            <a:off x="2590800" y="1988899"/>
            <a:ext cx="7230787" cy="4806347"/>
          </a:xfrm>
          <a:prstGeom prst="rect">
            <a:avLst/>
          </a:prstGeom>
        </p:spPr>
      </p:pic>
    </p:spTree>
    <p:extLst>
      <p:ext uri="{BB962C8B-B14F-4D97-AF65-F5344CB8AC3E}">
        <p14:creationId xmlns:p14="http://schemas.microsoft.com/office/powerpoint/2010/main" val="3387770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18</a:t>
            </a:fld>
            <a:endParaRPr lang="en-US" dirty="0"/>
          </a:p>
        </p:txBody>
      </p:sp>
      <p:pic>
        <p:nvPicPr>
          <p:cNvPr id="5" name="Picture 4"/>
          <p:cNvPicPr>
            <a:picLocks noChangeAspect="1"/>
          </p:cNvPicPr>
          <p:nvPr/>
        </p:nvPicPr>
        <p:blipFill>
          <a:blip r:embed="rId2"/>
          <a:stretch>
            <a:fillRect/>
          </a:stretch>
        </p:blipFill>
        <p:spPr>
          <a:xfrm>
            <a:off x="977373" y="502128"/>
            <a:ext cx="10168421" cy="5594730"/>
          </a:xfrm>
          <a:prstGeom prst="rect">
            <a:avLst/>
          </a:prstGeom>
        </p:spPr>
      </p:pic>
      <p:sp>
        <p:nvSpPr>
          <p:cNvPr id="6" name="TextBox 5"/>
          <p:cNvSpPr txBox="1"/>
          <p:nvPr/>
        </p:nvSpPr>
        <p:spPr>
          <a:xfrm>
            <a:off x="3761113" y="6136116"/>
            <a:ext cx="4600940" cy="369332"/>
          </a:xfrm>
          <a:prstGeom prst="rect">
            <a:avLst/>
          </a:prstGeom>
          <a:noFill/>
        </p:spPr>
        <p:txBody>
          <a:bodyPr wrap="none" rtlCol="0">
            <a:spAutoFit/>
          </a:bodyPr>
          <a:lstStyle/>
          <a:p>
            <a:r>
              <a:rPr lang="en-US" dirty="0">
                <a:solidFill>
                  <a:srgbClr val="FF0000"/>
                </a:solidFill>
              </a:rPr>
              <a:t>Read about potential drawbacks from the book</a:t>
            </a:r>
          </a:p>
        </p:txBody>
      </p:sp>
    </p:spTree>
    <p:extLst>
      <p:ext uri="{BB962C8B-B14F-4D97-AF65-F5344CB8AC3E}">
        <p14:creationId xmlns:p14="http://schemas.microsoft.com/office/powerpoint/2010/main" val="335640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19</a:t>
            </a:fld>
            <a:endParaRPr lang="en-US" dirty="0"/>
          </a:p>
        </p:txBody>
      </p:sp>
      <p:pic>
        <p:nvPicPr>
          <p:cNvPr id="7" name="Picture 6"/>
          <p:cNvPicPr>
            <a:picLocks noChangeAspect="1"/>
          </p:cNvPicPr>
          <p:nvPr/>
        </p:nvPicPr>
        <p:blipFill>
          <a:blip r:embed="rId2"/>
          <a:stretch>
            <a:fillRect/>
          </a:stretch>
        </p:blipFill>
        <p:spPr>
          <a:xfrm>
            <a:off x="236047" y="1369871"/>
            <a:ext cx="11689422" cy="3346633"/>
          </a:xfrm>
          <a:prstGeom prst="rect">
            <a:avLst/>
          </a:prstGeom>
        </p:spPr>
      </p:pic>
    </p:spTree>
    <p:extLst>
      <p:ext uri="{BB962C8B-B14F-4D97-AF65-F5344CB8AC3E}">
        <p14:creationId xmlns:p14="http://schemas.microsoft.com/office/powerpoint/2010/main" val="526891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20</a:t>
            </a:fld>
            <a:endParaRPr lang="en-US" dirty="0"/>
          </a:p>
        </p:txBody>
      </p:sp>
      <p:pic>
        <p:nvPicPr>
          <p:cNvPr id="3" name="Picture 2"/>
          <p:cNvPicPr>
            <a:picLocks noChangeAspect="1"/>
          </p:cNvPicPr>
          <p:nvPr/>
        </p:nvPicPr>
        <p:blipFill>
          <a:blip r:embed="rId2"/>
          <a:stretch>
            <a:fillRect/>
          </a:stretch>
        </p:blipFill>
        <p:spPr>
          <a:xfrm>
            <a:off x="293677" y="1310912"/>
            <a:ext cx="5884702" cy="4269293"/>
          </a:xfrm>
          <a:prstGeom prst="rect">
            <a:avLst/>
          </a:prstGeom>
        </p:spPr>
      </p:pic>
      <p:grpSp>
        <p:nvGrpSpPr>
          <p:cNvPr id="6" name="Group 5"/>
          <p:cNvGrpSpPr/>
          <p:nvPr/>
        </p:nvGrpSpPr>
        <p:grpSpPr>
          <a:xfrm>
            <a:off x="6299061" y="1310912"/>
            <a:ext cx="5563427" cy="3303720"/>
            <a:chOff x="6299060" y="742501"/>
            <a:chExt cx="5563427" cy="3303720"/>
          </a:xfrm>
        </p:grpSpPr>
        <p:pic>
          <p:nvPicPr>
            <p:cNvPr id="4" name="Picture 3"/>
            <p:cNvPicPr>
              <a:picLocks noChangeAspect="1"/>
            </p:cNvPicPr>
            <p:nvPr/>
          </p:nvPicPr>
          <p:blipFill>
            <a:blip r:embed="rId3"/>
            <a:stretch>
              <a:fillRect/>
            </a:stretch>
          </p:blipFill>
          <p:spPr>
            <a:xfrm>
              <a:off x="6299060" y="742501"/>
              <a:ext cx="5563426" cy="2481340"/>
            </a:xfrm>
            <a:prstGeom prst="rect">
              <a:avLst/>
            </a:prstGeom>
          </p:spPr>
        </p:pic>
        <p:pic>
          <p:nvPicPr>
            <p:cNvPr id="5" name="Picture 4"/>
            <p:cNvPicPr>
              <a:picLocks noChangeAspect="1"/>
            </p:cNvPicPr>
            <p:nvPr/>
          </p:nvPicPr>
          <p:blipFill>
            <a:blip r:embed="rId4"/>
            <a:stretch>
              <a:fillRect/>
            </a:stretch>
          </p:blipFill>
          <p:spPr>
            <a:xfrm>
              <a:off x="6444923" y="3236199"/>
              <a:ext cx="5417564" cy="810022"/>
            </a:xfrm>
            <a:prstGeom prst="rect">
              <a:avLst/>
            </a:prstGeom>
          </p:spPr>
        </p:pic>
      </p:grpSp>
      <p:pic>
        <p:nvPicPr>
          <p:cNvPr id="7" name="Picture 6"/>
          <p:cNvPicPr>
            <a:picLocks noChangeAspect="1"/>
          </p:cNvPicPr>
          <p:nvPr/>
        </p:nvPicPr>
        <p:blipFill>
          <a:blip r:embed="rId5"/>
          <a:stretch>
            <a:fillRect/>
          </a:stretch>
        </p:blipFill>
        <p:spPr>
          <a:xfrm>
            <a:off x="4344730" y="441222"/>
            <a:ext cx="3204735" cy="695601"/>
          </a:xfrm>
          <a:prstGeom prst="rect">
            <a:avLst/>
          </a:prstGeom>
        </p:spPr>
      </p:pic>
    </p:spTree>
    <p:extLst>
      <p:ext uri="{BB962C8B-B14F-4D97-AF65-F5344CB8AC3E}">
        <p14:creationId xmlns:p14="http://schemas.microsoft.com/office/powerpoint/2010/main" val="137317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21</a:t>
            </a:fld>
            <a:endParaRPr lang="en-US" dirty="0"/>
          </a:p>
        </p:txBody>
      </p:sp>
      <p:pic>
        <p:nvPicPr>
          <p:cNvPr id="7" name="Picture 6"/>
          <p:cNvPicPr>
            <a:picLocks noChangeAspect="1"/>
          </p:cNvPicPr>
          <p:nvPr/>
        </p:nvPicPr>
        <p:blipFill>
          <a:blip r:embed="rId2"/>
          <a:stretch>
            <a:fillRect/>
          </a:stretch>
        </p:blipFill>
        <p:spPr>
          <a:xfrm>
            <a:off x="6470852" y="330011"/>
            <a:ext cx="3204735" cy="695601"/>
          </a:xfrm>
          <a:prstGeom prst="rect">
            <a:avLst/>
          </a:prstGeom>
        </p:spPr>
      </p:pic>
      <p:pic>
        <p:nvPicPr>
          <p:cNvPr id="8" name="Picture 7"/>
          <p:cNvPicPr>
            <a:picLocks noChangeAspect="1"/>
          </p:cNvPicPr>
          <p:nvPr/>
        </p:nvPicPr>
        <p:blipFill>
          <a:blip r:embed="rId3"/>
          <a:stretch>
            <a:fillRect/>
          </a:stretch>
        </p:blipFill>
        <p:spPr>
          <a:xfrm>
            <a:off x="556601" y="380385"/>
            <a:ext cx="4003042" cy="6158527"/>
          </a:xfrm>
          <a:prstGeom prst="rect">
            <a:avLst/>
          </a:prstGeom>
        </p:spPr>
      </p:pic>
      <p:pic>
        <p:nvPicPr>
          <p:cNvPr id="9" name="Picture 8"/>
          <p:cNvPicPr>
            <a:picLocks noChangeAspect="1"/>
          </p:cNvPicPr>
          <p:nvPr/>
        </p:nvPicPr>
        <p:blipFill>
          <a:blip r:embed="rId4"/>
          <a:stretch>
            <a:fillRect/>
          </a:stretch>
        </p:blipFill>
        <p:spPr>
          <a:xfrm>
            <a:off x="4344730" y="2612291"/>
            <a:ext cx="7456979" cy="2256272"/>
          </a:xfrm>
          <a:prstGeom prst="rect">
            <a:avLst/>
          </a:prstGeom>
        </p:spPr>
      </p:pic>
    </p:spTree>
    <p:extLst>
      <p:ext uri="{BB962C8B-B14F-4D97-AF65-F5344CB8AC3E}">
        <p14:creationId xmlns:p14="http://schemas.microsoft.com/office/powerpoint/2010/main" val="3224778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560" y="362544"/>
            <a:ext cx="7690211" cy="474168"/>
          </a:xfrm>
        </p:spPr>
        <p:txBody>
          <a:bodyPr>
            <a:normAutofit fontScale="90000"/>
          </a:bodyPr>
          <a:lstStyle/>
          <a:p>
            <a:pPr algn="ctr"/>
            <a:r>
              <a:rPr lang="en-US" b="1" dirty="0"/>
              <a:t>Electronic Identity Cards (</a:t>
            </a:r>
            <a:r>
              <a:rPr lang="en-US" b="1" dirty="0" err="1"/>
              <a:t>eID</a:t>
            </a:r>
            <a:r>
              <a:rPr lang="en-US" b="1" dirty="0"/>
              <a:t>)</a:t>
            </a:r>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22</a:t>
            </a:fld>
            <a:endParaRPr lang="en-US" dirty="0">
              <a:solidFill>
                <a:prstClr val="white">
                  <a:lumMod val="65000"/>
                  <a:lumOff val="35000"/>
                </a:prstClr>
              </a:solidFill>
            </a:endParaRPr>
          </a:p>
        </p:txBody>
      </p:sp>
      <p:pic>
        <p:nvPicPr>
          <p:cNvPr id="3" name="Picture 2"/>
          <p:cNvPicPr>
            <a:picLocks noChangeAspect="1"/>
          </p:cNvPicPr>
          <p:nvPr/>
        </p:nvPicPr>
        <p:blipFill>
          <a:blip r:embed="rId2"/>
          <a:stretch>
            <a:fillRect/>
          </a:stretch>
        </p:blipFill>
        <p:spPr>
          <a:xfrm>
            <a:off x="1991544" y="1240744"/>
            <a:ext cx="8606966" cy="5140634"/>
          </a:xfrm>
          <a:prstGeom prst="rect">
            <a:avLst/>
          </a:prstGeom>
        </p:spPr>
      </p:pic>
    </p:spTree>
    <p:extLst>
      <p:ext uri="{BB962C8B-B14F-4D97-AF65-F5344CB8AC3E}">
        <p14:creationId xmlns:p14="http://schemas.microsoft.com/office/powerpoint/2010/main" val="3003524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23</a:t>
            </a:fld>
            <a:endParaRPr lang="en-US" dirty="0"/>
          </a:p>
        </p:txBody>
      </p:sp>
      <p:pic>
        <p:nvPicPr>
          <p:cNvPr id="3" name="Picture 2"/>
          <p:cNvPicPr>
            <a:picLocks noChangeAspect="1"/>
          </p:cNvPicPr>
          <p:nvPr/>
        </p:nvPicPr>
        <p:blipFill>
          <a:blip r:embed="rId2"/>
          <a:stretch>
            <a:fillRect/>
          </a:stretch>
        </p:blipFill>
        <p:spPr>
          <a:xfrm>
            <a:off x="4565663" y="1242505"/>
            <a:ext cx="7389870" cy="5615495"/>
          </a:xfrm>
          <a:prstGeom prst="rect">
            <a:avLst/>
          </a:prstGeom>
        </p:spPr>
      </p:pic>
      <p:pic>
        <p:nvPicPr>
          <p:cNvPr id="4" name="Picture 3"/>
          <p:cNvPicPr>
            <a:picLocks noChangeAspect="1"/>
          </p:cNvPicPr>
          <p:nvPr/>
        </p:nvPicPr>
        <p:blipFill>
          <a:blip r:embed="rId3"/>
          <a:stretch>
            <a:fillRect/>
          </a:stretch>
        </p:blipFill>
        <p:spPr>
          <a:xfrm>
            <a:off x="3684740" y="294453"/>
            <a:ext cx="4764327" cy="474534"/>
          </a:xfrm>
          <a:prstGeom prst="rect">
            <a:avLst/>
          </a:prstGeom>
        </p:spPr>
      </p:pic>
      <p:sp>
        <p:nvSpPr>
          <p:cNvPr id="5" name="Rectangle 4">
            <a:extLst>
              <a:ext uri="{FF2B5EF4-FFF2-40B4-BE49-F238E27FC236}">
                <a16:creationId xmlns:a16="http://schemas.microsoft.com/office/drawing/2014/main" id="{82324460-BB8A-5979-652D-33C6463C9829}"/>
              </a:ext>
            </a:extLst>
          </p:cNvPr>
          <p:cNvSpPr/>
          <p:nvPr/>
        </p:nvSpPr>
        <p:spPr>
          <a:xfrm>
            <a:off x="236562" y="1847777"/>
            <a:ext cx="4275721" cy="1200329"/>
          </a:xfrm>
          <a:prstGeom prst="rect">
            <a:avLst/>
          </a:prstGeom>
        </p:spPr>
        <p:txBody>
          <a:bodyPr wrap="square">
            <a:spAutoFit/>
          </a:bodyPr>
          <a:lstStyle/>
          <a:p>
            <a:r>
              <a:rPr lang="en-US" dirty="0">
                <a:solidFill>
                  <a:srgbClr val="242021"/>
                </a:solidFill>
                <a:latin typeface="TimesTenLTStd-Roman"/>
              </a:rPr>
              <a:t>The card has the following three separate electronic functions, each with its own protected dataset (see Table 3.4):</a:t>
            </a:r>
            <a:r>
              <a:rPr lang="en-US" dirty="0"/>
              <a:t> </a:t>
            </a:r>
            <a:br>
              <a:rPr lang="en-US" dirty="0"/>
            </a:br>
            <a:endParaRPr lang="en-US" dirty="0"/>
          </a:p>
        </p:txBody>
      </p:sp>
      <p:pic>
        <p:nvPicPr>
          <p:cNvPr id="6" name="Picture 5">
            <a:extLst>
              <a:ext uri="{FF2B5EF4-FFF2-40B4-BE49-F238E27FC236}">
                <a16:creationId xmlns:a16="http://schemas.microsoft.com/office/drawing/2014/main" id="{9A83F3C7-5624-90F6-63C2-F06C6BF2F0E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0824" y="3137646"/>
            <a:ext cx="4494839" cy="1802979"/>
          </a:xfrm>
          <a:prstGeom prst="rect">
            <a:avLst/>
          </a:prstGeom>
        </p:spPr>
      </p:pic>
    </p:spTree>
    <p:extLst>
      <p:ext uri="{BB962C8B-B14F-4D97-AF65-F5344CB8AC3E}">
        <p14:creationId xmlns:p14="http://schemas.microsoft.com/office/powerpoint/2010/main" val="559128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dirty="0"/>
          </a:p>
        </p:txBody>
      </p:sp>
      <p:pic>
        <p:nvPicPr>
          <p:cNvPr id="4" name="Picture 3"/>
          <p:cNvPicPr>
            <a:picLocks noChangeAspect="1"/>
          </p:cNvPicPr>
          <p:nvPr/>
        </p:nvPicPr>
        <p:blipFill>
          <a:blip r:embed="rId2"/>
          <a:stretch>
            <a:fillRect/>
          </a:stretch>
        </p:blipFill>
        <p:spPr>
          <a:xfrm>
            <a:off x="3684740" y="294453"/>
            <a:ext cx="4764327" cy="474534"/>
          </a:xfrm>
          <a:prstGeom prst="rect">
            <a:avLst/>
          </a:prstGeom>
        </p:spPr>
      </p:pic>
      <p:pic>
        <p:nvPicPr>
          <p:cNvPr id="5" name="Picture 4"/>
          <p:cNvPicPr>
            <a:picLocks noChangeAspect="1"/>
          </p:cNvPicPr>
          <p:nvPr/>
        </p:nvPicPr>
        <p:blipFill>
          <a:blip r:embed="rId3"/>
          <a:stretch>
            <a:fillRect/>
          </a:stretch>
        </p:blipFill>
        <p:spPr>
          <a:xfrm>
            <a:off x="4861678" y="867784"/>
            <a:ext cx="6809456" cy="5671128"/>
          </a:xfrm>
          <a:prstGeom prst="rect">
            <a:avLst/>
          </a:prstGeom>
        </p:spPr>
      </p:pic>
      <p:pic>
        <p:nvPicPr>
          <p:cNvPr id="6" name="Picture 5"/>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29710" y="4718114"/>
            <a:ext cx="6392167" cy="1524213"/>
          </a:xfrm>
          <a:prstGeom prst="rect">
            <a:avLst/>
          </a:prstGeom>
        </p:spPr>
      </p:pic>
    </p:spTree>
    <p:extLst>
      <p:ext uri="{BB962C8B-B14F-4D97-AF65-F5344CB8AC3E}">
        <p14:creationId xmlns:p14="http://schemas.microsoft.com/office/powerpoint/2010/main" val="820892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25</a:t>
            </a:fld>
            <a:endParaRPr lang="en-US" dirty="0"/>
          </a:p>
        </p:txBody>
      </p:sp>
      <p:grpSp>
        <p:nvGrpSpPr>
          <p:cNvPr id="5" name="Group 4"/>
          <p:cNvGrpSpPr/>
          <p:nvPr/>
        </p:nvGrpSpPr>
        <p:grpSpPr>
          <a:xfrm>
            <a:off x="597145" y="608353"/>
            <a:ext cx="11067634" cy="3778295"/>
            <a:chOff x="1560972" y="608353"/>
            <a:chExt cx="6944694" cy="2268301"/>
          </a:xfrm>
        </p:grpSpPr>
        <p:pic>
          <p:nvPicPr>
            <p:cNvPr id="3" name="Picture 2"/>
            <p:cNvPicPr>
              <a:picLocks noChangeAspect="1"/>
            </p:cNvPicPr>
            <p:nvPr/>
          </p:nvPicPr>
          <p:blipFill>
            <a:blip r:embed="rId2"/>
            <a:stretch>
              <a:fillRect/>
            </a:stretch>
          </p:blipFill>
          <p:spPr>
            <a:xfrm>
              <a:off x="1560972" y="608353"/>
              <a:ext cx="6944694" cy="1267002"/>
            </a:xfrm>
            <a:prstGeom prst="rect">
              <a:avLst/>
            </a:prstGeom>
          </p:spPr>
        </p:pic>
        <p:pic>
          <p:nvPicPr>
            <p:cNvPr id="4" name="Picture 3"/>
            <p:cNvPicPr>
              <a:picLocks noChangeAspect="1"/>
            </p:cNvPicPr>
            <p:nvPr/>
          </p:nvPicPr>
          <p:blipFill>
            <a:blip r:embed="rId3"/>
            <a:stretch>
              <a:fillRect/>
            </a:stretch>
          </p:blipFill>
          <p:spPr>
            <a:xfrm>
              <a:off x="2167826" y="1838284"/>
              <a:ext cx="6325483" cy="1038370"/>
            </a:xfrm>
            <a:prstGeom prst="rect">
              <a:avLst/>
            </a:prstGeom>
          </p:spPr>
        </p:pic>
      </p:grpSp>
    </p:spTree>
    <p:extLst>
      <p:ext uri="{BB962C8B-B14F-4D97-AF65-F5344CB8AC3E}">
        <p14:creationId xmlns:p14="http://schemas.microsoft.com/office/powerpoint/2010/main" val="2026498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6586255" y="3556669"/>
            <a:ext cx="4048690" cy="2972215"/>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dirty="0"/>
          </a:p>
        </p:txBody>
      </p:sp>
      <p:pic>
        <p:nvPicPr>
          <p:cNvPr id="3" name="Picture 2"/>
          <p:cNvPicPr>
            <a:picLocks noChangeAspect="1"/>
          </p:cNvPicPr>
          <p:nvPr/>
        </p:nvPicPr>
        <p:blipFill>
          <a:blip r:embed="rId4"/>
          <a:stretch>
            <a:fillRect/>
          </a:stretch>
        </p:blipFill>
        <p:spPr>
          <a:xfrm>
            <a:off x="1345084" y="477022"/>
            <a:ext cx="9345313" cy="473180"/>
          </a:xfrm>
          <a:prstGeom prst="rect">
            <a:avLst/>
          </a:prstGeom>
        </p:spPr>
      </p:pic>
      <p:pic>
        <p:nvPicPr>
          <p:cNvPr id="4" name="Picture 3"/>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433741" y="1142792"/>
            <a:ext cx="5584000" cy="4008798"/>
          </a:xfrm>
          <a:prstGeom prst="rect">
            <a:avLst/>
          </a:prstGeom>
        </p:spPr>
      </p:pic>
      <p:pic>
        <p:nvPicPr>
          <p:cNvPr id="5" name="Picture 4"/>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6249010" y="1142792"/>
            <a:ext cx="5526980" cy="2221287"/>
          </a:xfrm>
          <a:prstGeom prst="rect">
            <a:avLst/>
          </a:prstGeom>
        </p:spPr>
      </p:pic>
    </p:spTree>
    <p:extLst>
      <p:ext uri="{BB962C8B-B14F-4D97-AF65-F5344CB8AC3E}">
        <p14:creationId xmlns:p14="http://schemas.microsoft.com/office/powerpoint/2010/main" val="784346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795318" y="391812"/>
            <a:ext cx="5941541" cy="5964538"/>
            <a:chOff x="2621573" y="210588"/>
            <a:chExt cx="6633638" cy="6374498"/>
          </a:xfrm>
        </p:grpSpPr>
        <p:pic>
          <p:nvPicPr>
            <p:cNvPr id="3" name="Picture 2"/>
            <p:cNvPicPr>
              <a:picLocks noChangeAspect="1"/>
            </p:cNvPicPr>
            <p:nvPr/>
          </p:nvPicPr>
          <p:blipFill>
            <a:blip r:embed="rId2"/>
            <a:stretch>
              <a:fillRect/>
            </a:stretch>
          </p:blipFill>
          <p:spPr>
            <a:xfrm>
              <a:off x="2621573" y="210588"/>
              <a:ext cx="6633638" cy="2051037"/>
            </a:xfrm>
            <a:prstGeom prst="rect">
              <a:avLst/>
            </a:prstGeom>
          </p:spPr>
        </p:pic>
        <p:pic>
          <p:nvPicPr>
            <p:cNvPr id="4" name="Picture 3"/>
            <p:cNvPicPr>
              <a:picLocks noChangeAspect="1"/>
            </p:cNvPicPr>
            <p:nvPr/>
          </p:nvPicPr>
          <p:blipFill>
            <a:blip r:embed="rId3"/>
            <a:stretch>
              <a:fillRect/>
            </a:stretch>
          </p:blipFill>
          <p:spPr>
            <a:xfrm>
              <a:off x="2621573" y="2261625"/>
              <a:ext cx="6633638" cy="2168239"/>
            </a:xfrm>
            <a:prstGeom prst="rect">
              <a:avLst/>
            </a:prstGeom>
          </p:spPr>
        </p:pic>
        <p:pic>
          <p:nvPicPr>
            <p:cNvPr id="5" name="Picture 4"/>
            <p:cNvPicPr>
              <a:picLocks noChangeAspect="1"/>
            </p:cNvPicPr>
            <p:nvPr/>
          </p:nvPicPr>
          <p:blipFill>
            <a:blip r:embed="rId4"/>
            <a:stretch>
              <a:fillRect/>
            </a:stretch>
          </p:blipFill>
          <p:spPr>
            <a:xfrm>
              <a:off x="2621573" y="4436826"/>
              <a:ext cx="6633638" cy="2148260"/>
            </a:xfrm>
            <a:prstGeom prst="rect">
              <a:avLst/>
            </a:prstGeom>
          </p:spPr>
        </p:pic>
      </p:grpSp>
      <p:sp>
        <p:nvSpPr>
          <p:cNvPr id="2" name="Slide Number Placeholder 1"/>
          <p:cNvSpPr>
            <a:spLocks noGrp="1"/>
          </p:cNvSpPr>
          <p:nvPr>
            <p:ph type="sldNum" sz="quarter" idx="12"/>
          </p:nvPr>
        </p:nvSpPr>
        <p:spPr/>
        <p:txBody>
          <a:bodyPr/>
          <a:lstStyle/>
          <a:p>
            <a:fld id="{A2A50C4D-0BA1-4E54-8DFC-01810EC97B99}" type="slidenum">
              <a:rPr lang="en-US" smtClean="0"/>
              <a:t>27</a:t>
            </a:fld>
            <a:endParaRPr lang="en-US" dirty="0"/>
          </a:p>
        </p:txBody>
      </p:sp>
      <p:pic>
        <p:nvPicPr>
          <p:cNvPr id="7" name="Picture 6"/>
          <p:cNvPicPr>
            <a:picLocks noChangeAspect="1"/>
          </p:cNvPicPr>
          <p:nvPr/>
        </p:nvPicPr>
        <p:blipFill>
          <a:blip r:embed="rId5"/>
          <a:stretch>
            <a:fillRect/>
          </a:stretch>
        </p:blipFill>
        <p:spPr>
          <a:xfrm>
            <a:off x="317556" y="2958575"/>
            <a:ext cx="5353797" cy="733527"/>
          </a:xfrm>
          <a:prstGeom prst="rect">
            <a:avLst/>
          </a:prstGeom>
        </p:spPr>
      </p:pic>
    </p:spTree>
    <p:extLst>
      <p:ext uri="{BB962C8B-B14F-4D97-AF65-F5344CB8AC3E}">
        <p14:creationId xmlns:p14="http://schemas.microsoft.com/office/powerpoint/2010/main" val="4036324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736" y="110530"/>
            <a:ext cx="8511852" cy="1014214"/>
          </a:xfrm>
        </p:spPr>
        <p:txBody>
          <a:bodyPr/>
          <a:lstStyle/>
          <a:p>
            <a:r>
              <a:rPr lang="en-US" b="1" dirty="0"/>
              <a:t>REMOTE USER AUTHENTICATION</a:t>
            </a:r>
            <a:endParaRPr lang="en-US" dirty="0"/>
          </a:p>
        </p:txBody>
      </p:sp>
      <p:sp>
        <p:nvSpPr>
          <p:cNvPr id="3" name="Content Placeholder 2"/>
          <p:cNvSpPr>
            <a:spLocks noGrp="1"/>
          </p:cNvSpPr>
          <p:nvPr>
            <p:ph idx="1"/>
          </p:nvPr>
        </p:nvSpPr>
        <p:spPr>
          <a:xfrm>
            <a:off x="990735" y="1219200"/>
            <a:ext cx="10735099" cy="5378152"/>
          </a:xfrm>
        </p:spPr>
        <p:txBody>
          <a:bodyPr>
            <a:normAutofit lnSpcReduction="10000"/>
          </a:bodyPr>
          <a:lstStyle/>
          <a:p>
            <a:pPr algn="just"/>
            <a:r>
              <a:rPr lang="en-US" dirty="0"/>
              <a:t>Authentication over a network, the Internet, or a communications link is more complex</a:t>
            </a:r>
          </a:p>
          <a:p>
            <a:pPr algn="just"/>
            <a:r>
              <a:rPr lang="en-US" dirty="0"/>
              <a:t>Additional security threats such as: </a:t>
            </a:r>
          </a:p>
          <a:p>
            <a:pPr lvl="1" algn="just"/>
            <a:r>
              <a:rPr lang="en-US" b="1" dirty="0">
                <a:solidFill>
                  <a:srgbClr val="C00000"/>
                </a:solidFill>
              </a:rPr>
              <a:t>Eavesdropping, capturing a password, replaying an authentication sequence that has been observed</a:t>
            </a:r>
          </a:p>
          <a:p>
            <a:pPr>
              <a:lnSpc>
                <a:spcPct val="90000"/>
              </a:lnSpc>
            </a:pPr>
            <a:r>
              <a:rPr lang="en-US" altLang="en-US" dirty="0"/>
              <a:t>Generally use challenge-response</a:t>
            </a:r>
          </a:p>
          <a:p>
            <a:pPr lvl="1">
              <a:lnSpc>
                <a:spcPct val="90000"/>
              </a:lnSpc>
            </a:pPr>
            <a:r>
              <a:rPr lang="en-US" altLang="en-US" dirty="0"/>
              <a:t>user sends identity</a:t>
            </a:r>
          </a:p>
          <a:p>
            <a:pPr lvl="1">
              <a:lnSpc>
                <a:spcPct val="90000"/>
              </a:lnSpc>
            </a:pPr>
            <a:r>
              <a:rPr lang="en-US" altLang="en-US" dirty="0"/>
              <a:t>host responds with random number r</a:t>
            </a:r>
          </a:p>
          <a:p>
            <a:pPr lvl="1">
              <a:lnSpc>
                <a:spcPct val="90000"/>
              </a:lnSpc>
            </a:pPr>
            <a:r>
              <a:rPr lang="en-US" altLang="en-US" dirty="0"/>
              <a:t>user computes f(</a:t>
            </a:r>
            <a:r>
              <a:rPr lang="en-US" altLang="en-US" dirty="0" err="1"/>
              <a:t>r,h</a:t>
            </a:r>
            <a:r>
              <a:rPr lang="en-US" altLang="en-US" dirty="0"/>
              <a:t>(P)) and sends back</a:t>
            </a:r>
          </a:p>
          <a:p>
            <a:pPr lvl="1">
              <a:lnSpc>
                <a:spcPct val="90000"/>
              </a:lnSpc>
            </a:pPr>
            <a:r>
              <a:rPr lang="en-US" altLang="en-US" dirty="0"/>
              <a:t>host compares value from user with own computed value, if match user authenticated</a:t>
            </a:r>
          </a:p>
          <a:p>
            <a:pPr algn="just"/>
            <a:r>
              <a:rPr lang="en-US" dirty="0"/>
              <a:t>The simplest form of user authentication is local authentication, in which a user attempts to access a system that is locally present, such as </a:t>
            </a:r>
          </a:p>
          <a:p>
            <a:pPr lvl="1" algn="just"/>
            <a:r>
              <a:rPr lang="en-US" b="1" dirty="0">
                <a:solidFill>
                  <a:srgbClr val="C00000"/>
                </a:solidFill>
              </a:rPr>
              <a:t>a stand-alone office PC or an ATM machine</a:t>
            </a:r>
            <a:r>
              <a:rPr lang="en-US" dirty="0"/>
              <a:t>. </a:t>
            </a:r>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28</a:t>
            </a:fld>
            <a:endParaRPr lang="en-US" dirty="0">
              <a:solidFill>
                <a:prstClr val="white">
                  <a:lumMod val="65000"/>
                  <a:lumOff val="35000"/>
                </a:prstClr>
              </a:solidFill>
            </a:endParaRPr>
          </a:p>
        </p:txBody>
      </p:sp>
    </p:spTree>
    <p:extLst>
      <p:ext uri="{BB962C8B-B14F-4D97-AF65-F5344CB8AC3E}">
        <p14:creationId xmlns:p14="http://schemas.microsoft.com/office/powerpoint/2010/main" val="2366084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2567608" y="260648"/>
            <a:ext cx="7903542" cy="1080120"/>
          </a:xfrm>
        </p:spPr>
        <p:txBody>
          <a:bodyPr>
            <a:normAutofit fontScale="90000"/>
          </a:bodyPr>
          <a:lstStyle/>
          <a:p>
            <a:r>
              <a:rPr lang="en-US" altLang="en-US" b="1" dirty="0"/>
              <a:t>Protocol for a password verification</a:t>
            </a:r>
          </a:p>
        </p:txBody>
      </p:sp>
      <p:sp>
        <p:nvSpPr>
          <p:cNvPr id="61443" name="Content Placeholder 2"/>
          <p:cNvSpPr>
            <a:spLocks noGrp="1"/>
          </p:cNvSpPr>
          <p:nvPr>
            <p:ph idx="1"/>
          </p:nvPr>
        </p:nvSpPr>
        <p:spPr>
          <a:xfrm>
            <a:off x="1014392" y="1665494"/>
            <a:ext cx="4911279" cy="1393656"/>
          </a:xfrm>
        </p:spPr>
        <p:txBody>
          <a:bodyPr>
            <a:noAutofit/>
          </a:bodyPr>
          <a:lstStyle/>
          <a:p>
            <a:pPr algn="just"/>
            <a:r>
              <a:rPr lang="en-US" altLang="en-US" sz="1600" dirty="0"/>
              <a:t>Similar approach for token and biometric verification </a:t>
            </a:r>
            <a:r>
              <a:rPr lang="en-US" sz="1600" b="1" dirty="0">
                <a:solidFill>
                  <a:srgbClr val="C00000"/>
                </a:solidFill>
              </a:rPr>
              <a:t>(Figure 3.13b,c and d self reading from book)</a:t>
            </a:r>
            <a:endParaRPr lang="en-US" altLang="en-US" sz="1600" b="1" dirty="0">
              <a:solidFill>
                <a:srgbClr val="C00000"/>
              </a:solidFill>
            </a:endParaRPr>
          </a:p>
          <a:p>
            <a:pPr algn="just"/>
            <a:endParaRPr lang="en-US" altLang="en-US" sz="1600" dirty="0"/>
          </a:p>
        </p:txBody>
      </p:sp>
      <p:grpSp>
        <p:nvGrpSpPr>
          <p:cNvPr id="6" name="Group 5">
            <a:extLst>
              <a:ext uri="{FF2B5EF4-FFF2-40B4-BE49-F238E27FC236}">
                <a16:creationId xmlns:a16="http://schemas.microsoft.com/office/drawing/2014/main" id="{7186638E-1040-20DD-687F-D2F9279FAE26}"/>
              </a:ext>
            </a:extLst>
          </p:cNvPr>
          <p:cNvGrpSpPr/>
          <p:nvPr/>
        </p:nvGrpSpPr>
        <p:grpSpPr>
          <a:xfrm>
            <a:off x="259977" y="3798851"/>
            <a:ext cx="6786283" cy="2610914"/>
            <a:chOff x="323528" y="4678712"/>
            <a:chExt cx="6065729" cy="2094115"/>
          </a:xfrm>
        </p:grpSpPr>
        <p:pic>
          <p:nvPicPr>
            <p:cNvPr id="3" name="Picture 2">
              <a:extLst>
                <a:ext uri="{FF2B5EF4-FFF2-40B4-BE49-F238E27FC236}">
                  <a16:creationId xmlns:a16="http://schemas.microsoft.com/office/drawing/2014/main" id="{81DCB321-BD36-650D-095E-AA9C4A189518}"/>
                </a:ext>
              </a:extLst>
            </p:cNvPr>
            <p:cNvPicPr>
              <a:picLocks noChangeAspect="1"/>
            </p:cNvPicPr>
            <p:nvPr/>
          </p:nvPicPr>
          <p:blipFill rotWithShape="1">
            <a:blip r:embed="rId3"/>
            <a:srcRect t="19819"/>
            <a:stretch/>
          </p:blipFill>
          <p:spPr>
            <a:xfrm>
              <a:off x="323528" y="4678712"/>
              <a:ext cx="6065729" cy="2094115"/>
            </a:xfrm>
            <a:prstGeom prst="rect">
              <a:avLst/>
            </a:prstGeom>
          </p:spPr>
        </p:pic>
        <p:sp>
          <p:nvSpPr>
            <p:cNvPr id="4" name="Rectangle 3">
              <a:extLst>
                <a:ext uri="{FF2B5EF4-FFF2-40B4-BE49-F238E27FC236}">
                  <a16:creationId xmlns:a16="http://schemas.microsoft.com/office/drawing/2014/main" id="{ED867C2F-4AA3-DFDB-CCCD-720FE41238C0}"/>
                </a:ext>
              </a:extLst>
            </p:cNvPr>
            <p:cNvSpPr/>
            <p:nvPr/>
          </p:nvSpPr>
          <p:spPr>
            <a:xfrm>
              <a:off x="323528" y="4678712"/>
              <a:ext cx="1800200" cy="190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bg1"/>
                </a:solidFill>
              </a:endParaRPr>
            </a:p>
          </p:txBody>
        </p:sp>
      </p:grpSp>
      <p:pic>
        <p:nvPicPr>
          <p:cNvPr id="7" name="Picture 6">
            <a:extLst>
              <a:ext uri="{FF2B5EF4-FFF2-40B4-BE49-F238E27FC236}">
                <a16:creationId xmlns:a16="http://schemas.microsoft.com/office/drawing/2014/main" id="{9463E697-A5F2-5898-1426-4FE40E91B36E}"/>
              </a:ext>
            </a:extLst>
          </p:cNvPr>
          <p:cNvPicPr>
            <a:picLocks noChangeAspect="1"/>
          </p:cNvPicPr>
          <p:nvPr/>
        </p:nvPicPr>
        <p:blipFill rotWithShape="1">
          <a:blip r:embed="rId4"/>
          <a:srcRect r="4471"/>
          <a:stretch/>
        </p:blipFill>
        <p:spPr>
          <a:xfrm>
            <a:off x="7291534" y="1185081"/>
            <a:ext cx="4665715" cy="4884112"/>
          </a:xfrm>
          <a:prstGeom prst="rect">
            <a:avLst/>
          </a:prstGeom>
        </p:spPr>
      </p:pic>
      <p:sp>
        <p:nvSpPr>
          <p:cNvPr id="8" name="Content Placeholder 2">
            <a:extLst>
              <a:ext uri="{FF2B5EF4-FFF2-40B4-BE49-F238E27FC236}">
                <a16:creationId xmlns:a16="http://schemas.microsoft.com/office/drawing/2014/main" id="{224F9ECE-D65D-7C2E-B35F-F6D1A8474BF2}"/>
              </a:ext>
            </a:extLst>
          </p:cNvPr>
          <p:cNvSpPr txBox="1">
            <a:spLocks/>
          </p:cNvSpPr>
          <p:nvPr/>
        </p:nvSpPr>
        <p:spPr>
          <a:xfrm>
            <a:off x="1095075" y="3059150"/>
            <a:ext cx="3483211" cy="3247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altLang="en-US" sz="1600" b="1" dirty="0">
              <a:solidFill>
                <a:srgbClr val="C00000"/>
              </a:solidFill>
            </a:endParaRPr>
          </a:p>
        </p:txBody>
      </p:sp>
      <p:pic>
        <p:nvPicPr>
          <p:cNvPr id="5" name="Picture 4">
            <a:extLst>
              <a:ext uri="{FF2B5EF4-FFF2-40B4-BE49-F238E27FC236}">
                <a16:creationId xmlns:a16="http://schemas.microsoft.com/office/drawing/2014/main" id="{E9B761D6-505A-1BE4-861A-00E65F9AFBEB}"/>
              </a:ext>
            </a:extLst>
          </p:cNvPr>
          <p:cNvPicPr>
            <a:picLocks noChangeAspect="1"/>
          </p:cNvPicPr>
          <p:nvPr/>
        </p:nvPicPr>
        <p:blipFill>
          <a:blip r:embed="rId5"/>
          <a:stretch>
            <a:fillRect/>
          </a:stretch>
        </p:blipFill>
        <p:spPr>
          <a:xfrm>
            <a:off x="7162917" y="5776839"/>
            <a:ext cx="4922947" cy="396274"/>
          </a:xfrm>
          <a:prstGeom prst="rect">
            <a:avLst/>
          </a:prstGeom>
        </p:spPr>
      </p:pic>
    </p:spTree>
    <p:extLst>
      <p:ext uri="{BB962C8B-B14F-4D97-AF65-F5344CB8AC3E}">
        <p14:creationId xmlns:p14="http://schemas.microsoft.com/office/powerpoint/2010/main" val="3739500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1189203-CAF3-A107-9272-51A69D04A304}"/>
              </a:ext>
            </a:extLst>
          </p:cNvPr>
          <p:cNvGrpSpPr/>
          <p:nvPr/>
        </p:nvGrpSpPr>
        <p:grpSpPr>
          <a:xfrm>
            <a:off x="502024" y="1114357"/>
            <a:ext cx="11138041" cy="3143878"/>
            <a:chOff x="596109" y="1114357"/>
            <a:chExt cx="7033262" cy="1420458"/>
          </a:xfrm>
        </p:grpSpPr>
        <p:pic>
          <p:nvPicPr>
            <p:cNvPr id="5" name="Picture 4">
              <a:extLst>
                <a:ext uri="{FF2B5EF4-FFF2-40B4-BE49-F238E27FC236}">
                  <a16:creationId xmlns:a16="http://schemas.microsoft.com/office/drawing/2014/main" id="{4FF2E02F-0BA5-0823-A711-A99B0B706B77}"/>
                </a:ext>
              </a:extLst>
            </p:cNvPr>
            <p:cNvPicPr>
              <a:picLocks noChangeAspect="1"/>
            </p:cNvPicPr>
            <p:nvPr/>
          </p:nvPicPr>
          <p:blipFill>
            <a:blip r:embed="rId2"/>
            <a:stretch>
              <a:fillRect/>
            </a:stretch>
          </p:blipFill>
          <p:spPr>
            <a:xfrm>
              <a:off x="608466" y="1114357"/>
              <a:ext cx="7020905" cy="971686"/>
            </a:xfrm>
            <a:prstGeom prst="rect">
              <a:avLst/>
            </a:prstGeom>
          </p:spPr>
        </p:pic>
        <p:pic>
          <p:nvPicPr>
            <p:cNvPr id="6" name="Picture 5">
              <a:extLst>
                <a:ext uri="{FF2B5EF4-FFF2-40B4-BE49-F238E27FC236}">
                  <a16:creationId xmlns:a16="http://schemas.microsoft.com/office/drawing/2014/main" id="{BC6F4C31-B305-8692-780B-11C27AABA4C7}"/>
                </a:ext>
              </a:extLst>
            </p:cNvPr>
            <p:cNvPicPr>
              <a:picLocks noChangeAspect="1"/>
            </p:cNvPicPr>
            <p:nvPr/>
          </p:nvPicPr>
          <p:blipFill>
            <a:blip r:embed="rId3"/>
            <a:stretch>
              <a:fillRect/>
            </a:stretch>
          </p:blipFill>
          <p:spPr>
            <a:xfrm>
              <a:off x="596109" y="2048972"/>
              <a:ext cx="7020905" cy="485843"/>
            </a:xfrm>
            <a:prstGeom prst="rect">
              <a:avLst/>
            </a:prstGeom>
          </p:spPr>
        </p:pic>
      </p:grpSp>
    </p:spTree>
    <p:extLst>
      <p:ext uri="{BB962C8B-B14F-4D97-AF65-F5344CB8AC3E}">
        <p14:creationId xmlns:p14="http://schemas.microsoft.com/office/powerpoint/2010/main" val="657298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2" y="201950"/>
            <a:ext cx="10479251" cy="1014214"/>
          </a:xfrm>
        </p:spPr>
        <p:txBody>
          <a:bodyPr>
            <a:normAutofit/>
          </a:bodyPr>
          <a:lstStyle/>
          <a:p>
            <a:r>
              <a:rPr lang="en-US" b="1" dirty="0"/>
              <a:t>SECURITY ISSUES FOR USER AUTHENTICATION</a:t>
            </a:r>
            <a:endParaRPr 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5F36C9FC-DA22-1F47-8722-58727A1D436E}" type="slidenum">
              <a:rPr lang="en-US">
                <a:solidFill>
                  <a:prstClr val="white">
                    <a:lumMod val="65000"/>
                    <a:lumOff val="35000"/>
                  </a:prstClr>
                </a:solidFill>
                <a:latin typeface="Arial" pitchFamily="-110" charset="0"/>
              </a:rPr>
              <a:pPr fontAlgn="base">
                <a:spcBef>
                  <a:spcPct val="0"/>
                </a:spcBef>
                <a:spcAft>
                  <a:spcPct val="0"/>
                </a:spcAft>
              </a:pPr>
              <a:t>31</a:t>
            </a:fld>
            <a:endParaRPr lang="en-US" dirty="0">
              <a:solidFill>
                <a:prstClr val="white">
                  <a:lumMod val="65000"/>
                  <a:lumOff val="35000"/>
                </a:prstClr>
              </a:solidFill>
              <a:latin typeface="Arial" pitchFamily="-110" charset="0"/>
            </a:endParaRPr>
          </a:p>
        </p:txBody>
      </p:sp>
      <p:pic>
        <p:nvPicPr>
          <p:cNvPr id="1026" name="Picture 2" descr="Chapter 3 User Authentication - ppt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214" y="1307865"/>
            <a:ext cx="7388226" cy="5541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985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4927</TotalTime>
  <Words>1739</Words>
  <Application>Microsoft Office PowerPoint</Application>
  <PresentationFormat>Widescreen</PresentationFormat>
  <Paragraphs>128</Paragraphs>
  <Slides>31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Calibri Light</vt:lpstr>
      <vt:lpstr>Times New Roman</vt:lpstr>
      <vt:lpstr>TimesTenLTStd-Bold</vt:lpstr>
      <vt:lpstr>TimesTenLTStd-Roman</vt:lpstr>
      <vt:lpstr>Wingdings</vt:lpstr>
      <vt:lpstr>Office Theme</vt:lpstr>
      <vt:lpstr>PowerPoint Presentation</vt:lpstr>
      <vt:lpstr>PowerPoint Presentation</vt:lpstr>
      <vt:lpstr>User Authentication</vt:lpstr>
      <vt:lpstr>PowerPoint Presentation</vt:lpstr>
      <vt:lpstr>PowerPoint Presentation</vt:lpstr>
      <vt:lpstr>A Model for Digital User Authentication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a salt value?</vt:lpstr>
      <vt:lpstr>PowerPoint Presentation</vt:lpstr>
      <vt:lpstr>Password Cracking</vt:lpstr>
      <vt:lpstr>Password select strategies</vt:lpstr>
      <vt:lpstr>PowerPoint Presentation</vt:lpstr>
      <vt:lpstr>PowerPoint Presentation</vt:lpstr>
      <vt:lpstr>PowerPoint Presentation</vt:lpstr>
      <vt:lpstr>PowerPoint Presentation</vt:lpstr>
      <vt:lpstr>Electronic Identity Cards (eID)</vt:lpstr>
      <vt:lpstr>PowerPoint Presentation</vt:lpstr>
      <vt:lpstr>PowerPoint Presentation</vt:lpstr>
      <vt:lpstr>PowerPoint Presentation</vt:lpstr>
      <vt:lpstr>PowerPoint Presentation</vt:lpstr>
      <vt:lpstr>PowerPoint Presentation</vt:lpstr>
      <vt:lpstr>REMOTE USER AUTHENTICATION</vt:lpstr>
      <vt:lpstr>Protocol for a password verification</vt:lpstr>
      <vt:lpstr>PowerPoint Presentation</vt:lpstr>
      <vt:lpstr>SECURITY ISSUES FOR USER AUTHENTICATION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Aqsa Aslam</dc:creator>
  <cp:lastModifiedBy>Aqsa Aslam</cp:lastModifiedBy>
  <cp:revision>20</cp:revision>
  <dcterms:created xsi:type="dcterms:W3CDTF">2023-09-15T09:19:32Z</dcterms:created>
  <dcterms:modified xsi:type="dcterms:W3CDTF">2023-09-22T07:12:49Z</dcterms:modified>
</cp:coreProperties>
</file>