
<file path=[Content_Types].xml><?xml version="1.0" encoding="utf-8"?>
<Types xmlns="http://schemas.openxmlformats.org/package/2006/content-types">
  <Default Extension="png" ContentType="image/png"/>
  <Default Extension="tmp" ContentType="image/pn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5"/>
  </p:notesMasterIdLst>
  <p:sldIdLst>
    <p:sldId id="282" r:id="rId2"/>
    <p:sldId id="335" r:id="rId3"/>
    <p:sldId id="342" r:id="rId4"/>
    <p:sldId id="343" r:id="rId5"/>
    <p:sldId id="344" r:id="rId6"/>
    <p:sldId id="345" r:id="rId7"/>
    <p:sldId id="336" r:id="rId8"/>
    <p:sldId id="337" r:id="rId9"/>
    <p:sldId id="338" r:id="rId10"/>
    <p:sldId id="339" r:id="rId11"/>
    <p:sldId id="298" r:id="rId12"/>
    <p:sldId id="299" r:id="rId13"/>
    <p:sldId id="300" r:id="rId14"/>
    <p:sldId id="303" r:id="rId15"/>
    <p:sldId id="304" r:id="rId16"/>
    <p:sldId id="305" r:id="rId17"/>
    <p:sldId id="306" r:id="rId18"/>
    <p:sldId id="307" r:id="rId19"/>
    <p:sldId id="302" r:id="rId20"/>
    <p:sldId id="309" r:id="rId21"/>
    <p:sldId id="316" r:id="rId22"/>
    <p:sldId id="346" r:id="rId23"/>
    <p:sldId id="317" r:id="rId24"/>
    <p:sldId id="318" r:id="rId25"/>
    <p:sldId id="310" r:id="rId26"/>
    <p:sldId id="311" r:id="rId27"/>
    <p:sldId id="312" r:id="rId28"/>
    <p:sldId id="313" r:id="rId29"/>
    <p:sldId id="314" r:id="rId30"/>
    <p:sldId id="320" r:id="rId31"/>
    <p:sldId id="319" r:id="rId32"/>
    <p:sldId id="421" r:id="rId33"/>
    <p:sldId id="321" r:id="rId34"/>
    <p:sldId id="324" r:id="rId35"/>
    <p:sldId id="283" r:id="rId36"/>
    <p:sldId id="284" r:id="rId37"/>
    <p:sldId id="325" r:id="rId38"/>
    <p:sldId id="444" r:id="rId39"/>
    <p:sldId id="331" r:id="rId40"/>
    <p:sldId id="334" r:id="rId41"/>
    <p:sldId id="456" r:id="rId42"/>
    <p:sldId id="333" r:id="rId43"/>
    <p:sldId id="457"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32" autoAdjust="0"/>
    <p:restoredTop sz="94660"/>
  </p:normalViewPr>
  <p:slideViewPr>
    <p:cSldViewPr snapToGrid="0">
      <p:cViewPr varScale="1">
        <p:scale>
          <a:sx n="115" d="100"/>
          <a:sy n="115" d="100"/>
        </p:scale>
        <p:origin x="31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6:25.74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8037 11088 0,'25'-25'16,"-1"25"-1,1 0 1,0 0-1,25 0 17,-1 25-17,26-1 1,-26-24 0,1 0-16,99 75 15,-100-50-15,50-25 16,100 25-1,-1-1 1,50 26 0,-74-50-1,49 25 1,-24-25 0,-26 0-1,26 0 1,-150 0-1,51 0-15,-26 0 16,-24 0-16,49 0 16,74 0-1,1 0 1,25 0 0,-51 0-1,26 0 1,-25 0-1,0 0 1,24 0 0,1 0-1,74 0 1,-149 0-16,25 0 16,0 0-16,0 0 15,0 0-15,174 0 16,-50 0 15,0 0-15,-50 0-1,-24 0 1,0 0 0,-25 0-1,24 0 1,26 0-1,-26 0 1,-74 0 0,1 0-16,-1 0 15,-25 0-15,1 0 16,98 0 0,-49 0-1,75 0 1,-50 0-1,-25 0 1,74 0 0,-49 0-1,0 0 1,49 0 0,-24 0-1,-50 0-15,-25 0 16,25 0-16,-25 0 15,-24 0-15,148 0 16,-25 0 0,-49 0 15,0 0-15,0 0-1,49 0 1,-49 0-1,50 0-15,-1 0 16,0 0 0,-123 0-1,24 0-15,0 0 16,25 0-16,-49 0 16,98 0-1,-24 0 1,25 0-1,-50 0 1,25 0 0,-25 0-1,49 0 1,1 25 0,0-25-1,-50 0 1,-25 0-16,-50 0 15,26 0-15,-25 0 16,24 0-16,75 0 16,0 0-1,-25 0 17,49 0-17,-49 0 1,-49 0-1,-1 0 1,-24 0 0,24 0-1,-24 0 1,-1 0-16,1 0 16,24 0-16,-49 0 15,0 0-15,99 0 16,-25 0-1,25 0 1,-25 0 0,-49 0-1,49 0 17,-74 0-17,74 0 1,-49 0-1,49 0 1,-74 0-16,25 0 31,-1 0-31,-24 0 0,25 0 16,24 0 0,0 0-1,-49 0 1,0 0-1,25 0 1,-26 0 0,1 0-1,0 0 1,25 0 0,-1 0-1,26 24 1,-51-24 15,1 0-15,0 0 15,25 0-15,-26 0-1,1 0 1,0 0 15,25 0-31,-25 0 31</inkml:trace>
</inkml:ink>
</file>

<file path=ppt/ink/ink2.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6:27.78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8210 11361 0,'0'0'0,"25"0"15,0 0 1,25 0 0,-1 0-1,26 0 1,-51 0-16,76 0 15,-51 0-15,-24 0 16,49 0-16,50 0 16,0 0-1,1 0 17,23 0-17,1 0 1,-74 0-1,24 0 1,-50 0 0,-24 0-1,50 0 1,-51 0 0,1 0-16,50 0 15,-51 0 1,1 0-1,25 0 1,-25 0-16,24 0 31,1 0-15,-25 0 15,0 0 16</inkml:trace>
</inkml:ink>
</file>

<file path=ppt/ink/ink3.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6:38.38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25350 4688 0,'25'0'63,"50"0"-48,-26 0-15,50 0 16,125 25 0,-1 0-1,50-1 1,-149-24-16,0 0 16,99 0-1,-149 0-15,125 0 16,-50 0-1,0 0 1,-25 0 15,49 0-15,-24 0 0,-25 0-1,0 25 1,25 0-1,-25-25 1,74 0 0,-123 0-16,24 0 15,124 0 1,-173 0-16,148 0 16,-74 0-1,25 0 1,-50 0-1,1 0 1,-26 0 15,50 0-15,-25 0 0,0 0-1,-49 0 1,0 0-16,-26 0 15,1 0-15,0 0 16,25 0 0,-25 0-1,-1 0 1,51 0 0,-26 0-1,51 0 1,-76 0-1,76 0 1,-51 0 15,75 0-15,-74 0-16,-25 0 16,24 0-1,1 0 1,-1 0-1,-24 0 17,25 0-1,-25 0-15,-1 0-16,1 0 15,25 0 1,-25 0-1,0 0 1,-1 0-16,26 0 16,0 0-1,24 0 1,-49 0 0,0 0-1,-1 0 1,26 0-1,-25 0 1,0 0 47,-1 0-32,26 0 16,-25-25 78</inkml:trace>
</inkml:ink>
</file>

<file path=ppt/ink/ink4.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6:41.93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1786 5829 0,'25'-25'62,"24"25"-46,-24 0-16,99 0 15,25 0 1,74 0 0,25 0-1,50 0 1,24 0 15,-49 0-15,75 0-1,-200 0-15,1 0 16,99 0-16,-124 0 16,75 0-1,-75 0 1,0 0-1,49 0 1,1 0 0,0 0-1,24 0 1,-24 0 0,-25 0-1,-25 0 1,-50 0-1,-49 0 1,49 0-16,-49 0 16,99 0-1,-25 0 1,25 0 0,-49 0-1,24 0 1,-25 0-1,-49 0 1,0 0 0,0 0-1,0-25 95</inkml:trace>
</inkml:ink>
</file>

<file path=ppt/ink/ink5.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6:43.96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1860 5953 0,'25'25'46,"0"-25"-30,49 0-16,-49 0 16,25 0-1,49 0-15,-25 0 16,100 0 0,-25 0-1,25 0 1,-1 0-1,-24 0 1,-25 0 0,0 0-1,0 0 1,-25 0 0,25 0-1,-49 0-15,-26 0 16,26 0-1,-26 0-15,26 0 0,74 0 16,-25 0 15,24 0-15,51 0 0,-26 0-1,26 0 1,-50 0-1,-25 0 1,-25 0 0,-74 0-16,0 0 15,-1 0-15,51 0 16,-50 0-16,99 0 16,24 0-1,-48 0 1,49 0-1,-50 0 1,0 0 15,-49 0-15,49 0 0,-25 0-1,-24 0 1,-25 0-1,24 0 1,-24 0 0,0 0-1,49 25 1,-49-25 0,0 0 15,0 0-31,49 0 15,25 25 1,-49-25 15,-25 0-15,24 0-16,-24 0 31,0 0-15,0 24 15,24-24 32</inkml:trace>
</inkml:ink>
</file>

<file path=ppt/ink/ink6.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6:47.41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1712 5606 0,'24'25'31,"26"-25"-31,24 0 16,50 0-1,0 0 1,-74 0-16,24 0 16,75 0-1,-50 0-15,50 0 16,25 0-1,49 0 1,0 0 15,1 0-15,-1 0 0,0 0-1,-24 0 1,-26 0-1,50 0 1,-123-25-16,-1 25 16,-25 0-16,26 0 15,-26 0-15,50 0 16,-50 0 0,50 0-1,0 0 1,0 0-1,0-25 17,0 25-17,-24-25 1,24 25 0,-99 0-16,49 0 15,-49 0-15,0 0 0,24 0 16,1 0-1,-25-25 1,49 25 0,-49 0-1,0 0 1,49 0 0,-24 0-1,-1 0 1,1 0-1,24 0 17,1 0-17,-26 0 1,-24 0 0,0 0-1,0 0 32,24 0-31,-24 0-1,0 0 1,0 0 15,24 0 0,-24 0-15</inkml:trace>
</inkml:ink>
</file>

<file path=ppt/ink/ink7.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6:53.74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9029 5928 0,'25'-24'63,"24"24"-63,26 0 15,49 0 1,49 0 0,100 24-1,-149-24-15,-25 0 16,26 0 0,73 0-16,-24 0 0,173 0 15,-50 0 16,-48 0-15,-26 0 0,-74 0-1,49 0 1,-49 0 0,0 0-1,74 0 1,0 0-1,-124 0-15,25 0 16,-49 0-16,49 0 16,-25 0-16,75 0 15,-1 0 1,51 0 0,-51 0-1,1 0 16,24 0-15,-49 0 0,25 50-1,-50-50 1,25 0 0,-100 0-16,50 0 15,-24 0-15,-26 0 16,26 0-16,49 0 15,-50 0 1,50 0 0,-24 0-1,24 0 1,24 0 0,51 0-1,-50 0 16,49 0-15,-24 0 0,-100 0-16,1 0 15,-1 0-15,25 0 0,-49 0 16,74 0 0,-50 0-1,75 0 1,-25 0-1,0 0 1,25 0 0,0 0-1,49 0 1,25 0 0,-24 0-1,-100 0 1,25 0-1,-25 0-15,-49 0 0,49 0 16,50 0 0,25 0-1,-50 0 1,25 0 0,-50 0-1,25 0 1,-50 0-1,75 0 1,-50 0 0,25 0-1,-49 0-15,-51 0 16,76 0 0,-76 0-16,51 0 0,24 0 31,0 0-16,25 0 1,0 0 0,-24 0-1,-1 0 1,25 0 0,-25 0-1,-49 0 1,49 0-1,-50 0-15,1 0 16,-25 0-16,25 0 16,-1 0-1,-24 0-15,0 0 16,49 0 0,-49 0-1,25 0 16,24 0-15,-24 0 0,24 0-1,-49 0 1,0 0 0,24 0-1,-24 0 1,25 0-1,-1 0 1,-24 0 15</inkml:trace>
</inkml:ink>
</file>

<file path=ppt/ink/ink8.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6:57.49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9451 5655 0,'0'0'0,"24"0"0,1 0 16,25 0 0,-25 0-1,-1 0-15,1 0 16,50 0-1,-26 0-15,50 0 16,100 0 0,-50 0-1,74 0 1,-25 0 0,26 0-1,-76 0 16,26 0-15,-25 0 0,0 0-1,-75 0-15,1 0 16,123 0-16,-99 0 16,100 0-1,49 25 1,-50-25-1,25 0 1,1 0 0,-1 0-1,0 0 1,50 0 0,-25 0-1,-149 0 1,50 0-1,-25 0-15,0 0 0,0 0 16,124 0 0,-25 0-1,1 0 1,24 0 0,0 0-1,0 0 1,25 0-1,-50 0 1,-49 0 0,-1 50-1,-24-50 1,-99 0-16,-1 0 31,1 0-31,24 0 16,-24 0-16,99 0 15,-25 0 1,49 0 0,-24 0-1,0 25 1,-50-25 0,0 0-1,25 24 1,-74-24-16,24 0 31,-24 0-31,49 0 0,-49 0 16,74 0-16,-25 0 15,100 0 1,-125 0-16,50 0 16,74 0-1,26 0 1,-26 0-1,25 0 1,-24 0 0,-1 0-1,-24 0 1,-25 0 0,-124 0-16,49 0 15,-49 0-15,0 0 16,-1 0-16,51 0 15,-26 0 1,51 0 0,-26 0 15,25 25-15,-74-25-1,0 0 1,24 0-1,26 0 1,-26 0 0,26 0-1,-50 0-15,0 0 16,24 0-16,-24 0 16,0-25 30,0 25 64,24 0-95,-24 0 17,0 0-17,0 0 17,24 0-17,-24 0 1,0 0 31,0 0 0,24 0-32,-24 0 32,0 0-16,0 0-15,24 0 0,-24 0 15,0 25-16,0-25 1</inkml:trace>
</inkml:ink>
</file>

<file path=ppt/ink/ink9.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7:11.10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12650 8806 0,'25'-25'32,"0"25"-17,49 0-15,50 0 16,-49 0-16,24 0 15,0 0-15,50 0 16,99 0 0,25 0-1,25 0 1,-25 0 0,-25 0-1,24 0 1,1 0-1,99 0 1,-99 0 0,0 0-1,-149 0-15,-50 0 16,26 0-16,-1 0 16,25 0-16,50 0 15,49 0 1,25 0 15,25 0-15,49 0-1,-49 0 1,49 0-16,-49 0 31,-49 0-15,-26 0-1,-74 0-15,-25 0 16,25 0-16,0 0 0,-24 0 0,148 0 31,-25 0-15,-25 0-16,25 0 16,-74 0-1,50 0 16,-75 0 1,49 0-17,51 0-15,24 0 16,-124 0-16,-25 0 16,50 0-16,-25 0 15,0 0-15,99 0 16,-74 0-1,25 0 1,-1 0 15,1 0-15,74 0 0,-25 0-1,-24 0 1,-26 0-1,-74 0-15,-49 0 16,74 0-16,-50 0 16,26 0-16,-26 0 15,25 0-15,75 0 16,-100 0 0,26 0-16,73 0 15,1 0 1,-25 0-1,-1 0 1,-24 0 15,1 0-15,23 0 0,-48 0-1,-26 0-15,-24 0 16,-26 0-16,51 0 0,-26 0 15,51 0 1,-26 0 0,-24 0-1,24 0 1,-49 0 0,0 0 62,-1 0-63,26 0 1,-25 0 0,0 0-1,-1 0 1,26 0-1,-25 0 1,0 0 0,0 0-1,49 0 1,0 49 0,-24-49-1,-25 0 126,49 0-126,-49 0 1,99 25 0,0-25-1,25 25 1,-25-25 0,-25 0-16,-49 0 15,74 0 1,-50 0-16,75 0 15,0 0 1,49 0 15,25 0-15,-24 0 0,-1 0-1,-49 0 1,0 0-1,-25 0 1,0 0 0,-74 0-16,-1 0 15,1 0-15,-1 0 16,-24 0-16,75 0 16,-1 0-1,-25 0 1,25 0-1,-24 0 1,49 0 15,-75 0-15,51 0 0,-76 0-16,51 0 15,-50 0-15,-1 0 0,1 0 16,0 0-1,0 0-15,49 0 16,-24 0-16,-25 0 16,0 0-1,74 0 1,-74 0 0,49 0-1,-49 0 1,0 0-1,49 0 1,-49 0 15,0 0-31,-1 0 16,26 0 109</inkml:trace>
</inkml:ink>
</file>

<file path=ppt/ink/ink10.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7:14.45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12675 9079 0,'25'0'16,"0"0"-1,74 0 1,0 0 15,25 0-15,0 0 0,50 0-1,74 0 1,0 0-1,0 0 1,0 0 0,-99 0-16,0 0 15,0 0-15,24 0 16,1 0-16,124 0 16,24 0-1,-24 0 1,-50 0-1,-25 0 1,-25 0 15,1 0-15,-1 0 0,50 0-1,25 0 1,-99 0-16,-50 0 15,49 0-15,-24 0 0,0 0 16,99 0 0,-25 0-1,1 0 1,-26 0 0,50 0-1,75 0 1,-51 0-1,1 0 1,-25 0 15,25 0-15,-174 0-16,25 0 16,0 0-16,0 0 0,0 0 15,199 0 1,-25 0-1,-26 0 1,1 0 0,-74 0-1,-1 0 1,-24 0 0,24 0-1,1 0 1,24 0-1,-99 0 1,0 0-16,-25 0 16,25 0-16,-25 0 15,149 0 1,1 0 0,-1 0-1,-25 0 1,-25 0-1,100 0 1,-50 0 0,0 0-1,0 0 1,0 0 0,-124 0-16,-25 0 15,1 0-15,24 0 16,-25 0-16,99 0 15,-24 0 1,24 0 15,-74 0-15,25 0 0,-25 0-1,25 0 1,-25 0-1,25 0 1,-25 0 0,-50 0-16,-24 0 15,24 0-15,-24 0 16,49 0-16,100 0 16,-1 0-1,0 0 1,-24 0-1,-25 0 1,25 0 15,-50 0-15,-25 0 0,25 0-1,-99 0 1,-1 0-16,1 0 15,25 0 1,-25 0 0,74 0-1,-74 0 1,-1 0 0,51 0-1,-1 0 1,-24 0-1,0 0 1,24 0 15,-49 0-15,0 0 0,-1 0-16,26 0 15,0 0 1,24 0-1,-49 0 48,0 0-32,24 24 0,-24-24-15,0 0 0,24 25-1,1-25 220,-75 0-95,-99 0-124</inkml:trace>
</inkml:ink>
</file>

<file path=ppt/ink/ink11.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7:47.456"/>
    </inkml:context>
    <inkml:brush xml:id="br0">
      <inkml:brushProperty name="width" value="0.08819" units="cm"/>
      <inkml:brushProperty name="height" value="0.35278" units="cm"/>
      <inkml:brushProperty name="color" value="#00B0F0"/>
      <inkml:brushProperty name="tip" value="rectangle"/>
      <inkml:brushProperty name="rasterOp" value="maskPen"/>
    </inkml:brush>
  </inkml:definitions>
  <inkml:trace contextRef="#ctx0" brushRef="#br0">12799 10071 0,'25'0'32,"0"0"-32,24 0 15,75 0 1,-74 0-16,-25 0 16,74 0-16,-24 0 15,-1 0-15,149 25 16,25-25-1,0 0 1,0 0 0,0 0 15,-24 0-15,24 0-1,-75 0 1,26 0-1,24 0 1,-25 0 0,-74 0-16,-24 0 15,-1 0-15,0 0 16,-25 0-16,125 0 16,-75 0 15,25 0-16,-25 0 1,0 0 0,0 0-1,0 0 1,25 0 0,24 0-1,-24 0 1,-50 0-16,-49 0 15,49 0 1,-49 0-16,49 0 16,50 0-1,49 0 1,-49 0 0,-25 0-1,75 0 1,-51 0-1,-24 0 1,0 0 0,0 0-1,25 0 1,-49 0-16,-51 0 16,26 0-16,24 0 15,-25 0-15,100 0 16,-25 0-1,-25 0 1,24 24 15,-48 1-15,-1-25 0,50 50-1,-25-50 1,25 0-1,24 0 1,-74 0-16,1 0 16,24 0-16,-25 0 15,25 25-15,124-25 16,-25 0 0,-49 0-1,49 0 1,-49 0-1,24 0 1,-49 0 15,0 24-15,49 1 0,-49-25-1,-50 0-15,1 0 16,-1 0-16,0 0 0,25 0 15,99 0 1,-49 0 0,0 0-1,-26 0 1,51 0 0,-50 0-1,-1 0 1,51 0-1,-25 0 1,49 0 15,-149 0-31,25 0 16,-24 0-16,24 0 0,-25 0 16,125 0-1,-50 0 1,0 0-1,24 0 1,-24 0 0,-25 0-1,25 0 1,0 0 0,-25 0-1,25 0 1,-75 0-1,0 0-15,-24 0 16,24 0-16,-24 0 16,74 0-1,25 0 1,-25 0 0,49 0-1,-48 0 1,-1 0-1,0 0 1,-25 0 0,0 0-1,0 0 1,-24 0-16,-51 0 16,1 0-16,50 0 15,-26 0-15,50 0 31,1 0-15,-26 0 0,75 25-1,-75 0 1,1-25-16,-50 0 31,24 0-15,1 0 62,-25 0-31,-1 0-32,1 0 1,-50 0 140,1 0-156,-26 0 16</inkml:trace>
</inkml:ink>
</file>

<file path=ppt/ink/ink12.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7:52.975"/>
    </inkml:context>
    <inkml:brush xml:id="br0">
      <inkml:brushProperty name="width" value="0.08819" units="cm"/>
      <inkml:brushProperty name="height" value="0.35278" units="cm"/>
      <inkml:brushProperty name="color" value="#00B0F0"/>
      <inkml:brushProperty name="tip" value="rectangle"/>
      <inkml:brushProperty name="rasterOp" value="maskPen"/>
    </inkml:brush>
  </inkml:definitions>
  <inkml:trace contextRef="#ctx0" brushRef="#br0">12849 10319 0,'49'-25'78,"-24"25"-78,74 25 16,50-25-1,-25 0 1,-24 0-16,-26 0 15,0 0-15,26 0 16,24 0-16,49 0 16,50 0-1,-49 0 17,25 0-17,-51 0 1,-24 0-1,0 0 1,-24 0 0,24 0-1,-25 0 1,-50 0 0,-24 0-16,25 0 15,-25 0-15,0 0 16,-1 0-16,76 0 15,-26 0 1,-24 0 0,49 0-1,0 0 1,-25 0 15,26 0-15,24 0-1,-100 25 1,51-25-16,-50 24 16,-1-24-16,26 0 0,-25 0 15,74 0 1,-49 0 0,49 0-1,25 0 1,-25 0-1,-24 25 1,24-25 0,25 0-1,-50 0 1,1 0 15,24 50-15,-25-50-16,-49 0 15,50 0-15,-1 0 0,-49 0 16,148 0 0,-49 0-1,-49 0 1,24 0 0,25 0-1,-25 0 1,25 0-1,0 0 1,-24 0 0,-26 0-1,-24 0 1,-1 0 0,-24 0-16,25 0 0,-1 0 15,50 0 1,1 0-1,-51 0 1,75 0 0,0 0-1,-24 0 1,-51 0 0,50 0-1,1 0 1,-51 0-1,26 0-15,-51 0 16,1 0-16,25 0 16,-25 0-16,24 0 15,1 0 1,-1 0 15,-24 0-15,25 0-1,-25 0 1,24 0 0,26 0-1,-26 0 1,1 0 0,-25 0-16,-1 0 15,1 0-15,25 0 16,-25 0 15,0 0-15,-1 0-16,26 0 15,-25 0 1,0 0 0,-1 0-1,26 0 1,-25 0-1,0-25 32,24 0-31,1-24 15,-25 24-15,-25 0 15,24 0 0,-24-24-15,25 24 0,-25 0 30,25 0-14,0 0-32,0 25 31,-1 0-31,51 0 16,-26 0-1,51 0 1,-26 0-1,-24 0 1,49 0 15,-74 0-15,0 0-16,24 0 16,-24 0-1,25 0 1,24 0-1,-24 0-15,49 0 16,0 0 0,25 0-1,0 0 1,25 0 15,-25 0-15,0 0-1,-50 0-15,-24 0 16,24 0-16,-49 0 0,0 0 16,74 0-1,0 0 1,-49 0 0,74 0-1,-25 0 1,25 0-1,-25 0 17,-49 0-17,49 0 1,-49 0 0,0 0-16,-26 0 15,1 0-15,0 0 0,25 0 16,-1 0-1,26 0 17,-26 0-17,75-49 1,-49 49 0,49-25-1,-50 25 1,25 0-1,25-25 1,-49 25 0,-26 0-16,-24 0 15,25-25-15,-1 25 16,-24 0-16,74 0 16,1 0-1,-51 0 1,26 0-1,-26 0 1,50 0 15,25 0-15,-24 0 0,24 0-1,0 0 1,0 0-1,-99 0-15,-1 0 16,51 0 0,-26 0-16,26 0 15,24 0 1,25 0 0,25 0-1,-25 0 1,-25 0-1,-24 0 1,24 0 15,-74 0-31,24 0 16,-24 0-16,25 0 0,-1 0 16,-24 0-1,25 0-15,24 0 16,-49 0-16,49 0 15,1 0 1,24 0 0,0 0-1,25 0 1,-25 0 0,25 0-1,-49 0 1,24 0-1,25 0 17,-99 0-32,24 0 15,75 0-15,-99 0 16,25 0 0,24 0-1,-24 0 1,24 0-1,-24 0 1,74 0 0,-25 0-1,25 0 1,0 0 0,-49 0-1,-51 0-15,1 0 16,0 0-16,25 0 15,-1 0 1,-24 0 0,25 0-1,-1 0-15,-24 0 16,49 0 0,-49 0-1,0 0 16,25 0-15,-25 0 0,-1 0-1,1 0 1,25 0 0,-25 0 15,-1-25 0,1 1-31,25 24 47,-25 0-31,-1 0-1,1 0 1,25 0 15,-25 0 63</inkml:trace>
</inkml:ink>
</file>

<file path=ppt/ink/ink13.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7:54.459"/>
    </inkml:context>
    <inkml:brush xml:id="br0">
      <inkml:brushProperty name="width" value="0.08819" units="cm"/>
      <inkml:brushProperty name="height" value="0.35278" units="cm"/>
      <inkml:brushProperty name="color" value="#00B0F0"/>
      <inkml:brushProperty name="tip" value="rectangle"/>
      <inkml:brushProperty name="rasterOp" value="maskPen"/>
    </inkml:brush>
  </inkml:definitions>
  <inkml:trace contextRef="#ctx0" brushRef="#br0">21233 10393 0,'0'0'0,"25"0"16,-1 0-16,26 0 15,-25 0-15,74 0 16,-49 0-1,74 0 17,-25 0-17,-49 0-15,24 0 16,-24 0-16,24 0 0,25 0 16,25 0-1,0 0 1,-49 0-1,-1 0 1,-24 0 0,-1 0-1</inkml:trace>
</inkml:ink>
</file>

<file path=ppt/ink/ink14.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7:55.365"/>
    </inkml:context>
    <inkml:brush xml:id="br0">
      <inkml:brushProperty name="width" value="0.08819" units="cm"/>
      <inkml:brushProperty name="height" value="0.35278" units="cm"/>
      <inkml:brushProperty name="color" value="#00B0F0"/>
      <inkml:brushProperty name="tip" value="rectangle"/>
      <inkml:brushProperty name="rasterOp" value="maskPen"/>
    </inkml:brush>
  </inkml:definitions>
  <inkml:trace contextRef="#ctx0" brushRef="#br0">21233 10021 0,'0'0'0,"25"0"16,-1 0 0,26 0-1,-25 0 1,0 0 0,-1 0-1,26 0 1,-25 0-1,0 0 1,-1 0 0,26 0-1,-25 0 1,24 0 0,1 0-16</inkml:trace>
</inkml:ink>
</file>

<file path=ppt/ink/ink15.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7:56.303"/>
    </inkml:context>
    <inkml:brush xml:id="br0">
      <inkml:brushProperty name="width" value="0.08819" units="cm"/>
      <inkml:brushProperty name="height" value="0.35278" units="cm"/>
      <inkml:brushProperty name="color" value="#00B0F0"/>
      <inkml:brushProperty name="tip" value="rectangle"/>
      <inkml:brushProperty name="rasterOp" value="maskPen"/>
    </inkml:brush>
  </inkml:definitions>
  <inkml:trace contextRef="#ctx0" brushRef="#br0">20737 10021 0,'25'0'47,"49"-25"-31,-49 25 0,99 0-1,-99 0 1,-1 0-16,26 0 15,0 0 1,-26 0-16,51 0 16,49 0-1,-25 0 1,-49 0 0,-26 0-1,26 0 1,-25 0 15,0 0 0</inkml:trace>
</inkml:ink>
</file>

<file path=ppt/ink/ink16.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8:10.97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6945 11385 0,'0'0'0,"50"0"0,-25 0 16,49 0-16,50 0 15,0 0 1,99 0 0,-49 0-1,24 0 1,-49 0 0,-25 0 15,0-24-16,0 24 1,-24 0-16,-1-25 16,0 0-16,25 25 0,50 0 15,123-25 1,75 25 0,-49-25-1,-50 1 1,-25 24-1,-25 0 1,-25 0 0,26 0-1,-1 0 1,0 0 0,-148 0-1,24 0 1,0 0-16,0 0 0,-24 0 15,98 0 1,-24 0 0,0 0-1,25 0 1,-1 0 0,1 0-1,24 0 1,-49 0-1,0 0 1,49 0 0,-148 0-16,49 0 15,-24 0 1,-1 0-16,-24-50 0,98 50 16,1 0 15,0 0-16,25 0 1,-50 0 0,-25 0-1,0 0 1,0 0 0,1 0-1,-1 0 1,-74 0-16,24 0 15,1 0-15,-25 0 16,0 0-16,49 0 16,-49 0-1,0 0 1,49 0 0,0 25 15,1-25-16,24 0 1,-25 0 0,26 0-1,-26 0 1,-24 0-16,-1 0 16,-24 0-16,0 0 15,25 0-15,49 0 16,-25 0-1,1 25 1,-1-25 0,-49 0-1,0 0 1,24 0 78,-24 0-47,25 0-47,-1 0 15,-24 0 1,0 24-1</inkml:trace>
</inkml:ink>
</file>

<file path=ppt/ink/ink17.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8:16.1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17115 11435 0,'-25'-25'47,"1"0"-31,-1 25-1,0 0 1,-25-24 0,-49 24-1,0 0 1,0 0 0,24 0-1,1 0 1,49 0-16,-49 0 15,49 0-15,-25 0 16,-24 0-16,-25 0 16,-25 0-1,74 0 1,-49 0 0,-25 0-1,25 0 16,-1 0-15,1 0 0,-25 0-1,74 0-15,1 0 16,-26 0-16,26 0 0,-1 0 16,1 0-1,24 0-15,-99 0 16,49 0-1,26 0-15,-50 0 16,-25 0 0,24 0-1,26 0 1,-25 0 0,-1 0-1,51 0 16,-50 0-15,24 0-16,1 0 16,-1 0-16,26 0 0,-26 0 15,-49 0 1,0 0 0,25 0-1,-25 0 1,0 0-1,-50 0 1,-24 0 0,49 0-1,-24 0 1,-26 0 0,50 0-1,50 0 1,0 0-1,-50 0-15,75 0 16,-75 0 0,0 0-1,50 0 1,-25 0 0,49 0-1,-49 0 1,25 0-1,-25 0 1,25 0 0,0 0-1,49 0-15,-24 0 16,49 0 0,-50 0-16,26 0 0,-75 0 15,24 0 16,26 0-15,-50 0 0,50 0-1,-50 0 1,24 0 0,-48 0-1,-26 0 1,-25 0-1,150 0-15,-26 0 16,-24 0-16,50 0 16,24 0-16,-99 0 15,25 0 1,-1 0 0,1 0-1,0 0 16,0 0-15,-1 0 0,1 0-1,0 0 1,49 0 0,26 0-16,-26 0 15,25 0 1,0 0-1,1 0 1,-26 0 0,0 0-1,26 0 1,-26 0 0,0-50-1,26 50 16,-26 0-15,0 0 0,26 0-16,-26-25 15,25 25-15,0 0 0,1 0 16,-26 0 0,25 0-1,0 0 282,1 0-281,-26 0-1,25 0 610,0 0-547,0 0 16,50 0 172</inkml:trace>
</inkml:ink>
</file>

<file path=ppt/ink/ink18.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8:17.72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6846 11237 0,'25'0'109,"49"0"-109,-49 0 16,74 0-1,-74 0-15,0 0 16,0 0 0,24 0-16,-24 0 15,0 0 1,0 0-16,49 0 16,-49 0-1,0 0 16,49 0-15,-49 0 0,49 0-1,-49 0 1,25 0 0,24 0-1,-49 0-15,49 0 16,-49 0-16,0 0 15,0 0-15,24 0 16,-24 0 15,0 0 1</inkml:trace>
</inkml:ink>
</file>

<file path=ppt/ink/ink19.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8:19.15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6722 11435 0,'50'0'171,"24"0"-155,-24 0 0,74 0-1,0 0 1,-25 0 0,25 0-1,-50 0 1,1 0-1,-26 0 1,1 0 0,-25 0-1,24 0 1,-24 0 0,0 0-1,0 0 1,24 0-1,-24 0 17,25 0-17,-1 0 1,1 0 0,-25 0-1,49 0 1,-49 0-1,50 0-15,-51 0 16,1 0 0,0 0-16,49 0 15,-49 0 1,0 0 0</inkml:trace>
</inkml:ink>
</file>

<file path=ppt/ink/ink20.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8:29.75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24978 11460 0,'0'0'0,"25"0"16,25 0 0,-25 0-16,-1 0 15,1 0-15,74 0 16,-74 0 0,25 0-16,24 0 15,50 0 1,-25 0 15,25 0-15,75 0-1,-25 0 1,-26 0 0,-24 0-1,-24 0 16,-76 0-31,51 0 16,-50 0 0,-1 0-16,26 0 15,-25 0 1,24 0 0,26 0-1,-26 0 16,26 0-15,-50 0 0,49 0-16,-49 0 15,0 0 1,0 0 31,24 0-16,-24 0-15,0 0-1,0 0-15,24 0 16,-24 0 0,0 0 15,0 0 0</inkml:trace>
</inkml:ink>
</file>

<file path=ppt/ink/ink21.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8:31.639"/>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24879 11112 0,'50'0'109,"24"0"-93,1 0-16,-1 0 15,124 0 1,-49 0-1,25 0 1,-125 0 0,26 0-16,-50 0 15,74 0-15,-25 0 16,26 0 0,24 0-1,0 0 16,0 0-15,-25 0 0,0 0-1,-74 0 1,24 0 0,1 0-1,0 0 1,-26 0-16,26 0 15,-25 0-15,0 0 16,-1 0 0,26 0-1,-25 0 17,0 0-1,0 0 16,49 0 171,-49 0-202</inkml:trace>
</inkml:ink>
</file>

<file path=ppt/ink/ink22.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8:33.62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25028 11013 0,'25'-25'31,"0"25"1,-1 0-32,51 0 15,49-49 1,0 49 0,0 0-1,49 0 16,-49 0-15,50 0 0,-99 0-16,-1 0 15,-24 0-15,24 0 0,-24 0 16,24 0 0,-24 0-1,-26 0 1,26 0-1,-25 0 1,0 0 0,49 0-1,-24 0 1,24 0 0,-49 0-1,0 0 1,-1 0-1,26 0 1,-25 0 47,0 0-48,-1 0 1,26 0-16,-25 0 15,25 25 17,-1-25 140,-24 24-79,-25 26-77,0-25 0,0 0-16,0-1 15,0 26 1,0-25-1,0 0 1,0 49 0,-25-49-1,25 0 1,-25 0 15,25 24 0,0-24-15,0 0 15,0 0-15,0 24 15</inkml:trace>
</inkml:ink>
</file>

<file path=ppt/ink/ink23.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8:36.18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15056 12129 0,'25'0'31,"25"0"-31,-1 0 32,-24 0-32,25 0 15,-1 0 1,-24 0-1,99 0-15,-49 0 16,98 0 0,26 0-1,74 0 1,49 0 0,-49 0-1,0 0 1,-25 50-1,0-50 1,0 0 0,-149 25-16,50 0 15,-50-25-15,0 25 16,-24-25-16,49 49 16,-25-49-1,25 25 1,0-25 15,0 0-15,99 0-1,-49 0 1,0 0 0,-25 0-1,-25 0 1,-75 0-16,26 0 15,-26 0-15,26 0 16,-51 0-16,100 0 16,-49 0-1,-26 0 1,-24 0 0,25 0-1,-1 0 16,1 25-15,0-25 0,-1 0-1,26 0 1,-51 0-16,1 0 16,25 0-16,-25 0 15</inkml:trace>
</inkml:ink>
</file>

<file path=ppt/ink/ink24.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8:38.78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15106 12402 0,'25'0'47,"0"0"-32,24 0 1,26 0 0,-26 0-1,51 0 1,24 0 0,0 0-1,-50 0 1,0 0-1,26 0-15,-1 0 0,25 0 16,124 0 0,0 0-1,-74 0 1,-1 0 0,-49 0-1,-74 0 1,24 0-1,1 0 1,49 0 0,0 0-1,0 0 1,-50 0-16,-24 0 31,24 0-31,-24 0 0,24 0 16,50 0-1,-25 0 1,25 0 0,0 0-1,25 0 1,0 0 0,-25 0-1,25 0 1,-25 0-1,-25 0 1,-24 0-16,-51 0 16,1 0-1,0 0-15,25 0 0,-26 0 32,76 0-17,-51 0 1,51 0-1,-1 0 1,-25 0 0,25 0-1,1 0 1,-76 0 0,1 0-1,25 0-15,-1 25 31,-24-25-15,0 0 0,0 0-16,0 0 15,24 0 1,26 25 0,-51-25-1,1 0 16,25 25-15,-25-25 31,-1 0-31,1 0 15,-50 0 125</inkml:trace>
</inkml:ink>
</file>

<file path=ppt/ink/ink25.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8:40.859"/>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15106 12725 0,'0'-50'16,"25"50"31,0 0-47,24 0 16,26 0-16,49 0 15,0 0 1,25 0-1,-25 0 1,0 0 15,24 0-15,76 0 0,-1 0-1,-124 0-15,25 0 16,50 0-16,-75 0 15,25 0 1,-25 0 0,-24 0-1,49 0 1,49 0 0,-24 0-1,0 0 1,49 0-1,-49 0 1,-25 0 15,-99 0-31,49 0 16,100 0-16,-99 0 16,73 0-1,26 0 1,0 0-1,-26 0 1,-24 0 0,1 0-1,-1 0 1,-25 0 0,-25 0-1,-24 0-15,-1 0 16,-24 0-1,25 0-15,-1 0 0,26 0 32,-1 0-17,1 0 1,-26 0 0,26 0-1,-26 0 1,1-25-1,-25 25 1,-1 0 15,1 0 1,25 0 61,-75 0 79</inkml:trace>
</inkml:ink>
</file>

<file path=ppt/ink/ink26.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8:43.35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17859 12005 0,'50'0'16,"-25"0"15,24 0-16,1 0 1,-25 0 0,49 0-1,25 0 1,-24 0 0,24 0-1,0 0 1,1 0-1,-51 0 1,-24 0 15,25 0-15,-26 0 0,1 0 15,0 0-16,25 0 1,-26 0 0,1 0 46,0 0-31,49 0-15,-49 0 0,50 0-1,-26 25 1,-24 0 0,25-25-1,-1 0 1,26 25-1,73-25 1,-98 0 0,49 0-1,1 0 1,-76 0-16,1 0 16,25 0-16,-25 0 15,-1 0-15,1 0 16,50 0-1,-26 0 1,26 0 15,-26 0-15,1 0 0,-25 0-1,-1 0 1,1 0-1,25 0-15,-25 0 16,-1 0-16,1 0 16,25 0-1,-25 0 17,-1 0 30,1 0-46,25 0-1,-25 0 1,-1 0 0,1 0-1,25 0 32,-25 0 78,0 0-125,-1 0 94</inkml:trace>
</inkml:ink>
</file>

<file path=ppt/ink/ink27.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8:44.99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18157 12129 0,'0'0'0,"-25"0"16,0 0 124,1 0-124,-26 0-16,0 0 16,26 0-1,-26 0 1,0 0 0,-24 0-1,49 0 1,-24 0 15,-26 0-15,26 0-1,-26 0 1,50 0-16,0 0 16,-24 0-1,24 0 1,0 0-1,0 0 1,-49 0 0,24 0-1,-24 0 1,49 0 0,-49 0-1,49 0 1,0 0 15,0 0-31,-24 0 16,24 0-1,0 0 1,0 0 15,-24 0 0</inkml:trace>
</inkml:ink>
</file>

<file path=ppt/ink/ink28.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8:57.2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10443 13742 0,'25'0'32,"24"0"-17,100 0 1,25 0-1,-1 0 1,51 0 0,98 0-1,-24 0 1,24 0 0,25 0-1,-74 0 1,0 0-1,-124 0-15,-50 0 16,25 0 0,0 0-16,0 0 15,50 0 1,49 0 0,0 0-1,25 0 1,0 0-1,0 0 1,25 0 0,25 0-1,-50 0 1,0 0 0,-124 0-16,0 0 15,0 0-15,0 0 16,0 0-16,75 0 15,24 0 1,0 0 0,0 0 15,-24 0-15,-1 0-1,25 0 1,-24 0-1,49 0 1,0 0 0,-149 0-16,25 0 15,0 0-15,-25 0 16,25 0-16,50 0 16,25 0-1,-26 0 1,1 0-1,-25 0 1,-1 0 0,26 0 15,25 0-15,-1 0-1,0 0 1,-98 0-16,-1 0 15,-50 0-15,51 0 0,-51 0 16,100 0 0,-74 0-1,49 0 1,0 0 0,0 0-1,49 0 1,-24 0-1,0 0 1,0 0 0,0 0 15,-75 0-31,0 0 16,-24 0-16,24 0 0,-24 0 15,49 0 1,25 0-1,-25 0 1,-24 0 0,-1 0-1,-24 0 1,24 0 0,-49 0 124</inkml:trace>
</inkml:ink>
</file>

<file path=ppt/ink/ink29.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9:00.01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10492 13519 0,'0'0'0,"50"0"16,0 0-1,-26 0 1,100 0 0,-24 0-1,-1 0-15,-50 0 16,75 0-1,-24 0-15,24 0 16,149 0 0,49 0-1,1 0 1,24 0 0,-25 0-1,-24 0 1,24 0-1,-49 0 1,0 0 0,25 0-1,-1 0 1,-148 0-16,223 0 16,-198 0-1,24 0-15,174 0 16,-24 0-1,-1 0 17,-49 0-17,-1 0 1,-24 0 0,25 0-1,49 0 1,0 0-1,-173 0-15,24 0 16,-24 0-16,24 0 16,-49 0-16,199 0 15,-51 0 1,-49 0 0,-49 0-1,-26 0 1,26 0 15,-50 0-15,24 0-1,-24 0 1,0 0 0,-50 0-1,-49 0-15,24 0 16,1 0-16,-1 0 15,25 0 1,25 0 0,0 0-1,25 0 1,0 0 0,-25 0-1,25 0 1,24 0-1,-98 0 17,-1 0-17,-49 0 1,0 0 0,24 0-1,-24 0 16,0 0-15,0 0 0,49 0-1,-24 0 1,74 24 0,-50-24-1,-24 0 1,-1 0 140,-24 0-125,0 0 110,0 25-110,24-25-15,-24 0 31,0 0 78</inkml:trace>
</inkml:ink>
</file>

<file path=ppt/ink/ink30.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9:04.82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10517 13320 0,'25'0'32,"0"0"-17,0 0 1,99-25 0,24 25-1,26-24 1,0 24-1,49 0 1,-25 0 0,26 0-1,-1 0 1,0 0 0,-49 0 15,74 0-16,-149 0-15,-25 0 16,1 0-16,24 0 0,25 0 16,99 0-1,25 0 1,25 0 0,25 0-1,24 0 1,-49 0-1,-25 0 1,-25 0 0,26 0-1,-51 0 1,-124 0 0,50 0-16,0 0 15,-24 0-15,24 0 16,99 0-1,25 0 1,-25 0 0,25 0-1,-49 0 1,24 0 0,25 0-1,25 0 1,-25 0-1,50 0 1,-174 0-16,0 0 16,24 0-16,-24 0 15,25 0-15,124 0 16,-25 0 0,-49 0 15,-51 0-16,-24 0 1,0 0 0,0 0-1,25 0 1,-25 0 0,50 0-1,-124 0-15,49 0 16,0 0-16,-49 0 15,49 0-15,25 0 16,25 0 0,0 0-1,-25 0 1,0 0 0,49 0 15,-49 0-16,0 0 1,0 0 0,25 0-1,-99 0-15,-1 0 16,26 0-16,-26 0 0,-24 0 16,25 0-1,24 0 1,25 0-1,-74 0 1,0 0 0,0 0-1,24 0 1,-24 0 0,0 0 15,0 0-16,24 0 1,-24 0 0,0 0 15,49 0-15,-49 0-1,0 0 1,0 0-1,24 0 48,-24 0-32,0 0 0,0 0-15</inkml:trace>
</inkml:ink>
</file>

<file path=ppt/ink/ink31.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9:14.12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14982 14734 0,'50'0'31,"-26"0"-31,76 0 16,-26 25 0,0 0 15,1-1-31,-25-24 15,24 0-15,-24 0 0,49 0 16,50 0 0,74 0-1,25 0 1,25 0 0,49 0-1,1 0 1,-26 0-1,-24 0 1,0 0 0,-25 0-1,-124 0-15,0 0 16,0 0 0,0 25-16,25-25 15,99 0 1,74 0-1,1 0 1,-1 0 0,1 0-1,-50 0 1,-25 0 0,-25 0-1,25 0 1,-50 0-1,-73 0-15,-1 0 16,24 0-16,26 0 16,-25 0-16,173 0 15,50 0 1,-49 0 0,24 0 15,0 0-16,-49 0 1,-50 0 0,-25 0-1,25 0 1,-124 0-16,-24 0 16,24 0-16,-25 0 15,25 0-15,-50 0 16,25 0-16,100 0 15,-125 0 1,26 0-16,123 0 16,-50 0-1,75 0 1,1 0 0,-26 0 15,0 0-16,-49 0 1,-50 0 0,-25 0-16,-25 0 15,-24 0-15,49 0 0,0 0 16,50 0 0,0 0-1,74 0 1,-49 0-1,24 0 1,-49 0 0,-25 0-1,25 0 1,-25 0 0,0 0 15,-50 0-31,-49 0 15,50 0-15,-51 0 0,26 0 16,49 0 0,1 0-1,24 0 1,0 0 0,-75 0-1,50 0 1,1 0-1,-1 0 1,-25 0 0,25 0-1,1 0 1,-76 0 0,51 0-1,-25 0 1,24 0-1,-49 0 1,74 0 0,-25 0-1,26 0 1,-76 0 0,26 0-1,-25 0 16</inkml:trace>
</inkml:ink>
</file>

<file path=ppt/ink/ink32.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9:17.12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15007 14585 0,'25'0'63,"24"0"-48,1 0-15,-1 0 16,26 0-1,-1 0 1,1 0-16,-26 0 16,75 0-16,-24 0 15,98 0 1,50 0 0,25 0-1,0 0 1,49 0-1,1 0 1,-1 0 0,-49 0-1,-25 0 1,-124 0 0,0 0-16,-25 0 15,50 0-15,-50 0 16,125 0-1,24 0 1,49 0 0,-24 0-1,50 0 1,-26 0 0,26 0-1,-50 0 1,-1 0-1,-48 0 1,-1 0 0,-124 0-16,-24 0 15,148 0 1,-124 0-16,149 0 16,0 0 15,25 0-16,49 0 1,1 0 0,24 0-1,0 0 1,25 0 0,1 0-1,-26 0 1,-198 0-16,123 0 15,-123 0 1,-25 0-16,199 0 16,-50 0-1,74 0 1,-49 0 0,49 0 15,-99 0-16,0 0 1,-25 0 0,0 0-1,-49 0 1,-100 0-16,1 0 16,-1 0-16,1 0 0,24 0 15,25 0 1,50 0-1,-26 0 1,1 0 0,-25 0-1,25 0 1,-25 0 0,50 0 15,-50 0-16,-50 0 1,1 0-16,-51 0 16,76 0-16,-76 0 15,51 0 1,-26 0 0,26 0-1,-1 0 1,25 0-1,-24 0 1,-1 0 0,1 0-1,24 0 1,-49 0 0,24 0-1,-49 0 1,0 0-16,-1 0 0,26 0 15,0 0 1,24 0 0,-49 0 15,0-25 31</inkml:trace>
</inkml:ink>
</file>

<file path=ppt/ink/ink33.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9:20.85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1786 15850 0,'25'0'16,"24"0"0,1 0-1,0 0 1,49 0 0,0 0-1,99 0 1,1 0-1,49 0 1,50 0 0,-50 0-1,0 0 1,25 0 0,-149 0-1,0 0 1,0 0-16,24 0 0,-24 0 15,199 0 1,-50 0 0,24 0-1,-49 0 1,-24 0 0,-26 0-1,1 0 1,24 0-1,0 0 1,25 0 0,-124 0-16,-25 0 15,25 0 1,-49 0-16,49 0 0,74 0 16,-24 0 15,24 0-16,1 0 1,-26 0-16,1 0 16,24 0-1,26 0 1,-26 0 0,-74 0-1,0 0 1,-25 0-16,25 0 0,-24 0 15,148 0 1,-75 0 0,-24 0-1,25 0 1,-75 0 0,75 0-1,74 0 1,0 0-1,0 0 1,-25 0 0,-74 0-1,-50 0-15,-25 0 16,1 0 0,24 0-16,0 0 0,100 0 15,98-25 16,1 25-15,49 0 0,-74 0-1,-25 0 1,-25 0 0,-49 0-1,49 0 1,1 0-1,-100 0-15,0 0 16,49 0 0,-49 0-16,50 0 15,-50 0 1,0 0 0,-50 0-1,26 0 16,98 0-15,-74 0 0,75 0-1,24 0 1,0 0 0,-74 0-16,-50 0 15,25 0-15,-25 0 16,-24 0-16,123 0 15,50 0 1,-49 0 0,-1 0-1,1 0 1,-51 0 0,-24 0-1,-24 0 16,24 0-15,24 0 0,-98 0-16,49 0 15,0 0-15,1 0 0,-26 0 16,125 0 0,-51 0-1,-48 0 1,-51 0-1,1 0 1,-1 0 0,1 0-1,0 0 1,-1 0 0,26 0-1,-51 0 1,1 0-1,25 0-15,-25 0 16,-1 0 15,1 0-15,25 0 0,-25 0-1,0 0 1,-1 0 15,26 0 16,-25 0 47,0 0-79,-1 0 17,26 0 14,-25 0 1,0 0 78,-75 0 32</inkml:trace>
</inkml:ink>
</file>

<file path=ppt/ink/ink34.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9:24.81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1860 15602 0,'0'0'0,"25"0"47,0 0-32,0 0 1,24 0-16,26 0 16,24 0-1,25 0 1,74 0 0,1 0 15,24 0-16,25 0 1,0 0 0,-124 0-16,25 0 15,0 0-15,0 0 0,0 0 16,148 0 0,26 0-1,-50 0 1,-50 0-1,0 0 1,-49 0 0,49 0-1,0 0 1,-24 0 0,49 0 15,124 0-16,-298 0 1,50 0-16,50 0 16,-75 0-16,25 0 15,99 0 1,50 0 0,74 0-1,50 0 1,0 0-1,50 0 1,-51 0 0,-23 0-1,-26 0 1,-198 0 0,49 0-16,-49 0 15,25 0-15,49 0 16,174 0-1,24 0 1,-24 0 0,-50 0-1,-49 0 1,-25 0 0,-50 0-1,0 0 1,-24 0-1,74 0 1,-149 0-16,25 0 16,-25 0-16,24 0 15,1 0-15,149 0 16,24 0 0,1 0 15,-1 0-16,26 0 1,48 0 0,1 0-1,0 0 1,-99 0 0,24 0-1,-222 0-15,-26 0 16,25 0-16,-24 0 15,-26 0-15,50 0 16,1 0 0,-26 0-1,25 0 1,25 0 0,-24 0 15,-1 0-16,-25 0 1,1 0 0,24 0-1,-74 0-15,-1 0 16,1 0-16,25 0 31,-25 0 32,-1 0-32,1 0-31,25 0 16,-1 0 15,26 0-31,-50 0 15,-1 0-15,1 0 0,25 0 16,-25 0 0,-1 0-1,1 0 1,25 0 0,-25 0-1,0-25 1,-1 25 15,26 0 0,-25 0 1,0 0-32,-1 0 31,26 0-16,-25 0 1,0 0 0</inkml:trace>
</inkml:ink>
</file>

<file path=ppt/ink/ink35.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9:55.25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27384 6623 0,'25'-25'32,"0"25"-32,0 0 15,0 0 1,99 0 0,0 0-1,49 0 1,26 0-1,24 0 1,0 0 0,0 0-1,-148 0-15,24 0 16,25 0 0,-25 0-16,-24 0 15,98 0 1,-49 0-1,25 0 1,0 0 0,25 0-1,-26 0 1,26 0 0,25 0-1,-75 0 1,24 0-1,-98 0-15,24 0 16,1 0-16,-50 0 16,-1 0-16,76 0 15,-1 0 1,-25 0 0,1 0 15,-26 0-16,51 0 1,-76 0 0,76 0-1,-76 0 1,51 0 0,-50 0-1,-1 0-15,26 0 16,-25 0-1,0 0 1,-1 0 0,26 0-1,-25 0 1,0 0 0,-1 0 15,1 0-16,0 0-15,0 0 16,0 0 0,-1 0-1,26 0 17,-25 0 14</inkml:trace>
</inkml:ink>
</file>

<file path=ppt/ink/ink36.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9:57.71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27434 6871 0,'25'-25'15,"0"25"1,49 0-1,25 0 1,25 0 0,25 0-1,0 0 1,49 0 0,-24 0-1,24 0 1,-24 0-1,24 0 1,-123 0-16,24 0 16,0 0-16,-49 0 15,49 0-15,50 0 16,-25 0 0,25 0 15,-25 0-16,25 0 1,0 0 0,-1 0-1,1 0 1,25 0 0,-100 0-1,1 0-15,-26 0 16,50 0-1,-24 0-15,-1 0 16,26 0 0,-1 0-1,0 0 1,-49 0 0,24 0 15,-24 0-16,-26 0 1,26 0 0,0 0-1,-26 0 1,26 0-16,-25 0 16,0 0-16,-1 0 15,26 0 1,-25 0-1,0 0 1,-1 0 31,26 0-31,-25 0 15,0 0 0,-1 0-15,26 0 31,-25 0 78,0 0-110</inkml:trace>
</inkml:ink>
</file>

<file path=ppt/ink/ink37.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9:59.15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31676 6424 0,'24'-24'94,"51"-1"-63,-50 0-16,-1 25 17,26 0-1,-25 0 0,24 0 0,1 0 1,-25 0 93,0 0-125,-1 0 15,26 0 17</inkml:trace>
</inkml:ink>
</file>

<file path=ppt/ink/ink38.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9:00:03.06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2108 7764 0,'0'0'0,"50"0"15,-25 0-15,49 0 16,-24 0-1,123 0 1,1 0 0,74 0-1,-124 0-15,0 0 16,0 0-16,25 0 16,25 0-16,148 0 15,25 0 1,-74 0-1,50 0 1,-1 0 0,-24 0-1,49 0 1,-74 0 15,0 0-15,0 0-1,-174 0-15,25 0 16,-25 0-16,25 0 0,-25 0 16,100 0-1,98 0 1,-49 0 0,1 0-1,-51 0 1,-24 0-1,-100 0 1,50 0 0,-25 0 15,0 0-15,-49 0-16,0 0 0,-25 0 15,24 0-15,1 0 16,-1 0-1,26 0 1,-50 0 0,-1 0-1,51-50 1,-50 50 0,74-25-1,25 25 1,0 0-1,0 0 1,-75 0-16,51 0 16,-51 0-16,26 0 15,24 0-15,25 0 16,-50 0 0,26 0-1,-26 0 1,-24-24-1,24-1 17,-24 25-17,49 0 1,0 0 0,-49 0-1,24 0 1,-49 0-16,0 0 15,49 0 1,-49 0 0,0 0-1,0 0 1,24 0 46,-24 0-30,0 0 30,0 0-31,24 0 16,-24 0-31,0 0 0,0 0-16,-75 0 218</inkml:trace>
</inkml:ink>
</file>

<file path=ppt/ink/ink39.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9:00:06.40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2108 7937 0,'0'0'0,"25"0"16,0 0-16,25 0 15,49 0 1,-25 0 0,25 0-1,25 0 1,25 0-1,-49 0 1,-51 0 0,50 0-16,1 0 0,24 0 15,49 0 1,50 0 0,-49 0-1,25 0 1,-26 0-1,26 0 1,49 0 0,-75 0-1,1 0 1,-100 0 0,-24 0-1,0 0-15,49 0 16,0 0-1,-49 0-15,148 0 32,0 0-17,26 0 1,-75 0 0,24 0-1,-49 0 1,25 0-1,25 0 1,49 0 0,-124 0-16,0 0 15,25 0-15,-49 0 16,24 0-16,124 0 16,-49 0-1,24 0 1,-24 0-1,49 0 17,-24 0-17,-1 0 1,1 0 0,-26 0-1,1 0 1,-125 0-16,-24 0 15,50 0-15,-26 0 16,26 0-16,73 0 16,51 0-1,-50 0 1,-25 0 0,0 0-1,-75 0 1,51 0-1,-76 0 17,100 0-17,-24 0 1,-1 0 0,-74 0-16,-1 0 15,26 0 1,-25 0 15,0 0 16,-1 0-16,26 0-15,-25 0 15,0 0-15,0 0-1,49 0 1,-24 0 0,-1 0 30,-24 0-14,0 0 30,0 0-15,24 0 0,-24 0-31,0 0-16,0 0 15,24 0 1</inkml:trace>
</inkml:ink>
</file>

<file path=ppt/ink/ink40.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9:00:08.679"/>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2084 7615 0,'24'-25'47,"1"25"-32,0 0-15,49 0 16,1 0 0,49 0-1,0 0 1,0 0 0,0 0-1,50 0 1,-26 0-1,26 0 17,-75 0-32,25 0 15,124 0-15,-124 0 16,199 0 0,-26 0-1,-24 0 1,50 0-1,-50 0 1,-1 0 0,26 0-1,-25 0 1,-25 0 0,25 0-1,-149 0-15,-25 0 16,25 0-1,99 0 1,50 0 0,-25 0-1,25 0 1,0 0 0,25 0-1,-26 0 1,-23 0-1,-76 0 1,1 0 0,-25 0-1,-100 0-15,50 0 16,-24 0-16,-26 0 0,26 0 16,49 0-1,-50 0 1,1 0-1,24 0 1,-49 0 0,24 0-1,0 0 1,1 0 0,49 0-1,-25 0 16,-49 0-31,49 0 16,-50 0-16,26 0 0,-25 0 16,24 0-1,-24 0 1,-1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8-31T03:27:07.270"/>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14702 1025,'0'-1,"-1"0,1 1,0-1,-1 0,1 0,-1 0,1 1,-1-1,1 0,-1 1,1-1,-1 0,0 1,1-1,-1 1,0-1,0 1,0-1,1 1,-1 0,0-1,0 1,0 0,0 0,1 0,-1-1,-2 1,-30-4,26 4,-485-8,311 10,-2424-1,1383-2,1185 0,-63-12,33 3,-3-1,30 4,-59-2,56 7,0-2,-83-19,81 14,-1 2,-66-1,-94 10,72 0,-1280-2,1243-12,-5-1,-159 14,302-3,0-2,0-1,0-2,-40-13,39 9,-1 2,1 2,-60-5,-311 12,183 1,181-2,-63-13,37 5,20 0,0-1,-66-24,108 32,-18-4,0 0,0 2,0 1,-27-1,-95 5,54 2,-307-3,371-2,0-1,0-2,0 0,1-2,-27-10,25 8,-1 0,0 2,-57-6,62 10,0 0,-46-14,44 9,-53-6,-33 12,84 4,0-2,0-1,0-2,-30-5,-28-13,0 4,-1 4,-131-4,-497 19,695-1,-1 1,1 2,0 0,-35 12,-31 7,-9-3,55-10,-81 8,-295-14,219-6,-26 0,-234 4,423 1,-1 1,1 2,1 2,-46 15,47-14,0-1,0-2,-1-1,-34 1,-135-6,123-2,69 3,1-2,-1 1,1-1,-1-1,-15-4,22 5,0 0,0-1,1 1,-1-1,1 1,-1-1,1 0,-1 0,1 0,0-1,0 1,0 0,0-1,0 1,1-1,-1 0,1 0,-1 1,1-1,0 0,0-4,-4-17,2-1,1 0,0 0,2 0,5-41,0-11,-5 58,0 5,0 0,1-1,0 1,7-27,-7 38,0 0,1-1,-1 1,0 0,1 0,0 0,0 0,0 1,0-1,0 0,1 1,-1 0,1-1,-1 1,1 0,0 0,0 0,0 1,0-1,0 1,0 0,0-1,1 2,-1-1,7-1,101-15,86-9,558 20,-419 9,3465-3,-3197 38,-267-9,-269-24,207 20,226 20,0-36,-160 15,-10 1,-63-27,259 9,-90 59,-262-35,-67-13,20 5,183 9,124-29,76 2,-385 0,206 36,-276-32,1-2,-1-3,1-2,-1-3,1-2,58-12,-17-3,-1-4,145-55,46-47,-86 35,-89 42,-113 48,1-1,-1 0,0 0,0 0,1 0,-1 0,0 0,0 0,1 0,-1 0,0 0,0 0,1-1,-1 1,0 0,0 0,1 0,-1 0,0 0,0 0,0 0,1-1,-1 1,0 0,0 0,0 0,0-1,1 1,-1 0,0 0,0 0,0-1,0 1,0 0,0 0,0-1,1 1,-1 0,0 0,0-1,0 1,0 0,0-1,-14-2,-34 2,44 1,-1604 1,474 2,-1701-3,2827 0,4 1,-1-1,1 0,0 0,0-1,0 1,0-1,0 0,0 0,-4-2,7 3,1 0,0 0,0 0,-1-1,1 1,0 0,0 0,-1 0,1-1,0 1,0 0,0 0,0-1,-1 1,1 0,0 0,0-1,0 1,0 0,0-1,0 1,0 0,0 0,0-1,0 1,0 0,0-1,0 1,0 0,0-1,0 1,0 0,0-1,0 1,0 0,0 0,1-1,-1 1,0 0,0 0,0-1,1 1,-1 0,0 0,0 0,0-1,1 1,-1 0,0 0,1-1,8-3,0-1,0 2,1-1,0 1,-1 0,1 1,0 0,0 1,15 0,-10-1,180-14,233 10,198 40,-626-34,1749 199,-1578-171,202 7,662-32,-489-6,-477 6,78 14,11 1,306-1,-126-7,309-5,-549-17,-1-3,97-30,-106 22,1 4,158-13,377 30,-308 5,685-3,-981-1,0 0,0-2,-1 0,1-1,-1 0,0-2,29-12,10-3,2 2,109-20,131 0,-203 29,206-38,-160 22,150-7,-236 29,99-18,-92 11,113-4,67 15,-123 1,3099 1,-3175 0,0 3,62 13,-56-8,73 6,125 6,-127-19,167 11,218 68,-486-77,237 64,-217-59,0-2,1-1,0-2,0-2,63-4,-49 1,159-2,108 1,-99 22,261-17,-336-5,-3-11,-23 0,158-13,-55 4,-202 20,-1-2,1 0,0-1,-1-2,34-12,-1-3,1 3,0 2,1 3,0 2,95-5,-108 14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BE87DD-C0A4-4C9C-80F7-8672C7422A10}" type="datetimeFigureOut">
              <a:rPr lang="en-US" smtClean="0"/>
              <a:t>08/13/2025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28385F-8D62-453E-AF48-0848A605D8F7}" type="slidenum">
              <a:rPr lang="en-US" smtClean="0"/>
              <a:t>‹#›</a:t>
            </a:fld>
            <a:endParaRPr lang="en-US"/>
          </a:p>
        </p:txBody>
      </p:sp>
    </p:spTree>
    <p:extLst>
      <p:ext uri="{BB962C8B-B14F-4D97-AF65-F5344CB8AC3E}">
        <p14:creationId xmlns:p14="http://schemas.microsoft.com/office/powerpoint/2010/main" val="2046586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7828385F-8D62-453E-AF48-0848A605D8F7}" type="slidenum">
              <a:rPr lang="en-US" smtClean="0"/>
              <a:t>5</a:t>
            </a:fld>
            <a:endParaRPr lang="en-US"/>
          </a:p>
        </p:txBody>
      </p:sp>
    </p:spTree>
    <p:extLst>
      <p:ext uri="{BB962C8B-B14F-4D97-AF65-F5344CB8AC3E}">
        <p14:creationId xmlns:p14="http://schemas.microsoft.com/office/powerpoint/2010/main" val="11900427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FA45A9E-7761-3846-9783-F10EE5B548CC}" type="slidenum">
              <a:rPr lang="en-AU" smtClean="0"/>
              <a:pPr>
                <a:defRPr/>
              </a:pPr>
              <a:t>32</a:t>
            </a:fld>
            <a:endParaRPr lang="en-AU"/>
          </a:p>
        </p:txBody>
      </p:sp>
    </p:spTree>
    <p:extLst>
      <p:ext uri="{BB962C8B-B14F-4D97-AF65-F5344CB8AC3E}">
        <p14:creationId xmlns:p14="http://schemas.microsoft.com/office/powerpoint/2010/main" val="3901346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FA45A9E-7761-3846-9783-F10EE5B548CC}" type="slidenum">
              <a:rPr lang="en-AU" smtClean="0"/>
              <a:pPr>
                <a:defRPr/>
              </a:pPr>
              <a:t>38</a:t>
            </a:fld>
            <a:endParaRPr lang="en-AU"/>
          </a:p>
        </p:txBody>
      </p:sp>
    </p:spTree>
    <p:extLst>
      <p:ext uri="{BB962C8B-B14F-4D97-AF65-F5344CB8AC3E}">
        <p14:creationId xmlns:p14="http://schemas.microsoft.com/office/powerpoint/2010/main" val="22186648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FA45A9E-7761-3846-9783-F10EE5B548CC}" type="slidenum">
              <a:rPr lang="en-AU" smtClean="0"/>
              <a:pPr>
                <a:defRPr/>
              </a:pPr>
              <a:t>41</a:t>
            </a:fld>
            <a:endParaRPr lang="en-AU"/>
          </a:p>
        </p:txBody>
      </p:sp>
    </p:spTree>
    <p:extLst>
      <p:ext uri="{BB962C8B-B14F-4D97-AF65-F5344CB8AC3E}">
        <p14:creationId xmlns:p14="http://schemas.microsoft.com/office/powerpoint/2010/main" val="1240783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EDD4908-CC23-48C0-976B-10CC20990EB2}" type="datetime1">
              <a:rPr lang="en-US" smtClean="0"/>
              <a:t>08/13/2025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28957147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5BFA864-45E6-4FF3-9F56-3B20DBBFC3C2}" type="datetime1">
              <a:rPr lang="en-US" smtClean="0"/>
              <a:t>08/13/2025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326230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38996E-E0E0-40F4-841D-9F1A9F67B603}" type="datetime1">
              <a:rPr lang="en-US" smtClean="0"/>
              <a:t>08/13/2025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2651054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091E4FC-E453-477B-A66B-F03CC82B7056}" type="datetime1">
              <a:rPr lang="en-US" smtClean="0"/>
              <a:t>08/13/2025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3101782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3B1B869-8361-44D0-BD83-AE35A5C3BED5}" type="datetime1">
              <a:rPr lang="en-US" smtClean="0"/>
              <a:t>08/13/2025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3591499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C0D8ED7-1120-47C5-9976-8F42E2F562CF}" type="datetime1">
              <a:rPr lang="en-US" smtClean="0"/>
              <a:t>08/13/2025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2907751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D831BB-02EA-4FD2-BB64-1808DDE74F74}" type="datetime1">
              <a:rPr lang="en-US" smtClean="0"/>
              <a:t>08/13/2025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82675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8872C61-A4AD-4435-B830-F4B215C43EE3}" type="datetime1">
              <a:rPr lang="en-US" smtClean="0"/>
              <a:t>08/13/2025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3361512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BC04A30-163A-4F79-B404-FE5245FD6953}" type="datetime1">
              <a:rPr lang="en-US" smtClean="0"/>
              <a:t>08/13/2025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244597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E448FC-326D-4210-9B7F-1F78F2B0ABAC}" type="datetime1">
              <a:rPr lang="en-US" smtClean="0"/>
              <a:t>08/13/2025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520281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B785A1-B715-4328-ADC9-B20C16CF4F32}" type="datetime1">
              <a:rPr lang="en-US" smtClean="0"/>
              <a:t>08/13/2025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1358240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64298C-E6C4-409D-9160-EEEEF8DB9D31}" type="datetime1">
              <a:rPr lang="en-US" smtClean="0"/>
              <a:t>08/13/2025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A50C4D-0BA1-4E54-8DFC-01810EC97B99}" type="slidenum">
              <a:rPr lang="en-US" smtClean="0"/>
              <a:t>‹#›</a:t>
            </a:fld>
            <a:endParaRPr lang="en-US"/>
          </a:p>
        </p:txBody>
      </p:sp>
    </p:spTree>
    <p:extLst>
      <p:ext uri="{BB962C8B-B14F-4D97-AF65-F5344CB8AC3E}">
        <p14:creationId xmlns:p14="http://schemas.microsoft.com/office/powerpoint/2010/main" val="4137917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6.png"/><Relationship Id="rId5" Type="http://schemas.microsoft.com/office/2007/relationships/hdphoto" Target="../media/hdphoto2.wdp"/><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microsoft.com/office/2007/relationships/hdphoto" Target="../media/hdphoto5.wdp"/><Relationship Id="rId5" Type="http://schemas.openxmlformats.org/officeDocument/2006/relationships/image" Target="../media/image8.png"/><Relationship Id="rId4" Type="http://schemas.microsoft.com/office/2007/relationships/hdphoto" Target="../media/hdphoto4.wdp"/></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microsoft.com/office/2007/relationships/hdphoto" Target="../media/hdphoto8.wdp"/><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7.xml"/><Relationship Id="rId6" Type="http://schemas.microsoft.com/office/2007/relationships/hdphoto" Target="../media/hdphoto7.wdp"/><Relationship Id="rId5" Type="http://schemas.openxmlformats.org/officeDocument/2006/relationships/image" Target="../media/image11.png"/><Relationship Id="rId10" Type="http://schemas.microsoft.com/office/2007/relationships/hdphoto" Target="../media/hdphoto9.wdp"/><Relationship Id="rId4" Type="http://schemas.microsoft.com/office/2007/relationships/hdphoto" Target="../media/hdphoto6.wdp"/><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3.png"/><Relationship Id="rId5" Type="http://schemas.microsoft.com/office/2007/relationships/hdphoto" Target="../media/hdphoto13.wdp"/><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3.png"/><Relationship Id="rId1" Type="http://schemas.openxmlformats.org/officeDocument/2006/relationships/slideLayout" Target="../slideLayouts/slideLayout2.xml"/><Relationship Id="rId4" Type="http://schemas.microsoft.com/office/2007/relationships/hdphoto" Target="../media/hdphoto17.wdp"/></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6" Type="http://schemas.microsoft.com/office/2007/relationships/hdphoto" Target="../media/hdphoto18.wdp"/><Relationship Id="rId5" Type="http://schemas.openxmlformats.org/officeDocument/2006/relationships/image" Target="../media/image31.pn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microsoft.com/office/2007/relationships/hdphoto" Target="../media/hdphoto19.wdp"/><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36.png"/><Relationship Id="rId3" Type="http://schemas.microsoft.com/office/2007/relationships/hdphoto" Target="../media/hdphoto20.wdp"/><Relationship Id="rId7" Type="http://schemas.openxmlformats.org/officeDocument/2006/relationships/image" Target="../media/image49.emf"/><Relationship Id="rId2"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customXml" Target="../ink/ink2.xml"/><Relationship Id="rId11" Type="http://schemas.microsoft.com/office/2007/relationships/hdphoto" Target="../media/hdphoto22.wdp"/><Relationship Id="rId5" Type="http://schemas.openxmlformats.org/officeDocument/2006/relationships/image" Target="../media/image48.emf"/><Relationship Id="rId10" Type="http://schemas.openxmlformats.org/officeDocument/2006/relationships/image" Target="../media/image37.png"/><Relationship Id="rId4" Type="http://schemas.openxmlformats.org/officeDocument/2006/relationships/customXml" Target="../ink/ink1.xml"/><Relationship Id="rId9" Type="http://schemas.microsoft.com/office/2007/relationships/hdphoto" Target="../media/hdphoto21.wdp"/></Relationships>
</file>

<file path=ppt/slides/_rels/slide26.xml.rels><?xml version="1.0" encoding="UTF-8" standalone="yes"?>
<Relationships xmlns="http://schemas.openxmlformats.org/package/2006/relationships"><Relationship Id="rId26" Type="http://schemas.openxmlformats.org/officeDocument/2006/relationships/customXml" Target="../ink/ink14.xml"/><Relationship Id="rId21" Type="http://schemas.openxmlformats.org/officeDocument/2006/relationships/image" Target="../media/image62.emf"/><Relationship Id="rId34" Type="http://schemas.openxmlformats.org/officeDocument/2006/relationships/customXml" Target="../ink/ink18.xml"/><Relationship Id="rId42" Type="http://schemas.openxmlformats.org/officeDocument/2006/relationships/customXml" Target="../ink/ink22.xml"/><Relationship Id="rId47" Type="http://schemas.openxmlformats.org/officeDocument/2006/relationships/image" Target="../media/image75.emf"/><Relationship Id="rId50" Type="http://schemas.openxmlformats.org/officeDocument/2006/relationships/customXml" Target="../ink/ink26.xml"/><Relationship Id="rId55" Type="http://schemas.openxmlformats.org/officeDocument/2006/relationships/image" Target="../media/image79.emf"/><Relationship Id="rId63" Type="http://schemas.openxmlformats.org/officeDocument/2006/relationships/image" Target="../media/image83.emf"/><Relationship Id="rId7" Type="http://schemas.openxmlformats.org/officeDocument/2006/relationships/image" Target="../media/image55.emf"/><Relationship Id="rId2" Type="http://schemas.openxmlformats.org/officeDocument/2006/relationships/image" Target="../media/image38.png"/><Relationship Id="rId16" Type="http://schemas.openxmlformats.org/officeDocument/2006/relationships/customXml" Target="../ink/ink9.xml"/><Relationship Id="rId29" Type="http://schemas.openxmlformats.org/officeDocument/2006/relationships/image" Target="../media/image66.emf"/><Relationship Id="rId11" Type="http://schemas.openxmlformats.org/officeDocument/2006/relationships/image" Target="../media/image57.emf"/><Relationship Id="rId24" Type="http://schemas.openxmlformats.org/officeDocument/2006/relationships/customXml" Target="../ink/ink13.xml"/><Relationship Id="rId32" Type="http://schemas.openxmlformats.org/officeDocument/2006/relationships/customXml" Target="../ink/ink17.xml"/><Relationship Id="rId37" Type="http://schemas.openxmlformats.org/officeDocument/2006/relationships/image" Target="../media/image70.emf"/><Relationship Id="rId40" Type="http://schemas.openxmlformats.org/officeDocument/2006/relationships/customXml" Target="../ink/ink21.xml"/><Relationship Id="rId45" Type="http://schemas.openxmlformats.org/officeDocument/2006/relationships/image" Target="../media/image74.emf"/><Relationship Id="rId53" Type="http://schemas.openxmlformats.org/officeDocument/2006/relationships/image" Target="../media/image78.emf"/><Relationship Id="rId58" Type="http://schemas.openxmlformats.org/officeDocument/2006/relationships/customXml" Target="../ink/ink30.xml"/><Relationship Id="rId66" Type="http://schemas.openxmlformats.org/officeDocument/2006/relationships/customXml" Target="../ink/ink34.xml"/><Relationship Id="rId5" Type="http://schemas.openxmlformats.org/officeDocument/2006/relationships/image" Target="../media/image54.emf"/><Relationship Id="rId61" Type="http://schemas.openxmlformats.org/officeDocument/2006/relationships/image" Target="../media/image82.emf"/><Relationship Id="rId19" Type="http://schemas.openxmlformats.org/officeDocument/2006/relationships/image" Target="../media/image61.emf"/><Relationship Id="rId14" Type="http://schemas.openxmlformats.org/officeDocument/2006/relationships/customXml" Target="../ink/ink8.xml"/><Relationship Id="rId22" Type="http://schemas.openxmlformats.org/officeDocument/2006/relationships/customXml" Target="../ink/ink12.xml"/><Relationship Id="rId27" Type="http://schemas.openxmlformats.org/officeDocument/2006/relationships/image" Target="../media/image65.emf"/><Relationship Id="rId30" Type="http://schemas.openxmlformats.org/officeDocument/2006/relationships/customXml" Target="../ink/ink16.xml"/><Relationship Id="rId35" Type="http://schemas.openxmlformats.org/officeDocument/2006/relationships/image" Target="../media/image69.emf"/><Relationship Id="rId43" Type="http://schemas.openxmlformats.org/officeDocument/2006/relationships/image" Target="../media/image73.emf"/><Relationship Id="rId48" Type="http://schemas.openxmlformats.org/officeDocument/2006/relationships/customXml" Target="../ink/ink25.xml"/><Relationship Id="rId56" Type="http://schemas.openxmlformats.org/officeDocument/2006/relationships/customXml" Target="../ink/ink29.xml"/><Relationship Id="rId64" Type="http://schemas.openxmlformats.org/officeDocument/2006/relationships/customXml" Target="../ink/ink33.xml"/><Relationship Id="rId8" Type="http://schemas.openxmlformats.org/officeDocument/2006/relationships/customXml" Target="../ink/ink5.xml"/><Relationship Id="rId51" Type="http://schemas.openxmlformats.org/officeDocument/2006/relationships/image" Target="../media/image77.emf"/><Relationship Id="rId3" Type="http://schemas.openxmlformats.org/officeDocument/2006/relationships/image" Target="../media/image39.png"/><Relationship Id="rId12" Type="http://schemas.openxmlformats.org/officeDocument/2006/relationships/customXml" Target="../ink/ink7.xml"/><Relationship Id="rId17" Type="http://schemas.openxmlformats.org/officeDocument/2006/relationships/image" Target="../media/image60.emf"/><Relationship Id="rId25" Type="http://schemas.openxmlformats.org/officeDocument/2006/relationships/image" Target="../media/image64.emf"/><Relationship Id="rId33" Type="http://schemas.openxmlformats.org/officeDocument/2006/relationships/image" Target="../media/image68.emf"/><Relationship Id="rId38" Type="http://schemas.openxmlformats.org/officeDocument/2006/relationships/customXml" Target="../ink/ink20.xml"/><Relationship Id="rId46" Type="http://schemas.openxmlformats.org/officeDocument/2006/relationships/customXml" Target="../ink/ink24.xml"/><Relationship Id="rId59" Type="http://schemas.openxmlformats.org/officeDocument/2006/relationships/image" Target="../media/image81.emf"/><Relationship Id="rId67" Type="http://schemas.openxmlformats.org/officeDocument/2006/relationships/image" Target="../media/image85.emf"/><Relationship Id="rId20" Type="http://schemas.openxmlformats.org/officeDocument/2006/relationships/customXml" Target="../ink/ink11.xml"/><Relationship Id="rId41" Type="http://schemas.openxmlformats.org/officeDocument/2006/relationships/image" Target="../media/image72.emf"/><Relationship Id="rId54" Type="http://schemas.openxmlformats.org/officeDocument/2006/relationships/customXml" Target="../ink/ink28.xml"/><Relationship Id="rId62" Type="http://schemas.openxmlformats.org/officeDocument/2006/relationships/customXml" Target="../ink/ink32.xml"/><Relationship Id="rId1" Type="http://schemas.openxmlformats.org/officeDocument/2006/relationships/slideLayout" Target="../slideLayouts/slideLayout7.xml"/><Relationship Id="rId6" Type="http://schemas.openxmlformats.org/officeDocument/2006/relationships/customXml" Target="../ink/ink4.xml"/><Relationship Id="rId15" Type="http://schemas.openxmlformats.org/officeDocument/2006/relationships/image" Target="../media/image59.emf"/><Relationship Id="rId23" Type="http://schemas.openxmlformats.org/officeDocument/2006/relationships/image" Target="../media/image63.emf"/><Relationship Id="rId28" Type="http://schemas.openxmlformats.org/officeDocument/2006/relationships/customXml" Target="../ink/ink15.xml"/><Relationship Id="rId36" Type="http://schemas.openxmlformats.org/officeDocument/2006/relationships/customXml" Target="../ink/ink19.xml"/><Relationship Id="rId49" Type="http://schemas.openxmlformats.org/officeDocument/2006/relationships/image" Target="../media/image76.emf"/><Relationship Id="rId57" Type="http://schemas.openxmlformats.org/officeDocument/2006/relationships/image" Target="../media/image80.emf"/><Relationship Id="rId10" Type="http://schemas.openxmlformats.org/officeDocument/2006/relationships/customXml" Target="../ink/ink6.xml"/><Relationship Id="rId31" Type="http://schemas.openxmlformats.org/officeDocument/2006/relationships/image" Target="../media/image67.emf"/><Relationship Id="rId44" Type="http://schemas.openxmlformats.org/officeDocument/2006/relationships/customXml" Target="../ink/ink23.xml"/><Relationship Id="rId52" Type="http://schemas.openxmlformats.org/officeDocument/2006/relationships/customXml" Target="../ink/ink27.xml"/><Relationship Id="rId60" Type="http://schemas.openxmlformats.org/officeDocument/2006/relationships/customXml" Target="../ink/ink31.xml"/><Relationship Id="rId65" Type="http://schemas.openxmlformats.org/officeDocument/2006/relationships/image" Target="../media/image84.emf"/><Relationship Id="rId4" Type="http://schemas.openxmlformats.org/officeDocument/2006/relationships/customXml" Target="../ink/ink3.xml"/><Relationship Id="rId9" Type="http://schemas.openxmlformats.org/officeDocument/2006/relationships/image" Target="../media/image56.emf"/><Relationship Id="rId13" Type="http://schemas.openxmlformats.org/officeDocument/2006/relationships/image" Target="../media/image58.emf"/><Relationship Id="rId18" Type="http://schemas.openxmlformats.org/officeDocument/2006/relationships/customXml" Target="../ink/ink10.xml"/><Relationship Id="rId39" Type="http://schemas.openxmlformats.org/officeDocument/2006/relationships/image" Target="../media/image71.emf"/></Relationships>
</file>

<file path=ppt/slides/_rels/slide27.xml.rels><?xml version="1.0" encoding="UTF-8" standalone="yes"?>
<Relationships xmlns="http://schemas.openxmlformats.org/package/2006/relationships"><Relationship Id="rId8" Type="http://schemas.openxmlformats.org/officeDocument/2006/relationships/customXml" Target="../ink/ink36.xml"/><Relationship Id="rId13" Type="http://schemas.openxmlformats.org/officeDocument/2006/relationships/image" Target="../media/image91.emf"/><Relationship Id="rId3" Type="http://schemas.microsoft.com/office/2007/relationships/hdphoto" Target="../media/hdphoto23.wdp"/><Relationship Id="rId7" Type="http://schemas.openxmlformats.org/officeDocument/2006/relationships/image" Target="../media/image88.emf"/><Relationship Id="rId12" Type="http://schemas.openxmlformats.org/officeDocument/2006/relationships/customXml" Target="../ink/ink38.xml"/><Relationship Id="rId17" Type="http://schemas.openxmlformats.org/officeDocument/2006/relationships/image" Target="../media/image93.emf"/><Relationship Id="rId2" Type="http://schemas.openxmlformats.org/officeDocument/2006/relationships/image" Target="../media/image40.png"/><Relationship Id="rId16" Type="http://schemas.openxmlformats.org/officeDocument/2006/relationships/customXml" Target="../ink/ink40.xml"/><Relationship Id="rId1" Type="http://schemas.openxmlformats.org/officeDocument/2006/relationships/slideLayout" Target="../slideLayouts/slideLayout7.xml"/><Relationship Id="rId6" Type="http://schemas.openxmlformats.org/officeDocument/2006/relationships/customXml" Target="../ink/ink35.xml"/><Relationship Id="rId11" Type="http://schemas.openxmlformats.org/officeDocument/2006/relationships/image" Target="../media/image90.emf"/><Relationship Id="rId5" Type="http://schemas.microsoft.com/office/2007/relationships/hdphoto" Target="../media/hdphoto24.wdp"/><Relationship Id="rId15" Type="http://schemas.openxmlformats.org/officeDocument/2006/relationships/image" Target="../media/image92.emf"/><Relationship Id="rId10" Type="http://schemas.openxmlformats.org/officeDocument/2006/relationships/customXml" Target="../ink/ink37.xml"/><Relationship Id="rId4" Type="http://schemas.openxmlformats.org/officeDocument/2006/relationships/image" Target="../media/image41.png"/><Relationship Id="rId9" Type="http://schemas.openxmlformats.org/officeDocument/2006/relationships/image" Target="../media/image89.emf"/><Relationship Id="rId14" Type="http://schemas.openxmlformats.org/officeDocument/2006/relationships/customXml" Target="../ink/ink39.xml"/></Relationships>
</file>

<file path=ppt/slides/_rels/slide28.xml.rels><?xml version="1.0" encoding="UTF-8" standalone="yes"?>
<Relationships xmlns="http://schemas.openxmlformats.org/package/2006/relationships"><Relationship Id="rId8" Type="http://schemas.openxmlformats.org/officeDocument/2006/relationships/image" Target="../media/image45.png"/><Relationship Id="rId3" Type="http://schemas.microsoft.com/office/2007/relationships/hdphoto" Target="../media/hdphoto25.wdp"/><Relationship Id="rId7" Type="http://schemas.microsoft.com/office/2007/relationships/hdphoto" Target="../media/hdphoto27.wdp"/><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44.png"/><Relationship Id="rId5" Type="http://schemas.microsoft.com/office/2007/relationships/hdphoto" Target="../media/hdphoto26.wdp"/><Relationship Id="rId10" Type="http://schemas.openxmlformats.org/officeDocument/2006/relationships/image" Target="../media/image46.png"/><Relationship Id="rId4" Type="http://schemas.openxmlformats.org/officeDocument/2006/relationships/image" Target="../media/image43.png"/><Relationship Id="rId9" Type="http://schemas.openxmlformats.org/officeDocument/2006/relationships/customXml" Target="../ink/ink41.xml"/></Relationships>
</file>

<file path=ppt/slides/_rels/slide29.xml.rels><?xml version="1.0" encoding="UTF-8" standalone="yes"?>
<Relationships xmlns="http://schemas.openxmlformats.org/package/2006/relationships"><Relationship Id="rId3" Type="http://schemas.microsoft.com/office/2007/relationships/hdphoto" Target="../media/hdphoto28.wdp"/><Relationship Id="rId2" Type="http://schemas.openxmlformats.org/officeDocument/2006/relationships/image" Target="../media/image47.png"/><Relationship Id="rId1" Type="http://schemas.openxmlformats.org/officeDocument/2006/relationships/slideLayout" Target="../slideLayouts/slideLayout7.xml"/><Relationship Id="rId5" Type="http://schemas.microsoft.com/office/2007/relationships/hdphoto" Target="../media/hdphoto29.wdp"/><Relationship Id="rId4" Type="http://schemas.openxmlformats.org/officeDocument/2006/relationships/image" Target="../media/image48.png"/></Relationships>
</file>

<file path=ppt/slides/_rels/slide3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3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 Id="rId5" Type="http://schemas.openxmlformats.org/officeDocument/2006/relationships/image" Target="../media/image58.png"/><Relationship Id="rId4" Type="http://schemas.openxmlformats.org/officeDocument/2006/relationships/image" Target="../media/image57.png"/></Relationships>
</file>

<file path=ppt/slides/_rels/slide3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image" Target="../media/image63.png"/><Relationship Id="rId3" Type="http://schemas.microsoft.com/office/2007/relationships/hdphoto" Target="../media/hdphoto30.wdp"/><Relationship Id="rId7" Type="http://schemas.microsoft.com/office/2007/relationships/hdphoto" Target="../media/hdphoto32.wdp"/><Relationship Id="rId2" Type="http://schemas.openxmlformats.org/officeDocument/2006/relationships/image" Target="../media/image60.png"/><Relationship Id="rId1" Type="http://schemas.openxmlformats.org/officeDocument/2006/relationships/slideLayout" Target="../slideLayouts/slideLayout7.xml"/><Relationship Id="rId6" Type="http://schemas.openxmlformats.org/officeDocument/2006/relationships/image" Target="../media/image62.png"/><Relationship Id="rId11" Type="http://schemas.microsoft.com/office/2007/relationships/hdphoto" Target="../media/hdphoto34.wdp"/><Relationship Id="rId5" Type="http://schemas.microsoft.com/office/2007/relationships/hdphoto" Target="../media/hdphoto31.wdp"/><Relationship Id="rId10" Type="http://schemas.openxmlformats.org/officeDocument/2006/relationships/image" Target="../media/image64.png"/><Relationship Id="rId4" Type="http://schemas.openxmlformats.org/officeDocument/2006/relationships/image" Target="../media/image61.png"/><Relationship Id="rId9" Type="http://schemas.microsoft.com/office/2007/relationships/hdphoto" Target="../media/hdphoto33.wdp"/></Relationships>
</file>

<file path=ppt/slides/_rels/slide3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3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7.xml"/><Relationship Id="rId4" Type="http://schemas.openxmlformats.org/officeDocument/2006/relationships/image" Target="../media/image69.png"/></Relationships>
</file>

<file path=ppt/slides/_rels/slide4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72.tmp"/><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8" Type="http://schemas.openxmlformats.org/officeDocument/2006/relationships/image" Target="../media/image76.png"/><Relationship Id="rId3" Type="http://schemas.microsoft.com/office/2007/relationships/hdphoto" Target="../media/hdphoto35.wdp"/><Relationship Id="rId7" Type="http://schemas.microsoft.com/office/2007/relationships/hdphoto" Target="../media/hdphoto37.wdp"/><Relationship Id="rId2" Type="http://schemas.openxmlformats.org/officeDocument/2006/relationships/image" Target="../media/image73.png"/><Relationship Id="rId1" Type="http://schemas.openxmlformats.org/officeDocument/2006/relationships/slideLayout" Target="../slideLayouts/slideLayout7.xml"/><Relationship Id="rId6" Type="http://schemas.openxmlformats.org/officeDocument/2006/relationships/image" Target="../media/image75.png"/><Relationship Id="rId11" Type="http://schemas.openxmlformats.org/officeDocument/2006/relationships/image" Target="../media/image79.png"/><Relationship Id="rId5" Type="http://schemas.microsoft.com/office/2007/relationships/hdphoto" Target="../media/hdphoto36.wdp"/><Relationship Id="rId10" Type="http://schemas.openxmlformats.org/officeDocument/2006/relationships/image" Target="../media/image78.png"/><Relationship Id="rId4" Type="http://schemas.openxmlformats.org/officeDocument/2006/relationships/image" Target="../media/image74.png"/><Relationship Id="rId9" Type="http://schemas.openxmlformats.org/officeDocument/2006/relationships/image" Target="../media/image77.png"/></Relationships>
</file>

<file path=ppt/slides/_rels/slide43.xml.rels><?xml version="1.0" encoding="UTF-8" standalone="yes"?>
<Relationships xmlns="http://schemas.openxmlformats.org/package/2006/relationships"><Relationship Id="rId3" Type="http://schemas.microsoft.com/office/2007/relationships/hdphoto" Target="../media/hdphoto35.wdp"/><Relationship Id="rId7" Type="http://schemas.microsoft.com/office/2007/relationships/hdphoto" Target="../media/hdphoto37.wdp"/><Relationship Id="rId2" Type="http://schemas.openxmlformats.org/officeDocument/2006/relationships/image" Target="../media/image73.png"/><Relationship Id="rId1" Type="http://schemas.openxmlformats.org/officeDocument/2006/relationships/slideLayout" Target="../slideLayouts/slideLayout7.xml"/><Relationship Id="rId6" Type="http://schemas.openxmlformats.org/officeDocument/2006/relationships/image" Target="../media/image75.png"/><Relationship Id="rId5" Type="http://schemas.microsoft.com/office/2007/relationships/hdphoto" Target="../media/hdphoto36.wdp"/><Relationship Id="rId4"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294967295"/>
          </p:nvPr>
        </p:nvSpPr>
        <p:spPr/>
        <p:txBody>
          <a:bodyPr/>
          <a:lstStyle/>
          <a:p>
            <a:endParaRPr lang="en-US" dirty="0"/>
          </a:p>
        </p:txBody>
      </p:sp>
      <p:sp>
        <p:nvSpPr>
          <p:cNvPr id="4" name="Title 1"/>
          <p:cNvSpPr txBox="1">
            <a:spLocks/>
          </p:cNvSpPr>
          <p:nvPr/>
        </p:nvSpPr>
        <p:spPr>
          <a:xfrm>
            <a:off x="613956" y="702949"/>
            <a:ext cx="10946674" cy="1496554"/>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pPr algn="ctr"/>
            <a:r>
              <a:rPr lang="en-US" sz="7700" dirty="0"/>
              <a:t>CS 3002 Information Security</a:t>
            </a:r>
            <a:endParaRPr lang="en-US" sz="5400" dirty="0"/>
          </a:p>
          <a:p>
            <a:pPr algn="ctr"/>
            <a:r>
              <a:rPr lang="en-US" sz="4600" dirty="0">
                <a:solidFill>
                  <a:srgbClr val="FF0000"/>
                </a:solidFill>
              </a:rPr>
              <a:t>                                                                   Fall </a:t>
            </a:r>
            <a:r>
              <a:rPr lang="en-US" sz="4600" dirty="0" smtClean="0">
                <a:solidFill>
                  <a:srgbClr val="FF0000"/>
                </a:solidFill>
              </a:rPr>
              <a:t>2025</a:t>
            </a:r>
            <a:endParaRPr lang="en-US" sz="4600" dirty="0">
              <a:solidFill>
                <a:srgbClr val="FF0000"/>
              </a:solidFill>
            </a:endParaRPr>
          </a:p>
        </p:txBody>
      </p:sp>
      <p:sp>
        <p:nvSpPr>
          <p:cNvPr id="5" name="Subtitle 2"/>
          <p:cNvSpPr txBox="1">
            <a:spLocks/>
          </p:cNvSpPr>
          <p:nvPr/>
        </p:nvSpPr>
        <p:spPr>
          <a:xfrm>
            <a:off x="6295708" y="3525988"/>
            <a:ext cx="5264922" cy="2652390"/>
          </a:xfrm>
          <a:prstGeom prst="rect">
            <a:avLst/>
          </a:prstGeom>
          <a:solidFill>
            <a:schemeClr val="accent1">
              <a:lumMod val="40000"/>
              <a:lumOff val="60000"/>
            </a:schemeClr>
          </a:solidFill>
        </p:spPr>
        <p:txBody>
          <a:bodyPr>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indent="0" algn="ctr">
              <a:buNone/>
            </a:pPr>
            <a:r>
              <a:rPr lang="en-US" sz="3200" dirty="0"/>
              <a:t>Week # 2 – Lecture # 4, 5, 6</a:t>
            </a:r>
          </a:p>
          <a:p>
            <a:pPr marL="130175" indent="0" algn="ctr">
              <a:buNone/>
            </a:pPr>
            <a:endParaRPr lang="en-US" sz="2000" dirty="0"/>
          </a:p>
          <a:p>
            <a:pPr marL="130175" indent="0" algn="ctr">
              <a:buNone/>
            </a:pPr>
            <a:r>
              <a:rPr lang="en-US" sz="2400" dirty="0" smtClean="0"/>
              <a:t>Ms. </a:t>
            </a:r>
            <a:r>
              <a:rPr lang="en-US" sz="2400" dirty="0" smtClean="0"/>
              <a:t>Hira Tunio</a:t>
            </a:r>
            <a:endParaRPr lang="en-US" sz="2400" dirty="0"/>
          </a:p>
        </p:txBody>
      </p:sp>
      <p:pic>
        <p:nvPicPr>
          <p:cNvPr id="2" name="Picture 1"/>
          <p:cNvPicPr>
            <a:picLocks noChangeAspect="1"/>
          </p:cNvPicPr>
          <p:nvPr/>
        </p:nvPicPr>
        <p:blipFill>
          <a:blip r:embed="rId2"/>
          <a:stretch>
            <a:fillRect/>
          </a:stretch>
        </p:blipFill>
        <p:spPr>
          <a:xfrm>
            <a:off x="712809" y="1771385"/>
            <a:ext cx="5286336" cy="1501485"/>
          </a:xfrm>
          <a:prstGeom prst="rect">
            <a:avLst/>
          </a:prstGeom>
        </p:spPr>
      </p:pic>
      <p:grpSp>
        <p:nvGrpSpPr>
          <p:cNvPr id="8" name="Group 7"/>
          <p:cNvGrpSpPr/>
          <p:nvPr/>
        </p:nvGrpSpPr>
        <p:grpSpPr>
          <a:xfrm>
            <a:off x="1502463" y="3418245"/>
            <a:ext cx="2953265" cy="3120667"/>
            <a:chOff x="8830020" y="2751654"/>
            <a:chExt cx="2953265" cy="3120667"/>
          </a:xfrm>
        </p:grpSpPr>
        <p:pic>
          <p:nvPicPr>
            <p:cNvPr id="6" name="Picture 5"/>
            <p:cNvPicPr>
              <a:picLocks noChangeAspect="1"/>
            </p:cNvPicPr>
            <p:nvPr/>
          </p:nvPicPr>
          <p:blipFill>
            <a:blip r:embed="rId3"/>
            <a:stretch>
              <a:fillRect/>
            </a:stretch>
          </p:blipFill>
          <p:spPr>
            <a:xfrm>
              <a:off x="8830020" y="2751654"/>
              <a:ext cx="2953265" cy="2872982"/>
            </a:xfrm>
            <a:prstGeom prst="rect">
              <a:avLst/>
            </a:prstGeom>
          </p:spPr>
        </p:pic>
        <p:pic>
          <p:nvPicPr>
            <p:cNvPr id="7" name="Picture 6"/>
            <p:cNvPicPr>
              <a:picLocks noChangeAspect="1"/>
            </p:cNvPicPr>
            <p:nvPr/>
          </p:nvPicPr>
          <p:blipFill>
            <a:blip r:embed="rId4"/>
            <a:stretch>
              <a:fillRect/>
            </a:stretch>
          </p:blipFill>
          <p:spPr>
            <a:xfrm>
              <a:off x="9487387" y="5624636"/>
              <a:ext cx="1638529" cy="247685"/>
            </a:xfrm>
            <a:prstGeom prst="rect">
              <a:avLst/>
            </a:prstGeom>
          </p:spPr>
        </p:pic>
      </p:grpSp>
    </p:spTree>
    <p:extLst>
      <p:ext uri="{BB962C8B-B14F-4D97-AF65-F5344CB8AC3E}">
        <p14:creationId xmlns:p14="http://schemas.microsoft.com/office/powerpoint/2010/main" val="2945991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a:t>
            </a:fld>
            <a:endParaRPr lang="en-US"/>
          </a:p>
        </p:txBody>
      </p:sp>
      <p:grpSp>
        <p:nvGrpSpPr>
          <p:cNvPr id="7" name="Group 6"/>
          <p:cNvGrpSpPr/>
          <p:nvPr/>
        </p:nvGrpSpPr>
        <p:grpSpPr>
          <a:xfrm>
            <a:off x="296568" y="481481"/>
            <a:ext cx="11329973" cy="5874869"/>
            <a:chOff x="758807" y="335726"/>
            <a:chExt cx="10670022" cy="5474018"/>
          </a:xfrm>
        </p:grpSpPr>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758807" y="335726"/>
              <a:ext cx="10172818" cy="4992564"/>
            </a:xfrm>
            <a:prstGeom prst="rect">
              <a:avLst/>
            </a:prstGeom>
          </p:spPr>
        </p:pic>
        <p:pic>
          <p:nvPicPr>
            <p:cNvPr id="5" name="Picture 4"/>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5022638" y="3755111"/>
              <a:ext cx="3587962" cy="1607721"/>
            </a:xfrm>
            <a:prstGeom prst="rect">
              <a:avLst/>
            </a:prstGeom>
          </p:spPr>
        </p:pic>
        <p:pic>
          <p:nvPicPr>
            <p:cNvPr id="6" name="Picture 5"/>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Layer>
                  </a14:imgProps>
                </a:ext>
              </a:extLst>
            </a:blip>
            <a:stretch>
              <a:fillRect/>
            </a:stretch>
          </p:blipFill>
          <p:spPr>
            <a:xfrm>
              <a:off x="8535570" y="3755111"/>
              <a:ext cx="2893259" cy="2054633"/>
            </a:xfrm>
            <a:prstGeom prst="rect">
              <a:avLst/>
            </a:prstGeom>
          </p:spPr>
        </p:pic>
      </p:grpSp>
    </p:spTree>
    <p:extLst>
      <p:ext uri="{BB962C8B-B14F-4D97-AF65-F5344CB8AC3E}">
        <p14:creationId xmlns:p14="http://schemas.microsoft.com/office/powerpoint/2010/main" val="1626101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446EC-33D9-FE91-87AF-2E3514D21A6F}"/>
              </a:ext>
            </a:extLst>
          </p:cNvPr>
          <p:cNvSpPr>
            <a:spLocks noGrp="1"/>
          </p:cNvSpPr>
          <p:nvPr>
            <p:ph type="title"/>
          </p:nvPr>
        </p:nvSpPr>
        <p:spPr>
          <a:xfrm>
            <a:off x="646043" y="136525"/>
            <a:ext cx="10515600" cy="1325563"/>
          </a:xfrm>
        </p:spPr>
        <p:txBody>
          <a:bodyPr>
            <a:normAutofit/>
          </a:bodyPr>
          <a:lstStyle/>
          <a:p>
            <a:r>
              <a:rPr lang="en-US" sz="3600" b="1" dirty="0"/>
              <a:t>Fundamental Security Design Principles</a:t>
            </a:r>
            <a:endParaRPr lang="en-PK" sz="3600" b="1" dirty="0"/>
          </a:p>
        </p:txBody>
      </p:sp>
      <p:sp>
        <p:nvSpPr>
          <p:cNvPr id="3" name="Content Placeholder 2">
            <a:extLst>
              <a:ext uri="{FF2B5EF4-FFF2-40B4-BE49-F238E27FC236}">
                <a16:creationId xmlns:a16="http://schemas.microsoft.com/office/drawing/2014/main" id="{DC25ECF5-09AC-20C2-6EDE-10A55C30B7DF}"/>
              </a:ext>
            </a:extLst>
          </p:cNvPr>
          <p:cNvSpPr>
            <a:spLocks noGrp="1"/>
          </p:cNvSpPr>
          <p:nvPr>
            <p:ph idx="1"/>
          </p:nvPr>
        </p:nvSpPr>
        <p:spPr>
          <a:xfrm>
            <a:off x="646043" y="1232452"/>
            <a:ext cx="11102009" cy="4825724"/>
          </a:xfrm>
        </p:spPr>
        <p:txBody>
          <a:bodyPr>
            <a:noAutofit/>
          </a:bodyPr>
          <a:lstStyle/>
          <a:p>
            <a:pPr algn="just"/>
            <a:r>
              <a:rPr lang="en-US" sz="1600" b="1" i="0" u="none" strike="noStrike" baseline="0" dirty="0">
                <a:latin typeface="Arial" panose="020B0604020202020204" pitchFamily="34" charset="0"/>
                <a:cs typeface="Arial" panose="020B0604020202020204" pitchFamily="34" charset="0"/>
              </a:rPr>
              <a:t>Economy of mechanism: </a:t>
            </a:r>
            <a:r>
              <a:rPr lang="en-US" sz="1600" i="0" u="none" strike="noStrike" baseline="0" dirty="0">
                <a:latin typeface="Arial" panose="020B0604020202020204" pitchFamily="34" charset="0"/>
                <a:cs typeface="Arial" panose="020B0604020202020204" pitchFamily="34" charset="0"/>
              </a:rPr>
              <a:t>Keep security mechanisms as simple and straightforward as possible. This reduces the potential for errors and vulnerabilities that can arise from complex designs.</a:t>
            </a:r>
          </a:p>
          <a:p>
            <a:pPr algn="just"/>
            <a:r>
              <a:rPr lang="en-US" sz="1600" b="1" i="0" u="none" strike="noStrike" baseline="0" dirty="0">
                <a:latin typeface="Arial" panose="020B0604020202020204" pitchFamily="34" charset="0"/>
                <a:cs typeface="Arial" panose="020B0604020202020204" pitchFamily="34" charset="0"/>
              </a:rPr>
              <a:t>Fail-safe default: </a:t>
            </a:r>
            <a:r>
              <a:rPr lang="en-US" sz="1600" b="0" i="0" dirty="0">
                <a:solidFill>
                  <a:srgbClr val="222222"/>
                </a:solidFill>
                <a:effectLst/>
                <a:latin typeface="Arial" panose="020B0604020202020204" pitchFamily="34" charset="0"/>
                <a:cs typeface="Arial" panose="020B0604020202020204" pitchFamily="34" charset="0"/>
              </a:rPr>
              <a:t>The default action should be to deny access or secure access. </a:t>
            </a:r>
          </a:p>
          <a:p>
            <a:pPr lvl="1" algn="just"/>
            <a:r>
              <a:rPr lang="en-US" sz="1600" b="1" i="0" dirty="0">
                <a:solidFill>
                  <a:srgbClr val="222222"/>
                </a:solidFill>
                <a:effectLst/>
                <a:highlight>
                  <a:srgbClr val="FFFF00"/>
                </a:highlight>
                <a:latin typeface="Arial" panose="020B0604020202020204" pitchFamily="34" charset="0"/>
                <a:cs typeface="Arial" panose="020B0604020202020204" pitchFamily="34" charset="0"/>
              </a:rPr>
              <a:t>For example: </a:t>
            </a:r>
            <a:r>
              <a:rPr lang="en-US" sz="1600" b="0" i="0" dirty="0">
                <a:solidFill>
                  <a:srgbClr val="222222"/>
                </a:solidFill>
                <a:effectLst/>
                <a:highlight>
                  <a:srgbClr val="FFFF00"/>
                </a:highlight>
                <a:latin typeface="Arial" panose="020B0604020202020204" pitchFamily="34" charset="0"/>
                <a:cs typeface="Arial" panose="020B0604020202020204" pitchFamily="34" charset="0"/>
              </a:rPr>
              <a:t>If the firewall fails, let no traffic in</a:t>
            </a:r>
          </a:p>
          <a:p>
            <a:pPr algn="just"/>
            <a:r>
              <a:rPr lang="en-US" sz="1600" b="1" i="0" u="none" strike="noStrike" baseline="0" dirty="0">
                <a:latin typeface="Arial" panose="020B0604020202020204" pitchFamily="34" charset="0"/>
                <a:cs typeface="Arial" panose="020B0604020202020204" pitchFamily="34" charset="0"/>
              </a:rPr>
              <a:t>Complete mediation: </a:t>
            </a:r>
            <a:r>
              <a:rPr lang="en-US" sz="1600" i="0" u="none" strike="noStrike" baseline="0" dirty="0">
                <a:latin typeface="Arial" panose="020B0604020202020204" pitchFamily="34" charset="0"/>
                <a:cs typeface="Arial" panose="020B0604020202020204" pitchFamily="34" charset="0"/>
              </a:rPr>
              <a:t>Ensure that every access to a resource is checked for authorization (usually check once). </a:t>
            </a:r>
          </a:p>
          <a:p>
            <a:pPr lvl="1" algn="just"/>
            <a:r>
              <a:rPr lang="en-US" sz="1600" b="1" i="0" u="none" strike="noStrike" baseline="0" dirty="0">
                <a:highlight>
                  <a:srgbClr val="FFFF00"/>
                </a:highlight>
                <a:latin typeface="Arial" panose="020B0604020202020204" pitchFamily="34" charset="0"/>
                <a:cs typeface="Arial" panose="020B0604020202020204" pitchFamily="34" charset="0"/>
              </a:rPr>
              <a:t>For example: </a:t>
            </a:r>
            <a:r>
              <a:rPr lang="en-US" sz="1600" i="0" u="none" strike="noStrike" baseline="0" dirty="0">
                <a:highlight>
                  <a:srgbClr val="FFFF00"/>
                </a:highlight>
                <a:latin typeface="Arial" panose="020B0604020202020204" pitchFamily="34" charset="0"/>
                <a:cs typeface="Arial" panose="020B0604020202020204" pitchFamily="34" charset="0"/>
              </a:rPr>
              <a:t>if you change the password it asks for an authentication </a:t>
            </a:r>
          </a:p>
          <a:p>
            <a:pPr algn="just"/>
            <a:r>
              <a:rPr lang="en-US" sz="1600" b="1" i="0" u="none" strike="noStrike" baseline="0" dirty="0">
                <a:latin typeface="Arial" panose="020B0604020202020204" pitchFamily="34" charset="0"/>
                <a:cs typeface="Arial" panose="020B0604020202020204" pitchFamily="34" charset="0"/>
              </a:rPr>
              <a:t>Open design: </a:t>
            </a:r>
            <a:r>
              <a:rPr lang="en-US" sz="1600" dirty="0">
                <a:latin typeface="Arial" panose="020B0604020202020204" pitchFamily="34" charset="0"/>
                <a:cs typeface="Arial" panose="020B0604020202020204" pitchFamily="34" charset="0"/>
              </a:rPr>
              <a:t>This m</a:t>
            </a:r>
            <a:r>
              <a:rPr lang="en-US" sz="1600" b="0" i="0" u="none" strike="noStrike" baseline="0" dirty="0">
                <a:latin typeface="Arial" panose="020B0604020202020204" pitchFamily="34" charset="0"/>
                <a:cs typeface="Arial" panose="020B0604020202020204" pitchFamily="34" charset="0"/>
              </a:rPr>
              <a:t>eans the design of a security mechanism should be open rather than secret.</a:t>
            </a:r>
          </a:p>
          <a:p>
            <a:pPr lvl="1" algn="just"/>
            <a:r>
              <a:rPr lang="en-US" sz="1600" b="1" i="0" u="none" strike="noStrike" baseline="0" dirty="0">
                <a:highlight>
                  <a:srgbClr val="FFFF00"/>
                </a:highlight>
                <a:latin typeface="Arial" panose="020B0604020202020204" pitchFamily="34" charset="0"/>
                <a:cs typeface="Arial" panose="020B0604020202020204" pitchFamily="34" charset="0"/>
              </a:rPr>
              <a:t>For example: </a:t>
            </a:r>
            <a:r>
              <a:rPr lang="en-US" sz="1600" dirty="0">
                <a:highlight>
                  <a:srgbClr val="FFFF00"/>
                </a:highlight>
                <a:latin typeface="Arial" panose="020B0604020202020204" pitchFamily="34" charset="0"/>
                <a:cs typeface="Arial" panose="020B0604020202020204" pitchFamily="34" charset="0"/>
              </a:rPr>
              <a:t>A</a:t>
            </a:r>
            <a:r>
              <a:rPr lang="en-US" sz="1600" b="0" i="0" u="none" strike="noStrike" baseline="0" dirty="0">
                <a:highlight>
                  <a:srgbClr val="FFFF00"/>
                </a:highlight>
                <a:latin typeface="Arial" panose="020B0604020202020204" pitchFamily="34" charset="0"/>
                <a:cs typeface="Arial" panose="020B0604020202020204" pitchFamily="34" charset="0"/>
              </a:rPr>
              <a:t>lthough encryption keys must be secret, encryption algorithms should be open to public investigation</a:t>
            </a:r>
            <a:endParaRPr lang="en-US" sz="1600" b="1" dirty="0">
              <a:highlight>
                <a:srgbClr val="FFFF00"/>
              </a:highlight>
              <a:latin typeface="Arial" panose="020B0604020202020204" pitchFamily="34" charset="0"/>
              <a:cs typeface="Arial" panose="020B0604020202020204" pitchFamily="34" charset="0"/>
            </a:endParaRPr>
          </a:p>
          <a:p>
            <a:pPr algn="just"/>
            <a:r>
              <a:rPr lang="en-US" sz="1600" b="1" i="0" u="none" strike="noStrike" baseline="0" dirty="0">
                <a:latin typeface="Arial" panose="020B0604020202020204" pitchFamily="34" charset="0"/>
                <a:cs typeface="Arial" panose="020B0604020202020204" pitchFamily="34" charset="0"/>
              </a:rPr>
              <a:t>Separation of privilege: </a:t>
            </a:r>
            <a:r>
              <a:rPr lang="en-US" sz="1600" i="0" u="none" strike="noStrike" baseline="0" dirty="0">
                <a:latin typeface="Arial" panose="020B0604020202020204" pitchFamily="34" charset="0"/>
                <a:cs typeface="Arial" panose="020B0604020202020204" pitchFamily="34" charset="0"/>
              </a:rPr>
              <a:t>Multiple privilege attributes are required to achieve access to a restricted resource. (Access should not granted based on a single attribute)</a:t>
            </a:r>
          </a:p>
          <a:p>
            <a:pPr lvl="1" algn="just"/>
            <a:r>
              <a:rPr lang="en-US" sz="1600" b="1" dirty="0">
                <a:highlight>
                  <a:srgbClr val="FFFF00"/>
                </a:highlight>
                <a:latin typeface="Arial" panose="020B0604020202020204" pitchFamily="34" charset="0"/>
                <a:cs typeface="Arial" panose="020B0604020202020204" pitchFamily="34" charset="0"/>
              </a:rPr>
              <a:t>For example:  </a:t>
            </a:r>
            <a:r>
              <a:rPr lang="en-US" sz="1600" dirty="0">
                <a:highlight>
                  <a:srgbClr val="FFFF00"/>
                </a:highlight>
                <a:latin typeface="Arial" panose="020B0604020202020204" pitchFamily="34" charset="0"/>
                <a:cs typeface="Arial" panose="020B0604020202020204" pitchFamily="34" charset="0"/>
              </a:rPr>
              <a:t>The use of multiple techniques, such as a password and a smart card, to authorize a user (Multifactor authentication)</a:t>
            </a:r>
            <a:endParaRPr lang="en-US" sz="1600" i="0" u="none" strike="noStrike" baseline="0" dirty="0">
              <a:highlight>
                <a:srgbClr val="FFFF00"/>
              </a:highlight>
              <a:latin typeface="Arial" panose="020B0604020202020204" pitchFamily="34" charset="0"/>
              <a:cs typeface="Arial" panose="020B0604020202020204" pitchFamily="34" charset="0"/>
            </a:endParaRPr>
          </a:p>
          <a:p>
            <a:pPr algn="just"/>
            <a:r>
              <a:rPr lang="en-US" sz="1600" b="1" i="0" u="none" strike="noStrike" baseline="0" dirty="0">
                <a:latin typeface="Arial" panose="020B0604020202020204" pitchFamily="34" charset="0"/>
                <a:cs typeface="Arial" panose="020B0604020202020204" pitchFamily="34" charset="0"/>
              </a:rPr>
              <a:t>Least privilege: </a:t>
            </a:r>
            <a:r>
              <a:rPr lang="en-US" sz="1600" i="0" u="none" strike="noStrike" baseline="0" dirty="0">
                <a:latin typeface="Arial" panose="020B0604020202020204" pitchFamily="34" charset="0"/>
                <a:cs typeface="Arial" panose="020B0604020202020204" pitchFamily="34" charset="0"/>
              </a:rPr>
              <a:t>Grant users and processes only the minimum permissions necessary to perform their tasks. </a:t>
            </a:r>
          </a:p>
          <a:p>
            <a:pPr lvl="1" algn="just"/>
            <a:r>
              <a:rPr lang="en-US" sz="1600" b="1" dirty="0">
                <a:highlight>
                  <a:srgbClr val="FFFF00"/>
                </a:highlight>
                <a:latin typeface="Arial" panose="020B0604020202020204" pitchFamily="34" charset="0"/>
                <a:cs typeface="Arial" panose="020B0604020202020204" pitchFamily="34" charset="0"/>
              </a:rPr>
              <a:t>For example: </a:t>
            </a:r>
            <a:r>
              <a:rPr lang="en-US" sz="1600" dirty="0">
                <a:highlight>
                  <a:srgbClr val="FFFF00"/>
                </a:highlight>
                <a:latin typeface="Arial" panose="020B0604020202020204" pitchFamily="34" charset="0"/>
                <a:cs typeface="Arial" panose="020B0604020202020204" pitchFamily="34" charset="0"/>
              </a:rPr>
              <a:t>Role Based Access Control (RBAC) Model</a:t>
            </a:r>
          </a:p>
          <a:p>
            <a:pPr algn="just"/>
            <a:r>
              <a:rPr lang="en-US" sz="1600" b="1" i="0" u="none" strike="noStrike" baseline="0" dirty="0">
                <a:latin typeface="Arial" panose="020B0604020202020204" pitchFamily="34" charset="0"/>
                <a:cs typeface="Arial" panose="020B0604020202020204" pitchFamily="34" charset="0"/>
              </a:rPr>
              <a:t>Least common mechanism: </a:t>
            </a:r>
            <a:r>
              <a:rPr lang="en-US" sz="1600" i="0" u="none" strike="noStrike" baseline="0" dirty="0">
                <a:latin typeface="Arial" panose="020B0604020202020204" pitchFamily="34" charset="0"/>
                <a:cs typeface="Arial" panose="020B0604020202020204" pitchFamily="34" charset="0"/>
              </a:rPr>
              <a:t>Sharing components or resources among different users or processes should be minimum. possible. This reduces the potential for one user's actions affecting another user’s security.</a:t>
            </a:r>
          </a:p>
          <a:p>
            <a:pPr lvl="1" algn="just"/>
            <a:r>
              <a:rPr lang="en-US" sz="1600" b="1" i="0" u="none" strike="noStrike" baseline="0" dirty="0">
                <a:highlight>
                  <a:srgbClr val="FFFF00"/>
                </a:highlight>
                <a:latin typeface="Arial" panose="020B0604020202020204" pitchFamily="34" charset="0"/>
                <a:cs typeface="Arial" panose="020B0604020202020204" pitchFamily="34" charset="0"/>
              </a:rPr>
              <a:t>For example </a:t>
            </a:r>
            <a:r>
              <a:rPr lang="en-US" sz="1600" i="0" u="none" strike="noStrike" baseline="0" dirty="0">
                <a:highlight>
                  <a:srgbClr val="FFFF00"/>
                </a:highlight>
                <a:latin typeface="Arial" panose="020B0604020202020204" pitchFamily="34" charset="0"/>
                <a:cs typeface="Arial" panose="020B0604020202020204" pitchFamily="34" charset="0"/>
              </a:rPr>
              <a:t>In stack, if a user is sharing the file in user module, it should be in the user module</a:t>
            </a:r>
          </a:p>
        </p:txBody>
      </p:sp>
      <p:sp>
        <p:nvSpPr>
          <p:cNvPr id="4" name="Slide Number Placeholder 3">
            <a:extLst>
              <a:ext uri="{FF2B5EF4-FFF2-40B4-BE49-F238E27FC236}">
                <a16:creationId xmlns:a16="http://schemas.microsoft.com/office/drawing/2014/main" id="{D01D36CB-1CB1-8C0B-A6EB-C47C6B665CEB}"/>
              </a:ext>
            </a:extLst>
          </p:cNvPr>
          <p:cNvSpPr>
            <a:spLocks noGrp="1"/>
          </p:cNvSpPr>
          <p:nvPr>
            <p:ph type="sldNum" sz="quarter" idx="12"/>
          </p:nvPr>
        </p:nvSpPr>
        <p:spPr/>
        <p:txBody>
          <a:bodyPr/>
          <a:lstStyle/>
          <a:p>
            <a:fld id="{A2A50C4D-0BA1-4E54-8DFC-01810EC97B99}" type="slidenum">
              <a:rPr lang="en-US" smtClean="0"/>
              <a:t>3</a:t>
            </a:fld>
            <a:endParaRPr lang="en-US"/>
          </a:p>
        </p:txBody>
      </p:sp>
    </p:spTree>
    <p:extLst>
      <p:ext uri="{BB962C8B-B14F-4D97-AF65-F5344CB8AC3E}">
        <p14:creationId xmlns:p14="http://schemas.microsoft.com/office/powerpoint/2010/main" val="3642811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446EC-33D9-FE91-87AF-2E3514D21A6F}"/>
              </a:ext>
            </a:extLst>
          </p:cNvPr>
          <p:cNvSpPr>
            <a:spLocks noGrp="1"/>
          </p:cNvSpPr>
          <p:nvPr>
            <p:ph type="title"/>
          </p:nvPr>
        </p:nvSpPr>
        <p:spPr/>
        <p:txBody>
          <a:bodyPr>
            <a:normAutofit/>
          </a:bodyPr>
          <a:lstStyle/>
          <a:p>
            <a:r>
              <a:rPr lang="en-US" sz="3600" b="1" dirty="0"/>
              <a:t>Fundamental Security Design Principles</a:t>
            </a:r>
            <a:endParaRPr lang="en-PK" sz="3600" b="1" dirty="0"/>
          </a:p>
        </p:txBody>
      </p:sp>
      <p:sp>
        <p:nvSpPr>
          <p:cNvPr id="3" name="Content Placeholder 2">
            <a:extLst>
              <a:ext uri="{FF2B5EF4-FFF2-40B4-BE49-F238E27FC236}">
                <a16:creationId xmlns:a16="http://schemas.microsoft.com/office/drawing/2014/main" id="{DC25ECF5-09AC-20C2-6EDE-10A55C30B7DF}"/>
              </a:ext>
            </a:extLst>
          </p:cNvPr>
          <p:cNvSpPr>
            <a:spLocks noGrp="1"/>
          </p:cNvSpPr>
          <p:nvPr>
            <p:ph idx="1"/>
          </p:nvPr>
        </p:nvSpPr>
        <p:spPr>
          <a:xfrm>
            <a:off x="646043" y="1530626"/>
            <a:ext cx="11102009" cy="4825724"/>
          </a:xfrm>
        </p:spPr>
        <p:txBody>
          <a:bodyPr>
            <a:normAutofit/>
          </a:bodyPr>
          <a:lstStyle/>
          <a:p>
            <a:r>
              <a:rPr lang="en-US" sz="1600" b="1" i="0" u="none" strike="noStrike" baseline="0" dirty="0">
                <a:latin typeface="Arial" panose="020B0604020202020204" pitchFamily="34" charset="0"/>
                <a:cs typeface="Arial" panose="020B0604020202020204" pitchFamily="34" charset="0"/>
              </a:rPr>
              <a:t>Psychological acceptability: </a:t>
            </a:r>
            <a:r>
              <a:rPr lang="en-US" sz="1600" i="0" u="none" strike="noStrike" baseline="0" dirty="0">
                <a:latin typeface="Arial" panose="020B0604020202020204" pitchFamily="34" charset="0"/>
                <a:cs typeface="Arial" panose="020B0604020202020204" pitchFamily="34" charset="0"/>
              </a:rPr>
              <a:t>Security measures should be designed in a way that it introduce a minimum hurdles to the user of the system. </a:t>
            </a:r>
          </a:p>
          <a:p>
            <a:pPr lvl="1"/>
            <a:r>
              <a:rPr lang="en-US" sz="1600" b="1" i="0" u="none" strike="noStrike" baseline="0" dirty="0">
                <a:highlight>
                  <a:srgbClr val="FFFF00"/>
                </a:highlight>
                <a:latin typeface="Arial" panose="020B0604020202020204" pitchFamily="34" charset="0"/>
                <a:cs typeface="Arial" panose="020B0604020202020204" pitchFamily="34" charset="0"/>
              </a:rPr>
              <a:t>For example: </a:t>
            </a:r>
            <a:r>
              <a:rPr lang="en-US" sz="1600" i="0" u="none" strike="noStrike" baseline="0" dirty="0">
                <a:highlight>
                  <a:srgbClr val="FFFF00"/>
                </a:highlight>
                <a:latin typeface="Arial" panose="020B0604020202020204" pitchFamily="34" charset="0"/>
                <a:cs typeface="Arial" panose="020B0604020202020204" pitchFamily="34" charset="0"/>
              </a:rPr>
              <a:t>if person come to the campus it has to go through with the eye scan instead of access card</a:t>
            </a:r>
            <a:endParaRPr lang="en-US" sz="1600" dirty="0">
              <a:highlight>
                <a:srgbClr val="FFFF00"/>
              </a:highlight>
              <a:latin typeface="Arial" panose="020B0604020202020204" pitchFamily="34" charset="0"/>
              <a:cs typeface="Arial" panose="020B0604020202020204" pitchFamily="34" charset="0"/>
            </a:endParaRPr>
          </a:p>
          <a:p>
            <a:r>
              <a:rPr lang="en-US" sz="1600" b="1" i="0" u="none" strike="noStrike" baseline="0" dirty="0">
                <a:latin typeface="Arial" panose="020B0604020202020204" pitchFamily="34" charset="0"/>
                <a:cs typeface="Arial" panose="020B0604020202020204" pitchFamily="34" charset="0"/>
              </a:rPr>
              <a:t>Isolation: </a:t>
            </a:r>
            <a:r>
              <a:rPr lang="en-US" sz="1600" i="0" u="none" strike="noStrike" baseline="0" dirty="0">
                <a:latin typeface="Arial" panose="020B0604020202020204" pitchFamily="34" charset="0"/>
                <a:cs typeface="Arial" panose="020B0604020202020204" pitchFamily="34" charset="0"/>
              </a:rPr>
              <a:t>the system that has a critical data, process or resources must be isolated such that it restrict public access</a:t>
            </a:r>
          </a:p>
          <a:p>
            <a:pPr lvl="1"/>
            <a:r>
              <a:rPr lang="en-US" sz="1600" b="1" dirty="0">
                <a:highlight>
                  <a:srgbClr val="FFFF00"/>
                </a:highlight>
                <a:latin typeface="Arial" panose="020B0604020202020204" pitchFamily="34" charset="0"/>
                <a:cs typeface="Arial" panose="020B0604020202020204" pitchFamily="34" charset="0"/>
              </a:rPr>
              <a:t>For example: </a:t>
            </a:r>
            <a:r>
              <a:rPr lang="en-US" sz="1600" dirty="0">
                <a:highlight>
                  <a:srgbClr val="FFFF00"/>
                </a:highlight>
                <a:latin typeface="Arial" panose="020B0604020202020204" pitchFamily="34" charset="0"/>
                <a:cs typeface="Arial" panose="020B0604020202020204" pitchFamily="34" charset="0"/>
              </a:rPr>
              <a:t>Multiple users in the same operating system, each user will manage its own account (isolated from each other) OR also example of VM </a:t>
            </a:r>
            <a:endParaRPr lang="en-US" sz="1600" i="0" u="none" strike="noStrike" baseline="0" dirty="0">
              <a:highlight>
                <a:srgbClr val="FFFF00"/>
              </a:highlight>
              <a:latin typeface="Arial" panose="020B0604020202020204" pitchFamily="34" charset="0"/>
              <a:cs typeface="Arial" panose="020B0604020202020204" pitchFamily="34" charset="0"/>
            </a:endParaRPr>
          </a:p>
          <a:p>
            <a:r>
              <a:rPr lang="en-US" sz="1600" b="1" i="0" u="none" strike="noStrike" baseline="0" dirty="0">
                <a:latin typeface="Arial" panose="020B0604020202020204" pitchFamily="34" charset="0"/>
                <a:cs typeface="Arial" panose="020B0604020202020204" pitchFamily="34" charset="0"/>
              </a:rPr>
              <a:t>Encapsulation: </a:t>
            </a:r>
            <a:r>
              <a:rPr lang="en-US" sz="1600" i="0" u="none" strike="noStrike" baseline="0" dirty="0">
                <a:latin typeface="Arial" panose="020B0604020202020204" pitchFamily="34" charset="0"/>
                <a:cs typeface="Arial" panose="020B0604020202020204" pitchFamily="34" charset="0"/>
              </a:rPr>
              <a:t>is a specific form of isolation based on object oriented functionality. </a:t>
            </a:r>
          </a:p>
          <a:p>
            <a:pPr lvl="1"/>
            <a:r>
              <a:rPr lang="en-US" sz="1600" b="1" i="0" u="none" strike="noStrike" baseline="0" dirty="0">
                <a:highlight>
                  <a:srgbClr val="FFFF00"/>
                </a:highlight>
                <a:latin typeface="Arial" panose="020B0604020202020204" pitchFamily="34" charset="0"/>
                <a:cs typeface="Arial" panose="020B0604020202020204" pitchFamily="34" charset="0"/>
              </a:rPr>
              <a:t>For example: </a:t>
            </a:r>
            <a:r>
              <a:rPr lang="en-US" sz="1600" i="0" u="none" strike="noStrike" baseline="0" dirty="0">
                <a:highlight>
                  <a:srgbClr val="FFFF00"/>
                </a:highlight>
                <a:latin typeface="Arial" panose="020B0604020202020204" pitchFamily="34" charset="0"/>
                <a:cs typeface="Arial" panose="020B0604020202020204" pitchFamily="34" charset="0"/>
              </a:rPr>
              <a:t>if you are designing a password module the </a:t>
            </a:r>
            <a:r>
              <a:rPr lang="en-US" sz="1600" dirty="0">
                <a:highlight>
                  <a:srgbClr val="FFFF00"/>
                </a:highlight>
                <a:latin typeface="Arial" panose="020B0604020202020204" pitchFamily="34" charset="0"/>
                <a:cs typeface="Arial" panose="020B0604020202020204" pitchFamily="34" charset="0"/>
              </a:rPr>
              <a:t>algorithm and methods of password </a:t>
            </a:r>
            <a:r>
              <a:rPr lang="en-US" sz="1600" i="0" u="none" strike="noStrike" baseline="0" dirty="0">
                <a:highlight>
                  <a:srgbClr val="FFFF00"/>
                </a:highlight>
                <a:latin typeface="Arial" panose="020B0604020202020204" pitchFamily="34" charset="0"/>
                <a:cs typeface="Arial" panose="020B0604020202020204" pitchFamily="34" charset="0"/>
              </a:rPr>
              <a:t>will create in a class</a:t>
            </a:r>
            <a:r>
              <a:rPr lang="en-US" sz="1600" i="0" u="none" strike="noStrike" baseline="0" dirty="0">
                <a:latin typeface="Arial" panose="020B0604020202020204" pitchFamily="34" charset="0"/>
                <a:cs typeface="Arial" panose="020B0604020202020204" pitchFamily="34" charset="0"/>
              </a:rPr>
              <a:t>. </a:t>
            </a:r>
            <a:endParaRPr lang="en-US" sz="1600" dirty="0">
              <a:latin typeface="Arial" panose="020B0604020202020204" pitchFamily="34" charset="0"/>
              <a:cs typeface="Arial" panose="020B0604020202020204" pitchFamily="34" charset="0"/>
            </a:endParaRPr>
          </a:p>
          <a:p>
            <a:r>
              <a:rPr lang="en-US" sz="1600" b="1" i="0" u="none" strike="noStrike" baseline="0" dirty="0">
                <a:latin typeface="Arial" panose="020B0604020202020204" pitchFamily="34" charset="0"/>
                <a:cs typeface="Arial" panose="020B0604020202020204" pitchFamily="34" charset="0"/>
              </a:rPr>
              <a:t>Modularity: </a:t>
            </a:r>
            <a:r>
              <a:rPr lang="en-US" sz="1600" dirty="0">
                <a:latin typeface="Arial" panose="020B0604020202020204" pitchFamily="34" charset="0"/>
                <a:cs typeface="Arial" panose="020B0604020202020204" pitchFamily="34" charset="0"/>
              </a:rPr>
              <a:t>The security mechanism must of generated as separate and protected modules and using the modular architecture. </a:t>
            </a:r>
          </a:p>
          <a:p>
            <a:pPr lvl="1"/>
            <a:r>
              <a:rPr lang="en-US" sz="1600" b="1" i="0" u="none" strike="noStrike" baseline="0" dirty="0">
                <a:highlight>
                  <a:srgbClr val="FFFF00"/>
                </a:highlight>
                <a:latin typeface="Arial" panose="020B0604020202020204" pitchFamily="34" charset="0"/>
                <a:cs typeface="Arial" panose="020B0604020202020204" pitchFamily="34" charset="0"/>
              </a:rPr>
              <a:t>For example: if an update is required then a specific module will update</a:t>
            </a:r>
            <a:endParaRPr lang="en-US" sz="1600" i="0" u="none" strike="noStrike" baseline="0" dirty="0">
              <a:latin typeface="Arial" panose="020B0604020202020204" pitchFamily="34" charset="0"/>
              <a:cs typeface="Arial" panose="020B0604020202020204" pitchFamily="34" charset="0"/>
            </a:endParaRPr>
          </a:p>
          <a:p>
            <a:pPr algn="l"/>
            <a:r>
              <a:rPr lang="en-US" sz="1600" b="1" i="0" u="none" strike="noStrike" baseline="0" dirty="0">
                <a:latin typeface="Arial" panose="020B0604020202020204" pitchFamily="34" charset="0"/>
                <a:cs typeface="Arial" panose="020B0604020202020204" pitchFamily="34" charset="0"/>
              </a:rPr>
              <a:t>Layering: </a:t>
            </a:r>
            <a:r>
              <a:rPr lang="en-US" sz="1600" b="0" i="0" u="none" strike="noStrike" baseline="0" dirty="0">
                <a:latin typeface="Arial" panose="020B0604020202020204" pitchFamily="34" charset="0"/>
                <a:cs typeface="Arial" panose="020B0604020202020204" pitchFamily="34" charset="0"/>
              </a:rPr>
              <a:t>refers to the use of multiple, overlapping protection approaches addressing the people, technology, and operational aspects of information systems</a:t>
            </a:r>
          </a:p>
          <a:p>
            <a:pPr lvl="1"/>
            <a:r>
              <a:rPr lang="en-US" sz="1600" b="1" dirty="0">
                <a:highlight>
                  <a:srgbClr val="FFFF00"/>
                </a:highlight>
                <a:latin typeface="Arial" panose="020B0604020202020204" pitchFamily="34" charset="0"/>
                <a:cs typeface="Arial" panose="020B0604020202020204" pitchFamily="34" charset="0"/>
              </a:rPr>
              <a:t>For example: </a:t>
            </a:r>
            <a:r>
              <a:rPr lang="en-US" sz="1600" dirty="0">
                <a:highlight>
                  <a:srgbClr val="FFFF00"/>
                </a:highlight>
                <a:latin typeface="Arial" panose="020B0604020202020204" pitchFamily="34" charset="0"/>
                <a:cs typeface="Arial" panose="020B0604020202020204" pitchFamily="34" charset="0"/>
              </a:rPr>
              <a:t>Multiple barrier for the attacker if try to access the information (type of user, identification, firewall)</a:t>
            </a:r>
          </a:p>
          <a:p>
            <a:r>
              <a:rPr lang="en-US" sz="1600" b="1" i="0" u="none" strike="noStrike" baseline="0" dirty="0">
                <a:latin typeface="Arial" panose="020B0604020202020204" pitchFamily="34" charset="0"/>
                <a:cs typeface="Arial" panose="020B0604020202020204" pitchFamily="34" charset="0"/>
              </a:rPr>
              <a:t>Least astonishment: </a:t>
            </a:r>
            <a:r>
              <a:rPr lang="en-US" sz="1600" i="0" u="none" strike="noStrike" baseline="0" dirty="0">
                <a:latin typeface="Arial" panose="020B0604020202020204" pitchFamily="34" charset="0"/>
                <a:cs typeface="Arial" panose="020B0604020202020204" pitchFamily="34" charset="0"/>
              </a:rPr>
              <a:t>The user interface of the system must not amaze the user while accessing the secure system</a:t>
            </a:r>
            <a:endParaRPr lang="en-PK" sz="16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01D36CB-1CB1-8C0B-A6EB-C47C6B665CEB}"/>
              </a:ext>
            </a:extLst>
          </p:cNvPr>
          <p:cNvSpPr>
            <a:spLocks noGrp="1"/>
          </p:cNvSpPr>
          <p:nvPr>
            <p:ph type="sldNum" sz="quarter" idx="12"/>
          </p:nvPr>
        </p:nvSpPr>
        <p:spPr/>
        <p:txBody>
          <a:bodyPr/>
          <a:lstStyle/>
          <a:p>
            <a:fld id="{A2A50C4D-0BA1-4E54-8DFC-01810EC97B99}" type="slidenum">
              <a:rPr lang="en-US" smtClean="0"/>
              <a:t>4</a:t>
            </a:fld>
            <a:endParaRPr lang="en-US"/>
          </a:p>
        </p:txBody>
      </p:sp>
    </p:spTree>
    <p:extLst>
      <p:ext uri="{BB962C8B-B14F-4D97-AF65-F5344CB8AC3E}">
        <p14:creationId xmlns:p14="http://schemas.microsoft.com/office/powerpoint/2010/main" val="2736271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5</a:t>
            </a:fld>
            <a:endParaRPr lang="en-US"/>
          </a:p>
        </p:txBody>
      </p:sp>
      <p:pic>
        <p:nvPicPr>
          <p:cNvPr id="3" name="Picture 2"/>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145377" y="321276"/>
            <a:ext cx="11947769" cy="3571103"/>
          </a:xfrm>
          <a:prstGeom prst="rect">
            <a:avLst/>
          </a:prstGeom>
        </p:spPr>
      </p:pic>
      <p:pic>
        <p:nvPicPr>
          <p:cNvPr id="4" name="Picture 3"/>
          <p:cNvPicPr>
            <a:picLocks noChangeAspect="1"/>
          </p:cNvPicPr>
          <p:nvPr/>
        </p:nvPicPr>
        <p:blipFill>
          <a:blip r:embed="rId5">
            <a:duotone>
              <a:prstClr val="black"/>
              <a:srgbClr val="D9C3A5">
                <a:tint val="50000"/>
                <a:satMod val="180000"/>
              </a:srgbClr>
            </a:duotone>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1252759" y="4098993"/>
            <a:ext cx="8571470" cy="2241390"/>
          </a:xfrm>
          <a:prstGeom prst="rect">
            <a:avLst/>
          </a:prstGeom>
        </p:spPr>
      </p:pic>
      <p:sp>
        <p:nvSpPr>
          <p:cNvPr id="5" name="Right Arrow 4"/>
          <p:cNvSpPr/>
          <p:nvPr/>
        </p:nvSpPr>
        <p:spPr>
          <a:xfrm>
            <a:off x="333632" y="4098993"/>
            <a:ext cx="803190" cy="852456"/>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10634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103A2-3774-4D39-A9BE-4FAFE32AF8DB}"/>
              </a:ext>
            </a:extLst>
          </p:cNvPr>
          <p:cNvSpPr>
            <a:spLocks noGrp="1"/>
          </p:cNvSpPr>
          <p:nvPr>
            <p:ph type="title"/>
          </p:nvPr>
        </p:nvSpPr>
        <p:spPr/>
        <p:txBody>
          <a:bodyPr/>
          <a:lstStyle/>
          <a:p>
            <a:r>
              <a:rPr lang="en-US" b="1" dirty="0"/>
              <a:t>Computer Security Strategy</a:t>
            </a:r>
            <a:endParaRPr lang="en-PK" b="1" dirty="0"/>
          </a:p>
        </p:txBody>
      </p:sp>
      <p:sp>
        <p:nvSpPr>
          <p:cNvPr id="3" name="Content Placeholder 2">
            <a:extLst>
              <a:ext uri="{FF2B5EF4-FFF2-40B4-BE49-F238E27FC236}">
                <a16:creationId xmlns:a16="http://schemas.microsoft.com/office/drawing/2014/main" id="{F41F5093-B959-3102-39FA-7AF105EDA5F6}"/>
              </a:ext>
            </a:extLst>
          </p:cNvPr>
          <p:cNvSpPr>
            <a:spLocks noGrp="1"/>
          </p:cNvSpPr>
          <p:nvPr>
            <p:ph idx="1"/>
          </p:nvPr>
        </p:nvSpPr>
        <p:spPr>
          <a:xfrm>
            <a:off x="738807" y="1610140"/>
            <a:ext cx="11009243" cy="5021884"/>
          </a:xfrm>
        </p:spPr>
        <p:txBody>
          <a:bodyPr>
            <a:normAutofit/>
          </a:bodyPr>
          <a:lstStyle/>
          <a:p>
            <a:pPr algn="just"/>
            <a:r>
              <a:rPr lang="en-US" sz="2000" b="1" dirty="0">
                <a:latin typeface="Arial" panose="020B0604020202020204" pitchFamily="34" charset="0"/>
                <a:cs typeface="Arial" panose="020B0604020202020204" pitchFamily="34" charset="0"/>
              </a:rPr>
              <a:t>Security Policy</a:t>
            </a:r>
            <a:r>
              <a:rPr lang="en-US" sz="1600" dirty="0">
                <a:latin typeface="Arial" panose="020B0604020202020204" pitchFamily="34" charset="0"/>
                <a:cs typeface="Arial" panose="020B0604020202020204" pitchFamily="34" charset="0"/>
              </a:rPr>
              <a:t>:- Formal statement of rules and practices that specify or regulate how a system or organization provides security services to protect sensitive and critical system resources</a:t>
            </a:r>
          </a:p>
          <a:p>
            <a:pPr lvl="0" algn="just" rtl="0"/>
            <a:r>
              <a:rPr lang="en-US" sz="2000" b="1" dirty="0">
                <a:latin typeface="Arial" panose="020B0604020202020204" pitchFamily="34" charset="0"/>
                <a:cs typeface="Arial" panose="020B0604020202020204" pitchFamily="34" charset="0"/>
              </a:rPr>
              <a:t>Security Implementation:- </a:t>
            </a:r>
            <a:r>
              <a:rPr lang="en-US" sz="1600" dirty="0">
                <a:latin typeface="Arial" panose="020B0604020202020204" pitchFamily="34" charset="0"/>
                <a:cs typeface="Arial" panose="020B0604020202020204" pitchFamily="34" charset="0"/>
              </a:rPr>
              <a:t>Involves four complementary courses of action:</a:t>
            </a:r>
          </a:p>
          <a:p>
            <a:pPr lvl="2" algn="just" rtl="0"/>
            <a:r>
              <a:rPr lang="en-US" sz="1600" dirty="0">
                <a:latin typeface="Arial" panose="020B0604020202020204" pitchFamily="34" charset="0"/>
                <a:cs typeface="Arial" panose="020B0604020202020204" pitchFamily="34" charset="0"/>
              </a:rPr>
              <a:t>Prevention</a:t>
            </a:r>
          </a:p>
          <a:p>
            <a:pPr lvl="2" algn="just" rtl="0"/>
            <a:r>
              <a:rPr lang="en-US" sz="1600" dirty="0">
                <a:latin typeface="Arial" panose="020B0604020202020204" pitchFamily="34" charset="0"/>
                <a:cs typeface="Arial" panose="020B0604020202020204" pitchFamily="34" charset="0"/>
              </a:rPr>
              <a:t>Detection</a:t>
            </a:r>
          </a:p>
          <a:p>
            <a:pPr lvl="2" algn="just" rtl="0"/>
            <a:r>
              <a:rPr lang="en-US" sz="1600" dirty="0">
                <a:latin typeface="Arial" panose="020B0604020202020204" pitchFamily="34" charset="0"/>
                <a:cs typeface="Arial" panose="020B0604020202020204" pitchFamily="34" charset="0"/>
              </a:rPr>
              <a:t>Response</a:t>
            </a:r>
          </a:p>
          <a:p>
            <a:pPr lvl="2" algn="just" rtl="0"/>
            <a:r>
              <a:rPr lang="en-US" sz="1600" dirty="0">
                <a:latin typeface="Arial" panose="020B0604020202020204" pitchFamily="34" charset="0"/>
                <a:cs typeface="Arial" panose="020B0604020202020204" pitchFamily="34" charset="0"/>
              </a:rPr>
              <a:t>Recovery </a:t>
            </a:r>
            <a:endParaRPr lang="en-US" sz="2000" b="1" dirty="0">
              <a:latin typeface="Arial" panose="020B0604020202020204" pitchFamily="34" charset="0"/>
              <a:cs typeface="Arial" panose="020B0604020202020204" pitchFamily="34" charset="0"/>
            </a:endParaRPr>
          </a:p>
          <a:p>
            <a:pPr lvl="0" algn="just" rtl="0"/>
            <a:r>
              <a:rPr lang="en-US" sz="2000" b="1" dirty="0">
                <a:latin typeface="Arial" panose="020B0604020202020204" pitchFamily="34" charset="0"/>
                <a:cs typeface="Arial" panose="020B0604020202020204" pitchFamily="34" charset="0"/>
              </a:rPr>
              <a:t>Assurance:- </a:t>
            </a:r>
            <a:r>
              <a:rPr lang="en-US" sz="1600" dirty="0">
                <a:latin typeface="Arial" panose="020B0604020202020204" pitchFamily="34" charset="0"/>
                <a:cs typeface="Arial" panose="020B0604020202020204" pitchFamily="34" charset="0"/>
              </a:rPr>
              <a:t>Encompassing both system design and system implementation, assurance is an attribute of an information system that provides grounds for having confidence that the system operates such that the system’s security policy is enforced</a:t>
            </a:r>
          </a:p>
          <a:p>
            <a:pPr algn="just"/>
            <a:r>
              <a:rPr lang="en-US" sz="2000" b="1" dirty="0">
                <a:latin typeface="Arial" panose="020B0604020202020204" pitchFamily="34" charset="0"/>
                <a:cs typeface="Arial" panose="020B0604020202020204" pitchFamily="34" charset="0"/>
              </a:rPr>
              <a:t>Evaluation</a:t>
            </a:r>
            <a:r>
              <a:rPr lang="en-US" sz="2000"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Evaluation Process of examining a computer product or system with respect to certain criteria Involves testing and may also involve formal analytic or mathematical techniques</a:t>
            </a:r>
          </a:p>
        </p:txBody>
      </p:sp>
      <p:sp>
        <p:nvSpPr>
          <p:cNvPr id="4" name="Slide Number Placeholder 3">
            <a:extLst>
              <a:ext uri="{FF2B5EF4-FFF2-40B4-BE49-F238E27FC236}">
                <a16:creationId xmlns:a16="http://schemas.microsoft.com/office/drawing/2014/main" id="{006002AC-5FD3-85C8-E751-CCB5A44A959E}"/>
              </a:ext>
            </a:extLst>
          </p:cNvPr>
          <p:cNvSpPr>
            <a:spLocks noGrp="1"/>
          </p:cNvSpPr>
          <p:nvPr>
            <p:ph type="sldNum" sz="quarter" idx="12"/>
          </p:nvPr>
        </p:nvSpPr>
        <p:spPr/>
        <p:txBody>
          <a:bodyPr/>
          <a:lstStyle/>
          <a:p>
            <a:fld id="{A2A50C4D-0BA1-4E54-8DFC-01810EC97B99}" type="slidenum">
              <a:rPr lang="en-US" smtClean="0"/>
              <a:t>6</a:t>
            </a:fld>
            <a:endParaRPr lang="en-US"/>
          </a:p>
        </p:txBody>
      </p:sp>
    </p:spTree>
    <p:extLst>
      <p:ext uri="{BB962C8B-B14F-4D97-AF65-F5344CB8AC3E}">
        <p14:creationId xmlns:p14="http://schemas.microsoft.com/office/powerpoint/2010/main" val="4138237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7</a:t>
            </a:fld>
            <a:endParaRPr lang="en-US"/>
          </a:p>
        </p:txBody>
      </p:sp>
      <p:grpSp>
        <p:nvGrpSpPr>
          <p:cNvPr id="8" name="Group 7"/>
          <p:cNvGrpSpPr/>
          <p:nvPr/>
        </p:nvGrpSpPr>
        <p:grpSpPr>
          <a:xfrm>
            <a:off x="111210" y="667265"/>
            <a:ext cx="11948985" cy="4930346"/>
            <a:chOff x="395699" y="518984"/>
            <a:chExt cx="11477086" cy="4761406"/>
          </a:xfrm>
        </p:grpSpPr>
        <p:pic>
          <p:nvPicPr>
            <p:cNvPr id="3" name="Picture 2"/>
            <p:cNvPicPr>
              <a:picLocks noChangeAspect="1"/>
            </p:cNvPicPr>
            <p:nvPr/>
          </p:nvPicPr>
          <p:blipFill>
            <a:blip r:embed="rId2"/>
            <a:stretch>
              <a:fillRect/>
            </a:stretch>
          </p:blipFill>
          <p:spPr>
            <a:xfrm>
              <a:off x="582952" y="518984"/>
              <a:ext cx="10770848" cy="753762"/>
            </a:xfrm>
            <a:prstGeom prst="rect">
              <a:avLst/>
            </a:prstGeom>
          </p:spPr>
        </p:pic>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395699" y="2348705"/>
              <a:ext cx="6029666" cy="1099751"/>
            </a:xfrm>
            <a:prstGeom prst="rect">
              <a:avLst/>
            </a:prstGeom>
          </p:spPr>
        </p:pic>
        <p:pic>
          <p:nvPicPr>
            <p:cNvPr id="5" name="Picture 4"/>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6435917" y="2348705"/>
              <a:ext cx="5436867" cy="1322173"/>
            </a:xfrm>
            <a:prstGeom prst="rect">
              <a:avLst/>
            </a:prstGeom>
          </p:spPr>
        </p:pic>
        <p:pic>
          <p:nvPicPr>
            <p:cNvPr id="6" name="Picture 5"/>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Layer>
                  </a14:imgProps>
                </a:ext>
              </a:extLst>
            </a:blip>
            <a:stretch>
              <a:fillRect/>
            </a:stretch>
          </p:blipFill>
          <p:spPr>
            <a:xfrm>
              <a:off x="395699" y="3962094"/>
              <a:ext cx="6056163" cy="1290448"/>
            </a:xfrm>
            <a:prstGeom prst="rect">
              <a:avLst/>
            </a:prstGeom>
          </p:spPr>
        </p:pic>
        <p:pic>
          <p:nvPicPr>
            <p:cNvPr id="7" name="Picture 6"/>
            <p:cNvPicPr>
              <a:picLocks noChangeAspect="1"/>
            </p:cNvPicPr>
            <p:nvPr/>
          </p:nvPicPr>
          <p:blipFill>
            <a:blip r:embed="rId9">
              <a:extLst>
                <a:ext uri="{BEBA8EAE-BF5A-486C-A8C5-ECC9F3942E4B}">
                  <a14:imgProps xmlns:a14="http://schemas.microsoft.com/office/drawing/2010/main">
                    <a14:imgLayer r:embed="rId10">
                      <a14:imgEffect>
                        <a14:sharpenSoften amount="50000"/>
                      </a14:imgEffect>
                    </a14:imgLayer>
                  </a14:imgProps>
                </a:ext>
              </a:extLst>
            </a:blip>
            <a:stretch>
              <a:fillRect/>
            </a:stretch>
          </p:blipFill>
          <p:spPr>
            <a:xfrm>
              <a:off x="6451862" y="3962094"/>
              <a:ext cx="5420923" cy="1318296"/>
            </a:xfrm>
            <a:prstGeom prst="rect">
              <a:avLst/>
            </a:prstGeom>
          </p:spPr>
        </p:pic>
      </p:grpSp>
    </p:spTree>
    <p:extLst>
      <p:ext uri="{BB962C8B-B14F-4D97-AF65-F5344CB8AC3E}">
        <p14:creationId xmlns:p14="http://schemas.microsoft.com/office/powerpoint/2010/main" val="3166038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2A50C4D-0BA1-4E54-8DFC-01810EC97B99}" type="slidenum">
              <a:rPr lang="en-US" smtClean="0"/>
              <a:t>8</a:t>
            </a:fld>
            <a:endParaRPr lang="en-US"/>
          </a:p>
        </p:txBody>
      </p:sp>
      <p:pic>
        <p:nvPicPr>
          <p:cNvPr id="7" name="Picture 6"/>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850928" y="316413"/>
            <a:ext cx="8522960" cy="2686279"/>
          </a:xfrm>
          <a:prstGeom prst="rect">
            <a:avLst/>
          </a:prstGeom>
        </p:spPr>
      </p:pic>
      <p:sp>
        <p:nvSpPr>
          <p:cNvPr id="9" name="Content Placeholder 3"/>
          <p:cNvSpPr txBox="1">
            <a:spLocks/>
          </p:cNvSpPr>
          <p:nvPr/>
        </p:nvSpPr>
        <p:spPr>
          <a:xfrm>
            <a:off x="276837" y="3673646"/>
            <a:ext cx="4933897" cy="2266263"/>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Physical Security</a:t>
            </a:r>
          </a:p>
          <a:p>
            <a:r>
              <a:rPr lang="en-US" dirty="0"/>
              <a:t>Access Security of Infrastructure</a:t>
            </a:r>
          </a:p>
          <a:p>
            <a:r>
              <a:rPr lang="en-US" dirty="0"/>
              <a:t>Information security </a:t>
            </a:r>
            <a:r>
              <a:rPr lang="en-US" sz="2200" dirty="0"/>
              <a:t>(including non digital)</a:t>
            </a:r>
            <a:endParaRPr lang="en-US" dirty="0"/>
          </a:p>
          <a:p>
            <a:r>
              <a:rPr lang="en-US" dirty="0"/>
              <a:t>OS security</a:t>
            </a:r>
          </a:p>
          <a:p>
            <a:r>
              <a:rPr lang="en-US" dirty="0"/>
              <a:t>Application Security</a:t>
            </a:r>
          </a:p>
          <a:p>
            <a:r>
              <a:rPr lang="en-US" dirty="0"/>
              <a:t>Network Security</a:t>
            </a:r>
          </a:p>
          <a:p>
            <a:endParaRPr lang="en-US" dirty="0"/>
          </a:p>
        </p:txBody>
      </p:sp>
      <p:sp>
        <p:nvSpPr>
          <p:cNvPr id="10" name="Content Placeholder 3"/>
          <p:cNvSpPr txBox="1">
            <a:spLocks/>
          </p:cNvSpPr>
          <p:nvPr/>
        </p:nvSpPr>
        <p:spPr>
          <a:xfrm>
            <a:off x="5064211" y="3153161"/>
            <a:ext cx="6835346" cy="3385751"/>
          </a:xfrm>
          <a:prstGeom prst="rect">
            <a:avLst/>
          </a:prstGeom>
          <a:solidFill>
            <a:schemeClr val="accent2">
              <a:lumMod val="40000"/>
              <a:lumOff val="60000"/>
            </a:schemeClr>
          </a:solidFill>
        </p:spPr>
        <p:txBody>
          <a:bodyP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Identification of Assets</a:t>
            </a:r>
          </a:p>
          <a:p>
            <a:r>
              <a:rPr lang="en-US" dirty="0"/>
              <a:t>Identify Vulnerabilities</a:t>
            </a:r>
          </a:p>
          <a:p>
            <a:pPr lvl="1"/>
            <a:r>
              <a:rPr lang="en-US" dirty="0"/>
              <a:t>(CIA + Authentication + Auditable)</a:t>
            </a:r>
          </a:p>
          <a:p>
            <a:r>
              <a:rPr lang="en-US" dirty="0"/>
              <a:t>Risk Assessment </a:t>
            </a:r>
            <a:r>
              <a:rPr lang="en-US" dirty="0">
                <a:sym typeface="Wingdings" panose="05000000000000000000" pitchFamily="2" charset="2"/>
              </a:rPr>
              <a:t> Possible Threats</a:t>
            </a:r>
          </a:p>
          <a:p>
            <a:r>
              <a:rPr lang="en-US" dirty="0"/>
              <a:t>Known and possible Attacks</a:t>
            </a:r>
          </a:p>
          <a:p>
            <a:r>
              <a:rPr lang="en-US" dirty="0"/>
              <a:t>Test and Implement known Countermeasures</a:t>
            </a:r>
          </a:p>
          <a:p>
            <a:pPr lvl="1"/>
            <a:r>
              <a:rPr lang="en-US" dirty="0"/>
              <a:t>Based on community Best Practices</a:t>
            </a:r>
          </a:p>
          <a:p>
            <a:r>
              <a:rPr lang="en-US" dirty="0"/>
              <a:t>Governmental and Community based efforts</a:t>
            </a:r>
          </a:p>
          <a:p>
            <a:pPr lvl="1"/>
            <a:r>
              <a:rPr lang="en-US" dirty="0"/>
              <a:t>Groups (Meetups) + CERTs + Conferences + Certifications</a:t>
            </a:r>
          </a:p>
          <a:p>
            <a:endParaRPr lang="en-US" dirty="0"/>
          </a:p>
          <a:p>
            <a:endParaRPr lang="en-US" dirty="0"/>
          </a:p>
          <a:p>
            <a:endParaRPr lang="en-US" dirty="0"/>
          </a:p>
        </p:txBody>
      </p:sp>
    </p:spTree>
    <p:extLst>
      <p:ext uri="{BB962C8B-B14F-4D97-AF65-F5344CB8AC3E}">
        <p14:creationId xmlns:p14="http://schemas.microsoft.com/office/powerpoint/2010/main" val="1699304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InfoSec Practice</a:t>
            </a:r>
          </a:p>
        </p:txBody>
      </p:sp>
      <p:sp>
        <p:nvSpPr>
          <p:cNvPr id="3" name="Content Placeholder 2"/>
          <p:cNvSpPr>
            <a:spLocks noGrp="1"/>
          </p:cNvSpPr>
          <p:nvPr>
            <p:ph idx="1"/>
          </p:nvPr>
        </p:nvSpPr>
        <p:spPr/>
        <p:txBody>
          <a:bodyPr>
            <a:normAutofit/>
          </a:bodyPr>
          <a:lstStyle/>
          <a:p>
            <a:r>
              <a:rPr lang="en-US" dirty="0"/>
              <a:t>Identification of Assets</a:t>
            </a:r>
          </a:p>
          <a:p>
            <a:r>
              <a:rPr lang="en-US" dirty="0"/>
              <a:t>Identify Vulnerabilities</a:t>
            </a:r>
          </a:p>
          <a:p>
            <a:pPr lvl="1"/>
            <a:r>
              <a:rPr lang="en-US" dirty="0"/>
              <a:t>(CIA + Authentication + Auditable)</a:t>
            </a:r>
          </a:p>
          <a:p>
            <a:r>
              <a:rPr lang="en-US" dirty="0"/>
              <a:t>Risk Assessment </a:t>
            </a:r>
            <a:r>
              <a:rPr lang="en-US" dirty="0">
                <a:sym typeface="Wingdings" panose="05000000000000000000" pitchFamily="2" charset="2"/>
              </a:rPr>
              <a:t> </a:t>
            </a:r>
            <a:r>
              <a:rPr lang="en-US" dirty="0"/>
              <a:t>Possible Threats</a:t>
            </a:r>
          </a:p>
          <a:p>
            <a:r>
              <a:rPr lang="en-US" dirty="0"/>
              <a:t>Known and possible Attacks</a:t>
            </a:r>
          </a:p>
          <a:p>
            <a:r>
              <a:rPr lang="en-US" dirty="0"/>
              <a:t>Test and Implement known Countermeasures</a:t>
            </a:r>
          </a:p>
          <a:p>
            <a:pPr lvl="1"/>
            <a:r>
              <a:rPr lang="en-US" dirty="0"/>
              <a:t>Based on community Best Practices</a:t>
            </a:r>
          </a:p>
          <a:p>
            <a:r>
              <a:rPr lang="en-US" dirty="0"/>
              <a:t>Governmental and Community based efforts</a:t>
            </a:r>
          </a:p>
          <a:p>
            <a:pPr lvl="1"/>
            <a:r>
              <a:rPr lang="en-US" dirty="0"/>
              <a:t>Groups (Meetups) + CERTs + Conferences + Certifications</a:t>
            </a:r>
          </a:p>
        </p:txBody>
      </p:sp>
      <p:sp>
        <p:nvSpPr>
          <p:cNvPr id="6" name="Slide Number Placeholder 5"/>
          <p:cNvSpPr>
            <a:spLocks noGrp="1"/>
          </p:cNvSpPr>
          <p:nvPr>
            <p:ph type="sldNum" sz="quarter" idx="12"/>
          </p:nvPr>
        </p:nvSpPr>
        <p:spPr/>
        <p:txBody>
          <a:bodyPr/>
          <a:lstStyle/>
          <a:p>
            <a:fld id="{A2A50C4D-0BA1-4E54-8DFC-01810EC97B99}" type="slidenum">
              <a:rPr lang="en-US" smtClean="0"/>
              <a:t>9</a:t>
            </a:fld>
            <a:endParaRPr lang="en-US"/>
          </a:p>
        </p:txBody>
      </p:sp>
    </p:spTree>
    <p:extLst>
      <p:ext uri="{BB962C8B-B14F-4D97-AF65-F5344CB8AC3E}">
        <p14:creationId xmlns:p14="http://schemas.microsoft.com/office/powerpoint/2010/main" val="865168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2A50C4D-0BA1-4E54-8DFC-01810EC97B99}" type="slidenum">
              <a:rPr lang="en-US" smtClean="0"/>
              <a:t>10</a:t>
            </a:fld>
            <a:endParaRPr lang="en-US"/>
          </a:p>
        </p:txBody>
      </p:sp>
      <p:pic>
        <p:nvPicPr>
          <p:cNvPr id="8" name="Picture 7"/>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20000" contrast="40000"/>
                    </a14:imgEffect>
                  </a14:imgLayer>
                </a14:imgProps>
              </a:ext>
            </a:extLst>
          </a:blip>
          <a:stretch>
            <a:fillRect/>
          </a:stretch>
        </p:blipFill>
        <p:spPr>
          <a:xfrm>
            <a:off x="2718485" y="0"/>
            <a:ext cx="6858000" cy="6858000"/>
          </a:xfrm>
          <a:prstGeom prst="rect">
            <a:avLst/>
          </a:prstGeom>
        </p:spPr>
      </p:pic>
    </p:spTree>
    <p:extLst>
      <p:ext uri="{BB962C8B-B14F-4D97-AF65-F5344CB8AC3E}">
        <p14:creationId xmlns:p14="http://schemas.microsoft.com/office/powerpoint/2010/main" val="3488077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825844" y="686400"/>
            <a:ext cx="10515600" cy="969405"/>
          </a:xfrm>
        </p:spPr>
        <p:style>
          <a:lnRef idx="1">
            <a:schemeClr val="accent2"/>
          </a:lnRef>
          <a:fillRef idx="2">
            <a:schemeClr val="accent2"/>
          </a:fillRef>
          <a:effectRef idx="1">
            <a:schemeClr val="accent2"/>
          </a:effectRef>
          <a:fontRef idx="minor">
            <a:schemeClr val="dk1"/>
          </a:fontRef>
        </p:style>
        <p:txBody>
          <a:bodyPr/>
          <a:lstStyle/>
          <a:p>
            <a:pPr algn="ctr"/>
            <a:r>
              <a:rPr lang="en-US" dirty="0"/>
              <a:t>Possible Coverage before Midterm # 1</a:t>
            </a:r>
          </a:p>
        </p:txBody>
      </p:sp>
      <p:sp>
        <p:nvSpPr>
          <p:cNvPr id="4" name="Slide Number Placeholder 3"/>
          <p:cNvSpPr>
            <a:spLocks noGrp="1"/>
          </p:cNvSpPr>
          <p:nvPr>
            <p:ph type="sldNum" sz="quarter" idx="12"/>
          </p:nvPr>
        </p:nvSpPr>
        <p:spPr/>
        <p:txBody>
          <a:bodyPr/>
          <a:lstStyle/>
          <a:p>
            <a:fld id="{A2A50C4D-0BA1-4E54-8DFC-01810EC97B99}" type="slidenum">
              <a:rPr lang="en-US" smtClean="0"/>
              <a:t>11</a:t>
            </a:fld>
            <a:endParaRPr lang="en-US"/>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838200" y="2402542"/>
            <a:ext cx="4870623" cy="4103444"/>
          </a:xfrm>
          <a:prstGeom prst="rect">
            <a:avLst/>
          </a:prstGeom>
        </p:spPr>
      </p:pic>
      <p:pic>
        <p:nvPicPr>
          <p:cNvPr id="6" name="Picture 5"/>
          <p:cNvPicPr/>
          <p:nvPr/>
        </p:nvPicPr>
        <p:blipFill>
          <a:blip r:embed="rId3"/>
          <a:stretch>
            <a:fillRect/>
          </a:stretch>
        </p:blipFill>
        <p:spPr>
          <a:xfrm>
            <a:off x="6508887" y="2620986"/>
            <a:ext cx="2715431" cy="1198493"/>
          </a:xfrm>
          <a:prstGeom prst="rect">
            <a:avLst/>
          </a:prstGeom>
        </p:spPr>
      </p:pic>
      <p:pic>
        <p:nvPicPr>
          <p:cNvPr id="7" name="Picture 6"/>
          <p:cNvPicPr/>
          <p:nvPr/>
        </p:nvPicPr>
        <p:blipFill>
          <a:blip r:embed="rId4"/>
          <a:stretch>
            <a:fillRect/>
          </a:stretch>
        </p:blipFill>
        <p:spPr>
          <a:xfrm>
            <a:off x="6626275" y="4477448"/>
            <a:ext cx="2480653" cy="762276"/>
          </a:xfrm>
          <a:prstGeom prst="rect">
            <a:avLst/>
          </a:prstGeom>
        </p:spPr>
      </p:pic>
      <p:sp>
        <p:nvSpPr>
          <p:cNvPr id="10" name="TextBox 9"/>
          <p:cNvSpPr txBox="1"/>
          <p:nvPr/>
        </p:nvSpPr>
        <p:spPr>
          <a:xfrm>
            <a:off x="2541584" y="1860050"/>
            <a:ext cx="7084119" cy="461665"/>
          </a:xfrm>
          <a:prstGeom prst="rect">
            <a:avLst/>
          </a:prstGeom>
          <a:noFill/>
        </p:spPr>
        <p:txBody>
          <a:bodyPr wrap="none" rtlCol="0">
            <a:spAutoFit/>
          </a:bodyPr>
          <a:lstStyle/>
          <a:p>
            <a:r>
              <a:rPr lang="en-US" sz="2400" dirty="0">
                <a:solidFill>
                  <a:srgbClr val="FF0000"/>
                </a:solidFill>
              </a:rPr>
              <a:t>Topics from Chapter # 2, Chapter # 20 and Chapter # 21</a:t>
            </a:r>
          </a:p>
        </p:txBody>
      </p:sp>
    </p:spTree>
    <p:extLst>
      <p:ext uri="{BB962C8B-B14F-4D97-AF65-F5344CB8AC3E}">
        <p14:creationId xmlns:p14="http://schemas.microsoft.com/office/powerpoint/2010/main" val="739688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12</a:t>
            </a:fld>
            <a:endParaRPr lang="en-US"/>
          </a:p>
        </p:txBody>
      </p:sp>
      <p:pic>
        <p:nvPicPr>
          <p:cNvPr id="3" name="Picture 2"/>
          <p:cNvPicPr>
            <a:picLocks noChangeAspect="1"/>
          </p:cNvPicPr>
          <p:nvPr/>
        </p:nvPicPr>
        <p:blipFill>
          <a:blip r:embed="rId2"/>
          <a:stretch>
            <a:fillRect/>
          </a:stretch>
        </p:blipFill>
        <p:spPr>
          <a:xfrm>
            <a:off x="783934" y="521972"/>
            <a:ext cx="4791744" cy="1638529"/>
          </a:xfrm>
          <a:prstGeom prst="rect">
            <a:avLst/>
          </a:prstGeom>
        </p:spPr>
      </p:pic>
      <p:pic>
        <p:nvPicPr>
          <p:cNvPr id="5" name="Picture 4"/>
          <p:cNvPicPr>
            <a:picLocks noChangeAspect="1"/>
          </p:cNvPicPr>
          <p:nvPr/>
        </p:nvPicPr>
        <p:blipFill>
          <a:blip r:embed="rId3"/>
          <a:stretch>
            <a:fillRect/>
          </a:stretch>
        </p:blipFill>
        <p:spPr>
          <a:xfrm>
            <a:off x="783934" y="2997622"/>
            <a:ext cx="7922316" cy="1833870"/>
          </a:xfrm>
          <a:prstGeom prst="rect">
            <a:avLst/>
          </a:prstGeom>
        </p:spPr>
      </p:pic>
    </p:spTree>
    <p:extLst>
      <p:ext uri="{BB962C8B-B14F-4D97-AF65-F5344CB8AC3E}">
        <p14:creationId xmlns:p14="http://schemas.microsoft.com/office/powerpoint/2010/main" val="2584661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576700" y="2735005"/>
            <a:ext cx="11135505" cy="2862950"/>
            <a:chOff x="576700" y="1528825"/>
            <a:chExt cx="11135505" cy="2862950"/>
          </a:xfrm>
        </p:grpSpPr>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613771" y="3633290"/>
              <a:ext cx="10998038" cy="758485"/>
            </a:xfrm>
            <a:prstGeom prst="rect">
              <a:avLst/>
            </a:prstGeom>
          </p:spPr>
        </p:pic>
        <p:pic>
          <p:nvPicPr>
            <p:cNvPr id="4" name="Picture 3"/>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576700" y="1528825"/>
              <a:ext cx="11135505" cy="2178202"/>
            </a:xfrm>
            <a:prstGeom prst="rect">
              <a:avLst/>
            </a:prstGeom>
          </p:spPr>
        </p:pic>
      </p:grpSp>
      <p:sp>
        <p:nvSpPr>
          <p:cNvPr id="2" name="Slide Number Placeholder 1"/>
          <p:cNvSpPr>
            <a:spLocks noGrp="1"/>
          </p:cNvSpPr>
          <p:nvPr>
            <p:ph type="sldNum" sz="quarter" idx="12"/>
          </p:nvPr>
        </p:nvSpPr>
        <p:spPr/>
        <p:txBody>
          <a:bodyPr/>
          <a:lstStyle/>
          <a:p>
            <a:fld id="{A2A50C4D-0BA1-4E54-8DFC-01810EC97B99}" type="slidenum">
              <a:rPr lang="en-US" smtClean="0"/>
              <a:t>13</a:t>
            </a:fld>
            <a:endParaRPr lang="en-US"/>
          </a:p>
        </p:txBody>
      </p:sp>
      <p:pic>
        <p:nvPicPr>
          <p:cNvPr id="3" name="Picture 2"/>
          <p:cNvPicPr>
            <a:picLocks noChangeAspect="1"/>
          </p:cNvPicPr>
          <p:nvPr/>
        </p:nvPicPr>
        <p:blipFill>
          <a:blip r:embed="rId6"/>
          <a:stretch>
            <a:fillRect/>
          </a:stretch>
        </p:blipFill>
        <p:spPr>
          <a:xfrm>
            <a:off x="576700" y="534275"/>
            <a:ext cx="9857226" cy="664330"/>
          </a:xfrm>
          <a:prstGeom prst="rect">
            <a:avLst/>
          </a:prstGeom>
        </p:spPr>
      </p:pic>
      <p:sp>
        <p:nvSpPr>
          <p:cNvPr id="8" name="Rectangle 7"/>
          <p:cNvSpPr/>
          <p:nvPr/>
        </p:nvSpPr>
        <p:spPr>
          <a:xfrm>
            <a:off x="1589903" y="1371791"/>
            <a:ext cx="8727990" cy="830997"/>
          </a:xfrm>
          <a:prstGeom prst="rect">
            <a:avLst/>
          </a:prstGeom>
        </p:spPr>
        <p:txBody>
          <a:bodyPr wrap="square">
            <a:spAutoFit/>
          </a:bodyPr>
          <a:lstStyle/>
          <a:p>
            <a:r>
              <a:rPr lang="en-US" sz="2400" dirty="0">
                <a:solidFill>
                  <a:srgbClr val="FF0000"/>
                </a:solidFill>
                <a:latin typeface="arial" panose="020B0604020202020204" pitchFamily="34" charset="0"/>
              </a:rPr>
              <a:t>Encryption is the process of converting information or data into a code, especially to prevent unauthorized access.</a:t>
            </a:r>
            <a:endParaRPr lang="en-US" sz="2400" dirty="0">
              <a:solidFill>
                <a:srgbClr val="FF0000"/>
              </a:solidFill>
            </a:endParaRPr>
          </a:p>
        </p:txBody>
      </p:sp>
    </p:spTree>
    <p:extLst>
      <p:ext uri="{BB962C8B-B14F-4D97-AF65-F5344CB8AC3E}">
        <p14:creationId xmlns:p14="http://schemas.microsoft.com/office/powerpoint/2010/main" val="1264511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14</a:t>
            </a:fld>
            <a:endParaRPr lang="en-US"/>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454926" y="1507524"/>
            <a:ext cx="11365345" cy="4546138"/>
          </a:xfrm>
          <a:prstGeom prst="rect">
            <a:avLst/>
          </a:prstGeom>
        </p:spPr>
      </p:pic>
      <p:pic>
        <p:nvPicPr>
          <p:cNvPr id="4" name="Picture 3"/>
          <p:cNvPicPr>
            <a:picLocks noChangeAspect="1"/>
          </p:cNvPicPr>
          <p:nvPr/>
        </p:nvPicPr>
        <p:blipFill>
          <a:blip r:embed="rId4"/>
          <a:stretch>
            <a:fillRect/>
          </a:stretch>
        </p:blipFill>
        <p:spPr>
          <a:xfrm>
            <a:off x="576700" y="534275"/>
            <a:ext cx="9857226" cy="664330"/>
          </a:xfrm>
          <a:prstGeom prst="rect">
            <a:avLst/>
          </a:prstGeom>
        </p:spPr>
      </p:pic>
    </p:spTree>
    <p:extLst>
      <p:ext uri="{BB962C8B-B14F-4D97-AF65-F5344CB8AC3E}">
        <p14:creationId xmlns:p14="http://schemas.microsoft.com/office/powerpoint/2010/main" val="40756579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15</a:t>
            </a:fld>
            <a:endParaRPr lang="en-US"/>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025611" y="1283959"/>
            <a:ext cx="9747422" cy="5254953"/>
          </a:xfrm>
          <a:prstGeom prst="rect">
            <a:avLst/>
          </a:prstGeom>
        </p:spPr>
      </p:pic>
      <p:pic>
        <p:nvPicPr>
          <p:cNvPr id="5" name="Picture 4"/>
          <p:cNvPicPr>
            <a:picLocks noChangeAspect="1"/>
          </p:cNvPicPr>
          <p:nvPr/>
        </p:nvPicPr>
        <p:blipFill>
          <a:blip r:embed="rId4"/>
          <a:stretch>
            <a:fillRect/>
          </a:stretch>
        </p:blipFill>
        <p:spPr>
          <a:xfrm>
            <a:off x="576700" y="534275"/>
            <a:ext cx="9857226" cy="664330"/>
          </a:xfrm>
          <a:prstGeom prst="rect">
            <a:avLst/>
          </a:prstGeom>
        </p:spPr>
      </p:pic>
    </p:spTree>
    <p:extLst>
      <p:ext uri="{BB962C8B-B14F-4D97-AF65-F5344CB8AC3E}">
        <p14:creationId xmlns:p14="http://schemas.microsoft.com/office/powerpoint/2010/main" val="2094915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16</a:t>
            </a:fld>
            <a:endParaRPr lang="en-US"/>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71787" y="1586653"/>
            <a:ext cx="11317105" cy="4126029"/>
          </a:xfrm>
          <a:prstGeom prst="rect">
            <a:avLst/>
          </a:prstGeom>
        </p:spPr>
      </p:pic>
      <p:pic>
        <p:nvPicPr>
          <p:cNvPr id="4" name="Picture 3"/>
          <p:cNvPicPr>
            <a:picLocks noChangeAspect="1"/>
          </p:cNvPicPr>
          <p:nvPr/>
        </p:nvPicPr>
        <p:blipFill>
          <a:blip r:embed="rId4"/>
          <a:stretch>
            <a:fillRect/>
          </a:stretch>
        </p:blipFill>
        <p:spPr>
          <a:xfrm>
            <a:off x="576700" y="534275"/>
            <a:ext cx="9857226" cy="664330"/>
          </a:xfrm>
          <a:prstGeom prst="rect">
            <a:avLst/>
          </a:prstGeom>
        </p:spPr>
      </p:pic>
    </p:spTree>
    <p:extLst>
      <p:ext uri="{BB962C8B-B14F-4D97-AF65-F5344CB8AC3E}">
        <p14:creationId xmlns:p14="http://schemas.microsoft.com/office/powerpoint/2010/main" val="42927658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21659" y="1234645"/>
            <a:ext cx="10515600" cy="875142"/>
          </a:xfrm>
        </p:spPr>
        <p:txBody>
          <a:bodyPr/>
          <a:lstStyle/>
          <a:p>
            <a:r>
              <a:rPr lang="en-US" dirty="0"/>
              <a:t>Attacking a Symmetric Encryption Scheme (1)</a:t>
            </a:r>
          </a:p>
        </p:txBody>
      </p:sp>
      <p:sp>
        <p:nvSpPr>
          <p:cNvPr id="5" name="Content Placeholder 4"/>
          <p:cNvSpPr>
            <a:spLocks noGrp="1"/>
          </p:cNvSpPr>
          <p:nvPr>
            <p:ph idx="1"/>
          </p:nvPr>
        </p:nvSpPr>
        <p:spPr>
          <a:xfrm>
            <a:off x="576700" y="1917098"/>
            <a:ext cx="10989224" cy="2012350"/>
          </a:xfrm>
        </p:spPr>
        <p:txBody>
          <a:bodyPr>
            <a:noAutofit/>
          </a:bodyPr>
          <a:lstStyle/>
          <a:p>
            <a:r>
              <a:rPr lang="en-US" sz="2400" b="1" dirty="0">
                <a:solidFill>
                  <a:srgbClr val="FF0000"/>
                </a:solidFill>
              </a:rPr>
              <a:t>Brute-force attack</a:t>
            </a:r>
            <a:r>
              <a:rPr lang="en-US" sz="2400" dirty="0"/>
              <a:t> is to try every possible key on a piece of cipher text until an intelligible translation into plaintext is obtained. </a:t>
            </a:r>
          </a:p>
          <a:p>
            <a:pPr lvl="1"/>
            <a:r>
              <a:rPr lang="en-US" sz="2000" dirty="0"/>
              <a:t>On average, half of all possible keys must be tried to achieve success. That is, if there are </a:t>
            </a:r>
            <a:r>
              <a:rPr lang="en-US" sz="2000" i="1" dirty="0"/>
              <a:t>x </a:t>
            </a:r>
            <a:r>
              <a:rPr lang="en-US" sz="2000" dirty="0"/>
              <a:t>different keys, on average an attacker would discover the actual key after </a:t>
            </a:r>
            <a:r>
              <a:rPr lang="en-US" sz="2000" i="1" dirty="0"/>
              <a:t>x</a:t>
            </a:r>
            <a:r>
              <a:rPr lang="en-US" sz="2000" dirty="0"/>
              <a:t>/2 tries.</a:t>
            </a:r>
          </a:p>
          <a:p>
            <a:pPr lvl="1"/>
            <a:r>
              <a:rPr lang="en-US" sz="2000" dirty="0"/>
              <a:t>This means size of key has a great impact of breaking the symmetric Encryption schedule. Larger the key the more time it will takes to try all possible key combinations.</a:t>
            </a:r>
          </a:p>
        </p:txBody>
      </p:sp>
      <p:sp>
        <p:nvSpPr>
          <p:cNvPr id="2" name="Slide Number Placeholder 1"/>
          <p:cNvSpPr>
            <a:spLocks noGrp="1"/>
          </p:cNvSpPr>
          <p:nvPr>
            <p:ph type="sldNum" sz="quarter" idx="12"/>
          </p:nvPr>
        </p:nvSpPr>
        <p:spPr/>
        <p:txBody>
          <a:bodyPr/>
          <a:lstStyle/>
          <a:p>
            <a:fld id="{A2A50C4D-0BA1-4E54-8DFC-01810EC97B99}" type="slidenum">
              <a:rPr lang="en-US" smtClean="0"/>
              <a:t>17</a:t>
            </a:fld>
            <a:endParaRPr lang="en-US"/>
          </a:p>
        </p:txBody>
      </p:sp>
      <p:pic>
        <p:nvPicPr>
          <p:cNvPr id="6" name="Picture 5"/>
          <p:cNvPicPr>
            <a:picLocks noChangeAspect="1"/>
          </p:cNvPicPr>
          <p:nvPr/>
        </p:nvPicPr>
        <p:blipFill>
          <a:blip r:embed="rId2"/>
          <a:stretch>
            <a:fillRect/>
          </a:stretch>
        </p:blipFill>
        <p:spPr>
          <a:xfrm>
            <a:off x="576700" y="534275"/>
            <a:ext cx="9857226" cy="664330"/>
          </a:xfrm>
          <a:prstGeom prst="rect">
            <a:avLst/>
          </a:prstGeom>
        </p:spPr>
      </p:pic>
      <p:pic>
        <p:nvPicPr>
          <p:cNvPr id="3" name="Picture 2"/>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1970727" y="3978876"/>
            <a:ext cx="8463199" cy="2656333"/>
          </a:xfrm>
          <a:prstGeom prst="rect">
            <a:avLst/>
          </a:prstGeom>
        </p:spPr>
      </p:pic>
      <p:sp>
        <p:nvSpPr>
          <p:cNvPr id="7" name="TextBox 6">
            <a:extLst>
              <a:ext uri="{FF2B5EF4-FFF2-40B4-BE49-F238E27FC236}">
                <a16:creationId xmlns:a16="http://schemas.microsoft.com/office/drawing/2014/main" id="{9E06F4D3-7C1B-5FD1-684B-71EEF2CF1066}"/>
              </a:ext>
            </a:extLst>
          </p:cNvPr>
          <p:cNvSpPr txBox="1"/>
          <p:nvPr/>
        </p:nvSpPr>
        <p:spPr>
          <a:xfrm>
            <a:off x="1075763" y="1058002"/>
            <a:ext cx="8641977" cy="369332"/>
          </a:xfrm>
          <a:prstGeom prst="rect">
            <a:avLst/>
          </a:prstGeom>
          <a:noFill/>
        </p:spPr>
        <p:txBody>
          <a:bodyPr wrap="square">
            <a:spAutoFit/>
          </a:bodyPr>
          <a:lstStyle/>
          <a:p>
            <a:r>
              <a:rPr lang="en-US" sz="1800" b="0" i="0" u="none" strike="noStrike" baseline="0" dirty="0">
                <a:latin typeface="TimesTenLTStd-Roman"/>
              </a:rPr>
              <a:t>There are two general approaches to attacking a symmetric encryption scheme.</a:t>
            </a:r>
            <a:endParaRPr lang="en-PK" dirty="0"/>
          </a:p>
        </p:txBody>
      </p:sp>
    </p:spTree>
    <p:extLst>
      <p:ext uri="{BB962C8B-B14F-4D97-AF65-F5344CB8AC3E}">
        <p14:creationId xmlns:p14="http://schemas.microsoft.com/office/powerpoint/2010/main" val="21457359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1236959"/>
            <a:ext cx="10515600" cy="875142"/>
          </a:xfrm>
        </p:spPr>
        <p:txBody>
          <a:bodyPr/>
          <a:lstStyle/>
          <a:p>
            <a:r>
              <a:rPr lang="en-US" dirty="0"/>
              <a:t>Attacking a Symmetric Encryption Scheme (1)</a:t>
            </a:r>
          </a:p>
        </p:txBody>
      </p:sp>
      <p:sp>
        <p:nvSpPr>
          <p:cNvPr id="5" name="Content Placeholder 4"/>
          <p:cNvSpPr>
            <a:spLocks noGrp="1"/>
          </p:cNvSpPr>
          <p:nvPr>
            <p:ph idx="1"/>
          </p:nvPr>
        </p:nvSpPr>
        <p:spPr>
          <a:xfrm>
            <a:off x="838200" y="1966526"/>
            <a:ext cx="10515600" cy="4389824"/>
          </a:xfrm>
        </p:spPr>
        <p:txBody>
          <a:bodyPr>
            <a:noAutofit/>
          </a:bodyPr>
          <a:lstStyle/>
          <a:p>
            <a:r>
              <a:rPr lang="en-US" sz="2400" b="1" dirty="0">
                <a:solidFill>
                  <a:srgbClr val="FF0000"/>
                </a:solidFill>
              </a:rPr>
              <a:t>Brute-force attack</a:t>
            </a:r>
            <a:r>
              <a:rPr lang="en-US" sz="2400" dirty="0"/>
              <a:t> is to try every possible key on a piece of cipher text until an intelligible translation into plaintext is obtained. </a:t>
            </a:r>
          </a:p>
          <a:p>
            <a:pPr lvl="1"/>
            <a:r>
              <a:rPr lang="en-US" sz="2000" dirty="0"/>
              <a:t>On average, half of all possible keys must be tried to achieve success. That is, if there are </a:t>
            </a:r>
            <a:r>
              <a:rPr lang="en-US" sz="2000" i="1" dirty="0"/>
              <a:t>x </a:t>
            </a:r>
            <a:r>
              <a:rPr lang="en-US" sz="2000" dirty="0"/>
              <a:t>different keys, on average an attacker would discover the actual key after </a:t>
            </a:r>
            <a:r>
              <a:rPr lang="en-US" sz="2000" i="1" dirty="0"/>
              <a:t>x</a:t>
            </a:r>
            <a:r>
              <a:rPr lang="en-US" sz="2000" dirty="0"/>
              <a:t>/2 tries.</a:t>
            </a:r>
          </a:p>
          <a:p>
            <a:pPr lvl="1"/>
            <a:r>
              <a:rPr lang="en-US" sz="2000" dirty="0"/>
              <a:t>This means size of key has a great impact of breaking the symmetric Encryption schedule. Larger the key the more time it will takes to try all possible key combinations.</a:t>
            </a:r>
          </a:p>
          <a:p>
            <a:r>
              <a:rPr lang="en-US" sz="2400" dirty="0"/>
              <a:t>More information about plain text is needed </a:t>
            </a:r>
            <a:r>
              <a:rPr lang="en-US" sz="2400" b="1" dirty="0">
                <a:solidFill>
                  <a:srgbClr val="FF0000"/>
                </a:solidFill>
              </a:rPr>
              <a:t>to break in less time </a:t>
            </a:r>
            <a:r>
              <a:rPr lang="en-US" sz="2400" dirty="0"/>
              <a:t>(i.e. trying half the keys):</a:t>
            </a:r>
          </a:p>
          <a:p>
            <a:pPr lvl="1"/>
            <a:r>
              <a:rPr lang="en-US" sz="2000" dirty="0"/>
              <a:t>Language of the plain text. This make it easy to recognize the result.</a:t>
            </a:r>
          </a:p>
          <a:p>
            <a:pPr lvl="1"/>
            <a:r>
              <a:rPr lang="en-US" sz="2000" dirty="0"/>
              <a:t>If the text message has been compressed before encryption, then recognition is more difficult. </a:t>
            </a:r>
          </a:p>
          <a:p>
            <a:pPr lvl="1"/>
            <a:r>
              <a:rPr lang="en-US" sz="2000" dirty="0"/>
              <a:t>A numerical file that has been compressed, the problem becomes even more difficult.</a:t>
            </a:r>
          </a:p>
        </p:txBody>
      </p:sp>
      <p:sp>
        <p:nvSpPr>
          <p:cNvPr id="2" name="Slide Number Placeholder 1"/>
          <p:cNvSpPr>
            <a:spLocks noGrp="1"/>
          </p:cNvSpPr>
          <p:nvPr>
            <p:ph type="sldNum" sz="quarter" idx="12"/>
          </p:nvPr>
        </p:nvSpPr>
        <p:spPr/>
        <p:txBody>
          <a:bodyPr/>
          <a:lstStyle/>
          <a:p>
            <a:fld id="{A2A50C4D-0BA1-4E54-8DFC-01810EC97B99}" type="slidenum">
              <a:rPr lang="en-US" smtClean="0"/>
              <a:t>18</a:t>
            </a:fld>
            <a:endParaRPr lang="en-US"/>
          </a:p>
        </p:txBody>
      </p:sp>
      <p:pic>
        <p:nvPicPr>
          <p:cNvPr id="6" name="Picture 5"/>
          <p:cNvPicPr>
            <a:picLocks noChangeAspect="1"/>
          </p:cNvPicPr>
          <p:nvPr/>
        </p:nvPicPr>
        <p:blipFill>
          <a:blip r:embed="rId2"/>
          <a:stretch>
            <a:fillRect/>
          </a:stretch>
        </p:blipFill>
        <p:spPr>
          <a:xfrm>
            <a:off x="838200" y="485326"/>
            <a:ext cx="9857226" cy="664330"/>
          </a:xfrm>
          <a:prstGeom prst="rect">
            <a:avLst/>
          </a:prstGeom>
        </p:spPr>
      </p:pic>
    </p:spTree>
    <p:extLst>
      <p:ext uri="{BB962C8B-B14F-4D97-AF65-F5344CB8AC3E}">
        <p14:creationId xmlns:p14="http://schemas.microsoft.com/office/powerpoint/2010/main" val="11781896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1040156"/>
            <a:ext cx="10515600" cy="862785"/>
          </a:xfrm>
        </p:spPr>
        <p:txBody>
          <a:bodyPr/>
          <a:lstStyle/>
          <a:p>
            <a:r>
              <a:rPr lang="en-US" dirty="0"/>
              <a:t>Attacking a Symmetric Encryption Scheme (2)</a:t>
            </a:r>
          </a:p>
        </p:txBody>
      </p:sp>
      <p:sp>
        <p:nvSpPr>
          <p:cNvPr id="5" name="Content Placeholder 4"/>
          <p:cNvSpPr>
            <a:spLocks noGrp="1"/>
          </p:cNvSpPr>
          <p:nvPr>
            <p:ph idx="1"/>
          </p:nvPr>
        </p:nvSpPr>
        <p:spPr>
          <a:xfrm>
            <a:off x="838200" y="1902941"/>
            <a:ext cx="10515600" cy="4547288"/>
          </a:xfrm>
        </p:spPr>
        <p:txBody>
          <a:bodyPr>
            <a:normAutofit fontScale="85000" lnSpcReduction="20000"/>
          </a:bodyPr>
          <a:lstStyle/>
          <a:p>
            <a:r>
              <a:rPr lang="en-US" b="1" dirty="0">
                <a:solidFill>
                  <a:srgbClr val="FF0000"/>
                </a:solidFill>
              </a:rPr>
              <a:t>Cryptanalysis</a:t>
            </a:r>
            <a:r>
              <a:rPr lang="en-US" dirty="0"/>
              <a:t>. Cryptanalysis refers to the process of analyzing information systems in order to understand hidden aspects of the systems. </a:t>
            </a:r>
          </a:p>
          <a:p>
            <a:endParaRPr lang="en-US" sz="1200" dirty="0"/>
          </a:p>
          <a:p>
            <a:r>
              <a:rPr lang="en-US" dirty="0"/>
              <a:t>Cryptanalysis is used to breach cryptographic security systems and gain access to the contents of encrypted messages, </a:t>
            </a:r>
            <a:r>
              <a:rPr lang="en-US" dirty="0">
                <a:solidFill>
                  <a:srgbClr val="FF0000"/>
                </a:solidFill>
              </a:rPr>
              <a:t>even if the cryptographic key is unknown</a:t>
            </a:r>
            <a:r>
              <a:rPr lang="en-US" dirty="0"/>
              <a:t>.</a:t>
            </a:r>
          </a:p>
          <a:p>
            <a:endParaRPr lang="en-US" sz="1400" dirty="0"/>
          </a:p>
          <a:p>
            <a:r>
              <a:rPr lang="en-US" dirty="0"/>
              <a:t>This attacks rely on the </a:t>
            </a:r>
            <a:r>
              <a:rPr lang="en-US" dirty="0">
                <a:solidFill>
                  <a:srgbClr val="FF0000"/>
                </a:solidFill>
              </a:rPr>
              <a:t>nature of the algorithm </a:t>
            </a:r>
            <a:r>
              <a:rPr lang="en-US" dirty="0"/>
              <a:t>plus perhaps some knowledge of the general characteristics of</a:t>
            </a:r>
          </a:p>
          <a:p>
            <a:pPr lvl="1"/>
            <a:r>
              <a:rPr lang="en-US" dirty="0"/>
              <a:t>the plaintext, or</a:t>
            </a:r>
          </a:p>
          <a:p>
            <a:pPr lvl="1"/>
            <a:r>
              <a:rPr lang="en-US" dirty="0"/>
              <a:t>some knowledge of some plaintext-</a:t>
            </a:r>
            <a:r>
              <a:rPr lang="en-US" dirty="0" err="1"/>
              <a:t>ciphertext</a:t>
            </a:r>
            <a:r>
              <a:rPr lang="en-US" dirty="0"/>
              <a:t> pairs. </a:t>
            </a:r>
          </a:p>
          <a:p>
            <a:endParaRPr lang="en-US" sz="900" dirty="0"/>
          </a:p>
          <a:p>
            <a:r>
              <a:rPr lang="en-US" dirty="0"/>
              <a:t>This type of attack exploits the characteristics of the algorithm to attempt to deduce a specific plaintext or to deduce the key being used.</a:t>
            </a:r>
          </a:p>
          <a:p>
            <a:pPr lvl="1"/>
            <a:r>
              <a:rPr lang="en-US" dirty="0"/>
              <a:t> If the attack succeeds in deducing the key, the effect is catastrophic: All future and past messages encrypted with that key are compromised. </a:t>
            </a:r>
          </a:p>
        </p:txBody>
      </p:sp>
      <p:sp>
        <p:nvSpPr>
          <p:cNvPr id="2" name="Slide Number Placeholder 1"/>
          <p:cNvSpPr>
            <a:spLocks noGrp="1"/>
          </p:cNvSpPr>
          <p:nvPr>
            <p:ph type="sldNum" sz="quarter" idx="12"/>
          </p:nvPr>
        </p:nvSpPr>
        <p:spPr/>
        <p:txBody>
          <a:bodyPr/>
          <a:lstStyle/>
          <a:p>
            <a:fld id="{A2A50C4D-0BA1-4E54-8DFC-01810EC97B99}" type="slidenum">
              <a:rPr lang="en-US" smtClean="0"/>
              <a:t>19</a:t>
            </a:fld>
            <a:endParaRPr lang="en-US"/>
          </a:p>
        </p:txBody>
      </p:sp>
      <p:pic>
        <p:nvPicPr>
          <p:cNvPr id="6" name="Picture 5"/>
          <p:cNvPicPr>
            <a:picLocks noChangeAspect="1"/>
          </p:cNvPicPr>
          <p:nvPr/>
        </p:nvPicPr>
        <p:blipFill>
          <a:blip r:embed="rId2"/>
          <a:stretch>
            <a:fillRect/>
          </a:stretch>
        </p:blipFill>
        <p:spPr>
          <a:xfrm>
            <a:off x="576700" y="534275"/>
            <a:ext cx="9857226" cy="664330"/>
          </a:xfrm>
          <a:prstGeom prst="rect">
            <a:avLst/>
          </a:prstGeom>
        </p:spPr>
      </p:pic>
    </p:spTree>
    <p:extLst>
      <p:ext uri="{BB962C8B-B14F-4D97-AF65-F5344CB8AC3E}">
        <p14:creationId xmlns:p14="http://schemas.microsoft.com/office/powerpoint/2010/main" val="16425995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dirty="0"/>
              <a:t>Types of Symmetric Encryption</a:t>
            </a:r>
          </a:p>
          <a:p>
            <a:pPr lvl="1"/>
            <a:r>
              <a:rPr lang="en-US" dirty="0"/>
              <a:t>Block Ciphers</a:t>
            </a:r>
          </a:p>
          <a:p>
            <a:pPr lvl="1"/>
            <a:r>
              <a:rPr lang="en-US" dirty="0"/>
              <a:t>Stream Ciphers</a:t>
            </a:r>
          </a:p>
          <a:p>
            <a:r>
              <a:rPr lang="en-US" dirty="0"/>
              <a:t>Symmetric Block Encryption Algorithms</a:t>
            </a:r>
          </a:p>
          <a:p>
            <a:pPr lvl="1"/>
            <a:r>
              <a:rPr lang="en-US" dirty="0"/>
              <a:t>DES and AES</a:t>
            </a:r>
          </a:p>
          <a:p>
            <a:pPr lvl="1"/>
            <a:r>
              <a:rPr lang="en-US" dirty="0"/>
              <a:t>Weaknesses of DES and Triple-DES</a:t>
            </a:r>
          </a:p>
          <a:p>
            <a:r>
              <a:rPr lang="en-US" dirty="0"/>
              <a:t>Data Encryption Standard (DES) Algorithms</a:t>
            </a:r>
          </a:p>
        </p:txBody>
      </p:sp>
      <p:sp>
        <p:nvSpPr>
          <p:cNvPr id="2" name="Slide Number Placeholder 1"/>
          <p:cNvSpPr>
            <a:spLocks noGrp="1"/>
          </p:cNvSpPr>
          <p:nvPr>
            <p:ph type="sldNum" sz="quarter" idx="12"/>
          </p:nvPr>
        </p:nvSpPr>
        <p:spPr/>
        <p:txBody>
          <a:bodyPr/>
          <a:lstStyle/>
          <a:p>
            <a:fld id="{A2A50C4D-0BA1-4E54-8DFC-01810EC97B99}" type="slidenum">
              <a:rPr lang="en-US" smtClean="0"/>
              <a:t>20</a:t>
            </a:fld>
            <a:endParaRPr lang="en-US"/>
          </a:p>
        </p:txBody>
      </p:sp>
      <p:sp>
        <p:nvSpPr>
          <p:cNvPr id="6" name="Title 5">
            <a:extLst>
              <a:ext uri="{FF2B5EF4-FFF2-40B4-BE49-F238E27FC236}">
                <a16:creationId xmlns:a16="http://schemas.microsoft.com/office/drawing/2014/main" id="{4D4D8768-5B56-66C6-9138-9FEE5B8E421A}"/>
              </a:ext>
            </a:extLst>
          </p:cNvPr>
          <p:cNvSpPr>
            <a:spLocks noGrp="1"/>
          </p:cNvSpPr>
          <p:nvPr>
            <p:ph type="title"/>
          </p:nvPr>
        </p:nvSpPr>
        <p:spPr/>
        <p:txBody>
          <a:bodyPr/>
          <a:lstStyle/>
          <a:p>
            <a:r>
              <a:rPr lang="en-US" sz="4400" b="1" dirty="0"/>
              <a:t>Symmetric Block Encryption Algorithms</a:t>
            </a:r>
            <a:endParaRPr lang="en-PK" dirty="0"/>
          </a:p>
        </p:txBody>
      </p:sp>
    </p:spTree>
    <p:extLst>
      <p:ext uri="{BB962C8B-B14F-4D97-AF65-F5344CB8AC3E}">
        <p14:creationId xmlns:p14="http://schemas.microsoft.com/office/powerpoint/2010/main" val="7446409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21</a:t>
            </a:fld>
            <a:endParaRPr lang="en-US"/>
          </a:p>
        </p:txBody>
      </p:sp>
      <p:grpSp>
        <p:nvGrpSpPr>
          <p:cNvPr id="7" name="Group 6"/>
          <p:cNvGrpSpPr/>
          <p:nvPr/>
        </p:nvGrpSpPr>
        <p:grpSpPr>
          <a:xfrm>
            <a:off x="665550" y="3767332"/>
            <a:ext cx="10838591" cy="2386334"/>
            <a:chOff x="3038048" y="937634"/>
            <a:chExt cx="6115904" cy="1305107"/>
          </a:xfrm>
        </p:grpSpPr>
        <p:pic>
          <p:nvPicPr>
            <p:cNvPr id="5" name="Picture 4"/>
            <p:cNvPicPr>
              <a:picLocks noChangeAspect="1"/>
            </p:cNvPicPr>
            <p:nvPr/>
          </p:nvPicPr>
          <p:blipFill>
            <a:blip r:embed="rId2"/>
            <a:stretch>
              <a:fillRect/>
            </a:stretch>
          </p:blipFill>
          <p:spPr>
            <a:xfrm>
              <a:off x="3038048" y="937634"/>
              <a:ext cx="6115904" cy="905001"/>
            </a:xfrm>
            <a:prstGeom prst="rect">
              <a:avLst/>
            </a:prstGeom>
          </p:spPr>
        </p:pic>
        <p:pic>
          <p:nvPicPr>
            <p:cNvPr id="6" name="Picture 5"/>
            <p:cNvPicPr>
              <a:picLocks noChangeAspect="1"/>
            </p:cNvPicPr>
            <p:nvPr/>
          </p:nvPicPr>
          <p:blipFill>
            <a:blip r:embed="rId3"/>
            <a:stretch>
              <a:fillRect/>
            </a:stretch>
          </p:blipFill>
          <p:spPr>
            <a:xfrm>
              <a:off x="3057101" y="1842635"/>
              <a:ext cx="6077798" cy="400106"/>
            </a:xfrm>
            <a:prstGeom prst="rect">
              <a:avLst/>
            </a:prstGeom>
          </p:spPr>
        </p:pic>
      </p:grpSp>
      <p:pic>
        <p:nvPicPr>
          <p:cNvPr id="8" name="Picture 7"/>
          <p:cNvPicPr>
            <a:picLocks noChangeAspect="1"/>
          </p:cNvPicPr>
          <p:nvPr/>
        </p:nvPicPr>
        <p:blipFill>
          <a:blip r:embed="rId4"/>
          <a:stretch>
            <a:fillRect/>
          </a:stretch>
        </p:blipFill>
        <p:spPr>
          <a:xfrm>
            <a:off x="576415" y="453193"/>
            <a:ext cx="5631550" cy="559956"/>
          </a:xfrm>
          <a:prstGeom prst="rect">
            <a:avLst/>
          </a:prstGeom>
        </p:spPr>
      </p:pic>
      <p:pic>
        <p:nvPicPr>
          <p:cNvPr id="9" name="Picture 8"/>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665550" y="1325182"/>
            <a:ext cx="10923793" cy="2048212"/>
          </a:xfrm>
          <a:prstGeom prst="rect">
            <a:avLst/>
          </a:prstGeom>
        </p:spPr>
      </p:pic>
      <p:sp>
        <p:nvSpPr>
          <p:cNvPr id="10" name="Rectangle 9"/>
          <p:cNvSpPr/>
          <p:nvPr/>
        </p:nvSpPr>
        <p:spPr>
          <a:xfrm>
            <a:off x="3392190" y="5787877"/>
            <a:ext cx="6443788" cy="365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08163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59EE2-28D7-CF35-3227-9B304B354057}"/>
              </a:ext>
            </a:extLst>
          </p:cNvPr>
          <p:cNvSpPr>
            <a:spLocks noGrp="1"/>
          </p:cNvSpPr>
          <p:nvPr>
            <p:ph type="title"/>
          </p:nvPr>
        </p:nvSpPr>
        <p:spPr/>
        <p:txBody>
          <a:bodyPr/>
          <a:lstStyle/>
          <a:p>
            <a:r>
              <a:rPr lang="en-US" b="1" dirty="0"/>
              <a:t>Application of Block and stream cipher</a:t>
            </a:r>
            <a:endParaRPr lang="en-PK" b="1" dirty="0"/>
          </a:p>
        </p:txBody>
      </p:sp>
      <p:sp>
        <p:nvSpPr>
          <p:cNvPr id="3" name="Content Placeholder 2">
            <a:extLst>
              <a:ext uri="{FF2B5EF4-FFF2-40B4-BE49-F238E27FC236}">
                <a16:creationId xmlns:a16="http://schemas.microsoft.com/office/drawing/2014/main" id="{C680DECC-6842-3A80-E483-8F9AD8FA2A82}"/>
              </a:ext>
            </a:extLst>
          </p:cNvPr>
          <p:cNvSpPr>
            <a:spLocks noGrp="1"/>
          </p:cNvSpPr>
          <p:nvPr>
            <p:ph idx="1"/>
          </p:nvPr>
        </p:nvSpPr>
        <p:spPr>
          <a:xfrm>
            <a:off x="838199" y="1825625"/>
            <a:ext cx="10986247" cy="4351338"/>
          </a:xfrm>
        </p:spPr>
        <p:txBody>
          <a:bodyPr>
            <a:normAutofit/>
          </a:bodyPr>
          <a:lstStyle/>
          <a:p>
            <a:r>
              <a:rPr lang="en-US" sz="2800" b="0" i="0" u="none" strike="noStrike" baseline="0" dirty="0">
                <a:latin typeface="TimesTenLTStd-Roman"/>
              </a:rPr>
              <a:t>For applications that deal with blocks of data, such as:</a:t>
            </a:r>
          </a:p>
          <a:p>
            <a:pPr lvl="1"/>
            <a:r>
              <a:rPr lang="en-US" dirty="0">
                <a:latin typeface="TimesTenLTStd-Roman"/>
              </a:rPr>
              <a:t>F</a:t>
            </a:r>
            <a:r>
              <a:rPr lang="en-US" b="0" i="0" u="none" strike="noStrike" baseline="0" dirty="0">
                <a:latin typeface="TimesTenLTStd-Roman"/>
              </a:rPr>
              <a:t>ile transfer</a:t>
            </a:r>
          </a:p>
          <a:p>
            <a:pPr lvl="1"/>
            <a:r>
              <a:rPr lang="en-US" b="0" i="0" u="none" strike="noStrike" baseline="0" dirty="0">
                <a:latin typeface="TimesTenLTStd-Roman"/>
              </a:rPr>
              <a:t>E-mail</a:t>
            </a:r>
          </a:p>
          <a:p>
            <a:pPr lvl="1"/>
            <a:r>
              <a:rPr lang="en-US" dirty="0">
                <a:latin typeface="TimesTenLTStd-Roman"/>
              </a:rPr>
              <a:t>D</a:t>
            </a:r>
            <a:r>
              <a:rPr lang="en-US" b="0" i="0" u="none" strike="noStrike" baseline="0" dirty="0">
                <a:latin typeface="TimesTenLTStd-Roman"/>
              </a:rPr>
              <a:t>atabase</a:t>
            </a:r>
          </a:p>
          <a:p>
            <a:pPr lvl="1"/>
            <a:r>
              <a:rPr lang="en-US" b="0" i="0" u="none" strike="noStrike" baseline="0" dirty="0">
                <a:latin typeface="TimesTenLTStd-Roman"/>
              </a:rPr>
              <a:t>File and disk encryption</a:t>
            </a:r>
          </a:p>
          <a:p>
            <a:endParaRPr lang="en-US" dirty="0">
              <a:latin typeface="TimesTenLTStd-Roman"/>
            </a:endParaRPr>
          </a:p>
          <a:p>
            <a:r>
              <a:rPr lang="en-US" sz="2800" b="0" i="0" u="none" strike="noStrike" baseline="0" dirty="0">
                <a:latin typeface="TimesTenLTStd-Roman"/>
              </a:rPr>
              <a:t>For applications that require encryption/decryption of a stream of data, such as over a data communications channel or a browser/Web link, a stream cipher might be the better alternative. </a:t>
            </a:r>
          </a:p>
          <a:p>
            <a:endParaRPr lang="en-PK" dirty="0"/>
          </a:p>
          <a:p>
            <a:endParaRPr lang="en-PK" dirty="0"/>
          </a:p>
        </p:txBody>
      </p:sp>
      <p:sp>
        <p:nvSpPr>
          <p:cNvPr id="4" name="Slide Number Placeholder 3">
            <a:extLst>
              <a:ext uri="{FF2B5EF4-FFF2-40B4-BE49-F238E27FC236}">
                <a16:creationId xmlns:a16="http://schemas.microsoft.com/office/drawing/2014/main" id="{BCC5BF8F-3026-C57B-5218-BA41992E504E}"/>
              </a:ext>
            </a:extLst>
          </p:cNvPr>
          <p:cNvSpPr>
            <a:spLocks noGrp="1"/>
          </p:cNvSpPr>
          <p:nvPr>
            <p:ph type="sldNum" sz="quarter" idx="12"/>
          </p:nvPr>
        </p:nvSpPr>
        <p:spPr/>
        <p:txBody>
          <a:bodyPr/>
          <a:lstStyle/>
          <a:p>
            <a:fld id="{A2A50C4D-0BA1-4E54-8DFC-01810EC97B99}" type="slidenum">
              <a:rPr lang="en-US" smtClean="0"/>
              <a:t>22</a:t>
            </a:fld>
            <a:endParaRPr lang="en-US"/>
          </a:p>
        </p:txBody>
      </p:sp>
    </p:spTree>
    <p:extLst>
      <p:ext uri="{BB962C8B-B14F-4D97-AF65-F5344CB8AC3E}">
        <p14:creationId xmlns:p14="http://schemas.microsoft.com/office/powerpoint/2010/main" val="4330327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23</a:t>
            </a:fld>
            <a:endParaRPr lang="en-US"/>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359243" y="575643"/>
            <a:ext cx="9364362" cy="5256411"/>
          </a:xfrm>
          <a:prstGeom prst="rect">
            <a:avLst/>
          </a:prstGeom>
        </p:spPr>
      </p:pic>
      <p:pic>
        <p:nvPicPr>
          <p:cNvPr id="4" name="Picture 3"/>
          <p:cNvPicPr>
            <a:picLocks noChangeAspect="1"/>
          </p:cNvPicPr>
          <p:nvPr/>
        </p:nvPicPr>
        <p:blipFill>
          <a:blip r:embed="rId4"/>
          <a:stretch>
            <a:fillRect/>
          </a:stretch>
        </p:blipFill>
        <p:spPr>
          <a:xfrm>
            <a:off x="934422" y="6041981"/>
            <a:ext cx="4515480" cy="314369"/>
          </a:xfrm>
          <a:prstGeom prst="rect">
            <a:avLst/>
          </a:prstGeom>
        </p:spPr>
      </p:pic>
    </p:spTree>
    <p:extLst>
      <p:ext uri="{BB962C8B-B14F-4D97-AF65-F5344CB8AC3E}">
        <p14:creationId xmlns:p14="http://schemas.microsoft.com/office/powerpoint/2010/main" val="17363574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24</a:t>
            </a:fld>
            <a:endParaRPr lang="en-US"/>
          </a:p>
        </p:txBody>
      </p:sp>
      <p:pic>
        <p:nvPicPr>
          <p:cNvPr id="3" name="Picture 2"/>
          <p:cNvPicPr>
            <a:picLocks noChangeAspect="1"/>
          </p:cNvPicPr>
          <p:nvPr/>
        </p:nvPicPr>
        <p:blipFill>
          <a:blip r:embed="rId2"/>
          <a:stretch>
            <a:fillRect/>
          </a:stretch>
        </p:blipFill>
        <p:spPr>
          <a:xfrm>
            <a:off x="1211392" y="840259"/>
            <a:ext cx="9941722" cy="5062005"/>
          </a:xfrm>
          <a:prstGeom prst="rect">
            <a:avLst/>
          </a:prstGeom>
        </p:spPr>
      </p:pic>
    </p:spTree>
    <p:extLst>
      <p:ext uri="{BB962C8B-B14F-4D97-AF65-F5344CB8AC3E}">
        <p14:creationId xmlns:p14="http://schemas.microsoft.com/office/powerpoint/2010/main" val="8792767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25</a:t>
            </a:fld>
            <a:endParaRPr lang="en-US"/>
          </a:p>
        </p:txBody>
      </p:sp>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502200" y="3617732"/>
            <a:ext cx="9585160" cy="2738618"/>
          </a:xfrm>
          <a:prstGeom prst="rect">
            <a:avLst/>
          </a:prstGeom>
        </p:spPr>
      </p:pic>
      <mc:AlternateContent xmlns:mc="http://schemas.openxmlformats.org/markup-compatibility/2006" xmlns:p14="http://schemas.microsoft.com/office/powerpoint/2010/main">
        <mc:Choice Requires="p14">
          <p:contentPart p14:bwMode="auto" r:id="rId4">
            <p14:nvContentPartPr>
              <p14:cNvPr id="15" name="Ink 14"/>
              <p14:cNvContentPartPr/>
              <p14:nvPr/>
            </p14:nvContentPartPr>
            <p14:xfrm>
              <a:off x="2893320" y="3698469"/>
              <a:ext cx="6090480" cy="116280"/>
            </p14:xfrm>
          </p:contentPart>
        </mc:Choice>
        <mc:Fallback xmlns="">
          <p:pic>
            <p:nvPicPr>
              <p:cNvPr id="15" name="Ink 14"/>
              <p:cNvPicPr/>
              <p:nvPr/>
            </p:nvPicPr>
            <p:blipFill>
              <a:blip r:embed="rId5"/>
              <a:stretch>
                <a:fillRect/>
              </a:stretch>
            </p:blipFill>
            <p:spPr>
              <a:xfrm>
                <a:off x="2877480" y="3635109"/>
                <a:ext cx="612216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6" name="Ink 15"/>
              <p14:cNvContentPartPr/>
              <p14:nvPr/>
            </p14:nvContentPartPr>
            <p14:xfrm>
              <a:off x="2955600" y="3805749"/>
              <a:ext cx="679320" cy="360"/>
            </p14:xfrm>
          </p:contentPart>
        </mc:Choice>
        <mc:Fallback xmlns="">
          <p:pic>
            <p:nvPicPr>
              <p:cNvPr id="16" name="Ink 15"/>
              <p:cNvPicPr/>
              <p:nvPr/>
            </p:nvPicPr>
            <p:blipFill>
              <a:blip r:embed="rId7"/>
              <a:stretch>
                <a:fillRect/>
              </a:stretch>
            </p:blipFill>
            <p:spPr>
              <a:xfrm>
                <a:off x="2939760" y="3742389"/>
                <a:ext cx="711000" cy="127080"/>
              </a:xfrm>
              <a:prstGeom prst="rect">
                <a:avLst/>
              </a:prstGeom>
            </p:spPr>
          </p:pic>
        </mc:Fallback>
      </mc:AlternateContent>
      <p:pic>
        <p:nvPicPr>
          <p:cNvPr id="3" name="Picture 2"/>
          <p:cNvPicPr>
            <a:picLocks noChangeAspect="1"/>
          </p:cNvPicPr>
          <p:nvPr/>
        </p:nvPicPr>
        <p:blipFill>
          <a:blip r:embed="rId8">
            <a:extLst>
              <a:ext uri="{BEBA8EAE-BF5A-486C-A8C5-ECC9F3942E4B}">
                <a14:imgProps xmlns:a14="http://schemas.microsoft.com/office/drawing/2010/main">
                  <a14:imgLayer r:embed="rId9">
                    <a14:imgEffect>
                      <a14:sharpenSoften amount="50000"/>
                    </a14:imgEffect>
                  </a14:imgLayer>
                </a14:imgProps>
              </a:ext>
            </a:extLst>
          </a:blip>
          <a:stretch>
            <a:fillRect/>
          </a:stretch>
        </p:blipFill>
        <p:spPr>
          <a:xfrm>
            <a:off x="600578" y="623846"/>
            <a:ext cx="6575259" cy="488262"/>
          </a:xfrm>
          <a:prstGeom prst="rect">
            <a:avLst/>
          </a:prstGeom>
        </p:spPr>
      </p:pic>
      <p:grpSp>
        <p:nvGrpSpPr>
          <p:cNvPr id="20" name="Group 19"/>
          <p:cNvGrpSpPr/>
          <p:nvPr/>
        </p:nvGrpSpPr>
        <p:grpSpPr>
          <a:xfrm>
            <a:off x="444843" y="1322173"/>
            <a:ext cx="11144724" cy="1606378"/>
            <a:chOff x="444843" y="1322173"/>
            <a:chExt cx="11144724" cy="1606378"/>
          </a:xfrm>
        </p:grpSpPr>
        <p:grpSp>
          <p:nvGrpSpPr>
            <p:cNvPr id="18" name="Group 17"/>
            <p:cNvGrpSpPr/>
            <p:nvPr/>
          </p:nvGrpSpPr>
          <p:grpSpPr>
            <a:xfrm>
              <a:off x="444843" y="1322173"/>
              <a:ext cx="11144724" cy="1606378"/>
              <a:chOff x="444843" y="1322173"/>
              <a:chExt cx="11144724" cy="1606378"/>
            </a:xfrm>
          </p:grpSpPr>
          <p:pic>
            <p:nvPicPr>
              <p:cNvPr id="2" name="Picture 1"/>
              <p:cNvPicPr>
                <a:picLocks noChangeAspect="1"/>
              </p:cNvPicPr>
              <p:nvPr/>
            </p:nvPicPr>
            <p:blipFill>
              <a:blip r:embed="rId10">
                <a:extLst>
                  <a:ext uri="{BEBA8EAE-BF5A-486C-A8C5-ECC9F3942E4B}">
                    <a14:imgProps xmlns:a14="http://schemas.microsoft.com/office/drawing/2010/main">
                      <a14:imgLayer r:embed="rId11">
                        <a14:imgEffect>
                          <a14:sharpenSoften amount="50000"/>
                        </a14:imgEffect>
                      </a14:imgLayer>
                    </a14:imgProps>
                  </a:ext>
                </a:extLst>
              </a:blip>
              <a:stretch>
                <a:fillRect/>
              </a:stretch>
            </p:blipFill>
            <p:spPr>
              <a:xfrm>
                <a:off x="528918" y="1460561"/>
                <a:ext cx="11060649" cy="1467990"/>
              </a:xfrm>
              <a:prstGeom prst="rect">
                <a:avLst/>
              </a:prstGeom>
            </p:spPr>
          </p:pic>
          <p:sp>
            <p:nvSpPr>
              <p:cNvPr id="17" name="Rectangle 16"/>
              <p:cNvSpPr/>
              <p:nvPr/>
            </p:nvSpPr>
            <p:spPr>
              <a:xfrm>
                <a:off x="444843" y="1322173"/>
                <a:ext cx="6474941" cy="5066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FFFF00"/>
                  </a:highlight>
                </a:endParaRPr>
              </a:p>
            </p:txBody>
          </p:sp>
        </p:grpSp>
        <p:sp>
          <p:nvSpPr>
            <p:cNvPr id="19" name="Rectangle 18"/>
            <p:cNvSpPr/>
            <p:nvPr/>
          </p:nvSpPr>
          <p:spPr>
            <a:xfrm>
              <a:off x="5938560" y="2545492"/>
              <a:ext cx="5651007" cy="3830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grpSp>
    </p:spTree>
    <p:extLst>
      <p:ext uri="{BB962C8B-B14F-4D97-AF65-F5344CB8AC3E}">
        <p14:creationId xmlns:p14="http://schemas.microsoft.com/office/powerpoint/2010/main" val="9492522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26</a:t>
            </a:fld>
            <a:endParaRPr lang="en-US"/>
          </a:p>
        </p:txBody>
      </p:sp>
      <p:grpSp>
        <p:nvGrpSpPr>
          <p:cNvPr id="5" name="Group 4"/>
          <p:cNvGrpSpPr/>
          <p:nvPr/>
        </p:nvGrpSpPr>
        <p:grpSpPr>
          <a:xfrm>
            <a:off x="568411" y="1469179"/>
            <a:ext cx="11046940" cy="4387924"/>
            <a:chOff x="3018098" y="1022748"/>
            <a:chExt cx="6128261" cy="2201616"/>
          </a:xfrm>
        </p:grpSpPr>
        <p:pic>
          <p:nvPicPr>
            <p:cNvPr id="3" name="Picture 2"/>
            <p:cNvPicPr>
              <a:picLocks noChangeAspect="1"/>
            </p:cNvPicPr>
            <p:nvPr/>
          </p:nvPicPr>
          <p:blipFill>
            <a:blip r:embed="rId2"/>
            <a:stretch>
              <a:fillRect/>
            </a:stretch>
          </p:blipFill>
          <p:spPr>
            <a:xfrm>
              <a:off x="3018098" y="1022748"/>
              <a:ext cx="6106377" cy="438211"/>
            </a:xfrm>
            <a:prstGeom prst="rect">
              <a:avLst/>
            </a:prstGeom>
          </p:spPr>
        </p:pic>
        <p:pic>
          <p:nvPicPr>
            <p:cNvPr id="4" name="Picture 3"/>
            <p:cNvPicPr>
              <a:picLocks noChangeAspect="1"/>
            </p:cNvPicPr>
            <p:nvPr/>
          </p:nvPicPr>
          <p:blipFill>
            <a:blip r:embed="rId3"/>
            <a:stretch>
              <a:fillRect/>
            </a:stretch>
          </p:blipFill>
          <p:spPr>
            <a:xfrm>
              <a:off x="3030455" y="1423888"/>
              <a:ext cx="6115904" cy="1800476"/>
            </a:xfrm>
            <a:prstGeom prst="rect">
              <a:avLst/>
            </a:prstGeom>
          </p:spPr>
        </p:pic>
      </p:grpSp>
      <p:sp>
        <p:nvSpPr>
          <p:cNvPr id="7" name="TextBox 6"/>
          <p:cNvSpPr txBox="1"/>
          <p:nvPr/>
        </p:nvSpPr>
        <p:spPr>
          <a:xfrm>
            <a:off x="568411" y="501344"/>
            <a:ext cx="8417048" cy="584775"/>
          </a:xfrm>
          <a:prstGeom prst="rect">
            <a:avLst/>
          </a:prstGeom>
          <a:noFill/>
        </p:spPr>
        <p:txBody>
          <a:bodyPr wrap="none" rtlCol="0">
            <a:spAutoFit/>
          </a:bodyPr>
          <a:lstStyle/>
          <a:p>
            <a:r>
              <a:rPr lang="en-US" sz="3200" dirty="0">
                <a:solidFill>
                  <a:srgbClr val="FF0000"/>
                </a:solidFill>
              </a:rPr>
              <a:t>Concerns about the strength of DES Algorithm (1)</a:t>
            </a:r>
          </a:p>
        </p:txBody>
      </p:sp>
      <mc:AlternateContent xmlns:mc="http://schemas.openxmlformats.org/markup-compatibility/2006" xmlns:p14="http://schemas.microsoft.com/office/powerpoint/2010/main">
        <mc:Choice Requires="p14">
          <p:contentPart p14:bwMode="auto" r:id="rId4">
            <p14:nvContentPartPr>
              <p14:cNvPr id="8" name="Ink 7"/>
              <p14:cNvContentPartPr/>
              <p14:nvPr/>
            </p14:nvContentPartPr>
            <p14:xfrm>
              <a:off x="9126000" y="1687680"/>
              <a:ext cx="2313360" cy="45000"/>
            </p14:xfrm>
          </p:contentPart>
        </mc:Choice>
        <mc:Fallback xmlns="">
          <p:pic>
            <p:nvPicPr>
              <p:cNvPr id="8" name="Ink 7"/>
              <p:cNvPicPr/>
              <p:nvPr/>
            </p:nvPicPr>
            <p:blipFill>
              <a:blip r:embed="rId5"/>
              <a:stretch>
                <a:fillRect/>
              </a:stretch>
            </p:blipFill>
            <p:spPr>
              <a:xfrm>
                <a:off x="9110160" y="1624320"/>
                <a:ext cx="234504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p14:cNvContentPartPr/>
              <p14:nvPr/>
            </p14:nvContentPartPr>
            <p14:xfrm>
              <a:off x="642960" y="2080440"/>
              <a:ext cx="1893600" cy="18360"/>
            </p14:xfrm>
          </p:contentPart>
        </mc:Choice>
        <mc:Fallback xmlns="">
          <p:pic>
            <p:nvPicPr>
              <p:cNvPr id="9" name="Ink 8"/>
              <p:cNvPicPr/>
              <p:nvPr/>
            </p:nvPicPr>
            <p:blipFill>
              <a:blip r:embed="rId7"/>
              <a:stretch>
                <a:fillRect/>
              </a:stretch>
            </p:blipFill>
            <p:spPr>
              <a:xfrm>
                <a:off x="627120" y="2017080"/>
                <a:ext cx="192528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p14:cNvContentPartPr/>
              <p14:nvPr/>
            </p14:nvContentPartPr>
            <p14:xfrm>
              <a:off x="669600" y="2143080"/>
              <a:ext cx="1920240" cy="36000"/>
            </p14:xfrm>
          </p:contentPart>
        </mc:Choice>
        <mc:Fallback xmlns="">
          <p:pic>
            <p:nvPicPr>
              <p:cNvPr id="10" name="Ink 9"/>
              <p:cNvPicPr/>
              <p:nvPr/>
            </p:nvPicPr>
            <p:blipFill>
              <a:blip r:embed="rId9"/>
              <a:stretch>
                <a:fillRect/>
              </a:stretch>
            </p:blipFill>
            <p:spPr>
              <a:xfrm>
                <a:off x="653760" y="2079720"/>
                <a:ext cx="195192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p14:cNvContentPartPr/>
              <p14:nvPr/>
            </p14:nvContentPartPr>
            <p14:xfrm>
              <a:off x="616320" y="1991160"/>
              <a:ext cx="1937880" cy="36360"/>
            </p14:xfrm>
          </p:contentPart>
        </mc:Choice>
        <mc:Fallback xmlns="">
          <p:pic>
            <p:nvPicPr>
              <p:cNvPr id="11" name="Ink 10"/>
              <p:cNvPicPr/>
              <p:nvPr/>
            </p:nvPicPr>
            <p:blipFill>
              <a:blip r:embed="rId11"/>
              <a:stretch>
                <a:fillRect/>
              </a:stretch>
            </p:blipFill>
            <p:spPr>
              <a:xfrm>
                <a:off x="600120" y="1927800"/>
                <a:ext cx="196992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p14:cNvContentPartPr/>
              <p14:nvPr/>
            </p14:nvContentPartPr>
            <p14:xfrm>
              <a:off x="3250440" y="2125440"/>
              <a:ext cx="4840200" cy="27000"/>
            </p14:xfrm>
          </p:contentPart>
        </mc:Choice>
        <mc:Fallback xmlns="">
          <p:pic>
            <p:nvPicPr>
              <p:cNvPr id="12" name="Ink 11"/>
              <p:cNvPicPr/>
              <p:nvPr/>
            </p:nvPicPr>
            <p:blipFill>
              <a:blip r:embed="rId13"/>
              <a:stretch>
                <a:fillRect/>
              </a:stretch>
            </p:blipFill>
            <p:spPr>
              <a:xfrm>
                <a:off x="3234600" y="2061720"/>
                <a:ext cx="487188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p14:cNvContentPartPr/>
              <p14:nvPr/>
            </p14:nvContentPartPr>
            <p14:xfrm>
              <a:off x="3402360" y="2035800"/>
              <a:ext cx="4661640" cy="54000"/>
            </p14:xfrm>
          </p:contentPart>
        </mc:Choice>
        <mc:Fallback xmlns="">
          <p:pic>
            <p:nvPicPr>
              <p:cNvPr id="13" name="Ink 12"/>
              <p:cNvPicPr/>
              <p:nvPr/>
            </p:nvPicPr>
            <p:blipFill>
              <a:blip r:embed="rId15"/>
              <a:stretch>
                <a:fillRect/>
              </a:stretch>
            </p:blipFill>
            <p:spPr>
              <a:xfrm>
                <a:off x="3386160" y="1972440"/>
                <a:ext cx="469368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4" name="Ink 13"/>
              <p14:cNvContentPartPr/>
              <p14:nvPr/>
            </p14:nvContentPartPr>
            <p14:xfrm>
              <a:off x="4554000" y="3161160"/>
              <a:ext cx="6876360" cy="36000"/>
            </p14:xfrm>
          </p:contentPart>
        </mc:Choice>
        <mc:Fallback xmlns="">
          <p:pic>
            <p:nvPicPr>
              <p:cNvPr id="14" name="Ink 13"/>
              <p:cNvPicPr/>
              <p:nvPr/>
            </p:nvPicPr>
            <p:blipFill>
              <a:blip r:embed="rId17"/>
              <a:stretch>
                <a:fillRect/>
              </a:stretch>
            </p:blipFill>
            <p:spPr>
              <a:xfrm>
                <a:off x="4538160" y="3097440"/>
                <a:ext cx="690804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5" name="Ink 14"/>
              <p14:cNvContentPartPr/>
              <p14:nvPr/>
            </p14:nvContentPartPr>
            <p14:xfrm>
              <a:off x="4563000" y="3268440"/>
              <a:ext cx="6912000" cy="18000"/>
            </p14:xfrm>
          </p:contentPart>
        </mc:Choice>
        <mc:Fallback xmlns="">
          <p:pic>
            <p:nvPicPr>
              <p:cNvPr id="15" name="Ink 14"/>
              <p:cNvPicPr/>
              <p:nvPr/>
            </p:nvPicPr>
            <p:blipFill>
              <a:blip r:embed="rId19"/>
              <a:stretch>
                <a:fillRect/>
              </a:stretch>
            </p:blipFill>
            <p:spPr>
              <a:xfrm>
                <a:off x="4547160" y="3204720"/>
                <a:ext cx="694368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6" name="Ink 15"/>
              <p14:cNvContentPartPr/>
              <p14:nvPr/>
            </p14:nvContentPartPr>
            <p14:xfrm>
              <a:off x="4607640" y="3625560"/>
              <a:ext cx="6447600" cy="89640"/>
            </p14:xfrm>
          </p:contentPart>
        </mc:Choice>
        <mc:Fallback xmlns="">
          <p:pic>
            <p:nvPicPr>
              <p:cNvPr id="16" name="Ink 15"/>
              <p:cNvPicPr/>
              <p:nvPr/>
            </p:nvPicPr>
            <p:blipFill>
              <a:blip r:embed="rId21"/>
              <a:stretch>
                <a:fillRect/>
              </a:stretch>
            </p:blipFill>
            <p:spPr>
              <a:xfrm>
                <a:off x="4591800" y="3561840"/>
                <a:ext cx="647928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7" name="Ink 16"/>
              <p14:cNvContentPartPr/>
              <p14:nvPr/>
            </p14:nvContentPartPr>
            <p14:xfrm>
              <a:off x="4625640" y="3580920"/>
              <a:ext cx="6411960" cy="178920"/>
            </p14:xfrm>
          </p:contentPart>
        </mc:Choice>
        <mc:Fallback xmlns="">
          <p:pic>
            <p:nvPicPr>
              <p:cNvPr id="17" name="Ink 16"/>
              <p:cNvPicPr/>
              <p:nvPr/>
            </p:nvPicPr>
            <p:blipFill>
              <a:blip r:embed="rId23"/>
              <a:stretch>
                <a:fillRect/>
              </a:stretch>
            </p:blipFill>
            <p:spPr>
              <a:xfrm>
                <a:off x="4609800" y="3517200"/>
                <a:ext cx="6443640" cy="306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8" name="Ink 17"/>
              <p14:cNvContentPartPr/>
              <p14:nvPr/>
            </p14:nvContentPartPr>
            <p14:xfrm>
              <a:off x="7643880" y="3741480"/>
              <a:ext cx="482400" cy="360"/>
            </p14:xfrm>
          </p:contentPart>
        </mc:Choice>
        <mc:Fallback xmlns="">
          <p:pic>
            <p:nvPicPr>
              <p:cNvPr id="18" name="Ink 17"/>
              <p:cNvPicPr/>
              <p:nvPr/>
            </p:nvPicPr>
            <p:blipFill>
              <a:blip r:embed="rId25"/>
              <a:stretch>
                <a:fillRect/>
              </a:stretch>
            </p:blipFill>
            <p:spPr>
              <a:xfrm>
                <a:off x="7628040" y="3678120"/>
                <a:ext cx="51408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9" name="Ink 18"/>
              <p14:cNvContentPartPr/>
              <p14:nvPr/>
            </p14:nvContentPartPr>
            <p14:xfrm>
              <a:off x="7643880" y="3607560"/>
              <a:ext cx="169920" cy="360"/>
            </p14:xfrm>
          </p:contentPart>
        </mc:Choice>
        <mc:Fallback xmlns="">
          <p:pic>
            <p:nvPicPr>
              <p:cNvPr id="19" name="Ink 18"/>
              <p:cNvPicPr/>
              <p:nvPr/>
            </p:nvPicPr>
            <p:blipFill>
              <a:blip r:embed="rId27"/>
              <a:stretch>
                <a:fillRect/>
              </a:stretch>
            </p:blipFill>
            <p:spPr>
              <a:xfrm>
                <a:off x="7628040" y="3544200"/>
                <a:ext cx="20160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0" name="Ink 19"/>
              <p14:cNvContentPartPr/>
              <p14:nvPr/>
            </p14:nvContentPartPr>
            <p14:xfrm>
              <a:off x="7465320" y="3598560"/>
              <a:ext cx="321840" cy="9360"/>
            </p14:xfrm>
          </p:contentPart>
        </mc:Choice>
        <mc:Fallback xmlns="">
          <p:pic>
            <p:nvPicPr>
              <p:cNvPr id="20" name="Ink 19"/>
              <p:cNvPicPr/>
              <p:nvPr/>
            </p:nvPicPr>
            <p:blipFill>
              <a:blip r:embed="rId29"/>
              <a:stretch>
                <a:fillRect/>
              </a:stretch>
            </p:blipFill>
            <p:spPr>
              <a:xfrm>
                <a:off x="7449480" y="3535200"/>
                <a:ext cx="35352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1" name="Ink 20"/>
              <p14:cNvContentPartPr/>
              <p14:nvPr/>
            </p14:nvContentPartPr>
            <p14:xfrm>
              <a:off x="2500200" y="4027320"/>
              <a:ext cx="3634920" cy="71640"/>
            </p14:xfrm>
          </p:contentPart>
        </mc:Choice>
        <mc:Fallback xmlns="">
          <p:pic>
            <p:nvPicPr>
              <p:cNvPr id="21" name="Ink 20"/>
              <p:cNvPicPr/>
              <p:nvPr/>
            </p:nvPicPr>
            <p:blipFill>
              <a:blip r:embed="rId31"/>
              <a:stretch>
                <a:fillRect/>
              </a:stretch>
            </p:blipFill>
            <p:spPr>
              <a:xfrm>
                <a:off x="2484360" y="3963960"/>
                <a:ext cx="366660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2" name="Ink 21"/>
              <p14:cNvContentPartPr/>
              <p14:nvPr/>
            </p14:nvContentPartPr>
            <p14:xfrm>
              <a:off x="2446560" y="4062960"/>
              <a:ext cx="3715200" cy="54000"/>
            </p14:xfrm>
          </p:contentPart>
        </mc:Choice>
        <mc:Fallback xmlns="">
          <p:pic>
            <p:nvPicPr>
              <p:cNvPr id="22" name="Ink 21"/>
              <p:cNvPicPr/>
              <p:nvPr/>
            </p:nvPicPr>
            <p:blipFill>
              <a:blip r:embed="rId33"/>
              <a:stretch>
                <a:fillRect/>
              </a:stretch>
            </p:blipFill>
            <p:spPr>
              <a:xfrm>
                <a:off x="2430720" y="3999600"/>
                <a:ext cx="374688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3" name="Ink 22"/>
              <p14:cNvContentPartPr/>
              <p14:nvPr/>
            </p14:nvContentPartPr>
            <p14:xfrm>
              <a:off x="2464560" y="4045320"/>
              <a:ext cx="411120" cy="360"/>
            </p14:xfrm>
          </p:contentPart>
        </mc:Choice>
        <mc:Fallback xmlns="">
          <p:pic>
            <p:nvPicPr>
              <p:cNvPr id="23" name="Ink 22"/>
              <p:cNvPicPr/>
              <p:nvPr/>
            </p:nvPicPr>
            <p:blipFill>
              <a:blip r:embed="rId35"/>
              <a:stretch>
                <a:fillRect/>
              </a:stretch>
            </p:blipFill>
            <p:spPr>
              <a:xfrm>
                <a:off x="2448720" y="3981600"/>
                <a:ext cx="44280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4" name="Ink 23"/>
              <p14:cNvContentPartPr/>
              <p14:nvPr/>
            </p14:nvContentPartPr>
            <p14:xfrm>
              <a:off x="2419920" y="4116600"/>
              <a:ext cx="598680" cy="360"/>
            </p14:xfrm>
          </p:contentPart>
        </mc:Choice>
        <mc:Fallback xmlns="">
          <p:pic>
            <p:nvPicPr>
              <p:cNvPr id="24" name="Ink 23"/>
              <p:cNvPicPr/>
              <p:nvPr/>
            </p:nvPicPr>
            <p:blipFill>
              <a:blip r:embed="rId37"/>
              <a:stretch>
                <a:fillRect/>
              </a:stretch>
            </p:blipFill>
            <p:spPr>
              <a:xfrm>
                <a:off x="2404080" y="4053240"/>
                <a:ext cx="63036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5" name="Ink 24"/>
              <p14:cNvContentPartPr/>
              <p14:nvPr/>
            </p14:nvContentPartPr>
            <p14:xfrm>
              <a:off x="8992080" y="4125600"/>
              <a:ext cx="857880" cy="360"/>
            </p14:xfrm>
          </p:contentPart>
        </mc:Choice>
        <mc:Fallback xmlns="">
          <p:pic>
            <p:nvPicPr>
              <p:cNvPr id="25" name="Ink 24"/>
              <p:cNvPicPr/>
              <p:nvPr/>
            </p:nvPicPr>
            <p:blipFill>
              <a:blip r:embed="rId39"/>
              <a:stretch>
                <a:fillRect/>
              </a:stretch>
            </p:blipFill>
            <p:spPr>
              <a:xfrm>
                <a:off x="8976240" y="4061880"/>
                <a:ext cx="88956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6" name="Ink 25"/>
              <p14:cNvContentPartPr/>
              <p14:nvPr/>
            </p14:nvContentPartPr>
            <p14:xfrm>
              <a:off x="8956440" y="4000320"/>
              <a:ext cx="839880" cy="360"/>
            </p14:xfrm>
          </p:contentPart>
        </mc:Choice>
        <mc:Fallback xmlns="">
          <p:pic>
            <p:nvPicPr>
              <p:cNvPr id="26" name="Ink 25"/>
              <p:cNvPicPr/>
              <p:nvPr/>
            </p:nvPicPr>
            <p:blipFill>
              <a:blip r:embed="rId41"/>
              <a:stretch>
                <a:fillRect/>
              </a:stretch>
            </p:blipFill>
            <p:spPr>
              <a:xfrm>
                <a:off x="8940600" y="3936960"/>
                <a:ext cx="87156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7" name="Ink 26"/>
              <p14:cNvContentPartPr/>
              <p14:nvPr/>
            </p14:nvContentPartPr>
            <p14:xfrm>
              <a:off x="9010080" y="3938040"/>
              <a:ext cx="777240" cy="214560"/>
            </p14:xfrm>
          </p:contentPart>
        </mc:Choice>
        <mc:Fallback xmlns="">
          <p:pic>
            <p:nvPicPr>
              <p:cNvPr id="27" name="Ink 26"/>
              <p:cNvPicPr/>
              <p:nvPr/>
            </p:nvPicPr>
            <p:blipFill>
              <a:blip r:embed="rId43"/>
              <a:stretch>
                <a:fillRect/>
              </a:stretch>
            </p:blipFill>
            <p:spPr>
              <a:xfrm>
                <a:off x="8994240" y="3874320"/>
                <a:ext cx="808920" cy="342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8" name="Ink 27"/>
              <p14:cNvContentPartPr/>
              <p14:nvPr/>
            </p14:nvContentPartPr>
            <p14:xfrm>
              <a:off x="5420160" y="4366440"/>
              <a:ext cx="2045520" cy="81000"/>
            </p14:xfrm>
          </p:contentPart>
        </mc:Choice>
        <mc:Fallback xmlns="">
          <p:pic>
            <p:nvPicPr>
              <p:cNvPr id="28" name="Ink 27"/>
              <p:cNvPicPr/>
              <p:nvPr/>
            </p:nvPicPr>
            <p:blipFill>
              <a:blip r:embed="rId45"/>
              <a:stretch>
                <a:fillRect/>
              </a:stretch>
            </p:blipFill>
            <p:spPr>
              <a:xfrm>
                <a:off x="5404320" y="4303080"/>
                <a:ext cx="207720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9" name="Ink 28"/>
              <p14:cNvContentPartPr/>
              <p14:nvPr/>
            </p14:nvContentPartPr>
            <p14:xfrm>
              <a:off x="5438160" y="4464720"/>
              <a:ext cx="2000520" cy="27360"/>
            </p14:xfrm>
          </p:contentPart>
        </mc:Choice>
        <mc:Fallback xmlns="">
          <p:pic>
            <p:nvPicPr>
              <p:cNvPr id="29" name="Ink 28"/>
              <p:cNvPicPr/>
              <p:nvPr/>
            </p:nvPicPr>
            <p:blipFill>
              <a:blip r:embed="rId47"/>
              <a:stretch>
                <a:fillRect/>
              </a:stretch>
            </p:blipFill>
            <p:spPr>
              <a:xfrm>
                <a:off x="5422320" y="4401360"/>
                <a:ext cx="203220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0" name="Ink 29"/>
              <p14:cNvContentPartPr/>
              <p14:nvPr/>
            </p14:nvContentPartPr>
            <p14:xfrm>
              <a:off x="5438160" y="4554000"/>
              <a:ext cx="2018520" cy="27360"/>
            </p14:xfrm>
          </p:contentPart>
        </mc:Choice>
        <mc:Fallback xmlns="">
          <p:pic>
            <p:nvPicPr>
              <p:cNvPr id="30" name="Ink 29"/>
              <p:cNvPicPr/>
              <p:nvPr/>
            </p:nvPicPr>
            <p:blipFill>
              <a:blip r:embed="rId49"/>
              <a:stretch>
                <a:fillRect/>
              </a:stretch>
            </p:blipFill>
            <p:spPr>
              <a:xfrm>
                <a:off x="5422320" y="4490640"/>
                <a:ext cx="205020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1" name="Ink 30"/>
              <p14:cNvContentPartPr/>
              <p14:nvPr/>
            </p14:nvContentPartPr>
            <p14:xfrm>
              <a:off x="6429240" y="4321800"/>
              <a:ext cx="1054080" cy="27360"/>
            </p14:xfrm>
          </p:contentPart>
        </mc:Choice>
        <mc:Fallback xmlns="">
          <p:pic>
            <p:nvPicPr>
              <p:cNvPr id="31" name="Ink 30"/>
              <p:cNvPicPr/>
              <p:nvPr/>
            </p:nvPicPr>
            <p:blipFill>
              <a:blip r:embed="rId51"/>
              <a:stretch>
                <a:fillRect/>
              </a:stretch>
            </p:blipFill>
            <p:spPr>
              <a:xfrm>
                <a:off x="6413400" y="4258440"/>
                <a:ext cx="108576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2" name="Ink 31"/>
              <p14:cNvContentPartPr/>
              <p14:nvPr/>
            </p14:nvContentPartPr>
            <p14:xfrm>
              <a:off x="6045480" y="4366440"/>
              <a:ext cx="491400" cy="360"/>
            </p14:xfrm>
          </p:contentPart>
        </mc:Choice>
        <mc:Fallback xmlns="">
          <p:pic>
            <p:nvPicPr>
              <p:cNvPr id="32" name="Ink 31"/>
              <p:cNvPicPr/>
              <p:nvPr/>
            </p:nvPicPr>
            <p:blipFill>
              <a:blip r:embed="rId53"/>
              <a:stretch>
                <a:fillRect/>
              </a:stretch>
            </p:blipFill>
            <p:spPr>
              <a:xfrm>
                <a:off x="6029640" y="4303080"/>
                <a:ext cx="52308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3" name="Ink 32"/>
              <p14:cNvContentPartPr/>
              <p14:nvPr/>
            </p14:nvContentPartPr>
            <p14:xfrm>
              <a:off x="3759480" y="4947120"/>
              <a:ext cx="4875840" cy="360"/>
            </p14:xfrm>
          </p:contentPart>
        </mc:Choice>
        <mc:Fallback xmlns="">
          <p:pic>
            <p:nvPicPr>
              <p:cNvPr id="33" name="Ink 32"/>
              <p:cNvPicPr/>
              <p:nvPr/>
            </p:nvPicPr>
            <p:blipFill>
              <a:blip r:embed="rId55"/>
              <a:stretch>
                <a:fillRect/>
              </a:stretch>
            </p:blipFill>
            <p:spPr>
              <a:xfrm>
                <a:off x="3743640" y="4883400"/>
                <a:ext cx="490752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4" name="Ink 33"/>
              <p14:cNvContentPartPr/>
              <p14:nvPr/>
            </p14:nvContentPartPr>
            <p14:xfrm>
              <a:off x="3777120" y="4866840"/>
              <a:ext cx="4813560" cy="18000"/>
            </p14:xfrm>
          </p:contentPart>
        </mc:Choice>
        <mc:Fallback xmlns="">
          <p:pic>
            <p:nvPicPr>
              <p:cNvPr id="34" name="Ink 33"/>
              <p:cNvPicPr/>
              <p:nvPr/>
            </p:nvPicPr>
            <p:blipFill>
              <a:blip r:embed="rId57"/>
              <a:stretch>
                <a:fillRect/>
              </a:stretch>
            </p:blipFill>
            <p:spPr>
              <a:xfrm>
                <a:off x="3761280" y="4803120"/>
                <a:ext cx="484524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5" name="Ink 34"/>
              <p14:cNvContentPartPr/>
              <p14:nvPr/>
            </p14:nvContentPartPr>
            <p14:xfrm>
              <a:off x="3786120" y="4777560"/>
              <a:ext cx="4813560" cy="18000"/>
            </p14:xfrm>
          </p:contentPart>
        </mc:Choice>
        <mc:Fallback xmlns="">
          <p:pic>
            <p:nvPicPr>
              <p:cNvPr id="35" name="Ink 34"/>
              <p:cNvPicPr/>
              <p:nvPr/>
            </p:nvPicPr>
            <p:blipFill>
              <a:blip r:embed="rId59"/>
              <a:stretch>
                <a:fillRect/>
              </a:stretch>
            </p:blipFill>
            <p:spPr>
              <a:xfrm>
                <a:off x="3770280" y="4713840"/>
                <a:ext cx="484524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6" name="Ink 35"/>
              <p14:cNvContentPartPr/>
              <p14:nvPr/>
            </p14:nvContentPartPr>
            <p14:xfrm>
              <a:off x="5393520" y="5304240"/>
              <a:ext cx="6045840" cy="36000"/>
            </p14:xfrm>
          </p:contentPart>
        </mc:Choice>
        <mc:Fallback xmlns="">
          <p:pic>
            <p:nvPicPr>
              <p:cNvPr id="36" name="Ink 35"/>
              <p:cNvPicPr/>
              <p:nvPr/>
            </p:nvPicPr>
            <p:blipFill>
              <a:blip r:embed="rId61"/>
              <a:stretch>
                <a:fillRect/>
              </a:stretch>
            </p:blipFill>
            <p:spPr>
              <a:xfrm>
                <a:off x="5377680" y="5240880"/>
                <a:ext cx="607752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7" name="Ink 36"/>
              <p14:cNvContentPartPr/>
              <p14:nvPr/>
            </p14:nvContentPartPr>
            <p14:xfrm>
              <a:off x="5402520" y="5241600"/>
              <a:ext cx="6090480" cy="9360"/>
            </p14:xfrm>
          </p:contentPart>
        </mc:Choice>
        <mc:Fallback xmlns="">
          <p:pic>
            <p:nvPicPr>
              <p:cNvPr id="37" name="Ink 36"/>
              <p:cNvPicPr/>
              <p:nvPr/>
            </p:nvPicPr>
            <p:blipFill>
              <a:blip r:embed="rId63"/>
              <a:stretch>
                <a:fillRect/>
              </a:stretch>
            </p:blipFill>
            <p:spPr>
              <a:xfrm>
                <a:off x="5386680" y="5178240"/>
                <a:ext cx="612216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8" name="Ink 37"/>
              <p14:cNvContentPartPr/>
              <p14:nvPr/>
            </p14:nvContentPartPr>
            <p14:xfrm>
              <a:off x="642960" y="5697000"/>
              <a:ext cx="6921000" cy="9360"/>
            </p14:xfrm>
          </p:contentPart>
        </mc:Choice>
        <mc:Fallback xmlns="">
          <p:pic>
            <p:nvPicPr>
              <p:cNvPr id="38" name="Ink 37"/>
              <p:cNvPicPr/>
              <p:nvPr/>
            </p:nvPicPr>
            <p:blipFill>
              <a:blip r:embed="rId65"/>
              <a:stretch>
                <a:fillRect/>
              </a:stretch>
            </p:blipFill>
            <p:spPr>
              <a:xfrm>
                <a:off x="627120" y="5633640"/>
                <a:ext cx="695268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9" name="Ink 38"/>
              <p14:cNvContentPartPr/>
              <p14:nvPr/>
            </p14:nvContentPartPr>
            <p14:xfrm>
              <a:off x="669600" y="5607720"/>
              <a:ext cx="6894360" cy="9360"/>
            </p14:xfrm>
          </p:contentPart>
        </mc:Choice>
        <mc:Fallback xmlns="">
          <p:pic>
            <p:nvPicPr>
              <p:cNvPr id="39" name="Ink 38"/>
              <p:cNvPicPr/>
              <p:nvPr/>
            </p:nvPicPr>
            <p:blipFill>
              <a:blip r:embed="rId67"/>
              <a:stretch>
                <a:fillRect/>
              </a:stretch>
            </p:blipFill>
            <p:spPr>
              <a:xfrm>
                <a:off x="653760" y="5544360"/>
                <a:ext cx="6926040" cy="136440"/>
              </a:xfrm>
              <a:prstGeom prst="rect">
                <a:avLst/>
              </a:prstGeom>
            </p:spPr>
          </p:pic>
        </mc:Fallback>
      </mc:AlternateContent>
    </p:spTree>
    <p:extLst>
      <p:ext uri="{BB962C8B-B14F-4D97-AF65-F5344CB8AC3E}">
        <p14:creationId xmlns:p14="http://schemas.microsoft.com/office/powerpoint/2010/main" val="42931080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27</a:t>
            </a:fld>
            <a:endParaRPr lang="en-US"/>
          </a:p>
        </p:txBody>
      </p:sp>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68411" y="1086119"/>
            <a:ext cx="11060450" cy="1892145"/>
          </a:xfrm>
          <a:prstGeom prst="rect">
            <a:avLst/>
          </a:prstGeom>
        </p:spPr>
      </p:pic>
      <p:sp>
        <p:nvSpPr>
          <p:cNvPr id="7" name="TextBox 6"/>
          <p:cNvSpPr txBox="1"/>
          <p:nvPr/>
        </p:nvSpPr>
        <p:spPr>
          <a:xfrm>
            <a:off x="568411" y="501344"/>
            <a:ext cx="8417048" cy="584775"/>
          </a:xfrm>
          <a:prstGeom prst="rect">
            <a:avLst/>
          </a:prstGeom>
          <a:noFill/>
        </p:spPr>
        <p:txBody>
          <a:bodyPr wrap="none" rtlCol="0">
            <a:spAutoFit/>
          </a:bodyPr>
          <a:lstStyle/>
          <a:p>
            <a:r>
              <a:rPr lang="en-US" sz="3200" dirty="0">
                <a:solidFill>
                  <a:srgbClr val="FF0000"/>
                </a:solidFill>
              </a:rPr>
              <a:t>Concerns about the strength of DES Algorithm (2)</a:t>
            </a:r>
          </a:p>
        </p:txBody>
      </p:sp>
      <p:pic>
        <p:nvPicPr>
          <p:cNvPr id="8" name="Picture 7"/>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2543991" y="3473507"/>
            <a:ext cx="7314249" cy="2338076"/>
          </a:xfrm>
          <a:prstGeom prst="rect">
            <a:avLst/>
          </a:prstGeom>
        </p:spPr>
      </p:pic>
      <mc:AlternateContent xmlns:mc="http://schemas.openxmlformats.org/markup-compatibility/2006" xmlns:p14="http://schemas.microsoft.com/office/powerpoint/2010/main">
        <mc:Choice Requires="p14">
          <p:contentPart p14:bwMode="auto" r:id="rId6">
            <p14:nvContentPartPr>
              <p14:cNvPr id="10" name="Ink 9"/>
              <p14:cNvContentPartPr/>
              <p14:nvPr/>
            </p14:nvContentPartPr>
            <p14:xfrm>
              <a:off x="9858240" y="2375280"/>
              <a:ext cx="1759680" cy="9360"/>
            </p14:xfrm>
          </p:contentPart>
        </mc:Choice>
        <mc:Fallback xmlns="">
          <p:pic>
            <p:nvPicPr>
              <p:cNvPr id="10" name="Ink 9"/>
              <p:cNvPicPr/>
              <p:nvPr/>
            </p:nvPicPr>
            <p:blipFill>
              <a:blip r:embed="rId7"/>
              <a:stretch>
                <a:fillRect/>
              </a:stretch>
            </p:blipFill>
            <p:spPr>
              <a:xfrm>
                <a:off x="9842400" y="2311920"/>
                <a:ext cx="179136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p14:cNvContentPartPr/>
              <p14:nvPr/>
            </p14:nvContentPartPr>
            <p14:xfrm>
              <a:off x="9876240" y="2464560"/>
              <a:ext cx="1750680" cy="9360"/>
            </p14:xfrm>
          </p:contentPart>
        </mc:Choice>
        <mc:Fallback xmlns="">
          <p:pic>
            <p:nvPicPr>
              <p:cNvPr id="11" name="Ink 10"/>
              <p:cNvPicPr/>
              <p:nvPr/>
            </p:nvPicPr>
            <p:blipFill>
              <a:blip r:embed="rId9"/>
              <a:stretch>
                <a:fillRect/>
              </a:stretch>
            </p:blipFill>
            <p:spPr>
              <a:xfrm>
                <a:off x="9860400" y="2401200"/>
                <a:ext cx="178236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p14:cNvContentPartPr/>
              <p14:nvPr/>
            </p14:nvContentPartPr>
            <p14:xfrm>
              <a:off x="11403360" y="2286000"/>
              <a:ext cx="160920" cy="27000"/>
            </p14:xfrm>
          </p:contentPart>
        </mc:Choice>
        <mc:Fallback xmlns="">
          <p:pic>
            <p:nvPicPr>
              <p:cNvPr id="12" name="Ink 11"/>
              <p:cNvPicPr/>
              <p:nvPr/>
            </p:nvPicPr>
            <p:blipFill>
              <a:blip r:embed="rId11"/>
              <a:stretch>
                <a:fillRect/>
              </a:stretch>
            </p:blipFill>
            <p:spPr>
              <a:xfrm>
                <a:off x="11387160" y="2222640"/>
                <a:ext cx="19296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Ink 12"/>
              <p14:cNvContentPartPr/>
              <p14:nvPr/>
            </p14:nvContentPartPr>
            <p14:xfrm>
              <a:off x="758880" y="2750400"/>
              <a:ext cx="3420720" cy="45000"/>
            </p14:xfrm>
          </p:contentPart>
        </mc:Choice>
        <mc:Fallback xmlns="">
          <p:pic>
            <p:nvPicPr>
              <p:cNvPr id="13" name="Ink 12"/>
              <p:cNvPicPr/>
              <p:nvPr/>
            </p:nvPicPr>
            <p:blipFill>
              <a:blip r:embed="rId13"/>
              <a:stretch>
                <a:fillRect/>
              </a:stretch>
            </p:blipFill>
            <p:spPr>
              <a:xfrm>
                <a:off x="743040" y="2686680"/>
                <a:ext cx="345240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p14:cNvContentPartPr/>
              <p14:nvPr/>
            </p14:nvContentPartPr>
            <p14:xfrm>
              <a:off x="758880" y="2857320"/>
              <a:ext cx="3438360" cy="360"/>
            </p14:xfrm>
          </p:contentPart>
        </mc:Choice>
        <mc:Fallback xmlns="">
          <p:pic>
            <p:nvPicPr>
              <p:cNvPr id="14" name="Ink 13"/>
              <p:cNvPicPr/>
              <p:nvPr/>
            </p:nvPicPr>
            <p:blipFill>
              <a:blip r:embed="rId15"/>
              <a:stretch>
                <a:fillRect/>
              </a:stretch>
            </p:blipFill>
            <p:spPr>
              <a:xfrm>
                <a:off x="743040" y="2793960"/>
                <a:ext cx="347004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 name="Ink 14"/>
              <p14:cNvContentPartPr/>
              <p14:nvPr/>
            </p14:nvContentPartPr>
            <p14:xfrm>
              <a:off x="750240" y="2732400"/>
              <a:ext cx="3357720" cy="9360"/>
            </p14:xfrm>
          </p:contentPart>
        </mc:Choice>
        <mc:Fallback xmlns="">
          <p:pic>
            <p:nvPicPr>
              <p:cNvPr id="15" name="Ink 14"/>
              <p:cNvPicPr/>
              <p:nvPr/>
            </p:nvPicPr>
            <p:blipFill>
              <a:blip r:embed="rId17"/>
              <a:stretch>
                <a:fillRect/>
              </a:stretch>
            </p:blipFill>
            <p:spPr>
              <a:xfrm>
                <a:off x="734040" y="2669040"/>
                <a:ext cx="3389760" cy="136080"/>
              </a:xfrm>
              <a:prstGeom prst="rect">
                <a:avLst/>
              </a:prstGeom>
            </p:spPr>
          </p:pic>
        </mc:Fallback>
      </mc:AlternateContent>
    </p:spTree>
    <p:extLst>
      <p:ext uri="{BB962C8B-B14F-4D97-AF65-F5344CB8AC3E}">
        <p14:creationId xmlns:p14="http://schemas.microsoft.com/office/powerpoint/2010/main" val="6892984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28</a:t>
            </a:fld>
            <a:endParaRPr lang="en-US"/>
          </a:p>
        </p:txBody>
      </p:sp>
      <p:sp>
        <p:nvSpPr>
          <p:cNvPr id="4" name="TextBox 3"/>
          <p:cNvSpPr txBox="1"/>
          <p:nvPr/>
        </p:nvSpPr>
        <p:spPr>
          <a:xfrm>
            <a:off x="568411" y="501344"/>
            <a:ext cx="8133509" cy="584775"/>
          </a:xfrm>
          <a:prstGeom prst="rect">
            <a:avLst/>
          </a:prstGeom>
          <a:noFill/>
        </p:spPr>
        <p:txBody>
          <a:bodyPr wrap="none" rtlCol="0">
            <a:spAutoFit/>
          </a:bodyPr>
          <a:lstStyle/>
          <a:p>
            <a:r>
              <a:rPr lang="en-US" sz="3200" dirty="0">
                <a:solidFill>
                  <a:srgbClr val="FF0000"/>
                </a:solidFill>
              </a:rPr>
              <a:t>Addressing the small key size of DES Algorithm</a:t>
            </a:r>
          </a:p>
        </p:txBody>
      </p:sp>
      <p:grpSp>
        <p:nvGrpSpPr>
          <p:cNvPr id="9" name="Group 8"/>
          <p:cNvGrpSpPr/>
          <p:nvPr/>
        </p:nvGrpSpPr>
        <p:grpSpPr>
          <a:xfrm>
            <a:off x="568411" y="1086119"/>
            <a:ext cx="10213889" cy="1096048"/>
            <a:chOff x="568411" y="1249967"/>
            <a:chExt cx="10213889" cy="1096048"/>
          </a:xfrm>
        </p:grpSpPr>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68411" y="1249967"/>
              <a:ext cx="10213889" cy="1096048"/>
            </a:xfrm>
            <a:prstGeom prst="rect">
              <a:avLst/>
            </a:prstGeom>
          </p:spPr>
        </p:pic>
        <p:sp>
          <p:nvSpPr>
            <p:cNvPr id="8" name="Rectangle 7"/>
            <p:cNvSpPr/>
            <p:nvPr/>
          </p:nvSpPr>
          <p:spPr>
            <a:xfrm>
              <a:off x="6045200" y="1981200"/>
              <a:ext cx="4737100" cy="266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FFFF00"/>
                </a:highlight>
              </a:endParaRPr>
            </a:p>
          </p:txBody>
        </p:sp>
      </p:grpSp>
      <p:grpSp>
        <p:nvGrpSpPr>
          <p:cNvPr id="12" name="Group 11"/>
          <p:cNvGrpSpPr/>
          <p:nvPr/>
        </p:nvGrpSpPr>
        <p:grpSpPr>
          <a:xfrm>
            <a:off x="568410" y="2307543"/>
            <a:ext cx="10213889" cy="3162857"/>
            <a:chOff x="3042811" y="2819315"/>
            <a:chExt cx="6106377" cy="1832008"/>
          </a:xfrm>
        </p:grpSpPr>
        <p:pic>
          <p:nvPicPr>
            <p:cNvPr id="10" name="Picture 9"/>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3042811" y="2819315"/>
              <a:ext cx="6106377" cy="1219370"/>
            </a:xfrm>
            <a:prstGeom prst="rect">
              <a:avLst/>
            </a:prstGeom>
          </p:spPr>
        </p:pic>
        <p:pic>
          <p:nvPicPr>
            <p:cNvPr id="11" name="Picture 10"/>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Layer>
                  </a14:imgProps>
                </a:ext>
              </a:extLst>
            </a:blip>
            <a:stretch>
              <a:fillRect/>
            </a:stretch>
          </p:blipFill>
          <p:spPr>
            <a:xfrm>
              <a:off x="3042811" y="4022585"/>
              <a:ext cx="6077798" cy="628738"/>
            </a:xfrm>
            <a:prstGeom prst="rect">
              <a:avLst/>
            </a:prstGeom>
          </p:spPr>
        </p:pic>
      </p:grpSp>
      <p:pic>
        <p:nvPicPr>
          <p:cNvPr id="7" name="Picture 6">
            <a:extLst>
              <a:ext uri="{FF2B5EF4-FFF2-40B4-BE49-F238E27FC236}">
                <a16:creationId xmlns:a16="http://schemas.microsoft.com/office/drawing/2014/main" id="{A9ED2E44-C82E-CB80-703F-A67D873F3DF3}"/>
              </a:ext>
            </a:extLst>
          </p:cNvPr>
          <p:cNvPicPr>
            <a:picLocks noChangeAspect="1"/>
          </p:cNvPicPr>
          <p:nvPr/>
        </p:nvPicPr>
        <p:blipFill>
          <a:blip r:embed="rId8"/>
          <a:stretch>
            <a:fillRect/>
          </a:stretch>
        </p:blipFill>
        <p:spPr>
          <a:xfrm>
            <a:off x="9448800" y="5024301"/>
            <a:ext cx="2743200" cy="1834569"/>
          </a:xfrm>
          <a:prstGeom prst="rect">
            <a:avLst/>
          </a:prstGeom>
        </p:spPr>
      </p:pic>
      <mc:AlternateContent xmlns:mc="http://schemas.openxmlformats.org/markup-compatibility/2006" xmlns:p14="http://schemas.microsoft.com/office/powerpoint/2010/main">
        <mc:Choice Requires="p14">
          <p:contentPart p14:bwMode="auto" r:id="rId9">
            <p14:nvContentPartPr>
              <p14:cNvPr id="14" name="Ink 13">
                <a:extLst>
                  <a:ext uri="{FF2B5EF4-FFF2-40B4-BE49-F238E27FC236}">
                    <a16:creationId xmlns:a16="http://schemas.microsoft.com/office/drawing/2014/main" id="{637123B3-A0FC-F97E-9D14-83FF33EEB214}"/>
                  </a:ext>
                </a:extLst>
              </p14:cNvPr>
              <p14:cNvContentPartPr/>
              <p14:nvPr/>
            </p14:nvContentPartPr>
            <p14:xfrm>
              <a:off x="704591" y="1621179"/>
              <a:ext cx="10045080" cy="369360"/>
            </p14:xfrm>
          </p:contentPart>
        </mc:Choice>
        <mc:Fallback xmlns="">
          <p:pic>
            <p:nvPicPr>
              <p:cNvPr id="14" name="Ink 13">
                <a:extLst>
                  <a:ext uri="{FF2B5EF4-FFF2-40B4-BE49-F238E27FC236}">
                    <a16:creationId xmlns:a16="http://schemas.microsoft.com/office/drawing/2014/main" id="{637123B3-A0FC-F97E-9D14-83FF33EEB214}"/>
                  </a:ext>
                </a:extLst>
              </p:cNvPr>
              <p:cNvPicPr/>
              <p:nvPr/>
            </p:nvPicPr>
            <p:blipFill>
              <a:blip r:embed="rId10"/>
              <a:stretch>
                <a:fillRect/>
              </a:stretch>
            </p:blipFill>
            <p:spPr>
              <a:xfrm>
                <a:off x="614591" y="1441539"/>
                <a:ext cx="10224720" cy="729000"/>
              </a:xfrm>
              <a:prstGeom prst="rect">
                <a:avLst/>
              </a:prstGeom>
            </p:spPr>
          </p:pic>
        </mc:Fallback>
      </mc:AlternateContent>
    </p:spTree>
    <p:extLst>
      <p:ext uri="{BB962C8B-B14F-4D97-AF65-F5344CB8AC3E}">
        <p14:creationId xmlns:p14="http://schemas.microsoft.com/office/powerpoint/2010/main" val="1020684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29</a:t>
            </a:fld>
            <a:endParaRPr lang="en-US"/>
          </a:p>
        </p:txBody>
      </p:sp>
      <p:sp>
        <p:nvSpPr>
          <p:cNvPr id="4" name="TextBox 3"/>
          <p:cNvSpPr txBox="1"/>
          <p:nvPr/>
        </p:nvSpPr>
        <p:spPr>
          <a:xfrm>
            <a:off x="568411" y="501344"/>
            <a:ext cx="4751172" cy="584775"/>
          </a:xfrm>
          <a:prstGeom prst="rect">
            <a:avLst/>
          </a:prstGeom>
          <a:noFill/>
        </p:spPr>
        <p:txBody>
          <a:bodyPr wrap="none" rtlCol="0">
            <a:spAutoFit/>
          </a:bodyPr>
          <a:lstStyle/>
          <a:p>
            <a:r>
              <a:rPr lang="en-US" sz="3200" dirty="0">
                <a:solidFill>
                  <a:srgbClr val="FF0000"/>
                </a:solidFill>
              </a:rPr>
              <a:t>Drawback of DES Algorithm</a:t>
            </a:r>
          </a:p>
        </p:txBody>
      </p:sp>
      <p:pic>
        <p:nvPicPr>
          <p:cNvPr id="10" name="Picture 9"/>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68411" y="1222590"/>
            <a:ext cx="11069594" cy="2231214"/>
          </a:xfrm>
          <a:prstGeom prst="rect">
            <a:avLst/>
          </a:prstGeom>
        </p:spPr>
      </p:pic>
      <p:pic>
        <p:nvPicPr>
          <p:cNvPr id="3" name="Picture 2"/>
          <p:cNvPicPr>
            <a:picLocks noChangeAspect="1"/>
          </p:cNvPicPr>
          <p:nvPr/>
        </p:nvPicPr>
        <p:blipFill>
          <a:blip r:embed="rId4">
            <a:duotone>
              <a:prstClr val="black"/>
              <a:schemeClr val="accent4">
                <a:tint val="45000"/>
                <a:satMod val="400000"/>
              </a:schemeClr>
            </a:duotone>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1562423" y="3669392"/>
            <a:ext cx="9971255" cy="2686958"/>
          </a:xfrm>
          <a:prstGeom prst="rect">
            <a:avLst/>
          </a:prstGeom>
        </p:spPr>
      </p:pic>
      <p:sp>
        <p:nvSpPr>
          <p:cNvPr id="5" name="Right Arrow 4"/>
          <p:cNvSpPr/>
          <p:nvPr/>
        </p:nvSpPr>
        <p:spPr>
          <a:xfrm>
            <a:off x="716692" y="3669392"/>
            <a:ext cx="729049" cy="766684"/>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16733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30</a:t>
            </a:fld>
            <a:endParaRPr lang="en-US"/>
          </a:p>
        </p:txBody>
      </p:sp>
      <p:pic>
        <p:nvPicPr>
          <p:cNvPr id="3" name="Picture 2"/>
          <p:cNvPicPr>
            <a:picLocks noChangeAspect="1"/>
          </p:cNvPicPr>
          <p:nvPr/>
        </p:nvPicPr>
        <p:blipFill>
          <a:blip r:embed="rId2"/>
          <a:stretch>
            <a:fillRect/>
          </a:stretch>
        </p:blipFill>
        <p:spPr>
          <a:xfrm>
            <a:off x="1306020" y="2434282"/>
            <a:ext cx="10047780" cy="2006515"/>
          </a:xfrm>
          <a:prstGeom prst="rect">
            <a:avLst/>
          </a:prstGeom>
        </p:spPr>
      </p:pic>
      <p:sp>
        <p:nvSpPr>
          <p:cNvPr id="5" name="Rectangle 4"/>
          <p:cNvSpPr/>
          <p:nvPr/>
        </p:nvSpPr>
        <p:spPr>
          <a:xfrm>
            <a:off x="3698773" y="4956430"/>
            <a:ext cx="5262274" cy="369332"/>
          </a:xfrm>
          <a:prstGeom prst="rect">
            <a:avLst/>
          </a:prstGeom>
        </p:spPr>
        <p:txBody>
          <a:bodyPr wrap="none">
            <a:spAutoFit/>
          </a:bodyPr>
          <a:lstStyle/>
          <a:p>
            <a:r>
              <a:rPr lang="en-US" b="1" dirty="0">
                <a:solidFill>
                  <a:srgbClr val="FF0000"/>
                </a:solidFill>
              </a:rPr>
              <a:t>Coverage from slides provided by Course Coordinator</a:t>
            </a:r>
          </a:p>
        </p:txBody>
      </p:sp>
    </p:spTree>
    <p:extLst>
      <p:ext uri="{BB962C8B-B14F-4D97-AF65-F5344CB8AC3E}">
        <p14:creationId xmlns:p14="http://schemas.microsoft.com/office/powerpoint/2010/main" val="34600473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31</a:t>
            </a:fld>
            <a:endParaRPr lang="en-US"/>
          </a:p>
        </p:txBody>
      </p:sp>
      <p:pic>
        <p:nvPicPr>
          <p:cNvPr id="3" name="Picture 2"/>
          <p:cNvPicPr>
            <a:picLocks noChangeAspect="1"/>
          </p:cNvPicPr>
          <p:nvPr/>
        </p:nvPicPr>
        <p:blipFill>
          <a:blip r:embed="rId2"/>
          <a:stretch>
            <a:fillRect/>
          </a:stretch>
        </p:blipFill>
        <p:spPr>
          <a:xfrm>
            <a:off x="1754660" y="943176"/>
            <a:ext cx="8966657" cy="5151992"/>
          </a:xfrm>
          <a:prstGeom prst="rect">
            <a:avLst/>
          </a:prstGeom>
        </p:spPr>
      </p:pic>
    </p:spTree>
    <p:extLst>
      <p:ext uri="{BB962C8B-B14F-4D97-AF65-F5344CB8AC3E}">
        <p14:creationId xmlns:p14="http://schemas.microsoft.com/office/powerpoint/2010/main" val="627362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3588" y="144966"/>
            <a:ext cx="7931224" cy="736104"/>
          </a:xfrm>
        </p:spPr>
        <p:txBody>
          <a:bodyPr/>
          <a:lstStyle/>
          <a:p>
            <a:r>
              <a:rPr lang="en-US" sz="4000" b="1" dirty="0"/>
              <a:t>Data Encryption Standard (DES)</a:t>
            </a:r>
          </a:p>
        </p:txBody>
      </p:sp>
      <p:sp>
        <p:nvSpPr>
          <p:cNvPr id="3" name="Content Placeholder 2"/>
          <p:cNvSpPr>
            <a:spLocks noGrp="1"/>
          </p:cNvSpPr>
          <p:nvPr>
            <p:ph idx="1"/>
          </p:nvPr>
        </p:nvSpPr>
        <p:spPr>
          <a:xfrm>
            <a:off x="1063588" y="881070"/>
            <a:ext cx="9604412" cy="5976931"/>
          </a:xfrm>
        </p:spPr>
        <p:txBody>
          <a:bodyPr>
            <a:normAutofit fontScale="92500" lnSpcReduction="10000"/>
          </a:bodyPr>
          <a:lstStyle/>
          <a:p>
            <a:r>
              <a:rPr lang="en-US" dirty="0">
                <a:latin typeface="Times New Roman" charset="0"/>
                <a:ea typeface="ＭＳ Ｐゴシック" charset="0"/>
                <a:cs typeface="ＭＳ Ｐゴシック" charset="0"/>
              </a:rPr>
              <a:t>The DES algorithm can be described as follows. </a:t>
            </a:r>
          </a:p>
          <a:p>
            <a:pPr lvl="1"/>
            <a:r>
              <a:rPr lang="en-US" sz="2000" dirty="0">
                <a:latin typeface="Times New Roman" charset="0"/>
                <a:ea typeface="ＭＳ Ｐゴシック" charset="0"/>
                <a:cs typeface="ＭＳ Ｐゴシック" charset="0"/>
              </a:rPr>
              <a:t>The plaintext is 64 bits in length </a:t>
            </a:r>
          </a:p>
          <a:p>
            <a:pPr lvl="1"/>
            <a:r>
              <a:rPr lang="en-US" sz="2000" dirty="0">
                <a:latin typeface="Times New Roman" charset="0"/>
                <a:ea typeface="ＭＳ Ｐゴシック" charset="0"/>
                <a:cs typeface="ＭＳ Ｐゴシック" charset="0"/>
              </a:rPr>
              <a:t>The key is 56 bits in length</a:t>
            </a:r>
          </a:p>
          <a:p>
            <a:pPr lvl="1"/>
            <a:r>
              <a:rPr lang="en-US" sz="2000" dirty="0">
                <a:latin typeface="Times New Roman" charset="0"/>
                <a:ea typeface="ＭＳ Ｐゴシック" charset="0"/>
                <a:cs typeface="ＭＳ Ｐゴシック" charset="0"/>
              </a:rPr>
              <a:t>There are 16 rounds of processing. </a:t>
            </a:r>
          </a:p>
          <a:p>
            <a:pPr lvl="1"/>
            <a:r>
              <a:rPr lang="en-US" sz="2000" dirty="0">
                <a:latin typeface="Times New Roman" charset="0"/>
                <a:ea typeface="ＭＳ Ｐゴシック" charset="0"/>
                <a:cs typeface="ＭＳ Ｐゴシック" charset="0"/>
              </a:rPr>
              <a:t>From the original 56-bit key, 16subkeys are generated (</a:t>
            </a:r>
            <a:r>
              <a:rPr lang="en-US" sz="2000" dirty="0" err="1">
                <a:latin typeface="Times New Roman" charset="0"/>
                <a:ea typeface="ＭＳ Ｐゴシック" charset="0"/>
                <a:cs typeface="ＭＳ Ｐゴシック" charset="0"/>
              </a:rPr>
              <a:t>ki</a:t>
            </a:r>
            <a:r>
              <a:rPr lang="en-US" sz="2000" dirty="0">
                <a:latin typeface="Times New Roman" charset="0"/>
                <a:ea typeface="ＭＳ Ｐゴシック" charset="0"/>
                <a:cs typeface="ＭＳ Ｐゴシック" charset="0"/>
              </a:rPr>
              <a:t>= 48 bit)</a:t>
            </a:r>
          </a:p>
          <a:p>
            <a:pPr lvl="2"/>
            <a:r>
              <a:rPr lang="en-US" dirty="0">
                <a:latin typeface="Times New Roman" charset="0"/>
                <a:ea typeface="ＭＳ Ｐゴシック" charset="0"/>
                <a:cs typeface="ＭＳ Ｐゴシック" charset="0"/>
              </a:rPr>
              <a:t>one of which is used for each round.</a:t>
            </a:r>
          </a:p>
          <a:p>
            <a:pPr lvl="1"/>
            <a:endParaRPr lang="en-US" sz="800" dirty="0"/>
          </a:p>
          <a:p>
            <a:r>
              <a:rPr lang="en-US" b="1" dirty="0">
                <a:latin typeface="Times New Roman" charset="0"/>
                <a:ea typeface="ＭＳ Ｐゴシック" charset="0"/>
                <a:cs typeface="ＭＳ Ｐゴシック" charset="0"/>
              </a:rPr>
              <a:t>Encryption process:</a:t>
            </a:r>
          </a:p>
          <a:p>
            <a:pPr marL="857250" lvl="1" indent="-457200">
              <a:buFont typeface="+mj-lt"/>
              <a:buAutoNum type="arabicPeriod"/>
            </a:pPr>
            <a:r>
              <a:rPr lang="en-US" sz="2000" dirty="0">
                <a:latin typeface="Times New Roman" pitchFamily="18" charset="0"/>
                <a:cs typeface="Times New Roman" pitchFamily="18" charset="0"/>
              </a:rPr>
              <a:t>Permutation performed on the input block</a:t>
            </a:r>
          </a:p>
          <a:p>
            <a:pPr marL="857250" lvl="1" indent="-457200">
              <a:buFont typeface="+mj-lt"/>
              <a:buAutoNum type="arabicPeriod"/>
            </a:pPr>
            <a:r>
              <a:rPr lang="en-US" sz="2000" dirty="0">
                <a:latin typeface="Times New Roman" pitchFamily="18" charset="0"/>
                <a:cs typeface="Times New Roman" pitchFamily="18" charset="0"/>
              </a:rPr>
              <a:t>Generation of round keys</a:t>
            </a:r>
          </a:p>
          <a:p>
            <a:pPr marL="857250" lvl="1" indent="-457200">
              <a:buFont typeface="+mj-lt"/>
              <a:buAutoNum type="arabicPeriod"/>
            </a:pPr>
            <a:r>
              <a:rPr lang="en-US" sz="2000" dirty="0">
                <a:latin typeface="Times New Roman" pitchFamily="18" charset="0"/>
                <a:cs typeface="Times New Roman" pitchFamily="18" charset="0"/>
              </a:rPr>
              <a:t>Performing 16 identical rounds</a:t>
            </a:r>
          </a:p>
          <a:p>
            <a:pPr marL="1257300" lvl="2" indent="-457200">
              <a:buFont typeface="+mj-lt"/>
              <a:buAutoNum type="alphaLcPeriod"/>
            </a:pPr>
            <a:r>
              <a:rPr lang="en-US" dirty="0">
                <a:latin typeface="Times New Roman" pitchFamily="18" charset="0"/>
                <a:cs typeface="Times New Roman" pitchFamily="18" charset="0"/>
              </a:rPr>
              <a:t>Substitution </a:t>
            </a:r>
          </a:p>
          <a:p>
            <a:pPr marL="1257300" lvl="2" indent="-457200">
              <a:buFont typeface="+mj-lt"/>
              <a:buAutoNum type="alphaLcPeriod"/>
            </a:pPr>
            <a:r>
              <a:rPr lang="en-US" dirty="0">
                <a:latin typeface="Times New Roman" pitchFamily="18" charset="0"/>
                <a:cs typeface="Times New Roman" pitchFamily="18" charset="0"/>
              </a:rPr>
              <a:t>Permutation</a:t>
            </a:r>
          </a:p>
          <a:p>
            <a:pPr marL="857250" lvl="1" indent="-457200">
              <a:buFont typeface="+mj-lt"/>
              <a:buAutoNum type="arabicPeriod"/>
            </a:pPr>
            <a:r>
              <a:rPr lang="en-US" sz="2000" dirty="0">
                <a:latin typeface="Times New Roman" pitchFamily="18" charset="0"/>
                <a:cs typeface="Times New Roman" pitchFamily="18" charset="0"/>
              </a:rPr>
              <a:t>Inverse permutation to step 1</a:t>
            </a:r>
          </a:p>
          <a:p>
            <a:pPr marL="400050" lvl="1" indent="0">
              <a:buNone/>
            </a:pPr>
            <a:endParaRPr lang="en-US" sz="800" dirty="0">
              <a:latin typeface="Times New Roman" charset="0"/>
              <a:ea typeface="ＭＳ Ｐゴシック" charset="0"/>
              <a:cs typeface="ＭＳ Ｐゴシック" charset="0"/>
            </a:endParaRPr>
          </a:p>
          <a:p>
            <a:r>
              <a:rPr lang="en-US" b="1" dirty="0">
                <a:latin typeface="Times New Roman" panose="02020603050405020304" pitchFamily="18" charset="0"/>
                <a:cs typeface="Times New Roman" panose="02020603050405020304" pitchFamily="18" charset="0"/>
              </a:rPr>
              <a:t>Decryption</a:t>
            </a:r>
            <a:r>
              <a:rPr lang="en-US" b="1" dirty="0">
                <a:latin typeface="Times New Roman" panose="02020603050405020304" pitchFamily="18" charset="0"/>
                <a:ea typeface="ＭＳ Ｐゴシック" charset="0"/>
                <a:cs typeface="Times New Roman" panose="02020603050405020304" pitchFamily="18" charset="0"/>
              </a:rPr>
              <a:t> process:</a:t>
            </a:r>
          </a:p>
          <a:p>
            <a:pPr lvl="1"/>
            <a:r>
              <a:rPr lang="en-US" sz="1900" dirty="0">
                <a:latin typeface="Times New Roman" panose="02020603050405020304" pitchFamily="18" charset="0"/>
                <a:cs typeface="Times New Roman" panose="02020603050405020304" pitchFamily="18" charset="0"/>
              </a:rPr>
              <a:t>Use the ciphertext as input to the DES algorithm, but use the sub-keys Ki in reverse order. </a:t>
            </a:r>
          </a:p>
          <a:p>
            <a:pPr lvl="1"/>
            <a:r>
              <a:rPr lang="en-US" sz="1900" dirty="0">
                <a:latin typeface="Times New Roman" panose="02020603050405020304" pitchFamily="18" charset="0"/>
                <a:cs typeface="Times New Roman" panose="02020603050405020304" pitchFamily="18" charset="0"/>
              </a:rPr>
              <a:t>That is, use K16 on the first iteration, K15 on the second iteration, and so on until K1 is used on the sixteenth and last iteration.</a:t>
            </a:r>
          </a:p>
          <a:p>
            <a:pPr marL="457200" lvl="1" indent="0">
              <a:buNone/>
            </a:pPr>
            <a:endParaRPr lang="en-US" dirty="0"/>
          </a:p>
        </p:txBody>
      </p:sp>
      <p:sp>
        <p:nvSpPr>
          <p:cNvPr id="4" name="Slide Number Placeholder 3"/>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32</a:t>
            </a:fld>
            <a:endParaRPr lang="en-US" dirty="0">
              <a:solidFill>
                <a:prstClr val="white">
                  <a:lumMod val="65000"/>
                  <a:lumOff val="35000"/>
                </a:prstClr>
              </a:solidFill>
            </a:endParaRPr>
          </a:p>
        </p:txBody>
      </p:sp>
    </p:spTree>
    <p:extLst>
      <p:ext uri="{BB962C8B-B14F-4D97-AF65-F5344CB8AC3E}">
        <p14:creationId xmlns:p14="http://schemas.microsoft.com/office/powerpoint/2010/main" val="38052923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7767918" y="6347942"/>
            <a:ext cx="2743200" cy="365125"/>
          </a:xfrm>
        </p:spPr>
        <p:txBody>
          <a:bodyPr/>
          <a:lstStyle/>
          <a:p>
            <a:fld id="{A2A50C4D-0BA1-4E54-8DFC-01810EC97B99}" type="slidenum">
              <a:rPr lang="en-US" smtClean="0"/>
              <a:t>33</a:t>
            </a:fld>
            <a:endParaRPr lang="en-US"/>
          </a:p>
        </p:txBody>
      </p:sp>
      <p:pic>
        <p:nvPicPr>
          <p:cNvPr id="3" name="Picture 2"/>
          <p:cNvPicPr>
            <a:picLocks noChangeAspect="1"/>
          </p:cNvPicPr>
          <p:nvPr/>
        </p:nvPicPr>
        <p:blipFill>
          <a:blip r:embed="rId2"/>
          <a:stretch>
            <a:fillRect/>
          </a:stretch>
        </p:blipFill>
        <p:spPr>
          <a:xfrm>
            <a:off x="289990" y="55761"/>
            <a:ext cx="5673076" cy="5294188"/>
          </a:xfrm>
          <a:prstGeom prst="rect">
            <a:avLst/>
          </a:prstGeom>
        </p:spPr>
      </p:pic>
      <p:pic>
        <p:nvPicPr>
          <p:cNvPr id="4" name="Picture 3"/>
          <p:cNvPicPr>
            <a:picLocks noChangeAspect="1"/>
          </p:cNvPicPr>
          <p:nvPr/>
        </p:nvPicPr>
        <p:blipFill>
          <a:blip r:embed="rId3"/>
          <a:stretch>
            <a:fillRect/>
          </a:stretch>
        </p:blipFill>
        <p:spPr>
          <a:xfrm>
            <a:off x="6057196" y="532339"/>
            <a:ext cx="5699932" cy="4091485"/>
          </a:xfrm>
          <a:prstGeom prst="rect">
            <a:avLst/>
          </a:prstGeom>
        </p:spPr>
      </p:pic>
      <p:sp>
        <p:nvSpPr>
          <p:cNvPr id="5" name="Rectangle 4"/>
          <p:cNvSpPr/>
          <p:nvPr/>
        </p:nvSpPr>
        <p:spPr>
          <a:xfrm>
            <a:off x="-9328" y="5590961"/>
            <a:ext cx="4607859" cy="1200329"/>
          </a:xfrm>
          <a:prstGeom prst="rect">
            <a:avLst/>
          </a:prstGeom>
        </p:spPr>
        <p:txBody>
          <a:bodyPr wrap="square">
            <a:spAutoFit/>
          </a:bodyPr>
          <a:lstStyle/>
          <a:p>
            <a:pPr algn="just"/>
            <a:r>
              <a:rPr lang="en-US" dirty="0">
                <a:solidFill>
                  <a:srgbClr val="FF0000"/>
                </a:solidFill>
              </a:rPr>
              <a:t>The initial and final permutations are straight P-boxes that are inverses of each other. They have no cryptography significance in DES. </a:t>
            </a:r>
            <a:r>
              <a:rPr lang="en-US" sz="1800" dirty="0">
                <a:solidFill>
                  <a:srgbClr val="FF0000"/>
                </a:solidFill>
                <a:latin typeface="Times New Roman" panose="02020603050405020304" pitchFamily="18" charset="0"/>
                <a:cs typeface="Times New Roman" panose="02020603050405020304" pitchFamily="18" charset="0"/>
              </a:rPr>
              <a:t>Both permutations are keyless and predetermined.</a:t>
            </a:r>
            <a:endParaRPr lang="en-US" dirty="0">
              <a:solidFill>
                <a:srgbClr val="FF0000"/>
              </a:solidFill>
            </a:endParaRPr>
          </a:p>
        </p:txBody>
      </p:sp>
      <p:cxnSp>
        <p:nvCxnSpPr>
          <p:cNvPr id="7" name="Straight Arrow Connector 6"/>
          <p:cNvCxnSpPr>
            <a:cxnSpLocks/>
          </p:cNvCxnSpPr>
          <p:nvPr/>
        </p:nvCxnSpPr>
        <p:spPr>
          <a:xfrm>
            <a:off x="2635624" y="1497102"/>
            <a:ext cx="3925814" cy="38548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cxnSpLocks/>
          </p:cNvCxnSpPr>
          <p:nvPr/>
        </p:nvCxnSpPr>
        <p:spPr>
          <a:xfrm flipV="1">
            <a:off x="2635624" y="3994136"/>
            <a:ext cx="3925814" cy="48821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6" name="object 7">
            <a:extLst>
              <a:ext uri="{FF2B5EF4-FFF2-40B4-BE49-F238E27FC236}">
                <a16:creationId xmlns:a16="http://schemas.microsoft.com/office/drawing/2014/main" id="{59ED2F5F-AAE7-CF0B-42F7-83BA73069A2A}"/>
              </a:ext>
            </a:extLst>
          </p:cNvPr>
          <p:cNvPicPr/>
          <p:nvPr/>
        </p:nvPicPr>
        <p:blipFill>
          <a:blip r:embed="rId4" cstate="print"/>
          <a:stretch>
            <a:fillRect/>
          </a:stretch>
        </p:blipFill>
        <p:spPr>
          <a:xfrm>
            <a:off x="8135311" y="4643813"/>
            <a:ext cx="4056689" cy="2214187"/>
          </a:xfrm>
          <a:prstGeom prst="rect">
            <a:avLst/>
          </a:prstGeom>
        </p:spPr>
      </p:pic>
      <p:sp>
        <p:nvSpPr>
          <p:cNvPr id="9" name="TextBox 8">
            <a:extLst>
              <a:ext uri="{FF2B5EF4-FFF2-40B4-BE49-F238E27FC236}">
                <a16:creationId xmlns:a16="http://schemas.microsoft.com/office/drawing/2014/main" id="{B952B9A4-B72E-5E7F-BAD6-3E83F593E539}"/>
              </a:ext>
            </a:extLst>
          </p:cNvPr>
          <p:cNvSpPr txBox="1"/>
          <p:nvPr/>
        </p:nvSpPr>
        <p:spPr>
          <a:xfrm>
            <a:off x="4907204" y="5775627"/>
            <a:ext cx="3094450" cy="1015663"/>
          </a:xfrm>
          <a:prstGeom prst="rect">
            <a:avLst/>
          </a:prstGeom>
          <a:noFill/>
        </p:spPr>
        <p:txBody>
          <a:bodyPr wrap="square" rtlCol="0">
            <a:spAutoFit/>
          </a:bodyPr>
          <a:lstStyle/>
          <a:p>
            <a:pPr algn="just"/>
            <a:r>
              <a:rPr lang="en-US" sz="1200" b="1" dirty="0">
                <a:solidFill>
                  <a:srgbClr val="FF0000"/>
                </a:solidFill>
              </a:rPr>
              <a:t>Rule: </a:t>
            </a:r>
            <a:r>
              <a:rPr lang="en-US" sz="1200" dirty="0"/>
              <a:t>In the initial permutation, the 58th bit in the input becomes the first bit in the output. Similarly, in the final permutation, the first bit in the input becomes the 58th bit in the output.</a:t>
            </a:r>
            <a:endParaRPr lang="en-US" sz="1200" b="1" dirty="0"/>
          </a:p>
        </p:txBody>
      </p:sp>
    </p:spTree>
    <p:extLst>
      <p:ext uri="{BB962C8B-B14F-4D97-AF65-F5344CB8AC3E}">
        <p14:creationId xmlns:p14="http://schemas.microsoft.com/office/powerpoint/2010/main" val="56135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34</a:t>
            </a:fld>
            <a:endParaRPr lang="en-US"/>
          </a:p>
        </p:txBody>
      </p:sp>
      <p:pic>
        <p:nvPicPr>
          <p:cNvPr id="3" name="Picture 2"/>
          <p:cNvPicPr>
            <a:picLocks noChangeAspect="1"/>
          </p:cNvPicPr>
          <p:nvPr/>
        </p:nvPicPr>
        <p:blipFill>
          <a:blip r:embed="rId2"/>
          <a:stretch>
            <a:fillRect/>
          </a:stretch>
        </p:blipFill>
        <p:spPr>
          <a:xfrm>
            <a:off x="1594022" y="498248"/>
            <a:ext cx="9032169" cy="5858102"/>
          </a:xfrm>
          <a:prstGeom prst="rect">
            <a:avLst/>
          </a:prstGeom>
        </p:spPr>
      </p:pic>
    </p:spTree>
    <p:extLst>
      <p:ext uri="{BB962C8B-B14F-4D97-AF65-F5344CB8AC3E}">
        <p14:creationId xmlns:p14="http://schemas.microsoft.com/office/powerpoint/2010/main" val="17820009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35</a:t>
            </a:fld>
            <a:endParaRPr lang="en-US"/>
          </a:p>
        </p:txBody>
      </p:sp>
      <p:pic>
        <p:nvPicPr>
          <p:cNvPr id="6" name="Picture 5"/>
          <p:cNvPicPr>
            <a:picLocks noChangeAspect="1"/>
          </p:cNvPicPr>
          <p:nvPr/>
        </p:nvPicPr>
        <p:blipFill>
          <a:blip r:embed="rId2"/>
          <a:stretch>
            <a:fillRect/>
          </a:stretch>
        </p:blipFill>
        <p:spPr>
          <a:xfrm>
            <a:off x="6351372" y="1186982"/>
            <a:ext cx="3469633" cy="3569024"/>
          </a:xfrm>
          <a:prstGeom prst="rect">
            <a:avLst/>
          </a:prstGeom>
        </p:spPr>
      </p:pic>
      <p:grpSp>
        <p:nvGrpSpPr>
          <p:cNvPr id="9" name="Group 8"/>
          <p:cNvGrpSpPr/>
          <p:nvPr/>
        </p:nvGrpSpPr>
        <p:grpSpPr>
          <a:xfrm>
            <a:off x="624066" y="177972"/>
            <a:ext cx="4028302" cy="6178378"/>
            <a:chOff x="665258" y="524897"/>
            <a:chExt cx="2968350" cy="4486902"/>
          </a:xfrm>
        </p:grpSpPr>
        <p:pic>
          <p:nvPicPr>
            <p:cNvPr id="7" name="Picture 6"/>
            <p:cNvPicPr>
              <a:picLocks noChangeAspect="1"/>
            </p:cNvPicPr>
            <p:nvPr/>
          </p:nvPicPr>
          <p:blipFill>
            <a:blip r:embed="rId3"/>
            <a:stretch>
              <a:fillRect/>
            </a:stretch>
          </p:blipFill>
          <p:spPr>
            <a:xfrm>
              <a:off x="665258" y="524897"/>
              <a:ext cx="2953162" cy="1952898"/>
            </a:xfrm>
            <a:prstGeom prst="rect">
              <a:avLst/>
            </a:prstGeom>
          </p:spPr>
        </p:pic>
        <p:pic>
          <p:nvPicPr>
            <p:cNvPr id="8" name="Picture 7"/>
            <p:cNvPicPr>
              <a:picLocks noChangeAspect="1"/>
            </p:cNvPicPr>
            <p:nvPr/>
          </p:nvPicPr>
          <p:blipFill>
            <a:blip r:embed="rId4"/>
            <a:stretch>
              <a:fillRect/>
            </a:stretch>
          </p:blipFill>
          <p:spPr>
            <a:xfrm>
              <a:off x="689972" y="2477795"/>
              <a:ext cx="2943636" cy="2534004"/>
            </a:xfrm>
            <a:prstGeom prst="rect">
              <a:avLst/>
            </a:prstGeom>
          </p:spPr>
        </p:pic>
      </p:grpSp>
      <p:pic>
        <p:nvPicPr>
          <p:cNvPr id="10" name="Picture 9"/>
          <p:cNvPicPr>
            <a:picLocks noChangeAspect="1"/>
          </p:cNvPicPr>
          <p:nvPr/>
        </p:nvPicPr>
        <p:blipFill>
          <a:blip r:embed="rId5"/>
          <a:stretch>
            <a:fillRect/>
          </a:stretch>
        </p:blipFill>
        <p:spPr>
          <a:xfrm>
            <a:off x="4156094" y="5018659"/>
            <a:ext cx="7758006" cy="1075038"/>
          </a:xfrm>
          <a:prstGeom prst="rect">
            <a:avLst/>
          </a:prstGeom>
        </p:spPr>
      </p:pic>
      <p:sp>
        <p:nvSpPr>
          <p:cNvPr id="11" name="TextBox 10"/>
          <p:cNvSpPr txBox="1"/>
          <p:nvPr/>
        </p:nvSpPr>
        <p:spPr>
          <a:xfrm>
            <a:off x="9545695" y="686324"/>
            <a:ext cx="2368405" cy="369332"/>
          </a:xfrm>
          <a:prstGeom prst="rect">
            <a:avLst/>
          </a:prstGeom>
          <a:noFill/>
        </p:spPr>
        <p:txBody>
          <a:bodyPr wrap="none" rtlCol="0">
            <a:spAutoFit/>
          </a:bodyPr>
          <a:lstStyle/>
          <a:p>
            <a:r>
              <a:rPr lang="en-US" dirty="0">
                <a:solidFill>
                  <a:srgbClr val="FF0000"/>
                </a:solidFill>
              </a:rPr>
              <a:t>Textbook page 631-631</a:t>
            </a:r>
          </a:p>
        </p:txBody>
      </p:sp>
    </p:spTree>
    <p:extLst>
      <p:ext uri="{BB962C8B-B14F-4D97-AF65-F5344CB8AC3E}">
        <p14:creationId xmlns:p14="http://schemas.microsoft.com/office/powerpoint/2010/main" val="3323741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36</a:t>
            </a:fld>
            <a:endParaRPr lang="en-US"/>
          </a:p>
        </p:txBody>
      </p:sp>
      <p:pic>
        <p:nvPicPr>
          <p:cNvPr id="3" name="Picture 2"/>
          <p:cNvPicPr>
            <a:picLocks noChangeAspect="1"/>
          </p:cNvPicPr>
          <p:nvPr/>
        </p:nvPicPr>
        <p:blipFill>
          <a:blip r:embed="rId2"/>
          <a:stretch>
            <a:fillRect/>
          </a:stretch>
        </p:blipFill>
        <p:spPr>
          <a:xfrm>
            <a:off x="647720" y="623760"/>
            <a:ext cx="10420174" cy="5732590"/>
          </a:xfrm>
          <a:prstGeom prst="rect">
            <a:avLst/>
          </a:prstGeom>
        </p:spPr>
      </p:pic>
      <p:sp>
        <p:nvSpPr>
          <p:cNvPr id="4" name="TextBox 3"/>
          <p:cNvSpPr txBox="1"/>
          <p:nvPr/>
        </p:nvSpPr>
        <p:spPr>
          <a:xfrm>
            <a:off x="9545695" y="686324"/>
            <a:ext cx="2368405" cy="369332"/>
          </a:xfrm>
          <a:prstGeom prst="rect">
            <a:avLst/>
          </a:prstGeom>
          <a:noFill/>
        </p:spPr>
        <p:txBody>
          <a:bodyPr wrap="none" rtlCol="0">
            <a:spAutoFit/>
          </a:bodyPr>
          <a:lstStyle/>
          <a:p>
            <a:r>
              <a:rPr lang="en-US" dirty="0">
                <a:solidFill>
                  <a:srgbClr val="FF0000"/>
                </a:solidFill>
              </a:rPr>
              <a:t>Textbook page 631-631</a:t>
            </a:r>
          </a:p>
        </p:txBody>
      </p:sp>
    </p:spTree>
    <p:extLst>
      <p:ext uri="{BB962C8B-B14F-4D97-AF65-F5344CB8AC3E}">
        <p14:creationId xmlns:p14="http://schemas.microsoft.com/office/powerpoint/2010/main" val="14637597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37</a:t>
            </a:fld>
            <a:endParaRPr lang="en-US"/>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623865" y="408757"/>
            <a:ext cx="8680774" cy="5697764"/>
          </a:xfrm>
          <a:prstGeom prst="rect">
            <a:avLst/>
          </a:prstGeom>
        </p:spPr>
      </p:pic>
      <p:pic>
        <p:nvPicPr>
          <p:cNvPr id="4" name="Picture 3"/>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7769691" y="1364755"/>
            <a:ext cx="4154580" cy="2193991"/>
          </a:xfrm>
          <a:prstGeom prst="rect">
            <a:avLst/>
          </a:prstGeom>
        </p:spPr>
      </p:pic>
      <p:cxnSp>
        <p:nvCxnSpPr>
          <p:cNvPr id="5" name="Straight Arrow Connector 4"/>
          <p:cNvCxnSpPr/>
          <p:nvPr/>
        </p:nvCxnSpPr>
        <p:spPr>
          <a:xfrm flipV="1">
            <a:off x="5659395" y="2174789"/>
            <a:ext cx="2110296" cy="42013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Layer>
                </a14:imgProps>
              </a:ext>
            </a:extLst>
          </a:blip>
          <a:stretch>
            <a:fillRect/>
          </a:stretch>
        </p:blipFill>
        <p:spPr>
          <a:xfrm>
            <a:off x="6424396" y="4648924"/>
            <a:ext cx="5499875" cy="1582511"/>
          </a:xfrm>
          <a:prstGeom prst="rect">
            <a:avLst/>
          </a:prstGeom>
        </p:spPr>
      </p:pic>
      <p:cxnSp>
        <p:nvCxnSpPr>
          <p:cNvPr id="9" name="Straight Arrow Connector 8"/>
          <p:cNvCxnSpPr/>
          <p:nvPr/>
        </p:nvCxnSpPr>
        <p:spPr>
          <a:xfrm>
            <a:off x="5659395" y="5016844"/>
            <a:ext cx="765001" cy="28420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2691674" y="4040659"/>
            <a:ext cx="953570" cy="49427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93582" y="5593908"/>
            <a:ext cx="2067810" cy="369332"/>
          </a:xfrm>
          <a:prstGeom prst="rect">
            <a:avLst/>
          </a:prstGeom>
          <a:noFill/>
        </p:spPr>
        <p:txBody>
          <a:bodyPr wrap="none" rtlCol="0">
            <a:spAutoFit/>
          </a:bodyPr>
          <a:lstStyle/>
          <a:p>
            <a:r>
              <a:rPr lang="en-US" dirty="0">
                <a:solidFill>
                  <a:srgbClr val="FF0000"/>
                </a:solidFill>
              </a:rPr>
              <a:t>Details on next slide</a:t>
            </a:r>
          </a:p>
        </p:txBody>
      </p:sp>
      <p:sp>
        <p:nvSpPr>
          <p:cNvPr id="19" name="Oval 18"/>
          <p:cNvSpPr/>
          <p:nvPr/>
        </p:nvSpPr>
        <p:spPr>
          <a:xfrm>
            <a:off x="8007178" y="3260473"/>
            <a:ext cx="308919" cy="284205"/>
          </a:xfrm>
          <a:prstGeom prst="ellipse">
            <a:avLst/>
          </a:prstGeom>
          <a:solidFill>
            <a:srgbClr val="FF0000">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10719898" y="3015638"/>
            <a:ext cx="308919" cy="284205"/>
          </a:xfrm>
          <a:prstGeom prst="ellipse">
            <a:avLst/>
          </a:prstGeom>
          <a:solidFill>
            <a:srgbClr val="FF0000">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6179971" y="2425642"/>
            <a:ext cx="1698670" cy="338554"/>
          </a:xfrm>
          <a:prstGeom prst="rect">
            <a:avLst/>
          </a:prstGeom>
          <a:noFill/>
        </p:spPr>
        <p:txBody>
          <a:bodyPr wrap="none" rtlCol="0">
            <a:spAutoFit/>
          </a:bodyPr>
          <a:lstStyle/>
          <a:p>
            <a:r>
              <a:rPr lang="en-US" sz="1600" dirty="0">
                <a:solidFill>
                  <a:srgbClr val="FF0000"/>
                </a:solidFill>
              </a:rPr>
              <a:t>By duplicating bits</a:t>
            </a:r>
          </a:p>
        </p:txBody>
      </p:sp>
      <p:pic>
        <p:nvPicPr>
          <p:cNvPr id="22" name="Picture 21"/>
          <p:cNvPicPr>
            <a:picLocks noChangeAspect="1"/>
          </p:cNvPicPr>
          <p:nvPr/>
        </p:nvPicPr>
        <p:blipFill>
          <a:blip r:embed="rId8">
            <a:extLst>
              <a:ext uri="{BEBA8EAE-BF5A-486C-A8C5-ECC9F3942E4B}">
                <a14:imgProps xmlns:a14="http://schemas.microsoft.com/office/drawing/2010/main">
                  <a14:imgLayer r:embed="rId9">
                    <a14:imgEffect>
                      <a14:sharpenSoften amount="50000"/>
                    </a14:imgEffect>
                  </a14:imgLayer>
                </a14:imgProps>
              </a:ext>
            </a:extLst>
          </a:blip>
          <a:stretch>
            <a:fillRect/>
          </a:stretch>
        </p:blipFill>
        <p:spPr>
          <a:xfrm>
            <a:off x="7769691" y="3557469"/>
            <a:ext cx="4154580" cy="627106"/>
          </a:xfrm>
          <a:prstGeom prst="rect">
            <a:avLst/>
          </a:prstGeom>
        </p:spPr>
      </p:pic>
      <p:pic>
        <p:nvPicPr>
          <p:cNvPr id="27" name="Picture 26"/>
          <p:cNvPicPr>
            <a:picLocks noChangeAspect="1"/>
          </p:cNvPicPr>
          <p:nvPr/>
        </p:nvPicPr>
        <p:blipFill>
          <a:blip r:embed="rId10">
            <a:extLst>
              <a:ext uri="{BEBA8EAE-BF5A-486C-A8C5-ECC9F3942E4B}">
                <a14:imgProps xmlns:a14="http://schemas.microsoft.com/office/drawing/2010/main">
                  <a14:imgLayer r:embed="rId11">
                    <a14:imgEffect>
                      <a14:sharpenSoften amount="50000"/>
                    </a14:imgEffect>
                  </a14:imgLayer>
                </a14:imgProps>
              </a:ext>
            </a:extLst>
          </a:blip>
          <a:stretch>
            <a:fillRect/>
          </a:stretch>
        </p:blipFill>
        <p:spPr>
          <a:xfrm>
            <a:off x="363301" y="3736202"/>
            <a:ext cx="2328373" cy="1825444"/>
          </a:xfrm>
          <a:prstGeom prst="rect">
            <a:avLst/>
          </a:prstGeom>
        </p:spPr>
      </p:pic>
      <p:sp>
        <p:nvSpPr>
          <p:cNvPr id="6" name="TextBox 5">
            <a:extLst>
              <a:ext uri="{FF2B5EF4-FFF2-40B4-BE49-F238E27FC236}">
                <a16:creationId xmlns:a16="http://schemas.microsoft.com/office/drawing/2014/main" id="{866C0242-24CA-F7B7-16A0-F373D8CB34DF}"/>
              </a:ext>
            </a:extLst>
          </p:cNvPr>
          <p:cNvSpPr txBox="1"/>
          <p:nvPr/>
        </p:nvSpPr>
        <p:spPr>
          <a:xfrm>
            <a:off x="8948295" y="4124824"/>
            <a:ext cx="2067810" cy="369332"/>
          </a:xfrm>
          <a:prstGeom prst="rect">
            <a:avLst/>
          </a:prstGeom>
          <a:noFill/>
        </p:spPr>
        <p:txBody>
          <a:bodyPr wrap="none" rtlCol="0">
            <a:spAutoFit/>
          </a:bodyPr>
          <a:lstStyle/>
          <a:p>
            <a:r>
              <a:rPr lang="en-US" dirty="0">
                <a:solidFill>
                  <a:srgbClr val="FF0000"/>
                </a:solidFill>
              </a:rPr>
              <a:t>Details on next slide</a:t>
            </a:r>
          </a:p>
        </p:txBody>
      </p:sp>
    </p:spTree>
    <p:extLst>
      <p:ext uri="{BB962C8B-B14F-4D97-AF65-F5344CB8AC3E}">
        <p14:creationId xmlns:p14="http://schemas.microsoft.com/office/powerpoint/2010/main" val="12349082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643390" y="295165"/>
            <a:ext cx="10041124" cy="1110369"/>
          </a:xfrm>
          <a:prstGeom prst="rect">
            <a:avLst/>
          </a:prstGeom>
        </p:spPr>
        <p:txBody>
          <a:bodyPr vert="horz" wrap="square" lIns="0" tIns="97790" rIns="0" bIns="0" rtlCol="0">
            <a:spAutoFit/>
          </a:bodyPr>
          <a:lstStyle/>
          <a:p>
            <a:pPr marL="50800">
              <a:spcBef>
                <a:spcPts val="770"/>
              </a:spcBef>
            </a:pPr>
            <a:r>
              <a:rPr sz="3600" b="1" i="1" dirty="0">
                <a:solidFill>
                  <a:srgbClr val="002060"/>
                </a:solidFill>
                <a:latin typeface="Times New Roman"/>
                <a:cs typeface="Times New Roman"/>
              </a:rPr>
              <a:t>Expansion</a:t>
            </a:r>
            <a:r>
              <a:rPr sz="3600" b="1" i="1" spc="-45" dirty="0">
                <a:solidFill>
                  <a:srgbClr val="002060"/>
                </a:solidFill>
                <a:latin typeface="Times New Roman"/>
                <a:cs typeface="Times New Roman"/>
              </a:rPr>
              <a:t> </a:t>
            </a:r>
            <a:r>
              <a:rPr sz="3600" b="1" i="1" dirty="0">
                <a:solidFill>
                  <a:srgbClr val="002060"/>
                </a:solidFill>
                <a:latin typeface="Times New Roman"/>
                <a:cs typeface="Times New Roman"/>
              </a:rPr>
              <a:t>P-box</a:t>
            </a:r>
            <a:endParaRPr sz="3600" b="1" dirty="0">
              <a:solidFill>
                <a:srgbClr val="002060"/>
              </a:solidFill>
              <a:latin typeface="Times New Roman"/>
              <a:cs typeface="Times New Roman"/>
            </a:endParaRPr>
          </a:p>
          <a:p>
            <a:pPr marL="50800" marR="43180">
              <a:lnSpc>
                <a:spcPts val="4040"/>
              </a:lnSpc>
              <a:spcBef>
                <a:spcPts val="85"/>
              </a:spcBef>
            </a:pPr>
            <a:r>
              <a:rPr sz="2000" b="1" dirty="0">
                <a:latin typeface="Times New Roman"/>
                <a:cs typeface="Times New Roman"/>
              </a:rPr>
              <a:t>Since</a:t>
            </a:r>
            <a:r>
              <a:rPr sz="2000" b="1" spc="120" dirty="0">
                <a:latin typeface="Times New Roman"/>
                <a:cs typeface="Times New Roman"/>
              </a:rPr>
              <a:t> </a:t>
            </a:r>
            <a:r>
              <a:rPr sz="2000" b="1" spc="5" dirty="0">
                <a:latin typeface="Times New Roman"/>
                <a:cs typeface="Times New Roman"/>
              </a:rPr>
              <a:t>R</a:t>
            </a:r>
            <a:r>
              <a:rPr sz="2000" b="1" spc="7" baseline="-21021" dirty="0">
                <a:latin typeface="Times New Roman"/>
                <a:cs typeface="Times New Roman"/>
              </a:rPr>
              <a:t>I−1</a:t>
            </a:r>
            <a:r>
              <a:rPr sz="2000" b="1" spc="525" baseline="-21021" dirty="0">
                <a:latin typeface="Times New Roman"/>
                <a:cs typeface="Times New Roman"/>
              </a:rPr>
              <a:t> </a:t>
            </a:r>
            <a:r>
              <a:rPr sz="2000" b="1" spc="-5" dirty="0">
                <a:latin typeface="Times New Roman"/>
                <a:cs typeface="Times New Roman"/>
              </a:rPr>
              <a:t>is</a:t>
            </a:r>
            <a:r>
              <a:rPr sz="2000" b="1" spc="135" dirty="0">
                <a:latin typeface="Times New Roman"/>
                <a:cs typeface="Times New Roman"/>
              </a:rPr>
              <a:t> </a:t>
            </a:r>
            <a:r>
              <a:rPr sz="2000" b="1" spc="-5" dirty="0">
                <a:latin typeface="Times New Roman"/>
                <a:cs typeface="Times New Roman"/>
              </a:rPr>
              <a:t>a</a:t>
            </a:r>
            <a:r>
              <a:rPr sz="2000" b="1" spc="130" dirty="0">
                <a:latin typeface="Times New Roman"/>
                <a:cs typeface="Times New Roman"/>
              </a:rPr>
              <a:t> </a:t>
            </a:r>
            <a:r>
              <a:rPr sz="2000" b="1" spc="-5" dirty="0">
                <a:latin typeface="Times New Roman"/>
                <a:cs typeface="Times New Roman"/>
              </a:rPr>
              <a:t>32-bit</a:t>
            </a:r>
            <a:r>
              <a:rPr sz="2000" b="1" spc="130" dirty="0">
                <a:latin typeface="Times New Roman"/>
                <a:cs typeface="Times New Roman"/>
              </a:rPr>
              <a:t> </a:t>
            </a:r>
            <a:r>
              <a:rPr sz="2000" b="1" dirty="0">
                <a:latin typeface="Times New Roman"/>
                <a:cs typeface="Times New Roman"/>
              </a:rPr>
              <a:t>input</a:t>
            </a:r>
            <a:r>
              <a:rPr sz="2000" b="1" spc="120" dirty="0">
                <a:latin typeface="Times New Roman"/>
                <a:cs typeface="Times New Roman"/>
              </a:rPr>
              <a:t> </a:t>
            </a:r>
            <a:r>
              <a:rPr sz="2000" b="1" spc="-5" dirty="0">
                <a:latin typeface="Times New Roman"/>
                <a:cs typeface="Times New Roman"/>
              </a:rPr>
              <a:t>and</a:t>
            </a:r>
            <a:r>
              <a:rPr sz="2000" b="1" spc="135" dirty="0">
                <a:latin typeface="Times New Roman"/>
                <a:cs typeface="Times New Roman"/>
              </a:rPr>
              <a:t> </a:t>
            </a:r>
            <a:r>
              <a:rPr sz="2000" b="1" spc="-5" dirty="0">
                <a:latin typeface="Times New Roman"/>
                <a:cs typeface="Times New Roman"/>
              </a:rPr>
              <a:t>K</a:t>
            </a:r>
            <a:r>
              <a:rPr sz="2000" b="1" spc="-7" baseline="-21021" dirty="0">
                <a:latin typeface="Times New Roman"/>
                <a:cs typeface="Times New Roman"/>
              </a:rPr>
              <a:t>I</a:t>
            </a:r>
            <a:r>
              <a:rPr sz="2000" b="1" spc="555" baseline="-21021" dirty="0">
                <a:latin typeface="Times New Roman"/>
                <a:cs typeface="Times New Roman"/>
              </a:rPr>
              <a:t> </a:t>
            </a:r>
            <a:r>
              <a:rPr sz="2000" b="1" spc="-10" dirty="0">
                <a:latin typeface="Times New Roman"/>
                <a:cs typeface="Times New Roman"/>
              </a:rPr>
              <a:t>is</a:t>
            </a:r>
            <a:r>
              <a:rPr sz="2000" b="1" spc="135" dirty="0">
                <a:latin typeface="Times New Roman"/>
                <a:cs typeface="Times New Roman"/>
              </a:rPr>
              <a:t> </a:t>
            </a:r>
            <a:r>
              <a:rPr sz="2000" b="1" spc="-5" dirty="0">
                <a:latin typeface="Times New Roman"/>
                <a:cs typeface="Times New Roman"/>
              </a:rPr>
              <a:t>a</a:t>
            </a:r>
            <a:r>
              <a:rPr sz="2000" b="1" spc="130" dirty="0">
                <a:latin typeface="Times New Roman"/>
                <a:cs typeface="Times New Roman"/>
              </a:rPr>
              <a:t> </a:t>
            </a:r>
            <a:r>
              <a:rPr sz="2000" b="1" spc="-5" dirty="0">
                <a:latin typeface="Times New Roman"/>
                <a:cs typeface="Times New Roman"/>
              </a:rPr>
              <a:t>48-bit</a:t>
            </a:r>
            <a:r>
              <a:rPr sz="2000" b="1" spc="125" dirty="0">
                <a:latin typeface="Times New Roman"/>
                <a:cs typeface="Times New Roman"/>
              </a:rPr>
              <a:t> </a:t>
            </a:r>
            <a:r>
              <a:rPr sz="2000" b="1" spc="-35" dirty="0">
                <a:latin typeface="Times New Roman"/>
                <a:cs typeface="Times New Roman"/>
              </a:rPr>
              <a:t>key,</a:t>
            </a:r>
            <a:r>
              <a:rPr sz="2000" b="1" spc="125" dirty="0">
                <a:latin typeface="Times New Roman"/>
                <a:cs typeface="Times New Roman"/>
              </a:rPr>
              <a:t> </a:t>
            </a:r>
            <a:r>
              <a:rPr sz="2000" b="1" spc="-10" dirty="0">
                <a:latin typeface="Times New Roman"/>
                <a:cs typeface="Times New Roman"/>
              </a:rPr>
              <a:t>we</a:t>
            </a:r>
            <a:r>
              <a:rPr sz="2000" b="1" spc="125" dirty="0">
                <a:latin typeface="Times New Roman"/>
                <a:cs typeface="Times New Roman"/>
              </a:rPr>
              <a:t> </a:t>
            </a:r>
            <a:r>
              <a:rPr sz="2000" b="1" spc="-5" dirty="0">
                <a:latin typeface="Times New Roman"/>
                <a:cs typeface="Times New Roman"/>
              </a:rPr>
              <a:t>first </a:t>
            </a:r>
            <a:r>
              <a:rPr sz="2000" b="1" spc="-685" dirty="0">
                <a:latin typeface="Times New Roman"/>
                <a:cs typeface="Times New Roman"/>
              </a:rPr>
              <a:t> </a:t>
            </a:r>
            <a:r>
              <a:rPr sz="2000" b="1" spc="-5" dirty="0">
                <a:latin typeface="Times New Roman"/>
                <a:cs typeface="Times New Roman"/>
              </a:rPr>
              <a:t>need</a:t>
            </a:r>
            <a:r>
              <a:rPr sz="2000" b="1" spc="-10" dirty="0">
                <a:latin typeface="Times New Roman"/>
                <a:cs typeface="Times New Roman"/>
              </a:rPr>
              <a:t> </a:t>
            </a:r>
            <a:r>
              <a:rPr sz="2000" b="1" spc="-5" dirty="0">
                <a:latin typeface="Times New Roman"/>
                <a:cs typeface="Times New Roman"/>
              </a:rPr>
              <a:t>to</a:t>
            </a:r>
            <a:r>
              <a:rPr sz="2000" b="1" dirty="0">
                <a:latin typeface="Times New Roman"/>
                <a:cs typeface="Times New Roman"/>
              </a:rPr>
              <a:t> </a:t>
            </a:r>
            <a:r>
              <a:rPr sz="2000" b="1" spc="-5" dirty="0">
                <a:latin typeface="Times New Roman"/>
                <a:cs typeface="Times New Roman"/>
              </a:rPr>
              <a:t>expand </a:t>
            </a:r>
            <a:r>
              <a:rPr sz="2000" b="1" spc="5" dirty="0">
                <a:latin typeface="Times New Roman"/>
                <a:cs typeface="Times New Roman"/>
              </a:rPr>
              <a:t>R</a:t>
            </a:r>
            <a:r>
              <a:rPr sz="2000" b="1" spc="7" baseline="-21021" dirty="0">
                <a:latin typeface="Times New Roman"/>
                <a:cs typeface="Times New Roman"/>
              </a:rPr>
              <a:t>I−1</a:t>
            </a:r>
            <a:r>
              <a:rPr sz="2000" b="1" spc="330" baseline="-21021" dirty="0">
                <a:latin typeface="Times New Roman"/>
                <a:cs typeface="Times New Roman"/>
              </a:rPr>
              <a:t> </a:t>
            </a:r>
            <a:r>
              <a:rPr sz="2000" b="1" spc="-5" dirty="0">
                <a:latin typeface="Times New Roman"/>
                <a:cs typeface="Times New Roman"/>
              </a:rPr>
              <a:t>to</a:t>
            </a:r>
            <a:r>
              <a:rPr sz="2000" b="1" dirty="0">
                <a:latin typeface="Times New Roman"/>
                <a:cs typeface="Times New Roman"/>
              </a:rPr>
              <a:t> 48</a:t>
            </a:r>
            <a:r>
              <a:rPr sz="2000" b="1" spc="-10" dirty="0">
                <a:latin typeface="Times New Roman"/>
                <a:cs typeface="Times New Roman"/>
              </a:rPr>
              <a:t> </a:t>
            </a:r>
            <a:r>
              <a:rPr sz="2000" b="1" dirty="0">
                <a:latin typeface="Times New Roman"/>
                <a:cs typeface="Times New Roman"/>
              </a:rPr>
              <a:t>bits</a:t>
            </a:r>
            <a:r>
              <a:rPr sz="2000" dirty="0">
                <a:latin typeface="Times New Roman"/>
                <a:cs typeface="Times New Roman"/>
              </a:rPr>
              <a:t>.</a:t>
            </a:r>
          </a:p>
        </p:txBody>
      </p:sp>
      <p:grpSp>
        <p:nvGrpSpPr>
          <p:cNvPr id="4" name="Group 3"/>
          <p:cNvGrpSpPr/>
          <p:nvPr/>
        </p:nvGrpSpPr>
        <p:grpSpPr>
          <a:xfrm>
            <a:off x="2279576" y="1849486"/>
            <a:ext cx="6768752" cy="1983310"/>
            <a:chOff x="0" y="1652781"/>
            <a:chExt cx="6768752" cy="2399805"/>
          </a:xfrm>
        </p:grpSpPr>
        <p:pic>
          <p:nvPicPr>
            <p:cNvPr id="7" name="object 8"/>
            <p:cNvPicPr/>
            <p:nvPr/>
          </p:nvPicPr>
          <p:blipFill>
            <a:blip r:embed="rId3" cstate="print"/>
            <a:stretch>
              <a:fillRect/>
            </a:stretch>
          </p:blipFill>
          <p:spPr>
            <a:xfrm>
              <a:off x="0" y="2252386"/>
              <a:ext cx="6768752" cy="1800200"/>
            </a:xfrm>
            <a:prstGeom prst="rect">
              <a:avLst/>
            </a:prstGeom>
          </p:spPr>
        </p:pic>
        <p:sp>
          <p:nvSpPr>
            <p:cNvPr id="8" name="object 9"/>
            <p:cNvSpPr txBox="1"/>
            <p:nvPr/>
          </p:nvSpPr>
          <p:spPr>
            <a:xfrm>
              <a:off x="1399366" y="1652781"/>
              <a:ext cx="3970020" cy="462409"/>
            </a:xfrm>
            <a:prstGeom prst="rect">
              <a:avLst/>
            </a:prstGeom>
          </p:spPr>
          <p:txBody>
            <a:bodyPr vert="horz" wrap="square" lIns="0" tIns="12700" rIns="0" bIns="0" rtlCol="0">
              <a:spAutoFit/>
            </a:bodyPr>
            <a:lstStyle/>
            <a:p>
              <a:pPr marL="12700">
                <a:spcBef>
                  <a:spcPts val="100"/>
                </a:spcBef>
                <a:tabLst>
                  <a:tab pos="1478915" algn="l"/>
                </a:tabLst>
              </a:pPr>
              <a:r>
                <a:rPr sz="2400" b="1" spc="-10" dirty="0">
                  <a:solidFill>
                    <a:srgbClr val="002060"/>
                  </a:solidFill>
                  <a:latin typeface="Times New Roman"/>
                  <a:cs typeface="Times New Roman"/>
                </a:rPr>
                <a:t>Figure</a:t>
              </a:r>
              <a:r>
                <a:rPr sz="2400" b="1" spc="-5" dirty="0">
                  <a:solidFill>
                    <a:srgbClr val="002060"/>
                  </a:solidFill>
                  <a:latin typeface="Times New Roman"/>
                  <a:cs typeface="Times New Roman"/>
                </a:rPr>
                <a:t> 6.6	</a:t>
              </a:r>
              <a:r>
                <a:rPr sz="2000" b="1" i="1" dirty="0">
                  <a:solidFill>
                    <a:srgbClr val="002060"/>
                  </a:solidFill>
                  <a:latin typeface="Times New Roman"/>
                  <a:cs typeface="Times New Roman"/>
                </a:rPr>
                <a:t>Expansion</a:t>
              </a:r>
              <a:r>
                <a:rPr sz="2000" b="1" i="1" spc="-90" dirty="0">
                  <a:solidFill>
                    <a:srgbClr val="002060"/>
                  </a:solidFill>
                  <a:latin typeface="Times New Roman"/>
                  <a:cs typeface="Times New Roman"/>
                </a:rPr>
                <a:t> </a:t>
              </a:r>
              <a:r>
                <a:rPr sz="2000" b="1" i="1" dirty="0">
                  <a:solidFill>
                    <a:srgbClr val="002060"/>
                  </a:solidFill>
                  <a:latin typeface="Times New Roman"/>
                  <a:cs typeface="Times New Roman"/>
                </a:rPr>
                <a:t>permutation</a:t>
              </a:r>
              <a:endParaRPr sz="2000" dirty="0">
                <a:solidFill>
                  <a:srgbClr val="002060"/>
                </a:solidFill>
                <a:latin typeface="Times New Roman"/>
                <a:cs typeface="Times New Roman"/>
              </a:endParaRPr>
            </a:p>
          </p:txBody>
        </p:sp>
      </p:grpSp>
      <p:sp>
        <p:nvSpPr>
          <p:cNvPr id="2" name="Slide Number Placeholder 1"/>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38</a:t>
            </a:fld>
            <a:endParaRPr lang="en-US" dirty="0">
              <a:solidFill>
                <a:prstClr val="white">
                  <a:lumMod val="65000"/>
                  <a:lumOff val="35000"/>
                </a:prstClr>
              </a:solidFill>
            </a:endParaRPr>
          </a:p>
        </p:txBody>
      </p:sp>
      <p:grpSp>
        <p:nvGrpSpPr>
          <p:cNvPr id="18" name="Group 17"/>
          <p:cNvGrpSpPr/>
          <p:nvPr/>
        </p:nvGrpSpPr>
        <p:grpSpPr>
          <a:xfrm>
            <a:off x="2280821" y="4001798"/>
            <a:ext cx="4824536" cy="2808312"/>
            <a:chOff x="2051720" y="4001798"/>
            <a:chExt cx="4824536" cy="2808312"/>
          </a:xfrm>
        </p:grpSpPr>
        <p:pic>
          <p:nvPicPr>
            <p:cNvPr id="3" name="Picture 2"/>
            <p:cNvPicPr>
              <a:picLocks noChangeAspect="1"/>
            </p:cNvPicPr>
            <p:nvPr/>
          </p:nvPicPr>
          <p:blipFill rotWithShape="1">
            <a:blip r:embed="rId4"/>
            <a:srcRect l="3625" t="4573" r="2219" b="2198"/>
            <a:stretch/>
          </p:blipFill>
          <p:spPr>
            <a:xfrm>
              <a:off x="2051720" y="4001798"/>
              <a:ext cx="4824536" cy="2808312"/>
            </a:xfrm>
            <a:prstGeom prst="rect">
              <a:avLst/>
            </a:prstGeom>
          </p:spPr>
        </p:pic>
        <p:sp>
          <p:nvSpPr>
            <p:cNvPr id="10" name="Rectangle 9"/>
            <p:cNvSpPr/>
            <p:nvPr/>
          </p:nvSpPr>
          <p:spPr>
            <a:xfrm>
              <a:off x="2896018" y="4461230"/>
              <a:ext cx="3116142" cy="2348880"/>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Rectangle 10"/>
            <p:cNvSpPr/>
            <p:nvPr/>
          </p:nvSpPr>
          <p:spPr>
            <a:xfrm>
              <a:off x="2067926" y="4461230"/>
              <a:ext cx="828092" cy="2348880"/>
            </a:xfrm>
            <a:prstGeom prst="rect">
              <a:avLst/>
            </a:prstGeom>
            <a:no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Rectangle 12"/>
            <p:cNvSpPr/>
            <p:nvPr/>
          </p:nvSpPr>
          <p:spPr>
            <a:xfrm>
              <a:off x="6030162" y="4461230"/>
              <a:ext cx="828092" cy="2348880"/>
            </a:xfrm>
            <a:prstGeom prst="rect">
              <a:avLst/>
            </a:prstGeom>
            <a:no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sp>
        <p:nvSpPr>
          <p:cNvPr id="16" name="TextBox 15"/>
          <p:cNvSpPr txBox="1"/>
          <p:nvPr/>
        </p:nvSpPr>
        <p:spPr>
          <a:xfrm>
            <a:off x="8131229" y="4533806"/>
            <a:ext cx="3559899" cy="1200329"/>
          </a:xfrm>
          <a:prstGeom prst="rect">
            <a:avLst/>
          </a:prstGeom>
          <a:noFill/>
        </p:spPr>
        <p:txBody>
          <a:bodyPr wrap="square" rtlCol="0">
            <a:spAutoFit/>
          </a:bodyPr>
          <a:lstStyle/>
          <a:p>
            <a:pPr algn="just"/>
            <a:r>
              <a:rPr lang="en-US" b="1" dirty="0">
                <a:solidFill>
                  <a:srgbClr val="FFC000"/>
                </a:solidFill>
              </a:rPr>
              <a:t>Note: </a:t>
            </a:r>
            <a:r>
              <a:rPr lang="en-US" dirty="0"/>
              <a:t>The number of output ports is 48, but the value range is only 1 to 32. Some of the inputs go to more than one output.</a:t>
            </a:r>
          </a:p>
        </p:txBody>
      </p:sp>
    </p:spTree>
    <p:extLst>
      <p:ext uri="{BB962C8B-B14F-4D97-AF65-F5344CB8AC3E}">
        <p14:creationId xmlns:p14="http://schemas.microsoft.com/office/powerpoint/2010/main" val="23982821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251227" y="3019223"/>
            <a:ext cx="10322320" cy="2760130"/>
          </a:xfrm>
          <a:prstGeom prst="rect">
            <a:avLst/>
          </a:prstGeom>
        </p:spPr>
      </p:pic>
      <p:sp>
        <p:nvSpPr>
          <p:cNvPr id="2" name="Slide Number Placeholder 1"/>
          <p:cNvSpPr>
            <a:spLocks noGrp="1"/>
          </p:cNvSpPr>
          <p:nvPr>
            <p:ph type="sldNum" sz="quarter" idx="12"/>
          </p:nvPr>
        </p:nvSpPr>
        <p:spPr/>
        <p:txBody>
          <a:bodyPr/>
          <a:lstStyle/>
          <a:p>
            <a:fld id="{A2A50C4D-0BA1-4E54-8DFC-01810EC97B99}" type="slidenum">
              <a:rPr lang="en-US" smtClean="0"/>
              <a:t>39</a:t>
            </a:fld>
            <a:endParaRPr lang="en-US"/>
          </a:p>
        </p:txBody>
      </p:sp>
      <p:pic>
        <p:nvPicPr>
          <p:cNvPr id="7" name="Picture 6"/>
          <p:cNvPicPr>
            <a:picLocks noChangeAspect="1"/>
          </p:cNvPicPr>
          <p:nvPr/>
        </p:nvPicPr>
        <p:blipFill>
          <a:blip r:embed="rId3"/>
          <a:stretch>
            <a:fillRect/>
          </a:stretch>
        </p:blipFill>
        <p:spPr>
          <a:xfrm>
            <a:off x="1251227" y="5808242"/>
            <a:ext cx="2114845" cy="342948"/>
          </a:xfrm>
          <a:prstGeom prst="rect">
            <a:avLst/>
          </a:prstGeom>
        </p:spPr>
      </p:pic>
      <p:pic>
        <p:nvPicPr>
          <p:cNvPr id="5" name="Picture 4"/>
          <p:cNvPicPr>
            <a:picLocks noChangeAspect="1"/>
          </p:cNvPicPr>
          <p:nvPr/>
        </p:nvPicPr>
        <p:blipFill>
          <a:blip r:embed="rId4"/>
          <a:stretch>
            <a:fillRect/>
          </a:stretch>
        </p:blipFill>
        <p:spPr>
          <a:xfrm>
            <a:off x="1251227" y="758179"/>
            <a:ext cx="9789943" cy="2232156"/>
          </a:xfrm>
          <a:prstGeom prst="rect">
            <a:avLst/>
          </a:prstGeom>
        </p:spPr>
      </p:pic>
      <p:sp>
        <p:nvSpPr>
          <p:cNvPr id="3" name="TextBox 2"/>
          <p:cNvSpPr txBox="1"/>
          <p:nvPr/>
        </p:nvSpPr>
        <p:spPr>
          <a:xfrm>
            <a:off x="2575165" y="667505"/>
            <a:ext cx="3608104" cy="584775"/>
          </a:xfrm>
          <a:prstGeom prst="rect">
            <a:avLst/>
          </a:prstGeom>
          <a:noFill/>
        </p:spPr>
        <p:txBody>
          <a:bodyPr wrap="none" rtlCol="0">
            <a:spAutoFit/>
          </a:bodyPr>
          <a:lstStyle/>
          <a:p>
            <a:r>
              <a:rPr lang="en-US" sz="3200" b="1" dirty="0">
                <a:solidFill>
                  <a:srgbClr val="FF0000"/>
                </a:solidFill>
              </a:rPr>
              <a:t>(Substitution Boxes)</a:t>
            </a:r>
          </a:p>
        </p:txBody>
      </p:sp>
      <p:sp>
        <p:nvSpPr>
          <p:cNvPr id="8" name="TextBox 7"/>
          <p:cNvSpPr txBox="1"/>
          <p:nvPr/>
        </p:nvSpPr>
        <p:spPr>
          <a:xfrm>
            <a:off x="4040660" y="5748883"/>
            <a:ext cx="6444456" cy="461665"/>
          </a:xfrm>
          <a:prstGeom prst="rect">
            <a:avLst/>
          </a:prstGeom>
          <a:noFill/>
        </p:spPr>
        <p:txBody>
          <a:bodyPr wrap="square" rtlCol="0">
            <a:spAutoFit/>
          </a:bodyPr>
          <a:lstStyle/>
          <a:p>
            <a:r>
              <a:rPr lang="en-US" sz="2400" dirty="0">
                <a:solidFill>
                  <a:srgbClr val="FF0000"/>
                </a:solidFill>
              </a:rPr>
              <a:t>* There are 8 S-Boxes. Each one has its own table. </a:t>
            </a:r>
          </a:p>
        </p:txBody>
      </p:sp>
    </p:spTree>
    <p:extLst>
      <p:ext uri="{BB962C8B-B14F-4D97-AF65-F5344CB8AC3E}">
        <p14:creationId xmlns:p14="http://schemas.microsoft.com/office/powerpoint/2010/main" val="20432118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40</a:t>
            </a:fld>
            <a:endParaRPr lang="en-US"/>
          </a:p>
        </p:txBody>
      </p:sp>
      <p:pic>
        <p:nvPicPr>
          <p:cNvPr id="4" name="Picture 3"/>
          <p:cNvPicPr>
            <a:picLocks noChangeAspect="1"/>
          </p:cNvPicPr>
          <p:nvPr/>
        </p:nvPicPr>
        <p:blipFill>
          <a:blip r:embed="rId2"/>
          <a:stretch>
            <a:fillRect/>
          </a:stretch>
        </p:blipFill>
        <p:spPr>
          <a:xfrm>
            <a:off x="1287471" y="480441"/>
            <a:ext cx="4483134" cy="4337578"/>
          </a:xfrm>
          <a:prstGeom prst="rect">
            <a:avLst/>
          </a:prstGeom>
        </p:spPr>
      </p:pic>
      <p:pic>
        <p:nvPicPr>
          <p:cNvPr id="3" name="Picture 2"/>
          <p:cNvPicPr>
            <a:picLocks noChangeAspect="1"/>
          </p:cNvPicPr>
          <p:nvPr/>
        </p:nvPicPr>
        <p:blipFill>
          <a:blip r:embed="rId3"/>
          <a:stretch>
            <a:fillRect/>
          </a:stretch>
        </p:blipFill>
        <p:spPr>
          <a:xfrm>
            <a:off x="4522574" y="4341000"/>
            <a:ext cx="7057287" cy="1918418"/>
          </a:xfrm>
          <a:prstGeom prst="rect">
            <a:avLst/>
          </a:prstGeom>
        </p:spPr>
      </p:pic>
      <p:cxnSp>
        <p:nvCxnSpPr>
          <p:cNvPr id="8" name="Straight Arrow Connector 7"/>
          <p:cNvCxnSpPr/>
          <p:nvPr/>
        </p:nvCxnSpPr>
        <p:spPr>
          <a:xfrm>
            <a:off x="4201297" y="3076832"/>
            <a:ext cx="2669060" cy="163519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333841" y="5848270"/>
            <a:ext cx="3286897" cy="369332"/>
          </a:xfrm>
          <a:prstGeom prst="rect">
            <a:avLst/>
          </a:prstGeom>
          <a:noFill/>
        </p:spPr>
        <p:txBody>
          <a:bodyPr wrap="square" rtlCol="0">
            <a:spAutoFit/>
          </a:bodyPr>
          <a:lstStyle/>
          <a:p>
            <a:r>
              <a:rPr lang="en-US" dirty="0"/>
              <a:t>* Each S-box has its own table. </a:t>
            </a:r>
          </a:p>
        </p:txBody>
      </p:sp>
      <p:sp>
        <p:nvSpPr>
          <p:cNvPr id="5" name="Rectangle 4">
            <a:extLst>
              <a:ext uri="{FF2B5EF4-FFF2-40B4-BE49-F238E27FC236}">
                <a16:creationId xmlns:a16="http://schemas.microsoft.com/office/drawing/2014/main" id="{90D1F6B5-A0EF-1006-3B8E-93A2C2128E20}"/>
              </a:ext>
            </a:extLst>
          </p:cNvPr>
          <p:cNvSpPr/>
          <p:nvPr/>
        </p:nvSpPr>
        <p:spPr>
          <a:xfrm>
            <a:off x="6830537" y="801570"/>
            <a:ext cx="4886333" cy="3046988"/>
          </a:xfrm>
          <a:prstGeom prst="rect">
            <a:avLst/>
          </a:prstGeom>
        </p:spPr>
        <p:txBody>
          <a:bodyPr wrap="square">
            <a:spAutoFit/>
          </a:bodyPr>
          <a:lstStyle/>
          <a:p>
            <a:pPr marL="285750" indent="-285750" algn="just">
              <a:buFont typeface="Arial" panose="020B0604020202020204" pitchFamily="34" charset="0"/>
              <a:buChar char="•"/>
            </a:pPr>
            <a:r>
              <a:rPr lang="en-US" sz="1600" dirty="0"/>
              <a:t>Each 8-S-boxes has a 6-bit input and a 4-bit output.</a:t>
            </a:r>
          </a:p>
          <a:p>
            <a:pPr marL="285750" indent="-285750" algn="just">
              <a:buFont typeface="Arial" panose="020B0604020202020204" pitchFamily="34" charset="0"/>
              <a:buChar char="•"/>
            </a:pPr>
            <a:r>
              <a:rPr lang="en-US" sz="1600" dirty="0"/>
              <a:t>The values of the inputs (row number and column number)</a:t>
            </a:r>
          </a:p>
          <a:p>
            <a:pPr marL="285750" indent="-285750" algn="just">
              <a:buFont typeface="Arial" panose="020B0604020202020204" pitchFamily="34" charset="0"/>
              <a:buChar char="•"/>
            </a:pPr>
            <a:r>
              <a:rPr lang="en-GB" sz="1600" b="1" dirty="0">
                <a:solidFill>
                  <a:srgbClr val="002060"/>
                </a:solidFill>
              </a:rPr>
              <a:t>Each 6-bit piece uses as an address in the S-boxes </a:t>
            </a:r>
            <a:r>
              <a:rPr lang="en-GB" sz="1600" b="1" dirty="0">
                <a:solidFill>
                  <a:schemeClr val="accent2">
                    <a:lumMod val="75000"/>
                  </a:schemeClr>
                </a:solidFill>
              </a:rPr>
              <a:t>where the first and last bits are used to address the </a:t>
            </a:r>
            <a:r>
              <a:rPr lang="en-GB" sz="1600" b="1" dirty="0" err="1">
                <a:solidFill>
                  <a:schemeClr val="accent2">
                    <a:lumMod val="75000"/>
                  </a:schemeClr>
                </a:solidFill>
              </a:rPr>
              <a:t>i</a:t>
            </a:r>
            <a:r>
              <a:rPr lang="en-GB" sz="1600" b="1" baseline="30000" dirty="0" err="1">
                <a:solidFill>
                  <a:schemeClr val="accent2">
                    <a:lumMod val="75000"/>
                  </a:schemeClr>
                </a:solidFill>
              </a:rPr>
              <a:t>th</a:t>
            </a:r>
            <a:r>
              <a:rPr lang="en-GB" sz="1600" b="1" dirty="0">
                <a:solidFill>
                  <a:schemeClr val="accent2">
                    <a:lumMod val="75000"/>
                  </a:schemeClr>
                </a:solidFill>
              </a:rPr>
              <a:t> row and the middle four bits to address the </a:t>
            </a:r>
            <a:r>
              <a:rPr lang="en-GB" sz="1600" b="1" dirty="0" err="1">
                <a:solidFill>
                  <a:schemeClr val="accent2">
                    <a:lumMod val="75000"/>
                  </a:schemeClr>
                </a:solidFill>
              </a:rPr>
              <a:t>j</a:t>
            </a:r>
            <a:r>
              <a:rPr lang="en-GB" sz="1600" b="1" baseline="30000" dirty="0" err="1">
                <a:solidFill>
                  <a:schemeClr val="accent2">
                    <a:lumMod val="75000"/>
                  </a:schemeClr>
                </a:solidFill>
              </a:rPr>
              <a:t>th</a:t>
            </a:r>
            <a:r>
              <a:rPr lang="en-GB" sz="1600" b="1" dirty="0">
                <a:solidFill>
                  <a:schemeClr val="accent2">
                    <a:lumMod val="75000"/>
                  </a:schemeClr>
                </a:solidFill>
              </a:rPr>
              <a:t> column in the S-boxes. </a:t>
            </a:r>
          </a:p>
          <a:p>
            <a:pPr marL="285750" indent="-285750" algn="just">
              <a:buFont typeface="Arial" panose="020B0604020202020204" pitchFamily="34" charset="0"/>
              <a:buChar char="•"/>
            </a:pPr>
            <a:r>
              <a:rPr lang="en-GB" sz="1600" b="1" dirty="0"/>
              <a:t>The output of each </a:t>
            </a:r>
            <a:r>
              <a:rPr lang="en-GB" sz="1600" b="1" dirty="0">
                <a:solidFill>
                  <a:srgbClr val="0000FF"/>
                </a:solidFill>
              </a:rPr>
              <a:t>S-box is 4-bit length </a:t>
            </a:r>
            <a:r>
              <a:rPr lang="en-GB" sz="1600" b="1" dirty="0"/>
              <a:t>piece. The output of all </a:t>
            </a:r>
            <a:r>
              <a:rPr lang="en-GB" sz="1600" b="1" dirty="0">
                <a:solidFill>
                  <a:srgbClr val="0000FF"/>
                </a:solidFill>
              </a:rPr>
              <a:t>eight S-boxes </a:t>
            </a:r>
            <a:r>
              <a:rPr lang="en-GB" sz="1600" b="1" dirty="0"/>
              <a:t>is then combined into </a:t>
            </a:r>
            <a:r>
              <a:rPr lang="en-GB" sz="1600" b="1" dirty="0">
                <a:solidFill>
                  <a:srgbClr val="0000FF"/>
                </a:solidFill>
              </a:rPr>
              <a:t>32</a:t>
            </a:r>
            <a:r>
              <a:rPr lang="en-GB" sz="1600" b="1" dirty="0"/>
              <a:t> bit section</a:t>
            </a:r>
          </a:p>
          <a:p>
            <a:r>
              <a:rPr lang="en-US" sz="1600" dirty="0"/>
              <a:t/>
            </a:r>
            <a:br>
              <a:rPr lang="en-US" sz="1600" dirty="0"/>
            </a:br>
            <a:endParaRPr lang="en-US" sz="1600" dirty="0"/>
          </a:p>
        </p:txBody>
      </p:sp>
    </p:spTree>
    <p:extLst>
      <p:ext uri="{BB962C8B-B14F-4D97-AF65-F5344CB8AC3E}">
        <p14:creationId xmlns:p14="http://schemas.microsoft.com/office/powerpoint/2010/main" val="23236006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711BA6F-B221-4442-B3E0-4DE91DDD2916}" type="slidenum">
              <a:rPr lang="en-US" smtClean="0">
                <a:solidFill>
                  <a:prstClr val="white">
                    <a:lumMod val="65000"/>
                    <a:lumOff val="35000"/>
                  </a:prstClr>
                </a:solidFill>
              </a:rPr>
              <a:pPr/>
              <a:t>41</a:t>
            </a:fld>
            <a:endParaRPr lang="en-US" dirty="0">
              <a:solidFill>
                <a:prstClr val="white">
                  <a:lumMod val="65000"/>
                  <a:lumOff val="35000"/>
                </a:prstClr>
              </a:solidFill>
            </a:endParaRPr>
          </a:p>
        </p:txBody>
      </p:sp>
      <p:pic>
        <p:nvPicPr>
          <p:cNvPr id="5" name="Picture 4">
            <a:extLst>
              <a:ext uri="{FF2B5EF4-FFF2-40B4-BE49-F238E27FC236}">
                <a16:creationId xmlns:a16="http://schemas.microsoft.com/office/drawing/2014/main" id="{633A2016-B3F1-481E-863D-F3E5BBA38A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9617" y="1412777"/>
            <a:ext cx="6733335" cy="4189205"/>
          </a:xfrm>
          <a:prstGeom prst="rect">
            <a:avLst/>
          </a:prstGeom>
        </p:spPr>
      </p:pic>
      <p:sp>
        <p:nvSpPr>
          <p:cNvPr id="4" name="TextBox 3">
            <a:extLst>
              <a:ext uri="{FF2B5EF4-FFF2-40B4-BE49-F238E27FC236}">
                <a16:creationId xmlns:a16="http://schemas.microsoft.com/office/drawing/2014/main" id="{80FA3D24-4958-01A8-DB83-3670DEC1095E}"/>
              </a:ext>
            </a:extLst>
          </p:cNvPr>
          <p:cNvSpPr txBox="1"/>
          <p:nvPr/>
        </p:nvSpPr>
        <p:spPr>
          <a:xfrm>
            <a:off x="7896200" y="1772816"/>
            <a:ext cx="1080120" cy="369332"/>
          </a:xfrm>
          <a:prstGeom prst="rect">
            <a:avLst/>
          </a:prstGeom>
          <a:noFill/>
        </p:spPr>
        <p:txBody>
          <a:bodyPr wrap="square" rtlCol="0">
            <a:spAutoFit/>
          </a:bodyPr>
          <a:lstStyle/>
          <a:p>
            <a:r>
              <a:rPr lang="en-US" dirty="0">
                <a:solidFill>
                  <a:schemeClr val="bg1"/>
                </a:solidFill>
              </a:rPr>
              <a:t>8 4 2 1</a:t>
            </a:r>
            <a:endParaRPr lang="en-PK" dirty="0">
              <a:solidFill>
                <a:schemeClr val="bg1"/>
              </a:solidFill>
            </a:endParaRPr>
          </a:p>
        </p:txBody>
      </p:sp>
    </p:spTree>
    <p:extLst>
      <p:ext uri="{BB962C8B-B14F-4D97-AF65-F5344CB8AC3E}">
        <p14:creationId xmlns:p14="http://schemas.microsoft.com/office/powerpoint/2010/main" val="5590764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42</a:t>
            </a:fld>
            <a:endParaRPr lang="en-US"/>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4405059" y="321276"/>
            <a:ext cx="7233192" cy="5881815"/>
          </a:xfrm>
          <a:prstGeom prst="rect">
            <a:avLst/>
          </a:prstGeom>
        </p:spPr>
      </p:pic>
      <p:pic>
        <p:nvPicPr>
          <p:cNvPr id="3" name="Picture 2"/>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398254" y="906423"/>
            <a:ext cx="6311466" cy="1057093"/>
          </a:xfrm>
          <a:prstGeom prst="rect">
            <a:avLst/>
          </a:prstGeom>
        </p:spPr>
      </p:pic>
      <p:pic>
        <p:nvPicPr>
          <p:cNvPr id="5" name="Picture 4"/>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Layer>
                </a14:imgProps>
              </a:ext>
            </a:extLst>
          </a:blip>
          <a:stretch>
            <a:fillRect/>
          </a:stretch>
        </p:blipFill>
        <p:spPr>
          <a:xfrm>
            <a:off x="4421638" y="321276"/>
            <a:ext cx="1735302" cy="1067878"/>
          </a:xfrm>
          <a:prstGeom prst="rect">
            <a:avLst/>
          </a:prstGeom>
        </p:spPr>
      </p:pic>
      <p:cxnSp>
        <p:nvCxnSpPr>
          <p:cNvPr id="6" name="Straight Arrow Connector 5"/>
          <p:cNvCxnSpPr/>
          <p:nvPr/>
        </p:nvCxnSpPr>
        <p:spPr>
          <a:xfrm flipH="1" flipV="1">
            <a:off x="6156940" y="855215"/>
            <a:ext cx="1258187" cy="89884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a:off x="5033553" y="5572579"/>
            <a:ext cx="2627637" cy="2503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3" name="Picture 22"/>
          <p:cNvPicPr>
            <a:picLocks noChangeAspect="1"/>
          </p:cNvPicPr>
          <p:nvPr/>
        </p:nvPicPr>
        <p:blipFill>
          <a:blip r:embed="rId8"/>
          <a:stretch>
            <a:fillRect/>
          </a:stretch>
        </p:blipFill>
        <p:spPr>
          <a:xfrm>
            <a:off x="1299574" y="4810001"/>
            <a:ext cx="2870773" cy="245666"/>
          </a:xfrm>
          <a:prstGeom prst="rect">
            <a:avLst/>
          </a:prstGeom>
        </p:spPr>
      </p:pic>
      <p:pic>
        <p:nvPicPr>
          <p:cNvPr id="24" name="Picture 23"/>
          <p:cNvPicPr>
            <a:picLocks noChangeAspect="1"/>
          </p:cNvPicPr>
          <p:nvPr/>
        </p:nvPicPr>
        <p:blipFill>
          <a:blip r:embed="rId9"/>
          <a:stretch>
            <a:fillRect/>
          </a:stretch>
        </p:blipFill>
        <p:spPr>
          <a:xfrm>
            <a:off x="436369" y="5055667"/>
            <a:ext cx="4597184" cy="1382944"/>
          </a:xfrm>
          <a:prstGeom prst="rect">
            <a:avLst/>
          </a:prstGeom>
        </p:spPr>
      </p:pic>
      <p:pic>
        <p:nvPicPr>
          <p:cNvPr id="28" name="Picture 27"/>
          <p:cNvPicPr>
            <a:picLocks noChangeAspect="1"/>
          </p:cNvPicPr>
          <p:nvPr/>
        </p:nvPicPr>
        <p:blipFill>
          <a:blip r:embed="rId10"/>
          <a:stretch>
            <a:fillRect/>
          </a:stretch>
        </p:blipFill>
        <p:spPr>
          <a:xfrm>
            <a:off x="1388590" y="2509057"/>
            <a:ext cx="2692740" cy="218521"/>
          </a:xfrm>
          <a:prstGeom prst="rect">
            <a:avLst/>
          </a:prstGeom>
        </p:spPr>
      </p:pic>
      <p:pic>
        <p:nvPicPr>
          <p:cNvPr id="29" name="Picture 28"/>
          <p:cNvPicPr>
            <a:picLocks noChangeAspect="1"/>
          </p:cNvPicPr>
          <p:nvPr/>
        </p:nvPicPr>
        <p:blipFill>
          <a:blip r:embed="rId11"/>
          <a:stretch>
            <a:fillRect/>
          </a:stretch>
        </p:blipFill>
        <p:spPr>
          <a:xfrm>
            <a:off x="436369" y="2850411"/>
            <a:ext cx="4597185" cy="1701134"/>
          </a:xfrm>
          <a:prstGeom prst="rect">
            <a:avLst/>
          </a:prstGeom>
        </p:spPr>
      </p:pic>
      <p:cxnSp>
        <p:nvCxnSpPr>
          <p:cNvPr id="30" name="Straight Arrow Connector 29"/>
          <p:cNvCxnSpPr/>
          <p:nvPr/>
        </p:nvCxnSpPr>
        <p:spPr>
          <a:xfrm flipH="1">
            <a:off x="4463438" y="868303"/>
            <a:ext cx="2951690" cy="185927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98984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43</a:t>
            </a:fld>
            <a:endParaRPr lang="en-US"/>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4889155" y="321276"/>
            <a:ext cx="7233192" cy="5881815"/>
          </a:xfrm>
          <a:prstGeom prst="rect">
            <a:avLst/>
          </a:prstGeom>
        </p:spPr>
      </p:pic>
      <p:pic>
        <p:nvPicPr>
          <p:cNvPr id="3" name="Picture 2"/>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398254" y="906423"/>
            <a:ext cx="6311466" cy="1057093"/>
          </a:xfrm>
          <a:prstGeom prst="rect">
            <a:avLst/>
          </a:prstGeom>
        </p:spPr>
      </p:pic>
      <p:pic>
        <p:nvPicPr>
          <p:cNvPr id="5" name="Picture 4"/>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Layer>
                </a14:imgProps>
              </a:ext>
            </a:extLst>
          </a:blip>
          <a:stretch>
            <a:fillRect/>
          </a:stretch>
        </p:blipFill>
        <p:spPr>
          <a:xfrm>
            <a:off x="4421638" y="321276"/>
            <a:ext cx="1735302" cy="1067878"/>
          </a:xfrm>
          <a:prstGeom prst="rect">
            <a:avLst/>
          </a:prstGeom>
        </p:spPr>
      </p:pic>
      <p:sp>
        <p:nvSpPr>
          <p:cNvPr id="7" name="Rectangle 6">
            <a:extLst>
              <a:ext uri="{FF2B5EF4-FFF2-40B4-BE49-F238E27FC236}">
                <a16:creationId xmlns:a16="http://schemas.microsoft.com/office/drawing/2014/main" id="{CCD744B0-C3CA-FD70-6533-48652FCC15D4}"/>
              </a:ext>
            </a:extLst>
          </p:cNvPr>
          <p:cNvSpPr/>
          <p:nvPr/>
        </p:nvSpPr>
        <p:spPr>
          <a:xfrm>
            <a:off x="590440" y="2212752"/>
            <a:ext cx="4823520" cy="4801314"/>
          </a:xfrm>
          <a:prstGeom prst="rect">
            <a:avLst/>
          </a:prstGeom>
        </p:spPr>
        <p:txBody>
          <a:bodyPr wrap="square">
            <a:spAutoFit/>
          </a:bodyPr>
          <a:lstStyle/>
          <a:p>
            <a:pPr algn="just"/>
            <a:r>
              <a:rPr lang="en-US" b="1" u="sng" dirty="0">
                <a:solidFill>
                  <a:srgbClr val="002060"/>
                </a:solidFill>
              </a:rPr>
              <a:t>Steps:-</a:t>
            </a:r>
            <a:endParaRPr lang="en-US" u="sng" dirty="0">
              <a:solidFill>
                <a:srgbClr val="002060"/>
              </a:solidFill>
            </a:endParaRPr>
          </a:p>
          <a:p>
            <a:pPr marL="342900" indent="-342900" algn="just">
              <a:buFont typeface="+mj-lt"/>
              <a:buAutoNum type="arabicPeriod"/>
            </a:pPr>
            <a:r>
              <a:rPr lang="en-US" dirty="0"/>
              <a:t>It drops the parity bits (bits 8, 16, 24, 32, 40,48,56, &amp; 64) from the 64-bit key and permutes the rest of the bits according to Table 6.12</a:t>
            </a:r>
          </a:p>
          <a:p>
            <a:pPr marL="342900" indent="-342900" algn="just">
              <a:buFont typeface="+mj-lt"/>
              <a:buAutoNum type="arabicPeriod"/>
            </a:pPr>
            <a:r>
              <a:rPr lang="en-US" dirty="0"/>
              <a:t>From this 56-bit key, a different 48-bit Sub Key is generated during each round using a process called key transformation</a:t>
            </a:r>
          </a:p>
          <a:p>
            <a:pPr marL="342900" indent="-342900" algn="just">
              <a:buFont typeface="+mj-lt"/>
              <a:buAutoNum type="arabicPeriod"/>
            </a:pPr>
            <a:r>
              <a:rPr lang="en-US" dirty="0"/>
              <a:t>For this, the 56-bit key is divided into two halves, each of 28 bits. </a:t>
            </a:r>
          </a:p>
          <a:p>
            <a:pPr marL="342900" indent="-342900" algn="just">
              <a:buFont typeface="+mj-lt"/>
              <a:buAutoNum type="arabicPeriod"/>
            </a:pPr>
            <a:r>
              <a:rPr lang="en-US" dirty="0"/>
              <a:t>These halves are circularly shifted left by one or two positions, depending on the round.</a:t>
            </a:r>
          </a:p>
          <a:p>
            <a:pPr marL="342900" indent="-342900" algn="just">
              <a:buFont typeface="+mj-lt"/>
              <a:buAutoNum type="arabicPeriod"/>
            </a:pPr>
            <a:r>
              <a:rPr lang="en-US" dirty="0"/>
              <a:t>For example, if the round numbers 1, 2, 9, or 16 the shift is done by </a:t>
            </a:r>
            <a:r>
              <a:rPr lang="en-US" b="1" dirty="0">
                <a:solidFill>
                  <a:srgbClr val="FF0000"/>
                </a:solidFill>
              </a:rPr>
              <a:t>only one position </a:t>
            </a:r>
            <a:r>
              <a:rPr lang="en-US" dirty="0"/>
              <a:t>for other rounds, </a:t>
            </a:r>
            <a:r>
              <a:rPr lang="en-US" b="1" dirty="0">
                <a:solidFill>
                  <a:srgbClr val="FF0000"/>
                </a:solidFill>
              </a:rPr>
              <a:t>the circular shift is done by two positions. </a:t>
            </a:r>
            <a:endParaRPr lang="en-US" b="1" dirty="0"/>
          </a:p>
          <a:p>
            <a:pPr marL="342900" indent="-342900" algn="just">
              <a:buFont typeface="+mj-lt"/>
              <a:buAutoNum type="arabicPeriod"/>
            </a:pPr>
            <a:endParaRPr lang="en-US" b="1" dirty="0"/>
          </a:p>
        </p:txBody>
      </p:sp>
    </p:spTree>
    <p:extLst>
      <p:ext uri="{BB962C8B-B14F-4D97-AF65-F5344CB8AC3E}">
        <p14:creationId xmlns:p14="http://schemas.microsoft.com/office/powerpoint/2010/main" val="28135277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13836</TotalTime>
  <Words>1819</Words>
  <Application>Microsoft Office PowerPoint</Application>
  <PresentationFormat>Widescreen</PresentationFormat>
  <Paragraphs>205</Paragraphs>
  <Slides>43</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MS PGothic</vt:lpstr>
      <vt:lpstr>Arial</vt:lpstr>
      <vt:lpstr>Arial</vt:lpstr>
      <vt:lpstr>Calibri</vt:lpstr>
      <vt:lpstr>Calibri Light</vt:lpstr>
      <vt:lpstr>Times New Roman</vt:lpstr>
      <vt:lpstr>TimesTenLTStd-Roman</vt:lpstr>
      <vt:lpstr>Wingdings</vt:lpstr>
      <vt:lpstr>Office Theme</vt:lpstr>
      <vt:lpstr>PowerPoint Presentation</vt:lpstr>
      <vt:lpstr>PowerPoint Presentation</vt:lpstr>
      <vt:lpstr>Fundamental Security Design Principles</vt:lpstr>
      <vt:lpstr>Fundamental Security Design Principles</vt:lpstr>
      <vt:lpstr>PowerPoint Presentation</vt:lpstr>
      <vt:lpstr>Computer Security Strategy</vt:lpstr>
      <vt:lpstr>PowerPoint Presentation</vt:lpstr>
      <vt:lpstr>PowerPoint Presentation</vt:lpstr>
      <vt:lpstr>InfoSec Practice</vt:lpstr>
      <vt:lpstr>PowerPoint Presentation</vt:lpstr>
      <vt:lpstr>Possible Coverage before Midterm # 1</vt:lpstr>
      <vt:lpstr>PowerPoint Presentation</vt:lpstr>
      <vt:lpstr>PowerPoint Presentation</vt:lpstr>
      <vt:lpstr>PowerPoint Presentation</vt:lpstr>
      <vt:lpstr>PowerPoint Presentation</vt:lpstr>
      <vt:lpstr>PowerPoint Presentation</vt:lpstr>
      <vt:lpstr>Attacking a Symmetric Encryption Scheme (1)</vt:lpstr>
      <vt:lpstr>Attacking a Symmetric Encryption Scheme (1)</vt:lpstr>
      <vt:lpstr>Attacking a Symmetric Encryption Scheme (2)</vt:lpstr>
      <vt:lpstr>Symmetric Block Encryption Algorithms</vt:lpstr>
      <vt:lpstr>PowerPoint Presentation</vt:lpstr>
      <vt:lpstr>Application of Block and stream cipher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Encryption Standard (DES)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InfoSec CLOs and Topic List</dc:title>
  <dc:creator>NU FAST</dc:creator>
  <cp:lastModifiedBy>Ms. Hira Tunio</cp:lastModifiedBy>
  <cp:revision>177</cp:revision>
  <cp:lastPrinted>2022-08-31T10:35:52Z</cp:lastPrinted>
  <dcterms:created xsi:type="dcterms:W3CDTF">2022-08-11T15:54:49Z</dcterms:created>
  <dcterms:modified xsi:type="dcterms:W3CDTF">2025-08-13T07:53:40Z</dcterms:modified>
</cp:coreProperties>
</file>