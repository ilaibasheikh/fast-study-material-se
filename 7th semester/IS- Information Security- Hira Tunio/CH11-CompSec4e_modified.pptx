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8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21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22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23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4" r:id="rId1"/>
  </p:sldMasterIdLst>
  <p:notesMasterIdLst>
    <p:notesMasterId r:id="rId34"/>
  </p:notesMasterIdLst>
  <p:sldIdLst>
    <p:sldId id="416" r:id="rId2"/>
    <p:sldId id="414" r:id="rId3"/>
    <p:sldId id="402" r:id="rId4"/>
    <p:sldId id="419" r:id="rId5"/>
    <p:sldId id="417" r:id="rId6"/>
    <p:sldId id="418" r:id="rId7"/>
    <p:sldId id="363" r:id="rId8"/>
    <p:sldId id="364" r:id="rId9"/>
    <p:sldId id="365" r:id="rId10"/>
    <p:sldId id="403" r:id="rId11"/>
    <p:sldId id="366" r:id="rId12"/>
    <p:sldId id="381" r:id="rId13"/>
    <p:sldId id="382" r:id="rId14"/>
    <p:sldId id="383" r:id="rId15"/>
    <p:sldId id="384" r:id="rId16"/>
    <p:sldId id="385" r:id="rId17"/>
    <p:sldId id="410" r:id="rId18"/>
    <p:sldId id="387" r:id="rId19"/>
    <p:sldId id="388" r:id="rId20"/>
    <p:sldId id="389" r:id="rId21"/>
    <p:sldId id="390" r:id="rId22"/>
    <p:sldId id="391" r:id="rId23"/>
    <p:sldId id="392" r:id="rId24"/>
    <p:sldId id="393" r:id="rId25"/>
    <p:sldId id="394" r:id="rId26"/>
    <p:sldId id="411" r:id="rId27"/>
    <p:sldId id="405" r:id="rId28"/>
    <p:sldId id="396" r:id="rId29"/>
    <p:sldId id="406" r:id="rId30"/>
    <p:sldId id="397" r:id="rId31"/>
    <p:sldId id="398" r:id="rId32"/>
    <p:sldId id="415" r:id="rId33"/>
  </p:sldIdLst>
  <p:sldSz cx="9144000" cy="6858000" type="screen4x3"/>
  <p:notesSz cx="6858000" cy="9144000"/>
  <p:defaultTextStyle>
    <a:defPPr>
      <a:defRPr lang="en-A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110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110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110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110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110" charset="0"/>
        <a:ea typeface="+mn-ea"/>
        <a:cs typeface="+mn-cs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pitchFamily="-110" charset="0"/>
        <a:ea typeface="+mn-ea"/>
        <a:cs typeface="+mn-cs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pitchFamily="-110" charset="0"/>
        <a:ea typeface="+mn-ea"/>
        <a:cs typeface="+mn-cs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pitchFamily="-110" charset="0"/>
        <a:ea typeface="+mn-ea"/>
        <a:cs typeface="+mn-cs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pitchFamily="-110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0A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4"/>
    <p:restoredTop sz="81455" autoAdjust="0"/>
  </p:normalViewPr>
  <p:slideViewPr>
    <p:cSldViewPr>
      <p:cViewPr>
        <p:scale>
          <a:sx n="65" d="100"/>
          <a:sy n="65" d="100"/>
        </p:scale>
        <p:origin x="-1824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25" d="100"/>
          <a:sy n="125" d="100"/>
        </p:scale>
        <p:origin x="-2856" y="-10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0FF36BB-2A7F-D748-859F-0D3822941A7C}" type="doc">
      <dgm:prSet loTypeId="urn:microsoft.com/office/officeart/2005/8/layout/h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E5512E8-9F92-BC4E-9953-BD0231634417}">
      <dgm:prSet phldrT="[Text]" custT="1"/>
      <dgm:spPr>
        <a:solidFill>
          <a:schemeClr val="accent5">
            <a:lumMod val="75000"/>
          </a:schemeClr>
        </a:solidFill>
        <a:ln>
          <a:noFill/>
        </a:ln>
      </dgm:spPr>
      <dgm:t>
        <a:bodyPr/>
        <a:lstStyle/>
        <a:p>
          <a:r>
            <a:rPr lang="en-US" sz="2800" b="0" dirty="0" smtClean="0">
              <a:solidFill>
                <a:schemeClr val="bg1"/>
              </a:solidFill>
              <a:latin typeface="+mn-lt"/>
            </a:rPr>
            <a:t>Security issues:</a:t>
          </a:r>
          <a:endParaRPr lang="en-US" sz="2800" b="0" dirty="0">
            <a:solidFill>
              <a:schemeClr val="bg1"/>
            </a:solidFill>
            <a:latin typeface="+mn-lt"/>
          </a:endParaRPr>
        </a:p>
      </dgm:t>
    </dgm:pt>
    <dgm:pt modelId="{E4224276-93ED-0549-98BA-59D0936D20FA}" type="parTrans" cxnId="{C72396CE-C695-3C4A-BB37-5F075EB905BC}">
      <dgm:prSet/>
      <dgm:spPr/>
      <dgm:t>
        <a:bodyPr/>
        <a:lstStyle/>
        <a:p>
          <a:endParaRPr lang="en-US"/>
        </a:p>
      </dgm:t>
    </dgm:pt>
    <dgm:pt modelId="{FC0D0B2E-6F86-7C45-95F9-1BD06933A888}" type="sibTrans" cxnId="{C72396CE-C695-3C4A-BB37-5F075EB905BC}">
      <dgm:prSet/>
      <dgm:spPr/>
      <dgm:t>
        <a:bodyPr/>
        <a:lstStyle/>
        <a:p>
          <a:endParaRPr lang="en-US"/>
        </a:p>
      </dgm:t>
    </dgm:pt>
    <dgm:pt modelId="{77271E20-66C9-A342-9C23-59BCC6777CE9}">
      <dgm:prSet/>
      <dgm:spPr>
        <a:solidFill>
          <a:schemeClr val="tx1"/>
        </a:solidFill>
      </dgm:spPr>
      <dgm:t>
        <a:bodyPr/>
        <a:lstStyle/>
        <a:p>
          <a:r>
            <a:rPr lang="en-US" dirty="0" smtClean="0">
              <a:latin typeface="+mn-lt"/>
            </a:rPr>
            <a:t>Correct algorithm implementation</a:t>
          </a:r>
          <a:endParaRPr lang="en-US" dirty="0">
            <a:latin typeface="+mn-lt"/>
          </a:endParaRPr>
        </a:p>
      </dgm:t>
    </dgm:pt>
    <dgm:pt modelId="{938EE350-B395-A14D-BED5-7E248D41024F}" type="parTrans" cxnId="{7CBC7C0F-A18A-3346-9463-BC13C4F8D5D3}">
      <dgm:prSet/>
      <dgm:spPr/>
      <dgm:t>
        <a:bodyPr/>
        <a:lstStyle/>
        <a:p>
          <a:endParaRPr lang="en-US"/>
        </a:p>
      </dgm:t>
    </dgm:pt>
    <dgm:pt modelId="{478282A6-3E02-624D-9C3E-6A9A7A91B231}" type="sibTrans" cxnId="{7CBC7C0F-A18A-3346-9463-BC13C4F8D5D3}">
      <dgm:prSet/>
      <dgm:spPr/>
      <dgm:t>
        <a:bodyPr/>
        <a:lstStyle/>
        <a:p>
          <a:endParaRPr lang="en-US"/>
        </a:p>
      </dgm:t>
    </dgm:pt>
    <dgm:pt modelId="{4D9CA2BA-6934-BA42-83CD-AF7D21A951A2}">
      <dgm:prSet/>
      <dgm:spPr>
        <a:solidFill>
          <a:schemeClr val="tx1"/>
        </a:solidFill>
      </dgm:spPr>
      <dgm:t>
        <a:bodyPr/>
        <a:lstStyle/>
        <a:p>
          <a:r>
            <a:rPr lang="en-US" dirty="0" smtClean="0">
              <a:latin typeface="+mn-lt"/>
            </a:rPr>
            <a:t>Correct machine instructions for algorithm</a:t>
          </a:r>
          <a:endParaRPr lang="en-US" dirty="0">
            <a:latin typeface="+mn-lt"/>
          </a:endParaRPr>
        </a:p>
      </dgm:t>
    </dgm:pt>
    <dgm:pt modelId="{CC0BA741-DEF5-8644-B56C-D1AA84B8542A}" type="parTrans" cxnId="{8E4FB3A5-D0A8-524A-80A2-469CA90ED905}">
      <dgm:prSet/>
      <dgm:spPr/>
      <dgm:t>
        <a:bodyPr/>
        <a:lstStyle/>
        <a:p>
          <a:endParaRPr lang="en-US"/>
        </a:p>
      </dgm:t>
    </dgm:pt>
    <dgm:pt modelId="{CE850A37-5B85-C242-B50F-7A87305A55F0}" type="sibTrans" cxnId="{8E4FB3A5-D0A8-524A-80A2-469CA90ED905}">
      <dgm:prSet/>
      <dgm:spPr/>
      <dgm:t>
        <a:bodyPr/>
        <a:lstStyle/>
        <a:p>
          <a:endParaRPr lang="en-US"/>
        </a:p>
      </dgm:t>
    </dgm:pt>
    <dgm:pt modelId="{A9A76C5F-1688-714B-892A-D2B908315B47}">
      <dgm:prSet/>
      <dgm:spPr>
        <a:solidFill>
          <a:schemeClr val="tx1"/>
        </a:solidFill>
      </dgm:spPr>
      <dgm:t>
        <a:bodyPr/>
        <a:lstStyle/>
        <a:p>
          <a:r>
            <a:rPr lang="en-US" dirty="0" smtClean="0">
              <a:latin typeface="+mn-lt"/>
            </a:rPr>
            <a:t>Valid manipulation of data</a:t>
          </a:r>
          <a:endParaRPr lang="en-US" dirty="0">
            <a:latin typeface="+mn-lt"/>
          </a:endParaRPr>
        </a:p>
      </dgm:t>
    </dgm:pt>
    <dgm:pt modelId="{892E9596-8E89-F945-9668-D9EDB84B7FC5}" type="parTrans" cxnId="{E9543015-9DCC-A141-A16D-8A926B646BBB}">
      <dgm:prSet/>
      <dgm:spPr/>
      <dgm:t>
        <a:bodyPr/>
        <a:lstStyle/>
        <a:p>
          <a:endParaRPr lang="en-US"/>
        </a:p>
      </dgm:t>
    </dgm:pt>
    <dgm:pt modelId="{277C2F44-4740-9A44-A7AC-921211FCCD0D}" type="sibTrans" cxnId="{E9543015-9DCC-A141-A16D-8A926B646BBB}">
      <dgm:prSet/>
      <dgm:spPr/>
      <dgm:t>
        <a:bodyPr/>
        <a:lstStyle/>
        <a:p>
          <a:endParaRPr lang="en-US"/>
        </a:p>
      </dgm:t>
    </dgm:pt>
    <dgm:pt modelId="{94A95B2A-7DE0-1E4E-BBC2-BE8C914C4200}" type="pres">
      <dgm:prSet presAssocID="{90FF36BB-2A7F-D748-859F-0D3822941A7C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0327B35-A56D-534E-BF24-5BB96A8F9B2D}" type="pres">
      <dgm:prSet presAssocID="{5E5512E8-9F92-BC4E-9953-BD0231634417}" presName="composite" presStyleCnt="0"/>
      <dgm:spPr/>
    </dgm:pt>
    <dgm:pt modelId="{009F4FD9-04DC-2849-B569-7B7356F134FF}" type="pres">
      <dgm:prSet presAssocID="{5E5512E8-9F92-BC4E-9953-BD0231634417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65DC833-477A-5949-B493-D8C2D3D575C8}" type="pres">
      <dgm:prSet presAssocID="{5E5512E8-9F92-BC4E-9953-BD0231634417}" presName="desTx" presStyleLbl="alignAccFollowNode1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2434A14-DD17-0C44-A55E-112E1A16EE71}" type="presOf" srcId="{5E5512E8-9F92-BC4E-9953-BD0231634417}" destId="{009F4FD9-04DC-2849-B569-7B7356F134FF}" srcOrd="0" destOrd="0" presId="urn:microsoft.com/office/officeart/2005/8/layout/hList1"/>
    <dgm:cxn modelId="{944BF309-872D-F04D-A4D5-B38AD7C2C6B7}" type="presOf" srcId="{A9A76C5F-1688-714B-892A-D2B908315B47}" destId="{665DC833-477A-5949-B493-D8C2D3D575C8}" srcOrd="0" destOrd="2" presId="urn:microsoft.com/office/officeart/2005/8/layout/hList1"/>
    <dgm:cxn modelId="{0B336FA9-524C-F143-A708-96706CFD1407}" type="presOf" srcId="{90FF36BB-2A7F-D748-859F-0D3822941A7C}" destId="{94A95B2A-7DE0-1E4E-BBC2-BE8C914C4200}" srcOrd="0" destOrd="0" presId="urn:microsoft.com/office/officeart/2005/8/layout/hList1"/>
    <dgm:cxn modelId="{D182E7C8-8720-2345-93A6-87766C437D31}" type="presOf" srcId="{4D9CA2BA-6934-BA42-83CD-AF7D21A951A2}" destId="{665DC833-477A-5949-B493-D8C2D3D575C8}" srcOrd="0" destOrd="1" presId="urn:microsoft.com/office/officeart/2005/8/layout/hList1"/>
    <dgm:cxn modelId="{E9543015-9DCC-A141-A16D-8A926B646BBB}" srcId="{5E5512E8-9F92-BC4E-9953-BD0231634417}" destId="{A9A76C5F-1688-714B-892A-D2B908315B47}" srcOrd="2" destOrd="0" parTransId="{892E9596-8E89-F945-9668-D9EDB84B7FC5}" sibTransId="{277C2F44-4740-9A44-A7AC-921211FCCD0D}"/>
    <dgm:cxn modelId="{C72396CE-C695-3C4A-BB37-5F075EB905BC}" srcId="{90FF36BB-2A7F-D748-859F-0D3822941A7C}" destId="{5E5512E8-9F92-BC4E-9953-BD0231634417}" srcOrd="0" destOrd="0" parTransId="{E4224276-93ED-0549-98BA-59D0936D20FA}" sibTransId="{FC0D0B2E-6F86-7C45-95F9-1BD06933A888}"/>
    <dgm:cxn modelId="{7CBC7C0F-A18A-3346-9463-BC13C4F8D5D3}" srcId="{5E5512E8-9F92-BC4E-9953-BD0231634417}" destId="{77271E20-66C9-A342-9C23-59BCC6777CE9}" srcOrd="0" destOrd="0" parTransId="{938EE350-B395-A14D-BED5-7E248D41024F}" sibTransId="{478282A6-3E02-624D-9C3E-6A9A7A91B231}"/>
    <dgm:cxn modelId="{4F0381C9-6404-E449-99D1-E44BBC326606}" type="presOf" srcId="{77271E20-66C9-A342-9C23-59BCC6777CE9}" destId="{665DC833-477A-5949-B493-D8C2D3D575C8}" srcOrd="0" destOrd="0" presId="urn:microsoft.com/office/officeart/2005/8/layout/hList1"/>
    <dgm:cxn modelId="{8E4FB3A5-D0A8-524A-80A2-469CA90ED905}" srcId="{5E5512E8-9F92-BC4E-9953-BD0231634417}" destId="{4D9CA2BA-6934-BA42-83CD-AF7D21A951A2}" srcOrd="1" destOrd="0" parTransId="{CC0BA741-DEF5-8644-B56C-D1AA84B8542A}" sibTransId="{CE850A37-5B85-C242-B50F-7A87305A55F0}"/>
    <dgm:cxn modelId="{964CB784-9B6C-514B-9A11-7FCCBE3B6317}" type="presParOf" srcId="{94A95B2A-7DE0-1E4E-BBC2-BE8C914C4200}" destId="{90327B35-A56D-534E-BF24-5BB96A8F9B2D}" srcOrd="0" destOrd="0" presId="urn:microsoft.com/office/officeart/2005/8/layout/hList1"/>
    <dgm:cxn modelId="{4CB9CE29-A0D0-7941-8034-DD334BD54D47}" type="presParOf" srcId="{90327B35-A56D-534E-BF24-5BB96A8F9B2D}" destId="{009F4FD9-04DC-2849-B569-7B7356F134FF}" srcOrd="0" destOrd="0" presId="urn:microsoft.com/office/officeart/2005/8/layout/hList1"/>
    <dgm:cxn modelId="{F1670794-0937-CA49-BC56-B3E5C40CFB67}" type="presParOf" srcId="{90327B35-A56D-534E-BF24-5BB96A8F9B2D}" destId="{665DC833-477A-5949-B493-D8C2D3D575C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070283C-F51B-564E-ADD2-5207BD7324A4}" type="doc">
      <dgm:prSet loTypeId="urn:microsoft.com/office/officeart/2005/8/layout/lProcess2" loCatId="list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CF02138-9475-E34A-8D1B-553F4C922C84}">
      <dgm:prSet/>
      <dgm:spPr>
        <a:solidFill>
          <a:schemeClr val="accent5">
            <a:lumMod val="75000"/>
          </a:schemeClr>
        </a:solidFill>
      </dgm:spPr>
      <dgm:t>
        <a:bodyPr/>
        <a:lstStyle/>
        <a:p>
          <a:pPr rtl="0"/>
          <a:r>
            <a:rPr lang="en-US" b="1" dirty="0" smtClean="0">
              <a:solidFill>
                <a:schemeClr val="tx1"/>
              </a:solidFill>
              <a:latin typeface="+mj-lt"/>
            </a:rPr>
            <a:t>Issue of good program development technique</a:t>
          </a:r>
          <a:endParaRPr lang="en-US" dirty="0">
            <a:solidFill>
              <a:schemeClr val="tx1"/>
            </a:solidFill>
            <a:latin typeface="+mj-lt"/>
          </a:endParaRPr>
        </a:p>
      </dgm:t>
    </dgm:pt>
    <dgm:pt modelId="{6AE4AB10-34A3-B944-A994-F6B549E56ED2}" type="parTrans" cxnId="{75DBFA16-30C9-F440-871E-6E4D6B4A35FA}">
      <dgm:prSet/>
      <dgm:spPr/>
      <dgm:t>
        <a:bodyPr/>
        <a:lstStyle/>
        <a:p>
          <a:endParaRPr lang="en-US"/>
        </a:p>
      </dgm:t>
    </dgm:pt>
    <dgm:pt modelId="{795CD7E7-1B47-1145-91D6-831E5749B997}" type="sibTrans" cxnId="{75DBFA16-30C9-F440-871E-6E4D6B4A35FA}">
      <dgm:prSet/>
      <dgm:spPr/>
      <dgm:t>
        <a:bodyPr/>
        <a:lstStyle/>
        <a:p>
          <a:endParaRPr lang="en-US"/>
        </a:p>
      </dgm:t>
    </dgm:pt>
    <dgm:pt modelId="{8B21737D-1B71-FC46-88A6-A1494E58EC5F}">
      <dgm:prSet custT="1"/>
      <dgm:spPr>
        <a:solidFill>
          <a:schemeClr val="accent5"/>
        </a:solidFill>
        <a:ln>
          <a:solidFill>
            <a:schemeClr val="bg1"/>
          </a:solidFill>
        </a:ln>
      </dgm:spPr>
      <dgm:t>
        <a:bodyPr/>
        <a:lstStyle/>
        <a:p>
          <a:pPr rtl="0"/>
          <a:r>
            <a:rPr lang="en-US" sz="1400" b="1" smtClean="0">
              <a:solidFill>
                <a:schemeClr val="bg1"/>
              </a:solidFill>
              <a:latin typeface="+mj-lt"/>
            </a:rPr>
            <a:t>Algorithm may not correctly handle all problem variants</a:t>
          </a:r>
          <a:endParaRPr lang="en-US" sz="1400" dirty="0">
            <a:solidFill>
              <a:schemeClr val="bg1"/>
            </a:solidFill>
            <a:latin typeface="+mj-lt"/>
          </a:endParaRPr>
        </a:p>
      </dgm:t>
    </dgm:pt>
    <dgm:pt modelId="{1611EA80-A66B-7A43-8A6F-4FED6A203203}" type="parTrans" cxnId="{2D614BEB-5681-4548-8F81-C25DAE7DA0CB}">
      <dgm:prSet/>
      <dgm:spPr/>
      <dgm:t>
        <a:bodyPr/>
        <a:lstStyle/>
        <a:p>
          <a:endParaRPr lang="en-US"/>
        </a:p>
      </dgm:t>
    </dgm:pt>
    <dgm:pt modelId="{2356547E-DCB6-FE4F-8C1C-1E2E7E8BCB1D}" type="sibTrans" cxnId="{2D614BEB-5681-4548-8F81-C25DAE7DA0CB}">
      <dgm:prSet/>
      <dgm:spPr/>
      <dgm:t>
        <a:bodyPr/>
        <a:lstStyle/>
        <a:p>
          <a:endParaRPr lang="en-US"/>
        </a:p>
      </dgm:t>
    </dgm:pt>
    <dgm:pt modelId="{5B2A9D37-6BEF-4240-99A7-BB7A5E99B644}">
      <dgm:prSet custT="1"/>
      <dgm:spPr>
        <a:solidFill>
          <a:schemeClr val="accent5"/>
        </a:solidFill>
        <a:ln>
          <a:solidFill>
            <a:schemeClr val="bg1"/>
          </a:solidFill>
        </a:ln>
      </dgm:spPr>
      <dgm:t>
        <a:bodyPr/>
        <a:lstStyle/>
        <a:p>
          <a:pPr rtl="0"/>
          <a:r>
            <a:rPr lang="en-US" sz="1400" b="1" smtClean="0">
              <a:solidFill>
                <a:schemeClr val="bg1"/>
              </a:solidFill>
              <a:latin typeface="+mj-lt"/>
            </a:rPr>
            <a:t>Consequence of deficiency is a bug in the resulting program that could be exploited</a:t>
          </a:r>
          <a:endParaRPr lang="en-US" sz="1400" dirty="0">
            <a:solidFill>
              <a:schemeClr val="bg1"/>
            </a:solidFill>
            <a:latin typeface="+mj-lt"/>
          </a:endParaRPr>
        </a:p>
      </dgm:t>
    </dgm:pt>
    <dgm:pt modelId="{86FF7DD1-367B-554F-9FD7-3270AF6A6AD8}" type="parTrans" cxnId="{2257191F-0AF4-444A-9B5D-4A98C637138E}">
      <dgm:prSet/>
      <dgm:spPr/>
      <dgm:t>
        <a:bodyPr/>
        <a:lstStyle/>
        <a:p>
          <a:endParaRPr lang="en-US"/>
        </a:p>
      </dgm:t>
    </dgm:pt>
    <dgm:pt modelId="{612CDECD-9C7B-064C-8899-AB42289F875D}" type="sibTrans" cxnId="{2257191F-0AF4-444A-9B5D-4A98C637138E}">
      <dgm:prSet/>
      <dgm:spPr/>
      <dgm:t>
        <a:bodyPr/>
        <a:lstStyle/>
        <a:p>
          <a:endParaRPr lang="en-US"/>
        </a:p>
      </dgm:t>
    </dgm:pt>
    <dgm:pt modelId="{2583708D-1403-B84B-9BE6-6D28B649177A}">
      <dgm:prSet/>
      <dgm:spPr>
        <a:solidFill>
          <a:schemeClr val="accent6">
            <a:lumMod val="75000"/>
          </a:schemeClr>
        </a:solidFill>
      </dgm:spPr>
      <dgm:t>
        <a:bodyPr/>
        <a:lstStyle/>
        <a:p>
          <a:pPr rtl="0"/>
          <a:r>
            <a:rPr lang="en-US" b="1" dirty="0" smtClean="0">
              <a:solidFill>
                <a:schemeClr val="tx1"/>
              </a:solidFill>
              <a:latin typeface="+mj-lt"/>
            </a:rPr>
            <a:t>Initial sequence numbers used by many TCP/IP implementations are too predictable</a:t>
          </a:r>
          <a:endParaRPr lang="en-US" dirty="0">
            <a:solidFill>
              <a:schemeClr val="tx1"/>
            </a:solidFill>
            <a:latin typeface="+mj-lt"/>
          </a:endParaRPr>
        </a:p>
      </dgm:t>
    </dgm:pt>
    <dgm:pt modelId="{F48A1F0F-1897-5641-B31B-D0C049CB78C3}" type="parTrans" cxnId="{F3D36947-048B-2646-844E-DB0E1DE372C5}">
      <dgm:prSet/>
      <dgm:spPr/>
      <dgm:t>
        <a:bodyPr/>
        <a:lstStyle/>
        <a:p>
          <a:endParaRPr lang="en-US"/>
        </a:p>
      </dgm:t>
    </dgm:pt>
    <dgm:pt modelId="{C0B929CE-5B13-4346-AB2B-01753A147FA0}" type="sibTrans" cxnId="{F3D36947-048B-2646-844E-DB0E1DE372C5}">
      <dgm:prSet/>
      <dgm:spPr/>
      <dgm:t>
        <a:bodyPr/>
        <a:lstStyle/>
        <a:p>
          <a:endParaRPr lang="en-US"/>
        </a:p>
      </dgm:t>
    </dgm:pt>
    <dgm:pt modelId="{BEB6B785-9456-F047-BF8E-E1146FEABD9B}">
      <dgm:prSet custT="1"/>
      <dgm:spPr>
        <a:solidFill>
          <a:schemeClr val="accent6"/>
        </a:solidFill>
        <a:ln>
          <a:solidFill>
            <a:schemeClr val="bg1"/>
          </a:solidFill>
        </a:ln>
      </dgm:spPr>
      <dgm:t>
        <a:bodyPr/>
        <a:lstStyle/>
        <a:p>
          <a:pPr rtl="0"/>
          <a:r>
            <a:rPr lang="en-US" sz="1400" b="1" dirty="0" smtClean="0">
              <a:solidFill>
                <a:schemeClr val="bg1"/>
              </a:solidFill>
              <a:latin typeface="+mj-lt"/>
            </a:rPr>
            <a:t>Combination of the sequence number as an identifier and authenticator of packets and the failure to make them sufficiently unpredictable enables the attack to occur</a:t>
          </a:r>
          <a:endParaRPr lang="en-US" sz="1400" b="1" dirty="0">
            <a:solidFill>
              <a:schemeClr val="bg1"/>
            </a:solidFill>
            <a:latin typeface="+mj-lt"/>
          </a:endParaRPr>
        </a:p>
      </dgm:t>
    </dgm:pt>
    <dgm:pt modelId="{E902A6D6-71A6-0140-A9CA-A93588FF1B8A}" type="parTrans" cxnId="{A4FA5AF0-65E2-FF4E-84AD-91BAD72CAC8B}">
      <dgm:prSet/>
      <dgm:spPr/>
      <dgm:t>
        <a:bodyPr/>
        <a:lstStyle/>
        <a:p>
          <a:endParaRPr lang="en-US"/>
        </a:p>
      </dgm:t>
    </dgm:pt>
    <dgm:pt modelId="{376BEEE8-E7E0-9648-B36E-B073233309F2}" type="sibTrans" cxnId="{A4FA5AF0-65E2-FF4E-84AD-91BAD72CAC8B}">
      <dgm:prSet/>
      <dgm:spPr/>
      <dgm:t>
        <a:bodyPr/>
        <a:lstStyle/>
        <a:p>
          <a:endParaRPr lang="en-US"/>
        </a:p>
      </dgm:t>
    </dgm:pt>
    <dgm:pt modelId="{D6F8610A-F864-EB46-AC0D-40DC049E856B}">
      <dgm:prSet/>
      <dgm:spPr>
        <a:solidFill>
          <a:schemeClr val="accent3">
            <a:lumMod val="75000"/>
          </a:schemeClr>
        </a:solidFill>
      </dgm:spPr>
      <dgm:t>
        <a:bodyPr/>
        <a:lstStyle/>
        <a:p>
          <a:pPr rtl="0"/>
          <a:r>
            <a:rPr lang="en-US" b="1" dirty="0" smtClean="0">
              <a:solidFill>
                <a:schemeClr val="tx1"/>
              </a:solidFill>
              <a:latin typeface="+mj-lt"/>
            </a:rPr>
            <a:t>Another variant is when the programmers deliberately include additional code in a program to help test and debug it</a:t>
          </a:r>
          <a:endParaRPr lang="en-US" dirty="0">
            <a:solidFill>
              <a:schemeClr val="tx1"/>
            </a:solidFill>
            <a:latin typeface="+mj-lt"/>
          </a:endParaRPr>
        </a:p>
      </dgm:t>
    </dgm:pt>
    <dgm:pt modelId="{50D37BA5-F336-6B49-A54E-9F08AE63D8C7}" type="parTrans" cxnId="{B2D47A34-24D6-C841-876B-98588AC4F894}">
      <dgm:prSet/>
      <dgm:spPr/>
      <dgm:t>
        <a:bodyPr/>
        <a:lstStyle/>
        <a:p>
          <a:endParaRPr lang="en-US"/>
        </a:p>
      </dgm:t>
    </dgm:pt>
    <dgm:pt modelId="{5667E979-D575-D245-BB2C-E52ECB124ECF}" type="sibTrans" cxnId="{B2D47A34-24D6-C841-876B-98588AC4F894}">
      <dgm:prSet/>
      <dgm:spPr/>
      <dgm:t>
        <a:bodyPr/>
        <a:lstStyle/>
        <a:p>
          <a:endParaRPr lang="en-US"/>
        </a:p>
      </dgm:t>
    </dgm:pt>
    <dgm:pt modelId="{3B1D7215-215C-7E42-8AC5-1AA375A6AAB4}">
      <dgm:prSet custT="1"/>
      <dgm:spPr>
        <a:solidFill>
          <a:schemeClr val="accent3"/>
        </a:solidFill>
        <a:ln>
          <a:solidFill>
            <a:schemeClr val="bg1"/>
          </a:solidFill>
        </a:ln>
      </dgm:spPr>
      <dgm:t>
        <a:bodyPr/>
        <a:lstStyle/>
        <a:p>
          <a:pPr rtl="0"/>
          <a:r>
            <a:rPr lang="en-US" sz="1200" b="1" smtClean="0">
              <a:solidFill>
                <a:schemeClr val="bg1"/>
              </a:solidFill>
              <a:latin typeface="+mj-lt"/>
            </a:rPr>
            <a:t>Often code remains in production release of a program and could inappropriately release information</a:t>
          </a:r>
          <a:endParaRPr lang="en-US" sz="1200" dirty="0">
            <a:solidFill>
              <a:schemeClr val="bg1"/>
            </a:solidFill>
            <a:latin typeface="+mj-lt"/>
          </a:endParaRPr>
        </a:p>
      </dgm:t>
    </dgm:pt>
    <dgm:pt modelId="{5E609580-9566-0344-BE56-E8E035726B39}" type="parTrans" cxnId="{C091ECB1-900A-844A-A54E-1E5EC8FA1840}">
      <dgm:prSet/>
      <dgm:spPr/>
      <dgm:t>
        <a:bodyPr/>
        <a:lstStyle/>
        <a:p>
          <a:endParaRPr lang="en-US"/>
        </a:p>
      </dgm:t>
    </dgm:pt>
    <dgm:pt modelId="{DDD8FD4C-C119-534F-BE38-17D55C8D66E9}" type="sibTrans" cxnId="{C091ECB1-900A-844A-A54E-1E5EC8FA1840}">
      <dgm:prSet/>
      <dgm:spPr/>
      <dgm:t>
        <a:bodyPr/>
        <a:lstStyle/>
        <a:p>
          <a:endParaRPr lang="en-US"/>
        </a:p>
      </dgm:t>
    </dgm:pt>
    <dgm:pt modelId="{53888545-1CC0-3A43-9647-77770FE80854}">
      <dgm:prSet custT="1"/>
      <dgm:spPr>
        <a:solidFill>
          <a:schemeClr val="accent3"/>
        </a:solidFill>
        <a:ln>
          <a:solidFill>
            <a:schemeClr val="bg1"/>
          </a:solidFill>
        </a:ln>
      </dgm:spPr>
      <dgm:t>
        <a:bodyPr/>
        <a:lstStyle/>
        <a:p>
          <a:pPr rtl="0"/>
          <a:r>
            <a:rPr lang="en-US" sz="1200" b="1" dirty="0" smtClean="0">
              <a:solidFill>
                <a:schemeClr val="bg1"/>
              </a:solidFill>
              <a:latin typeface="+mj-lt"/>
            </a:rPr>
            <a:t>May permit a user to bypass security checks and perform actions they would not otherwise be allowed to perform</a:t>
          </a:r>
          <a:endParaRPr lang="en-US" sz="1200" dirty="0">
            <a:solidFill>
              <a:schemeClr val="bg1"/>
            </a:solidFill>
            <a:latin typeface="+mj-lt"/>
          </a:endParaRPr>
        </a:p>
      </dgm:t>
    </dgm:pt>
    <dgm:pt modelId="{A475B2C3-5F46-AE40-8EAD-C870769835E5}" type="parTrans" cxnId="{C986FF29-F35E-8F41-BEC7-DF120DD668AD}">
      <dgm:prSet/>
      <dgm:spPr/>
      <dgm:t>
        <a:bodyPr/>
        <a:lstStyle/>
        <a:p>
          <a:endParaRPr lang="en-US"/>
        </a:p>
      </dgm:t>
    </dgm:pt>
    <dgm:pt modelId="{1C70A880-B410-D944-B7DF-2CE5D7EEF0B2}" type="sibTrans" cxnId="{C986FF29-F35E-8F41-BEC7-DF120DD668AD}">
      <dgm:prSet/>
      <dgm:spPr/>
      <dgm:t>
        <a:bodyPr/>
        <a:lstStyle/>
        <a:p>
          <a:endParaRPr lang="en-US"/>
        </a:p>
      </dgm:t>
    </dgm:pt>
    <dgm:pt modelId="{FD071CAE-3750-2943-AE91-85CEF9753B90}">
      <dgm:prSet custT="1"/>
      <dgm:spPr>
        <a:solidFill>
          <a:schemeClr val="accent3"/>
        </a:solidFill>
        <a:ln>
          <a:solidFill>
            <a:schemeClr val="bg1"/>
          </a:solidFill>
        </a:ln>
      </dgm:spPr>
      <dgm:t>
        <a:bodyPr/>
        <a:lstStyle/>
        <a:p>
          <a:pPr rtl="0"/>
          <a:r>
            <a:rPr lang="en-US" sz="1200" b="1" smtClean="0">
              <a:solidFill>
                <a:schemeClr val="bg1"/>
              </a:solidFill>
              <a:latin typeface="+mj-lt"/>
            </a:rPr>
            <a:t>This vulnerability was exploited by the Morris Internet Worm</a:t>
          </a:r>
          <a:endParaRPr lang="en-US" sz="1200" dirty="0">
            <a:solidFill>
              <a:schemeClr val="bg1"/>
            </a:solidFill>
            <a:latin typeface="+mj-lt"/>
          </a:endParaRPr>
        </a:p>
      </dgm:t>
    </dgm:pt>
    <dgm:pt modelId="{36A3ECC1-A388-2642-904F-CF8FF17C5896}" type="parTrans" cxnId="{FD5C317D-7D24-CB42-AD78-2E754457CCB5}">
      <dgm:prSet/>
      <dgm:spPr/>
      <dgm:t>
        <a:bodyPr/>
        <a:lstStyle/>
        <a:p>
          <a:endParaRPr lang="en-US"/>
        </a:p>
      </dgm:t>
    </dgm:pt>
    <dgm:pt modelId="{88D56B49-53D0-CC42-858D-1451A674EC7E}" type="sibTrans" cxnId="{FD5C317D-7D24-CB42-AD78-2E754457CCB5}">
      <dgm:prSet/>
      <dgm:spPr/>
      <dgm:t>
        <a:bodyPr/>
        <a:lstStyle/>
        <a:p>
          <a:endParaRPr lang="en-US"/>
        </a:p>
      </dgm:t>
    </dgm:pt>
    <dgm:pt modelId="{9DC9E673-341C-C745-9B79-64D64BE2D4D8}" type="pres">
      <dgm:prSet presAssocID="{7070283C-F51B-564E-ADD2-5207BD7324A4}" presName="theList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02C724CF-30BB-EE4F-AA82-60CA09CF338F}" type="pres">
      <dgm:prSet presAssocID="{ECF02138-9475-E34A-8D1B-553F4C922C84}" presName="compNode" presStyleCnt="0"/>
      <dgm:spPr/>
      <dgm:t>
        <a:bodyPr/>
        <a:lstStyle/>
        <a:p>
          <a:endParaRPr lang="en-US"/>
        </a:p>
      </dgm:t>
    </dgm:pt>
    <dgm:pt modelId="{9A0C673A-50E8-F84C-8463-CD1AE39E9DB1}" type="pres">
      <dgm:prSet presAssocID="{ECF02138-9475-E34A-8D1B-553F4C922C84}" presName="aNode" presStyleLbl="bgShp" presStyleIdx="0" presStyleCnt="3"/>
      <dgm:spPr/>
      <dgm:t>
        <a:bodyPr/>
        <a:lstStyle/>
        <a:p>
          <a:endParaRPr lang="en-US"/>
        </a:p>
      </dgm:t>
    </dgm:pt>
    <dgm:pt modelId="{6749DDE4-C44C-8D4E-A098-E57805469A50}" type="pres">
      <dgm:prSet presAssocID="{ECF02138-9475-E34A-8D1B-553F4C922C84}" presName="textNode" presStyleLbl="bgShp" presStyleIdx="0" presStyleCnt="3"/>
      <dgm:spPr/>
      <dgm:t>
        <a:bodyPr/>
        <a:lstStyle/>
        <a:p>
          <a:endParaRPr lang="en-US"/>
        </a:p>
      </dgm:t>
    </dgm:pt>
    <dgm:pt modelId="{F1AAD280-6C2B-834A-822F-1125204A6A34}" type="pres">
      <dgm:prSet presAssocID="{ECF02138-9475-E34A-8D1B-553F4C922C84}" presName="compChildNode" presStyleCnt="0"/>
      <dgm:spPr/>
      <dgm:t>
        <a:bodyPr/>
        <a:lstStyle/>
        <a:p>
          <a:endParaRPr lang="en-US"/>
        </a:p>
      </dgm:t>
    </dgm:pt>
    <dgm:pt modelId="{79DC6A0A-0583-6E42-9270-37438D38BA69}" type="pres">
      <dgm:prSet presAssocID="{ECF02138-9475-E34A-8D1B-553F4C922C84}" presName="theInnerList" presStyleCnt="0"/>
      <dgm:spPr/>
      <dgm:t>
        <a:bodyPr/>
        <a:lstStyle/>
        <a:p>
          <a:endParaRPr lang="en-US"/>
        </a:p>
      </dgm:t>
    </dgm:pt>
    <dgm:pt modelId="{0D90FAA2-C399-A443-9D9C-B90E712853E2}" type="pres">
      <dgm:prSet presAssocID="{8B21737D-1B71-FC46-88A6-A1494E58EC5F}" presName="child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5099DD4-6158-554B-844A-F1B5D602C02E}" type="pres">
      <dgm:prSet presAssocID="{8B21737D-1B71-FC46-88A6-A1494E58EC5F}" presName="aSpace2" presStyleCnt="0"/>
      <dgm:spPr/>
      <dgm:t>
        <a:bodyPr/>
        <a:lstStyle/>
        <a:p>
          <a:endParaRPr lang="en-US"/>
        </a:p>
      </dgm:t>
    </dgm:pt>
    <dgm:pt modelId="{A9BC5344-5BE3-B342-813E-25EEB0190A3D}" type="pres">
      <dgm:prSet presAssocID="{5B2A9D37-6BEF-4240-99A7-BB7A5E99B644}" presName="child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34F6574-5072-9A44-8FDC-D647EFB8E222}" type="pres">
      <dgm:prSet presAssocID="{ECF02138-9475-E34A-8D1B-553F4C922C84}" presName="aSpace" presStyleCnt="0"/>
      <dgm:spPr/>
      <dgm:t>
        <a:bodyPr/>
        <a:lstStyle/>
        <a:p>
          <a:endParaRPr lang="en-US"/>
        </a:p>
      </dgm:t>
    </dgm:pt>
    <dgm:pt modelId="{9712C18C-462D-434D-9193-3206F40453A0}" type="pres">
      <dgm:prSet presAssocID="{2583708D-1403-B84B-9BE6-6D28B649177A}" presName="compNode" presStyleCnt="0"/>
      <dgm:spPr/>
      <dgm:t>
        <a:bodyPr/>
        <a:lstStyle/>
        <a:p>
          <a:endParaRPr lang="en-US"/>
        </a:p>
      </dgm:t>
    </dgm:pt>
    <dgm:pt modelId="{5BEE9616-EC8C-D444-94C0-5AFA31EE4F10}" type="pres">
      <dgm:prSet presAssocID="{2583708D-1403-B84B-9BE6-6D28B649177A}" presName="aNode" presStyleLbl="bgShp" presStyleIdx="1" presStyleCnt="3"/>
      <dgm:spPr/>
      <dgm:t>
        <a:bodyPr/>
        <a:lstStyle/>
        <a:p>
          <a:endParaRPr lang="en-US"/>
        </a:p>
      </dgm:t>
    </dgm:pt>
    <dgm:pt modelId="{89F3BE4D-7264-084A-A55B-33969E8B0AD9}" type="pres">
      <dgm:prSet presAssocID="{2583708D-1403-B84B-9BE6-6D28B649177A}" presName="textNode" presStyleLbl="bgShp" presStyleIdx="1" presStyleCnt="3"/>
      <dgm:spPr/>
      <dgm:t>
        <a:bodyPr/>
        <a:lstStyle/>
        <a:p>
          <a:endParaRPr lang="en-US"/>
        </a:p>
      </dgm:t>
    </dgm:pt>
    <dgm:pt modelId="{2B1DF87C-D8AF-E041-B82E-60D000D3CF9B}" type="pres">
      <dgm:prSet presAssocID="{2583708D-1403-B84B-9BE6-6D28B649177A}" presName="compChildNode" presStyleCnt="0"/>
      <dgm:spPr/>
      <dgm:t>
        <a:bodyPr/>
        <a:lstStyle/>
        <a:p>
          <a:endParaRPr lang="en-US"/>
        </a:p>
      </dgm:t>
    </dgm:pt>
    <dgm:pt modelId="{5772E31A-2A59-5D4D-8317-FDD19EB13003}" type="pres">
      <dgm:prSet presAssocID="{2583708D-1403-B84B-9BE6-6D28B649177A}" presName="theInnerList" presStyleCnt="0"/>
      <dgm:spPr/>
      <dgm:t>
        <a:bodyPr/>
        <a:lstStyle/>
        <a:p>
          <a:endParaRPr lang="en-US"/>
        </a:p>
      </dgm:t>
    </dgm:pt>
    <dgm:pt modelId="{33AAE89B-D497-3544-95EA-33D474088523}" type="pres">
      <dgm:prSet presAssocID="{BEB6B785-9456-F047-BF8E-E1146FEABD9B}" presName="child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EA8D54B-46C2-024C-A8BF-6C0401549B50}" type="pres">
      <dgm:prSet presAssocID="{2583708D-1403-B84B-9BE6-6D28B649177A}" presName="aSpace" presStyleCnt="0"/>
      <dgm:spPr/>
      <dgm:t>
        <a:bodyPr/>
        <a:lstStyle/>
        <a:p>
          <a:endParaRPr lang="en-US"/>
        </a:p>
      </dgm:t>
    </dgm:pt>
    <dgm:pt modelId="{26828DF2-80F1-E943-ABEA-CCA2521A2250}" type="pres">
      <dgm:prSet presAssocID="{D6F8610A-F864-EB46-AC0D-40DC049E856B}" presName="compNode" presStyleCnt="0"/>
      <dgm:spPr/>
      <dgm:t>
        <a:bodyPr/>
        <a:lstStyle/>
        <a:p>
          <a:endParaRPr lang="en-US"/>
        </a:p>
      </dgm:t>
    </dgm:pt>
    <dgm:pt modelId="{66530D40-7FE2-104B-B092-07B968B398DB}" type="pres">
      <dgm:prSet presAssocID="{D6F8610A-F864-EB46-AC0D-40DC049E856B}" presName="aNode" presStyleLbl="bgShp" presStyleIdx="2" presStyleCnt="3"/>
      <dgm:spPr/>
      <dgm:t>
        <a:bodyPr/>
        <a:lstStyle/>
        <a:p>
          <a:endParaRPr lang="en-US"/>
        </a:p>
      </dgm:t>
    </dgm:pt>
    <dgm:pt modelId="{9BD26E14-6412-E84F-BE67-9B11DCE82280}" type="pres">
      <dgm:prSet presAssocID="{D6F8610A-F864-EB46-AC0D-40DC049E856B}" presName="textNode" presStyleLbl="bgShp" presStyleIdx="2" presStyleCnt="3"/>
      <dgm:spPr/>
      <dgm:t>
        <a:bodyPr/>
        <a:lstStyle/>
        <a:p>
          <a:endParaRPr lang="en-US"/>
        </a:p>
      </dgm:t>
    </dgm:pt>
    <dgm:pt modelId="{C078CC03-EF4A-6241-B8F1-4D57CA8609CB}" type="pres">
      <dgm:prSet presAssocID="{D6F8610A-F864-EB46-AC0D-40DC049E856B}" presName="compChildNode" presStyleCnt="0"/>
      <dgm:spPr/>
      <dgm:t>
        <a:bodyPr/>
        <a:lstStyle/>
        <a:p>
          <a:endParaRPr lang="en-US"/>
        </a:p>
      </dgm:t>
    </dgm:pt>
    <dgm:pt modelId="{6E7CD7E3-2F12-844F-B581-851A1C19C665}" type="pres">
      <dgm:prSet presAssocID="{D6F8610A-F864-EB46-AC0D-40DC049E856B}" presName="theInnerList" presStyleCnt="0"/>
      <dgm:spPr/>
      <dgm:t>
        <a:bodyPr/>
        <a:lstStyle/>
        <a:p>
          <a:endParaRPr lang="en-US"/>
        </a:p>
      </dgm:t>
    </dgm:pt>
    <dgm:pt modelId="{5A0AA2C3-FAEA-314F-9D5E-BA261D83EA5F}" type="pres">
      <dgm:prSet presAssocID="{3B1D7215-215C-7E42-8AC5-1AA375A6AAB4}" presName="child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792A602-F17A-A844-964E-D16C171451C2}" type="pres">
      <dgm:prSet presAssocID="{3B1D7215-215C-7E42-8AC5-1AA375A6AAB4}" presName="aSpace2" presStyleCnt="0"/>
      <dgm:spPr/>
      <dgm:t>
        <a:bodyPr/>
        <a:lstStyle/>
        <a:p>
          <a:endParaRPr lang="en-US"/>
        </a:p>
      </dgm:t>
    </dgm:pt>
    <dgm:pt modelId="{17251BFA-D8BC-C241-AEDE-4F1D9EBF02E9}" type="pres">
      <dgm:prSet presAssocID="{53888545-1CC0-3A43-9647-77770FE80854}" presName="child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418B8B5-CA72-C94E-8736-AAC730768153}" type="pres">
      <dgm:prSet presAssocID="{53888545-1CC0-3A43-9647-77770FE80854}" presName="aSpace2" presStyleCnt="0"/>
      <dgm:spPr/>
      <dgm:t>
        <a:bodyPr/>
        <a:lstStyle/>
        <a:p>
          <a:endParaRPr lang="en-US"/>
        </a:p>
      </dgm:t>
    </dgm:pt>
    <dgm:pt modelId="{22AE41C0-B402-A543-AB02-6AB81E8B5A19}" type="pres">
      <dgm:prSet presAssocID="{FD071CAE-3750-2943-AE91-85CEF9753B90}" presName="child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D5C317D-7D24-CB42-AD78-2E754457CCB5}" srcId="{D6F8610A-F864-EB46-AC0D-40DC049E856B}" destId="{FD071CAE-3750-2943-AE91-85CEF9753B90}" srcOrd="2" destOrd="0" parTransId="{36A3ECC1-A388-2642-904F-CF8FF17C5896}" sibTransId="{88D56B49-53D0-CC42-858D-1451A674EC7E}"/>
    <dgm:cxn modelId="{F3D36947-048B-2646-844E-DB0E1DE372C5}" srcId="{7070283C-F51B-564E-ADD2-5207BD7324A4}" destId="{2583708D-1403-B84B-9BE6-6D28B649177A}" srcOrd="1" destOrd="0" parTransId="{F48A1F0F-1897-5641-B31B-D0C049CB78C3}" sibTransId="{C0B929CE-5B13-4346-AB2B-01753A147FA0}"/>
    <dgm:cxn modelId="{2DD661B0-83DF-1147-B33C-B32FE971B56F}" type="presOf" srcId="{D6F8610A-F864-EB46-AC0D-40DC049E856B}" destId="{9BD26E14-6412-E84F-BE67-9B11DCE82280}" srcOrd="1" destOrd="0" presId="urn:microsoft.com/office/officeart/2005/8/layout/lProcess2"/>
    <dgm:cxn modelId="{2257191F-0AF4-444A-9B5D-4A98C637138E}" srcId="{ECF02138-9475-E34A-8D1B-553F4C922C84}" destId="{5B2A9D37-6BEF-4240-99A7-BB7A5E99B644}" srcOrd="1" destOrd="0" parTransId="{86FF7DD1-367B-554F-9FD7-3270AF6A6AD8}" sibTransId="{612CDECD-9C7B-064C-8899-AB42289F875D}"/>
    <dgm:cxn modelId="{E770FE39-084C-8341-A977-54B227D2C03E}" type="presOf" srcId="{3B1D7215-215C-7E42-8AC5-1AA375A6AAB4}" destId="{5A0AA2C3-FAEA-314F-9D5E-BA261D83EA5F}" srcOrd="0" destOrd="0" presId="urn:microsoft.com/office/officeart/2005/8/layout/lProcess2"/>
    <dgm:cxn modelId="{D6677A4D-DEC5-CB4F-AE29-A31876ADFAD9}" type="presOf" srcId="{ECF02138-9475-E34A-8D1B-553F4C922C84}" destId="{6749DDE4-C44C-8D4E-A098-E57805469A50}" srcOrd="1" destOrd="0" presId="urn:microsoft.com/office/officeart/2005/8/layout/lProcess2"/>
    <dgm:cxn modelId="{80CC634D-8240-B14E-8DAF-C777C6070DCB}" type="presOf" srcId="{ECF02138-9475-E34A-8D1B-553F4C922C84}" destId="{9A0C673A-50E8-F84C-8463-CD1AE39E9DB1}" srcOrd="0" destOrd="0" presId="urn:microsoft.com/office/officeart/2005/8/layout/lProcess2"/>
    <dgm:cxn modelId="{F31E682B-1C60-974C-9427-AC0005EF2EEB}" type="presOf" srcId="{D6F8610A-F864-EB46-AC0D-40DC049E856B}" destId="{66530D40-7FE2-104B-B092-07B968B398DB}" srcOrd="0" destOrd="0" presId="urn:microsoft.com/office/officeart/2005/8/layout/lProcess2"/>
    <dgm:cxn modelId="{C091ECB1-900A-844A-A54E-1E5EC8FA1840}" srcId="{D6F8610A-F864-EB46-AC0D-40DC049E856B}" destId="{3B1D7215-215C-7E42-8AC5-1AA375A6AAB4}" srcOrd="0" destOrd="0" parTransId="{5E609580-9566-0344-BE56-E8E035726B39}" sibTransId="{DDD8FD4C-C119-534F-BE38-17D55C8D66E9}"/>
    <dgm:cxn modelId="{A4FA5AF0-65E2-FF4E-84AD-91BAD72CAC8B}" srcId="{2583708D-1403-B84B-9BE6-6D28B649177A}" destId="{BEB6B785-9456-F047-BF8E-E1146FEABD9B}" srcOrd="0" destOrd="0" parTransId="{E902A6D6-71A6-0140-A9CA-A93588FF1B8A}" sibTransId="{376BEEE8-E7E0-9648-B36E-B073233309F2}"/>
    <dgm:cxn modelId="{DCBB708D-138C-9B42-9659-F4F46B093E84}" type="presOf" srcId="{BEB6B785-9456-F047-BF8E-E1146FEABD9B}" destId="{33AAE89B-D497-3544-95EA-33D474088523}" srcOrd="0" destOrd="0" presId="urn:microsoft.com/office/officeart/2005/8/layout/lProcess2"/>
    <dgm:cxn modelId="{66B9D9CC-BCDA-3248-B799-8CA4E84D614E}" type="presOf" srcId="{5B2A9D37-6BEF-4240-99A7-BB7A5E99B644}" destId="{A9BC5344-5BE3-B342-813E-25EEB0190A3D}" srcOrd="0" destOrd="0" presId="urn:microsoft.com/office/officeart/2005/8/layout/lProcess2"/>
    <dgm:cxn modelId="{86654BEB-08B2-5840-BA43-B622346E3F64}" type="presOf" srcId="{2583708D-1403-B84B-9BE6-6D28B649177A}" destId="{89F3BE4D-7264-084A-A55B-33969E8B0AD9}" srcOrd="1" destOrd="0" presId="urn:microsoft.com/office/officeart/2005/8/layout/lProcess2"/>
    <dgm:cxn modelId="{A99B6CAF-2709-954D-BEB7-D980F4F8649A}" type="presOf" srcId="{8B21737D-1B71-FC46-88A6-A1494E58EC5F}" destId="{0D90FAA2-C399-A443-9D9C-B90E712853E2}" srcOrd="0" destOrd="0" presId="urn:microsoft.com/office/officeart/2005/8/layout/lProcess2"/>
    <dgm:cxn modelId="{75DBFA16-30C9-F440-871E-6E4D6B4A35FA}" srcId="{7070283C-F51B-564E-ADD2-5207BD7324A4}" destId="{ECF02138-9475-E34A-8D1B-553F4C922C84}" srcOrd="0" destOrd="0" parTransId="{6AE4AB10-34A3-B944-A994-F6B549E56ED2}" sibTransId="{795CD7E7-1B47-1145-91D6-831E5749B997}"/>
    <dgm:cxn modelId="{2D614BEB-5681-4548-8F81-C25DAE7DA0CB}" srcId="{ECF02138-9475-E34A-8D1B-553F4C922C84}" destId="{8B21737D-1B71-FC46-88A6-A1494E58EC5F}" srcOrd="0" destOrd="0" parTransId="{1611EA80-A66B-7A43-8A6F-4FED6A203203}" sibTransId="{2356547E-DCB6-FE4F-8C1C-1E2E7E8BCB1D}"/>
    <dgm:cxn modelId="{8007BBFD-9E54-D147-ADC0-342C67536AD3}" type="presOf" srcId="{7070283C-F51B-564E-ADD2-5207BD7324A4}" destId="{9DC9E673-341C-C745-9B79-64D64BE2D4D8}" srcOrd="0" destOrd="0" presId="urn:microsoft.com/office/officeart/2005/8/layout/lProcess2"/>
    <dgm:cxn modelId="{3CE916F8-D0D0-DD48-B318-D27F1CD7BA88}" type="presOf" srcId="{FD071CAE-3750-2943-AE91-85CEF9753B90}" destId="{22AE41C0-B402-A543-AB02-6AB81E8B5A19}" srcOrd="0" destOrd="0" presId="urn:microsoft.com/office/officeart/2005/8/layout/lProcess2"/>
    <dgm:cxn modelId="{C986FF29-F35E-8F41-BEC7-DF120DD668AD}" srcId="{D6F8610A-F864-EB46-AC0D-40DC049E856B}" destId="{53888545-1CC0-3A43-9647-77770FE80854}" srcOrd="1" destOrd="0" parTransId="{A475B2C3-5F46-AE40-8EAD-C870769835E5}" sibTransId="{1C70A880-B410-D944-B7DF-2CE5D7EEF0B2}"/>
    <dgm:cxn modelId="{C184B92C-27F4-B54C-BB58-B424CF4C0FE2}" type="presOf" srcId="{2583708D-1403-B84B-9BE6-6D28B649177A}" destId="{5BEE9616-EC8C-D444-94C0-5AFA31EE4F10}" srcOrd="0" destOrd="0" presId="urn:microsoft.com/office/officeart/2005/8/layout/lProcess2"/>
    <dgm:cxn modelId="{54382761-2D73-9642-A3F6-DDF605BEC641}" type="presOf" srcId="{53888545-1CC0-3A43-9647-77770FE80854}" destId="{17251BFA-D8BC-C241-AEDE-4F1D9EBF02E9}" srcOrd="0" destOrd="0" presId="urn:microsoft.com/office/officeart/2005/8/layout/lProcess2"/>
    <dgm:cxn modelId="{B2D47A34-24D6-C841-876B-98588AC4F894}" srcId="{7070283C-F51B-564E-ADD2-5207BD7324A4}" destId="{D6F8610A-F864-EB46-AC0D-40DC049E856B}" srcOrd="2" destOrd="0" parTransId="{50D37BA5-F336-6B49-A54E-9F08AE63D8C7}" sibTransId="{5667E979-D575-D245-BB2C-E52ECB124ECF}"/>
    <dgm:cxn modelId="{C8AA62A8-A5FA-5245-8A44-237F89A28D80}" type="presParOf" srcId="{9DC9E673-341C-C745-9B79-64D64BE2D4D8}" destId="{02C724CF-30BB-EE4F-AA82-60CA09CF338F}" srcOrd="0" destOrd="0" presId="urn:microsoft.com/office/officeart/2005/8/layout/lProcess2"/>
    <dgm:cxn modelId="{A8DD2DE0-7BD9-394A-B261-48777C1BCBE3}" type="presParOf" srcId="{02C724CF-30BB-EE4F-AA82-60CA09CF338F}" destId="{9A0C673A-50E8-F84C-8463-CD1AE39E9DB1}" srcOrd="0" destOrd="0" presId="urn:microsoft.com/office/officeart/2005/8/layout/lProcess2"/>
    <dgm:cxn modelId="{A308B246-3414-D248-94AA-BFEBCDB43AF8}" type="presParOf" srcId="{02C724CF-30BB-EE4F-AA82-60CA09CF338F}" destId="{6749DDE4-C44C-8D4E-A098-E57805469A50}" srcOrd="1" destOrd="0" presId="urn:microsoft.com/office/officeart/2005/8/layout/lProcess2"/>
    <dgm:cxn modelId="{C6C7167D-2E28-0546-980A-FEF3F8CA967E}" type="presParOf" srcId="{02C724CF-30BB-EE4F-AA82-60CA09CF338F}" destId="{F1AAD280-6C2B-834A-822F-1125204A6A34}" srcOrd="2" destOrd="0" presId="urn:microsoft.com/office/officeart/2005/8/layout/lProcess2"/>
    <dgm:cxn modelId="{1EFA6B7D-1981-8243-9FE5-6868690501E7}" type="presParOf" srcId="{F1AAD280-6C2B-834A-822F-1125204A6A34}" destId="{79DC6A0A-0583-6E42-9270-37438D38BA69}" srcOrd="0" destOrd="0" presId="urn:microsoft.com/office/officeart/2005/8/layout/lProcess2"/>
    <dgm:cxn modelId="{C03DDABA-31FD-F84E-B1F3-D24600F65B50}" type="presParOf" srcId="{79DC6A0A-0583-6E42-9270-37438D38BA69}" destId="{0D90FAA2-C399-A443-9D9C-B90E712853E2}" srcOrd="0" destOrd="0" presId="urn:microsoft.com/office/officeart/2005/8/layout/lProcess2"/>
    <dgm:cxn modelId="{E616E669-0BC6-884B-A448-E637E4D7B9A5}" type="presParOf" srcId="{79DC6A0A-0583-6E42-9270-37438D38BA69}" destId="{B5099DD4-6158-554B-844A-F1B5D602C02E}" srcOrd="1" destOrd="0" presId="urn:microsoft.com/office/officeart/2005/8/layout/lProcess2"/>
    <dgm:cxn modelId="{097BD69D-24C9-A140-8463-FE95D76B9F70}" type="presParOf" srcId="{79DC6A0A-0583-6E42-9270-37438D38BA69}" destId="{A9BC5344-5BE3-B342-813E-25EEB0190A3D}" srcOrd="2" destOrd="0" presId="urn:microsoft.com/office/officeart/2005/8/layout/lProcess2"/>
    <dgm:cxn modelId="{AF69C5B2-ACD8-5440-8A9A-7D4BFD3ECD1D}" type="presParOf" srcId="{9DC9E673-341C-C745-9B79-64D64BE2D4D8}" destId="{E34F6574-5072-9A44-8FDC-D647EFB8E222}" srcOrd="1" destOrd="0" presId="urn:microsoft.com/office/officeart/2005/8/layout/lProcess2"/>
    <dgm:cxn modelId="{8F64BC33-3814-FA46-A586-36EBDC8B5ABF}" type="presParOf" srcId="{9DC9E673-341C-C745-9B79-64D64BE2D4D8}" destId="{9712C18C-462D-434D-9193-3206F40453A0}" srcOrd="2" destOrd="0" presId="urn:microsoft.com/office/officeart/2005/8/layout/lProcess2"/>
    <dgm:cxn modelId="{13634E6E-F1AE-2B4C-B167-F955A624BE78}" type="presParOf" srcId="{9712C18C-462D-434D-9193-3206F40453A0}" destId="{5BEE9616-EC8C-D444-94C0-5AFA31EE4F10}" srcOrd="0" destOrd="0" presId="urn:microsoft.com/office/officeart/2005/8/layout/lProcess2"/>
    <dgm:cxn modelId="{04952015-2E78-214B-8B7C-F65D922C965C}" type="presParOf" srcId="{9712C18C-462D-434D-9193-3206F40453A0}" destId="{89F3BE4D-7264-084A-A55B-33969E8B0AD9}" srcOrd="1" destOrd="0" presId="urn:microsoft.com/office/officeart/2005/8/layout/lProcess2"/>
    <dgm:cxn modelId="{F019B77E-40A9-054E-B654-F0CAA6053D2E}" type="presParOf" srcId="{9712C18C-462D-434D-9193-3206F40453A0}" destId="{2B1DF87C-D8AF-E041-B82E-60D000D3CF9B}" srcOrd="2" destOrd="0" presId="urn:microsoft.com/office/officeart/2005/8/layout/lProcess2"/>
    <dgm:cxn modelId="{EFF07822-A760-C342-AA91-E9D857309F79}" type="presParOf" srcId="{2B1DF87C-D8AF-E041-B82E-60D000D3CF9B}" destId="{5772E31A-2A59-5D4D-8317-FDD19EB13003}" srcOrd="0" destOrd="0" presId="urn:microsoft.com/office/officeart/2005/8/layout/lProcess2"/>
    <dgm:cxn modelId="{13FAEDDD-7DA4-B846-9B78-BB92DD4E517F}" type="presParOf" srcId="{5772E31A-2A59-5D4D-8317-FDD19EB13003}" destId="{33AAE89B-D497-3544-95EA-33D474088523}" srcOrd="0" destOrd="0" presId="urn:microsoft.com/office/officeart/2005/8/layout/lProcess2"/>
    <dgm:cxn modelId="{FD025D91-6057-944C-AC4C-5F4081C26B05}" type="presParOf" srcId="{9DC9E673-341C-C745-9B79-64D64BE2D4D8}" destId="{1EA8D54B-46C2-024C-A8BF-6C0401549B50}" srcOrd="3" destOrd="0" presId="urn:microsoft.com/office/officeart/2005/8/layout/lProcess2"/>
    <dgm:cxn modelId="{DF24907E-AEE9-C94C-B57A-0F1B21728FE8}" type="presParOf" srcId="{9DC9E673-341C-C745-9B79-64D64BE2D4D8}" destId="{26828DF2-80F1-E943-ABEA-CCA2521A2250}" srcOrd="4" destOrd="0" presId="urn:microsoft.com/office/officeart/2005/8/layout/lProcess2"/>
    <dgm:cxn modelId="{A7189300-1EB6-7742-97A3-16AD6780B119}" type="presParOf" srcId="{26828DF2-80F1-E943-ABEA-CCA2521A2250}" destId="{66530D40-7FE2-104B-B092-07B968B398DB}" srcOrd="0" destOrd="0" presId="urn:microsoft.com/office/officeart/2005/8/layout/lProcess2"/>
    <dgm:cxn modelId="{CA5C3449-F7B8-604F-8E5E-5B73428646A3}" type="presParOf" srcId="{26828DF2-80F1-E943-ABEA-CCA2521A2250}" destId="{9BD26E14-6412-E84F-BE67-9B11DCE82280}" srcOrd="1" destOrd="0" presId="urn:microsoft.com/office/officeart/2005/8/layout/lProcess2"/>
    <dgm:cxn modelId="{5750C41E-C2F4-D24E-A76A-F0DD3D645AA1}" type="presParOf" srcId="{26828DF2-80F1-E943-ABEA-CCA2521A2250}" destId="{C078CC03-EF4A-6241-B8F1-4D57CA8609CB}" srcOrd="2" destOrd="0" presId="urn:microsoft.com/office/officeart/2005/8/layout/lProcess2"/>
    <dgm:cxn modelId="{0413A1C0-BFEC-5D4A-9F0C-B662E4D9A159}" type="presParOf" srcId="{C078CC03-EF4A-6241-B8F1-4D57CA8609CB}" destId="{6E7CD7E3-2F12-844F-B581-851A1C19C665}" srcOrd="0" destOrd="0" presId="urn:microsoft.com/office/officeart/2005/8/layout/lProcess2"/>
    <dgm:cxn modelId="{844AB776-F124-E644-9389-413D0C9553AF}" type="presParOf" srcId="{6E7CD7E3-2F12-844F-B581-851A1C19C665}" destId="{5A0AA2C3-FAEA-314F-9D5E-BA261D83EA5F}" srcOrd="0" destOrd="0" presId="urn:microsoft.com/office/officeart/2005/8/layout/lProcess2"/>
    <dgm:cxn modelId="{63C05784-40EC-DC4A-BF1F-4581F738B90C}" type="presParOf" srcId="{6E7CD7E3-2F12-844F-B581-851A1C19C665}" destId="{9792A602-F17A-A844-964E-D16C171451C2}" srcOrd="1" destOrd="0" presId="urn:microsoft.com/office/officeart/2005/8/layout/lProcess2"/>
    <dgm:cxn modelId="{904D80BB-C26C-8A4D-B1E7-947530D0F239}" type="presParOf" srcId="{6E7CD7E3-2F12-844F-B581-851A1C19C665}" destId="{17251BFA-D8BC-C241-AEDE-4F1D9EBF02E9}" srcOrd="2" destOrd="0" presId="urn:microsoft.com/office/officeart/2005/8/layout/lProcess2"/>
    <dgm:cxn modelId="{1E046C29-4CAC-584D-B06D-3F3362AE033A}" type="presParOf" srcId="{6E7CD7E3-2F12-844F-B581-851A1C19C665}" destId="{9418B8B5-CA72-C94E-8736-AAC730768153}" srcOrd="3" destOrd="0" presId="urn:microsoft.com/office/officeart/2005/8/layout/lProcess2"/>
    <dgm:cxn modelId="{702FB286-E5BF-A949-9C5E-33ED67AD88D2}" type="presParOf" srcId="{6E7CD7E3-2F12-844F-B581-851A1C19C665}" destId="{22AE41C0-B402-A543-AB02-6AB81E8B5A19}" srcOrd="4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E28B31F-5B42-DA44-8FC4-D1FB88CE40D0}" type="doc">
      <dgm:prSet loTypeId="urn:microsoft.com/office/officeart/2005/8/layout/vList5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54C4666-D9AF-914A-8474-E9DFD1AC5663}">
      <dgm:prSet/>
      <dgm:spPr>
        <a:solidFill>
          <a:schemeClr val="accent3">
            <a:lumMod val="50000"/>
          </a:schemeClr>
        </a:solidFill>
        <a:ln>
          <a:solidFill>
            <a:schemeClr val="accent3">
              <a:lumMod val="50000"/>
            </a:schemeClr>
          </a:solidFill>
        </a:ln>
      </dgm:spPr>
      <dgm:t>
        <a:bodyPr/>
        <a:lstStyle/>
        <a:p>
          <a:pPr rtl="0"/>
          <a:r>
            <a:rPr lang="en-US" dirty="0" smtClean="0"/>
            <a:t>Programs execute on systems under the control of an operating system</a:t>
          </a:r>
          <a:endParaRPr lang="en-US" dirty="0"/>
        </a:p>
      </dgm:t>
    </dgm:pt>
    <dgm:pt modelId="{D65A5AFA-0E2E-4849-9F82-0A8C2618DF19}" type="parTrans" cxnId="{74E41412-ADC6-C141-BAD7-D37955DA7E8C}">
      <dgm:prSet/>
      <dgm:spPr/>
      <dgm:t>
        <a:bodyPr/>
        <a:lstStyle/>
        <a:p>
          <a:endParaRPr lang="en-US"/>
        </a:p>
      </dgm:t>
    </dgm:pt>
    <dgm:pt modelId="{8B0B4BF0-98AF-7C44-8B81-A020940DA620}" type="sibTrans" cxnId="{74E41412-ADC6-C141-BAD7-D37955DA7E8C}">
      <dgm:prSet/>
      <dgm:spPr/>
      <dgm:t>
        <a:bodyPr/>
        <a:lstStyle/>
        <a:p>
          <a:endParaRPr lang="en-US"/>
        </a:p>
      </dgm:t>
    </dgm:pt>
    <dgm:pt modelId="{9E6DB56B-CBD0-A64B-A6C3-CB5052D4E6D2}">
      <dgm:prSet custT="1"/>
      <dgm:spPr>
        <a:solidFill>
          <a:schemeClr val="accent3">
            <a:lumMod val="60000"/>
            <a:lumOff val="40000"/>
            <a:alpha val="90000"/>
          </a:schemeClr>
        </a:solidFill>
        <a:ln>
          <a:solidFill>
            <a:schemeClr val="accent3">
              <a:lumMod val="50000"/>
              <a:alpha val="90000"/>
            </a:schemeClr>
          </a:solidFill>
        </a:ln>
      </dgm:spPr>
      <dgm:t>
        <a:bodyPr/>
        <a:lstStyle/>
        <a:p>
          <a:pPr rtl="0"/>
          <a:r>
            <a:rPr lang="en-US" sz="1800" baseline="0" dirty="0" smtClean="0"/>
            <a:t>Mediates and shares access to resources</a:t>
          </a:r>
          <a:endParaRPr lang="en-US" sz="1800" baseline="0" dirty="0"/>
        </a:p>
      </dgm:t>
    </dgm:pt>
    <dgm:pt modelId="{A0B48487-B1A4-7B4A-9E3A-C970603B0B5E}" type="parTrans" cxnId="{68019C36-8562-884F-A345-E8924973C9E0}">
      <dgm:prSet/>
      <dgm:spPr/>
      <dgm:t>
        <a:bodyPr/>
        <a:lstStyle/>
        <a:p>
          <a:endParaRPr lang="en-US"/>
        </a:p>
      </dgm:t>
    </dgm:pt>
    <dgm:pt modelId="{66D92EA5-26F9-364B-9FD7-8FBB1DE9FC22}" type="sibTrans" cxnId="{68019C36-8562-884F-A345-E8924973C9E0}">
      <dgm:prSet/>
      <dgm:spPr/>
      <dgm:t>
        <a:bodyPr/>
        <a:lstStyle/>
        <a:p>
          <a:endParaRPr lang="en-US"/>
        </a:p>
      </dgm:t>
    </dgm:pt>
    <dgm:pt modelId="{8B05A535-FE85-8E4D-81DB-8FD2F0B76B17}">
      <dgm:prSet custT="1"/>
      <dgm:spPr>
        <a:solidFill>
          <a:schemeClr val="accent3">
            <a:lumMod val="60000"/>
            <a:lumOff val="40000"/>
            <a:alpha val="90000"/>
          </a:schemeClr>
        </a:solidFill>
        <a:ln>
          <a:solidFill>
            <a:schemeClr val="accent3">
              <a:lumMod val="50000"/>
              <a:alpha val="90000"/>
            </a:schemeClr>
          </a:solidFill>
        </a:ln>
      </dgm:spPr>
      <dgm:t>
        <a:bodyPr/>
        <a:lstStyle/>
        <a:p>
          <a:pPr rtl="0"/>
          <a:r>
            <a:rPr lang="en-US" sz="1800" baseline="0" dirty="0" smtClean="0"/>
            <a:t>Constructs execution environment</a:t>
          </a:r>
          <a:endParaRPr lang="en-US" sz="1800" baseline="0" dirty="0"/>
        </a:p>
      </dgm:t>
    </dgm:pt>
    <dgm:pt modelId="{0911D465-5083-CF4E-B524-EB2ABC75C3DC}" type="parTrans" cxnId="{192C5D85-7BE0-AB46-A366-B2809F129B2F}">
      <dgm:prSet/>
      <dgm:spPr/>
      <dgm:t>
        <a:bodyPr/>
        <a:lstStyle/>
        <a:p>
          <a:endParaRPr lang="en-US"/>
        </a:p>
      </dgm:t>
    </dgm:pt>
    <dgm:pt modelId="{FCAADC71-4494-4F4E-90D3-371655BB12B9}" type="sibTrans" cxnId="{192C5D85-7BE0-AB46-A366-B2809F129B2F}">
      <dgm:prSet/>
      <dgm:spPr/>
      <dgm:t>
        <a:bodyPr/>
        <a:lstStyle/>
        <a:p>
          <a:endParaRPr lang="en-US"/>
        </a:p>
      </dgm:t>
    </dgm:pt>
    <dgm:pt modelId="{4A3DD629-3F3B-B440-B80F-54D0685726D8}">
      <dgm:prSet custT="1"/>
      <dgm:spPr>
        <a:solidFill>
          <a:schemeClr val="accent3">
            <a:lumMod val="60000"/>
            <a:lumOff val="40000"/>
            <a:alpha val="90000"/>
          </a:schemeClr>
        </a:solidFill>
        <a:ln>
          <a:solidFill>
            <a:schemeClr val="accent3">
              <a:lumMod val="50000"/>
              <a:alpha val="90000"/>
            </a:schemeClr>
          </a:solidFill>
        </a:ln>
      </dgm:spPr>
      <dgm:t>
        <a:bodyPr/>
        <a:lstStyle/>
        <a:p>
          <a:pPr rtl="0"/>
          <a:r>
            <a:rPr lang="en-US" sz="1800" baseline="0" dirty="0" smtClean="0"/>
            <a:t>Includes environment variables and arguments</a:t>
          </a:r>
          <a:endParaRPr lang="en-US" sz="1800" baseline="0" dirty="0"/>
        </a:p>
      </dgm:t>
    </dgm:pt>
    <dgm:pt modelId="{1B1BE635-ED1B-4C4F-94A5-4835B8CBCBE6}" type="parTrans" cxnId="{9436A8F9-DCFB-9541-800A-0541429B3667}">
      <dgm:prSet/>
      <dgm:spPr/>
      <dgm:t>
        <a:bodyPr/>
        <a:lstStyle/>
        <a:p>
          <a:endParaRPr lang="en-US"/>
        </a:p>
      </dgm:t>
    </dgm:pt>
    <dgm:pt modelId="{200EA489-341B-124F-927A-9D42264CBD83}" type="sibTrans" cxnId="{9436A8F9-DCFB-9541-800A-0541429B3667}">
      <dgm:prSet/>
      <dgm:spPr/>
      <dgm:t>
        <a:bodyPr/>
        <a:lstStyle/>
        <a:p>
          <a:endParaRPr lang="en-US"/>
        </a:p>
      </dgm:t>
    </dgm:pt>
    <dgm:pt modelId="{81720A12-3A79-FB46-A74A-E1B484AD22C2}">
      <dgm:prSet/>
      <dgm:spPr>
        <a:solidFill>
          <a:schemeClr val="accent5">
            <a:lumMod val="50000"/>
          </a:schemeClr>
        </a:solidFill>
        <a:ln>
          <a:solidFill>
            <a:schemeClr val="accent5">
              <a:lumMod val="50000"/>
            </a:schemeClr>
          </a:solidFill>
        </a:ln>
      </dgm:spPr>
      <dgm:t>
        <a:bodyPr/>
        <a:lstStyle/>
        <a:p>
          <a:pPr rtl="0"/>
          <a:r>
            <a:rPr lang="en-US" smtClean="0"/>
            <a:t>Systems have a concept of multiple users</a:t>
          </a:r>
          <a:endParaRPr lang="en-US"/>
        </a:p>
      </dgm:t>
    </dgm:pt>
    <dgm:pt modelId="{60BFA1E6-41A5-D742-8F17-82DDF4A07AAF}" type="parTrans" cxnId="{85BFDC38-2C05-A444-BEC8-CF313A5BE8A0}">
      <dgm:prSet/>
      <dgm:spPr/>
      <dgm:t>
        <a:bodyPr/>
        <a:lstStyle/>
        <a:p>
          <a:endParaRPr lang="en-US"/>
        </a:p>
      </dgm:t>
    </dgm:pt>
    <dgm:pt modelId="{EE049331-57D5-9445-B1CA-40C989B3C2DA}" type="sibTrans" cxnId="{85BFDC38-2C05-A444-BEC8-CF313A5BE8A0}">
      <dgm:prSet/>
      <dgm:spPr/>
      <dgm:t>
        <a:bodyPr/>
        <a:lstStyle/>
        <a:p>
          <a:endParaRPr lang="en-US"/>
        </a:p>
      </dgm:t>
    </dgm:pt>
    <dgm:pt modelId="{68629FE6-BFA3-3746-8BE0-10B2C45CF8AE}">
      <dgm:prSet custT="1"/>
      <dgm:spPr>
        <a:solidFill>
          <a:schemeClr val="accent5">
            <a:lumMod val="60000"/>
            <a:lumOff val="40000"/>
            <a:alpha val="90000"/>
          </a:schemeClr>
        </a:solidFill>
        <a:ln>
          <a:solidFill>
            <a:schemeClr val="accent5">
              <a:lumMod val="50000"/>
              <a:alpha val="90000"/>
            </a:schemeClr>
          </a:solidFill>
        </a:ln>
      </dgm:spPr>
      <dgm:t>
        <a:bodyPr/>
        <a:lstStyle/>
        <a:p>
          <a:pPr rtl="0"/>
          <a:r>
            <a:rPr lang="en-US" sz="1800" dirty="0" smtClean="0"/>
            <a:t>Resources are owned by a user and have permissions granting access with various rights to different categories of users</a:t>
          </a:r>
          <a:endParaRPr lang="en-US" sz="1800" dirty="0"/>
        </a:p>
      </dgm:t>
    </dgm:pt>
    <dgm:pt modelId="{799FE666-B288-2A4A-B6A6-297E4AC74266}" type="parTrans" cxnId="{FD6B9564-DFC2-FC4F-A5AE-C494E3B460DD}">
      <dgm:prSet/>
      <dgm:spPr/>
      <dgm:t>
        <a:bodyPr/>
        <a:lstStyle/>
        <a:p>
          <a:endParaRPr lang="en-US"/>
        </a:p>
      </dgm:t>
    </dgm:pt>
    <dgm:pt modelId="{DD927747-9D58-054B-915F-7B94B9AE3CB2}" type="sibTrans" cxnId="{FD6B9564-DFC2-FC4F-A5AE-C494E3B460DD}">
      <dgm:prSet/>
      <dgm:spPr/>
      <dgm:t>
        <a:bodyPr/>
        <a:lstStyle/>
        <a:p>
          <a:endParaRPr lang="en-US"/>
        </a:p>
      </dgm:t>
    </dgm:pt>
    <dgm:pt modelId="{4A7C389A-36C9-5D49-A523-F35AE0AE8C6B}">
      <dgm:prSet custT="1"/>
      <dgm:spPr>
        <a:solidFill>
          <a:schemeClr val="accent5">
            <a:lumMod val="60000"/>
            <a:lumOff val="40000"/>
            <a:alpha val="90000"/>
          </a:schemeClr>
        </a:solidFill>
        <a:ln>
          <a:solidFill>
            <a:schemeClr val="accent5">
              <a:lumMod val="50000"/>
              <a:alpha val="90000"/>
            </a:schemeClr>
          </a:solidFill>
        </a:ln>
      </dgm:spPr>
      <dgm:t>
        <a:bodyPr/>
        <a:lstStyle/>
        <a:p>
          <a:pPr rtl="0"/>
          <a:r>
            <a:rPr lang="en-US" sz="1800" dirty="0" smtClean="0"/>
            <a:t>Programs need access to various resources, however excessive levels of access are dangerous</a:t>
          </a:r>
          <a:endParaRPr lang="en-US" sz="1800" dirty="0"/>
        </a:p>
      </dgm:t>
    </dgm:pt>
    <dgm:pt modelId="{D2826BEF-855E-D448-AB55-7F67C1C45727}" type="parTrans" cxnId="{E341C409-25CA-3E49-A119-F75057FC1359}">
      <dgm:prSet/>
      <dgm:spPr/>
      <dgm:t>
        <a:bodyPr/>
        <a:lstStyle/>
        <a:p>
          <a:endParaRPr lang="en-US"/>
        </a:p>
      </dgm:t>
    </dgm:pt>
    <dgm:pt modelId="{375F1E0F-ACA9-8B4E-9671-CAE42C759E03}" type="sibTrans" cxnId="{E341C409-25CA-3E49-A119-F75057FC1359}">
      <dgm:prSet/>
      <dgm:spPr/>
      <dgm:t>
        <a:bodyPr/>
        <a:lstStyle/>
        <a:p>
          <a:endParaRPr lang="en-US"/>
        </a:p>
      </dgm:t>
    </dgm:pt>
    <dgm:pt modelId="{CEA35B31-B1C9-8145-AC82-10D3158FFE80}">
      <dgm:prSet custT="1"/>
      <dgm:spPr>
        <a:solidFill>
          <a:schemeClr val="accent5">
            <a:lumMod val="60000"/>
            <a:lumOff val="40000"/>
            <a:alpha val="90000"/>
          </a:schemeClr>
        </a:solidFill>
        <a:ln>
          <a:solidFill>
            <a:schemeClr val="accent5">
              <a:lumMod val="50000"/>
              <a:alpha val="90000"/>
            </a:schemeClr>
          </a:solidFill>
        </a:ln>
      </dgm:spPr>
      <dgm:t>
        <a:bodyPr/>
        <a:lstStyle/>
        <a:p>
          <a:pPr rtl="0"/>
          <a:r>
            <a:rPr lang="en-US" sz="1800" dirty="0" smtClean="0"/>
            <a:t>Concerns when multiple programs access shared resources such as a common file</a:t>
          </a:r>
          <a:endParaRPr lang="en-US" sz="1800" dirty="0"/>
        </a:p>
      </dgm:t>
    </dgm:pt>
    <dgm:pt modelId="{15658228-B8AE-544A-A537-E43486FE98D1}" type="parTrans" cxnId="{2C343071-5538-9048-9434-282A6C9AC7BC}">
      <dgm:prSet/>
      <dgm:spPr/>
      <dgm:t>
        <a:bodyPr/>
        <a:lstStyle/>
        <a:p>
          <a:endParaRPr lang="en-US"/>
        </a:p>
      </dgm:t>
    </dgm:pt>
    <dgm:pt modelId="{FB597081-3483-DA4B-997C-42D64905E7D2}" type="sibTrans" cxnId="{2C343071-5538-9048-9434-282A6C9AC7BC}">
      <dgm:prSet/>
      <dgm:spPr/>
      <dgm:t>
        <a:bodyPr/>
        <a:lstStyle/>
        <a:p>
          <a:endParaRPr lang="en-US"/>
        </a:p>
      </dgm:t>
    </dgm:pt>
    <dgm:pt modelId="{A30F666C-8E78-E844-A8D5-F0AEF01984D2}" type="pres">
      <dgm:prSet presAssocID="{0E28B31F-5B42-DA44-8FC4-D1FB88CE40D0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75CB495-2F04-ED49-AABA-98E53AFE69DC}" type="pres">
      <dgm:prSet presAssocID="{554C4666-D9AF-914A-8474-E9DFD1AC5663}" presName="linNode" presStyleCnt="0"/>
      <dgm:spPr/>
    </dgm:pt>
    <dgm:pt modelId="{DB6992A1-DEED-A346-BE68-6B4F51F7B3CC}" type="pres">
      <dgm:prSet presAssocID="{554C4666-D9AF-914A-8474-E9DFD1AC5663}" presName="parentText" presStyleLbl="node1" presStyleIdx="0" presStyleCnt="2" custScaleY="7805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210B8B1-FBF7-CD47-9426-75499E8C4D92}" type="pres">
      <dgm:prSet presAssocID="{554C4666-D9AF-914A-8474-E9DFD1AC5663}" presName="descendantText" presStyleLbl="align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4CAA593-2D93-1D44-B526-A643C8D20A9E}" type="pres">
      <dgm:prSet presAssocID="{8B0B4BF0-98AF-7C44-8B81-A020940DA620}" presName="sp" presStyleCnt="0"/>
      <dgm:spPr/>
    </dgm:pt>
    <dgm:pt modelId="{2B77F819-ABB1-7A41-9FCC-53C4F40E0C72}" type="pres">
      <dgm:prSet presAssocID="{81720A12-3A79-FB46-A74A-E1B484AD22C2}" presName="linNode" presStyleCnt="0"/>
      <dgm:spPr/>
    </dgm:pt>
    <dgm:pt modelId="{3DBE8127-5707-4341-A8B3-11628BD3E38A}" type="pres">
      <dgm:prSet presAssocID="{81720A12-3A79-FB46-A74A-E1B484AD22C2}" presName="parentText" presStyleLbl="node1" presStyleIdx="1" presStyleCnt="2" custScaleY="78256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91B7429-2E7E-6646-9C00-183F1E567C06}" type="pres">
      <dgm:prSet presAssocID="{81720A12-3A79-FB46-A74A-E1B484AD22C2}" presName="descendantText" presStyleLbl="alignAccFollowNode1" presStyleIdx="1" presStyleCnt="2" custScaleY="12178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C343071-5538-9048-9434-282A6C9AC7BC}" srcId="{81720A12-3A79-FB46-A74A-E1B484AD22C2}" destId="{CEA35B31-B1C9-8145-AC82-10D3158FFE80}" srcOrd="2" destOrd="0" parTransId="{15658228-B8AE-544A-A537-E43486FE98D1}" sibTransId="{FB597081-3483-DA4B-997C-42D64905E7D2}"/>
    <dgm:cxn modelId="{85BFDC38-2C05-A444-BEC8-CF313A5BE8A0}" srcId="{0E28B31F-5B42-DA44-8FC4-D1FB88CE40D0}" destId="{81720A12-3A79-FB46-A74A-E1B484AD22C2}" srcOrd="1" destOrd="0" parTransId="{60BFA1E6-41A5-D742-8F17-82DDF4A07AAF}" sibTransId="{EE049331-57D5-9445-B1CA-40C989B3C2DA}"/>
    <dgm:cxn modelId="{74E41412-ADC6-C141-BAD7-D37955DA7E8C}" srcId="{0E28B31F-5B42-DA44-8FC4-D1FB88CE40D0}" destId="{554C4666-D9AF-914A-8474-E9DFD1AC5663}" srcOrd="0" destOrd="0" parTransId="{D65A5AFA-0E2E-4849-9F82-0A8C2618DF19}" sibTransId="{8B0B4BF0-98AF-7C44-8B81-A020940DA620}"/>
    <dgm:cxn modelId="{192C5D85-7BE0-AB46-A366-B2809F129B2F}" srcId="{554C4666-D9AF-914A-8474-E9DFD1AC5663}" destId="{8B05A535-FE85-8E4D-81DB-8FD2F0B76B17}" srcOrd="1" destOrd="0" parTransId="{0911D465-5083-CF4E-B524-EB2ABC75C3DC}" sibTransId="{FCAADC71-4494-4F4E-90D3-371655BB12B9}"/>
    <dgm:cxn modelId="{56F561D7-5F9D-E44F-9745-EA312BC57516}" type="presOf" srcId="{4A7C389A-36C9-5D49-A523-F35AE0AE8C6B}" destId="{891B7429-2E7E-6646-9C00-183F1E567C06}" srcOrd="0" destOrd="1" presId="urn:microsoft.com/office/officeart/2005/8/layout/vList5"/>
    <dgm:cxn modelId="{FD6B9564-DFC2-FC4F-A5AE-C494E3B460DD}" srcId="{81720A12-3A79-FB46-A74A-E1B484AD22C2}" destId="{68629FE6-BFA3-3746-8BE0-10B2C45CF8AE}" srcOrd="0" destOrd="0" parTransId="{799FE666-B288-2A4A-B6A6-297E4AC74266}" sibTransId="{DD927747-9D58-054B-915F-7B94B9AE3CB2}"/>
    <dgm:cxn modelId="{4BFEFDBD-F9F9-AA40-B146-8EDE12D4FD1D}" type="presOf" srcId="{554C4666-D9AF-914A-8474-E9DFD1AC5663}" destId="{DB6992A1-DEED-A346-BE68-6B4F51F7B3CC}" srcOrd="0" destOrd="0" presId="urn:microsoft.com/office/officeart/2005/8/layout/vList5"/>
    <dgm:cxn modelId="{B68470DF-366F-F14B-BB41-45C66196A716}" type="presOf" srcId="{8B05A535-FE85-8E4D-81DB-8FD2F0B76B17}" destId="{6210B8B1-FBF7-CD47-9426-75499E8C4D92}" srcOrd="0" destOrd="1" presId="urn:microsoft.com/office/officeart/2005/8/layout/vList5"/>
    <dgm:cxn modelId="{9436A8F9-DCFB-9541-800A-0541429B3667}" srcId="{554C4666-D9AF-914A-8474-E9DFD1AC5663}" destId="{4A3DD629-3F3B-B440-B80F-54D0685726D8}" srcOrd="2" destOrd="0" parTransId="{1B1BE635-ED1B-4C4F-94A5-4835B8CBCBE6}" sibTransId="{200EA489-341B-124F-927A-9D42264CBD83}"/>
    <dgm:cxn modelId="{A0E4AC86-D6EE-1E4D-8679-EBA82612443C}" type="presOf" srcId="{9E6DB56B-CBD0-A64B-A6C3-CB5052D4E6D2}" destId="{6210B8B1-FBF7-CD47-9426-75499E8C4D92}" srcOrd="0" destOrd="0" presId="urn:microsoft.com/office/officeart/2005/8/layout/vList5"/>
    <dgm:cxn modelId="{914AF90E-7A3D-F94D-8C7A-A7448560D9FF}" type="presOf" srcId="{0E28B31F-5B42-DA44-8FC4-D1FB88CE40D0}" destId="{A30F666C-8E78-E844-A8D5-F0AEF01984D2}" srcOrd="0" destOrd="0" presId="urn:microsoft.com/office/officeart/2005/8/layout/vList5"/>
    <dgm:cxn modelId="{68019C36-8562-884F-A345-E8924973C9E0}" srcId="{554C4666-D9AF-914A-8474-E9DFD1AC5663}" destId="{9E6DB56B-CBD0-A64B-A6C3-CB5052D4E6D2}" srcOrd="0" destOrd="0" parTransId="{A0B48487-B1A4-7B4A-9E3A-C970603B0B5E}" sibTransId="{66D92EA5-26F9-364B-9FD7-8FBB1DE9FC22}"/>
    <dgm:cxn modelId="{18E09466-BC2D-5C4B-8205-A8ABAC51AB8A}" type="presOf" srcId="{68629FE6-BFA3-3746-8BE0-10B2C45CF8AE}" destId="{891B7429-2E7E-6646-9C00-183F1E567C06}" srcOrd="0" destOrd="0" presId="urn:microsoft.com/office/officeart/2005/8/layout/vList5"/>
    <dgm:cxn modelId="{04B89742-6344-024B-9399-D7C3B0E2F85A}" type="presOf" srcId="{81720A12-3A79-FB46-A74A-E1B484AD22C2}" destId="{3DBE8127-5707-4341-A8B3-11628BD3E38A}" srcOrd="0" destOrd="0" presId="urn:microsoft.com/office/officeart/2005/8/layout/vList5"/>
    <dgm:cxn modelId="{E341C409-25CA-3E49-A119-F75057FC1359}" srcId="{81720A12-3A79-FB46-A74A-E1B484AD22C2}" destId="{4A7C389A-36C9-5D49-A523-F35AE0AE8C6B}" srcOrd="1" destOrd="0" parTransId="{D2826BEF-855E-D448-AB55-7F67C1C45727}" sibTransId="{375F1E0F-ACA9-8B4E-9671-CAE42C759E03}"/>
    <dgm:cxn modelId="{659C3E5A-2E25-1A4E-B140-2DFDA410F4E1}" type="presOf" srcId="{4A3DD629-3F3B-B440-B80F-54D0685726D8}" destId="{6210B8B1-FBF7-CD47-9426-75499E8C4D92}" srcOrd="0" destOrd="2" presId="urn:microsoft.com/office/officeart/2005/8/layout/vList5"/>
    <dgm:cxn modelId="{E5D66E77-F189-2444-ACEC-012B08AACBDE}" type="presOf" srcId="{CEA35B31-B1C9-8145-AC82-10D3158FFE80}" destId="{891B7429-2E7E-6646-9C00-183F1E567C06}" srcOrd="0" destOrd="2" presId="urn:microsoft.com/office/officeart/2005/8/layout/vList5"/>
    <dgm:cxn modelId="{C7650017-B4FB-3F4B-A9A3-ECED6CE98ADF}" type="presParOf" srcId="{A30F666C-8E78-E844-A8D5-F0AEF01984D2}" destId="{875CB495-2F04-ED49-AABA-98E53AFE69DC}" srcOrd="0" destOrd="0" presId="urn:microsoft.com/office/officeart/2005/8/layout/vList5"/>
    <dgm:cxn modelId="{5C31A731-59E5-184A-B812-0C2251DBFF12}" type="presParOf" srcId="{875CB495-2F04-ED49-AABA-98E53AFE69DC}" destId="{DB6992A1-DEED-A346-BE68-6B4F51F7B3CC}" srcOrd="0" destOrd="0" presId="urn:microsoft.com/office/officeart/2005/8/layout/vList5"/>
    <dgm:cxn modelId="{7DC610D5-2B41-D947-87ED-F53636CC5FA0}" type="presParOf" srcId="{875CB495-2F04-ED49-AABA-98E53AFE69DC}" destId="{6210B8B1-FBF7-CD47-9426-75499E8C4D92}" srcOrd="1" destOrd="0" presId="urn:microsoft.com/office/officeart/2005/8/layout/vList5"/>
    <dgm:cxn modelId="{0800DE9B-2BCD-A549-B098-DB614363D6B4}" type="presParOf" srcId="{A30F666C-8E78-E844-A8D5-F0AEF01984D2}" destId="{44CAA593-2D93-1D44-B526-A643C8D20A9E}" srcOrd="1" destOrd="0" presId="urn:microsoft.com/office/officeart/2005/8/layout/vList5"/>
    <dgm:cxn modelId="{B7546AA0-B08B-B841-B490-B5B86FB5B4FD}" type="presParOf" srcId="{A30F666C-8E78-E844-A8D5-F0AEF01984D2}" destId="{2B77F819-ABB1-7A41-9FCC-53C4F40E0C72}" srcOrd="2" destOrd="0" presId="urn:microsoft.com/office/officeart/2005/8/layout/vList5"/>
    <dgm:cxn modelId="{01F0BA2E-16DC-6547-B213-B79B9AAFBD96}" type="presParOf" srcId="{2B77F819-ABB1-7A41-9FCC-53C4F40E0C72}" destId="{3DBE8127-5707-4341-A8B3-11628BD3E38A}" srcOrd="0" destOrd="0" presId="urn:microsoft.com/office/officeart/2005/8/layout/vList5"/>
    <dgm:cxn modelId="{A04646E8-F746-6C45-873A-F6D025BF1E9C}" type="presParOf" srcId="{2B77F819-ABB1-7A41-9FCC-53C4F40E0C72}" destId="{891B7429-2E7E-6646-9C00-183F1E567C06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94EB7FF-8F23-4746-8EAB-7933169D8F0C}" type="doc">
      <dgm:prSet loTypeId="urn:microsoft.com/office/officeart/2005/8/layout/target3" loCatId="relationship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19C4D0E-3715-9D4F-BFC1-40941C57673A}">
      <dgm:prSet/>
      <dgm:spPr>
        <a:ln>
          <a:solidFill>
            <a:schemeClr val="accent5">
              <a:lumMod val="50000"/>
            </a:schemeClr>
          </a:solidFill>
        </a:ln>
      </dgm:spPr>
      <dgm:t>
        <a:bodyPr/>
        <a:lstStyle/>
        <a:p>
          <a:pPr rtl="0"/>
          <a:r>
            <a:rPr lang="en-US" dirty="0" smtClean="0"/>
            <a:t>Collection of string values inherited by each process from its parent</a:t>
          </a:r>
          <a:endParaRPr lang="en-US" dirty="0"/>
        </a:p>
      </dgm:t>
    </dgm:pt>
    <dgm:pt modelId="{C03F4974-926A-1842-AF9D-04FF6750082D}" type="parTrans" cxnId="{FA8B7CE5-1D97-4C42-A80A-D3055444E80E}">
      <dgm:prSet/>
      <dgm:spPr/>
      <dgm:t>
        <a:bodyPr/>
        <a:lstStyle/>
        <a:p>
          <a:endParaRPr lang="en-US"/>
        </a:p>
      </dgm:t>
    </dgm:pt>
    <dgm:pt modelId="{E3E5414C-160D-1944-9E47-98521913DBE5}" type="sibTrans" cxnId="{FA8B7CE5-1D97-4C42-A80A-D3055444E80E}">
      <dgm:prSet/>
      <dgm:spPr/>
      <dgm:t>
        <a:bodyPr/>
        <a:lstStyle/>
        <a:p>
          <a:endParaRPr lang="en-US"/>
        </a:p>
      </dgm:t>
    </dgm:pt>
    <dgm:pt modelId="{73440768-D78C-7848-892D-AB45BD9853D8}">
      <dgm:prSet/>
      <dgm:spPr/>
      <dgm:t>
        <a:bodyPr/>
        <a:lstStyle/>
        <a:p>
          <a:pPr rtl="0"/>
          <a:r>
            <a:rPr lang="en-US" smtClean="0"/>
            <a:t>Can affect the way a running process behaves</a:t>
          </a:r>
          <a:endParaRPr lang="en-US"/>
        </a:p>
      </dgm:t>
    </dgm:pt>
    <dgm:pt modelId="{67102238-F3A0-F24E-921C-EFEABE7CE527}" type="parTrans" cxnId="{4A7BE2B9-AB72-F242-9E23-8224A16DD06F}">
      <dgm:prSet/>
      <dgm:spPr/>
      <dgm:t>
        <a:bodyPr/>
        <a:lstStyle/>
        <a:p>
          <a:endParaRPr lang="en-US"/>
        </a:p>
      </dgm:t>
    </dgm:pt>
    <dgm:pt modelId="{08CE5D51-9C0C-2E4B-8D31-261B11732F19}" type="sibTrans" cxnId="{4A7BE2B9-AB72-F242-9E23-8224A16DD06F}">
      <dgm:prSet/>
      <dgm:spPr/>
      <dgm:t>
        <a:bodyPr/>
        <a:lstStyle/>
        <a:p>
          <a:endParaRPr lang="en-US"/>
        </a:p>
      </dgm:t>
    </dgm:pt>
    <dgm:pt modelId="{34398AC8-15D7-2D40-B308-04FF6CC8074F}">
      <dgm:prSet/>
      <dgm:spPr/>
      <dgm:t>
        <a:bodyPr/>
        <a:lstStyle/>
        <a:p>
          <a:pPr rtl="0"/>
          <a:r>
            <a:rPr lang="en-US" dirty="0" smtClean="0"/>
            <a:t>Included in memory when it is constructed</a:t>
          </a:r>
          <a:endParaRPr lang="en-US" dirty="0"/>
        </a:p>
      </dgm:t>
    </dgm:pt>
    <dgm:pt modelId="{43972C2B-EE72-0E4C-8EF7-3858F9D49773}" type="parTrans" cxnId="{45C55418-AB63-9143-AF0B-1EE53DBFA610}">
      <dgm:prSet/>
      <dgm:spPr/>
      <dgm:t>
        <a:bodyPr/>
        <a:lstStyle/>
        <a:p>
          <a:endParaRPr lang="en-US"/>
        </a:p>
      </dgm:t>
    </dgm:pt>
    <dgm:pt modelId="{14E48668-4D79-F742-9D94-B91852C6EF9F}" type="sibTrans" cxnId="{45C55418-AB63-9143-AF0B-1EE53DBFA610}">
      <dgm:prSet/>
      <dgm:spPr/>
      <dgm:t>
        <a:bodyPr/>
        <a:lstStyle/>
        <a:p>
          <a:endParaRPr lang="en-US"/>
        </a:p>
      </dgm:t>
    </dgm:pt>
    <dgm:pt modelId="{61EAD87D-AAEC-9449-A4DE-9C244F22327A}">
      <dgm:prSet/>
      <dgm:spPr>
        <a:ln>
          <a:solidFill>
            <a:schemeClr val="accent5">
              <a:lumMod val="50000"/>
            </a:schemeClr>
          </a:solidFill>
        </a:ln>
      </dgm:spPr>
      <dgm:t>
        <a:bodyPr/>
        <a:lstStyle/>
        <a:p>
          <a:pPr rtl="0"/>
          <a:r>
            <a:rPr lang="en-US" smtClean="0"/>
            <a:t>Can be modified by the program process at any time</a:t>
          </a:r>
          <a:endParaRPr lang="en-US"/>
        </a:p>
      </dgm:t>
    </dgm:pt>
    <dgm:pt modelId="{DD964BF6-DBEC-DD47-ADD0-4DCDF38D318C}" type="parTrans" cxnId="{44DAB54C-A76B-8341-9731-6FBFA22D026D}">
      <dgm:prSet/>
      <dgm:spPr/>
      <dgm:t>
        <a:bodyPr/>
        <a:lstStyle/>
        <a:p>
          <a:endParaRPr lang="en-US"/>
        </a:p>
      </dgm:t>
    </dgm:pt>
    <dgm:pt modelId="{0EA7E6C6-E158-FE46-B56A-62B04B5921AE}" type="sibTrans" cxnId="{44DAB54C-A76B-8341-9731-6FBFA22D026D}">
      <dgm:prSet/>
      <dgm:spPr/>
      <dgm:t>
        <a:bodyPr/>
        <a:lstStyle/>
        <a:p>
          <a:endParaRPr lang="en-US"/>
        </a:p>
      </dgm:t>
    </dgm:pt>
    <dgm:pt modelId="{0A253FDA-102E-1446-AB90-F4641084C37E}">
      <dgm:prSet/>
      <dgm:spPr/>
      <dgm:t>
        <a:bodyPr/>
        <a:lstStyle/>
        <a:p>
          <a:pPr rtl="0"/>
          <a:r>
            <a:rPr lang="en-US" smtClean="0"/>
            <a:t>Modifications will be passed to its children</a:t>
          </a:r>
          <a:endParaRPr lang="en-US"/>
        </a:p>
      </dgm:t>
    </dgm:pt>
    <dgm:pt modelId="{55519127-D03E-F443-A4E4-7D084B7FED09}" type="parTrans" cxnId="{D843CA95-70D8-8340-B2B3-B6FD53F10AB3}">
      <dgm:prSet/>
      <dgm:spPr/>
      <dgm:t>
        <a:bodyPr/>
        <a:lstStyle/>
        <a:p>
          <a:endParaRPr lang="en-US"/>
        </a:p>
      </dgm:t>
    </dgm:pt>
    <dgm:pt modelId="{7E8215A8-F041-B441-9EC1-4887BCF3C740}" type="sibTrans" cxnId="{D843CA95-70D8-8340-B2B3-B6FD53F10AB3}">
      <dgm:prSet/>
      <dgm:spPr/>
      <dgm:t>
        <a:bodyPr/>
        <a:lstStyle/>
        <a:p>
          <a:endParaRPr lang="en-US"/>
        </a:p>
      </dgm:t>
    </dgm:pt>
    <dgm:pt modelId="{BE65129A-5E11-E246-B1A1-9D00791ED9ED}">
      <dgm:prSet/>
      <dgm:spPr>
        <a:ln>
          <a:solidFill>
            <a:schemeClr val="accent3">
              <a:lumMod val="50000"/>
            </a:schemeClr>
          </a:solidFill>
        </a:ln>
      </dgm:spPr>
      <dgm:t>
        <a:bodyPr/>
        <a:lstStyle/>
        <a:p>
          <a:pPr rtl="0"/>
          <a:r>
            <a:rPr lang="en-US" smtClean="0"/>
            <a:t>Another source of untrusted program input</a:t>
          </a:r>
          <a:endParaRPr lang="en-US"/>
        </a:p>
      </dgm:t>
    </dgm:pt>
    <dgm:pt modelId="{47E5E947-9DE0-5146-ACB8-B7938B9A5746}" type="parTrans" cxnId="{076E353D-DF56-F34F-AD36-82F3EC65A034}">
      <dgm:prSet/>
      <dgm:spPr/>
      <dgm:t>
        <a:bodyPr/>
        <a:lstStyle/>
        <a:p>
          <a:endParaRPr lang="en-US"/>
        </a:p>
      </dgm:t>
    </dgm:pt>
    <dgm:pt modelId="{844A2B99-AFF9-E844-B4F6-369814123D16}" type="sibTrans" cxnId="{076E353D-DF56-F34F-AD36-82F3EC65A034}">
      <dgm:prSet/>
      <dgm:spPr/>
      <dgm:t>
        <a:bodyPr/>
        <a:lstStyle/>
        <a:p>
          <a:endParaRPr lang="en-US"/>
        </a:p>
      </dgm:t>
    </dgm:pt>
    <dgm:pt modelId="{F0526512-852C-CF44-A8BB-10C36659FB13}">
      <dgm:prSet/>
      <dgm:spPr>
        <a:ln>
          <a:solidFill>
            <a:schemeClr val="accent3">
              <a:lumMod val="50000"/>
            </a:schemeClr>
          </a:solidFill>
        </a:ln>
      </dgm:spPr>
      <dgm:t>
        <a:bodyPr/>
        <a:lstStyle/>
        <a:p>
          <a:pPr rtl="0"/>
          <a:r>
            <a:rPr lang="en-US" smtClean="0"/>
            <a:t>Most common use is by a local user attempting to gain increased privileges</a:t>
          </a:r>
          <a:endParaRPr lang="en-US"/>
        </a:p>
      </dgm:t>
    </dgm:pt>
    <dgm:pt modelId="{1355DC7D-8B0D-2942-9BDF-DCF765E2E66A}" type="parTrans" cxnId="{A94F2660-29C1-8E4B-A3D5-AF3E21052867}">
      <dgm:prSet/>
      <dgm:spPr/>
      <dgm:t>
        <a:bodyPr/>
        <a:lstStyle/>
        <a:p>
          <a:endParaRPr lang="en-US"/>
        </a:p>
      </dgm:t>
    </dgm:pt>
    <dgm:pt modelId="{FF352B17-7F59-D44B-9C54-11B1A89F106A}" type="sibTrans" cxnId="{A94F2660-29C1-8E4B-A3D5-AF3E21052867}">
      <dgm:prSet/>
      <dgm:spPr/>
      <dgm:t>
        <a:bodyPr/>
        <a:lstStyle/>
        <a:p>
          <a:endParaRPr lang="en-US"/>
        </a:p>
      </dgm:t>
    </dgm:pt>
    <dgm:pt modelId="{C507DD52-A4C1-AE4A-BD5F-5705CD21148F}">
      <dgm:prSet/>
      <dgm:spPr/>
      <dgm:t>
        <a:bodyPr/>
        <a:lstStyle/>
        <a:p>
          <a:pPr rtl="0"/>
          <a:r>
            <a:rPr lang="en-US" smtClean="0"/>
            <a:t>Goal is to subvert a program that grants superuser or administrator privileges</a:t>
          </a:r>
          <a:endParaRPr lang="en-US"/>
        </a:p>
      </dgm:t>
    </dgm:pt>
    <dgm:pt modelId="{3B88C02A-819B-6B4E-8668-AA057035B1FE}" type="parTrans" cxnId="{444A30B1-5BA4-274F-A5B1-70ADF672FA64}">
      <dgm:prSet/>
      <dgm:spPr/>
      <dgm:t>
        <a:bodyPr/>
        <a:lstStyle/>
        <a:p>
          <a:endParaRPr lang="en-US"/>
        </a:p>
      </dgm:t>
    </dgm:pt>
    <dgm:pt modelId="{D3095F1E-8095-0449-BB61-9205689A5182}" type="sibTrans" cxnId="{444A30B1-5BA4-274F-A5B1-70ADF672FA64}">
      <dgm:prSet/>
      <dgm:spPr/>
      <dgm:t>
        <a:bodyPr/>
        <a:lstStyle/>
        <a:p>
          <a:endParaRPr lang="en-US"/>
        </a:p>
      </dgm:t>
    </dgm:pt>
    <dgm:pt modelId="{83641373-7B4F-9444-9675-0CA21A5510B1}" type="pres">
      <dgm:prSet presAssocID="{D94EB7FF-8F23-4746-8EAB-7933169D8F0C}" presName="Name0" presStyleCnt="0">
        <dgm:presLayoutVars>
          <dgm:chMax val="7"/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07A3757-45CB-DF4A-A5D1-9538560A8BE1}" type="pres">
      <dgm:prSet presAssocID="{219C4D0E-3715-9D4F-BFC1-40941C57673A}" presName="circle1" presStyleLbl="node1" presStyleIdx="0" presStyleCnt="4"/>
      <dgm:spPr>
        <a:solidFill>
          <a:schemeClr val="accent5">
            <a:lumMod val="75000"/>
          </a:schemeClr>
        </a:solidFill>
      </dgm:spPr>
    </dgm:pt>
    <dgm:pt modelId="{EA7BDF62-FC95-5347-87D7-71F0A3FAD726}" type="pres">
      <dgm:prSet presAssocID="{219C4D0E-3715-9D4F-BFC1-40941C57673A}" presName="space" presStyleCnt="0"/>
      <dgm:spPr/>
    </dgm:pt>
    <dgm:pt modelId="{60EE1136-4C88-EA48-AD35-92CA90C8A6EA}" type="pres">
      <dgm:prSet presAssocID="{219C4D0E-3715-9D4F-BFC1-40941C57673A}" presName="rect1" presStyleLbl="alignAcc1" presStyleIdx="0" presStyleCnt="4"/>
      <dgm:spPr/>
      <dgm:t>
        <a:bodyPr/>
        <a:lstStyle/>
        <a:p>
          <a:endParaRPr lang="en-US"/>
        </a:p>
      </dgm:t>
    </dgm:pt>
    <dgm:pt modelId="{5A87ABA7-CD59-AD44-9845-3014EF36E44B}" type="pres">
      <dgm:prSet presAssocID="{61EAD87D-AAEC-9449-A4DE-9C244F22327A}" presName="vertSpace2" presStyleLbl="node1" presStyleIdx="0" presStyleCnt="4"/>
      <dgm:spPr/>
    </dgm:pt>
    <dgm:pt modelId="{6450C047-EB5F-6540-9784-B2E20B81D489}" type="pres">
      <dgm:prSet presAssocID="{61EAD87D-AAEC-9449-A4DE-9C244F22327A}" presName="circle2" presStyleLbl="node1" presStyleIdx="1" presStyleCnt="4"/>
      <dgm:spPr>
        <a:solidFill>
          <a:schemeClr val="accent6">
            <a:lumMod val="50000"/>
          </a:schemeClr>
        </a:solidFill>
      </dgm:spPr>
    </dgm:pt>
    <dgm:pt modelId="{F83609B6-FDC8-D04A-A3CA-84A665A6C4B1}" type="pres">
      <dgm:prSet presAssocID="{61EAD87D-AAEC-9449-A4DE-9C244F22327A}" presName="rect2" presStyleLbl="alignAcc1" presStyleIdx="1" presStyleCnt="4"/>
      <dgm:spPr/>
      <dgm:t>
        <a:bodyPr/>
        <a:lstStyle/>
        <a:p>
          <a:endParaRPr lang="en-US"/>
        </a:p>
      </dgm:t>
    </dgm:pt>
    <dgm:pt modelId="{ED602213-94A2-454A-BE2F-88F4A87B326D}" type="pres">
      <dgm:prSet presAssocID="{BE65129A-5E11-E246-B1A1-9D00791ED9ED}" presName="vertSpace3" presStyleLbl="node1" presStyleIdx="1" presStyleCnt="4"/>
      <dgm:spPr/>
    </dgm:pt>
    <dgm:pt modelId="{BB578BAA-725A-1E42-8B21-D0F8597D8908}" type="pres">
      <dgm:prSet presAssocID="{BE65129A-5E11-E246-B1A1-9D00791ED9ED}" presName="circle3" presStyleLbl="node1" presStyleIdx="2" presStyleCnt="4"/>
      <dgm:spPr>
        <a:solidFill>
          <a:schemeClr val="accent3">
            <a:lumMod val="75000"/>
          </a:schemeClr>
        </a:solidFill>
      </dgm:spPr>
    </dgm:pt>
    <dgm:pt modelId="{162DA678-A53D-0741-98AF-A7408EFFA161}" type="pres">
      <dgm:prSet presAssocID="{BE65129A-5E11-E246-B1A1-9D00791ED9ED}" presName="rect3" presStyleLbl="alignAcc1" presStyleIdx="2" presStyleCnt="4"/>
      <dgm:spPr/>
      <dgm:t>
        <a:bodyPr/>
        <a:lstStyle/>
        <a:p>
          <a:endParaRPr lang="en-US"/>
        </a:p>
      </dgm:t>
    </dgm:pt>
    <dgm:pt modelId="{C20C7C3F-5D9B-BF44-A229-A926AEBDD1C0}" type="pres">
      <dgm:prSet presAssocID="{F0526512-852C-CF44-A8BB-10C36659FB13}" presName="vertSpace4" presStyleLbl="node1" presStyleIdx="2" presStyleCnt="4"/>
      <dgm:spPr/>
    </dgm:pt>
    <dgm:pt modelId="{D1A98619-4835-9C41-8A1A-D308AB576BDD}" type="pres">
      <dgm:prSet presAssocID="{F0526512-852C-CF44-A8BB-10C36659FB13}" presName="circle4" presStyleLbl="node1" presStyleIdx="3" presStyleCnt="4"/>
      <dgm:spPr>
        <a:solidFill>
          <a:schemeClr val="accent4">
            <a:lumMod val="75000"/>
          </a:schemeClr>
        </a:solidFill>
      </dgm:spPr>
    </dgm:pt>
    <dgm:pt modelId="{8E5741C1-4768-3643-BA82-54DB29D135EC}" type="pres">
      <dgm:prSet presAssocID="{F0526512-852C-CF44-A8BB-10C36659FB13}" presName="rect4" presStyleLbl="alignAcc1" presStyleIdx="3" presStyleCnt="4"/>
      <dgm:spPr/>
      <dgm:t>
        <a:bodyPr/>
        <a:lstStyle/>
        <a:p>
          <a:endParaRPr lang="en-US"/>
        </a:p>
      </dgm:t>
    </dgm:pt>
    <dgm:pt modelId="{4CB5F6EF-4E7E-EE40-B804-79D3A56B88E5}" type="pres">
      <dgm:prSet presAssocID="{219C4D0E-3715-9D4F-BFC1-40941C57673A}" presName="rect1ParTx" presStyleLbl="alignAcc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65BD3EB-EEE8-1A4C-BCAB-B28F8A61BA17}" type="pres">
      <dgm:prSet presAssocID="{219C4D0E-3715-9D4F-BFC1-40941C57673A}" presName="rect1ChTx" presStyleLbl="alignAcc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6BC1531-D12E-204F-8E54-A7000B67BE44}" type="pres">
      <dgm:prSet presAssocID="{61EAD87D-AAEC-9449-A4DE-9C244F22327A}" presName="rect2ParTx" presStyleLbl="alignAcc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8E065B8-C607-AB44-B76C-D81C1AF0DF62}" type="pres">
      <dgm:prSet presAssocID="{61EAD87D-AAEC-9449-A4DE-9C244F22327A}" presName="rect2ChTx" presStyleLbl="alignAcc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E5081A7-9B4D-9D47-AB5A-6882E6C72995}" type="pres">
      <dgm:prSet presAssocID="{BE65129A-5E11-E246-B1A1-9D00791ED9ED}" presName="rect3ParTx" presStyleLbl="alignAcc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D739897-512C-FB42-9E6F-E851799FCEE0}" type="pres">
      <dgm:prSet presAssocID="{BE65129A-5E11-E246-B1A1-9D00791ED9ED}" presName="rect3ChTx" presStyleLbl="alignAcc1" presStyleIdx="3" presStyleCnt="4">
        <dgm:presLayoutVars>
          <dgm:bulletEnabled val="1"/>
        </dgm:presLayoutVars>
      </dgm:prSet>
      <dgm:spPr/>
    </dgm:pt>
    <dgm:pt modelId="{083A4E96-C610-0847-B39D-429E4341AC85}" type="pres">
      <dgm:prSet presAssocID="{F0526512-852C-CF44-A8BB-10C36659FB13}" presName="rect4ParTx" presStyleLbl="alignAcc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E9AC49C-ABDF-7340-8579-F5B115A7A8D0}" type="pres">
      <dgm:prSet presAssocID="{F0526512-852C-CF44-A8BB-10C36659FB13}" presName="rect4ChTx" presStyleLbl="alignAcc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A7BE2B9-AB72-F242-9E23-8224A16DD06F}" srcId="{219C4D0E-3715-9D4F-BFC1-40941C57673A}" destId="{73440768-D78C-7848-892D-AB45BD9853D8}" srcOrd="0" destOrd="0" parTransId="{67102238-F3A0-F24E-921C-EFEABE7CE527}" sibTransId="{08CE5D51-9C0C-2E4B-8D31-261B11732F19}"/>
    <dgm:cxn modelId="{444A30B1-5BA4-274F-A5B1-70ADF672FA64}" srcId="{F0526512-852C-CF44-A8BB-10C36659FB13}" destId="{C507DD52-A4C1-AE4A-BD5F-5705CD21148F}" srcOrd="0" destOrd="0" parTransId="{3B88C02A-819B-6B4E-8668-AA057035B1FE}" sibTransId="{D3095F1E-8095-0449-BB61-9205689A5182}"/>
    <dgm:cxn modelId="{EA261B0A-B13D-054F-A4F0-A61483B9CB26}" type="presOf" srcId="{D94EB7FF-8F23-4746-8EAB-7933169D8F0C}" destId="{83641373-7B4F-9444-9675-0CA21A5510B1}" srcOrd="0" destOrd="0" presId="urn:microsoft.com/office/officeart/2005/8/layout/target3"/>
    <dgm:cxn modelId="{E5376FBD-8BF0-344C-A292-69FF0236B718}" type="presOf" srcId="{73440768-D78C-7848-892D-AB45BD9853D8}" destId="{165BD3EB-EEE8-1A4C-BCAB-B28F8A61BA17}" srcOrd="0" destOrd="0" presId="urn:microsoft.com/office/officeart/2005/8/layout/target3"/>
    <dgm:cxn modelId="{076E353D-DF56-F34F-AD36-82F3EC65A034}" srcId="{D94EB7FF-8F23-4746-8EAB-7933169D8F0C}" destId="{BE65129A-5E11-E246-B1A1-9D00791ED9ED}" srcOrd="2" destOrd="0" parTransId="{47E5E947-9DE0-5146-ACB8-B7938B9A5746}" sibTransId="{844A2B99-AFF9-E844-B4F6-369814123D16}"/>
    <dgm:cxn modelId="{FA8B7CE5-1D97-4C42-A80A-D3055444E80E}" srcId="{D94EB7FF-8F23-4746-8EAB-7933169D8F0C}" destId="{219C4D0E-3715-9D4F-BFC1-40941C57673A}" srcOrd="0" destOrd="0" parTransId="{C03F4974-926A-1842-AF9D-04FF6750082D}" sibTransId="{E3E5414C-160D-1944-9E47-98521913DBE5}"/>
    <dgm:cxn modelId="{44DAB54C-A76B-8341-9731-6FBFA22D026D}" srcId="{D94EB7FF-8F23-4746-8EAB-7933169D8F0C}" destId="{61EAD87D-AAEC-9449-A4DE-9C244F22327A}" srcOrd="1" destOrd="0" parTransId="{DD964BF6-DBEC-DD47-ADD0-4DCDF38D318C}" sibTransId="{0EA7E6C6-E158-FE46-B56A-62B04B5921AE}"/>
    <dgm:cxn modelId="{87E774E1-45B0-9441-92F9-8DC5D562AFE3}" type="presOf" srcId="{BE65129A-5E11-E246-B1A1-9D00791ED9ED}" destId="{162DA678-A53D-0741-98AF-A7408EFFA161}" srcOrd="0" destOrd="0" presId="urn:microsoft.com/office/officeart/2005/8/layout/target3"/>
    <dgm:cxn modelId="{94C8F0C6-E4D9-A047-A541-14543B075A6C}" type="presOf" srcId="{219C4D0E-3715-9D4F-BFC1-40941C57673A}" destId="{60EE1136-4C88-EA48-AD35-92CA90C8A6EA}" srcOrd="0" destOrd="0" presId="urn:microsoft.com/office/officeart/2005/8/layout/target3"/>
    <dgm:cxn modelId="{23EC7813-1445-0545-A073-605B2459ACA9}" type="presOf" srcId="{C507DD52-A4C1-AE4A-BD5F-5705CD21148F}" destId="{6E9AC49C-ABDF-7340-8579-F5B115A7A8D0}" srcOrd="0" destOrd="0" presId="urn:microsoft.com/office/officeart/2005/8/layout/target3"/>
    <dgm:cxn modelId="{3177D409-7423-4842-9662-D48F64ACCF76}" type="presOf" srcId="{34398AC8-15D7-2D40-B308-04FF6CC8074F}" destId="{165BD3EB-EEE8-1A4C-BCAB-B28F8A61BA17}" srcOrd="0" destOrd="1" presId="urn:microsoft.com/office/officeart/2005/8/layout/target3"/>
    <dgm:cxn modelId="{40990F36-97BF-214F-A30C-91C9B8D6F29D}" type="presOf" srcId="{61EAD87D-AAEC-9449-A4DE-9C244F22327A}" destId="{F83609B6-FDC8-D04A-A3CA-84A665A6C4B1}" srcOrd="0" destOrd="0" presId="urn:microsoft.com/office/officeart/2005/8/layout/target3"/>
    <dgm:cxn modelId="{CACBA31B-C314-1345-9328-EE85D72C80FD}" type="presOf" srcId="{F0526512-852C-CF44-A8BB-10C36659FB13}" destId="{083A4E96-C610-0847-B39D-429E4341AC85}" srcOrd="1" destOrd="0" presId="urn:microsoft.com/office/officeart/2005/8/layout/target3"/>
    <dgm:cxn modelId="{D843CA95-70D8-8340-B2B3-B6FD53F10AB3}" srcId="{61EAD87D-AAEC-9449-A4DE-9C244F22327A}" destId="{0A253FDA-102E-1446-AB90-F4641084C37E}" srcOrd="0" destOrd="0" parTransId="{55519127-D03E-F443-A4E4-7D084B7FED09}" sibTransId="{7E8215A8-F041-B441-9EC1-4887BCF3C740}"/>
    <dgm:cxn modelId="{45EAD024-D3D9-4646-A836-2F69B167BE74}" type="presOf" srcId="{BE65129A-5E11-E246-B1A1-9D00791ED9ED}" destId="{FE5081A7-9B4D-9D47-AB5A-6882E6C72995}" srcOrd="1" destOrd="0" presId="urn:microsoft.com/office/officeart/2005/8/layout/target3"/>
    <dgm:cxn modelId="{A94F2660-29C1-8E4B-A3D5-AF3E21052867}" srcId="{D94EB7FF-8F23-4746-8EAB-7933169D8F0C}" destId="{F0526512-852C-CF44-A8BB-10C36659FB13}" srcOrd="3" destOrd="0" parTransId="{1355DC7D-8B0D-2942-9BDF-DCF765E2E66A}" sibTransId="{FF352B17-7F59-D44B-9C54-11B1A89F106A}"/>
    <dgm:cxn modelId="{4FD2CAD8-5D58-1B42-B3B7-BD973E849F05}" type="presOf" srcId="{F0526512-852C-CF44-A8BB-10C36659FB13}" destId="{8E5741C1-4768-3643-BA82-54DB29D135EC}" srcOrd="0" destOrd="0" presId="urn:microsoft.com/office/officeart/2005/8/layout/target3"/>
    <dgm:cxn modelId="{8FA12F7E-FED2-B642-9EC7-E92B567E0779}" type="presOf" srcId="{219C4D0E-3715-9D4F-BFC1-40941C57673A}" destId="{4CB5F6EF-4E7E-EE40-B804-79D3A56B88E5}" srcOrd="1" destOrd="0" presId="urn:microsoft.com/office/officeart/2005/8/layout/target3"/>
    <dgm:cxn modelId="{2B946DB0-BEA3-964B-A333-084E0566A4AF}" type="presOf" srcId="{0A253FDA-102E-1446-AB90-F4641084C37E}" destId="{18E065B8-C607-AB44-B76C-D81C1AF0DF62}" srcOrd="0" destOrd="0" presId="urn:microsoft.com/office/officeart/2005/8/layout/target3"/>
    <dgm:cxn modelId="{45C55418-AB63-9143-AF0B-1EE53DBFA610}" srcId="{219C4D0E-3715-9D4F-BFC1-40941C57673A}" destId="{34398AC8-15D7-2D40-B308-04FF6CC8074F}" srcOrd="1" destOrd="0" parTransId="{43972C2B-EE72-0E4C-8EF7-3858F9D49773}" sibTransId="{14E48668-4D79-F742-9D94-B91852C6EF9F}"/>
    <dgm:cxn modelId="{02B85620-0203-CC40-82BF-48694FFDB549}" type="presOf" srcId="{61EAD87D-AAEC-9449-A4DE-9C244F22327A}" destId="{56BC1531-D12E-204F-8E54-A7000B67BE44}" srcOrd="1" destOrd="0" presId="urn:microsoft.com/office/officeart/2005/8/layout/target3"/>
    <dgm:cxn modelId="{21AC8BB4-703B-CF48-882D-2831991E35AC}" type="presParOf" srcId="{83641373-7B4F-9444-9675-0CA21A5510B1}" destId="{107A3757-45CB-DF4A-A5D1-9538560A8BE1}" srcOrd="0" destOrd="0" presId="urn:microsoft.com/office/officeart/2005/8/layout/target3"/>
    <dgm:cxn modelId="{FB5DDFA3-9C52-C94E-ACA2-B1D802EE6209}" type="presParOf" srcId="{83641373-7B4F-9444-9675-0CA21A5510B1}" destId="{EA7BDF62-FC95-5347-87D7-71F0A3FAD726}" srcOrd="1" destOrd="0" presId="urn:microsoft.com/office/officeart/2005/8/layout/target3"/>
    <dgm:cxn modelId="{CBE2F13D-81D6-C540-A34B-6C2D6269B4ED}" type="presParOf" srcId="{83641373-7B4F-9444-9675-0CA21A5510B1}" destId="{60EE1136-4C88-EA48-AD35-92CA90C8A6EA}" srcOrd="2" destOrd="0" presId="urn:microsoft.com/office/officeart/2005/8/layout/target3"/>
    <dgm:cxn modelId="{6CB99556-0E2E-3C4B-A7F3-FDED03C5EF66}" type="presParOf" srcId="{83641373-7B4F-9444-9675-0CA21A5510B1}" destId="{5A87ABA7-CD59-AD44-9845-3014EF36E44B}" srcOrd="3" destOrd="0" presId="urn:microsoft.com/office/officeart/2005/8/layout/target3"/>
    <dgm:cxn modelId="{B3F436F2-E1A1-4443-B28B-A5650EDB28E7}" type="presParOf" srcId="{83641373-7B4F-9444-9675-0CA21A5510B1}" destId="{6450C047-EB5F-6540-9784-B2E20B81D489}" srcOrd="4" destOrd="0" presId="urn:microsoft.com/office/officeart/2005/8/layout/target3"/>
    <dgm:cxn modelId="{A3AECA6E-A598-2843-9AC3-F3AE7A8B4DE2}" type="presParOf" srcId="{83641373-7B4F-9444-9675-0CA21A5510B1}" destId="{F83609B6-FDC8-D04A-A3CA-84A665A6C4B1}" srcOrd="5" destOrd="0" presId="urn:microsoft.com/office/officeart/2005/8/layout/target3"/>
    <dgm:cxn modelId="{E558CD96-8257-DB4E-B6A0-DCB458DE715D}" type="presParOf" srcId="{83641373-7B4F-9444-9675-0CA21A5510B1}" destId="{ED602213-94A2-454A-BE2F-88F4A87B326D}" srcOrd="6" destOrd="0" presId="urn:microsoft.com/office/officeart/2005/8/layout/target3"/>
    <dgm:cxn modelId="{769F98D7-9EC7-6849-9836-78570FE681E6}" type="presParOf" srcId="{83641373-7B4F-9444-9675-0CA21A5510B1}" destId="{BB578BAA-725A-1E42-8B21-D0F8597D8908}" srcOrd="7" destOrd="0" presId="urn:microsoft.com/office/officeart/2005/8/layout/target3"/>
    <dgm:cxn modelId="{4DCCE092-7C34-0041-8220-EF7A28418D56}" type="presParOf" srcId="{83641373-7B4F-9444-9675-0CA21A5510B1}" destId="{162DA678-A53D-0741-98AF-A7408EFFA161}" srcOrd="8" destOrd="0" presId="urn:microsoft.com/office/officeart/2005/8/layout/target3"/>
    <dgm:cxn modelId="{6BF93CAF-61A9-0C40-B1E4-C17F09F5DE26}" type="presParOf" srcId="{83641373-7B4F-9444-9675-0CA21A5510B1}" destId="{C20C7C3F-5D9B-BF44-A229-A926AEBDD1C0}" srcOrd="9" destOrd="0" presId="urn:microsoft.com/office/officeart/2005/8/layout/target3"/>
    <dgm:cxn modelId="{2A87F3BB-18DD-CB43-87F0-86873594275D}" type="presParOf" srcId="{83641373-7B4F-9444-9675-0CA21A5510B1}" destId="{D1A98619-4835-9C41-8A1A-D308AB576BDD}" srcOrd="10" destOrd="0" presId="urn:microsoft.com/office/officeart/2005/8/layout/target3"/>
    <dgm:cxn modelId="{4F34DABF-241B-9B4B-B2A8-62AEC046F19C}" type="presParOf" srcId="{83641373-7B4F-9444-9675-0CA21A5510B1}" destId="{8E5741C1-4768-3643-BA82-54DB29D135EC}" srcOrd="11" destOrd="0" presId="urn:microsoft.com/office/officeart/2005/8/layout/target3"/>
    <dgm:cxn modelId="{9FC6CB2B-8B4C-5240-8F3D-74A54B34BB56}" type="presParOf" srcId="{83641373-7B4F-9444-9675-0CA21A5510B1}" destId="{4CB5F6EF-4E7E-EE40-B804-79D3A56B88E5}" srcOrd="12" destOrd="0" presId="urn:microsoft.com/office/officeart/2005/8/layout/target3"/>
    <dgm:cxn modelId="{2BFBE74F-9722-6743-820A-DA19F46170B4}" type="presParOf" srcId="{83641373-7B4F-9444-9675-0CA21A5510B1}" destId="{165BD3EB-EEE8-1A4C-BCAB-B28F8A61BA17}" srcOrd="13" destOrd="0" presId="urn:microsoft.com/office/officeart/2005/8/layout/target3"/>
    <dgm:cxn modelId="{21C03827-1A12-2242-8F33-B5070B3C7E85}" type="presParOf" srcId="{83641373-7B4F-9444-9675-0CA21A5510B1}" destId="{56BC1531-D12E-204F-8E54-A7000B67BE44}" srcOrd="14" destOrd="0" presId="urn:microsoft.com/office/officeart/2005/8/layout/target3"/>
    <dgm:cxn modelId="{7091686B-7C43-C141-842D-AAA7139C7349}" type="presParOf" srcId="{83641373-7B4F-9444-9675-0CA21A5510B1}" destId="{18E065B8-C607-AB44-B76C-D81C1AF0DF62}" srcOrd="15" destOrd="0" presId="urn:microsoft.com/office/officeart/2005/8/layout/target3"/>
    <dgm:cxn modelId="{26136EB3-7E35-E843-8D7F-C4C891E600B8}" type="presParOf" srcId="{83641373-7B4F-9444-9675-0CA21A5510B1}" destId="{FE5081A7-9B4D-9D47-AB5A-6882E6C72995}" srcOrd="16" destOrd="0" presId="urn:microsoft.com/office/officeart/2005/8/layout/target3"/>
    <dgm:cxn modelId="{0F9A7E62-68E9-2647-A5BA-EF384FBD37B4}" type="presParOf" srcId="{83641373-7B4F-9444-9675-0CA21A5510B1}" destId="{AD739897-512C-FB42-9E6F-E851799FCEE0}" srcOrd="17" destOrd="0" presId="urn:microsoft.com/office/officeart/2005/8/layout/target3"/>
    <dgm:cxn modelId="{127AE164-3922-324C-95F4-21920A461B96}" type="presParOf" srcId="{83641373-7B4F-9444-9675-0CA21A5510B1}" destId="{083A4E96-C610-0847-B39D-429E4341AC85}" srcOrd="18" destOrd="0" presId="urn:microsoft.com/office/officeart/2005/8/layout/target3"/>
    <dgm:cxn modelId="{D06A06C7-8A94-6A4D-8B61-637A138406B7}" type="presParOf" srcId="{83641373-7B4F-9444-9675-0CA21A5510B1}" destId="{6E9AC49C-ABDF-7340-8579-F5B115A7A8D0}" srcOrd="19" destOrd="0" presId="urn:microsoft.com/office/officeart/2005/8/layout/target3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2EAD213-01C3-1746-9505-2C4104907F00}" type="doc">
      <dgm:prSet loTypeId="urn:microsoft.com/office/officeart/2005/8/layout/vList2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DA0DCFB-07C7-114C-9B9C-8BB48BEE3179}">
      <dgm:prSet/>
      <dgm:spPr>
        <a:solidFill>
          <a:schemeClr val="accent3">
            <a:lumMod val="75000"/>
          </a:schemeClr>
        </a:solidFill>
      </dgm:spPr>
      <dgm:t>
        <a:bodyPr/>
        <a:lstStyle/>
        <a:p>
          <a:pPr rtl="0"/>
          <a:r>
            <a:rPr lang="en-US" dirty="0" smtClean="0">
              <a:latin typeface="+mn-lt"/>
            </a:rPr>
            <a:t>Programs can be vulnerable to PATH variable manipulation</a:t>
          </a:r>
          <a:endParaRPr lang="en-US" dirty="0">
            <a:latin typeface="+mn-lt"/>
          </a:endParaRPr>
        </a:p>
      </dgm:t>
    </dgm:pt>
    <dgm:pt modelId="{6DE1301F-0CC5-A049-BA85-6D8A430A1E6C}" type="parTrans" cxnId="{F509222D-EE66-374F-A83C-0941B5D0E923}">
      <dgm:prSet/>
      <dgm:spPr/>
      <dgm:t>
        <a:bodyPr/>
        <a:lstStyle/>
        <a:p>
          <a:endParaRPr lang="en-US"/>
        </a:p>
      </dgm:t>
    </dgm:pt>
    <dgm:pt modelId="{C07E14F3-86C1-2049-A1C5-3E1DD3081FA4}" type="sibTrans" cxnId="{F509222D-EE66-374F-A83C-0941B5D0E923}">
      <dgm:prSet/>
      <dgm:spPr/>
      <dgm:t>
        <a:bodyPr/>
        <a:lstStyle/>
        <a:p>
          <a:endParaRPr lang="en-US"/>
        </a:p>
      </dgm:t>
    </dgm:pt>
    <dgm:pt modelId="{16355F3D-F13C-1C4A-8880-30735DBFBE47}">
      <dgm:prSet/>
      <dgm:spPr/>
      <dgm:t>
        <a:bodyPr/>
        <a:lstStyle/>
        <a:p>
          <a:pPr rtl="0"/>
          <a:r>
            <a:rPr lang="en-US" dirty="0" smtClean="0">
              <a:latin typeface="+mn-lt"/>
            </a:rPr>
            <a:t>Must reset to “safe” values</a:t>
          </a:r>
          <a:endParaRPr lang="en-US" dirty="0">
            <a:latin typeface="+mn-lt"/>
          </a:endParaRPr>
        </a:p>
      </dgm:t>
    </dgm:pt>
    <dgm:pt modelId="{3AC71A70-7697-E34C-9A78-CF1B9CA10DB0}" type="parTrans" cxnId="{637D17A8-C0FB-824C-A29F-47B7B6143D57}">
      <dgm:prSet/>
      <dgm:spPr/>
      <dgm:t>
        <a:bodyPr/>
        <a:lstStyle/>
        <a:p>
          <a:endParaRPr lang="en-US"/>
        </a:p>
      </dgm:t>
    </dgm:pt>
    <dgm:pt modelId="{A2D11365-A5A3-C046-B388-F86C68472ADB}" type="sibTrans" cxnId="{637D17A8-C0FB-824C-A29F-47B7B6143D57}">
      <dgm:prSet/>
      <dgm:spPr/>
      <dgm:t>
        <a:bodyPr/>
        <a:lstStyle/>
        <a:p>
          <a:endParaRPr lang="en-US"/>
        </a:p>
      </dgm:t>
    </dgm:pt>
    <dgm:pt modelId="{CEF58554-1ADB-1B43-B618-51585B55B444}">
      <dgm:prSet/>
      <dgm:spPr>
        <a:solidFill>
          <a:schemeClr val="accent5">
            <a:lumMod val="75000"/>
          </a:schemeClr>
        </a:solidFill>
      </dgm:spPr>
      <dgm:t>
        <a:bodyPr/>
        <a:lstStyle/>
        <a:p>
          <a:pPr rtl="0"/>
          <a:r>
            <a:rPr lang="en-US" dirty="0" smtClean="0">
              <a:latin typeface="+mn-lt"/>
            </a:rPr>
            <a:t>If dynamically linked may be vulnerable to manipulation of LD_LIBRARY_PATH</a:t>
          </a:r>
          <a:endParaRPr lang="en-US" dirty="0">
            <a:latin typeface="+mn-lt"/>
          </a:endParaRPr>
        </a:p>
      </dgm:t>
    </dgm:pt>
    <dgm:pt modelId="{84F714A2-0965-474F-8323-CD752EA64A8D}" type="parTrans" cxnId="{037C9479-BFAD-864A-BD6C-48CB7623F73C}">
      <dgm:prSet/>
      <dgm:spPr/>
      <dgm:t>
        <a:bodyPr/>
        <a:lstStyle/>
        <a:p>
          <a:endParaRPr lang="en-US"/>
        </a:p>
      </dgm:t>
    </dgm:pt>
    <dgm:pt modelId="{A1634784-9418-7E4D-8AFD-7ABF2BDCE484}" type="sibTrans" cxnId="{037C9479-BFAD-864A-BD6C-48CB7623F73C}">
      <dgm:prSet/>
      <dgm:spPr/>
      <dgm:t>
        <a:bodyPr/>
        <a:lstStyle/>
        <a:p>
          <a:endParaRPr lang="en-US"/>
        </a:p>
      </dgm:t>
    </dgm:pt>
    <dgm:pt modelId="{D3BCE2C8-69BE-444F-B468-B35AF1D05BEF}">
      <dgm:prSet/>
      <dgm:spPr/>
      <dgm:t>
        <a:bodyPr/>
        <a:lstStyle/>
        <a:p>
          <a:pPr rtl="0"/>
          <a:r>
            <a:rPr lang="en-US" dirty="0" smtClean="0">
              <a:latin typeface="+mn-lt"/>
            </a:rPr>
            <a:t>Used to locate suitable dynamic library</a:t>
          </a:r>
          <a:endParaRPr lang="en-US" dirty="0">
            <a:latin typeface="+mn-lt"/>
          </a:endParaRPr>
        </a:p>
      </dgm:t>
    </dgm:pt>
    <dgm:pt modelId="{8E8BE1C8-9799-A54C-B7E5-1429A912F99F}" type="parTrans" cxnId="{E5D6F426-F575-1446-995A-1F579C71B3AA}">
      <dgm:prSet/>
      <dgm:spPr/>
      <dgm:t>
        <a:bodyPr/>
        <a:lstStyle/>
        <a:p>
          <a:endParaRPr lang="en-US"/>
        </a:p>
      </dgm:t>
    </dgm:pt>
    <dgm:pt modelId="{A66E97E1-B51E-094B-839C-70740CB756C1}" type="sibTrans" cxnId="{E5D6F426-F575-1446-995A-1F579C71B3AA}">
      <dgm:prSet/>
      <dgm:spPr/>
      <dgm:t>
        <a:bodyPr/>
        <a:lstStyle/>
        <a:p>
          <a:endParaRPr lang="en-US"/>
        </a:p>
      </dgm:t>
    </dgm:pt>
    <dgm:pt modelId="{C8FF8C02-6D3F-9F47-A2CA-DF91EC620E30}">
      <dgm:prSet/>
      <dgm:spPr/>
      <dgm:t>
        <a:bodyPr/>
        <a:lstStyle/>
        <a:p>
          <a:pPr rtl="0"/>
          <a:r>
            <a:rPr lang="en-US" dirty="0" smtClean="0">
              <a:latin typeface="+mn-lt"/>
            </a:rPr>
            <a:t>Must either statically link privileged programs or prevent use of this variable</a:t>
          </a:r>
          <a:endParaRPr lang="en-US" dirty="0">
            <a:latin typeface="+mn-lt"/>
          </a:endParaRPr>
        </a:p>
      </dgm:t>
    </dgm:pt>
    <dgm:pt modelId="{852A5A98-2D50-B840-B334-B219DF622011}" type="parTrans" cxnId="{6AB81223-34AB-F944-8708-9EFB900283C6}">
      <dgm:prSet/>
      <dgm:spPr/>
      <dgm:t>
        <a:bodyPr/>
        <a:lstStyle/>
        <a:p>
          <a:endParaRPr lang="en-US"/>
        </a:p>
      </dgm:t>
    </dgm:pt>
    <dgm:pt modelId="{BD2F1A08-1A1C-FC4D-AB35-AFE846F71747}" type="sibTrans" cxnId="{6AB81223-34AB-F944-8708-9EFB900283C6}">
      <dgm:prSet/>
      <dgm:spPr/>
      <dgm:t>
        <a:bodyPr/>
        <a:lstStyle/>
        <a:p>
          <a:endParaRPr lang="en-US"/>
        </a:p>
      </dgm:t>
    </dgm:pt>
    <dgm:pt modelId="{E0DDC16D-8438-044B-BCA5-8E2EB5A45F14}" type="pres">
      <dgm:prSet presAssocID="{52EAD213-01C3-1746-9505-2C4104907F00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0747528-AF08-4D4E-8385-504B4843C30D}" type="pres">
      <dgm:prSet presAssocID="{1DA0DCFB-07C7-114C-9B9C-8BB48BEE3179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FF7CE9A-0546-8740-8CD5-F6B8E1CD9C6C}" type="pres">
      <dgm:prSet presAssocID="{1DA0DCFB-07C7-114C-9B9C-8BB48BEE3179}" presName="childText" presStyleLbl="revTx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611DC0A-43CB-BB4E-90BC-EC71389508C7}" type="pres">
      <dgm:prSet presAssocID="{CEF58554-1ADB-1B43-B618-51585B55B444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31A0AD8-3A39-7741-B264-4C2384EBCE0D}" type="pres">
      <dgm:prSet presAssocID="{CEF58554-1ADB-1B43-B618-51585B55B444}" presName="childText" presStyleLbl="revTx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FF07D5B-ED64-3345-BC95-78548DDA7D08}" type="presOf" srcId="{52EAD213-01C3-1746-9505-2C4104907F00}" destId="{E0DDC16D-8438-044B-BCA5-8E2EB5A45F14}" srcOrd="0" destOrd="0" presId="urn:microsoft.com/office/officeart/2005/8/layout/vList2"/>
    <dgm:cxn modelId="{82593BE7-DEF4-984B-9BE9-E6E8DB9830EE}" type="presOf" srcId="{16355F3D-F13C-1C4A-8880-30735DBFBE47}" destId="{DFF7CE9A-0546-8740-8CD5-F6B8E1CD9C6C}" srcOrd="0" destOrd="0" presId="urn:microsoft.com/office/officeart/2005/8/layout/vList2"/>
    <dgm:cxn modelId="{90B48ADA-6B99-EF49-9DA3-7C026C16EC9E}" type="presOf" srcId="{CEF58554-1ADB-1B43-B618-51585B55B444}" destId="{C611DC0A-43CB-BB4E-90BC-EC71389508C7}" srcOrd="0" destOrd="0" presId="urn:microsoft.com/office/officeart/2005/8/layout/vList2"/>
    <dgm:cxn modelId="{5D9E3ACA-7334-FF4D-9898-B4FF539CCB03}" type="presOf" srcId="{D3BCE2C8-69BE-444F-B468-B35AF1D05BEF}" destId="{031A0AD8-3A39-7741-B264-4C2384EBCE0D}" srcOrd="0" destOrd="0" presId="urn:microsoft.com/office/officeart/2005/8/layout/vList2"/>
    <dgm:cxn modelId="{E6A6FD08-7C49-E14E-880A-0F0D81B7AA52}" type="presOf" srcId="{1DA0DCFB-07C7-114C-9B9C-8BB48BEE3179}" destId="{10747528-AF08-4D4E-8385-504B4843C30D}" srcOrd="0" destOrd="0" presId="urn:microsoft.com/office/officeart/2005/8/layout/vList2"/>
    <dgm:cxn modelId="{F509222D-EE66-374F-A83C-0941B5D0E923}" srcId="{52EAD213-01C3-1746-9505-2C4104907F00}" destId="{1DA0DCFB-07C7-114C-9B9C-8BB48BEE3179}" srcOrd="0" destOrd="0" parTransId="{6DE1301F-0CC5-A049-BA85-6D8A430A1E6C}" sibTransId="{C07E14F3-86C1-2049-A1C5-3E1DD3081FA4}"/>
    <dgm:cxn modelId="{068A3F0A-7279-B346-8230-F6E659247BD9}" type="presOf" srcId="{C8FF8C02-6D3F-9F47-A2CA-DF91EC620E30}" destId="{031A0AD8-3A39-7741-B264-4C2384EBCE0D}" srcOrd="0" destOrd="1" presId="urn:microsoft.com/office/officeart/2005/8/layout/vList2"/>
    <dgm:cxn modelId="{037C9479-BFAD-864A-BD6C-48CB7623F73C}" srcId="{52EAD213-01C3-1746-9505-2C4104907F00}" destId="{CEF58554-1ADB-1B43-B618-51585B55B444}" srcOrd="1" destOrd="0" parTransId="{84F714A2-0965-474F-8323-CD752EA64A8D}" sibTransId="{A1634784-9418-7E4D-8AFD-7ABF2BDCE484}"/>
    <dgm:cxn modelId="{E5D6F426-F575-1446-995A-1F579C71B3AA}" srcId="{CEF58554-1ADB-1B43-B618-51585B55B444}" destId="{D3BCE2C8-69BE-444F-B468-B35AF1D05BEF}" srcOrd="0" destOrd="0" parTransId="{8E8BE1C8-9799-A54C-B7E5-1429A912F99F}" sibTransId="{A66E97E1-B51E-094B-839C-70740CB756C1}"/>
    <dgm:cxn modelId="{6AB81223-34AB-F944-8708-9EFB900283C6}" srcId="{CEF58554-1ADB-1B43-B618-51585B55B444}" destId="{C8FF8C02-6D3F-9F47-A2CA-DF91EC620E30}" srcOrd="1" destOrd="0" parTransId="{852A5A98-2D50-B840-B334-B219DF622011}" sibTransId="{BD2F1A08-1A1C-FC4D-AB35-AFE846F71747}"/>
    <dgm:cxn modelId="{637D17A8-C0FB-824C-A29F-47B7B6143D57}" srcId="{1DA0DCFB-07C7-114C-9B9C-8BB48BEE3179}" destId="{16355F3D-F13C-1C4A-8880-30735DBFBE47}" srcOrd="0" destOrd="0" parTransId="{3AC71A70-7697-E34C-9A78-CF1B9CA10DB0}" sibTransId="{A2D11365-A5A3-C046-B388-F86C68472ADB}"/>
    <dgm:cxn modelId="{157A9815-A562-554F-868B-BBDA52E6311D}" type="presParOf" srcId="{E0DDC16D-8438-044B-BCA5-8E2EB5A45F14}" destId="{10747528-AF08-4D4E-8385-504B4843C30D}" srcOrd="0" destOrd="0" presId="urn:microsoft.com/office/officeart/2005/8/layout/vList2"/>
    <dgm:cxn modelId="{9D720559-F6B2-CC46-8BC8-624B44299CED}" type="presParOf" srcId="{E0DDC16D-8438-044B-BCA5-8E2EB5A45F14}" destId="{DFF7CE9A-0546-8740-8CD5-F6B8E1CD9C6C}" srcOrd="1" destOrd="0" presId="urn:microsoft.com/office/officeart/2005/8/layout/vList2"/>
    <dgm:cxn modelId="{8EADCA00-76FF-9543-BE89-3CD50CA13D7B}" type="presParOf" srcId="{E0DDC16D-8438-044B-BCA5-8E2EB5A45F14}" destId="{C611DC0A-43CB-BB4E-90BC-EC71389508C7}" srcOrd="2" destOrd="0" presId="urn:microsoft.com/office/officeart/2005/8/layout/vList2"/>
    <dgm:cxn modelId="{73202D7B-1B0B-6E41-805A-18A4A8B49784}" type="presParOf" srcId="{E0DDC16D-8438-044B-BCA5-8E2EB5A45F14}" destId="{031A0AD8-3A39-7741-B264-4C2384EBCE0D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892EB01-0D2F-AF4B-AEB6-4FA0AC34DE2A}" type="doc">
      <dgm:prSet loTypeId="urn:microsoft.com/office/officeart/2005/8/layout/vProcess5" loCatId="process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B0A4EBF-749E-7B40-8411-B9970862605D}">
      <dgm:prSet/>
      <dgm:spPr>
        <a:solidFill>
          <a:schemeClr val="accent5">
            <a:lumMod val="75000"/>
          </a:schemeClr>
        </a:solidFill>
      </dgm:spPr>
      <dgm:t>
        <a:bodyPr/>
        <a:lstStyle/>
        <a:p>
          <a:pPr rtl="0"/>
          <a:r>
            <a:rPr lang="en-US" b="1" dirty="0" smtClean="0">
              <a:solidFill>
                <a:srgbClr val="000000"/>
              </a:solidFill>
              <a:latin typeface="+mn-lt"/>
            </a:rPr>
            <a:t>Privilege escalation</a:t>
          </a:r>
          <a:endParaRPr lang="en-US" b="1" dirty="0">
            <a:solidFill>
              <a:srgbClr val="000000"/>
            </a:solidFill>
            <a:latin typeface="+mn-lt"/>
          </a:endParaRPr>
        </a:p>
      </dgm:t>
    </dgm:pt>
    <dgm:pt modelId="{5252AFB6-07BA-2A41-940C-1673FD215A6E}" type="parTrans" cxnId="{F3076673-C039-EF4C-9B80-51143FA24693}">
      <dgm:prSet/>
      <dgm:spPr/>
      <dgm:t>
        <a:bodyPr/>
        <a:lstStyle/>
        <a:p>
          <a:endParaRPr lang="en-US"/>
        </a:p>
      </dgm:t>
    </dgm:pt>
    <dgm:pt modelId="{70C8D23E-66B3-3A4E-8EEC-9FE704A653AF}" type="sibTrans" cxnId="{F3076673-C039-EF4C-9B80-51143FA24693}">
      <dgm:prSet/>
      <dgm:spPr>
        <a:solidFill>
          <a:schemeClr val="accent6">
            <a:lumMod val="40000"/>
            <a:lumOff val="60000"/>
          </a:schemeClr>
        </a:solidFill>
        <a:ln>
          <a:solidFill>
            <a:schemeClr val="accent5">
              <a:lumMod val="50000"/>
            </a:schemeClr>
          </a:solidFill>
        </a:ln>
      </dgm:spPr>
      <dgm:t>
        <a:bodyPr/>
        <a:lstStyle/>
        <a:p>
          <a:endParaRPr lang="en-US"/>
        </a:p>
      </dgm:t>
    </dgm:pt>
    <dgm:pt modelId="{4745CBCD-15D9-6B42-8AF2-33ADBA9A95CC}">
      <dgm:prSet/>
      <dgm:spPr>
        <a:solidFill>
          <a:schemeClr val="accent5">
            <a:lumMod val="75000"/>
          </a:schemeClr>
        </a:solidFill>
      </dgm:spPr>
      <dgm:t>
        <a:bodyPr/>
        <a:lstStyle/>
        <a:p>
          <a:pPr rtl="0"/>
          <a:r>
            <a:rPr lang="en-US" b="1" dirty="0" smtClean="0">
              <a:solidFill>
                <a:srgbClr val="000000"/>
              </a:solidFill>
              <a:latin typeface="+mn-lt"/>
            </a:rPr>
            <a:t>Exploit of flaws may give attacker greater privileges</a:t>
          </a:r>
          <a:endParaRPr lang="en-US" b="1" dirty="0">
            <a:solidFill>
              <a:srgbClr val="000000"/>
            </a:solidFill>
            <a:latin typeface="+mn-lt"/>
          </a:endParaRPr>
        </a:p>
      </dgm:t>
    </dgm:pt>
    <dgm:pt modelId="{1570F596-11A1-584C-9E58-0BAC27BD1F9D}" type="parTrans" cxnId="{CA4C9F25-5DDB-394B-A51C-826F505582D2}">
      <dgm:prSet/>
      <dgm:spPr/>
      <dgm:t>
        <a:bodyPr/>
        <a:lstStyle/>
        <a:p>
          <a:endParaRPr lang="en-US"/>
        </a:p>
      </dgm:t>
    </dgm:pt>
    <dgm:pt modelId="{FB6CE510-B9DE-A544-AB01-72C841D84FB4}" type="sibTrans" cxnId="{CA4C9F25-5DDB-394B-A51C-826F505582D2}">
      <dgm:prSet/>
      <dgm:spPr/>
      <dgm:t>
        <a:bodyPr/>
        <a:lstStyle/>
        <a:p>
          <a:endParaRPr lang="en-US"/>
        </a:p>
      </dgm:t>
    </dgm:pt>
    <dgm:pt modelId="{344F25FB-9994-214A-9445-195DD1B03317}">
      <dgm:prSet/>
      <dgm:spPr>
        <a:solidFill>
          <a:schemeClr val="accent3">
            <a:lumMod val="75000"/>
          </a:schemeClr>
        </a:solidFill>
      </dgm:spPr>
      <dgm:t>
        <a:bodyPr/>
        <a:lstStyle/>
        <a:p>
          <a:pPr rtl="0"/>
          <a:r>
            <a:rPr lang="en-US" b="1" dirty="0" smtClean="0">
              <a:solidFill>
                <a:srgbClr val="000000"/>
              </a:solidFill>
              <a:latin typeface="+mn-lt"/>
            </a:rPr>
            <a:t>Least privilege</a:t>
          </a:r>
          <a:endParaRPr lang="en-US" dirty="0">
            <a:solidFill>
              <a:srgbClr val="000000"/>
            </a:solidFill>
            <a:latin typeface="+mn-lt"/>
          </a:endParaRPr>
        </a:p>
      </dgm:t>
    </dgm:pt>
    <dgm:pt modelId="{DCFF1956-F155-E248-861C-E51954565BB3}" type="parTrans" cxnId="{8B8A102F-23BF-CA48-AAC4-22558EF5D21C}">
      <dgm:prSet/>
      <dgm:spPr/>
      <dgm:t>
        <a:bodyPr/>
        <a:lstStyle/>
        <a:p>
          <a:endParaRPr lang="en-US"/>
        </a:p>
      </dgm:t>
    </dgm:pt>
    <dgm:pt modelId="{0058F4EE-4F23-2449-982A-601C182FD798}" type="sibTrans" cxnId="{8B8A102F-23BF-CA48-AAC4-22558EF5D21C}">
      <dgm:prSet/>
      <dgm:spPr>
        <a:solidFill>
          <a:schemeClr val="accent6">
            <a:lumMod val="40000"/>
            <a:lumOff val="60000"/>
          </a:schemeClr>
        </a:solidFill>
        <a:ln>
          <a:solidFill>
            <a:schemeClr val="accent3">
              <a:lumMod val="50000"/>
            </a:schemeClr>
          </a:solidFill>
        </a:ln>
      </dgm:spPr>
      <dgm:t>
        <a:bodyPr/>
        <a:lstStyle/>
        <a:p>
          <a:endParaRPr lang="en-US"/>
        </a:p>
      </dgm:t>
    </dgm:pt>
    <dgm:pt modelId="{870FA623-B2E2-8A49-B230-0DA743B3D078}">
      <dgm:prSet/>
      <dgm:spPr>
        <a:solidFill>
          <a:schemeClr val="accent3">
            <a:lumMod val="75000"/>
          </a:schemeClr>
        </a:solidFill>
      </dgm:spPr>
      <dgm:t>
        <a:bodyPr/>
        <a:lstStyle/>
        <a:p>
          <a:pPr rtl="0"/>
          <a:r>
            <a:rPr lang="en-US" b="1" dirty="0" smtClean="0">
              <a:solidFill>
                <a:srgbClr val="000000"/>
              </a:solidFill>
              <a:latin typeface="+mn-lt"/>
            </a:rPr>
            <a:t>Run programs with least privilege needed to complete their function</a:t>
          </a:r>
          <a:endParaRPr lang="en-US" dirty="0">
            <a:solidFill>
              <a:srgbClr val="000000"/>
            </a:solidFill>
            <a:latin typeface="+mn-lt"/>
          </a:endParaRPr>
        </a:p>
      </dgm:t>
    </dgm:pt>
    <dgm:pt modelId="{365FD8FC-4A9C-474F-9BA5-E0BB52C5D660}" type="parTrans" cxnId="{C029D8BB-EB92-A449-A017-F918BA3B5469}">
      <dgm:prSet/>
      <dgm:spPr/>
      <dgm:t>
        <a:bodyPr/>
        <a:lstStyle/>
        <a:p>
          <a:endParaRPr lang="en-US"/>
        </a:p>
      </dgm:t>
    </dgm:pt>
    <dgm:pt modelId="{5E93990F-0E2B-C44A-8418-204E73F87B77}" type="sibTrans" cxnId="{C029D8BB-EB92-A449-A017-F918BA3B5469}">
      <dgm:prSet/>
      <dgm:spPr/>
      <dgm:t>
        <a:bodyPr/>
        <a:lstStyle/>
        <a:p>
          <a:endParaRPr lang="en-US"/>
        </a:p>
      </dgm:t>
    </dgm:pt>
    <dgm:pt modelId="{9F09A4AA-D4E9-F844-9563-2F708BA0DCC2}">
      <dgm:prSet/>
      <dgm:spPr>
        <a:solidFill>
          <a:schemeClr val="accent5">
            <a:lumMod val="75000"/>
          </a:schemeClr>
        </a:solidFill>
      </dgm:spPr>
      <dgm:t>
        <a:bodyPr/>
        <a:lstStyle/>
        <a:p>
          <a:pPr rtl="0"/>
          <a:r>
            <a:rPr lang="en-US" b="1" dirty="0" smtClean="0">
              <a:solidFill>
                <a:srgbClr val="000000"/>
              </a:solidFill>
              <a:latin typeface="+mn-lt"/>
            </a:rPr>
            <a:t>Determine appropriate user and group privileges required</a:t>
          </a:r>
          <a:endParaRPr lang="en-US" dirty="0">
            <a:solidFill>
              <a:srgbClr val="000000"/>
            </a:solidFill>
            <a:latin typeface="+mn-lt"/>
          </a:endParaRPr>
        </a:p>
      </dgm:t>
    </dgm:pt>
    <dgm:pt modelId="{E5688B58-5B25-9141-A696-B2ACDC0128CC}" type="parTrans" cxnId="{55959B64-6912-CA47-AA26-2D8B4753D239}">
      <dgm:prSet/>
      <dgm:spPr/>
      <dgm:t>
        <a:bodyPr/>
        <a:lstStyle/>
        <a:p>
          <a:endParaRPr lang="en-US"/>
        </a:p>
      </dgm:t>
    </dgm:pt>
    <dgm:pt modelId="{5ED308DE-CF6A-454C-AAD0-A4E66F7BCE9B}" type="sibTrans" cxnId="{55959B64-6912-CA47-AA26-2D8B4753D239}">
      <dgm:prSet/>
      <dgm:spPr>
        <a:solidFill>
          <a:schemeClr val="accent6">
            <a:lumMod val="40000"/>
            <a:lumOff val="60000"/>
          </a:schemeClr>
        </a:solidFill>
        <a:ln>
          <a:solidFill>
            <a:schemeClr val="accent5">
              <a:lumMod val="50000"/>
            </a:schemeClr>
          </a:solidFill>
        </a:ln>
      </dgm:spPr>
      <dgm:t>
        <a:bodyPr/>
        <a:lstStyle/>
        <a:p>
          <a:endParaRPr lang="en-US"/>
        </a:p>
      </dgm:t>
    </dgm:pt>
    <dgm:pt modelId="{D1885800-58B0-D74F-9938-712304A2B5A4}">
      <dgm:prSet/>
      <dgm:spPr>
        <a:solidFill>
          <a:schemeClr val="accent5">
            <a:lumMod val="75000"/>
          </a:schemeClr>
        </a:solidFill>
      </dgm:spPr>
      <dgm:t>
        <a:bodyPr/>
        <a:lstStyle/>
        <a:p>
          <a:pPr rtl="0"/>
          <a:r>
            <a:rPr lang="en-US" b="1" dirty="0" smtClean="0">
              <a:solidFill>
                <a:srgbClr val="000000"/>
              </a:solidFill>
              <a:latin typeface="+mn-lt"/>
            </a:rPr>
            <a:t>Decide whether to grant extra user or just group privileges</a:t>
          </a:r>
          <a:endParaRPr lang="en-US" dirty="0">
            <a:solidFill>
              <a:srgbClr val="000000"/>
            </a:solidFill>
            <a:latin typeface="+mn-lt"/>
          </a:endParaRPr>
        </a:p>
      </dgm:t>
    </dgm:pt>
    <dgm:pt modelId="{F17DF6A9-A2A6-D84E-AD37-A9D630201B4B}" type="parTrans" cxnId="{34440B0C-524B-0A49-A26F-E8ADEDC76A92}">
      <dgm:prSet/>
      <dgm:spPr/>
      <dgm:t>
        <a:bodyPr/>
        <a:lstStyle/>
        <a:p>
          <a:endParaRPr lang="en-US"/>
        </a:p>
      </dgm:t>
    </dgm:pt>
    <dgm:pt modelId="{D57B61B6-F69E-614E-A229-9CAD312A5CF0}" type="sibTrans" cxnId="{34440B0C-524B-0A49-A26F-E8ADEDC76A92}">
      <dgm:prSet/>
      <dgm:spPr/>
      <dgm:t>
        <a:bodyPr/>
        <a:lstStyle/>
        <a:p>
          <a:endParaRPr lang="en-US"/>
        </a:p>
      </dgm:t>
    </dgm:pt>
    <dgm:pt modelId="{1A384741-A1D5-234D-AF66-F982636C3B88}">
      <dgm:prSet/>
      <dgm:spPr>
        <a:solidFill>
          <a:schemeClr val="accent3">
            <a:lumMod val="75000"/>
          </a:schemeClr>
        </a:solidFill>
      </dgm:spPr>
      <dgm:t>
        <a:bodyPr/>
        <a:lstStyle/>
        <a:p>
          <a:pPr rtl="0"/>
          <a:r>
            <a:rPr lang="en-US" b="1" dirty="0" smtClean="0">
              <a:solidFill>
                <a:srgbClr val="000000"/>
              </a:solidFill>
              <a:latin typeface="+mn-lt"/>
            </a:rPr>
            <a:t>Ensure that privileged program can modify only those files and directories necessary</a:t>
          </a:r>
          <a:endParaRPr lang="en-US" dirty="0">
            <a:solidFill>
              <a:srgbClr val="000000"/>
            </a:solidFill>
            <a:latin typeface="+mn-lt"/>
          </a:endParaRPr>
        </a:p>
      </dgm:t>
    </dgm:pt>
    <dgm:pt modelId="{8EC1977D-671F-594B-9DF0-9C086355899D}" type="parTrans" cxnId="{130E48B5-895B-B341-8054-20E7D9A96665}">
      <dgm:prSet/>
      <dgm:spPr/>
      <dgm:t>
        <a:bodyPr/>
        <a:lstStyle/>
        <a:p>
          <a:endParaRPr lang="en-US"/>
        </a:p>
      </dgm:t>
    </dgm:pt>
    <dgm:pt modelId="{C4DC8301-C624-9C4B-B832-95DADD6C10DB}" type="sibTrans" cxnId="{130E48B5-895B-B341-8054-20E7D9A96665}">
      <dgm:prSet/>
      <dgm:spPr/>
      <dgm:t>
        <a:bodyPr/>
        <a:lstStyle/>
        <a:p>
          <a:endParaRPr lang="en-US"/>
        </a:p>
      </dgm:t>
    </dgm:pt>
    <dgm:pt modelId="{0A7FCA18-4E36-F34E-9207-40BE87754E52}" type="pres">
      <dgm:prSet presAssocID="{6892EB01-0D2F-AF4B-AEB6-4FA0AC34DE2A}" presName="outer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653255D-0AEE-5342-B7B6-DA4A310CE354}" type="pres">
      <dgm:prSet presAssocID="{6892EB01-0D2F-AF4B-AEB6-4FA0AC34DE2A}" presName="dummyMaxCanvas" presStyleCnt="0">
        <dgm:presLayoutVars/>
      </dgm:prSet>
      <dgm:spPr/>
    </dgm:pt>
    <dgm:pt modelId="{C215A80E-D6AB-E743-A71B-13D16F54BE4D}" type="pres">
      <dgm:prSet presAssocID="{6892EB01-0D2F-AF4B-AEB6-4FA0AC34DE2A}" presName="FourNodes_1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C193772-DEE8-EE43-A2C6-DE1505354F6B}" type="pres">
      <dgm:prSet presAssocID="{6892EB01-0D2F-AF4B-AEB6-4FA0AC34DE2A}" presName="FourNodes_2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DD6CDD3-5533-664B-812D-0C468C09B03F}" type="pres">
      <dgm:prSet presAssocID="{6892EB01-0D2F-AF4B-AEB6-4FA0AC34DE2A}" presName="FourNodes_3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3C0BF36-4415-0A49-9C51-B6D771122A69}" type="pres">
      <dgm:prSet presAssocID="{6892EB01-0D2F-AF4B-AEB6-4FA0AC34DE2A}" presName="FourNodes_4" presStyleLbl="node1" presStyleIdx="3" presStyleCnt="4" custLinFactNeighborY="688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7F97953-3F1A-3547-9BB4-51981941CED8}" type="pres">
      <dgm:prSet presAssocID="{6892EB01-0D2F-AF4B-AEB6-4FA0AC34DE2A}" presName="FourConn_1-2" presStyleLbl="fg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C44F468-DAF3-F948-8453-579017E85A58}" type="pres">
      <dgm:prSet presAssocID="{6892EB01-0D2F-AF4B-AEB6-4FA0AC34DE2A}" presName="FourConn_2-3" presStyleLbl="fg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74F8642-FD98-6F43-BF11-44745DBCA7FA}" type="pres">
      <dgm:prSet presAssocID="{6892EB01-0D2F-AF4B-AEB6-4FA0AC34DE2A}" presName="FourConn_3-4" presStyleLbl="fg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4553852-DD8E-034A-BB68-CFDC6E35B8A0}" type="pres">
      <dgm:prSet presAssocID="{6892EB01-0D2F-AF4B-AEB6-4FA0AC34DE2A}" presName="FourNodes_1_text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1509380-02DB-CD46-8243-79E905DE4731}" type="pres">
      <dgm:prSet presAssocID="{6892EB01-0D2F-AF4B-AEB6-4FA0AC34DE2A}" presName="FourNodes_2_text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D0DC48E-8ACC-CB40-A05B-990F2E4EFBBB}" type="pres">
      <dgm:prSet presAssocID="{6892EB01-0D2F-AF4B-AEB6-4FA0AC34DE2A}" presName="FourNodes_3_text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975C77E-1DAA-8E42-8437-2025A311992E}" type="pres">
      <dgm:prSet presAssocID="{6892EB01-0D2F-AF4B-AEB6-4FA0AC34DE2A}" presName="FourNodes_4_text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A1D0332B-3BEF-674C-8DD6-A323B6C75DD0}" type="presOf" srcId="{5ED308DE-CF6A-454C-AAD0-A4E66F7BCE9B}" destId="{174F8642-FD98-6F43-BF11-44745DBCA7FA}" srcOrd="0" destOrd="0" presId="urn:microsoft.com/office/officeart/2005/8/layout/vProcess5"/>
    <dgm:cxn modelId="{C2987F51-128E-894C-B608-53C37007502F}" type="presOf" srcId="{9F09A4AA-D4E9-F844-9563-2F708BA0DCC2}" destId="{7DD6CDD3-5533-664B-812D-0C468C09B03F}" srcOrd="0" destOrd="0" presId="urn:microsoft.com/office/officeart/2005/8/layout/vProcess5"/>
    <dgm:cxn modelId="{76702E22-3EC0-2F4E-9F88-A5852CAA6A81}" type="presOf" srcId="{344F25FB-9994-214A-9445-195DD1B03317}" destId="{21509380-02DB-CD46-8243-79E905DE4731}" srcOrd="1" destOrd="0" presId="urn:microsoft.com/office/officeart/2005/8/layout/vProcess5"/>
    <dgm:cxn modelId="{55959B64-6912-CA47-AA26-2D8B4753D239}" srcId="{6892EB01-0D2F-AF4B-AEB6-4FA0AC34DE2A}" destId="{9F09A4AA-D4E9-F844-9563-2F708BA0DCC2}" srcOrd="2" destOrd="0" parTransId="{E5688B58-5B25-9141-A696-B2ACDC0128CC}" sibTransId="{5ED308DE-CF6A-454C-AAD0-A4E66F7BCE9B}"/>
    <dgm:cxn modelId="{3CF87AD6-6E21-7C45-8419-A903FF12E5A7}" type="presOf" srcId="{D1885800-58B0-D74F-9938-712304A2B5A4}" destId="{8D0DC48E-8ACC-CB40-A05B-990F2E4EFBBB}" srcOrd="1" destOrd="1" presId="urn:microsoft.com/office/officeart/2005/8/layout/vProcess5"/>
    <dgm:cxn modelId="{0DCDCEB7-E3DB-7B41-9C34-FA15159B534D}" type="presOf" srcId="{1A384741-A1D5-234D-AF66-F982636C3B88}" destId="{83C0BF36-4415-0A49-9C51-B6D771122A69}" srcOrd="0" destOrd="0" presId="urn:microsoft.com/office/officeart/2005/8/layout/vProcess5"/>
    <dgm:cxn modelId="{8B8A102F-23BF-CA48-AAC4-22558EF5D21C}" srcId="{6892EB01-0D2F-AF4B-AEB6-4FA0AC34DE2A}" destId="{344F25FB-9994-214A-9445-195DD1B03317}" srcOrd="1" destOrd="0" parTransId="{DCFF1956-F155-E248-861C-E51954565BB3}" sibTransId="{0058F4EE-4F23-2449-982A-601C182FD798}"/>
    <dgm:cxn modelId="{F3076673-C039-EF4C-9B80-51143FA24693}" srcId="{6892EB01-0D2F-AF4B-AEB6-4FA0AC34DE2A}" destId="{BB0A4EBF-749E-7B40-8411-B9970862605D}" srcOrd="0" destOrd="0" parTransId="{5252AFB6-07BA-2A41-940C-1673FD215A6E}" sibTransId="{70C8D23E-66B3-3A4E-8EEC-9FE704A653AF}"/>
    <dgm:cxn modelId="{C029D8BB-EB92-A449-A017-F918BA3B5469}" srcId="{344F25FB-9994-214A-9445-195DD1B03317}" destId="{870FA623-B2E2-8A49-B230-0DA743B3D078}" srcOrd="0" destOrd="0" parTransId="{365FD8FC-4A9C-474F-9BA5-E0BB52C5D660}" sibTransId="{5E93990F-0E2B-C44A-8418-204E73F87B77}"/>
    <dgm:cxn modelId="{34440B0C-524B-0A49-A26F-E8ADEDC76A92}" srcId="{9F09A4AA-D4E9-F844-9563-2F708BA0DCC2}" destId="{D1885800-58B0-D74F-9938-712304A2B5A4}" srcOrd="0" destOrd="0" parTransId="{F17DF6A9-A2A6-D84E-AD37-A9D630201B4B}" sibTransId="{D57B61B6-F69E-614E-A229-9CAD312A5CF0}"/>
    <dgm:cxn modelId="{0E65C7A8-2796-164E-B257-7DF7B7BD5FCA}" type="presOf" srcId="{4745CBCD-15D9-6B42-8AF2-33ADBA9A95CC}" destId="{34553852-DD8E-034A-BB68-CFDC6E35B8A0}" srcOrd="1" destOrd="1" presId="urn:microsoft.com/office/officeart/2005/8/layout/vProcess5"/>
    <dgm:cxn modelId="{779D2014-1544-E144-A022-18E079D80833}" type="presOf" srcId="{BB0A4EBF-749E-7B40-8411-B9970862605D}" destId="{34553852-DD8E-034A-BB68-CFDC6E35B8A0}" srcOrd="1" destOrd="0" presId="urn:microsoft.com/office/officeart/2005/8/layout/vProcess5"/>
    <dgm:cxn modelId="{130E48B5-895B-B341-8054-20E7D9A96665}" srcId="{6892EB01-0D2F-AF4B-AEB6-4FA0AC34DE2A}" destId="{1A384741-A1D5-234D-AF66-F982636C3B88}" srcOrd="3" destOrd="0" parTransId="{8EC1977D-671F-594B-9DF0-9C086355899D}" sibTransId="{C4DC8301-C624-9C4B-B832-95DADD6C10DB}"/>
    <dgm:cxn modelId="{F690F261-12BB-CC4B-B25B-34CA4A4BE58C}" type="presOf" srcId="{0058F4EE-4F23-2449-982A-601C182FD798}" destId="{CC44F468-DAF3-F948-8453-579017E85A58}" srcOrd="0" destOrd="0" presId="urn:microsoft.com/office/officeart/2005/8/layout/vProcess5"/>
    <dgm:cxn modelId="{692DE546-0540-CF4D-87F0-3A04D81ED271}" type="presOf" srcId="{D1885800-58B0-D74F-9938-712304A2B5A4}" destId="{7DD6CDD3-5533-664B-812D-0C468C09B03F}" srcOrd="0" destOrd="1" presId="urn:microsoft.com/office/officeart/2005/8/layout/vProcess5"/>
    <dgm:cxn modelId="{08E63738-C58D-CD48-BEEB-5AE47432B779}" type="presOf" srcId="{4745CBCD-15D9-6B42-8AF2-33ADBA9A95CC}" destId="{C215A80E-D6AB-E743-A71B-13D16F54BE4D}" srcOrd="0" destOrd="1" presId="urn:microsoft.com/office/officeart/2005/8/layout/vProcess5"/>
    <dgm:cxn modelId="{94D11EDD-025C-E94D-80F5-B3CB57BFBC33}" type="presOf" srcId="{70C8D23E-66B3-3A4E-8EEC-9FE704A653AF}" destId="{07F97953-3F1A-3547-9BB4-51981941CED8}" srcOrd="0" destOrd="0" presId="urn:microsoft.com/office/officeart/2005/8/layout/vProcess5"/>
    <dgm:cxn modelId="{9F128A81-6567-E44B-828C-9D0BE864271E}" type="presOf" srcId="{1A384741-A1D5-234D-AF66-F982636C3B88}" destId="{5975C77E-1DAA-8E42-8437-2025A311992E}" srcOrd="1" destOrd="0" presId="urn:microsoft.com/office/officeart/2005/8/layout/vProcess5"/>
    <dgm:cxn modelId="{BCBA013C-60A8-D245-87E8-F1FDBB47CD15}" type="presOf" srcId="{870FA623-B2E2-8A49-B230-0DA743B3D078}" destId="{6C193772-DEE8-EE43-A2C6-DE1505354F6B}" srcOrd="0" destOrd="1" presId="urn:microsoft.com/office/officeart/2005/8/layout/vProcess5"/>
    <dgm:cxn modelId="{5C6E08D8-472D-784A-B2EA-C05B277BD8EE}" type="presOf" srcId="{344F25FB-9994-214A-9445-195DD1B03317}" destId="{6C193772-DEE8-EE43-A2C6-DE1505354F6B}" srcOrd="0" destOrd="0" presId="urn:microsoft.com/office/officeart/2005/8/layout/vProcess5"/>
    <dgm:cxn modelId="{ADB2CCFF-5640-8942-A0A5-D60EA71968B6}" type="presOf" srcId="{6892EB01-0D2F-AF4B-AEB6-4FA0AC34DE2A}" destId="{0A7FCA18-4E36-F34E-9207-40BE87754E52}" srcOrd="0" destOrd="0" presId="urn:microsoft.com/office/officeart/2005/8/layout/vProcess5"/>
    <dgm:cxn modelId="{08D73045-0DF7-DE46-A7EE-D057263016C1}" type="presOf" srcId="{870FA623-B2E2-8A49-B230-0DA743B3D078}" destId="{21509380-02DB-CD46-8243-79E905DE4731}" srcOrd="1" destOrd="1" presId="urn:microsoft.com/office/officeart/2005/8/layout/vProcess5"/>
    <dgm:cxn modelId="{72528DB0-B4C1-5B41-80D0-628252077425}" type="presOf" srcId="{BB0A4EBF-749E-7B40-8411-B9970862605D}" destId="{C215A80E-D6AB-E743-A71B-13D16F54BE4D}" srcOrd="0" destOrd="0" presId="urn:microsoft.com/office/officeart/2005/8/layout/vProcess5"/>
    <dgm:cxn modelId="{CA4C9F25-5DDB-394B-A51C-826F505582D2}" srcId="{BB0A4EBF-749E-7B40-8411-B9970862605D}" destId="{4745CBCD-15D9-6B42-8AF2-33ADBA9A95CC}" srcOrd="0" destOrd="0" parTransId="{1570F596-11A1-584C-9E58-0BAC27BD1F9D}" sibTransId="{FB6CE510-B9DE-A544-AB01-72C841D84FB4}"/>
    <dgm:cxn modelId="{BDF14757-8B5C-414E-BC2E-B4E7A0EE9F49}" type="presOf" srcId="{9F09A4AA-D4E9-F844-9563-2F708BA0DCC2}" destId="{8D0DC48E-8ACC-CB40-A05B-990F2E4EFBBB}" srcOrd="1" destOrd="0" presId="urn:microsoft.com/office/officeart/2005/8/layout/vProcess5"/>
    <dgm:cxn modelId="{645C5552-8FF5-734D-A85B-43354490A0DD}" type="presParOf" srcId="{0A7FCA18-4E36-F34E-9207-40BE87754E52}" destId="{3653255D-0AEE-5342-B7B6-DA4A310CE354}" srcOrd="0" destOrd="0" presId="urn:microsoft.com/office/officeart/2005/8/layout/vProcess5"/>
    <dgm:cxn modelId="{B34E2E53-C596-A64A-9B16-ED678EB354C5}" type="presParOf" srcId="{0A7FCA18-4E36-F34E-9207-40BE87754E52}" destId="{C215A80E-D6AB-E743-A71B-13D16F54BE4D}" srcOrd="1" destOrd="0" presId="urn:microsoft.com/office/officeart/2005/8/layout/vProcess5"/>
    <dgm:cxn modelId="{8E895293-16B5-4A46-94BB-B76FE93739B8}" type="presParOf" srcId="{0A7FCA18-4E36-F34E-9207-40BE87754E52}" destId="{6C193772-DEE8-EE43-A2C6-DE1505354F6B}" srcOrd="2" destOrd="0" presId="urn:microsoft.com/office/officeart/2005/8/layout/vProcess5"/>
    <dgm:cxn modelId="{D3C819E8-0906-054D-80A5-8B1BD355EF66}" type="presParOf" srcId="{0A7FCA18-4E36-F34E-9207-40BE87754E52}" destId="{7DD6CDD3-5533-664B-812D-0C468C09B03F}" srcOrd="3" destOrd="0" presId="urn:microsoft.com/office/officeart/2005/8/layout/vProcess5"/>
    <dgm:cxn modelId="{00A2C6C5-142A-734E-AFF6-FFEA5F668B96}" type="presParOf" srcId="{0A7FCA18-4E36-F34E-9207-40BE87754E52}" destId="{83C0BF36-4415-0A49-9C51-B6D771122A69}" srcOrd="4" destOrd="0" presId="urn:microsoft.com/office/officeart/2005/8/layout/vProcess5"/>
    <dgm:cxn modelId="{922CB0DF-C7B8-3B47-B37B-6FB48E05DD12}" type="presParOf" srcId="{0A7FCA18-4E36-F34E-9207-40BE87754E52}" destId="{07F97953-3F1A-3547-9BB4-51981941CED8}" srcOrd="5" destOrd="0" presId="urn:microsoft.com/office/officeart/2005/8/layout/vProcess5"/>
    <dgm:cxn modelId="{DF89DBB1-82F4-7540-B413-38A644768D20}" type="presParOf" srcId="{0A7FCA18-4E36-F34E-9207-40BE87754E52}" destId="{CC44F468-DAF3-F948-8453-579017E85A58}" srcOrd="6" destOrd="0" presId="urn:microsoft.com/office/officeart/2005/8/layout/vProcess5"/>
    <dgm:cxn modelId="{397C79F1-B044-6648-AD45-9315317FCEC0}" type="presParOf" srcId="{0A7FCA18-4E36-F34E-9207-40BE87754E52}" destId="{174F8642-FD98-6F43-BF11-44745DBCA7FA}" srcOrd="7" destOrd="0" presId="urn:microsoft.com/office/officeart/2005/8/layout/vProcess5"/>
    <dgm:cxn modelId="{AD4E4BEC-2ECF-F049-A74C-FDDAB6F9EE41}" type="presParOf" srcId="{0A7FCA18-4E36-F34E-9207-40BE87754E52}" destId="{34553852-DD8E-034A-BB68-CFDC6E35B8A0}" srcOrd="8" destOrd="0" presId="urn:microsoft.com/office/officeart/2005/8/layout/vProcess5"/>
    <dgm:cxn modelId="{C090E7B2-DF91-DE44-AC89-AE97E5A79AE6}" type="presParOf" srcId="{0A7FCA18-4E36-F34E-9207-40BE87754E52}" destId="{21509380-02DB-CD46-8243-79E905DE4731}" srcOrd="9" destOrd="0" presId="urn:microsoft.com/office/officeart/2005/8/layout/vProcess5"/>
    <dgm:cxn modelId="{F9296A79-27DE-D14B-A544-5A7F223A7816}" type="presParOf" srcId="{0A7FCA18-4E36-F34E-9207-40BE87754E52}" destId="{8D0DC48E-8ACC-CB40-A05B-990F2E4EFBBB}" srcOrd="10" destOrd="0" presId="urn:microsoft.com/office/officeart/2005/8/layout/vProcess5"/>
    <dgm:cxn modelId="{CECBF771-A15D-394B-A590-7D9E31E7C675}" type="presParOf" srcId="{0A7FCA18-4E36-F34E-9207-40BE87754E52}" destId="{5975C77E-1DAA-8E42-8437-2025A311992E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3A5C88C-FE87-AB4D-9F51-09BF85FC71DB}" type="doc">
      <dgm:prSet loTypeId="urn:microsoft.com/office/officeart/2005/8/layout/target3" loCatId="process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F1BA1F0-669E-6545-9E0C-25F05F3388C9}">
      <dgm:prSet/>
      <dgm:spPr>
        <a:ln>
          <a:solidFill>
            <a:schemeClr val="accent3">
              <a:lumMod val="50000"/>
            </a:schemeClr>
          </a:solidFill>
        </a:ln>
      </dgm:spPr>
      <dgm:t>
        <a:bodyPr/>
        <a:lstStyle/>
        <a:p>
          <a:pPr rtl="0"/>
          <a:r>
            <a:rPr lang="en-US" dirty="0" smtClean="0">
              <a:latin typeface="+mn-lt"/>
            </a:rPr>
            <a:t>Programs with root/ administrator privileges are a major target of attackers</a:t>
          </a:r>
          <a:endParaRPr lang="en-US" dirty="0">
            <a:latin typeface="+mn-lt"/>
          </a:endParaRPr>
        </a:p>
      </dgm:t>
    </dgm:pt>
    <dgm:pt modelId="{A0E9DBBE-C9DD-134C-980A-49F45E231B37}" type="parTrans" cxnId="{BB8A7E20-B29F-B044-A0D2-3C0394463420}">
      <dgm:prSet/>
      <dgm:spPr/>
      <dgm:t>
        <a:bodyPr/>
        <a:lstStyle/>
        <a:p>
          <a:endParaRPr lang="en-US"/>
        </a:p>
      </dgm:t>
    </dgm:pt>
    <dgm:pt modelId="{5C91B96A-23B1-7949-A1A3-10AD1AE9D1B9}" type="sibTrans" cxnId="{BB8A7E20-B29F-B044-A0D2-3C0394463420}">
      <dgm:prSet/>
      <dgm:spPr/>
      <dgm:t>
        <a:bodyPr/>
        <a:lstStyle/>
        <a:p>
          <a:endParaRPr lang="en-US"/>
        </a:p>
      </dgm:t>
    </dgm:pt>
    <dgm:pt modelId="{FFF120AF-F124-F943-8754-0E33D899FBD5}">
      <dgm:prSet/>
      <dgm:spPr/>
      <dgm:t>
        <a:bodyPr/>
        <a:lstStyle/>
        <a:p>
          <a:pPr rtl="0"/>
          <a:r>
            <a:rPr lang="en-US" smtClean="0">
              <a:latin typeface="+mn-lt"/>
            </a:rPr>
            <a:t>They provide highest levels of system access and control</a:t>
          </a:r>
          <a:endParaRPr lang="en-US">
            <a:latin typeface="+mn-lt"/>
          </a:endParaRPr>
        </a:p>
      </dgm:t>
    </dgm:pt>
    <dgm:pt modelId="{0CC86535-6788-6944-BAA7-A5181C478CDE}" type="parTrans" cxnId="{6E601CCC-75DE-5747-90F0-E9D2B360D48E}">
      <dgm:prSet/>
      <dgm:spPr/>
      <dgm:t>
        <a:bodyPr/>
        <a:lstStyle/>
        <a:p>
          <a:endParaRPr lang="en-US"/>
        </a:p>
      </dgm:t>
    </dgm:pt>
    <dgm:pt modelId="{769668F6-1BDF-3F42-B1B1-86E183796A2C}" type="sibTrans" cxnId="{6E601CCC-75DE-5747-90F0-E9D2B360D48E}">
      <dgm:prSet/>
      <dgm:spPr/>
      <dgm:t>
        <a:bodyPr/>
        <a:lstStyle/>
        <a:p>
          <a:endParaRPr lang="en-US"/>
        </a:p>
      </dgm:t>
    </dgm:pt>
    <dgm:pt modelId="{A7B49982-C1CB-FB4E-AC9A-04A2EBCC287F}">
      <dgm:prSet/>
      <dgm:spPr/>
      <dgm:t>
        <a:bodyPr/>
        <a:lstStyle/>
        <a:p>
          <a:pPr rtl="0"/>
          <a:r>
            <a:rPr lang="en-US" dirty="0" smtClean="0">
              <a:latin typeface="+mn-lt"/>
            </a:rPr>
            <a:t>Are needed to manage access to protected system resources</a:t>
          </a:r>
          <a:endParaRPr lang="en-US" dirty="0">
            <a:latin typeface="+mn-lt"/>
          </a:endParaRPr>
        </a:p>
      </dgm:t>
    </dgm:pt>
    <dgm:pt modelId="{CA6B1E35-27E1-6E49-9238-4C2A9ED802BA}" type="parTrans" cxnId="{2AAAAB1C-7BC1-FB46-BA63-F6BF6A4A50D8}">
      <dgm:prSet/>
      <dgm:spPr/>
      <dgm:t>
        <a:bodyPr/>
        <a:lstStyle/>
        <a:p>
          <a:endParaRPr lang="en-US"/>
        </a:p>
      </dgm:t>
    </dgm:pt>
    <dgm:pt modelId="{7B46C602-7EE2-2744-B669-AB398F29D156}" type="sibTrans" cxnId="{2AAAAB1C-7BC1-FB46-BA63-F6BF6A4A50D8}">
      <dgm:prSet/>
      <dgm:spPr/>
      <dgm:t>
        <a:bodyPr/>
        <a:lstStyle/>
        <a:p>
          <a:endParaRPr lang="en-US"/>
        </a:p>
      </dgm:t>
    </dgm:pt>
    <dgm:pt modelId="{B6046878-5068-EA4B-BCC2-6B10475DB2A5}">
      <dgm:prSet/>
      <dgm:spPr>
        <a:ln>
          <a:solidFill>
            <a:schemeClr val="accent3">
              <a:lumMod val="50000"/>
            </a:schemeClr>
          </a:solidFill>
        </a:ln>
      </dgm:spPr>
      <dgm:t>
        <a:bodyPr/>
        <a:lstStyle/>
        <a:p>
          <a:pPr rtl="0"/>
          <a:r>
            <a:rPr lang="en-US" smtClean="0">
              <a:latin typeface="+mn-lt"/>
            </a:rPr>
            <a:t>Often privilege is only needed at start</a:t>
          </a:r>
          <a:endParaRPr lang="en-US">
            <a:latin typeface="+mn-lt"/>
          </a:endParaRPr>
        </a:p>
      </dgm:t>
    </dgm:pt>
    <dgm:pt modelId="{E6B69D4B-100C-A74C-8097-AD310C1ABC30}" type="parTrans" cxnId="{90569EFE-B325-0A40-ABEF-48C07E9FE49C}">
      <dgm:prSet/>
      <dgm:spPr/>
      <dgm:t>
        <a:bodyPr/>
        <a:lstStyle/>
        <a:p>
          <a:endParaRPr lang="en-US"/>
        </a:p>
      </dgm:t>
    </dgm:pt>
    <dgm:pt modelId="{FF602E2A-E52E-3D44-AB35-FD41F9DB4DF7}" type="sibTrans" cxnId="{90569EFE-B325-0A40-ABEF-48C07E9FE49C}">
      <dgm:prSet/>
      <dgm:spPr/>
      <dgm:t>
        <a:bodyPr/>
        <a:lstStyle/>
        <a:p>
          <a:endParaRPr lang="en-US"/>
        </a:p>
      </dgm:t>
    </dgm:pt>
    <dgm:pt modelId="{DBD48E4D-D62A-234D-9E0F-749E5E42BF08}">
      <dgm:prSet/>
      <dgm:spPr/>
      <dgm:t>
        <a:bodyPr/>
        <a:lstStyle/>
        <a:p>
          <a:pPr rtl="0"/>
          <a:r>
            <a:rPr lang="en-US" dirty="0" smtClean="0">
              <a:latin typeface="+mn-lt"/>
            </a:rPr>
            <a:t>Can then run as normal user</a:t>
          </a:r>
          <a:endParaRPr lang="en-US" dirty="0">
            <a:latin typeface="+mn-lt"/>
          </a:endParaRPr>
        </a:p>
      </dgm:t>
    </dgm:pt>
    <dgm:pt modelId="{F0B41B2D-17E9-AE4B-9D7F-50ED0101A0C6}" type="parTrans" cxnId="{B944D264-736B-B242-9975-69583C7B9CFA}">
      <dgm:prSet/>
      <dgm:spPr/>
      <dgm:t>
        <a:bodyPr/>
        <a:lstStyle/>
        <a:p>
          <a:endParaRPr lang="en-US"/>
        </a:p>
      </dgm:t>
    </dgm:pt>
    <dgm:pt modelId="{A11EFE0F-A218-4B47-A48C-B60F6189E39D}" type="sibTrans" cxnId="{B944D264-736B-B242-9975-69583C7B9CFA}">
      <dgm:prSet/>
      <dgm:spPr/>
      <dgm:t>
        <a:bodyPr/>
        <a:lstStyle/>
        <a:p>
          <a:endParaRPr lang="en-US"/>
        </a:p>
      </dgm:t>
    </dgm:pt>
    <dgm:pt modelId="{8B3F3009-14C1-9A4C-8B3A-21117716FEE0}">
      <dgm:prSet/>
      <dgm:spPr>
        <a:ln>
          <a:solidFill>
            <a:schemeClr val="bg2">
              <a:lumMod val="75000"/>
            </a:schemeClr>
          </a:solidFill>
        </a:ln>
      </dgm:spPr>
      <dgm:t>
        <a:bodyPr/>
        <a:lstStyle/>
        <a:p>
          <a:pPr rtl="0"/>
          <a:r>
            <a:rPr lang="en-US" dirty="0" smtClean="0">
              <a:latin typeface="+mn-lt"/>
            </a:rPr>
            <a:t>Good design partitions complex programs in smaller modules with needed privileges</a:t>
          </a:r>
          <a:endParaRPr lang="en-US" dirty="0">
            <a:latin typeface="+mn-lt"/>
          </a:endParaRPr>
        </a:p>
      </dgm:t>
    </dgm:pt>
    <dgm:pt modelId="{4BEAA604-7F30-1C48-A214-62D3F64D01EE}" type="parTrans" cxnId="{174577BA-8584-A443-823A-533A825F3630}">
      <dgm:prSet/>
      <dgm:spPr/>
      <dgm:t>
        <a:bodyPr/>
        <a:lstStyle/>
        <a:p>
          <a:endParaRPr lang="en-US"/>
        </a:p>
      </dgm:t>
    </dgm:pt>
    <dgm:pt modelId="{539DBE16-EFD2-4A49-ADF0-2B3F1B4F8F0B}" type="sibTrans" cxnId="{174577BA-8584-A443-823A-533A825F3630}">
      <dgm:prSet/>
      <dgm:spPr/>
      <dgm:t>
        <a:bodyPr/>
        <a:lstStyle/>
        <a:p>
          <a:endParaRPr lang="en-US"/>
        </a:p>
      </dgm:t>
    </dgm:pt>
    <dgm:pt modelId="{E1CEFDB6-0A2A-684D-9872-CB8439C7E71D}">
      <dgm:prSet/>
      <dgm:spPr/>
      <dgm:t>
        <a:bodyPr/>
        <a:lstStyle/>
        <a:p>
          <a:pPr rtl="0"/>
          <a:r>
            <a:rPr lang="en-US" dirty="0" smtClean="0">
              <a:latin typeface="+mn-lt"/>
            </a:rPr>
            <a:t>Provides a greater degree of isolation between the components</a:t>
          </a:r>
          <a:endParaRPr lang="en-US" dirty="0">
            <a:latin typeface="+mn-lt"/>
          </a:endParaRPr>
        </a:p>
      </dgm:t>
    </dgm:pt>
    <dgm:pt modelId="{73DF43E8-5085-EE48-93E9-93E272889CEB}" type="parTrans" cxnId="{54498E4C-6B51-4744-8B53-D0524160594B}">
      <dgm:prSet/>
      <dgm:spPr/>
      <dgm:t>
        <a:bodyPr/>
        <a:lstStyle/>
        <a:p>
          <a:endParaRPr lang="en-US"/>
        </a:p>
      </dgm:t>
    </dgm:pt>
    <dgm:pt modelId="{F8038958-E423-AD4F-8BAC-0610A2EC70EF}" type="sibTrans" cxnId="{54498E4C-6B51-4744-8B53-D0524160594B}">
      <dgm:prSet/>
      <dgm:spPr/>
      <dgm:t>
        <a:bodyPr/>
        <a:lstStyle/>
        <a:p>
          <a:endParaRPr lang="en-US"/>
        </a:p>
      </dgm:t>
    </dgm:pt>
    <dgm:pt modelId="{81F1D0AD-0C57-AA44-B394-1FF0602C7D54}">
      <dgm:prSet/>
      <dgm:spPr/>
      <dgm:t>
        <a:bodyPr/>
        <a:lstStyle/>
        <a:p>
          <a:pPr rtl="0"/>
          <a:r>
            <a:rPr lang="en-US" dirty="0" smtClean="0">
              <a:latin typeface="+mn-lt"/>
            </a:rPr>
            <a:t>Reduces the consequences of a security breach in one component</a:t>
          </a:r>
          <a:endParaRPr lang="en-US" dirty="0">
            <a:latin typeface="+mn-lt"/>
          </a:endParaRPr>
        </a:p>
      </dgm:t>
    </dgm:pt>
    <dgm:pt modelId="{17312D46-E20E-3A45-B5AA-B7CBE66AA970}" type="parTrans" cxnId="{9FED737C-2D00-DF4B-8613-960DF25A81A7}">
      <dgm:prSet/>
      <dgm:spPr/>
      <dgm:t>
        <a:bodyPr/>
        <a:lstStyle/>
        <a:p>
          <a:endParaRPr lang="en-US"/>
        </a:p>
      </dgm:t>
    </dgm:pt>
    <dgm:pt modelId="{77D21F04-D3BD-1F43-AA11-6604ACD9D488}" type="sibTrans" cxnId="{9FED737C-2D00-DF4B-8613-960DF25A81A7}">
      <dgm:prSet/>
      <dgm:spPr/>
      <dgm:t>
        <a:bodyPr/>
        <a:lstStyle/>
        <a:p>
          <a:endParaRPr lang="en-US"/>
        </a:p>
      </dgm:t>
    </dgm:pt>
    <dgm:pt modelId="{ECDB4091-84AC-A847-8A4A-ABC82321215F}">
      <dgm:prSet/>
      <dgm:spPr/>
      <dgm:t>
        <a:bodyPr/>
        <a:lstStyle/>
        <a:p>
          <a:pPr rtl="0"/>
          <a:r>
            <a:rPr lang="en-US" dirty="0" smtClean="0">
              <a:latin typeface="+mn-lt"/>
            </a:rPr>
            <a:t>Easier to test and verify</a:t>
          </a:r>
          <a:endParaRPr lang="en-US" dirty="0">
            <a:latin typeface="+mn-lt"/>
          </a:endParaRPr>
        </a:p>
      </dgm:t>
    </dgm:pt>
    <dgm:pt modelId="{BFD86E5A-491A-404A-938F-399F6FCE2A33}" type="parTrans" cxnId="{23E1B765-FF7E-6B4A-8968-5534F707163E}">
      <dgm:prSet/>
      <dgm:spPr/>
      <dgm:t>
        <a:bodyPr/>
        <a:lstStyle/>
        <a:p>
          <a:endParaRPr lang="en-US"/>
        </a:p>
      </dgm:t>
    </dgm:pt>
    <dgm:pt modelId="{DF9B0C9D-E689-A54B-BB1F-8CB3F2909383}" type="sibTrans" cxnId="{23E1B765-FF7E-6B4A-8968-5534F707163E}">
      <dgm:prSet/>
      <dgm:spPr/>
      <dgm:t>
        <a:bodyPr/>
        <a:lstStyle/>
        <a:p>
          <a:endParaRPr lang="en-US"/>
        </a:p>
      </dgm:t>
    </dgm:pt>
    <dgm:pt modelId="{E6433EEC-7EEE-1B4E-BE81-A897F22D0678}" type="pres">
      <dgm:prSet presAssocID="{E3A5C88C-FE87-AB4D-9F51-09BF85FC71DB}" presName="Name0" presStyleCnt="0">
        <dgm:presLayoutVars>
          <dgm:chMax val="7"/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B462D43-80A1-1A47-A1D5-FD989169F2AC}" type="pres">
      <dgm:prSet presAssocID="{FF1BA1F0-669E-6545-9E0C-25F05F3388C9}" presName="circle1" presStyleLbl="node1" presStyleIdx="0" presStyleCnt="3"/>
      <dgm:spPr>
        <a:solidFill>
          <a:schemeClr val="accent3">
            <a:lumMod val="75000"/>
          </a:schemeClr>
        </a:solidFill>
        <a:ln>
          <a:solidFill>
            <a:schemeClr val="accent3">
              <a:lumMod val="50000"/>
            </a:schemeClr>
          </a:solidFill>
        </a:ln>
      </dgm:spPr>
      <dgm:t>
        <a:bodyPr/>
        <a:lstStyle/>
        <a:p>
          <a:endParaRPr lang="en-US"/>
        </a:p>
      </dgm:t>
    </dgm:pt>
    <dgm:pt modelId="{D35B5DF0-12B2-A249-BCC1-8633BAAB8F24}" type="pres">
      <dgm:prSet presAssocID="{FF1BA1F0-669E-6545-9E0C-25F05F3388C9}" presName="space" presStyleCnt="0"/>
      <dgm:spPr/>
    </dgm:pt>
    <dgm:pt modelId="{796F2E90-3BDD-2646-BA2C-E1E0F3889E1A}" type="pres">
      <dgm:prSet presAssocID="{FF1BA1F0-669E-6545-9E0C-25F05F3388C9}" presName="rect1" presStyleLbl="alignAcc1" presStyleIdx="0" presStyleCnt="3"/>
      <dgm:spPr/>
      <dgm:t>
        <a:bodyPr/>
        <a:lstStyle/>
        <a:p>
          <a:endParaRPr lang="en-US"/>
        </a:p>
      </dgm:t>
    </dgm:pt>
    <dgm:pt modelId="{13368300-9698-314C-9089-C0CD4168344A}" type="pres">
      <dgm:prSet presAssocID="{B6046878-5068-EA4B-BCC2-6B10475DB2A5}" presName="vertSpace2" presStyleLbl="node1" presStyleIdx="0" presStyleCnt="3"/>
      <dgm:spPr/>
    </dgm:pt>
    <dgm:pt modelId="{7FA5719A-5F14-B149-854C-9F854D818799}" type="pres">
      <dgm:prSet presAssocID="{B6046878-5068-EA4B-BCC2-6B10475DB2A5}" presName="circle2" presStyleLbl="node1" presStyleIdx="1" presStyleCnt="3"/>
      <dgm:spPr>
        <a:solidFill>
          <a:schemeClr val="accent5">
            <a:lumMod val="75000"/>
          </a:schemeClr>
        </a:solidFill>
        <a:ln>
          <a:solidFill>
            <a:schemeClr val="bg2">
              <a:lumMod val="50000"/>
            </a:schemeClr>
          </a:solidFill>
        </a:ln>
      </dgm:spPr>
      <dgm:t>
        <a:bodyPr/>
        <a:lstStyle/>
        <a:p>
          <a:endParaRPr lang="en-US"/>
        </a:p>
      </dgm:t>
    </dgm:pt>
    <dgm:pt modelId="{F7BE75D3-9123-9948-861E-9D061ACD9C21}" type="pres">
      <dgm:prSet presAssocID="{B6046878-5068-EA4B-BCC2-6B10475DB2A5}" presName="rect2" presStyleLbl="alignAcc1" presStyleIdx="1" presStyleCnt="3"/>
      <dgm:spPr/>
      <dgm:t>
        <a:bodyPr/>
        <a:lstStyle/>
        <a:p>
          <a:endParaRPr lang="en-US"/>
        </a:p>
      </dgm:t>
    </dgm:pt>
    <dgm:pt modelId="{AC627C9E-84CE-EB44-B933-4831F092CF73}" type="pres">
      <dgm:prSet presAssocID="{8B3F3009-14C1-9A4C-8B3A-21117716FEE0}" presName="vertSpace3" presStyleLbl="node1" presStyleIdx="1" presStyleCnt="3"/>
      <dgm:spPr/>
    </dgm:pt>
    <dgm:pt modelId="{8A2A98BD-DD88-694E-8A29-7C2C782941BA}" type="pres">
      <dgm:prSet presAssocID="{8B3F3009-14C1-9A4C-8B3A-21117716FEE0}" presName="circle3" presStyleLbl="node1" presStyleIdx="2" presStyleCnt="3"/>
      <dgm:spPr>
        <a:solidFill>
          <a:schemeClr val="bg2">
            <a:lumMod val="75000"/>
          </a:schemeClr>
        </a:solidFill>
      </dgm:spPr>
      <dgm:t>
        <a:bodyPr/>
        <a:lstStyle/>
        <a:p>
          <a:endParaRPr lang="en-US"/>
        </a:p>
      </dgm:t>
    </dgm:pt>
    <dgm:pt modelId="{BF2B31DD-3A49-FE4D-BCF2-D6BD6D57A4DF}" type="pres">
      <dgm:prSet presAssocID="{8B3F3009-14C1-9A4C-8B3A-21117716FEE0}" presName="rect3" presStyleLbl="alignAcc1" presStyleIdx="2" presStyleCnt="3"/>
      <dgm:spPr/>
      <dgm:t>
        <a:bodyPr/>
        <a:lstStyle/>
        <a:p>
          <a:endParaRPr lang="en-US"/>
        </a:p>
      </dgm:t>
    </dgm:pt>
    <dgm:pt modelId="{DF99FACC-E181-154C-B417-74CDD67EF8F4}" type="pres">
      <dgm:prSet presAssocID="{FF1BA1F0-669E-6545-9E0C-25F05F3388C9}" presName="rect1ParTx" presStyleLbl="alignAcc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6A9BFE2-38B0-FE4C-A7C5-CB6A226A18C5}" type="pres">
      <dgm:prSet presAssocID="{FF1BA1F0-669E-6545-9E0C-25F05F3388C9}" presName="rect1ChTx" presStyleLbl="alignAcc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4ABD619-C2AF-6D47-A144-225CBCC17812}" type="pres">
      <dgm:prSet presAssocID="{B6046878-5068-EA4B-BCC2-6B10475DB2A5}" presName="rect2ParTx" presStyleLbl="alignAcc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79EB8F8-1150-1349-9B5C-BEEE8F196C3B}" type="pres">
      <dgm:prSet presAssocID="{B6046878-5068-EA4B-BCC2-6B10475DB2A5}" presName="rect2ChTx" presStyleLbl="alignAcc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8F3745D-77DF-3C44-B0CB-4660ABBFC028}" type="pres">
      <dgm:prSet presAssocID="{8B3F3009-14C1-9A4C-8B3A-21117716FEE0}" presName="rect3ParTx" presStyleLbl="alignAcc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3805ADD-6AAB-BF4F-B1C4-F60CB51D782C}" type="pres">
      <dgm:prSet presAssocID="{8B3F3009-14C1-9A4C-8B3A-21117716FEE0}" presName="rect3ChTx" presStyleLbl="alignAcc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FED737C-2D00-DF4B-8613-960DF25A81A7}" srcId="{8B3F3009-14C1-9A4C-8B3A-21117716FEE0}" destId="{81F1D0AD-0C57-AA44-B394-1FF0602C7D54}" srcOrd="1" destOrd="0" parTransId="{17312D46-E20E-3A45-B5AA-B7CBE66AA970}" sibTransId="{77D21F04-D3BD-1F43-AA11-6604ACD9D488}"/>
    <dgm:cxn modelId="{C356652B-FCB9-274A-9A6F-EE779925A156}" type="presOf" srcId="{B6046878-5068-EA4B-BCC2-6B10475DB2A5}" destId="{E4ABD619-C2AF-6D47-A144-225CBCC17812}" srcOrd="1" destOrd="0" presId="urn:microsoft.com/office/officeart/2005/8/layout/target3"/>
    <dgm:cxn modelId="{EC6D3FA2-A6E1-9840-8151-9F3FB0949A27}" type="presOf" srcId="{81F1D0AD-0C57-AA44-B394-1FF0602C7D54}" destId="{93805ADD-6AAB-BF4F-B1C4-F60CB51D782C}" srcOrd="0" destOrd="1" presId="urn:microsoft.com/office/officeart/2005/8/layout/target3"/>
    <dgm:cxn modelId="{23E1B765-FF7E-6B4A-8968-5534F707163E}" srcId="{8B3F3009-14C1-9A4C-8B3A-21117716FEE0}" destId="{ECDB4091-84AC-A847-8A4A-ABC82321215F}" srcOrd="2" destOrd="0" parTransId="{BFD86E5A-491A-404A-938F-399F6FCE2A33}" sibTransId="{DF9B0C9D-E689-A54B-BB1F-8CB3F2909383}"/>
    <dgm:cxn modelId="{54498E4C-6B51-4744-8B53-D0524160594B}" srcId="{8B3F3009-14C1-9A4C-8B3A-21117716FEE0}" destId="{E1CEFDB6-0A2A-684D-9872-CB8439C7E71D}" srcOrd="0" destOrd="0" parTransId="{73DF43E8-5085-EE48-93E9-93E272889CEB}" sibTransId="{F8038958-E423-AD4F-8BAC-0610A2EC70EF}"/>
    <dgm:cxn modelId="{B944D264-736B-B242-9975-69583C7B9CFA}" srcId="{B6046878-5068-EA4B-BCC2-6B10475DB2A5}" destId="{DBD48E4D-D62A-234D-9E0F-749E5E42BF08}" srcOrd="0" destOrd="0" parTransId="{F0B41B2D-17E9-AE4B-9D7F-50ED0101A0C6}" sibTransId="{A11EFE0F-A218-4B47-A48C-B60F6189E39D}"/>
    <dgm:cxn modelId="{D3E98CC8-ABC6-2146-B431-B381EAB818A3}" type="presOf" srcId="{ECDB4091-84AC-A847-8A4A-ABC82321215F}" destId="{93805ADD-6AAB-BF4F-B1C4-F60CB51D782C}" srcOrd="0" destOrd="2" presId="urn:microsoft.com/office/officeart/2005/8/layout/target3"/>
    <dgm:cxn modelId="{10D40C10-9C2A-B34A-A56C-3061B3A76A36}" type="presOf" srcId="{E1CEFDB6-0A2A-684D-9872-CB8439C7E71D}" destId="{93805ADD-6AAB-BF4F-B1C4-F60CB51D782C}" srcOrd="0" destOrd="0" presId="urn:microsoft.com/office/officeart/2005/8/layout/target3"/>
    <dgm:cxn modelId="{F96FE5E1-CB14-E743-A3C7-67BAC6DE1FB2}" type="presOf" srcId="{FF1BA1F0-669E-6545-9E0C-25F05F3388C9}" destId="{DF99FACC-E181-154C-B417-74CDD67EF8F4}" srcOrd="1" destOrd="0" presId="urn:microsoft.com/office/officeart/2005/8/layout/target3"/>
    <dgm:cxn modelId="{0091EFE1-743D-A343-A58C-70F62880AA02}" type="presOf" srcId="{FF1BA1F0-669E-6545-9E0C-25F05F3388C9}" destId="{796F2E90-3BDD-2646-BA2C-E1E0F3889E1A}" srcOrd="0" destOrd="0" presId="urn:microsoft.com/office/officeart/2005/8/layout/target3"/>
    <dgm:cxn modelId="{2AAAAB1C-7BC1-FB46-BA63-F6BF6A4A50D8}" srcId="{FF1BA1F0-669E-6545-9E0C-25F05F3388C9}" destId="{A7B49982-C1CB-FB4E-AC9A-04A2EBCC287F}" srcOrd="1" destOrd="0" parTransId="{CA6B1E35-27E1-6E49-9238-4C2A9ED802BA}" sibTransId="{7B46C602-7EE2-2744-B669-AB398F29D156}"/>
    <dgm:cxn modelId="{20379596-CF61-DB40-88C1-433FC6805621}" type="presOf" srcId="{8B3F3009-14C1-9A4C-8B3A-21117716FEE0}" destId="{BF2B31DD-3A49-FE4D-BCF2-D6BD6D57A4DF}" srcOrd="0" destOrd="0" presId="urn:microsoft.com/office/officeart/2005/8/layout/target3"/>
    <dgm:cxn modelId="{90569EFE-B325-0A40-ABEF-48C07E9FE49C}" srcId="{E3A5C88C-FE87-AB4D-9F51-09BF85FC71DB}" destId="{B6046878-5068-EA4B-BCC2-6B10475DB2A5}" srcOrd="1" destOrd="0" parTransId="{E6B69D4B-100C-A74C-8097-AD310C1ABC30}" sibTransId="{FF602E2A-E52E-3D44-AB35-FD41F9DB4DF7}"/>
    <dgm:cxn modelId="{0912B1D7-B406-384A-83B5-4A7A7DBE228A}" type="presOf" srcId="{A7B49982-C1CB-FB4E-AC9A-04A2EBCC287F}" destId="{46A9BFE2-38B0-FE4C-A7C5-CB6A226A18C5}" srcOrd="0" destOrd="1" presId="urn:microsoft.com/office/officeart/2005/8/layout/target3"/>
    <dgm:cxn modelId="{9360D7E2-F136-0A48-9A4E-45A08CBCC6C9}" type="presOf" srcId="{B6046878-5068-EA4B-BCC2-6B10475DB2A5}" destId="{F7BE75D3-9123-9948-861E-9D061ACD9C21}" srcOrd="0" destOrd="0" presId="urn:microsoft.com/office/officeart/2005/8/layout/target3"/>
    <dgm:cxn modelId="{9DD2A992-A399-E84A-809A-560B6182F988}" type="presOf" srcId="{8B3F3009-14C1-9A4C-8B3A-21117716FEE0}" destId="{38F3745D-77DF-3C44-B0CB-4660ABBFC028}" srcOrd="1" destOrd="0" presId="urn:microsoft.com/office/officeart/2005/8/layout/target3"/>
    <dgm:cxn modelId="{5FC7D759-FC17-0443-A7F6-7BADE363146C}" type="presOf" srcId="{FFF120AF-F124-F943-8754-0E33D899FBD5}" destId="{46A9BFE2-38B0-FE4C-A7C5-CB6A226A18C5}" srcOrd="0" destOrd="0" presId="urn:microsoft.com/office/officeart/2005/8/layout/target3"/>
    <dgm:cxn modelId="{6E601CCC-75DE-5747-90F0-E9D2B360D48E}" srcId="{FF1BA1F0-669E-6545-9E0C-25F05F3388C9}" destId="{FFF120AF-F124-F943-8754-0E33D899FBD5}" srcOrd="0" destOrd="0" parTransId="{0CC86535-6788-6944-BAA7-A5181C478CDE}" sibTransId="{769668F6-1BDF-3F42-B1B1-86E183796A2C}"/>
    <dgm:cxn modelId="{BB8A7E20-B29F-B044-A0D2-3C0394463420}" srcId="{E3A5C88C-FE87-AB4D-9F51-09BF85FC71DB}" destId="{FF1BA1F0-669E-6545-9E0C-25F05F3388C9}" srcOrd="0" destOrd="0" parTransId="{A0E9DBBE-C9DD-134C-980A-49F45E231B37}" sibTransId="{5C91B96A-23B1-7949-A1A3-10AD1AE9D1B9}"/>
    <dgm:cxn modelId="{174577BA-8584-A443-823A-533A825F3630}" srcId="{E3A5C88C-FE87-AB4D-9F51-09BF85FC71DB}" destId="{8B3F3009-14C1-9A4C-8B3A-21117716FEE0}" srcOrd="2" destOrd="0" parTransId="{4BEAA604-7F30-1C48-A214-62D3F64D01EE}" sibTransId="{539DBE16-EFD2-4A49-ADF0-2B3F1B4F8F0B}"/>
    <dgm:cxn modelId="{380E117B-02A2-0841-A485-342883FF44CB}" type="presOf" srcId="{DBD48E4D-D62A-234D-9E0F-749E5E42BF08}" destId="{D79EB8F8-1150-1349-9B5C-BEEE8F196C3B}" srcOrd="0" destOrd="0" presId="urn:microsoft.com/office/officeart/2005/8/layout/target3"/>
    <dgm:cxn modelId="{C19396B3-B402-8A4B-816A-0C7A8CE5BED8}" type="presOf" srcId="{E3A5C88C-FE87-AB4D-9F51-09BF85FC71DB}" destId="{E6433EEC-7EEE-1B4E-BE81-A897F22D0678}" srcOrd="0" destOrd="0" presId="urn:microsoft.com/office/officeart/2005/8/layout/target3"/>
    <dgm:cxn modelId="{05CE47FD-4AB6-3545-8901-536488EFF9FC}" type="presParOf" srcId="{E6433EEC-7EEE-1B4E-BE81-A897F22D0678}" destId="{FB462D43-80A1-1A47-A1D5-FD989169F2AC}" srcOrd="0" destOrd="0" presId="urn:microsoft.com/office/officeart/2005/8/layout/target3"/>
    <dgm:cxn modelId="{C2C62C41-6D88-EC4E-838B-173BEEEB15ED}" type="presParOf" srcId="{E6433EEC-7EEE-1B4E-BE81-A897F22D0678}" destId="{D35B5DF0-12B2-A249-BCC1-8633BAAB8F24}" srcOrd="1" destOrd="0" presId="urn:microsoft.com/office/officeart/2005/8/layout/target3"/>
    <dgm:cxn modelId="{A3BE7744-5199-644A-B4E5-29AB0DED1C6E}" type="presParOf" srcId="{E6433EEC-7EEE-1B4E-BE81-A897F22D0678}" destId="{796F2E90-3BDD-2646-BA2C-E1E0F3889E1A}" srcOrd="2" destOrd="0" presId="urn:microsoft.com/office/officeart/2005/8/layout/target3"/>
    <dgm:cxn modelId="{4E4761D0-7C30-094C-94D4-E68B02A5E877}" type="presParOf" srcId="{E6433EEC-7EEE-1B4E-BE81-A897F22D0678}" destId="{13368300-9698-314C-9089-C0CD4168344A}" srcOrd="3" destOrd="0" presId="urn:microsoft.com/office/officeart/2005/8/layout/target3"/>
    <dgm:cxn modelId="{2BB0315C-4B85-4245-9465-ED7340B05369}" type="presParOf" srcId="{E6433EEC-7EEE-1B4E-BE81-A897F22D0678}" destId="{7FA5719A-5F14-B149-854C-9F854D818799}" srcOrd="4" destOrd="0" presId="urn:microsoft.com/office/officeart/2005/8/layout/target3"/>
    <dgm:cxn modelId="{DD8C84EF-839E-2040-B73F-22E8523E2518}" type="presParOf" srcId="{E6433EEC-7EEE-1B4E-BE81-A897F22D0678}" destId="{F7BE75D3-9123-9948-861E-9D061ACD9C21}" srcOrd="5" destOrd="0" presId="urn:microsoft.com/office/officeart/2005/8/layout/target3"/>
    <dgm:cxn modelId="{69FD9D8C-D846-FE4F-B044-BB1DFA5AE2C9}" type="presParOf" srcId="{E6433EEC-7EEE-1B4E-BE81-A897F22D0678}" destId="{AC627C9E-84CE-EB44-B933-4831F092CF73}" srcOrd="6" destOrd="0" presId="urn:microsoft.com/office/officeart/2005/8/layout/target3"/>
    <dgm:cxn modelId="{220C6E18-E9E1-124F-9FEF-C7744EEEF594}" type="presParOf" srcId="{E6433EEC-7EEE-1B4E-BE81-A897F22D0678}" destId="{8A2A98BD-DD88-694E-8A29-7C2C782941BA}" srcOrd="7" destOrd="0" presId="urn:microsoft.com/office/officeart/2005/8/layout/target3"/>
    <dgm:cxn modelId="{2A46F304-14C0-F34B-ABA6-595FE2BCD566}" type="presParOf" srcId="{E6433EEC-7EEE-1B4E-BE81-A897F22D0678}" destId="{BF2B31DD-3A49-FE4D-BCF2-D6BD6D57A4DF}" srcOrd="8" destOrd="0" presId="urn:microsoft.com/office/officeart/2005/8/layout/target3"/>
    <dgm:cxn modelId="{9F1C52E8-CB38-4042-B323-2D722770E3FF}" type="presParOf" srcId="{E6433EEC-7EEE-1B4E-BE81-A897F22D0678}" destId="{DF99FACC-E181-154C-B417-74CDD67EF8F4}" srcOrd="9" destOrd="0" presId="urn:microsoft.com/office/officeart/2005/8/layout/target3"/>
    <dgm:cxn modelId="{C8ECAFD2-91BA-4541-9126-334716EC1C63}" type="presParOf" srcId="{E6433EEC-7EEE-1B4E-BE81-A897F22D0678}" destId="{46A9BFE2-38B0-FE4C-A7C5-CB6A226A18C5}" srcOrd="10" destOrd="0" presId="urn:microsoft.com/office/officeart/2005/8/layout/target3"/>
    <dgm:cxn modelId="{99819DFA-DB1E-B444-8F15-9292B71AF981}" type="presParOf" srcId="{E6433EEC-7EEE-1B4E-BE81-A897F22D0678}" destId="{E4ABD619-C2AF-6D47-A144-225CBCC17812}" srcOrd="11" destOrd="0" presId="urn:microsoft.com/office/officeart/2005/8/layout/target3"/>
    <dgm:cxn modelId="{B119CA3F-E368-5D4C-9208-0FB333D1B472}" type="presParOf" srcId="{E6433EEC-7EEE-1B4E-BE81-A897F22D0678}" destId="{D79EB8F8-1150-1349-9B5C-BEEE8F196C3B}" srcOrd="12" destOrd="0" presId="urn:microsoft.com/office/officeart/2005/8/layout/target3"/>
    <dgm:cxn modelId="{33C9263B-3061-CC4D-81FA-AEB8D367B7F9}" type="presParOf" srcId="{E6433EEC-7EEE-1B4E-BE81-A897F22D0678}" destId="{38F3745D-77DF-3C44-B0CB-4660ABBFC028}" srcOrd="13" destOrd="0" presId="urn:microsoft.com/office/officeart/2005/8/layout/target3"/>
    <dgm:cxn modelId="{A55D519B-B58A-644D-BDEA-6B3041261B53}" type="presParOf" srcId="{E6433EEC-7EEE-1B4E-BE81-A897F22D0678}" destId="{93805ADD-6AAB-BF4F-B1C4-F60CB51D782C}" srcOrd="14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4742C70-801B-DF41-91B9-408966BB0002}" type="doc">
      <dgm:prSet loTypeId="urn:microsoft.com/office/officeart/2009/3/layout/StepUpProcess" loCatId="process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C3994F6-667D-D945-9BC9-8F1BEFB03EA3}">
      <dgm:prSet custT="1"/>
      <dgm:spPr/>
      <dgm:t>
        <a:bodyPr/>
        <a:lstStyle/>
        <a:p>
          <a:pPr rtl="0"/>
          <a:r>
            <a:rPr lang="en-US" sz="2400" dirty="0" smtClean="0">
              <a:latin typeface="+mj-lt"/>
            </a:rPr>
            <a:t>Programs use system calls and standard library functions for common operations</a:t>
          </a:r>
          <a:endParaRPr lang="en-US" sz="2400" dirty="0">
            <a:latin typeface="+mj-lt"/>
          </a:endParaRPr>
        </a:p>
      </dgm:t>
    </dgm:pt>
    <dgm:pt modelId="{229FA34A-D017-8943-8DF1-35E441541DA5}" type="parTrans" cxnId="{0FB8CBEE-2445-CA4C-809E-92103459270F}">
      <dgm:prSet/>
      <dgm:spPr/>
      <dgm:t>
        <a:bodyPr/>
        <a:lstStyle/>
        <a:p>
          <a:endParaRPr lang="en-US"/>
        </a:p>
      </dgm:t>
    </dgm:pt>
    <dgm:pt modelId="{95CDD691-B18B-DB48-BFAF-D3E191431F70}" type="sibTrans" cxnId="{0FB8CBEE-2445-CA4C-809E-92103459270F}">
      <dgm:prSet/>
      <dgm:spPr/>
      <dgm:t>
        <a:bodyPr/>
        <a:lstStyle/>
        <a:p>
          <a:endParaRPr lang="en-US"/>
        </a:p>
      </dgm:t>
    </dgm:pt>
    <dgm:pt modelId="{14F36AC7-CEFE-6F45-BB59-EE3096DFC2D8}">
      <dgm:prSet custT="1"/>
      <dgm:spPr/>
      <dgm:t>
        <a:bodyPr/>
        <a:lstStyle/>
        <a:p>
          <a:pPr rtl="0"/>
          <a:r>
            <a:rPr lang="en-US" sz="2400" dirty="0" smtClean="0">
              <a:latin typeface="+mj-lt"/>
            </a:rPr>
            <a:t>Programmers make assumptions about their operation</a:t>
          </a:r>
          <a:endParaRPr lang="en-US" sz="2400" dirty="0">
            <a:latin typeface="+mj-lt"/>
          </a:endParaRPr>
        </a:p>
      </dgm:t>
    </dgm:pt>
    <dgm:pt modelId="{AF3CE435-F4D3-CC43-9671-A05C226144B1}" type="parTrans" cxnId="{1434DC26-A7A7-F343-9016-912DEF3518E4}">
      <dgm:prSet/>
      <dgm:spPr/>
      <dgm:t>
        <a:bodyPr/>
        <a:lstStyle/>
        <a:p>
          <a:endParaRPr lang="en-US"/>
        </a:p>
      </dgm:t>
    </dgm:pt>
    <dgm:pt modelId="{59BB9021-5B4C-3A4A-A7AA-FD46803C2470}" type="sibTrans" cxnId="{1434DC26-A7A7-F343-9016-912DEF3518E4}">
      <dgm:prSet/>
      <dgm:spPr/>
      <dgm:t>
        <a:bodyPr/>
        <a:lstStyle/>
        <a:p>
          <a:endParaRPr lang="en-US"/>
        </a:p>
      </dgm:t>
    </dgm:pt>
    <dgm:pt modelId="{10E8305F-6B3E-674C-B362-FBA44B4A1B04}">
      <dgm:prSet custT="1"/>
      <dgm:spPr/>
      <dgm:t>
        <a:bodyPr/>
        <a:lstStyle/>
        <a:p>
          <a:pPr rtl="0"/>
          <a:r>
            <a:rPr lang="en-US" sz="1600" dirty="0" smtClean="0">
              <a:latin typeface="+mj-lt"/>
            </a:rPr>
            <a:t>If incorrect behavior is not what is expected</a:t>
          </a:r>
          <a:endParaRPr lang="en-US" sz="1600" dirty="0">
            <a:latin typeface="+mj-lt"/>
          </a:endParaRPr>
        </a:p>
      </dgm:t>
    </dgm:pt>
    <dgm:pt modelId="{9526F9CF-0791-9542-824E-71DB051C885F}" type="parTrans" cxnId="{E2B41C99-EAC1-BF47-81F4-87F16EF7A9C4}">
      <dgm:prSet/>
      <dgm:spPr/>
      <dgm:t>
        <a:bodyPr/>
        <a:lstStyle/>
        <a:p>
          <a:endParaRPr lang="en-US"/>
        </a:p>
      </dgm:t>
    </dgm:pt>
    <dgm:pt modelId="{F8F0D295-4055-064D-8FC5-1537B736F3CB}" type="sibTrans" cxnId="{E2B41C99-EAC1-BF47-81F4-87F16EF7A9C4}">
      <dgm:prSet/>
      <dgm:spPr/>
      <dgm:t>
        <a:bodyPr/>
        <a:lstStyle/>
        <a:p>
          <a:endParaRPr lang="en-US"/>
        </a:p>
      </dgm:t>
    </dgm:pt>
    <dgm:pt modelId="{F06DD674-4D02-754A-AEA5-1B33ACA2FA53}">
      <dgm:prSet custT="1"/>
      <dgm:spPr/>
      <dgm:t>
        <a:bodyPr/>
        <a:lstStyle/>
        <a:p>
          <a:pPr rtl="0"/>
          <a:r>
            <a:rPr lang="en-US" sz="1600" dirty="0" smtClean="0">
              <a:latin typeface="+mj-lt"/>
            </a:rPr>
            <a:t>May be a result of system optimizing access to shared resources</a:t>
          </a:r>
          <a:endParaRPr lang="en-US" sz="1600" dirty="0">
            <a:latin typeface="+mj-lt"/>
          </a:endParaRPr>
        </a:p>
      </dgm:t>
    </dgm:pt>
    <dgm:pt modelId="{88344D57-9B3E-FC41-9275-4D83587E7F54}" type="parTrans" cxnId="{C1EE16DF-BBC7-7B49-B04B-17E603328803}">
      <dgm:prSet/>
      <dgm:spPr/>
      <dgm:t>
        <a:bodyPr/>
        <a:lstStyle/>
        <a:p>
          <a:endParaRPr lang="en-US"/>
        </a:p>
      </dgm:t>
    </dgm:pt>
    <dgm:pt modelId="{E2A714ED-01DA-2948-8150-AE940E5552FF}" type="sibTrans" cxnId="{C1EE16DF-BBC7-7B49-B04B-17E603328803}">
      <dgm:prSet/>
      <dgm:spPr/>
      <dgm:t>
        <a:bodyPr/>
        <a:lstStyle/>
        <a:p>
          <a:endParaRPr lang="en-US"/>
        </a:p>
      </dgm:t>
    </dgm:pt>
    <dgm:pt modelId="{09F1324D-B254-1B40-A418-A9F7DC6E9A85}">
      <dgm:prSet custT="1"/>
      <dgm:spPr/>
      <dgm:t>
        <a:bodyPr/>
        <a:lstStyle/>
        <a:p>
          <a:pPr rtl="0"/>
          <a:r>
            <a:rPr lang="en-US" sz="1600" dirty="0" smtClean="0">
              <a:latin typeface="+mj-lt"/>
            </a:rPr>
            <a:t>Results in requests for services being buffered, </a:t>
          </a:r>
          <a:r>
            <a:rPr lang="en-US" sz="1600" dirty="0" err="1" smtClean="0">
              <a:latin typeface="+mj-lt"/>
            </a:rPr>
            <a:t>resequenced</a:t>
          </a:r>
          <a:r>
            <a:rPr lang="en-US" sz="1600" dirty="0" smtClean="0">
              <a:latin typeface="+mj-lt"/>
            </a:rPr>
            <a:t>, or otherwise modified to optimize system use</a:t>
          </a:r>
          <a:endParaRPr lang="en-US" sz="1600" dirty="0">
            <a:latin typeface="+mj-lt"/>
          </a:endParaRPr>
        </a:p>
      </dgm:t>
    </dgm:pt>
    <dgm:pt modelId="{382DA4D4-5FFE-EB48-9400-277DEEC57196}" type="parTrans" cxnId="{7F3C81CE-2727-A048-B486-C3540C7941C8}">
      <dgm:prSet/>
      <dgm:spPr/>
      <dgm:t>
        <a:bodyPr/>
        <a:lstStyle/>
        <a:p>
          <a:endParaRPr lang="en-US"/>
        </a:p>
      </dgm:t>
    </dgm:pt>
    <dgm:pt modelId="{3C1143C0-3C55-F141-BAC6-7FE7966C1AD7}" type="sibTrans" cxnId="{7F3C81CE-2727-A048-B486-C3540C7941C8}">
      <dgm:prSet/>
      <dgm:spPr/>
      <dgm:t>
        <a:bodyPr/>
        <a:lstStyle/>
        <a:p>
          <a:endParaRPr lang="en-US"/>
        </a:p>
      </dgm:t>
    </dgm:pt>
    <dgm:pt modelId="{945E12E1-A5B4-2F49-8B6C-A172663FEA60}">
      <dgm:prSet custT="1"/>
      <dgm:spPr/>
      <dgm:t>
        <a:bodyPr/>
        <a:lstStyle/>
        <a:p>
          <a:pPr rtl="0"/>
          <a:r>
            <a:rPr lang="en-US" sz="1600" dirty="0" smtClean="0">
              <a:latin typeface="+mj-lt"/>
            </a:rPr>
            <a:t>Optimizations can conflict with program goals</a:t>
          </a:r>
          <a:endParaRPr lang="en-US" sz="1600" dirty="0">
            <a:latin typeface="+mj-lt"/>
          </a:endParaRPr>
        </a:p>
      </dgm:t>
    </dgm:pt>
    <dgm:pt modelId="{2B72242F-C87C-A943-A890-2529339C6345}" type="parTrans" cxnId="{3446BC64-4AE0-6749-8564-4F95EEE4B6C4}">
      <dgm:prSet/>
      <dgm:spPr/>
      <dgm:t>
        <a:bodyPr/>
        <a:lstStyle/>
        <a:p>
          <a:endParaRPr lang="en-US"/>
        </a:p>
      </dgm:t>
    </dgm:pt>
    <dgm:pt modelId="{6FC44EB2-2618-A64A-8816-9E5B21F25AF2}" type="sibTrans" cxnId="{3446BC64-4AE0-6749-8564-4F95EEE4B6C4}">
      <dgm:prSet/>
      <dgm:spPr/>
      <dgm:t>
        <a:bodyPr/>
        <a:lstStyle/>
        <a:p>
          <a:endParaRPr lang="en-US"/>
        </a:p>
      </dgm:t>
    </dgm:pt>
    <dgm:pt modelId="{F2C8B3F7-6F2A-1744-B3D2-EAE611D1CED3}" type="pres">
      <dgm:prSet presAssocID="{24742C70-801B-DF41-91B9-408966BB0002}" presName="rootnode" presStyleCnt="0">
        <dgm:presLayoutVars>
          <dgm:chMax/>
          <dgm:chPref/>
          <dgm:dir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53CB5723-BD30-9042-BFF8-2905C75D4646}" type="pres">
      <dgm:prSet presAssocID="{CC3994F6-667D-D945-9BC9-8F1BEFB03EA3}" presName="composite" presStyleCnt="0"/>
      <dgm:spPr/>
    </dgm:pt>
    <dgm:pt modelId="{3961B64A-8DF9-FF4C-8678-29D880DC03C7}" type="pres">
      <dgm:prSet presAssocID="{CC3994F6-667D-D945-9BC9-8F1BEFB03EA3}" presName="LShape" presStyleLbl="alignNode1" presStyleIdx="0" presStyleCnt="3"/>
      <dgm:spPr>
        <a:solidFill>
          <a:schemeClr val="accent5">
            <a:lumMod val="75000"/>
          </a:schemeClr>
        </a:solidFill>
        <a:ln>
          <a:solidFill>
            <a:schemeClr val="accent5">
              <a:lumMod val="50000"/>
            </a:schemeClr>
          </a:solidFill>
        </a:ln>
      </dgm:spPr>
      <dgm:t>
        <a:bodyPr/>
        <a:lstStyle/>
        <a:p>
          <a:endParaRPr lang="en-US"/>
        </a:p>
      </dgm:t>
    </dgm:pt>
    <dgm:pt modelId="{6FA7C658-9A96-D44A-B2F7-A2D7686B328C}" type="pres">
      <dgm:prSet presAssocID="{CC3994F6-667D-D945-9BC9-8F1BEFB03EA3}" presName="ParentText" presStyleLbl="revTx" presStyleIdx="0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271C7D3-510D-834D-84EE-130D1C5BD966}" type="pres">
      <dgm:prSet presAssocID="{CC3994F6-667D-D945-9BC9-8F1BEFB03EA3}" presName="Triangle" presStyleLbl="alignNode1" presStyleIdx="1" presStyleCnt="3"/>
      <dgm:spPr>
        <a:solidFill>
          <a:schemeClr val="accent3">
            <a:lumMod val="75000"/>
          </a:schemeClr>
        </a:solidFill>
        <a:ln>
          <a:solidFill>
            <a:schemeClr val="accent3">
              <a:lumMod val="50000"/>
            </a:schemeClr>
          </a:solidFill>
        </a:ln>
      </dgm:spPr>
      <dgm:t>
        <a:bodyPr/>
        <a:lstStyle/>
        <a:p>
          <a:endParaRPr lang="en-US"/>
        </a:p>
      </dgm:t>
    </dgm:pt>
    <dgm:pt modelId="{82BDCAAF-5E95-6B47-A7A1-42742314AD69}" type="pres">
      <dgm:prSet presAssocID="{95CDD691-B18B-DB48-BFAF-D3E191431F70}" presName="sibTrans" presStyleCnt="0"/>
      <dgm:spPr/>
    </dgm:pt>
    <dgm:pt modelId="{11ED0FE9-766D-AA43-89CE-474FE1EC2074}" type="pres">
      <dgm:prSet presAssocID="{95CDD691-B18B-DB48-BFAF-D3E191431F70}" presName="space" presStyleCnt="0"/>
      <dgm:spPr/>
    </dgm:pt>
    <dgm:pt modelId="{DEF03E45-C96C-EA43-9BF7-5F687F6EFF03}" type="pres">
      <dgm:prSet presAssocID="{14F36AC7-CEFE-6F45-BB59-EE3096DFC2D8}" presName="composite" presStyleCnt="0"/>
      <dgm:spPr/>
    </dgm:pt>
    <dgm:pt modelId="{96937F3D-859C-D440-83F6-D5858B36D13A}" type="pres">
      <dgm:prSet presAssocID="{14F36AC7-CEFE-6F45-BB59-EE3096DFC2D8}" presName="LShape" presStyleLbl="alignNode1" presStyleIdx="2" presStyleCnt="3"/>
      <dgm:spPr>
        <a:solidFill>
          <a:schemeClr val="accent5">
            <a:lumMod val="75000"/>
          </a:schemeClr>
        </a:solidFill>
        <a:ln>
          <a:solidFill>
            <a:schemeClr val="accent5">
              <a:lumMod val="50000"/>
            </a:schemeClr>
          </a:solidFill>
        </a:ln>
      </dgm:spPr>
      <dgm:t>
        <a:bodyPr/>
        <a:lstStyle/>
        <a:p>
          <a:endParaRPr lang="en-US"/>
        </a:p>
      </dgm:t>
    </dgm:pt>
    <dgm:pt modelId="{40CAD590-BBE1-C641-88F4-9DCEEE4E685C}" type="pres">
      <dgm:prSet presAssocID="{14F36AC7-CEFE-6F45-BB59-EE3096DFC2D8}" presName="ParentText" presStyleLbl="revTx" presStyleIdx="1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01F4568-BB52-E94E-A1C4-616F326E7333}" type="presOf" srcId="{24742C70-801B-DF41-91B9-408966BB0002}" destId="{F2C8B3F7-6F2A-1744-B3D2-EAE611D1CED3}" srcOrd="0" destOrd="0" presId="urn:microsoft.com/office/officeart/2009/3/layout/StepUpProcess"/>
    <dgm:cxn modelId="{699F7690-39CD-6C42-86D8-013DF68B72DF}" type="presOf" srcId="{945E12E1-A5B4-2F49-8B6C-A172663FEA60}" destId="{40CAD590-BBE1-C641-88F4-9DCEEE4E685C}" srcOrd="0" destOrd="4" presId="urn:microsoft.com/office/officeart/2009/3/layout/StepUpProcess"/>
    <dgm:cxn modelId="{9248D340-0927-D248-A233-E06E6EAD7D4B}" type="presOf" srcId="{CC3994F6-667D-D945-9BC9-8F1BEFB03EA3}" destId="{6FA7C658-9A96-D44A-B2F7-A2D7686B328C}" srcOrd="0" destOrd="0" presId="urn:microsoft.com/office/officeart/2009/3/layout/StepUpProcess"/>
    <dgm:cxn modelId="{C1EE16DF-BBC7-7B49-B04B-17E603328803}" srcId="{14F36AC7-CEFE-6F45-BB59-EE3096DFC2D8}" destId="{F06DD674-4D02-754A-AEA5-1B33ACA2FA53}" srcOrd="1" destOrd="0" parTransId="{88344D57-9B3E-FC41-9275-4D83587E7F54}" sibTransId="{E2A714ED-01DA-2948-8150-AE940E5552FF}"/>
    <dgm:cxn modelId="{0FB8CBEE-2445-CA4C-809E-92103459270F}" srcId="{24742C70-801B-DF41-91B9-408966BB0002}" destId="{CC3994F6-667D-D945-9BC9-8F1BEFB03EA3}" srcOrd="0" destOrd="0" parTransId="{229FA34A-D017-8943-8DF1-35E441541DA5}" sibTransId="{95CDD691-B18B-DB48-BFAF-D3E191431F70}"/>
    <dgm:cxn modelId="{E19E29EC-01D9-704D-9275-E021C8E1C10F}" type="presOf" srcId="{10E8305F-6B3E-674C-B362-FBA44B4A1B04}" destId="{40CAD590-BBE1-C641-88F4-9DCEEE4E685C}" srcOrd="0" destOrd="1" presId="urn:microsoft.com/office/officeart/2009/3/layout/StepUpProcess"/>
    <dgm:cxn modelId="{3446BC64-4AE0-6749-8564-4F95EEE4B6C4}" srcId="{14F36AC7-CEFE-6F45-BB59-EE3096DFC2D8}" destId="{945E12E1-A5B4-2F49-8B6C-A172663FEA60}" srcOrd="3" destOrd="0" parTransId="{2B72242F-C87C-A943-A890-2529339C6345}" sibTransId="{6FC44EB2-2618-A64A-8816-9E5B21F25AF2}"/>
    <dgm:cxn modelId="{39029174-BF60-5B44-AFF4-51FC81D8BF2D}" type="presOf" srcId="{14F36AC7-CEFE-6F45-BB59-EE3096DFC2D8}" destId="{40CAD590-BBE1-C641-88F4-9DCEEE4E685C}" srcOrd="0" destOrd="0" presId="urn:microsoft.com/office/officeart/2009/3/layout/StepUpProcess"/>
    <dgm:cxn modelId="{1959FC1B-5CDC-AF4C-A8B1-3FE98F21033D}" type="presOf" srcId="{F06DD674-4D02-754A-AEA5-1B33ACA2FA53}" destId="{40CAD590-BBE1-C641-88F4-9DCEEE4E685C}" srcOrd="0" destOrd="2" presId="urn:microsoft.com/office/officeart/2009/3/layout/StepUpProcess"/>
    <dgm:cxn modelId="{7F3C81CE-2727-A048-B486-C3540C7941C8}" srcId="{14F36AC7-CEFE-6F45-BB59-EE3096DFC2D8}" destId="{09F1324D-B254-1B40-A418-A9F7DC6E9A85}" srcOrd="2" destOrd="0" parTransId="{382DA4D4-5FFE-EB48-9400-277DEEC57196}" sibTransId="{3C1143C0-3C55-F141-BAC6-7FE7966C1AD7}"/>
    <dgm:cxn modelId="{1434DC26-A7A7-F343-9016-912DEF3518E4}" srcId="{24742C70-801B-DF41-91B9-408966BB0002}" destId="{14F36AC7-CEFE-6F45-BB59-EE3096DFC2D8}" srcOrd="1" destOrd="0" parTransId="{AF3CE435-F4D3-CC43-9671-A05C226144B1}" sibTransId="{59BB9021-5B4C-3A4A-A7AA-FD46803C2470}"/>
    <dgm:cxn modelId="{909FA51A-0D57-594D-8AC3-AD3B84938A45}" type="presOf" srcId="{09F1324D-B254-1B40-A418-A9F7DC6E9A85}" destId="{40CAD590-BBE1-C641-88F4-9DCEEE4E685C}" srcOrd="0" destOrd="3" presId="urn:microsoft.com/office/officeart/2009/3/layout/StepUpProcess"/>
    <dgm:cxn modelId="{E2B41C99-EAC1-BF47-81F4-87F16EF7A9C4}" srcId="{14F36AC7-CEFE-6F45-BB59-EE3096DFC2D8}" destId="{10E8305F-6B3E-674C-B362-FBA44B4A1B04}" srcOrd="0" destOrd="0" parTransId="{9526F9CF-0791-9542-824E-71DB051C885F}" sibTransId="{F8F0D295-4055-064D-8FC5-1537B736F3CB}"/>
    <dgm:cxn modelId="{B98BFD76-F213-F245-9DDC-2E1E6413425E}" type="presParOf" srcId="{F2C8B3F7-6F2A-1744-B3D2-EAE611D1CED3}" destId="{53CB5723-BD30-9042-BFF8-2905C75D4646}" srcOrd="0" destOrd="0" presId="urn:microsoft.com/office/officeart/2009/3/layout/StepUpProcess"/>
    <dgm:cxn modelId="{63351B39-9BA3-F648-BC43-A110DBCCEB91}" type="presParOf" srcId="{53CB5723-BD30-9042-BFF8-2905C75D4646}" destId="{3961B64A-8DF9-FF4C-8678-29D880DC03C7}" srcOrd="0" destOrd="0" presId="urn:microsoft.com/office/officeart/2009/3/layout/StepUpProcess"/>
    <dgm:cxn modelId="{20C1E5F1-9CDC-AD42-926C-C43C94774A19}" type="presParOf" srcId="{53CB5723-BD30-9042-BFF8-2905C75D4646}" destId="{6FA7C658-9A96-D44A-B2F7-A2D7686B328C}" srcOrd="1" destOrd="0" presId="urn:microsoft.com/office/officeart/2009/3/layout/StepUpProcess"/>
    <dgm:cxn modelId="{62F2A17F-5553-5645-92C8-4FAF8E8538C2}" type="presParOf" srcId="{53CB5723-BD30-9042-BFF8-2905C75D4646}" destId="{0271C7D3-510D-834D-84EE-130D1C5BD966}" srcOrd="2" destOrd="0" presId="urn:microsoft.com/office/officeart/2009/3/layout/StepUpProcess"/>
    <dgm:cxn modelId="{E2F3AC04-2BAE-5241-87DA-4F76775DF1FF}" type="presParOf" srcId="{F2C8B3F7-6F2A-1744-B3D2-EAE611D1CED3}" destId="{82BDCAAF-5E95-6B47-A7A1-42742314AD69}" srcOrd="1" destOrd="0" presId="urn:microsoft.com/office/officeart/2009/3/layout/StepUpProcess"/>
    <dgm:cxn modelId="{393F31EE-B088-8148-8227-FB33D21D8F9F}" type="presParOf" srcId="{82BDCAAF-5E95-6B47-A7A1-42742314AD69}" destId="{11ED0FE9-766D-AA43-89CE-474FE1EC2074}" srcOrd="0" destOrd="0" presId="urn:microsoft.com/office/officeart/2009/3/layout/StepUpProcess"/>
    <dgm:cxn modelId="{6446AA6F-CFD7-E947-84C3-747752EA0245}" type="presParOf" srcId="{F2C8B3F7-6F2A-1744-B3D2-EAE611D1CED3}" destId="{DEF03E45-C96C-EA43-9BF7-5F687F6EFF03}" srcOrd="2" destOrd="0" presId="urn:microsoft.com/office/officeart/2009/3/layout/StepUpProcess"/>
    <dgm:cxn modelId="{BF35FF84-750D-BA4F-AE1B-F4C2B83217B2}" type="presParOf" srcId="{DEF03E45-C96C-EA43-9BF7-5F687F6EFF03}" destId="{96937F3D-859C-D440-83F6-D5858B36D13A}" srcOrd="0" destOrd="0" presId="urn:microsoft.com/office/officeart/2009/3/layout/StepUpProcess"/>
    <dgm:cxn modelId="{F5C299F7-74C7-2142-98F1-409E30DAD66F}" type="presParOf" srcId="{DEF03E45-C96C-EA43-9BF7-5F687F6EFF03}" destId="{40CAD590-BBE1-C641-88F4-9DCEEE4E685C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CF973919-A29F-3E4A-A06B-52BFF5D37C8A}" type="doc">
      <dgm:prSet loTypeId="urn:microsoft.com/office/officeart/2005/8/layout/vList2" loCatId="process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A721BF8-60CD-6942-969F-FD174B7309E0}">
      <dgm:prSet custT="1"/>
      <dgm:spPr>
        <a:solidFill>
          <a:schemeClr val="accent5">
            <a:lumMod val="75000"/>
          </a:schemeClr>
        </a:solidFill>
      </dgm:spPr>
      <dgm:t>
        <a:bodyPr/>
        <a:lstStyle/>
        <a:p>
          <a:pPr rtl="0"/>
          <a:r>
            <a:rPr lang="en-US" sz="2400" dirty="0" smtClean="0">
              <a:latin typeface="+mn-lt"/>
            </a:rPr>
            <a:t>Programs may use functionality and services of other programs</a:t>
          </a:r>
          <a:endParaRPr lang="en-US" sz="2400" dirty="0">
            <a:latin typeface="+mn-lt"/>
          </a:endParaRPr>
        </a:p>
      </dgm:t>
    </dgm:pt>
    <dgm:pt modelId="{D7E836BB-10A4-284C-BE68-EE40C0DCBEB0}" type="parTrans" cxnId="{19AE0B87-B9A1-E444-87A6-502FFD1F5DFC}">
      <dgm:prSet/>
      <dgm:spPr/>
      <dgm:t>
        <a:bodyPr/>
        <a:lstStyle/>
        <a:p>
          <a:endParaRPr lang="en-US"/>
        </a:p>
      </dgm:t>
    </dgm:pt>
    <dgm:pt modelId="{AB4DEAAB-94A8-D04B-9B1B-1A5DC9027FFB}" type="sibTrans" cxnId="{19AE0B87-B9A1-E444-87A6-502FFD1F5DFC}">
      <dgm:prSet/>
      <dgm:spPr/>
      <dgm:t>
        <a:bodyPr/>
        <a:lstStyle/>
        <a:p>
          <a:endParaRPr lang="en-US"/>
        </a:p>
      </dgm:t>
    </dgm:pt>
    <dgm:pt modelId="{7B2DC31E-DDA8-7140-B02F-295A89E060D1}">
      <dgm:prSet/>
      <dgm:spPr/>
      <dgm:t>
        <a:bodyPr/>
        <a:lstStyle/>
        <a:p>
          <a:pPr rtl="0"/>
          <a:r>
            <a:rPr lang="en-US" sz="1700" dirty="0" smtClean="0">
              <a:latin typeface="+mn-lt"/>
            </a:rPr>
            <a:t>Security vulnerabilities can result unless care is taken with this interaction</a:t>
          </a:r>
          <a:endParaRPr lang="en-US" sz="1700" dirty="0">
            <a:latin typeface="+mn-lt"/>
          </a:endParaRPr>
        </a:p>
      </dgm:t>
    </dgm:pt>
    <dgm:pt modelId="{C5AA3850-11C2-5142-B529-CBE5873A016B}" type="parTrans" cxnId="{4C48C3C7-FF14-2542-A835-F275189A0057}">
      <dgm:prSet/>
      <dgm:spPr/>
      <dgm:t>
        <a:bodyPr/>
        <a:lstStyle/>
        <a:p>
          <a:endParaRPr lang="en-US"/>
        </a:p>
      </dgm:t>
    </dgm:pt>
    <dgm:pt modelId="{36DDD313-4176-B449-BB4A-5ACA5DFBC3CE}" type="sibTrans" cxnId="{4C48C3C7-FF14-2542-A835-F275189A0057}">
      <dgm:prSet/>
      <dgm:spPr/>
      <dgm:t>
        <a:bodyPr/>
        <a:lstStyle/>
        <a:p>
          <a:endParaRPr lang="en-US"/>
        </a:p>
      </dgm:t>
    </dgm:pt>
    <dgm:pt modelId="{D6FECE6C-FE4D-EA44-B09B-4CC704660D21}">
      <dgm:prSet custT="1"/>
      <dgm:spPr/>
      <dgm:t>
        <a:bodyPr/>
        <a:lstStyle/>
        <a:p>
          <a:pPr rtl="0"/>
          <a:r>
            <a:rPr lang="en-US" sz="1600" dirty="0" smtClean="0">
              <a:latin typeface="+mn-lt"/>
            </a:rPr>
            <a:t>Such issues are of particular concern when the program being used did not adequately identify all the security concerns that might arise</a:t>
          </a:r>
          <a:endParaRPr lang="en-US" sz="1600" dirty="0">
            <a:latin typeface="+mn-lt"/>
          </a:endParaRPr>
        </a:p>
      </dgm:t>
    </dgm:pt>
    <dgm:pt modelId="{76EE08C0-FDE1-F245-8559-2CEAAF20AD8A}" type="parTrans" cxnId="{1965E482-E58E-904B-BBDD-55AC1414E467}">
      <dgm:prSet/>
      <dgm:spPr/>
      <dgm:t>
        <a:bodyPr/>
        <a:lstStyle/>
        <a:p>
          <a:endParaRPr lang="en-US"/>
        </a:p>
      </dgm:t>
    </dgm:pt>
    <dgm:pt modelId="{403C09CB-7BC7-C04B-AE6B-80B8B7914A65}" type="sibTrans" cxnId="{1965E482-E58E-904B-BBDD-55AC1414E467}">
      <dgm:prSet/>
      <dgm:spPr/>
      <dgm:t>
        <a:bodyPr/>
        <a:lstStyle/>
        <a:p>
          <a:endParaRPr lang="en-US"/>
        </a:p>
      </dgm:t>
    </dgm:pt>
    <dgm:pt modelId="{926F0C66-B3CE-9943-86C1-4B1D4F011A79}">
      <dgm:prSet custT="1"/>
      <dgm:spPr/>
      <dgm:t>
        <a:bodyPr/>
        <a:lstStyle/>
        <a:p>
          <a:pPr rtl="0"/>
          <a:r>
            <a:rPr lang="en-US" sz="1600" dirty="0" smtClean="0">
              <a:latin typeface="+mn-lt"/>
            </a:rPr>
            <a:t>Occurs with the current trend of providing Web interfaces to programs</a:t>
          </a:r>
          <a:endParaRPr lang="en-US" sz="1600" dirty="0">
            <a:latin typeface="+mn-lt"/>
          </a:endParaRPr>
        </a:p>
      </dgm:t>
    </dgm:pt>
    <dgm:pt modelId="{F1F1D220-C4AA-4E47-8E36-41A0AD37C653}" type="parTrans" cxnId="{D7CEA055-6600-A142-BF01-A75FEAC15485}">
      <dgm:prSet/>
      <dgm:spPr/>
      <dgm:t>
        <a:bodyPr/>
        <a:lstStyle/>
        <a:p>
          <a:endParaRPr lang="en-US"/>
        </a:p>
      </dgm:t>
    </dgm:pt>
    <dgm:pt modelId="{4EB69E7F-1DEF-B840-81EC-4E204237A065}" type="sibTrans" cxnId="{D7CEA055-6600-A142-BF01-A75FEAC15485}">
      <dgm:prSet/>
      <dgm:spPr/>
      <dgm:t>
        <a:bodyPr/>
        <a:lstStyle/>
        <a:p>
          <a:endParaRPr lang="en-US"/>
        </a:p>
      </dgm:t>
    </dgm:pt>
    <dgm:pt modelId="{D11A9C38-B877-2647-8BFD-0392AB86E009}">
      <dgm:prSet custT="1"/>
      <dgm:spPr/>
      <dgm:t>
        <a:bodyPr/>
        <a:lstStyle/>
        <a:p>
          <a:pPr rtl="0"/>
          <a:r>
            <a:rPr lang="en-US" sz="1600" dirty="0" smtClean="0">
              <a:latin typeface="+mn-lt"/>
            </a:rPr>
            <a:t>Burden falls on the newer programs to identify and manage any security issues that may arise</a:t>
          </a:r>
          <a:endParaRPr lang="en-US" sz="1600" dirty="0">
            <a:latin typeface="+mn-lt"/>
          </a:endParaRPr>
        </a:p>
      </dgm:t>
    </dgm:pt>
    <dgm:pt modelId="{8F1C4057-761F-BB4A-8716-138105E2293E}" type="parTrans" cxnId="{15ED4F15-FF5E-2D49-9E66-4C21D3F42B3C}">
      <dgm:prSet/>
      <dgm:spPr/>
      <dgm:t>
        <a:bodyPr/>
        <a:lstStyle/>
        <a:p>
          <a:endParaRPr lang="en-US"/>
        </a:p>
      </dgm:t>
    </dgm:pt>
    <dgm:pt modelId="{AE391952-C0A7-634D-9D35-43C4AEA52CEB}" type="sibTrans" cxnId="{15ED4F15-FF5E-2D49-9E66-4C21D3F42B3C}">
      <dgm:prSet/>
      <dgm:spPr/>
      <dgm:t>
        <a:bodyPr/>
        <a:lstStyle/>
        <a:p>
          <a:endParaRPr lang="en-US"/>
        </a:p>
      </dgm:t>
    </dgm:pt>
    <dgm:pt modelId="{5ED96FD8-F538-594B-A5FC-067EE04D5084}">
      <dgm:prSet custT="1"/>
      <dgm:spPr>
        <a:solidFill>
          <a:schemeClr val="accent3">
            <a:lumMod val="75000"/>
          </a:schemeClr>
        </a:solidFill>
      </dgm:spPr>
      <dgm:t>
        <a:bodyPr/>
        <a:lstStyle/>
        <a:p>
          <a:pPr rtl="0"/>
          <a:r>
            <a:rPr lang="en-US" sz="2400" dirty="0" smtClean="0">
              <a:latin typeface="+mn-lt"/>
            </a:rPr>
            <a:t>Issue of data confidentiality/integrity</a:t>
          </a:r>
          <a:endParaRPr lang="en-US" sz="2400" dirty="0">
            <a:latin typeface="+mn-lt"/>
          </a:endParaRPr>
        </a:p>
      </dgm:t>
    </dgm:pt>
    <dgm:pt modelId="{99AF2794-FEED-7C4C-85AE-C2E141902C20}" type="parTrans" cxnId="{0352DD89-ACB2-7B40-BD4B-BFB1FAA9871D}">
      <dgm:prSet/>
      <dgm:spPr/>
      <dgm:t>
        <a:bodyPr/>
        <a:lstStyle/>
        <a:p>
          <a:endParaRPr lang="en-US"/>
        </a:p>
      </dgm:t>
    </dgm:pt>
    <dgm:pt modelId="{8EF62AB5-DC08-6C4A-9159-C9F512DCB7BA}" type="sibTrans" cxnId="{0352DD89-ACB2-7B40-BD4B-BFB1FAA9871D}">
      <dgm:prSet/>
      <dgm:spPr/>
      <dgm:t>
        <a:bodyPr/>
        <a:lstStyle/>
        <a:p>
          <a:endParaRPr lang="en-US"/>
        </a:p>
      </dgm:t>
    </dgm:pt>
    <dgm:pt modelId="{BD32860D-FECA-A04C-8533-30D5486134EC}">
      <dgm:prSet custT="1"/>
      <dgm:spPr>
        <a:solidFill>
          <a:schemeClr val="accent5">
            <a:lumMod val="75000"/>
          </a:schemeClr>
        </a:solidFill>
      </dgm:spPr>
      <dgm:t>
        <a:bodyPr/>
        <a:lstStyle/>
        <a:p>
          <a:pPr rtl="0"/>
          <a:r>
            <a:rPr lang="en-US" sz="2400" dirty="0" smtClean="0">
              <a:latin typeface="+mn-lt"/>
            </a:rPr>
            <a:t>Detection and handling of exceptions and errors generated by interaction is also important from a security perspective</a:t>
          </a:r>
          <a:endParaRPr lang="en-US" sz="2400" dirty="0">
            <a:latin typeface="+mn-lt"/>
          </a:endParaRPr>
        </a:p>
      </dgm:t>
    </dgm:pt>
    <dgm:pt modelId="{82CC7F70-1EA8-3F4A-8B13-B37C61427662}" type="parTrans" cxnId="{AB00E5F8-B726-2247-8756-3A95C7BAE941}">
      <dgm:prSet/>
      <dgm:spPr/>
      <dgm:t>
        <a:bodyPr/>
        <a:lstStyle/>
        <a:p>
          <a:endParaRPr lang="en-US"/>
        </a:p>
      </dgm:t>
    </dgm:pt>
    <dgm:pt modelId="{AF679065-D8E5-0E40-AB44-A2693525BC9F}" type="sibTrans" cxnId="{AB00E5F8-B726-2247-8756-3A95C7BAE941}">
      <dgm:prSet/>
      <dgm:spPr/>
      <dgm:t>
        <a:bodyPr/>
        <a:lstStyle/>
        <a:p>
          <a:endParaRPr lang="en-US"/>
        </a:p>
      </dgm:t>
    </dgm:pt>
    <dgm:pt modelId="{AC663F4A-CD97-4744-AEB6-C1D09B6F1FA3}" type="pres">
      <dgm:prSet presAssocID="{CF973919-A29F-3E4A-A06B-52BFF5D37C8A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5057E10-FED3-CF4D-BC75-8F4E62C385D6}" type="pres">
      <dgm:prSet presAssocID="{1A721BF8-60CD-6942-969F-FD174B7309E0}" presName="parentText" presStyleLbl="node1" presStyleIdx="0" presStyleCnt="3" custScaleY="62220" custLinFactNeighborY="-10169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5872031-589D-E64E-AA21-CB2F893DE083}" type="pres">
      <dgm:prSet presAssocID="{1A721BF8-60CD-6942-969F-FD174B7309E0}" presName="childText" presStyleLbl="revTx" presStyleIdx="0" presStyleCnt="1" custScaleY="11082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8F1060C-AA3A-FC4C-AAA9-7DE859BC1170}" type="pres">
      <dgm:prSet presAssocID="{5ED96FD8-F538-594B-A5FC-067EE04D5084}" presName="parentText" presStyleLbl="node1" presStyleIdx="1" presStyleCnt="3" custScaleY="5289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57E024C-F073-904C-B1A2-85F036BFA805}" type="pres">
      <dgm:prSet presAssocID="{8EF62AB5-DC08-6C4A-9159-C9F512DCB7BA}" presName="spacer" presStyleCnt="0"/>
      <dgm:spPr/>
    </dgm:pt>
    <dgm:pt modelId="{7CC50A5C-6DDF-7A4B-B4EF-D6D9D82B8FBB}" type="pres">
      <dgm:prSet presAssocID="{BD32860D-FECA-A04C-8533-30D5486134EC}" presName="parentText" presStyleLbl="node1" presStyleIdx="2" presStyleCnt="3" custScaleY="7945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A6D5ED2-C6F1-0845-8F4B-E866720C598D}" type="presOf" srcId="{1A721BF8-60CD-6942-969F-FD174B7309E0}" destId="{25057E10-FED3-CF4D-BC75-8F4E62C385D6}" srcOrd="0" destOrd="0" presId="urn:microsoft.com/office/officeart/2005/8/layout/vList2"/>
    <dgm:cxn modelId="{19AE0B87-B9A1-E444-87A6-502FFD1F5DFC}" srcId="{CF973919-A29F-3E4A-A06B-52BFF5D37C8A}" destId="{1A721BF8-60CD-6942-969F-FD174B7309E0}" srcOrd="0" destOrd="0" parTransId="{D7E836BB-10A4-284C-BE68-EE40C0DCBEB0}" sibTransId="{AB4DEAAB-94A8-D04B-9B1B-1A5DC9027FFB}"/>
    <dgm:cxn modelId="{AB00E5F8-B726-2247-8756-3A95C7BAE941}" srcId="{CF973919-A29F-3E4A-A06B-52BFF5D37C8A}" destId="{BD32860D-FECA-A04C-8533-30D5486134EC}" srcOrd="2" destOrd="0" parTransId="{82CC7F70-1EA8-3F4A-8B13-B37C61427662}" sibTransId="{AF679065-D8E5-0E40-AB44-A2693525BC9F}"/>
    <dgm:cxn modelId="{6C9CE16F-E4ED-B748-B6B6-896CEC7E12CE}" type="presOf" srcId="{5ED96FD8-F538-594B-A5FC-067EE04D5084}" destId="{48F1060C-AA3A-FC4C-AAA9-7DE859BC1170}" srcOrd="0" destOrd="0" presId="urn:microsoft.com/office/officeart/2005/8/layout/vList2"/>
    <dgm:cxn modelId="{D7CEA055-6600-A142-BF01-A75FEAC15485}" srcId="{7B2DC31E-DDA8-7140-B02F-295A89E060D1}" destId="{926F0C66-B3CE-9943-86C1-4B1D4F011A79}" srcOrd="1" destOrd="0" parTransId="{F1F1D220-C4AA-4E47-8E36-41A0AD37C653}" sibTransId="{4EB69E7F-1DEF-B840-81EC-4E204237A065}"/>
    <dgm:cxn modelId="{9AC3801D-14C5-C44A-9ABB-F4B5DE3A243B}" type="presOf" srcId="{D6FECE6C-FE4D-EA44-B09B-4CC704660D21}" destId="{65872031-589D-E64E-AA21-CB2F893DE083}" srcOrd="0" destOrd="1" presId="urn:microsoft.com/office/officeart/2005/8/layout/vList2"/>
    <dgm:cxn modelId="{A91B1F8A-561C-2D4F-B33B-FE9FBE162597}" type="presOf" srcId="{926F0C66-B3CE-9943-86C1-4B1D4F011A79}" destId="{65872031-589D-E64E-AA21-CB2F893DE083}" srcOrd="0" destOrd="2" presId="urn:microsoft.com/office/officeart/2005/8/layout/vList2"/>
    <dgm:cxn modelId="{764AE7C9-1990-5E45-B641-E5B7EFF0A6D7}" type="presOf" srcId="{BD32860D-FECA-A04C-8533-30D5486134EC}" destId="{7CC50A5C-6DDF-7A4B-B4EF-D6D9D82B8FBB}" srcOrd="0" destOrd="0" presId="urn:microsoft.com/office/officeart/2005/8/layout/vList2"/>
    <dgm:cxn modelId="{53533FD8-BC94-EF4C-AB1C-0F8DC387C006}" type="presOf" srcId="{D11A9C38-B877-2647-8BFD-0392AB86E009}" destId="{65872031-589D-E64E-AA21-CB2F893DE083}" srcOrd="0" destOrd="3" presId="urn:microsoft.com/office/officeart/2005/8/layout/vList2"/>
    <dgm:cxn modelId="{0352DD89-ACB2-7B40-BD4B-BFB1FAA9871D}" srcId="{CF973919-A29F-3E4A-A06B-52BFF5D37C8A}" destId="{5ED96FD8-F538-594B-A5FC-067EE04D5084}" srcOrd="1" destOrd="0" parTransId="{99AF2794-FEED-7C4C-85AE-C2E141902C20}" sibTransId="{8EF62AB5-DC08-6C4A-9159-C9F512DCB7BA}"/>
    <dgm:cxn modelId="{1965E482-E58E-904B-BBDD-55AC1414E467}" srcId="{7B2DC31E-DDA8-7140-B02F-295A89E060D1}" destId="{D6FECE6C-FE4D-EA44-B09B-4CC704660D21}" srcOrd="0" destOrd="0" parTransId="{76EE08C0-FDE1-F245-8559-2CEAAF20AD8A}" sibTransId="{403C09CB-7BC7-C04B-AE6B-80B8B7914A65}"/>
    <dgm:cxn modelId="{D019560C-62BC-7444-B5CD-8BC85806976D}" type="presOf" srcId="{7B2DC31E-DDA8-7140-B02F-295A89E060D1}" destId="{65872031-589D-E64E-AA21-CB2F893DE083}" srcOrd="0" destOrd="0" presId="urn:microsoft.com/office/officeart/2005/8/layout/vList2"/>
    <dgm:cxn modelId="{4C48C3C7-FF14-2542-A835-F275189A0057}" srcId="{1A721BF8-60CD-6942-969F-FD174B7309E0}" destId="{7B2DC31E-DDA8-7140-B02F-295A89E060D1}" srcOrd="0" destOrd="0" parTransId="{C5AA3850-11C2-5142-B529-CBE5873A016B}" sibTransId="{36DDD313-4176-B449-BB4A-5ACA5DFBC3CE}"/>
    <dgm:cxn modelId="{B6EE9C93-C498-2846-A37B-B70FA754076D}" type="presOf" srcId="{CF973919-A29F-3E4A-A06B-52BFF5D37C8A}" destId="{AC663F4A-CD97-4744-AEB6-C1D09B6F1FA3}" srcOrd="0" destOrd="0" presId="urn:microsoft.com/office/officeart/2005/8/layout/vList2"/>
    <dgm:cxn modelId="{15ED4F15-FF5E-2D49-9E66-4C21D3F42B3C}" srcId="{7B2DC31E-DDA8-7140-B02F-295A89E060D1}" destId="{D11A9C38-B877-2647-8BFD-0392AB86E009}" srcOrd="2" destOrd="0" parTransId="{8F1C4057-761F-BB4A-8716-138105E2293E}" sibTransId="{AE391952-C0A7-634D-9D35-43C4AEA52CEB}"/>
    <dgm:cxn modelId="{F9D991E0-7ACD-0644-B0B3-D0AAD5646011}" type="presParOf" srcId="{AC663F4A-CD97-4744-AEB6-C1D09B6F1FA3}" destId="{25057E10-FED3-CF4D-BC75-8F4E62C385D6}" srcOrd="0" destOrd="0" presId="urn:microsoft.com/office/officeart/2005/8/layout/vList2"/>
    <dgm:cxn modelId="{58EAF13B-C60A-5B44-8FFA-748979FB5398}" type="presParOf" srcId="{AC663F4A-CD97-4744-AEB6-C1D09B6F1FA3}" destId="{65872031-589D-E64E-AA21-CB2F893DE083}" srcOrd="1" destOrd="0" presId="urn:microsoft.com/office/officeart/2005/8/layout/vList2"/>
    <dgm:cxn modelId="{95C1AC89-4371-FE43-B66B-5959E2F609CE}" type="presParOf" srcId="{AC663F4A-CD97-4744-AEB6-C1D09B6F1FA3}" destId="{48F1060C-AA3A-FC4C-AAA9-7DE859BC1170}" srcOrd="2" destOrd="0" presId="urn:microsoft.com/office/officeart/2005/8/layout/vList2"/>
    <dgm:cxn modelId="{61D4E595-69CD-F449-B533-67B4A321DCF6}" type="presParOf" srcId="{AC663F4A-CD97-4744-AEB6-C1D09B6F1FA3}" destId="{D57E024C-F073-904C-B1A2-85F036BFA805}" srcOrd="3" destOrd="0" presId="urn:microsoft.com/office/officeart/2005/8/layout/vList2"/>
    <dgm:cxn modelId="{445DE182-408C-6D48-8F85-ECFA5B4E7D5A}" type="presParOf" srcId="{AC663F4A-CD97-4744-AEB6-C1D09B6F1FA3}" destId="{7CC50A5C-6DDF-7A4B-B4EF-D6D9D82B8FBB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9F4FD9-04DC-2849-B569-7B7356F134FF}">
      <dsp:nvSpPr>
        <dsp:cNvPr id="0" name=""/>
        <dsp:cNvSpPr/>
      </dsp:nvSpPr>
      <dsp:spPr>
        <a:xfrm>
          <a:off x="0" y="41480"/>
          <a:ext cx="6096000" cy="662400"/>
        </a:xfrm>
        <a:prstGeom prst="rect">
          <a:avLst/>
        </a:prstGeom>
        <a:solidFill>
          <a:schemeClr val="accent5">
            <a:lumMod val="75000"/>
          </a:schemeClr>
        </a:solidFill>
        <a:ln w="9525" cap="flat" cmpd="sng" algn="ctr">
          <a:noFill/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0" kern="1200" dirty="0" smtClean="0">
              <a:solidFill>
                <a:schemeClr val="bg1"/>
              </a:solidFill>
              <a:latin typeface="+mn-lt"/>
            </a:rPr>
            <a:t>Security issues:</a:t>
          </a:r>
          <a:endParaRPr lang="en-US" sz="2800" b="0" kern="1200" dirty="0">
            <a:solidFill>
              <a:schemeClr val="bg1"/>
            </a:solidFill>
            <a:latin typeface="+mn-lt"/>
          </a:endParaRPr>
        </a:p>
      </dsp:txBody>
      <dsp:txXfrm>
        <a:off x="0" y="41480"/>
        <a:ext cx="6096000" cy="662400"/>
      </dsp:txXfrm>
    </dsp:sp>
    <dsp:sp modelId="{665DC833-477A-5949-B493-D8C2D3D575C8}">
      <dsp:nvSpPr>
        <dsp:cNvPr id="0" name=""/>
        <dsp:cNvSpPr/>
      </dsp:nvSpPr>
      <dsp:spPr>
        <a:xfrm>
          <a:off x="0" y="703880"/>
          <a:ext cx="6096000" cy="1515239"/>
        </a:xfrm>
        <a:prstGeom prst="rect">
          <a:avLst/>
        </a:prstGeom>
        <a:solidFill>
          <a:schemeClr val="tx1"/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300" kern="1200" dirty="0" smtClean="0">
              <a:latin typeface="+mn-lt"/>
            </a:rPr>
            <a:t>Correct algorithm implementation</a:t>
          </a:r>
          <a:endParaRPr lang="en-US" sz="2300" kern="1200" dirty="0">
            <a:latin typeface="+mn-lt"/>
          </a:endParaRP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300" kern="1200" dirty="0" smtClean="0">
              <a:latin typeface="+mn-lt"/>
            </a:rPr>
            <a:t>Correct machine instructions for algorithm</a:t>
          </a:r>
          <a:endParaRPr lang="en-US" sz="2300" kern="1200" dirty="0">
            <a:latin typeface="+mn-lt"/>
          </a:endParaRP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300" kern="1200" dirty="0" smtClean="0">
              <a:latin typeface="+mn-lt"/>
            </a:rPr>
            <a:t>Valid manipulation of data</a:t>
          </a:r>
          <a:endParaRPr lang="en-US" sz="2300" kern="1200" dirty="0">
            <a:latin typeface="+mn-lt"/>
          </a:endParaRPr>
        </a:p>
      </dsp:txBody>
      <dsp:txXfrm>
        <a:off x="0" y="703880"/>
        <a:ext cx="6096000" cy="151523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0C673A-50E8-F84C-8463-CD1AE39E9DB1}">
      <dsp:nvSpPr>
        <dsp:cNvPr id="0" name=""/>
        <dsp:cNvSpPr/>
      </dsp:nvSpPr>
      <dsp:spPr>
        <a:xfrm>
          <a:off x="1069" y="0"/>
          <a:ext cx="2781225" cy="5105400"/>
        </a:xfrm>
        <a:prstGeom prst="roundRect">
          <a:avLst>
            <a:gd name="adj" fmla="val 10000"/>
          </a:avLst>
        </a:prstGeom>
        <a:solidFill>
          <a:schemeClr val="accent5">
            <a:lumMod val="7500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matte">
          <a:bevelT w="14445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>
              <a:solidFill>
                <a:schemeClr val="tx1"/>
              </a:solidFill>
              <a:latin typeface="+mj-lt"/>
            </a:rPr>
            <a:t>Issue of good program development technique</a:t>
          </a:r>
          <a:endParaRPr lang="en-US" sz="1600" kern="1200" dirty="0">
            <a:solidFill>
              <a:schemeClr val="tx1"/>
            </a:solidFill>
            <a:latin typeface="+mj-lt"/>
          </a:endParaRPr>
        </a:p>
      </dsp:txBody>
      <dsp:txXfrm>
        <a:off x="1069" y="0"/>
        <a:ext cx="2781225" cy="1531620"/>
      </dsp:txXfrm>
    </dsp:sp>
    <dsp:sp modelId="{0D90FAA2-C399-A443-9D9C-B90E712853E2}">
      <dsp:nvSpPr>
        <dsp:cNvPr id="0" name=""/>
        <dsp:cNvSpPr/>
      </dsp:nvSpPr>
      <dsp:spPr>
        <a:xfrm>
          <a:off x="279192" y="1533115"/>
          <a:ext cx="2224980" cy="1539347"/>
        </a:xfrm>
        <a:prstGeom prst="roundRect">
          <a:avLst>
            <a:gd name="adj" fmla="val 10000"/>
          </a:avLst>
        </a:prstGeom>
        <a:solidFill>
          <a:schemeClr val="accent5"/>
        </a:solidFill>
        <a:ln>
          <a:solidFill>
            <a:schemeClr val="bg1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smtClean="0">
              <a:solidFill>
                <a:schemeClr val="bg1"/>
              </a:solidFill>
              <a:latin typeface="+mj-lt"/>
            </a:rPr>
            <a:t>Algorithm may not correctly handle all problem variants</a:t>
          </a:r>
          <a:endParaRPr lang="en-US" sz="1400" kern="1200" dirty="0">
            <a:solidFill>
              <a:schemeClr val="bg1"/>
            </a:solidFill>
            <a:latin typeface="+mj-lt"/>
          </a:endParaRPr>
        </a:p>
      </dsp:txBody>
      <dsp:txXfrm>
        <a:off x="324278" y="1578201"/>
        <a:ext cx="2134808" cy="1449175"/>
      </dsp:txXfrm>
    </dsp:sp>
    <dsp:sp modelId="{A9BC5344-5BE3-B342-813E-25EEB0190A3D}">
      <dsp:nvSpPr>
        <dsp:cNvPr id="0" name=""/>
        <dsp:cNvSpPr/>
      </dsp:nvSpPr>
      <dsp:spPr>
        <a:xfrm>
          <a:off x="279192" y="3309286"/>
          <a:ext cx="2224980" cy="1539347"/>
        </a:xfrm>
        <a:prstGeom prst="roundRect">
          <a:avLst>
            <a:gd name="adj" fmla="val 10000"/>
          </a:avLst>
        </a:prstGeom>
        <a:solidFill>
          <a:schemeClr val="accent5"/>
        </a:solidFill>
        <a:ln>
          <a:solidFill>
            <a:schemeClr val="bg1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smtClean="0">
              <a:solidFill>
                <a:schemeClr val="bg1"/>
              </a:solidFill>
              <a:latin typeface="+mj-lt"/>
            </a:rPr>
            <a:t>Consequence of deficiency is a bug in the resulting program that could be exploited</a:t>
          </a:r>
          <a:endParaRPr lang="en-US" sz="1400" kern="1200" dirty="0">
            <a:solidFill>
              <a:schemeClr val="bg1"/>
            </a:solidFill>
            <a:latin typeface="+mj-lt"/>
          </a:endParaRPr>
        </a:p>
      </dsp:txBody>
      <dsp:txXfrm>
        <a:off x="324278" y="3354372"/>
        <a:ext cx="2134808" cy="1449175"/>
      </dsp:txXfrm>
    </dsp:sp>
    <dsp:sp modelId="{5BEE9616-EC8C-D444-94C0-5AFA31EE4F10}">
      <dsp:nvSpPr>
        <dsp:cNvPr id="0" name=""/>
        <dsp:cNvSpPr/>
      </dsp:nvSpPr>
      <dsp:spPr>
        <a:xfrm>
          <a:off x="2990887" y="0"/>
          <a:ext cx="2781225" cy="5105400"/>
        </a:xfrm>
        <a:prstGeom prst="roundRect">
          <a:avLst>
            <a:gd name="adj" fmla="val 10000"/>
          </a:avLst>
        </a:prstGeom>
        <a:solidFill>
          <a:schemeClr val="accent6">
            <a:lumMod val="7500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matte">
          <a:bevelT w="14445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>
              <a:solidFill>
                <a:schemeClr val="tx1"/>
              </a:solidFill>
              <a:latin typeface="+mj-lt"/>
            </a:rPr>
            <a:t>Initial sequence numbers used by many TCP/IP implementations are too predictable</a:t>
          </a:r>
          <a:endParaRPr lang="en-US" sz="1600" kern="1200" dirty="0">
            <a:solidFill>
              <a:schemeClr val="tx1"/>
            </a:solidFill>
            <a:latin typeface="+mj-lt"/>
          </a:endParaRPr>
        </a:p>
      </dsp:txBody>
      <dsp:txXfrm>
        <a:off x="2990887" y="0"/>
        <a:ext cx="2781225" cy="1531620"/>
      </dsp:txXfrm>
    </dsp:sp>
    <dsp:sp modelId="{33AAE89B-D497-3544-95EA-33D474088523}">
      <dsp:nvSpPr>
        <dsp:cNvPr id="0" name=""/>
        <dsp:cNvSpPr/>
      </dsp:nvSpPr>
      <dsp:spPr>
        <a:xfrm>
          <a:off x="3269009" y="1531620"/>
          <a:ext cx="2224980" cy="3318510"/>
        </a:xfrm>
        <a:prstGeom prst="roundRect">
          <a:avLst>
            <a:gd name="adj" fmla="val 10000"/>
          </a:avLst>
        </a:prstGeom>
        <a:solidFill>
          <a:schemeClr val="accent6"/>
        </a:solidFill>
        <a:ln>
          <a:solidFill>
            <a:schemeClr val="bg1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>
              <a:solidFill>
                <a:schemeClr val="bg1"/>
              </a:solidFill>
              <a:latin typeface="+mj-lt"/>
            </a:rPr>
            <a:t>Combination of the sequence number as an identifier and authenticator of packets and the failure to make them sufficiently unpredictable enables the attack to occur</a:t>
          </a:r>
          <a:endParaRPr lang="en-US" sz="1400" b="1" kern="1200" dirty="0">
            <a:solidFill>
              <a:schemeClr val="bg1"/>
            </a:solidFill>
            <a:latin typeface="+mj-lt"/>
          </a:endParaRPr>
        </a:p>
      </dsp:txBody>
      <dsp:txXfrm>
        <a:off x="3334176" y="1596787"/>
        <a:ext cx="2094646" cy="3188176"/>
      </dsp:txXfrm>
    </dsp:sp>
    <dsp:sp modelId="{66530D40-7FE2-104B-B092-07B968B398DB}">
      <dsp:nvSpPr>
        <dsp:cNvPr id="0" name=""/>
        <dsp:cNvSpPr/>
      </dsp:nvSpPr>
      <dsp:spPr>
        <a:xfrm>
          <a:off x="5980704" y="0"/>
          <a:ext cx="2781225" cy="5105400"/>
        </a:xfrm>
        <a:prstGeom prst="roundRect">
          <a:avLst>
            <a:gd name="adj" fmla="val 10000"/>
          </a:avLst>
        </a:prstGeom>
        <a:solidFill>
          <a:schemeClr val="accent3">
            <a:lumMod val="7500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matte">
          <a:bevelT w="14445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>
              <a:solidFill>
                <a:schemeClr val="tx1"/>
              </a:solidFill>
              <a:latin typeface="+mj-lt"/>
            </a:rPr>
            <a:t>Another variant is when the programmers deliberately include additional code in a program to help test and debug it</a:t>
          </a:r>
          <a:endParaRPr lang="en-US" sz="1600" kern="1200" dirty="0">
            <a:solidFill>
              <a:schemeClr val="tx1"/>
            </a:solidFill>
            <a:latin typeface="+mj-lt"/>
          </a:endParaRPr>
        </a:p>
      </dsp:txBody>
      <dsp:txXfrm>
        <a:off x="5980704" y="0"/>
        <a:ext cx="2781225" cy="1531620"/>
      </dsp:txXfrm>
    </dsp:sp>
    <dsp:sp modelId="{5A0AA2C3-FAEA-314F-9D5E-BA261D83EA5F}">
      <dsp:nvSpPr>
        <dsp:cNvPr id="0" name=""/>
        <dsp:cNvSpPr/>
      </dsp:nvSpPr>
      <dsp:spPr>
        <a:xfrm>
          <a:off x="6258827" y="1532056"/>
          <a:ext cx="2224980" cy="1003006"/>
        </a:xfrm>
        <a:prstGeom prst="roundRect">
          <a:avLst>
            <a:gd name="adj" fmla="val 10000"/>
          </a:avLst>
        </a:prstGeom>
        <a:solidFill>
          <a:schemeClr val="accent3"/>
        </a:solidFill>
        <a:ln>
          <a:solidFill>
            <a:schemeClr val="bg1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lvl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smtClean="0">
              <a:solidFill>
                <a:schemeClr val="bg1"/>
              </a:solidFill>
              <a:latin typeface="+mj-lt"/>
            </a:rPr>
            <a:t>Often code remains in production release of a program and could inappropriately release information</a:t>
          </a:r>
          <a:endParaRPr lang="en-US" sz="1200" kern="1200" dirty="0">
            <a:solidFill>
              <a:schemeClr val="bg1"/>
            </a:solidFill>
            <a:latin typeface="+mj-lt"/>
          </a:endParaRPr>
        </a:p>
      </dsp:txBody>
      <dsp:txXfrm>
        <a:off x="6288204" y="1561433"/>
        <a:ext cx="2166226" cy="944252"/>
      </dsp:txXfrm>
    </dsp:sp>
    <dsp:sp modelId="{17251BFA-D8BC-C241-AEDE-4F1D9EBF02E9}">
      <dsp:nvSpPr>
        <dsp:cNvPr id="0" name=""/>
        <dsp:cNvSpPr/>
      </dsp:nvSpPr>
      <dsp:spPr>
        <a:xfrm>
          <a:off x="6258827" y="2689371"/>
          <a:ext cx="2224980" cy="1003006"/>
        </a:xfrm>
        <a:prstGeom prst="roundRect">
          <a:avLst>
            <a:gd name="adj" fmla="val 10000"/>
          </a:avLst>
        </a:prstGeom>
        <a:solidFill>
          <a:schemeClr val="accent3"/>
        </a:solidFill>
        <a:ln>
          <a:solidFill>
            <a:schemeClr val="bg1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lvl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 smtClean="0">
              <a:solidFill>
                <a:schemeClr val="bg1"/>
              </a:solidFill>
              <a:latin typeface="+mj-lt"/>
            </a:rPr>
            <a:t>May permit a user to bypass security checks and perform actions they would not otherwise be allowed to perform</a:t>
          </a:r>
          <a:endParaRPr lang="en-US" sz="1200" kern="1200" dirty="0">
            <a:solidFill>
              <a:schemeClr val="bg1"/>
            </a:solidFill>
            <a:latin typeface="+mj-lt"/>
          </a:endParaRPr>
        </a:p>
      </dsp:txBody>
      <dsp:txXfrm>
        <a:off x="6288204" y="2718748"/>
        <a:ext cx="2166226" cy="944252"/>
      </dsp:txXfrm>
    </dsp:sp>
    <dsp:sp modelId="{22AE41C0-B402-A543-AB02-6AB81E8B5A19}">
      <dsp:nvSpPr>
        <dsp:cNvPr id="0" name=""/>
        <dsp:cNvSpPr/>
      </dsp:nvSpPr>
      <dsp:spPr>
        <a:xfrm>
          <a:off x="6258827" y="3846687"/>
          <a:ext cx="2224980" cy="1003006"/>
        </a:xfrm>
        <a:prstGeom prst="roundRect">
          <a:avLst>
            <a:gd name="adj" fmla="val 10000"/>
          </a:avLst>
        </a:prstGeom>
        <a:solidFill>
          <a:schemeClr val="accent3"/>
        </a:solidFill>
        <a:ln>
          <a:solidFill>
            <a:schemeClr val="bg1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lvl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smtClean="0">
              <a:solidFill>
                <a:schemeClr val="bg1"/>
              </a:solidFill>
              <a:latin typeface="+mj-lt"/>
            </a:rPr>
            <a:t>This vulnerability was exploited by the Morris Internet Worm</a:t>
          </a:r>
          <a:endParaRPr lang="en-US" sz="1200" kern="1200" dirty="0">
            <a:solidFill>
              <a:schemeClr val="bg1"/>
            </a:solidFill>
            <a:latin typeface="+mj-lt"/>
          </a:endParaRPr>
        </a:p>
      </dsp:txBody>
      <dsp:txXfrm>
        <a:off x="6288204" y="3876064"/>
        <a:ext cx="2166226" cy="94425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10B8B1-FBF7-CD47-9426-75499E8C4D92}">
      <dsp:nvSpPr>
        <dsp:cNvPr id="0" name=""/>
        <dsp:cNvSpPr/>
      </dsp:nvSpPr>
      <dsp:spPr>
        <a:xfrm rot="5400000">
          <a:off x="4667074" y="-1606719"/>
          <a:ext cx="2221694" cy="5438044"/>
        </a:xfrm>
        <a:prstGeom prst="round2SameRect">
          <a:avLst/>
        </a:prstGeom>
        <a:solidFill>
          <a:schemeClr val="accent3">
            <a:lumMod val="60000"/>
            <a:lumOff val="40000"/>
            <a:alpha val="90000"/>
          </a:schemeClr>
        </a:solidFill>
        <a:ln w="9525" cap="flat" cmpd="sng" algn="ctr">
          <a:solidFill>
            <a:schemeClr val="accent3">
              <a:lumMod val="50000"/>
              <a:alpha val="90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baseline="0" dirty="0" smtClean="0"/>
            <a:t>Mediates and shares access to resources</a:t>
          </a:r>
          <a:endParaRPr lang="en-US" sz="1800" kern="1200" baseline="0" dirty="0"/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baseline="0" dirty="0" smtClean="0"/>
            <a:t>Constructs execution environment</a:t>
          </a:r>
          <a:endParaRPr lang="en-US" sz="1800" kern="1200" baseline="0" dirty="0"/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baseline="0" dirty="0" smtClean="0"/>
            <a:t>Includes environment variables and arguments</a:t>
          </a:r>
          <a:endParaRPr lang="en-US" sz="1800" kern="1200" baseline="0" dirty="0"/>
        </a:p>
      </dsp:txBody>
      <dsp:txXfrm rot="-5400000">
        <a:off x="3058899" y="109910"/>
        <a:ext cx="5329590" cy="2004786"/>
      </dsp:txXfrm>
    </dsp:sp>
    <dsp:sp modelId="{DB6992A1-DEED-A346-BE68-6B4F51F7B3CC}">
      <dsp:nvSpPr>
        <dsp:cNvPr id="0" name=""/>
        <dsp:cNvSpPr/>
      </dsp:nvSpPr>
      <dsp:spPr>
        <a:xfrm>
          <a:off x="0" y="28462"/>
          <a:ext cx="3058899" cy="2167679"/>
        </a:xfrm>
        <a:prstGeom prst="roundRect">
          <a:avLst/>
        </a:prstGeom>
        <a:solidFill>
          <a:schemeClr val="accent3">
            <a:lumMod val="50000"/>
          </a:schemeClr>
        </a:solidFill>
        <a:ln>
          <a:solidFill>
            <a:schemeClr val="accent3">
              <a:lumMod val="50000"/>
            </a:schemeClr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lvl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Programs execute on systems under the control of an operating system</a:t>
          </a:r>
          <a:endParaRPr lang="en-US" sz="2600" kern="1200" dirty="0"/>
        </a:p>
      </dsp:txBody>
      <dsp:txXfrm>
        <a:off x="105817" y="134279"/>
        <a:ext cx="2847265" cy="1956045"/>
      </dsp:txXfrm>
    </dsp:sp>
    <dsp:sp modelId="{891B7429-2E7E-6646-9C00-183F1E567C06}">
      <dsp:nvSpPr>
        <dsp:cNvPr id="0" name=""/>
        <dsp:cNvSpPr/>
      </dsp:nvSpPr>
      <dsp:spPr>
        <a:xfrm rot="5400000">
          <a:off x="4425098" y="995806"/>
          <a:ext cx="2705646" cy="5438044"/>
        </a:xfrm>
        <a:prstGeom prst="round2SameRect">
          <a:avLst/>
        </a:prstGeom>
        <a:solidFill>
          <a:schemeClr val="accent5">
            <a:lumMod val="60000"/>
            <a:lumOff val="40000"/>
            <a:alpha val="90000"/>
          </a:schemeClr>
        </a:solidFill>
        <a:ln w="9525" cap="flat" cmpd="sng" algn="ctr">
          <a:solidFill>
            <a:schemeClr val="accent5">
              <a:lumMod val="50000"/>
              <a:alpha val="90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Resources are owned by a user and have permissions granting access with various rights to different categories of users</a:t>
          </a:r>
          <a:endParaRPr lang="en-US" sz="1800" kern="1200" dirty="0"/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Programs need access to various resources, however excessive levels of access are dangerous</a:t>
          </a:r>
          <a:endParaRPr lang="en-US" sz="1800" kern="1200" dirty="0"/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Concerns when multiple programs access shared resources such as a common file</a:t>
          </a:r>
          <a:endParaRPr lang="en-US" sz="1800" kern="1200" dirty="0"/>
        </a:p>
      </dsp:txBody>
      <dsp:txXfrm rot="-5400000">
        <a:off x="3058900" y="2494084"/>
        <a:ext cx="5305965" cy="2441488"/>
      </dsp:txXfrm>
    </dsp:sp>
    <dsp:sp modelId="{3DBE8127-5707-4341-A8B3-11628BD3E38A}">
      <dsp:nvSpPr>
        <dsp:cNvPr id="0" name=""/>
        <dsp:cNvSpPr/>
      </dsp:nvSpPr>
      <dsp:spPr>
        <a:xfrm>
          <a:off x="0" y="2628197"/>
          <a:ext cx="3058899" cy="2173261"/>
        </a:xfrm>
        <a:prstGeom prst="roundRect">
          <a:avLst/>
        </a:prstGeom>
        <a:solidFill>
          <a:schemeClr val="accent5">
            <a:lumMod val="50000"/>
          </a:schemeClr>
        </a:solidFill>
        <a:ln>
          <a:solidFill>
            <a:schemeClr val="accent5">
              <a:lumMod val="50000"/>
            </a:schemeClr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lvl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smtClean="0"/>
            <a:t>Systems have a concept of multiple users</a:t>
          </a:r>
          <a:endParaRPr lang="en-US" sz="2600" kern="1200"/>
        </a:p>
      </dsp:txBody>
      <dsp:txXfrm>
        <a:off x="106090" y="2734287"/>
        <a:ext cx="2846719" cy="196108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7A3757-45CB-DF4A-A5D1-9538560A8BE1}">
      <dsp:nvSpPr>
        <dsp:cNvPr id="0" name=""/>
        <dsp:cNvSpPr/>
      </dsp:nvSpPr>
      <dsp:spPr>
        <a:xfrm>
          <a:off x="0" y="14401"/>
          <a:ext cx="5011756" cy="5011756"/>
        </a:xfrm>
        <a:prstGeom prst="pie">
          <a:avLst>
            <a:gd name="adj1" fmla="val 5400000"/>
            <a:gd name="adj2" fmla="val 16200000"/>
          </a:avLst>
        </a:prstGeom>
        <a:solidFill>
          <a:schemeClr val="accent5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0EE1136-4C88-EA48-AD35-92CA90C8A6EA}">
      <dsp:nvSpPr>
        <dsp:cNvPr id="0" name=""/>
        <dsp:cNvSpPr/>
      </dsp:nvSpPr>
      <dsp:spPr>
        <a:xfrm>
          <a:off x="2505878" y="14401"/>
          <a:ext cx="5847049" cy="5011756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lumMod val="5000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Collection of string values inherited by each process from its parent</a:t>
          </a:r>
          <a:endParaRPr lang="en-US" sz="1900" kern="1200" dirty="0"/>
        </a:p>
      </dsp:txBody>
      <dsp:txXfrm>
        <a:off x="2505878" y="14401"/>
        <a:ext cx="2923524" cy="1064998"/>
      </dsp:txXfrm>
    </dsp:sp>
    <dsp:sp modelId="{6450C047-EB5F-6540-9784-B2E20B81D489}">
      <dsp:nvSpPr>
        <dsp:cNvPr id="0" name=""/>
        <dsp:cNvSpPr/>
      </dsp:nvSpPr>
      <dsp:spPr>
        <a:xfrm>
          <a:off x="657793" y="1079399"/>
          <a:ext cx="3696170" cy="3696170"/>
        </a:xfrm>
        <a:prstGeom prst="pie">
          <a:avLst>
            <a:gd name="adj1" fmla="val 5400000"/>
            <a:gd name="adj2" fmla="val 16200000"/>
          </a:avLst>
        </a:prstGeom>
        <a:solidFill>
          <a:schemeClr val="accent6">
            <a:lumMod val="5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83609B6-FDC8-D04A-A3CA-84A665A6C4B1}">
      <dsp:nvSpPr>
        <dsp:cNvPr id="0" name=""/>
        <dsp:cNvSpPr/>
      </dsp:nvSpPr>
      <dsp:spPr>
        <a:xfrm>
          <a:off x="2505878" y="1079399"/>
          <a:ext cx="5847049" cy="369617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lumMod val="5000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smtClean="0"/>
            <a:t>Can be modified by the program process at any time</a:t>
          </a:r>
          <a:endParaRPr lang="en-US" sz="1900" kern="1200"/>
        </a:p>
      </dsp:txBody>
      <dsp:txXfrm>
        <a:off x="2505878" y="1079399"/>
        <a:ext cx="2923524" cy="1064998"/>
      </dsp:txXfrm>
    </dsp:sp>
    <dsp:sp modelId="{BB578BAA-725A-1E42-8B21-D0F8597D8908}">
      <dsp:nvSpPr>
        <dsp:cNvPr id="0" name=""/>
        <dsp:cNvSpPr/>
      </dsp:nvSpPr>
      <dsp:spPr>
        <a:xfrm>
          <a:off x="1315586" y="2144398"/>
          <a:ext cx="2380584" cy="2380584"/>
        </a:xfrm>
        <a:prstGeom prst="pie">
          <a:avLst>
            <a:gd name="adj1" fmla="val 5400000"/>
            <a:gd name="adj2" fmla="val 16200000"/>
          </a:avLst>
        </a:prstGeom>
        <a:solidFill>
          <a:schemeClr val="accent3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62DA678-A53D-0741-98AF-A7408EFFA161}">
      <dsp:nvSpPr>
        <dsp:cNvPr id="0" name=""/>
        <dsp:cNvSpPr/>
      </dsp:nvSpPr>
      <dsp:spPr>
        <a:xfrm>
          <a:off x="2505878" y="2144398"/>
          <a:ext cx="5847049" cy="238058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lumMod val="5000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smtClean="0"/>
            <a:t>Another source of untrusted program input</a:t>
          </a:r>
          <a:endParaRPr lang="en-US" sz="1900" kern="1200"/>
        </a:p>
      </dsp:txBody>
      <dsp:txXfrm>
        <a:off x="2505878" y="2144398"/>
        <a:ext cx="2923524" cy="1064998"/>
      </dsp:txXfrm>
    </dsp:sp>
    <dsp:sp modelId="{D1A98619-4835-9C41-8A1A-D308AB576BDD}">
      <dsp:nvSpPr>
        <dsp:cNvPr id="0" name=""/>
        <dsp:cNvSpPr/>
      </dsp:nvSpPr>
      <dsp:spPr>
        <a:xfrm>
          <a:off x="1973379" y="3209396"/>
          <a:ext cx="1064998" cy="1064998"/>
        </a:xfrm>
        <a:prstGeom prst="pie">
          <a:avLst>
            <a:gd name="adj1" fmla="val 5400000"/>
            <a:gd name="adj2" fmla="val 16200000"/>
          </a:avLst>
        </a:prstGeom>
        <a:solidFill>
          <a:schemeClr val="accent4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E5741C1-4768-3643-BA82-54DB29D135EC}">
      <dsp:nvSpPr>
        <dsp:cNvPr id="0" name=""/>
        <dsp:cNvSpPr/>
      </dsp:nvSpPr>
      <dsp:spPr>
        <a:xfrm>
          <a:off x="2505878" y="3209396"/>
          <a:ext cx="5847049" cy="106499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lumMod val="5000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smtClean="0"/>
            <a:t>Most common use is by a local user attempting to gain increased privileges</a:t>
          </a:r>
          <a:endParaRPr lang="en-US" sz="1900" kern="1200"/>
        </a:p>
      </dsp:txBody>
      <dsp:txXfrm>
        <a:off x="2505878" y="3209396"/>
        <a:ext cx="2923524" cy="1064998"/>
      </dsp:txXfrm>
    </dsp:sp>
    <dsp:sp modelId="{165BD3EB-EEE8-1A4C-BCAB-B28F8A61BA17}">
      <dsp:nvSpPr>
        <dsp:cNvPr id="0" name=""/>
        <dsp:cNvSpPr/>
      </dsp:nvSpPr>
      <dsp:spPr>
        <a:xfrm>
          <a:off x="5429403" y="14401"/>
          <a:ext cx="2923524" cy="1064998"/>
        </a:xfrm>
        <a:prstGeom prst="rect">
          <a:avLst/>
        </a:prstGeom>
        <a:noFill/>
        <a:ln w="9525" cap="flat" cmpd="sng" algn="ctr">
          <a:noFill/>
          <a:prstDash val="solid"/>
        </a:ln>
        <a:effectLst/>
        <a:sp3d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smtClean="0"/>
            <a:t>Can affect the way a running process behaves</a:t>
          </a:r>
          <a:endParaRPr lang="en-US" sz="1400" kern="1200"/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Included in memory when it is constructed</a:t>
          </a:r>
          <a:endParaRPr lang="en-US" sz="1400" kern="1200" dirty="0"/>
        </a:p>
      </dsp:txBody>
      <dsp:txXfrm>
        <a:off x="5429403" y="14401"/>
        <a:ext cx="2923524" cy="1064998"/>
      </dsp:txXfrm>
    </dsp:sp>
    <dsp:sp modelId="{18E065B8-C607-AB44-B76C-D81C1AF0DF62}">
      <dsp:nvSpPr>
        <dsp:cNvPr id="0" name=""/>
        <dsp:cNvSpPr/>
      </dsp:nvSpPr>
      <dsp:spPr>
        <a:xfrm>
          <a:off x="5429403" y="1079399"/>
          <a:ext cx="2923524" cy="1064998"/>
        </a:xfrm>
        <a:prstGeom prst="rect">
          <a:avLst/>
        </a:prstGeom>
        <a:noFill/>
        <a:ln w="9525" cap="flat" cmpd="sng" algn="ctr">
          <a:noFill/>
          <a:prstDash val="solid"/>
        </a:ln>
        <a:effectLst/>
        <a:sp3d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smtClean="0"/>
            <a:t>Modifications will be passed to its children</a:t>
          </a:r>
          <a:endParaRPr lang="en-US" sz="1400" kern="1200"/>
        </a:p>
      </dsp:txBody>
      <dsp:txXfrm>
        <a:off x="5429403" y="1079399"/>
        <a:ext cx="2923524" cy="1064998"/>
      </dsp:txXfrm>
    </dsp:sp>
    <dsp:sp modelId="{6E9AC49C-ABDF-7340-8579-F5B115A7A8D0}">
      <dsp:nvSpPr>
        <dsp:cNvPr id="0" name=""/>
        <dsp:cNvSpPr/>
      </dsp:nvSpPr>
      <dsp:spPr>
        <a:xfrm>
          <a:off x="5429403" y="3209396"/>
          <a:ext cx="2923524" cy="1064998"/>
        </a:xfrm>
        <a:prstGeom prst="rect">
          <a:avLst/>
        </a:prstGeom>
        <a:noFill/>
        <a:ln w="9525" cap="flat" cmpd="sng" algn="ctr">
          <a:noFill/>
          <a:prstDash val="solid"/>
        </a:ln>
        <a:effectLst/>
        <a:sp3d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smtClean="0"/>
            <a:t>Goal is to subvert a program that grants superuser or administrator privileges</a:t>
          </a:r>
          <a:endParaRPr lang="en-US" sz="1400" kern="1200"/>
        </a:p>
      </dsp:txBody>
      <dsp:txXfrm>
        <a:off x="5429403" y="3209396"/>
        <a:ext cx="2923524" cy="106499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747528-AF08-4D4E-8385-504B4843C30D}">
      <dsp:nvSpPr>
        <dsp:cNvPr id="0" name=""/>
        <dsp:cNvSpPr/>
      </dsp:nvSpPr>
      <dsp:spPr>
        <a:xfrm>
          <a:off x="0" y="41699"/>
          <a:ext cx="8212832" cy="1298700"/>
        </a:xfrm>
        <a:prstGeom prst="roundRect">
          <a:avLst/>
        </a:prstGeom>
        <a:solidFill>
          <a:schemeClr val="accent3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>
              <a:latin typeface="+mn-lt"/>
            </a:rPr>
            <a:t>Programs can be vulnerable to PATH variable manipulation</a:t>
          </a:r>
          <a:endParaRPr lang="en-US" sz="3000" kern="1200" dirty="0">
            <a:latin typeface="+mn-lt"/>
          </a:endParaRPr>
        </a:p>
      </dsp:txBody>
      <dsp:txXfrm>
        <a:off x="63397" y="105096"/>
        <a:ext cx="8086038" cy="1171906"/>
      </dsp:txXfrm>
    </dsp:sp>
    <dsp:sp modelId="{DFF7CE9A-0546-8740-8CD5-F6B8E1CD9C6C}">
      <dsp:nvSpPr>
        <dsp:cNvPr id="0" name=""/>
        <dsp:cNvSpPr/>
      </dsp:nvSpPr>
      <dsp:spPr>
        <a:xfrm>
          <a:off x="0" y="1340399"/>
          <a:ext cx="8212832" cy="496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0757" tIns="38100" rIns="213360" bIns="38100" numCol="1" spcCol="1270" anchor="t" anchorCtr="0">
          <a:noAutofit/>
        </a:bodyPr>
        <a:lstStyle/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300" kern="1200" dirty="0" smtClean="0">
              <a:latin typeface="+mn-lt"/>
            </a:rPr>
            <a:t>Must reset to “safe” values</a:t>
          </a:r>
          <a:endParaRPr lang="en-US" sz="2300" kern="1200" dirty="0">
            <a:latin typeface="+mn-lt"/>
          </a:endParaRPr>
        </a:p>
      </dsp:txBody>
      <dsp:txXfrm>
        <a:off x="0" y="1340399"/>
        <a:ext cx="8212832" cy="496800"/>
      </dsp:txXfrm>
    </dsp:sp>
    <dsp:sp modelId="{C611DC0A-43CB-BB4E-90BC-EC71389508C7}">
      <dsp:nvSpPr>
        <dsp:cNvPr id="0" name=""/>
        <dsp:cNvSpPr/>
      </dsp:nvSpPr>
      <dsp:spPr>
        <a:xfrm>
          <a:off x="0" y="1837199"/>
          <a:ext cx="8212832" cy="1298700"/>
        </a:xfrm>
        <a:prstGeom prst="roundRect">
          <a:avLst/>
        </a:prstGeom>
        <a:solidFill>
          <a:schemeClr val="accent5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>
              <a:latin typeface="+mn-lt"/>
            </a:rPr>
            <a:t>If dynamically linked may be vulnerable to manipulation of LD_LIBRARY_PATH</a:t>
          </a:r>
          <a:endParaRPr lang="en-US" sz="3000" kern="1200" dirty="0">
            <a:latin typeface="+mn-lt"/>
          </a:endParaRPr>
        </a:p>
      </dsp:txBody>
      <dsp:txXfrm>
        <a:off x="63397" y="1900596"/>
        <a:ext cx="8086038" cy="1171906"/>
      </dsp:txXfrm>
    </dsp:sp>
    <dsp:sp modelId="{031A0AD8-3A39-7741-B264-4C2384EBCE0D}">
      <dsp:nvSpPr>
        <dsp:cNvPr id="0" name=""/>
        <dsp:cNvSpPr/>
      </dsp:nvSpPr>
      <dsp:spPr>
        <a:xfrm>
          <a:off x="0" y="3135899"/>
          <a:ext cx="8212832" cy="1242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0757" tIns="38100" rIns="213360" bIns="38100" numCol="1" spcCol="1270" anchor="t" anchorCtr="0">
          <a:noAutofit/>
        </a:bodyPr>
        <a:lstStyle/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300" kern="1200" dirty="0" smtClean="0">
              <a:latin typeface="+mn-lt"/>
            </a:rPr>
            <a:t>Used to locate suitable dynamic library</a:t>
          </a:r>
          <a:endParaRPr lang="en-US" sz="2300" kern="1200" dirty="0">
            <a:latin typeface="+mn-lt"/>
          </a:endParaRPr>
        </a:p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300" kern="1200" dirty="0" smtClean="0">
              <a:latin typeface="+mn-lt"/>
            </a:rPr>
            <a:t>Must either statically link privileged programs or prevent use of this variable</a:t>
          </a:r>
          <a:endParaRPr lang="en-US" sz="2300" kern="1200" dirty="0">
            <a:latin typeface="+mn-lt"/>
          </a:endParaRPr>
        </a:p>
      </dsp:txBody>
      <dsp:txXfrm>
        <a:off x="0" y="3135899"/>
        <a:ext cx="8212832" cy="1242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15A80E-D6AB-E743-A71B-13D16F54BE4D}">
      <dsp:nvSpPr>
        <dsp:cNvPr id="0" name=""/>
        <dsp:cNvSpPr/>
      </dsp:nvSpPr>
      <dsp:spPr>
        <a:xfrm>
          <a:off x="0" y="0"/>
          <a:ext cx="7010400" cy="1106424"/>
        </a:xfrm>
        <a:prstGeom prst="roundRect">
          <a:avLst>
            <a:gd name="adj" fmla="val 10000"/>
          </a:avLst>
        </a:prstGeom>
        <a:solidFill>
          <a:schemeClr val="accent5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>
              <a:solidFill>
                <a:srgbClr val="000000"/>
              </a:solidFill>
              <a:latin typeface="+mn-lt"/>
            </a:rPr>
            <a:t>Privilege escalation</a:t>
          </a:r>
          <a:endParaRPr lang="en-US" sz="1800" b="1" kern="1200" dirty="0">
            <a:solidFill>
              <a:srgbClr val="000000"/>
            </a:solidFill>
            <a:latin typeface="+mn-lt"/>
          </a:endParaRP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b="1" kern="1200" dirty="0" smtClean="0">
              <a:solidFill>
                <a:srgbClr val="000000"/>
              </a:solidFill>
              <a:latin typeface="+mn-lt"/>
            </a:rPr>
            <a:t>Exploit of flaws may give attacker greater privileges</a:t>
          </a:r>
          <a:endParaRPr lang="en-US" sz="1400" b="1" kern="1200" dirty="0">
            <a:solidFill>
              <a:srgbClr val="000000"/>
            </a:solidFill>
            <a:latin typeface="+mn-lt"/>
          </a:endParaRPr>
        </a:p>
      </dsp:txBody>
      <dsp:txXfrm>
        <a:off x="32406" y="32406"/>
        <a:ext cx="5722989" cy="1041612"/>
      </dsp:txXfrm>
    </dsp:sp>
    <dsp:sp modelId="{6C193772-DEE8-EE43-A2C6-DE1505354F6B}">
      <dsp:nvSpPr>
        <dsp:cNvPr id="0" name=""/>
        <dsp:cNvSpPr/>
      </dsp:nvSpPr>
      <dsp:spPr>
        <a:xfrm>
          <a:off x="587120" y="1307592"/>
          <a:ext cx="7010400" cy="1106424"/>
        </a:xfrm>
        <a:prstGeom prst="roundRect">
          <a:avLst>
            <a:gd name="adj" fmla="val 10000"/>
          </a:avLst>
        </a:prstGeom>
        <a:solidFill>
          <a:schemeClr val="accent3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>
              <a:solidFill>
                <a:srgbClr val="000000"/>
              </a:solidFill>
              <a:latin typeface="+mn-lt"/>
            </a:rPr>
            <a:t>Least privilege</a:t>
          </a:r>
          <a:endParaRPr lang="en-US" sz="1800" kern="1200" dirty="0">
            <a:solidFill>
              <a:srgbClr val="000000"/>
            </a:solidFill>
            <a:latin typeface="+mn-lt"/>
          </a:endParaRP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b="1" kern="1200" dirty="0" smtClean="0">
              <a:solidFill>
                <a:srgbClr val="000000"/>
              </a:solidFill>
              <a:latin typeface="+mn-lt"/>
            </a:rPr>
            <a:t>Run programs with least privilege needed to complete their function</a:t>
          </a:r>
          <a:endParaRPr lang="en-US" sz="1400" kern="1200" dirty="0">
            <a:solidFill>
              <a:srgbClr val="000000"/>
            </a:solidFill>
            <a:latin typeface="+mn-lt"/>
          </a:endParaRPr>
        </a:p>
      </dsp:txBody>
      <dsp:txXfrm>
        <a:off x="619526" y="1339998"/>
        <a:ext cx="5639291" cy="1041611"/>
      </dsp:txXfrm>
    </dsp:sp>
    <dsp:sp modelId="{7DD6CDD3-5533-664B-812D-0C468C09B03F}">
      <dsp:nvSpPr>
        <dsp:cNvPr id="0" name=""/>
        <dsp:cNvSpPr/>
      </dsp:nvSpPr>
      <dsp:spPr>
        <a:xfrm>
          <a:off x="1165478" y="2615184"/>
          <a:ext cx="7010400" cy="1106424"/>
        </a:xfrm>
        <a:prstGeom prst="roundRect">
          <a:avLst>
            <a:gd name="adj" fmla="val 10000"/>
          </a:avLst>
        </a:prstGeom>
        <a:solidFill>
          <a:schemeClr val="accent5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>
              <a:solidFill>
                <a:srgbClr val="000000"/>
              </a:solidFill>
              <a:latin typeface="+mn-lt"/>
            </a:rPr>
            <a:t>Determine appropriate user and group privileges required</a:t>
          </a:r>
          <a:endParaRPr lang="en-US" sz="1800" kern="1200" dirty="0">
            <a:solidFill>
              <a:srgbClr val="000000"/>
            </a:solidFill>
            <a:latin typeface="+mn-lt"/>
          </a:endParaRP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b="1" kern="1200" dirty="0" smtClean="0">
              <a:solidFill>
                <a:srgbClr val="000000"/>
              </a:solidFill>
              <a:latin typeface="+mn-lt"/>
            </a:rPr>
            <a:t>Decide whether to grant extra user or just group privileges</a:t>
          </a:r>
          <a:endParaRPr lang="en-US" sz="1400" kern="1200" dirty="0">
            <a:solidFill>
              <a:srgbClr val="000000"/>
            </a:solidFill>
            <a:latin typeface="+mn-lt"/>
          </a:endParaRPr>
        </a:p>
      </dsp:txBody>
      <dsp:txXfrm>
        <a:off x="1197884" y="2647590"/>
        <a:ext cx="5648054" cy="1041612"/>
      </dsp:txXfrm>
    </dsp:sp>
    <dsp:sp modelId="{83C0BF36-4415-0A49-9C51-B6D771122A69}">
      <dsp:nvSpPr>
        <dsp:cNvPr id="0" name=""/>
        <dsp:cNvSpPr/>
      </dsp:nvSpPr>
      <dsp:spPr>
        <a:xfrm>
          <a:off x="1752599" y="3922775"/>
          <a:ext cx="7010400" cy="1106424"/>
        </a:xfrm>
        <a:prstGeom prst="roundRect">
          <a:avLst>
            <a:gd name="adj" fmla="val 10000"/>
          </a:avLst>
        </a:prstGeom>
        <a:solidFill>
          <a:schemeClr val="accent3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>
              <a:solidFill>
                <a:srgbClr val="000000"/>
              </a:solidFill>
              <a:latin typeface="+mn-lt"/>
            </a:rPr>
            <a:t>Ensure that privileged program can modify only those files and directories necessary</a:t>
          </a:r>
          <a:endParaRPr lang="en-US" sz="1800" kern="1200" dirty="0">
            <a:solidFill>
              <a:srgbClr val="000000"/>
            </a:solidFill>
            <a:latin typeface="+mn-lt"/>
          </a:endParaRPr>
        </a:p>
      </dsp:txBody>
      <dsp:txXfrm>
        <a:off x="1785005" y="3955181"/>
        <a:ext cx="5639291" cy="1041612"/>
      </dsp:txXfrm>
    </dsp:sp>
    <dsp:sp modelId="{07F97953-3F1A-3547-9BB4-51981941CED8}">
      <dsp:nvSpPr>
        <dsp:cNvPr id="0" name=""/>
        <dsp:cNvSpPr/>
      </dsp:nvSpPr>
      <dsp:spPr>
        <a:xfrm>
          <a:off x="6291224" y="847420"/>
          <a:ext cx="719175" cy="719175"/>
        </a:xfrm>
        <a:prstGeom prst="downArrow">
          <a:avLst>
            <a:gd name="adj1" fmla="val 55000"/>
            <a:gd name="adj2" fmla="val 45000"/>
          </a:avLst>
        </a:prstGeom>
        <a:solidFill>
          <a:schemeClr val="accent6">
            <a:lumMod val="40000"/>
            <a:lumOff val="60000"/>
          </a:schemeClr>
        </a:solidFill>
        <a:ln w="9525" cap="flat" cmpd="sng" algn="ctr">
          <a:solidFill>
            <a:schemeClr val="accent5">
              <a:lumMod val="5000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000" kern="1200"/>
        </a:p>
      </dsp:txBody>
      <dsp:txXfrm>
        <a:off x="6453038" y="847420"/>
        <a:ext cx="395547" cy="541179"/>
      </dsp:txXfrm>
    </dsp:sp>
    <dsp:sp modelId="{CC44F468-DAF3-F948-8453-579017E85A58}">
      <dsp:nvSpPr>
        <dsp:cNvPr id="0" name=""/>
        <dsp:cNvSpPr/>
      </dsp:nvSpPr>
      <dsp:spPr>
        <a:xfrm>
          <a:off x="6878345" y="2155012"/>
          <a:ext cx="719175" cy="719175"/>
        </a:xfrm>
        <a:prstGeom prst="downArrow">
          <a:avLst>
            <a:gd name="adj1" fmla="val 55000"/>
            <a:gd name="adj2" fmla="val 45000"/>
          </a:avLst>
        </a:prstGeom>
        <a:solidFill>
          <a:schemeClr val="accent6">
            <a:lumMod val="40000"/>
            <a:lumOff val="60000"/>
          </a:schemeClr>
        </a:solidFill>
        <a:ln w="9525" cap="flat" cmpd="sng" algn="ctr">
          <a:solidFill>
            <a:schemeClr val="accent3">
              <a:lumMod val="5000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000" kern="1200"/>
        </a:p>
      </dsp:txBody>
      <dsp:txXfrm>
        <a:off x="7040159" y="2155012"/>
        <a:ext cx="395547" cy="541179"/>
      </dsp:txXfrm>
    </dsp:sp>
    <dsp:sp modelId="{174F8642-FD98-6F43-BF11-44745DBCA7FA}">
      <dsp:nvSpPr>
        <dsp:cNvPr id="0" name=""/>
        <dsp:cNvSpPr/>
      </dsp:nvSpPr>
      <dsp:spPr>
        <a:xfrm>
          <a:off x="7456703" y="3462604"/>
          <a:ext cx="719175" cy="719175"/>
        </a:xfrm>
        <a:prstGeom prst="downArrow">
          <a:avLst>
            <a:gd name="adj1" fmla="val 55000"/>
            <a:gd name="adj2" fmla="val 45000"/>
          </a:avLst>
        </a:prstGeom>
        <a:solidFill>
          <a:schemeClr val="accent6">
            <a:lumMod val="40000"/>
            <a:lumOff val="60000"/>
          </a:schemeClr>
        </a:solidFill>
        <a:ln w="9525" cap="flat" cmpd="sng" algn="ctr">
          <a:solidFill>
            <a:schemeClr val="accent5">
              <a:lumMod val="5000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000" kern="1200"/>
        </a:p>
      </dsp:txBody>
      <dsp:txXfrm>
        <a:off x="7618517" y="3462604"/>
        <a:ext cx="395547" cy="54117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462D43-80A1-1A47-A1D5-FD989169F2AC}">
      <dsp:nvSpPr>
        <dsp:cNvPr id="0" name=""/>
        <dsp:cNvSpPr/>
      </dsp:nvSpPr>
      <dsp:spPr>
        <a:xfrm>
          <a:off x="0" y="0"/>
          <a:ext cx="4846129" cy="4846129"/>
        </a:xfrm>
        <a:prstGeom prst="pie">
          <a:avLst>
            <a:gd name="adj1" fmla="val 5400000"/>
            <a:gd name="adj2" fmla="val 16200000"/>
          </a:avLst>
        </a:prstGeom>
        <a:solidFill>
          <a:schemeClr val="accent3">
            <a:lumMod val="75000"/>
          </a:schemeClr>
        </a:solidFill>
        <a:ln>
          <a:solidFill>
            <a:schemeClr val="accent3">
              <a:lumMod val="50000"/>
            </a:schemeClr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96F2E90-3BDD-2646-BA2C-E1E0F3889E1A}">
      <dsp:nvSpPr>
        <dsp:cNvPr id="0" name=""/>
        <dsp:cNvSpPr/>
      </dsp:nvSpPr>
      <dsp:spPr>
        <a:xfrm>
          <a:off x="2423064" y="0"/>
          <a:ext cx="6032561" cy="484612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lumMod val="50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latin typeface="+mn-lt"/>
            </a:rPr>
            <a:t>Programs with root/ administrator privileges are a major target of attackers</a:t>
          </a:r>
          <a:endParaRPr lang="en-US" sz="2000" kern="1200" dirty="0">
            <a:latin typeface="+mn-lt"/>
          </a:endParaRPr>
        </a:p>
      </dsp:txBody>
      <dsp:txXfrm>
        <a:off x="2423064" y="0"/>
        <a:ext cx="3016280" cy="1453841"/>
      </dsp:txXfrm>
    </dsp:sp>
    <dsp:sp modelId="{7FA5719A-5F14-B149-854C-9F854D818799}">
      <dsp:nvSpPr>
        <dsp:cNvPr id="0" name=""/>
        <dsp:cNvSpPr/>
      </dsp:nvSpPr>
      <dsp:spPr>
        <a:xfrm>
          <a:off x="848074" y="1453841"/>
          <a:ext cx="3149980" cy="3149980"/>
        </a:xfrm>
        <a:prstGeom prst="pie">
          <a:avLst>
            <a:gd name="adj1" fmla="val 5400000"/>
            <a:gd name="adj2" fmla="val 16200000"/>
          </a:avLst>
        </a:prstGeom>
        <a:solidFill>
          <a:schemeClr val="accent5">
            <a:lumMod val="75000"/>
          </a:schemeClr>
        </a:solidFill>
        <a:ln>
          <a:solidFill>
            <a:schemeClr val="bg2">
              <a:lumMod val="50000"/>
            </a:schemeClr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7BE75D3-9123-9948-861E-9D061ACD9C21}">
      <dsp:nvSpPr>
        <dsp:cNvPr id="0" name=""/>
        <dsp:cNvSpPr/>
      </dsp:nvSpPr>
      <dsp:spPr>
        <a:xfrm>
          <a:off x="2423064" y="1453841"/>
          <a:ext cx="6032561" cy="314998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lumMod val="50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smtClean="0">
              <a:latin typeface="+mn-lt"/>
            </a:rPr>
            <a:t>Often privilege is only needed at start</a:t>
          </a:r>
          <a:endParaRPr lang="en-US" sz="2000" kern="1200">
            <a:latin typeface="+mn-lt"/>
          </a:endParaRPr>
        </a:p>
      </dsp:txBody>
      <dsp:txXfrm>
        <a:off x="2423064" y="1453841"/>
        <a:ext cx="3016280" cy="1453837"/>
      </dsp:txXfrm>
    </dsp:sp>
    <dsp:sp modelId="{8A2A98BD-DD88-694E-8A29-7C2C782941BA}">
      <dsp:nvSpPr>
        <dsp:cNvPr id="0" name=""/>
        <dsp:cNvSpPr/>
      </dsp:nvSpPr>
      <dsp:spPr>
        <a:xfrm>
          <a:off x="1696145" y="2907678"/>
          <a:ext cx="1453837" cy="1453837"/>
        </a:xfrm>
        <a:prstGeom prst="pie">
          <a:avLst>
            <a:gd name="adj1" fmla="val 5400000"/>
            <a:gd name="adj2" fmla="val 16200000"/>
          </a:avLst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BF2B31DD-3A49-FE4D-BCF2-D6BD6D57A4DF}">
      <dsp:nvSpPr>
        <dsp:cNvPr id="0" name=""/>
        <dsp:cNvSpPr/>
      </dsp:nvSpPr>
      <dsp:spPr>
        <a:xfrm>
          <a:off x="2423064" y="2907678"/>
          <a:ext cx="6032561" cy="145383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bg2">
              <a:lumMod val="7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latin typeface="+mn-lt"/>
            </a:rPr>
            <a:t>Good design partitions complex programs in smaller modules with needed privileges</a:t>
          </a:r>
          <a:endParaRPr lang="en-US" sz="2000" kern="1200" dirty="0">
            <a:latin typeface="+mn-lt"/>
          </a:endParaRPr>
        </a:p>
      </dsp:txBody>
      <dsp:txXfrm>
        <a:off x="2423064" y="2907678"/>
        <a:ext cx="3016280" cy="1453837"/>
      </dsp:txXfrm>
    </dsp:sp>
    <dsp:sp modelId="{46A9BFE2-38B0-FE4C-A7C5-CB6A226A18C5}">
      <dsp:nvSpPr>
        <dsp:cNvPr id="0" name=""/>
        <dsp:cNvSpPr/>
      </dsp:nvSpPr>
      <dsp:spPr>
        <a:xfrm>
          <a:off x="5439345" y="0"/>
          <a:ext cx="3016280" cy="1453841"/>
        </a:xfrm>
        <a:prstGeom prst="rect">
          <a:avLst/>
        </a:prstGeom>
        <a:noFill/>
        <a:ln w="9525" cap="flat" cmpd="sng" algn="ctr">
          <a:noFill/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smtClean="0">
              <a:latin typeface="+mn-lt"/>
            </a:rPr>
            <a:t>They provide highest levels of system access and control</a:t>
          </a:r>
          <a:endParaRPr lang="en-US" sz="1400" kern="1200">
            <a:latin typeface="+mn-lt"/>
          </a:endParaRP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>
              <a:latin typeface="+mn-lt"/>
            </a:rPr>
            <a:t>Are needed to manage access to protected system resources</a:t>
          </a:r>
          <a:endParaRPr lang="en-US" sz="1400" kern="1200" dirty="0">
            <a:latin typeface="+mn-lt"/>
          </a:endParaRPr>
        </a:p>
      </dsp:txBody>
      <dsp:txXfrm>
        <a:off x="5439345" y="0"/>
        <a:ext cx="3016280" cy="1453841"/>
      </dsp:txXfrm>
    </dsp:sp>
    <dsp:sp modelId="{D79EB8F8-1150-1349-9B5C-BEEE8F196C3B}">
      <dsp:nvSpPr>
        <dsp:cNvPr id="0" name=""/>
        <dsp:cNvSpPr/>
      </dsp:nvSpPr>
      <dsp:spPr>
        <a:xfrm>
          <a:off x="5439345" y="1453841"/>
          <a:ext cx="3016280" cy="1453837"/>
        </a:xfrm>
        <a:prstGeom prst="rect">
          <a:avLst/>
        </a:prstGeom>
        <a:noFill/>
        <a:ln w="9525" cap="flat" cmpd="sng" algn="ctr">
          <a:noFill/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>
              <a:latin typeface="+mn-lt"/>
            </a:rPr>
            <a:t>Can then run as normal user</a:t>
          </a:r>
          <a:endParaRPr lang="en-US" sz="1400" kern="1200" dirty="0">
            <a:latin typeface="+mn-lt"/>
          </a:endParaRPr>
        </a:p>
      </dsp:txBody>
      <dsp:txXfrm>
        <a:off x="5439345" y="1453841"/>
        <a:ext cx="3016280" cy="1453837"/>
      </dsp:txXfrm>
    </dsp:sp>
    <dsp:sp modelId="{93805ADD-6AAB-BF4F-B1C4-F60CB51D782C}">
      <dsp:nvSpPr>
        <dsp:cNvPr id="0" name=""/>
        <dsp:cNvSpPr/>
      </dsp:nvSpPr>
      <dsp:spPr>
        <a:xfrm>
          <a:off x="5439345" y="2907678"/>
          <a:ext cx="3016280" cy="1453837"/>
        </a:xfrm>
        <a:prstGeom prst="rect">
          <a:avLst/>
        </a:prstGeom>
        <a:noFill/>
        <a:ln w="9525" cap="flat" cmpd="sng" algn="ctr">
          <a:noFill/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>
              <a:latin typeface="+mn-lt"/>
            </a:rPr>
            <a:t>Provides a greater degree of isolation between the components</a:t>
          </a:r>
          <a:endParaRPr lang="en-US" sz="1400" kern="1200" dirty="0">
            <a:latin typeface="+mn-lt"/>
          </a:endParaRP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>
              <a:latin typeface="+mn-lt"/>
            </a:rPr>
            <a:t>Reduces the consequences of a security breach in one component</a:t>
          </a:r>
          <a:endParaRPr lang="en-US" sz="1400" kern="1200" dirty="0">
            <a:latin typeface="+mn-lt"/>
          </a:endParaRP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>
              <a:latin typeface="+mn-lt"/>
            </a:rPr>
            <a:t>Easier to test and verify</a:t>
          </a:r>
          <a:endParaRPr lang="en-US" sz="1400" kern="1200" dirty="0">
            <a:latin typeface="+mn-lt"/>
          </a:endParaRPr>
        </a:p>
      </dsp:txBody>
      <dsp:txXfrm>
        <a:off x="5439345" y="2907678"/>
        <a:ext cx="3016280" cy="145383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61B64A-8DF9-FF4C-8678-29D880DC03C7}">
      <dsp:nvSpPr>
        <dsp:cNvPr id="0" name=""/>
        <dsp:cNvSpPr/>
      </dsp:nvSpPr>
      <dsp:spPr>
        <a:xfrm rot="5400000">
          <a:off x="818543" y="286999"/>
          <a:ext cx="2319363" cy="3859369"/>
        </a:xfrm>
        <a:prstGeom prst="corner">
          <a:avLst>
            <a:gd name="adj1" fmla="val 16120"/>
            <a:gd name="adj2" fmla="val 16110"/>
          </a:avLst>
        </a:prstGeom>
        <a:solidFill>
          <a:schemeClr val="accent5">
            <a:lumMod val="75000"/>
          </a:schemeClr>
        </a:solidFill>
        <a:ln w="9525" cap="flat" cmpd="sng" algn="ctr">
          <a:solidFill>
            <a:schemeClr val="accent5">
              <a:lumMod val="50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FA7C658-9A96-D44A-B2F7-A2D7686B328C}">
      <dsp:nvSpPr>
        <dsp:cNvPr id="0" name=""/>
        <dsp:cNvSpPr/>
      </dsp:nvSpPr>
      <dsp:spPr>
        <a:xfrm>
          <a:off x="431383" y="1440119"/>
          <a:ext cx="3484260" cy="30541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lvl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latin typeface="+mj-lt"/>
            </a:rPr>
            <a:t>Programs use system calls and standard library functions for common operations</a:t>
          </a:r>
          <a:endParaRPr lang="en-US" sz="2400" kern="1200" dirty="0">
            <a:latin typeface="+mj-lt"/>
          </a:endParaRPr>
        </a:p>
      </dsp:txBody>
      <dsp:txXfrm>
        <a:off x="431383" y="1440119"/>
        <a:ext cx="3484260" cy="3054158"/>
      </dsp:txXfrm>
    </dsp:sp>
    <dsp:sp modelId="{0271C7D3-510D-834D-84EE-130D1C5BD966}">
      <dsp:nvSpPr>
        <dsp:cNvPr id="0" name=""/>
        <dsp:cNvSpPr/>
      </dsp:nvSpPr>
      <dsp:spPr>
        <a:xfrm>
          <a:off x="3258236" y="2868"/>
          <a:ext cx="657407" cy="657407"/>
        </a:xfrm>
        <a:prstGeom prst="triangle">
          <a:avLst>
            <a:gd name="adj" fmla="val 100000"/>
          </a:avLst>
        </a:prstGeom>
        <a:solidFill>
          <a:schemeClr val="accent3">
            <a:lumMod val="75000"/>
          </a:schemeClr>
        </a:solidFill>
        <a:ln w="9525" cap="flat" cmpd="sng" algn="ctr">
          <a:solidFill>
            <a:schemeClr val="accent3">
              <a:lumMod val="50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6937F3D-859C-D440-83F6-D5858B36D13A}">
      <dsp:nvSpPr>
        <dsp:cNvPr id="0" name=""/>
        <dsp:cNvSpPr/>
      </dsp:nvSpPr>
      <dsp:spPr>
        <a:xfrm rot="5400000">
          <a:off x="5083958" y="-768481"/>
          <a:ext cx="2319363" cy="3859369"/>
        </a:xfrm>
        <a:prstGeom prst="corner">
          <a:avLst>
            <a:gd name="adj1" fmla="val 16120"/>
            <a:gd name="adj2" fmla="val 16110"/>
          </a:avLst>
        </a:prstGeom>
        <a:solidFill>
          <a:schemeClr val="accent5">
            <a:lumMod val="75000"/>
          </a:schemeClr>
        </a:solidFill>
        <a:ln w="9525" cap="flat" cmpd="sng" algn="ctr">
          <a:solidFill>
            <a:schemeClr val="accent5">
              <a:lumMod val="50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0CAD590-BBE1-C641-88F4-9DCEEE4E685C}">
      <dsp:nvSpPr>
        <dsp:cNvPr id="0" name=""/>
        <dsp:cNvSpPr/>
      </dsp:nvSpPr>
      <dsp:spPr>
        <a:xfrm>
          <a:off x="4696799" y="384638"/>
          <a:ext cx="3484260" cy="30541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lvl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latin typeface="+mj-lt"/>
            </a:rPr>
            <a:t>Programmers make assumptions about their operation</a:t>
          </a:r>
          <a:endParaRPr lang="en-US" sz="2400" kern="1200" dirty="0">
            <a:latin typeface="+mj-lt"/>
          </a:endParaRP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latin typeface="+mj-lt"/>
            </a:rPr>
            <a:t>If incorrect behavior is not what is expected</a:t>
          </a:r>
          <a:endParaRPr lang="en-US" sz="1600" kern="1200" dirty="0">
            <a:latin typeface="+mj-lt"/>
          </a:endParaRP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latin typeface="+mj-lt"/>
            </a:rPr>
            <a:t>May be a result of system optimizing access to shared resources</a:t>
          </a:r>
          <a:endParaRPr lang="en-US" sz="1600" kern="1200" dirty="0">
            <a:latin typeface="+mj-lt"/>
          </a:endParaRP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latin typeface="+mj-lt"/>
            </a:rPr>
            <a:t>Results in requests for services being buffered, </a:t>
          </a:r>
          <a:r>
            <a:rPr lang="en-US" sz="1600" kern="1200" dirty="0" err="1" smtClean="0">
              <a:latin typeface="+mj-lt"/>
            </a:rPr>
            <a:t>resequenced</a:t>
          </a:r>
          <a:r>
            <a:rPr lang="en-US" sz="1600" kern="1200" dirty="0" smtClean="0">
              <a:latin typeface="+mj-lt"/>
            </a:rPr>
            <a:t>, or otherwise modified to optimize system use</a:t>
          </a:r>
          <a:endParaRPr lang="en-US" sz="1600" kern="1200" dirty="0">
            <a:latin typeface="+mj-lt"/>
          </a:endParaRP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latin typeface="+mj-lt"/>
            </a:rPr>
            <a:t>Optimizations can conflict with program goals</a:t>
          </a:r>
          <a:endParaRPr lang="en-US" sz="1600" kern="1200" dirty="0">
            <a:latin typeface="+mj-lt"/>
          </a:endParaRPr>
        </a:p>
      </dsp:txBody>
      <dsp:txXfrm>
        <a:off x="4696799" y="384638"/>
        <a:ext cx="3484260" cy="305415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057E10-FED3-CF4D-BC75-8F4E62C385D6}">
      <dsp:nvSpPr>
        <dsp:cNvPr id="0" name=""/>
        <dsp:cNvSpPr/>
      </dsp:nvSpPr>
      <dsp:spPr>
        <a:xfrm>
          <a:off x="0" y="241127"/>
          <a:ext cx="8496944" cy="745445"/>
        </a:xfrm>
        <a:prstGeom prst="roundRect">
          <a:avLst/>
        </a:prstGeom>
        <a:solidFill>
          <a:schemeClr val="accent5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latin typeface="+mn-lt"/>
            </a:rPr>
            <a:t>Programs may use functionality and services of other programs</a:t>
          </a:r>
          <a:endParaRPr lang="en-US" sz="2400" kern="1200" dirty="0">
            <a:latin typeface="+mn-lt"/>
          </a:endParaRPr>
        </a:p>
      </dsp:txBody>
      <dsp:txXfrm>
        <a:off x="36390" y="277517"/>
        <a:ext cx="8424164" cy="672665"/>
      </dsp:txXfrm>
    </dsp:sp>
    <dsp:sp modelId="{65872031-589D-E64E-AA21-CB2F893DE083}">
      <dsp:nvSpPr>
        <dsp:cNvPr id="0" name=""/>
        <dsp:cNvSpPr/>
      </dsp:nvSpPr>
      <dsp:spPr>
        <a:xfrm>
          <a:off x="0" y="1161707"/>
          <a:ext cx="8496944" cy="1908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9778" tIns="20320" rIns="113792" bIns="20320" numCol="1" spcCol="1270" anchor="t" anchorCtr="0">
          <a:noAutofit/>
        </a:bodyPr>
        <a:lstStyle/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700" kern="1200" dirty="0" smtClean="0">
              <a:latin typeface="+mn-lt"/>
            </a:rPr>
            <a:t>Security vulnerabilities can result unless care is taken with this interaction</a:t>
          </a:r>
          <a:endParaRPr lang="en-US" sz="1700" kern="1200" dirty="0">
            <a:latin typeface="+mn-lt"/>
          </a:endParaRPr>
        </a:p>
        <a:p>
          <a:pPr marL="342900" lvl="2" indent="-171450" algn="l" defTabSz="7112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600" kern="1200" dirty="0" smtClean="0">
              <a:latin typeface="+mn-lt"/>
            </a:rPr>
            <a:t>Such issues are of particular concern when the program being used did not adequately identify all the security concerns that might arise</a:t>
          </a:r>
          <a:endParaRPr lang="en-US" sz="1600" kern="1200" dirty="0">
            <a:latin typeface="+mn-lt"/>
          </a:endParaRPr>
        </a:p>
        <a:p>
          <a:pPr marL="342900" lvl="2" indent="-171450" algn="l" defTabSz="7112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600" kern="1200" dirty="0" smtClean="0">
              <a:latin typeface="+mn-lt"/>
            </a:rPr>
            <a:t>Occurs with the current trend of providing Web interfaces to programs</a:t>
          </a:r>
          <a:endParaRPr lang="en-US" sz="1600" kern="1200" dirty="0">
            <a:latin typeface="+mn-lt"/>
          </a:endParaRPr>
        </a:p>
        <a:p>
          <a:pPr marL="342900" lvl="2" indent="-171450" algn="l" defTabSz="7112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600" kern="1200" dirty="0" smtClean="0">
              <a:latin typeface="+mn-lt"/>
            </a:rPr>
            <a:t>Burden falls on the newer programs to identify and manage any security issues that may arise</a:t>
          </a:r>
          <a:endParaRPr lang="en-US" sz="1600" kern="1200" dirty="0">
            <a:latin typeface="+mn-lt"/>
          </a:endParaRPr>
        </a:p>
      </dsp:txBody>
      <dsp:txXfrm>
        <a:off x="0" y="1161707"/>
        <a:ext cx="8496944" cy="1908706"/>
      </dsp:txXfrm>
    </dsp:sp>
    <dsp:sp modelId="{48F1060C-AA3A-FC4C-AAA9-7DE859BC1170}">
      <dsp:nvSpPr>
        <dsp:cNvPr id="0" name=""/>
        <dsp:cNvSpPr/>
      </dsp:nvSpPr>
      <dsp:spPr>
        <a:xfrm>
          <a:off x="0" y="3070414"/>
          <a:ext cx="8496944" cy="633700"/>
        </a:xfrm>
        <a:prstGeom prst="roundRect">
          <a:avLst/>
        </a:prstGeom>
        <a:solidFill>
          <a:schemeClr val="accent3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latin typeface="+mn-lt"/>
            </a:rPr>
            <a:t>Issue of data confidentiality/integrity</a:t>
          </a:r>
          <a:endParaRPr lang="en-US" sz="2400" kern="1200" dirty="0">
            <a:latin typeface="+mn-lt"/>
          </a:endParaRPr>
        </a:p>
      </dsp:txBody>
      <dsp:txXfrm>
        <a:off x="30935" y="3101349"/>
        <a:ext cx="8435074" cy="571830"/>
      </dsp:txXfrm>
    </dsp:sp>
    <dsp:sp modelId="{7CC50A5C-6DDF-7A4B-B4EF-D6D9D82B8FBB}">
      <dsp:nvSpPr>
        <dsp:cNvPr id="0" name=""/>
        <dsp:cNvSpPr/>
      </dsp:nvSpPr>
      <dsp:spPr>
        <a:xfrm>
          <a:off x="0" y="3888435"/>
          <a:ext cx="8496944" cy="951886"/>
        </a:xfrm>
        <a:prstGeom prst="roundRect">
          <a:avLst/>
        </a:prstGeom>
        <a:solidFill>
          <a:schemeClr val="accent5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latin typeface="+mn-lt"/>
            </a:rPr>
            <a:t>Detection and handling of exceptions and errors generated by interaction is also important from a security perspective</a:t>
          </a:r>
          <a:endParaRPr lang="en-US" sz="2400" kern="1200" dirty="0">
            <a:latin typeface="+mn-lt"/>
          </a:endParaRPr>
        </a:p>
      </dsp:txBody>
      <dsp:txXfrm>
        <a:off x="46467" y="3934902"/>
        <a:ext cx="8404010" cy="8589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AU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AU"/>
          </a:p>
        </p:txBody>
      </p:sp>
      <p:sp>
        <p:nvSpPr>
          <p:cNvPr id="225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25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</a:p>
        </p:txBody>
      </p:sp>
      <p:sp>
        <p:nvSpPr>
          <p:cNvPr id="225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AU"/>
          </a:p>
        </p:txBody>
      </p:sp>
      <p:sp>
        <p:nvSpPr>
          <p:cNvPr id="225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5545940-966A-6A45-9F48-443597D6B6D4}" type="slidenum">
              <a:rPr lang="en-AU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829523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0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0" charset="0"/>
        <a:ea typeface="ＭＳ Ｐゴシック" pitchFamily="-110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0" charset="0"/>
        <a:ea typeface="ＭＳ Ｐゴシック" pitchFamily="-110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0" charset="0"/>
        <a:ea typeface="ＭＳ Ｐゴシック" pitchFamily="-110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0" charset="0"/>
        <a:ea typeface="ＭＳ Ｐゴシック" pitchFamily="-110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Times New Roman" pitchFamily="-107" charset="0"/>
              </a:rPr>
              <a:t>Lecture slides prepared for “Computer Security: Principles and Practice”, 4/e, by William Stallings and Lawrie Brown, Chapter 11 “Software</a:t>
            </a:r>
            <a:r>
              <a:rPr lang="en-US" baseline="0" dirty="0" smtClean="0">
                <a:latin typeface="Times New Roman" pitchFamily="-107" charset="0"/>
              </a:rPr>
              <a:t> Security</a:t>
            </a:r>
            <a:r>
              <a:rPr lang="en-US" dirty="0" smtClean="0">
                <a:latin typeface="Times New Roman" pitchFamily="-107" charset="0"/>
              </a:rPr>
              <a:t>”.</a:t>
            </a:r>
            <a:endParaRPr lang="en-AU" dirty="0" smtClean="0">
              <a:latin typeface="Times New Roman" pitchFamily="-107" charset="0"/>
            </a:endParaRPr>
          </a:p>
          <a:p>
            <a:endParaRPr lang="en-US" dirty="0" smtClean="0">
              <a:latin typeface="Times New Roman" pitchFamily="-107" charset="0"/>
            </a:endParaRPr>
          </a:p>
          <a:p>
            <a:endParaRPr lang="en-US" dirty="0" smtClean="0">
              <a:latin typeface="Times New Roman" pitchFamily="-107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560DBF-F109-8946-ADF0-EE66B221E988}" type="slidenum">
              <a:rPr lang="en-AU" smtClean="0"/>
              <a:pPr/>
              <a:t>1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9045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 In Chapter 10 we describe the problem of buffer overflows, which continue to be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one of the most common and widely exploited software vulnerabilities. Although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we discuss a number of countermeasures, the best defense against this threat is not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to allow it to occur at all. That is, programs need to be written securely to prevent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such vulnerabilities occurring.</a:t>
            </a:r>
          </a:p>
          <a:p>
            <a:endParaRPr lang="en-US" sz="1200" b="0" i="0" u="none" strike="noStrike" kern="1200" baseline="0" dirty="0" smtClean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More generally, buffer overflows are just one of a range of deficiencies found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in poorly written programs. There are many vulnerabilities related to program deficiencies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that result in the subversion of security mechanisms and allow unauthorized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access and use of computer data and resources.</a:t>
            </a:r>
          </a:p>
          <a:p>
            <a:endParaRPr lang="en-US" sz="1200" b="0" i="0" u="none" strike="noStrike" kern="1200" baseline="0" dirty="0" smtClean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This chapter explores the general topic of </a:t>
            </a:r>
            <a:r>
              <a:rPr lang="en-US" sz="1200" b="1" i="0" u="none" strike="noStrike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software security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. We introduce a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simple model of a computer program that helps identify where security concerns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may occur. We then explore the key issue of how to correctly handle program input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to prevent many types of vulnerabilities and more generally, how to write safe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program code and manage the interactions with other programs and the operating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system.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560DBF-F109-8946-ADF0-EE66B221E988}" type="slidenum">
              <a:rPr lang="en-AU" smtClean="0">
                <a:solidFill>
                  <a:srgbClr val="000000"/>
                </a:solidFill>
              </a:rPr>
              <a:pPr/>
              <a:t>2</a:t>
            </a:fld>
            <a:endParaRPr lang="en-AU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74222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 Many computer security vulnerabilities result from poor programming practices, which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the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Veracode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 State of Software Security Report [VERA16] notes are far more prevalent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than most people think. The CWE/SANS Top 25 Most Dangerous Software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Errors list, summarized in Table 11.1, details the consensus view on the poor programming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practices that are the cause of the majority of cyber attacks. These errors are grouped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into three categories: insecure interaction between components, risky resource management,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and porous defenses.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545940-966A-6A45-9F48-443597D6B6D4}" type="slidenum">
              <a:rPr lang="en-AU" smtClean="0"/>
              <a:pPr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630488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 Similarly, the Open Web Application Security Project 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 Top Ten [OWAS13] list of critical Web application security flaws includes five related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to insecure software code. These include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unvalidated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 input, cross-site scripting, buffer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overflow, injection flaws, and improper error handling. These flaws occur as a consequence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of insufficient checking and validation of data and error codes in programs. We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will discuss most of these flaws in this chapter. Awareness of these issues is a critical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initial step in writing more secure program code. Both these sources emphasize the need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for software developers to address these known areas of concern, and provide guidance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on how this is done.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545940-966A-6A45-9F48-443597D6B6D4}" type="slidenum">
              <a:rPr lang="en-AU" smtClean="0"/>
              <a:pPr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31092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 The NIST report NISTIR 8151 (Dramatically Reducing Software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Vulnerabilities , October 2016) presents a range of approaches with the 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aim of dramatically reducing the number of software vulnerabilities. 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It recommends the following:</a:t>
            </a:r>
          </a:p>
          <a:p>
            <a:endParaRPr lang="en-US" sz="1200" kern="1200" dirty="0" smtClean="0">
              <a:solidFill>
                <a:schemeClr val="tx1"/>
              </a:solidFill>
              <a:effectLst/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•  Stopping vulnerabilities before they occur by using improved methods for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specifying and building software.</a:t>
            </a:r>
          </a:p>
          <a:p>
            <a:endParaRPr lang="en-US" sz="1200" kern="1200" dirty="0" smtClean="0">
              <a:solidFill>
                <a:schemeClr val="tx1"/>
              </a:solidFill>
              <a:effectLst/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•  Finding vulnerabilities before they can be exploited by using better and more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efficient testing techniques.</a:t>
            </a:r>
          </a:p>
          <a:p>
            <a:endParaRPr lang="en-US" sz="1200" kern="1200" dirty="0" smtClean="0">
              <a:solidFill>
                <a:schemeClr val="tx1"/>
              </a:solidFill>
              <a:effectLst/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•  Reducing the impact of vulnerabilities by building more resilient architectures.</a:t>
            </a:r>
          </a:p>
          <a:p>
            <a:endParaRPr lang="en-US" sz="1200" kern="1200" dirty="0" smtClean="0">
              <a:solidFill>
                <a:schemeClr val="tx1"/>
              </a:solidFill>
              <a:effectLst/>
              <a:latin typeface="Arial" pitchFamily="-110" charset="0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545940-966A-6A45-9F48-443597D6B6D4}" type="slidenum">
              <a:rPr lang="en-AU" smtClean="0"/>
              <a:pPr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914270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03C66C8-CD2A-E348-85EE-ED94F9548A35}" type="slidenum">
              <a:rPr lang="en-AU"/>
              <a:pPr/>
              <a:t>7</a:t>
            </a:fld>
            <a:endParaRPr lang="en-AU"/>
          </a:p>
        </p:txBody>
      </p:sp>
      <p:sp>
        <p:nvSpPr>
          <p:cNvPr id="209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9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Software security is closely related to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software quality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and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reliability,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 but with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subtle differences. Software quality and reliability is concerned with the accidental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failure of a program as a result of some theoretically random, unanticipated input,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system interaction, or use of incorrect code. These failures are expected to follow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some form of probability distribution. The usual approach to improve software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quality is to use some form of structured design and testing to identify and eliminate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as many bugs as is reasonably possible from a program. The testing usually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involves variations of likely inputs and common errors, with the intent of minimizing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number of bugs that would be seen in general use. The concern is not the total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number of bugs in a program, but how often they are triggered, resulting in program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failure.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Software security differs in that the attacker chooses the probability distribution,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targeting specific bugs that result in a failure that can be exploited by the attacker.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These bugs may often be triggered by inputs that differ dramatically from what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usually expected and hence are unlikely to be identified by common testing approaches.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03649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BEA96AA-BF81-B841-B7A8-0C2606A0C1E3}" type="slidenum">
              <a:rPr lang="en-AU"/>
              <a:pPr/>
              <a:t>8</a:t>
            </a:fld>
            <a:endParaRPr lang="en-AU"/>
          </a:p>
        </p:txBody>
      </p:sp>
      <p:sp>
        <p:nvSpPr>
          <p:cNvPr id="212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2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Writing secure, safe code requires attention to all aspects of how a program executes,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environment it executes in, and the type of data it processes. Nothing can be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assumed, and all potential errors must be checked. These issues are highlighted in the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following definition:</a:t>
            </a:r>
          </a:p>
          <a:p>
            <a:endParaRPr lang="en-US" sz="1200" b="0" i="0" u="none" strike="noStrike" kern="1200" baseline="0" dirty="0" smtClean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 Defensive or  Secure Programming is the process of designing and implementing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software so that it continues to function even when under attack. Software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written using this process is able to detect erroneous conditions resulting from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some attack, and to either continue executing safely, or to fail gracefully. The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key rule in defensive programming is to never assume anything, but to check all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assumptions and to handle any possible error states.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825650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1C54E23-62A3-8C49-BC77-2B12B73FE5A8}" type="slidenum">
              <a:rPr lang="en-AU"/>
              <a:pPr/>
              <a:t>9</a:t>
            </a:fld>
            <a:endParaRPr lang="en-AU"/>
          </a:p>
        </p:txBody>
      </p:sp>
      <p:sp>
        <p:nvSpPr>
          <p:cNvPr id="214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4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This definition emphasizes the need to make explicit any assumptions about how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 program will run, and the types of input it will process. To help clarify the issues,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consider the abstract model of a program shown in Figure 11.1.  This illustrates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concepts taught in most introductory programming courses. A program reads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input data from a variety of possible sources, processes that data according to some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algorithm, and then generates output, possibly to multiple different destinations. It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executes in the environment provided by some operating system, using the machine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instructions of some specific processor type. While processing the data, the program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will use system calls, and possibly other programs available on the system. These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may result in data being saved or modified on the system or cause some other side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effect as a result of the program execution. All of these aspects can interact with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each other, often in complex ways.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11707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When writing a program, programmers typically focus on what is needed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solve whatever problem the program addresses. Hence their attention is on the steps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needed for success and the normal flow of execution of the program rather than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considering every potential point of failure. They often make assumptions about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type of inputs a program will receive and the environment it executes in. Defensive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programming means these assumptions need to be validated by the program and all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potential failures handled gracefully and safely. Correctly anticipating, checking,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and handling all possible errors will certainly increase the amount of code needed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in, and the time taken to write, a program. This conflicts with business pressures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keep development times as short as possible to maximize market advantage. Unless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software security is a design goal, addressed from the start of program development,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 secure program is unlikely to result.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Further, when changes are required to a program, the programmer often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focuses on the changes required and what needs to be achieved. Again, defensive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programming means that the programmer must carefully check any assumptions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made, check and handle all possible errors, and carefully check any interactions with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existing code. Failure to identify and manage such interactions can result in incorrect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program behavior and the introduction of vulnerabilities into a previously secure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program.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Defensive programming thus requires a changed mindset to traditional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programming practices, with their emphasis on programs that solve the desired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problem for most users, most of the time. This changed mindset means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programmer needs an awareness of the consequences of failure and the techniques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used by attackers. Paranoia is a virtue, because the enormous growth in vulnerability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reports really does show that attackers are out to get you! This mindset has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recognize that normal testing techniques will not identify many of the vulnerabilities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that may exist but that are triggered by highly unusual and unexpected inputs.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It means that lessons must be learned from previous failures, ensuring that new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programs will not suffer the same weaknesses. It means that programs should be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engineered, as far as possible, to be as resilient as possible in the face of any error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or unexpected condition. Defensive programmers have to understand how failures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can occur and the steps needed to reduce the chance of them occurring in their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programs.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545940-966A-6A45-9F48-443597D6B6D4}" type="slidenum">
              <a:rPr lang="en-AU" smtClean="0"/>
              <a:pPr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995740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B59F77A-98E9-514B-922B-A68CCC9357AE}" type="slidenum">
              <a:rPr lang="en-AU"/>
              <a:pPr/>
              <a:t>11</a:t>
            </a:fld>
            <a:endParaRPr lang="en-AU"/>
          </a:p>
        </p:txBody>
      </p:sp>
      <p:sp>
        <p:nvSpPr>
          <p:cNvPr id="216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6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necessity for security and reliability to be design goals from the inception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of a project has long been recognized by most engineering disciplines. Society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in general is intolerant of bridges collapsing, buildings falling down, or airplanes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crashing. The design of such items is expected to provide a high likelihood that these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catastrophic events will not occur. Software development has not yet reached this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level of maturity, and society tolerates far higher levels of failure in software than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it does in other engineering disciplines. This is despite the best efforts of software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engineers and the development of a number of software development and quality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standards such as ISO12207 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(</a:t>
            </a:r>
            <a:r>
              <a:rPr lang="en-US" sz="1200" i="1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Information technology - Software lifecycle processes</a:t>
            </a:r>
            <a:r>
              <a:rPr lang="en-US" sz="1200" b="1" i="1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,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 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1997) 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or [SEI06].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 While the focus of these standards is on the general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software development life cycle, they increasingly identify security as a key design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goal. 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Recent years have seen increasing efforts to improve secure software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development processes. The Software Assurance Forum for Excellence in Code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(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SAFECode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), with a number of major IT industry companies as members, develop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publications outlining industry best practices for software assurance and providing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practical advice for implementing proven methods for secure software development,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including [SIMP11]. We discuss many of their recommended software security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practices in this chapter.</a:t>
            </a:r>
            <a:endParaRPr lang="en-US" sz="1200" kern="1200" baseline="0" dirty="0" smtClean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 However, the broader topic of software development techniques and standards,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and the integration of security with them, is well beyond the scope of this text.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[MCGR06] and [VIEG01] provide much greater detail on these topics. [SIMP11]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recommends incorporating threat modeling, also known as risk analysis, as part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of the design process. We discuss this area more generally in Chapter 14. Here we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explore some specific software security issues that should be incorporated into a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wider development methodology. We examine the software security concerns of the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various interactions with an executing program, as illustrated in Figure 11.1. We start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with the critical issue of safe input handling, followed by security concerns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related to algorithm implementation, interaction with other components, and program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Output. When looking at these potential areas of concern, it is worth acknowledging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that many security vulnerabilities result from a small set of common mistakes. We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discuss a number of these.</a:t>
            </a:r>
            <a:endParaRPr lang="en-US" sz="1200" kern="1200" baseline="0" dirty="0" smtClean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examples in this chapter focus primarily on problems seen in Web application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security. The rapid development of such applications, often by developers with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insufficient awareness of security concerns, and their accessibility via the Internet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 potentially large pool of attackers mean these applications are particularly vulnerable.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However, we emphasize that the principles discussed apply to all programs.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Safe programming practices should always be followed, even for seemingly innocuous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programs, because it is very difficult to predict the future uses of programs. It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is always possible that a simple utility, designed for local use, may later be incorporated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into a larger application, perhaps Web enabled, with significantly different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security concerns.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7747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5DF3D49-F76A-414E-9B47-DBE3105955B2}" type="slidenum">
              <a:rPr lang="en-AU"/>
              <a:pPr/>
              <a:t>12</a:t>
            </a:fld>
            <a:endParaRPr lang="en-AU"/>
          </a:p>
        </p:txBody>
      </p:sp>
      <p:sp>
        <p:nvSpPr>
          <p:cNvPr id="246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6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second component of our model of computer programs is the processing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input data according to some algorithm. For procedural languages like C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its descendents, this algorithm specifies the series of steps taken to manipulate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input to solve the required problem. High-level languages are typically compiled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and linked into machine code, which is then directly executed by the target processor.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In Section 10.1 we discuss the typical process structure used by executing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programs. Alternatively, a high-level language such as Java may be compiled into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an intermediate language that is then interpreted by a suitable program on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target system. The same may be done for programs written using an interpreted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scripting language. In all cases the execution of a program involves the execution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machine language instructions by a processor to implement the desired algorithm.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These instructions will manipulate data stored in various regions of memory and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processor’s registers.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From a software security perspective, the key issues are whether the implemented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algorithm correctly solves the specified problem, whether the machine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instructions executed correctly represent the high-level algorithm specification,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whether the manipulation of data values in variables, as stored in machine registers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or memory, is valid and meaningful.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07262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4F1E184-98BE-BD43-997E-5DE689EFB8AC}" type="slidenum">
              <a:rPr lang="en-AU"/>
              <a:pPr/>
              <a:t>13</a:t>
            </a:fld>
            <a:endParaRPr lang="en-AU"/>
          </a:p>
        </p:txBody>
      </p:sp>
      <p:sp>
        <p:nvSpPr>
          <p:cNvPr id="248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8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first issue is primarily one of good program development technique.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algorithm may not correctly implement all cases or variants of the problem. This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might allow some seemingly legitimate program input to trigger program behavior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that was not intended, providing an attacker with additional capabilities. While this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may be an issue of inappropriate interpretation or handling of program input, as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we discuss in Section 11.2 , it may also be inappropriate handling of what should be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valid input. The consequence of such a deficiency in the design or implementation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of the algorithm is a bug in the resulting program that could be exploited.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 good example of this was the bug in some early releases of the Netscape Web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browser. Their implementation of the random number generator used to generate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session keys for secure Web connections was inadequate [GOWA01]. The assumption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was that these numbers should be unguessable, short of trying all alternatives.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However, due to a poor choice of the information used to seed this algorithm,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resulting numbers were relatively easy to predict. As a consequence, it was possible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for an attacker to guess the key used and then decrypt the data exchanged over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secure Web session. This flaw was fixed by reimplementing the random number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generator to ensure that it was seeded with sufficient unpredictable information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that it was not possible for an attacker to guess its output.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Another well-known example is the TCP session spoof or hijack attack. This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extends the concept we discussed in Section 7.1 of sending source spoofed packets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to a TCP server. In this attack, the goal is not to leave the server with half-open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connections, but rather to fool it into accepting packets using a spoofed source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address that belongs to a trusted host but actually originates on the attacker’s system.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If the attack succeeded, the server could be convinced to run commands 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provide access to data allowed for a trusted peer, but not generally. To understand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requirements for this attack, consider the TCP three-way connection handshake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illustrated in Figure 7.2 . Recall that because a spoofed source address is used,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response from the server will not be seen by the attacker, who will not therefore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know the initial sequence number provided by the server. However, if the attacker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can correctly guess this number, a suitable ACK packet can be constructed and sent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to the server, which then assumes that the connection is established. Any subsequent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data packet is treated by the server as coming from the trusted source, with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rights assigned to it. The hijack variant of this attack waits until some authorized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external user connects and logs in to the server. Then the attacker attempts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to guess the sequence numbers used and to inject packets with spoofed details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mimic the next packets the server expects to see from the authorized user. If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attacker guesses correctly, then the server responds to any requests using the access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rights and permissions of the authorized user. There is an additional complexity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these attacks. Any responses from the server are sent to the system whose address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is being spoofed. Because they acknowledge packets this system has not sent,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system will assume there is a network error and send a reset (RST) packet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terminate the connection. The attacker must ensure that the attack packets reach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server and are processed before this can occur. This may be achieved by launching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 denial-of-service attack on the spoofed system while simultaneously attacking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target server.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implementation flaw that permits these attacks is that the initial sequence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numbers used by many TCP/IP implementations are far too predictable. In addition,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sequence number is used to identify all packets belonging to a particular session.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TCP standard specifies that a new, different sequence number should be used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for each connection so that packets from previous connections can be distinguished.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Potentially this could be a random number (subject to certain constraints). However,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many implementations used a highly predictable algorithm to generate the next initial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sequence number. The combination of the implied use of the sequence number as an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identifier and authenticator of packets belonging to a specific TCP session and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failure to make them sufficiently unpredictable enables the attack to occur. A number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of recent operating system releases now support truly randomized initial sequence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numbers. Such systems are immune to these types of attacks.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Another variant of this issue is when the programmers deliberately include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additional code in a program to help test and debug it. While this valid during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program development, all too often this code remains in production releases of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program. At the very least, this code could inappropriately release information to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user of the program. At worst, it may permit a user to bypass security checks or other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program limitations and perform actions they would not otherwise be allowed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perform. This type of vulnerability was seen in the </a:t>
            </a:r>
            <a:r>
              <a:rPr lang="en-US" sz="1200" kern="1200" baseline="0" dirty="0" err="1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sendmail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 mail delivery program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in the late 1980s and famously exploited by the Morris Internet Worm. The implementers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of </a:t>
            </a:r>
            <a:r>
              <a:rPr lang="en-US" sz="1200" kern="1200" baseline="0" dirty="0" err="1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sendmail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 had left in support for a DEBUG command that allowed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user to remotely query and control the running program [SPAF89]. The Worm used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this feature to infect systems running versions of </a:t>
            </a:r>
            <a:r>
              <a:rPr lang="en-US" sz="1200" kern="1200" baseline="0" dirty="0" err="1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sendmail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 with this vulnerability.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problem was aggravated because the </a:t>
            </a:r>
            <a:r>
              <a:rPr lang="en-US" sz="1200" kern="1200" baseline="0" dirty="0" err="1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sendmail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 program ran using superuser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privileges and hence had unlimited access to change the system. We discuss the issue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of minimizing privileges further in Section 11.4 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 further example concerns the implementation of an interpreter for a </a:t>
            </a:r>
            <a:r>
              <a:rPr lang="en-US" sz="1200" kern="1200" baseline="0" dirty="0" err="1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highor</a:t>
            </a:r>
            <a:endParaRPr lang="en-US" sz="1200" kern="1200" baseline="0" dirty="0" smtClean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intermediate-level languages. The assumption is that the interpreter correctly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implements the specified program code. Failure to adequately reflect the language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semantics could result in bugs that an attacker might exploit. This was clearly seen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when some early implementations of the Java Virtual Machine (JVM) inadequately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implemented the security checks specified for remotely sourced code, such as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applets [DEFW96]. These implementations permitted an attacker to introduce code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remotely, such as on a Web page, but trick the JVM interpreter into treating them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as locally sourced and hence trusted code with much greater access to the local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system and data.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 These examples illustrate the care that is needed when designing and implementing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a program. It is important to specify assumptions carefully, such as that generated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random number should indeed be unpredictable, in order to ensure that these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assumptions are satisfied by the resulting program code. Traditionally these specifications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and checks are handled informally, as design goals and code comments. An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alternative is the use of formal methods in software development and analysis that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ensures the software is correct by construction. Such approaches have been known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for many years, but have also been considered too complex and difficult for general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use. One area where they have been used is in the development of trusted computing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systems, as we will discuss in Chapter 27. However, NISTIR 8151 notes that this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is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changing,and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 encourages their further development and more widespread use. It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is also very important to identify debugging and testing extensions to the program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and to ensure that they are removed or disabled before the program is distributed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and used.</a:t>
            </a:r>
          </a:p>
          <a:p>
            <a:endParaRPr lang="en-US" dirty="0">
              <a:latin typeface="Times" pitchFamily="-11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87499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2C6FBC9-8558-224D-9340-F4B7640A38B1}" type="slidenum">
              <a:rPr lang="en-AU"/>
              <a:pPr/>
              <a:t>14</a:t>
            </a:fld>
            <a:endParaRPr lang="en-AU"/>
          </a:p>
        </p:txBody>
      </p:sp>
      <p:sp>
        <p:nvSpPr>
          <p:cNvPr id="250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0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second issue concerns the correspondence between the algorithm specified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some programming language and the machine instructions that are run to implement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it. This issue is one that is largely ignored by most programmers. The assumption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is that the compiler or interpreter does indeed generate or execute code that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validly implements the language statements. When this is considered, the issue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typically one of efficiency, usually addressed by specifying the required level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optimization flags to the compiler.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With compiled languages, as Ken Thompson famously noted in [THOM84],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malicious compiler programmer could include instructions in the compiler to emit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additional code when some specific input statements were processed. These statements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could even include part of the compiler, so that these changes could be reinserted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when the compiler source code was compiled, even after all trace of them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had been removed from the compiler source. If this were done, the only evidence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of these changes would be found in the machine code. Locating this would require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careful comparison of the generated machine code with the original source. For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large programs, with many source files, this would be an exceedingly slow and difficult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task, one that, in general, is very unlikely to be done.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development of trusted computer systems with very high assurance level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is the one area where this level of checking is required. Specifically, certification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of computer systems using a Common Criteria assurance level of EAL 7 requires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validation of the correspondence among design, source code, and object code. We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discuss this further in Chapter 27.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6934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2E2AABA-04AF-4444-A01A-AE79C18576AA}" type="slidenum">
              <a:rPr lang="en-AU"/>
              <a:pPr/>
              <a:t>15</a:t>
            </a:fld>
            <a:endParaRPr lang="en-AU"/>
          </a:p>
        </p:txBody>
      </p:sp>
      <p:sp>
        <p:nvSpPr>
          <p:cNvPr id="252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2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next issue concerns the correct interpretation of data values. At the most basic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level, all data on a computer are stored as groups of binary bits. These are generally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saved in bytes of memory, which may be grouped together as a larger unit, such as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word or </a:t>
            </a:r>
            <a:r>
              <a:rPr lang="en-US" sz="1200" kern="1200" baseline="0" dirty="0" err="1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longword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 value. They may be accessed and manipulated in memory, or they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may be copied into processor registers before being used.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 Whether a particular group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of bits is interpreted as representing a character, an integer, a floating-point number,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a memory address (pointer), or some more complex interpretation depends on the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program operations used to manipulate it and ultimately on the specific machine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instructions executed. Different languages provide varying capabilities for restricting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and validating assumptions on the interpretation of data in variables. If the language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includes strong typing, then the operations performed on any specific type of data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will be limited to appropriate manipulations of the values.  This greatly reduces the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likelihood of inappropriate manipulation and use of variables introducing a flaw in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the program. Other languages, though, allow a much more liberal interpretation of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data and permit program code to explicitly change their interpretation. The widely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used language C has this characteristic, as we discussed in Chapter</a:t>
            </a:r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 10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. In particular,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it allows easy conversion between interpreting variables as integers and interpreting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them as memory addresses (pointers). This is a consequence of the close relationship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between C language constructs and the capabilities of machine language instructions,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and it provides significant benefits for system level programming. Unfortunately, it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also allows a number of errors caused by the inappropriate manipulation and use of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pointers. The prevalence of buffer overflow issues, as we discussed in Chapter 10, is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one consequence. A related issue is the occurrence of errors due to the incorrect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manipulation of pointers in complex data structures, such as linked lists or trees,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resulting in corruption of the structure or changing of incorrect data values. Any such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programming bugs could provide a means for an attacker to subvert the correct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operation of a program or simply to cause it to crash.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best defense against such errors is to use a strongly typed programming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language. However, even when the main program is written in such a language,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it will still access and use operating system services and standard library routines,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which are currently most likely written in languages like C, and could potentially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contain such flaws. The only counter to this is to monitor any bug reports for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system being used and to try and not use any routines with known, serious bugs. If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loosely typed language like C is used, then due care is needed whenever values are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cast between data types to ensure that their use remains valid. </a:t>
            </a:r>
            <a:endParaRPr lang="en-US" dirty="0">
              <a:latin typeface="Times" pitchFamily="-11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91337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179B561-40ED-594F-A7CE-CA1D7764ED0B}" type="slidenum">
              <a:rPr lang="en-AU"/>
              <a:pPr/>
              <a:t>16</a:t>
            </a:fld>
            <a:endParaRPr lang="en-AU"/>
          </a:p>
        </p:txBody>
      </p:sp>
      <p:sp>
        <p:nvSpPr>
          <p:cNvPr id="2549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49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Related to the issue of interpretation of data values is the allocation and management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of dynamic memory storage, generally using the process heap. Many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programs, which manipulate unknown quantities of data, use dynamically allocated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memory to store data when required. This memory must be allocated when needed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and released when done. If a program fails to correctly manage this process, the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consequence may be a steady reduction in memory available on the heap to the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point where it is completely exhausted. This is known as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 memory leak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, and often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program will crash once the available memory on the heap is exhausted. This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provides an obvious mechanism for an attacker to implement a denial-of-service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attack on such a program.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Many older languages, including C, provide no explicit support for dynamically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allocated memory. Instead support is provided by explicitly calling standard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library routines to allocate and release memory. Unfortunately, in large, complex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programs, determining exactly when dynamically allocated memory is no longer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required can be a difficult task. As a consequence, memory leaks in such programs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can easily occur and can be difficult to identify and correct. There are library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variants that implement much higher levels of checking and debugging such allocations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that can be used to assist this process.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Other languages like Java and C++ manage memory allocation and release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automatically. While such languages do incur an execution overhead to support this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automatic management, the resulting programs are generally far more reliable. The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use of such languages is strongly encouraged to avoid memory management problems.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8422442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B48039A-B14D-124D-9448-19C73C68AF57}" type="slidenum">
              <a:rPr lang="en-AU"/>
              <a:pPr/>
              <a:t>17</a:t>
            </a:fld>
            <a:endParaRPr lang="en-AU"/>
          </a:p>
        </p:txBody>
      </p:sp>
      <p:sp>
        <p:nvSpPr>
          <p:cNvPr id="257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7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Another topic of concern is management of access to common, shared memory by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several processes or threads within a process. Without suitable synchronization of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accesses, it is possible that values may be corrupted, or changes lost, due to overlapping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access, use, and replacement of shared values. The resulting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race condition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occurs when multiple processes and threads compete to gain uncontrolled access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to some resource. This problem is a well-known and documented issue that arises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when writing concurrent code, whose solution requires the correct selection and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use of appropriate synchronization primitives. Even so, it is neither easy nor obvious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what the most appropriate and efficient choice is. If an incorrect sequence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of synchronization primitives is chosen, it is possible for the various processes or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threads to deadlock , each waiting on a resource held by the other. There is no easy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way of recovering from this flaw without terminating one or more of the programs.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An attacker could trigger such a deadlock in a vulnerable program to implement a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denial-of-service upon it. In large complex applications, ensuring that deadlocks are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not possible can be very difficult. Care is needed to carefully design and partition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problem to limit areas where access to shared memory is needed and to determine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best primitives to use.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9523977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4A961A2-2FAC-124D-81BD-A737F6AADEC4}" type="slidenum">
              <a:rPr lang="en-AU"/>
              <a:pPr/>
              <a:t>18</a:t>
            </a:fld>
            <a:endParaRPr lang="en-AU"/>
          </a:p>
        </p:txBody>
      </p:sp>
      <p:sp>
        <p:nvSpPr>
          <p:cNvPr id="2590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9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third component of our model of computer programs is that it executes on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computer system under the control of an operating system. This aspect of a computer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program is often not emphasized in introductory programming courses; however,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from the perspective of writing secure software, it is critical. Excepting dedicated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embedded applications, in general, programs do not run in isolation on most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computer systems. Rather, they run under the control of an operating system that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mediates access to the resources of that system and shares their use between all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currently executing programs.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operating system constructs an execution environment for a process when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 program is run, as illustrated in Figure 10.4 . In addition to the code and data for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program, the process includes information provided by the operating system.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These include environment variables, which may be used to tailor the operation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program, and any command-line arguments specified for the program. All such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data should be considered external inputs to the program whose values need validation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Before use, as we discuss in Section 11.2.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Generally these systems have a concept of multiple users on the system.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Resources, like files and devices, are owned by a user and have permissions granting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access with various rights to different categories of users. We discussed these concepts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in detail in Chapter 4. From the perspective of software security, programs need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access to the various resources, such as files and devices, they use. Unless appropriate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access is granted, these programs will likely fail. However, excessive levels of access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are also dangerous because any bug in the program could then potentially compromise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more of the system.</a:t>
            </a:r>
          </a:p>
          <a:p>
            <a:endParaRPr lang="en-US" sz="1200" kern="1200" dirty="0" smtClean="0">
              <a:solidFill>
                <a:schemeClr val="tx1"/>
              </a:solidFill>
              <a:effectLst/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There are also concerns when multiple programs access shared resources, such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as a common file. This is a generalization of the problem of managing access to shared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memory, which we discussed in Section 11.3. Many of the same concerns apply, and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appropriate synchronization mechanisms are needed.</a:t>
            </a:r>
          </a:p>
          <a:p>
            <a:endParaRPr lang="en-US" dirty="0">
              <a:latin typeface="Times" pitchFamily="-11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38325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04DFA35-2B9F-1C44-8C2E-7F869A927F01}" type="slidenum">
              <a:rPr lang="en-AU"/>
              <a:pPr/>
              <a:t>19</a:t>
            </a:fld>
            <a:endParaRPr lang="en-AU"/>
          </a:p>
        </p:txBody>
      </p:sp>
      <p:sp>
        <p:nvSpPr>
          <p:cNvPr id="261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1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Environment variables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are a collection of string values inherited by each process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from its parent that can affect the way a running process behaves. The operating system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includes these in the process’s memory when it is constructed. By default, they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are a copy of the parent’s environment variables. However, the request to execute a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new program can specify a new collection of values to use instead. A program can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modify the environment variables in its process at any time, and these in turn will be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passed to its children. Some environment variable names are well known and used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by many programs and the operating system. Others may be custom to a specific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program. Environment variables are used on a wide variety of operating systems,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including all UNIX variants, DOS and Microsoft Windows systems, and others.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Well-known environment variables include the variable PATH, which specifies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set of directories to search for any given command; IFS, which specifies the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word boundaries in a shell script; and LD_LIBRARY_PATH, which specifies the list of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directories to search for dynamically loadable libraries. All of these have been used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to attack programs.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security concern for a program is that these provide another path for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untrusted data to enter a program and hence need to be validated. The most common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use of these variables in an attack is by a local user on some system attempting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to gain increased privileges on the system. The goal is to subvert a program that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grants superuser or administrator privileges, coercing it to run code of the attacker’s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selection with these higher privileges.</a:t>
            </a:r>
            <a:endParaRPr lang="en-US" b="0" dirty="0">
              <a:latin typeface="Times" pitchFamily="-11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20776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275A159-D742-4049-A804-AD00F671CC7E}" type="slidenum">
              <a:rPr lang="en-AU"/>
              <a:pPr/>
              <a:t>20</a:t>
            </a:fld>
            <a:endParaRPr lang="en-AU"/>
          </a:p>
        </p:txBody>
      </p:sp>
      <p:sp>
        <p:nvSpPr>
          <p:cNvPr id="263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3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Some of the earliest attacks using environment variables targeted shell scripts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that executed with the privileges of their owner rather than the user running them.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Consider the simple example script shown in Figure 11.6a . This script, which might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be used by an ISP, takes the identity of some user, strips any domain specification if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included, and then retrieves the mapping for that user to an IP address. Because that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information is held in a directory of privileged user accounting information, general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access to that directory is not granted. Instead the script is run with the privileges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of its owner, which does have access to the relevant directory. This type of simple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utility script is very common on many systems. However, it contains a number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serious flaws. The first concerns the interaction with the PATH environment variable.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This simple script calls two separate programs: </a:t>
            </a:r>
            <a:r>
              <a:rPr lang="en-US" sz="1200" kern="1200" baseline="0" dirty="0" err="1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sed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 and </a:t>
            </a:r>
            <a:r>
              <a:rPr lang="en-US" sz="1200" kern="1200" baseline="0" dirty="0" err="1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grep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. The programmer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assumes that the standard system versions of these scripts would be called. But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they are specified just by their filename. To locate the actual program, the shell will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search each directory named in the PATH variable for a file with the desired name.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attacker simply has to redefine the PATH variable to include a directory they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control, which contains a program called </a:t>
            </a:r>
            <a:r>
              <a:rPr lang="en-US" sz="1200" kern="1200" baseline="0" dirty="0" err="1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grep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, for example. Then when this script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is run, the attacker’s </a:t>
            </a:r>
            <a:r>
              <a:rPr lang="en-US" sz="1200" kern="1200" baseline="0" dirty="0" err="1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grep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 program is called instead of the standard system version.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This program can do whatever the attacker desires, with the privileges granted to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shell script. To address this vulnerability the script could be rewritten to use absolute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names for each program. This avoids the use of the PATH variable, though at a cost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in readability and portability. Alternatively, the PATH variable could be reset to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known default value by the script, as shown in Figure 11.6b . Unfortunately, this version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of the script is still vulnerable, this time due to the IFS variable. This is used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to separate the words that form a line of commands. It defaults to a space, tab, 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newline character. However, it can be set to any sequence of characters. Consider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effect of including the “=” character in this set. Then the assignment of a new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value to the PATH variable is interpreted as a command to execute the program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PATH with the list of directories as its argument. If the attacker has also changed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PATH variable to include a directory with an attack program PATH, then this will be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executed when the script is run. It is essentially impossible to prevent this form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attack on a shell script. In the worst case, if the script executes as the root user, then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total compromise of the system is possible. Some recent UNIX systems do block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setting of critical environment variables such as these for programs executing as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root. However, that does not prevent attacks on programs running as other users,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possibly with greater access to the system.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It is generally recognized that writing secure, privileged shell scripts is very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difficult. Hence their use is strongly discouraged. At best, the recommendation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to change only the group, rather than user, identity and to reset all critical environment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variables. This at least ensures the attack cannot gain superuser privileges.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If a scripted application is needed, the best solution is to use a compiled wrapper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program to call it. The change of owner or group is done using the compiled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program, which then constructs a suitably safe set of environment variables before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calling the desired script. Correctly implemented, this provides a safe mechanism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for executing such scripts. A very good example of this approach is the use of the</a:t>
            </a:r>
          </a:p>
          <a:p>
            <a:r>
              <a:rPr lang="en-US" sz="1200" kern="1200" baseline="0" dirty="0" err="1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suexec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 wrapper program by the Apache Web server to execute user CGI scripts.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wrapper program performs a rigorous set of security checks before constructing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 safe environment and running the specified script.</a:t>
            </a:r>
            <a:endParaRPr lang="en-US" dirty="0">
              <a:latin typeface="Times" pitchFamily="-11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32905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DD835DF-7442-734E-856B-208E7CFB1EAD}" type="slidenum">
              <a:rPr lang="en-AU"/>
              <a:pPr/>
              <a:t>21</a:t>
            </a:fld>
            <a:endParaRPr lang="en-AU"/>
          </a:p>
        </p:txBody>
      </p:sp>
      <p:sp>
        <p:nvSpPr>
          <p:cNvPr id="265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5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Even if a compiled program is run with elevated privileges, it may still be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vulnerable to attacks using environment variables. If this program executes another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program, depending on the command used to do this, the PATH variable may still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be used to locate it. Hence any such program must reset this to known safe values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first. This at least can be done securely. However, there are other vulnerabilities.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Essentially all programs on modern computer systems use functionality provided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by standard library routines. When the program is compiled and linked, the code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for these standard libraries could be included in the executable program file. This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is known as a static link. With the use of static links every program loads its own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copy of these standard libraries into the computer’s memory. This is wasteful, as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all these copies of code are identical. Hence most modern systems support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concept of dynamic linking. A dynamically linked executable program does not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include the code for common libraries, but rather has a table of names and pointers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to all the functions it needs to use. When the program is loaded into a process, this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table is resolved to reference a single copy of any library, shared by all processes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needing it on the system. However, there are reasons why different programs may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need different versions of libraries with the same name. Hence there is usually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 way to specify a list of directories to search for dynamically loaded libraries.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On many UNIX systems this is the LD_LIBRARY_PATH environment variable. Its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use does provide a degree of flexibility with dynamic libraries. But again it also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introduces a possible mechanism for attack. The attacker constructs a custom version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of a common library, placing the desired attack code in a function known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to be used by some target, dynamically linked program. Then by setting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LD_LIBRARY_PATH variable to reference the attacker’s copy of the library first,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when the target program is run and calls the known function, the attacker’s code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run with the privileges of the target program. To prevent this type of attack, a statically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linked executable can be used, at a cost of memory efficiency. Alternatively,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again some modern operating systems block the use of this environment variable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when the program executed runs with different privileges.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 Lastly, apart from the standard environment variables, many programs use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custom variables to permit users to generically change their behavior just by setting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appropriate values for these variables in their startup scripts. Again, such use means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these variables constitute untrusted input to the program that needs to be validated.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One particular danger is to merge values from such a variable with other information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into some buffer. Unless due care is taken, a buffer overflow can occur, with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consequences as we discussed in Chapter 10. Alternatively, any of the issues with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correct interpretation of textual information we discussed in Section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11.2 could also apply.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All of these examples illustrate how care is needed to identify the way in which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 program interacts with the system in which it executes and to carefully consider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security implications of these assumptions.</a:t>
            </a:r>
            <a:endParaRPr lang="en-US" dirty="0">
              <a:latin typeface="Times" pitchFamily="-11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076482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8549EAD-85AB-3747-BAAB-24C35BF6112D}" type="slidenum">
              <a:rPr lang="en-AU"/>
              <a:pPr/>
              <a:t>22</a:t>
            </a:fld>
            <a:endParaRPr lang="en-AU"/>
          </a:p>
        </p:txBody>
      </p:sp>
      <p:sp>
        <p:nvSpPr>
          <p:cNvPr id="267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7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consequence of many of the program flaws we discuss in both this chapter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Chapter 10 is that the attacker is able to execute code with the privileges and access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rights of the compromised program or service. If these privileges are greater than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those available already to the attacker, then this results in a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privilege escalation ,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important stage in the overall attack process. Using the higher levels of privilege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may enable the attacker to make changes to the system, ensuring future use of these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greater capabilities. This strongly suggests that programs should execute with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least amount of privileges needed to complete their function. This is known as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principle of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least privilege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and is widely recognized as a desirable characteristic in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secure program.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Normally when a user runs a program, it executes with the same privileges and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access rights as that user. Exploiting flaws in such a program does not benefit an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attacker in relation to privileges, although the attacker may have other goals, such as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a denial-of-service attack on the program. However, there are many circumstances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when a program needs to utilize resources to which the user is not normally granted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access. This may be to provide a finer granularity of access control than the standard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system mechanisms support. A common practice is to use a special system login for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a service and make all files and directories used by the service assessable only to that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login. Any program used to implement the service runs using the access rights of this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system user and is regarded as a privileged program. Different operating systems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provide different mechanisms to support this concept. UNIX systems use the set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user or set group options. The access control lists used in Windows systems provide a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means to specify alternate owner or group access rights if desired. We discussed such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access control concepts elaborately in Chapter 4.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Whenever a privileged program runs, care must be taken to determine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appropriate user and group privileges required. Any such program is a potential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target for an attacker to acquire additional privileges, as we noted in the discussion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of concerns regarding environment variables and privileged shell scripts. One key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decision involves whether to grant additional user or just group privileges. Where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appropriate the latter is generally preferred. This is because on UNIX and related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systems, any file created will have the user running the program as the file’s owner,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enabling users to be more easily identified. If additional special user privileges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are granted, this special user is the owner of any new files, masking the identity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user running the program. However, there are circumstances when providing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privileged group access is not sufficient. In those cases care is needed to manage,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and log if necessary, use of these programs.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Another concern is ensuring that any privileged program can modify only those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files and directories necessary. A common deficiency found with many privileged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programs is for them to have ownership of all associated files and directories. If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program is then compromised, the attacker then has greater scope for modifying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corrupting the system. This violates the principle of least privilege. A very common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example of this poor practice is seen in the configuration of many Web servers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their document directories. On most systems the Web server runs with the privilege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of a special user, commonly www or similar. Generally the Web server only needs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ability to read files it is serving. The only files it needs write access to are those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used to store information provided by CGI scripts, file uploads, and the like. All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other files should have write access to the group of users managing them, but not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Web server. However, common practice by system managers with insufficient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security awareness is to assign the ownership of most files in the Web document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hierarchy to the Web server. Consequently, should the Web server be compromised,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attacker can then change most of the files. The widespread occurrence of Web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defacement attacks is a direct consequence of this practice. The server is typically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compromised by an attack like the PHP remote code injection attack we discuss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Section 11.2 . This allows the attacker to run any PHP code of their choice with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privileges of the Web server. The attacker may then replace any pages the server has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write access to. The result is almost certain embarrassment for the organization. If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attacker accesses or modifies form data saved by previous CGI script users, then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more serious consequences can result.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Care is needed to assign the correct file and group ownerships to files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directories managed by privileged programs. Problems can manifest particularly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when a program is moved from one computer system to another or when there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is a major upgrade of the operating system. The new system might use different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defaults for such users and groups. If all affected programs, files, and directories are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not correctly updated, then either the service will fail to function as desired or worse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may have access to files it should not, which may result in corruption of files. Again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this may be seen in moving a Web server to a newer, different system, where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Web server user might change from www to www-data. The affected files may not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just be those in the main Web server document hierarchy but may also include files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in users’ public Web directories.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endParaRPr lang="en-US" dirty="0">
              <a:latin typeface="Times" pitchFamily="-11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443090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5DDC367-C9FF-CE4D-BCBA-E083BB08657C}" type="slidenum">
              <a:rPr lang="en-AU"/>
              <a:pPr/>
              <a:t>23</a:t>
            </a:fld>
            <a:endParaRPr lang="en-AU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greatest concerns with privileged programs occur when such programs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execute with root or administrator privileges. These provide very high levels of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access and control to the system. Acquiring such privileges is typically the major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goal of an attacker on any system. Hence any such privileged program is a key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target. The principle of least privilege indicates that such access should be granted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as rarely and as briefly as possible. Unfortunately, due to the design of operating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systems and the need to restrict access to underlying system resources, there are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circumstances when such access must be granted. Classic examples include the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programs used to allow a user to login or to change passwords on a system; such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programs are only accessible to the root user. Another common example is network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servers that need to bind to a privileged service port. These include Web, Secure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Shell (SSH), SMTP mail delivery, DNS, and many other servers. Traditionally, such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server programs executed with root privileges for the entire time they were running.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Closer inspection of the privilege requirements reveals that they only need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root privileges to initially bind to the desired privileged port. Once this is done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server programs could reduce their user privileges to those of another special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system user. Any subsequent attack is then much less significant. The problems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resulting from the numerous security bugs in the once widely used </a:t>
            </a:r>
            <a:r>
              <a:rPr lang="en-US" sz="1200" b="0" kern="1200" baseline="0" dirty="0" err="1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sendmail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 mail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delivery program are a direct consequence of it being a large, complex monolithic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program that ran continuously as the root user.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We now recognize that good defensive program design requires that large,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complex programs be partitioned into smaller modules, each granted the privileges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they require, only for as long as they need them. This form of program modularization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provides a greater degree of isolation between the components, reducing the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consequences of a security breach in one component. In addition, being smaller,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each component module is easier to test and verify. Ideally the few components that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require elevated privileges can be kept small and subject to much greater scrutiny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than the remainder of the program. The popularity of the postfix mail delivery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program, now widely replacing the use of </a:t>
            </a:r>
            <a:r>
              <a:rPr lang="en-US" sz="1200" b="0" kern="1200" baseline="0" dirty="0" err="1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sendmail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 in many organizations, is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partly due to its adoption of these more secure design guidelines.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 A further technique to minimize privilege is to run potentially vulnerable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programs in some form of sandbox that provides greater isolation and control of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the executing program from the wider system. The runtime for code written in languages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such as Java includes this type of functionality. Alternatively, UNIX-related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systems provide the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chroot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  system function to limit a program’s view of the file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system to just one carefully configured and isolated section of the file system. This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is known as a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chroot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 jail. Provided this is configured correctly, even if the program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is compromised, it may only access or modify files in the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chroot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 jail section of the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file system. Unfortunately, correct configuration of a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chroot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 jail is difficult. If created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incorrectly, the program may either fail to run correctly or worse may still be able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to interact with files outside the jail. While the use of a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chroot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 jail can significantly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limit the consequences of compromise, it is not suitable for all circumstances, and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nor is it a complete security solution. A further recently developed alternative for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this is the use of containers, also known as application virtualization, which we will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discuss in Section 12.8.</a:t>
            </a:r>
            <a:endParaRPr lang="en-US" sz="1200" kern="1200" dirty="0">
              <a:solidFill>
                <a:schemeClr val="tx1"/>
              </a:solidFill>
              <a:effectLst/>
              <a:latin typeface="Arial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33778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1C5D578-EA4E-5B4E-8F3F-B5267F7EBEB6}" type="slidenum">
              <a:rPr lang="en-AU"/>
              <a:pPr/>
              <a:t>24</a:t>
            </a:fld>
            <a:endParaRPr lang="en-AU"/>
          </a:p>
        </p:txBody>
      </p:sp>
      <p:sp>
        <p:nvSpPr>
          <p:cNvPr id="271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1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Except on very small, embedded systems, no computer program contains all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code it needs to execute. Rather, programs make calls to the operating system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to access the system’s resources and to standard library functions to perform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common operations. When using such functions, programmers commonly make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assumptions about how they actually operate. Most of the time they do indeed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seem to perform as expected. However, there are circumstances when the assumptions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 programmer makes about these functions are not correct. The result can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be that the program does not perform as expected. Part of the reason for this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that programmers tend to focus on the particular program they are developing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view it in isolation. However, on most systems this program will simply be one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many running and sharing the available system resources. The operating system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and library functions attempt to manage their resources in a manner that provides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best performance to all the programs running on the system. This does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result in requests for services being buffered, </a:t>
            </a:r>
            <a:r>
              <a:rPr lang="en-US" sz="1200" kern="1200" baseline="0" dirty="0" err="1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resequenced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, or otherwise modified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to optimize system use. Unfortunately, there are times when these optimizations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conflict with the goals of the program. Unless the programmer is aware of these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interactions and explicitly codes for them, the resulting program may not perform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as expected.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09015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9676450-052B-D94B-BB1B-62B9F38B0A4A}" type="slidenum">
              <a:rPr lang="en-AU"/>
              <a:pPr/>
              <a:t>25</a:t>
            </a:fld>
            <a:endParaRPr lang="en-AU"/>
          </a:p>
        </p:txBody>
      </p:sp>
      <p:sp>
        <p:nvSpPr>
          <p:cNvPr id="273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3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An excellent illustration of these issues is given by </a:t>
            </a:r>
            <a:r>
              <a:rPr lang="en-US" sz="1200" kern="1200" baseline="0" dirty="0" err="1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Venema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 in his discussion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of the design of a secure file shredding program [VENE06]. The problem is how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to securely delete a file so that its contents cannot subsequently be recovered. Just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using the standard file delete utility or system call does not suffice, as this simply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removes the linkage between the file’s name and its contents. The contents still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exist on the disk until those blocks are eventually reused in another file. Reversing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this operation is relatively straightforward, and undelete programs have existed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for many years to do this. Even when blocks from a deleted file are reused,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data in the files can still be recovered because not all traces of the previous bit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values are removed [GUTM96]. Consequently, the standard recommendation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to repeatedly overwrite the data contents with several distinct bit patterns to minimize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likelihood of the original data being recovered. Hence a secure file shredding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program might perhaps implement the algorithm like that shown in Figure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11.7a . However, when an obvious implementation of this algorithm is tried,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file contents were still recoverable afterwards. </a:t>
            </a:r>
            <a:r>
              <a:rPr lang="en-US" sz="1200" kern="1200" baseline="0" dirty="0" err="1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Venema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 details a number of flaws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in this algorithm that mean the program does not behave as expected. These flaws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relate to incorrect assumptions about how the relevant system functions operate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and include the following:</a:t>
            </a:r>
          </a:p>
          <a:p>
            <a:pPr marL="171450" indent="-171450">
              <a:buFont typeface="Arial" charset="0"/>
              <a:buChar char="•"/>
            </a:pPr>
            <a:endParaRPr lang="en-US" sz="1200" kern="1200" baseline="0" dirty="0" smtClean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pPr marL="171450" indent="-171450">
              <a:buFont typeface="Arial" charset="0"/>
              <a:buChar char="•"/>
            </a:pPr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When the file is opened for writing, the system will write the new data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same disk blocks as the original data. In practice, the operating system may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well assume that the existing data are no longer required, remove them from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association with the file, and then allocate new unused blocks to write the data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to. What the program should do is open the file for update, indicating to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operating system that the existing data are still required.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• When the file is overwritten with pattern, the data are written immediately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to disk. In the first instance the data are copied into a buffer in the application,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managed by the standard library file I/O routines. These routines delay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writing this buffer until it is sufficiently full, the program flushes the buffer,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or the file is closed. If the file is relatively small, this buffer may never fill up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before the program loops round, seeks back to the start of the file, and writes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next pattern. In such a case the library code will decide that because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previously written data have changed, there is no need to write the data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disk. The program needs to explicitly insist that the buffer be flushed after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each pattern is written.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• When the I/O buffers are flushed and the file is closed, the data are then written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to disk. However, there is another layer of buffering in the operating system’s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file handling code. This layer buffers information being read from and written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to files by all of the processes currently running on the computer system. It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then reorders and schedules these data for reading and writing to make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most efficient use of physical device accesses. Even if the program flushes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data out of the application buffer into the file system buffer, the data will not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be immediately written. If new replacement data are flushed from the program,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again they will most likely replace the previous data and not be written to disk,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because the file system code will assume that the earlier values are no longer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required. The program must insist that the file system synchronize the data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with the values on the device in order to ensure that the data are physically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transferred to the device. However, doing this results in a performance penalty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on the system because it forces device accesses to occur at less than optimal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times. This penalty impacts not just this file shredding program but every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program currently running on the system.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With these changes, the algorithm for a secure file shredding program changes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to that shown in Figure 11.7b . This is certainly more likely to achieve the desired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result; however, examined more closely, there are yet more concerns.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Modern disk drives and other storage devices are managed by smart controllers,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which are dedicated processors with their own memory. When the operating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system transfers data to such a device, the data are stored in buffers in the controller’s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memory. The controller also attempts to optimize the sequence of transfers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to the actual device. If it detects that the same data block is being written multiple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times, the controller may discard the earlier data values. To prevent this the program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needs some way to command the controller to write all pending data. Unfortunately,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there is no standard mechanism on most operating systems to make such a request.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When Apple was developing its Mac OS secure file delete program, it found it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necessary to create an additional file control option to generate this command.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its use incurs a further performance penalty on the system. But there are still more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problems. If the device is a nonmagnetic disk (e.g., a flash memory drive),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then their controllers try to minimize the number of writes to any block. This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because such devices only support a limited number of rewrites to any block. Instead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they may allocate new blocks when data are rewritten instead of reusing the existing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block. Also, some types of journaling file systems keep records of all changes made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to files to enable fast recovery after a disk crash. But these records can be used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access previous data contents.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All of this indicates that writing a secure file shredding program is actually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an extremely difficult exercise. There are so many layers of code involved, each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which makes assumptions about what the program really requires in order to provide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best performance. When these assumptions conflict with the actual goals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of the program, the result is that the program fails to perform as expected. A secure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programmer needs to identify such assumptions and resolve any conflicts with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program goals. Because identifying all relevant assumptions may be very difficult,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it also means exhaustively testing the program to ensure that it does indeed behave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as expected. When it does not, the reasons should be determined and the invalid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assumptions identified and corrected.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baseline="0" dirty="0" err="1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Venema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 concludes his discussion by noting that in fact the program may actually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be solving the wrong problem. Rather than trying to destroy the file contents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before deletion, a better approach may in fact be to overwrite all currently unused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blocks in the file systems and swap space, including those recently released from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deleted files.</a:t>
            </a:r>
            <a:endParaRPr lang="en-US" dirty="0">
              <a:latin typeface="Times" pitchFamily="-11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017197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4584BBF-1618-CB42-A7DD-893D9449ED6F}" type="slidenum">
              <a:rPr lang="en-AU"/>
              <a:pPr/>
              <a:t>26</a:t>
            </a:fld>
            <a:endParaRPr lang="en-AU"/>
          </a:p>
        </p:txBody>
      </p:sp>
      <p:sp>
        <p:nvSpPr>
          <p:cNvPr id="275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5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There are circumstances in which multiple programs need to access a common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system resource, often a file containing data created and manipulated by multiple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programs. Examples include mail client and mail delivery programs sharing access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to a user’s mailbox file, or various users of a Web CGI script updating the same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file used to save submitted form values. This is a variant of the issue, discussed in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Section 11.3 —synchronizing access to shared memory. As in that case, the solution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is to use an appropriate synchronization mechanism to serialize the accesses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to prevent errors. The most common technique is to acquire a lock on the shared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file, ensuring that each process has appropriate access in turn. There are several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methods used for this, depending on the operating system in use.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oldest and most general technique is to use a </a:t>
            </a:r>
            <a:r>
              <a:rPr lang="en-US" sz="1200" b="0" kern="1200" baseline="0" dirty="0" err="1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lockfile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 . A process must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create and own the </a:t>
            </a:r>
            <a:r>
              <a:rPr lang="en-US" sz="1200" b="0" kern="1200" baseline="0" dirty="0" err="1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lockfile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 in order to gain access to the shared resource. Any other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process that detects the existence of a </a:t>
            </a:r>
            <a:r>
              <a:rPr lang="en-US" sz="1200" b="0" kern="1200" baseline="0" dirty="0" err="1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lockfile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 must wait until it is removed before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creating its own to gain access. There are several concerns with this approach. First,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it is purely advisory. If a program chooses to ignore the existence of the </a:t>
            </a:r>
            <a:r>
              <a:rPr lang="en-US" sz="1200" b="0" kern="1200" baseline="0" dirty="0" err="1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lockfile</a:t>
            </a:r>
            <a:endParaRPr lang="en-US" sz="1200" b="0" kern="1200" baseline="0" dirty="0" smtClean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and access the shared resource, then the system will not prevent this. All programs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using this form of synchronization must cooperate. A more serious flaw occurs in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implementation. The obvious implementation is first to check that the </a:t>
            </a:r>
            <a:r>
              <a:rPr lang="en-US" sz="1200" b="0" kern="1200" baseline="0" dirty="0" err="1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lockfile</a:t>
            </a:r>
            <a:endParaRPr lang="en-US" sz="1200" b="0" kern="1200" baseline="0" dirty="0" smtClean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does not exist and then create it. Unfortunately, this contains a fatal deficiency.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Consider two processes each attempting to check and create this </a:t>
            </a:r>
            <a:r>
              <a:rPr lang="en-US" sz="1200" b="0" kern="1200" baseline="0" dirty="0" err="1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lockfile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. The first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checks and determines that the </a:t>
            </a:r>
            <a:r>
              <a:rPr lang="en-US" sz="1200" b="0" kern="1200" baseline="0" dirty="0" err="1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lockfile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 does not exist. However, before it is able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to create the </a:t>
            </a:r>
            <a:r>
              <a:rPr lang="en-US" sz="1200" b="0" kern="1200" baseline="0" dirty="0" err="1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lockfile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, the system suspends the process to allow other processes to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run. At this point the second process also checks that the </a:t>
            </a:r>
            <a:r>
              <a:rPr lang="en-US" sz="1200" b="0" kern="1200" baseline="0" dirty="0" err="1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lockfile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 does not exist,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creates it, and proceeds to start using the shared resource. Then it is suspended and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control returns to the first process, which proceeds to also create the </a:t>
            </a:r>
            <a:r>
              <a:rPr lang="en-US" sz="1200" b="0" kern="1200" baseline="0" dirty="0" err="1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lockfile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 and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access the shared resource at the same time. The data in the shared file will then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likely be corrupted. This is a classic illustration of a race condition. The problem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is that the process of checking the </a:t>
            </a:r>
            <a:r>
              <a:rPr lang="en-US" sz="1200" b="0" kern="1200" baseline="0" dirty="0" err="1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lockfile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 does not exist, and then creating the</a:t>
            </a:r>
          </a:p>
          <a:p>
            <a:r>
              <a:rPr lang="en-US" sz="1200" b="0" kern="1200" baseline="0" dirty="0" err="1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lockfile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 must be executed together, without the possibility of interruption. This is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known as an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atomic operation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. The correct implementation in this case is not to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test separately for the presence of the </a:t>
            </a:r>
            <a:r>
              <a:rPr lang="en-US" sz="1200" b="0" kern="1200" baseline="0" dirty="0" err="1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lockfile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, but always to attempt to create it.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specific options used in the file create state that if the file already exists, then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attempt must fail and return a suitable error code. If it fails, the process waits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for a period and then tries again until it succeeds. The operating system implements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this function as an atomic operation, providing guaranteed controlled access to the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resource. While the use of a </a:t>
            </a:r>
            <a:r>
              <a:rPr lang="en-US" sz="1200" b="0" kern="1200" baseline="0" dirty="0" err="1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lockfile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 is a classic technique, it has the advantage that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presence of a lock is quite clear because the </a:t>
            </a:r>
            <a:r>
              <a:rPr lang="en-US" sz="1200" b="0" kern="1200" baseline="0" dirty="0" err="1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lockfile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 is seen in a directory listing.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It also allows the administrator to easily remove a lock left by a program that either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crashed or otherwise failed to remove the lock.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There are more modern and alternative locking mechanisms available for files.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These may also be advisory and can also be mandatory, where the operating system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guarantees that a locked file cannot be accessed inappropriately. The issue with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mandatory locks is the mechanisms for removing them should the locking process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crash or otherwise not release the lock. These mechanisms are also implemented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differently on different operating systems. Hence care is needed to ensure that the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chosen mechanism is used correctly.</a:t>
            </a:r>
            <a:endParaRPr lang="en-US" b="0" dirty="0">
              <a:latin typeface="Times" pitchFamily="-11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858883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Figure 11.8 illustrates the use of the advisory flock call in a </a:t>
            </a:r>
            <a:r>
              <a:rPr lang="en-US" sz="1200" kern="1200" baseline="0" dirty="0" err="1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perl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 script. This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might typically be used in a Web CGI form handler to append information provided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by a user to this file. Subsequently another program, also using this locking mechanism,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could access the file and process and remove these details. Note that there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are subtle complexities related to locking files using different types of read or write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access. Suitable program or function references should be consulted on the correct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use of these features.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545940-966A-6A45-9F48-443597D6B6D4}" type="slidenum">
              <a:rPr lang="en-AU" smtClean="0"/>
              <a:pPr/>
              <a:t>27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9271578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AFDE9F3-BF97-E84A-A5F9-A102B1F14AD5}" type="slidenum">
              <a:rPr lang="en-AU"/>
              <a:pPr/>
              <a:t>28</a:t>
            </a:fld>
            <a:endParaRPr lang="en-AU"/>
          </a:p>
        </p:txBody>
      </p:sp>
      <p:sp>
        <p:nvSpPr>
          <p:cNvPr id="277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7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Many programs need to store a temporary copy of data while they are processing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data. A temporary file is commonly used for this purpose. Most operating systems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provide well-known locations for placing temporary files and standard functions for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naming and creating them. The critical issue with temporary files is that they are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unique and not accessed by other processes. In a sense this is the opposite problem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to managing access to a shared file. The most common technique for constructing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 temporary filename is to include a value such as the process identifier. As each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process has its own distinct identifier, this should guarantee a unique name.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program generally checks to ensure that the file does not already exist, perhaps left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over from a crash of a previous program, and then creates the file. This approach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suffices from the perspective of reliability but not with respect to security.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Again the problem is that an attacker does not play by the rules. The attacker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could attempt to guess the temporary filename a privileged program will use.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attacker then attempts to create a file with that name in the interval between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program checking the file does not exist and subsequently creating it. This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another example of a race condition, very similar to that when two processes race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access a shared file when locks are not used. There is a famous example, reported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in [WHEE03], of some versions of the tripwire file integrity program suffering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from this bug. The attacker would write a script that made repeated guesses on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temporary filename used and create a symbolic link from that name to the password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file. Access to the password file was restricted, so the attacker could not write to it.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However, the tripwire program runs with root privileges, giving it access to all files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on the system. If the attacker succeeds, then tripwire will follow the link and use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password file as its temporary file, destroying all user login details and denying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access to the system until the administrators can replace the password file with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backup copy. This was a very effective and inconvenient denial of service attack 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targeted system. This illustrates the importance of securely managing temporary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file creation.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Secure temporary file creation and use preferably requires the use of a random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temporary filename. The creation of this file should be done using an atomic system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primitive, as is done with the creation of a </a:t>
            </a:r>
            <a:r>
              <a:rPr lang="en-US" sz="1200" kern="1200" baseline="0" dirty="0" err="1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lockfile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. This prevents the race condition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and hence the potential exploit of this file. The standard C function </a:t>
            </a:r>
            <a:r>
              <a:rPr lang="en-US" sz="1200" kern="1200" baseline="0" dirty="0" err="1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mkstemp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()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suitable; however, the older functions </a:t>
            </a:r>
            <a:r>
              <a:rPr lang="en-US" sz="1200" kern="1200" baseline="0" dirty="0" err="1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tmpfile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(), </a:t>
            </a:r>
            <a:r>
              <a:rPr lang="en-US" sz="1200" kern="1200" baseline="0" dirty="0" err="1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tmpnam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(), and </a:t>
            </a:r>
            <a:r>
              <a:rPr lang="en-US" sz="1200" kern="1200" baseline="0" dirty="0" err="1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tempnam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() are all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insecure unless used with care. It is also important that the minimum access is given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to this file. In most cases only the effective owner of the program creating this file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should have any access.</a:t>
            </a:r>
            <a:endParaRPr lang="en-US" dirty="0">
              <a:latin typeface="Times" pitchFamily="-11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446436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GNOME Programming Guidelines recommend using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C code shown in Figure 11.9 to create a temporary file in a shared directory 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Linux and UNIX systems. Although this code calls the insecure </a:t>
            </a:r>
            <a:r>
              <a:rPr lang="en-US" sz="1200" kern="1200" baseline="0" dirty="0" err="1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tempnam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() function,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it uses a loop with appropriately restrictive file creation flags to counter its security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deficiencies. Once the program has finished using the file, it must be closed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unlinked. Perl programmers can use the </a:t>
            </a:r>
            <a:r>
              <a:rPr lang="en-US" sz="1200" kern="1200" baseline="0" dirty="0" err="1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File::Temp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 module for secure temporary file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creation. Programmers using other languages should consult appropriate references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for suitable methods.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When the file is created in a shared temporary directory, the access permissions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should specify that only the owner of the temporary file, or the system administrators,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should be able to remove it. This is not always the default permission setting,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which must be corrected to enable secure use of such files. On Linux and UNIX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systems this requires setting the sticky permission bit on the temporary directory, as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we discuss in Sections 4.4 and 25.3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545940-966A-6A45-9F48-443597D6B6D4}" type="slidenum">
              <a:rPr lang="en-AU" smtClean="0"/>
              <a:pPr/>
              <a:t>29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4873778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0782A75-BAE8-2249-AA78-8068A1C58630}" type="slidenum">
              <a:rPr lang="en-AU"/>
              <a:pPr/>
              <a:t>30</a:t>
            </a:fld>
            <a:endParaRPr lang="en-AU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As well as using functionality provided by the operating system and standard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library functions, programs may also use functionality and services provided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by other programs. Unless care is taken with this interaction, failure to identify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assumptions about the size and interpretation of data flowing among different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programs can result in security vulnerabilities. We discuss a number of issues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related to managing program input in Section 11.2 and program output in Section 11.5 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flow of information between programs can be viewed as output from one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forming input to the other. Such issues are of particular concern when the program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being used was not originally written with this wider use as a design issue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and hence did not adequately identify all the security concerns that might arise.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This occurs particularly with the current trend of providing Web interfaces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programs that users previously ran directly on the server system. While ideally all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programs should be designed to manage security concerns and be written defensively,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this is not the case in reality. Hence the burden falls on the newer programs,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utilizing these older programs, to identify and manage any security issues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that may arise.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 further concern relates to protecting the confidentiality and integrity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data flowing among various programs. When these programs are running 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same computer system, appropriate use of system functionality such as pipes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or temporary files provides this protection. If the programs run on different systems,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linked by a suitable network connection, then appropriate security mechanisms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should be employed by these network connections. Alternatives include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use of IP Security (IPSec), Transport Layer/Secure Socket Layer Security (TLS/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SSL), or Secure Shell (SSH) connections.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Even when using well regarded, standardized protocols, care is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needed to ensure they use strong cryptography, as weaknesses have been found in a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10" charset="0"/>
                <a:ea typeface="+mn-ea"/>
                <a:cs typeface="+mn-cs"/>
              </a:rPr>
              <a:t>number of algorithms and their implementations [SIMP11]. 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We discuss some of these alternatives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Chapter 22 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Suitable detection and handling of exceptions and errors generated by program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interaction is also important from a security perspective. When one process invokes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another program as a child process, it should ensure that the program terminates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correctly and accept its exit status. It must also catch and process signals resulting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from interaction with other programs and the operating system.</a:t>
            </a:r>
            <a:endParaRPr lang="en-US" dirty="0">
              <a:latin typeface="Times" pitchFamily="-11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766078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A4FD430-4273-0C45-BCD0-0DC702BF8757}" type="slidenum">
              <a:rPr lang="en-AU"/>
              <a:pPr/>
              <a:t>31</a:t>
            </a:fld>
            <a:endParaRPr lang="en-AU"/>
          </a:p>
        </p:txBody>
      </p:sp>
      <p:sp>
        <p:nvSpPr>
          <p:cNvPr id="28160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1603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final component of our model of computer programs is the generation of output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as a result of the processing of input and other interactions. This output might be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stored for future use (e.g., in files or a database), or be transmitted over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 network connection, or be destined for display to some user. As with program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input, the output data may be classified as binary or textual. Binary data may encode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complex structures, such as requests to an X-Windows display system to create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manipulate complex graphical interface display components. Or the data could be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complex binary network protocol structures. If representing textual information,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data will be encoded using some character set and possibly representing some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structured output, such as HTML.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In all cases it is important from a program security perspective that the output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really does conform to the expected form and interpretation. If directed to a user,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it will be interpreted and displayed by some appropriate program or device. If this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output includes unexpected content, then anomalous behavior may result, with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detrimental effects on the user. A critical issue here is the assumption of common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origin. If a user is interacting with a program, the assumption is that all output seen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was created by, or at least validated by, that program. However, as the discussion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of cross-site scripting (XSS) attacks in Section 11.2 illustrates, this assumption may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not be valid. A program may accept input from one user, save it, and subsequently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display it to another user. If this input contains content that alters the behavior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program or device displaying the data, and the content is not adequately sanitized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by the program, then an attack on the user is possible.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Consider two examples. The first involves simple text-based programs run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on classic time-sharing systems when purely textual terminals, such as the VT100,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were used to interact with the system. Such terminals often supported a set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function keys, which could be programmed to send any desired sequence of characters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when pressed. This programming was implemented by sending a special escape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sequence. The terminal would recognize these sequences and, rather than displaying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characters on the screen, would perform the requested action. In addition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to programming the function keys, other escape sequences were used to control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formatting of the textual output (bold, underline, etc.), to change the current cursor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location, and critically to specify that the current contents of a function key should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be sent, as if the user had just pressed the key. Together these capabilities could be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used to implement a classic command injection attack on a user, which was a favorite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student prank in previous years. The attacker would get the victim to display some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carefully crafted text on his or her terminal. This could be achieved by convincing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victim to run a program, have it included in an e-mail message, or have it written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directly to the victim’s terminal if the victim permitted this. While displaying some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innocent message to distract the targeted user, this text would also include a number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of escape sequences that first programmed a function key to send some selected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command and then the command to send that text as if the programmed function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key had been pressed. If the text was displayed by a program that subsequently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exited, then the text sent from the programmed function key would be treated as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if the targeted user had typed it as his or her next command. Hence the attacker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could make the system perform any desired operation the user was permitted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do. This could include deleting the user’s files or changing the user’s password. With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this simple form of attack, the user would see the commands and the response being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displayed and know it had occurred, though too late to prevent it. With more subtle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combinations of escape sequences, it was possible to capture and prevent this text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from being displayed, hiding the fact of the attack from direct observation by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user until its consequences became obvious. A more modern variant of this attack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exploits the capabilities of an insufficiently protected X-terminal display to similarly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hijack and control one or more of the user’s sessions.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key lesson illustrated by this example concerns the user’s expectations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of the type of output that would be sent to the user’s terminal display. The user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expected the output to be primarily pure text for display. If a program such as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text editor or mail client used formatted text or the programmable function keys,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then it was trusted not to abuse these capabilities. And indeed, most such programs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encountered by users did indeed respect these conventions. Programs like a mail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client, which displayed data originating from other users, needed to filter such text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to ensure that any escape sequences included in them were disabled. The issue for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users then was to identify other programs that could not be so trusted, and if necessary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filter their output to foil any such attack. Another lesson seen here, and even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more so in the subsequent X-terminal variant of this attack, was to ensure that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untrusted sources were not permitted to direct output to a user’s display. In the case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of traditional terminals, this meant disabling the ability of other users to write messages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directly to the user’s display. In the case of X-terminals, it meant configuring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authentication mechanisms so that only programs run at the user’s command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were permitted to access the user’s display.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second example is the classic cross-site scripting (XSS) attack using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guestbook on some Web server. If the guestbook application fails adequately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check and sanitize any input supplied by one user, then this can be used to implement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an attack on users subsequently viewing these comments. This attack exploits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assumptions and security models used by Web browsers when viewing content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from a site. Browsers assume all of the content was generated by that site and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equally trusted. This allows programmable content like JavaScript to access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manipulate data and metadata at the browser site, such as cookies associated with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that site. The issue here is that not all data were generated by, or under the control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of, that site. Rather the data came from some other, untrusted user.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Any programs that gather and rely on third-party data have to be responsible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for ensuring that any subsequent use of such data is safe and does not violate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user’s assumptions. These programs must identify what is permissible output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content and filter any possibly untrusted data to ensure that only valid output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displayed. The simplest filtering alternative is to remove all HTML markup. This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will certainly make the output safe but can conflict with the desire to allow some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formatting of the output. The alternative is to allow just some safe markup through.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As with input filtering, the focus should be on allowing only what is safe rather than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trying to remove what is dangerous, as the interpretation of 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dangerous </a:t>
            </a:r>
            <a:r>
              <a:rPr lang="en-US" sz="1200" i="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may well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change over time.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Another issue here is that different character sets allow different encodings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meta characters, which may change the interpretation of what is valid output. If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display program or device is unaware of the specific encoding used, it might make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a different assumption to the program, possibly subverting the filtering. Hence it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important for the program either to explicitly specify encoding where possible 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otherwise ensure that the encoding conforms to the display expectations. This is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obverse of the issue of input canonicalization, where the program ensures that it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had a common minimal representation of the input to validate. In the case of Web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output, it is possible for a Web server to specify explicitly the character set used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Content-Type HTTP response header. Unfortunately, this is not specified as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often as it should be. If not specified, browsers will make an assumption about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default character set to use. This assumption is not clearly codified; hence different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browsers can and do make different choices. If Web output is being filtered,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character set should be specified.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Note that in these examples of security flaws that result from program output,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the target of compromise was not the program generating the output but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rather the program or device used to display the output. It could be argued that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this is not the concern of the programmer, as their program is not subverted.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However, if the program acts as a conduit for attack, the programmer’s reputation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will be tarnished, and users may well be less willing to use the program. In the case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of XSS attacks, a number of well-known sites were implicated in these attacks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rPr>
              <a:t>suffered adverse publicity.</a:t>
            </a:r>
            <a:endParaRPr lang="en-US" dirty="0">
              <a:latin typeface="Times" pitchFamily="-11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302107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AAF8046-0263-F74C-BDB1-E6E78A850B0B}" type="slidenum">
              <a:rPr lang="en-AU">
                <a:solidFill>
                  <a:srgbClr val="000000"/>
                </a:solidFill>
              </a:rPr>
              <a:pPr/>
              <a:t>32</a:t>
            </a:fld>
            <a:endParaRPr lang="en-AU" dirty="0">
              <a:solidFill>
                <a:srgbClr val="000000"/>
              </a:solidFill>
            </a:endParaRPr>
          </a:p>
        </p:txBody>
      </p:sp>
      <p:sp>
        <p:nvSpPr>
          <p:cNvPr id="206852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6853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Times New Roman" pitchFamily="-107" charset="0"/>
              </a:rPr>
              <a:t>Chapter </a:t>
            </a:r>
            <a:r>
              <a:rPr lang="en-US" smtClean="0">
                <a:latin typeface="Times New Roman" pitchFamily="-107" charset="0"/>
              </a:rPr>
              <a:t>11 </a:t>
            </a:r>
            <a:r>
              <a:rPr lang="en-US" dirty="0">
                <a:latin typeface="Times New Roman" pitchFamily="-107" charset="0"/>
              </a:rPr>
              <a:t>summary.</a:t>
            </a:r>
          </a:p>
        </p:txBody>
      </p:sp>
    </p:spTree>
    <p:extLst>
      <p:ext uri="{BB962C8B-B14F-4D97-AF65-F5344CB8AC3E}">
        <p14:creationId xmlns:p14="http://schemas.microsoft.com/office/powerpoint/2010/main" val="3456846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06B9344-A600-C44C-BFF3-F262E2EAB853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6C9FC-DA22-1F47-8722-58727A1D436E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0927A-0526-144F-9580-37ABB5A1E7E2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Palatino Linotype"/>
            </a:endParaRPr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Palatino Linotype"/>
            </a:endParaRPr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Palatino Linotype"/>
            </a:endParaRP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DF91A-7C92-3743-8A2E-356816C55239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29B3-313B-4E43-B940-6E980F955EE2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E093F-740F-2B40-9952-A828B8BE9ABC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1BA6F-B221-4442-B3E0-4DE91DDD2916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3DB47-CF9E-3940-A66D-FFE81C46DA24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43092-C6C6-4F4E-AC3B-C3372C3BCD24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F7B68-3A81-2E4B-BA12-F5A493E24C50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2B32E-5D81-2D4F-8CC9-49749ECC7299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00113" y="3442447"/>
            <a:ext cx="7345362" cy="1532965"/>
          </a:xfrm>
        </p:spPr>
        <p:txBody>
          <a:bodyPr anchor="b" anchorCtr="0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00113" y="5029200"/>
            <a:ext cx="7345362" cy="990600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69259" y="6122894"/>
            <a:ext cx="2133600" cy="259317"/>
          </a:xfrm>
        </p:spPr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638800" y="6124401"/>
            <a:ext cx="2895600" cy="257810"/>
          </a:xfrm>
        </p:spPr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2"/>
          </p:nvPr>
        </p:nvSpPr>
        <p:spPr>
          <a:xfrm>
            <a:off x="636493" y="533400"/>
            <a:ext cx="7836408" cy="2828925"/>
          </a:xfrm>
        </p:spPr>
        <p:txBody>
          <a:bodyPr>
            <a:normAutofit/>
          </a:bodyPr>
          <a:lstStyle>
            <a:lvl1pPr>
              <a:buNone/>
              <a:defRPr sz="2000"/>
            </a:lvl1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A855AEC4-77F9-F44E-AF10-D517C4B655CE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Palatino Linotype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Palatino Linotype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ransition/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png"/><Relationship Id="rId4" Type="http://schemas.openxmlformats.org/officeDocument/2006/relationships/package" Target="../embeddings/Microsoft_Word_Document1.docx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>
            <a:lumMod val="75000"/>
            <a:alpha val="9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83272" y="995291"/>
            <a:ext cx="7510988" cy="3530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539" dirty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rPr>
              <a:t>Computer Security:</a:t>
            </a:r>
          </a:p>
          <a:p>
            <a:pPr algn="ctr"/>
            <a:r>
              <a:rPr lang="en-US" sz="5539" dirty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rPr>
              <a:t> Principles and Practice</a:t>
            </a:r>
          </a:p>
          <a:p>
            <a:pPr algn="ctr"/>
            <a:endParaRPr lang="en-US" sz="2308" dirty="0">
              <a:latin typeface="Baskerville Bold Italic" charset="0"/>
            </a:endParaRPr>
          </a:p>
          <a:p>
            <a:pPr algn="ctr"/>
            <a:endParaRPr lang="en-US" sz="2308" dirty="0">
              <a:latin typeface="Baskerville Bold Italic" charset="0"/>
            </a:endParaRPr>
          </a:p>
          <a:p>
            <a:pPr algn="ctr"/>
            <a:r>
              <a:rPr lang="en-US" sz="2215" dirty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rPr>
              <a:t>Fourth Edition</a:t>
            </a:r>
          </a:p>
          <a:p>
            <a:pPr algn="ctr"/>
            <a:endParaRPr lang="en-US" sz="2215" dirty="0">
              <a:solidFill>
                <a:schemeClr val="tx2"/>
              </a:solidFill>
              <a:effectLst>
                <a:outerShdw blurRad="63500" dist="38100" dir="5400000" algn="t" rotWithShape="0">
                  <a:prstClr val="black">
                    <a:alpha val="25000"/>
                  </a:prstClr>
                </a:outerShdw>
              </a:effectLst>
              <a:latin typeface="+mn-lt"/>
              <a:ea typeface="+mj-ea"/>
              <a:cs typeface="+mj-cs"/>
            </a:endParaRPr>
          </a:p>
          <a:p>
            <a:pPr algn="ctr"/>
            <a:r>
              <a:rPr lang="en-US" sz="2215" dirty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rPr>
              <a:t>By:  William Stallings and Lawrie Brown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mv="urn:schemas-microsoft-com:mac:vml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 smtClean="0"/>
              <a:t>Chapter 11</a:t>
            </a:r>
            <a:endParaRPr lang="en-US" dirty="0"/>
          </a:p>
        </p:txBody>
      </p:sp>
      <p:sp>
        <p:nvSpPr>
          <p:cNvPr id="13" name="Subtitle 1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 smtClean="0"/>
              <a:t>Software Security</a:t>
            </a:r>
          </a:p>
          <a:p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4303948"/>
              </p:ext>
            </p:extLst>
          </p:nvPr>
        </p:nvGraphicFramePr>
        <p:xfrm>
          <a:off x="107950" y="0"/>
          <a:ext cx="7585075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7" name="Document" r:id="rId4" imgW="6095776" imgH="5511597" progId="Word.Document.12">
                  <p:embed/>
                </p:oleObj>
              </mc:Choice>
              <mc:Fallback>
                <p:oleObj name="Document" r:id="rId4" imgW="6095776" imgH="5511597" progId="Word.Document.12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" y="0"/>
                        <a:ext cx="7585075" cy="685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68344" y="1132750"/>
            <a:ext cx="147565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+mn-lt"/>
              </a:rPr>
              <a:t>Table 11.1 </a:t>
            </a:r>
            <a:endParaRPr lang="en-US" sz="3200" dirty="0" smtClean="0">
              <a:latin typeface="+mn-lt"/>
            </a:endParaRPr>
          </a:p>
          <a:p>
            <a:pPr algn="ctr"/>
            <a:endParaRPr lang="en-US" b="1" dirty="0">
              <a:latin typeface="+mn-lt"/>
            </a:endParaRPr>
          </a:p>
          <a:p>
            <a:pPr algn="ctr"/>
            <a:r>
              <a:rPr lang="en-US" dirty="0" smtClean="0">
                <a:latin typeface="+mn-lt"/>
              </a:rPr>
              <a:t>CWE</a:t>
            </a:r>
            <a:r>
              <a:rPr lang="en-US" dirty="0">
                <a:latin typeface="+mn-lt"/>
              </a:rPr>
              <a:t>/SANS TOP 25 Most Dangerous Software Errors (2011)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6296" y="6237312"/>
            <a:ext cx="13415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(Table is on page 359 in </a:t>
            </a:r>
            <a:r>
              <a:rPr lang="en-US" sz="1000" smtClean="0"/>
              <a:t>the textbook) </a:t>
            </a:r>
            <a:endParaRPr lang="en-US" sz="1000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12068"/>
            <a:ext cx="6984775" cy="67058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58540292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24744"/>
          </a:xfrm>
        </p:spPr>
        <p:txBody>
          <a:bodyPr/>
          <a:lstStyle/>
          <a:p>
            <a:r>
              <a:rPr lang="en-US" dirty="0" smtClean="0">
                <a:solidFill>
                  <a:schemeClr val="accent6">
                    <a:lumMod val="40000"/>
                    <a:lumOff val="60000"/>
                  </a:schemeClr>
                </a:solidFill>
              </a:rPr>
              <a:t>Security Flaws</a:t>
            </a:r>
            <a:endParaRPr lang="en-US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853136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  <a:buClr>
                <a:schemeClr val="accent6">
                  <a:lumMod val="60000"/>
                  <a:lumOff val="40000"/>
                </a:schemeClr>
              </a:buClr>
              <a:buSzPct val="140000"/>
            </a:pPr>
            <a:r>
              <a:rPr lang="en-US" sz="2000" dirty="0" smtClean="0">
                <a:latin typeface="+mn-lt"/>
              </a:rPr>
              <a:t>These flaws occur as a consequence of insufficient checking and validation of data and error codes in programs</a:t>
            </a:r>
          </a:p>
          <a:p>
            <a:pPr>
              <a:spcAft>
                <a:spcPts val="1200"/>
              </a:spcAft>
              <a:buClr>
                <a:schemeClr val="accent6">
                  <a:lumMod val="60000"/>
                  <a:lumOff val="40000"/>
                </a:schemeClr>
              </a:buClr>
              <a:buSzPct val="140000"/>
            </a:pPr>
            <a:r>
              <a:rPr lang="en-US" sz="2000" dirty="0" smtClean="0">
                <a:latin typeface="+mn-lt"/>
              </a:rPr>
              <a:t>Awareness of these issues is a critical initial step in writing more secure program code</a:t>
            </a:r>
          </a:p>
          <a:p>
            <a:pPr>
              <a:spcAft>
                <a:spcPts val="1200"/>
              </a:spcAft>
              <a:buClr>
                <a:schemeClr val="accent6">
                  <a:lumMod val="60000"/>
                  <a:lumOff val="40000"/>
                </a:schemeClr>
              </a:buClr>
              <a:buSzPct val="140000"/>
            </a:pPr>
            <a:r>
              <a:rPr lang="en-US" sz="2000" dirty="0" smtClean="0">
                <a:latin typeface="+mn-lt"/>
              </a:rPr>
              <a:t>Emphasis should be placed on the need for software developers to address these known areas of concern</a:t>
            </a:r>
            <a:endParaRPr lang="en-US" sz="2000" dirty="0">
              <a:latin typeface="+mn-lt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853136"/>
          </a:xfrm>
        </p:spPr>
        <p:txBody>
          <a:bodyPr>
            <a:normAutofit/>
          </a:bodyPr>
          <a:lstStyle/>
          <a:p>
            <a:pPr>
              <a:lnSpc>
                <a:spcPts val="3060"/>
              </a:lnSpc>
            </a:pPr>
            <a:r>
              <a:rPr lang="en-US" sz="2800" dirty="0" smtClean="0">
                <a:latin typeface="+mn-lt"/>
              </a:rPr>
              <a:t>Critical Web application security flaws include five related to insecure software code</a:t>
            </a:r>
          </a:p>
          <a:p>
            <a:pPr lvl="2"/>
            <a:r>
              <a:rPr lang="en-US" sz="2000" dirty="0" err="1" smtClean="0">
                <a:latin typeface="+mn-lt"/>
              </a:rPr>
              <a:t>Unvalidated</a:t>
            </a:r>
            <a:r>
              <a:rPr lang="en-US" sz="2000" dirty="0" smtClean="0">
                <a:latin typeface="+mn-lt"/>
              </a:rPr>
              <a:t> input</a:t>
            </a:r>
          </a:p>
          <a:p>
            <a:pPr lvl="2"/>
            <a:r>
              <a:rPr lang="en-US" sz="2000" dirty="0" smtClean="0">
                <a:latin typeface="+mn-lt"/>
              </a:rPr>
              <a:t>Cross-site scripting</a:t>
            </a:r>
          </a:p>
          <a:p>
            <a:pPr lvl="2"/>
            <a:r>
              <a:rPr lang="en-US" sz="2000" dirty="0" smtClean="0">
                <a:latin typeface="+mn-lt"/>
              </a:rPr>
              <a:t>Buffer overflow</a:t>
            </a:r>
          </a:p>
          <a:p>
            <a:pPr lvl="2"/>
            <a:r>
              <a:rPr lang="en-US" sz="2000" dirty="0" smtClean="0">
                <a:latin typeface="+mn-lt"/>
              </a:rPr>
              <a:t>Injection flaws</a:t>
            </a:r>
          </a:p>
          <a:p>
            <a:pPr lvl="2"/>
            <a:r>
              <a:rPr lang="en-US" sz="2000" dirty="0" smtClean="0">
                <a:latin typeface="+mn-lt"/>
              </a:rPr>
              <a:t>Improper error handling</a:t>
            </a:r>
            <a:endParaRPr lang="en-US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2406151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600200"/>
          </a:xfrm>
        </p:spPr>
        <p:txBody>
          <a:bodyPr/>
          <a:lstStyle/>
          <a:p>
            <a:r>
              <a:rPr lang="en-US" dirty="0" smtClean="0">
                <a:solidFill>
                  <a:schemeClr val="accent6">
                    <a:lumMod val="40000"/>
                    <a:lumOff val="60000"/>
                  </a:schemeClr>
                </a:solidFill>
              </a:rPr>
              <a:t>Reducing </a:t>
            </a:r>
            <a:r>
              <a:rPr lang="en-US" smtClean="0">
                <a:solidFill>
                  <a:schemeClr val="accent6">
                    <a:lumMod val="40000"/>
                    <a:lumOff val="60000"/>
                  </a:schemeClr>
                </a:solidFill>
              </a:rPr>
              <a:t>Software Vulnerabilities</a:t>
            </a:r>
            <a:endParaRPr lang="en-US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44824"/>
            <a:ext cx="8229600" cy="4464496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  <a:buClr>
                <a:schemeClr val="accent6">
                  <a:lumMod val="60000"/>
                  <a:lumOff val="40000"/>
                </a:schemeClr>
              </a:buClr>
              <a:buSzPct val="140000"/>
            </a:pPr>
            <a:r>
              <a:rPr lang="en-US" dirty="0" smtClean="0">
                <a:latin typeface="+mn-lt"/>
              </a:rPr>
              <a:t>The NIST report NISTIR 8151 presents a range of approaches to reduce the number of software vulnerabilities</a:t>
            </a:r>
          </a:p>
          <a:p>
            <a:pPr>
              <a:buClr>
                <a:schemeClr val="accent6">
                  <a:lumMod val="60000"/>
                  <a:lumOff val="40000"/>
                </a:schemeClr>
              </a:buClr>
              <a:buSzPct val="140000"/>
            </a:pPr>
            <a:r>
              <a:rPr lang="en-US" dirty="0" smtClean="0">
                <a:latin typeface="+mn-lt"/>
              </a:rPr>
              <a:t>It recommends:</a:t>
            </a:r>
          </a:p>
          <a:p>
            <a:pPr lvl="2">
              <a:spcAft>
                <a:spcPts val="1200"/>
              </a:spcAft>
              <a:buClr>
                <a:schemeClr val="accent6">
                  <a:lumMod val="60000"/>
                  <a:lumOff val="40000"/>
                </a:schemeClr>
              </a:buClr>
              <a:buSzPct val="140000"/>
            </a:pPr>
            <a:r>
              <a:rPr lang="en-US" sz="2000" dirty="0" smtClean="0">
                <a:latin typeface="+mn-lt"/>
              </a:rPr>
              <a:t>Stopping vulnerabilities before they occur by using improved methods for specifying and building software</a:t>
            </a:r>
          </a:p>
          <a:p>
            <a:pPr lvl="2">
              <a:spcAft>
                <a:spcPts val="1200"/>
              </a:spcAft>
              <a:buClr>
                <a:schemeClr val="accent6">
                  <a:lumMod val="60000"/>
                  <a:lumOff val="40000"/>
                </a:schemeClr>
              </a:buClr>
              <a:buSzPct val="140000"/>
            </a:pPr>
            <a:r>
              <a:rPr lang="en-US" sz="2000" dirty="0" smtClean="0">
                <a:latin typeface="+mn-lt"/>
              </a:rPr>
              <a:t>Finding vulnerabilities before they can be exploited by using better and more efficient testing techniques</a:t>
            </a:r>
          </a:p>
          <a:p>
            <a:pPr lvl="2">
              <a:spcAft>
                <a:spcPts val="1200"/>
              </a:spcAft>
              <a:buClr>
                <a:schemeClr val="accent6">
                  <a:lumMod val="60000"/>
                  <a:lumOff val="40000"/>
                </a:schemeClr>
              </a:buClr>
              <a:buSzPct val="140000"/>
            </a:pPr>
            <a:r>
              <a:rPr lang="en-US" sz="2000" dirty="0" smtClean="0">
                <a:latin typeface="+mn-lt"/>
              </a:rPr>
              <a:t>Reducing the impact of vulnerabilities by building more resilient architectures</a:t>
            </a:r>
          </a:p>
        </p:txBody>
      </p:sp>
    </p:spTree>
    <p:extLst>
      <p:ext uri="{BB962C8B-B14F-4D97-AF65-F5344CB8AC3E}">
        <p14:creationId xmlns:p14="http://schemas.microsoft.com/office/powerpoint/2010/main" val="8846017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Grp="1" noChangeArrowheads="1"/>
          </p:cNvSpPr>
          <p:nvPr>
            <p:ph type="title"/>
          </p:nvPr>
        </p:nvSpPr>
        <p:spPr>
          <a:xfrm>
            <a:off x="9164" y="116632"/>
            <a:ext cx="9144000" cy="1600200"/>
          </a:xfrm>
        </p:spPr>
        <p:txBody>
          <a:bodyPr>
            <a:normAutofit/>
          </a:bodyPr>
          <a:lstStyle/>
          <a:p>
            <a:r>
              <a:rPr kumimoji="1" lang="en-GB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Software</a:t>
            </a:r>
            <a:r>
              <a:rPr kumimoji="1" lang="en-GB" dirty="0" smtClean="0">
                <a:solidFill>
                  <a:schemeClr val="accent6">
                    <a:lumMod val="40000"/>
                    <a:lumOff val="60000"/>
                  </a:schemeClr>
                </a:solidFill>
              </a:rPr>
              <a:t> Security, </a:t>
            </a:r>
            <a:br>
              <a:rPr kumimoji="1" lang="en-GB" dirty="0" smtClean="0">
                <a:solidFill>
                  <a:schemeClr val="accent6">
                    <a:lumMod val="40000"/>
                    <a:lumOff val="60000"/>
                  </a:schemeClr>
                </a:solidFill>
              </a:rPr>
            </a:br>
            <a:r>
              <a:rPr kumimoji="1" lang="en-GB" dirty="0" smtClean="0">
                <a:solidFill>
                  <a:schemeClr val="accent6">
                    <a:lumMod val="40000"/>
                    <a:lumOff val="60000"/>
                  </a:schemeClr>
                </a:solidFill>
              </a:rPr>
              <a:t>Quality and Reliability</a:t>
            </a:r>
            <a:endParaRPr kumimoji="1" lang="en-US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08899" name="Rectangle 3"/>
          <p:cNvSpPr>
            <a:spLocks noGrp="1" noChangeArrowheads="1"/>
          </p:cNvSpPr>
          <p:nvPr>
            <p:ph sz="half" idx="2"/>
          </p:nvPr>
        </p:nvSpPr>
        <p:spPr>
          <a:xfrm>
            <a:off x="323528" y="1916832"/>
            <a:ext cx="4065592" cy="468396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sz="2800" dirty="0">
                <a:latin typeface="+mn-lt"/>
              </a:rPr>
              <a:t>S</a:t>
            </a:r>
            <a:r>
              <a:rPr lang="en-US" sz="2800" dirty="0" smtClean="0">
                <a:latin typeface="+mn-lt"/>
              </a:rPr>
              <a:t>oftware quality and reliability:</a:t>
            </a:r>
          </a:p>
          <a:p>
            <a:pPr lvl="1">
              <a:lnSpc>
                <a:spcPct val="90000"/>
              </a:lnSpc>
              <a:spcAft>
                <a:spcPts val="600"/>
              </a:spcAft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sz="1800" dirty="0">
                <a:latin typeface="+mn-lt"/>
              </a:rPr>
              <a:t>Concerned with the accidental failure of program as a result of some theoretically random, unanticipated input, system interaction, or use of incorrect code</a:t>
            </a:r>
          </a:p>
          <a:p>
            <a:pPr lvl="1">
              <a:lnSpc>
                <a:spcPct val="90000"/>
              </a:lnSpc>
              <a:spcAft>
                <a:spcPts val="600"/>
              </a:spcAft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sz="1800" dirty="0">
                <a:latin typeface="+mn-lt"/>
              </a:rPr>
              <a:t>Improve using structured design and testing to identify and eliminate as many bugs as possible from a program</a:t>
            </a:r>
          </a:p>
          <a:p>
            <a:pPr lvl="1">
              <a:lnSpc>
                <a:spcPct val="90000"/>
              </a:lnSpc>
              <a:spcAft>
                <a:spcPts val="600"/>
              </a:spcAft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sz="1800" dirty="0">
                <a:latin typeface="+mn-lt"/>
              </a:rPr>
              <a:t>Concern is not how many bugs, but how often they are triggered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3"/>
          </p:nvPr>
        </p:nvSpPr>
        <p:spPr>
          <a:xfrm>
            <a:off x="4933722" y="2049100"/>
            <a:ext cx="3931920" cy="453995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sz="2800" dirty="0">
                <a:latin typeface="+mn-lt"/>
              </a:rPr>
              <a:t>S</a:t>
            </a:r>
            <a:r>
              <a:rPr lang="en-US" sz="2800" dirty="0" smtClean="0">
                <a:latin typeface="+mn-lt"/>
              </a:rPr>
              <a:t>oftware security:</a:t>
            </a:r>
          </a:p>
          <a:p>
            <a:pPr lvl="1">
              <a:spcAft>
                <a:spcPts val="600"/>
              </a:spcAft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sz="1800" dirty="0">
                <a:latin typeface="+mn-lt"/>
              </a:rPr>
              <a:t>Attacker chooses probability distribution, specifically targeting bugs that result in a failure that can be exploited by the attacker</a:t>
            </a:r>
          </a:p>
          <a:p>
            <a:pPr lvl="1">
              <a:spcAft>
                <a:spcPts val="600"/>
              </a:spcAft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sz="1800" dirty="0">
                <a:latin typeface="+mn-lt"/>
              </a:rPr>
              <a:t>Triggered by inputs that differ dramatically from what is usually expected</a:t>
            </a:r>
          </a:p>
          <a:p>
            <a:pPr lvl="1">
              <a:spcAft>
                <a:spcPts val="600"/>
              </a:spcAft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sz="1800" dirty="0">
                <a:latin typeface="+mn-lt"/>
              </a:rPr>
              <a:t>Unlikely to be identified by common testing approaches</a:t>
            </a:r>
          </a:p>
        </p:txBody>
      </p:sp>
      <p:cxnSp>
        <p:nvCxnSpPr>
          <p:cNvPr id="7" name="Straight Connector 6"/>
          <p:cNvCxnSpPr/>
          <p:nvPr/>
        </p:nvCxnSpPr>
        <p:spPr>
          <a:xfrm rot="5400000">
            <a:off x="2591197" y="4115197"/>
            <a:ext cx="4114006" cy="1588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412776"/>
          </a:xfrm>
        </p:spPr>
        <p:txBody>
          <a:bodyPr/>
          <a:lstStyle/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Defensive Programming</a:t>
            </a:r>
          </a:p>
        </p:txBody>
      </p:sp>
      <p:sp>
        <p:nvSpPr>
          <p:cNvPr id="210947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844824"/>
            <a:ext cx="8229600" cy="5018977"/>
          </a:xfrm>
        </p:spPr>
        <p:txBody>
          <a:bodyPr/>
          <a:lstStyle/>
          <a:p>
            <a:pPr>
              <a:spcBef>
                <a:spcPts val="1176"/>
              </a:spcBef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dirty="0" smtClean="0">
                <a:latin typeface="+mn-lt"/>
              </a:rPr>
              <a:t>Designing </a:t>
            </a:r>
            <a:r>
              <a:rPr lang="en-US" dirty="0">
                <a:latin typeface="+mn-lt"/>
              </a:rPr>
              <a:t>and implementing software so that it continues to function even when under attack</a:t>
            </a:r>
          </a:p>
          <a:p>
            <a:pPr>
              <a:spcBef>
                <a:spcPts val="1176"/>
              </a:spcBef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dirty="0" smtClean="0">
                <a:latin typeface="+mn-lt"/>
              </a:rPr>
              <a:t>Requires </a:t>
            </a:r>
            <a:r>
              <a:rPr lang="en-US" dirty="0">
                <a:latin typeface="+mn-lt"/>
              </a:rPr>
              <a:t>attention to all aspects of program execution, environment,</a:t>
            </a:r>
            <a:r>
              <a:rPr lang="en-US" dirty="0" smtClean="0">
                <a:latin typeface="+mn-lt"/>
              </a:rPr>
              <a:t> and type of data it processes</a:t>
            </a:r>
          </a:p>
          <a:p>
            <a:pPr>
              <a:spcBef>
                <a:spcPts val="1176"/>
              </a:spcBef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dirty="0" smtClean="0">
                <a:latin typeface="+mn-lt"/>
              </a:rPr>
              <a:t>Software is able to detect erroneous conditions resulting from some attack</a:t>
            </a:r>
          </a:p>
          <a:p>
            <a:pPr>
              <a:spcBef>
                <a:spcPts val="1176"/>
              </a:spcBef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dirty="0">
                <a:latin typeface="+mn-lt"/>
              </a:rPr>
              <a:t>A</a:t>
            </a:r>
            <a:r>
              <a:rPr lang="en-US" dirty="0" smtClean="0">
                <a:latin typeface="+mn-lt"/>
              </a:rPr>
              <a:t>lso referred to as </a:t>
            </a:r>
            <a:r>
              <a:rPr lang="en-US" dirty="0">
                <a:latin typeface="+mn-lt"/>
              </a:rPr>
              <a:t>secure programming</a:t>
            </a:r>
          </a:p>
          <a:p>
            <a:pPr>
              <a:spcBef>
                <a:spcPts val="1176"/>
              </a:spcBef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dirty="0" smtClean="0">
                <a:latin typeface="+mn-lt"/>
              </a:rPr>
              <a:t>Key rule is to never assume anything</a:t>
            </a:r>
            <a:r>
              <a:rPr lang="en-US" dirty="0">
                <a:latin typeface="+mn-lt"/>
              </a:rPr>
              <a:t>, check all </a:t>
            </a:r>
            <a:r>
              <a:rPr lang="en-US" dirty="0" smtClean="0">
                <a:latin typeface="+mn-lt"/>
              </a:rPr>
              <a:t>assumptions and handle any possible error states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1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18" b="26256"/>
          <a:stretch/>
        </p:blipFill>
        <p:spPr>
          <a:xfrm>
            <a:off x="251520" y="260648"/>
            <a:ext cx="8568952" cy="6345954"/>
          </a:xfrm>
          <a:prstGeom prst="rect">
            <a:avLst/>
          </a:prstGeom>
          <a:solidFill>
            <a:schemeClr val="tx1"/>
          </a:solidFill>
        </p:spPr>
      </p:pic>
    </p:spTree>
  </p:cSld>
  <p:clrMapOvr>
    <a:masterClrMapping/>
  </p:clrMapOvr>
  <p:transition>
    <p:pull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57200" y="-171400"/>
            <a:ext cx="8229600" cy="1556792"/>
          </a:xfrm>
        </p:spPr>
        <p:txBody>
          <a:bodyPr/>
          <a:lstStyle/>
          <a:p>
            <a:r>
              <a:rPr lang="en-US" dirty="0" smtClean="0">
                <a:solidFill>
                  <a:schemeClr val="accent6">
                    <a:lumMod val="40000"/>
                    <a:lumOff val="60000"/>
                  </a:schemeClr>
                </a:solidFill>
              </a:rPr>
              <a:t>Defensive Programming</a:t>
            </a:r>
            <a:endParaRPr lang="en-US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457200" y="1628800"/>
            <a:ext cx="4474840" cy="5000600"/>
          </a:xfrm>
        </p:spPr>
        <p:txBody>
          <a:bodyPr>
            <a:normAutofit fontScale="92500" lnSpcReduction="20000"/>
          </a:bodyPr>
          <a:lstStyle/>
          <a:p>
            <a:pPr marL="342900" lvl="1" indent="-342900">
              <a:spcBef>
                <a:spcPts val="2000"/>
              </a:spcBef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sz="2400" dirty="0">
                <a:latin typeface="+mn-lt"/>
              </a:rPr>
              <a:t>P</a:t>
            </a:r>
            <a:r>
              <a:rPr lang="en-US" sz="2400" dirty="0" smtClean="0">
                <a:latin typeface="+mn-lt"/>
              </a:rPr>
              <a:t>rogrammers often make assumptions about the type of inputs a program will receive and the environment it executes in</a:t>
            </a:r>
          </a:p>
          <a:p>
            <a:pPr lvl="1">
              <a:spcBef>
                <a:spcPts val="1032"/>
              </a:spcBef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sz="1900" dirty="0">
                <a:latin typeface="+mn-lt"/>
              </a:rPr>
              <a:t>Assumptions need to be validated by the program and all potential failures handled gracefully and safely</a:t>
            </a:r>
          </a:p>
          <a:p>
            <a:pPr marL="342900" lvl="1" indent="-342900">
              <a:spcBef>
                <a:spcPts val="2000"/>
              </a:spcBef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sz="2400" dirty="0">
                <a:latin typeface="+mn-lt"/>
              </a:rPr>
              <a:t>Requires a changed mindset to traditional programming practices</a:t>
            </a:r>
          </a:p>
          <a:p>
            <a:pPr lvl="1">
              <a:spcBef>
                <a:spcPts val="1032"/>
              </a:spcBef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sz="1900" dirty="0">
                <a:latin typeface="+mn-lt"/>
              </a:rPr>
              <a:t>Programmers have to understand how failures can occur and the steps needed to reduce the chance of them occurring in their programs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3"/>
          </p:nvPr>
        </p:nvSpPr>
        <p:spPr>
          <a:xfrm>
            <a:off x="5652120" y="2276872"/>
            <a:ext cx="2819400" cy="3523129"/>
          </a:xfrm>
        </p:spPr>
        <p:txBody>
          <a:bodyPr>
            <a:normAutofit/>
          </a:bodyPr>
          <a:lstStyle/>
          <a:p>
            <a:pPr marL="342900" lvl="1" indent="-342900">
              <a:lnSpc>
                <a:spcPct val="90000"/>
              </a:lnSpc>
              <a:spcBef>
                <a:spcPts val="2000"/>
              </a:spcBef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/>
              <a:buChar char="•"/>
            </a:pPr>
            <a:r>
              <a:rPr lang="en-US" sz="2200" dirty="0">
                <a:latin typeface="+mn-lt"/>
              </a:rPr>
              <a:t>Conflicts with business pressures to keep development times as short as possible to maximize market advantage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-99392"/>
            <a:ext cx="8229600" cy="1600200"/>
          </a:xfrm>
        </p:spPr>
        <p:txBody>
          <a:bodyPr/>
          <a:lstStyle/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Security by Design</a:t>
            </a:r>
          </a:p>
        </p:txBody>
      </p:sp>
      <p:sp>
        <p:nvSpPr>
          <p:cNvPr id="215043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844824"/>
            <a:ext cx="8136904" cy="5832648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dirty="0">
                <a:latin typeface="+mn-lt"/>
              </a:rPr>
              <a:t>S</a:t>
            </a:r>
            <a:r>
              <a:rPr lang="en-US" dirty="0" smtClean="0">
                <a:latin typeface="+mn-lt"/>
              </a:rPr>
              <a:t>ecurity </a:t>
            </a:r>
            <a:r>
              <a:rPr lang="en-US" dirty="0">
                <a:latin typeface="+mn-lt"/>
              </a:rPr>
              <a:t>and reliability</a:t>
            </a:r>
            <a:r>
              <a:rPr lang="en-US" dirty="0" smtClean="0">
                <a:latin typeface="+mn-lt"/>
              </a:rPr>
              <a:t> are common </a:t>
            </a:r>
            <a:r>
              <a:rPr lang="en-US" dirty="0">
                <a:latin typeface="+mn-lt"/>
              </a:rPr>
              <a:t>design goals in most engineering disciplines</a:t>
            </a:r>
            <a:endParaRPr lang="en-US" dirty="0" smtClean="0">
              <a:latin typeface="+mn-lt"/>
            </a:endParaRPr>
          </a:p>
          <a:p>
            <a:pPr>
              <a:spcAft>
                <a:spcPts val="1200"/>
              </a:spcAft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dirty="0">
                <a:latin typeface="+mn-lt"/>
              </a:rPr>
              <a:t>S</a:t>
            </a:r>
            <a:r>
              <a:rPr lang="en-US" dirty="0" smtClean="0">
                <a:latin typeface="+mn-lt"/>
              </a:rPr>
              <a:t>oftware </a:t>
            </a:r>
            <a:r>
              <a:rPr lang="en-US" dirty="0">
                <a:latin typeface="+mn-lt"/>
              </a:rPr>
              <a:t>development not as </a:t>
            </a:r>
            <a:r>
              <a:rPr lang="en-US" dirty="0" smtClean="0">
                <a:latin typeface="+mn-lt"/>
              </a:rPr>
              <a:t>mature</a:t>
            </a:r>
          </a:p>
          <a:p>
            <a:pPr>
              <a:spcAft>
                <a:spcPts val="1200"/>
              </a:spcAft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dirty="0" smtClean="0">
                <a:latin typeface="+mn-lt"/>
              </a:rPr>
              <a:t>Recent years have seen increasing efforts to improve secure software development processes</a:t>
            </a:r>
          </a:p>
          <a:p>
            <a:pPr>
              <a:spcAft>
                <a:spcPts val="1200"/>
              </a:spcAft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dirty="0" smtClean="0">
                <a:latin typeface="+mn-lt"/>
              </a:rPr>
              <a:t>Software Assurance Forum for Excellence in Code (</a:t>
            </a:r>
            <a:r>
              <a:rPr lang="en-US" dirty="0" err="1" smtClean="0">
                <a:latin typeface="+mn-lt"/>
              </a:rPr>
              <a:t>SAFECode</a:t>
            </a:r>
            <a:r>
              <a:rPr lang="en-US" dirty="0" smtClean="0">
                <a:latin typeface="+mn-lt"/>
              </a:rPr>
              <a:t>) </a:t>
            </a:r>
          </a:p>
          <a:p>
            <a:pPr lvl="1">
              <a:spcAft>
                <a:spcPts val="1200"/>
              </a:spcAft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sz="2000" dirty="0">
                <a:latin typeface="+mn-lt"/>
              </a:rPr>
              <a:t>D</a:t>
            </a:r>
            <a:r>
              <a:rPr lang="en-US" sz="2000" dirty="0" smtClean="0">
                <a:latin typeface="+mn-lt"/>
              </a:rPr>
              <a:t>evelop publications outlining industry best practices for software assurance and providing practical advice for implementing proven methods for secure software development</a:t>
            </a:r>
            <a:endParaRPr lang="en-US" sz="2000" dirty="0">
              <a:latin typeface="+mn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332656"/>
            <a:ext cx="8229600" cy="1600200"/>
          </a:xfrm>
        </p:spPr>
        <p:txBody>
          <a:bodyPr/>
          <a:lstStyle/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Writing Safe Program Code</a:t>
            </a:r>
          </a:p>
        </p:txBody>
      </p:sp>
      <p:sp>
        <p:nvSpPr>
          <p:cNvPr id="24576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2133600"/>
            <a:ext cx="8229600" cy="2362200"/>
          </a:xfrm>
        </p:spPr>
        <p:txBody>
          <a:bodyPr>
            <a:normAutofit/>
          </a:bodyPr>
          <a:lstStyle/>
          <a:p>
            <a:r>
              <a:rPr lang="en-US" dirty="0">
                <a:latin typeface="+mn-lt"/>
              </a:rPr>
              <a:t>S</a:t>
            </a:r>
            <a:r>
              <a:rPr lang="en-US" dirty="0" smtClean="0">
                <a:latin typeface="+mn-lt"/>
              </a:rPr>
              <a:t>econd component is </a:t>
            </a:r>
            <a:r>
              <a:rPr lang="en-US" dirty="0">
                <a:latin typeface="+mn-lt"/>
              </a:rPr>
              <a:t>processing of data by some algorithm to solve required problem</a:t>
            </a:r>
            <a:endParaRPr lang="en-US" dirty="0" smtClean="0">
              <a:latin typeface="+mn-lt"/>
            </a:endParaRPr>
          </a:p>
          <a:p>
            <a:r>
              <a:rPr lang="en-US" dirty="0">
                <a:latin typeface="+mn-lt"/>
              </a:rPr>
              <a:t>H</a:t>
            </a:r>
            <a:r>
              <a:rPr lang="en-US" dirty="0" smtClean="0">
                <a:latin typeface="+mn-lt"/>
              </a:rPr>
              <a:t>igh-level languages are typically compiled and linked into machine code which is then directly executed by the target processor</a:t>
            </a: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1885811441"/>
              </p:ext>
            </p:extLst>
          </p:nvPr>
        </p:nvGraphicFramePr>
        <p:xfrm>
          <a:off x="1600200" y="4419600"/>
          <a:ext cx="6096000" cy="226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404664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Correct Algorithm Implementation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1646400"/>
              </p:ext>
            </p:extLst>
          </p:nvPr>
        </p:nvGraphicFramePr>
        <p:xfrm>
          <a:off x="152400" y="1600200"/>
          <a:ext cx="8763000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48680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Ensuring Machine Language Corresponds to Algorithm</a:t>
            </a:r>
          </a:p>
        </p:txBody>
      </p:sp>
      <p:sp>
        <p:nvSpPr>
          <p:cNvPr id="24985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81200"/>
            <a:ext cx="8229600" cy="4616152"/>
          </a:xfrm>
        </p:spPr>
        <p:txBody>
          <a:bodyPr>
            <a:normAutofit/>
          </a:bodyPr>
          <a:lstStyle/>
          <a:p>
            <a:pPr>
              <a:buClr>
                <a:schemeClr val="accent6">
                  <a:lumMod val="60000"/>
                  <a:lumOff val="40000"/>
                </a:schemeClr>
              </a:buClr>
              <a:buSzPct val="150000"/>
              <a:buFont typeface="Arial" charset="0"/>
              <a:buChar char="•"/>
            </a:pPr>
            <a:r>
              <a:rPr lang="en-US" sz="2600" dirty="0">
                <a:latin typeface="+mn-lt"/>
              </a:rPr>
              <a:t>I</a:t>
            </a:r>
            <a:r>
              <a:rPr lang="en-US" sz="2600" dirty="0" smtClean="0">
                <a:latin typeface="+mn-lt"/>
              </a:rPr>
              <a:t>ssue is ignored by most programmers</a:t>
            </a:r>
          </a:p>
          <a:p>
            <a:pPr lvl="2">
              <a:buClr>
                <a:schemeClr val="accent6">
                  <a:lumMod val="60000"/>
                  <a:lumOff val="40000"/>
                </a:schemeClr>
              </a:buClr>
              <a:buSzPct val="150000"/>
              <a:buFont typeface="Arial" charset="0"/>
              <a:buChar char="•"/>
            </a:pPr>
            <a:r>
              <a:rPr lang="en-US" sz="2000" dirty="0">
                <a:latin typeface="+mn-lt"/>
              </a:rPr>
              <a:t>Assumption is that the compiler or interpreter generates or executes code that validly implements the language statements</a:t>
            </a:r>
          </a:p>
          <a:p>
            <a:pPr marL="457200" lvl="1" indent="-457200">
              <a:lnSpc>
                <a:spcPts val="3000"/>
              </a:lnSpc>
              <a:buClr>
                <a:schemeClr val="accent6">
                  <a:lumMod val="60000"/>
                  <a:lumOff val="40000"/>
                </a:schemeClr>
              </a:buClr>
              <a:buSzPct val="150000"/>
              <a:buFont typeface="Arial" charset="0"/>
              <a:buChar char="•"/>
            </a:pPr>
            <a:r>
              <a:rPr lang="en-US" sz="2600" dirty="0">
                <a:latin typeface="+mn-lt"/>
              </a:rPr>
              <a:t>Requires comparing machine code with original source</a:t>
            </a:r>
          </a:p>
          <a:p>
            <a:pPr lvl="2">
              <a:buClr>
                <a:schemeClr val="accent6">
                  <a:lumMod val="60000"/>
                  <a:lumOff val="40000"/>
                </a:schemeClr>
              </a:buClr>
              <a:buSzPct val="150000"/>
              <a:buFont typeface="Arial" charset="0"/>
              <a:buChar char="•"/>
            </a:pPr>
            <a:r>
              <a:rPr lang="en-US" sz="2000" dirty="0">
                <a:latin typeface="+mn-lt"/>
              </a:rPr>
              <a:t>Slow and difficult</a:t>
            </a:r>
          </a:p>
          <a:p>
            <a:pPr marL="457200" lvl="1" indent="-457200">
              <a:lnSpc>
                <a:spcPts val="3000"/>
              </a:lnSpc>
              <a:buClr>
                <a:schemeClr val="accent6">
                  <a:lumMod val="60000"/>
                  <a:lumOff val="40000"/>
                </a:schemeClr>
              </a:buClr>
              <a:buSzPct val="150000"/>
              <a:buFont typeface="Arial" charset="0"/>
              <a:buChar char="•"/>
            </a:pPr>
            <a:r>
              <a:rPr lang="en-US" sz="2600" dirty="0">
                <a:latin typeface="+mn-lt"/>
              </a:rPr>
              <a:t>Development of computer systems with very high assurance level is the one area where this level of checking is required</a:t>
            </a:r>
          </a:p>
          <a:p>
            <a:pPr lvl="2">
              <a:buClr>
                <a:schemeClr val="accent6">
                  <a:lumMod val="60000"/>
                  <a:lumOff val="40000"/>
                </a:schemeClr>
              </a:buClr>
              <a:buSzPct val="150000"/>
              <a:buFont typeface="Arial" charset="0"/>
              <a:buChar char="•"/>
            </a:pPr>
            <a:r>
              <a:rPr lang="en-US" sz="2000" dirty="0">
                <a:latin typeface="+mn-lt"/>
              </a:rPr>
              <a:t>S</a:t>
            </a:r>
            <a:r>
              <a:rPr lang="en-US" sz="2000" dirty="0" smtClean="0">
                <a:latin typeface="+mn-lt"/>
              </a:rPr>
              <a:t>pecifically Common Criteria assurance level of EAL 7</a:t>
            </a:r>
            <a:endParaRPr lang="en-US" sz="2000" dirty="0">
              <a:latin typeface="+mn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3162"/>
            <a:ext cx="9144000" cy="1245597"/>
          </a:xfrm>
        </p:spPr>
        <p:txBody>
          <a:bodyPr/>
          <a:lstStyle/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Correct Data Interpretation</a:t>
            </a:r>
          </a:p>
        </p:txBody>
      </p:sp>
      <p:sp>
        <p:nvSpPr>
          <p:cNvPr id="251907" name="Rectangle 3"/>
          <p:cNvSpPr>
            <a:spLocks noGrp="1" noChangeArrowheads="1"/>
          </p:cNvSpPr>
          <p:nvPr>
            <p:ph sz="half" idx="2"/>
          </p:nvPr>
        </p:nvSpPr>
        <p:spPr>
          <a:xfrm>
            <a:off x="323528" y="1628800"/>
            <a:ext cx="3888432" cy="4995663"/>
          </a:xfrm>
        </p:spPr>
        <p:txBody>
          <a:bodyPr>
            <a:noAutofit/>
          </a:bodyPr>
          <a:lstStyle/>
          <a:p>
            <a:pPr>
              <a:lnSpc>
                <a:spcPts val="2860"/>
              </a:lnSpc>
              <a:spcBef>
                <a:spcPts val="0"/>
              </a:spcBef>
              <a:spcAft>
                <a:spcPts val="1200"/>
              </a:spcAft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sz="2800" dirty="0">
                <a:latin typeface="+mn-lt"/>
              </a:rPr>
              <a:t>Data stored as bits/bytes in computer</a:t>
            </a:r>
          </a:p>
          <a:p>
            <a:pPr lvl="1"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sz="2000" dirty="0">
                <a:latin typeface="+mn-lt"/>
              </a:rPr>
              <a:t>G</a:t>
            </a:r>
            <a:r>
              <a:rPr lang="en-US" sz="2000" dirty="0" smtClean="0">
                <a:latin typeface="+mn-lt"/>
              </a:rPr>
              <a:t>rouped </a:t>
            </a:r>
            <a:r>
              <a:rPr lang="en-US" sz="2000" dirty="0">
                <a:latin typeface="+mn-lt"/>
              </a:rPr>
              <a:t>as </a:t>
            </a:r>
            <a:r>
              <a:rPr lang="en-US" sz="2000" dirty="0" smtClean="0">
                <a:latin typeface="+mn-lt"/>
              </a:rPr>
              <a:t>words or </a:t>
            </a:r>
            <a:r>
              <a:rPr lang="en-US" sz="2000" dirty="0" err="1" smtClean="0">
                <a:latin typeface="+mn-lt"/>
              </a:rPr>
              <a:t>longwords</a:t>
            </a:r>
            <a:endParaRPr lang="en-US" sz="2000" dirty="0" smtClean="0">
              <a:latin typeface="+mn-lt"/>
            </a:endParaRPr>
          </a:p>
          <a:p>
            <a:pPr lvl="1"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sz="2000" dirty="0">
                <a:latin typeface="+mn-lt"/>
              </a:rPr>
              <a:t>A</a:t>
            </a:r>
            <a:r>
              <a:rPr lang="en-US" sz="2000" dirty="0" smtClean="0">
                <a:latin typeface="+mn-lt"/>
              </a:rPr>
              <a:t>ccessed and manipulated in memory or copied into processor registers before being used</a:t>
            </a:r>
          </a:p>
          <a:p>
            <a:pPr lvl="1"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sz="2000" dirty="0">
                <a:latin typeface="+mn-lt"/>
              </a:rPr>
              <a:t>I</a:t>
            </a:r>
            <a:r>
              <a:rPr lang="en-US" sz="2000" dirty="0" smtClean="0">
                <a:latin typeface="+mn-lt"/>
              </a:rPr>
              <a:t>nterpretation </a:t>
            </a:r>
            <a:r>
              <a:rPr lang="en-US" sz="2000" dirty="0">
                <a:latin typeface="+mn-lt"/>
              </a:rPr>
              <a:t>depends on machine </a:t>
            </a:r>
            <a:r>
              <a:rPr lang="en-US" sz="2000" dirty="0" smtClean="0">
                <a:latin typeface="+mn-lt"/>
              </a:rPr>
              <a:t>instruction executed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4572000" y="1484784"/>
            <a:ext cx="4392488" cy="5373216"/>
          </a:xfrm>
        </p:spPr>
        <p:txBody>
          <a:bodyPr>
            <a:noAutofit/>
          </a:bodyPr>
          <a:lstStyle/>
          <a:p>
            <a:pPr>
              <a:lnSpc>
                <a:spcPts val="2860"/>
              </a:lnSpc>
              <a:spcBef>
                <a:spcPts val="0"/>
              </a:spcBef>
              <a:spcAft>
                <a:spcPts val="1200"/>
              </a:spcAft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sz="2800" dirty="0">
                <a:latin typeface="+mn-lt"/>
              </a:rPr>
              <a:t>Different languages provide different capabilities for restricting and validating interpretation of data in variables</a:t>
            </a:r>
          </a:p>
          <a:p>
            <a:pPr lvl="1"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sz="2000" dirty="0">
                <a:latin typeface="+mn-lt"/>
              </a:rPr>
              <a:t>Strongly typed languages are more limited, safer</a:t>
            </a:r>
          </a:p>
          <a:p>
            <a:pPr lvl="1"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sz="2000" dirty="0">
                <a:latin typeface="+mn-lt"/>
              </a:rPr>
              <a:t>Other languages allow more liberal interpretation of data and permit program code to explicitly change their interpretation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Correct Use of Memory</a:t>
            </a:r>
          </a:p>
        </p:txBody>
      </p:sp>
      <p:sp>
        <p:nvSpPr>
          <p:cNvPr id="253955" name="Rectangle 3"/>
          <p:cNvSpPr>
            <a:spLocks noGrp="1" noChangeArrowheads="1"/>
          </p:cNvSpPr>
          <p:nvPr>
            <p:ph idx="1"/>
          </p:nvPr>
        </p:nvSpPr>
        <p:spPr>
          <a:xfrm>
            <a:off x="539552" y="1916832"/>
            <a:ext cx="7871792" cy="4608512"/>
          </a:xfrm>
        </p:spPr>
        <p:txBody>
          <a:bodyPr>
            <a:normAutofit/>
          </a:bodyPr>
          <a:lstStyle/>
          <a:p>
            <a:pPr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dirty="0">
                <a:latin typeface="+mn-lt"/>
              </a:rPr>
              <a:t>I</a:t>
            </a:r>
            <a:r>
              <a:rPr lang="en-US" dirty="0" smtClean="0">
                <a:latin typeface="+mn-lt"/>
              </a:rPr>
              <a:t>ssue </a:t>
            </a:r>
            <a:r>
              <a:rPr lang="en-US" dirty="0">
                <a:latin typeface="+mn-lt"/>
              </a:rPr>
              <a:t>of dynamic memory allocation</a:t>
            </a:r>
          </a:p>
          <a:p>
            <a:pPr lvl="1"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sz="2000" dirty="0" smtClean="0">
                <a:latin typeface="+mn-lt"/>
              </a:rPr>
              <a:t>Unknown </a:t>
            </a:r>
            <a:r>
              <a:rPr lang="en-US" sz="2000" dirty="0">
                <a:latin typeface="+mn-lt"/>
              </a:rPr>
              <a:t>amounts of data</a:t>
            </a:r>
          </a:p>
          <a:p>
            <a:pPr lvl="1"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sz="2000" dirty="0">
                <a:latin typeface="+mn-lt"/>
              </a:rPr>
              <a:t>Allocated when needed, released when done</a:t>
            </a:r>
          </a:p>
          <a:p>
            <a:pPr lvl="1"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sz="2000" dirty="0" smtClean="0">
                <a:latin typeface="+mn-lt"/>
              </a:rPr>
              <a:t>Used </a:t>
            </a:r>
            <a:r>
              <a:rPr lang="en-US" sz="2000" dirty="0">
                <a:latin typeface="+mn-lt"/>
              </a:rPr>
              <a:t>to manipulate </a:t>
            </a:r>
            <a:r>
              <a:rPr lang="en-US" sz="2000" dirty="0" smtClean="0">
                <a:latin typeface="+mn-lt"/>
              </a:rPr>
              <a:t>Memory leak</a:t>
            </a:r>
          </a:p>
          <a:p>
            <a:pPr lvl="1"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sz="2000" dirty="0">
                <a:latin typeface="+mn-lt"/>
              </a:rPr>
              <a:t>S</a:t>
            </a:r>
            <a:r>
              <a:rPr lang="en-US" sz="2000" dirty="0" smtClean="0">
                <a:latin typeface="+mn-lt"/>
              </a:rPr>
              <a:t>teady reduction in memory available on the heap to the point where it is completely exhausted</a:t>
            </a:r>
          </a:p>
          <a:p>
            <a:pPr>
              <a:spcBef>
                <a:spcPts val="1176"/>
              </a:spcBef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dirty="0">
                <a:latin typeface="+mn-lt"/>
              </a:rPr>
              <a:t>M</a:t>
            </a:r>
            <a:r>
              <a:rPr lang="en-US" dirty="0" smtClean="0">
                <a:latin typeface="+mn-lt"/>
              </a:rPr>
              <a:t>any </a:t>
            </a:r>
            <a:r>
              <a:rPr lang="en-US" dirty="0">
                <a:latin typeface="+mn-lt"/>
              </a:rPr>
              <a:t>older languages have no explicit support for dynamic memory allocation</a:t>
            </a:r>
            <a:endParaRPr lang="en-US" dirty="0" smtClean="0">
              <a:latin typeface="+mn-lt"/>
            </a:endParaRPr>
          </a:p>
          <a:p>
            <a:pPr lvl="1"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sz="2000" dirty="0">
                <a:latin typeface="+mn-lt"/>
              </a:rPr>
              <a:t>U</a:t>
            </a:r>
            <a:r>
              <a:rPr lang="en-US" sz="2000" dirty="0" smtClean="0">
                <a:latin typeface="+mn-lt"/>
              </a:rPr>
              <a:t>se </a:t>
            </a:r>
            <a:r>
              <a:rPr lang="en-US" sz="2000" dirty="0">
                <a:latin typeface="+mn-lt"/>
              </a:rPr>
              <a:t>standard library</a:t>
            </a:r>
            <a:r>
              <a:rPr lang="en-US" sz="2000" dirty="0" smtClean="0">
                <a:latin typeface="+mn-lt"/>
              </a:rPr>
              <a:t> routines to allocate and release memory</a:t>
            </a:r>
          </a:p>
          <a:p>
            <a:pPr>
              <a:spcBef>
                <a:spcPts val="1176"/>
              </a:spcBef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dirty="0">
                <a:latin typeface="+mn-lt"/>
              </a:rPr>
              <a:t>Modern languages handle automatically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2"/>
          <p:cNvSpPr>
            <a:spLocks noGrp="1" noChangeArrowheads="1"/>
          </p:cNvSpPr>
          <p:nvPr>
            <p:ph type="title"/>
          </p:nvPr>
        </p:nvSpPr>
        <p:spPr>
          <a:xfrm>
            <a:off x="-2203" y="116632"/>
            <a:ext cx="9144000" cy="122413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Race Conditions</a:t>
            </a:r>
          </a:p>
        </p:txBody>
      </p:sp>
      <p:sp>
        <p:nvSpPr>
          <p:cNvPr id="256003" name="Rectangle 3"/>
          <p:cNvSpPr>
            <a:spLocks noGrp="1" noChangeArrowheads="1"/>
          </p:cNvSpPr>
          <p:nvPr>
            <p:ph idx="1"/>
          </p:nvPr>
        </p:nvSpPr>
        <p:spPr>
          <a:xfrm>
            <a:off x="323528" y="1772816"/>
            <a:ext cx="8382000" cy="4928592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dirty="0">
                <a:latin typeface="+mn-lt"/>
              </a:rPr>
              <a:t>Without synchronization of accesses it is possible that values may be corrupted or changes lost due to overlapping access, use, and replacement of shared values</a:t>
            </a:r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dirty="0">
                <a:latin typeface="+mn-lt"/>
              </a:rPr>
              <a:t>A</a:t>
            </a:r>
            <a:r>
              <a:rPr lang="en-US" dirty="0" smtClean="0">
                <a:latin typeface="+mn-lt"/>
              </a:rPr>
              <a:t>rise when writing concurrent code whose solution requires the correct selection and use of appropriate synchronization primitives</a:t>
            </a:r>
          </a:p>
          <a:p>
            <a:pPr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dirty="0">
                <a:latin typeface="+mn-lt"/>
              </a:rPr>
              <a:t>D</a:t>
            </a:r>
            <a:r>
              <a:rPr lang="en-US" dirty="0" smtClean="0">
                <a:latin typeface="+mn-lt"/>
              </a:rPr>
              <a:t>eadlock</a:t>
            </a:r>
          </a:p>
          <a:p>
            <a:pPr lvl="1"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sz="2000" dirty="0">
                <a:latin typeface="+mn-lt"/>
              </a:rPr>
              <a:t>P</a:t>
            </a:r>
            <a:r>
              <a:rPr lang="en-US" sz="2000" dirty="0" smtClean="0">
                <a:latin typeface="+mn-lt"/>
              </a:rPr>
              <a:t>rocesses or threads wait on a resource held by the other</a:t>
            </a:r>
          </a:p>
          <a:p>
            <a:pPr lvl="1"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sz="2000" dirty="0">
                <a:latin typeface="+mn-lt"/>
              </a:rPr>
              <a:t>O</a:t>
            </a:r>
            <a:r>
              <a:rPr lang="en-US" sz="2000" dirty="0" smtClean="0">
                <a:latin typeface="+mn-lt"/>
              </a:rPr>
              <a:t>ne or more programs has to be terminated</a:t>
            </a:r>
            <a:endParaRPr lang="en-US" sz="2000" dirty="0">
              <a:latin typeface="+mn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354"/>
            <a:ext cx="9144000" cy="1099390"/>
          </a:xfrm>
        </p:spPr>
        <p:txBody>
          <a:bodyPr/>
          <a:lstStyle/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Operating System Interaction</a:t>
            </a:r>
          </a:p>
        </p:txBody>
      </p:sp>
      <p:graphicFrame>
        <p:nvGraphicFramePr>
          <p:cNvPr id="2" name="Content Placeholder 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7709730"/>
              </p:ext>
            </p:extLst>
          </p:nvPr>
        </p:nvGraphicFramePr>
        <p:xfrm>
          <a:off x="333872" y="1592897"/>
          <a:ext cx="8496944" cy="50691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71400"/>
            <a:ext cx="9144000" cy="1512168"/>
          </a:xfrm>
        </p:spPr>
        <p:txBody>
          <a:bodyPr/>
          <a:lstStyle/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Environment Variables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3574136"/>
              </p:ext>
            </p:extLst>
          </p:nvPr>
        </p:nvGraphicFramePr>
        <p:xfrm>
          <a:off x="395536" y="1556792"/>
          <a:ext cx="8352928" cy="5040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f2-10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0" t="10511" r="4063" b="53618"/>
          <a:stretch/>
        </p:blipFill>
        <p:spPr>
          <a:xfrm>
            <a:off x="253544" y="980728"/>
            <a:ext cx="8638936" cy="4381048"/>
          </a:xfrm>
          <a:prstGeom prst="rect">
            <a:avLst/>
          </a:prstGeom>
          <a:solidFill>
            <a:schemeClr val="tx1"/>
          </a:solidFill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260648"/>
            <a:ext cx="8229600" cy="16002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Vulnerable Compiled Programs</a:t>
            </a:r>
          </a:p>
        </p:txBody>
      </p:sp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1141577322"/>
              </p:ext>
            </p:extLst>
          </p:nvPr>
        </p:nvGraphicFramePr>
        <p:xfrm>
          <a:off x="543467" y="2204864"/>
          <a:ext cx="8212832" cy="4419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42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-99392"/>
            <a:ext cx="8229600" cy="1268760"/>
          </a:xfrm>
        </p:spPr>
        <p:txBody>
          <a:bodyPr/>
          <a:lstStyle/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Use of Least Privilege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2972410"/>
              </p:ext>
            </p:extLst>
          </p:nvPr>
        </p:nvGraphicFramePr>
        <p:xfrm>
          <a:off x="228600" y="1600200"/>
          <a:ext cx="8763000" cy="502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88307" y="715363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6002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Root/Administrator Privileges</a:t>
            </a: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1962552"/>
              </p:ext>
            </p:extLst>
          </p:nvPr>
        </p:nvGraphicFramePr>
        <p:xfrm>
          <a:off x="307374" y="1828800"/>
          <a:ext cx="8455626" cy="48461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260648"/>
            <a:ext cx="8229600" cy="160020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System Calls and</a:t>
            </a:r>
            <a:b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Standard Library Functions</a:t>
            </a:r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04702"/>
              </p:ext>
            </p:extLst>
          </p:nvPr>
        </p:nvGraphicFramePr>
        <p:xfrm>
          <a:off x="467544" y="2492896"/>
          <a:ext cx="8229600" cy="4495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2-10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94" t="8842" r="5360" b="46778"/>
          <a:stretch/>
        </p:blipFill>
        <p:spPr>
          <a:xfrm>
            <a:off x="211366" y="606420"/>
            <a:ext cx="8681114" cy="5605379"/>
          </a:xfrm>
          <a:prstGeom prst="rect">
            <a:avLst/>
          </a:prstGeom>
          <a:solidFill>
            <a:schemeClr val="tx1"/>
          </a:solidFill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260648"/>
            <a:ext cx="8229600" cy="1600200"/>
          </a:xfrm>
        </p:spPr>
        <p:txBody>
          <a:bodyPr/>
          <a:lstStyle/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Preventing Race Conditions</a:t>
            </a:r>
          </a:p>
        </p:txBody>
      </p:sp>
      <p:sp>
        <p:nvSpPr>
          <p:cNvPr id="274435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2276872"/>
            <a:ext cx="8382000" cy="5181600"/>
          </a:xfrm>
        </p:spPr>
        <p:txBody>
          <a:bodyPr/>
          <a:lstStyle/>
          <a:p>
            <a:pPr>
              <a:lnSpc>
                <a:spcPct val="90000"/>
              </a:lnSpc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dirty="0">
                <a:latin typeface="+mn-lt"/>
              </a:rPr>
              <a:t>P</a:t>
            </a:r>
            <a:r>
              <a:rPr lang="en-US" dirty="0" smtClean="0">
                <a:latin typeface="+mn-lt"/>
              </a:rPr>
              <a:t>rograms </a:t>
            </a:r>
            <a:r>
              <a:rPr lang="en-US" dirty="0">
                <a:latin typeface="+mn-lt"/>
              </a:rPr>
              <a:t>may</a:t>
            </a:r>
            <a:r>
              <a:rPr lang="en-US" dirty="0" smtClean="0">
                <a:latin typeface="+mn-lt"/>
              </a:rPr>
              <a:t> need to access a common system resource</a:t>
            </a:r>
          </a:p>
          <a:p>
            <a:pPr>
              <a:lnSpc>
                <a:spcPct val="90000"/>
              </a:lnSpc>
              <a:spcBef>
                <a:spcPts val="1176"/>
              </a:spcBef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dirty="0">
                <a:latin typeface="+mn-lt"/>
              </a:rPr>
              <a:t>N</a:t>
            </a:r>
            <a:r>
              <a:rPr lang="en-US" dirty="0" smtClean="0">
                <a:latin typeface="+mn-lt"/>
              </a:rPr>
              <a:t>eed </a:t>
            </a:r>
            <a:r>
              <a:rPr lang="en-US" dirty="0">
                <a:latin typeface="+mn-lt"/>
              </a:rPr>
              <a:t>suitable synchronization mechanisms</a:t>
            </a:r>
          </a:p>
          <a:p>
            <a:pPr lvl="1">
              <a:lnSpc>
                <a:spcPct val="90000"/>
              </a:lnSpc>
              <a:spcBef>
                <a:spcPts val="632"/>
              </a:spcBef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sz="1800" dirty="0" smtClean="0">
                <a:latin typeface="+mn-lt"/>
              </a:rPr>
              <a:t> Most common technique is to acquire a lock on the shared file</a:t>
            </a:r>
          </a:p>
          <a:p>
            <a:pPr>
              <a:lnSpc>
                <a:spcPct val="90000"/>
              </a:lnSpc>
              <a:spcBef>
                <a:spcPts val="1176"/>
              </a:spcBef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dirty="0" err="1" smtClean="0">
                <a:latin typeface="+mn-lt"/>
              </a:rPr>
              <a:t>Lockfile</a:t>
            </a:r>
            <a:endParaRPr lang="en-US" dirty="0">
              <a:latin typeface="+mn-lt"/>
            </a:endParaRPr>
          </a:p>
          <a:p>
            <a:pPr lvl="1">
              <a:lnSpc>
                <a:spcPct val="90000"/>
              </a:lnSpc>
              <a:spcBef>
                <a:spcPts val="632"/>
              </a:spcBef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sz="1800" dirty="0" smtClean="0">
                <a:latin typeface="+mn-lt"/>
              </a:rPr>
              <a:t>Process </a:t>
            </a:r>
            <a:r>
              <a:rPr lang="en-US" sz="1800" dirty="0">
                <a:latin typeface="+mn-lt"/>
              </a:rPr>
              <a:t>must create and own the </a:t>
            </a:r>
            <a:r>
              <a:rPr lang="en-US" sz="1800" dirty="0" err="1">
                <a:latin typeface="+mn-lt"/>
              </a:rPr>
              <a:t>lockfile</a:t>
            </a:r>
            <a:r>
              <a:rPr lang="en-US" sz="1800" dirty="0">
                <a:latin typeface="+mn-lt"/>
              </a:rPr>
              <a:t> in order to gain access to the shared resource</a:t>
            </a:r>
          </a:p>
          <a:p>
            <a:pPr lvl="1">
              <a:lnSpc>
                <a:spcPct val="90000"/>
              </a:lnSpc>
              <a:spcBef>
                <a:spcPts val="1032"/>
              </a:spcBef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sz="1800" dirty="0" smtClean="0">
                <a:latin typeface="+mn-lt"/>
              </a:rPr>
              <a:t>Concerns</a:t>
            </a:r>
            <a:endParaRPr lang="en-US" sz="1800" dirty="0">
              <a:latin typeface="+mn-lt"/>
            </a:endParaRPr>
          </a:p>
          <a:p>
            <a:pPr lvl="2">
              <a:lnSpc>
                <a:spcPct val="90000"/>
              </a:lnSpc>
              <a:spcBef>
                <a:spcPts val="584"/>
              </a:spcBef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dirty="0">
                <a:latin typeface="+mn-lt"/>
              </a:rPr>
              <a:t>I</a:t>
            </a:r>
            <a:r>
              <a:rPr lang="en-US" dirty="0" smtClean="0">
                <a:latin typeface="+mn-lt"/>
              </a:rPr>
              <a:t>f a program chooses to ignore the existence of the </a:t>
            </a:r>
            <a:r>
              <a:rPr lang="en-US" dirty="0" err="1" smtClean="0">
                <a:latin typeface="+mn-lt"/>
              </a:rPr>
              <a:t>lockfile</a:t>
            </a:r>
            <a:r>
              <a:rPr lang="en-US" dirty="0" smtClean="0">
                <a:latin typeface="+mn-lt"/>
              </a:rPr>
              <a:t> and access the shared resource the system will not prevent this</a:t>
            </a:r>
          </a:p>
          <a:p>
            <a:pPr lvl="2">
              <a:lnSpc>
                <a:spcPct val="90000"/>
              </a:lnSpc>
              <a:spcBef>
                <a:spcPts val="584"/>
              </a:spcBef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dirty="0">
                <a:latin typeface="+mn-lt"/>
              </a:rPr>
              <a:t>A</a:t>
            </a:r>
            <a:r>
              <a:rPr lang="en-US" dirty="0" smtClean="0">
                <a:latin typeface="+mn-lt"/>
              </a:rPr>
              <a:t>ll programs using this form of synchronization must cooperate</a:t>
            </a:r>
          </a:p>
          <a:p>
            <a:pPr lvl="2">
              <a:lnSpc>
                <a:spcPct val="90000"/>
              </a:lnSpc>
              <a:spcBef>
                <a:spcPts val="584"/>
              </a:spcBef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dirty="0">
                <a:latin typeface="+mn-lt"/>
              </a:rPr>
              <a:t>I</a:t>
            </a:r>
            <a:r>
              <a:rPr lang="en-US" dirty="0" smtClean="0">
                <a:latin typeface="+mn-lt"/>
              </a:rPr>
              <a:t>mplementation</a:t>
            </a:r>
            <a:endParaRPr lang="en-US" dirty="0">
              <a:latin typeface="+mn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2-10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7" t="7841" r="4711" b="60793"/>
          <a:stretch/>
        </p:blipFill>
        <p:spPr>
          <a:xfrm>
            <a:off x="107504" y="1387614"/>
            <a:ext cx="8860678" cy="3985601"/>
          </a:xfrm>
          <a:prstGeom prst="rect">
            <a:avLst/>
          </a:prstGeom>
          <a:solidFill>
            <a:schemeClr val="tx1"/>
          </a:solidFill>
        </p:spPr>
      </p:pic>
    </p:spTree>
  </p:cSld>
  <p:clrMapOvr>
    <a:masterClrMapping/>
  </p:clrMapOvr>
  <p:transition>
    <p:wheel spokes="3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Safe Temporary Files</a:t>
            </a:r>
          </a:p>
        </p:txBody>
      </p:sp>
      <p:sp>
        <p:nvSpPr>
          <p:cNvPr id="27648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2057400"/>
            <a:ext cx="8229600" cy="480060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1176"/>
              </a:spcBef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dirty="0">
                <a:latin typeface="+mn-lt"/>
              </a:rPr>
              <a:t>M</a:t>
            </a:r>
            <a:r>
              <a:rPr lang="en-US" dirty="0" smtClean="0">
                <a:latin typeface="+mn-lt"/>
              </a:rPr>
              <a:t>any </a:t>
            </a:r>
            <a:r>
              <a:rPr lang="en-US" dirty="0">
                <a:latin typeface="+mn-lt"/>
              </a:rPr>
              <a:t>programs use temporary files</a:t>
            </a:r>
          </a:p>
          <a:p>
            <a:pPr>
              <a:lnSpc>
                <a:spcPct val="90000"/>
              </a:lnSpc>
              <a:spcBef>
                <a:spcPts val="1176"/>
              </a:spcBef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dirty="0">
                <a:latin typeface="+mn-lt"/>
              </a:rPr>
              <a:t>O</a:t>
            </a:r>
            <a:r>
              <a:rPr lang="en-US" dirty="0" smtClean="0">
                <a:latin typeface="+mn-lt"/>
              </a:rPr>
              <a:t>ften </a:t>
            </a:r>
            <a:r>
              <a:rPr lang="en-US" dirty="0">
                <a:latin typeface="+mn-lt"/>
              </a:rPr>
              <a:t>in common, shared system area</a:t>
            </a:r>
          </a:p>
          <a:p>
            <a:pPr>
              <a:lnSpc>
                <a:spcPct val="90000"/>
              </a:lnSpc>
              <a:spcBef>
                <a:spcPts val="1176"/>
              </a:spcBef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dirty="0">
                <a:latin typeface="+mn-lt"/>
              </a:rPr>
              <a:t>M</a:t>
            </a:r>
            <a:r>
              <a:rPr lang="en-US" dirty="0" smtClean="0">
                <a:latin typeface="+mn-lt"/>
              </a:rPr>
              <a:t>ust </a:t>
            </a:r>
            <a:r>
              <a:rPr lang="en-US" dirty="0">
                <a:latin typeface="+mn-lt"/>
              </a:rPr>
              <a:t>be unique, not accessed by others</a:t>
            </a:r>
          </a:p>
          <a:p>
            <a:pPr>
              <a:lnSpc>
                <a:spcPct val="90000"/>
              </a:lnSpc>
              <a:spcBef>
                <a:spcPts val="1176"/>
              </a:spcBef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dirty="0">
                <a:latin typeface="+mn-lt"/>
              </a:rPr>
              <a:t>C</a:t>
            </a:r>
            <a:r>
              <a:rPr lang="en-US" dirty="0" smtClean="0">
                <a:latin typeface="+mn-lt"/>
              </a:rPr>
              <a:t>ommonly </a:t>
            </a:r>
            <a:r>
              <a:rPr lang="en-US" dirty="0">
                <a:latin typeface="+mn-lt"/>
              </a:rPr>
              <a:t>create name using process ID</a:t>
            </a:r>
          </a:p>
          <a:p>
            <a:pPr lvl="1">
              <a:lnSpc>
                <a:spcPct val="90000"/>
              </a:lnSpc>
              <a:spcBef>
                <a:spcPts val="1176"/>
              </a:spcBef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sz="2000" dirty="0">
                <a:latin typeface="+mn-lt"/>
              </a:rPr>
              <a:t>U</a:t>
            </a:r>
            <a:r>
              <a:rPr lang="en-US" sz="2000" dirty="0" smtClean="0">
                <a:latin typeface="+mn-lt"/>
              </a:rPr>
              <a:t>nique</a:t>
            </a:r>
            <a:r>
              <a:rPr lang="en-US" sz="2000" dirty="0">
                <a:latin typeface="+mn-lt"/>
              </a:rPr>
              <a:t>, but predictable</a:t>
            </a:r>
          </a:p>
          <a:p>
            <a:pPr lvl="1">
              <a:lnSpc>
                <a:spcPct val="90000"/>
              </a:lnSpc>
              <a:spcBef>
                <a:spcPts val="1176"/>
              </a:spcBef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sz="2000" dirty="0">
                <a:latin typeface="+mn-lt"/>
              </a:rPr>
              <a:t>A</a:t>
            </a:r>
            <a:r>
              <a:rPr lang="en-US" sz="2000" dirty="0" smtClean="0">
                <a:latin typeface="+mn-lt"/>
              </a:rPr>
              <a:t>ttacker </a:t>
            </a:r>
            <a:r>
              <a:rPr lang="en-US" sz="2000" dirty="0">
                <a:latin typeface="+mn-lt"/>
              </a:rPr>
              <a:t>might guess and attempt to create own</a:t>
            </a:r>
            <a:r>
              <a:rPr lang="en-US" sz="2000" dirty="0" smtClean="0">
                <a:latin typeface="+mn-lt"/>
              </a:rPr>
              <a:t> file between </a:t>
            </a:r>
            <a:r>
              <a:rPr lang="en-US" sz="2000" dirty="0">
                <a:latin typeface="+mn-lt"/>
              </a:rPr>
              <a:t>program checking and creating</a:t>
            </a:r>
          </a:p>
          <a:p>
            <a:pPr>
              <a:lnSpc>
                <a:spcPct val="90000"/>
              </a:lnSpc>
              <a:spcBef>
                <a:spcPts val="1176"/>
              </a:spcBef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dirty="0">
                <a:latin typeface="+mn-lt"/>
              </a:rPr>
              <a:t>S</a:t>
            </a:r>
            <a:r>
              <a:rPr lang="en-US" dirty="0" smtClean="0">
                <a:latin typeface="+mn-lt"/>
              </a:rPr>
              <a:t>ecure </a:t>
            </a:r>
            <a:r>
              <a:rPr lang="en-US" dirty="0">
                <a:latin typeface="+mn-lt"/>
              </a:rPr>
              <a:t>temporary file creation and use requires the use of random names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2-10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64" t="7676" r="4711" b="67465"/>
          <a:stretch/>
        </p:blipFill>
        <p:spPr>
          <a:xfrm>
            <a:off x="251520" y="1340768"/>
            <a:ext cx="8565276" cy="3060813"/>
          </a:xfrm>
          <a:prstGeom prst="rect">
            <a:avLst/>
          </a:prstGeom>
          <a:solidFill>
            <a:schemeClr val="tx1"/>
          </a:solidFill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268760"/>
          </a:xfrm>
        </p:spPr>
        <p:txBody>
          <a:bodyPr/>
          <a:lstStyle/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Other Program Interaction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8722793"/>
              </p:ext>
            </p:extLst>
          </p:nvPr>
        </p:nvGraphicFramePr>
        <p:xfrm>
          <a:off x="323528" y="1484784"/>
          <a:ext cx="8496944" cy="52565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78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116632"/>
            <a:ext cx="8229600" cy="1772816"/>
          </a:xfrm>
        </p:spPr>
        <p:txBody>
          <a:bodyPr/>
          <a:lstStyle/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Handling Program Output</a:t>
            </a:r>
          </a:p>
        </p:txBody>
      </p:sp>
      <p:sp>
        <p:nvSpPr>
          <p:cNvPr id="280579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2420888"/>
            <a:ext cx="8458200" cy="4581128"/>
          </a:xfrm>
        </p:spPr>
        <p:txBody>
          <a:bodyPr/>
          <a:lstStyle/>
          <a:p>
            <a:pPr>
              <a:lnSpc>
                <a:spcPct val="90000"/>
              </a:lnSpc>
              <a:spcAft>
                <a:spcPts val="600"/>
              </a:spcAft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dirty="0">
                <a:latin typeface="+mn-lt"/>
              </a:rPr>
              <a:t>Final component is program output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sz="2000" dirty="0">
                <a:latin typeface="+mn-lt"/>
              </a:rPr>
              <a:t>M</a:t>
            </a:r>
            <a:r>
              <a:rPr lang="en-US" sz="2000" dirty="0" smtClean="0">
                <a:latin typeface="+mn-lt"/>
              </a:rPr>
              <a:t>ay be stored </a:t>
            </a:r>
            <a:r>
              <a:rPr lang="en-US" sz="2000" dirty="0">
                <a:latin typeface="+mn-lt"/>
              </a:rPr>
              <a:t>for future use, sent over net, displayed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sz="2000" dirty="0">
                <a:latin typeface="+mn-lt"/>
              </a:rPr>
              <a:t>M</a:t>
            </a:r>
            <a:r>
              <a:rPr lang="en-US" sz="2000" dirty="0" smtClean="0">
                <a:latin typeface="+mn-lt"/>
              </a:rPr>
              <a:t>ay </a:t>
            </a:r>
            <a:r>
              <a:rPr lang="en-US" sz="2000" dirty="0">
                <a:latin typeface="+mn-lt"/>
              </a:rPr>
              <a:t>be binary or text</a:t>
            </a:r>
            <a:endParaRPr lang="en-US" sz="2000" dirty="0" smtClean="0">
              <a:latin typeface="+mn-lt"/>
            </a:endParaRPr>
          </a:p>
          <a:p>
            <a:pPr>
              <a:lnSpc>
                <a:spcPct val="90000"/>
              </a:lnSpc>
              <a:spcAft>
                <a:spcPts val="600"/>
              </a:spcAft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dirty="0">
                <a:latin typeface="+mn-lt"/>
              </a:rPr>
              <a:t>I</a:t>
            </a:r>
            <a:r>
              <a:rPr lang="en-US" dirty="0" smtClean="0">
                <a:latin typeface="+mn-lt"/>
              </a:rPr>
              <a:t>mportant from a program security perspective that the output conform to the expected form and interpretation</a:t>
            </a:r>
          </a:p>
          <a:p>
            <a:pPr>
              <a:lnSpc>
                <a:spcPct val="90000"/>
              </a:lnSpc>
              <a:spcAft>
                <a:spcPts val="600"/>
              </a:spcAft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dirty="0">
                <a:latin typeface="+mn-lt"/>
              </a:rPr>
              <a:t>P</a:t>
            </a:r>
            <a:r>
              <a:rPr lang="en-US" dirty="0" smtClean="0">
                <a:latin typeface="+mn-lt"/>
              </a:rPr>
              <a:t>rograms must identify what is permissible output content and filter any possibly untrusted data to ensure that only valid output is displayed</a:t>
            </a:r>
          </a:p>
          <a:p>
            <a:pPr>
              <a:lnSpc>
                <a:spcPct val="90000"/>
              </a:lnSpc>
              <a:spcAft>
                <a:spcPts val="600"/>
              </a:spcAft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dirty="0">
                <a:latin typeface="+mn-lt"/>
              </a:rPr>
              <a:t>C</a:t>
            </a:r>
            <a:r>
              <a:rPr lang="en-US" dirty="0" smtClean="0">
                <a:latin typeface="+mn-lt"/>
              </a:rPr>
              <a:t>haracter set should be specified</a:t>
            </a:r>
          </a:p>
          <a:p>
            <a:pPr>
              <a:lnSpc>
                <a:spcPct val="90000"/>
              </a:lnSpc>
            </a:pPr>
            <a:endParaRPr lang="en-US" dirty="0" smtClean="0"/>
          </a:p>
        </p:txBody>
      </p:sp>
      <p:sp>
        <p:nvSpPr>
          <p:cNvPr id="280580" name="Rectangle 4"/>
          <p:cNvSpPr>
            <a:spLocks noChangeArrowheads="1"/>
          </p:cNvSpPr>
          <p:nvPr/>
        </p:nvSpPr>
        <p:spPr bwMode="auto">
          <a:xfrm>
            <a:off x="1646238" y="5915025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/>
          <p:cNvSpPr>
            <a:spLocks noGrp="1" noChangeArrowheads="1"/>
          </p:cNvSpPr>
          <p:nvPr>
            <p:ph type="title"/>
          </p:nvPr>
        </p:nvSpPr>
        <p:spPr>
          <a:xfrm>
            <a:off x="107504" y="-315416"/>
            <a:ext cx="8928992" cy="1368152"/>
          </a:xfrm>
        </p:spPr>
        <p:txBody>
          <a:bodyPr/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Summary</a:t>
            </a:r>
            <a:endParaRPr lang="en-AU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4932040" y="1268760"/>
            <a:ext cx="3816424" cy="5472608"/>
          </a:xfrm>
        </p:spPr>
        <p:txBody>
          <a:bodyPr>
            <a:normAutofit fontScale="62500" lnSpcReduction="20000"/>
          </a:bodyPr>
          <a:lstStyle/>
          <a:p>
            <a:pPr marL="342900" lvl="1" indent="-342900">
              <a:lnSpc>
                <a:spcPts val="2080"/>
              </a:lnSpc>
              <a:spcBef>
                <a:spcPts val="1576"/>
              </a:spcBef>
              <a:buClr>
                <a:schemeClr val="accent6">
                  <a:lumMod val="40000"/>
                  <a:lumOff val="60000"/>
                </a:schemeClr>
              </a:buClr>
              <a:buSzPct val="140000"/>
              <a:buFont typeface="Arial" charset="0"/>
              <a:buChar char="•"/>
            </a:pPr>
            <a:r>
              <a:rPr lang="en-AU" sz="3800" strike="sngStrike" dirty="0">
                <a:latin typeface="+mn-lt"/>
              </a:rPr>
              <a:t>Handling program input</a:t>
            </a:r>
          </a:p>
          <a:p>
            <a:pPr lvl="1">
              <a:spcBef>
                <a:spcPts val="784"/>
              </a:spcBef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AU" sz="2500" strike="sngStrike" dirty="0">
                <a:latin typeface="+mn-lt"/>
              </a:rPr>
              <a:t>Input size and buffer overflow</a:t>
            </a:r>
          </a:p>
          <a:p>
            <a:pPr lvl="1"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AU" sz="2500" strike="sngStrike" dirty="0">
                <a:latin typeface="+mn-lt"/>
              </a:rPr>
              <a:t>Interpretation of program input</a:t>
            </a:r>
          </a:p>
          <a:p>
            <a:pPr lvl="1"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AU" sz="2500" strike="sngStrike" dirty="0">
                <a:latin typeface="+mn-lt"/>
              </a:rPr>
              <a:t>Validating input syntax</a:t>
            </a:r>
          </a:p>
          <a:p>
            <a:pPr lvl="1"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AU" sz="2500" strike="sngStrike" dirty="0">
                <a:latin typeface="+mn-lt"/>
              </a:rPr>
              <a:t>Input fuzzing</a:t>
            </a:r>
          </a:p>
          <a:p>
            <a:pPr marL="342900" lvl="1" indent="-342900">
              <a:lnSpc>
                <a:spcPts val="2080"/>
              </a:lnSpc>
              <a:spcBef>
                <a:spcPts val="1576"/>
              </a:spcBef>
              <a:buClr>
                <a:schemeClr val="accent6">
                  <a:lumMod val="40000"/>
                  <a:lumOff val="60000"/>
                </a:schemeClr>
              </a:buClr>
              <a:buSzPct val="140000"/>
              <a:buFont typeface="Arial" charset="0"/>
              <a:buChar char="•"/>
            </a:pPr>
            <a:r>
              <a:rPr lang="en-AU" sz="3800" dirty="0">
                <a:latin typeface="+mn-lt"/>
              </a:rPr>
              <a:t>Interacting with the operating system and other programs</a:t>
            </a:r>
          </a:p>
          <a:p>
            <a:pPr lvl="1">
              <a:spcBef>
                <a:spcPts val="784"/>
              </a:spcBef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AU" sz="2500" dirty="0">
                <a:latin typeface="+mn-lt"/>
              </a:rPr>
              <a:t>Environment variables</a:t>
            </a:r>
          </a:p>
          <a:p>
            <a:pPr lvl="1"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AU" sz="2500" dirty="0">
                <a:latin typeface="+mn-lt"/>
              </a:rPr>
              <a:t>Using appropriate, least privileges</a:t>
            </a:r>
          </a:p>
          <a:p>
            <a:pPr lvl="1"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AU" sz="2500" dirty="0">
                <a:latin typeface="+mn-lt"/>
              </a:rPr>
              <a:t>Systems calls and standard library functions</a:t>
            </a:r>
          </a:p>
          <a:p>
            <a:pPr lvl="1"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AU" sz="2500" dirty="0">
                <a:latin typeface="+mn-lt"/>
              </a:rPr>
              <a:t>Preventing race conditions with shared system resources</a:t>
            </a:r>
          </a:p>
          <a:p>
            <a:pPr lvl="1"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AU" sz="2500" dirty="0">
                <a:latin typeface="+mn-lt"/>
              </a:rPr>
              <a:t>Safe temporary file use</a:t>
            </a:r>
          </a:p>
          <a:p>
            <a:pPr lvl="1"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AU" sz="2500" dirty="0">
                <a:latin typeface="+mn-lt"/>
              </a:rPr>
              <a:t>Interacting with other programs</a:t>
            </a:r>
          </a:p>
          <a:p>
            <a:pPr marL="342900" lvl="1" indent="-342900">
              <a:buFont typeface="Arial" pitchFamily="34" charset="0"/>
              <a:buChar char="•"/>
            </a:pPr>
            <a:endParaRPr lang="en-AU" dirty="0" smtClean="0"/>
          </a:p>
        </p:txBody>
      </p:sp>
      <p:sp>
        <p:nvSpPr>
          <p:cNvPr id="2" name="Content Placeholder 1"/>
          <p:cNvSpPr>
            <a:spLocks noGrp="1"/>
          </p:cNvSpPr>
          <p:nvPr>
            <p:ph sz="quarter" idx="13"/>
          </p:nvPr>
        </p:nvSpPr>
        <p:spPr>
          <a:xfrm>
            <a:off x="539552" y="1124744"/>
            <a:ext cx="3888432" cy="6768752"/>
          </a:xfrm>
        </p:spPr>
        <p:txBody>
          <a:bodyPr>
            <a:normAutofit/>
          </a:bodyPr>
          <a:lstStyle/>
          <a:p>
            <a:pPr>
              <a:buClr>
                <a:schemeClr val="accent6">
                  <a:lumMod val="40000"/>
                  <a:lumOff val="60000"/>
                </a:schemeClr>
              </a:buClr>
              <a:buSzPct val="140000"/>
              <a:buFont typeface="Arial" charset="0"/>
              <a:buChar char="•"/>
            </a:pPr>
            <a:r>
              <a:rPr lang="en-US" dirty="0" smtClean="0">
                <a:latin typeface="+mn-lt"/>
              </a:rPr>
              <a:t>Software security issues</a:t>
            </a:r>
          </a:p>
          <a:p>
            <a:pPr lvl="1">
              <a:lnSpc>
                <a:spcPct val="80000"/>
              </a:lnSpc>
              <a:buClr>
                <a:schemeClr val="accent6">
                  <a:lumMod val="40000"/>
                  <a:lumOff val="60000"/>
                </a:schemeClr>
              </a:buClr>
              <a:buSzPct val="140000"/>
              <a:buFont typeface="Arial" charset="0"/>
              <a:buChar char="•"/>
            </a:pPr>
            <a:r>
              <a:rPr lang="en-US" sz="1800" dirty="0">
                <a:latin typeface="+mn-lt"/>
              </a:rPr>
              <a:t>Introducing software security and defensive programming</a:t>
            </a:r>
          </a:p>
          <a:p>
            <a:pPr>
              <a:lnSpc>
                <a:spcPts val="2080"/>
              </a:lnSpc>
              <a:spcBef>
                <a:spcPts val="1576"/>
              </a:spcBef>
              <a:buClr>
                <a:schemeClr val="accent6">
                  <a:lumMod val="40000"/>
                  <a:lumOff val="60000"/>
                </a:schemeClr>
              </a:buClr>
              <a:buSzPct val="140000"/>
              <a:buFont typeface="Arial" charset="0"/>
              <a:buChar char="•"/>
            </a:pPr>
            <a:r>
              <a:rPr lang="en-US" dirty="0">
                <a:latin typeface="+mn-lt"/>
              </a:rPr>
              <a:t>Writing safe program code</a:t>
            </a:r>
          </a:p>
          <a:p>
            <a:pPr lvl="1">
              <a:lnSpc>
                <a:spcPct val="80000"/>
              </a:lnSpc>
              <a:buClr>
                <a:schemeClr val="accent6">
                  <a:lumMod val="40000"/>
                  <a:lumOff val="60000"/>
                </a:schemeClr>
              </a:buClr>
              <a:buSzPct val="140000"/>
              <a:buFont typeface="Arial" charset="0"/>
              <a:buChar char="•"/>
            </a:pPr>
            <a:r>
              <a:rPr lang="en-US" sz="1800" dirty="0">
                <a:latin typeface="+mn-lt"/>
              </a:rPr>
              <a:t>Correct algorithm implementation</a:t>
            </a:r>
          </a:p>
          <a:p>
            <a:pPr lvl="1">
              <a:lnSpc>
                <a:spcPct val="80000"/>
              </a:lnSpc>
              <a:buClr>
                <a:schemeClr val="accent6">
                  <a:lumMod val="40000"/>
                  <a:lumOff val="60000"/>
                </a:schemeClr>
              </a:buClr>
              <a:buSzPct val="140000"/>
              <a:buFont typeface="Arial" charset="0"/>
              <a:buChar char="•"/>
            </a:pPr>
            <a:r>
              <a:rPr lang="en-US" sz="1800" dirty="0">
                <a:latin typeface="+mn-lt"/>
              </a:rPr>
              <a:t>Ensuring that machine language corresponds to algorithm</a:t>
            </a:r>
          </a:p>
          <a:p>
            <a:pPr lvl="1">
              <a:lnSpc>
                <a:spcPct val="80000"/>
              </a:lnSpc>
              <a:buClr>
                <a:schemeClr val="accent6">
                  <a:lumMod val="40000"/>
                  <a:lumOff val="60000"/>
                </a:schemeClr>
              </a:buClr>
              <a:buSzPct val="140000"/>
              <a:buFont typeface="Arial" charset="0"/>
              <a:buChar char="•"/>
            </a:pPr>
            <a:r>
              <a:rPr lang="en-US" sz="1800" dirty="0">
                <a:latin typeface="+mn-lt"/>
              </a:rPr>
              <a:t>Correct interpretation of data values</a:t>
            </a:r>
          </a:p>
          <a:p>
            <a:pPr lvl="1">
              <a:lnSpc>
                <a:spcPct val="80000"/>
              </a:lnSpc>
              <a:buClr>
                <a:schemeClr val="accent6">
                  <a:lumMod val="40000"/>
                  <a:lumOff val="60000"/>
                </a:schemeClr>
              </a:buClr>
              <a:buSzPct val="140000"/>
              <a:buFont typeface="Arial" charset="0"/>
              <a:buChar char="•"/>
            </a:pPr>
            <a:r>
              <a:rPr lang="en-US" sz="1800" dirty="0">
                <a:latin typeface="+mn-lt"/>
              </a:rPr>
              <a:t>Correct use of memory</a:t>
            </a:r>
          </a:p>
          <a:p>
            <a:pPr lvl="1">
              <a:lnSpc>
                <a:spcPct val="80000"/>
              </a:lnSpc>
              <a:buClr>
                <a:schemeClr val="accent6">
                  <a:lumMod val="40000"/>
                  <a:lumOff val="60000"/>
                </a:schemeClr>
              </a:buClr>
              <a:buSzPct val="140000"/>
              <a:buFont typeface="Arial" charset="0"/>
              <a:buChar char="•"/>
            </a:pPr>
            <a:r>
              <a:rPr lang="en-US" sz="1800" dirty="0">
                <a:latin typeface="+mn-lt"/>
              </a:rPr>
              <a:t>Preventing race conditions with shared memory</a:t>
            </a:r>
          </a:p>
          <a:p>
            <a:pPr>
              <a:lnSpc>
                <a:spcPts val="2080"/>
              </a:lnSpc>
              <a:spcBef>
                <a:spcPts val="1576"/>
              </a:spcBef>
              <a:buClr>
                <a:schemeClr val="accent6">
                  <a:lumMod val="40000"/>
                  <a:lumOff val="60000"/>
                </a:schemeClr>
              </a:buClr>
              <a:buSzPct val="140000"/>
              <a:buFont typeface="Arial" charset="0"/>
              <a:buChar char="•"/>
            </a:pPr>
            <a:r>
              <a:rPr lang="en-US" dirty="0" smtClean="0">
                <a:latin typeface="+mn-lt"/>
              </a:rPr>
              <a:t>Handling program output</a:t>
            </a:r>
            <a:endParaRPr lang="en-US" dirty="0">
              <a:latin typeface="+mn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Executive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53744</TotalTime>
  <Words>13744</Words>
  <Application>Microsoft Office PowerPoint</Application>
  <PresentationFormat>On-screen Show (4:3)</PresentationFormat>
  <Paragraphs>1259</Paragraphs>
  <Slides>32</Slides>
  <Notes>31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4" baseType="lpstr">
      <vt:lpstr>Executive</vt:lpstr>
      <vt:lpstr>Document</vt:lpstr>
      <vt:lpstr>PowerPoint Presentation</vt:lpstr>
      <vt:lpstr>Chapter 11</vt:lpstr>
      <vt:lpstr>PowerPoint Presentation</vt:lpstr>
      <vt:lpstr>PowerPoint Presentation</vt:lpstr>
      <vt:lpstr>Security Flaws</vt:lpstr>
      <vt:lpstr>Reducing Software Vulnerabilities</vt:lpstr>
      <vt:lpstr>Software Security,  Quality and Reliability</vt:lpstr>
      <vt:lpstr>Defensive Programming</vt:lpstr>
      <vt:lpstr>PowerPoint Presentation</vt:lpstr>
      <vt:lpstr>Defensive Programming</vt:lpstr>
      <vt:lpstr>Security by Design</vt:lpstr>
      <vt:lpstr>Writing Safe Program Code</vt:lpstr>
      <vt:lpstr>Correct Algorithm Implementation</vt:lpstr>
      <vt:lpstr>Ensuring Machine Language Corresponds to Algorithm</vt:lpstr>
      <vt:lpstr>Correct Data Interpretation</vt:lpstr>
      <vt:lpstr>Correct Use of Memory</vt:lpstr>
      <vt:lpstr>Race Conditions</vt:lpstr>
      <vt:lpstr>Operating System Interaction</vt:lpstr>
      <vt:lpstr>Environment Variables</vt:lpstr>
      <vt:lpstr>PowerPoint Presentation</vt:lpstr>
      <vt:lpstr>Vulnerable Compiled Programs</vt:lpstr>
      <vt:lpstr>Use of Least Privilege</vt:lpstr>
      <vt:lpstr>Root/Administrator Privileges</vt:lpstr>
      <vt:lpstr>System Calls and Standard Library Functions</vt:lpstr>
      <vt:lpstr>PowerPoint Presentation</vt:lpstr>
      <vt:lpstr>Preventing Race Conditions</vt:lpstr>
      <vt:lpstr>PowerPoint Presentation</vt:lpstr>
      <vt:lpstr>Safe Temporary Files</vt:lpstr>
      <vt:lpstr>PowerPoint Presentation</vt:lpstr>
      <vt:lpstr>Other Program Interaction</vt:lpstr>
      <vt:lpstr>Handling Program Output</vt:lpstr>
      <vt:lpstr>Summary</vt:lpstr>
    </vt:vector>
  </TitlesOfParts>
  <Manager/>
  <Company>Computer Science, UNSW@ADFA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Security: Principles and Practice, 1/e</dc:title>
  <dc:subject>Chapter 12 Lecture Overheads</dc:subject>
  <dc:creator>Dr Lawrie Brown</dc:creator>
  <cp:keywords/>
  <dc:description/>
  <cp:lastModifiedBy>DELL</cp:lastModifiedBy>
  <cp:revision>186</cp:revision>
  <dcterms:created xsi:type="dcterms:W3CDTF">2014-09-10T15:43:54Z</dcterms:created>
  <dcterms:modified xsi:type="dcterms:W3CDTF">2025-11-09T09:36:09Z</dcterms:modified>
  <cp:category/>
</cp:coreProperties>
</file>