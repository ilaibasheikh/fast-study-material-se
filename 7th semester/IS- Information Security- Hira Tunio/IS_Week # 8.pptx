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2"/>
  </p:notesMasterIdLst>
  <p:sldIdLst>
    <p:sldId id="282" r:id="rId2"/>
    <p:sldId id="336" r:id="rId3"/>
    <p:sldId id="284" r:id="rId4"/>
    <p:sldId id="303" r:id="rId5"/>
    <p:sldId id="304" r:id="rId6"/>
    <p:sldId id="306" r:id="rId7"/>
    <p:sldId id="290" r:id="rId8"/>
    <p:sldId id="291" r:id="rId9"/>
    <p:sldId id="293" r:id="rId10"/>
    <p:sldId id="295" r:id="rId11"/>
    <p:sldId id="294" r:id="rId12"/>
    <p:sldId id="299" r:id="rId13"/>
    <p:sldId id="301" r:id="rId14"/>
    <p:sldId id="300" r:id="rId15"/>
    <p:sldId id="298" r:id="rId16"/>
    <p:sldId id="305" r:id="rId17"/>
    <p:sldId id="308" r:id="rId18"/>
    <p:sldId id="297" r:id="rId19"/>
    <p:sldId id="302" r:id="rId20"/>
    <p:sldId id="338" r:id="rId21"/>
    <p:sldId id="339" r:id="rId22"/>
    <p:sldId id="340" r:id="rId23"/>
    <p:sldId id="341" r:id="rId24"/>
    <p:sldId id="342" r:id="rId25"/>
    <p:sldId id="343" r:id="rId26"/>
    <p:sldId id="344" r:id="rId27"/>
    <p:sldId id="345" r:id="rId28"/>
    <p:sldId id="346" r:id="rId29"/>
    <p:sldId id="347" r:id="rId30"/>
    <p:sldId id="348" r:id="rId31"/>
    <p:sldId id="349" r:id="rId32"/>
    <p:sldId id="350" r:id="rId33"/>
    <p:sldId id="351" r:id="rId34"/>
    <p:sldId id="352" r:id="rId35"/>
    <p:sldId id="353" r:id="rId36"/>
    <p:sldId id="354" r:id="rId37"/>
    <p:sldId id="355" r:id="rId38"/>
    <p:sldId id="356" r:id="rId39"/>
    <p:sldId id="357" r:id="rId40"/>
    <p:sldId id="358"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BE87DD-C0A4-4C9C-80F7-8672C7422A10}" type="datetimeFigureOut">
              <a:rPr lang="en-US" smtClean="0"/>
              <a:t>10/30/2023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28385F-8D62-453E-AF48-0848A605D8F7}" type="slidenum">
              <a:rPr lang="en-US" smtClean="0"/>
              <a:t>‹#›</a:t>
            </a:fld>
            <a:endParaRPr lang="en-US"/>
          </a:p>
        </p:txBody>
      </p:sp>
    </p:spTree>
    <p:extLst>
      <p:ext uri="{BB962C8B-B14F-4D97-AF65-F5344CB8AC3E}">
        <p14:creationId xmlns:p14="http://schemas.microsoft.com/office/powerpoint/2010/main" val="2046586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EDD4908-CC23-48C0-976B-10CC20990EB2}" type="datetime1">
              <a:rPr lang="en-US" smtClean="0"/>
              <a:t>10/30/2023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28957147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5BFA864-45E6-4FF3-9F56-3B20DBBFC3C2}" type="datetime1">
              <a:rPr lang="en-US" smtClean="0"/>
              <a:t>10/30/2023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326230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38996E-E0E0-40F4-841D-9F1A9F67B603}" type="datetime1">
              <a:rPr lang="en-US" smtClean="0"/>
              <a:t>10/30/2023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2651054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091E4FC-E453-477B-A66B-F03CC82B7056}" type="datetime1">
              <a:rPr lang="en-US" smtClean="0"/>
              <a:t>10/30/2023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3101782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3B1B869-8361-44D0-BD83-AE35A5C3BED5}" type="datetime1">
              <a:rPr lang="en-US" smtClean="0"/>
              <a:t>10/30/2023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3591499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C0D8ED7-1120-47C5-9976-8F42E2F562CF}" type="datetime1">
              <a:rPr lang="en-US" smtClean="0"/>
              <a:t>10/30/2023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2907751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D831BB-02EA-4FD2-BB64-1808DDE74F74}" type="datetime1">
              <a:rPr lang="en-US" smtClean="0"/>
              <a:t>10/30/2023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82675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8872C61-A4AD-4435-B830-F4B215C43EE3}" type="datetime1">
              <a:rPr lang="en-US" smtClean="0"/>
              <a:t>10/30/2023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3361512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BC04A30-163A-4F79-B404-FE5245FD6953}" type="datetime1">
              <a:rPr lang="en-US" smtClean="0"/>
              <a:t>10/30/2023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244597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E448FC-326D-4210-9B7F-1F78F2B0ABAC}" type="datetime1">
              <a:rPr lang="en-US" smtClean="0"/>
              <a:t>10/30/2023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520281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B785A1-B715-4328-ADC9-B20C16CF4F32}" type="datetime1">
              <a:rPr lang="en-US" smtClean="0"/>
              <a:t>10/30/2023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1358240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64298C-E6C4-409D-9160-EEEEF8DB9D31}" type="datetime1">
              <a:rPr lang="en-US" smtClean="0"/>
              <a:t>10/30/2023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A50C4D-0BA1-4E54-8DFC-01810EC97B99}" type="slidenum">
              <a:rPr lang="en-US" smtClean="0"/>
              <a:t>‹#›</a:t>
            </a:fld>
            <a:endParaRPr lang="en-US"/>
          </a:p>
        </p:txBody>
      </p:sp>
    </p:spTree>
    <p:extLst>
      <p:ext uri="{BB962C8B-B14F-4D97-AF65-F5344CB8AC3E}">
        <p14:creationId xmlns:p14="http://schemas.microsoft.com/office/powerpoint/2010/main" val="4137917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9.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47.png"/></Relationships>
</file>

<file path=ppt/slides/_rels/slide2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2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57.png"/><Relationship Id="rId2" Type="http://schemas.openxmlformats.org/officeDocument/2006/relationships/image" Target="../media/image58.png"/><Relationship Id="rId1" Type="http://schemas.openxmlformats.org/officeDocument/2006/relationships/slideLayout" Target="../slideLayouts/slideLayout7.xml"/><Relationship Id="rId6" Type="http://schemas.microsoft.com/office/2007/relationships/hdphoto" Target="../media/hdphoto5.wdp"/><Relationship Id="rId5" Type="http://schemas.openxmlformats.org/officeDocument/2006/relationships/image" Target="../media/image60.png"/><Relationship Id="rId4" Type="http://schemas.microsoft.com/office/2007/relationships/hdphoto" Target="../media/hdphoto4.wdp"/></Relationships>
</file>

<file path=ppt/slides/_rels/slide2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8" Type="http://schemas.microsoft.com/office/2007/relationships/hdphoto" Target="../media/hdphoto8.wdp"/><Relationship Id="rId3" Type="http://schemas.microsoft.com/office/2007/relationships/hdphoto" Target="../media/hdphoto6.wdp"/><Relationship Id="rId7" Type="http://schemas.openxmlformats.org/officeDocument/2006/relationships/image" Target="../media/image70.png"/><Relationship Id="rId2" Type="http://schemas.openxmlformats.org/officeDocument/2006/relationships/image" Target="../media/image67.png"/><Relationship Id="rId1" Type="http://schemas.openxmlformats.org/officeDocument/2006/relationships/slideLayout" Target="../slideLayouts/slideLayout7.xml"/><Relationship Id="rId6" Type="http://schemas.microsoft.com/office/2007/relationships/hdphoto" Target="../media/hdphoto7.wdp"/><Relationship Id="rId5" Type="http://schemas.openxmlformats.org/officeDocument/2006/relationships/image" Target="../media/image69.png"/><Relationship Id="rId4" Type="http://schemas.openxmlformats.org/officeDocument/2006/relationships/image" Target="../media/image68.png"/></Relationships>
</file>

<file path=ppt/slides/_rels/slide3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73.png"/></Relationships>
</file>

<file path=ppt/slides/_rels/slide3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294967295"/>
          </p:nvPr>
        </p:nvSpPr>
        <p:spPr/>
        <p:txBody>
          <a:bodyPr/>
          <a:lstStyle/>
          <a:p>
            <a:endParaRPr lang="en-US" dirty="0"/>
          </a:p>
        </p:txBody>
      </p:sp>
      <p:sp>
        <p:nvSpPr>
          <p:cNvPr id="4" name="Title 1"/>
          <p:cNvSpPr txBox="1">
            <a:spLocks/>
          </p:cNvSpPr>
          <p:nvPr/>
        </p:nvSpPr>
        <p:spPr>
          <a:xfrm>
            <a:off x="613956" y="702949"/>
            <a:ext cx="10946674" cy="1496554"/>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pPr algn="ctr"/>
            <a:r>
              <a:rPr lang="en-US" sz="7700" dirty="0"/>
              <a:t>CS 3002 Information Security</a:t>
            </a:r>
            <a:endParaRPr lang="en-US" sz="5400" dirty="0"/>
          </a:p>
          <a:p>
            <a:pPr algn="ctr"/>
            <a:r>
              <a:rPr lang="en-US" sz="4600" dirty="0">
                <a:solidFill>
                  <a:srgbClr val="FF0000"/>
                </a:solidFill>
              </a:rPr>
              <a:t>                                                                   Fall 2023</a:t>
            </a:r>
          </a:p>
        </p:txBody>
      </p:sp>
      <p:sp>
        <p:nvSpPr>
          <p:cNvPr id="5" name="Subtitle 2"/>
          <p:cNvSpPr txBox="1">
            <a:spLocks/>
          </p:cNvSpPr>
          <p:nvPr/>
        </p:nvSpPr>
        <p:spPr>
          <a:xfrm>
            <a:off x="5609969" y="3525988"/>
            <a:ext cx="5950662" cy="2652390"/>
          </a:xfrm>
          <a:prstGeom prst="rect">
            <a:avLst/>
          </a:prstGeom>
          <a:solidFill>
            <a:schemeClr val="accent1">
              <a:lumMod val="40000"/>
              <a:lumOff val="60000"/>
            </a:schemeClr>
          </a:solidFill>
        </p:spPr>
        <p:txBody>
          <a:bodyPr>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lgn="ctr">
              <a:buNone/>
            </a:pPr>
            <a:r>
              <a:rPr lang="en-US" sz="3200" dirty="0"/>
              <a:t>Week # 8</a:t>
            </a:r>
            <a:endParaRPr lang="en-US" sz="2000" dirty="0"/>
          </a:p>
          <a:p>
            <a:pPr algn="ctr"/>
            <a:endParaRPr lang="en-US" sz="2000" dirty="0"/>
          </a:p>
          <a:p>
            <a:pPr marL="130175" indent="0" algn="ctr">
              <a:buNone/>
            </a:pPr>
            <a:r>
              <a:rPr lang="en-US" sz="2400" dirty="0"/>
              <a:t>Dr. Aqsa Aslam</a:t>
            </a:r>
          </a:p>
        </p:txBody>
      </p:sp>
      <p:pic>
        <p:nvPicPr>
          <p:cNvPr id="2" name="Picture 1"/>
          <p:cNvPicPr>
            <a:picLocks noChangeAspect="1"/>
          </p:cNvPicPr>
          <p:nvPr/>
        </p:nvPicPr>
        <p:blipFill>
          <a:blip r:embed="rId2"/>
          <a:stretch>
            <a:fillRect/>
          </a:stretch>
        </p:blipFill>
        <p:spPr>
          <a:xfrm>
            <a:off x="712809" y="1771385"/>
            <a:ext cx="5286336" cy="1501485"/>
          </a:xfrm>
          <a:prstGeom prst="rect">
            <a:avLst/>
          </a:prstGeom>
        </p:spPr>
      </p:pic>
      <p:grpSp>
        <p:nvGrpSpPr>
          <p:cNvPr id="8" name="Group 7"/>
          <p:cNvGrpSpPr/>
          <p:nvPr/>
        </p:nvGrpSpPr>
        <p:grpSpPr>
          <a:xfrm>
            <a:off x="1502463" y="3418245"/>
            <a:ext cx="2953265" cy="3120667"/>
            <a:chOff x="8830020" y="2751654"/>
            <a:chExt cx="2953265" cy="3120667"/>
          </a:xfrm>
        </p:grpSpPr>
        <p:pic>
          <p:nvPicPr>
            <p:cNvPr id="6" name="Picture 5"/>
            <p:cNvPicPr>
              <a:picLocks noChangeAspect="1"/>
            </p:cNvPicPr>
            <p:nvPr/>
          </p:nvPicPr>
          <p:blipFill>
            <a:blip r:embed="rId3"/>
            <a:stretch>
              <a:fillRect/>
            </a:stretch>
          </p:blipFill>
          <p:spPr>
            <a:xfrm>
              <a:off x="8830020" y="2751654"/>
              <a:ext cx="2953265" cy="2872982"/>
            </a:xfrm>
            <a:prstGeom prst="rect">
              <a:avLst/>
            </a:prstGeom>
          </p:spPr>
        </p:pic>
        <p:pic>
          <p:nvPicPr>
            <p:cNvPr id="7" name="Picture 6"/>
            <p:cNvPicPr>
              <a:picLocks noChangeAspect="1"/>
            </p:cNvPicPr>
            <p:nvPr/>
          </p:nvPicPr>
          <p:blipFill>
            <a:blip r:embed="rId4"/>
            <a:stretch>
              <a:fillRect/>
            </a:stretch>
          </p:blipFill>
          <p:spPr>
            <a:xfrm>
              <a:off x="9487387" y="5624636"/>
              <a:ext cx="1638529" cy="247685"/>
            </a:xfrm>
            <a:prstGeom prst="rect">
              <a:avLst/>
            </a:prstGeom>
          </p:spPr>
        </p:pic>
      </p:grpSp>
    </p:spTree>
    <p:extLst>
      <p:ext uri="{BB962C8B-B14F-4D97-AF65-F5344CB8AC3E}">
        <p14:creationId xmlns:p14="http://schemas.microsoft.com/office/powerpoint/2010/main" val="2945991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2</a:t>
            </a:fld>
            <a:endParaRPr lang="en-US"/>
          </a:p>
        </p:txBody>
      </p:sp>
      <p:pic>
        <p:nvPicPr>
          <p:cNvPr id="2" name="Picture 1"/>
          <p:cNvPicPr>
            <a:picLocks noChangeAspect="1"/>
          </p:cNvPicPr>
          <p:nvPr/>
        </p:nvPicPr>
        <p:blipFill>
          <a:blip r:embed="rId2"/>
          <a:stretch>
            <a:fillRect/>
          </a:stretch>
        </p:blipFill>
        <p:spPr>
          <a:xfrm>
            <a:off x="3286897" y="0"/>
            <a:ext cx="6255523" cy="6858000"/>
          </a:xfrm>
          <a:prstGeom prst="rect">
            <a:avLst/>
          </a:prstGeom>
        </p:spPr>
      </p:pic>
      <p:sp>
        <p:nvSpPr>
          <p:cNvPr id="7" name="Left Brace 6"/>
          <p:cNvSpPr/>
          <p:nvPr/>
        </p:nvSpPr>
        <p:spPr>
          <a:xfrm>
            <a:off x="3459895" y="2471352"/>
            <a:ext cx="840260" cy="1495167"/>
          </a:xfrm>
          <a:prstGeom prst="lef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2372496" y="2903838"/>
            <a:ext cx="753763" cy="646331"/>
          </a:xfrm>
          <a:prstGeom prst="rect">
            <a:avLst/>
          </a:prstGeom>
          <a:noFill/>
        </p:spPr>
        <p:txBody>
          <a:bodyPr wrap="square" rtlCol="0">
            <a:spAutoFit/>
          </a:bodyPr>
          <a:lstStyle/>
          <a:p>
            <a:r>
              <a:rPr lang="en-US" b="1" dirty="0">
                <a:solidFill>
                  <a:srgbClr val="FF0000"/>
                </a:solidFill>
              </a:rPr>
              <a:t>Self Study</a:t>
            </a:r>
          </a:p>
        </p:txBody>
      </p:sp>
    </p:spTree>
    <p:extLst>
      <p:ext uri="{BB962C8B-B14F-4D97-AF65-F5344CB8AC3E}">
        <p14:creationId xmlns:p14="http://schemas.microsoft.com/office/powerpoint/2010/main" val="3702483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dirty="0"/>
              <a:t>Database security</a:t>
            </a:r>
          </a:p>
          <a:p>
            <a:r>
              <a:rPr lang="en-US" dirty="0"/>
              <a:t>SQL Injection Attack</a:t>
            </a:r>
          </a:p>
          <a:p>
            <a:r>
              <a:rPr lang="en-US" dirty="0"/>
              <a:t>Steps involved in a typical SQL Injection attack</a:t>
            </a:r>
          </a:p>
          <a:p>
            <a:r>
              <a:rPr lang="en-US" dirty="0"/>
              <a:t> The Injection techniques</a:t>
            </a:r>
          </a:p>
          <a:p>
            <a:r>
              <a:rPr lang="en-US" dirty="0"/>
              <a:t>SQL Injection attack types</a:t>
            </a:r>
          </a:p>
          <a:p>
            <a:pPr lvl="1"/>
            <a:r>
              <a:rPr lang="en-US" dirty="0"/>
              <a:t>In-band, out-of-band, inferential</a:t>
            </a:r>
          </a:p>
          <a:p>
            <a:pPr lvl="1"/>
            <a:endParaRPr lang="en-US" dirty="0"/>
          </a:p>
          <a:p>
            <a:endParaRPr lang="en-US" dirty="0"/>
          </a:p>
        </p:txBody>
      </p:sp>
      <p:sp>
        <p:nvSpPr>
          <p:cNvPr id="2" name="Slide Number Placeholder 1"/>
          <p:cNvSpPr>
            <a:spLocks noGrp="1"/>
          </p:cNvSpPr>
          <p:nvPr>
            <p:ph type="sldNum" sz="quarter" idx="12"/>
          </p:nvPr>
        </p:nvSpPr>
        <p:spPr/>
        <p:txBody>
          <a:bodyPr/>
          <a:lstStyle/>
          <a:p>
            <a:fld id="{A2A50C4D-0BA1-4E54-8DFC-01810EC97B99}" type="slidenum">
              <a:rPr lang="en-US" smtClean="0"/>
              <a:t>3</a:t>
            </a:fld>
            <a:endParaRPr lang="en-US"/>
          </a:p>
        </p:txBody>
      </p:sp>
      <p:sp>
        <p:nvSpPr>
          <p:cNvPr id="6" name="Title 5">
            <a:extLst>
              <a:ext uri="{FF2B5EF4-FFF2-40B4-BE49-F238E27FC236}">
                <a16:creationId xmlns:a16="http://schemas.microsoft.com/office/drawing/2014/main" id="{23D3F44A-5F1F-7CD6-3E01-949BDF979B15}"/>
              </a:ext>
            </a:extLst>
          </p:cNvPr>
          <p:cNvSpPr>
            <a:spLocks noGrp="1"/>
          </p:cNvSpPr>
          <p:nvPr>
            <p:ph type="title"/>
          </p:nvPr>
        </p:nvSpPr>
        <p:spPr/>
        <p:txBody>
          <a:bodyPr/>
          <a:lstStyle/>
          <a:p>
            <a:endParaRPr lang="en-PK"/>
          </a:p>
        </p:txBody>
      </p:sp>
    </p:spTree>
    <p:extLst>
      <p:ext uri="{BB962C8B-B14F-4D97-AF65-F5344CB8AC3E}">
        <p14:creationId xmlns:p14="http://schemas.microsoft.com/office/powerpoint/2010/main" val="2100019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4</a:t>
            </a:fld>
            <a:endParaRPr lang="en-US"/>
          </a:p>
        </p:txBody>
      </p:sp>
      <p:pic>
        <p:nvPicPr>
          <p:cNvPr id="5" name="Picture 4"/>
          <p:cNvPicPr>
            <a:picLocks noChangeAspect="1"/>
          </p:cNvPicPr>
          <p:nvPr/>
        </p:nvPicPr>
        <p:blipFill>
          <a:blip r:embed="rId2"/>
          <a:stretch>
            <a:fillRect/>
          </a:stretch>
        </p:blipFill>
        <p:spPr>
          <a:xfrm>
            <a:off x="683892" y="593126"/>
            <a:ext cx="10850212" cy="4040658"/>
          </a:xfrm>
          <a:prstGeom prst="rect">
            <a:avLst/>
          </a:prstGeom>
        </p:spPr>
      </p:pic>
    </p:spTree>
    <p:extLst>
      <p:ext uri="{BB962C8B-B14F-4D97-AF65-F5344CB8AC3E}">
        <p14:creationId xmlns:p14="http://schemas.microsoft.com/office/powerpoint/2010/main" val="1285619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5</a:t>
            </a:fld>
            <a:endParaRPr lang="en-US"/>
          </a:p>
        </p:txBody>
      </p:sp>
      <p:pic>
        <p:nvPicPr>
          <p:cNvPr id="3" name="Picture 2"/>
          <p:cNvPicPr>
            <a:picLocks noChangeAspect="1"/>
          </p:cNvPicPr>
          <p:nvPr/>
        </p:nvPicPr>
        <p:blipFill>
          <a:blip r:embed="rId2"/>
          <a:stretch>
            <a:fillRect/>
          </a:stretch>
        </p:blipFill>
        <p:spPr>
          <a:xfrm>
            <a:off x="483780" y="458757"/>
            <a:ext cx="11083662" cy="813646"/>
          </a:xfrm>
          <a:prstGeom prst="rect">
            <a:avLst/>
          </a:prstGeom>
        </p:spPr>
      </p:pic>
      <p:pic>
        <p:nvPicPr>
          <p:cNvPr id="4" name="Picture 3"/>
          <p:cNvPicPr>
            <a:picLocks noChangeAspect="1"/>
          </p:cNvPicPr>
          <p:nvPr/>
        </p:nvPicPr>
        <p:blipFill>
          <a:blip r:embed="rId3"/>
          <a:stretch>
            <a:fillRect/>
          </a:stretch>
        </p:blipFill>
        <p:spPr>
          <a:xfrm>
            <a:off x="414603" y="1596930"/>
            <a:ext cx="5611008" cy="1352739"/>
          </a:xfrm>
          <a:prstGeom prst="rect">
            <a:avLst/>
          </a:prstGeom>
        </p:spPr>
      </p:pic>
      <p:pic>
        <p:nvPicPr>
          <p:cNvPr id="5" name="Picture 4"/>
          <p:cNvPicPr>
            <a:picLocks noChangeAspect="1"/>
          </p:cNvPicPr>
          <p:nvPr/>
        </p:nvPicPr>
        <p:blipFill>
          <a:blip r:embed="rId4"/>
          <a:stretch>
            <a:fillRect/>
          </a:stretch>
        </p:blipFill>
        <p:spPr>
          <a:xfrm>
            <a:off x="6201969" y="1596930"/>
            <a:ext cx="5630061" cy="952633"/>
          </a:xfrm>
          <a:prstGeom prst="rect">
            <a:avLst/>
          </a:prstGeom>
        </p:spPr>
      </p:pic>
      <p:pic>
        <p:nvPicPr>
          <p:cNvPr id="6" name="Picture 5"/>
          <p:cNvPicPr>
            <a:picLocks noChangeAspect="1"/>
          </p:cNvPicPr>
          <p:nvPr/>
        </p:nvPicPr>
        <p:blipFill>
          <a:blip r:embed="rId5"/>
          <a:stretch>
            <a:fillRect/>
          </a:stretch>
        </p:blipFill>
        <p:spPr>
          <a:xfrm>
            <a:off x="414603" y="3274196"/>
            <a:ext cx="5639587" cy="1362265"/>
          </a:xfrm>
          <a:prstGeom prst="rect">
            <a:avLst/>
          </a:prstGeom>
        </p:spPr>
      </p:pic>
      <p:pic>
        <p:nvPicPr>
          <p:cNvPr id="7" name="Picture 6"/>
          <p:cNvPicPr>
            <a:picLocks noChangeAspect="1"/>
          </p:cNvPicPr>
          <p:nvPr/>
        </p:nvPicPr>
        <p:blipFill>
          <a:blip r:embed="rId6"/>
          <a:stretch>
            <a:fillRect/>
          </a:stretch>
        </p:blipFill>
        <p:spPr>
          <a:xfrm>
            <a:off x="6201969" y="3274196"/>
            <a:ext cx="5639587" cy="971686"/>
          </a:xfrm>
          <a:prstGeom prst="rect">
            <a:avLst/>
          </a:prstGeom>
        </p:spPr>
      </p:pic>
    </p:spTree>
    <p:extLst>
      <p:ext uri="{BB962C8B-B14F-4D97-AF65-F5344CB8AC3E}">
        <p14:creationId xmlns:p14="http://schemas.microsoft.com/office/powerpoint/2010/main" val="3616838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838200" y="365125"/>
            <a:ext cx="10515600" cy="845837"/>
          </a:xfrm>
        </p:spPr>
        <p:txBody>
          <a:bodyPr/>
          <a:lstStyle/>
          <a:p>
            <a:pPr eaLnBrk="1" hangingPunct="1"/>
            <a:r>
              <a:rPr lang="en-US" altLang="en-US" dirty="0">
                <a:ea typeface="ＭＳ Ｐゴシック" panose="020B0600070205080204" pitchFamily="34" charset="-128"/>
              </a:rPr>
              <a:t>Important SQL Syntax</a:t>
            </a:r>
          </a:p>
        </p:txBody>
      </p:sp>
      <p:sp>
        <p:nvSpPr>
          <p:cNvPr id="3" name="Content Placeholder 2"/>
          <p:cNvSpPr>
            <a:spLocks noGrp="1"/>
          </p:cNvSpPr>
          <p:nvPr>
            <p:ph idx="1"/>
          </p:nvPr>
        </p:nvSpPr>
        <p:spPr>
          <a:xfrm>
            <a:off x="838200" y="1587500"/>
            <a:ext cx="10515600" cy="4572000"/>
          </a:xfrm>
        </p:spPr>
        <p:txBody>
          <a:bodyPr>
            <a:normAutofit/>
          </a:bodyPr>
          <a:lstStyle/>
          <a:p>
            <a:pPr lvl="1" eaLnBrk="1" hangingPunct="1">
              <a:buFont typeface="Wingdings" panose="05000000000000000000" pitchFamily="2" charset="2"/>
              <a:buNone/>
            </a:pPr>
            <a:r>
              <a:rPr lang="en-US" altLang="en-US" sz="2800" dirty="0">
                <a:ea typeface="ＭＳ Ｐゴシック" panose="020B0600070205080204" pitchFamily="34" charset="-128"/>
              </a:rPr>
              <a:t>COMMENTS:   --</a:t>
            </a:r>
          </a:p>
          <a:p>
            <a:pPr lvl="1" eaLnBrk="1" hangingPunct="1">
              <a:buFont typeface="Wingdings" panose="05000000000000000000" pitchFamily="2" charset="2"/>
              <a:buNone/>
            </a:pPr>
            <a:r>
              <a:rPr lang="en-US" altLang="en-US" sz="2800" dirty="0">
                <a:ea typeface="ＭＳ Ｐゴシック" panose="020B0600070205080204" pitchFamily="34" charset="-128"/>
              </a:rPr>
              <a:t>	Example:  SELECT * FROM `table`  </a:t>
            </a:r>
            <a:r>
              <a:rPr lang="en-US" altLang="en-US" sz="2800" dirty="0">
                <a:solidFill>
                  <a:srgbClr val="FF0000"/>
                </a:solidFill>
                <a:ea typeface="ＭＳ Ｐゴシック" panose="020B0600070205080204" pitchFamily="34" charset="-128"/>
              </a:rPr>
              <a:t>--selects everything</a:t>
            </a:r>
          </a:p>
          <a:p>
            <a:pPr lvl="1" eaLnBrk="1" hangingPunct="1">
              <a:buFont typeface="Wingdings" panose="05000000000000000000" pitchFamily="2" charset="2"/>
              <a:buNone/>
            </a:pPr>
            <a:endParaRPr lang="en-US" altLang="en-US" sz="2800" dirty="0">
              <a:ea typeface="ＭＳ Ｐゴシック" panose="020B0600070205080204" pitchFamily="34" charset="-128"/>
            </a:endParaRPr>
          </a:p>
          <a:p>
            <a:pPr lvl="1" eaLnBrk="1" hangingPunct="1">
              <a:buFont typeface="Wingdings" panose="05000000000000000000" pitchFamily="2" charset="2"/>
              <a:buNone/>
            </a:pPr>
            <a:r>
              <a:rPr lang="en-US" altLang="en-US" sz="2800" dirty="0">
                <a:ea typeface="ＭＳ Ｐゴシック" panose="020B0600070205080204" pitchFamily="34" charset="-128"/>
              </a:rPr>
              <a:t>LOGIC:   ‘a’=‘a’</a:t>
            </a:r>
          </a:p>
          <a:p>
            <a:pPr lvl="1">
              <a:buNone/>
            </a:pPr>
            <a:r>
              <a:rPr lang="en-US" altLang="en-US" sz="2800" dirty="0">
                <a:ea typeface="ＭＳ Ｐゴシック" panose="020B0600070205080204" pitchFamily="34" charset="-128"/>
              </a:rPr>
              <a:t>	Example: SELECT * FROM `table` WHERE ‘a’=‘a’</a:t>
            </a:r>
          </a:p>
          <a:p>
            <a:pPr lvl="1" eaLnBrk="1" hangingPunct="1">
              <a:buFont typeface="Wingdings" panose="05000000000000000000" pitchFamily="2" charset="2"/>
              <a:buNone/>
            </a:pPr>
            <a:endParaRPr lang="en-US" altLang="en-US" sz="2800" dirty="0">
              <a:ea typeface="ＭＳ Ｐゴシック" panose="020B0600070205080204" pitchFamily="34" charset="-128"/>
            </a:endParaRPr>
          </a:p>
          <a:p>
            <a:pPr lvl="1" eaLnBrk="1" hangingPunct="1">
              <a:buFont typeface="Wingdings" panose="05000000000000000000" pitchFamily="2" charset="2"/>
              <a:buNone/>
            </a:pPr>
            <a:r>
              <a:rPr lang="en-US" altLang="en-US" sz="2800" dirty="0">
                <a:ea typeface="ＭＳ Ｐゴシック" panose="020B0600070205080204" pitchFamily="34" charset="-128"/>
              </a:rPr>
              <a:t>MULTI STATEMENTS:  S1; S2</a:t>
            </a:r>
          </a:p>
          <a:p>
            <a:pPr lvl="1" eaLnBrk="1" hangingPunct="1">
              <a:buFont typeface="Wingdings" panose="05000000000000000000" pitchFamily="2" charset="2"/>
              <a:buNone/>
            </a:pPr>
            <a:r>
              <a:rPr lang="en-US" altLang="en-US" sz="2800" dirty="0">
                <a:ea typeface="ＭＳ Ｐゴシック" panose="020B0600070205080204" pitchFamily="34" charset="-128"/>
              </a:rPr>
              <a:t>	Example: SELECT * FROM `table`; DROP TABLE `table`;</a:t>
            </a:r>
          </a:p>
          <a:p>
            <a:pPr lvl="1" eaLnBrk="1" hangingPunct="1">
              <a:buFont typeface="Wingdings" panose="05000000000000000000" pitchFamily="2" charset="2"/>
              <a:buNone/>
            </a:pPr>
            <a:endParaRPr lang="en-US" altLang="en-US" dirty="0">
              <a:ea typeface="ＭＳ Ｐゴシック" panose="020B0600070205080204" pitchFamily="34" charset="-128"/>
            </a:endParaRPr>
          </a:p>
          <a:p>
            <a:pPr lvl="1" eaLnBrk="1" hangingPunct="1">
              <a:buFont typeface="Wingdings" panose="05000000000000000000" pitchFamily="2" charset="2"/>
              <a:buNone/>
            </a:pP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3643600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606321" y="1186250"/>
            <a:ext cx="10971959" cy="4990714"/>
          </a:xfrm>
        </p:spPr>
        <p:txBody>
          <a:bodyPr>
            <a:normAutofit fontScale="92500" lnSpcReduction="20000"/>
          </a:bodyPr>
          <a:lstStyle/>
          <a:p>
            <a:r>
              <a:rPr lang="en-US" dirty="0"/>
              <a:t>The SQL injection (</a:t>
            </a:r>
            <a:r>
              <a:rPr lang="en-US" dirty="0" err="1"/>
              <a:t>SQLi</a:t>
            </a:r>
            <a:r>
              <a:rPr lang="en-US" dirty="0"/>
              <a:t>) attack is one of the most prevalent and dangerous network-based security threats. </a:t>
            </a:r>
          </a:p>
          <a:p>
            <a:r>
              <a:rPr lang="en-US" dirty="0"/>
              <a:t>An </a:t>
            </a:r>
            <a:r>
              <a:rPr lang="en-US" dirty="0" err="1"/>
              <a:t>SQLi</a:t>
            </a:r>
            <a:r>
              <a:rPr lang="en-US" dirty="0"/>
              <a:t> attack is designed to exploit the nature of Web application pages. </a:t>
            </a:r>
          </a:p>
          <a:p>
            <a:pPr lvl="1"/>
            <a:r>
              <a:rPr lang="en-US" dirty="0"/>
              <a:t>Most current websites have dynamic components and content. Many such pages ask for information, such as location, personal identity information, and credit card information. This dynamic content is usually transferred to and from back-end databases that contain volumes of information. </a:t>
            </a:r>
          </a:p>
          <a:p>
            <a:pPr lvl="1"/>
            <a:r>
              <a:rPr lang="en-US" dirty="0"/>
              <a:t>An application server webpage will make SQL queries to databases to send and receive information critical to making a positive user experience.</a:t>
            </a:r>
          </a:p>
          <a:p>
            <a:r>
              <a:rPr lang="en-US" dirty="0"/>
              <a:t>In such an environment, an </a:t>
            </a:r>
            <a:r>
              <a:rPr lang="en-US" dirty="0" err="1"/>
              <a:t>SQLi</a:t>
            </a:r>
            <a:r>
              <a:rPr lang="en-US" dirty="0"/>
              <a:t> attack is designed to send malicious SQL commands to the database server. </a:t>
            </a:r>
          </a:p>
          <a:p>
            <a:pPr lvl="1"/>
            <a:r>
              <a:rPr lang="en-US" dirty="0"/>
              <a:t>The most common attack goal is bulk extraction of data. </a:t>
            </a:r>
          </a:p>
          <a:p>
            <a:pPr lvl="1"/>
            <a:r>
              <a:rPr lang="en-US" dirty="0"/>
              <a:t>Attackers can dump database tables with hundreds of thousands of customer records.</a:t>
            </a:r>
          </a:p>
          <a:p>
            <a:r>
              <a:rPr lang="en-US" dirty="0"/>
              <a:t>Depending on the environment, SQL injection can also be exploited to modify or delete data, execute arbitrary operating system commands, or launch denial-of-service (</a:t>
            </a:r>
            <a:r>
              <a:rPr lang="en-US" dirty="0" err="1"/>
              <a:t>DoS</a:t>
            </a:r>
            <a:r>
              <a:rPr lang="en-US" dirty="0"/>
              <a:t>) attacks.</a:t>
            </a:r>
          </a:p>
        </p:txBody>
      </p:sp>
      <p:sp>
        <p:nvSpPr>
          <p:cNvPr id="4" name="Slide Number Placeholder 3"/>
          <p:cNvSpPr>
            <a:spLocks noGrp="1"/>
          </p:cNvSpPr>
          <p:nvPr>
            <p:ph type="sldNum" sz="quarter" idx="12"/>
          </p:nvPr>
        </p:nvSpPr>
        <p:spPr/>
        <p:txBody>
          <a:bodyPr/>
          <a:lstStyle/>
          <a:p>
            <a:fld id="{A2A50C4D-0BA1-4E54-8DFC-01810EC97B99}" type="slidenum">
              <a:rPr lang="en-US" smtClean="0"/>
              <a:t>7</a:t>
            </a:fld>
            <a:endParaRPr lang="en-US"/>
          </a:p>
        </p:txBody>
      </p:sp>
      <p:pic>
        <p:nvPicPr>
          <p:cNvPr id="5" name="Picture 4"/>
          <p:cNvPicPr>
            <a:picLocks noChangeAspect="1"/>
          </p:cNvPicPr>
          <p:nvPr/>
        </p:nvPicPr>
        <p:blipFill>
          <a:blip r:embed="rId2"/>
          <a:stretch>
            <a:fillRect/>
          </a:stretch>
        </p:blipFill>
        <p:spPr>
          <a:xfrm>
            <a:off x="606321" y="495477"/>
            <a:ext cx="10239688" cy="565475"/>
          </a:xfrm>
          <a:prstGeom prst="rect">
            <a:avLst/>
          </a:prstGeom>
        </p:spPr>
      </p:pic>
    </p:spTree>
    <p:extLst>
      <p:ext uri="{BB962C8B-B14F-4D97-AF65-F5344CB8AC3E}">
        <p14:creationId xmlns:p14="http://schemas.microsoft.com/office/powerpoint/2010/main" val="697905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8</a:t>
            </a:fld>
            <a:endParaRPr lang="en-US"/>
          </a:p>
        </p:txBody>
      </p:sp>
      <p:pic>
        <p:nvPicPr>
          <p:cNvPr id="5" name="Picture 4"/>
          <p:cNvPicPr>
            <a:picLocks noChangeAspect="1"/>
          </p:cNvPicPr>
          <p:nvPr/>
        </p:nvPicPr>
        <p:blipFill>
          <a:blip r:embed="rId2"/>
          <a:stretch>
            <a:fillRect/>
          </a:stretch>
        </p:blipFill>
        <p:spPr>
          <a:xfrm>
            <a:off x="532226" y="379436"/>
            <a:ext cx="4698806" cy="609104"/>
          </a:xfrm>
          <a:prstGeom prst="rect">
            <a:avLst/>
          </a:prstGeom>
        </p:spPr>
      </p:pic>
      <p:pic>
        <p:nvPicPr>
          <p:cNvPr id="6" name="Picture 5"/>
          <p:cNvPicPr>
            <a:picLocks noChangeAspect="1"/>
          </p:cNvPicPr>
          <p:nvPr/>
        </p:nvPicPr>
        <p:blipFill>
          <a:blip r:embed="rId3"/>
          <a:stretch>
            <a:fillRect/>
          </a:stretch>
        </p:blipFill>
        <p:spPr>
          <a:xfrm>
            <a:off x="532226" y="1325466"/>
            <a:ext cx="10927888" cy="5030883"/>
          </a:xfrm>
          <a:prstGeom prst="rect">
            <a:avLst/>
          </a:prstGeom>
        </p:spPr>
      </p:pic>
    </p:spTree>
    <p:extLst>
      <p:ext uri="{BB962C8B-B14F-4D97-AF65-F5344CB8AC3E}">
        <p14:creationId xmlns:p14="http://schemas.microsoft.com/office/powerpoint/2010/main" val="1645070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9</a:t>
            </a:fld>
            <a:endParaRPr lang="en-US"/>
          </a:p>
        </p:txBody>
      </p:sp>
      <p:pic>
        <p:nvPicPr>
          <p:cNvPr id="3" name="Picture 2"/>
          <p:cNvPicPr>
            <a:picLocks noChangeAspect="1"/>
          </p:cNvPicPr>
          <p:nvPr/>
        </p:nvPicPr>
        <p:blipFill>
          <a:blip r:embed="rId2"/>
          <a:stretch>
            <a:fillRect/>
          </a:stretch>
        </p:blipFill>
        <p:spPr>
          <a:xfrm>
            <a:off x="553972" y="450746"/>
            <a:ext cx="4587470" cy="525438"/>
          </a:xfrm>
          <a:prstGeom prst="rect">
            <a:avLst/>
          </a:prstGeom>
        </p:spPr>
      </p:pic>
      <p:pic>
        <p:nvPicPr>
          <p:cNvPr id="4" name="Picture 3"/>
          <p:cNvPicPr>
            <a:picLocks noChangeAspect="1"/>
          </p:cNvPicPr>
          <p:nvPr/>
        </p:nvPicPr>
        <p:blipFill>
          <a:blip r:embed="rId3"/>
          <a:stretch>
            <a:fillRect/>
          </a:stretch>
        </p:blipFill>
        <p:spPr>
          <a:xfrm>
            <a:off x="553972" y="1244004"/>
            <a:ext cx="11024309" cy="2233684"/>
          </a:xfrm>
          <a:prstGeom prst="rect">
            <a:avLst/>
          </a:prstGeom>
        </p:spPr>
      </p:pic>
      <p:pic>
        <p:nvPicPr>
          <p:cNvPr id="5" name="Picture 4"/>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553972" y="3953935"/>
            <a:ext cx="11024309" cy="1740681"/>
          </a:xfrm>
          <a:prstGeom prst="rect">
            <a:avLst/>
          </a:prstGeom>
        </p:spPr>
      </p:pic>
    </p:spTree>
    <p:extLst>
      <p:ext uri="{BB962C8B-B14F-4D97-AF65-F5344CB8AC3E}">
        <p14:creationId xmlns:p14="http://schemas.microsoft.com/office/powerpoint/2010/main" val="148405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10</a:t>
            </a:fld>
            <a:endParaRPr lang="en-US"/>
          </a:p>
        </p:txBody>
      </p:sp>
      <p:grpSp>
        <p:nvGrpSpPr>
          <p:cNvPr id="7" name="Group 6"/>
          <p:cNvGrpSpPr/>
          <p:nvPr/>
        </p:nvGrpSpPr>
        <p:grpSpPr>
          <a:xfrm>
            <a:off x="1161131" y="1059722"/>
            <a:ext cx="9342112" cy="5479190"/>
            <a:chOff x="2989931" y="877160"/>
            <a:chExt cx="5934628" cy="3522839"/>
          </a:xfrm>
        </p:grpSpPr>
        <p:pic>
          <p:nvPicPr>
            <p:cNvPr id="4" name="Picture 3"/>
            <p:cNvPicPr>
              <a:picLocks noChangeAspect="1"/>
            </p:cNvPicPr>
            <p:nvPr/>
          </p:nvPicPr>
          <p:blipFill>
            <a:blip r:embed="rId2"/>
            <a:stretch>
              <a:fillRect/>
            </a:stretch>
          </p:blipFill>
          <p:spPr>
            <a:xfrm>
              <a:off x="3094445" y="877160"/>
              <a:ext cx="5830114" cy="581106"/>
            </a:xfrm>
            <a:prstGeom prst="rect">
              <a:avLst/>
            </a:prstGeom>
          </p:spPr>
        </p:pic>
        <p:pic>
          <p:nvPicPr>
            <p:cNvPr id="5" name="Picture 4"/>
            <p:cNvPicPr>
              <a:picLocks noChangeAspect="1"/>
            </p:cNvPicPr>
            <p:nvPr/>
          </p:nvPicPr>
          <p:blipFill>
            <a:blip r:embed="rId3"/>
            <a:stretch>
              <a:fillRect/>
            </a:stretch>
          </p:blipFill>
          <p:spPr>
            <a:xfrm>
              <a:off x="3746999" y="1552578"/>
              <a:ext cx="4525006" cy="1800476"/>
            </a:xfrm>
            <a:prstGeom prst="rect">
              <a:avLst/>
            </a:prstGeom>
          </p:spPr>
        </p:pic>
        <p:pic>
          <p:nvPicPr>
            <p:cNvPr id="6" name="Picture 5"/>
            <p:cNvPicPr>
              <a:picLocks noChangeAspect="1"/>
            </p:cNvPicPr>
            <p:nvPr/>
          </p:nvPicPr>
          <p:blipFill>
            <a:blip r:embed="rId4"/>
            <a:stretch>
              <a:fillRect/>
            </a:stretch>
          </p:blipFill>
          <p:spPr>
            <a:xfrm>
              <a:off x="2989931" y="3447366"/>
              <a:ext cx="5792008" cy="952633"/>
            </a:xfrm>
            <a:prstGeom prst="rect">
              <a:avLst/>
            </a:prstGeom>
          </p:spPr>
        </p:pic>
      </p:grpSp>
      <p:pic>
        <p:nvPicPr>
          <p:cNvPr id="8" name="Picture 7"/>
          <p:cNvPicPr>
            <a:picLocks noChangeAspect="1"/>
          </p:cNvPicPr>
          <p:nvPr/>
        </p:nvPicPr>
        <p:blipFill>
          <a:blip r:embed="rId5"/>
          <a:stretch>
            <a:fillRect/>
          </a:stretch>
        </p:blipFill>
        <p:spPr>
          <a:xfrm>
            <a:off x="553972" y="450746"/>
            <a:ext cx="4587470" cy="525438"/>
          </a:xfrm>
          <a:prstGeom prst="rect">
            <a:avLst/>
          </a:prstGeom>
        </p:spPr>
      </p:pic>
      <p:sp>
        <p:nvSpPr>
          <p:cNvPr id="9" name="Right Arrow 8"/>
          <p:cNvSpPr/>
          <p:nvPr/>
        </p:nvSpPr>
        <p:spPr>
          <a:xfrm>
            <a:off x="1643449" y="3002692"/>
            <a:ext cx="593125" cy="691978"/>
          </a:xfrm>
          <a:prstGeom prst="rightArrow">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4884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11</a:t>
            </a:fld>
            <a:endParaRPr lang="en-US"/>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976385" y="0"/>
            <a:ext cx="6239232" cy="6858000"/>
          </a:xfrm>
          <a:prstGeom prst="rect">
            <a:avLst/>
          </a:prstGeom>
        </p:spPr>
      </p:pic>
      <p:sp>
        <p:nvSpPr>
          <p:cNvPr id="4" name="TextBox 3"/>
          <p:cNvSpPr txBox="1"/>
          <p:nvPr/>
        </p:nvSpPr>
        <p:spPr>
          <a:xfrm>
            <a:off x="605482" y="1309816"/>
            <a:ext cx="2792626" cy="461665"/>
          </a:xfrm>
          <a:prstGeom prst="rect">
            <a:avLst/>
          </a:prstGeom>
          <a:noFill/>
        </p:spPr>
        <p:txBody>
          <a:bodyPr wrap="square" rtlCol="0">
            <a:spAutoFit/>
          </a:bodyPr>
          <a:lstStyle/>
          <a:p>
            <a:r>
              <a:rPr lang="en-US" sz="2400" dirty="0">
                <a:solidFill>
                  <a:srgbClr val="FF0000"/>
                </a:solidFill>
              </a:rPr>
              <a:t>3 – Tier Architecture</a:t>
            </a:r>
          </a:p>
        </p:txBody>
      </p:sp>
    </p:spTree>
    <p:extLst>
      <p:ext uri="{BB962C8B-B14F-4D97-AF65-F5344CB8AC3E}">
        <p14:creationId xmlns:p14="http://schemas.microsoft.com/office/powerpoint/2010/main" val="2643696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12</a:t>
            </a:fld>
            <a:endParaRPr lang="en-US"/>
          </a:p>
        </p:txBody>
      </p:sp>
      <p:pic>
        <p:nvPicPr>
          <p:cNvPr id="3" name="Picture 2"/>
          <p:cNvPicPr>
            <a:picLocks noChangeAspect="1"/>
          </p:cNvPicPr>
          <p:nvPr/>
        </p:nvPicPr>
        <p:blipFill>
          <a:blip r:embed="rId2"/>
          <a:stretch>
            <a:fillRect/>
          </a:stretch>
        </p:blipFill>
        <p:spPr>
          <a:xfrm>
            <a:off x="537063" y="475459"/>
            <a:ext cx="5455808" cy="476011"/>
          </a:xfrm>
          <a:prstGeom prst="rect">
            <a:avLst/>
          </a:prstGeom>
        </p:spPr>
      </p:pic>
      <p:grpSp>
        <p:nvGrpSpPr>
          <p:cNvPr id="8" name="Group 7"/>
          <p:cNvGrpSpPr/>
          <p:nvPr/>
        </p:nvGrpSpPr>
        <p:grpSpPr>
          <a:xfrm>
            <a:off x="537063" y="1565209"/>
            <a:ext cx="11299283" cy="3451382"/>
            <a:chOff x="464226" y="1293360"/>
            <a:chExt cx="11299283" cy="3451382"/>
          </a:xfrm>
        </p:grpSpPr>
        <p:pic>
          <p:nvPicPr>
            <p:cNvPr id="4" name="Picture 3"/>
            <p:cNvPicPr>
              <a:picLocks noChangeAspect="1"/>
            </p:cNvPicPr>
            <p:nvPr/>
          </p:nvPicPr>
          <p:blipFill>
            <a:blip r:embed="rId3"/>
            <a:stretch>
              <a:fillRect/>
            </a:stretch>
          </p:blipFill>
          <p:spPr>
            <a:xfrm>
              <a:off x="464226" y="1293360"/>
              <a:ext cx="5601482" cy="1552792"/>
            </a:xfrm>
            <a:prstGeom prst="rect">
              <a:avLst/>
            </a:prstGeom>
          </p:spPr>
        </p:pic>
        <p:pic>
          <p:nvPicPr>
            <p:cNvPr id="5" name="Picture 4"/>
            <p:cNvPicPr>
              <a:picLocks noChangeAspect="1"/>
            </p:cNvPicPr>
            <p:nvPr/>
          </p:nvPicPr>
          <p:blipFill>
            <a:blip r:embed="rId4"/>
            <a:stretch>
              <a:fillRect/>
            </a:stretch>
          </p:blipFill>
          <p:spPr>
            <a:xfrm>
              <a:off x="464226" y="3010950"/>
              <a:ext cx="5563376" cy="1733792"/>
            </a:xfrm>
            <a:prstGeom prst="rect">
              <a:avLst/>
            </a:prstGeom>
          </p:spPr>
        </p:pic>
        <p:pic>
          <p:nvPicPr>
            <p:cNvPr id="6" name="Picture 5"/>
            <p:cNvPicPr>
              <a:picLocks noChangeAspect="1"/>
            </p:cNvPicPr>
            <p:nvPr/>
          </p:nvPicPr>
          <p:blipFill>
            <a:blip r:embed="rId5"/>
            <a:stretch>
              <a:fillRect/>
            </a:stretch>
          </p:blipFill>
          <p:spPr>
            <a:xfrm>
              <a:off x="6162027" y="1299538"/>
              <a:ext cx="5601482" cy="2200582"/>
            </a:xfrm>
            <a:prstGeom prst="rect">
              <a:avLst/>
            </a:prstGeom>
          </p:spPr>
        </p:pic>
        <p:pic>
          <p:nvPicPr>
            <p:cNvPr id="7" name="Picture 6"/>
            <p:cNvPicPr>
              <a:picLocks noChangeAspect="1"/>
            </p:cNvPicPr>
            <p:nvPr/>
          </p:nvPicPr>
          <p:blipFill>
            <a:blip r:embed="rId6"/>
            <a:stretch>
              <a:fillRect/>
            </a:stretch>
          </p:blipFill>
          <p:spPr>
            <a:xfrm>
              <a:off x="6162027" y="3527991"/>
              <a:ext cx="5582429" cy="990738"/>
            </a:xfrm>
            <a:prstGeom prst="rect">
              <a:avLst/>
            </a:prstGeom>
          </p:spPr>
        </p:pic>
      </p:grpSp>
    </p:spTree>
    <p:extLst>
      <p:ext uri="{BB962C8B-B14F-4D97-AF65-F5344CB8AC3E}">
        <p14:creationId xmlns:p14="http://schemas.microsoft.com/office/powerpoint/2010/main" val="621446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dirty="0"/>
              <a:t>Attack types can be grouped into three main categories: </a:t>
            </a:r>
            <a:r>
              <a:rPr lang="en-US" dirty="0" err="1"/>
              <a:t>inband</a:t>
            </a:r>
            <a:r>
              <a:rPr lang="en-US" dirty="0"/>
              <a:t>, inferential, and out-of-band. </a:t>
            </a:r>
          </a:p>
        </p:txBody>
      </p:sp>
      <p:sp>
        <p:nvSpPr>
          <p:cNvPr id="4" name="Content Placeholder 3"/>
          <p:cNvSpPr>
            <a:spLocks noGrp="1"/>
          </p:cNvSpPr>
          <p:nvPr>
            <p:ph idx="1"/>
          </p:nvPr>
        </p:nvSpPr>
        <p:spPr>
          <a:xfrm>
            <a:off x="838200" y="1825624"/>
            <a:ext cx="10515600" cy="4530726"/>
          </a:xfrm>
        </p:spPr>
        <p:txBody>
          <a:bodyPr>
            <a:normAutofit lnSpcReduction="10000"/>
          </a:bodyPr>
          <a:lstStyle/>
          <a:p>
            <a:r>
              <a:rPr lang="en-US" dirty="0"/>
              <a:t>An </a:t>
            </a:r>
            <a:r>
              <a:rPr lang="en-US" b="1" dirty="0">
                <a:solidFill>
                  <a:srgbClr val="FF0000"/>
                </a:solidFill>
              </a:rPr>
              <a:t>in-band</a:t>
            </a:r>
            <a:r>
              <a:rPr lang="en-US" dirty="0"/>
              <a:t> attack uses the same communication channel for injecting SQL code and retrieving results. The retrieved data are presented directly in the application webpage. </a:t>
            </a:r>
          </a:p>
          <a:p>
            <a:r>
              <a:rPr lang="en-US" dirty="0"/>
              <a:t>With an </a:t>
            </a:r>
            <a:r>
              <a:rPr lang="en-US" b="1" dirty="0">
                <a:solidFill>
                  <a:srgbClr val="FF0000"/>
                </a:solidFill>
              </a:rPr>
              <a:t>inferential attack</a:t>
            </a:r>
            <a:r>
              <a:rPr lang="en-US" dirty="0"/>
              <a:t>, there is no actual transfer of data, but the attacker is able to reconstruct the information by sending particular requests and observing the resulting behavior of the website / database server. </a:t>
            </a:r>
          </a:p>
          <a:p>
            <a:r>
              <a:rPr lang="en-US" dirty="0"/>
              <a:t>In an </a:t>
            </a:r>
            <a:r>
              <a:rPr lang="en-US" b="1" dirty="0">
                <a:solidFill>
                  <a:srgbClr val="FF0000"/>
                </a:solidFill>
              </a:rPr>
              <a:t>out-of-band attack</a:t>
            </a:r>
            <a:r>
              <a:rPr lang="en-US" dirty="0"/>
              <a:t>, data are retrieved using a different channel (e.g., an e-mail with the results of the query is generated and sent to the tester). This can be used when there are limitations on information retrieval, but outbound connectivity from the database server is lax. </a:t>
            </a:r>
          </a:p>
        </p:txBody>
      </p:sp>
      <p:sp>
        <p:nvSpPr>
          <p:cNvPr id="2" name="Slide Number Placeholder 1"/>
          <p:cNvSpPr>
            <a:spLocks noGrp="1"/>
          </p:cNvSpPr>
          <p:nvPr>
            <p:ph type="sldNum" sz="quarter" idx="12"/>
          </p:nvPr>
        </p:nvSpPr>
        <p:spPr/>
        <p:txBody>
          <a:bodyPr/>
          <a:lstStyle/>
          <a:p>
            <a:fld id="{A2A50C4D-0BA1-4E54-8DFC-01810EC97B99}" type="slidenum">
              <a:rPr lang="en-US" smtClean="0"/>
              <a:t>13</a:t>
            </a:fld>
            <a:endParaRPr lang="en-US"/>
          </a:p>
        </p:txBody>
      </p:sp>
    </p:spTree>
    <p:extLst>
      <p:ext uri="{BB962C8B-B14F-4D97-AF65-F5344CB8AC3E}">
        <p14:creationId xmlns:p14="http://schemas.microsoft.com/office/powerpoint/2010/main" val="2502788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14</a:t>
            </a:fld>
            <a:endParaRPr lang="en-US"/>
          </a:p>
        </p:txBody>
      </p:sp>
      <p:grpSp>
        <p:nvGrpSpPr>
          <p:cNvPr id="12" name="Group 11"/>
          <p:cNvGrpSpPr/>
          <p:nvPr/>
        </p:nvGrpSpPr>
        <p:grpSpPr>
          <a:xfrm>
            <a:off x="2223247" y="136525"/>
            <a:ext cx="7007251" cy="6584950"/>
            <a:chOff x="1659004" y="528005"/>
            <a:chExt cx="5799590" cy="5904441"/>
          </a:xfrm>
        </p:grpSpPr>
        <p:grpSp>
          <p:nvGrpSpPr>
            <p:cNvPr id="9" name="Group 8"/>
            <p:cNvGrpSpPr/>
            <p:nvPr/>
          </p:nvGrpSpPr>
          <p:grpSpPr>
            <a:xfrm>
              <a:off x="1659004" y="528005"/>
              <a:ext cx="5799590" cy="3809217"/>
              <a:chOff x="3205657" y="720736"/>
              <a:chExt cx="5830114" cy="3984033"/>
            </a:xfrm>
          </p:grpSpPr>
          <p:pic>
            <p:nvPicPr>
              <p:cNvPr id="4" name="Picture 3"/>
              <p:cNvPicPr>
                <a:picLocks noChangeAspect="1"/>
              </p:cNvPicPr>
              <p:nvPr/>
            </p:nvPicPr>
            <p:blipFill>
              <a:blip r:embed="rId2"/>
              <a:stretch>
                <a:fillRect/>
              </a:stretch>
            </p:blipFill>
            <p:spPr>
              <a:xfrm>
                <a:off x="3581049" y="1750614"/>
                <a:ext cx="5430008" cy="419158"/>
              </a:xfrm>
              <a:prstGeom prst="rect">
                <a:avLst/>
              </a:prstGeom>
            </p:spPr>
          </p:pic>
          <p:pic>
            <p:nvPicPr>
              <p:cNvPr id="3" name="Picture 2"/>
              <p:cNvPicPr>
                <a:picLocks noChangeAspect="1"/>
              </p:cNvPicPr>
              <p:nvPr/>
            </p:nvPicPr>
            <p:blipFill>
              <a:blip r:embed="rId3"/>
              <a:stretch>
                <a:fillRect/>
              </a:stretch>
            </p:blipFill>
            <p:spPr>
              <a:xfrm>
                <a:off x="3205657" y="720736"/>
                <a:ext cx="5830114" cy="1066949"/>
              </a:xfrm>
              <a:prstGeom prst="rect">
                <a:avLst/>
              </a:prstGeom>
            </p:spPr>
          </p:pic>
          <p:pic>
            <p:nvPicPr>
              <p:cNvPr id="5" name="Picture 4"/>
              <p:cNvPicPr>
                <a:picLocks noChangeAspect="1"/>
              </p:cNvPicPr>
              <p:nvPr/>
            </p:nvPicPr>
            <p:blipFill>
              <a:blip r:embed="rId4"/>
              <a:stretch>
                <a:fillRect/>
              </a:stretch>
            </p:blipFill>
            <p:spPr>
              <a:xfrm>
                <a:off x="3581049" y="2300935"/>
                <a:ext cx="3829584" cy="400106"/>
              </a:xfrm>
              <a:prstGeom prst="rect">
                <a:avLst/>
              </a:prstGeom>
            </p:spPr>
          </p:pic>
          <p:pic>
            <p:nvPicPr>
              <p:cNvPr id="6" name="Picture 5"/>
              <p:cNvPicPr>
                <a:picLocks noChangeAspect="1"/>
              </p:cNvPicPr>
              <p:nvPr/>
            </p:nvPicPr>
            <p:blipFill>
              <a:blip r:embed="rId5"/>
              <a:stretch>
                <a:fillRect/>
              </a:stretch>
            </p:blipFill>
            <p:spPr>
              <a:xfrm>
                <a:off x="3581049" y="2817563"/>
                <a:ext cx="5430008" cy="400106"/>
              </a:xfrm>
              <a:prstGeom prst="rect">
                <a:avLst/>
              </a:prstGeom>
            </p:spPr>
          </p:pic>
          <p:pic>
            <p:nvPicPr>
              <p:cNvPr id="7" name="Picture 6"/>
              <p:cNvPicPr>
                <a:picLocks noChangeAspect="1"/>
              </p:cNvPicPr>
              <p:nvPr/>
            </p:nvPicPr>
            <p:blipFill>
              <a:blip r:embed="rId6"/>
              <a:stretch>
                <a:fillRect/>
              </a:stretch>
            </p:blipFill>
            <p:spPr>
              <a:xfrm>
                <a:off x="3581049" y="3320579"/>
                <a:ext cx="5420481" cy="171474"/>
              </a:xfrm>
              <a:prstGeom prst="rect">
                <a:avLst/>
              </a:prstGeom>
            </p:spPr>
          </p:pic>
          <p:pic>
            <p:nvPicPr>
              <p:cNvPr id="8" name="Picture 7"/>
              <p:cNvPicPr>
                <a:picLocks noChangeAspect="1"/>
              </p:cNvPicPr>
              <p:nvPr/>
            </p:nvPicPr>
            <p:blipFill>
              <a:blip r:embed="rId7"/>
              <a:stretch>
                <a:fillRect/>
              </a:stretch>
            </p:blipFill>
            <p:spPr>
              <a:xfrm>
                <a:off x="3571522" y="3561609"/>
                <a:ext cx="5430008" cy="1143160"/>
              </a:xfrm>
              <a:prstGeom prst="rect">
                <a:avLst/>
              </a:prstGeom>
            </p:spPr>
          </p:pic>
        </p:grpSp>
        <p:pic>
          <p:nvPicPr>
            <p:cNvPr id="11" name="Picture 10"/>
            <p:cNvPicPr>
              <a:picLocks noChangeAspect="1"/>
            </p:cNvPicPr>
            <p:nvPr/>
          </p:nvPicPr>
          <p:blipFill>
            <a:blip r:embed="rId8"/>
            <a:stretch>
              <a:fillRect/>
            </a:stretch>
          </p:blipFill>
          <p:spPr>
            <a:xfrm>
              <a:off x="1866638" y="4441443"/>
              <a:ext cx="5591955" cy="1991003"/>
            </a:xfrm>
            <a:prstGeom prst="rect">
              <a:avLst/>
            </a:prstGeom>
          </p:spPr>
        </p:pic>
      </p:grpSp>
      <p:sp>
        <p:nvSpPr>
          <p:cNvPr id="13" name="Rectangle 12"/>
          <p:cNvSpPr/>
          <p:nvPr/>
        </p:nvSpPr>
        <p:spPr>
          <a:xfrm>
            <a:off x="2323070" y="185351"/>
            <a:ext cx="1532238" cy="1977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07140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15</a:t>
            </a:fld>
            <a:endParaRPr lang="en-US"/>
          </a:p>
        </p:txBody>
      </p:sp>
      <p:grpSp>
        <p:nvGrpSpPr>
          <p:cNvPr id="5" name="Group 4"/>
          <p:cNvGrpSpPr/>
          <p:nvPr/>
        </p:nvGrpSpPr>
        <p:grpSpPr>
          <a:xfrm>
            <a:off x="1566970" y="562388"/>
            <a:ext cx="8689137" cy="5702488"/>
            <a:chOff x="2913857" y="562389"/>
            <a:chExt cx="5820587" cy="3677164"/>
          </a:xfrm>
        </p:grpSpPr>
        <p:pic>
          <p:nvPicPr>
            <p:cNvPr id="3" name="Picture 2"/>
            <p:cNvPicPr>
              <a:picLocks noChangeAspect="1"/>
            </p:cNvPicPr>
            <p:nvPr/>
          </p:nvPicPr>
          <p:blipFill>
            <a:blip r:embed="rId2"/>
            <a:stretch>
              <a:fillRect/>
            </a:stretch>
          </p:blipFill>
          <p:spPr>
            <a:xfrm>
              <a:off x="2913857" y="562389"/>
              <a:ext cx="5820587" cy="3286584"/>
            </a:xfrm>
            <a:prstGeom prst="rect">
              <a:avLst/>
            </a:prstGeom>
          </p:spPr>
        </p:pic>
        <p:pic>
          <p:nvPicPr>
            <p:cNvPr id="4" name="Picture 3"/>
            <p:cNvPicPr>
              <a:picLocks noChangeAspect="1"/>
            </p:cNvPicPr>
            <p:nvPr/>
          </p:nvPicPr>
          <p:blipFill>
            <a:blip r:embed="rId3"/>
            <a:stretch>
              <a:fillRect/>
            </a:stretch>
          </p:blipFill>
          <p:spPr>
            <a:xfrm>
              <a:off x="3313963" y="3848973"/>
              <a:ext cx="5420481" cy="390580"/>
            </a:xfrm>
            <a:prstGeom prst="rect">
              <a:avLst/>
            </a:prstGeom>
          </p:spPr>
        </p:pic>
      </p:grpSp>
    </p:spTree>
    <p:extLst>
      <p:ext uri="{BB962C8B-B14F-4D97-AF65-F5344CB8AC3E}">
        <p14:creationId xmlns:p14="http://schemas.microsoft.com/office/powerpoint/2010/main" val="1652137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17838" y="365125"/>
            <a:ext cx="10948086" cy="845837"/>
          </a:xfrm>
        </p:spPr>
        <p:txBody>
          <a:bodyPr/>
          <a:lstStyle/>
          <a:p>
            <a:r>
              <a:rPr lang="en-US" dirty="0"/>
              <a:t>SQL Injection – Summary</a:t>
            </a:r>
          </a:p>
        </p:txBody>
      </p:sp>
      <p:sp>
        <p:nvSpPr>
          <p:cNvPr id="2" name="Slide Number Placeholder 1"/>
          <p:cNvSpPr>
            <a:spLocks noGrp="1"/>
          </p:cNvSpPr>
          <p:nvPr>
            <p:ph type="sldNum" sz="quarter" idx="12"/>
          </p:nvPr>
        </p:nvSpPr>
        <p:spPr/>
        <p:txBody>
          <a:bodyPr/>
          <a:lstStyle/>
          <a:p>
            <a:fld id="{A2A50C4D-0BA1-4E54-8DFC-01810EC97B99}" type="slidenum">
              <a:rPr lang="en-US" smtClean="0"/>
              <a:t>16</a:t>
            </a:fld>
            <a:endParaRPr lang="en-US"/>
          </a:p>
        </p:txBody>
      </p:sp>
      <p:pic>
        <p:nvPicPr>
          <p:cNvPr id="4" name="Picture 3"/>
          <p:cNvPicPr>
            <a:picLocks noChangeAspect="1"/>
          </p:cNvPicPr>
          <p:nvPr/>
        </p:nvPicPr>
        <p:blipFill>
          <a:blip r:embed="rId2">
            <a:duotone>
              <a:prstClr val="black"/>
              <a:schemeClr val="accent2">
                <a:tint val="45000"/>
                <a:satMod val="400000"/>
              </a:schemeClr>
            </a:duotone>
          </a:blip>
          <a:stretch>
            <a:fillRect/>
          </a:stretch>
        </p:blipFill>
        <p:spPr>
          <a:xfrm>
            <a:off x="617838" y="1309203"/>
            <a:ext cx="7575789" cy="3015049"/>
          </a:xfrm>
          <a:prstGeom prst="rect">
            <a:avLst/>
          </a:prstGeom>
        </p:spPr>
      </p:pic>
      <p:pic>
        <p:nvPicPr>
          <p:cNvPr id="5" name="Picture 4"/>
          <p:cNvPicPr>
            <a:picLocks noChangeAspect="1"/>
          </p:cNvPicPr>
          <p:nvPr/>
        </p:nvPicPr>
        <p:blipFill>
          <a:blip r:embed="rId3">
            <a:duotone>
              <a:prstClr val="black"/>
              <a:schemeClr val="accent4">
                <a:tint val="45000"/>
                <a:satMod val="400000"/>
              </a:schemeClr>
            </a:duotone>
          </a:blip>
          <a:stretch>
            <a:fillRect/>
          </a:stretch>
        </p:blipFill>
        <p:spPr>
          <a:xfrm>
            <a:off x="617838" y="4422493"/>
            <a:ext cx="9614810" cy="1933857"/>
          </a:xfrm>
          <a:prstGeom prst="rect">
            <a:avLst/>
          </a:prstGeom>
        </p:spPr>
      </p:pic>
    </p:spTree>
    <p:extLst>
      <p:ext uri="{BB962C8B-B14F-4D97-AF65-F5344CB8AC3E}">
        <p14:creationId xmlns:p14="http://schemas.microsoft.com/office/powerpoint/2010/main" val="16058273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17838" y="365125"/>
            <a:ext cx="10948086" cy="845837"/>
          </a:xfrm>
        </p:spPr>
        <p:txBody>
          <a:bodyPr/>
          <a:lstStyle/>
          <a:p>
            <a:r>
              <a:rPr lang="en-US" dirty="0"/>
              <a:t>SQL Injection – Summary</a:t>
            </a:r>
          </a:p>
        </p:txBody>
      </p:sp>
      <p:sp>
        <p:nvSpPr>
          <p:cNvPr id="2" name="Slide Number Placeholder 1"/>
          <p:cNvSpPr>
            <a:spLocks noGrp="1"/>
          </p:cNvSpPr>
          <p:nvPr>
            <p:ph type="sldNum" sz="quarter" idx="12"/>
          </p:nvPr>
        </p:nvSpPr>
        <p:spPr/>
        <p:txBody>
          <a:bodyPr/>
          <a:lstStyle/>
          <a:p>
            <a:fld id="{A2A50C4D-0BA1-4E54-8DFC-01810EC97B99}" type="slidenum">
              <a:rPr lang="en-US" smtClean="0"/>
              <a:t>17</a:t>
            </a:fld>
            <a:endParaRPr lang="en-US"/>
          </a:p>
        </p:txBody>
      </p:sp>
      <p:pic>
        <p:nvPicPr>
          <p:cNvPr id="6" name="Picture 5"/>
          <p:cNvPicPr>
            <a:picLocks noChangeAspect="1"/>
          </p:cNvPicPr>
          <p:nvPr/>
        </p:nvPicPr>
        <p:blipFill>
          <a:blip r:embed="rId2"/>
          <a:stretch>
            <a:fillRect/>
          </a:stretch>
        </p:blipFill>
        <p:spPr>
          <a:xfrm>
            <a:off x="620573" y="1564585"/>
            <a:ext cx="10671443" cy="1561674"/>
          </a:xfrm>
          <a:prstGeom prst="rect">
            <a:avLst/>
          </a:prstGeom>
        </p:spPr>
      </p:pic>
      <p:pic>
        <p:nvPicPr>
          <p:cNvPr id="7" name="Picture 6"/>
          <p:cNvPicPr>
            <a:picLocks noChangeAspect="1"/>
          </p:cNvPicPr>
          <p:nvPr/>
        </p:nvPicPr>
        <p:blipFill>
          <a:blip r:embed="rId3"/>
          <a:stretch>
            <a:fillRect/>
          </a:stretch>
        </p:blipFill>
        <p:spPr>
          <a:xfrm>
            <a:off x="531341" y="4299421"/>
            <a:ext cx="10645224" cy="1495897"/>
          </a:xfrm>
          <a:prstGeom prst="rect">
            <a:avLst/>
          </a:prstGeom>
        </p:spPr>
      </p:pic>
    </p:spTree>
    <p:extLst>
      <p:ext uri="{BB962C8B-B14F-4D97-AF65-F5344CB8AC3E}">
        <p14:creationId xmlns:p14="http://schemas.microsoft.com/office/powerpoint/2010/main" val="11599266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18</a:t>
            </a:fld>
            <a:endParaRPr lang="en-US"/>
          </a:p>
        </p:txBody>
      </p:sp>
      <p:pic>
        <p:nvPicPr>
          <p:cNvPr id="4" name="Picture 3"/>
          <p:cNvPicPr>
            <a:picLocks noChangeAspect="1"/>
          </p:cNvPicPr>
          <p:nvPr/>
        </p:nvPicPr>
        <p:blipFill>
          <a:blip r:embed="rId2"/>
          <a:stretch>
            <a:fillRect/>
          </a:stretch>
        </p:blipFill>
        <p:spPr>
          <a:xfrm>
            <a:off x="594010" y="438389"/>
            <a:ext cx="4467819" cy="537794"/>
          </a:xfrm>
          <a:prstGeom prst="rect">
            <a:avLst/>
          </a:prstGeom>
        </p:spPr>
      </p:pic>
      <p:pic>
        <p:nvPicPr>
          <p:cNvPr id="6" name="Picture 5"/>
          <p:cNvPicPr>
            <a:picLocks noChangeAspect="1"/>
          </p:cNvPicPr>
          <p:nvPr/>
        </p:nvPicPr>
        <p:blipFill>
          <a:blip r:embed="rId3"/>
          <a:stretch>
            <a:fillRect/>
          </a:stretch>
        </p:blipFill>
        <p:spPr>
          <a:xfrm>
            <a:off x="1969093" y="1210400"/>
            <a:ext cx="8013107" cy="5328512"/>
          </a:xfrm>
          <a:prstGeom prst="rect">
            <a:avLst/>
          </a:prstGeom>
        </p:spPr>
      </p:pic>
      <p:sp>
        <p:nvSpPr>
          <p:cNvPr id="7" name="TextBox 6"/>
          <p:cNvSpPr txBox="1"/>
          <p:nvPr/>
        </p:nvSpPr>
        <p:spPr>
          <a:xfrm>
            <a:off x="5118589" y="391408"/>
            <a:ext cx="857057" cy="584775"/>
          </a:xfrm>
          <a:prstGeom prst="rect">
            <a:avLst/>
          </a:prstGeom>
          <a:noFill/>
        </p:spPr>
        <p:txBody>
          <a:bodyPr wrap="square" rtlCol="0">
            <a:spAutoFit/>
          </a:bodyPr>
          <a:lstStyle/>
          <a:p>
            <a:r>
              <a:rPr lang="en-US" sz="3200" dirty="0"/>
              <a:t>(1)</a:t>
            </a:r>
          </a:p>
        </p:txBody>
      </p:sp>
    </p:spTree>
    <p:extLst>
      <p:ext uri="{BB962C8B-B14F-4D97-AF65-F5344CB8AC3E}">
        <p14:creationId xmlns:p14="http://schemas.microsoft.com/office/powerpoint/2010/main" val="17070161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19</a:t>
            </a:fld>
            <a:endParaRPr lang="en-US"/>
          </a:p>
        </p:txBody>
      </p:sp>
      <p:pic>
        <p:nvPicPr>
          <p:cNvPr id="4" name="Picture 3"/>
          <p:cNvPicPr>
            <a:picLocks noChangeAspect="1"/>
          </p:cNvPicPr>
          <p:nvPr/>
        </p:nvPicPr>
        <p:blipFill>
          <a:blip r:embed="rId2"/>
          <a:stretch>
            <a:fillRect/>
          </a:stretch>
        </p:blipFill>
        <p:spPr>
          <a:xfrm>
            <a:off x="594010" y="438389"/>
            <a:ext cx="4467819" cy="537794"/>
          </a:xfrm>
          <a:prstGeom prst="rect">
            <a:avLst/>
          </a:prstGeom>
        </p:spPr>
      </p:pic>
      <p:grpSp>
        <p:nvGrpSpPr>
          <p:cNvPr id="7" name="Group 6"/>
          <p:cNvGrpSpPr/>
          <p:nvPr/>
        </p:nvGrpSpPr>
        <p:grpSpPr>
          <a:xfrm>
            <a:off x="1483696" y="1221427"/>
            <a:ext cx="8945406" cy="4734530"/>
            <a:chOff x="3009118" y="1196714"/>
            <a:chExt cx="5601482" cy="2486372"/>
          </a:xfrm>
        </p:grpSpPr>
        <p:pic>
          <p:nvPicPr>
            <p:cNvPr id="3" name="Picture 2"/>
            <p:cNvPicPr>
              <a:picLocks noChangeAspect="1"/>
            </p:cNvPicPr>
            <p:nvPr/>
          </p:nvPicPr>
          <p:blipFill>
            <a:blip r:embed="rId3"/>
            <a:stretch>
              <a:fillRect/>
            </a:stretch>
          </p:blipFill>
          <p:spPr>
            <a:xfrm>
              <a:off x="3009118" y="1196714"/>
              <a:ext cx="5601482" cy="1276528"/>
            </a:xfrm>
            <a:prstGeom prst="rect">
              <a:avLst/>
            </a:prstGeom>
          </p:spPr>
        </p:pic>
        <p:pic>
          <p:nvPicPr>
            <p:cNvPr id="5" name="Picture 4"/>
            <p:cNvPicPr>
              <a:picLocks noChangeAspect="1"/>
            </p:cNvPicPr>
            <p:nvPr/>
          </p:nvPicPr>
          <p:blipFill>
            <a:blip r:embed="rId4"/>
            <a:stretch>
              <a:fillRect/>
            </a:stretch>
          </p:blipFill>
          <p:spPr>
            <a:xfrm>
              <a:off x="3056750" y="2473242"/>
              <a:ext cx="5553850" cy="1209844"/>
            </a:xfrm>
            <a:prstGeom prst="rect">
              <a:avLst/>
            </a:prstGeom>
          </p:spPr>
        </p:pic>
      </p:grpSp>
      <p:sp>
        <p:nvSpPr>
          <p:cNvPr id="8" name="TextBox 7"/>
          <p:cNvSpPr txBox="1"/>
          <p:nvPr/>
        </p:nvSpPr>
        <p:spPr>
          <a:xfrm>
            <a:off x="5118589" y="391408"/>
            <a:ext cx="857057" cy="584775"/>
          </a:xfrm>
          <a:prstGeom prst="rect">
            <a:avLst/>
          </a:prstGeom>
          <a:noFill/>
        </p:spPr>
        <p:txBody>
          <a:bodyPr wrap="square" rtlCol="0">
            <a:spAutoFit/>
          </a:bodyPr>
          <a:lstStyle/>
          <a:p>
            <a:r>
              <a:rPr lang="en-US" sz="3200" dirty="0"/>
              <a:t>(2)</a:t>
            </a:r>
          </a:p>
        </p:txBody>
      </p:sp>
    </p:spTree>
    <p:extLst>
      <p:ext uri="{BB962C8B-B14F-4D97-AF65-F5344CB8AC3E}">
        <p14:creationId xmlns:p14="http://schemas.microsoft.com/office/powerpoint/2010/main" val="2440105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838200" y="1135343"/>
            <a:ext cx="10515600" cy="4351338"/>
          </a:xfrm>
        </p:spPr>
        <p:txBody>
          <a:bodyPr>
            <a:normAutofit lnSpcReduction="10000"/>
          </a:bodyPr>
          <a:lstStyle/>
          <a:p>
            <a:r>
              <a:rPr lang="en-US" dirty="0"/>
              <a:t>Database Access Control (Section 5.6)</a:t>
            </a:r>
          </a:p>
          <a:p>
            <a:pPr lvl="1"/>
            <a:r>
              <a:rPr lang="en-US" dirty="0"/>
              <a:t>Grant command</a:t>
            </a:r>
          </a:p>
          <a:p>
            <a:pPr lvl="1"/>
            <a:r>
              <a:rPr lang="en-US" dirty="0"/>
              <a:t>Revoke command</a:t>
            </a:r>
          </a:p>
          <a:p>
            <a:r>
              <a:rPr lang="en-US" dirty="0"/>
              <a:t>Discretionary vs Role-based Access control in databases</a:t>
            </a:r>
          </a:p>
          <a:p>
            <a:r>
              <a:rPr lang="en-US" dirty="0"/>
              <a:t>Fixed Roles in Microsoft SQL Server</a:t>
            </a:r>
          </a:p>
          <a:p>
            <a:r>
              <a:rPr lang="en-US" dirty="0"/>
              <a:t>Cascading Authorizations</a:t>
            </a:r>
          </a:p>
          <a:p>
            <a:endParaRPr lang="en-US" dirty="0"/>
          </a:p>
          <a:p>
            <a:r>
              <a:rPr lang="en-US" dirty="0"/>
              <a:t>Disclosure of database information through Inference (Section 5.7)</a:t>
            </a:r>
          </a:p>
          <a:p>
            <a:pPr lvl="1"/>
            <a:r>
              <a:rPr lang="en-US" dirty="0"/>
              <a:t>Understanding Inference</a:t>
            </a:r>
          </a:p>
          <a:p>
            <a:r>
              <a:rPr lang="en-US" dirty="0">
                <a:solidFill>
                  <a:srgbClr val="FF0000"/>
                </a:solidFill>
              </a:rPr>
              <a:t>Case for Inference: Employee Schema </a:t>
            </a:r>
          </a:p>
          <a:p>
            <a:pPr lvl="1"/>
            <a:endParaRPr lang="en-US" dirty="0"/>
          </a:p>
          <a:p>
            <a:endParaRPr lang="en-US" dirty="0"/>
          </a:p>
          <a:p>
            <a:endParaRPr lang="en-US" dirty="0"/>
          </a:p>
        </p:txBody>
      </p:sp>
      <p:sp>
        <p:nvSpPr>
          <p:cNvPr id="2" name="Slide Number Placeholder 1"/>
          <p:cNvSpPr>
            <a:spLocks noGrp="1"/>
          </p:cNvSpPr>
          <p:nvPr>
            <p:ph type="sldNum" sz="quarter" idx="12"/>
          </p:nvPr>
        </p:nvSpPr>
        <p:spPr/>
        <p:txBody>
          <a:bodyPr/>
          <a:lstStyle/>
          <a:p>
            <a:fld id="{A2A50C4D-0BA1-4E54-8DFC-01810EC97B99}" type="slidenum">
              <a:rPr lang="en-US" smtClean="0"/>
              <a:t>20</a:t>
            </a:fld>
            <a:endParaRPr lang="en-US"/>
          </a:p>
        </p:txBody>
      </p:sp>
    </p:spTree>
    <p:extLst>
      <p:ext uri="{BB962C8B-B14F-4D97-AF65-F5344CB8AC3E}">
        <p14:creationId xmlns:p14="http://schemas.microsoft.com/office/powerpoint/2010/main" val="919585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21</a:t>
            </a:fld>
            <a:endParaRPr lang="en-US"/>
          </a:p>
        </p:txBody>
      </p:sp>
      <p:pic>
        <p:nvPicPr>
          <p:cNvPr id="5" name="Picture 4"/>
          <p:cNvPicPr>
            <a:picLocks noChangeAspect="1"/>
          </p:cNvPicPr>
          <p:nvPr/>
        </p:nvPicPr>
        <p:blipFill>
          <a:blip r:embed="rId2"/>
          <a:stretch>
            <a:fillRect/>
          </a:stretch>
        </p:blipFill>
        <p:spPr>
          <a:xfrm>
            <a:off x="643330" y="478153"/>
            <a:ext cx="9766356" cy="522743"/>
          </a:xfrm>
          <a:prstGeom prst="rect">
            <a:avLst/>
          </a:prstGeom>
        </p:spPr>
      </p:pic>
      <p:pic>
        <p:nvPicPr>
          <p:cNvPr id="6" name="Picture 5"/>
          <p:cNvPicPr>
            <a:picLocks noChangeAspect="1"/>
          </p:cNvPicPr>
          <p:nvPr/>
        </p:nvPicPr>
        <p:blipFill>
          <a:blip r:embed="rId3"/>
          <a:stretch>
            <a:fillRect/>
          </a:stretch>
        </p:blipFill>
        <p:spPr>
          <a:xfrm>
            <a:off x="1593609" y="1163575"/>
            <a:ext cx="7865797" cy="5375337"/>
          </a:xfrm>
          <a:prstGeom prst="rect">
            <a:avLst/>
          </a:prstGeom>
        </p:spPr>
      </p:pic>
      <p:sp>
        <p:nvSpPr>
          <p:cNvPr id="7" name="Rectangle 6"/>
          <p:cNvSpPr/>
          <p:nvPr/>
        </p:nvSpPr>
        <p:spPr>
          <a:xfrm>
            <a:off x="1593609" y="1163575"/>
            <a:ext cx="1075450" cy="2821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60271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22</a:t>
            </a:fld>
            <a:endParaRPr lang="en-US"/>
          </a:p>
        </p:txBody>
      </p:sp>
      <p:sp>
        <p:nvSpPr>
          <p:cNvPr id="7" name="Rectangle 6"/>
          <p:cNvSpPr/>
          <p:nvPr/>
        </p:nvSpPr>
        <p:spPr>
          <a:xfrm>
            <a:off x="1593609" y="1163575"/>
            <a:ext cx="1075450" cy="2821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2"/>
          <a:stretch>
            <a:fillRect/>
          </a:stretch>
        </p:blipFill>
        <p:spPr>
          <a:xfrm>
            <a:off x="652900" y="492579"/>
            <a:ext cx="4770892" cy="384749"/>
          </a:xfrm>
          <a:prstGeom prst="rect">
            <a:avLst/>
          </a:prstGeom>
        </p:spPr>
      </p:pic>
      <p:pic>
        <p:nvPicPr>
          <p:cNvPr id="8" name="Picture 7"/>
          <p:cNvPicPr>
            <a:picLocks noChangeAspect="1"/>
          </p:cNvPicPr>
          <p:nvPr/>
        </p:nvPicPr>
        <p:blipFill>
          <a:blip r:embed="rId3"/>
          <a:stretch>
            <a:fillRect/>
          </a:stretch>
        </p:blipFill>
        <p:spPr>
          <a:xfrm>
            <a:off x="652900" y="1304658"/>
            <a:ext cx="4991797" cy="1886213"/>
          </a:xfrm>
          <a:prstGeom prst="rect">
            <a:avLst/>
          </a:prstGeom>
        </p:spPr>
      </p:pic>
      <p:pic>
        <p:nvPicPr>
          <p:cNvPr id="9" name="Picture 8"/>
          <p:cNvPicPr>
            <a:picLocks noChangeAspect="1"/>
          </p:cNvPicPr>
          <p:nvPr/>
        </p:nvPicPr>
        <p:blipFill>
          <a:blip r:embed="rId4"/>
          <a:stretch>
            <a:fillRect/>
          </a:stretch>
        </p:blipFill>
        <p:spPr>
          <a:xfrm>
            <a:off x="6792560" y="1304658"/>
            <a:ext cx="4439270" cy="1267002"/>
          </a:xfrm>
          <a:prstGeom prst="rect">
            <a:avLst/>
          </a:prstGeom>
        </p:spPr>
      </p:pic>
      <p:pic>
        <p:nvPicPr>
          <p:cNvPr id="10" name="Picture 9"/>
          <p:cNvPicPr>
            <a:picLocks noChangeAspect="1"/>
          </p:cNvPicPr>
          <p:nvPr/>
        </p:nvPicPr>
        <p:blipFill>
          <a:blip r:embed="rId5"/>
          <a:stretch>
            <a:fillRect/>
          </a:stretch>
        </p:blipFill>
        <p:spPr>
          <a:xfrm>
            <a:off x="483025" y="4104490"/>
            <a:ext cx="5596500" cy="1752020"/>
          </a:xfrm>
          <a:prstGeom prst="rect">
            <a:avLst/>
          </a:prstGeom>
        </p:spPr>
      </p:pic>
      <p:sp>
        <p:nvSpPr>
          <p:cNvPr id="5" name="TextBox 4">
            <a:extLst>
              <a:ext uri="{FF2B5EF4-FFF2-40B4-BE49-F238E27FC236}">
                <a16:creationId xmlns:a16="http://schemas.microsoft.com/office/drawing/2014/main" id="{EBF08F98-B846-784E-EC22-109540F4B558}"/>
              </a:ext>
            </a:extLst>
          </p:cNvPr>
          <p:cNvSpPr txBox="1"/>
          <p:nvPr/>
        </p:nvSpPr>
        <p:spPr>
          <a:xfrm>
            <a:off x="3567953" y="6012278"/>
            <a:ext cx="5378823" cy="369332"/>
          </a:xfrm>
          <a:prstGeom prst="rect">
            <a:avLst/>
          </a:prstGeom>
          <a:noFill/>
        </p:spPr>
        <p:txBody>
          <a:bodyPr wrap="square">
            <a:spAutoFit/>
          </a:bodyPr>
          <a:lstStyle/>
          <a:p>
            <a:r>
              <a:rPr lang="en-US" dirty="0"/>
              <a:t>Example: G</a:t>
            </a:r>
            <a:r>
              <a:rPr lang="en-PK" dirty="0"/>
              <a:t>rant </a:t>
            </a:r>
            <a:r>
              <a:rPr lang="en-US" dirty="0"/>
              <a:t>S</a:t>
            </a:r>
            <a:r>
              <a:rPr lang="en-PK" dirty="0"/>
              <a:t>elect </a:t>
            </a:r>
            <a:r>
              <a:rPr lang="en-US" dirty="0"/>
              <a:t>O</a:t>
            </a:r>
            <a:r>
              <a:rPr lang="en-PK" dirty="0"/>
              <a:t>n any table </a:t>
            </a:r>
            <a:r>
              <a:rPr lang="en-US" dirty="0"/>
              <a:t>T</a:t>
            </a:r>
            <a:r>
              <a:rPr lang="en-PK" dirty="0"/>
              <a:t>o ALICE</a:t>
            </a:r>
          </a:p>
        </p:txBody>
      </p:sp>
    </p:spTree>
    <p:extLst>
      <p:ext uri="{BB962C8B-B14F-4D97-AF65-F5344CB8AC3E}">
        <p14:creationId xmlns:p14="http://schemas.microsoft.com/office/powerpoint/2010/main" val="2583427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23</a:t>
            </a:fld>
            <a:endParaRPr lang="en-US"/>
          </a:p>
        </p:txBody>
      </p:sp>
      <p:pic>
        <p:nvPicPr>
          <p:cNvPr id="3" name="Picture 2"/>
          <p:cNvPicPr>
            <a:picLocks noChangeAspect="1"/>
          </p:cNvPicPr>
          <p:nvPr/>
        </p:nvPicPr>
        <p:blipFill>
          <a:blip r:embed="rId2"/>
          <a:stretch>
            <a:fillRect/>
          </a:stretch>
        </p:blipFill>
        <p:spPr>
          <a:xfrm>
            <a:off x="534737" y="1235378"/>
            <a:ext cx="10978116" cy="3979173"/>
          </a:xfrm>
          <a:prstGeom prst="rect">
            <a:avLst/>
          </a:prstGeom>
        </p:spPr>
      </p:pic>
    </p:spTree>
    <p:extLst>
      <p:ext uri="{BB962C8B-B14F-4D97-AF65-F5344CB8AC3E}">
        <p14:creationId xmlns:p14="http://schemas.microsoft.com/office/powerpoint/2010/main" val="41405601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36056" y="1235676"/>
            <a:ext cx="10942226" cy="3585647"/>
          </a:xfrm>
        </p:spPr>
        <p:txBody>
          <a:bodyPr>
            <a:normAutofit fontScale="92500" lnSpcReduction="20000"/>
          </a:bodyPr>
          <a:lstStyle/>
          <a:p>
            <a:r>
              <a:rPr lang="en-US" dirty="0"/>
              <a:t>A role-based access control (RBAC) scheme is a natural fit for database access control. </a:t>
            </a:r>
          </a:p>
          <a:p>
            <a:r>
              <a:rPr lang="en-US" dirty="0"/>
              <a:t>Unlike a file system associated with a single or a few applications, a database system often supports dozens of applications. </a:t>
            </a:r>
          </a:p>
          <a:p>
            <a:r>
              <a:rPr lang="en-US" dirty="0"/>
              <a:t>In such an environment, an individual user may use a variety of applications to perform a variety of tasks, each of which requires its own set of privileges. </a:t>
            </a:r>
          </a:p>
          <a:p>
            <a:r>
              <a:rPr lang="en-US" dirty="0"/>
              <a:t>It would be poor administrative practice to simply grant users all of the access rights they require for all the tasks they perform. </a:t>
            </a:r>
          </a:p>
          <a:p>
            <a:r>
              <a:rPr lang="en-US" dirty="0">
                <a:solidFill>
                  <a:srgbClr val="FF0000"/>
                </a:solidFill>
              </a:rPr>
              <a:t>RBAC provides a means of easing the administrative burden and improving security. </a:t>
            </a:r>
          </a:p>
        </p:txBody>
      </p:sp>
      <p:sp>
        <p:nvSpPr>
          <p:cNvPr id="2" name="Slide Number Placeholder 1"/>
          <p:cNvSpPr>
            <a:spLocks noGrp="1"/>
          </p:cNvSpPr>
          <p:nvPr>
            <p:ph type="sldNum" sz="quarter" idx="12"/>
          </p:nvPr>
        </p:nvSpPr>
        <p:spPr/>
        <p:txBody>
          <a:bodyPr/>
          <a:lstStyle/>
          <a:p>
            <a:fld id="{A2A50C4D-0BA1-4E54-8DFC-01810EC97B99}" type="slidenum">
              <a:rPr lang="en-US" smtClean="0"/>
              <a:t>24</a:t>
            </a:fld>
            <a:endParaRPr lang="en-US"/>
          </a:p>
        </p:txBody>
      </p:sp>
      <p:pic>
        <p:nvPicPr>
          <p:cNvPr id="3" name="Picture 2"/>
          <p:cNvPicPr>
            <a:picLocks noChangeAspect="1"/>
          </p:cNvPicPr>
          <p:nvPr/>
        </p:nvPicPr>
        <p:blipFill>
          <a:blip r:embed="rId2"/>
          <a:stretch>
            <a:fillRect/>
          </a:stretch>
        </p:blipFill>
        <p:spPr>
          <a:xfrm>
            <a:off x="734910" y="537243"/>
            <a:ext cx="5653534" cy="515762"/>
          </a:xfrm>
          <a:prstGeom prst="rect">
            <a:avLst/>
          </a:prstGeom>
        </p:spPr>
      </p:pic>
      <p:pic>
        <p:nvPicPr>
          <p:cNvPr id="6" name="Picture 5"/>
          <p:cNvPicPr>
            <a:picLocks noChangeAspect="1"/>
          </p:cNvPicPr>
          <p:nvPr/>
        </p:nvPicPr>
        <p:blipFill>
          <a:blip r:embed="rId3">
            <a:duotone>
              <a:prstClr val="black"/>
              <a:schemeClr val="accent4">
                <a:tint val="45000"/>
                <a:satMod val="400000"/>
              </a:schemeClr>
            </a:duotone>
          </a:blip>
          <a:stretch>
            <a:fillRect/>
          </a:stretch>
        </p:blipFill>
        <p:spPr>
          <a:xfrm>
            <a:off x="2621518" y="4549474"/>
            <a:ext cx="8732282" cy="1717589"/>
          </a:xfrm>
          <a:prstGeom prst="rect">
            <a:avLst/>
          </a:prstGeom>
        </p:spPr>
      </p:pic>
    </p:spTree>
    <p:extLst>
      <p:ext uri="{BB962C8B-B14F-4D97-AF65-F5344CB8AC3E}">
        <p14:creationId xmlns:p14="http://schemas.microsoft.com/office/powerpoint/2010/main" val="42735464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25</a:t>
            </a:fld>
            <a:endParaRPr lang="en-US"/>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925596" y="0"/>
            <a:ext cx="8330512" cy="6849533"/>
          </a:xfrm>
          <a:prstGeom prst="rect">
            <a:avLst/>
          </a:prstGeom>
        </p:spPr>
      </p:pic>
    </p:spTree>
    <p:extLst>
      <p:ext uri="{BB962C8B-B14F-4D97-AF65-F5344CB8AC3E}">
        <p14:creationId xmlns:p14="http://schemas.microsoft.com/office/powerpoint/2010/main" val="3447944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26</a:t>
            </a:fld>
            <a:endParaRPr lang="en-US"/>
          </a:p>
        </p:txBody>
      </p:sp>
      <p:pic>
        <p:nvPicPr>
          <p:cNvPr id="3" name="Picture 2"/>
          <p:cNvPicPr>
            <a:picLocks noChangeAspect="1"/>
          </p:cNvPicPr>
          <p:nvPr/>
        </p:nvPicPr>
        <p:blipFill>
          <a:blip r:embed="rId2"/>
          <a:stretch>
            <a:fillRect/>
          </a:stretch>
        </p:blipFill>
        <p:spPr>
          <a:xfrm>
            <a:off x="554047" y="470126"/>
            <a:ext cx="4535640" cy="443704"/>
          </a:xfrm>
          <a:prstGeom prst="rect">
            <a:avLst/>
          </a:prstGeom>
        </p:spPr>
      </p:pic>
      <p:pic>
        <p:nvPicPr>
          <p:cNvPr id="5" name="Picture 4"/>
          <p:cNvPicPr>
            <a:picLocks noChangeAspect="1"/>
          </p:cNvPicPr>
          <p:nvPr/>
        </p:nvPicPr>
        <p:blipFill>
          <a:blip r:embed="rId3"/>
          <a:stretch>
            <a:fillRect/>
          </a:stretch>
        </p:blipFill>
        <p:spPr>
          <a:xfrm>
            <a:off x="418118" y="1152188"/>
            <a:ext cx="7601306" cy="5204162"/>
          </a:xfrm>
          <a:prstGeom prst="rect">
            <a:avLst/>
          </a:prstGeom>
        </p:spPr>
      </p:pic>
      <p:pic>
        <p:nvPicPr>
          <p:cNvPr id="6" name="Picture 5"/>
          <p:cNvPicPr>
            <a:picLocks noChangeAspect="1"/>
          </p:cNvPicPr>
          <p:nvPr/>
        </p:nvPicPr>
        <p:blipFill>
          <a:blip r:embed="rId4">
            <a:duotone>
              <a:prstClr val="black"/>
              <a:schemeClr val="accent4">
                <a:tint val="45000"/>
                <a:satMod val="400000"/>
              </a:schemeClr>
            </a:duotone>
          </a:blip>
          <a:stretch>
            <a:fillRect/>
          </a:stretch>
        </p:blipFill>
        <p:spPr>
          <a:xfrm>
            <a:off x="4939043" y="2501795"/>
            <a:ext cx="6630325" cy="1105054"/>
          </a:xfrm>
          <a:prstGeom prst="rect">
            <a:avLst/>
          </a:prstGeom>
        </p:spPr>
      </p:pic>
      <p:sp>
        <p:nvSpPr>
          <p:cNvPr id="7" name="Rectangle 6"/>
          <p:cNvSpPr/>
          <p:nvPr/>
        </p:nvSpPr>
        <p:spPr>
          <a:xfrm>
            <a:off x="6240161" y="3934610"/>
            <a:ext cx="5671751" cy="2246769"/>
          </a:xfrm>
          <a:prstGeom prst="rect">
            <a:avLst/>
          </a:prstGeom>
          <a:solidFill>
            <a:schemeClr val="accent2">
              <a:lumMod val="40000"/>
              <a:lumOff val="60000"/>
            </a:schemeClr>
          </a:solidFill>
        </p:spPr>
        <p:txBody>
          <a:bodyPr wrap="square">
            <a:spAutoFit/>
          </a:bodyPr>
          <a:lstStyle/>
          <a:p>
            <a:pPr marL="285750" indent="-285750">
              <a:buFont typeface="Arial" panose="020B0604020202020204" pitchFamily="34" charset="0"/>
              <a:buChar char="•"/>
            </a:pPr>
            <a:r>
              <a:rPr lang="en-US" sz="1400" dirty="0">
                <a:solidFill>
                  <a:srgbClr val="242021"/>
                </a:solidFill>
                <a:latin typeface="TimesTenLTStd-Roman"/>
              </a:rPr>
              <a:t>Suppose Bob revokes the privilege from David. David still has the access right because it was granted by Chris at </a:t>
            </a:r>
            <a:r>
              <a:rPr lang="en-US" sz="1400" i="1" dirty="0">
                <a:solidFill>
                  <a:srgbClr val="242021"/>
                </a:solidFill>
                <a:latin typeface="TimesTenLTStd-Italic"/>
              </a:rPr>
              <a:t>t </a:t>
            </a:r>
            <a:r>
              <a:rPr lang="en-US" sz="1400" dirty="0">
                <a:solidFill>
                  <a:srgbClr val="242021"/>
                </a:solidFill>
                <a:latin typeface="PearsonMATHPRO08"/>
              </a:rPr>
              <a:t>= </a:t>
            </a:r>
            <a:r>
              <a:rPr lang="en-US" sz="1400" dirty="0">
                <a:solidFill>
                  <a:srgbClr val="242021"/>
                </a:solidFill>
                <a:latin typeface="TimesTenLTStd-Roman"/>
              </a:rPr>
              <a:t>50.</a:t>
            </a:r>
          </a:p>
          <a:p>
            <a:pPr marL="285750" indent="-285750">
              <a:buFont typeface="Arial" panose="020B0604020202020204" pitchFamily="34" charset="0"/>
              <a:buChar char="•"/>
            </a:pPr>
            <a:endParaRPr lang="en-US" sz="1400" dirty="0">
              <a:solidFill>
                <a:srgbClr val="242021"/>
              </a:solidFill>
              <a:latin typeface="TimesTenLTStd-Roman"/>
            </a:endParaRPr>
          </a:p>
          <a:p>
            <a:pPr marL="285750" indent="-285750">
              <a:buFont typeface="Arial" panose="020B0604020202020204" pitchFamily="34" charset="0"/>
              <a:buChar char="•"/>
            </a:pPr>
            <a:r>
              <a:rPr lang="en-US" sz="1400" dirty="0">
                <a:solidFill>
                  <a:srgbClr val="242021"/>
                </a:solidFill>
                <a:latin typeface="TimesTenLTStd-Roman"/>
              </a:rPr>
              <a:t>The access rights to Ellen and Jim is revoked when Bob revokes the access right to David. </a:t>
            </a:r>
          </a:p>
          <a:p>
            <a:pPr marL="285750" indent="-285750">
              <a:buFont typeface="Arial" panose="020B0604020202020204" pitchFamily="34" charset="0"/>
              <a:buChar char="•"/>
            </a:pPr>
            <a:endParaRPr lang="en-US" sz="1400" dirty="0">
              <a:solidFill>
                <a:srgbClr val="242021"/>
              </a:solidFill>
              <a:latin typeface="TimesTenLTStd-Roman"/>
            </a:endParaRPr>
          </a:p>
          <a:p>
            <a:pPr marL="285750" indent="-285750">
              <a:buFont typeface="Arial" panose="020B0604020202020204" pitchFamily="34" charset="0"/>
              <a:buChar char="•"/>
            </a:pPr>
            <a:r>
              <a:rPr lang="en-US" sz="1400" b="1" dirty="0">
                <a:solidFill>
                  <a:srgbClr val="FF0000"/>
                </a:solidFill>
                <a:latin typeface="TimesTenLTStd-Roman"/>
              </a:rPr>
              <a:t>Why?</a:t>
            </a:r>
            <a:r>
              <a:rPr lang="en-US" sz="1400" dirty="0">
                <a:solidFill>
                  <a:srgbClr val="242021"/>
                </a:solidFill>
                <a:latin typeface="TimesTenLTStd-Roman"/>
              </a:rPr>
              <a:t> This is because at </a:t>
            </a:r>
            <a:r>
              <a:rPr lang="en-US" sz="1400" i="1" dirty="0">
                <a:solidFill>
                  <a:srgbClr val="242021"/>
                </a:solidFill>
                <a:latin typeface="TimesTenLTStd-Italic"/>
              </a:rPr>
              <a:t>t </a:t>
            </a:r>
            <a:r>
              <a:rPr lang="en-US" sz="1400" dirty="0">
                <a:solidFill>
                  <a:srgbClr val="242021"/>
                </a:solidFill>
                <a:latin typeface="PearsonMATHPRO08"/>
              </a:rPr>
              <a:t>= </a:t>
            </a:r>
            <a:r>
              <a:rPr lang="en-US" sz="1400" dirty="0">
                <a:solidFill>
                  <a:srgbClr val="242021"/>
                </a:solidFill>
                <a:latin typeface="TimesTenLTStd-Roman"/>
              </a:rPr>
              <a:t>40, when David granted the access right to Ellen, David only had the grant option to do this from Bob. When Bob revokes the right, this causes all subsequent cascaded grants that are traceable solely to Bob via David to be revoked. </a:t>
            </a:r>
            <a:endParaRPr lang="en-US" sz="1400" dirty="0"/>
          </a:p>
        </p:txBody>
      </p:sp>
      <p:sp>
        <p:nvSpPr>
          <p:cNvPr id="8" name="Right Arrow 7"/>
          <p:cNvSpPr/>
          <p:nvPr/>
        </p:nvSpPr>
        <p:spPr>
          <a:xfrm rot="499046">
            <a:off x="4981384" y="5249295"/>
            <a:ext cx="1189908" cy="457200"/>
          </a:xfrm>
          <a:prstGeom prst="rightArrow">
            <a:avLst/>
          </a:prstGeom>
          <a:solidFill>
            <a:srgbClr val="FF0000"/>
          </a:solid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358494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481914" y="1383957"/>
            <a:ext cx="6524368" cy="4793006"/>
          </a:xfrm>
        </p:spPr>
        <p:txBody>
          <a:bodyPr>
            <a:normAutofit fontScale="77500" lnSpcReduction="20000"/>
          </a:bodyPr>
          <a:lstStyle/>
          <a:p>
            <a:r>
              <a:rPr lang="en-US" dirty="0"/>
              <a:t>Inference, as it relates to database security, is the process of performing authorized queries and deducing unauthorized information from the legitimate responses received. </a:t>
            </a:r>
          </a:p>
          <a:p>
            <a:r>
              <a:rPr lang="en-US" dirty="0"/>
              <a:t>The inference problem arises when the combination of a number of data items is more sensitive than the individual items, or when a combination of data items can be used to infer data of higher sensitivity. </a:t>
            </a:r>
          </a:p>
          <a:p>
            <a:r>
              <a:rPr lang="en-US" dirty="0"/>
              <a:t>Figure 5.7 illustrates the process. The attacker may make use of non sensitive data as well as metadata. The information transfer path by which unauthorized data is obtained is referred to as an </a:t>
            </a:r>
            <a:r>
              <a:rPr lang="en-US" b="1" dirty="0"/>
              <a:t>inference channel</a:t>
            </a:r>
            <a:r>
              <a:rPr lang="en-US" dirty="0"/>
              <a:t>.</a:t>
            </a:r>
          </a:p>
          <a:p>
            <a:r>
              <a:rPr lang="en-US" dirty="0">
                <a:solidFill>
                  <a:srgbClr val="FF0000"/>
                </a:solidFill>
              </a:rPr>
              <a:t>Two inference techniques can be used to derive additional information: </a:t>
            </a:r>
          </a:p>
          <a:p>
            <a:pPr lvl="1"/>
            <a:r>
              <a:rPr lang="en-US" dirty="0">
                <a:solidFill>
                  <a:srgbClr val="FF0000"/>
                </a:solidFill>
              </a:rPr>
              <a:t>Analyzing functional dependencies between attributes within a table or across tables, and </a:t>
            </a:r>
          </a:p>
          <a:p>
            <a:pPr lvl="1"/>
            <a:r>
              <a:rPr lang="en-US" dirty="0">
                <a:solidFill>
                  <a:srgbClr val="FF0000"/>
                </a:solidFill>
              </a:rPr>
              <a:t>Merging views with the same constraints. </a:t>
            </a:r>
            <a:endParaRPr lang="en-US" dirty="0"/>
          </a:p>
        </p:txBody>
      </p:sp>
      <p:sp>
        <p:nvSpPr>
          <p:cNvPr id="2" name="Slide Number Placeholder 1"/>
          <p:cNvSpPr>
            <a:spLocks noGrp="1"/>
          </p:cNvSpPr>
          <p:nvPr>
            <p:ph type="sldNum" sz="quarter" idx="12"/>
          </p:nvPr>
        </p:nvSpPr>
        <p:spPr/>
        <p:txBody>
          <a:bodyPr/>
          <a:lstStyle/>
          <a:p>
            <a:fld id="{A2A50C4D-0BA1-4E54-8DFC-01810EC97B99}" type="slidenum">
              <a:rPr lang="en-US" smtClean="0"/>
              <a:t>27</a:t>
            </a:fld>
            <a:endParaRPr lang="en-US"/>
          </a:p>
        </p:txBody>
      </p:sp>
      <p:pic>
        <p:nvPicPr>
          <p:cNvPr id="3" name="Picture 2"/>
          <p:cNvPicPr>
            <a:picLocks noChangeAspect="1"/>
          </p:cNvPicPr>
          <p:nvPr/>
        </p:nvPicPr>
        <p:blipFill>
          <a:blip r:embed="rId2"/>
          <a:stretch>
            <a:fillRect/>
          </a:stretch>
        </p:blipFill>
        <p:spPr>
          <a:xfrm>
            <a:off x="7338089" y="1945481"/>
            <a:ext cx="4488438" cy="3669958"/>
          </a:xfrm>
          <a:prstGeom prst="rect">
            <a:avLst/>
          </a:prstGeom>
        </p:spPr>
      </p:pic>
      <p:pic>
        <p:nvPicPr>
          <p:cNvPr id="4" name="Picture 3"/>
          <p:cNvPicPr>
            <a:picLocks noChangeAspect="1"/>
          </p:cNvPicPr>
          <p:nvPr/>
        </p:nvPicPr>
        <p:blipFill>
          <a:blip r:embed="rId3"/>
          <a:stretch>
            <a:fillRect/>
          </a:stretch>
        </p:blipFill>
        <p:spPr>
          <a:xfrm>
            <a:off x="613960" y="445846"/>
            <a:ext cx="2810048" cy="517981"/>
          </a:xfrm>
          <a:prstGeom prst="rect">
            <a:avLst/>
          </a:prstGeom>
        </p:spPr>
      </p:pic>
      <p:sp>
        <p:nvSpPr>
          <p:cNvPr id="8" name="Rectangle 7"/>
          <p:cNvSpPr/>
          <p:nvPr/>
        </p:nvSpPr>
        <p:spPr>
          <a:xfrm>
            <a:off x="7434648" y="471562"/>
            <a:ext cx="4489622" cy="1200329"/>
          </a:xfrm>
          <a:prstGeom prst="rect">
            <a:avLst/>
          </a:prstGeom>
        </p:spPr>
        <p:txBody>
          <a:bodyPr wrap="square">
            <a:spAutoFit/>
          </a:bodyPr>
          <a:lstStyle/>
          <a:p>
            <a:r>
              <a:rPr lang="en-US" dirty="0">
                <a:solidFill>
                  <a:srgbClr val="002060"/>
                </a:solidFill>
              </a:rPr>
              <a:t>Metadata refers to knowledge about correlations or dependencies among data items that can be used to deduce information not otherwise available to a particular user.</a:t>
            </a:r>
          </a:p>
        </p:txBody>
      </p:sp>
    </p:spTree>
    <p:extLst>
      <p:ext uri="{BB962C8B-B14F-4D97-AF65-F5344CB8AC3E}">
        <p14:creationId xmlns:p14="http://schemas.microsoft.com/office/powerpoint/2010/main" val="22901961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28</a:t>
            </a:fld>
            <a:endParaRPr lang="en-US"/>
          </a:p>
        </p:txBody>
      </p:sp>
      <p:pic>
        <p:nvPicPr>
          <p:cNvPr id="5" name="Picture 4"/>
          <p:cNvPicPr>
            <a:picLocks noChangeAspect="1"/>
          </p:cNvPicPr>
          <p:nvPr/>
        </p:nvPicPr>
        <p:blipFill>
          <a:blip r:embed="rId2"/>
          <a:stretch>
            <a:fillRect/>
          </a:stretch>
        </p:blipFill>
        <p:spPr>
          <a:xfrm>
            <a:off x="3304360" y="117037"/>
            <a:ext cx="6024989" cy="6740963"/>
          </a:xfrm>
          <a:prstGeom prst="rect">
            <a:avLst/>
          </a:prstGeom>
        </p:spPr>
      </p:pic>
      <p:pic>
        <p:nvPicPr>
          <p:cNvPr id="6" name="Picture 5"/>
          <p:cNvPicPr>
            <a:picLocks noChangeAspect="1"/>
          </p:cNvPicPr>
          <p:nvPr/>
        </p:nvPicPr>
        <p:blipFill>
          <a:blip r:embed="rId3">
            <a:duotone>
              <a:prstClr val="black"/>
              <a:schemeClr val="accent4">
                <a:tint val="45000"/>
                <a:satMod val="400000"/>
              </a:schemeClr>
            </a:duotone>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9329349" y="1943411"/>
            <a:ext cx="2588754" cy="926502"/>
          </a:xfrm>
          <a:prstGeom prst="rect">
            <a:avLst/>
          </a:prstGeom>
        </p:spPr>
      </p:pic>
      <p:pic>
        <p:nvPicPr>
          <p:cNvPr id="7" name="Picture 6"/>
          <p:cNvPicPr>
            <a:picLocks noChangeAspect="1"/>
          </p:cNvPicPr>
          <p:nvPr/>
        </p:nvPicPr>
        <p:blipFill>
          <a:blip r:embed="rId5">
            <a:duotone>
              <a:prstClr val="black"/>
              <a:schemeClr val="accent4">
                <a:tint val="45000"/>
                <a:satMod val="400000"/>
              </a:schemeClr>
            </a:duotone>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9316992" y="3006438"/>
            <a:ext cx="2724530" cy="962159"/>
          </a:xfrm>
          <a:prstGeom prst="rect">
            <a:avLst/>
          </a:prstGeom>
        </p:spPr>
      </p:pic>
      <p:cxnSp>
        <p:nvCxnSpPr>
          <p:cNvPr id="9" name="Straight Arrow Connector 8"/>
          <p:cNvCxnSpPr/>
          <p:nvPr/>
        </p:nvCxnSpPr>
        <p:spPr>
          <a:xfrm>
            <a:off x="4584357" y="4263081"/>
            <a:ext cx="679621" cy="48191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7376985" y="4263081"/>
            <a:ext cx="543696" cy="54369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317560" y="3406394"/>
            <a:ext cx="3109247" cy="2800767"/>
          </a:xfrm>
          <a:prstGeom prst="rect">
            <a:avLst/>
          </a:prstGeom>
        </p:spPr>
        <p:txBody>
          <a:bodyPr wrap="square">
            <a:spAutoFit/>
          </a:bodyPr>
          <a:lstStyle/>
          <a:p>
            <a:r>
              <a:rPr lang="en-US" sz="1600" dirty="0">
                <a:solidFill>
                  <a:srgbClr val="FF0000"/>
                </a:solidFill>
                <a:latin typeface="TimesTenLTStd-Roman"/>
              </a:rPr>
              <a:t>A user who knows the structure of the Inventory table and who knows that the view tables maintain the same row order as the Inventory table is then able to merge the two views to construct the table shown in Figure 5.8c. This violates the access control policy that the relationship of attributes Item and Cost must not be disclosed.</a:t>
            </a:r>
            <a:r>
              <a:rPr lang="en-US" sz="1600" dirty="0">
                <a:solidFill>
                  <a:srgbClr val="FF0000"/>
                </a:solidFill>
              </a:rPr>
              <a:t> </a:t>
            </a:r>
          </a:p>
        </p:txBody>
      </p:sp>
      <p:pic>
        <p:nvPicPr>
          <p:cNvPr id="14" name="Picture 13"/>
          <p:cNvPicPr>
            <a:picLocks noChangeAspect="1"/>
          </p:cNvPicPr>
          <p:nvPr/>
        </p:nvPicPr>
        <p:blipFill>
          <a:blip r:embed="rId7"/>
          <a:stretch>
            <a:fillRect/>
          </a:stretch>
        </p:blipFill>
        <p:spPr>
          <a:xfrm>
            <a:off x="613960" y="445846"/>
            <a:ext cx="2810048" cy="517981"/>
          </a:xfrm>
          <a:prstGeom prst="rect">
            <a:avLst/>
          </a:prstGeom>
        </p:spPr>
      </p:pic>
    </p:spTree>
    <p:extLst>
      <p:ext uri="{BB962C8B-B14F-4D97-AF65-F5344CB8AC3E}">
        <p14:creationId xmlns:p14="http://schemas.microsoft.com/office/powerpoint/2010/main" val="7046274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29</a:t>
            </a:fld>
            <a:endParaRPr lang="en-US"/>
          </a:p>
        </p:txBody>
      </p:sp>
      <p:pic>
        <p:nvPicPr>
          <p:cNvPr id="3" name="Picture 2"/>
          <p:cNvPicPr>
            <a:picLocks noChangeAspect="1"/>
          </p:cNvPicPr>
          <p:nvPr/>
        </p:nvPicPr>
        <p:blipFill>
          <a:blip r:embed="rId2"/>
          <a:stretch>
            <a:fillRect/>
          </a:stretch>
        </p:blipFill>
        <p:spPr>
          <a:xfrm>
            <a:off x="613960" y="1729647"/>
            <a:ext cx="11101587" cy="4288093"/>
          </a:xfrm>
          <a:prstGeom prst="rect">
            <a:avLst/>
          </a:prstGeom>
        </p:spPr>
      </p:pic>
      <p:pic>
        <p:nvPicPr>
          <p:cNvPr id="4" name="Picture 3"/>
          <p:cNvPicPr>
            <a:picLocks noChangeAspect="1"/>
          </p:cNvPicPr>
          <p:nvPr/>
        </p:nvPicPr>
        <p:blipFill>
          <a:blip r:embed="rId3"/>
          <a:stretch>
            <a:fillRect/>
          </a:stretch>
        </p:blipFill>
        <p:spPr>
          <a:xfrm>
            <a:off x="613960" y="445846"/>
            <a:ext cx="2810048" cy="517981"/>
          </a:xfrm>
          <a:prstGeom prst="rect">
            <a:avLst/>
          </a:prstGeom>
        </p:spPr>
      </p:pic>
      <p:sp>
        <p:nvSpPr>
          <p:cNvPr id="5" name="TextBox 4"/>
          <p:cNvSpPr txBox="1"/>
          <p:nvPr/>
        </p:nvSpPr>
        <p:spPr>
          <a:xfrm>
            <a:off x="3744097" y="515020"/>
            <a:ext cx="7133941" cy="461665"/>
          </a:xfrm>
          <a:prstGeom prst="rect">
            <a:avLst/>
          </a:prstGeom>
          <a:noFill/>
        </p:spPr>
        <p:txBody>
          <a:bodyPr wrap="none" rtlCol="0">
            <a:spAutoFit/>
          </a:bodyPr>
          <a:lstStyle/>
          <a:p>
            <a:r>
              <a:rPr lang="en-US" sz="2400" dirty="0">
                <a:solidFill>
                  <a:srgbClr val="FF0000"/>
                </a:solidFill>
              </a:rPr>
              <a:t>How to dead with the threat of disclosure by inference?</a:t>
            </a:r>
          </a:p>
        </p:txBody>
      </p:sp>
    </p:spTree>
    <p:extLst>
      <p:ext uri="{BB962C8B-B14F-4D97-AF65-F5344CB8AC3E}">
        <p14:creationId xmlns:p14="http://schemas.microsoft.com/office/powerpoint/2010/main" val="2964293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30</a:t>
            </a:fld>
            <a:endParaRPr lang="en-US"/>
          </a:p>
        </p:txBody>
      </p:sp>
      <p:sp>
        <p:nvSpPr>
          <p:cNvPr id="3" name="Rectangle 2"/>
          <p:cNvSpPr/>
          <p:nvPr/>
        </p:nvSpPr>
        <p:spPr>
          <a:xfrm>
            <a:off x="556053" y="554674"/>
            <a:ext cx="10948086" cy="923330"/>
          </a:xfrm>
          <a:prstGeom prst="rect">
            <a:avLst/>
          </a:prstGeom>
          <a:solidFill>
            <a:schemeClr val="accent2">
              <a:lumMod val="40000"/>
              <a:lumOff val="60000"/>
            </a:schemeClr>
          </a:solidFill>
        </p:spPr>
        <p:txBody>
          <a:bodyPr wrap="square">
            <a:spAutoFit/>
          </a:bodyPr>
          <a:lstStyle/>
          <a:p>
            <a:r>
              <a:rPr lang="en-US" dirty="0">
                <a:solidFill>
                  <a:srgbClr val="242021"/>
                </a:solidFill>
                <a:latin typeface="TimesTenLTStd-Roman"/>
              </a:rPr>
              <a:t>Consider a database containing personnel information, including names, addresses, and salaries of employees. Individually, the name, address, and salary information is available to a subordinate role, such as Clerk, but the association of names and salaries is restricted to a superior role, such as Administrator. </a:t>
            </a:r>
            <a:endParaRPr lang="en-US" dirty="0"/>
          </a:p>
        </p:txBody>
      </p:sp>
      <p:sp>
        <p:nvSpPr>
          <p:cNvPr id="4" name="TextBox 3"/>
          <p:cNvSpPr txBox="1"/>
          <p:nvPr/>
        </p:nvSpPr>
        <p:spPr>
          <a:xfrm>
            <a:off x="676964" y="1865871"/>
            <a:ext cx="10706264" cy="400110"/>
          </a:xfrm>
          <a:prstGeom prst="rect">
            <a:avLst/>
          </a:prstGeom>
          <a:noFill/>
        </p:spPr>
        <p:txBody>
          <a:bodyPr wrap="none" rtlCol="0">
            <a:spAutoFit/>
          </a:bodyPr>
          <a:lstStyle/>
          <a:p>
            <a:r>
              <a:rPr lang="en-US" sz="2000" dirty="0">
                <a:solidFill>
                  <a:srgbClr val="FF0000"/>
                </a:solidFill>
              </a:rPr>
              <a:t>Create a small database schema to hold the above information. How we safeguard against inference?</a:t>
            </a:r>
          </a:p>
        </p:txBody>
      </p:sp>
      <p:grpSp>
        <p:nvGrpSpPr>
          <p:cNvPr id="7" name="Group 6"/>
          <p:cNvGrpSpPr/>
          <p:nvPr/>
        </p:nvGrpSpPr>
        <p:grpSpPr>
          <a:xfrm>
            <a:off x="716767" y="2524929"/>
            <a:ext cx="8723789" cy="3572472"/>
            <a:chOff x="1569389" y="2524929"/>
            <a:chExt cx="8723789" cy="3572472"/>
          </a:xfrm>
        </p:grpSpPr>
        <p:pic>
          <p:nvPicPr>
            <p:cNvPr id="5" name="Picture 4"/>
            <p:cNvPicPr>
              <a:picLocks noChangeAspect="1"/>
            </p:cNvPicPr>
            <p:nvPr/>
          </p:nvPicPr>
          <p:blipFill>
            <a:blip r:embed="rId2"/>
            <a:stretch>
              <a:fillRect/>
            </a:stretch>
          </p:blipFill>
          <p:spPr>
            <a:xfrm>
              <a:off x="1569389" y="2524929"/>
              <a:ext cx="8723789" cy="3572472"/>
            </a:xfrm>
            <a:prstGeom prst="rect">
              <a:avLst/>
            </a:prstGeom>
          </p:spPr>
        </p:pic>
        <p:sp>
          <p:nvSpPr>
            <p:cNvPr id="6" name="Rectangle 5"/>
            <p:cNvSpPr/>
            <p:nvPr/>
          </p:nvSpPr>
          <p:spPr>
            <a:xfrm>
              <a:off x="3064476" y="5795319"/>
              <a:ext cx="7228702" cy="3020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Rectangle 7"/>
          <p:cNvSpPr/>
          <p:nvPr/>
        </p:nvSpPr>
        <p:spPr>
          <a:xfrm>
            <a:off x="5624979" y="3249301"/>
            <a:ext cx="5758249" cy="707886"/>
          </a:xfrm>
          <a:prstGeom prst="rect">
            <a:avLst/>
          </a:prstGeom>
          <a:solidFill>
            <a:schemeClr val="accent1">
              <a:lumMod val="40000"/>
              <a:lumOff val="60000"/>
            </a:schemeClr>
          </a:solidFill>
        </p:spPr>
        <p:txBody>
          <a:bodyPr wrap="square">
            <a:spAutoFit/>
          </a:bodyPr>
          <a:lstStyle/>
          <a:p>
            <a:r>
              <a:rPr lang="en-US" sz="2000" dirty="0">
                <a:solidFill>
                  <a:srgbClr val="FF0000"/>
                </a:solidFill>
                <a:latin typeface="Sitka Text" panose="02000505000000020004" pitchFamily="2" charset="0"/>
              </a:rPr>
              <a:t> In which table a new attribute, employee start date could be added if it is not sensitive? </a:t>
            </a:r>
          </a:p>
        </p:txBody>
      </p:sp>
    </p:spTree>
    <p:extLst>
      <p:ext uri="{BB962C8B-B14F-4D97-AF65-F5344CB8AC3E}">
        <p14:creationId xmlns:p14="http://schemas.microsoft.com/office/powerpoint/2010/main" val="3194847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31</a:t>
            </a:fld>
            <a:endParaRPr lang="en-US"/>
          </a:p>
        </p:txBody>
      </p:sp>
      <p:sp>
        <p:nvSpPr>
          <p:cNvPr id="3" name="Rectangle 2"/>
          <p:cNvSpPr/>
          <p:nvPr/>
        </p:nvSpPr>
        <p:spPr>
          <a:xfrm>
            <a:off x="556053" y="554674"/>
            <a:ext cx="10948086" cy="923330"/>
          </a:xfrm>
          <a:prstGeom prst="rect">
            <a:avLst/>
          </a:prstGeom>
          <a:solidFill>
            <a:schemeClr val="accent2">
              <a:lumMod val="40000"/>
              <a:lumOff val="60000"/>
            </a:schemeClr>
          </a:solidFill>
        </p:spPr>
        <p:txBody>
          <a:bodyPr wrap="square">
            <a:spAutoFit/>
          </a:bodyPr>
          <a:lstStyle/>
          <a:p>
            <a:r>
              <a:rPr lang="en-US" dirty="0">
                <a:solidFill>
                  <a:srgbClr val="242021"/>
                </a:solidFill>
                <a:latin typeface="TimesTenLTStd-Roman"/>
              </a:rPr>
              <a:t>Consider a database containing personnel information, including names, addresses, and salaries of employees. Individually, the name, address, and salary information is available to a subordinate role, such as Clerk, but the association of names and salaries is restricted to a superior role, such as Administrator. </a:t>
            </a:r>
            <a:endParaRPr lang="en-US" dirty="0"/>
          </a:p>
        </p:txBody>
      </p:sp>
      <p:sp>
        <p:nvSpPr>
          <p:cNvPr id="8" name="Rectangle 7"/>
          <p:cNvSpPr/>
          <p:nvPr/>
        </p:nvSpPr>
        <p:spPr>
          <a:xfrm>
            <a:off x="606807" y="1848312"/>
            <a:ext cx="10846578" cy="400110"/>
          </a:xfrm>
          <a:prstGeom prst="rect">
            <a:avLst/>
          </a:prstGeom>
          <a:solidFill>
            <a:schemeClr val="accent1">
              <a:lumMod val="40000"/>
              <a:lumOff val="60000"/>
            </a:schemeClr>
          </a:solidFill>
        </p:spPr>
        <p:txBody>
          <a:bodyPr wrap="square">
            <a:spAutoFit/>
          </a:bodyPr>
          <a:lstStyle/>
          <a:p>
            <a:r>
              <a:rPr lang="en-US" sz="2000" dirty="0">
                <a:solidFill>
                  <a:srgbClr val="FF0000"/>
                </a:solidFill>
                <a:latin typeface="Sitka Text" panose="02000505000000020004" pitchFamily="2" charset="0"/>
              </a:rPr>
              <a:t> In which table a new attribute, employee start date could be added if it is not sensitive? </a:t>
            </a:r>
          </a:p>
        </p:txBody>
      </p:sp>
      <p:pic>
        <p:nvPicPr>
          <p:cNvPr id="9" name="Picture 8"/>
          <p:cNvPicPr>
            <a:picLocks noChangeAspect="1"/>
          </p:cNvPicPr>
          <p:nvPr/>
        </p:nvPicPr>
        <p:blipFill>
          <a:blip r:embed="rId2"/>
          <a:stretch>
            <a:fillRect/>
          </a:stretch>
        </p:blipFill>
        <p:spPr>
          <a:xfrm>
            <a:off x="1391595" y="2495811"/>
            <a:ext cx="9482675" cy="3613150"/>
          </a:xfrm>
          <a:prstGeom prst="rect">
            <a:avLst/>
          </a:prstGeom>
        </p:spPr>
      </p:pic>
      <p:sp>
        <p:nvSpPr>
          <p:cNvPr id="10" name="Rectangle 9"/>
          <p:cNvSpPr/>
          <p:nvPr/>
        </p:nvSpPr>
        <p:spPr>
          <a:xfrm>
            <a:off x="1391595" y="2495811"/>
            <a:ext cx="1635810" cy="2968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p:cNvSpPr/>
          <p:nvPr/>
        </p:nvSpPr>
        <p:spPr>
          <a:xfrm>
            <a:off x="432486" y="4843849"/>
            <a:ext cx="803190" cy="766119"/>
          </a:xfrm>
          <a:prstGeom prst="rightArrow">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p:nvPr/>
        </p:nvCxnSpPr>
        <p:spPr>
          <a:xfrm>
            <a:off x="606807" y="3818238"/>
            <a:ext cx="1419701"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606807" y="3818238"/>
            <a:ext cx="0" cy="126038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1316657" y="4584357"/>
            <a:ext cx="1" cy="1524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5338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dirty="0"/>
              <a:t>Database Encryption (Section 5.7)</a:t>
            </a:r>
          </a:p>
          <a:p>
            <a:pPr lvl="1"/>
            <a:r>
              <a:rPr lang="en-US" dirty="0"/>
              <a:t>Actors in a Database Encryption Scheme</a:t>
            </a:r>
          </a:p>
          <a:p>
            <a:r>
              <a:rPr lang="en-US" dirty="0"/>
              <a:t>Whole Database Encryption Scheme (Figure 5.9)</a:t>
            </a:r>
          </a:p>
          <a:p>
            <a:r>
              <a:rPr lang="en-US" dirty="0"/>
              <a:t>Row Encryption Scheme (Figure 5.10, Table 5.3)</a:t>
            </a:r>
          </a:p>
          <a:p>
            <a:pPr lvl="1"/>
            <a:r>
              <a:rPr lang="en-US" dirty="0"/>
              <a:t>How row-wise encryption scheme works?</a:t>
            </a:r>
          </a:p>
          <a:p>
            <a:pPr lvl="1"/>
            <a:r>
              <a:rPr lang="en-US" dirty="0"/>
              <a:t>Performance and other improvements</a:t>
            </a:r>
          </a:p>
          <a:p>
            <a:pPr lvl="1"/>
            <a:endParaRPr lang="en-US" dirty="0"/>
          </a:p>
          <a:p>
            <a:pPr lvl="1"/>
            <a:endParaRPr lang="en-US" dirty="0"/>
          </a:p>
        </p:txBody>
      </p:sp>
      <p:sp>
        <p:nvSpPr>
          <p:cNvPr id="2" name="Slide Number Placeholder 1"/>
          <p:cNvSpPr>
            <a:spLocks noGrp="1"/>
          </p:cNvSpPr>
          <p:nvPr>
            <p:ph type="sldNum" sz="quarter" idx="12"/>
          </p:nvPr>
        </p:nvSpPr>
        <p:spPr/>
        <p:txBody>
          <a:bodyPr/>
          <a:lstStyle/>
          <a:p>
            <a:fld id="{A2A50C4D-0BA1-4E54-8DFC-01810EC97B99}" type="slidenum">
              <a:rPr lang="en-US" smtClean="0"/>
              <a:t>32</a:t>
            </a:fld>
            <a:endParaRPr lang="en-US"/>
          </a:p>
        </p:txBody>
      </p:sp>
    </p:spTree>
    <p:extLst>
      <p:ext uri="{BB962C8B-B14F-4D97-AF65-F5344CB8AC3E}">
        <p14:creationId xmlns:p14="http://schemas.microsoft.com/office/powerpoint/2010/main" val="5398845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33</a:t>
            </a:fld>
            <a:endParaRPr lang="en-US"/>
          </a:p>
        </p:txBody>
      </p:sp>
      <p:pic>
        <p:nvPicPr>
          <p:cNvPr id="5" name="Picture 4"/>
          <p:cNvPicPr>
            <a:picLocks noChangeAspect="1"/>
          </p:cNvPicPr>
          <p:nvPr/>
        </p:nvPicPr>
        <p:blipFill>
          <a:blip r:embed="rId2"/>
          <a:stretch>
            <a:fillRect/>
          </a:stretch>
        </p:blipFill>
        <p:spPr>
          <a:xfrm>
            <a:off x="612881" y="515222"/>
            <a:ext cx="9271071" cy="559815"/>
          </a:xfrm>
          <a:prstGeom prst="rect">
            <a:avLst/>
          </a:prstGeom>
        </p:spPr>
      </p:pic>
      <p:sp>
        <p:nvSpPr>
          <p:cNvPr id="6" name="Rectangle 5"/>
          <p:cNvSpPr/>
          <p:nvPr/>
        </p:nvSpPr>
        <p:spPr>
          <a:xfrm>
            <a:off x="776416" y="1336243"/>
            <a:ext cx="10577384" cy="523220"/>
          </a:xfrm>
          <a:prstGeom prst="rect">
            <a:avLst/>
          </a:prstGeom>
        </p:spPr>
        <p:txBody>
          <a:bodyPr wrap="square">
            <a:spAutoFit/>
          </a:bodyPr>
          <a:lstStyle/>
          <a:p>
            <a:r>
              <a:rPr lang="en-US" sz="2800" dirty="0">
                <a:solidFill>
                  <a:srgbClr val="FF0000"/>
                </a:solidFill>
                <a:latin typeface="TimesTenLTStd-Roman"/>
              </a:rPr>
              <a:t>Encryption becomes the last line of defense in database security.</a:t>
            </a:r>
            <a:r>
              <a:rPr lang="en-US" sz="2800" dirty="0">
                <a:solidFill>
                  <a:srgbClr val="FF0000"/>
                </a:solidFill>
              </a:rPr>
              <a:t> </a:t>
            </a:r>
          </a:p>
        </p:txBody>
      </p:sp>
      <p:pic>
        <p:nvPicPr>
          <p:cNvPr id="7" name="Picture 6"/>
          <p:cNvPicPr>
            <a:picLocks noChangeAspect="1"/>
          </p:cNvPicPr>
          <p:nvPr/>
        </p:nvPicPr>
        <p:blipFill>
          <a:blip r:embed="rId3"/>
          <a:stretch>
            <a:fillRect/>
          </a:stretch>
        </p:blipFill>
        <p:spPr>
          <a:xfrm>
            <a:off x="725731" y="2120669"/>
            <a:ext cx="10510640" cy="3284575"/>
          </a:xfrm>
          <a:prstGeom prst="rect">
            <a:avLst/>
          </a:prstGeom>
        </p:spPr>
      </p:pic>
      <p:sp>
        <p:nvSpPr>
          <p:cNvPr id="8" name="Rectangle 7"/>
          <p:cNvSpPr/>
          <p:nvPr/>
        </p:nvSpPr>
        <p:spPr>
          <a:xfrm>
            <a:off x="940333" y="5710019"/>
            <a:ext cx="10081435" cy="646331"/>
          </a:xfrm>
          <a:prstGeom prst="rect">
            <a:avLst/>
          </a:prstGeom>
        </p:spPr>
        <p:txBody>
          <a:bodyPr wrap="square">
            <a:spAutoFit/>
          </a:bodyPr>
          <a:lstStyle/>
          <a:p>
            <a:r>
              <a:rPr lang="en-US" dirty="0">
                <a:solidFill>
                  <a:srgbClr val="FF0000"/>
                </a:solidFill>
                <a:latin typeface="TimesTenLTStd-Roman"/>
              </a:rPr>
              <a:t>Encryption can be applied to the (</a:t>
            </a:r>
            <a:r>
              <a:rPr lang="en-US" dirty="0" err="1">
                <a:solidFill>
                  <a:srgbClr val="FF0000"/>
                </a:solidFill>
                <a:latin typeface="TimesTenLTStd-Roman"/>
              </a:rPr>
              <a:t>i</a:t>
            </a:r>
            <a:r>
              <a:rPr lang="en-US" dirty="0">
                <a:solidFill>
                  <a:srgbClr val="FF0000"/>
                </a:solidFill>
                <a:latin typeface="TimesTenLTStd-Roman"/>
              </a:rPr>
              <a:t>) entire database, (ii) at the record level (encrypt selected records), (iii) at the attribute level (encrypt selected columns), or at the level of the individual field.</a:t>
            </a:r>
            <a:r>
              <a:rPr lang="en-US" dirty="0">
                <a:solidFill>
                  <a:srgbClr val="FF0000"/>
                </a:solidFill>
              </a:rPr>
              <a:t> </a:t>
            </a:r>
          </a:p>
        </p:txBody>
      </p:sp>
    </p:spTree>
    <p:extLst>
      <p:ext uri="{BB962C8B-B14F-4D97-AF65-F5344CB8AC3E}">
        <p14:creationId xmlns:p14="http://schemas.microsoft.com/office/powerpoint/2010/main" val="5017443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34</a:t>
            </a:fld>
            <a:endParaRPr lang="en-US"/>
          </a:p>
        </p:txBody>
      </p:sp>
      <p:pic>
        <p:nvPicPr>
          <p:cNvPr id="6" name="Picture 5"/>
          <p:cNvPicPr>
            <a:picLocks noChangeAspect="1"/>
          </p:cNvPicPr>
          <p:nvPr/>
        </p:nvPicPr>
        <p:blipFill>
          <a:blip r:embed="rId2"/>
          <a:stretch>
            <a:fillRect/>
          </a:stretch>
        </p:blipFill>
        <p:spPr>
          <a:xfrm>
            <a:off x="457540" y="1373500"/>
            <a:ext cx="11068913" cy="4982850"/>
          </a:xfrm>
          <a:prstGeom prst="rect">
            <a:avLst/>
          </a:prstGeom>
        </p:spPr>
      </p:pic>
      <p:sp>
        <p:nvSpPr>
          <p:cNvPr id="7" name="Title 2"/>
          <p:cNvSpPr txBox="1">
            <a:spLocks/>
          </p:cNvSpPr>
          <p:nvPr/>
        </p:nvSpPr>
        <p:spPr>
          <a:xfrm>
            <a:off x="630195" y="439267"/>
            <a:ext cx="10723605" cy="75934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Actors in a Database Encryption Scheme</a:t>
            </a:r>
          </a:p>
        </p:txBody>
      </p:sp>
    </p:spTree>
    <p:extLst>
      <p:ext uri="{BB962C8B-B14F-4D97-AF65-F5344CB8AC3E}">
        <p14:creationId xmlns:p14="http://schemas.microsoft.com/office/powerpoint/2010/main" val="1893186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35</a:t>
            </a:fld>
            <a:endParaRPr lang="en-US"/>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821785" y="361734"/>
            <a:ext cx="10188085" cy="6359741"/>
          </a:xfrm>
          <a:prstGeom prst="rect">
            <a:avLst/>
          </a:prstGeom>
        </p:spPr>
      </p:pic>
    </p:spTree>
    <p:extLst>
      <p:ext uri="{BB962C8B-B14F-4D97-AF65-F5344CB8AC3E}">
        <p14:creationId xmlns:p14="http://schemas.microsoft.com/office/powerpoint/2010/main" val="26761408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36</a:t>
            </a:fld>
            <a:endParaRPr lang="en-US"/>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624077" y="310162"/>
            <a:ext cx="7118425" cy="4443557"/>
          </a:xfrm>
          <a:prstGeom prst="rect">
            <a:avLst/>
          </a:prstGeom>
        </p:spPr>
      </p:pic>
      <p:pic>
        <p:nvPicPr>
          <p:cNvPr id="2" name="Picture 1"/>
          <p:cNvPicPr>
            <a:picLocks noChangeAspect="1"/>
          </p:cNvPicPr>
          <p:nvPr/>
        </p:nvPicPr>
        <p:blipFill>
          <a:blip r:embed="rId4">
            <a:duotone>
              <a:prstClr val="black"/>
              <a:schemeClr val="accent4">
                <a:tint val="45000"/>
                <a:satMod val="400000"/>
              </a:schemeClr>
            </a:duotone>
          </a:blip>
          <a:stretch>
            <a:fillRect/>
          </a:stretch>
        </p:blipFill>
        <p:spPr>
          <a:xfrm>
            <a:off x="4389212" y="4402500"/>
            <a:ext cx="7112487" cy="1953849"/>
          </a:xfrm>
          <a:prstGeom prst="rect">
            <a:avLst/>
          </a:prstGeom>
        </p:spPr>
      </p:pic>
      <p:pic>
        <p:nvPicPr>
          <p:cNvPr id="3" name="Picture 2"/>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8853329" y="499376"/>
            <a:ext cx="2257740" cy="619211"/>
          </a:xfrm>
          <a:prstGeom prst="rect">
            <a:avLst/>
          </a:prstGeom>
        </p:spPr>
      </p:pic>
      <p:sp>
        <p:nvSpPr>
          <p:cNvPr id="8" name="Rectangle 7"/>
          <p:cNvSpPr/>
          <p:nvPr/>
        </p:nvSpPr>
        <p:spPr>
          <a:xfrm>
            <a:off x="8130135" y="1118587"/>
            <a:ext cx="3704129" cy="738664"/>
          </a:xfrm>
          <a:prstGeom prst="rect">
            <a:avLst/>
          </a:prstGeom>
        </p:spPr>
        <p:txBody>
          <a:bodyPr wrap="square">
            <a:spAutoFit/>
          </a:bodyPr>
          <a:lstStyle/>
          <a:p>
            <a:r>
              <a:rPr lang="en-US" sz="1400" dirty="0">
                <a:solidFill>
                  <a:srgbClr val="242021"/>
                </a:solidFill>
                <a:latin typeface="TimesTenLTStd-Roman"/>
              </a:rPr>
              <a:t>Assume the encryption key </a:t>
            </a:r>
            <a:r>
              <a:rPr lang="en-US" sz="1400" i="1" dirty="0">
                <a:solidFill>
                  <a:srgbClr val="242021"/>
                </a:solidFill>
                <a:latin typeface="TimesTenLTStd-Italic"/>
              </a:rPr>
              <a:t>k </a:t>
            </a:r>
            <a:r>
              <a:rPr lang="en-US" sz="1400" dirty="0">
                <a:solidFill>
                  <a:srgbClr val="242021"/>
                </a:solidFill>
                <a:latin typeface="TimesTenLTStd-Roman"/>
              </a:rPr>
              <a:t>is used and the encrypted value of the department id 15 is </a:t>
            </a:r>
            <a:r>
              <a:rPr lang="en-US" sz="1400" i="1" dirty="0">
                <a:solidFill>
                  <a:srgbClr val="242021"/>
                </a:solidFill>
                <a:latin typeface="TimesTenLTStd-Italic"/>
              </a:rPr>
              <a:t>E</a:t>
            </a:r>
            <a:r>
              <a:rPr lang="en-US" sz="1400" dirty="0">
                <a:solidFill>
                  <a:srgbClr val="242021"/>
                </a:solidFill>
                <a:latin typeface="TimesTenLTStd-Roman"/>
              </a:rPr>
              <a:t>(</a:t>
            </a:r>
            <a:r>
              <a:rPr lang="en-US" sz="1400" i="1" dirty="0">
                <a:solidFill>
                  <a:srgbClr val="242021"/>
                </a:solidFill>
                <a:latin typeface="TimesTenLTStd-Italic"/>
              </a:rPr>
              <a:t>k</a:t>
            </a:r>
            <a:r>
              <a:rPr lang="en-US" sz="1400" dirty="0">
                <a:solidFill>
                  <a:srgbClr val="242021"/>
                </a:solidFill>
                <a:latin typeface="TimesTenLTStd-Roman"/>
              </a:rPr>
              <a:t>, 15) </a:t>
            </a:r>
            <a:r>
              <a:rPr lang="en-US" sz="1400" dirty="0">
                <a:solidFill>
                  <a:srgbClr val="242021"/>
                </a:solidFill>
                <a:latin typeface="PearsonMATHPRO08"/>
              </a:rPr>
              <a:t>= </a:t>
            </a:r>
            <a:r>
              <a:rPr lang="en-US" sz="1400" dirty="0">
                <a:solidFill>
                  <a:srgbClr val="242021"/>
                </a:solidFill>
                <a:latin typeface="TimesTenLTStd-Roman"/>
              </a:rPr>
              <a:t>1000110111001110.</a:t>
            </a:r>
            <a:r>
              <a:rPr lang="en-US" sz="1400" dirty="0"/>
              <a:t> </a:t>
            </a:r>
          </a:p>
        </p:txBody>
      </p:sp>
      <p:pic>
        <p:nvPicPr>
          <p:cNvPr id="9" name="Picture 8"/>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Layer>
                </a14:imgProps>
              </a:ext>
            </a:extLst>
          </a:blip>
          <a:stretch>
            <a:fillRect/>
          </a:stretch>
        </p:blipFill>
        <p:spPr>
          <a:xfrm>
            <a:off x="8567539" y="1903203"/>
            <a:ext cx="2829320" cy="628738"/>
          </a:xfrm>
          <a:prstGeom prst="rect">
            <a:avLst/>
          </a:prstGeom>
        </p:spPr>
      </p:pic>
      <p:sp>
        <p:nvSpPr>
          <p:cNvPr id="10" name="Rectangle 9"/>
          <p:cNvSpPr/>
          <p:nvPr/>
        </p:nvSpPr>
        <p:spPr>
          <a:xfrm>
            <a:off x="8125941" y="2739885"/>
            <a:ext cx="3570760" cy="1600438"/>
          </a:xfrm>
          <a:prstGeom prst="rect">
            <a:avLst/>
          </a:prstGeom>
        </p:spPr>
        <p:txBody>
          <a:bodyPr wrap="square">
            <a:spAutoFit/>
          </a:bodyPr>
          <a:lstStyle/>
          <a:p>
            <a:r>
              <a:rPr lang="en-US" sz="1400" dirty="0">
                <a:solidFill>
                  <a:srgbClr val="242021"/>
                </a:solidFill>
                <a:latin typeface="TimesTenLTStd-Roman"/>
              </a:rPr>
              <a:t>If the user wishes to retrieve all records for salaries less than $70K. There is no obvious way to do this, because the attribute value for salary in each record is encrypted. The set of encrypted values do not preserve the ordering of values in the original attribute.</a:t>
            </a:r>
            <a:r>
              <a:rPr lang="en-US" sz="1400" dirty="0"/>
              <a:t> </a:t>
            </a:r>
          </a:p>
        </p:txBody>
      </p:sp>
      <p:sp>
        <p:nvSpPr>
          <p:cNvPr id="11" name="TextBox 10"/>
          <p:cNvSpPr txBox="1"/>
          <p:nvPr/>
        </p:nvSpPr>
        <p:spPr>
          <a:xfrm>
            <a:off x="7742502" y="656923"/>
            <a:ext cx="383438" cy="400110"/>
          </a:xfrm>
          <a:prstGeom prst="rect">
            <a:avLst/>
          </a:prstGeom>
          <a:noFill/>
        </p:spPr>
        <p:txBody>
          <a:bodyPr wrap="none" rtlCol="0">
            <a:spAutoFit/>
          </a:bodyPr>
          <a:lstStyle/>
          <a:p>
            <a:r>
              <a:rPr lang="en-US" sz="2000" b="1" dirty="0"/>
              <a:t>1.</a:t>
            </a:r>
          </a:p>
        </p:txBody>
      </p:sp>
      <p:sp>
        <p:nvSpPr>
          <p:cNvPr id="12" name="TextBox 11"/>
          <p:cNvSpPr txBox="1"/>
          <p:nvPr/>
        </p:nvSpPr>
        <p:spPr>
          <a:xfrm>
            <a:off x="7742502" y="1257087"/>
            <a:ext cx="457994" cy="400110"/>
          </a:xfrm>
          <a:prstGeom prst="rect">
            <a:avLst/>
          </a:prstGeom>
          <a:noFill/>
        </p:spPr>
        <p:txBody>
          <a:bodyPr wrap="square" rtlCol="0">
            <a:spAutoFit/>
          </a:bodyPr>
          <a:lstStyle/>
          <a:p>
            <a:r>
              <a:rPr lang="en-US" sz="2000" b="1" dirty="0"/>
              <a:t>2.</a:t>
            </a:r>
          </a:p>
        </p:txBody>
      </p:sp>
      <p:sp>
        <p:nvSpPr>
          <p:cNvPr id="13" name="TextBox 12"/>
          <p:cNvSpPr txBox="1"/>
          <p:nvPr/>
        </p:nvSpPr>
        <p:spPr>
          <a:xfrm>
            <a:off x="7742502" y="1916387"/>
            <a:ext cx="457994" cy="400110"/>
          </a:xfrm>
          <a:prstGeom prst="rect">
            <a:avLst/>
          </a:prstGeom>
          <a:noFill/>
        </p:spPr>
        <p:txBody>
          <a:bodyPr wrap="square" rtlCol="0">
            <a:spAutoFit/>
          </a:bodyPr>
          <a:lstStyle/>
          <a:p>
            <a:r>
              <a:rPr lang="en-US" sz="2000" b="1" dirty="0"/>
              <a:t>3.</a:t>
            </a:r>
          </a:p>
        </p:txBody>
      </p:sp>
      <p:sp>
        <p:nvSpPr>
          <p:cNvPr id="14" name="TextBox 13"/>
          <p:cNvSpPr txBox="1"/>
          <p:nvPr/>
        </p:nvSpPr>
        <p:spPr>
          <a:xfrm>
            <a:off x="7742502" y="3101948"/>
            <a:ext cx="457994" cy="400110"/>
          </a:xfrm>
          <a:prstGeom prst="rect">
            <a:avLst/>
          </a:prstGeom>
          <a:noFill/>
        </p:spPr>
        <p:txBody>
          <a:bodyPr wrap="square" rtlCol="0">
            <a:spAutoFit/>
          </a:bodyPr>
          <a:lstStyle/>
          <a:p>
            <a:r>
              <a:rPr lang="en-US" sz="2000" b="1" dirty="0"/>
              <a:t>4.</a:t>
            </a:r>
          </a:p>
        </p:txBody>
      </p:sp>
    </p:spTree>
    <p:extLst>
      <p:ext uri="{BB962C8B-B14F-4D97-AF65-F5344CB8AC3E}">
        <p14:creationId xmlns:p14="http://schemas.microsoft.com/office/powerpoint/2010/main" val="41437221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30195" y="365126"/>
            <a:ext cx="10723605" cy="759340"/>
          </a:xfrm>
        </p:spPr>
        <p:txBody>
          <a:bodyPr/>
          <a:lstStyle/>
          <a:p>
            <a:r>
              <a:rPr lang="en-US" dirty="0"/>
              <a:t>Alternate Approach (1)</a:t>
            </a:r>
          </a:p>
        </p:txBody>
      </p:sp>
      <p:sp>
        <p:nvSpPr>
          <p:cNvPr id="6" name="Content Placeholder 5"/>
          <p:cNvSpPr>
            <a:spLocks noGrp="1"/>
          </p:cNvSpPr>
          <p:nvPr>
            <p:ph idx="1"/>
          </p:nvPr>
        </p:nvSpPr>
        <p:spPr>
          <a:xfrm>
            <a:off x="332632" y="1553214"/>
            <a:ext cx="5733535" cy="3052119"/>
          </a:xfrm>
        </p:spPr>
        <p:txBody>
          <a:bodyPr>
            <a:normAutofit/>
          </a:bodyPr>
          <a:lstStyle/>
          <a:p>
            <a:r>
              <a:rPr lang="en-US" sz="2000" dirty="0"/>
              <a:t>Each row </a:t>
            </a:r>
            <a:r>
              <a:rPr lang="en-US" sz="2000" dirty="0" err="1"/>
              <a:t>Ri</a:t>
            </a:r>
            <a:r>
              <a:rPr lang="en-US" sz="2000" dirty="0"/>
              <a:t> is treated as a contiguous block forming a sequence of bits, and all of the attribute values for that row are concatenated together to form a single binary block. </a:t>
            </a:r>
          </a:p>
          <a:p>
            <a:r>
              <a:rPr lang="en-US" sz="2000" dirty="0"/>
              <a:t>The entire row is encrypted.</a:t>
            </a:r>
          </a:p>
          <a:p>
            <a:endParaRPr lang="en-US" sz="1800" dirty="0"/>
          </a:p>
          <a:p>
            <a:r>
              <a:rPr lang="en-US" sz="1800" dirty="0"/>
              <a:t>Shown as </a:t>
            </a:r>
            <a:r>
              <a:rPr lang="en-US" sz="2000" dirty="0"/>
              <a:t>I</a:t>
            </a:r>
            <a:r>
              <a:rPr lang="en-US" sz="2000" baseline="-25000" dirty="0"/>
              <a:t>i1</a:t>
            </a:r>
            <a:r>
              <a:rPr lang="en-US" sz="2000" dirty="0"/>
              <a:t>, I</a:t>
            </a:r>
            <a:r>
              <a:rPr lang="en-US" sz="2000" baseline="-25000" dirty="0"/>
              <a:t>i2</a:t>
            </a:r>
            <a:r>
              <a:rPr lang="en-US" sz="2000" dirty="0"/>
              <a:t>, I</a:t>
            </a:r>
            <a:r>
              <a:rPr lang="en-US" sz="2000" baseline="-25000" dirty="0"/>
              <a:t>i3</a:t>
            </a:r>
            <a:r>
              <a:rPr lang="en-US" sz="2000" dirty="0"/>
              <a:t>, … are indexes are associated with each attribute of the table. </a:t>
            </a:r>
          </a:p>
        </p:txBody>
      </p:sp>
      <p:sp>
        <p:nvSpPr>
          <p:cNvPr id="4" name="Slide Number Placeholder 3"/>
          <p:cNvSpPr>
            <a:spLocks noGrp="1"/>
          </p:cNvSpPr>
          <p:nvPr>
            <p:ph type="sldNum" sz="quarter" idx="12"/>
          </p:nvPr>
        </p:nvSpPr>
        <p:spPr/>
        <p:txBody>
          <a:bodyPr/>
          <a:lstStyle/>
          <a:p>
            <a:fld id="{A2A50C4D-0BA1-4E54-8DFC-01810EC97B99}" type="slidenum">
              <a:rPr lang="en-US" smtClean="0"/>
              <a:t>37</a:t>
            </a:fld>
            <a:endParaRPr lang="en-US"/>
          </a:p>
        </p:txBody>
      </p:sp>
      <p:pic>
        <p:nvPicPr>
          <p:cNvPr id="2" name="Picture 1"/>
          <p:cNvPicPr>
            <a:picLocks noChangeAspect="1"/>
          </p:cNvPicPr>
          <p:nvPr/>
        </p:nvPicPr>
        <p:blipFill>
          <a:blip r:embed="rId2"/>
          <a:stretch>
            <a:fillRect/>
          </a:stretch>
        </p:blipFill>
        <p:spPr>
          <a:xfrm>
            <a:off x="6629379" y="407826"/>
            <a:ext cx="4601129" cy="2290775"/>
          </a:xfrm>
          <a:prstGeom prst="rect">
            <a:avLst/>
          </a:prstGeom>
        </p:spPr>
      </p:pic>
      <p:pic>
        <p:nvPicPr>
          <p:cNvPr id="8" name="Picture 7"/>
          <p:cNvPicPr>
            <a:picLocks noChangeAspect="1"/>
          </p:cNvPicPr>
          <p:nvPr/>
        </p:nvPicPr>
        <p:blipFill>
          <a:blip r:embed="rId3"/>
          <a:stretch>
            <a:fillRect/>
          </a:stretch>
        </p:blipFill>
        <p:spPr>
          <a:xfrm>
            <a:off x="1108567" y="3234603"/>
            <a:ext cx="3559895" cy="331153"/>
          </a:xfrm>
          <a:prstGeom prst="rect">
            <a:avLst/>
          </a:prstGeom>
        </p:spPr>
      </p:pic>
      <p:pic>
        <p:nvPicPr>
          <p:cNvPr id="9" name="Picture 8"/>
          <p:cNvPicPr>
            <a:picLocks noChangeAspect="1"/>
          </p:cNvPicPr>
          <p:nvPr/>
        </p:nvPicPr>
        <p:blipFill>
          <a:blip r:embed="rId4"/>
          <a:stretch>
            <a:fillRect/>
          </a:stretch>
        </p:blipFill>
        <p:spPr>
          <a:xfrm>
            <a:off x="582853" y="4167634"/>
            <a:ext cx="5233091" cy="424714"/>
          </a:xfrm>
          <a:prstGeom prst="rect">
            <a:avLst/>
          </a:prstGeom>
        </p:spPr>
      </p:pic>
      <p:pic>
        <p:nvPicPr>
          <p:cNvPr id="20" name="Picture 19"/>
          <p:cNvPicPr>
            <a:picLocks noChangeAspect="1"/>
          </p:cNvPicPr>
          <p:nvPr/>
        </p:nvPicPr>
        <p:blipFill>
          <a:blip r:embed="rId5"/>
          <a:stretch>
            <a:fillRect/>
          </a:stretch>
        </p:blipFill>
        <p:spPr>
          <a:xfrm>
            <a:off x="5991997" y="2915166"/>
            <a:ext cx="5875894" cy="3503117"/>
          </a:xfrm>
          <a:prstGeom prst="rect">
            <a:avLst/>
          </a:prstGeom>
        </p:spPr>
      </p:pic>
    </p:spTree>
    <p:extLst>
      <p:ext uri="{BB962C8B-B14F-4D97-AF65-F5344CB8AC3E}">
        <p14:creationId xmlns:p14="http://schemas.microsoft.com/office/powerpoint/2010/main" val="28005850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p:cNvPicPr>
            <a:picLocks noChangeAspect="1"/>
          </p:cNvPicPr>
          <p:nvPr/>
        </p:nvPicPr>
        <p:blipFill>
          <a:blip r:embed="rId2"/>
          <a:stretch>
            <a:fillRect/>
          </a:stretch>
        </p:blipFill>
        <p:spPr>
          <a:xfrm>
            <a:off x="5004486" y="1495168"/>
            <a:ext cx="7039125" cy="4196617"/>
          </a:xfrm>
          <a:prstGeom prst="rect">
            <a:avLst/>
          </a:prstGeom>
        </p:spPr>
      </p:pic>
      <p:sp>
        <p:nvSpPr>
          <p:cNvPr id="3" name="Title 2"/>
          <p:cNvSpPr>
            <a:spLocks noGrp="1"/>
          </p:cNvSpPr>
          <p:nvPr>
            <p:ph type="title"/>
          </p:nvPr>
        </p:nvSpPr>
        <p:spPr>
          <a:xfrm>
            <a:off x="630195" y="365126"/>
            <a:ext cx="10723605" cy="759340"/>
          </a:xfrm>
        </p:spPr>
        <p:txBody>
          <a:bodyPr/>
          <a:lstStyle/>
          <a:p>
            <a:r>
              <a:rPr lang="en-US" dirty="0"/>
              <a:t>Alternate Approach (2)</a:t>
            </a:r>
          </a:p>
        </p:txBody>
      </p:sp>
      <p:sp>
        <p:nvSpPr>
          <p:cNvPr id="6" name="Content Placeholder 5"/>
          <p:cNvSpPr>
            <a:spLocks noGrp="1"/>
          </p:cNvSpPr>
          <p:nvPr>
            <p:ph idx="1"/>
          </p:nvPr>
        </p:nvSpPr>
        <p:spPr>
          <a:xfrm>
            <a:off x="339803" y="1495168"/>
            <a:ext cx="5294877" cy="4861182"/>
          </a:xfrm>
        </p:spPr>
        <p:txBody>
          <a:bodyPr>
            <a:normAutofit/>
          </a:bodyPr>
          <a:lstStyle/>
          <a:p>
            <a:r>
              <a:rPr lang="en-US" sz="2500" dirty="0"/>
              <a:t>Suppose employee ID (</a:t>
            </a:r>
            <a:r>
              <a:rPr lang="en-US" sz="2500" dirty="0" err="1"/>
              <a:t>eid</a:t>
            </a:r>
            <a:r>
              <a:rPr lang="en-US" sz="2500" dirty="0"/>
              <a:t>) values lie in the range [1, 1000]. </a:t>
            </a:r>
          </a:p>
          <a:p>
            <a:r>
              <a:rPr lang="en-US" sz="2500" dirty="0"/>
              <a:t>We can divide these values into five partitions: [1, 200], [201, 400], [401, 600], [601, 800], and [801, 1000]; then assign index values 1,2, 3, 4, and 5, respectively. </a:t>
            </a:r>
          </a:p>
          <a:p>
            <a:r>
              <a:rPr lang="en-US" sz="2500" dirty="0"/>
              <a:t>23 </a:t>
            </a:r>
            <a:r>
              <a:rPr lang="en-US" sz="2500" dirty="0">
                <a:sym typeface="Wingdings" panose="05000000000000000000" pitchFamily="2" charset="2"/>
              </a:rPr>
              <a:t> partition 1</a:t>
            </a:r>
          </a:p>
          <a:p>
            <a:r>
              <a:rPr lang="en-US" sz="2500" dirty="0">
                <a:sym typeface="Wingdings" panose="05000000000000000000" pitchFamily="2" charset="2"/>
              </a:rPr>
              <a:t>860  partition 5</a:t>
            </a:r>
          </a:p>
          <a:p>
            <a:r>
              <a:rPr lang="en-US" sz="2500" dirty="0">
                <a:sym typeface="Wingdings" panose="05000000000000000000" pitchFamily="2" charset="2"/>
              </a:rPr>
              <a:t>320  partition 2</a:t>
            </a:r>
          </a:p>
          <a:p>
            <a:r>
              <a:rPr lang="en-US" sz="2500" dirty="0">
                <a:sym typeface="Wingdings" panose="05000000000000000000" pitchFamily="2" charset="2"/>
              </a:rPr>
              <a:t>875  partition 5</a:t>
            </a:r>
            <a:endParaRPr lang="en-US" sz="2500" dirty="0"/>
          </a:p>
          <a:p>
            <a:endParaRPr lang="en-US" sz="2500" dirty="0"/>
          </a:p>
        </p:txBody>
      </p:sp>
      <p:sp>
        <p:nvSpPr>
          <p:cNvPr id="4" name="Slide Number Placeholder 3"/>
          <p:cNvSpPr>
            <a:spLocks noGrp="1"/>
          </p:cNvSpPr>
          <p:nvPr>
            <p:ph type="sldNum" sz="quarter" idx="12"/>
          </p:nvPr>
        </p:nvSpPr>
        <p:spPr/>
        <p:txBody>
          <a:bodyPr/>
          <a:lstStyle/>
          <a:p>
            <a:fld id="{A2A50C4D-0BA1-4E54-8DFC-01810EC97B99}" type="slidenum">
              <a:rPr lang="en-US" smtClean="0"/>
              <a:t>38</a:t>
            </a:fld>
            <a:endParaRPr lang="en-US" dirty="0"/>
          </a:p>
        </p:txBody>
      </p:sp>
      <p:cxnSp>
        <p:nvCxnSpPr>
          <p:cNvPr id="12" name="Straight Arrow Connector 11"/>
          <p:cNvCxnSpPr/>
          <p:nvPr/>
        </p:nvCxnSpPr>
        <p:spPr>
          <a:xfrm flipV="1">
            <a:off x="7537621" y="5602587"/>
            <a:ext cx="12357" cy="43986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6339016" y="3444273"/>
            <a:ext cx="28832" cy="48148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4559643" y="3925759"/>
            <a:ext cx="1779373"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4559643" y="6042453"/>
            <a:ext cx="2977978"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26" name="Right Brace 25"/>
          <p:cNvSpPr/>
          <p:nvPr/>
        </p:nvSpPr>
        <p:spPr>
          <a:xfrm>
            <a:off x="3126259" y="4176584"/>
            <a:ext cx="642552" cy="1865869"/>
          </a:xfrm>
          <a:prstGeom prst="righ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8" name="Straight Connector 27"/>
          <p:cNvCxnSpPr/>
          <p:nvPr/>
        </p:nvCxnSpPr>
        <p:spPr>
          <a:xfrm flipH="1">
            <a:off x="4040659" y="3925759"/>
            <a:ext cx="518984" cy="118375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flipV="1">
            <a:off x="4040659" y="5109518"/>
            <a:ext cx="518984" cy="95296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23795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30195" y="1248032"/>
            <a:ext cx="10723605" cy="5108318"/>
          </a:xfrm>
        </p:spPr>
        <p:txBody>
          <a:bodyPr>
            <a:normAutofit fontScale="92500" lnSpcReduction="10000"/>
          </a:bodyPr>
          <a:lstStyle/>
          <a:p>
            <a:r>
              <a:rPr lang="en-US" dirty="0"/>
              <a:t>This arrangement provides for more efficient data retrieval. Suppose, for example, a user requests records for all employees with </a:t>
            </a:r>
            <a:r>
              <a:rPr lang="en-US" dirty="0" err="1"/>
              <a:t>eid</a:t>
            </a:r>
            <a:r>
              <a:rPr lang="en-US" dirty="0"/>
              <a:t> &lt; 300. </a:t>
            </a:r>
          </a:p>
          <a:p>
            <a:pPr lvl="1"/>
            <a:r>
              <a:rPr lang="en-US" dirty="0"/>
              <a:t>The query processor requests all records with I(</a:t>
            </a:r>
            <a:r>
              <a:rPr lang="en-US" dirty="0" err="1"/>
              <a:t>eid</a:t>
            </a:r>
            <a:r>
              <a:rPr lang="en-US" dirty="0"/>
              <a:t>) = 2. </a:t>
            </a:r>
          </a:p>
          <a:p>
            <a:pPr lvl="1"/>
            <a:r>
              <a:rPr lang="en-US" dirty="0"/>
              <a:t>These are returned by the server. </a:t>
            </a:r>
          </a:p>
          <a:p>
            <a:pPr lvl="1"/>
            <a:r>
              <a:rPr lang="en-US" dirty="0"/>
              <a:t>The query processor decrypts all rows returned, discards those that do not match the original query, and returns the requested unencrypted data to the user.</a:t>
            </a:r>
          </a:p>
          <a:p>
            <a:endParaRPr lang="en-US" dirty="0"/>
          </a:p>
          <a:p>
            <a:r>
              <a:rPr lang="en-US" dirty="0"/>
              <a:t>The indexing scheme just described does provide a certain amount of information to an attacker, namely a rough relative ordering of rows by a given attribute. To obscure such information, the ordering of indexes can be randomized. </a:t>
            </a:r>
          </a:p>
          <a:p>
            <a:pPr lvl="1"/>
            <a:r>
              <a:rPr lang="en-US" dirty="0"/>
              <a:t>For example, the </a:t>
            </a:r>
            <a:r>
              <a:rPr lang="en-US" dirty="0" err="1"/>
              <a:t>eid</a:t>
            </a:r>
            <a:r>
              <a:rPr lang="en-US" dirty="0"/>
              <a:t> values could be partitioned by mapping [1, 200], [201, 400], [401, 600], [601, 800], and [801, 1000] into 2, 3, 5, 1, and 4, respectively. Because the metadata are not stored at the server, an attacker could not gain this information from the server.</a:t>
            </a:r>
          </a:p>
        </p:txBody>
      </p:sp>
      <p:sp>
        <p:nvSpPr>
          <p:cNvPr id="2" name="Slide Number Placeholder 1"/>
          <p:cNvSpPr>
            <a:spLocks noGrp="1"/>
          </p:cNvSpPr>
          <p:nvPr>
            <p:ph type="sldNum" sz="quarter" idx="12"/>
          </p:nvPr>
        </p:nvSpPr>
        <p:spPr/>
        <p:txBody>
          <a:bodyPr/>
          <a:lstStyle/>
          <a:p>
            <a:fld id="{A2A50C4D-0BA1-4E54-8DFC-01810EC97B99}" type="slidenum">
              <a:rPr lang="en-US" smtClean="0"/>
              <a:t>39</a:t>
            </a:fld>
            <a:endParaRPr lang="en-US"/>
          </a:p>
        </p:txBody>
      </p:sp>
      <p:sp>
        <p:nvSpPr>
          <p:cNvPr id="6" name="Title 2"/>
          <p:cNvSpPr>
            <a:spLocks noGrp="1"/>
          </p:cNvSpPr>
          <p:nvPr>
            <p:ph type="title"/>
          </p:nvPr>
        </p:nvSpPr>
        <p:spPr>
          <a:xfrm>
            <a:off x="630195" y="365126"/>
            <a:ext cx="10723605" cy="759340"/>
          </a:xfrm>
        </p:spPr>
        <p:txBody>
          <a:bodyPr/>
          <a:lstStyle/>
          <a:p>
            <a:r>
              <a:rPr lang="en-US" dirty="0"/>
              <a:t>Alternate Approach (3)</a:t>
            </a:r>
          </a:p>
        </p:txBody>
      </p:sp>
    </p:spTree>
    <p:extLst>
      <p:ext uri="{BB962C8B-B14F-4D97-AF65-F5344CB8AC3E}">
        <p14:creationId xmlns:p14="http://schemas.microsoft.com/office/powerpoint/2010/main" val="31297991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30195" y="1248032"/>
            <a:ext cx="10723605" cy="5108318"/>
          </a:xfrm>
        </p:spPr>
        <p:txBody>
          <a:bodyPr>
            <a:normAutofit/>
          </a:bodyPr>
          <a:lstStyle/>
          <a:p>
            <a:r>
              <a:rPr lang="en-US" dirty="0"/>
              <a:t>To increase the efficiency of accessing records by means of the primary key, the system could use the encrypted value of the primary key attribute values, or a hash value. </a:t>
            </a:r>
          </a:p>
          <a:p>
            <a:pPr lvl="1"/>
            <a:r>
              <a:rPr lang="en-US" dirty="0"/>
              <a:t>In either case, the row corresponding to the primary key value could be retrieved individually. </a:t>
            </a:r>
          </a:p>
          <a:p>
            <a:endParaRPr lang="en-US" dirty="0"/>
          </a:p>
          <a:p>
            <a:r>
              <a:rPr lang="en-US" dirty="0"/>
              <a:t>Different portions of the database could be encrypted with different keys, so users would only have access to that portion of the database for which they had the decryption key. </a:t>
            </a:r>
          </a:p>
          <a:p>
            <a:pPr lvl="1"/>
            <a:r>
              <a:rPr lang="en-US" dirty="0"/>
              <a:t>This latter scheme could be incorporated into a role-based access control system.</a:t>
            </a:r>
          </a:p>
        </p:txBody>
      </p:sp>
      <p:sp>
        <p:nvSpPr>
          <p:cNvPr id="2" name="Slide Number Placeholder 1"/>
          <p:cNvSpPr>
            <a:spLocks noGrp="1"/>
          </p:cNvSpPr>
          <p:nvPr>
            <p:ph type="sldNum" sz="quarter" idx="12"/>
          </p:nvPr>
        </p:nvSpPr>
        <p:spPr/>
        <p:txBody>
          <a:bodyPr/>
          <a:lstStyle/>
          <a:p>
            <a:fld id="{A2A50C4D-0BA1-4E54-8DFC-01810EC97B99}" type="slidenum">
              <a:rPr lang="en-US" smtClean="0"/>
              <a:t>40</a:t>
            </a:fld>
            <a:endParaRPr lang="en-US"/>
          </a:p>
        </p:txBody>
      </p:sp>
      <p:sp>
        <p:nvSpPr>
          <p:cNvPr id="6" name="Title 2"/>
          <p:cNvSpPr>
            <a:spLocks noGrp="1"/>
          </p:cNvSpPr>
          <p:nvPr>
            <p:ph type="title"/>
          </p:nvPr>
        </p:nvSpPr>
        <p:spPr>
          <a:xfrm>
            <a:off x="630195" y="365126"/>
            <a:ext cx="10723605" cy="759340"/>
          </a:xfrm>
        </p:spPr>
        <p:txBody>
          <a:bodyPr/>
          <a:lstStyle/>
          <a:p>
            <a:r>
              <a:rPr lang="en-US" dirty="0"/>
              <a:t>Alternate Approach (4)</a:t>
            </a:r>
          </a:p>
        </p:txBody>
      </p:sp>
    </p:spTree>
    <p:extLst>
      <p:ext uri="{BB962C8B-B14F-4D97-AF65-F5344CB8AC3E}">
        <p14:creationId xmlns:p14="http://schemas.microsoft.com/office/powerpoint/2010/main" val="29709387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27977</TotalTime>
  <Words>1769</Words>
  <Application>Microsoft Office PowerPoint</Application>
  <PresentationFormat>Widescreen</PresentationFormat>
  <Paragraphs>153</Paragraphs>
  <Slides>40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Arial</vt:lpstr>
      <vt:lpstr>Calibri</vt:lpstr>
      <vt:lpstr>Calibri Light</vt:lpstr>
      <vt:lpstr>PearsonMATHPRO08</vt:lpstr>
      <vt:lpstr>Sitka Text</vt:lpstr>
      <vt:lpstr>TimesTenLTStd-Italic</vt:lpstr>
      <vt:lpstr>TimesTenLTStd-Roman</vt:lpstr>
      <vt:lpstr>Wingdings</vt:lpstr>
      <vt:lpstr>Office Theme</vt:lpstr>
      <vt:lpstr>PowerPoint Presentation</vt:lpstr>
      <vt:lpstr>PowerPoint Presentation</vt:lpstr>
      <vt:lpstr>PowerPoint Presentation</vt:lpstr>
      <vt:lpstr>PowerPoint Presentation</vt:lpstr>
      <vt:lpstr>PowerPoint Presentation</vt:lpstr>
      <vt:lpstr>Important SQL Syntax</vt:lpstr>
      <vt:lpstr>PowerPoint Presentation</vt:lpstr>
      <vt:lpstr>PowerPoint Presentation</vt:lpstr>
      <vt:lpstr>PowerPoint Presentation</vt:lpstr>
      <vt:lpstr>PowerPoint Presentation</vt:lpstr>
      <vt:lpstr>PowerPoint Presentation</vt:lpstr>
      <vt:lpstr>PowerPoint Presentation</vt:lpstr>
      <vt:lpstr>Attack types can be grouped into three main categories: inband, inferential, and out-of-band. </vt:lpstr>
      <vt:lpstr>PowerPoint Presentation</vt:lpstr>
      <vt:lpstr>PowerPoint Presentation</vt:lpstr>
      <vt:lpstr>SQL Injection – Summary</vt:lpstr>
      <vt:lpstr>SQL Injection – Summary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Alternate Approach (1)</vt:lpstr>
      <vt:lpstr>Alternate Approach (2)</vt:lpstr>
      <vt:lpstr>Alternate Approach (3)</vt:lpstr>
      <vt:lpstr>Alternate Approach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InfoSec CLOs and Topic List</dc:title>
  <dc:creator>NU FAST</dc:creator>
  <cp:lastModifiedBy>Aqsa Aslam</cp:lastModifiedBy>
  <cp:revision>380</cp:revision>
  <cp:lastPrinted>2022-08-31T10:35:52Z</cp:lastPrinted>
  <dcterms:created xsi:type="dcterms:W3CDTF">2022-08-11T15:54:49Z</dcterms:created>
  <dcterms:modified xsi:type="dcterms:W3CDTF">2023-11-02T07:55:11Z</dcterms:modified>
</cp:coreProperties>
</file>