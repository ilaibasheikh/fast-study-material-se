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699" r:id="rId3"/>
    <p:sldId id="694" r:id="rId4"/>
    <p:sldId id="700" r:id="rId5"/>
    <p:sldId id="701" r:id="rId6"/>
    <p:sldId id="702" r:id="rId7"/>
    <p:sldId id="703" r:id="rId8"/>
    <p:sldId id="704" r:id="rId9"/>
    <p:sldId id="705" r:id="rId10"/>
    <p:sldId id="706" r:id="rId11"/>
    <p:sldId id="707" r:id="rId12"/>
    <p:sldId id="708" r:id="rId13"/>
    <p:sldId id="709" r:id="rId14"/>
    <p:sldId id="712" r:id="rId15"/>
    <p:sldId id="713" r:id="rId16"/>
    <p:sldId id="730" r:id="rId17"/>
    <p:sldId id="731" r:id="rId18"/>
    <p:sldId id="732" r:id="rId19"/>
    <p:sldId id="733" r:id="rId20"/>
    <p:sldId id="735" r:id="rId21"/>
    <p:sldId id="736" r:id="rId2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86535" autoAdjust="0"/>
  </p:normalViewPr>
  <p:slideViewPr>
    <p:cSldViewPr>
      <p:cViewPr varScale="1">
        <p:scale>
          <a:sx n="100" d="100"/>
          <a:sy n="100" d="100"/>
        </p:scale>
        <p:origin x="21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4AE3314-9DCB-49FD-B20E-AFE426E32EF5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D506D70-4FDC-464B-81DF-79C5C4B28E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16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omputing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User_Datagram_Protocol" TargetMode="External"/><Relationship Id="rId5" Type="http://schemas.openxmlformats.org/officeDocument/2006/relationships/hyperlink" Target="http://en.wikipedia.org/wiki/Transmission_Control_Protocol" TargetMode="External"/><Relationship Id="rId4" Type="http://schemas.openxmlformats.org/officeDocument/2006/relationships/hyperlink" Target="http://en.wikipedia.org/wiki/Firewall_(networking)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Dual-homed" TargetMode="External"/><Relationship Id="rId7" Type="http://schemas.openxmlformats.org/officeDocument/2006/relationships/hyperlink" Target="http://en.wikipedia.org/wiki/Gateway_(telecommunications)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Proxy_server" TargetMode="External"/><Relationship Id="rId5" Type="http://schemas.openxmlformats.org/officeDocument/2006/relationships/hyperlink" Target="http://en.wikipedia.org/wiki/Internet" TargetMode="External"/><Relationship Id="rId4" Type="http://schemas.openxmlformats.org/officeDocument/2006/relationships/hyperlink" Target="http://en.wikipedia.org/wiki/Network_card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06D70-4FDC-464B-81DF-79C5C4B28E2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69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Firewall</a:t>
            </a:r>
            <a:r>
              <a:rPr lang="en-US" baseline="0" dirty="0" smtClean="0"/>
              <a:t> can also be a software at your PC. In Linux you can also define rules on IP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06D70-4FDC-464B-81DF-79C5C4B28E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33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Computing"/>
              </a:rPr>
              <a:t>computing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 </a:t>
            </a:r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stateful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firewall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(any firewall that performs </a:t>
            </a:r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stateful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packet inspection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or </a:t>
            </a:r>
            <a:r>
              <a:rPr lang="en-US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stateful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inspection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is a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Firewall (networking)"/>
              </a:rPr>
              <a:t>firewall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that keeps track of the state of network connections (such as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Transmission Control Protocol"/>
              </a:rPr>
              <a:t>TCP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streams,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 tooltip="User Datagram Protocol"/>
              </a:rPr>
              <a:t>UDP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communication) traveling across it. The firewall is programmed to distinguish legitimate packets for different types of connections. Only packets matching a known active connection will be allowed by the firewall; others will be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06D70-4FDC-464B-81DF-79C5C4B28E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22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dual-homed host (or dual-homed gateway</a:t>
            </a:r>
            <a:r>
              <a:rPr lang="en-US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[1]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is a system fitted with two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 tooltip="Network card"/>
              </a:rPr>
              <a:t>network interfaces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(NICs) that sits between an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untrusted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network (like the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Internet"/>
              </a:rPr>
              <a:t>Internet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and trusted network (such as a corporate network) to provide secure access. Dual-homed is a general term for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 tooltip="Proxy server"/>
              </a:rPr>
              <a:t>proxies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7" tooltip="Gateway (telecommunications)"/>
              </a:rPr>
              <a:t>gateways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firewalls, or any server that provides secured applications or services directly to an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untrusted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06D70-4FDC-464B-81DF-79C5C4B28E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28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198985-C63E-4D38-BE60-8A449BF82FF0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0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23FF99-572E-4A8D-97AF-9B06BF7DAC85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799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70C4DA-DFA2-4609-B7A0-200CBBB01912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53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90E2-91AD-466C-A17D-A72DE2A25B61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81DC8-1BE9-4183-95EB-119C33F6F0A8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1F8BB-D04E-4425-842E-CAC6D960B23C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53894-EADC-4559-9073-81974C917A50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6CA3-94FD-4F02-AE08-1332C5759B43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80167-333D-40F0-91B7-7FB3FCD390C2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BF7E-AF69-4AD5-82BB-34182997F8CF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90C9-7E0A-498A-A5BF-3F002CD76DAD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72755-4AE8-48B3-B84C-C3AF91A7848D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148CC-325B-4806-A706-F045E5F64927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31835-0736-43C8-BA6B-46F5104ACC5D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CCF811B-D484-48E1-A434-12652924B793}" type="datetime1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FAST-NUCES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200400"/>
            <a:ext cx="7391400" cy="2286000"/>
          </a:xfrm>
        </p:spPr>
        <p:txBody>
          <a:bodyPr>
            <a:normAutofit fontScale="92500"/>
          </a:bodyPr>
          <a:lstStyle/>
          <a:p>
            <a:r>
              <a:rPr lang="en-US" sz="3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Lecture # 11: Network Security Protocols and Defensive Mechanisms (Firewall, </a:t>
            </a:r>
            <a:r>
              <a:rPr lang="en-US" sz="3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IDS)</a:t>
            </a:r>
            <a:endParaRPr lang="en-US" sz="3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Software Engineering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FAST-NUCES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00200"/>
            <a:ext cx="8229600" cy="1470025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CS-3002: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Information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Security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FAST-NUCES</a:t>
            </a:r>
            <a:endParaRPr lang="en-US" dirty="0"/>
          </a:p>
        </p:txBody>
      </p:sp>
      <p:pic>
        <p:nvPicPr>
          <p:cNvPr id="6" name="Picture 5" descr="http://study.result.pk/wp-content/uploads/2011/07/National-University-of-Computer-and-Emerging-Sciences-NUCES-300x300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52400"/>
            <a:ext cx="116460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http://study.result.pk/wp-content/uploads/2011/07/National-University-of-Computer-and-Emerging-Sciences-NUCES-300x300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772400" cy="579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Lecture</a:t>
            </a:r>
          </a:p>
        </p:txBody>
      </p:sp>
      <p:sp>
        <p:nvSpPr>
          <p:cNvPr id="7171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Firewall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Intrusion Detection System (IDS)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DNSSEC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Distributed Denial Of Service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DDoS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eaLnBrk="1" hangingPunct="1"/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2766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Firewall</a:t>
            </a:r>
            <a:endParaRPr lang="en-US" u="sng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 dirty="0"/>
          </a:p>
        </p:txBody>
      </p:sp>
      <p:pic>
        <p:nvPicPr>
          <p:cNvPr id="6" name="Picture 5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Firewall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710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219200"/>
            <a:ext cx="890095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Types of Firewalls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6081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350" y="1114425"/>
            <a:ext cx="8934450" cy="4439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Packet Filter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9063" y="966788"/>
            <a:ext cx="8905875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Proxy Server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403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323975"/>
            <a:ext cx="8916276" cy="484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Packet Filter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Proxy Server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300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" y="1666875"/>
            <a:ext cx="891540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Security Architectures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98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" y="995363"/>
            <a:ext cx="8439150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Dual-Homed Host Firewall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61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7675" y="985838"/>
            <a:ext cx="824865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Screened Hosts Firewall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993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50" y="1223963"/>
            <a:ext cx="8953500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Demilitarized Zone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89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963" y="933450"/>
            <a:ext cx="8982075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Additional: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Honeypot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601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488" y="1000125"/>
            <a:ext cx="8201025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2766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Intrusion Detection</a:t>
            </a:r>
            <a:endParaRPr lang="en-US" u="sng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 dirty="0"/>
          </a:p>
        </p:txBody>
      </p:sp>
      <p:pic>
        <p:nvPicPr>
          <p:cNvPr id="6" name="Picture 5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Intrusion Detection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7650" y="1076325"/>
            <a:ext cx="8648700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05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579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ntrusion detection</a:t>
            </a:r>
          </a:p>
        </p:txBody>
      </p:sp>
      <p:sp>
        <p:nvSpPr>
          <p:cNvPr id="593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7772400" cy="4572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Many intrusion detection systems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Close to 100 systems with current web pages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Network-based, host-based, or combination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Two basic models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Misuse detection model </a:t>
            </a:r>
          </a:p>
          <a:p>
            <a:pPr lvl="2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Maintain data on known attacks</a:t>
            </a:r>
          </a:p>
          <a:p>
            <a:pPr lvl="2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Look for activity with corresponding signatures 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Anomaly detection model </a:t>
            </a:r>
          </a:p>
          <a:p>
            <a:pPr lvl="2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 to figure out what is “normal”</a:t>
            </a:r>
          </a:p>
          <a:p>
            <a:pPr lvl="2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Report anomalous behavior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Fundamental problem: too many false alarms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02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772400" cy="731838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 Snort</a:t>
            </a:r>
            <a:endParaRPr lang="en-US" altLang="zh-C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293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332750"/>
              </p:ext>
            </p:extLst>
          </p:nvPr>
        </p:nvGraphicFramePr>
        <p:xfrm>
          <a:off x="609600" y="1371600"/>
          <a:ext cx="83058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Bitmap Image" r:id="rId4" imgW="7714286" imgH="4877481" progId="PBrush">
                  <p:embed/>
                </p:oleObj>
              </mc:Choice>
              <mc:Fallback>
                <p:oleObj name="Bitmap Image" r:id="rId4" imgW="7714286" imgH="4877481" progId="PBrush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71600"/>
                        <a:ext cx="8305800" cy="411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457200" y="5410200"/>
            <a:ext cx="8458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From: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Rafeeq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Ur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Rehman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1600" i="1" dirty="0">
                <a:latin typeface="Times New Roman" pitchFamily="18" charset="0"/>
                <a:cs typeface="Times New Roman" pitchFamily="18" charset="0"/>
              </a:rPr>
              <a:t>Intrusion Detection Systems with Snort: Advanced IDS Techniques with Snort, Apache, MySQL, PHP, and ACID. </a:t>
            </a:r>
            <a:endParaRPr lang="en-US" altLang="zh-C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547974" y="914400"/>
            <a:ext cx="222977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kumimoji="1" lang="en-US" dirty="0"/>
              <a:t>http://www.snort.org/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FAST-NUCES</a:t>
            </a:r>
            <a:endParaRPr lang="en-US" dirty="0"/>
          </a:p>
        </p:txBody>
      </p:sp>
      <p:pic>
        <p:nvPicPr>
          <p:cNvPr id="8" name="Picture 7" descr="http://study.result.pk/wp-content/uploads/2011/07/National-University-of-Computer-and-Emerging-Sciences-NUCES-300x300.pn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9464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772400" cy="655638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Snort components</a:t>
            </a:r>
            <a:endParaRPr lang="en-US" altLang="zh-C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7772400" cy="5105400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Packet Decoder</a:t>
            </a: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input from Ethernet, SLIP, PPP…</a:t>
            </a:r>
          </a:p>
          <a:p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Preprocessor: </a:t>
            </a: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detect anomalies in packet headers</a:t>
            </a: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packet defragmentation</a:t>
            </a: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decode HTTP URI</a:t>
            </a: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reassemble TCP streams </a:t>
            </a:r>
          </a:p>
          <a:p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Detection Engine: applies rules to packets</a:t>
            </a:r>
          </a:p>
          <a:p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Logging and Alerting System</a:t>
            </a:r>
          </a:p>
          <a:p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Output Modules: alerts, log, other output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5206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Snort detection rules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43" y="4056062"/>
            <a:ext cx="7504113" cy="196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1895475"/>
            <a:ext cx="4038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9pPr>
          </a:lstStyle>
          <a:p>
            <a:pPr marL="342900" indent="-342900" algn="ctr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altLang="zh-CN" sz="2500" dirty="0"/>
              <a:t>rule header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24400" y="1895475"/>
            <a:ext cx="4038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9pPr>
          </a:lstStyle>
          <a:p>
            <a:pPr marL="342900" indent="-342900" algn="ctr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altLang="zh-CN" sz="2500" dirty="0"/>
              <a:t>rule options</a:t>
            </a:r>
          </a:p>
        </p:txBody>
      </p:sp>
      <p:sp>
        <p:nvSpPr>
          <p:cNvPr id="7" name="Line 30"/>
          <p:cNvSpPr>
            <a:spLocks noChangeShapeType="1"/>
          </p:cNvSpPr>
          <p:nvPr/>
        </p:nvSpPr>
        <p:spPr bwMode="auto">
          <a:xfrm flipH="1">
            <a:off x="533400" y="2505075"/>
            <a:ext cx="2057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Line 31"/>
          <p:cNvSpPr>
            <a:spLocks noChangeShapeType="1"/>
          </p:cNvSpPr>
          <p:nvPr/>
        </p:nvSpPr>
        <p:spPr bwMode="auto">
          <a:xfrm>
            <a:off x="3124200" y="2505075"/>
            <a:ext cx="2819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宋体" pitchFamily="2" charset="-122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62275"/>
            <a:ext cx="5838825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11" name="Picture 10" descr="http://study.result.pk/wp-content/uploads/2011/07/National-University-of-Computer-and-Emerging-Sciences-NUCES-300x300.pn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7267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772400" cy="655638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Snort challenges</a:t>
            </a:r>
            <a:endParaRPr lang="en-US" altLang="zh-C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7772400" cy="4572000"/>
          </a:xfrm>
        </p:spPr>
        <p:txBody>
          <a:bodyPr/>
          <a:lstStyle/>
          <a:p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Misuse detection – avoid known intrusions</a:t>
            </a:r>
          </a:p>
          <a:p>
            <a:pPr lvl="1"/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atabase size continues to grow</a:t>
            </a:r>
          </a:p>
          <a:p>
            <a:pPr lvl="2"/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nort version 2.3.2 had 2,600 rules</a:t>
            </a: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Snort spends 80% of time doing string match</a:t>
            </a:r>
          </a:p>
          <a:p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Anomaly detection – identify new attacks</a:t>
            </a:r>
          </a:p>
          <a:p>
            <a:pPr lvl="1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Probability of detection is low</a:t>
            </a:r>
          </a:p>
          <a:p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0623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Difficulties in anomaly detection</a:t>
            </a:r>
          </a:p>
        </p:txBody>
      </p:sp>
      <p:sp>
        <p:nvSpPr>
          <p:cNvPr id="665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7772400" cy="4572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Lack of training data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Lots of “normal” network, system call data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Little data containing realistic attacks, anomalies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drift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Statistical methods detect changes in behavior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Attacker can attack gradually and incrementally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Main characteristics not well understood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 many measures, attack may be within bounds of “normal” range of activities</a:t>
            </a:r>
          </a:p>
          <a:p>
            <a:pPr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False identifications are very costly</a:t>
            </a:r>
          </a:p>
          <a:p>
            <a:pPr lvl="1" eaLnBrk="1" hangingPunct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 Admin spend many hours examining evidence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FAST-NUCES</a:t>
            </a:r>
            <a:endParaRPr lang="en-US"/>
          </a:p>
        </p:txBody>
      </p:sp>
      <p:pic>
        <p:nvPicPr>
          <p:cNvPr id="5" name="Picture 4" descr="http://study.result.pk/wp-content/uploads/2011/07/National-University-of-Computer-and-Emerging-Sciences-NUCES-300x300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248400"/>
            <a:ext cx="47880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1515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3983</TotalTime>
  <Words>394</Words>
  <Application>Microsoft Office PowerPoint</Application>
  <PresentationFormat>On-screen Show (4:3)</PresentationFormat>
  <Paragraphs>101</Paragraphs>
  <Slides>21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宋体</vt:lpstr>
      <vt:lpstr>Calibri</vt:lpstr>
      <vt:lpstr>Franklin Gothic Book</vt:lpstr>
      <vt:lpstr>Monotype Sorts</vt:lpstr>
      <vt:lpstr>Perpetua</vt:lpstr>
      <vt:lpstr>Tahoma</vt:lpstr>
      <vt:lpstr>Times New Roman</vt:lpstr>
      <vt:lpstr>Verdana</vt:lpstr>
      <vt:lpstr>Wingdings</vt:lpstr>
      <vt:lpstr>Wingdings 2</vt:lpstr>
      <vt:lpstr>幼圆</vt:lpstr>
      <vt:lpstr>Equity</vt:lpstr>
      <vt:lpstr>Bitmap Image</vt:lpstr>
      <vt:lpstr>CS-3002: Information Security</vt:lpstr>
      <vt:lpstr>This Lecture</vt:lpstr>
      <vt:lpstr>Firewall</vt:lpstr>
      <vt:lpstr>Firewall</vt:lpstr>
      <vt:lpstr>Types of Firewalls</vt:lpstr>
      <vt:lpstr>Packet Filter</vt:lpstr>
      <vt:lpstr>Proxy Server</vt:lpstr>
      <vt:lpstr>Packet Filter vs Proxy Server</vt:lpstr>
      <vt:lpstr>Security Architectures</vt:lpstr>
      <vt:lpstr>Dual-Homed Host Firewall</vt:lpstr>
      <vt:lpstr>Screened Hosts Firewall</vt:lpstr>
      <vt:lpstr>Demilitarized Zone</vt:lpstr>
      <vt:lpstr>Additional: Honeypot</vt:lpstr>
      <vt:lpstr>Intrusion Detection</vt:lpstr>
      <vt:lpstr>Intrusion Detection</vt:lpstr>
      <vt:lpstr>Intrusion detection</vt:lpstr>
      <vt:lpstr>Example: Snort</vt:lpstr>
      <vt:lpstr>Snort components</vt:lpstr>
      <vt:lpstr>Snort detection rules</vt:lpstr>
      <vt:lpstr>Snort challenges</vt:lpstr>
      <vt:lpstr>Difficulties in anomaly detection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Sufian Hameed</dc:creator>
  <cp:lastModifiedBy>Ms. Hira Tunio</cp:lastModifiedBy>
  <cp:revision>899</cp:revision>
  <dcterms:created xsi:type="dcterms:W3CDTF">2006-08-16T00:00:00Z</dcterms:created>
  <dcterms:modified xsi:type="dcterms:W3CDTF">2025-11-12T07:48:07Z</dcterms:modified>
</cp:coreProperties>
</file>